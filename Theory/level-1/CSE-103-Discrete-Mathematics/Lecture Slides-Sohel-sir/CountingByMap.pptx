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1"/>
  </p:notesMasterIdLst>
  <p:sldIdLst>
    <p:sldId id="256" r:id="rId2"/>
    <p:sldId id="542" r:id="rId3"/>
    <p:sldId id="597" r:id="rId4"/>
    <p:sldId id="543" r:id="rId5"/>
    <p:sldId id="583" r:id="rId6"/>
    <p:sldId id="590" r:id="rId7"/>
    <p:sldId id="566" r:id="rId8"/>
    <p:sldId id="545" r:id="rId9"/>
    <p:sldId id="591" r:id="rId10"/>
    <p:sldId id="546" r:id="rId11"/>
    <p:sldId id="547" r:id="rId12"/>
    <p:sldId id="548" r:id="rId13"/>
    <p:sldId id="609" r:id="rId14"/>
    <p:sldId id="610" r:id="rId15"/>
    <p:sldId id="549" r:id="rId16"/>
    <p:sldId id="550" r:id="rId17"/>
    <p:sldId id="551" r:id="rId18"/>
    <p:sldId id="608" r:id="rId19"/>
    <p:sldId id="552" r:id="rId20"/>
    <p:sldId id="611" r:id="rId21"/>
    <p:sldId id="612" r:id="rId22"/>
    <p:sldId id="613" r:id="rId23"/>
    <p:sldId id="614" r:id="rId24"/>
    <p:sldId id="615" r:id="rId25"/>
    <p:sldId id="616" r:id="rId26"/>
    <p:sldId id="617" r:id="rId27"/>
    <p:sldId id="618" r:id="rId28"/>
    <p:sldId id="619" r:id="rId29"/>
    <p:sldId id="605" r:id="rId30"/>
    <p:sldId id="553" r:id="rId31"/>
    <p:sldId id="554" r:id="rId32"/>
    <p:sldId id="555" r:id="rId33"/>
    <p:sldId id="567" r:id="rId34"/>
    <p:sldId id="556" r:id="rId35"/>
    <p:sldId id="557" r:id="rId36"/>
    <p:sldId id="558" r:id="rId37"/>
    <p:sldId id="559" r:id="rId38"/>
    <p:sldId id="560" r:id="rId39"/>
    <p:sldId id="561" r:id="rId40"/>
    <p:sldId id="586" r:id="rId41"/>
    <p:sldId id="588" r:id="rId42"/>
    <p:sldId id="606" r:id="rId43"/>
    <p:sldId id="600" r:id="rId44"/>
    <p:sldId id="598" r:id="rId45"/>
    <p:sldId id="602" r:id="rId46"/>
    <p:sldId id="601" r:id="rId47"/>
    <p:sldId id="603" r:id="rId48"/>
    <p:sldId id="604" r:id="rId49"/>
    <p:sldId id="607" r:id="rId50"/>
  </p:sldIdLst>
  <p:sldSz cx="9144000" cy="6858000" type="screen4x3"/>
  <p:notesSz cx="6858000" cy="9144000"/>
  <p:custDataLst>
    <p:tags r:id="rId52"/>
  </p:custDataLst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Comic Sans MS" panose="030F0702030302020204" pitchFamily="66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Comic Sans MS" panose="030F0702030302020204" pitchFamily="66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Comic Sans MS" panose="030F0702030302020204" pitchFamily="66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Comic Sans MS" panose="030F0702030302020204" pitchFamily="66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Comic Sans MS" panose="030F0702030302020204" pitchFamily="66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Comic Sans MS" panose="030F0702030302020204" pitchFamily="66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Comic Sans MS" panose="030F0702030302020204" pitchFamily="66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Comic Sans MS" panose="030F0702030302020204" pitchFamily="66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Comic Sans MS" panose="030F0702030302020204" pitchFamily="66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FF99"/>
    <a:srgbClr val="008000"/>
    <a:srgbClr val="CCCCFF"/>
    <a:srgbClr val="FFFF66"/>
    <a:srgbClr val="FFCCFF"/>
    <a:srgbClr val="A50021"/>
    <a:srgbClr val="FF9933"/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88" autoAdjust="0"/>
    <p:restoredTop sz="94653" autoAdjust="0"/>
  </p:normalViewPr>
  <p:slideViewPr>
    <p:cSldViewPr>
      <p:cViewPr>
        <p:scale>
          <a:sx n="49" d="100"/>
          <a:sy n="49" d="100"/>
        </p:scale>
        <p:origin x="600" y="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gs" Target="tags/tag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18.wmf"/><Relationship Id="rId1" Type="http://schemas.openxmlformats.org/officeDocument/2006/relationships/image" Target="../media/image17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30.wmf"/><Relationship Id="rId2" Type="http://schemas.openxmlformats.org/officeDocument/2006/relationships/image" Target="../media/image29.wmf"/><Relationship Id="rId1" Type="http://schemas.openxmlformats.org/officeDocument/2006/relationships/image" Target="../media/image28.wmf"/><Relationship Id="rId5" Type="http://schemas.openxmlformats.org/officeDocument/2006/relationships/image" Target="../media/image31.wmf"/><Relationship Id="rId4" Type="http://schemas.openxmlformats.org/officeDocument/2006/relationships/image" Target="../media/image17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smtClean="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40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smtClean="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2228" name="Rectangle 4"/>
          <p:cNvSpPr>
            <a:spLocks noRo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240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10240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smtClean="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40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fld id="{FCB3471B-33D1-4BE1-B257-8FFD696F740E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6BDDC52-3E5B-4FD5-9647-B6A093F9CD66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0154308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BC5DC04-A0AD-4C0A-ABAE-065F30105B99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0905429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CD94035-2DE0-4112-8329-386D63702C44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1243334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839F512-9DBE-4556-AA3F-A775816424CC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6322628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02D44DD-3357-467D-AA1D-9EE160895762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6967099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FEE4A0B-00B3-40C1-97E1-DA236107B968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0848425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1947811-307B-4DF5-918A-04C3C75E41CC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0959463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E494DD6-DF4F-4E0C-9BE4-AAD3A11F9D40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8857723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385CD6A-529A-4422-A748-C4FD0FB7CB02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5798470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38A8A15-3E07-47B0-9E81-D5218CB36C23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598701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B7E9421-4821-4B21-ACAB-256D69D49D3A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7057297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 smtClean="0"/>
              <a:t>Click to edit Master title style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 smtClean="0"/>
              <a:t>Click to 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>
                <a:latin typeface="+mn-lt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>
                <a:latin typeface="+mn-lt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Arial" panose="020B0604020202020204" pitchFamily="34" charset="0"/>
              </a:defRPr>
            </a:lvl1pPr>
          </a:lstStyle>
          <a:p>
            <a:fld id="{F12D8664-A8DF-4788-B7AE-23BCAED0C7F4}" type="slidenum">
              <a:rPr lang="en-US" altLang="zh-TW"/>
              <a:pPr/>
              <a:t>‹#›</a:t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wmf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wmf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3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7.png"/><Relationship Id="rId5" Type="http://schemas.openxmlformats.org/officeDocument/2006/relationships/image" Target="../media/image6.wmf"/><Relationship Id="rId4" Type="http://schemas.openxmlformats.org/officeDocument/2006/relationships/oleObject" Target="../embeddings/oleObject1.bin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8.png"/><Relationship Id="rId2" Type="http://schemas.openxmlformats.org/officeDocument/2006/relationships/tags" Target="../tags/tag4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10.png"/><Relationship Id="rId5" Type="http://schemas.openxmlformats.org/officeDocument/2006/relationships/image" Target="../media/image6.wmf"/><Relationship Id="rId4" Type="http://schemas.openxmlformats.org/officeDocument/2006/relationships/oleObject" Target="../embeddings/oleObject2.bin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tags" Target="../tags/tag10.xml"/><Relationship Id="rId7" Type="http://schemas.openxmlformats.org/officeDocument/2006/relationships/image" Target="../media/image11.png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7" Type="http://schemas.openxmlformats.org/officeDocument/2006/relationships/image" Target="../media/image19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18.w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17.wmf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wmf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wmf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wmf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2.xml"/><Relationship Id="rId4" Type="http://schemas.openxmlformats.org/officeDocument/2006/relationships/image" Target="../media/image26.pn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3.xml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wmf"/><Relationship Id="rId13" Type="http://schemas.openxmlformats.org/officeDocument/2006/relationships/oleObject" Target="../embeddings/oleObject9.bin"/><Relationship Id="rId3" Type="http://schemas.openxmlformats.org/officeDocument/2006/relationships/slideLayout" Target="../slideLayouts/slideLayout7.xml"/><Relationship Id="rId7" Type="http://schemas.openxmlformats.org/officeDocument/2006/relationships/oleObject" Target="../embeddings/oleObject6.bin"/><Relationship Id="rId12" Type="http://schemas.openxmlformats.org/officeDocument/2006/relationships/image" Target="../media/image17.wmf"/><Relationship Id="rId2" Type="http://schemas.openxmlformats.org/officeDocument/2006/relationships/tags" Target="../tags/tag14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28.wmf"/><Relationship Id="rId11" Type="http://schemas.openxmlformats.org/officeDocument/2006/relationships/oleObject" Target="../embeddings/oleObject8.bin"/><Relationship Id="rId5" Type="http://schemas.openxmlformats.org/officeDocument/2006/relationships/oleObject" Target="../embeddings/oleObject5.bin"/><Relationship Id="rId10" Type="http://schemas.openxmlformats.org/officeDocument/2006/relationships/image" Target="../media/image30.wmf"/><Relationship Id="rId4" Type="http://schemas.openxmlformats.org/officeDocument/2006/relationships/image" Target="../media/image32.png"/><Relationship Id="rId9" Type="http://schemas.openxmlformats.org/officeDocument/2006/relationships/oleObject" Target="../embeddings/oleObject7.bin"/><Relationship Id="rId14" Type="http://schemas.openxmlformats.org/officeDocument/2006/relationships/image" Target="../media/image31.wmf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wmf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wmf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wmf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5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28600" y="457200"/>
            <a:ext cx="8534400" cy="914400"/>
          </a:xfrm>
        </p:spPr>
        <p:txBody>
          <a:bodyPr/>
          <a:lstStyle/>
          <a:p>
            <a:pPr eaLnBrk="1" hangingPunct="1"/>
            <a:r>
              <a:rPr lang="en-US" altLang="zh-TW" smtClean="0">
                <a:latin typeface="Comic Sans MS" panose="030F0702030302020204" pitchFamily="66" charset="0"/>
              </a:rPr>
              <a:t>Counting by Mapping</a:t>
            </a:r>
          </a:p>
        </p:txBody>
      </p:sp>
      <p:grpSp>
        <p:nvGrpSpPr>
          <p:cNvPr id="6147" name="Group 476"/>
          <p:cNvGrpSpPr>
            <a:grpSpLocks/>
          </p:cNvGrpSpPr>
          <p:nvPr/>
        </p:nvGrpSpPr>
        <p:grpSpPr bwMode="auto">
          <a:xfrm>
            <a:off x="1676400" y="2286000"/>
            <a:ext cx="5780088" cy="2743200"/>
            <a:chOff x="1056" y="1440"/>
            <a:chExt cx="3641" cy="1728"/>
          </a:xfrm>
        </p:grpSpPr>
        <p:grpSp>
          <p:nvGrpSpPr>
            <p:cNvPr id="6149" name="Group 454"/>
            <p:cNvGrpSpPr>
              <a:grpSpLocks/>
            </p:cNvGrpSpPr>
            <p:nvPr/>
          </p:nvGrpSpPr>
          <p:grpSpPr bwMode="auto">
            <a:xfrm>
              <a:off x="1056" y="1440"/>
              <a:ext cx="3641" cy="1728"/>
              <a:chOff x="1036" y="2064"/>
              <a:chExt cx="3641" cy="1728"/>
            </a:xfrm>
          </p:grpSpPr>
          <p:grpSp>
            <p:nvGrpSpPr>
              <p:cNvPr id="6156" name="Group 455"/>
              <p:cNvGrpSpPr>
                <a:grpSpLocks/>
              </p:cNvGrpSpPr>
              <p:nvPr/>
            </p:nvGrpSpPr>
            <p:grpSpPr bwMode="auto">
              <a:xfrm>
                <a:off x="1036" y="2064"/>
                <a:ext cx="3641" cy="1728"/>
                <a:chOff x="1036" y="2064"/>
                <a:chExt cx="3641" cy="1728"/>
              </a:xfrm>
            </p:grpSpPr>
            <p:sp>
              <p:nvSpPr>
                <p:cNvPr id="2504" name="Oval 456"/>
                <p:cNvSpPr>
                  <a:spLocks noChangeArrowheads="1"/>
                </p:cNvSpPr>
                <p:nvPr/>
              </p:nvSpPr>
              <p:spPr bwMode="auto">
                <a:xfrm>
                  <a:off x="1424" y="2096"/>
                  <a:ext cx="1016" cy="1696"/>
                </a:xfrm>
                <a:prstGeom prst="ellipse">
                  <a:avLst/>
                </a:prstGeom>
                <a:solidFill>
                  <a:srgbClr val="CCCCFF"/>
                </a:solidFill>
                <a:ln w="9525">
                  <a:solidFill>
                    <a:srgbClr val="000000"/>
                  </a:solidFill>
                  <a:round/>
                  <a:headEnd/>
                  <a:tailEnd type="none" w="lg" len="lg"/>
                </a:ln>
                <a:effectLst>
                  <a:outerShdw dist="107763" dir="2700000" algn="ctr" rotWithShape="0">
                    <a:schemeClr val="bg2"/>
                  </a:outerShdw>
                </a:effec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2505" name="Oval 457"/>
                <p:cNvSpPr>
                  <a:spLocks noChangeArrowheads="1"/>
                </p:cNvSpPr>
                <p:nvPr/>
              </p:nvSpPr>
              <p:spPr bwMode="auto">
                <a:xfrm>
                  <a:off x="3320" y="2064"/>
                  <a:ext cx="1016" cy="1696"/>
                </a:xfrm>
                <a:prstGeom prst="ellipse">
                  <a:avLst/>
                </a:prstGeom>
                <a:solidFill>
                  <a:srgbClr val="CCCCFF"/>
                </a:solidFill>
                <a:ln w="9525">
                  <a:solidFill>
                    <a:srgbClr val="000000"/>
                  </a:solidFill>
                  <a:round/>
                  <a:headEnd/>
                  <a:tailEnd type="none" w="lg" len="lg"/>
                </a:ln>
                <a:effectLst>
                  <a:outerShdw dist="107763" dir="2700000" algn="ctr" rotWithShape="0">
                    <a:schemeClr val="bg2"/>
                  </a:outerShdw>
                </a:effec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6169" name="Text Box 458"/>
                <p:cNvSpPr txBox="1">
                  <a:spLocks noChangeArrowheads="1"/>
                </p:cNvSpPr>
                <p:nvPr/>
              </p:nvSpPr>
              <p:spPr bwMode="auto">
                <a:xfrm>
                  <a:off x="1036" y="2691"/>
                  <a:ext cx="233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 type="none" w="lg" len="lg"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 kumimoji="1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新細明體" pitchFamily="18" charset="-120"/>
                    </a:defRPr>
                  </a:lvl1pPr>
                  <a:lvl2pPr marL="742950" indent="-285750" eaLnBrk="0" hangingPunct="0">
                    <a:defRPr kumimoji="1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新細明體" pitchFamily="18" charset="-120"/>
                    </a:defRPr>
                  </a:lvl2pPr>
                  <a:lvl3pPr marL="1143000" indent="-228600" eaLnBrk="0" hangingPunct="0">
                    <a:defRPr kumimoji="1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新細明體" pitchFamily="18" charset="-120"/>
                    </a:defRPr>
                  </a:lvl3pPr>
                  <a:lvl4pPr marL="1600200" indent="-228600" eaLnBrk="0" hangingPunct="0">
                    <a:defRPr kumimoji="1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新細明體" pitchFamily="18" charset="-120"/>
                    </a:defRPr>
                  </a:lvl4pPr>
                  <a:lvl5pPr marL="2057400" indent="-228600" eaLnBrk="0" hangingPunct="0">
                    <a:defRPr kumimoji="1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新細明體" pitchFamily="18" charset="-12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新細明體" pitchFamily="18" charset="-12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新細明體" pitchFamily="18" charset="-12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新細明體" pitchFamily="18" charset="-12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新細明體" pitchFamily="18" charset="-120"/>
                    </a:defRPr>
                  </a:lvl9pPr>
                </a:lstStyle>
                <a:p>
                  <a:pPr eaLnBrk="1" hangingPunct="1"/>
                  <a:r>
                    <a:rPr kumimoji="0" lang="en-US" altLang="en-US" sz="2000" i="1">
                      <a:solidFill>
                        <a:srgbClr val="000000"/>
                      </a:solidFill>
                    </a:rPr>
                    <a:t>A</a:t>
                  </a:r>
                </a:p>
              </p:txBody>
            </p:sp>
            <p:sp>
              <p:nvSpPr>
                <p:cNvPr id="6170" name="Text Box 459"/>
                <p:cNvSpPr txBox="1">
                  <a:spLocks noChangeArrowheads="1"/>
                </p:cNvSpPr>
                <p:nvPr/>
              </p:nvSpPr>
              <p:spPr bwMode="auto">
                <a:xfrm>
                  <a:off x="4460" y="2651"/>
                  <a:ext cx="217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 type="none" w="lg" len="lg"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 kumimoji="1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新細明體" pitchFamily="18" charset="-120"/>
                    </a:defRPr>
                  </a:lvl1pPr>
                  <a:lvl2pPr marL="742950" indent="-285750" eaLnBrk="0" hangingPunct="0">
                    <a:defRPr kumimoji="1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新細明體" pitchFamily="18" charset="-120"/>
                    </a:defRPr>
                  </a:lvl2pPr>
                  <a:lvl3pPr marL="1143000" indent="-228600" eaLnBrk="0" hangingPunct="0">
                    <a:defRPr kumimoji="1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新細明體" pitchFamily="18" charset="-120"/>
                    </a:defRPr>
                  </a:lvl3pPr>
                  <a:lvl4pPr marL="1600200" indent="-228600" eaLnBrk="0" hangingPunct="0">
                    <a:defRPr kumimoji="1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新細明體" pitchFamily="18" charset="-120"/>
                    </a:defRPr>
                  </a:lvl4pPr>
                  <a:lvl5pPr marL="2057400" indent="-228600" eaLnBrk="0" hangingPunct="0">
                    <a:defRPr kumimoji="1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新細明體" pitchFamily="18" charset="-12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新細明體" pitchFamily="18" charset="-12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新細明體" pitchFamily="18" charset="-12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新細明體" pitchFamily="18" charset="-12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新細明體" pitchFamily="18" charset="-120"/>
                    </a:defRPr>
                  </a:lvl9pPr>
                </a:lstStyle>
                <a:p>
                  <a:pPr eaLnBrk="1" hangingPunct="1"/>
                  <a:r>
                    <a:rPr kumimoji="0" lang="en-US" altLang="en-US" sz="2000" i="1">
                      <a:solidFill>
                        <a:srgbClr val="000000"/>
                      </a:solidFill>
                    </a:rPr>
                    <a:t>B</a:t>
                  </a:r>
                </a:p>
              </p:txBody>
            </p:sp>
          </p:grpSp>
          <p:sp>
            <p:nvSpPr>
              <p:cNvPr id="6157" name="Oval 460"/>
              <p:cNvSpPr>
                <a:spLocks noChangeArrowheads="1"/>
              </p:cNvSpPr>
              <p:nvPr/>
            </p:nvSpPr>
            <p:spPr bwMode="auto">
              <a:xfrm>
                <a:off x="1876" y="2272"/>
                <a:ext cx="112" cy="120"/>
              </a:xfrm>
              <a:prstGeom prst="ellipse">
                <a:avLst/>
              </a:prstGeom>
              <a:solidFill>
                <a:srgbClr val="FFFF00"/>
              </a:solidFill>
              <a:ln w="9525">
                <a:solidFill>
                  <a:srgbClr val="000000"/>
                </a:solidFill>
                <a:round/>
                <a:headEnd/>
                <a:tailEnd type="none" w="lg" len="lg"/>
              </a:ln>
            </p:spPr>
            <p:txBody>
              <a:bodyPr wrap="none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6158" name="Oval 461"/>
              <p:cNvSpPr>
                <a:spLocks noChangeArrowheads="1"/>
              </p:cNvSpPr>
              <p:nvPr/>
            </p:nvSpPr>
            <p:spPr bwMode="auto">
              <a:xfrm>
                <a:off x="1876" y="2528"/>
                <a:ext cx="112" cy="120"/>
              </a:xfrm>
              <a:prstGeom prst="ellipse">
                <a:avLst/>
              </a:prstGeom>
              <a:solidFill>
                <a:srgbClr val="FFFF00"/>
              </a:solidFill>
              <a:ln w="9525">
                <a:solidFill>
                  <a:srgbClr val="000000"/>
                </a:solidFill>
                <a:round/>
                <a:headEnd/>
                <a:tailEnd type="none" w="lg" len="lg"/>
              </a:ln>
            </p:spPr>
            <p:txBody>
              <a:bodyPr wrap="none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6159" name="Oval 462"/>
              <p:cNvSpPr>
                <a:spLocks noChangeArrowheads="1"/>
              </p:cNvSpPr>
              <p:nvPr/>
            </p:nvSpPr>
            <p:spPr bwMode="auto">
              <a:xfrm>
                <a:off x="1876" y="2792"/>
                <a:ext cx="112" cy="120"/>
              </a:xfrm>
              <a:prstGeom prst="ellipse">
                <a:avLst/>
              </a:prstGeom>
              <a:solidFill>
                <a:srgbClr val="FFFF00"/>
              </a:solidFill>
              <a:ln w="9525">
                <a:solidFill>
                  <a:srgbClr val="000000"/>
                </a:solidFill>
                <a:round/>
                <a:headEnd/>
                <a:tailEnd type="none" w="lg" len="lg"/>
              </a:ln>
            </p:spPr>
            <p:txBody>
              <a:bodyPr wrap="none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6160" name="Oval 463"/>
              <p:cNvSpPr>
                <a:spLocks noChangeArrowheads="1"/>
              </p:cNvSpPr>
              <p:nvPr/>
            </p:nvSpPr>
            <p:spPr bwMode="auto">
              <a:xfrm>
                <a:off x="1876" y="3408"/>
                <a:ext cx="112" cy="120"/>
              </a:xfrm>
              <a:prstGeom prst="ellipse">
                <a:avLst/>
              </a:prstGeom>
              <a:solidFill>
                <a:srgbClr val="FFFF00"/>
              </a:solidFill>
              <a:ln w="9525">
                <a:solidFill>
                  <a:srgbClr val="000000"/>
                </a:solidFill>
                <a:round/>
                <a:headEnd/>
                <a:tailEnd type="none" w="lg" len="lg"/>
              </a:ln>
            </p:spPr>
            <p:txBody>
              <a:bodyPr wrap="none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6161" name="Text Box 464"/>
              <p:cNvSpPr txBox="1">
                <a:spLocks noChangeArrowheads="1"/>
              </p:cNvSpPr>
              <p:nvPr/>
            </p:nvSpPr>
            <p:spPr bwMode="auto">
              <a:xfrm>
                <a:off x="1819" y="3036"/>
                <a:ext cx="224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9pPr>
              </a:lstStyle>
              <a:p>
                <a:pPr algn="ctr" eaLnBrk="1" hangingPunct="1"/>
                <a:r>
                  <a:rPr kumimoji="0" lang="en-US" altLang="en-US" sz="2000">
                    <a:solidFill>
                      <a:srgbClr val="000000"/>
                    </a:solidFill>
                  </a:rPr>
                  <a:t>…</a:t>
                </a:r>
              </a:p>
            </p:txBody>
          </p:sp>
          <p:sp>
            <p:nvSpPr>
              <p:cNvPr id="6162" name="Oval 465"/>
              <p:cNvSpPr>
                <a:spLocks noChangeArrowheads="1"/>
              </p:cNvSpPr>
              <p:nvPr/>
            </p:nvSpPr>
            <p:spPr bwMode="auto">
              <a:xfrm>
                <a:off x="3772" y="2264"/>
                <a:ext cx="112" cy="120"/>
              </a:xfrm>
              <a:prstGeom prst="ellipse">
                <a:avLst/>
              </a:prstGeom>
              <a:solidFill>
                <a:srgbClr val="FF9933"/>
              </a:solidFill>
              <a:ln w="9525">
                <a:solidFill>
                  <a:srgbClr val="000000"/>
                </a:solidFill>
                <a:round/>
                <a:headEnd/>
                <a:tailEnd type="none" w="lg" len="lg"/>
              </a:ln>
            </p:spPr>
            <p:txBody>
              <a:bodyPr wrap="none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6163" name="Oval 466"/>
              <p:cNvSpPr>
                <a:spLocks noChangeArrowheads="1"/>
              </p:cNvSpPr>
              <p:nvPr/>
            </p:nvSpPr>
            <p:spPr bwMode="auto">
              <a:xfrm>
                <a:off x="3772" y="2520"/>
                <a:ext cx="112" cy="120"/>
              </a:xfrm>
              <a:prstGeom prst="ellipse">
                <a:avLst/>
              </a:prstGeom>
              <a:solidFill>
                <a:srgbClr val="FF9933"/>
              </a:solidFill>
              <a:ln w="9525">
                <a:solidFill>
                  <a:srgbClr val="000000"/>
                </a:solidFill>
                <a:round/>
                <a:headEnd/>
                <a:tailEnd type="none" w="lg" len="lg"/>
              </a:ln>
            </p:spPr>
            <p:txBody>
              <a:bodyPr wrap="none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6164" name="Oval 467"/>
              <p:cNvSpPr>
                <a:spLocks noChangeArrowheads="1"/>
              </p:cNvSpPr>
              <p:nvPr/>
            </p:nvSpPr>
            <p:spPr bwMode="auto">
              <a:xfrm>
                <a:off x="3772" y="2784"/>
                <a:ext cx="112" cy="120"/>
              </a:xfrm>
              <a:prstGeom prst="ellipse">
                <a:avLst/>
              </a:prstGeom>
              <a:solidFill>
                <a:srgbClr val="FF9933"/>
              </a:solidFill>
              <a:ln w="9525">
                <a:solidFill>
                  <a:srgbClr val="000000"/>
                </a:solidFill>
                <a:round/>
                <a:headEnd/>
                <a:tailEnd type="none" w="lg" len="lg"/>
              </a:ln>
            </p:spPr>
            <p:txBody>
              <a:bodyPr wrap="none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6165" name="Oval 468"/>
              <p:cNvSpPr>
                <a:spLocks noChangeArrowheads="1"/>
              </p:cNvSpPr>
              <p:nvPr/>
            </p:nvSpPr>
            <p:spPr bwMode="auto">
              <a:xfrm>
                <a:off x="3772" y="3400"/>
                <a:ext cx="112" cy="120"/>
              </a:xfrm>
              <a:prstGeom prst="ellipse">
                <a:avLst/>
              </a:prstGeom>
              <a:solidFill>
                <a:srgbClr val="FF9933"/>
              </a:solidFill>
              <a:ln w="9525">
                <a:solidFill>
                  <a:srgbClr val="000000"/>
                </a:solidFill>
                <a:round/>
                <a:headEnd/>
                <a:tailEnd type="none" w="lg" len="lg"/>
              </a:ln>
            </p:spPr>
            <p:txBody>
              <a:bodyPr wrap="none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6166" name="Text Box 469"/>
              <p:cNvSpPr txBox="1">
                <a:spLocks noChangeArrowheads="1"/>
              </p:cNvSpPr>
              <p:nvPr/>
            </p:nvSpPr>
            <p:spPr bwMode="auto">
              <a:xfrm>
                <a:off x="3715" y="3036"/>
                <a:ext cx="224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9pPr>
              </a:lstStyle>
              <a:p>
                <a:pPr algn="ctr" eaLnBrk="1" hangingPunct="1"/>
                <a:r>
                  <a:rPr kumimoji="0" lang="en-US" altLang="en-US" sz="2000">
                    <a:solidFill>
                      <a:srgbClr val="000000"/>
                    </a:solidFill>
                  </a:rPr>
                  <a:t>…</a:t>
                </a:r>
              </a:p>
            </p:txBody>
          </p:sp>
        </p:grpSp>
        <p:grpSp>
          <p:nvGrpSpPr>
            <p:cNvPr id="6150" name="Group 470"/>
            <p:cNvGrpSpPr>
              <a:grpSpLocks/>
            </p:cNvGrpSpPr>
            <p:nvPr/>
          </p:nvGrpSpPr>
          <p:grpSpPr bwMode="auto">
            <a:xfrm>
              <a:off x="2068" y="1696"/>
              <a:ext cx="1680" cy="1144"/>
              <a:chOff x="2048" y="2320"/>
              <a:chExt cx="1680" cy="1144"/>
            </a:xfrm>
          </p:grpSpPr>
          <p:sp>
            <p:nvSpPr>
              <p:cNvPr id="6152" name="Line 471"/>
              <p:cNvSpPr>
                <a:spLocks noChangeShapeType="1"/>
              </p:cNvSpPr>
              <p:nvPr/>
            </p:nvSpPr>
            <p:spPr bwMode="auto">
              <a:xfrm>
                <a:off x="2056" y="2320"/>
                <a:ext cx="1672" cy="0"/>
              </a:xfrm>
              <a:prstGeom prst="line">
                <a:avLst/>
              </a:prstGeom>
              <a:noFill/>
              <a:ln w="31750">
                <a:solidFill>
                  <a:srgbClr val="0000FF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153" name="Line 472"/>
              <p:cNvSpPr>
                <a:spLocks noChangeShapeType="1"/>
              </p:cNvSpPr>
              <p:nvPr/>
            </p:nvSpPr>
            <p:spPr bwMode="auto">
              <a:xfrm>
                <a:off x="2048" y="2584"/>
                <a:ext cx="1672" cy="0"/>
              </a:xfrm>
              <a:prstGeom prst="line">
                <a:avLst/>
              </a:prstGeom>
              <a:noFill/>
              <a:ln w="31750">
                <a:solidFill>
                  <a:srgbClr val="0000FF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154" name="Line 473"/>
              <p:cNvSpPr>
                <a:spLocks noChangeShapeType="1"/>
              </p:cNvSpPr>
              <p:nvPr/>
            </p:nvSpPr>
            <p:spPr bwMode="auto">
              <a:xfrm>
                <a:off x="2056" y="2864"/>
                <a:ext cx="1672" cy="0"/>
              </a:xfrm>
              <a:prstGeom prst="line">
                <a:avLst/>
              </a:prstGeom>
              <a:noFill/>
              <a:ln w="31750">
                <a:solidFill>
                  <a:srgbClr val="0000FF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155" name="Line 474"/>
              <p:cNvSpPr>
                <a:spLocks noChangeShapeType="1"/>
              </p:cNvSpPr>
              <p:nvPr/>
            </p:nvSpPr>
            <p:spPr bwMode="auto">
              <a:xfrm>
                <a:off x="2048" y="3464"/>
                <a:ext cx="1672" cy="0"/>
              </a:xfrm>
              <a:prstGeom prst="line">
                <a:avLst/>
              </a:prstGeom>
              <a:noFill/>
              <a:ln w="31750">
                <a:solidFill>
                  <a:srgbClr val="0000FF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6151" name="Text Box 475"/>
            <p:cNvSpPr txBox="1">
              <a:spLocks noChangeArrowheads="1"/>
            </p:cNvSpPr>
            <p:nvPr/>
          </p:nvSpPr>
          <p:spPr bwMode="auto">
            <a:xfrm>
              <a:off x="2802" y="2427"/>
              <a:ext cx="197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9pPr>
            </a:lstStyle>
            <a:p>
              <a:pPr eaLnBrk="1" hangingPunct="1"/>
              <a:r>
                <a:rPr kumimoji="0" lang="en-US" altLang="en-US" sz="2000" i="1">
                  <a:solidFill>
                    <a:srgbClr val="000000"/>
                  </a:solidFill>
                </a:rPr>
                <a:t>f</a:t>
              </a:r>
            </a:p>
          </p:txBody>
        </p:sp>
      </p:grpSp>
      <p:sp>
        <p:nvSpPr>
          <p:cNvPr id="6148" name="Subtitle 28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endParaRPr lang="en-US" alt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ext Box 2"/>
          <p:cNvSpPr txBox="1">
            <a:spLocks noChangeArrowheads="1"/>
          </p:cNvSpPr>
          <p:nvPr/>
        </p:nvSpPr>
        <p:spPr bwMode="auto">
          <a:xfrm>
            <a:off x="3511550" y="457200"/>
            <a:ext cx="20510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 sz="2400" b="1">
                <a:solidFill>
                  <a:srgbClr val="003366"/>
                </a:solidFill>
              </a:rPr>
              <a:t>This Lecture</a:t>
            </a:r>
          </a:p>
        </p:txBody>
      </p:sp>
      <p:sp>
        <p:nvSpPr>
          <p:cNvPr id="7171" name="Text Box 51"/>
          <p:cNvSpPr txBox="1">
            <a:spLocks noChangeArrowheads="1"/>
          </p:cNvSpPr>
          <p:nvPr/>
        </p:nvSpPr>
        <p:spPr bwMode="auto">
          <a:xfrm>
            <a:off x="1981200" y="1412875"/>
            <a:ext cx="5176838" cy="915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/>
              <a:t>We will study how to define mappings to count.</a:t>
            </a:r>
          </a:p>
          <a:p>
            <a:pPr eaLnBrk="1" hangingPunct="1"/>
            <a:endParaRPr lang="en-US" altLang="zh-TW"/>
          </a:p>
          <a:p>
            <a:pPr eaLnBrk="1" hangingPunct="1"/>
            <a:r>
              <a:rPr lang="en-US" altLang="zh-TW"/>
              <a:t>There will be many examples shown.</a:t>
            </a:r>
          </a:p>
        </p:txBody>
      </p:sp>
      <p:sp>
        <p:nvSpPr>
          <p:cNvPr id="7172" name="Text Box 52"/>
          <p:cNvSpPr txBox="1">
            <a:spLocks noChangeArrowheads="1"/>
          </p:cNvSpPr>
          <p:nvPr/>
        </p:nvSpPr>
        <p:spPr bwMode="auto">
          <a:xfrm>
            <a:off x="3678238" y="3048000"/>
            <a:ext cx="1809750" cy="1465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>
              <a:buClr>
                <a:srgbClr val="A50021"/>
              </a:buClr>
              <a:buFontTx/>
              <a:buChar char="•"/>
            </a:pPr>
            <a:r>
              <a:rPr lang="en-US" altLang="zh-TW"/>
              <a:t> Bijection rule</a:t>
            </a:r>
          </a:p>
          <a:p>
            <a:pPr eaLnBrk="1" hangingPunct="1">
              <a:buClr>
                <a:srgbClr val="A50021"/>
              </a:buClr>
              <a:buFontTx/>
              <a:buChar char="•"/>
            </a:pPr>
            <a:endParaRPr lang="en-US" altLang="zh-TW"/>
          </a:p>
          <a:p>
            <a:pPr eaLnBrk="1" hangingPunct="1">
              <a:buClr>
                <a:srgbClr val="A50021"/>
              </a:buClr>
              <a:buFontTx/>
              <a:buChar char="•"/>
            </a:pPr>
            <a:r>
              <a:rPr lang="en-US" altLang="zh-TW"/>
              <a:t> Division rule</a:t>
            </a:r>
          </a:p>
          <a:p>
            <a:pPr eaLnBrk="1" hangingPunct="1">
              <a:buClr>
                <a:srgbClr val="A50021"/>
              </a:buClr>
              <a:buFontTx/>
              <a:buChar char="•"/>
            </a:pPr>
            <a:endParaRPr lang="en-US" altLang="zh-TW"/>
          </a:p>
          <a:p>
            <a:pPr eaLnBrk="1" hangingPunct="1">
              <a:buClr>
                <a:srgbClr val="A50021"/>
              </a:buClr>
              <a:buFontTx/>
              <a:buChar char="•"/>
            </a:pPr>
            <a:r>
              <a:rPr lang="en-US" altLang="zh-TW"/>
              <a:t> More mapping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ext Box 2"/>
          <p:cNvSpPr txBox="1">
            <a:spLocks noChangeArrowheads="1"/>
          </p:cNvSpPr>
          <p:nvPr/>
        </p:nvSpPr>
        <p:spPr bwMode="auto">
          <a:xfrm>
            <a:off x="2762250" y="457200"/>
            <a:ext cx="3683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 sz="2400" b="1">
                <a:solidFill>
                  <a:srgbClr val="003366"/>
                </a:solidFill>
              </a:rPr>
              <a:t>Counting Rule: Bijection</a:t>
            </a:r>
          </a:p>
        </p:txBody>
      </p:sp>
      <p:sp>
        <p:nvSpPr>
          <p:cNvPr id="8195" name="Rectangle 3"/>
          <p:cNvSpPr>
            <a:spLocks noChangeArrowheads="1"/>
          </p:cNvSpPr>
          <p:nvPr/>
        </p:nvSpPr>
        <p:spPr bwMode="auto">
          <a:xfrm>
            <a:off x="533400" y="1295400"/>
            <a:ext cx="83058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algn="ctr" eaLnBrk="1" hangingPunct="1">
              <a:spcBef>
                <a:spcPct val="20000"/>
              </a:spcBef>
            </a:pPr>
            <a:r>
              <a:rPr lang="en-US" altLang="en-US" sz="2000">
                <a:solidFill>
                  <a:srgbClr val="000000"/>
                </a:solidFill>
              </a:rPr>
              <a:t>If </a:t>
            </a:r>
            <a:r>
              <a:rPr lang="en-US" altLang="en-US" sz="2000" i="1">
                <a:solidFill>
                  <a:srgbClr val="000000"/>
                </a:solidFill>
              </a:rPr>
              <a:t>f</a:t>
            </a:r>
            <a:r>
              <a:rPr lang="en-US" altLang="en-US" sz="2000">
                <a:solidFill>
                  <a:srgbClr val="000000"/>
                </a:solidFill>
              </a:rPr>
              <a:t> is a </a:t>
            </a:r>
            <a:r>
              <a:rPr lang="en-US" altLang="en-US" sz="2000">
                <a:solidFill>
                  <a:srgbClr val="0033CC"/>
                </a:solidFill>
              </a:rPr>
              <a:t>bijection</a:t>
            </a:r>
            <a:r>
              <a:rPr lang="en-US" altLang="en-US" sz="2000">
                <a:solidFill>
                  <a:srgbClr val="000000"/>
                </a:solidFill>
              </a:rPr>
              <a:t> from </a:t>
            </a:r>
            <a:r>
              <a:rPr lang="en-US" altLang="en-US" sz="2000" i="1">
                <a:solidFill>
                  <a:srgbClr val="000000"/>
                </a:solidFill>
              </a:rPr>
              <a:t>A</a:t>
            </a:r>
            <a:r>
              <a:rPr lang="en-US" altLang="en-US" sz="2000">
                <a:solidFill>
                  <a:srgbClr val="000000"/>
                </a:solidFill>
              </a:rPr>
              <a:t> to </a:t>
            </a:r>
            <a:r>
              <a:rPr lang="en-US" altLang="en-US" sz="2000" i="1">
                <a:solidFill>
                  <a:srgbClr val="000000"/>
                </a:solidFill>
              </a:rPr>
              <a:t>B</a:t>
            </a:r>
            <a:r>
              <a:rPr lang="en-US" altLang="en-US" sz="2000">
                <a:solidFill>
                  <a:srgbClr val="000000"/>
                </a:solidFill>
              </a:rPr>
              <a:t>,</a:t>
            </a:r>
          </a:p>
          <a:p>
            <a:pPr algn="ctr" eaLnBrk="1" hangingPunct="1">
              <a:lnSpc>
                <a:spcPct val="150000"/>
              </a:lnSpc>
              <a:spcBef>
                <a:spcPct val="20000"/>
              </a:spcBef>
            </a:pPr>
            <a:r>
              <a:rPr lang="en-US" altLang="en-US" sz="2000">
                <a:solidFill>
                  <a:srgbClr val="000000"/>
                </a:solidFill>
              </a:rPr>
              <a:t>then |</a:t>
            </a:r>
            <a:r>
              <a:rPr lang="en-US" altLang="en-US" sz="2000" i="1">
                <a:solidFill>
                  <a:srgbClr val="000000"/>
                </a:solidFill>
              </a:rPr>
              <a:t>A</a:t>
            </a:r>
            <a:r>
              <a:rPr lang="en-US" altLang="en-US" sz="2000">
                <a:solidFill>
                  <a:srgbClr val="000000"/>
                </a:solidFill>
              </a:rPr>
              <a:t>| = |</a:t>
            </a:r>
            <a:r>
              <a:rPr lang="en-US" altLang="en-US" sz="2000" i="1">
                <a:solidFill>
                  <a:srgbClr val="000000"/>
                </a:solidFill>
              </a:rPr>
              <a:t>B</a:t>
            </a:r>
            <a:r>
              <a:rPr lang="en-US" altLang="en-US" sz="2000">
                <a:solidFill>
                  <a:srgbClr val="000000"/>
                </a:solidFill>
              </a:rPr>
              <a:t>|</a:t>
            </a:r>
          </a:p>
        </p:txBody>
      </p:sp>
      <p:grpSp>
        <p:nvGrpSpPr>
          <p:cNvPr id="8196" name="Group 4"/>
          <p:cNvGrpSpPr>
            <a:grpSpLocks/>
          </p:cNvGrpSpPr>
          <p:nvPr/>
        </p:nvGrpSpPr>
        <p:grpSpPr bwMode="auto">
          <a:xfrm>
            <a:off x="1644650" y="2514600"/>
            <a:ext cx="5780088" cy="2743200"/>
            <a:chOff x="1036" y="2064"/>
            <a:chExt cx="3641" cy="1728"/>
          </a:xfrm>
        </p:grpSpPr>
        <p:grpSp>
          <p:nvGrpSpPr>
            <p:cNvPr id="8205" name="Group 5"/>
            <p:cNvGrpSpPr>
              <a:grpSpLocks/>
            </p:cNvGrpSpPr>
            <p:nvPr/>
          </p:nvGrpSpPr>
          <p:grpSpPr bwMode="auto">
            <a:xfrm>
              <a:off x="1036" y="2064"/>
              <a:ext cx="3641" cy="1728"/>
              <a:chOff x="1036" y="2064"/>
              <a:chExt cx="3641" cy="1728"/>
            </a:xfrm>
          </p:grpSpPr>
          <p:sp>
            <p:nvSpPr>
              <p:cNvPr id="1068038" name="Oval 6"/>
              <p:cNvSpPr>
                <a:spLocks noChangeArrowheads="1"/>
              </p:cNvSpPr>
              <p:nvPr/>
            </p:nvSpPr>
            <p:spPr bwMode="auto">
              <a:xfrm>
                <a:off x="1424" y="2096"/>
                <a:ext cx="1016" cy="1696"/>
              </a:xfrm>
              <a:prstGeom prst="ellipse">
                <a:avLst/>
              </a:prstGeom>
              <a:solidFill>
                <a:srgbClr val="CCCCFF"/>
              </a:solidFill>
              <a:ln w="9525">
                <a:solidFill>
                  <a:srgbClr val="000000"/>
                </a:solidFill>
                <a:round/>
                <a:headEnd/>
                <a:tailEnd type="none" w="lg" len="lg"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1068039" name="Oval 7"/>
              <p:cNvSpPr>
                <a:spLocks noChangeArrowheads="1"/>
              </p:cNvSpPr>
              <p:nvPr/>
            </p:nvSpPr>
            <p:spPr bwMode="auto">
              <a:xfrm>
                <a:off x="3320" y="2064"/>
                <a:ext cx="1016" cy="1696"/>
              </a:xfrm>
              <a:prstGeom prst="ellipse">
                <a:avLst/>
              </a:prstGeom>
              <a:solidFill>
                <a:srgbClr val="CCCCFF"/>
              </a:solidFill>
              <a:ln w="9525">
                <a:solidFill>
                  <a:srgbClr val="000000"/>
                </a:solidFill>
                <a:round/>
                <a:headEnd/>
                <a:tailEnd type="none" w="lg" len="lg"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8218" name="Text Box 8"/>
              <p:cNvSpPr txBox="1">
                <a:spLocks noChangeArrowheads="1"/>
              </p:cNvSpPr>
              <p:nvPr/>
            </p:nvSpPr>
            <p:spPr bwMode="auto">
              <a:xfrm>
                <a:off x="1036" y="2691"/>
                <a:ext cx="233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9pPr>
              </a:lstStyle>
              <a:p>
                <a:pPr eaLnBrk="1" hangingPunct="1"/>
                <a:r>
                  <a:rPr kumimoji="0" lang="en-US" altLang="en-US" sz="2000" i="1">
                    <a:solidFill>
                      <a:srgbClr val="000000"/>
                    </a:solidFill>
                  </a:rPr>
                  <a:t>A</a:t>
                </a:r>
              </a:p>
            </p:txBody>
          </p:sp>
          <p:sp>
            <p:nvSpPr>
              <p:cNvPr id="8219" name="Text Box 9"/>
              <p:cNvSpPr txBox="1">
                <a:spLocks noChangeArrowheads="1"/>
              </p:cNvSpPr>
              <p:nvPr/>
            </p:nvSpPr>
            <p:spPr bwMode="auto">
              <a:xfrm>
                <a:off x="4460" y="2651"/>
                <a:ext cx="217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9pPr>
              </a:lstStyle>
              <a:p>
                <a:pPr eaLnBrk="1" hangingPunct="1"/>
                <a:r>
                  <a:rPr kumimoji="0" lang="en-US" altLang="en-US" sz="2000" i="1">
                    <a:solidFill>
                      <a:srgbClr val="000000"/>
                    </a:solidFill>
                  </a:rPr>
                  <a:t>B</a:t>
                </a:r>
              </a:p>
            </p:txBody>
          </p:sp>
        </p:grpSp>
        <p:sp>
          <p:nvSpPr>
            <p:cNvPr id="8206" name="Oval 10"/>
            <p:cNvSpPr>
              <a:spLocks noChangeArrowheads="1"/>
            </p:cNvSpPr>
            <p:nvPr/>
          </p:nvSpPr>
          <p:spPr bwMode="auto">
            <a:xfrm>
              <a:off x="1876" y="2272"/>
              <a:ext cx="112" cy="12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round/>
              <a:headEnd/>
              <a:tailEnd type="none" w="lg" len="lg"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8207" name="Oval 11"/>
            <p:cNvSpPr>
              <a:spLocks noChangeArrowheads="1"/>
            </p:cNvSpPr>
            <p:nvPr/>
          </p:nvSpPr>
          <p:spPr bwMode="auto">
            <a:xfrm>
              <a:off x="1876" y="2528"/>
              <a:ext cx="112" cy="12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round/>
              <a:headEnd/>
              <a:tailEnd type="none" w="lg" len="lg"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8208" name="Oval 12"/>
            <p:cNvSpPr>
              <a:spLocks noChangeArrowheads="1"/>
            </p:cNvSpPr>
            <p:nvPr/>
          </p:nvSpPr>
          <p:spPr bwMode="auto">
            <a:xfrm>
              <a:off x="1876" y="2792"/>
              <a:ext cx="112" cy="12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round/>
              <a:headEnd/>
              <a:tailEnd type="none" w="lg" len="lg"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8209" name="Oval 13"/>
            <p:cNvSpPr>
              <a:spLocks noChangeArrowheads="1"/>
            </p:cNvSpPr>
            <p:nvPr/>
          </p:nvSpPr>
          <p:spPr bwMode="auto">
            <a:xfrm>
              <a:off x="1876" y="3408"/>
              <a:ext cx="112" cy="12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round/>
              <a:headEnd/>
              <a:tailEnd type="none" w="lg" len="lg"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8210" name="Text Box 14"/>
            <p:cNvSpPr txBox="1">
              <a:spLocks noChangeArrowheads="1"/>
            </p:cNvSpPr>
            <p:nvPr/>
          </p:nvSpPr>
          <p:spPr bwMode="auto">
            <a:xfrm>
              <a:off x="1819" y="3036"/>
              <a:ext cx="22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9pPr>
            </a:lstStyle>
            <a:p>
              <a:pPr algn="ctr" eaLnBrk="1" hangingPunct="1"/>
              <a:r>
                <a:rPr kumimoji="0" lang="en-US" altLang="en-US" sz="2000">
                  <a:solidFill>
                    <a:srgbClr val="000000"/>
                  </a:solidFill>
                </a:rPr>
                <a:t>…</a:t>
              </a:r>
            </a:p>
          </p:txBody>
        </p:sp>
        <p:sp>
          <p:nvSpPr>
            <p:cNvPr id="8211" name="Oval 15"/>
            <p:cNvSpPr>
              <a:spLocks noChangeArrowheads="1"/>
            </p:cNvSpPr>
            <p:nvPr/>
          </p:nvSpPr>
          <p:spPr bwMode="auto">
            <a:xfrm>
              <a:off x="3772" y="2264"/>
              <a:ext cx="112" cy="120"/>
            </a:xfrm>
            <a:prstGeom prst="ellipse">
              <a:avLst/>
            </a:prstGeom>
            <a:solidFill>
              <a:srgbClr val="FF9933"/>
            </a:solidFill>
            <a:ln w="9525">
              <a:solidFill>
                <a:srgbClr val="000000"/>
              </a:solidFill>
              <a:round/>
              <a:headEnd/>
              <a:tailEnd type="none" w="lg" len="lg"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8212" name="Oval 16"/>
            <p:cNvSpPr>
              <a:spLocks noChangeArrowheads="1"/>
            </p:cNvSpPr>
            <p:nvPr/>
          </p:nvSpPr>
          <p:spPr bwMode="auto">
            <a:xfrm>
              <a:off x="3772" y="2520"/>
              <a:ext cx="112" cy="120"/>
            </a:xfrm>
            <a:prstGeom prst="ellipse">
              <a:avLst/>
            </a:prstGeom>
            <a:solidFill>
              <a:srgbClr val="FF9933"/>
            </a:solidFill>
            <a:ln w="9525">
              <a:solidFill>
                <a:srgbClr val="000000"/>
              </a:solidFill>
              <a:round/>
              <a:headEnd/>
              <a:tailEnd type="none" w="lg" len="lg"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8213" name="Oval 17"/>
            <p:cNvSpPr>
              <a:spLocks noChangeArrowheads="1"/>
            </p:cNvSpPr>
            <p:nvPr/>
          </p:nvSpPr>
          <p:spPr bwMode="auto">
            <a:xfrm>
              <a:off x="3772" y="2784"/>
              <a:ext cx="112" cy="120"/>
            </a:xfrm>
            <a:prstGeom prst="ellipse">
              <a:avLst/>
            </a:prstGeom>
            <a:solidFill>
              <a:srgbClr val="FF9933"/>
            </a:solidFill>
            <a:ln w="9525">
              <a:solidFill>
                <a:srgbClr val="000000"/>
              </a:solidFill>
              <a:round/>
              <a:headEnd/>
              <a:tailEnd type="none" w="lg" len="lg"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8214" name="Oval 18"/>
            <p:cNvSpPr>
              <a:spLocks noChangeArrowheads="1"/>
            </p:cNvSpPr>
            <p:nvPr/>
          </p:nvSpPr>
          <p:spPr bwMode="auto">
            <a:xfrm>
              <a:off x="3772" y="3400"/>
              <a:ext cx="112" cy="120"/>
            </a:xfrm>
            <a:prstGeom prst="ellipse">
              <a:avLst/>
            </a:prstGeom>
            <a:solidFill>
              <a:srgbClr val="FF9933"/>
            </a:solidFill>
            <a:ln w="9525">
              <a:solidFill>
                <a:srgbClr val="000000"/>
              </a:solidFill>
              <a:round/>
              <a:headEnd/>
              <a:tailEnd type="none" w="lg" len="lg"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8215" name="Text Box 19"/>
            <p:cNvSpPr txBox="1">
              <a:spLocks noChangeArrowheads="1"/>
            </p:cNvSpPr>
            <p:nvPr/>
          </p:nvSpPr>
          <p:spPr bwMode="auto">
            <a:xfrm>
              <a:off x="3715" y="3036"/>
              <a:ext cx="22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9pPr>
            </a:lstStyle>
            <a:p>
              <a:pPr algn="ctr" eaLnBrk="1" hangingPunct="1"/>
              <a:r>
                <a:rPr kumimoji="0" lang="en-US" altLang="en-US" sz="2000">
                  <a:solidFill>
                    <a:srgbClr val="000000"/>
                  </a:solidFill>
                </a:rPr>
                <a:t>…</a:t>
              </a:r>
            </a:p>
          </p:txBody>
        </p:sp>
      </p:grpSp>
      <p:grpSp>
        <p:nvGrpSpPr>
          <p:cNvPr id="8197" name="Group 20"/>
          <p:cNvGrpSpPr>
            <a:grpSpLocks/>
          </p:cNvGrpSpPr>
          <p:nvPr/>
        </p:nvGrpSpPr>
        <p:grpSpPr bwMode="auto">
          <a:xfrm>
            <a:off x="3251200" y="2921000"/>
            <a:ext cx="2667000" cy="1816100"/>
            <a:chOff x="2048" y="2320"/>
            <a:chExt cx="1680" cy="1144"/>
          </a:xfrm>
        </p:grpSpPr>
        <p:sp>
          <p:nvSpPr>
            <p:cNvPr id="8201" name="Line 21"/>
            <p:cNvSpPr>
              <a:spLocks noChangeShapeType="1"/>
            </p:cNvSpPr>
            <p:nvPr/>
          </p:nvSpPr>
          <p:spPr bwMode="auto">
            <a:xfrm>
              <a:off x="2056" y="2320"/>
              <a:ext cx="1672" cy="0"/>
            </a:xfrm>
            <a:prstGeom prst="line">
              <a:avLst/>
            </a:prstGeom>
            <a:noFill/>
            <a:ln w="31750">
              <a:solidFill>
                <a:srgbClr val="0000FF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02" name="Line 22"/>
            <p:cNvSpPr>
              <a:spLocks noChangeShapeType="1"/>
            </p:cNvSpPr>
            <p:nvPr/>
          </p:nvSpPr>
          <p:spPr bwMode="auto">
            <a:xfrm>
              <a:off x="2048" y="2584"/>
              <a:ext cx="1672" cy="0"/>
            </a:xfrm>
            <a:prstGeom prst="line">
              <a:avLst/>
            </a:prstGeom>
            <a:noFill/>
            <a:ln w="31750">
              <a:solidFill>
                <a:srgbClr val="0000FF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03" name="Line 23"/>
            <p:cNvSpPr>
              <a:spLocks noChangeShapeType="1"/>
            </p:cNvSpPr>
            <p:nvPr/>
          </p:nvSpPr>
          <p:spPr bwMode="auto">
            <a:xfrm>
              <a:off x="2056" y="2864"/>
              <a:ext cx="1672" cy="0"/>
            </a:xfrm>
            <a:prstGeom prst="line">
              <a:avLst/>
            </a:prstGeom>
            <a:noFill/>
            <a:ln w="31750">
              <a:solidFill>
                <a:srgbClr val="0000FF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04" name="Line 24"/>
            <p:cNvSpPr>
              <a:spLocks noChangeShapeType="1"/>
            </p:cNvSpPr>
            <p:nvPr/>
          </p:nvSpPr>
          <p:spPr bwMode="auto">
            <a:xfrm>
              <a:off x="2048" y="3464"/>
              <a:ext cx="1672" cy="0"/>
            </a:xfrm>
            <a:prstGeom prst="line">
              <a:avLst/>
            </a:prstGeom>
            <a:noFill/>
            <a:ln w="31750">
              <a:solidFill>
                <a:srgbClr val="0000FF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198" name="Text Box 25"/>
          <p:cNvSpPr txBox="1">
            <a:spLocks noChangeArrowheads="1"/>
          </p:cNvSpPr>
          <p:nvPr/>
        </p:nvSpPr>
        <p:spPr bwMode="auto">
          <a:xfrm>
            <a:off x="4416425" y="4081463"/>
            <a:ext cx="3127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kumimoji="0" lang="en-US" altLang="en-US" sz="2000" i="1">
                <a:solidFill>
                  <a:srgbClr val="000000"/>
                </a:solidFill>
              </a:rPr>
              <a:t>f</a:t>
            </a:r>
          </a:p>
        </p:txBody>
      </p:sp>
      <p:sp>
        <p:nvSpPr>
          <p:cNvPr id="8199" name="Rectangle 26"/>
          <p:cNvSpPr>
            <a:spLocks noChangeArrowheads="1"/>
          </p:cNvSpPr>
          <p:nvPr/>
        </p:nvSpPr>
        <p:spPr bwMode="auto">
          <a:xfrm>
            <a:off x="2438400" y="1143000"/>
            <a:ext cx="4267200" cy="1143000"/>
          </a:xfrm>
          <a:prstGeom prst="rect">
            <a:avLst/>
          </a:prstGeom>
          <a:noFill/>
          <a:ln w="28575">
            <a:solidFill>
              <a:srgbClr val="FF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8200" name="Text Box 27"/>
          <p:cNvSpPr txBox="1">
            <a:spLocks noChangeArrowheads="1"/>
          </p:cNvSpPr>
          <p:nvPr/>
        </p:nvSpPr>
        <p:spPr bwMode="auto">
          <a:xfrm>
            <a:off x="1074738" y="5697538"/>
            <a:ext cx="7078662" cy="779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/>
              <a:t>To compute |A|, one strategy is to define a bijection of A and B,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TW"/>
              <a:t>where B is easier to count and we can compute |B| directly.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ext Box 2"/>
          <p:cNvSpPr txBox="1">
            <a:spLocks noChangeArrowheads="1"/>
          </p:cNvSpPr>
          <p:nvPr/>
        </p:nvSpPr>
        <p:spPr bwMode="auto">
          <a:xfrm>
            <a:off x="1752600" y="1447800"/>
            <a:ext cx="4114800" cy="1658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tabLst>
                <a:tab pos="1428750" algn="l"/>
              </a:tabLs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tabLst>
                <a:tab pos="1428750" algn="l"/>
              </a:tabLs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tabLst>
                <a:tab pos="1428750" algn="l"/>
              </a:tabLs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tabLst>
                <a:tab pos="1428750" algn="l"/>
              </a:tabLs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tabLst>
                <a:tab pos="1428750" algn="l"/>
              </a:tabLs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428750" algn="l"/>
              </a:tabLs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428750" algn="l"/>
              </a:tabLs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428750" algn="l"/>
              </a:tabLs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428750" algn="l"/>
              </a:tabLs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10000"/>
              </a:spcBef>
            </a:pPr>
            <a:r>
              <a:rPr kumimoji="0" lang="en-US" altLang="en-US"/>
              <a:t>How many subsets of a set </a:t>
            </a:r>
            <a:r>
              <a:rPr kumimoji="0" lang="en-US" altLang="en-US" i="1"/>
              <a:t>S</a:t>
            </a:r>
            <a:r>
              <a:rPr kumimoji="0" lang="en-US" altLang="en-US"/>
              <a:t>? </a:t>
            </a:r>
          </a:p>
          <a:p>
            <a:pPr eaLnBrk="1" hangingPunct="1">
              <a:lnSpc>
                <a:spcPct val="150000"/>
              </a:lnSpc>
              <a:spcBef>
                <a:spcPct val="10000"/>
              </a:spcBef>
            </a:pPr>
            <a:r>
              <a:rPr kumimoji="0" lang="en-US" altLang="en-US"/>
              <a:t>   </a:t>
            </a:r>
          </a:p>
          <a:p>
            <a:pPr eaLnBrk="1" hangingPunct="1">
              <a:lnSpc>
                <a:spcPct val="150000"/>
              </a:lnSpc>
              <a:spcBef>
                <a:spcPct val="10000"/>
              </a:spcBef>
            </a:pPr>
            <a:r>
              <a:rPr kumimoji="0" lang="en-US" altLang="en-US">
                <a:solidFill>
                  <a:srgbClr val="3333CC"/>
                </a:solidFill>
              </a:rPr>
              <a:t>P</a:t>
            </a:r>
            <a:r>
              <a:rPr kumimoji="0" lang="en-US" altLang="en-US"/>
              <a:t>(</a:t>
            </a:r>
            <a:r>
              <a:rPr kumimoji="0" lang="en-US" altLang="en-US" i="1"/>
              <a:t>S</a:t>
            </a:r>
            <a:r>
              <a:rPr kumimoji="0" lang="en-US" altLang="en-US"/>
              <a:t>) = the </a:t>
            </a:r>
            <a:r>
              <a:rPr kumimoji="0" lang="en-US" altLang="en-US">
                <a:solidFill>
                  <a:srgbClr val="3333CC"/>
                </a:solidFill>
              </a:rPr>
              <a:t>power set</a:t>
            </a:r>
            <a:r>
              <a:rPr kumimoji="0" lang="en-US" altLang="en-US"/>
              <a:t> of </a:t>
            </a:r>
            <a:r>
              <a:rPr kumimoji="0" lang="en-US" altLang="en-US" i="1"/>
              <a:t>S</a:t>
            </a:r>
          </a:p>
          <a:p>
            <a:pPr eaLnBrk="1" hangingPunct="1">
              <a:lnSpc>
                <a:spcPct val="150000"/>
              </a:lnSpc>
              <a:spcBef>
                <a:spcPct val="10000"/>
              </a:spcBef>
            </a:pPr>
            <a:r>
              <a:rPr kumimoji="0" lang="en-US" altLang="en-US"/>
              <a:t>           = the set of all subsets of </a:t>
            </a:r>
            <a:r>
              <a:rPr kumimoji="0" lang="en-US" altLang="en-US" i="1"/>
              <a:t>S</a:t>
            </a:r>
            <a:endParaRPr kumimoji="0" lang="en-US" altLang="en-US"/>
          </a:p>
        </p:txBody>
      </p:sp>
      <p:sp>
        <p:nvSpPr>
          <p:cNvPr id="956419" name="Text Box 3"/>
          <p:cNvSpPr txBox="1">
            <a:spLocks noChangeArrowheads="1"/>
          </p:cNvSpPr>
          <p:nvPr/>
        </p:nvSpPr>
        <p:spPr bwMode="auto">
          <a:xfrm>
            <a:off x="1752600" y="3563938"/>
            <a:ext cx="5334000" cy="779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10000"/>
              </a:spcBef>
            </a:pPr>
            <a:r>
              <a:rPr kumimoji="0" lang="en-US" altLang="en-US"/>
              <a:t>for </a:t>
            </a:r>
            <a:r>
              <a:rPr kumimoji="0" lang="en-US" altLang="en-US" i="1"/>
              <a:t>S</a:t>
            </a:r>
            <a:r>
              <a:rPr kumimoji="0" lang="en-US" altLang="en-US"/>
              <a:t> = {a, b, c}, </a:t>
            </a:r>
          </a:p>
          <a:p>
            <a:pPr eaLnBrk="1" hangingPunct="1">
              <a:lnSpc>
                <a:spcPct val="150000"/>
              </a:lnSpc>
              <a:spcBef>
                <a:spcPct val="10000"/>
              </a:spcBef>
            </a:pPr>
            <a:r>
              <a:rPr kumimoji="0" lang="en-US" altLang="en-US">
                <a:solidFill>
                  <a:srgbClr val="3333CC"/>
                </a:solidFill>
              </a:rPr>
              <a:t>P</a:t>
            </a:r>
            <a:r>
              <a:rPr kumimoji="0" lang="en-US" altLang="en-US"/>
              <a:t>(</a:t>
            </a:r>
            <a:r>
              <a:rPr kumimoji="0" lang="en-US" altLang="en-US" i="1"/>
              <a:t>S</a:t>
            </a:r>
            <a:r>
              <a:rPr kumimoji="0" lang="en-US" altLang="en-US"/>
              <a:t>) = {</a:t>
            </a:r>
            <a:r>
              <a:rPr kumimoji="0" lang="en-US" altLang="en-US">
                <a:sym typeface="Symbol" panose="05050102010706020507" pitchFamily="18" charset="2"/>
              </a:rPr>
              <a:t>,</a:t>
            </a:r>
            <a:r>
              <a:rPr kumimoji="0" lang="en-US" altLang="en-US"/>
              <a:t> {a}, {b}, {c}, {a,b}, {a,c}, {b,c}, {a,b,c} }</a:t>
            </a:r>
          </a:p>
        </p:txBody>
      </p:sp>
      <p:sp>
        <p:nvSpPr>
          <p:cNvPr id="9220" name="Text Box 4"/>
          <p:cNvSpPr txBox="1">
            <a:spLocks noChangeArrowheads="1"/>
          </p:cNvSpPr>
          <p:nvPr/>
        </p:nvSpPr>
        <p:spPr bwMode="auto">
          <a:xfrm>
            <a:off x="3724275" y="457200"/>
            <a:ext cx="16859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 sz="2400" b="1">
                <a:solidFill>
                  <a:srgbClr val="003366"/>
                </a:solidFill>
              </a:rPr>
              <a:t>Power Set</a:t>
            </a:r>
          </a:p>
        </p:txBody>
      </p:sp>
      <p:sp>
        <p:nvSpPr>
          <p:cNvPr id="956421" name="Text Box 5"/>
          <p:cNvSpPr txBox="1">
            <a:spLocks noChangeArrowheads="1"/>
          </p:cNvSpPr>
          <p:nvPr/>
        </p:nvSpPr>
        <p:spPr bwMode="auto">
          <a:xfrm>
            <a:off x="1828800" y="4953000"/>
            <a:ext cx="3694113" cy="925513"/>
          </a:xfrm>
          <a:prstGeom prst="rect">
            <a:avLst/>
          </a:prstGeom>
          <a:noFill/>
          <a:ln w="9525">
            <a:solidFill>
              <a:schemeClr val="bg2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/>
              <a:t>Suppose S has n elements.</a:t>
            </a:r>
          </a:p>
          <a:p>
            <a:pPr eaLnBrk="1" hangingPunct="1"/>
            <a:endParaRPr lang="en-US" altLang="zh-TW"/>
          </a:p>
          <a:p>
            <a:pPr eaLnBrk="1" hangingPunct="1"/>
            <a:r>
              <a:rPr lang="en-US" altLang="zh-TW"/>
              <a:t>How large is the power set of S?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6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6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6419" grpId="0"/>
      <p:bldP spid="956421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ext Box 2"/>
          <p:cNvSpPr txBox="1">
            <a:spLocks noChangeArrowheads="1"/>
          </p:cNvSpPr>
          <p:nvPr/>
        </p:nvSpPr>
        <p:spPr bwMode="auto">
          <a:xfrm>
            <a:off x="1524000" y="457200"/>
            <a:ext cx="61087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 sz="2400" b="1">
                <a:solidFill>
                  <a:srgbClr val="003366"/>
                </a:solidFill>
              </a:rPr>
              <a:t>Bijection: Power Set and Binary Strings</a:t>
            </a:r>
          </a:p>
        </p:txBody>
      </p:sp>
      <p:sp>
        <p:nvSpPr>
          <p:cNvPr id="10243" name="Text Box 3"/>
          <p:cNvSpPr txBox="1">
            <a:spLocks noChangeArrowheads="1"/>
          </p:cNvSpPr>
          <p:nvPr/>
        </p:nvSpPr>
        <p:spPr bwMode="auto">
          <a:xfrm>
            <a:off x="2743200" y="1397000"/>
            <a:ext cx="3657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tabLst>
                <a:tab pos="1139825" algn="r"/>
                <a:tab pos="1366838" algn="l"/>
                <a:tab pos="6516688" algn="l"/>
              </a:tabLs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tabLst>
                <a:tab pos="1139825" algn="r"/>
                <a:tab pos="1366838" algn="l"/>
                <a:tab pos="6516688" algn="l"/>
              </a:tabLs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tabLst>
                <a:tab pos="1139825" algn="r"/>
                <a:tab pos="1366838" algn="l"/>
                <a:tab pos="6516688" algn="l"/>
              </a:tabLs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tabLst>
                <a:tab pos="1139825" algn="r"/>
                <a:tab pos="1366838" algn="l"/>
                <a:tab pos="6516688" algn="l"/>
              </a:tabLs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tabLst>
                <a:tab pos="1139825" algn="r"/>
                <a:tab pos="1366838" algn="l"/>
                <a:tab pos="6516688" algn="l"/>
              </a:tabLs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139825" algn="r"/>
                <a:tab pos="1366838" algn="l"/>
                <a:tab pos="6516688" algn="l"/>
              </a:tabLs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139825" algn="r"/>
                <a:tab pos="1366838" algn="l"/>
                <a:tab pos="6516688" algn="l"/>
              </a:tabLs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139825" algn="r"/>
                <a:tab pos="1366838" algn="l"/>
                <a:tab pos="6516688" algn="l"/>
              </a:tabLs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139825" algn="r"/>
                <a:tab pos="1366838" algn="l"/>
                <a:tab pos="6516688" algn="l"/>
              </a:tabLs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kumimoji="0" lang="en-US" altLang="en-US" i="1">
                <a:solidFill>
                  <a:srgbClr val="000000"/>
                </a:solidFill>
              </a:rPr>
              <a:t>S</a:t>
            </a:r>
            <a:r>
              <a:rPr kumimoji="0" lang="en-US" altLang="en-US">
                <a:solidFill>
                  <a:srgbClr val="000000"/>
                </a:solidFill>
              </a:rPr>
              <a:t>	:        {s</a:t>
            </a:r>
            <a:r>
              <a:rPr kumimoji="0" lang="en-US" altLang="en-US" baseline="-25000">
                <a:solidFill>
                  <a:srgbClr val="000000"/>
                </a:solidFill>
              </a:rPr>
              <a:t>1</a:t>
            </a:r>
            <a:r>
              <a:rPr kumimoji="0" lang="en-US" altLang="en-US">
                <a:solidFill>
                  <a:srgbClr val="000000"/>
                </a:solidFill>
              </a:rPr>
              <a:t>, s</a:t>
            </a:r>
            <a:r>
              <a:rPr kumimoji="0" lang="en-US" altLang="en-US" baseline="-25000">
                <a:solidFill>
                  <a:srgbClr val="000000"/>
                </a:solidFill>
              </a:rPr>
              <a:t>2</a:t>
            </a:r>
            <a:r>
              <a:rPr kumimoji="0" lang="en-US" altLang="en-US">
                <a:solidFill>
                  <a:srgbClr val="000000"/>
                </a:solidFill>
              </a:rPr>
              <a:t>, s</a:t>
            </a:r>
            <a:r>
              <a:rPr kumimoji="0" lang="en-US" altLang="en-US" baseline="-25000">
                <a:solidFill>
                  <a:srgbClr val="000000"/>
                </a:solidFill>
              </a:rPr>
              <a:t>3</a:t>
            </a:r>
            <a:r>
              <a:rPr kumimoji="0" lang="en-US" altLang="en-US">
                <a:solidFill>
                  <a:srgbClr val="000000"/>
                </a:solidFill>
              </a:rPr>
              <a:t>, s</a:t>
            </a:r>
            <a:r>
              <a:rPr kumimoji="0" lang="en-US" altLang="en-US" baseline="-25000">
                <a:solidFill>
                  <a:srgbClr val="000000"/>
                </a:solidFill>
              </a:rPr>
              <a:t>4</a:t>
            </a:r>
            <a:r>
              <a:rPr kumimoji="0" lang="en-US" altLang="en-US">
                <a:solidFill>
                  <a:srgbClr val="000000"/>
                </a:solidFill>
              </a:rPr>
              <a:t>, s</a:t>
            </a:r>
            <a:r>
              <a:rPr kumimoji="0" lang="en-US" altLang="en-US" baseline="-25000">
                <a:solidFill>
                  <a:srgbClr val="000000"/>
                </a:solidFill>
              </a:rPr>
              <a:t>5</a:t>
            </a:r>
            <a:r>
              <a:rPr kumimoji="0" lang="en-US" altLang="en-US">
                <a:solidFill>
                  <a:srgbClr val="000000"/>
                </a:solidFill>
              </a:rPr>
              <a:t>, …  , s</a:t>
            </a:r>
            <a:r>
              <a:rPr kumimoji="0" lang="en-US" altLang="en-US" i="1" baseline="-25000">
                <a:solidFill>
                  <a:srgbClr val="000000"/>
                </a:solidFill>
              </a:rPr>
              <a:t>n</a:t>
            </a:r>
            <a:r>
              <a:rPr kumimoji="0" lang="en-US" altLang="en-US">
                <a:solidFill>
                  <a:srgbClr val="000000"/>
                </a:solidFill>
              </a:rPr>
              <a:t>}</a:t>
            </a:r>
          </a:p>
        </p:txBody>
      </p:sp>
      <p:sp>
        <p:nvSpPr>
          <p:cNvPr id="1053700" name="Text Box 4"/>
          <p:cNvSpPr txBox="1">
            <a:spLocks noChangeArrowheads="1"/>
          </p:cNvSpPr>
          <p:nvPr/>
        </p:nvSpPr>
        <p:spPr bwMode="auto">
          <a:xfrm>
            <a:off x="1524000" y="5957888"/>
            <a:ext cx="35052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tabLst>
                <a:tab pos="1139825" algn="r"/>
                <a:tab pos="1366838" algn="l"/>
              </a:tabLs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tabLst>
                <a:tab pos="1139825" algn="r"/>
                <a:tab pos="1366838" algn="l"/>
              </a:tabLs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tabLst>
                <a:tab pos="1139825" algn="r"/>
                <a:tab pos="1366838" algn="l"/>
              </a:tabLs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tabLst>
                <a:tab pos="1139825" algn="r"/>
                <a:tab pos="1366838" algn="l"/>
              </a:tabLs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tabLst>
                <a:tab pos="1139825" algn="r"/>
                <a:tab pos="1366838" algn="l"/>
              </a:tabLs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139825" algn="r"/>
                <a:tab pos="1366838" algn="l"/>
              </a:tabLs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139825" algn="r"/>
                <a:tab pos="1366838" algn="l"/>
              </a:tabLs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139825" algn="r"/>
                <a:tab pos="1366838" algn="l"/>
              </a:tabLs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139825" algn="r"/>
                <a:tab pos="1366838" algn="l"/>
              </a:tabLs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kumimoji="0" lang="en-US" altLang="en-US">
                <a:solidFill>
                  <a:srgbClr val="000000"/>
                </a:solidFill>
              </a:rPr>
              <a:t>string:</a:t>
            </a:r>
            <a:r>
              <a:rPr kumimoji="0" lang="en-US" altLang="en-US">
                <a:solidFill>
                  <a:srgbClr val="0066FF"/>
                </a:solidFill>
              </a:rPr>
              <a:t>    1    0   1   1  0   …     1</a:t>
            </a:r>
          </a:p>
        </p:txBody>
      </p:sp>
      <p:sp>
        <p:nvSpPr>
          <p:cNvPr id="1053701" name="Text Box 5"/>
          <p:cNvSpPr txBox="1">
            <a:spLocks noChangeArrowheads="1"/>
          </p:cNvSpPr>
          <p:nvPr/>
        </p:nvSpPr>
        <p:spPr bwMode="auto">
          <a:xfrm>
            <a:off x="1524000" y="5348288"/>
            <a:ext cx="35814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tabLst>
                <a:tab pos="1139825" algn="r"/>
                <a:tab pos="1366838" algn="l"/>
                <a:tab pos="5538788" algn="l"/>
                <a:tab pos="6454775" algn="l"/>
              </a:tabLs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tabLst>
                <a:tab pos="1139825" algn="r"/>
                <a:tab pos="1366838" algn="l"/>
                <a:tab pos="5538788" algn="l"/>
                <a:tab pos="6454775" algn="l"/>
              </a:tabLs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tabLst>
                <a:tab pos="1139825" algn="r"/>
                <a:tab pos="1366838" algn="l"/>
                <a:tab pos="5538788" algn="l"/>
                <a:tab pos="6454775" algn="l"/>
              </a:tabLs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tabLst>
                <a:tab pos="1139825" algn="r"/>
                <a:tab pos="1366838" algn="l"/>
                <a:tab pos="5538788" algn="l"/>
                <a:tab pos="6454775" algn="l"/>
              </a:tabLs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tabLst>
                <a:tab pos="1139825" algn="r"/>
                <a:tab pos="1366838" algn="l"/>
                <a:tab pos="5538788" algn="l"/>
                <a:tab pos="6454775" algn="l"/>
              </a:tabLs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139825" algn="r"/>
                <a:tab pos="1366838" algn="l"/>
                <a:tab pos="5538788" algn="l"/>
                <a:tab pos="6454775" algn="l"/>
              </a:tabLs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139825" algn="r"/>
                <a:tab pos="1366838" algn="l"/>
                <a:tab pos="5538788" algn="l"/>
                <a:tab pos="6454775" algn="l"/>
              </a:tabLs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139825" algn="r"/>
                <a:tab pos="1366838" algn="l"/>
                <a:tab pos="5538788" algn="l"/>
                <a:tab pos="6454775" algn="l"/>
              </a:tabLs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139825" algn="r"/>
                <a:tab pos="1366838" algn="l"/>
                <a:tab pos="5538788" algn="l"/>
                <a:tab pos="6454775" algn="l"/>
              </a:tabLs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kumimoji="0" lang="en-US" altLang="en-US">
                <a:solidFill>
                  <a:srgbClr val="000000"/>
                </a:solidFill>
              </a:rPr>
              <a:t>	subset:</a:t>
            </a:r>
            <a:r>
              <a:rPr kumimoji="0" lang="en-US" altLang="en-US">
                <a:solidFill>
                  <a:srgbClr val="008000"/>
                </a:solidFill>
              </a:rPr>
              <a:t> </a:t>
            </a:r>
            <a:r>
              <a:rPr kumimoji="0" lang="en-US" altLang="en-US">
                <a:solidFill>
                  <a:srgbClr val="0066FF"/>
                </a:solidFill>
              </a:rPr>
              <a:t>{s</a:t>
            </a:r>
            <a:r>
              <a:rPr kumimoji="0" lang="en-US" altLang="en-US" baseline="-25000">
                <a:solidFill>
                  <a:srgbClr val="0066FF"/>
                </a:solidFill>
              </a:rPr>
              <a:t>1</a:t>
            </a:r>
            <a:r>
              <a:rPr kumimoji="0" lang="en-US" altLang="en-US">
                <a:solidFill>
                  <a:srgbClr val="0066FF"/>
                </a:solidFill>
              </a:rPr>
              <a:t>,      s</a:t>
            </a:r>
            <a:r>
              <a:rPr kumimoji="0" lang="en-US" altLang="en-US" baseline="-25000">
                <a:solidFill>
                  <a:srgbClr val="0066FF"/>
                </a:solidFill>
              </a:rPr>
              <a:t>3</a:t>
            </a:r>
            <a:r>
              <a:rPr kumimoji="0" lang="en-US" altLang="en-US">
                <a:solidFill>
                  <a:srgbClr val="0066FF"/>
                </a:solidFill>
              </a:rPr>
              <a:t>, s</a:t>
            </a:r>
            <a:r>
              <a:rPr kumimoji="0" lang="en-US" altLang="en-US" baseline="-25000">
                <a:solidFill>
                  <a:srgbClr val="0066FF"/>
                </a:solidFill>
              </a:rPr>
              <a:t>4</a:t>
            </a:r>
            <a:r>
              <a:rPr kumimoji="0" lang="en-US" altLang="en-US">
                <a:solidFill>
                  <a:srgbClr val="0066FF"/>
                </a:solidFill>
              </a:rPr>
              <a:t>,      …  , s</a:t>
            </a:r>
            <a:r>
              <a:rPr kumimoji="0" lang="en-US" altLang="en-US" i="1" baseline="-25000">
                <a:solidFill>
                  <a:srgbClr val="0066FF"/>
                </a:solidFill>
              </a:rPr>
              <a:t>n</a:t>
            </a:r>
            <a:r>
              <a:rPr kumimoji="0" lang="en-US" altLang="en-US">
                <a:solidFill>
                  <a:srgbClr val="0066FF"/>
                </a:solidFill>
              </a:rPr>
              <a:t>}</a:t>
            </a:r>
          </a:p>
        </p:txBody>
      </p:sp>
      <p:sp>
        <p:nvSpPr>
          <p:cNvPr id="1053702" name="Text Box 6"/>
          <p:cNvSpPr txBox="1">
            <a:spLocks noChangeArrowheads="1"/>
          </p:cNvSpPr>
          <p:nvPr/>
        </p:nvSpPr>
        <p:spPr bwMode="auto">
          <a:xfrm>
            <a:off x="1371600" y="2138363"/>
            <a:ext cx="6343650" cy="376237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en-US"/>
              <a:t>We define a bijection between subsets and binary strings</a:t>
            </a:r>
          </a:p>
        </p:txBody>
      </p:sp>
      <p:grpSp>
        <p:nvGrpSpPr>
          <p:cNvPr id="2" name="Group 34"/>
          <p:cNvGrpSpPr>
            <a:grpSpLocks/>
          </p:cNvGrpSpPr>
          <p:nvPr/>
        </p:nvGrpSpPr>
        <p:grpSpPr bwMode="auto">
          <a:xfrm>
            <a:off x="990600" y="2895600"/>
            <a:ext cx="2754313" cy="1371600"/>
            <a:chOff x="3504" y="1680"/>
            <a:chExt cx="1735" cy="864"/>
          </a:xfrm>
        </p:grpSpPr>
        <p:sp>
          <p:nvSpPr>
            <p:cNvPr id="1053710" name="Oval 14"/>
            <p:cNvSpPr>
              <a:spLocks noChangeArrowheads="1"/>
            </p:cNvSpPr>
            <p:nvPr/>
          </p:nvSpPr>
          <p:spPr bwMode="auto">
            <a:xfrm>
              <a:off x="3761" y="1696"/>
              <a:ext cx="422" cy="848"/>
            </a:xfrm>
            <a:prstGeom prst="ellipse">
              <a:avLst/>
            </a:prstGeom>
            <a:solidFill>
              <a:srgbClr val="CCCCFF"/>
            </a:solidFill>
            <a:ln w="9525">
              <a:solidFill>
                <a:srgbClr val="000000"/>
              </a:solidFill>
              <a:round/>
              <a:headEnd/>
              <a:tailEnd type="none" w="lg" len="lg"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53711" name="Oval 15"/>
            <p:cNvSpPr>
              <a:spLocks noChangeArrowheads="1"/>
            </p:cNvSpPr>
            <p:nvPr/>
          </p:nvSpPr>
          <p:spPr bwMode="auto">
            <a:xfrm>
              <a:off x="4512" y="1680"/>
              <a:ext cx="422" cy="848"/>
            </a:xfrm>
            <a:prstGeom prst="ellipse">
              <a:avLst/>
            </a:prstGeom>
            <a:solidFill>
              <a:srgbClr val="CCCCFF"/>
            </a:solidFill>
            <a:ln w="9525">
              <a:solidFill>
                <a:srgbClr val="000000"/>
              </a:solidFill>
              <a:round/>
              <a:headEnd/>
              <a:tailEnd type="none" w="lg" len="lg"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252" name="Text Box 16"/>
            <p:cNvSpPr txBox="1">
              <a:spLocks noChangeArrowheads="1"/>
            </p:cNvSpPr>
            <p:nvPr/>
          </p:nvSpPr>
          <p:spPr bwMode="auto">
            <a:xfrm>
              <a:off x="3504" y="1968"/>
              <a:ext cx="233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9pPr>
            </a:lstStyle>
            <a:p>
              <a:pPr eaLnBrk="1" hangingPunct="1"/>
              <a:r>
                <a:rPr kumimoji="0" lang="en-US" altLang="en-US" sz="2000" i="1">
                  <a:solidFill>
                    <a:srgbClr val="000000"/>
                  </a:solidFill>
                </a:rPr>
                <a:t>A</a:t>
              </a:r>
            </a:p>
          </p:txBody>
        </p:sp>
        <p:sp>
          <p:nvSpPr>
            <p:cNvPr id="10253" name="Text Box 17"/>
            <p:cNvSpPr txBox="1">
              <a:spLocks noChangeArrowheads="1"/>
            </p:cNvSpPr>
            <p:nvPr/>
          </p:nvSpPr>
          <p:spPr bwMode="auto">
            <a:xfrm>
              <a:off x="5022" y="1974"/>
              <a:ext cx="217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9pPr>
            </a:lstStyle>
            <a:p>
              <a:pPr eaLnBrk="1" hangingPunct="1"/>
              <a:r>
                <a:rPr kumimoji="0" lang="en-US" altLang="en-US" sz="2000" i="1">
                  <a:solidFill>
                    <a:srgbClr val="000000"/>
                  </a:solidFill>
                </a:rPr>
                <a:t>B</a:t>
              </a:r>
            </a:p>
          </p:txBody>
        </p:sp>
        <p:sp>
          <p:nvSpPr>
            <p:cNvPr id="10254" name="Oval 18"/>
            <p:cNvSpPr>
              <a:spLocks noChangeArrowheads="1"/>
            </p:cNvSpPr>
            <p:nvPr/>
          </p:nvSpPr>
          <p:spPr bwMode="auto">
            <a:xfrm>
              <a:off x="3942" y="1784"/>
              <a:ext cx="46" cy="6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round/>
              <a:headEnd/>
              <a:tailEnd type="none" w="lg" len="lg"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0255" name="Oval 19"/>
            <p:cNvSpPr>
              <a:spLocks noChangeArrowheads="1"/>
            </p:cNvSpPr>
            <p:nvPr/>
          </p:nvSpPr>
          <p:spPr bwMode="auto">
            <a:xfrm>
              <a:off x="3942" y="1912"/>
              <a:ext cx="46" cy="6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round/>
              <a:headEnd/>
              <a:tailEnd type="none" w="lg" len="lg"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0256" name="Oval 20"/>
            <p:cNvSpPr>
              <a:spLocks noChangeArrowheads="1"/>
            </p:cNvSpPr>
            <p:nvPr/>
          </p:nvSpPr>
          <p:spPr bwMode="auto">
            <a:xfrm>
              <a:off x="3942" y="2044"/>
              <a:ext cx="46" cy="6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round/>
              <a:headEnd/>
              <a:tailEnd type="none" w="lg" len="lg"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0257" name="Oval 21"/>
            <p:cNvSpPr>
              <a:spLocks noChangeArrowheads="1"/>
            </p:cNvSpPr>
            <p:nvPr/>
          </p:nvSpPr>
          <p:spPr bwMode="auto">
            <a:xfrm>
              <a:off x="3942" y="2352"/>
              <a:ext cx="46" cy="6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round/>
              <a:headEnd/>
              <a:tailEnd type="none" w="lg" len="lg"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0258" name="Text Box 22"/>
            <p:cNvSpPr txBox="1">
              <a:spLocks noChangeArrowheads="1"/>
            </p:cNvSpPr>
            <p:nvPr/>
          </p:nvSpPr>
          <p:spPr bwMode="auto">
            <a:xfrm>
              <a:off x="3840" y="2064"/>
              <a:ext cx="22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9pPr>
            </a:lstStyle>
            <a:p>
              <a:pPr algn="ctr" eaLnBrk="1" hangingPunct="1"/>
              <a:r>
                <a:rPr kumimoji="0" lang="en-US" altLang="en-US" sz="2000">
                  <a:solidFill>
                    <a:srgbClr val="000000"/>
                  </a:solidFill>
                </a:rPr>
                <a:t>…</a:t>
              </a:r>
            </a:p>
          </p:txBody>
        </p:sp>
        <p:sp>
          <p:nvSpPr>
            <p:cNvPr id="10259" name="Oval 23"/>
            <p:cNvSpPr>
              <a:spLocks noChangeArrowheads="1"/>
            </p:cNvSpPr>
            <p:nvPr/>
          </p:nvSpPr>
          <p:spPr bwMode="auto">
            <a:xfrm>
              <a:off x="4729" y="1780"/>
              <a:ext cx="47" cy="60"/>
            </a:xfrm>
            <a:prstGeom prst="ellipse">
              <a:avLst/>
            </a:prstGeom>
            <a:solidFill>
              <a:srgbClr val="FF9933"/>
            </a:solidFill>
            <a:ln w="9525">
              <a:solidFill>
                <a:srgbClr val="000000"/>
              </a:solidFill>
              <a:round/>
              <a:headEnd/>
              <a:tailEnd type="none" w="lg" len="lg"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0260" name="Oval 24"/>
            <p:cNvSpPr>
              <a:spLocks noChangeArrowheads="1"/>
            </p:cNvSpPr>
            <p:nvPr/>
          </p:nvSpPr>
          <p:spPr bwMode="auto">
            <a:xfrm>
              <a:off x="4729" y="1908"/>
              <a:ext cx="47" cy="60"/>
            </a:xfrm>
            <a:prstGeom prst="ellipse">
              <a:avLst/>
            </a:prstGeom>
            <a:solidFill>
              <a:srgbClr val="FF9933"/>
            </a:solidFill>
            <a:ln w="9525">
              <a:solidFill>
                <a:srgbClr val="000000"/>
              </a:solidFill>
              <a:round/>
              <a:headEnd/>
              <a:tailEnd type="none" w="lg" len="lg"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0261" name="Oval 25"/>
            <p:cNvSpPr>
              <a:spLocks noChangeArrowheads="1"/>
            </p:cNvSpPr>
            <p:nvPr/>
          </p:nvSpPr>
          <p:spPr bwMode="auto">
            <a:xfrm>
              <a:off x="4729" y="2040"/>
              <a:ext cx="47" cy="60"/>
            </a:xfrm>
            <a:prstGeom prst="ellipse">
              <a:avLst/>
            </a:prstGeom>
            <a:solidFill>
              <a:srgbClr val="FF9933"/>
            </a:solidFill>
            <a:ln w="9525">
              <a:solidFill>
                <a:srgbClr val="000000"/>
              </a:solidFill>
              <a:round/>
              <a:headEnd/>
              <a:tailEnd type="none" w="lg" len="lg"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0262" name="Oval 26"/>
            <p:cNvSpPr>
              <a:spLocks noChangeArrowheads="1"/>
            </p:cNvSpPr>
            <p:nvPr/>
          </p:nvSpPr>
          <p:spPr bwMode="auto">
            <a:xfrm>
              <a:off x="4729" y="2348"/>
              <a:ext cx="47" cy="60"/>
            </a:xfrm>
            <a:prstGeom prst="ellipse">
              <a:avLst/>
            </a:prstGeom>
            <a:solidFill>
              <a:srgbClr val="FF9933"/>
            </a:solidFill>
            <a:ln w="9525">
              <a:solidFill>
                <a:srgbClr val="000000"/>
              </a:solidFill>
              <a:round/>
              <a:headEnd/>
              <a:tailEnd type="none" w="lg" len="lg"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0263" name="Text Box 27"/>
            <p:cNvSpPr txBox="1">
              <a:spLocks noChangeArrowheads="1"/>
            </p:cNvSpPr>
            <p:nvPr/>
          </p:nvSpPr>
          <p:spPr bwMode="auto">
            <a:xfrm>
              <a:off x="4640" y="2064"/>
              <a:ext cx="22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9pPr>
            </a:lstStyle>
            <a:p>
              <a:pPr algn="ctr" eaLnBrk="1" hangingPunct="1"/>
              <a:r>
                <a:rPr kumimoji="0" lang="en-US" altLang="en-US" sz="2000">
                  <a:solidFill>
                    <a:srgbClr val="000000"/>
                  </a:solidFill>
                </a:rPr>
                <a:t>…</a:t>
              </a:r>
            </a:p>
          </p:txBody>
        </p:sp>
        <p:sp>
          <p:nvSpPr>
            <p:cNvPr id="10264" name="Line 29"/>
            <p:cNvSpPr>
              <a:spLocks noChangeShapeType="1"/>
            </p:cNvSpPr>
            <p:nvPr/>
          </p:nvSpPr>
          <p:spPr bwMode="auto">
            <a:xfrm>
              <a:off x="3975" y="1808"/>
              <a:ext cx="695" cy="0"/>
            </a:xfrm>
            <a:prstGeom prst="line">
              <a:avLst/>
            </a:prstGeom>
            <a:noFill/>
            <a:ln w="31750">
              <a:solidFill>
                <a:srgbClr val="0000FF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65" name="Line 30"/>
            <p:cNvSpPr>
              <a:spLocks noChangeShapeType="1"/>
            </p:cNvSpPr>
            <p:nvPr/>
          </p:nvSpPr>
          <p:spPr bwMode="auto">
            <a:xfrm>
              <a:off x="3972" y="1940"/>
              <a:ext cx="695" cy="0"/>
            </a:xfrm>
            <a:prstGeom prst="line">
              <a:avLst/>
            </a:prstGeom>
            <a:noFill/>
            <a:ln w="31750">
              <a:solidFill>
                <a:srgbClr val="0000FF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66" name="Line 31"/>
            <p:cNvSpPr>
              <a:spLocks noChangeShapeType="1"/>
            </p:cNvSpPr>
            <p:nvPr/>
          </p:nvSpPr>
          <p:spPr bwMode="auto">
            <a:xfrm>
              <a:off x="3975" y="2080"/>
              <a:ext cx="695" cy="0"/>
            </a:xfrm>
            <a:prstGeom prst="line">
              <a:avLst/>
            </a:prstGeom>
            <a:noFill/>
            <a:ln w="31750">
              <a:solidFill>
                <a:srgbClr val="0000FF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67" name="Line 32"/>
            <p:cNvSpPr>
              <a:spLocks noChangeShapeType="1"/>
            </p:cNvSpPr>
            <p:nvPr/>
          </p:nvSpPr>
          <p:spPr bwMode="auto">
            <a:xfrm>
              <a:off x="3972" y="2380"/>
              <a:ext cx="695" cy="0"/>
            </a:xfrm>
            <a:prstGeom prst="line">
              <a:avLst/>
            </a:prstGeom>
            <a:noFill/>
            <a:ln w="31750">
              <a:solidFill>
                <a:srgbClr val="0000FF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68" name="Text Box 33"/>
            <p:cNvSpPr txBox="1">
              <a:spLocks noChangeArrowheads="1"/>
            </p:cNvSpPr>
            <p:nvPr/>
          </p:nvSpPr>
          <p:spPr bwMode="auto">
            <a:xfrm>
              <a:off x="4274" y="2174"/>
              <a:ext cx="197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9pPr>
            </a:lstStyle>
            <a:p>
              <a:pPr eaLnBrk="1" hangingPunct="1"/>
              <a:r>
                <a:rPr kumimoji="0" lang="en-US" altLang="en-US" sz="2000" i="1">
                  <a:solidFill>
                    <a:srgbClr val="000000"/>
                  </a:solidFill>
                </a:rPr>
                <a:t>f</a:t>
              </a:r>
            </a:p>
          </p:txBody>
        </p:sp>
      </p:grpSp>
      <p:sp>
        <p:nvSpPr>
          <p:cNvPr id="1053731" name="Text Box 35"/>
          <p:cNvSpPr txBox="1">
            <a:spLocks noChangeArrowheads="1"/>
          </p:cNvSpPr>
          <p:nvPr/>
        </p:nvSpPr>
        <p:spPr bwMode="auto">
          <a:xfrm>
            <a:off x="3983038" y="3124200"/>
            <a:ext cx="4637087" cy="925513"/>
          </a:xfrm>
          <a:prstGeom prst="rect">
            <a:avLst/>
          </a:prstGeom>
          <a:noFill/>
          <a:ln w="9525">
            <a:solidFill>
              <a:schemeClr val="bg2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/>
              <a:t>A: the set of all subsets of S</a:t>
            </a:r>
          </a:p>
          <a:p>
            <a:pPr eaLnBrk="1" hangingPunct="1"/>
            <a:endParaRPr lang="en-US" altLang="zh-TW"/>
          </a:p>
          <a:p>
            <a:pPr eaLnBrk="1" hangingPunct="1"/>
            <a:r>
              <a:rPr lang="en-US" altLang="zh-TW"/>
              <a:t>B: the set of all binary strings of length n</a:t>
            </a:r>
          </a:p>
        </p:txBody>
      </p:sp>
      <p:sp>
        <p:nvSpPr>
          <p:cNvPr id="1053732" name="Text Box 36"/>
          <p:cNvSpPr txBox="1">
            <a:spLocks noChangeArrowheads="1"/>
          </p:cNvSpPr>
          <p:nvPr/>
        </p:nvSpPr>
        <p:spPr bwMode="auto">
          <a:xfrm>
            <a:off x="1447800" y="4724400"/>
            <a:ext cx="48625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en-US"/>
              <a:t>The mapping is defined in the following way: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7075" y="1084970"/>
            <a:ext cx="5408277" cy="5586584"/>
          </a:xfrm>
          <a:prstGeom prst="rect">
            <a:avLst/>
          </a:prstGeom>
          <a:solidFill>
            <a:schemeClr val="accent1">
              <a:tint val="20000"/>
            </a:schemeClr>
          </a:solidFill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3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3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3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3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3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3700" grpId="0"/>
      <p:bldP spid="1053701" grpId="0"/>
      <p:bldP spid="1053702" grpId="0" animBg="1"/>
      <p:bldP spid="1053731" grpId="0" animBg="1"/>
      <p:bldP spid="105373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ext Box 2"/>
          <p:cNvSpPr txBox="1">
            <a:spLocks noChangeArrowheads="1"/>
          </p:cNvSpPr>
          <p:nvPr/>
        </p:nvSpPr>
        <p:spPr bwMode="auto">
          <a:xfrm>
            <a:off x="1524000" y="457200"/>
            <a:ext cx="61087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 sz="2400" b="1">
                <a:solidFill>
                  <a:srgbClr val="003366"/>
                </a:solidFill>
              </a:rPr>
              <a:t>Bijection: Power Set and Binary Strings</a:t>
            </a:r>
          </a:p>
        </p:txBody>
      </p:sp>
      <p:sp>
        <p:nvSpPr>
          <p:cNvPr id="1060871" name="Text Box 7"/>
          <p:cNvSpPr txBox="1">
            <a:spLocks noChangeArrowheads="1"/>
          </p:cNvSpPr>
          <p:nvPr/>
        </p:nvSpPr>
        <p:spPr bwMode="auto">
          <a:xfrm>
            <a:off x="615950" y="3303588"/>
            <a:ext cx="7918450" cy="1192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en-US"/>
              <a:t>This mapping is a bijection, because</a:t>
            </a:r>
          </a:p>
          <a:p>
            <a:pPr eaLnBrk="1" hangingPunct="1">
              <a:lnSpc>
                <a:spcPct val="150000"/>
              </a:lnSpc>
              <a:buClr>
                <a:srgbClr val="A50021"/>
              </a:buClr>
              <a:buFont typeface="Wingdings" panose="05000000000000000000" pitchFamily="2" charset="2"/>
              <a:buChar char="v"/>
            </a:pPr>
            <a:r>
              <a:rPr lang="en-US" altLang="en-US"/>
              <a:t> two different subsets are mapped to two different strings (injection)</a:t>
            </a:r>
          </a:p>
          <a:p>
            <a:pPr eaLnBrk="1" hangingPunct="1">
              <a:lnSpc>
                <a:spcPct val="150000"/>
              </a:lnSpc>
              <a:buClr>
                <a:srgbClr val="A50021"/>
              </a:buClr>
              <a:buFont typeface="Wingdings" panose="05000000000000000000" pitchFamily="2" charset="2"/>
              <a:buChar char="v"/>
            </a:pPr>
            <a:r>
              <a:rPr lang="en-US" altLang="en-US"/>
              <a:t> each binary string represents some subset (surjection).</a:t>
            </a:r>
          </a:p>
        </p:txBody>
      </p:sp>
      <p:sp>
        <p:nvSpPr>
          <p:cNvPr id="1060872" name="Text Box 8"/>
          <p:cNvSpPr txBox="1">
            <a:spLocks noChangeArrowheads="1"/>
          </p:cNvSpPr>
          <p:nvPr/>
        </p:nvSpPr>
        <p:spPr bwMode="auto">
          <a:xfrm>
            <a:off x="1143000" y="5562600"/>
            <a:ext cx="3886200" cy="376238"/>
          </a:xfrm>
          <a:prstGeom prst="rect">
            <a:avLst/>
          </a:prstGeom>
          <a:solidFill>
            <a:srgbClr val="FFFF66"/>
          </a:solidFill>
          <a:ln w="9525">
            <a:solidFill>
              <a:schemeClr val="bg2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1366838" algn="l"/>
              </a:tabLs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tabLst>
                <a:tab pos="1366838" algn="l"/>
              </a:tabLs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tabLst>
                <a:tab pos="1366838" algn="l"/>
              </a:tabLs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tabLst>
                <a:tab pos="1366838" algn="l"/>
              </a:tabLs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tabLst>
                <a:tab pos="1366838" algn="l"/>
              </a:tabLs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366838" algn="l"/>
              </a:tabLs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366838" algn="l"/>
              </a:tabLs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366838" algn="l"/>
              </a:tabLs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366838" algn="l"/>
              </a:tabLs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kumimoji="0" lang="en-US" altLang="en-US">
                <a:solidFill>
                  <a:schemeClr val="tx2"/>
                </a:solidFill>
              </a:rPr>
              <a:t>So, </a:t>
            </a:r>
            <a:r>
              <a:rPr kumimoji="0" lang="en-US" altLang="en-US"/>
              <a:t>|</a:t>
            </a:r>
            <a:r>
              <a:rPr kumimoji="0" lang="en-US" altLang="en-US" i="1">
                <a:solidFill>
                  <a:srgbClr val="0033CC"/>
                </a:solidFill>
              </a:rPr>
              <a:t>n</a:t>
            </a:r>
            <a:r>
              <a:rPr kumimoji="0" lang="en-US" altLang="en-US"/>
              <a:t>-bit binary strings| =</a:t>
            </a:r>
            <a:r>
              <a:rPr kumimoji="0" lang="en-US" altLang="en-US" i="1"/>
              <a:t> </a:t>
            </a:r>
            <a:r>
              <a:rPr kumimoji="0" lang="en-US" altLang="en-US"/>
              <a:t>|P(</a:t>
            </a:r>
            <a:r>
              <a:rPr kumimoji="0" lang="en-US" altLang="en-US" i="1"/>
              <a:t>S</a:t>
            </a:r>
            <a:r>
              <a:rPr kumimoji="0" lang="en-US" altLang="en-US"/>
              <a:t>)|</a:t>
            </a:r>
          </a:p>
        </p:txBody>
      </p:sp>
      <p:sp>
        <p:nvSpPr>
          <p:cNvPr id="1060873" name="AutoShape 9"/>
          <p:cNvSpPr>
            <a:spLocks/>
          </p:cNvSpPr>
          <p:nvPr/>
        </p:nvSpPr>
        <p:spPr bwMode="auto">
          <a:xfrm rot="-5400000">
            <a:off x="2705100" y="4991100"/>
            <a:ext cx="228600" cy="2133600"/>
          </a:xfrm>
          <a:prstGeom prst="leftBrace">
            <a:avLst>
              <a:gd name="adj1" fmla="val 77778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pic>
        <p:nvPicPr>
          <p:cNvPr id="1060874" name="Picture 10" descr="txp_fig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0" y="6248400"/>
            <a:ext cx="304800" cy="234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271" name="Text Box 34"/>
          <p:cNvSpPr txBox="1">
            <a:spLocks noChangeArrowheads="1"/>
          </p:cNvSpPr>
          <p:nvPr/>
        </p:nvSpPr>
        <p:spPr bwMode="auto">
          <a:xfrm>
            <a:off x="990600" y="2514600"/>
            <a:ext cx="3505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tabLst>
                <a:tab pos="1139825" algn="r"/>
                <a:tab pos="1366838" algn="l"/>
              </a:tabLs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tabLst>
                <a:tab pos="1139825" algn="r"/>
                <a:tab pos="1366838" algn="l"/>
              </a:tabLs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tabLst>
                <a:tab pos="1139825" algn="r"/>
                <a:tab pos="1366838" algn="l"/>
              </a:tabLs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tabLst>
                <a:tab pos="1139825" algn="r"/>
                <a:tab pos="1366838" algn="l"/>
              </a:tabLs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tabLst>
                <a:tab pos="1139825" algn="r"/>
                <a:tab pos="1366838" algn="l"/>
              </a:tabLs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139825" algn="r"/>
                <a:tab pos="1366838" algn="l"/>
              </a:tabLs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139825" algn="r"/>
                <a:tab pos="1366838" algn="l"/>
              </a:tabLs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139825" algn="r"/>
                <a:tab pos="1366838" algn="l"/>
              </a:tabLs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139825" algn="r"/>
                <a:tab pos="1366838" algn="l"/>
              </a:tabLs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kumimoji="0" lang="en-US" altLang="en-US">
                <a:solidFill>
                  <a:srgbClr val="000000"/>
                </a:solidFill>
              </a:rPr>
              <a:t>string:</a:t>
            </a:r>
            <a:r>
              <a:rPr kumimoji="0" lang="en-US" altLang="en-US">
                <a:solidFill>
                  <a:srgbClr val="0066FF"/>
                </a:solidFill>
              </a:rPr>
              <a:t>    1    0   1   1  0   …     1</a:t>
            </a:r>
          </a:p>
        </p:txBody>
      </p:sp>
      <p:sp>
        <p:nvSpPr>
          <p:cNvPr id="11272" name="Text Box 35"/>
          <p:cNvSpPr txBox="1">
            <a:spLocks noChangeArrowheads="1"/>
          </p:cNvSpPr>
          <p:nvPr/>
        </p:nvSpPr>
        <p:spPr bwMode="auto">
          <a:xfrm>
            <a:off x="990600" y="1981200"/>
            <a:ext cx="35814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tabLst>
                <a:tab pos="1139825" algn="r"/>
                <a:tab pos="1366838" algn="l"/>
                <a:tab pos="5538788" algn="l"/>
                <a:tab pos="6454775" algn="l"/>
              </a:tabLs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tabLst>
                <a:tab pos="1139825" algn="r"/>
                <a:tab pos="1366838" algn="l"/>
                <a:tab pos="5538788" algn="l"/>
                <a:tab pos="6454775" algn="l"/>
              </a:tabLs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tabLst>
                <a:tab pos="1139825" algn="r"/>
                <a:tab pos="1366838" algn="l"/>
                <a:tab pos="5538788" algn="l"/>
                <a:tab pos="6454775" algn="l"/>
              </a:tabLs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tabLst>
                <a:tab pos="1139825" algn="r"/>
                <a:tab pos="1366838" algn="l"/>
                <a:tab pos="5538788" algn="l"/>
                <a:tab pos="6454775" algn="l"/>
              </a:tabLs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tabLst>
                <a:tab pos="1139825" algn="r"/>
                <a:tab pos="1366838" algn="l"/>
                <a:tab pos="5538788" algn="l"/>
                <a:tab pos="6454775" algn="l"/>
              </a:tabLs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139825" algn="r"/>
                <a:tab pos="1366838" algn="l"/>
                <a:tab pos="5538788" algn="l"/>
                <a:tab pos="6454775" algn="l"/>
              </a:tabLs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139825" algn="r"/>
                <a:tab pos="1366838" algn="l"/>
                <a:tab pos="5538788" algn="l"/>
                <a:tab pos="6454775" algn="l"/>
              </a:tabLs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139825" algn="r"/>
                <a:tab pos="1366838" algn="l"/>
                <a:tab pos="5538788" algn="l"/>
                <a:tab pos="6454775" algn="l"/>
              </a:tabLs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139825" algn="r"/>
                <a:tab pos="1366838" algn="l"/>
                <a:tab pos="5538788" algn="l"/>
                <a:tab pos="6454775" algn="l"/>
              </a:tabLs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kumimoji="0" lang="en-US" altLang="en-US">
                <a:solidFill>
                  <a:srgbClr val="000000"/>
                </a:solidFill>
              </a:rPr>
              <a:t>	subset:</a:t>
            </a:r>
            <a:r>
              <a:rPr kumimoji="0" lang="en-US" altLang="en-US">
                <a:solidFill>
                  <a:srgbClr val="008000"/>
                </a:solidFill>
              </a:rPr>
              <a:t> </a:t>
            </a:r>
            <a:r>
              <a:rPr kumimoji="0" lang="en-US" altLang="en-US">
                <a:solidFill>
                  <a:srgbClr val="0066FF"/>
                </a:solidFill>
              </a:rPr>
              <a:t>{s</a:t>
            </a:r>
            <a:r>
              <a:rPr kumimoji="0" lang="en-US" altLang="en-US" baseline="-25000">
                <a:solidFill>
                  <a:srgbClr val="0066FF"/>
                </a:solidFill>
              </a:rPr>
              <a:t>1</a:t>
            </a:r>
            <a:r>
              <a:rPr kumimoji="0" lang="en-US" altLang="en-US">
                <a:solidFill>
                  <a:srgbClr val="0066FF"/>
                </a:solidFill>
              </a:rPr>
              <a:t>,      s</a:t>
            </a:r>
            <a:r>
              <a:rPr kumimoji="0" lang="en-US" altLang="en-US" baseline="-25000">
                <a:solidFill>
                  <a:srgbClr val="0066FF"/>
                </a:solidFill>
              </a:rPr>
              <a:t>3</a:t>
            </a:r>
            <a:r>
              <a:rPr kumimoji="0" lang="en-US" altLang="en-US">
                <a:solidFill>
                  <a:srgbClr val="0066FF"/>
                </a:solidFill>
              </a:rPr>
              <a:t>, s</a:t>
            </a:r>
            <a:r>
              <a:rPr kumimoji="0" lang="en-US" altLang="en-US" baseline="-25000">
                <a:solidFill>
                  <a:srgbClr val="0066FF"/>
                </a:solidFill>
              </a:rPr>
              <a:t>4</a:t>
            </a:r>
            <a:r>
              <a:rPr kumimoji="0" lang="en-US" altLang="en-US">
                <a:solidFill>
                  <a:srgbClr val="0066FF"/>
                </a:solidFill>
              </a:rPr>
              <a:t>,      …  , s</a:t>
            </a:r>
            <a:r>
              <a:rPr kumimoji="0" lang="en-US" altLang="en-US" i="1" baseline="-25000">
                <a:solidFill>
                  <a:srgbClr val="0066FF"/>
                </a:solidFill>
              </a:rPr>
              <a:t>n</a:t>
            </a:r>
            <a:r>
              <a:rPr kumimoji="0" lang="en-US" altLang="en-US">
                <a:solidFill>
                  <a:srgbClr val="0066FF"/>
                </a:solidFill>
              </a:rPr>
              <a:t>}</a:t>
            </a:r>
          </a:p>
        </p:txBody>
      </p:sp>
      <p:sp>
        <p:nvSpPr>
          <p:cNvPr id="11273" name="Text Box 36"/>
          <p:cNvSpPr txBox="1">
            <a:spLocks noChangeArrowheads="1"/>
          </p:cNvSpPr>
          <p:nvPr/>
        </p:nvSpPr>
        <p:spPr bwMode="auto">
          <a:xfrm>
            <a:off x="914400" y="1447800"/>
            <a:ext cx="48625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en-US"/>
              <a:t>The mapping is defined in the following way:</a:t>
            </a:r>
          </a:p>
        </p:txBody>
      </p:sp>
      <p:grpSp>
        <p:nvGrpSpPr>
          <p:cNvPr id="11274" name="Group 37"/>
          <p:cNvGrpSpPr>
            <a:grpSpLocks/>
          </p:cNvGrpSpPr>
          <p:nvPr/>
        </p:nvGrpSpPr>
        <p:grpSpPr bwMode="auto">
          <a:xfrm>
            <a:off x="5943600" y="1600200"/>
            <a:ext cx="2754313" cy="1371600"/>
            <a:chOff x="3504" y="1680"/>
            <a:chExt cx="1735" cy="864"/>
          </a:xfrm>
        </p:grpSpPr>
        <p:sp>
          <p:nvSpPr>
            <p:cNvPr id="1060902" name="Oval 38"/>
            <p:cNvSpPr>
              <a:spLocks noChangeArrowheads="1"/>
            </p:cNvSpPr>
            <p:nvPr/>
          </p:nvSpPr>
          <p:spPr bwMode="auto">
            <a:xfrm>
              <a:off x="3761" y="1696"/>
              <a:ext cx="422" cy="848"/>
            </a:xfrm>
            <a:prstGeom prst="ellipse">
              <a:avLst/>
            </a:prstGeom>
            <a:solidFill>
              <a:srgbClr val="CCCCFF"/>
            </a:solidFill>
            <a:ln w="9525">
              <a:solidFill>
                <a:srgbClr val="000000"/>
              </a:solidFill>
              <a:round/>
              <a:headEnd/>
              <a:tailEnd type="none" w="lg" len="lg"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60903" name="Oval 39"/>
            <p:cNvSpPr>
              <a:spLocks noChangeArrowheads="1"/>
            </p:cNvSpPr>
            <p:nvPr/>
          </p:nvSpPr>
          <p:spPr bwMode="auto">
            <a:xfrm>
              <a:off x="4512" y="1680"/>
              <a:ext cx="422" cy="848"/>
            </a:xfrm>
            <a:prstGeom prst="ellipse">
              <a:avLst/>
            </a:prstGeom>
            <a:solidFill>
              <a:srgbClr val="CCCCFF"/>
            </a:solidFill>
            <a:ln w="9525">
              <a:solidFill>
                <a:srgbClr val="000000"/>
              </a:solidFill>
              <a:round/>
              <a:headEnd/>
              <a:tailEnd type="none" w="lg" len="lg"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1278" name="Text Box 40"/>
            <p:cNvSpPr txBox="1">
              <a:spLocks noChangeArrowheads="1"/>
            </p:cNvSpPr>
            <p:nvPr/>
          </p:nvSpPr>
          <p:spPr bwMode="auto">
            <a:xfrm>
              <a:off x="3504" y="1968"/>
              <a:ext cx="233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9pPr>
            </a:lstStyle>
            <a:p>
              <a:pPr eaLnBrk="1" hangingPunct="1"/>
              <a:r>
                <a:rPr kumimoji="0" lang="en-US" altLang="en-US" sz="2000" i="1">
                  <a:solidFill>
                    <a:srgbClr val="000000"/>
                  </a:solidFill>
                </a:rPr>
                <a:t>A</a:t>
              </a:r>
            </a:p>
          </p:txBody>
        </p:sp>
        <p:sp>
          <p:nvSpPr>
            <p:cNvPr id="11279" name="Text Box 41"/>
            <p:cNvSpPr txBox="1">
              <a:spLocks noChangeArrowheads="1"/>
            </p:cNvSpPr>
            <p:nvPr/>
          </p:nvSpPr>
          <p:spPr bwMode="auto">
            <a:xfrm>
              <a:off x="5022" y="1974"/>
              <a:ext cx="217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9pPr>
            </a:lstStyle>
            <a:p>
              <a:pPr eaLnBrk="1" hangingPunct="1"/>
              <a:r>
                <a:rPr kumimoji="0" lang="en-US" altLang="en-US" sz="2000" i="1">
                  <a:solidFill>
                    <a:srgbClr val="000000"/>
                  </a:solidFill>
                </a:rPr>
                <a:t>B</a:t>
              </a:r>
            </a:p>
          </p:txBody>
        </p:sp>
        <p:sp>
          <p:nvSpPr>
            <p:cNvPr id="11280" name="Oval 42"/>
            <p:cNvSpPr>
              <a:spLocks noChangeArrowheads="1"/>
            </p:cNvSpPr>
            <p:nvPr/>
          </p:nvSpPr>
          <p:spPr bwMode="auto">
            <a:xfrm>
              <a:off x="3942" y="1784"/>
              <a:ext cx="46" cy="6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round/>
              <a:headEnd/>
              <a:tailEnd type="none" w="lg" len="lg"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1281" name="Oval 43"/>
            <p:cNvSpPr>
              <a:spLocks noChangeArrowheads="1"/>
            </p:cNvSpPr>
            <p:nvPr/>
          </p:nvSpPr>
          <p:spPr bwMode="auto">
            <a:xfrm>
              <a:off x="3942" y="1912"/>
              <a:ext cx="46" cy="6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round/>
              <a:headEnd/>
              <a:tailEnd type="none" w="lg" len="lg"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1282" name="Oval 44"/>
            <p:cNvSpPr>
              <a:spLocks noChangeArrowheads="1"/>
            </p:cNvSpPr>
            <p:nvPr/>
          </p:nvSpPr>
          <p:spPr bwMode="auto">
            <a:xfrm>
              <a:off x="3942" y="2044"/>
              <a:ext cx="46" cy="6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round/>
              <a:headEnd/>
              <a:tailEnd type="none" w="lg" len="lg"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1283" name="Oval 45"/>
            <p:cNvSpPr>
              <a:spLocks noChangeArrowheads="1"/>
            </p:cNvSpPr>
            <p:nvPr/>
          </p:nvSpPr>
          <p:spPr bwMode="auto">
            <a:xfrm>
              <a:off x="3942" y="2352"/>
              <a:ext cx="46" cy="6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round/>
              <a:headEnd/>
              <a:tailEnd type="none" w="lg" len="lg"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1284" name="Text Box 46"/>
            <p:cNvSpPr txBox="1">
              <a:spLocks noChangeArrowheads="1"/>
            </p:cNvSpPr>
            <p:nvPr/>
          </p:nvSpPr>
          <p:spPr bwMode="auto">
            <a:xfrm>
              <a:off x="3840" y="2064"/>
              <a:ext cx="22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9pPr>
            </a:lstStyle>
            <a:p>
              <a:pPr algn="ctr" eaLnBrk="1" hangingPunct="1"/>
              <a:r>
                <a:rPr kumimoji="0" lang="en-US" altLang="en-US" sz="2000">
                  <a:solidFill>
                    <a:srgbClr val="000000"/>
                  </a:solidFill>
                </a:rPr>
                <a:t>…</a:t>
              </a:r>
            </a:p>
          </p:txBody>
        </p:sp>
        <p:sp>
          <p:nvSpPr>
            <p:cNvPr id="11285" name="Oval 47"/>
            <p:cNvSpPr>
              <a:spLocks noChangeArrowheads="1"/>
            </p:cNvSpPr>
            <p:nvPr/>
          </p:nvSpPr>
          <p:spPr bwMode="auto">
            <a:xfrm>
              <a:off x="4729" y="1780"/>
              <a:ext cx="47" cy="60"/>
            </a:xfrm>
            <a:prstGeom prst="ellipse">
              <a:avLst/>
            </a:prstGeom>
            <a:solidFill>
              <a:srgbClr val="FF9933"/>
            </a:solidFill>
            <a:ln w="9525">
              <a:solidFill>
                <a:srgbClr val="000000"/>
              </a:solidFill>
              <a:round/>
              <a:headEnd/>
              <a:tailEnd type="none" w="lg" len="lg"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1286" name="Oval 48"/>
            <p:cNvSpPr>
              <a:spLocks noChangeArrowheads="1"/>
            </p:cNvSpPr>
            <p:nvPr/>
          </p:nvSpPr>
          <p:spPr bwMode="auto">
            <a:xfrm>
              <a:off x="4729" y="1908"/>
              <a:ext cx="47" cy="60"/>
            </a:xfrm>
            <a:prstGeom prst="ellipse">
              <a:avLst/>
            </a:prstGeom>
            <a:solidFill>
              <a:srgbClr val="FF9933"/>
            </a:solidFill>
            <a:ln w="9525">
              <a:solidFill>
                <a:srgbClr val="000000"/>
              </a:solidFill>
              <a:round/>
              <a:headEnd/>
              <a:tailEnd type="none" w="lg" len="lg"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1287" name="Oval 49"/>
            <p:cNvSpPr>
              <a:spLocks noChangeArrowheads="1"/>
            </p:cNvSpPr>
            <p:nvPr/>
          </p:nvSpPr>
          <p:spPr bwMode="auto">
            <a:xfrm>
              <a:off x="4729" y="2040"/>
              <a:ext cx="47" cy="60"/>
            </a:xfrm>
            <a:prstGeom prst="ellipse">
              <a:avLst/>
            </a:prstGeom>
            <a:solidFill>
              <a:srgbClr val="FF9933"/>
            </a:solidFill>
            <a:ln w="9525">
              <a:solidFill>
                <a:srgbClr val="000000"/>
              </a:solidFill>
              <a:round/>
              <a:headEnd/>
              <a:tailEnd type="none" w="lg" len="lg"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1288" name="Oval 50"/>
            <p:cNvSpPr>
              <a:spLocks noChangeArrowheads="1"/>
            </p:cNvSpPr>
            <p:nvPr/>
          </p:nvSpPr>
          <p:spPr bwMode="auto">
            <a:xfrm>
              <a:off x="4729" y="2348"/>
              <a:ext cx="47" cy="60"/>
            </a:xfrm>
            <a:prstGeom prst="ellipse">
              <a:avLst/>
            </a:prstGeom>
            <a:solidFill>
              <a:srgbClr val="FF9933"/>
            </a:solidFill>
            <a:ln w="9525">
              <a:solidFill>
                <a:srgbClr val="000000"/>
              </a:solidFill>
              <a:round/>
              <a:headEnd/>
              <a:tailEnd type="none" w="lg" len="lg"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1289" name="Text Box 51"/>
            <p:cNvSpPr txBox="1">
              <a:spLocks noChangeArrowheads="1"/>
            </p:cNvSpPr>
            <p:nvPr/>
          </p:nvSpPr>
          <p:spPr bwMode="auto">
            <a:xfrm>
              <a:off x="4640" y="2064"/>
              <a:ext cx="22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9pPr>
            </a:lstStyle>
            <a:p>
              <a:pPr algn="ctr" eaLnBrk="1" hangingPunct="1"/>
              <a:r>
                <a:rPr kumimoji="0" lang="en-US" altLang="en-US" sz="2000">
                  <a:solidFill>
                    <a:srgbClr val="000000"/>
                  </a:solidFill>
                </a:rPr>
                <a:t>…</a:t>
              </a:r>
            </a:p>
          </p:txBody>
        </p:sp>
        <p:sp>
          <p:nvSpPr>
            <p:cNvPr id="11290" name="Line 52"/>
            <p:cNvSpPr>
              <a:spLocks noChangeShapeType="1"/>
            </p:cNvSpPr>
            <p:nvPr/>
          </p:nvSpPr>
          <p:spPr bwMode="auto">
            <a:xfrm>
              <a:off x="3975" y="1808"/>
              <a:ext cx="695" cy="0"/>
            </a:xfrm>
            <a:prstGeom prst="line">
              <a:avLst/>
            </a:prstGeom>
            <a:noFill/>
            <a:ln w="31750">
              <a:solidFill>
                <a:srgbClr val="0000FF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91" name="Line 53"/>
            <p:cNvSpPr>
              <a:spLocks noChangeShapeType="1"/>
            </p:cNvSpPr>
            <p:nvPr/>
          </p:nvSpPr>
          <p:spPr bwMode="auto">
            <a:xfrm>
              <a:off x="3972" y="1940"/>
              <a:ext cx="695" cy="0"/>
            </a:xfrm>
            <a:prstGeom prst="line">
              <a:avLst/>
            </a:prstGeom>
            <a:noFill/>
            <a:ln w="31750">
              <a:solidFill>
                <a:srgbClr val="0000FF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92" name="Line 54"/>
            <p:cNvSpPr>
              <a:spLocks noChangeShapeType="1"/>
            </p:cNvSpPr>
            <p:nvPr/>
          </p:nvSpPr>
          <p:spPr bwMode="auto">
            <a:xfrm>
              <a:off x="3975" y="2080"/>
              <a:ext cx="695" cy="0"/>
            </a:xfrm>
            <a:prstGeom prst="line">
              <a:avLst/>
            </a:prstGeom>
            <a:noFill/>
            <a:ln w="31750">
              <a:solidFill>
                <a:srgbClr val="0000FF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93" name="Line 55"/>
            <p:cNvSpPr>
              <a:spLocks noChangeShapeType="1"/>
            </p:cNvSpPr>
            <p:nvPr/>
          </p:nvSpPr>
          <p:spPr bwMode="auto">
            <a:xfrm>
              <a:off x="3972" y="2380"/>
              <a:ext cx="695" cy="0"/>
            </a:xfrm>
            <a:prstGeom prst="line">
              <a:avLst/>
            </a:prstGeom>
            <a:noFill/>
            <a:ln w="31750">
              <a:solidFill>
                <a:srgbClr val="0000FF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94" name="Text Box 56"/>
            <p:cNvSpPr txBox="1">
              <a:spLocks noChangeArrowheads="1"/>
            </p:cNvSpPr>
            <p:nvPr/>
          </p:nvSpPr>
          <p:spPr bwMode="auto">
            <a:xfrm>
              <a:off x="4274" y="2174"/>
              <a:ext cx="197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9pPr>
            </a:lstStyle>
            <a:p>
              <a:pPr eaLnBrk="1" hangingPunct="1"/>
              <a:r>
                <a:rPr kumimoji="0" lang="en-US" altLang="en-US" sz="2000" i="1">
                  <a:solidFill>
                    <a:srgbClr val="000000"/>
                  </a:solidFill>
                </a:rPr>
                <a:t>f</a:t>
              </a:r>
            </a:p>
          </p:txBody>
        </p:sp>
      </p:grpSp>
      <p:sp>
        <p:nvSpPr>
          <p:cNvPr id="1060921" name="Text Box 57"/>
          <p:cNvSpPr txBox="1">
            <a:spLocks noChangeArrowheads="1"/>
          </p:cNvSpPr>
          <p:nvPr/>
        </p:nvSpPr>
        <p:spPr bwMode="auto">
          <a:xfrm>
            <a:off x="990600" y="4800600"/>
            <a:ext cx="61055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/>
              <a:t>Therefore, |A| = |B|, and |B| can be computed directly.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60871" grpId="0"/>
      <p:bldP spid="1060872" grpId="0" animBg="1"/>
      <p:bldP spid="1060873" grpId="0" animBg="1"/>
      <p:bldP spid="106092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ext Box 2"/>
          <p:cNvSpPr txBox="1">
            <a:spLocks noChangeArrowheads="1"/>
          </p:cNvSpPr>
          <p:nvPr/>
        </p:nvSpPr>
        <p:spPr bwMode="auto">
          <a:xfrm>
            <a:off x="3227388" y="457200"/>
            <a:ext cx="26400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 sz="2400" b="1">
                <a:solidFill>
                  <a:srgbClr val="003366"/>
                </a:solidFill>
              </a:rPr>
              <a:t>A Chess Problem</a:t>
            </a:r>
          </a:p>
        </p:txBody>
      </p:sp>
      <p:sp>
        <p:nvSpPr>
          <p:cNvPr id="12291" name="Rectangle 3"/>
          <p:cNvSpPr>
            <a:spLocks noChangeArrowheads="1"/>
          </p:cNvSpPr>
          <p:nvPr/>
        </p:nvSpPr>
        <p:spPr bwMode="auto">
          <a:xfrm>
            <a:off x="1676400" y="1447800"/>
            <a:ext cx="5867400" cy="1201738"/>
          </a:xfrm>
          <a:prstGeom prst="rect">
            <a:avLst/>
          </a:prstGeom>
          <a:solidFill>
            <a:srgbClr val="FFFFCC"/>
          </a:solidFill>
          <a:ln w="9525">
            <a:solidFill>
              <a:schemeClr val="bg2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en-US"/>
              <a:t>In how many different ways can we place a pawn (p),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en-US"/>
              <a:t>a knight (k), and a bishop (b) on a chessboard so that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en-US"/>
              <a:t>no two pieces share a row or a column?</a:t>
            </a:r>
          </a:p>
        </p:txBody>
      </p:sp>
      <p:pic>
        <p:nvPicPr>
          <p:cNvPr id="12292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3108325"/>
            <a:ext cx="7162800" cy="2949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4370" name="Text Box 2"/>
          <p:cNvSpPr txBox="1">
            <a:spLocks noChangeArrowheads="1"/>
          </p:cNvSpPr>
          <p:nvPr/>
        </p:nvSpPr>
        <p:spPr bwMode="auto">
          <a:xfrm>
            <a:off x="1828800" y="1447800"/>
            <a:ext cx="5410200" cy="1614488"/>
          </a:xfrm>
          <a:prstGeom prst="rect">
            <a:avLst/>
          </a:prstGeom>
          <a:noFill/>
          <a:ln w="9525">
            <a:solidFill>
              <a:schemeClr val="bg2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en-US"/>
              <a:t>We define a mapping between configurations to 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en-US"/>
              <a:t>sequences (r(p), c(p), r(k), c(k), r(b), c(b)),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en-US"/>
              <a:t>where r(p), r(k), and r(b) are distinct rows,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en-US"/>
              <a:t>and c(p), c(k), and c(b) are distinct columns.</a:t>
            </a:r>
          </a:p>
        </p:txBody>
      </p:sp>
      <p:sp>
        <p:nvSpPr>
          <p:cNvPr id="13315" name="Text Box 3"/>
          <p:cNvSpPr txBox="1">
            <a:spLocks noChangeArrowheads="1"/>
          </p:cNvSpPr>
          <p:nvPr/>
        </p:nvSpPr>
        <p:spPr bwMode="auto">
          <a:xfrm>
            <a:off x="3227388" y="457200"/>
            <a:ext cx="26400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 sz="2400" b="1">
                <a:solidFill>
                  <a:srgbClr val="003366"/>
                </a:solidFill>
              </a:rPr>
              <a:t>A Chess Problem</a:t>
            </a:r>
          </a:p>
        </p:txBody>
      </p:sp>
      <p:grpSp>
        <p:nvGrpSpPr>
          <p:cNvPr id="2" name="Group 11"/>
          <p:cNvGrpSpPr>
            <a:grpSpLocks/>
          </p:cNvGrpSpPr>
          <p:nvPr/>
        </p:nvGrpSpPr>
        <p:grpSpPr bwMode="auto">
          <a:xfrm>
            <a:off x="457200" y="3733800"/>
            <a:ext cx="2754313" cy="1371600"/>
            <a:chOff x="3504" y="1680"/>
            <a:chExt cx="1735" cy="864"/>
          </a:xfrm>
        </p:grpSpPr>
        <p:sp>
          <p:nvSpPr>
            <p:cNvPr id="954380" name="Oval 12"/>
            <p:cNvSpPr>
              <a:spLocks noChangeArrowheads="1"/>
            </p:cNvSpPr>
            <p:nvPr/>
          </p:nvSpPr>
          <p:spPr bwMode="auto">
            <a:xfrm>
              <a:off x="3761" y="1696"/>
              <a:ext cx="422" cy="848"/>
            </a:xfrm>
            <a:prstGeom prst="ellipse">
              <a:avLst/>
            </a:prstGeom>
            <a:solidFill>
              <a:srgbClr val="CCCCFF"/>
            </a:solidFill>
            <a:ln w="9525">
              <a:solidFill>
                <a:srgbClr val="000000"/>
              </a:solidFill>
              <a:round/>
              <a:headEnd/>
              <a:tailEnd type="none" w="lg" len="lg"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954381" name="Oval 13"/>
            <p:cNvSpPr>
              <a:spLocks noChangeArrowheads="1"/>
            </p:cNvSpPr>
            <p:nvPr/>
          </p:nvSpPr>
          <p:spPr bwMode="auto">
            <a:xfrm>
              <a:off x="4512" y="1680"/>
              <a:ext cx="422" cy="848"/>
            </a:xfrm>
            <a:prstGeom prst="ellipse">
              <a:avLst/>
            </a:prstGeom>
            <a:solidFill>
              <a:srgbClr val="CCCCFF"/>
            </a:solidFill>
            <a:ln w="9525">
              <a:solidFill>
                <a:srgbClr val="000000"/>
              </a:solidFill>
              <a:round/>
              <a:headEnd/>
              <a:tailEnd type="none" w="lg" len="lg"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3321" name="Text Box 14"/>
            <p:cNvSpPr txBox="1">
              <a:spLocks noChangeArrowheads="1"/>
            </p:cNvSpPr>
            <p:nvPr/>
          </p:nvSpPr>
          <p:spPr bwMode="auto">
            <a:xfrm>
              <a:off x="3504" y="1968"/>
              <a:ext cx="233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9pPr>
            </a:lstStyle>
            <a:p>
              <a:pPr eaLnBrk="1" hangingPunct="1"/>
              <a:r>
                <a:rPr kumimoji="0" lang="en-US" altLang="en-US" sz="2000" i="1">
                  <a:solidFill>
                    <a:srgbClr val="000000"/>
                  </a:solidFill>
                </a:rPr>
                <a:t>A</a:t>
              </a:r>
            </a:p>
          </p:txBody>
        </p:sp>
        <p:sp>
          <p:nvSpPr>
            <p:cNvPr id="13322" name="Text Box 15"/>
            <p:cNvSpPr txBox="1">
              <a:spLocks noChangeArrowheads="1"/>
            </p:cNvSpPr>
            <p:nvPr/>
          </p:nvSpPr>
          <p:spPr bwMode="auto">
            <a:xfrm>
              <a:off x="5022" y="1974"/>
              <a:ext cx="217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9pPr>
            </a:lstStyle>
            <a:p>
              <a:pPr eaLnBrk="1" hangingPunct="1"/>
              <a:r>
                <a:rPr kumimoji="0" lang="en-US" altLang="en-US" sz="2000" i="1">
                  <a:solidFill>
                    <a:srgbClr val="000000"/>
                  </a:solidFill>
                </a:rPr>
                <a:t>B</a:t>
              </a:r>
            </a:p>
          </p:txBody>
        </p:sp>
        <p:sp>
          <p:nvSpPr>
            <p:cNvPr id="13323" name="Oval 16"/>
            <p:cNvSpPr>
              <a:spLocks noChangeArrowheads="1"/>
            </p:cNvSpPr>
            <p:nvPr/>
          </p:nvSpPr>
          <p:spPr bwMode="auto">
            <a:xfrm>
              <a:off x="3942" y="1784"/>
              <a:ext cx="46" cy="6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round/>
              <a:headEnd/>
              <a:tailEnd type="none" w="lg" len="lg"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3324" name="Oval 17"/>
            <p:cNvSpPr>
              <a:spLocks noChangeArrowheads="1"/>
            </p:cNvSpPr>
            <p:nvPr/>
          </p:nvSpPr>
          <p:spPr bwMode="auto">
            <a:xfrm>
              <a:off x="3942" y="1912"/>
              <a:ext cx="46" cy="6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round/>
              <a:headEnd/>
              <a:tailEnd type="none" w="lg" len="lg"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3325" name="Oval 18"/>
            <p:cNvSpPr>
              <a:spLocks noChangeArrowheads="1"/>
            </p:cNvSpPr>
            <p:nvPr/>
          </p:nvSpPr>
          <p:spPr bwMode="auto">
            <a:xfrm>
              <a:off x="3942" y="2044"/>
              <a:ext cx="46" cy="6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round/>
              <a:headEnd/>
              <a:tailEnd type="none" w="lg" len="lg"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3326" name="Oval 19"/>
            <p:cNvSpPr>
              <a:spLocks noChangeArrowheads="1"/>
            </p:cNvSpPr>
            <p:nvPr/>
          </p:nvSpPr>
          <p:spPr bwMode="auto">
            <a:xfrm>
              <a:off x="3942" y="2352"/>
              <a:ext cx="46" cy="6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round/>
              <a:headEnd/>
              <a:tailEnd type="none" w="lg" len="lg"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3327" name="Text Box 20"/>
            <p:cNvSpPr txBox="1">
              <a:spLocks noChangeArrowheads="1"/>
            </p:cNvSpPr>
            <p:nvPr/>
          </p:nvSpPr>
          <p:spPr bwMode="auto">
            <a:xfrm>
              <a:off x="3840" y="2064"/>
              <a:ext cx="22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9pPr>
            </a:lstStyle>
            <a:p>
              <a:pPr algn="ctr" eaLnBrk="1" hangingPunct="1"/>
              <a:r>
                <a:rPr kumimoji="0" lang="en-US" altLang="en-US" sz="2000">
                  <a:solidFill>
                    <a:srgbClr val="000000"/>
                  </a:solidFill>
                </a:rPr>
                <a:t>…</a:t>
              </a:r>
            </a:p>
          </p:txBody>
        </p:sp>
        <p:sp>
          <p:nvSpPr>
            <p:cNvPr id="13328" name="Oval 21"/>
            <p:cNvSpPr>
              <a:spLocks noChangeArrowheads="1"/>
            </p:cNvSpPr>
            <p:nvPr/>
          </p:nvSpPr>
          <p:spPr bwMode="auto">
            <a:xfrm>
              <a:off x="4729" y="1780"/>
              <a:ext cx="47" cy="60"/>
            </a:xfrm>
            <a:prstGeom prst="ellipse">
              <a:avLst/>
            </a:prstGeom>
            <a:solidFill>
              <a:srgbClr val="FF9933"/>
            </a:solidFill>
            <a:ln w="9525">
              <a:solidFill>
                <a:srgbClr val="000000"/>
              </a:solidFill>
              <a:round/>
              <a:headEnd/>
              <a:tailEnd type="none" w="lg" len="lg"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3329" name="Oval 22"/>
            <p:cNvSpPr>
              <a:spLocks noChangeArrowheads="1"/>
            </p:cNvSpPr>
            <p:nvPr/>
          </p:nvSpPr>
          <p:spPr bwMode="auto">
            <a:xfrm>
              <a:off x="4729" y="1908"/>
              <a:ext cx="47" cy="60"/>
            </a:xfrm>
            <a:prstGeom prst="ellipse">
              <a:avLst/>
            </a:prstGeom>
            <a:solidFill>
              <a:srgbClr val="FF9933"/>
            </a:solidFill>
            <a:ln w="9525">
              <a:solidFill>
                <a:srgbClr val="000000"/>
              </a:solidFill>
              <a:round/>
              <a:headEnd/>
              <a:tailEnd type="none" w="lg" len="lg"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3330" name="Oval 23"/>
            <p:cNvSpPr>
              <a:spLocks noChangeArrowheads="1"/>
            </p:cNvSpPr>
            <p:nvPr/>
          </p:nvSpPr>
          <p:spPr bwMode="auto">
            <a:xfrm>
              <a:off x="4729" y="2040"/>
              <a:ext cx="47" cy="60"/>
            </a:xfrm>
            <a:prstGeom prst="ellipse">
              <a:avLst/>
            </a:prstGeom>
            <a:solidFill>
              <a:srgbClr val="FF9933"/>
            </a:solidFill>
            <a:ln w="9525">
              <a:solidFill>
                <a:srgbClr val="000000"/>
              </a:solidFill>
              <a:round/>
              <a:headEnd/>
              <a:tailEnd type="none" w="lg" len="lg"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3331" name="Oval 24"/>
            <p:cNvSpPr>
              <a:spLocks noChangeArrowheads="1"/>
            </p:cNvSpPr>
            <p:nvPr/>
          </p:nvSpPr>
          <p:spPr bwMode="auto">
            <a:xfrm>
              <a:off x="4729" y="2348"/>
              <a:ext cx="47" cy="60"/>
            </a:xfrm>
            <a:prstGeom prst="ellipse">
              <a:avLst/>
            </a:prstGeom>
            <a:solidFill>
              <a:srgbClr val="FF9933"/>
            </a:solidFill>
            <a:ln w="9525">
              <a:solidFill>
                <a:srgbClr val="000000"/>
              </a:solidFill>
              <a:round/>
              <a:headEnd/>
              <a:tailEnd type="none" w="lg" len="lg"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3332" name="Text Box 25"/>
            <p:cNvSpPr txBox="1">
              <a:spLocks noChangeArrowheads="1"/>
            </p:cNvSpPr>
            <p:nvPr/>
          </p:nvSpPr>
          <p:spPr bwMode="auto">
            <a:xfrm>
              <a:off x="4640" y="2064"/>
              <a:ext cx="22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9pPr>
            </a:lstStyle>
            <a:p>
              <a:pPr algn="ctr" eaLnBrk="1" hangingPunct="1"/>
              <a:r>
                <a:rPr kumimoji="0" lang="en-US" altLang="en-US" sz="2000">
                  <a:solidFill>
                    <a:srgbClr val="000000"/>
                  </a:solidFill>
                </a:rPr>
                <a:t>…</a:t>
              </a:r>
            </a:p>
          </p:txBody>
        </p:sp>
        <p:sp>
          <p:nvSpPr>
            <p:cNvPr id="13333" name="Line 26"/>
            <p:cNvSpPr>
              <a:spLocks noChangeShapeType="1"/>
            </p:cNvSpPr>
            <p:nvPr/>
          </p:nvSpPr>
          <p:spPr bwMode="auto">
            <a:xfrm>
              <a:off x="3975" y="1808"/>
              <a:ext cx="695" cy="0"/>
            </a:xfrm>
            <a:prstGeom prst="line">
              <a:avLst/>
            </a:prstGeom>
            <a:noFill/>
            <a:ln w="31750">
              <a:solidFill>
                <a:srgbClr val="0000FF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34" name="Line 27"/>
            <p:cNvSpPr>
              <a:spLocks noChangeShapeType="1"/>
            </p:cNvSpPr>
            <p:nvPr/>
          </p:nvSpPr>
          <p:spPr bwMode="auto">
            <a:xfrm>
              <a:off x="3972" y="1940"/>
              <a:ext cx="695" cy="0"/>
            </a:xfrm>
            <a:prstGeom prst="line">
              <a:avLst/>
            </a:prstGeom>
            <a:noFill/>
            <a:ln w="31750">
              <a:solidFill>
                <a:srgbClr val="0000FF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35" name="Line 28"/>
            <p:cNvSpPr>
              <a:spLocks noChangeShapeType="1"/>
            </p:cNvSpPr>
            <p:nvPr/>
          </p:nvSpPr>
          <p:spPr bwMode="auto">
            <a:xfrm>
              <a:off x="3975" y="2080"/>
              <a:ext cx="695" cy="0"/>
            </a:xfrm>
            <a:prstGeom prst="line">
              <a:avLst/>
            </a:prstGeom>
            <a:noFill/>
            <a:ln w="31750">
              <a:solidFill>
                <a:srgbClr val="0000FF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36" name="Line 29"/>
            <p:cNvSpPr>
              <a:spLocks noChangeShapeType="1"/>
            </p:cNvSpPr>
            <p:nvPr/>
          </p:nvSpPr>
          <p:spPr bwMode="auto">
            <a:xfrm>
              <a:off x="3972" y="2380"/>
              <a:ext cx="695" cy="0"/>
            </a:xfrm>
            <a:prstGeom prst="line">
              <a:avLst/>
            </a:prstGeom>
            <a:noFill/>
            <a:ln w="31750">
              <a:solidFill>
                <a:srgbClr val="0000FF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37" name="Text Box 30"/>
            <p:cNvSpPr txBox="1">
              <a:spLocks noChangeArrowheads="1"/>
            </p:cNvSpPr>
            <p:nvPr/>
          </p:nvSpPr>
          <p:spPr bwMode="auto">
            <a:xfrm>
              <a:off x="4274" y="2174"/>
              <a:ext cx="197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9pPr>
            </a:lstStyle>
            <a:p>
              <a:pPr eaLnBrk="1" hangingPunct="1"/>
              <a:r>
                <a:rPr kumimoji="0" lang="en-US" altLang="en-US" sz="2000" i="1">
                  <a:solidFill>
                    <a:srgbClr val="000000"/>
                  </a:solidFill>
                </a:rPr>
                <a:t>f</a:t>
              </a:r>
            </a:p>
          </p:txBody>
        </p:sp>
      </p:grpSp>
      <p:sp>
        <p:nvSpPr>
          <p:cNvPr id="954399" name="Text Box 31"/>
          <p:cNvSpPr txBox="1">
            <a:spLocks noChangeArrowheads="1"/>
          </p:cNvSpPr>
          <p:nvPr/>
        </p:nvSpPr>
        <p:spPr bwMode="auto">
          <a:xfrm>
            <a:off x="3581400" y="3960813"/>
            <a:ext cx="5276850" cy="915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/>
              <a:t>A: the set of the configurations of the 3 pieces</a:t>
            </a:r>
          </a:p>
          <a:p>
            <a:pPr eaLnBrk="1" hangingPunct="1"/>
            <a:endParaRPr lang="en-US" altLang="zh-TW"/>
          </a:p>
          <a:p>
            <a:pPr eaLnBrk="1" hangingPunct="1"/>
            <a:r>
              <a:rPr lang="en-US" altLang="zh-TW"/>
              <a:t>B: the set of the such sequences of 6 numbers</a:t>
            </a:r>
          </a:p>
        </p:txBody>
      </p:sp>
      <p:sp>
        <p:nvSpPr>
          <p:cNvPr id="954400" name="Text Box 32"/>
          <p:cNvSpPr txBox="1">
            <a:spLocks noChangeArrowheads="1"/>
          </p:cNvSpPr>
          <p:nvPr/>
        </p:nvSpPr>
        <p:spPr bwMode="auto">
          <a:xfrm>
            <a:off x="1827213" y="5638800"/>
            <a:ext cx="5497512" cy="788988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/>
              <a:t>If we can define a bijection between A and B,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TW"/>
              <a:t>and also calculate |B|, then we can determine |A|.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3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3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4399" grpId="0"/>
      <p:bldP spid="954400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ext Box 2"/>
          <p:cNvSpPr txBox="1">
            <a:spLocks noChangeArrowheads="1"/>
          </p:cNvSpPr>
          <p:nvPr/>
        </p:nvSpPr>
        <p:spPr bwMode="auto">
          <a:xfrm>
            <a:off x="1828800" y="1447800"/>
            <a:ext cx="5410200" cy="1614488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en-US"/>
              <a:t>We define a mapping between configurations to 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en-US"/>
              <a:t>sequences (r(p), c(p), r(k), c(k), r(b), c(b)),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en-US"/>
              <a:t>where r(p), r(k), and r(b) are distinct rows,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en-US"/>
              <a:t>and c(p), c(k), and c(b) are distinct columns.</a:t>
            </a:r>
          </a:p>
        </p:txBody>
      </p:sp>
      <p:sp>
        <p:nvSpPr>
          <p:cNvPr id="14339" name="Text Box 3"/>
          <p:cNvSpPr txBox="1">
            <a:spLocks noChangeArrowheads="1"/>
          </p:cNvSpPr>
          <p:nvPr/>
        </p:nvSpPr>
        <p:spPr bwMode="auto">
          <a:xfrm>
            <a:off x="3227388" y="457200"/>
            <a:ext cx="26400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 sz="2400" b="1">
                <a:solidFill>
                  <a:srgbClr val="003366"/>
                </a:solidFill>
              </a:rPr>
              <a:t>A Chess Problem</a:t>
            </a:r>
          </a:p>
        </p:txBody>
      </p:sp>
      <p:pic>
        <p:nvPicPr>
          <p:cNvPr id="1061892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3463925"/>
            <a:ext cx="3048000" cy="293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61893" name="AutoShape 5"/>
          <p:cNvSpPr>
            <a:spLocks noChangeArrowheads="1"/>
          </p:cNvSpPr>
          <p:nvPr/>
        </p:nvSpPr>
        <p:spPr bwMode="auto">
          <a:xfrm>
            <a:off x="3433763" y="3629025"/>
            <a:ext cx="1214437" cy="485775"/>
          </a:xfrm>
          <a:prstGeom prst="left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061894" name="Text Box 6"/>
          <p:cNvSpPr txBox="1">
            <a:spLocks noChangeArrowheads="1"/>
          </p:cNvSpPr>
          <p:nvPr/>
        </p:nvSpPr>
        <p:spPr bwMode="auto">
          <a:xfrm>
            <a:off x="5197475" y="3657600"/>
            <a:ext cx="15081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en-US"/>
              <a:t>(</a:t>
            </a:r>
            <a:r>
              <a:rPr lang="en-US" altLang="en-US">
                <a:solidFill>
                  <a:schemeClr val="accent2"/>
                </a:solidFill>
              </a:rPr>
              <a:t>7,6</a:t>
            </a:r>
            <a:r>
              <a:rPr lang="en-US" altLang="en-US"/>
              <a:t>,</a:t>
            </a:r>
            <a:r>
              <a:rPr lang="en-US" altLang="en-US">
                <a:solidFill>
                  <a:srgbClr val="008000"/>
                </a:solidFill>
              </a:rPr>
              <a:t>2,5</a:t>
            </a:r>
            <a:r>
              <a:rPr lang="en-US" altLang="en-US"/>
              <a:t>,</a:t>
            </a:r>
            <a:r>
              <a:rPr lang="en-US" altLang="en-US">
                <a:solidFill>
                  <a:srgbClr val="A50021"/>
                </a:solidFill>
              </a:rPr>
              <a:t>5,2</a:t>
            </a:r>
            <a:r>
              <a:rPr lang="en-US" altLang="en-US"/>
              <a:t>)</a:t>
            </a:r>
          </a:p>
        </p:txBody>
      </p:sp>
      <p:sp>
        <p:nvSpPr>
          <p:cNvPr id="1061895" name="Text Box 7"/>
          <p:cNvSpPr txBox="1">
            <a:spLocks noChangeArrowheads="1"/>
          </p:cNvSpPr>
          <p:nvPr/>
        </p:nvSpPr>
        <p:spPr bwMode="auto">
          <a:xfrm>
            <a:off x="1819275" y="6034088"/>
            <a:ext cx="704850" cy="376237"/>
          </a:xfrm>
          <a:prstGeom prst="rect">
            <a:avLst/>
          </a:prstGeom>
          <a:solidFill>
            <a:schemeClr val="bg1"/>
          </a:solidFill>
          <a:ln w="9525">
            <a:solidFill>
              <a:schemeClr val="bg2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en-US">
                <a:solidFill>
                  <a:schemeClr val="accent2"/>
                </a:solidFill>
              </a:rPr>
              <a:t>(7,6)</a:t>
            </a:r>
          </a:p>
        </p:txBody>
      </p:sp>
      <p:sp>
        <p:nvSpPr>
          <p:cNvPr id="1061896" name="Text Box 8"/>
          <p:cNvSpPr txBox="1">
            <a:spLocks noChangeArrowheads="1"/>
          </p:cNvSpPr>
          <p:nvPr/>
        </p:nvSpPr>
        <p:spPr bwMode="auto">
          <a:xfrm>
            <a:off x="1447800" y="4419600"/>
            <a:ext cx="704850" cy="376238"/>
          </a:xfrm>
          <a:prstGeom prst="rect">
            <a:avLst/>
          </a:prstGeom>
          <a:solidFill>
            <a:schemeClr val="bg1"/>
          </a:solidFill>
          <a:ln w="9525">
            <a:solidFill>
              <a:schemeClr val="bg2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en-US">
                <a:solidFill>
                  <a:srgbClr val="008000"/>
                </a:solidFill>
              </a:rPr>
              <a:t>(2,5)</a:t>
            </a:r>
          </a:p>
        </p:txBody>
      </p:sp>
      <p:sp>
        <p:nvSpPr>
          <p:cNvPr id="1061897" name="Text Box 9"/>
          <p:cNvSpPr txBox="1">
            <a:spLocks noChangeArrowheads="1"/>
          </p:cNvSpPr>
          <p:nvPr/>
        </p:nvSpPr>
        <p:spPr bwMode="auto">
          <a:xfrm>
            <a:off x="590550" y="5334000"/>
            <a:ext cx="704850" cy="376238"/>
          </a:xfrm>
          <a:prstGeom prst="rect">
            <a:avLst/>
          </a:prstGeom>
          <a:solidFill>
            <a:schemeClr val="bg1"/>
          </a:solidFill>
          <a:ln w="9525">
            <a:solidFill>
              <a:schemeClr val="bg2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en-US">
                <a:solidFill>
                  <a:srgbClr val="A50021"/>
                </a:solidFill>
              </a:rPr>
              <a:t>(5,2)</a:t>
            </a:r>
          </a:p>
        </p:txBody>
      </p:sp>
      <p:sp>
        <p:nvSpPr>
          <p:cNvPr id="1061898" name="Text Box 10"/>
          <p:cNvSpPr txBox="1">
            <a:spLocks noChangeArrowheads="1"/>
          </p:cNvSpPr>
          <p:nvPr/>
        </p:nvSpPr>
        <p:spPr bwMode="auto">
          <a:xfrm>
            <a:off x="3200400" y="4446588"/>
            <a:ext cx="3138488" cy="1192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en-US"/>
              <a:t>This is a bijection, because:</a:t>
            </a:r>
          </a:p>
          <a:p>
            <a:pPr eaLnBrk="1" hangingPunct="1">
              <a:lnSpc>
                <a:spcPct val="150000"/>
              </a:lnSpc>
              <a:buClr>
                <a:srgbClr val="A50021"/>
              </a:buClr>
              <a:buFont typeface="Wingdings" panose="05000000000000000000" pitchFamily="2" charset="2"/>
              <a:buChar char="v"/>
            </a:pPr>
            <a:r>
              <a:rPr lang="en-US" altLang="en-US"/>
              <a:t> it is an injection</a:t>
            </a:r>
          </a:p>
          <a:p>
            <a:pPr eaLnBrk="1" hangingPunct="1">
              <a:lnSpc>
                <a:spcPct val="150000"/>
              </a:lnSpc>
              <a:buClr>
                <a:srgbClr val="A50021"/>
              </a:buClr>
              <a:buFont typeface="Wingdings" panose="05000000000000000000" pitchFamily="2" charset="2"/>
              <a:buChar char="v"/>
            </a:pPr>
            <a:r>
              <a:rPr lang="en-US" altLang="en-US"/>
              <a:t> it is a surjection</a:t>
            </a:r>
          </a:p>
        </p:txBody>
      </p:sp>
      <p:sp>
        <p:nvSpPr>
          <p:cNvPr id="1061919" name="Text Box 31"/>
          <p:cNvSpPr txBox="1">
            <a:spLocks noChangeArrowheads="1"/>
          </p:cNvSpPr>
          <p:nvPr/>
        </p:nvSpPr>
        <p:spPr bwMode="auto">
          <a:xfrm>
            <a:off x="3048000" y="5867400"/>
            <a:ext cx="6034088" cy="788988"/>
          </a:xfrm>
          <a:prstGeom prst="rect">
            <a:avLst/>
          </a:prstGeom>
          <a:noFill/>
          <a:ln w="9525">
            <a:solidFill>
              <a:schemeClr val="bg2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/>
              <a:t>So, to count the number of chess configurations,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TW"/>
              <a:t>it is equivalent to count the number of such sequences.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1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1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1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1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1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1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1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1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61893" grpId="0" animBg="1"/>
      <p:bldP spid="1061894" grpId="0"/>
      <p:bldP spid="1061895" grpId="0" animBg="1"/>
      <p:bldP spid="1061896" grpId="0" animBg="1"/>
      <p:bldP spid="1061897" grpId="0" animBg="1"/>
      <p:bldP spid="1061898" grpId="0"/>
      <p:bldP spid="1061919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ext Box 2"/>
          <p:cNvSpPr txBox="1">
            <a:spLocks noChangeArrowheads="1"/>
          </p:cNvSpPr>
          <p:nvPr/>
        </p:nvSpPr>
        <p:spPr bwMode="auto">
          <a:xfrm>
            <a:off x="3227388" y="457200"/>
            <a:ext cx="26400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 sz="2400" b="1">
                <a:solidFill>
                  <a:srgbClr val="003366"/>
                </a:solidFill>
              </a:rPr>
              <a:t>A Chess Problem</a:t>
            </a:r>
          </a:p>
        </p:txBody>
      </p:sp>
      <p:sp>
        <p:nvSpPr>
          <p:cNvPr id="15363" name="Text Box 3"/>
          <p:cNvSpPr txBox="1">
            <a:spLocks noChangeArrowheads="1"/>
          </p:cNvSpPr>
          <p:nvPr/>
        </p:nvSpPr>
        <p:spPr bwMode="auto">
          <a:xfrm>
            <a:off x="1905000" y="1447800"/>
            <a:ext cx="5410200" cy="1614488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en-US"/>
              <a:t>We define a mapping between configurations to 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en-US"/>
              <a:t>sequences (r(p), c(p), r(k), c(k), r(b), c(b)),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en-US"/>
              <a:t>where r(p), r(k), and r(b) are distinct rows,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en-US"/>
              <a:t>and c(p), c(k), and c(b) are distinct columns.</a:t>
            </a:r>
          </a:p>
        </p:txBody>
      </p:sp>
      <p:sp>
        <p:nvSpPr>
          <p:cNvPr id="953348" name="Text Box 4"/>
          <p:cNvSpPr txBox="1">
            <a:spLocks noChangeArrowheads="1"/>
          </p:cNvSpPr>
          <p:nvPr/>
        </p:nvSpPr>
        <p:spPr bwMode="auto">
          <a:xfrm>
            <a:off x="3884613" y="3505200"/>
            <a:ext cx="4040187" cy="1604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en-US"/>
              <a:t>Using the generalized product rule,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en-US"/>
              <a:t>there are 8 choices of r(p) and c(p),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en-US"/>
              <a:t>there are 7 choices of r(k) and c(k),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en-US"/>
              <a:t>there are 6 choices of r(b) and c(b).</a:t>
            </a:r>
          </a:p>
        </p:txBody>
      </p:sp>
      <p:pic>
        <p:nvPicPr>
          <p:cNvPr id="15365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3235325"/>
            <a:ext cx="3048000" cy="293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366" name="Text Box 9"/>
          <p:cNvSpPr txBox="1">
            <a:spLocks noChangeArrowheads="1"/>
          </p:cNvSpPr>
          <p:nvPr/>
        </p:nvSpPr>
        <p:spPr bwMode="auto">
          <a:xfrm>
            <a:off x="1311275" y="6186488"/>
            <a:ext cx="150812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en-US"/>
              <a:t>(</a:t>
            </a:r>
            <a:r>
              <a:rPr lang="en-US" altLang="en-US">
                <a:solidFill>
                  <a:schemeClr val="accent2"/>
                </a:solidFill>
              </a:rPr>
              <a:t>7,6</a:t>
            </a:r>
            <a:r>
              <a:rPr lang="en-US" altLang="en-US"/>
              <a:t>,</a:t>
            </a:r>
            <a:r>
              <a:rPr lang="en-US" altLang="en-US">
                <a:solidFill>
                  <a:srgbClr val="008000"/>
                </a:solidFill>
              </a:rPr>
              <a:t>2,5</a:t>
            </a:r>
            <a:r>
              <a:rPr lang="en-US" altLang="en-US"/>
              <a:t>,</a:t>
            </a:r>
            <a:r>
              <a:rPr lang="en-US" altLang="en-US">
                <a:solidFill>
                  <a:srgbClr val="A50021"/>
                </a:solidFill>
              </a:rPr>
              <a:t>5,2</a:t>
            </a:r>
            <a:r>
              <a:rPr lang="en-US" altLang="en-US"/>
              <a:t>)</a:t>
            </a:r>
          </a:p>
        </p:txBody>
      </p:sp>
      <p:sp>
        <p:nvSpPr>
          <p:cNvPr id="953354" name="Text Box 10"/>
          <p:cNvSpPr txBox="1">
            <a:spLocks noChangeArrowheads="1"/>
          </p:cNvSpPr>
          <p:nvPr/>
        </p:nvSpPr>
        <p:spPr bwMode="auto">
          <a:xfrm>
            <a:off x="3946525" y="5486400"/>
            <a:ext cx="4111625" cy="788988"/>
          </a:xfrm>
          <a:prstGeom prst="rect">
            <a:avLst/>
          </a:prstGeom>
          <a:solidFill>
            <a:srgbClr val="CCFF99"/>
          </a:solidFill>
          <a:ln w="9525">
            <a:solidFill>
              <a:schemeClr val="bg2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en-US"/>
              <a:t>Thus, total number of configurations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en-US"/>
              <a:t>= (8x7x6)</a:t>
            </a:r>
            <a:r>
              <a:rPr lang="en-US" altLang="en-US" baseline="30000"/>
              <a:t>2</a:t>
            </a:r>
            <a:r>
              <a:rPr lang="en-US" altLang="en-US"/>
              <a:t> = 112896.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3348" grpId="0"/>
      <p:bldP spid="95335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ext Box 2"/>
          <p:cNvSpPr txBox="1">
            <a:spLocks noChangeArrowheads="1"/>
          </p:cNvSpPr>
          <p:nvPr/>
        </p:nvSpPr>
        <p:spPr bwMode="auto">
          <a:xfrm>
            <a:off x="2286000" y="457200"/>
            <a:ext cx="4495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 sz="2400" b="1">
                <a:solidFill>
                  <a:srgbClr val="003366"/>
                </a:solidFill>
              </a:rPr>
              <a:t>Counting Doughnut Selections</a:t>
            </a:r>
          </a:p>
        </p:txBody>
      </p:sp>
      <p:sp>
        <p:nvSpPr>
          <p:cNvPr id="952327" name="Text Box 7"/>
          <p:cNvSpPr txBox="1">
            <a:spLocks noChangeArrowheads="1"/>
          </p:cNvSpPr>
          <p:nvPr/>
        </p:nvSpPr>
        <p:spPr bwMode="auto">
          <a:xfrm>
            <a:off x="1558925" y="1371600"/>
            <a:ext cx="6061075" cy="1687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kumimoji="0" lang="en-US" altLang="en-US">
                <a:solidFill>
                  <a:srgbClr val="000000"/>
                </a:solidFill>
              </a:rPr>
              <a:t>There are five kinds of doughnuts.</a:t>
            </a:r>
          </a:p>
          <a:p>
            <a:pPr eaLnBrk="1" hangingPunct="1">
              <a:spcBef>
                <a:spcPct val="20000"/>
              </a:spcBef>
            </a:pPr>
            <a:endParaRPr kumimoji="0" lang="en-US" altLang="en-US">
              <a:solidFill>
                <a:srgbClr val="000000"/>
              </a:solidFill>
            </a:endParaRPr>
          </a:p>
          <a:p>
            <a:pPr eaLnBrk="1" hangingPunct="1">
              <a:spcBef>
                <a:spcPct val="20000"/>
              </a:spcBef>
            </a:pPr>
            <a:endParaRPr kumimoji="0" lang="en-US" altLang="en-US">
              <a:solidFill>
                <a:srgbClr val="000000"/>
              </a:solidFill>
            </a:endParaRPr>
          </a:p>
          <a:p>
            <a:pPr eaLnBrk="1" hangingPunct="1">
              <a:spcBef>
                <a:spcPct val="20000"/>
              </a:spcBef>
            </a:pPr>
            <a:endParaRPr kumimoji="0" lang="en-US" altLang="en-US">
              <a:solidFill>
                <a:srgbClr val="000000"/>
              </a:solidFill>
            </a:endParaRPr>
          </a:p>
          <a:p>
            <a:pPr eaLnBrk="1" hangingPunct="1">
              <a:spcBef>
                <a:spcPct val="20000"/>
              </a:spcBef>
            </a:pPr>
            <a:r>
              <a:rPr kumimoji="0" lang="en-US" altLang="en-US">
                <a:solidFill>
                  <a:srgbClr val="000000"/>
                </a:solidFill>
              </a:rPr>
              <a:t>How many different ways to select a dozen doughnuts?</a:t>
            </a:r>
          </a:p>
        </p:txBody>
      </p:sp>
      <p:sp>
        <p:nvSpPr>
          <p:cNvPr id="952329" name="Text Box 9"/>
          <p:cNvSpPr txBox="1">
            <a:spLocks noChangeArrowheads="1"/>
          </p:cNvSpPr>
          <p:nvPr/>
        </p:nvSpPr>
        <p:spPr bwMode="auto">
          <a:xfrm>
            <a:off x="2286000" y="4495800"/>
            <a:ext cx="4495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kumimoji="0" lang="en-US" altLang="en-US" i="1">
                <a:solidFill>
                  <a:srgbClr val="3333CC"/>
                </a:solidFill>
              </a:rPr>
              <a:t>A </a:t>
            </a:r>
            <a:r>
              <a:rPr kumimoji="0" lang="en-US" altLang="en-US">
                <a:solidFill>
                  <a:srgbClr val="000000"/>
                </a:solidFill>
              </a:rPr>
              <a:t>::= all selections of a dozen doughnuts</a:t>
            </a:r>
          </a:p>
        </p:txBody>
      </p:sp>
      <p:pic>
        <p:nvPicPr>
          <p:cNvPr id="952331" name="Picture 11" descr="ist2_3418351_chocolate_doughnu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9800" y="990600"/>
            <a:ext cx="1447800" cy="144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52332" name="Text Box 12"/>
          <p:cNvSpPr txBox="1">
            <a:spLocks noChangeArrowheads="1"/>
          </p:cNvSpPr>
          <p:nvPr/>
        </p:nvSpPr>
        <p:spPr bwMode="auto">
          <a:xfrm>
            <a:off x="1676400" y="5562600"/>
            <a:ext cx="2733675" cy="376238"/>
          </a:xfrm>
          <a:prstGeom prst="rect">
            <a:avLst/>
          </a:prstGeom>
          <a:solidFill>
            <a:srgbClr val="FFFFCC"/>
          </a:solidFill>
          <a:ln w="9525">
            <a:solidFill>
              <a:schemeClr val="bg2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en-US"/>
              <a:t>Hint: define a bijection!</a:t>
            </a:r>
          </a:p>
        </p:txBody>
      </p:sp>
      <p:sp>
        <p:nvSpPr>
          <p:cNvPr id="952333" name="Text Box 13"/>
          <p:cNvSpPr txBox="1">
            <a:spLocks noChangeArrowheads="1"/>
          </p:cNvSpPr>
          <p:nvPr/>
        </p:nvSpPr>
        <p:spPr bwMode="auto">
          <a:xfrm>
            <a:off x="1682750" y="3322638"/>
            <a:ext cx="5708650" cy="71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en-US" sz="2000">
                <a:solidFill>
                  <a:srgbClr val="3333FF"/>
                </a:solidFill>
              </a:rPr>
              <a:t>00            (none)        000000        00          00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en-US" sz="1400">
                <a:solidFill>
                  <a:srgbClr val="3333FF"/>
                </a:solidFill>
              </a:rPr>
              <a:t>Chocolate          Lemon                 Sugar              Glazed            Plain</a:t>
            </a:r>
          </a:p>
        </p:txBody>
      </p:sp>
      <p:grpSp>
        <p:nvGrpSpPr>
          <p:cNvPr id="2" name="Group 14"/>
          <p:cNvGrpSpPr>
            <a:grpSpLocks/>
          </p:cNvGrpSpPr>
          <p:nvPr/>
        </p:nvGrpSpPr>
        <p:grpSpPr bwMode="auto">
          <a:xfrm>
            <a:off x="4800600" y="5181600"/>
            <a:ext cx="2754313" cy="1371600"/>
            <a:chOff x="3504" y="1680"/>
            <a:chExt cx="1735" cy="864"/>
          </a:xfrm>
        </p:grpSpPr>
        <p:sp>
          <p:nvSpPr>
            <p:cNvPr id="952335" name="Oval 15"/>
            <p:cNvSpPr>
              <a:spLocks noChangeArrowheads="1"/>
            </p:cNvSpPr>
            <p:nvPr/>
          </p:nvSpPr>
          <p:spPr bwMode="auto">
            <a:xfrm>
              <a:off x="3761" y="1696"/>
              <a:ext cx="422" cy="848"/>
            </a:xfrm>
            <a:prstGeom prst="ellipse">
              <a:avLst/>
            </a:prstGeom>
            <a:solidFill>
              <a:srgbClr val="CCCCFF"/>
            </a:solidFill>
            <a:ln w="9525">
              <a:solidFill>
                <a:srgbClr val="000000"/>
              </a:solidFill>
              <a:round/>
              <a:headEnd/>
              <a:tailEnd type="none" w="lg" len="lg"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952336" name="Oval 16"/>
            <p:cNvSpPr>
              <a:spLocks noChangeArrowheads="1"/>
            </p:cNvSpPr>
            <p:nvPr/>
          </p:nvSpPr>
          <p:spPr bwMode="auto">
            <a:xfrm>
              <a:off x="4512" y="1680"/>
              <a:ext cx="422" cy="848"/>
            </a:xfrm>
            <a:prstGeom prst="ellipse">
              <a:avLst/>
            </a:prstGeom>
            <a:solidFill>
              <a:srgbClr val="CCCCFF"/>
            </a:solidFill>
            <a:ln w="9525">
              <a:solidFill>
                <a:srgbClr val="000000"/>
              </a:solidFill>
              <a:round/>
              <a:headEnd/>
              <a:tailEnd type="none" w="lg" len="lg"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6395" name="Text Box 17"/>
            <p:cNvSpPr txBox="1">
              <a:spLocks noChangeArrowheads="1"/>
            </p:cNvSpPr>
            <p:nvPr/>
          </p:nvSpPr>
          <p:spPr bwMode="auto">
            <a:xfrm>
              <a:off x="3504" y="1968"/>
              <a:ext cx="233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9pPr>
            </a:lstStyle>
            <a:p>
              <a:pPr eaLnBrk="1" hangingPunct="1"/>
              <a:r>
                <a:rPr kumimoji="0" lang="en-US" altLang="en-US" sz="2000" i="1">
                  <a:solidFill>
                    <a:srgbClr val="000000"/>
                  </a:solidFill>
                </a:rPr>
                <a:t>A</a:t>
              </a:r>
            </a:p>
          </p:txBody>
        </p:sp>
        <p:sp>
          <p:nvSpPr>
            <p:cNvPr id="16396" name="Text Box 18"/>
            <p:cNvSpPr txBox="1">
              <a:spLocks noChangeArrowheads="1"/>
            </p:cNvSpPr>
            <p:nvPr/>
          </p:nvSpPr>
          <p:spPr bwMode="auto">
            <a:xfrm>
              <a:off x="5022" y="1974"/>
              <a:ext cx="217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9pPr>
            </a:lstStyle>
            <a:p>
              <a:pPr eaLnBrk="1" hangingPunct="1"/>
              <a:r>
                <a:rPr kumimoji="0" lang="en-US" altLang="en-US" sz="2000" i="1">
                  <a:solidFill>
                    <a:srgbClr val="000000"/>
                  </a:solidFill>
                </a:rPr>
                <a:t>B</a:t>
              </a:r>
            </a:p>
          </p:txBody>
        </p:sp>
        <p:sp>
          <p:nvSpPr>
            <p:cNvPr id="16397" name="Oval 19"/>
            <p:cNvSpPr>
              <a:spLocks noChangeArrowheads="1"/>
            </p:cNvSpPr>
            <p:nvPr/>
          </p:nvSpPr>
          <p:spPr bwMode="auto">
            <a:xfrm>
              <a:off x="3942" y="1784"/>
              <a:ext cx="46" cy="6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round/>
              <a:headEnd/>
              <a:tailEnd type="none" w="lg" len="lg"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6398" name="Oval 20"/>
            <p:cNvSpPr>
              <a:spLocks noChangeArrowheads="1"/>
            </p:cNvSpPr>
            <p:nvPr/>
          </p:nvSpPr>
          <p:spPr bwMode="auto">
            <a:xfrm>
              <a:off x="3942" y="1912"/>
              <a:ext cx="46" cy="6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round/>
              <a:headEnd/>
              <a:tailEnd type="none" w="lg" len="lg"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6399" name="Oval 21"/>
            <p:cNvSpPr>
              <a:spLocks noChangeArrowheads="1"/>
            </p:cNvSpPr>
            <p:nvPr/>
          </p:nvSpPr>
          <p:spPr bwMode="auto">
            <a:xfrm>
              <a:off x="3942" y="2044"/>
              <a:ext cx="46" cy="6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round/>
              <a:headEnd/>
              <a:tailEnd type="none" w="lg" len="lg"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6400" name="Oval 22"/>
            <p:cNvSpPr>
              <a:spLocks noChangeArrowheads="1"/>
            </p:cNvSpPr>
            <p:nvPr/>
          </p:nvSpPr>
          <p:spPr bwMode="auto">
            <a:xfrm>
              <a:off x="3942" y="2352"/>
              <a:ext cx="46" cy="6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round/>
              <a:headEnd/>
              <a:tailEnd type="none" w="lg" len="lg"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6401" name="Text Box 23"/>
            <p:cNvSpPr txBox="1">
              <a:spLocks noChangeArrowheads="1"/>
            </p:cNvSpPr>
            <p:nvPr/>
          </p:nvSpPr>
          <p:spPr bwMode="auto">
            <a:xfrm>
              <a:off x="3840" y="2064"/>
              <a:ext cx="22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9pPr>
            </a:lstStyle>
            <a:p>
              <a:pPr algn="ctr" eaLnBrk="1" hangingPunct="1"/>
              <a:r>
                <a:rPr kumimoji="0" lang="en-US" altLang="en-US" sz="2000">
                  <a:solidFill>
                    <a:srgbClr val="000000"/>
                  </a:solidFill>
                </a:rPr>
                <a:t>…</a:t>
              </a:r>
            </a:p>
          </p:txBody>
        </p:sp>
        <p:sp>
          <p:nvSpPr>
            <p:cNvPr id="16402" name="Oval 24"/>
            <p:cNvSpPr>
              <a:spLocks noChangeArrowheads="1"/>
            </p:cNvSpPr>
            <p:nvPr/>
          </p:nvSpPr>
          <p:spPr bwMode="auto">
            <a:xfrm>
              <a:off x="4729" y="1780"/>
              <a:ext cx="47" cy="60"/>
            </a:xfrm>
            <a:prstGeom prst="ellipse">
              <a:avLst/>
            </a:prstGeom>
            <a:solidFill>
              <a:srgbClr val="FF9933"/>
            </a:solidFill>
            <a:ln w="9525">
              <a:solidFill>
                <a:srgbClr val="000000"/>
              </a:solidFill>
              <a:round/>
              <a:headEnd/>
              <a:tailEnd type="none" w="lg" len="lg"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6403" name="Oval 25"/>
            <p:cNvSpPr>
              <a:spLocks noChangeArrowheads="1"/>
            </p:cNvSpPr>
            <p:nvPr/>
          </p:nvSpPr>
          <p:spPr bwMode="auto">
            <a:xfrm>
              <a:off x="4729" y="1908"/>
              <a:ext cx="47" cy="60"/>
            </a:xfrm>
            <a:prstGeom prst="ellipse">
              <a:avLst/>
            </a:prstGeom>
            <a:solidFill>
              <a:srgbClr val="FF9933"/>
            </a:solidFill>
            <a:ln w="9525">
              <a:solidFill>
                <a:srgbClr val="000000"/>
              </a:solidFill>
              <a:round/>
              <a:headEnd/>
              <a:tailEnd type="none" w="lg" len="lg"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6404" name="Oval 26"/>
            <p:cNvSpPr>
              <a:spLocks noChangeArrowheads="1"/>
            </p:cNvSpPr>
            <p:nvPr/>
          </p:nvSpPr>
          <p:spPr bwMode="auto">
            <a:xfrm>
              <a:off x="4729" y="2040"/>
              <a:ext cx="47" cy="60"/>
            </a:xfrm>
            <a:prstGeom prst="ellipse">
              <a:avLst/>
            </a:prstGeom>
            <a:solidFill>
              <a:srgbClr val="FF9933"/>
            </a:solidFill>
            <a:ln w="9525">
              <a:solidFill>
                <a:srgbClr val="000000"/>
              </a:solidFill>
              <a:round/>
              <a:headEnd/>
              <a:tailEnd type="none" w="lg" len="lg"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6405" name="Oval 27"/>
            <p:cNvSpPr>
              <a:spLocks noChangeArrowheads="1"/>
            </p:cNvSpPr>
            <p:nvPr/>
          </p:nvSpPr>
          <p:spPr bwMode="auto">
            <a:xfrm>
              <a:off x="4729" y="2348"/>
              <a:ext cx="47" cy="60"/>
            </a:xfrm>
            <a:prstGeom prst="ellipse">
              <a:avLst/>
            </a:prstGeom>
            <a:solidFill>
              <a:srgbClr val="FF9933"/>
            </a:solidFill>
            <a:ln w="9525">
              <a:solidFill>
                <a:srgbClr val="000000"/>
              </a:solidFill>
              <a:round/>
              <a:headEnd/>
              <a:tailEnd type="none" w="lg" len="lg"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6406" name="Text Box 28"/>
            <p:cNvSpPr txBox="1">
              <a:spLocks noChangeArrowheads="1"/>
            </p:cNvSpPr>
            <p:nvPr/>
          </p:nvSpPr>
          <p:spPr bwMode="auto">
            <a:xfrm>
              <a:off x="4640" y="2064"/>
              <a:ext cx="22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9pPr>
            </a:lstStyle>
            <a:p>
              <a:pPr algn="ctr" eaLnBrk="1" hangingPunct="1"/>
              <a:r>
                <a:rPr kumimoji="0" lang="en-US" altLang="en-US" sz="2000">
                  <a:solidFill>
                    <a:srgbClr val="000000"/>
                  </a:solidFill>
                </a:rPr>
                <a:t>…</a:t>
              </a:r>
            </a:p>
          </p:txBody>
        </p:sp>
        <p:sp>
          <p:nvSpPr>
            <p:cNvPr id="16407" name="Line 29"/>
            <p:cNvSpPr>
              <a:spLocks noChangeShapeType="1"/>
            </p:cNvSpPr>
            <p:nvPr/>
          </p:nvSpPr>
          <p:spPr bwMode="auto">
            <a:xfrm>
              <a:off x="3975" y="1808"/>
              <a:ext cx="695" cy="0"/>
            </a:xfrm>
            <a:prstGeom prst="line">
              <a:avLst/>
            </a:prstGeom>
            <a:noFill/>
            <a:ln w="31750">
              <a:solidFill>
                <a:srgbClr val="0000FF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08" name="Line 30"/>
            <p:cNvSpPr>
              <a:spLocks noChangeShapeType="1"/>
            </p:cNvSpPr>
            <p:nvPr/>
          </p:nvSpPr>
          <p:spPr bwMode="auto">
            <a:xfrm>
              <a:off x="3972" y="1940"/>
              <a:ext cx="695" cy="0"/>
            </a:xfrm>
            <a:prstGeom prst="line">
              <a:avLst/>
            </a:prstGeom>
            <a:noFill/>
            <a:ln w="31750">
              <a:solidFill>
                <a:srgbClr val="0000FF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09" name="Line 31"/>
            <p:cNvSpPr>
              <a:spLocks noChangeShapeType="1"/>
            </p:cNvSpPr>
            <p:nvPr/>
          </p:nvSpPr>
          <p:spPr bwMode="auto">
            <a:xfrm>
              <a:off x="3975" y="2080"/>
              <a:ext cx="695" cy="0"/>
            </a:xfrm>
            <a:prstGeom prst="line">
              <a:avLst/>
            </a:prstGeom>
            <a:noFill/>
            <a:ln w="31750">
              <a:solidFill>
                <a:srgbClr val="0000FF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10" name="Line 32"/>
            <p:cNvSpPr>
              <a:spLocks noChangeShapeType="1"/>
            </p:cNvSpPr>
            <p:nvPr/>
          </p:nvSpPr>
          <p:spPr bwMode="auto">
            <a:xfrm>
              <a:off x="3972" y="2380"/>
              <a:ext cx="695" cy="0"/>
            </a:xfrm>
            <a:prstGeom prst="line">
              <a:avLst/>
            </a:prstGeom>
            <a:noFill/>
            <a:ln w="31750">
              <a:solidFill>
                <a:srgbClr val="0000FF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11" name="Text Box 33"/>
            <p:cNvSpPr txBox="1">
              <a:spLocks noChangeArrowheads="1"/>
            </p:cNvSpPr>
            <p:nvPr/>
          </p:nvSpPr>
          <p:spPr bwMode="auto">
            <a:xfrm>
              <a:off x="4274" y="2174"/>
              <a:ext cx="197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9pPr>
            </a:lstStyle>
            <a:p>
              <a:pPr eaLnBrk="1" hangingPunct="1"/>
              <a:r>
                <a:rPr kumimoji="0" lang="en-US" altLang="en-US" sz="2000" i="1">
                  <a:solidFill>
                    <a:srgbClr val="000000"/>
                  </a:solidFill>
                </a:rPr>
                <a:t>f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2329" grpId="0"/>
      <p:bldP spid="952332" grpId="0" animBg="1"/>
      <p:bldP spid="95233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ext Box 2"/>
          <p:cNvSpPr txBox="1">
            <a:spLocks noChangeArrowheads="1"/>
          </p:cNvSpPr>
          <p:nvPr/>
        </p:nvSpPr>
        <p:spPr bwMode="auto">
          <a:xfrm>
            <a:off x="2286000" y="457200"/>
            <a:ext cx="4495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 sz="2400" b="1">
                <a:solidFill>
                  <a:srgbClr val="003366"/>
                </a:solidFill>
              </a:rPr>
              <a:t>Counting Doughnut Selections</a:t>
            </a:r>
          </a:p>
        </p:txBody>
      </p:sp>
      <p:sp>
        <p:nvSpPr>
          <p:cNvPr id="17411" name="Text Box 4"/>
          <p:cNvSpPr txBox="1">
            <a:spLocks noChangeArrowheads="1"/>
          </p:cNvSpPr>
          <p:nvPr/>
        </p:nvSpPr>
        <p:spPr bwMode="auto">
          <a:xfrm>
            <a:off x="2286000" y="1447800"/>
            <a:ext cx="4495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kumimoji="0" lang="en-US" altLang="en-US" i="1">
                <a:solidFill>
                  <a:srgbClr val="3333CC"/>
                </a:solidFill>
              </a:rPr>
              <a:t>A </a:t>
            </a:r>
            <a:r>
              <a:rPr kumimoji="0" lang="en-US" altLang="en-US">
                <a:solidFill>
                  <a:srgbClr val="000000"/>
                </a:solidFill>
              </a:rPr>
              <a:t>::= all selections of a dozen doughnuts</a:t>
            </a:r>
          </a:p>
        </p:txBody>
      </p:sp>
      <p:sp>
        <p:nvSpPr>
          <p:cNvPr id="951301" name="Text Box 5"/>
          <p:cNvSpPr txBox="1">
            <a:spLocks noChangeArrowheads="1"/>
          </p:cNvSpPr>
          <p:nvPr/>
        </p:nvSpPr>
        <p:spPr bwMode="auto">
          <a:xfrm>
            <a:off x="2538413" y="2784475"/>
            <a:ext cx="4014787" cy="376238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en-US"/>
              <a:t>Define a bijection between </a:t>
            </a:r>
            <a:r>
              <a:rPr kumimoji="0" lang="en-US" altLang="en-US" i="1">
                <a:solidFill>
                  <a:srgbClr val="3333CC"/>
                </a:solidFill>
              </a:rPr>
              <a:t>A</a:t>
            </a:r>
            <a:r>
              <a:rPr lang="en-US" altLang="en-US"/>
              <a:t> and </a:t>
            </a:r>
            <a:r>
              <a:rPr kumimoji="0" lang="en-US" altLang="en-US" i="1">
                <a:solidFill>
                  <a:srgbClr val="008000"/>
                </a:solidFill>
              </a:rPr>
              <a:t>B</a:t>
            </a:r>
            <a:r>
              <a:rPr lang="en-US" altLang="en-US"/>
              <a:t>.</a:t>
            </a:r>
          </a:p>
        </p:txBody>
      </p:sp>
      <p:sp>
        <p:nvSpPr>
          <p:cNvPr id="951303" name="Text Box 7"/>
          <p:cNvSpPr txBox="1">
            <a:spLocks noChangeArrowheads="1"/>
          </p:cNvSpPr>
          <p:nvPr/>
        </p:nvSpPr>
        <p:spPr bwMode="auto">
          <a:xfrm>
            <a:off x="1676400" y="4114800"/>
            <a:ext cx="56737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kumimoji="0" lang="en-US" altLang="en-US" sz="2400">
                <a:solidFill>
                  <a:srgbClr val="008000"/>
                </a:solidFill>
              </a:rPr>
              <a:t>00     1             1  000000  1  00   1   00</a:t>
            </a:r>
          </a:p>
        </p:txBody>
      </p:sp>
      <p:sp>
        <p:nvSpPr>
          <p:cNvPr id="951304" name="Text Box 8"/>
          <p:cNvSpPr txBox="1">
            <a:spLocks noChangeArrowheads="1"/>
          </p:cNvSpPr>
          <p:nvPr/>
        </p:nvSpPr>
        <p:spPr bwMode="auto">
          <a:xfrm>
            <a:off x="3124200" y="3581400"/>
            <a:ext cx="29591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kumimoji="0" lang="en-US" altLang="en-US" sz="2400">
                <a:solidFill>
                  <a:srgbClr val="008000"/>
                </a:solidFill>
              </a:rPr>
              <a:t>0011000000100100</a:t>
            </a:r>
          </a:p>
        </p:txBody>
      </p:sp>
      <p:sp>
        <p:nvSpPr>
          <p:cNvPr id="951307" name="Text Box 11"/>
          <p:cNvSpPr txBox="1">
            <a:spLocks noChangeArrowheads="1"/>
          </p:cNvSpPr>
          <p:nvPr/>
        </p:nvSpPr>
        <p:spPr bwMode="auto">
          <a:xfrm>
            <a:off x="1390650" y="5791200"/>
            <a:ext cx="6346825" cy="779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en-US"/>
              <a:t>Each doughnut is represented by a 0,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en-US"/>
              <a:t>and four 1’s are used to separate five types of doughnuts.</a:t>
            </a:r>
          </a:p>
        </p:txBody>
      </p:sp>
      <p:sp>
        <p:nvSpPr>
          <p:cNvPr id="951308" name="Text Box 12"/>
          <p:cNvSpPr txBox="1">
            <a:spLocks noChangeArrowheads="1"/>
          </p:cNvSpPr>
          <p:nvPr/>
        </p:nvSpPr>
        <p:spPr bwMode="auto">
          <a:xfrm>
            <a:off x="1828800" y="2057400"/>
            <a:ext cx="55102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kumimoji="0" lang="en-US" altLang="en-US"/>
              <a:t> </a:t>
            </a:r>
            <a:r>
              <a:rPr kumimoji="0" lang="en-US" altLang="en-US" i="1">
                <a:solidFill>
                  <a:srgbClr val="008000"/>
                </a:solidFill>
              </a:rPr>
              <a:t>B</a:t>
            </a:r>
            <a:r>
              <a:rPr kumimoji="0" lang="en-US" altLang="en-US"/>
              <a:t>::= all 16-bit binary strings with exactly four 1’s.</a:t>
            </a:r>
          </a:p>
        </p:txBody>
      </p:sp>
      <p:sp>
        <p:nvSpPr>
          <p:cNvPr id="951309" name="Text Box 13"/>
          <p:cNvSpPr txBox="1">
            <a:spLocks noChangeArrowheads="1"/>
          </p:cNvSpPr>
          <p:nvPr/>
        </p:nvSpPr>
        <p:spPr bwMode="auto">
          <a:xfrm>
            <a:off x="1682750" y="4694238"/>
            <a:ext cx="5708650" cy="71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en-US" sz="2000">
                <a:solidFill>
                  <a:srgbClr val="3333FF"/>
                </a:solidFill>
              </a:rPr>
              <a:t>00            (none)        000000        00          00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en-US" sz="1400">
                <a:solidFill>
                  <a:srgbClr val="3333FF"/>
                </a:solidFill>
              </a:rPr>
              <a:t>Chocolate          Lemon                 Sugar              Glazed            Plain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1301" grpId="0" animBg="1"/>
      <p:bldP spid="951303" grpId="0"/>
      <p:bldP spid="951304" grpId="0"/>
      <p:bldP spid="951307" grpId="0"/>
      <p:bldP spid="951308" grpId="0"/>
      <p:bldP spid="951309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fld id="{BAFB0381-6176-4E61-8539-948D72A587ED}" type="slidenum">
              <a:rPr lang="en-US" altLang="zh-TW">
                <a:latin typeface="Arial" panose="020B0604020202020204" pitchFamily="34" charset="0"/>
              </a:rPr>
              <a:pPr eaLnBrk="1" hangingPunct="1"/>
              <a:t>13</a:t>
            </a:fld>
            <a:endParaRPr lang="en-US" altLang="zh-TW">
              <a:latin typeface="Arial" panose="020B0604020202020204" pitchFamily="34" charset="0"/>
            </a:endParaRPr>
          </a:p>
        </p:txBody>
      </p:sp>
      <p:sp>
        <p:nvSpPr>
          <p:cNvPr id="18435" name="Text Box 2"/>
          <p:cNvSpPr txBox="1">
            <a:spLocks noChangeArrowheads="1"/>
          </p:cNvSpPr>
          <p:nvPr/>
        </p:nvSpPr>
        <p:spPr bwMode="auto">
          <a:xfrm>
            <a:off x="2286000" y="457200"/>
            <a:ext cx="4495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 sz="2400" b="1">
                <a:solidFill>
                  <a:srgbClr val="003366"/>
                </a:solidFill>
              </a:rPr>
              <a:t>Counting Doughnut Selections</a:t>
            </a:r>
          </a:p>
        </p:txBody>
      </p:sp>
      <p:sp>
        <p:nvSpPr>
          <p:cNvPr id="18436" name="Text Box 4"/>
          <p:cNvSpPr txBox="1">
            <a:spLocks noChangeArrowheads="1"/>
          </p:cNvSpPr>
          <p:nvPr/>
        </p:nvSpPr>
        <p:spPr bwMode="auto">
          <a:xfrm>
            <a:off x="533400" y="1447800"/>
            <a:ext cx="44958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kumimoji="0" lang="en-US" altLang="en-US" i="1">
                <a:solidFill>
                  <a:srgbClr val="3333CC"/>
                </a:solidFill>
              </a:rPr>
              <a:t>A </a:t>
            </a:r>
            <a:r>
              <a:rPr kumimoji="0" lang="en-US" altLang="en-US">
                <a:solidFill>
                  <a:srgbClr val="000000"/>
                </a:solidFill>
              </a:rPr>
              <a:t>::= doughnuts selections</a:t>
            </a:r>
          </a:p>
        </p:txBody>
      </p:sp>
      <p:sp>
        <p:nvSpPr>
          <p:cNvPr id="18437" name="Text Box 8"/>
          <p:cNvSpPr txBox="1">
            <a:spLocks noChangeArrowheads="1"/>
          </p:cNvSpPr>
          <p:nvPr/>
        </p:nvSpPr>
        <p:spPr bwMode="auto">
          <a:xfrm>
            <a:off x="5410200" y="4229100"/>
            <a:ext cx="29591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kumimoji="0" lang="en-US" altLang="en-US" sz="2400">
                <a:solidFill>
                  <a:srgbClr val="008000"/>
                </a:solidFill>
              </a:rPr>
              <a:t>0011000000100100</a:t>
            </a:r>
          </a:p>
        </p:txBody>
      </p:sp>
      <p:sp>
        <p:nvSpPr>
          <p:cNvPr id="18438" name="Text Box 12"/>
          <p:cNvSpPr txBox="1">
            <a:spLocks noChangeArrowheads="1"/>
          </p:cNvSpPr>
          <p:nvPr/>
        </p:nvSpPr>
        <p:spPr bwMode="auto">
          <a:xfrm>
            <a:off x="4654550" y="1458913"/>
            <a:ext cx="403225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kumimoji="0" lang="en-US" altLang="en-US"/>
              <a:t> </a:t>
            </a:r>
            <a:r>
              <a:rPr kumimoji="0" lang="en-US" altLang="en-US" i="1">
                <a:solidFill>
                  <a:srgbClr val="008000"/>
                </a:solidFill>
              </a:rPr>
              <a:t>B</a:t>
            </a:r>
            <a:r>
              <a:rPr kumimoji="0" lang="en-US" altLang="en-US"/>
              <a:t>::= all 16-bit strings with four 1’s.</a:t>
            </a:r>
          </a:p>
        </p:txBody>
      </p:sp>
      <p:sp>
        <p:nvSpPr>
          <p:cNvPr id="18439" name="Text Box 13"/>
          <p:cNvSpPr txBox="1">
            <a:spLocks noChangeArrowheads="1"/>
          </p:cNvSpPr>
          <p:nvPr/>
        </p:nvSpPr>
        <p:spPr bwMode="auto">
          <a:xfrm>
            <a:off x="304800" y="4152900"/>
            <a:ext cx="4525963" cy="723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en-US" sz="2000">
                <a:solidFill>
                  <a:srgbClr val="3333FF"/>
                </a:solidFill>
              </a:rPr>
              <a:t>2               0            6          2       2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en-US" sz="1400">
                <a:solidFill>
                  <a:srgbClr val="3333FF"/>
                </a:solidFill>
              </a:rPr>
              <a:t>Chocolate     Lemon           Sugar        Glazed    Plain</a:t>
            </a:r>
          </a:p>
        </p:txBody>
      </p:sp>
      <p:cxnSp>
        <p:nvCxnSpPr>
          <p:cNvPr id="18440" name="Straight Arrow Connector 11"/>
          <p:cNvCxnSpPr>
            <a:cxnSpLocks noChangeShapeType="1"/>
          </p:cNvCxnSpPr>
          <p:nvPr/>
        </p:nvCxnSpPr>
        <p:spPr bwMode="auto">
          <a:xfrm flipH="1">
            <a:off x="4800600" y="4457700"/>
            <a:ext cx="381000" cy="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3" name="Text Box 8"/>
          <p:cNvSpPr txBox="1">
            <a:spLocks noChangeArrowheads="1"/>
          </p:cNvSpPr>
          <p:nvPr/>
        </p:nvSpPr>
        <p:spPr bwMode="auto">
          <a:xfrm>
            <a:off x="5410200" y="2209800"/>
            <a:ext cx="298608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kumimoji="0" lang="en-US" altLang="en-US" sz="2400">
                <a:solidFill>
                  <a:srgbClr val="008000"/>
                </a:solidFill>
              </a:rPr>
              <a:t>0000000000001111</a:t>
            </a:r>
          </a:p>
        </p:txBody>
      </p:sp>
      <p:sp>
        <p:nvSpPr>
          <p:cNvPr id="14" name="Text Box 13"/>
          <p:cNvSpPr txBox="1">
            <a:spLocks noChangeArrowheads="1"/>
          </p:cNvSpPr>
          <p:nvPr/>
        </p:nvSpPr>
        <p:spPr bwMode="auto">
          <a:xfrm>
            <a:off x="284163" y="2133600"/>
            <a:ext cx="4564062" cy="723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en-US" sz="2000">
                <a:solidFill>
                  <a:srgbClr val="3333FF"/>
                </a:solidFill>
              </a:rPr>
              <a:t>12              0           0           0      0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en-US" sz="1400">
                <a:solidFill>
                  <a:srgbClr val="3333FF"/>
                </a:solidFill>
              </a:rPr>
              <a:t>Chocolate     Lemon           Sugar        Glazed    Plain</a:t>
            </a:r>
          </a:p>
        </p:txBody>
      </p:sp>
      <p:cxnSp>
        <p:nvCxnSpPr>
          <p:cNvPr id="15" name="Straight Arrow Connector 14"/>
          <p:cNvCxnSpPr>
            <a:cxnSpLocks noChangeShapeType="1"/>
          </p:cNvCxnSpPr>
          <p:nvPr/>
        </p:nvCxnSpPr>
        <p:spPr bwMode="auto">
          <a:xfrm flipH="1">
            <a:off x="4800600" y="2438400"/>
            <a:ext cx="381000" cy="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6" name="Text Box 8"/>
          <p:cNvSpPr txBox="1">
            <a:spLocks noChangeArrowheads="1"/>
          </p:cNvSpPr>
          <p:nvPr/>
        </p:nvSpPr>
        <p:spPr bwMode="auto">
          <a:xfrm>
            <a:off x="5410200" y="3086100"/>
            <a:ext cx="298608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kumimoji="0" lang="en-US" altLang="en-US" sz="2400">
                <a:solidFill>
                  <a:srgbClr val="008000"/>
                </a:solidFill>
              </a:rPr>
              <a:t>0010001100010000</a:t>
            </a:r>
          </a:p>
        </p:txBody>
      </p:sp>
      <p:sp>
        <p:nvSpPr>
          <p:cNvPr id="17" name="Text Box 13"/>
          <p:cNvSpPr txBox="1">
            <a:spLocks noChangeArrowheads="1"/>
          </p:cNvSpPr>
          <p:nvPr/>
        </p:nvSpPr>
        <p:spPr bwMode="auto">
          <a:xfrm>
            <a:off x="304800" y="3009900"/>
            <a:ext cx="4564063" cy="723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en-US" sz="2000">
                <a:solidFill>
                  <a:srgbClr val="3333FF"/>
                </a:solidFill>
              </a:rPr>
              <a:t>2               3           0           3      4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en-US" sz="1400">
                <a:solidFill>
                  <a:srgbClr val="3333FF"/>
                </a:solidFill>
              </a:rPr>
              <a:t>Chocolate     Lemon           Sugar        Glazed    Plain</a:t>
            </a:r>
          </a:p>
        </p:txBody>
      </p:sp>
      <p:cxnSp>
        <p:nvCxnSpPr>
          <p:cNvPr id="18" name="Straight Arrow Connector 17"/>
          <p:cNvCxnSpPr>
            <a:cxnSpLocks noChangeShapeType="1"/>
          </p:cNvCxnSpPr>
          <p:nvPr/>
        </p:nvCxnSpPr>
        <p:spPr bwMode="auto">
          <a:xfrm flipH="1">
            <a:off x="4800600" y="3352800"/>
            <a:ext cx="381000" cy="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9" name="Text Box 8"/>
          <p:cNvSpPr txBox="1">
            <a:spLocks noChangeArrowheads="1"/>
          </p:cNvSpPr>
          <p:nvPr/>
        </p:nvSpPr>
        <p:spPr bwMode="auto">
          <a:xfrm>
            <a:off x="5422900" y="5486400"/>
            <a:ext cx="298608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kumimoji="0" lang="en-US" altLang="en-US" sz="2400">
                <a:solidFill>
                  <a:srgbClr val="008000"/>
                </a:solidFill>
              </a:rPr>
              <a:t>1111000000000000</a:t>
            </a:r>
          </a:p>
        </p:txBody>
      </p:sp>
      <p:sp>
        <p:nvSpPr>
          <p:cNvPr id="20" name="Text Box 13"/>
          <p:cNvSpPr txBox="1">
            <a:spLocks noChangeArrowheads="1"/>
          </p:cNvSpPr>
          <p:nvPr/>
        </p:nvSpPr>
        <p:spPr bwMode="auto">
          <a:xfrm>
            <a:off x="304800" y="5334000"/>
            <a:ext cx="4564063" cy="723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en-US" sz="2000">
                <a:solidFill>
                  <a:srgbClr val="3333FF"/>
                </a:solidFill>
              </a:rPr>
              <a:t>0              0           0           0       12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en-US" sz="1400">
                <a:solidFill>
                  <a:srgbClr val="3333FF"/>
                </a:solidFill>
              </a:rPr>
              <a:t>Chocolate     Lemon           Sugar        Glazed    Plain</a:t>
            </a:r>
          </a:p>
        </p:txBody>
      </p:sp>
      <p:cxnSp>
        <p:nvCxnSpPr>
          <p:cNvPr id="21" name="Straight Arrow Connector 20"/>
          <p:cNvCxnSpPr>
            <a:cxnSpLocks noChangeShapeType="1"/>
          </p:cNvCxnSpPr>
          <p:nvPr/>
        </p:nvCxnSpPr>
        <p:spPr bwMode="auto">
          <a:xfrm flipH="1">
            <a:off x="4876800" y="5715000"/>
            <a:ext cx="381000" cy="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6" grpId="0"/>
      <p:bldP spid="17" grpId="0"/>
      <p:bldP spid="19" grpId="0"/>
      <p:bldP spid="20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fld id="{93C0ED71-8FD4-4131-B6BE-69BF93C7BC0A}" type="slidenum">
              <a:rPr lang="en-US" altLang="zh-TW">
                <a:latin typeface="Arial" panose="020B0604020202020204" pitchFamily="34" charset="0"/>
              </a:rPr>
              <a:pPr eaLnBrk="1" hangingPunct="1"/>
              <a:t>14</a:t>
            </a:fld>
            <a:endParaRPr lang="en-US" altLang="zh-TW">
              <a:latin typeface="Arial" panose="020B0604020202020204" pitchFamily="34" charset="0"/>
            </a:endParaRPr>
          </a:p>
        </p:txBody>
      </p:sp>
      <p:sp>
        <p:nvSpPr>
          <p:cNvPr id="19459" name="Text Box 2"/>
          <p:cNvSpPr txBox="1">
            <a:spLocks noChangeArrowheads="1"/>
          </p:cNvSpPr>
          <p:nvPr/>
        </p:nvSpPr>
        <p:spPr bwMode="auto">
          <a:xfrm>
            <a:off x="2286000" y="457200"/>
            <a:ext cx="4495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 sz="2400" b="1">
                <a:solidFill>
                  <a:srgbClr val="003366"/>
                </a:solidFill>
              </a:rPr>
              <a:t>Counting Doughnut Selections</a:t>
            </a:r>
          </a:p>
        </p:txBody>
      </p:sp>
      <p:sp>
        <p:nvSpPr>
          <p:cNvPr id="19460" name="Text Box 5"/>
          <p:cNvSpPr txBox="1">
            <a:spLocks noChangeArrowheads="1"/>
          </p:cNvSpPr>
          <p:nvPr/>
        </p:nvSpPr>
        <p:spPr bwMode="auto">
          <a:xfrm>
            <a:off x="609600" y="1371600"/>
            <a:ext cx="78819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kumimoji="0" lang="en-US" altLang="en-US" sz="2400" i="1">
                <a:solidFill>
                  <a:srgbClr val="704B00"/>
                </a:solidFill>
              </a:rPr>
              <a:t>c</a:t>
            </a:r>
            <a:r>
              <a:rPr kumimoji="0" lang="en-US" altLang="en-US" sz="2400"/>
              <a:t> chocolate, </a:t>
            </a:r>
            <a:r>
              <a:rPr kumimoji="0" lang="en-US" altLang="en-US" sz="2400" i="1">
                <a:solidFill>
                  <a:srgbClr val="FF9900"/>
                </a:solidFill>
              </a:rPr>
              <a:t>l</a:t>
            </a:r>
            <a:r>
              <a:rPr kumimoji="0" lang="en-US" altLang="en-US" sz="2400">
                <a:solidFill>
                  <a:srgbClr val="FF9900"/>
                </a:solidFill>
              </a:rPr>
              <a:t> </a:t>
            </a:r>
            <a:r>
              <a:rPr kumimoji="0" lang="en-US" altLang="en-US" sz="2400"/>
              <a:t>lemon,</a:t>
            </a:r>
            <a:r>
              <a:rPr kumimoji="0" lang="en-US" altLang="en-US" sz="2400">
                <a:solidFill>
                  <a:srgbClr val="FF00FF"/>
                </a:solidFill>
              </a:rPr>
              <a:t> </a:t>
            </a:r>
            <a:r>
              <a:rPr kumimoji="0" lang="en-US" altLang="en-US" sz="2400" i="1">
                <a:solidFill>
                  <a:srgbClr val="FF00FF"/>
                </a:solidFill>
              </a:rPr>
              <a:t>s</a:t>
            </a:r>
            <a:r>
              <a:rPr kumimoji="0" lang="en-US" altLang="en-US" sz="2400"/>
              <a:t> sugar, </a:t>
            </a:r>
            <a:r>
              <a:rPr kumimoji="0" lang="en-US" altLang="en-US" sz="2400" i="1">
                <a:solidFill>
                  <a:srgbClr val="B89500"/>
                </a:solidFill>
              </a:rPr>
              <a:t>g</a:t>
            </a:r>
            <a:r>
              <a:rPr kumimoji="0" lang="en-US" altLang="en-US" sz="2400"/>
              <a:t> glazed, </a:t>
            </a:r>
            <a:r>
              <a:rPr kumimoji="0" lang="en-US" altLang="en-US" sz="2400" i="1">
                <a:solidFill>
                  <a:srgbClr val="00FFFF"/>
                </a:solidFill>
              </a:rPr>
              <a:t>p</a:t>
            </a:r>
            <a:r>
              <a:rPr kumimoji="0" lang="en-US" altLang="en-US" sz="2400"/>
              <a:t> plain maps to</a:t>
            </a:r>
          </a:p>
        </p:txBody>
      </p:sp>
      <p:sp>
        <p:nvSpPr>
          <p:cNvPr id="950278" name="Text Box 6"/>
          <p:cNvSpPr txBox="1">
            <a:spLocks noChangeArrowheads="1"/>
          </p:cNvSpPr>
          <p:nvPr/>
        </p:nvSpPr>
        <p:spPr bwMode="auto">
          <a:xfrm>
            <a:off x="3276600" y="2057400"/>
            <a:ext cx="247808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kumimoji="0" lang="en-US" altLang="en-US" sz="2800"/>
              <a:t>0</a:t>
            </a:r>
            <a:r>
              <a:rPr kumimoji="0" lang="en-US" altLang="en-US" sz="2800" i="1" baseline="30000">
                <a:solidFill>
                  <a:srgbClr val="704B00"/>
                </a:solidFill>
              </a:rPr>
              <a:t>c</a:t>
            </a:r>
            <a:r>
              <a:rPr kumimoji="0" lang="en-US" altLang="en-US" sz="2800"/>
              <a:t>10</a:t>
            </a:r>
            <a:r>
              <a:rPr kumimoji="0" lang="en-US" altLang="en-US" sz="2800" i="1" baseline="30000">
                <a:solidFill>
                  <a:srgbClr val="FF9900"/>
                </a:solidFill>
              </a:rPr>
              <a:t>l</a:t>
            </a:r>
            <a:r>
              <a:rPr kumimoji="0" lang="en-US" altLang="en-US" sz="2800"/>
              <a:t>10</a:t>
            </a:r>
            <a:r>
              <a:rPr kumimoji="0" lang="en-US" altLang="en-US" sz="2800" i="1" baseline="30000">
                <a:solidFill>
                  <a:srgbClr val="FF00FF"/>
                </a:solidFill>
              </a:rPr>
              <a:t>s</a:t>
            </a:r>
            <a:r>
              <a:rPr kumimoji="0" lang="en-US" altLang="en-US" sz="2800"/>
              <a:t>10</a:t>
            </a:r>
            <a:r>
              <a:rPr kumimoji="0" lang="en-US" altLang="en-US" sz="2800" i="1" baseline="30000">
                <a:solidFill>
                  <a:srgbClr val="B89500"/>
                </a:solidFill>
              </a:rPr>
              <a:t>g</a:t>
            </a:r>
            <a:r>
              <a:rPr kumimoji="0" lang="en-US" altLang="en-US" sz="2800"/>
              <a:t>10</a:t>
            </a:r>
            <a:r>
              <a:rPr kumimoji="0" lang="en-US" altLang="en-US" sz="2800" i="1" baseline="30000">
                <a:solidFill>
                  <a:srgbClr val="00FFFF"/>
                </a:solidFill>
              </a:rPr>
              <a:t>p</a:t>
            </a:r>
          </a:p>
        </p:txBody>
      </p:sp>
      <p:sp>
        <p:nvSpPr>
          <p:cNvPr id="950280" name="Text Box 8"/>
          <p:cNvSpPr txBox="1">
            <a:spLocks noChangeArrowheads="1"/>
          </p:cNvSpPr>
          <p:nvPr/>
        </p:nvSpPr>
        <p:spPr bwMode="auto">
          <a:xfrm>
            <a:off x="2209800" y="3414713"/>
            <a:ext cx="5510213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kumimoji="0" lang="en-US" altLang="en-US"/>
              <a:t> </a:t>
            </a:r>
            <a:r>
              <a:rPr kumimoji="0" lang="en-US" altLang="en-US" i="1">
                <a:solidFill>
                  <a:srgbClr val="008000"/>
                </a:solidFill>
              </a:rPr>
              <a:t>B</a:t>
            </a:r>
            <a:r>
              <a:rPr kumimoji="0" lang="en-US" altLang="en-US"/>
              <a:t>::= all 16-bit binary strings with exactly four 1’s.</a:t>
            </a:r>
          </a:p>
        </p:txBody>
      </p:sp>
      <p:sp>
        <p:nvSpPr>
          <p:cNvPr id="950281" name="Text Box 9"/>
          <p:cNvSpPr txBox="1">
            <a:spLocks noChangeArrowheads="1"/>
          </p:cNvSpPr>
          <p:nvPr/>
        </p:nvSpPr>
        <p:spPr bwMode="auto">
          <a:xfrm>
            <a:off x="2286000" y="2895600"/>
            <a:ext cx="4495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kumimoji="0" lang="en-US" altLang="en-US" i="1">
                <a:solidFill>
                  <a:srgbClr val="3333CC"/>
                </a:solidFill>
              </a:rPr>
              <a:t>A </a:t>
            </a:r>
            <a:r>
              <a:rPr kumimoji="0" lang="en-US" altLang="en-US">
                <a:solidFill>
                  <a:srgbClr val="000000"/>
                </a:solidFill>
              </a:rPr>
              <a:t>::= all selections of a dozen doughnuts</a:t>
            </a:r>
          </a:p>
        </p:txBody>
      </p:sp>
      <p:sp>
        <p:nvSpPr>
          <p:cNvPr id="1035" name="Text Box 11"/>
          <p:cNvSpPr txBox="1">
            <a:spLocks noChangeArrowheads="1"/>
          </p:cNvSpPr>
          <p:nvPr/>
        </p:nvSpPr>
        <p:spPr bwMode="auto">
          <a:xfrm>
            <a:off x="609600" y="4038600"/>
            <a:ext cx="7896225" cy="2290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/>
              <a:t>This is a bijection because</a:t>
            </a:r>
          </a:p>
          <a:p>
            <a:pPr eaLnBrk="1" hangingPunct="1">
              <a:lnSpc>
                <a:spcPct val="200000"/>
              </a:lnSpc>
              <a:buClr>
                <a:srgbClr val="A50021"/>
              </a:buClr>
              <a:buFontTx/>
              <a:buChar char="•"/>
            </a:pPr>
            <a:r>
              <a:rPr lang="en-US" altLang="zh-TW"/>
              <a:t>Two doughnut selections map to two different strings. </a:t>
            </a:r>
            <a:r>
              <a:rPr lang="en-US" altLang="zh-TW">
                <a:solidFill>
                  <a:srgbClr val="A50021"/>
                </a:solidFill>
              </a:rPr>
              <a:t>(injection)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TW"/>
              <a:t>  (think of a doughnut selection as a sequence of 5 numbers (c,l,s,g,p),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TW"/>
              <a:t>   consider the first number which is different in the two sequences).</a:t>
            </a:r>
          </a:p>
          <a:p>
            <a:pPr eaLnBrk="1" hangingPunct="1">
              <a:lnSpc>
                <a:spcPct val="200000"/>
              </a:lnSpc>
              <a:buClr>
                <a:srgbClr val="A50021"/>
              </a:buClr>
              <a:buFontTx/>
              <a:buChar char="•"/>
            </a:pPr>
            <a:r>
              <a:rPr lang="en-US" altLang="zh-TW"/>
              <a:t>Every string in B corresponds to a valid doughnut selection. </a:t>
            </a:r>
            <a:r>
              <a:rPr lang="en-US" altLang="zh-TW">
                <a:solidFill>
                  <a:srgbClr val="A50021"/>
                </a:solidFill>
              </a:rPr>
              <a:t>(surjection)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0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0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0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0278" grpId="0"/>
      <p:bldP spid="950280" grpId="0"/>
      <p:bldP spid="95028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Text Box 2"/>
          <p:cNvSpPr txBox="1">
            <a:spLocks noChangeArrowheads="1"/>
          </p:cNvSpPr>
          <p:nvPr/>
        </p:nvSpPr>
        <p:spPr bwMode="auto">
          <a:xfrm>
            <a:off x="2286000" y="457200"/>
            <a:ext cx="4495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 sz="2400" b="1">
                <a:solidFill>
                  <a:srgbClr val="003366"/>
                </a:solidFill>
              </a:rPr>
              <a:t>Counting Doughnut Selections</a:t>
            </a:r>
          </a:p>
        </p:txBody>
      </p:sp>
      <p:sp>
        <p:nvSpPr>
          <p:cNvPr id="1028" name="Text Box 5"/>
          <p:cNvSpPr txBox="1">
            <a:spLocks noChangeArrowheads="1"/>
          </p:cNvSpPr>
          <p:nvPr/>
        </p:nvSpPr>
        <p:spPr bwMode="auto">
          <a:xfrm>
            <a:off x="1033463" y="1709738"/>
            <a:ext cx="7119937" cy="895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kumimoji="0" lang="en-US" altLang="en-US" sz="2400" i="1">
                <a:solidFill>
                  <a:srgbClr val="704B00"/>
                </a:solidFill>
              </a:rPr>
              <a:t>c</a:t>
            </a:r>
            <a:r>
              <a:rPr kumimoji="0" lang="en-US" altLang="en-US" sz="2400"/>
              <a:t> chocolate, </a:t>
            </a:r>
            <a:r>
              <a:rPr kumimoji="0" lang="en-US" altLang="en-US" sz="2400" i="1">
                <a:solidFill>
                  <a:srgbClr val="FFFF00"/>
                </a:solidFill>
              </a:rPr>
              <a:t>l</a:t>
            </a:r>
            <a:r>
              <a:rPr kumimoji="0" lang="en-US" altLang="en-US" sz="2400"/>
              <a:t> lemon,</a:t>
            </a:r>
            <a:r>
              <a:rPr kumimoji="0" lang="en-US" altLang="en-US" sz="2400">
                <a:solidFill>
                  <a:srgbClr val="FF00FF"/>
                </a:solidFill>
              </a:rPr>
              <a:t> </a:t>
            </a:r>
            <a:r>
              <a:rPr kumimoji="0" lang="en-US" altLang="en-US" sz="2400" i="1">
                <a:solidFill>
                  <a:srgbClr val="FF00FF"/>
                </a:solidFill>
              </a:rPr>
              <a:t>s</a:t>
            </a:r>
            <a:r>
              <a:rPr kumimoji="0" lang="en-US" altLang="en-US" sz="2400"/>
              <a:t> sugar, </a:t>
            </a:r>
            <a:r>
              <a:rPr kumimoji="0" lang="en-US" altLang="en-US" sz="2400" i="1">
                <a:solidFill>
                  <a:srgbClr val="B89500"/>
                </a:solidFill>
              </a:rPr>
              <a:t>g</a:t>
            </a:r>
            <a:r>
              <a:rPr kumimoji="0" lang="en-US" altLang="en-US" sz="2400"/>
              <a:t> glazed, </a:t>
            </a:r>
            <a:r>
              <a:rPr kumimoji="0" lang="en-US" altLang="en-US" sz="2400" i="1">
                <a:solidFill>
                  <a:srgbClr val="00FFFF"/>
                </a:solidFill>
              </a:rPr>
              <a:t>p</a:t>
            </a:r>
            <a:r>
              <a:rPr kumimoji="0" lang="en-US" altLang="en-US" sz="2400"/>
              <a:t> plain</a:t>
            </a:r>
          </a:p>
          <a:p>
            <a:pPr algn="ctr" eaLnBrk="1" hangingPunct="1">
              <a:spcBef>
                <a:spcPct val="20000"/>
              </a:spcBef>
            </a:pPr>
            <a:r>
              <a:rPr kumimoji="0" lang="en-US" altLang="en-US" sz="2400"/>
              <a:t>maps to</a:t>
            </a:r>
          </a:p>
        </p:txBody>
      </p:sp>
      <p:sp>
        <p:nvSpPr>
          <p:cNvPr id="950278" name="Text Box 6"/>
          <p:cNvSpPr txBox="1">
            <a:spLocks noChangeArrowheads="1"/>
          </p:cNvSpPr>
          <p:nvPr/>
        </p:nvSpPr>
        <p:spPr bwMode="auto">
          <a:xfrm>
            <a:off x="2819400" y="2971800"/>
            <a:ext cx="344805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kumimoji="0" lang="en-US" altLang="en-US" sz="4000"/>
              <a:t>0</a:t>
            </a:r>
            <a:r>
              <a:rPr kumimoji="0" lang="en-US" altLang="en-US" sz="4000" i="1" baseline="30000">
                <a:solidFill>
                  <a:srgbClr val="704B00"/>
                </a:solidFill>
              </a:rPr>
              <a:t>c</a:t>
            </a:r>
            <a:r>
              <a:rPr kumimoji="0" lang="en-US" altLang="en-US" sz="4000"/>
              <a:t>10</a:t>
            </a:r>
            <a:r>
              <a:rPr kumimoji="0" lang="en-US" altLang="en-US" sz="4000" i="1" baseline="30000">
                <a:solidFill>
                  <a:srgbClr val="FFFF00"/>
                </a:solidFill>
              </a:rPr>
              <a:t>l</a:t>
            </a:r>
            <a:r>
              <a:rPr kumimoji="0" lang="en-US" altLang="en-US" sz="4000"/>
              <a:t>10</a:t>
            </a:r>
            <a:r>
              <a:rPr kumimoji="0" lang="en-US" altLang="en-US" sz="4000" i="1" baseline="30000">
                <a:solidFill>
                  <a:srgbClr val="FF00FF"/>
                </a:solidFill>
              </a:rPr>
              <a:t>s</a:t>
            </a:r>
            <a:r>
              <a:rPr kumimoji="0" lang="en-US" altLang="en-US" sz="4000"/>
              <a:t>10</a:t>
            </a:r>
            <a:r>
              <a:rPr kumimoji="0" lang="en-US" altLang="en-US" sz="4000" i="1" baseline="30000">
                <a:solidFill>
                  <a:srgbClr val="B89500"/>
                </a:solidFill>
              </a:rPr>
              <a:t>g</a:t>
            </a:r>
            <a:r>
              <a:rPr kumimoji="0" lang="en-US" altLang="en-US" sz="4000"/>
              <a:t>10</a:t>
            </a:r>
            <a:r>
              <a:rPr kumimoji="0" lang="en-US" altLang="en-US" sz="4000" i="1" baseline="30000">
                <a:solidFill>
                  <a:srgbClr val="00FFFF"/>
                </a:solidFill>
              </a:rPr>
              <a:t>p</a:t>
            </a:r>
          </a:p>
        </p:txBody>
      </p:sp>
      <p:graphicFrame>
        <p:nvGraphicFramePr>
          <p:cNvPr id="950279" name="Object 7"/>
          <p:cNvGraphicFramePr>
            <a:graphicFrameLocks noChangeAspect="1"/>
          </p:cNvGraphicFramePr>
          <p:nvPr/>
        </p:nvGraphicFramePr>
        <p:xfrm>
          <a:off x="2413000" y="5391150"/>
          <a:ext cx="1865313" cy="933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4" name="Equation" r:id="rId4" imgW="507960" imgH="253800" progId="Equation.DSMT4">
                  <p:embed/>
                </p:oleObj>
              </mc:Choice>
              <mc:Fallback>
                <p:oleObj name="Equation" r:id="rId4" imgW="507960" imgH="2538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3000" y="5391150"/>
                        <a:ext cx="1865313" cy="933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50280" name="Text Box 8"/>
          <p:cNvSpPr txBox="1">
            <a:spLocks noChangeArrowheads="1"/>
          </p:cNvSpPr>
          <p:nvPr/>
        </p:nvSpPr>
        <p:spPr bwMode="auto">
          <a:xfrm>
            <a:off x="2209800" y="4648200"/>
            <a:ext cx="55102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kumimoji="0" lang="en-US" altLang="en-US"/>
              <a:t> </a:t>
            </a:r>
            <a:r>
              <a:rPr kumimoji="0" lang="en-US" altLang="en-US" i="1">
                <a:solidFill>
                  <a:srgbClr val="008000"/>
                </a:solidFill>
              </a:rPr>
              <a:t>B</a:t>
            </a:r>
            <a:r>
              <a:rPr kumimoji="0" lang="en-US" altLang="en-US"/>
              <a:t>::= all 16-bit binary strings with exactly four 1’s.</a:t>
            </a:r>
          </a:p>
        </p:txBody>
      </p:sp>
      <p:sp>
        <p:nvSpPr>
          <p:cNvPr id="950281" name="Text Box 9"/>
          <p:cNvSpPr txBox="1">
            <a:spLocks noChangeArrowheads="1"/>
          </p:cNvSpPr>
          <p:nvPr/>
        </p:nvSpPr>
        <p:spPr bwMode="auto">
          <a:xfrm>
            <a:off x="2286000" y="4038600"/>
            <a:ext cx="4495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kumimoji="0" lang="en-US" altLang="en-US" i="1">
                <a:solidFill>
                  <a:srgbClr val="3333CC"/>
                </a:solidFill>
              </a:rPr>
              <a:t>A </a:t>
            </a:r>
            <a:r>
              <a:rPr kumimoji="0" lang="en-US" altLang="en-US">
                <a:solidFill>
                  <a:srgbClr val="000000"/>
                </a:solidFill>
              </a:rPr>
              <a:t>::= all selections of a dozen doughnuts</a:t>
            </a:r>
          </a:p>
        </p:txBody>
      </p:sp>
      <p:pic>
        <p:nvPicPr>
          <p:cNvPr id="950286" name="Picture 14" descr="txp_fig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4200" y="5308600"/>
            <a:ext cx="1701800" cy="1092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50288" name="Text Box 16"/>
          <p:cNvSpPr txBox="1">
            <a:spLocks noChangeArrowheads="1"/>
          </p:cNvSpPr>
          <p:nvPr/>
        </p:nvSpPr>
        <p:spPr bwMode="auto">
          <a:xfrm>
            <a:off x="6537325" y="2555875"/>
            <a:ext cx="1323975" cy="37623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/>
              <a:t>a bijection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0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0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0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0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0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0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0278" grpId="0"/>
      <p:bldP spid="950280" grpId="0"/>
      <p:bldP spid="950281" grpId="0"/>
      <p:bldP spid="950288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9250" name="Rectangle 2"/>
          <p:cNvSpPr>
            <a:spLocks noChangeArrowheads="1"/>
          </p:cNvSpPr>
          <p:nvPr/>
        </p:nvSpPr>
        <p:spPr bwMode="auto">
          <a:xfrm>
            <a:off x="1752600" y="1614488"/>
            <a:ext cx="5668963" cy="1741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en-US"/>
              <a:t>There are 20 books arranged in a row on a shelf.</a:t>
            </a:r>
          </a:p>
          <a:p>
            <a:pPr eaLnBrk="1" hangingPunct="1"/>
            <a:endParaRPr lang="en-US" altLang="en-US"/>
          </a:p>
          <a:p>
            <a:pPr eaLnBrk="1" hangingPunct="1">
              <a:lnSpc>
                <a:spcPct val="250000"/>
              </a:lnSpc>
            </a:pPr>
            <a:r>
              <a:rPr lang="en-US" altLang="en-US"/>
              <a:t>How many ways to choose 6 of these books so that 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en-US"/>
              <a:t>no two adjacent books are selected?</a:t>
            </a:r>
          </a:p>
        </p:txBody>
      </p:sp>
      <p:sp>
        <p:nvSpPr>
          <p:cNvPr id="20483" name="Text Box 3"/>
          <p:cNvSpPr txBox="1">
            <a:spLocks noChangeArrowheads="1"/>
          </p:cNvSpPr>
          <p:nvPr/>
        </p:nvSpPr>
        <p:spPr bwMode="auto">
          <a:xfrm>
            <a:off x="2286000" y="457200"/>
            <a:ext cx="45926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 sz="2400" b="1">
                <a:solidFill>
                  <a:srgbClr val="003366"/>
                </a:solidFill>
              </a:rPr>
              <a:t>Choosing Non-Adjacent Books</a:t>
            </a:r>
          </a:p>
        </p:txBody>
      </p:sp>
      <p:sp>
        <p:nvSpPr>
          <p:cNvPr id="949252" name="Text Box 4"/>
          <p:cNvSpPr txBox="1">
            <a:spLocks noChangeArrowheads="1"/>
          </p:cNvSpPr>
          <p:nvPr/>
        </p:nvSpPr>
        <p:spPr bwMode="auto">
          <a:xfrm>
            <a:off x="1447800" y="5486400"/>
            <a:ext cx="2733675" cy="376238"/>
          </a:xfrm>
          <a:prstGeom prst="rect">
            <a:avLst/>
          </a:prstGeom>
          <a:solidFill>
            <a:srgbClr val="FFFFCC"/>
          </a:solidFill>
          <a:ln w="9525">
            <a:solidFill>
              <a:schemeClr val="bg2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en-US"/>
              <a:t>Hint: define a bijection!</a:t>
            </a:r>
          </a:p>
        </p:txBody>
      </p:sp>
      <p:sp>
        <p:nvSpPr>
          <p:cNvPr id="949253" name="Text Box 5"/>
          <p:cNvSpPr txBox="1">
            <a:spLocks noChangeArrowheads="1"/>
          </p:cNvSpPr>
          <p:nvPr/>
        </p:nvSpPr>
        <p:spPr bwMode="auto">
          <a:xfrm>
            <a:off x="1371600" y="4038600"/>
            <a:ext cx="6477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kumimoji="0" lang="en-US" altLang="en-US" i="1">
                <a:solidFill>
                  <a:srgbClr val="3333CC"/>
                </a:solidFill>
              </a:rPr>
              <a:t>A </a:t>
            </a:r>
            <a:r>
              <a:rPr kumimoji="0" lang="en-US" altLang="en-US">
                <a:solidFill>
                  <a:srgbClr val="000000"/>
                </a:solidFill>
              </a:rPr>
              <a:t>::= all selections of 6 non-adjacent books from 20 books</a:t>
            </a:r>
          </a:p>
        </p:txBody>
      </p:sp>
      <p:grpSp>
        <p:nvGrpSpPr>
          <p:cNvPr id="2" name="Group 8"/>
          <p:cNvGrpSpPr>
            <a:grpSpLocks/>
          </p:cNvGrpSpPr>
          <p:nvPr/>
        </p:nvGrpSpPr>
        <p:grpSpPr bwMode="auto">
          <a:xfrm>
            <a:off x="4560888" y="5029200"/>
            <a:ext cx="2754312" cy="1371600"/>
            <a:chOff x="3504" y="1680"/>
            <a:chExt cx="1735" cy="864"/>
          </a:xfrm>
        </p:grpSpPr>
        <p:sp>
          <p:nvSpPr>
            <p:cNvPr id="949257" name="Oval 9"/>
            <p:cNvSpPr>
              <a:spLocks noChangeArrowheads="1"/>
            </p:cNvSpPr>
            <p:nvPr/>
          </p:nvSpPr>
          <p:spPr bwMode="auto">
            <a:xfrm>
              <a:off x="3761" y="1696"/>
              <a:ext cx="422" cy="848"/>
            </a:xfrm>
            <a:prstGeom prst="ellipse">
              <a:avLst/>
            </a:prstGeom>
            <a:solidFill>
              <a:srgbClr val="CCCCFF"/>
            </a:solidFill>
            <a:ln w="9525">
              <a:solidFill>
                <a:srgbClr val="000000"/>
              </a:solidFill>
              <a:round/>
              <a:headEnd/>
              <a:tailEnd type="none" w="lg" len="lg"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949258" name="Oval 10"/>
            <p:cNvSpPr>
              <a:spLocks noChangeArrowheads="1"/>
            </p:cNvSpPr>
            <p:nvPr/>
          </p:nvSpPr>
          <p:spPr bwMode="auto">
            <a:xfrm>
              <a:off x="4512" y="1680"/>
              <a:ext cx="422" cy="848"/>
            </a:xfrm>
            <a:prstGeom prst="ellipse">
              <a:avLst/>
            </a:prstGeom>
            <a:solidFill>
              <a:srgbClr val="CCCCFF"/>
            </a:solidFill>
            <a:ln w="9525">
              <a:solidFill>
                <a:srgbClr val="000000"/>
              </a:solidFill>
              <a:round/>
              <a:headEnd/>
              <a:tailEnd type="none" w="lg" len="lg"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20489" name="Text Box 11"/>
            <p:cNvSpPr txBox="1">
              <a:spLocks noChangeArrowheads="1"/>
            </p:cNvSpPr>
            <p:nvPr/>
          </p:nvSpPr>
          <p:spPr bwMode="auto">
            <a:xfrm>
              <a:off x="3504" y="1968"/>
              <a:ext cx="233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9pPr>
            </a:lstStyle>
            <a:p>
              <a:pPr eaLnBrk="1" hangingPunct="1"/>
              <a:r>
                <a:rPr kumimoji="0" lang="en-US" altLang="en-US" sz="2000" i="1">
                  <a:solidFill>
                    <a:srgbClr val="000000"/>
                  </a:solidFill>
                </a:rPr>
                <a:t>A</a:t>
              </a:r>
            </a:p>
          </p:txBody>
        </p:sp>
        <p:sp>
          <p:nvSpPr>
            <p:cNvPr id="20490" name="Text Box 12"/>
            <p:cNvSpPr txBox="1">
              <a:spLocks noChangeArrowheads="1"/>
            </p:cNvSpPr>
            <p:nvPr/>
          </p:nvSpPr>
          <p:spPr bwMode="auto">
            <a:xfrm>
              <a:off x="5022" y="1974"/>
              <a:ext cx="217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9pPr>
            </a:lstStyle>
            <a:p>
              <a:pPr eaLnBrk="1" hangingPunct="1"/>
              <a:r>
                <a:rPr kumimoji="0" lang="en-US" altLang="en-US" sz="2000" i="1">
                  <a:solidFill>
                    <a:srgbClr val="000000"/>
                  </a:solidFill>
                </a:rPr>
                <a:t>B</a:t>
              </a:r>
            </a:p>
          </p:txBody>
        </p:sp>
        <p:sp>
          <p:nvSpPr>
            <p:cNvPr id="20491" name="Oval 13"/>
            <p:cNvSpPr>
              <a:spLocks noChangeArrowheads="1"/>
            </p:cNvSpPr>
            <p:nvPr/>
          </p:nvSpPr>
          <p:spPr bwMode="auto">
            <a:xfrm>
              <a:off x="3942" y="1784"/>
              <a:ext cx="46" cy="6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round/>
              <a:headEnd/>
              <a:tailEnd type="none" w="lg" len="lg"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0492" name="Oval 14"/>
            <p:cNvSpPr>
              <a:spLocks noChangeArrowheads="1"/>
            </p:cNvSpPr>
            <p:nvPr/>
          </p:nvSpPr>
          <p:spPr bwMode="auto">
            <a:xfrm>
              <a:off x="3942" y="1912"/>
              <a:ext cx="46" cy="6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round/>
              <a:headEnd/>
              <a:tailEnd type="none" w="lg" len="lg"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0493" name="Oval 15"/>
            <p:cNvSpPr>
              <a:spLocks noChangeArrowheads="1"/>
            </p:cNvSpPr>
            <p:nvPr/>
          </p:nvSpPr>
          <p:spPr bwMode="auto">
            <a:xfrm>
              <a:off x="3942" y="2044"/>
              <a:ext cx="46" cy="6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round/>
              <a:headEnd/>
              <a:tailEnd type="none" w="lg" len="lg"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0494" name="Oval 16"/>
            <p:cNvSpPr>
              <a:spLocks noChangeArrowheads="1"/>
            </p:cNvSpPr>
            <p:nvPr/>
          </p:nvSpPr>
          <p:spPr bwMode="auto">
            <a:xfrm>
              <a:off x="3942" y="2352"/>
              <a:ext cx="46" cy="6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round/>
              <a:headEnd/>
              <a:tailEnd type="none" w="lg" len="lg"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0495" name="Text Box 17"/>
            <p:cNvSpPr txBox="1">
              <a:spLocks noChangeArrowheads="1"/>
            </p:cNvSpPr>
            <p:nvPr/>
          </p:nvSpPr>
          <p:spPr bwMode="auto">
            <a:xfrm>
              <a:off x="3840" y="2064"/>
              <a:ext cx="22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9pPr>
            </a:lstStyle>
            <a:p>
              <a:pPr algn="ctr" eaLnBrk="1" hangingPunct="1"/>
              <a:r>
                <a:rPr kumimoji="0" lang="en-US" altLang="en-US" sz="2000">
                  <a:solidFill>
                    <a:srgbClr val="000000"/>
                  </a:solidFill>
                </a:rPr>
                <a:t>…</a:t>
              </a:r>
            </a:p>
          </p:txBody>
        </p:sp>
        <p:sp>
          <p:nvSpPr>
            <p:cNvPr id="20496" name="Oval 18"/>
            <p:cNvSpPr>
              <a:spLocks noChangeArrowheads="1"/>
            </p:cNvSpPr>
            <p:nvPr/>
          </p:nvSpPr>
          <p:spPr bwMode="auto">
            <a:xfrm>
              <a:off x="4729" y="1780"/>
              <a:ext cx="47" cy="60"/>
            </a:xfrm>
            <a:prstGeom prst="ellipse">
              <a:avLst/>
            </a:prstGeom>
            <a:solidFill>
              <a:srgbClr val="FF9933"/>
            </a:solidFill>
            <a:ln w="9525">
              <a:solidFill>
                <a:srgbClr val="000000"/>
              </a:solidFill>
              <a:round/>
              <a:headEnd/>
              <a:tailEnd type="none" w="lg" len="lg"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0497" name="Oval 19"/>
            <p:cNvSpPr>
              <a:spLocks noChangeArrowheads="1"/>
            </p:cNvSpPr>
            <p:nvPr/>
          </p:nvSpPr>
          <p:spPr bwMode="auto">
            <a:xfrm>
              <a:off x="4729" y="1908"/>
              <a:ext cx="47" cy="60"/>
            </a:xfrm>
            <a:prstGeom prst="ellipse">
              <a:avLst/>
            </a:prstGeom>
            <a:solidFill>
              <a:srgbClr val="FF9933"/>
            </a:solidFill>
            <a:ln w="9525">
              <a:solidFill>
                <a:srgbClr val="000000"/>
              </a:solidFill>
              <a:round/>
              <a:headEnd/>
              <a:tailEnd type="none" w="lg" len="lg"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0498" name="Oval 20"/>
            <p:cNvSpPr>
              <a:spLocks noChangeArrowheads="1"/>
            </p:cNvSpPr>
            <p:nvPr/>
          </p:nvSpPr>
          <p:spPr bwMode="auto">
            <a:xfrm>
              <a:off x="4729" y="2040"/>
              <a:ext cx="47" cy="60"/>
            </a:xfrm>
            <a:prstGeom prst="ellipse">
              <a:avLst/>
            </a:prstGeom>
            <a:solidFill>
              <a:srgbClr val="FF9933"/>
            </a:solidFill>
            <a:ln w="9525">
              <a:solidFill>
                <a:srgbClr val="000000"/>
              </a:solidFill>
              <a:round/>
              <a:headEnd/>
              <a:tailEnd type="none" w="lg" len="lg"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0499" name="Oval 21"/>
            <p:cNvSpPr>
              <a:spLocks noChangeArrowheads="1"/>
            </p:cNvSpPr>
            <p:nvPr/>
          </p:nvSpPr>
          <p:spPr bwMode="auto">
            <a:xfrm>
              <a:off x="4729" y="2348"/>
              <a:ext cx="47" cy="60"/>
            </a:xfrm>
            <a:prstGeom prst="ellipse">
              <a:avLst/>
            </a:prstGeom>
            <a:solidFill>
              <a:srgbClr val="FF9933"/>
            </a:solidFill>
            <a:ln w="9525">
              <a:solidFill>
                <a:srgbClr val="000000"/>
              </a:solidFill>
              <a:round/>
              <a:headEnd/>
              <a:tailEnd type="none" w="lg" len="lg"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0500" name="Text Box 22"/>
            <p:cNvSpPr txBox="1">
              <a:spLocks noChangeArrowheads="1"/>
            </p:cNvSpPr>
            <p:nvPr/>
          </p:nvSpPr>
          <p:spPr bwMode="auto">
            <a:xfrm>
              <a:off x="4640" y="2064"/>
              <a:ext cx="22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9pPr>
            </a:lstStyle>
            <a:p>
              <a:pPr algn="ctr" eaLnBrk="1" hangingPunct="1"/>
              <a:r>
                <a:rPr kumimoji="0" lang="en-US" altLang="en-US" sz="2000">
                  <a:solidFill>
                    <a:srgbClr val="000000"/>
                  </a:solidFill>
                </a:rPr>
                <a:t>…</a:t>
              </a:r>
            </a:p>
          </p:txBody>
        </p:sp>
        <p:sp>
          <p:nvSpPr>
            <p:cNvPr id="20501" name="Line 23"/>
            <p:cNvSpPr>
              <a:spLocks noChangeShapeType="1"/>
            </p:cNvSpPr>
            <p:nvPr/>
          </p:nvSpPr>
          <p:spPr bwMode="auto">
            <a:xfrm>
              <a:off x="3975" y="1808"/>
              <a:ext cx="695" cy="0"/>
            </a:xfrm>
            <a:prstGeom prst="line">
              <a:avLst/>
            </a:prstGeom>
            <a:noFill/>
            <a:ln w="31750">
              <a:solidFill>
                <a:srgbClr val="0000FF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02" name="Line 24"/>
            <p:cNvSpPr>
              <a:spLocks noChangeShapeType="1"/>
            </p:cNvSpPr>
            <p:nvPr/>
          </p:nvSpPr>
          <p:spPr bwMode="auto">
            <a:xfrm>
              <a:off x="3972" y="1940"/>
              <a:ext cx="695" cy="0"/>
            </a:xfrm>
            <a:prstGeom prst="line">
              <a:avLst/>
            </a:prstGeom>
            <a:noFill/>
            <a:ln w="31750">
              <a:solidFill>
                <a:srgbClr val="0000FF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03" name="Line 25"/>
            <p:cNvSpPr>
              <a:spLocks noChangeShapeType="1"/>
            </p:cNvSpPr>
            <p:nvPr/>
          </p:nvSpPr>
          <p:spPr bwMode="auto">
            <a:xfrm>
              <a:off x="3975" y="2080"/>
              <a:ext cx="695" cy="0"/>
            </a:xfrm>
            <a:prstGeom prst="line">
              <a:avLst/>
            </a:prstGeom>
            <a:noFill/>
            <a:ln w="31750">
              <a:solidFill>
                <a:srgbClr val="0000FF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04" name="Line 26"/>
            <p:cNvSpPr>
              <a:spLocks noChangeShapeType="1"/>
            </p:cNvSpPr>
            <p:nvPr/>
          </p:nvSpPr>
          <p:spPr bwMode="auto">
            <a:xfrm>
              <a:off x="3972" y="2380"/>
              <a:ext cx="695" cy="0"/>
            </a:xfrm>
            <a:prstGeom prst="line">
              <a:avLst/>
            </a:prstGeom>
            <a:noFill/>
            <a:ln w="31750">
              <a:solidFill>
                <a:srgbClr val="0000FF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05" name="Text Box 27"/>
            <p:cNvSpPr txBox="1">
              <a:spLocks noChangeArrowheads="1"/>
            </p:cNvSpPr>
            <p:nvPr/>
          </p:nvSpPr>
          <p:spPr bwMode="auto">
            <a:xfrm>
              <a:off x="4274" y="2174"/>
              <a:ext cx="197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9pPr>
            </a:lstStyle>
            <a:p>
              <a:pPr eaLnBrk="1" hangingPunct="1"/>
              <a:r>
                <a:rPr kumimoji="0" lang="en-US" altLang="en-US" sz="2000" i="1">
                  <a:solidFill>
                    <a:srgbClr val="000000"/>
                  </a:solidFill>
                </a:rPr>
                <a:t>f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92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92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9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9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49252" grpId="0" animBg="1"/>
      <p:bldP spid="94925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ext Box 2"/>
          <p:cNvSpPr txBox="1">
            <a:spLocks noChangeArrowheads="1"/>
          </p:cNvSpPr>
          <p:nvPr/>
        </p:nvSpPr>
        <p:spPr bwMode="auto">
          <a:xfrm>
            <a:off x="1371600" y="1295400"/>
            <a:ext cx="6477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kumimoji="0" lang="en-US" altLang="en-US" i="1">
                <a:solidFill>
                  <a:srgbClr val="3333CC"/>
                </a:solidFill>
              </a:rPr>
              <a:t>A </a:t>
            </a:r>
            <a:r>
              <a:rPr kumimoji="0" lang="en-US" altLang="en-US">
                <a:solidFill>
                  <a:srgbClr val="000000"/>
                </a:solidFill>
              </a:rPr>
              <a:t>::= all selections of 6 non-adjacent books from 20 books</a:t>
            </a:r>
          </a:p>
        </p:txBody>
      </p:sp>
      <p:sp>
        <p:nvSpPr>
          <p:cNvPr id="948227" name="Text Box 3"/>
          <p:cNvSpPr txBox="1">
            <a:spLocks noChangeArrowheads="1"/>
          </p:cNvSpPr>
          <p:nvPr/>
        </p:nvSpPr>
        <p:spPr bwMode="auto">
          <a:xfrm>
            <a:off x="1905000" y="1966913"/>
            <a:ext cx="5354638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kumimoji="0" lang="en-US" altLang="en-US"/>
              <a:t> </a:t>
            </a:r>
            <a:r>
              <a:rPr kumimoji="0" lang="en-US" altLang="en-US" i="1">
                <a:solidFill>
                  <a:srgbClr val="008000"/>
                </a:solidFill>
              </a:rPr>
              <a:t>B</a:t>
            </a:r>
            <a:r>
              <a:rPr kumimoji="0" lang="en-US" altLang="en-US"/>
              <a:t>::= all 15-bit binary strings with exactly six 1’s.</a:t>
            </a:r>
          </a:p>
        </p:txBody>
      </p:sp>
      <p:sp>
        <p:nvSpPr>
          <p:cNvPr id="21508" name="Text Box 4"/>
          <p:cNvSpPr txBox="1">
            <a:spLocks noChangeArrowheads="1"/>
          </p:cNvSpPr>
          <p:nvPr/>
        </p:nvSpPr>
        <p:spPr bwMode="auto">
          <a:xfrm>
            <a:off x="2286000" y="457200"/>
            <a:ext cx="45926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 sz="2400" b="1">
                <a:solidFill>
                  <a:srgbClr val="003366"/>
                </a:solidFill>
              </a:rPr>
              <a:t>Choosing Non-Adjacent Books</a:t>
            </a:r>
          </a:p>
        </p:txBody>
      </p:sp>
      <p:pic>
        <p:nvPicPr>
          <p:cNvPr id="948229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2725738"/>
            <a:ext cx="7924800" cy="1301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48230" name="Rectangle 6"/>
          <p:cNvSpPr>
            <a:spLocks noChangeArrowheads="1"/>
          </p:cNvSpPr>
          <p:nvPr/>
        </p:nvSpPr>
        <p:spPr bwMode="auto">
          <a:xfrm>
            <a:off x="381000" y="4249738"/>
            <a:ext cx="8305800" cy="779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en-US"/>
              <a:t>Map each zero to a non-chosen book, each of the first five 1’s to a chosen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en-US"/>
              <a:t>book followed by a non-chosen book, and the last 1 to a chosen book.</a:t>
            </a:r>
          </a:p>
        </p:txBody>
      </p:sp>
      <p:sp>
        <p:nvSpPr>
          <p:cNvPr id="948231" name="Text Box 7"/>
          <p:cNvSpPr txBox="1">
            <a:spLocks noChangeArrowheads="1"/>
          </p:cNvSpPr>
          <p:nvPr/>
        </p:nvSpPr>
        <p:spPr bwMode="auto">
          <a:xfrm>
            <a:off x="2971800" y="5360988"/>
            <a:ext cx="3138488" cy="1192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en-US"/>
              <a:t>This is a bijection, because:</a:t>
            </a:r>
          </a:p>
          <a:p>
            <a:pPr eaLnBrk="1" hangingPunct="1">
              <a:lnSpc>
                <a:spcPct val="150000"/>
              </a:lnSpc>
              <a:buClr>
                <a:srgbClr val="A50021"/>
              </a:buClr>
              <a:buFont typeface="Wingdings" panose="05000000000000000000" pitchFamily="2" charset="2"/>
              <a:buChar char="v"/>
            </a:pPr>
            <a:r>
              <a:rPr lang="en-US" altLang="en-US"/>
              <a:t> it is an injection</a:t>
            </a:r>
          </a:p>
          <a:p>
            <a:pPr eaLnBrk="1" hangingPunct="1">
              <a:lnSpc>
                <a:spcPct val="150000"/>
              </a:lnSpc>
              <a:buClr>
                <a:srgbClr val="A50021"/>
              </a:buClr>
              <a:buFont typeface="Wingdings" panose="05000000000000000000" pitchFamily="2" charset="2"/>
              <a:buChar char="v"/>
            </a:pPr>
            <a:r>
              <a:rPr lang="en-US" altLang="en-US"/>
              <a:t> it is a surjection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8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8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8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8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48227" grpId="0"/>
      <p:bldP spid="948230" grpId="0"/>
      <p:bldP spid="948231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828925" y="533400"/>
          <a:ext cx="3038475" cy="381000"/>
        </p:xfrm>
        <a:graphic>
          <a:graphicData uri="http://schemas.openxmlformats.org/drawingml/2006/table">
            <a:tbl>
              <a:tblPr/>
              <a:tblGrid>
                <a:gridCol w="193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5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898650"/>
            <a:ext cx="7924800" cy="1301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905125" y="3810000"/>
          <a:ext cx="3038475" cy="381000"/>
        </p:xfrm>
        <a:graphic>
          <a:graphicData uri="http://schemas.openxmlformats.org/drawingml/2006/table">
            <a:tbl>
              <a:tblPr/>
              <a:tblGrid>
                <a:gridCol w="193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109056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5105400"/>
            <a:ext cx="7591425" cy="1276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9" name="Straight Arrow Connector 18"/>
          <p:cNvCxnSpPr>
            <a:cxnSpLocks noChangeShapeType="1"/>
          </p:cNvCxnSpPr>
          <p:nvPr/>
        </p:nvCxnSpPr>
        <p:spPr bwMode="auto">
          <a:xfrm flipH="1">
            <a:off x="1295400" y="914400"/>
            <a:ext cx="1600200" cy="9144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</p:spPr>
      </p:cxnSp>
      <p:cxnSp>
        <p:nvCxnSpPr>
          <p:cNvPr id="21" name="Straight Arrow Connector 20"/>
          <p:cNvCxnSpPr>
            <a:cxnSpLocks noChangeShapeType="1"/>
          </p:cNvCxnSpPr>
          <p:nvPr/>
        </p:nvCxnSpPr>
        <p:spPr bwMode="auto">
          <a:xfrm flipH="1">
            <a:off x="1828800" y="914400"/>
            <a:ext cx="1295400" cy="9144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</p:spPr>
      </p:cxnSp>
      <p:cxnSp>
        <p:nvCxnSpPr>
          <p:cNvPr id="23" name="Straight Arrow Connector 22"/>
          <p:cNvCxnSpPr>
            <a:cxnSpLocks noChangeShapeType="1"/>
          </p:cNvCxnSpPr>
          <p:nvPr/>
        </p:nvCxnSpPr>
        <p:spPr bwMode="auto">
          <a:xfrm flipH="1">
            <a:off x="2209800" y="914400"/>
            <a:ext cx="1066800" cy="9144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</p:spPr>
      </p:cxnSp>
      <p:cxnSp>
        <p:nvCxnSpPr>
          <p:cNvPr id="25" name="Straight Arrow Connector 24"/>
          <p:cNvCxnSpPr>
            <a:cxnSpLocks noChangeShapeType="1"/>
          </p:cNvCxnSpPr>
          <p:nvPr/>
        </p:nvCxnSpPr>
        <p:spPr bwMode="auto">
          <a:xfrm flipH="1">
            <a:off x="2667000" y="914400"/>
            <a:ext cx="838200" cy="9144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</p:spPr>
      </p:cxnSp>
      <p:cxnSp>
        <p:nvCxnSpPr>
          <p:cNvPr id="27" name="Straight Arrow Connector 26"/>
          <p:cNvCxnSpPr>
            <a:cxnSpLocks noChangeShapeType="1"/>
          </p:cNvCxnSpPr>
          <p:nvPr/>
        </p:nvCxnSpPr>
        <p:spPr bwMode="auto">
          <a:xfrm flipH="1">
            <a:off x="3352800" y="914400"/>
            <a:ext cx="381000" cy="9144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</p:spPr>
      </p:cxnSp>
      <p:cxnSp>
        <p:nvCxnSpPr>
          <p:cNvPr id="29" name="Straight Arrow Connector 28"/>
          <p:cNvCxnSpPr>
            <a:cxnSpLocks noChangeShapeType="1"/>
          </p:cNvCxnSpPr>
          <p:nvPr/>
        </p:nvCxnSpPr>
        <p:spPr bwMode="auto">
          <a:xfrm flipH="1">
            <a:off x="3886200" y="914400"/>
            <a:ext cx="76200" cy="9144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</p:spPr>
      </p:cxnSp>
      <p:cxnSp>
        <p:nvCxnSpPr>
          <p:cNvPr id="33" name="Straight Arrow Connector 32"/>
          <p:cNvCxnSpPr>
            <a:cxnSpLocks noChangeShapeType="1"/>
          </p:cNvCxnSpPr>
          <p:nvPr/>
        </p:nvCxnSpPr>
        <p:spPr bwMode="auto">
          <a:xfrm>
            <a:off x="4114800" y="914400"/>
            <a:ext cx="152400" cy="9144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</p:spPr>
      </p:cxnSp>
      <p:cxnSp>
        <p:nvCxnSpPr>
          <p:cNvPr id="35" name="Straight Arrow Connector 34"/>
          <p:cNvCxnSpPr>
            <a:cxnSpLocks noChangeShapeType="1"/>
          </p:cNvCxnSpPr>
          <p:nvPr/>
        </p:nvCxnSpPr>
        <p:spPr bwMode="auto">
          <a:xfrm>
            <a:off x="4343400" y="914400"/>
            <a:ext cx="304800" cy="8382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</p:spPr>
      </p:cxnSp>
      <p:cxnSp>
        <p:nvCxnSpPr>
          <p:cNvPr id="37" name="Straight Arrow Connector 36"/>
          <p:cNvCxnSpPr>
            <a:cxnSpLocks noChangeShapeType="1"/>
          </p:cNvCxnSpPr>
          <p:nvPr/>
        </p:nvCxnSpPr>
        <p:spPr bwMode="auto">
          <a:xfrm>
            <a:off x="4572000" y="914400"/>
            <a:ext cx="533400" cy="9144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</p:spPr>
      </p:cxnSp>
      <p:cxnSp>
        <p:nvCxnSpPr>
          <p:cNvPr id="39" name="Straight Arrow Connector 38"/>
          <p:cNvCxnSpPr>
            <a:cxnSpLocks noChangeShapeType="1"/>
          </p:cNvCxnSpPr>
          <p:nvPr/>
        </p:nvCxnSpPr>
        <p:spPr bwMode="auto">
          <a:xfrm>
            <a:off x="4724400" y="914400"/>
            <a:ext cx="990600" cy="9906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</p:spPr>
      </p:cxnSp>
      <p:cxnSp>
        <p:nvCxnSpPr>
          <p:cNvPr id="41" name="Straight Arrow Connector 40"/>
          <p:cNvCxnSpPr>
            <a:cxnSpLocks noChangeShapeType="1"/>
          </p:cNvCxnSpPr>
          <p:nvPr/>
        </p:nvCxnSpPr>
        <p:spPr bwMode="auto">
          <a:xfrm>
            <a:off x="4953000" y="914400"/>
            <a:ext cx="1143000" cy="9906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</p:spPr>
      </p:cxnSp>
      <p:cxnSp>
        <p:nvCxnSpPr>
          <p:cNvPr id="43" name="Straight Arrow Connector 42"/>
          <p:cNvCxnSpPr>
            <a:cxnSpLocks noChangeShapeType="1"/>
          </p:cNvCxnSpPr>
          <p:nvPr/>
        </p:nvCxnSpPr>
        <p:spPr bwMode="auto">
          <a:xfrm>
            <a:off x="5181600" y="914400"/>
            <a:ext cx="1447800" cy="10668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</p:spPr>
      </p:cxnSp>
      <p:cxnSp>
        <p:nvCxnSpPr>
          <p:cNvPr id="45" name="Straight Arrow Connector 44"/>
          <p:cNvCxnSpPr>
            <a:cxnSpLocks noChangeShapeType="1"/>
          </p:cNvCxnSpPr>
          <p:nvPr/>
        </p:nvCxnSpPr>
        <p:spPr bwMode="auto">
          <a:xfrm>
            <a:off x="5334000" y="914400"/>
            <a:ext cx="1752600" cy="9906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</p:spPr>
      </p:cxnSp>
      <p:cxnSp>
        <p:nvCxnSpPr>
          <p:cNvPr id="47" name="Straight Arrow Connector 46"/>
          <p:cNvCxnSpPr>
            <a:cxnSpLocks noChangeShapeType="1"/>
          </p:cNvCxnSpPr>
          <p:nvPr/>
        </p:nvCxnSpPr>
        <p:spPr bwMode="auto">
          <a:xfrm>
            <a:off x="5562600" y="914400"/>
            <a:ext cx="1981200" cy="9906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</p:spPr>
      </p:cxnSp>
      <p:cxnSp>
        <p:nvCxnSpPr>
          <p:cNvPr id="50" name="Straight Arrow Connector 49"/>
          <p:cNvCxnSpPr>
            <a:cxnSpLocks noChangeShapeType="1"/>
          </p:cNvCxnSpPr>
          <p:nvPr/>
        </p:nvCxnSpPr>
        <p:spPr bwMode="auto">
          <a:xfrm>
            <a:off x="5791200" y="914400"/>
            <a:ext cx="2209800" cy="9906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</p:spPr>
      </p:cxnSp>
      <p:cxnSp>
        <p:nvCxnSpPr>
          <p:cNvPr id="55" name="Straight Arrow Connector 54"/>
          <p:cNvCxnSpPr>
            <a:cxnSpLocks noChangeShapeType="1"/>
          </p:cNvCxnSpPr>
          <p:nvPr/>
        </p:nvCxnSpPr>
        <p:spPr bwMode="auto">
          <a:xfrm flipH="1">
            <a:off x="1066800" y="4191000"/>
            <a:ext cx="1905000" cy="9906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</p:spPr>
      </p:cxnSp>
      <p:cxnSp>
        <p:nvCxnSpPr>
          <p:cNvPr id="56" name="Straight Arrow Connector 55"/>
          <p:cNvCxnSpPr>
            <a:cxnSpLocks noChangeShapeType="1"/>
          </p:cNvCxnSpPr>
          <p:nvPr/>
        </p:nvCxnSpPr>
        <p:spPr bwMode="auto">
          <a:xfrm flipH="1">
            <a:off x="1676400" y="4191000"/>
            <a:ext cx="1524000" cy="9906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</p:spPr>
      </p:cxnSp>
      <p:cxnSp>
        <p:nvCxnSpPr>
          <p:cNvPr id="57" name="Straight Arrow Connector 56"/>
          <p:cNvCxnSpPr>
            <a:cxnSpLocks noChangeShapeType="1"/>
          </p:cNvCxnSpPr>
          <p:nvPr/>
        </p:nvCxnSpPr>
        <p:spPr bwMode="auto">
          <a:xfrm flipH="1">
            <a:off x="2286000" y="4191000"/>
            <a:ext cx="1066800" cy="9144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</p:spPr>
      </p:cxnSp>
      <p:cxnSp>
        <p:nvCxnSpPr>
          <p:cNvPr id="58" name="Straight Arrow Connector 57"/>
          <p:cNvCxnSpPr>
            <a:cxnSpLocks noChangeShapeType="1"/>
          </p:cNvCxnSpPr>
          <p:nvPr/>
        </p:nvCxnSpPr>
        <p:spPr bwMode="auto">
          <a:xfrm flipH="1">
            <a:off x="2743200" y="4191000"/>
            <a:ext cx="838200" cy="9144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</p:spPr>
      </p:cxnSp>
      <p:cxnSp>
        <p:nvCxnSpPr>
          <p:cNvPr id="59" name="Straight Arrow Connector 58"/>
          <p:cNvCxnSpPr>
            <a:cxnSpLocks noChangeShapeType="1"/>
          </p:cNvCxnSpPr>
          <p:nvPr/>
        </p:nvCxnSpPr>
        <p:spPr bwMode="auto">
          <a:xfrm flipH="1">
            <a:off x="3276600" y="4191000"/>
            <a:ext cx="533400" cy="9144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</p:spPr>
      </p:cxnSp>
      <p:cxnSp>
        <p:nvCxnSpPr>
          <p:cNvPr id="60" name="Straight Arrow Connector 59"/>
          <p:cNvCxnSpPr>
            <a:cxnSpLocks noChangeShapeType="1"/>
          </p:cNvCxnSpPr>
          <p:nvPr/>
        </p:nvCxnSpPr>
        <p:spPr bwMode="auto">
          <a:xfrm flipH="1">
            <a:off x="3657600" y="4191000"/>
            <a:ext cx="381000" cy="9906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</p:spPr>
      </p:cxnSp>
      <p:cxnSp>
        <p:nvCxnSpPr>
          <p:cNvPr id="61" name="Straight Arrow Connector 60"/>
          <p:cNvCxnSpPr>
            <a:cxnSpLocks noChangeShapeType="1"/>
          </p:cNvCxnSpPr>
          <p:nvPr/>
        </p:nvCxnSpPr>
        <p:spPr bwMode="auto">
          <a:xfrm>
            <a:off x="4191000" y="4191000"/>
            <a:ext cx="0" cy="9144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</p:spPr>
      </p:cxnSp>
      <p:cxnSp>
        <p:nvCxnSpPr>
          <p:cNvPr id="62" name="Straight Arrow Connector 61"/>
          <p:cNvCxnSpPr>
            <a:cxnSpLocks noChangeShapeType="1"/>
          </p:cNvCxnSpPr>
          <p:nvPr/>
        </p:nvCxnSpPr>
        <p:spPr bwMode="auto">
          <a:xfrm>
            <a:off x="4419600" y="4191000"/>
            <a:ext cx="228600" cy="9144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</p:spPr>
      </p:cxnSp>
      <p:cxnSp>
        <p:nvCxnSpPr>
          <p:cNvPr id="63" name="Straight Arrow Connector 62"/>
          <p:cNvCxnSpPr>
            <a:cxnSpLocks noChangeShapeType="1"/>
          </p:cNvCxnSpPr>
          <p:nvPr/>
        </p:nvCxnSpPr>
        <p:spPr bwMode="auto">
          <a:xfrm>
            <a:off x="4648200" y="4191000"/>
            <a:ext cx="457200" cy="9144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</p:spPr>
      </p:cxnSp>
      <p:cxnSp>
        <p:nvCxnSpPr>
          <p:cNvPr id="64" name="Straight Arrow Connector 63"/>
          <p:cNvCxnSpPr>
            <a:cxnSpLocks noChangeShapeType="1"/>
          </p:cNvCxnSpPr>
          <p:nvPr/>
        </p:nvCxnSpPr>
        <p:spPr bwMode="auto">
          <a:xfrm>
            <a:off x="4800600" y="4191000"/>
            <a:ext cx="838200" cy="9906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</p:spPr>
      </p:cxnSp>
      <p:cxnSp>
        <p:nvCxnSpPr>
          <p:cNvPr id="65" name="Straight Arrow Connector 64"/>
          <p:cNvCxnSpPr>
            <a:cxnSpLocks noChangeShapeType="1"/>
          </p:cNvCxnSpPr>
          <p:nvPr/>
        </p:nvCxnSpPr>
        <p:spPr bwMode="auto">
          <a:xfrm>
            <a:off x="5029200" y="4191000"/>
            <a:ext cx="1143000" cy="9906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</p:spPr>
      </p:cxnSp>
      <p:cxnSp>
        <p:nvCxnSpPr>
          <p:cNvPr id="66" name="Straight Arrow Connector 65"/>
          <p:cNvCxnSpPr>
            <a:cxnSpLocks noChangeShapeType="1"/>
          </p:cNvCxnSpPr>
          <p:nvPr/>
        </p:nvCxnSpPr>
        <p:spPr bwMode="auto">
          <a:xfrm>
            <a:off x="5257800" y="4191000"/>
            <a:ext cx="1295400" cy="9906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</p:spPr>
      </p:cxnSp>
      <p:cxnSp>
        <p:nvCxnSpPr>
          <p:cNvPr id="67" name="Straight Arrow Connector 66"/>
          <p:cNvCxnSpPr>
            <a:cxnSpLocks noChangeShapeType="1"/>
          </p:cNvCxnSpPr>
          <p:nvPr/>
        </p:nvCxnSpPr>
        <p:spPr bwMode="auto">
          <a:xfrm>
            <a:off x="5410200" y="4191000"/>
            <a:ext cx="1752600" cy="9906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</p:spPr>
      </p:cxnSp>
      <p:cxnSp>
        <p:nvCxnSpPr>
          <p:cNvPr id="68" name="Straight Arrow Connector 67"/>
          <p:cNvCxnSpPr>
            <a:cxnSpLocks noChangeShapeType="1"/>
          </p:cNvCxnSpPr>
          <p:nvPr/>
        </p:nvCxnSpPr>
        <p:spPr bwMode="auto">
          <a:xfrm>
            <a:off x="5638800" y="4191000"/>
            <a:ext cx="1981200" cy="9906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</p:spPr>
      </p:cxnSp>
      <p:cxnSp>
        <p:nvCxnSpPr>
          <p:cNvPr id="69" name="Straight Arrow Connector 68"/>
          <p:cNvCxnSpPr>
            <a:cxnSpLocks noChangeShapeType="1"/>
          </p:cNvCxnSpPr>
          <p:nvPr/>
        </p:nvCxnSpPr>
        <p:spPr bwMode="auto">
          <a:xfrm>
            <a:off x="5867400" y="4191000"/>
            <a:ext cx="2209800" cy="9906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</p:spPr>
      </p:cxnSp>
      <p:grpSp>
        <p:nvGrpSpPr>
          <p:cNvPr id="2" name="Group 101"/>
          <p:cNvGrpSpPr>
            <a:grpSpLocks/>
          </p:cNvGrpSpPr>
          <p:nvPr/>
        </p:nvGrpSpPr>
        <p:grpSpPr bwMode="auto">
          <a:xfrm>
            <a:off x="811213" y="6194425"/>
            <a:ext cx="7529512" cy="434975"/>
            <a:chOff x="1156648" y="3069608"/>
            <a:chExt cx="7530152" cy="435592"/>
          </a:xfrm>
        </p:grpSpPr>
        <p:sp>
          <p:nvSpPr>
            <p:cNvPr id="22685" name="TextBox 102"/>
            <p:cNvSpPr txBox="1">
              <a:spLocks noChangeArrowheads="1"/>
            </p:cNvSpPr>
            <p:nvPr/>
          </p:nvSpPr>
          <p:spPr bwMode="auto">
            <a:xfrm>
              <a:off x="8220006" y="3069608"/>
              <a:ext cx="466794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9pPr>
            </a:lstStyle>
            <a:p>
              <a:pPr eaLnBrk="1" hangingPunct="1"/>
              <a:r>
                <a:rPr lang="en-US" altLang="en-US"/>
                <a:t>20</a:t>
              </a:r>
            </a:p>
          </p:txBody>
        </p:sp>
        <p:sp>
          <p:nvSpPr>
            <p:cNvPr id="22686" name="TextBox 103"/>
            <p:cNvSpPr txBox="1">
              <a:spLocks noChangeArrowheads="1"/>
            </p:cNvSpPr>
            <p:nvPr/>
          </p:nvSpPr>
          <p:spPr bwMode="auto">
            <a:xfrm>
              <a:off x="1156648" y="3124200"/>
              <a:ext cx="288862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9pPr>
            </a:lstStyle>
            <a:p>
              <a:pPr eaLnBrk="1" hangingPunct="1"/>
              <a:r>
                <a:rPr lang="en-US" altLang="en-US"/>
                <a:t>1</a:t>
              </a:r>
            </a:p>
          </p:txBody>
        </p:sp>
        <p:sp>
          <p:nvSpPr>
            <p:cNvPr id="22687" name="TextBox 104"/>
            <p:cNvSpPr txBox="1">
              <a:spLocks noChangeArrowheads="1"/>
            </p:cNvSpPr>
            <p:nvPr/>
          </p:nvSpPr>
          <p:spPr bwMode="auto">
            <a:xfrm>
              <a:off x="1503070" y="3124200"/>
              <a:ext cx="32573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9pPr>
            </a:lstStyle>
            <a:p>
              <a:pPr eaLnBrk="1" hangingPunct="1"/>
              <a:r>
                <a:rPr lang="en-US" altLang="en-US"/>
                <a:t>2</a:t>
              </a:r>
            </a:p>
          </p:txBody>
        </p:sp>
        <p:sp>
          <p:nvSpPr>
            <p:cNvPr id="22688" name="TextBox 105"/>
            <p:cNvSpPr txBox="1">
              <a:spLocks noChangeArrowheads="1"/>
            </p:cNvSpPr>
            <p:nvPr/>
          </p:nvSpPr>
          <p:spPr bwMode="auto">
            <a:xfrm>
              <a:off x="1905000" y="3116240"/>
              <a:ext cx="32573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9pPr>
            </a:lstStyle>
            <a:p>
              <a:pPr eaLnBrk="1" hangingPunct="1"/>
              <a:r>
                <a:rPr lang="en-US" altLang="en-US"/>
                <a:t>3</a:t>
              </a:r>
            </a:p>
          </p:txBody>
        </p:sp>
        <p:sp>
          <p:nvSpPr>
            <p:cNvPr id="22689" name="TextBox 106"/>
            <p:cNvSpPr txBox="1">
              <a:spLocks noChangeArrowheads="1"/>
            </p:cNvSpPr>
            <p:nvPr/>
          </p:nvSpPr>
          <p:spPr bwMode="auto">
            <a:xfrm>
              <a:off x="2341270" y="3124200"/>
              <a:ext cx="32573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9pPr>
            </a:lstStyle>
            <a:p>
              <a:pPr eaLnBrk="1" hangingPunct="1"/>
              <a:r>
                <a:rPr lang="en-US" altLang="en-US"/>
                <a:t>4</a:t>
              </a:r>
            </a:p>
          </p:txBody>
        </p:sp>
        <p:sp>
          <p:nvSpPr>
            <p:cNvPr id="22690" name="TextBox 107"/>
            <p:cNvSpPr txBox="1">
              <a:spLocks noChangeArrowheads="1"/>
            </p:cNvSpPr>
            <p:nvPr/>
          </p:nvSpPr>
          <p:spPr bwMode="auto">
            <a:xfrm>
              <a:off x="2618096" y="3124200"/>
              <a:ext cx="32573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9pPr>
            </a:lstStyle>
            <a:p>
              <a:pPr eaLnBrk="1" hangingPunct="1"/>
              <a:r>
                <a:rPr lang="en-US" altLang="en-US"/>
                <a:t>5</a:t>
              </a:r>
            </a:p>
          </p:txBody>
        </p:sp>
        <p:sp>
          <p:nvSpPr>
            <p:cNvPr id="22691" name="TextBox 108"/>
            <p:cNvSpPr txBox="1">
              <a:spLocks noChangeArrowheads="1"/>
            </p:cNvSpPr>
            <p:nvPr/>
          </p:nvSpPr>
          <p:spPr bwMode="auto">
            <a:xfrm>
              <a:off x="2971800" y="3122220"/>
              <a:ext cx="32573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9pPr>
            </a:lstStyle>
            <a:p>
              <a:pPr eaLnBrk="1" hangingPunct="1"/>
              <a:r>
                <a:rPr lang="en-US" altLang="en-US"/>
                <a:t>6</a:t>
              </a:r>
            </a:p>
          </p:txBody>
        </p:sp>
        <p:sp>
          <p:nvSpPr>
            <p:cNvPr id="22692" name="TextBox 109"/>
            <p:cNvSpPr txBox="1">
              <a:spLocks noChangeArrowheads="1"/>
            </p:cNvSpPr>
            <p:nvPr/>
          </p:nvSpPr>
          <p:spPr bwMode="auto">
            <a:xfrm>
              <a:off x="3331870" y="3135868"/>
              <a:ext cx="32573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9pPr>
            </a:lstStyle>
            <a:p>
              <a:pPr eaLnBrk="1" hangingPunct="1"/>
              <a:r>
                <a:rPr lang="en-US" altLang="en-US"/>
                <a:t>7</a:t>
              </a:r>
            </a:p>
          </p:txBody>
        </p:sp>
        <p:sp>
          <p:nvSpPr>
            <p:cNvPr id="22693" name="TextBox 110"/>
            <p:cNvSpPr txBox="1">
              <a:spLocks noChangeArrowheads="1"/>
            </p:cNvSpPr>
            <p:nvPr/>
          </p:nvSpPr>
          <p:spPr bwMode="auto">
            <a:xfrm>
              <a:off x="3699222" y="3110552"/>
              <a:ext cx="32573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9pPr>
            </a:lstStyle>
            <a:p>
              <a:pPr eaLnBrk="1" hangingPunct="1"/>
              <a:r>
                <a:rPr lang="en-US" altLang="en-US"/>
                <a:t>8</a:t>
              </a:r>
            </a:p>
          </p:txBody>
        </p:sp>
        <p:sp>
          <p:nvSpPr>
            <p:cNvPr id="22694" name="TextBox 111"/>
            <p:cNvSpPr txBox="1">
              <a:spLocks noChangeArrowheads="1"/>
            </p:cNvSpPr>
            <p:nvPr/>
          </p:nvSpPr>
          <p:spPr bwMode="auto">
            <a:xfrm>
              <a:off x="4114800" y="3088944"/>
              <a:ext cx="32573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9pPr>
            </a:lstStyle>
            <a:p>
              <a:pPr eaLnBrk="1" hangingPunct="1"/>
              <a:r>
                <a:rPr lang="en-US" altLang="en-US"/>
                <a:t>9</a:t>
              </a:r>
            </a:p>
          </p:txBody>
        </p:sp>
        <p:sp>
          <p:nvSpPr>
            <p:cNvPr id="22695" name="TextBox 112"/>
            <p:cNvSpPr txBox="1">
              <a:spLocks noChangeArrowheads="1"/>
            </p:cNvSpPr>
            <p:nvPr/>
          </p:nvSpPr>
          <p:spPr bwMode="auto">
            <a:xfrm>
              <a:off x="4435538" y="3088944"/>
              <a:ext cx="42992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9pPr>
            </a:lstStyle>
            <a:p>
              <a:pPr eaLnBrk="1" hangingPunct="1"/>
              <a:r>
                <a:rPr lang="en-US" altLang="en-US"/>
                <a:t>10</a:t>
              </a:r>
            </a:p>
          </p:txBody>
        </p:sp>
        <p:sp>
          <p:nvSpPr>
            <p:cNvPr id="22696" name="TextBox 113"/>
            <p:cNvSpPr txBox="1">
              <a:spLocks noChangeArrowheads="1"/>
            </p:cNvSpPr>
            <p:nvPr/>
          </p:nvSpPr>
          <p:spPr bwMode="auto">
            <a:xfrm>
              <a:off x="5208896" y="3088944"/>
              <a:ext cx="42992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9pPr>
            </a:lstStyle>
            <a:p>
              <a:pPr eaLnBrk="1" hangingPunct="1"/>
              <a:r>
                <a:rPr lang="en-US" altLang="en-US"/>
                <a:t>12</a:t>
              </a:r>
            </a:p>
          </p:txBody>
        </p:sp>
        <p:sp>
          <p:nvSpPr>
            <p:cNvPr id="22697" name="TextBox 114"/>
            <p:cNvSpPr txBox="1">
              <a:spLocks noChangeArrowheads="1"/>
            </p:cNvSpPr>
            <p:nvPr/>
          </p:nvSpPr>
          <p:spPr bwMode="auto">
            <a:xfrm>
              <a:off x="5610826" y="3080984"/>
              <a:ext cx="42992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9pPr>
            </a:lstStyle>
            <a:p>
              <a:pPr eaLnBrk="1" hangingPunct="1"/>
              <a:r>
                <a:rPr lang="en-US" altLang="en-US"/>
                <a:t>13</a:t>
              </a:r>
            </a:p>
          </p:txBody>
        </p:sp>
        <p:sp>
          <p:nvSpPr>
            <p:cNvPr id="22698" name="TextBox 115"/>
            <p:cNvSpPr txBox="1">
              <a:spLocks noChangeArrowheads="1"/>
            </p:cNvSpPr>
            <p:nvPr/>
          </p:nvSpPr>
          <p:spPr bwMode="auto">
            <a:xfrm>
              <a:off x="5943600" y="3088944"/>
              <a:ext cx="42992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9pPr>
            </a:lstStyle>
            <a:p>
              <a:pPr eaLnBrk="1" hangingPunct="1"/>
              <a:r>
                <a:rPr lang="en-US" altLang="en-US"/>
                <a:t>14</a:t>
              </a:r>
            </a:p>
          </p:txBody>
        </p:sp>
        <p:sp>
          <p:nvSpPr>
            <p:cNvPr id="22699" name="TextBox 116"/>
            <p:cNvSpPr txBox="1">
              <a:spLocks noChangeArrowheads="1"/>
            </p:cNvSpPr>
            <p:nvPr/>
          </p:nvSpPr>
          <p:spPr bwMode="auto">
            <a:xfrm>
              <a:off x="6323922" y="3088944"/>
              <a:ext cx="42992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9pPr>
            </a:lstStyle>
            <a:p>
              <a:pPr eaLnBrk="1" hangingPunct="1"/>
              <a:r>
                <a:rPr lang="en-US" altLang="en-US"/>
                <a:t>15</a:t>
              </a:r>
            </a:p>
          </p:txBody>
        </p:sp>
        <p:sp>
          <p:nvSpPr>
            <p:cNvPr id="22700" name="TextBox 117"/>
            <p:cNvSpPr txBox="1">
              <a:spLocks noChangeArrowheads="1"/>
            </p:cNvSpPr>
            <p:nvPr/>
          </p:nvSpPr>
          <p:spPr bwMode="auto">
            <a:xfrm>
              <a:off x="6677626" y="3086964"/>
              <a:ext cx="42992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9pPr>
            </a:lstStyle>
            <a:p>
              <a:pPr eaLnBrk="1" hangingPunct="1"/>
              <a:r>
                <a:rPr lang="en-US" altLang="en-US"/>
                <a:t>16</a:t>
              </a:r>
            </a:p>
          </p:txBody>
        </p:sp>
        <p:sp>
          <p:nvSpPr>
            <p:cNvPr id="22701" name="TextBox 118"/>
            <p:cNvSpPr txBox="1">
              <a:spLocks noChangeArrowheads="1"/>
            </p:cNvSpPr>
            <p:nvPr/>
          </p:nvSpPr>
          <p:spPr bwMode="auto">
            <a:xfrm>
              <a:off x="7051344" y="3088944"/>
              <a:ext cx="42992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9pPr>
            </a:lstStyle>
            <a:p>
              <a:pPr eaLnBrk="1" hangingPunct="1"/>
              <a:r>
                <a:rPr lang="en-US" altLang="en-US"/>
                <a:t>17</a:t>
              </a:r>
            </a:p>
          </p:txBody>
        </p:sp>
        <p:sp>
          <p:nvSpPr>
            <p:cNvPr id="22702" name="TextBox 119"/>
            <p:cNvSpPr txBox="1">
              <a:spLocks noChangeArrowheads="1"/>
            </p:cNvSpPr>
            <p:nvPr/>
          </p:nvSpPr>
          <p:spPr bwMode="auto">
            <a:xfrm>
              <a:off x="7445992" y="3075296"/>
              <a:ext cx="42992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9pPr>
            </a:lstStyle>
            <a:p>
              <a:pPr eaLnBrk="1" hangingPunct="1"/>
              <a:r>
                <a:rPr lang="en-US" altLang="en-US"/>
                <a:t>18</a:t>
              </a:r>
            </a:p>
          </p:txBody>
        </p:sp>
        <p:sp>
          <p:nvSpPr>
            <p:cNvPr id="22703" name="TextBox 120"/>
            <p:cNvSpPr txBox="1">
              <a:spLocks noChangeArrowheads="1"/>
            </p:cNvSpPr>
            <p:nvPr/>
          </p:nvSpPr>
          <p:spPr bwMode="auto">
            <a:xfrm>
              <a:off x="4841522" y="3094924"/>
              <a:ext cx="39305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9pPr>
            </a:lstStyle>
            <a:p>
              <a:pPr eaLnBrk="1" hangingPunct="1"/>
              <a:r>
                <a:rPr lang="en-US" altLang="en-US"/>
                <a:t>11</a:t>
              </a:r>
            </a:p>
          </p:txBody>
        </p:sp>
        <p:sp>
          <p:nvSpPr>
            <p:cNvPr id="22704" name="TextBox 121"/>
            <p:cNvSpPr txBox="1">
              <a:spLocks noChangeArrowheads="1"/>
            </p:cNvSpPr>
            <p:nvPr/>
          </p:nvSpPr>
          <p:spPr bwMode="auto">
            <a:xfrm>
              <a:off x="7875874" y="3081276"/>
              <a:ext cx="42992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9pPr>
            </a:lstStyle>
            <a:p>
              <a:pPr eaLnBrk="1" hangingPunct="1"/>
              <a:r>
                <a:rPr lang="en-US" altLang="en-US"/>
                <a:t>19</a:t>
              </a:r>
            </a:p>
          </p:txBody>
        </p:sp>
      </p:grpSp>
      <p:grpSp>
        <p:nvGrpSpPr>
          <p:cNvPr id="22663" name="Group 123"/>
          <p:cNvGrpSpPr>
            <a:grpSpLocks/>
          </p:cNvGrpSpPr>
          <p:nvPr/>
        </p:nvGrpSpPr>
        <p:grpSpPr bwMode="auto">
          <a:xfrm>
            <a:off x="854075" y="3074988"/>
            <a:ext cx="7488238" cy="430212"/>
            <a:chOff x="854138" y="3075296"/>
            <a:chExt cx="7488530" cy="429904"/>
          </a:xfrm>
        </p:grpSpPr>
        <p:grpSp>
          <p:nvGrpSpPr>
            <p:cNvPr id="22664" name="Group 100"/>
            <p:cNvGrpSpPr>
              <a:grpSpLocks/>
            </p:cNvGrpSpPr>
            <p:nvPr/>
          </p:nvGrpSpPr>
          <p:grpSpPr bwMode="auto">
            <a:xfrm>
              <a:off x="854138" y="3075296"/>
              <a:ext cx="7057014" cy="429904"/>
              <a:chOff x="1248786" y="3075296"/>
              <a:chExt cx="7057014" cy="429904"/>
            </a:xfrm>
          </p:grpSpPr>
          <p:sp>
            <p:nvSpPr>
              <p:cNvPr id="22666" name="TextBox 81"/>
              <p:cNvSpPr txBox="1">
                <a:spLocks noChangeArrowheads="1"/>
              </p:cNvSpPr>
              <p:nvPr/>
            </p:nvSpPr>
            <p:spPr bwMode="auto">
              <a:xfrm>
                <a:off x="1248786" y="3124200"/>
                <a:ext cx="288862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9pPr>
              </a:lstStyle>
              <a:p>
                <a:pPr eaLnBrk="1" hangingPunct="1"/>
                <a:r>
                  <a:rPr lang="en-US" altLang="en-US"/>
                  <a:t>1</a:t>
                </a:r>
              </a:p>
            </p:txBody>
          </p:sp>
          <p:sp>
            <p:nvSpPr>
              <p:cNvPr id="22667" name="TextBox 82"/>
              <p:cNvSpPr txBox="1">
                <a:spLocks noChangeArrowheads="1"/>
              </p:cNvSpPr>
              <p:nvPr/>
            </p:nvSpPr>
            <p:spPr bwMode="auto">
              <a:xfrm>
                <a:off x="1565622" y="3124200"/>
                <a:ext cx="325730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9pPr>
              </a:lstStyle>
              <a:p>
                <a:pPr eaLnBrk="1" hangingPunct="1"/>
                <a:r>
                  <a:rPr lang="en-US" altLang="en-US"/>
                  <a:t>2</a:t>
                </a:r>
              </a:p>
            </p:txBody>
          </p:sp>
          <p:sp>
            <p:nvSpPr>
              <p:cNvPr id="22668" name="TextBox 83"/>
              <p:cNvSpPr txBox="1">
                <a:spLocks noChangeArrowheads="1"/>
              </p:cNvSpPr>
              <p:nvPr/>
            </p:nvSpPr>
            <p:spPr bwMode="auto">
              <a:xfrm>
                <a:off x="1946622" y="3116240"/>
                <a:ext cx="325730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9pPr>
              </a:lstStyle>
              <a:p>
                <a:pPr eaLnBrk="1" hangingPunct="1"/>
                <a:r>
                  <a:rPr lang="en-US" altLang="en-US"/>
                  <a:t>3</a:t>
                </a:r>
              </a:p>
            </p:txBody>
          </p:sp>
          <p:sp>
            <p:nvSpPr>
              <p:cNvPr id="22669" name="TextBox 84"/>
              <p:cNvSpPr txBox="1">
                <a:spLocks noChangeArrowheads="1"/>
              </p:cNvSpPr>
              <p:nvPr/>
            </p:nvSpPr>
            <p:spPr bwMode="auto">
              <a:xfrm>
                <a:off x="2341270" y="3124200"/>
                <a:ext cx="325730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9pPr>
              </a:lstStyle>
              <a:p>
                <a:pPr eaLnBrk="1" hangingPunct="1"/>
                <a:r>
                  <a:rPr lang="en-US" altLang="en-US"/>
                  <a:t>4</a:t>
                </a:r>
              </a:p>
            </p:txBody>
          </p:sp>
          <p:sp>
            <p:nvSpPr>
              <p:cNvPr id="22670" name="TextBox 85"/>
              <p:cNvSpPr txBox="1">
                <a:spLocks noChangeArrowheads="1"/>
              </p:cNvSpPr>
              <p:nvPr/>
            </p:nvSpPr>
            <p:spPr bwMode="auto">
              <a:xfrm>
                <a:off x="2699984" y="3124200"/>
                <a:ext cx="325730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9pPr>
              </a:lstStyle>
              <a:p>
                <a:pPr eaLnBrk="1" hangingPunct="1"/>
                <a:r>
                  <a:rPr lang="en-US" altLang="en-US"/>
                  <a:t>5</a:t>
                </a:r>
              </a:p>
            </p:txBody>
          </p:sp>
          <p:sp>
            <p:nvSpPr>
              <p:cNvPr id="22671" name="TextBox 86"/>
              <p:cNvSpPr txBox="1">
                <a:spLocks noChangeArrowheads="1"/>
              </p:cNvSpPr>
              <p:nvPr/>
            </p:nvSpPr>
            <p:spPr bwMode="auto">
              <a:xfrm>
                <a:off x="3040718" y="3122220"/>
                <a:ext cx="325730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9pPr>
              </a:lstStyle>
              <a:p>
                <a:pPr eaLnBrk="1" hangingPunct="1"/>
                <a:r>
                  <a:rPr lang="en-US" altLang="en-US"/>
                  <a:t>6</a:t>
                </a:r>
              </a:p>
            </p:txBody>
          </p:sp>
          <p:sp>
            <p:nvSpPr>
              <p:cNvPr id="22672" name="TextBox 87"/>
              <p:cNvSpPr txBox="1">
                <a:spLocks noChangeArrowheads="1"/>
              </p:cNvSpPr>
              <p:nvPr/>
            </p:nvSpPr>
            <p:spPr bwMode="auto">
              <a:xfrm>
                <a:off x="3421718" y="3135868"/>
                <a:ext cx="325730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9pPr>
              </a:lstStyle>
              <a:p>
                <a:pPr eaLnBrk="1" hangingPunct="1"/>
                <a:r>
                  <a:rPr lang="en-US" altLang="en-US"/>
                  <a:t>7</a:t>
                </a:r>
              </a:p>
            </p:txBody>
          </p:sp>
          <p:sp>
            <p:nvSpPr>
              <p:cNvPr id="22673" name="TextBox 88"/>
              <p:cNvSpPr txBox="1">
                <a:spLocks noChangeArrowheads="1"/>
              </p:cNvSpPr>
              <p:nvPr/>
            </p:nvSpPr>
            <p:spPr bwMode="auto">
              <a:xfrm>
                <a:off x="3726518" y="3110552"/>
                <a:ext cx="325730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9pPr>
              </a:lstStyle>
              <a:p>
                <a:pPr eaLnBrk="1" hangingPunct="1"/>
                <a:r>
                  <a:rPr lang="en-US" altLang="en-US"/>
                  <a:t>8</a:t>
                </a:r>
              </a:p>
            </p:txBody>
          </p:sp>
          <p:sp>
            <p:nvSpPr>
              <p:cNvPr id="22674" name="TextBox 89"/>
              <p:cNvSpPr txBox="1">
                <a:spLocks noChangeArrowheads="1"/>
              </p:cNvSpPr>
              <p:nvPr/>
            </p:nvSpPr>
            <p:spPr bwMode="auto">
              <a:xfrm>
                <a:off x="4114800" y="3088944"/>
                <a:ext cx="325730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9pPr>
              </a:lstStyle>
              <a:p>
                <a:pPr eaLnBrk="1" hangingPunct="1"/>
                <a:r>
                  <a:rPr lang="en-US" altLang="en-US"/>
                  <a:t>9</a:t>
                </a:r>
              </a:p>
            </p:txBody>
          </p:sp>
          <p:sp>
            <p:nvSpPr>
              <p:cNvPr id="22675" name="TextBox 90"/>
              <p:cNvSpPr txBox="1">
                <a:spLocks noChangeArrowheads="1"/>
              </p:cNvSpPr>
              <p:nvPr/>
            </p:nvSpPr>
            <p:spPr bwMode="auto">
              <a:xfrm>
                <a:off x="4435538" y="3088944"/>
                <a:ext cx="429926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9pPr>
              </a:lstStyle>
              <a:p>
                <a:pPr eaLnBrk="1" hangingPunct="1"/>
                <a:r>
                  <a:rPr lang="en-US" altLang="en-US"/>
                  <a:t>10</a:t>
                </a:r>
              </a:p>
            </p:txBody>
          </p:sp>
          <p:sp>
            <p:nvSpPr>
              <p:cNvPr id="22676" name="TextBox 91"/>
              <p:cNvSpPr txBox="1">
                <a:spLocks noChangeArrowheads="1"/>
              </p:cNvSpPr>
              <p:nvPr/>
            </p:nvSpPr>
            <p:spPr bwMode="auto">
              <a:xfrm>
                <a:off x="5271426" y="3088944"/>
                <a:ext cx="429926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9pPr>
              </a:lstStyle>
              <a:p>
                <a:pPr eaLnBrk="1" hangingPunct="1"/>
                <a:r>
                  <a:rPr lang="en-US" altLang="en-US"/>
                  <a:t>12</a:t>
                </a:r>
              </a:p>
            </p:txBody>
          </p:sp>
          <p:sp>
            <p:nvSpPr>
              <p:cNvPr id="22677" name="TextBox 92"/>
              <p:cNvSpPr txBox="1">
                <a:spLocks noChangeArrowheads="1"/>
              </p:cNvSpPr>
              <p:nvPr/>
            </p:nvSpPr>
            <p:spPr bwMode="auto">
              <a:xfrm>
                <a:off x="5610826" y="3080984"/>
                <a:ext cx="429926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9pPr>
              </a:lstStyle>
              <a:p>
                <a:pPr eaLnBrk="1" hangingPunct="1"/>
                <a:r>
                  <a:rPr lang="en-US" altLang="en-US"/>
                  <a:t>13</a:t>
                </a:r>
              </a:p>
            </p:txBody>
          </p:sp>
          <p:sp>
            <p:nvSpPr>
              <p:cNvPr id="22678" name="TextBox 93"/>
              <p:cNvSpPr txBox="1">
                <a:spLocks noChangeArrowheads="1"/>
              </p:cNvSpPr>
              <p:nvPr/>
            </p:nvSpPr>
            <p:spPr bwMode="auto">
              <a:xfrm>
                <a:off x="5943600" y="3088944"/>
                <a:ext cx="429926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9pPr>
              </a:lstStyle>
              <a:p>
                <a:pPr eaLnBrk="1" hangingPunct="1"/>
                <a:r>
                  <a:rPr lang="en-US" altLang="en-US"/>
                  <a:t>14</a:t>
                </a:r>
              </a:p>
            </p:txBody>
          </p:sp>
          <p:sp>
            <p:nvSpPr>
              <p:cNvPr id="22679" name="TextBox 94"/>
              <p:cNvSpPr txBox="1">
                <a:spLocks noChangeArrowheads="1"/>
              </p:cNvSpPr>
              <p:nvPr/>
            </p:nvSpPr>
            <p:spPr bwMode="auto">
              <a:xfrm>
                <a:off x="6323922" y="3088944"/>
                <a:ext cx="429926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9pPr>
              </a:lstStyle>
              <a:p>
                <a:pPr eaLnBrk="1" hangingPunct="1"/>
                <a:r>
                  <a:rPr lang="en-US" altLang="en-US"/>
                  <a:t>15</a:t>
                </a:r>
              </a:p>
            </p:txBody>
          </p:sp>
          <p:sp>
            <p:nvSpPr>
              <p:cNvPr id="22680" name="TextBox 95"/>
              <p:cNvSpPr txBox="1">
                <a:spLocks noChangeArrowheads="1"/>
              </p:cNvSpPr>
              <p:nvPr/>
            </p:nvSpPr>
            <p:spPr bwMode="auto">
              <a:xfrm>
                <a:off x="6746522" y="3086964"/>
                <a:ext cx="429926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9pPr>
              </a:lstStyle>
              <a:p>
                <a:pPr eaLnBrk="1" hangingPunct="1"/>
                <a:r>
                  <a:rPr lang="en-US" altLang="en-US"/>
                  <a:t>16</a:t>
                </a:r>
              </a:p>
            </p:txBody>
          </p:sp>
          <p:sp>
            <p:nvSpPr>
              <p:cNvPr id="22681" name="TextBox 96"/>
              <p:cNvSpPr txBox="1">
                <a:spLocks noChangeArrowheads="1"/>
              </p:cNvSpPr>
              <p:nvPr/>
            </p:nvSpPr>
            <p:spPr bwMode="auto">
              <a:xfrm>
                <a:off x="7078640" y="3088944"/>
                <a:ext cx="429926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9pPr>
              </a:lstStyle>
              <a:p>
                <a:pPr eaLnBrk="1" hangingPunct="1"/>
                <a:r>
                  <a:rPr lang="en-US" altLang="en-US"/>
                  <a:t>17</a:t>
                </a:r>
              </a:p>
            </p:txBody>
          </p:sp>
          <p:sp>
            <p:nvSpPr>
              <p:cNvPr id="22682" name="TextBox 97"/>
              <p:cNvSpPr txBox="1">
                <a:spLocks noChangeArrowheads="1"/>
              </p:cNvSpPr>
              <p:nvPr/>
            </p:nvSpPr>
            <p:spPr bwMode="auto">
              <a:xfrm>
                <a:off x="7453930" y="3075296"/>
                <a:ext cx="429926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9pPr>
              </a:lstStyle>
              <a:p>
                <a:pPr eaLnBrk="1" hangingPunct="1"/>
                <a:r>
                  <a:rPr lang="en-US" altLang="en-US"/>
                  <a:t>18</a:t>
                </a:r>
              </a:p>
            </p:txBody>
          </p:sp>
          <p:sp>
            <p:nvSpPr>
              <p:cNvPr id="22683" name="TextBox 98"/>
              <p:cNvSpPr txBox="1">
                <a:spLocks noChangeArrowheads="1"/>
              </p:cNvSpPr>
              <p:nvPr/>
            </p:nvSpPr>
            <p:spPr bwMode="auto">
              <a:xfrm>
                <a:off x="4841522" y="3094924"/>
                <a:ext cx="393056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9pPr>
              </a:lstStyle>
              <a:p>
                <a:pPr eaLnBrk="1" hangingPunct="1"/>
                <a:r>
                  <a:rPr lang="en-US" altLang="en-US"/>
                  <a:t>11</a:t>
                </a:r>
              </a:p>
            </p:txBody>
          </p:sp>
          <p:sp>
            <p:nvSpPr>
              <p:cNvPr id="22684" name="TextBox 99"/>
              <p:cNvSpPr txBox="1">
                <a:spLocks noChangeArrowheads="1"/>
              </p:cNvSpPr>
              <p:nvPr/>
            </p:nvSpPr>
            <p:spPr bwMode="auto">
              <a:xfrm>
                <a:off x="7875874" y="3081276"/>
                <a:ext cx="429926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9pPr>
              </a:lstStyle>
              <a:p>
                <a:pPr eaLnBrk="1" hangingPunct="1"/>
                <a:r>
                  <a:rPr lang="en-US" altLang="en-US"/>
                  <a:t>19</a:t>
                </a:r>
              </a:p>
            </p:txBody>
          </p:sp>
        </p:grpSp>
        <p:sp>
          <p:nvSpPr>
            <p:cNvPr id="22665" name="TextBox 122"/>
            <p:cNvSpPr txBox="1">
              <a:spLocks noChangeArrowheads="1"/>
            </p:cNvSpPr>
            <p:nvPr/>
          </p:nvSpPr>
          <p:spPr bwMode="auto">
            <a:xfrm>
              <a:off x="7875874" y="3081276"/>
              <a:ext cx="466794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9pPr>
            </a:lstStyle>
            <a:p>
              <a:pPr eaLnBrk="1" hangingPunct="1"/>
              <a:r>
                <a:rPr lang="en-US" altLang="en-US"/>
                <a:t>20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0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4" dur="500"/>
                                        <p:tgtEl>
                                          <p:spTgt spid="10905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3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6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9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5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8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1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4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0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3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6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9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 nodeType="clickPar">
                      <p:stCondLst>
                        <p:cond delay="indefinite"/>
                      </p:stCondLst>
                      <p:childTnLst>
                        <p:par>
                          <p:cTn id="1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Text Box 2"/>
          <p:cNvSpPr txBox="1">
            <a:spLocks noChangeArrowheads="1"/>
          </p:cNvSpPr>
          <p:nvPr/>
        </p:nvSpPr>
        <p:spPr bwMode="auto">
          <a:xfrm>
            <a:off x="2286000" y="76200"/>
            <a:ext cx="45926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 sz="2400" b="1">
                <a:solidFill>
                  <a:srgbClr val="003366"/>
                </a:solidFill>
              </a:rPr>
              <a:t>Choosing Non-Adjacent Books</a:t>
            </a:r>
          </a:p>
        </p:txBody>
      </p:sp>
      <p:graphicFrame>
        <p:nvGraphicFramePr>
          <p:cNvPr id="2050" name="Object 3"/>
          <p:cNvGraphicFramePr>
            <a:graphicFrameLocks noChangeAspect="1"/>
          </p:cNvGraphicFramePr>
          <p:nvPr/>
        </p:nvGraphicFramePr>
        <p:xfrm>
          <a:off x="1193800" y="3352800"/>
          <a:ext cx="1865313" cy="933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6" name="Equation" r:id="rId4" imgW="507960" imgH="253800" progId="Equation.DSMT4">
                  <p:embed/>
                </p:oleObj>
              </mc:Choice>
              <mc:Fallback>
                <p:oleObj name="Equation" r:id="rId4" imgW="507960" imgH="2538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93800" y="3352800"/>
                        <a:ext cx="1865313" cy="933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52" name="Text Box 8"/>
          <p:cNvSpPr txBox="1">
            <a:spLocks noChangeArrowheads="1"/>
          </p:cNvSpPr>
          <p:nvPr/>
        </p:nvSpPr>
        <p:spPr bwMode="auto">
          <a:xfrm>
            <a:off x="152400" y="2108200"/>
            <a:ext cx="6477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kumimoji="0" lang="en-US" altLang="en-US" i="1">
                <a:solidFill>
                  <a:srgbClr val="3333CC"/>
                </a:solidFill>
              </a:rPr>
              <a:t>A </a:t>
            </a:r>
            <a:r>
              <a:rPr kumimoji="0" lang="en-US" altLang="en-US">
                <a:solidFill>
                  <a:srgbClr val="000000"/>
                </a:solidFill>
              </a:rPr>
              <a:t>::= all selections of 6 non-adjacent books from 20 books</a:t>
            </a:r>
          </a:p>
        </p:txBody>
      </p:sp>
      <p:sp>
        <p:nvSpPr>
          <p:cNvPr id="2053" name="Text Box 9"/>
          <p:cNvSpPr txBox="1">
            <a:spLocks noChangeArrowheads="1"/>
          </p:cNvSpPr>
          <p:nvPr/>
        </p:nvSpPr>
        <p:spPr bwMode="auto">
          <a:xfrm>
            <a:off x="685800" y="2779713"/>
            <a:ext cx="5354638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kumimoji="0" lang="en-US" altLang="en-US"/>
              <a:t> </a:t>
            </a:r>
            <a:r>
              <a:rPr kumimoji="0" lang="en-US" altLang="en-US" i="1">
                <a:solidFill>
                  <a:srgbClr val="008000"/>
                </a:solidFill>
              </a:rPr>
              <a:t>B</a:t>
            </a:r>
            <a:r>
              <a:rPr kumimoji="0" lang="en-US" altLang="en-US"/>
              <a:t>::= all 15-bit binary strings with exactly six 1’s.</a:t>
            </a:r>
          </a:p>
        </p:txBody>
      </p:sp>
      <p:pic>
        <p:nvPicPr>
          <p:cNvPr id="947210" name="Picture 10" descr="txp_fig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5000" y="3251200"/>
            <a:ext cx="1701800" cy="1092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5" name="Picture 11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609600"/>
            <a:ext cx="7924800" cy="1301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47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fld id="{BFCA4EF3-2F94-463F-A46E-82665F8E612E}" type="slidenum">
              <a:rPr lang="en-US" altLang="zh-TW">
                <a:latin typeface="Arial" panose="020B0604020202020204" pitchFamily="34" charset="0"/>
              </a:rPr>
              <a:pPr eaLnBrk="1" hangingPunct="1"/>
              <a:t>20</a:t>
            </a:fld>
            <a:endParaRPr lang="en-US" altLang="zh-TW">
              <a:latin typeface="Arial" panose="020B0604020202020204" pitchFamily="34" charset="0"/>
            </a:endParaRPr>
          </a:p>
        </p:txBody>
      </p:sp>
      <p:sp>
        <p:nvSpPr>
          <p:cNvPr id="23555" name="Text Box 2"/>
          <p:cNvSpPr txBox="1">
            <a:spLocks noChangeArrowheads="1"/>
          </p:cNvSpPr>
          <p:nvPr/>
        </p:nvSpPr>
        <p:spPr bwMode="auto">
          <a:xfrm>
            <a:off x="3379788" y="457200"/>
            <a:ext cx="23352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 sz="2400" b="1">
                <a:solidFill>
                  <a:srgbClr val="003366"/>
                </a:solidFill>
              </a:rPr>
              <a:t>Counting Loops</a:t>
            </a:r>
          </a:p>
        </p:txBody>
      </p:sp>
      <p:sp>
        <p:nvSpPr>
          <p:cNvPr id="23556" name="Text Box 9"/>
          <p:cNvSpPr txBox="1">
            <a:spLocks noChangeArrowheads="1"/>
          </p:cNvSpPr>
          <p:nvPr/>
        </p:nvSpPr>
        <p:spPr bwMode="auto">
          <a:xfrm>
            <a:off x="1857375" y="1295400"/>
            <a:ext cx="5381625" cy="1190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/>
              <a:t>for i=1 to n do</a:t>
            </a:r>
          </a:p>
          <a:p>
            <a:pPr eaLnBrk="1" hangingPunct="1"/>
            <a:r>
              <a:rPr lang="en-US" altLang="zh-TW"/>
              <a:t>	for j=1 to i do</a:t>
            </a:r>
          </a:p>
          <a:p>
            <a:pPr eaLnBrk="1" hangingPunct="1"/>
            <a:r>
              <a:rPr lang="en-US" altLang="zh-TW"/>
              <a:t>		for k=1 to j do</a:t>
            </a:r>
          </a:p>
          <a:p>
            <a:pPr eaLnBrk="1" hangingPunct="1"/>
            <a:r>
              <a:rPr lang="en-US" altLang="zh-TW"/>
              <a:t>			printf(“hello world\n”);</a:t>
            </a:r>
          </a:p>
        </p:txBody>
      </p:sp>
      <p:sp>
        <p:nvSpPr>
          <p:cNvPr id="23557" name="Text Box 10"/>
          <p:cNvSpPr txBox="1">
            <a:spLocks noChangeArrowheads="1"/>
          </p:cNvSpPr>
          <p:nvPr/>
        </p:nvSpPr>
        <p:spPr bwMode="auto">
          <a:xfrm>
            <a:off x="1857375" y="2819400"/>
            <a:ext cx="5203825" cy="376238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/>
              <a:t>How many “hello world” will this program print?</a:t>
            </a:r>
          </a:p>
        </p:txBody>
      </p:sp>
      <p:sp>
        <p:nvSpPr>
          <p:cNvPr id="950280" name="Text Box 8"/>
          <p:cNvSpPr txBox="1">
            <a:spLocks noChangeArrowheads="1"/>
          </p:cNvSpPr>
          <p:nvPr/>
        </p:nvSpPr>
        <p:spPr bwMode="auto">
          <a:xfrm>
            <a:off x="2209800" y="4281488"/>
            <a:ext cx="4716463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kumimoji="0" lang="en-US" altLang="en-US"/>
              <a:t> </a:t>
            </a:r>
            <a:r>
              <a:rPr kumimoji="0" lang="en-US" altLang="en-US" i="1">
                <a:solidFill>
                  <a:srgbClr val="008000"/>
                </a:solidFill>
              </a:rPr>
              <a:t>B</a:t>
            </a:r>
            <a:r>
              <a:rPr kumimoji="0" lang="en-US" altLang="en-US"/>
              <a:t>::= all strings with n-1 zeroes and 3 ones.</a:t>
            </a:r>
          </a:p>
        </p:txBody>
      </p:sp>
      <p:sp>
        <p:nvSpPr>
          <p:cNvPr id="950281" name="Text Box 9"/>
          <p:cNvSpPr txBox="1">
            <a:spLocks noChangeArrowheads="1"/>
          </p:cNvSpPr>
          <p:nvPr/>
        </p:nvSpPr>
        <p:spPr bwMode="auto">
          <a:xfrm>
            <a:off x="2286000" y="3671888"/>
            <a:ext cx="44958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kumimoji="0" lang="en-US" altLang="en-US" i="1">
                <a:solidFill>
                  <a:srgbClr val="3333CC"/>
                </a:solidFill>
              </a:rPr>
              <a:t>A </a:t>
            </a:r>
            <a:r>
              <a:rPr kumimoji="0" lang="en-US" altLang="en-US">
                <a:solidFill>
                  <a:srgbClr val="000000"/>
                </a:solidFill>
              </a:rPr>
              <a:t>::= all (i,j,k) triple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0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0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0280" grpId="0"/>
      <p:bldP spid="950281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fld id="{CEB82A06-E506-4CCE-9CE7-785E15CD5915}" type="slidenum">
              <a:rPr lang="en-US" altLang="zh-TW">
                <a:latin typeface="Arial" panose="020B0604020202020204" pitchFamily="34" charset="0"/>
              </a:rPr>
              <a:pPr eaLnBrk="1" hangingPunct="1"/>
              <a:t>21</a:t>
            </a:fld>
            <a:endParaRPr lang="en-US" altLang="zh-TW">
              <a:latin typeface="Arial" panose="020B0604020202020204" pitchFamily="34" charset="0"/>
            </a:endParaRPr>
          </a:p>
        </p:txBody>
      </p:sp>
      <p:sp>
        <p:nvSpPr>
          <p:cNvPr id="24579" name="Text Box 3"/>
          <p:cNvSpPr txBox="1">
            <a:spLocks noChangeArrowheads="1"/>
          </p:cNvSpPr>
          <p:nvPr/>
        </p:nvSpPr>
        <p:spPr bwMode="auto">
          <a:xfrm>
            <a:off x="1857375" y="1295400"/>
            <a:ext cx="5381625" cy="1190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/>
              <a:t>for i=1 to n do</a:t>
            </a:r>
          </a:p>
          <a:p>
            <a:pPr eaLnBrk="1" hangingPunct="1"/>
            <a:r>
              <a:rPr lang="en-US" altLang="zh-TW"/>
              <a:t>	for j=1 to i do</a:t>
            </a:r>
          </a:p>
          <a:p>
            <a:pPr eaLnBrk="1" hangingPunct="1"/>
            <a:r>
              <a:rPr lang="en-US" altLang="zh-TW"/>
              <a:t>		for k=1 to j do</a:t>
            </a:r>
          </a:p>
          <a:p>
            <a:pPr eaLnBrk="1" hangingPunct="1"/>
            <a:r>
              <a:rPr lang="en-US" altLang="zh-TW"/>
              <a:t>			printf(“hello world\n”);</a:t>
            </a:r>
          </a:p>
        </p:txBody>
      </p:sp>
      <p:sp>
        <p:nvSpPr>
          <p:cNvPr id="1062918" name="Text Box 6"/>
          <p:cNvSpPr txBox="1">
            <a:spLocks noChangeArrowheads="1"/>
          </p:cNvSpPr>
          <p:nvPr/>
        </p:nvSpPr>
        <p:spPr bwMode="auto">
          <a:xfrm>
            <a:off x="2362200" y="3505200"/>
            <a:ext cx="43275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/>
              <a:t>1        2        3        4         5       …       n</a:t>
            </a:r>
          </a:p>
        </p:txBody>
      </p:sp>
      <p:sp>
        <p:nvSpPr>
          <p:cNvPr id="1062919" name="Line 7"/>
          <p:cNvSpPr>
            <a:spLocks noChangeShapeType="1"/>
          </p:cNvSpPr>
          <p:nvPr/>
        </p:nvSpPr>
        <p:spPr bwMode="auto">
          <a:xfrm>
            <a:off x="2819400" y="4191000"/>
            <a:ext cx="0" cy="533400"/>
          </a:xfrm>
          <a:prstGeom prst="line">
            <a:avLst/>
          </a:prstGeom>
          <a:noFill/>
          <a:ln w="38100">
            <a:solidFill>
              <a:srgbClr val="A5002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62920" name="Line 8"/>
          <p:cNvSpPr>
            <a:spLocks noChangeShapeType="1"/>
          </p:cNvSpPr>
          <p:nvPr/>
        </p:nvSpPr>
        <p:spPr bwMode="auto">
          <a:xfrm>
            <a:off x="3581400" y="4191000"/>
            <a:ext cx="0" cy="533400"/>
          </a:xfrm>
          <a:prstGeom prst="line">
            <a:avLst/>
          </a:prstGeom>
          <a:noFill/>
          <a:ln w="38100">
            <a:solidFill>
              <a:srgbClr val="A5002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62921" name="Line 9"/>
          <p:cNvSpPr>
            <a:spLocks noChangeShapeType="1"/>
          </p:cNvSpPr>
          <p:nvPr/>
        </p:nvSpPr>
        <p:spPr bwMode="auto">
          <a:xfrm>
            <a:off x="4267200" y="4191000"/>
            <a:ext cx="0" cy="533400"/>
          </a:xfrm>
          <a:prstGeom prst="line">
            <a:avLst/>
          </a:prstGeom>
          <a:noFill/>
          <a:ln w="38100">
            <a:solidFill>
              <a:srgbClr val="A5002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62922" name="Line 10"/>
          <p:cNvSpPr>
            <a:spLocks noChangeShapeType="1"/>
          </p:cNvSpPr>
          <p:nvPr/>
        </p:nvSpPr>
        <p:spPr bwMode="auto">
          <a:xfrm>
            <a:off x="4953000" y="4191000"/>
            <a:ext cx="0" cy="533400"/>
          </a:xfrm>
          <a:prstGeom prst="line">
            <a:avLst/>
          </a:prstGeom>
          <a:noFill/>
          <a:ln w="38100">
            <a:solidFill>
              <a:srgbClr val="A5002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62923" name="Line 11"/>
          <p:cNvSpPr>
            <a:spLocks noChangeShapeType="1"/>
          </p:cNvSpPr>
          <p:nvPr/>
        </p:nvSpPr>
        <p:spPr bwMode="auto">
          <a:xfrm>
            <a:off x="5638800" y="4191000"/>
            <a:ext cx="0" cy="533400"/>
          </a:xfrm>
          <a:prstGeom prst="line">
            <a:avLst/>
          </a:prstGeom>
          <a:noFill/>
          <a:ln w="38100">
            <a:solidFill>
              <a:srgbClr val="A5002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62924" name="Line 12"/>
          <p:cNvSpPr>
            <a:spLocks noChangeShapeType="1"/>
          </p:cNvSpPr>
          <p:nvPr/>
        </p:nvSpPr>
        <p:spPr bwMode="auto">
          <a:xfrm>
            <a:off x="6324600" y="4191000"/>
            <a:ext cx="0" cy="533400"/>
          </a:xfrm>
          <a:prstGeom prst="line">
            <a:avLst/>
          </a:prstGeom>
          <a:noFill/>
          <a:ln w="38100">
            <a:solidFill>
              <a:srgbClr val="A5002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62925" name="Text Box 13"/>
          <p:cNvSpPr txBox="1">
            <a:spLocks noChangeArrowheads="1"/>
          </p:cNvSpPr>
          <p:nvPr/>
        </p:nvSpPr>
        <p:spPr bwMode="auto">
          <a:xfrm>
            <a:off x="5775325" y="4232275"/>
            <a:ext cx="33813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/>
              <a:t>…</a:t>
            </a:r>
          </a:p>
        </p:txBody>
      </p:sp>
      <p:sp>
        <p:nvSpPr>
          <p:cNvPr id="1062926" name="Text Box 14"/>
          <p:cNvSpPr txBox="1">
            <a:spLocks noChangeArrowheads="1"/>
          </p:cNvSpPr>
          <p:nvPr/>
        </p:nvSpPr>
        <p:spPr bwMode="auto">
          <a:xfrm>
            <a:off x="2187575" y="2909888"/>
            <a:ext cx="4452938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/>
              <a:t>There are n possible values for the i,j,k.</a:t>
            </a:r>
          </a:p>
        </p:txBody>
      </p:sp>
      <p:sp>
        <p:nvSpPr>
          <p:cNvPr id="24589" name="Line 15"/>
          <p:cNvSpPr>
            <a:spLocks noChangeShapeType="1"/>
          </p:cNvSpPr>
          <p:nvPr/>
        </p:nvSpPr>
        <p:spPr bwMode="auto">
          <a:xfrm>
            <a:off x="0" y="2667000"/>
            <a:ext cx="9144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62928" name="Text Box 16"/>
          <p:cNvSpPr txBox="1">
            <a:spLocks noChangeArrowheads="1"/>
          </p:cNvSpPr>
          <p:nvPr/>
        </p:nvSpPr>
        <p:spPr bwMode="auto">
          <a:xfrm>
            <a:off x="1676400" y="5299075"/>
            <a:ext cx="55356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/>
              <a:t>Imagine there are n-1 separators for the n values.</a:t>
            </a:r>
          </a:p>
        </p:txBody>
      </p:sp>
      <p:sp>
        <p:nvSpPr>
          <p:cNvPr id="1062929" name="Text Box 17"/>
          <p:cNvSpPr txBox="1">
            <a:spLocks noChangeArrowheads="1"/>
          </p:cNvSpPr>
          <p:nvPr/>
        </p:nvSpPr>
        <p:spPr bwMode="auto">
          <a:xfrm>
            <a:off x="990600" y="5943600"/>
            <a:ext cx="713898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/>
              <a:t>If i=4, j=2, k=2, then there are two zeroes in 2 and one zero in 4.</a:t>
            </a:r>
          </a:p>
        </p:txBody>
      </p:sp>
      <p:sp>
        <p:nvSpPr>
          <p:cNvPr id="1062930" name="Oval 18"/>
          <p:cNvSpPr>
            <a:spLocks noChangeArrowheads="1"/>
          </p:cNvSpPr>
          <p:nvPr/>
        </p:nvSpPr>
        <p:spPr bwMode="auto">
          <a:xfrm>
            <a:off x="2895600" y="43434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062931" name="Oval 19"/>
          <p:cNvSpPr>
            <a:spLocks noChangeArrowheads="1"/>
          </p:cNvSpPr>
          <p:nvPr/>
        </p:nvSpPr>
        <p:spPr bwMode="auto">
          <a:xfrm>
            <a:off x="3276600" y="43434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062932" name="Oval 20"/>
          <p:cNvSpPr>
            <a:spLocks noChangeArrowheads="1"/>
          </p:cNvSpPr>
          <p:nvPr/>
        </p:nvSpPr>
        <p:spPr bwMode="auto">
          <a:xfrm>
            <a:off x="4495800" y="43434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4595" name="Text Box 2"/>
          <p:cNvSpPr txBox="1">
            <a:spLocks noChangeArrowheads="1"/>
          </p:cNvSpPr>
          <p:nvPr/>
        </p:nvSpPr>
        <p:spPr bwMode="auto">
          <a:xfrm>
            <a:off x="3352800" y="457200"/>
            <a:ext cx="23352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 sz="2400" b="1">
                <a:solidFill>
                  <a:srgbClr val="003366"/>
                </a:solidFill>
              </a:rPr>
              <a:t>Counting Loops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2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2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2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2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2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2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2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2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2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2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2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2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2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2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62918" grpId="0"/>
      <p:bldP spid="1062925" grpId="0"/>
      <p:bldP spid="1062926" grpId="0"/>
      <p:bldP spid="1062928" grpId="0"/>
      <p:bldP spid="1062929" grpId="0"/>
      <p:bldP spid="1062930" grpId="0" animBg="1"/>
      <p:bldP spid="1062931" grpId="0" animBg="1"/>
      <p:bldP spid="1062932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fld id="{9A982FD8-E10C-4D0A-907C-06B3C24E0DF0}" type="slidenum">
              <a:rPr lang="en-US" altLang="zh-TW">
                <a:latin typeface="Arial" panose="020B0604020202020204" pitchFamily="34" charset="0"/>
              </a:rPr>
              <a:pPr eaLnBrk="1" hangingPunct="1"/>
              <a:t>22</a:t>
            </a:fld>
            <a:endParaRPr lang="en-US" altLang="zh-TW">
              <a:latin typeface="Arial" panose="020B0604020202020204" pitchFamily="34" charset="0"/>
            </a:endParaRPr>
          </a:p>
        </p:txBody>
      </p:sp>
      <p:sp>
        <p:nvSpPr>
          <p:cNvPr id="25603" name="Text Box 3"/>
          <p:cNvSpPr txBox="1">
            <a:spLocks noChangeArrowheads="1"/>
          </p:cNvSpPr>
          <p:nvPr/>
        </p:nvSpPr>
        <p:spPr bwMode="auto">
          <a:xfrm>
            <a:off x="1857375" y="1295400"/>
            <a:ext cx="5381625" cy="1190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/>
              <a:t>for i=1 to n do</a:t>
            </a:r>
          </a:p>
          <a:p>
            <a:pPr eaLnBrk="1" hangingPunct="1"/>
            <a:r>
              <a:rPr lang="en-US" altLang="zh-TW"/>
              <a:t>	for j=1 to i do</a:t>
            </a:r>
          </a:p>
          <a:p>
            <a:pPr eaLnBrk="1" hangingPunct="1"/>
            <a:r>
              <a:rPr lang="en-US" altLang="zh-TW"/>
              <a:t>		for k=1 to j do</a:t>
            </a:r>
          </a:p>
          <a:p>
            <a:pPr eaLnBrk="1" hangingPunct="1"/>
            <a:r>
              <a:rPr lang="en-US" altLang="zh-TW"/>
              <a:t>			printf(“hello world\n”);</a:t>
            </a:r>
          </a:p>
        </p:txBody>
      </p:sp>
      <p:sp>
        <p:nvSpPr>
          <p:cNvPr id="25604" name="Text Box 4"/>
          <p:cNvSpPr txBox="1">
            <a:spLocks noChangeArrowheads="1"/>
          </p:cNvSpPr>
          <p:nvPr/>
        </p:nvSpPr>
        <p:spPr bwMode="auto">
          <a:xfrm>
            <a:off x="2362200" y="3505200"/>
            <a:ext cx="43275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/>
              <a:t>1        2        3        4         5       …       n</a:t>
            </a:r>
          </a:p>
        </p:txBody>
      </p:sp>
      <p:sp>
        <p:nvSpPr>
          <p:cNvPr id="25605" name="Line 5"/>
          <p:cNvSpPr>
            <a:spLocks noChangeShapeType="1"/>
          </p:cNvSpPr>
          <p:nvPr/>
        </p:nvSpPr>
        <p:spPr bwMode="auto">
          <a:xfrm>
            <a:off x="2819400" y="4191000"/>
            <a:ext cx="0" cy="533400"/>
          </a:xfrm>
          <a:prstGeom prst="line">
            <a:avLst/>
          </a:prstGeom>
          <a:noFill/>
          <a:ln w="38100">
            <a:solidFill>
              <a:srgbClr val="A5002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5606" name="Line 6"/>
          <p:cNvSpPr>
            <a:spLocks noChangeShapeType="1"/>
          </p:cNvSpPr>
          <p:nvPr/>
        </p:nvSpPr>
        <p:spPr bwMode="auto">
          <a:xfrm>
            <a:off x="3581400" y="4191000"/>
            <a:ext cx="0" cy="533400"/>
          </a:xfrm>
          <a:prstGeom prst="line">
            <a:avLst/>
          </a:prstGeom>
          <a:noFill/>
          <a:ln w="38100">
            <a:solidFill>
              <a:srgbClr val="A5002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5607" name="Line 7"/>
          <p:cNvSpPr>
            <a:spLocks noChangeShapeType="1"/>
          </p:cNvSpPr>
          <p:nvPr/>
        </p:nvSpPr>
        <p:spPr bwMode="auto">
          <a:xfrm>
            <a:off x="4267200" y="4191000"/>
            <a:ext cx="0" cy="533400"/>
          </a:xfrm>
          <a:prstGeom prst="line">
            <a:avLst/>
          </a:prstGeom>
          <a:noFill/>
          <a:ln w="38100">
            <a:solidFill>
              <a:srgbClr val="A5002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5608" name="Line 8"/>
          <p:cNvSpPr>
            <a:spLocks noChangeShapeType="1"/>
          </p:cNvSpPr>
          <p:nvPr/>
        </p:nvSpPr>
        <p:spPr bwMode="auto">
          <a:xfrm>
            <a:off x="4953000" y="4191000"/>
            <a:ext cx="0" cy="533400"/>
          </a:xfrm>
          <a:prstGeom prst="line">
            <a:avLst/>
          </a:prstGeom>
          <a:noFill/>
          <a:ln w="38100">
            <a:solidFill>
              <a:srgbClr val="A5002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5609" name="Line 9"/>
          <p:cNvSpPr>
            <a:spLocks noChangeShapeType="1"/>
          </p:cNvSpPr>
          <p:nvPr/>
        </p:nvSpPr>
        <p:spPr bwMode="auto">
          <a:xfrm>
            <a:off x="5638800" y="4191000"/>
            <a:ext cx="0" cy="533400"/>
          </a:xfrm>
          <a:prstGeom prst="line">
            <a:avLst/>
          </a:prstGeom>
          <a:noFill/>
          <a:ln w="38100">
            <a:solidFill>
              <a:srgbClr val="A5002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5610" name="Line 10"/>
          <p:cNvSpPr>
            <a:spLocks noChangeShapeType="1"/>
          </p:cNvSpPr>
          <p:nvPr/>
        </p:nvSpPr>
        <p:spPr bwMode="auto">
          <a:xfrm>
            <a:off x="6324600" y="4191000"/>
            <a:ext cx="0" cy="533400"/>
          </a:xfrm>
          <a:prstGeom prst="line">
            <a:avLst/>
          </a:prstGeom>
          <a:noFill/>
          <a:ln w="38100">
            <a:solidFill>
              <a:srgbClr val="A5002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5611" name="Text Box 11"/>
          <p:cNvSpPr txBox="1">
            <a:spLocks noChangeArrowheads="1"/>
          </p:cNvSpPr>
          <p:nvPr/>
        </p:nvSpPr>
        <p:spPr bwMode="auto">
          <a:xfrm>
            <a:off x="5775325" y="4232275"/>
            <a:ext cx="33813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/>
              <a:t>…</a:t>
            </a:r>
          </a:p>
        </p:txBody>
      </p:sp>
      <p:sp>
        <p:nvSpPr>
          <p:cNvPr id="25612" name="Line 13"/>
          <p:cNvSpPr>
            <a:spLocks noChangeShapeType="1"/>
          </p:cNvSpPr>
          <p:nvPr/>
        </p:nvSpPr>
        <p:spPr bwMode="auto">
          <a:xfrm>
            <a:off x="0" y="2667000"/>
            <a:ext cx="9144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5613" name="Oval 16"/>
          <p:cNvSpPr>
            <a:spLocks noChangeArrowheads="1"/>
          </p:cNvSpPr>
          <p:nvPr/>
        </p:nvSpPr>
        <p:spPr bwMode="auto">
          <a:xfrm>
            <a:off x="2895600" y="43434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5614" name="Oval 17"/>
          <p:cNvSpPr>
            <a:spLocks noChangeArrowheads="1"/>
          </p:cNvSpPr>
          <p:nvPr/>
        </p:nvSpPr>
        <p:spPr bwMode="auto">
          <a:xfrm>
            <a:off x="3276600" y="43434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5615" name="Oval 18"/>
          <p:cNvSpPr>
            <a:spLocks noChangeArrowheads="1"/>
          </p:cNvSpPr>
          <p:nvPr/>
        </p:nvSpPr>
        <p:spPr bwMode="auto">
          <a:xfrm>
            <a:off x="4495800" y="43434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5616" name="Text Box 2"/>
          <p:cNvSpPr txBox="1">
            <a:spLocks noChangeArrowheads="1"/>
          </p:cNvSpPr>
          <p:nvPr/>
        </p:nvSpPr>
        <p:spPr bwMode="auto">
          <a:xfrm>
            <a:off x="3352800" y="457200"/>
            <a:ext cx="23352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 sz="2400" b="1">
                <a:solidFill>
                  <a:srgbClr val="003366"/>
                </a:solidFill>
              </a:rPr>
              <a:t>Counting Loops</a:t>
            </a:r>
          </a:p>
        </p:txBody>
      </p:sp>
      <p:sp>
        <p:nvSpPr>
          <p:cNvPr id="77841" name="Text Box 17"/>
          <p:cNvSpPr txBox="1">
            <a:spLocks noChangeArrowheads="1"/>
          </p:cNvSpPr>
          <p:nvPr/>
        </p:nvSpPr>
        <p:spPr bwMode="auto">
          <a:xfrm>
            <a:off x="685800" y="5181600"/>
            <a:ext cx="7788275" cy="1192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/>
              <a:t>In general, the position of the first zero corresponds to the value of k.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TW"/>
              <a:t>The position of the second zero corresponds to the value of j.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TW"/>
              <a:t>The position of the third zero corresponds to the value of i.</a:t>
            </a:r>
          </a:p>
        </p:txBody>
      </p:sp>
      <p:sp>
        <p:nvSpPr>
          <p:cNvPr id="25618" name="Text Box 18"/>
          <p:cNvSpPr txBox="1">
            <a:spLocks noChangeArrowheads="1"/>
          </p:cNvSpPr>
          <p:nvPr/>
        </p:nvSpPr>
        <p:spPr bwMode="auto">
          <a:xfrm>
            <a:off x="2879725" y="4689475"/>
            <a:ext cx="30797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/>
              <a:t>k</a:t>
            </a:r>
          </a:p>
        </p:txBody>
      </p:sp>
      <p:sp>
        <p:nvSpPr>
          <p:cNvPr id="25619" name="Text Box 19"/>
          <p:cNvSpPr txBox="1">
            <a:spLocks noChangeArrowheads="1"/>
          </p:cNvSpPr>
          <p:nvPr/>
        </p:nvSpPr>
        <p:spPr bwMode="auto">
          <a:xfrm>
            <a:off x="3273425" y="4648200"/>
            <a:ext cx="2762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/>
              <a:t>j</a:t>
            </a:r>
          </a:p>
        </p:txBody>
      </p:sp>
      <p:sp>
        <p:nvSpPr>
          <p:cNvPr id="25620" name="Text Box 20"/>
          <p:cNvSpPr txBox="1">
            <a:spLocks noChangeArrowheads="1"/>
          </p:cNvSpPr>
          <p:nvPr/>
        </p:nvSpPr>
        <p:spPr bwMode="auto">
          <a:xfrm>
            <a:off x="4495800" y="4662488"/>
            <a:ext cx="2476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/>
              <a:t>i</a:t>
            </a:r>
          </a:p>
        </p:txBody>
      </p:sp>
      <p:sp>
        <p:nvSpPr>
          <p:cNvPr id="25621" name="Text Box 14"/>
          <p:cNvSpPr txBox="1">
            <a:spLocks noChangeArrowheads="1"/>
          </p:cNvSpPr>
          <p:nvPr/>
        </p:nvSpPr>
        <p:spPr bwMode="auto">
          <a:xfrm>
            <a:off x="2187575" y="2909888"/>
            <a:ext cx="4452938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/>
              <a:t>There are n possible values for the i,j,k.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841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fld id="{E69FFC3A-531C-446D-AED6-6982F6363092}" type="slidenum">
              <a:rPr lang="en-US" altLang="zh-TW">
                <a:latin typeface="Arial" panose="020B0604020202020204" pitchFamily="34" charset="0"/>
              </a:rPr>
              <a:pPr eaLnBrk="1" hangingPunct="1"/>
              <a:t>23</a:t>
            </a:fld>
            <a:endParaRPr lang="en-US" altLang="zh-TW">
              <a:latin typeface="Arial" panose="020B0604020202020204" pitchFamily="34" charset="0"/>
            </a:endParaRPr>
          </a:p>
        </p:txBody>
      </p:sp>
      <p:sp>
        <p:nvSpPr>
          <p:cNvPr id="26627" name="Text Box 9"/>
          <p:cNvSpPr txBox="1">
            <a:spLocks noChangeArrowheads="1"/>
          </p:cNvSpPr>
          <p:nvPr/>
        </p:nvSpPr>
        <p:spPr bwMode="auto">
          <a:xfrm>
            <a:off x="1219200" y="1447800"/>
            <a:ext cx="6743700" cy="792163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/>
              <a:t>How many solutions are there to the equation x</a:t>
            </a:r>
            <a:r>
              <a:rPr lang="en-US" altLang="zh-TW" baseline="-25000"/>
              <a:t>1</a:t>
            </a:r>
            <a:r>
              <a:rPr lang="en-US" altLang="zh-TW"/>
              <a:t>+x</a:t>
            </a:r>
            <a:r>
              <a:rPr lang="en-US" altLang="zh-TW" baseline="-25000"/>
              <a:t>2</a:t>
            </a:r>
            <a:r>
              <a:rPr lang="en-US" altLang="zh-TW"/>
              <a:t>+x</a:t>
            </a:r>
            <a:r>
              <a:rPr lang="en-US" altLang="zh-TW" baseline="-25000"/>
              <a:t>3</a:t>
            </a:r>
            <a:r>
              <a:rPr lang="en-US" altLang="zh-TW"/>
              <a:t>+x</a:t>
            </a:r>
            <a:r>
              <a:rPr lang="en-US" altLang="zh-TW" baseline="-25000"/>
              <a:t>4</a:t>
            </a:r>
            <a:r>
              <a:rPr lang="en-US" altLang="zh-TW"/>
              <a:t>=10,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TW"/>
              <a:t>where x</a:t>
            </a:r>
            <a:r>
              <a:rPr lang="en-US" altLang="zh-TW" baseline="-25000"/>
              <a:t>1</a:t>
            </a:r>
            <a:r>
              <a:rPr lang="en-US" altLang="zh-TW"/>
              <a:t>,x</a:t>
            </a:r>
            <a:r>
              <a:rPr lang="en-US" altLang="zh-TW" baseline="-25000"/>
              <a:t>2</a:t>
            </a:r>
            <a:r>
              <a:rPr lang="en-US" altLang="zh-TW"/>
              <a:t>,x</a:t>
            </a:r>
            <a:r>
              <a:rPr lang="en-US" altLang="zh-TW" baseline="-25000"/>
              <a:t>3</a:t>
            </a:r>
            <a:r>
              <a:rPr lang="en-US" altLang="zh-TW"/>
              <a:t>,x</a:t>
            </a:r>
            <a:r>
              <a:rPr lang="en-US" altLang="zh-TW" baseline="-25000"/>
              <a:t>4</a:t>
            </a:r>
            <a:r>
              <a:rPr lang="en-US" altLang="zh-TW"/>
              <a:t> are nonnegative integers?</a:t>
            </a:r>
          </a:p>
        </p:txBody>
      </p:sp>
      <p:sp>
        <p:nvSpPr>
          <p:cNvPr id="26628" name="Text Box 19"/>
          <p:cNvSpPr txBox="1">
            <a:spLocks noChangeArrowheads="1"/>
          </p:cNvSpPr>
          <p:nvPr/>
        </p:nvSpPr>
        <p:spPr bwMode="auto">
          <a:xfrm>
            <a:off x="1447800" y="457200"/>
            <a:ext cx="62769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 sz="2400" b="1">
                <a:solidFill>
                  <a:srgbClr val="003366"/>
                </a:solidFill>
              </a:rPr>
              <a:t>Counting Non-Negative Integer Solutions</a:t>
            </a:r>
          </a:p>
        </p:txBody>
      </p:sp>
      <p:sp>
        <p:nvSpPr>
          <p:cNvPr id="950280" name="Text Box 8"/>
          <p:cNvSpPr txBox="1">
            <a:spLocks noChangeArrowheads="1"/>
          </p:cNvSpPr>
          <p:nvPr/>
        </p:nvSpPr>
        <p:spPr bwMode="auto">
          <a:xfrm>
            <a:off x="1271588" y="3886200"/>
            <a:ext cx="5645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kumimoji="0" lang="en-US" altLang="en-US"/>
              <a:t> </a:t>
            </a:r>
            <a:r>
              <a:rPr kumimoji="0" lang="en-US" altLang="en-US" i="1">
                <a:solidFill>
                  <a:srgbClr val="008000"/>
                </a:solidFill>
              </a:rPr>
              <a:t>B</a:t>
            </a:r>
            <a:r>
              <a:rPr kumimoji="0" lang="en-US" altLang="en-US"/>
              <a:t>::= all 13-bit binary strings with exactly three 1’s.</a:t>
            </a:r>
          </a:p>
        </p:txBody>
      </p:sp>
      <p:sp>
        <p:nvSpPr>
          <p:cNvPr id="950281" name="Text Box 9"/>
          <p:cNvSpPr txBox="1">
            <a:spLocks noChangeArrowheads="1"/>
          </p:cNvSpPr>
          <p:nvPr/>
        </p:nvSpPr>
        <p:spPr bwMode="auto">
          <a:xfrm>
            <a:off x="1347788" y="3276600"/>
            <a:ext cx="6348412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kumimoji="0" lang="en-US" altLang="en-US" i="1">
                <a:solidFill>
                  <a:srgbClr val="3333CC"/>
                </a:solidFill>
              </a:rPr>
              <a:t>A </a:t>
            </a:r>
            <a:r>
              <a:rPr kumimoji="0" lang="en-US" altLang="en-US">
                <a:solidFill>
                  <a:srgbClr val="000000"/>
                </a:solidFill>
              </a:rPr>
              <a:t>::= all non-negative integer solutions </a:t>
            </a:r>
            <a:r>
              <a:rPr lang="en-US" altLang="zh-TW"/>
              <a:t>x</a:t>
            </a:r>
            <a:r>
              <a:rPr lang="en-US" altLang="zh-TW" baseline="-25000"/>
              <a:t>1</a:t>
            </a:r>
            <a:r>
              <a:rPr lang="en-US" altLang="zh-TW"/>
              <a:t>+x</a:t>
            </a:r>
            <a:r>
              <a:rPr lang="en-US" altLang="zh-TW" baseline="-25000"/>
              <a:t>2</a:t>
            </a:r>
            <a:r>
              <a:rPr lang="en-US" altLang="zh-TW"/>
              <a:t>+x</a:t>
            </a:r>
            <a:r>
              <a:rPr lang="en-US" altLang="zh-TW" baseline="-25000"/>
              <a:t>3</a:t>
            </a:r>
            <a:r>
              <a:rPr lang="en-US" altLang="zh-TW"/>
              <a:t>+x</a:t>
            </a:r>
            <a:r>
              <a:rPr lang="en-US" altLang="zh-TW" baseline="-25000"/>
              <a:t>4</a:t>
            </a:r>
            <a:r>
              <a:rPr lang="en-US" altLang="zh-TW"/>
              <a:t>=10</a:t>
            </a:r>
            <a:endParaRPr lang="en-US" altLang="en-US"/>
          </a:p>
        </p:txBody>
      </p:sp>
      <p:sp>
        <p:nvSpPr>
          <p:cNvPr id="65550" name="Text Box 14"/>
          <p:cNvSpPr txBox="1">
            <a:spLocks noChangeArrowheads="1"/>
          </p:cNvSpPr>
          <p:nvPr/>
        </p:nvSpPr>
        <p:spPr bwMode="auto">
          <a:xfrm>
            <a:off x="1295400" y="2590800"/>
            <a:ext cx="53213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/>
              <a:t>It is just like buying 10 doughnuts from 4 types.</a:t>
            </a:r>
          </a:p>
        </p:txBody>
      </p:sp>
      <p:sp>
        <p:nvSpPr>
          <p:cNvPr id="1055756" name="Text Box 12"/>
          <p:cNvSpPr txBox="1">
            <a:spLocks noChangeArrowheads="1"/>
          </p:cNvSpPr>
          <p:nvPr/>
        </p:nvSpPr>
        <p:spPr bwMode="auto">
          <a:xfrm>
            <a:off x="1371600" y="4648200"/>
            <a:ext cx="68675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/>
              <a:t>Think of there are 10 points to be distributed into 4 variables.</a:t>
            </a:r>
          </a:p>
        </p:txBody>
      </p:sp>
      <p:sp>
        <p:nvSpPr>
          <p:cNvPr id="1055757" name="Text Box 13"/>
          <p:cNvSpPr txBox="1">
            <a:spLocks noChangeArrowheads="1"/>
          </p:cNvSpPr>
          <p:nvPr/>
        </p:nvSpPr>
        <p:spPr bwMode="auto">
          <a:xfrm>
            <a:off x="304800" y="5957888"/>
            <a:ext cx="40386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/>
              <a:t>0    0    0    0    0    0    0    0    0    0</a:t>
            </a:r>
          </a:p>
        </p:txBody>
      </p:sp>
      <p:sp>
        <p:nvSpPr>
          <p:cNvPr id="1055758" name="Rectangle 14"/>
          <p:cNvSpPr>
            <a:spLocks noChangeArrowheads="1"/>
          </p:cNvSpPr>
          <p:nvPr/>
        </p:nvSpPr>
        <p:spPr bwMode="auto">
          <a:xfrm>
            <a:off x="1452563" y="5272088"/>
            <a:ext cx="1824037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/>
              <a:t>x</a:t>
            </a:r>
            <a:r>
              <a:rPr lang="en-US" altLang="zh-TW" baseline="-25000"/>
              <a:t>1</a:t>
            </a:r>
            <a:r>
              <a:rPr lang="en-US" altLang="zh-TW"/>
              <a:t>   x</a:t>
            </a:r>
            <a:r>
              <a:rPr lang="en-US" altLang="zh-TW" baseline="-25000"/>
              <a:t>2</a:t>
            </a:r>
            <a:r>
              <a:rPr lang="en-US" altLang="zh-TW"/>
              <a:t>    x</a:t>
            </a:r>
            <a:r>
              <a:rPr lang="en-US" altLang="zh-TW" baseline="-25000"/>
              <a:t>3</a:t>
            </a:r>
            <a:r>
              <a:rPr lang="en-US" altLang="zh-TW"/>
              <a:t>    x</a:t>
            </a:r>
            <a:r>
              <a:rPr lang="en-US" altLang="zh-TW" baseline="-25000"/>
              <a:t>4</a:t>
            </a:r>
          </a:p>
        </p:txBody>
      </p:sp>
      <p:sp>
        <p:nvSpPr>
          <p:cNvPr id="1055760" name="Line 16"/>
          <p:cNvSpPr>
            <a:spLocks noChangeShapeType="1"/>
          </p:cNvSpPr>
          <p:nvPr/>
        </p:nvSpPr>
        <p:spPr bwMode="auto">
          <a:xfrm>
            <a:off x="1524000" y="5867400"/>
            <a:ext cx="0" cy="533400"/>
          </a:xfrm>
          <a:prstGeom prst="line">
            <a:avLst/>
          </a:prstGeom>
          <a:noFill/>
          <a:ln w="38100">
            <a:solidFill>
              <a:srgbClr val="A5002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55761" name="Line 17"/>
          <p:cNvSpPr>
            <a:spLocks noChangeShapeType="1"/>
          </p:cNvSpPr>
          <p:nvPr/>
        </p:nvSpPr>
        <p:spPr bwMode="auto">
          <a:xfrm>
            <a:off x="3581400" y="5867400"/>
            <a:ext cx="0" cy="533400"/>
          </a:xfrm>
          <a:prstGeom prst="line">
            <a:avLst/>
          </a:prstGeom>
          <a:noFill/>
          <a:ln w="38100">
            <a:solidFill>
              <a:srgbClr val="A5002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55762" name="Line 18"/>
          <p:cNvSpPr>
            <a:spLocks noChangeShapeType="1"/>
          </p:cNvSpPr>
          <p:nvPr/>
        </p:nvSpPr>
        <p:spPr bwMode="auto">
          <a:xfrm>
            <a:off x="4419600" y="5867400"/>
            <a:ext cx="0" cy="533400"/>
          </a:xfrm>
          <a:prstGeom prst="line">
            <a:avLst/>
          </a:prstGeom>
          <a:noFill/>
          <a:ln w="38100">
            <a:solidFill>
              <a:srgbClr val="A5002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55759" name="Text Box 15"/>
          <p:cNvSpPr txBox="1">
            <a:spLocks noChangeArrowheads="1"/>
          </p:cNvSpPr>
          <p:nvPr/>
        </p:nvSpPr>
        <p:spPr bwMode="auto">
          <a:xfrm>
            <a:off x="4800600" y="5410200"/>
            <a:ext cx="4046538" cy="915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/>
              <a:t>e.g. Suppose x</a:t>
            </a:r>
            <a:r>
              <a:rPr lang="en-US" altLang="zh-TW" baseline="-25000"/>
              <a:t>1</a:t>
            </a:r>
            <a:r>
              <a:rPr lang="en-US" altLang="zh-TW"/>
              <a:t>=3, x</a:t>
            </a:r>
            <a:r>
              <a:rPr lang="en-US" altLang="zh-TW" baseline="-25000"/>
              <a:t>2</a:t>
            </a:r>
            <a:r>
              <a:rPr lang="en-US" altLang="zh-TW"/>
              <a:t>=5, x</a:t>
            </a:r>
            <a:r>
              <a:rPr lang="en-US" altLang="zh-TW" baseline="-25000"/>
              <a:t>3</a:t>
            </a:r>
            <a:r>
              <a:rPr lang="en-US" altLang="zh-TW"/>
              <a:t>=2, x</a:t>
            </a:r>
            <a:r>
              <a:rPr lang="en-US" altLang="zh-TW" baseline="-25000"/>
              <a:t>4</a:t>
            </a:r>
            <a:r>
              <a:rPr lang="en-US" altLang="zh-TW"/>
              <a:t>=0, </a:t>
            </a:r>
          </a:p>
          <a:p>
            <a:pPr eaLnBrk="1" hangingPunct="1"/>
            <a:endParaRPr lang="en-US" altLang="zh-TW"/>
          </a:p>
          <a:p>
            <a:pPr eaLnBrk="1" hangingPunct="1"/>
            <a:r>
              <a:rPr lang="en-US" altLang="zh-TW"/>
              <a:t>the 3 ones are used for separations.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0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0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0280" grpId="0"/>
      <p:bldP spid="950281" grpId="0"/>
      <p:bldP spid="65550" grpId="0"/>
      <p:bldP spid="1055756" grpId="0"/>
      <p:bldP spid="1055757" grpId="0"/>
      <p:bldP spid="1055758" grpId="0"/>
      <p:bldP spid="1055759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fld id="{71E1D41B-F0C9-49F5-A9CA-BAE112202FBC}" type="slidenum">
              <a:rPr lang="en-US" altLang="zh-TW">
                <a:latin typeface="Arial" panose="020B0604020202020204" pitchFamily="34" charset="0"/>
              </a:rPr>
              <a:pPr eaLnBrk="1" hangingPunct="1"/>
              <a:t>24</a:t>
            </a:fld>
            <a:endParaRPr lang="en-US" altLang="zh-TW">
              <a:latin typeface="Arial" panose="020B0604020202020204" pitchFamily="34" charset="0"/>
            </a:endParaRPr>
          </a:p>
        </p:txBody>
      </p:sp>
      <p:sp>
        <p:nvSpPr>
          <p:cNvPr id="27651" name="Text Box 9"/>
          <p:cNvSpPr txBox="1">
            <a:spLocks noChangeArrowheads="1"/>
          </p:cNvSpPr>
          <p:nvPr/>
        </p:nvSpPr>
        <p:spPr bwMode="auto">
          <a:xfrm>
            <a:off x="1219200" y="1447800"/>
            <a:ext cx="6743700" cy="792163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/>
              <a:t>How many solutions are there to the equation x</a:t>
            </a:r>
            <a:r>
              <a:rPr lang="en-US" altLang="zh-TW" baseline="-25000"/>
              <a:t>1</a:t>
            </a:r>
            <a:r>
              <a:rPr lang="en-US" altLang="zh-TW"/>
              <a:t>+x</a:t>
            </a:r>
            <a:r>
              <a:rPr lang="en-US" altLang="zh-TW" baseline="-25000"/>
              <a:t>2</a:t>
            </a:r>
            <a:r>
              <a:rPr lang="en-US" altLang="zh-TW"/>
              <a:t>+x</a:t>
            </a:r>
            <a:r>
              <a:rPr lang="en-US" altLang="zh-TW" baseline="-25000"/>
              <a:t>3</a:t>
            </a:r>
            <a:r>
              <a:rPr lang="en-US" altLang="zh-TW"/>
              <a:t>+x</a:t>
            </a:r>
            <a:r>
              <a:rPr lang="en-US" altLang="zh-TW" baseline="-25000"/>
              <a:t>4</a:t>
            </a:r>
            <a:r>
              <a:rPr lang="en-US" altLang="zh-TW"/>
              <a:t>=10,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TW"/>
              <a:t>where x</a:t>
            </a:r>
            <a:r>
              <a:rPr lang="en-US" altLang="zh-TW" baseline="-25000"/>
              <a:t>1</a:t>
            </a:r>
            <a:r>
              <a:rPr lang="en-US" altLang="zh-TW"/>
              <a:t>,x</a:t>
            </a:r>
            <a:r>
              <a:rPr lang="en-US" altLang="zh-TW" baseline="-25000"/>
              <a:t>2</a:t>
            </a:r>
            <a:r>
              <a:rPr lang="en-US" altLang="zh-TW"/>
              <a:t>,x</a:t>
            </a:r>
            <a:r>
              <a:rPr lang="en-US" altLang="zh-TW" baseline="-25000"/>
              <a:t>3</a:t>
            </a:r>
            <a:r>
              <a:rPr lang="en-US" altLang="zh-TW"/>
              <a:t>,x</a:t>
            </a:r>
            <a:r>
              <a:rPr lang="en-US" altLang="zh-TW" baseline="-25000"/>
              <a:t>4</a:t>
            </a:r>
            <a:r>
              <a:rPr lang="en-US" altLang="zh-TW"/>
              <a:t> are nonnegative integers?</a:t>
            </a:r>
          </a:p>
        </p:txBody>
      </p:sp>
      <p:sp>
        <p:nvSpPr>
          <p:cNvPr id="27652" name="Text Box 19"/>
          <p:cNvSpPr txBox="1">
            <a:spLocks noChangeArrowheads="1"/>
          </p:cNvSpPr>
          <p:nvPr/>
        </p:nvSpPr>
        <p:spPr bwMode="auto">
          <a:xfrm>
            <a:off x="1447800" y="457200"/>
            <a:ext cx="62769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 sz="2400" b="1">
                <a:solidFill>
                  <a:srgbClr val="003366"/>
                </a:solidFill>
              </a:rPr>
              <a:t>Counting Non-Negative Integer Solutions</a:t>
            </a:r>
          </a:p>
        </p:txBody>
      </p:sp>
      <p:sp>
        <p:nvSpPr>
          <p:cNvPr id="950280" name="Text Box 8"/>
          <p:cNvSpPr txBox="1">
            <a:spLocks noChangeArrowheads="1"/>
          </p:cNvSpPr>
          <p:nvPr/>
        </p:nvSpPr>
        <p:spPr bwMode="auto">
          <a:xfrm>
            <a:off x="1271588" y="3886200"/>
            <a:ext cx="5645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kumimoji="0" lang="en-US" altLang="en-US"/>
              <a:t> </a:t>
            </a:r>
            <a:r>
              <a:rPr kumimoji="0" lang="en-US" altLang="en-US" i="1">
                <a:solidFill>
                  <a:srgbClr val="008000"/>
                </a:solidFill>
              </a:rPr>
              <a:t>B</a:t>
            </a:r>
            <a:r>
              <a:rPr kumimoji="0" lang="en-US" altLang="en-US"/>
              <a:t>::= all 13-bit binary strings with exactly three 1’s.</a:t>
            </a:r>
          </a:p>
        </p:txBody>
      </p:sp>
      <p:sp>
        <p:nvSpPr>
          <p:cNvPr id="950281" name="Text Box 9"/>
          <p:cNvSpPr txBox="1">
            <a:spLocks noChangeArrowheads="1"/>
          </p:cNvSpPr>
          <p:nvPr/>
        </p:nvSpPr>
        <p:spPr bwMode="auto">
          <a:xfrm>
            <a:off x="1347788" y="3276600"/>
            <a:ext cx="6348412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kumimoji="0" lang="en-US" altLang="en-US" i="1">
                <a:solidFill>
                  <a:srgbClr val="3333CC"/>
                </a:solidFill>
              </a:rPr>
              <a:t>A </a:t>
            </a:r>
            <a:r>
              <a:rPr kumimoji="0" lang="en-US" altLang="en-US">
                <a:solidFill>
                  <a:srgbClr val="000000"/>
                </a:solidFill>
              </a:rPr>
              <a:t>::= all non-negative integer solutions </a:t>
            </a:r>
            <a:r>
              <a:rPr lang="en-US" altLang="zh-TW"/>
              <a:t>x</a:t>
            </a:r>
            <a:r>
              <a:rPr lang="en-US" altLang="zh-TW" baseline="-25000"/>
              <a:t>1</a:t>
            </a:r>
            <a:r>
              <a:rPr lang="en-US" altLang="zh-TW"/>
              <a:t>+x</a:t>
            </a:r>
            <a:r>
              <a:rPr lang="en-US" altLang="zh-TW" baseline="-25000"/>
              <a:t>2</a:t>
            </a:r>
            <a:r>
              <a:rPr lang="en-US" altLang="zh-TW"/>
              <a:t>+x</a:t>
            </a:r>
            <a:r>
              <a:rPr lang="en-US" altLang="zh-TW" baseline="-25000"/>
              <a:t>3</a:t>
            </a:r>
            <a:r>
              <a:rPr lang="en-US" altLang="zh-TW"/>
              <a:t>+x</a:t>
            </a:r>
            <a:r>
              <a:rPr lang="en-US" altLang="zh-TW" baseline="-25000"/>
              <a:t>4</a:t>
            </a:r>
            <a:r>
              <a:rPr lang="en-US" altLang="zh-TW"/>
              <a:t>=10</a:t>
            </a:r>
            <a:endParaRPr lang="en-US" altLang="en-US"/>
          </a:p>
        </p:txBody>
      </p:sp>
      <p:sp>
        <p:nvSpPr>
          <p:cNvPr id="27655" name="Text Box 6"/>
          <p:cNvSpPr txBox="1">
            <a:spLocks noChangeArrowheads="1"/>
          </p:cNvSpPr>
          <p:nvPr/>
        </p:nvSpPr>
        <p:spPr bwMode="auto">
          <a:xfrm>
            <a:off x="1308100" y="2590800"/>
            <a:ext cx="53213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/>
              <a:t>It is just like buying 10 doughnuts from 4 types.</a:t>
            </a:r>
          </a:p>
        </p:txBody>
      </p:sp>
      <p:sp>
        <p:nvSpPr>
          <p:cNvPr id="1067016" name="Text Box 8"/>
          <p:cNvSpPr txBox="1">
            <a:spLocks noChangeArrowheads="1"/>
          </p:cNvSpPr>
          <p:nvPr/>
        </p:nvSpPr>
        <p:spPr bwMode="auto">
          <a:xfrm>
            <a:off x="1295400" y="4648200"/>
            <a:ext cx="5584825" cy="788988"/>
          </a:xfrm>
          <a:prstGeom prst="rect">
            <a:avLst/>
          </a:prstGeom>
          <a:noFill/>
          <a:ln w="9525">
            <a:solidFill>
              <a:schemeClr val="bg2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/>
              <a:t>It is not difficult to verify that this is a bijection,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TW"/>
              <a:t>by the same argument as in doughnut selections.</a:t>
            </a:r>
          </a:p>
        </p:txBody>
      </p:sp>
      <p:sp>
        <p:nvSpPr>
          <p:cNvPr id="1067020" name="Text Box 12"/>
          <p:cNvSpPr txBox="1">
            <a:spLocks noChangeArrowheads="1"/>
          </p:cNvSpPr>
          <p:nvPr/>
        </p:nvSpPr>
        <p:spPr bwMode="auto">
          <a:xfrm>
            <a:off x="1371600" y="5943600"/>
            <a:ext cx="52260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/>
              <a:t>So, the are exactly               integer solutions.  </a:t>
            </a:r>
          </a:p>
        </p:txBody>
      </p:sp>
      <p:pic>
        <p:nvPicPr>
          <p:cNvPr id="1067022" name="Picture 14" descr="txp_fig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8250" y="5791200"/>
            <a:ext cx="566738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0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0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7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7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7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0280" grpId="0"/>
      <p:bldP spid="950281" grpId="0"/>
      <p:bldP spid="1067016" grpId="0" animBg="1"/>
      <p:bldP spid="1067020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fld id="{F230ACB1-032E-421F-B0D2-C0B6E6BA77B9}" type="slidenum">
              <a:rPr lang="en-US" altLang="zh-TW">
                <a:latin typeface="Arial" panose="020B0604020202020204" pitchFamily="34" charset="0"/>
              </a:rPr>
              <a:pPr eaLnBrk="1" hangingPunct="1"/>
              <a:t>25</a:t>
            </a:fld>
            <a:endParaRPr lang="en-US" altLang="zh-TW">
              <a:latin typeface="Arial" panose="020B0604020202020204" pitchFamily="34" charset="0"/>
            </a:endParaRPr>
          </a:p>
        </p:txBody>
      </p:sp>
      <p:sp>
        <p:nvSpPr>
          <p:cNvPr id="28675" name="Text Box 5"/>
          <p:cNvSpPr txBox="1">
            <a:spLocks noChangeArrowheads="1"/>
          </p:cNvSpPr>
          <p:nvPr/>
        </p:nvSpPr>
        <p:spPr bwMode="auto">
          <a:xfrm>
            <a:off x="1295400" y="1452563"/>
            <a:ext cx="6513513" cy="37623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/>
              <a:t>How many integer solutions to x</a:t>
            </a:r>
            <a:r>
              <a:rPr lang="en-US" altLang="zh-TW" baseline="-25000"/>
              <a:t>1</a:t>
            </a:r>
            <a:r>
              <a:rPr lang="en-US" altLang="zh-TW"/>
              <a:t>+x</a:t>
            </a:r>
            <a:r>
              <a:rPr lang="en-US" altLang="zh-TW" baseline="-25000"/>
              <a:t>2</a:t>
            </a:r>
            <a:r>
              <a:rPr lang="en-US" altLang="zh-TW"/>
              <a:t>+x</a:t>
            </a:r>
            <a:r>
              <a:rPr lang="en-US" altLang="zh-TW" baseline="-25000"/>
              <a:t>3</a:t>
            </a:r>
            <a:r>
              <a:rPr lang="en-US" altLang="zh-TW"/>
              <a:t>+x</a:t>
            </a:r>
            <a:r>
              <a:rPr lang="en-US" altLang="zh-TW" baseline="-25000"/>
              <a:t>4</a:t>
            </a:r>
            <a:r>
              <a:rPr lang="en-US" altLang="zh-TW"/>
              <a:t>=14 if each x</a:t>
            </a:r>
            <a:r>
              <a:rPr lang="en-US" altLang="zh-TW" baseline="-25000"/>
              <a:t>i</a:t>
            </a:r>
            <a:r>
              <a:rPr lang="en-US" altLang="zh-TW"/>
              <a:t>&gt;=1?</a:t>
            </a:r>
          </a:p>
        </p:txBody>
      </p:sp>
      <p:sp>
        <p:nvSpPr>
          <p:cNvPr id="1064967" name="Text Box 7"/>
          <p:cNvSpPr txBox="1">
            <a:spLocks noChangeArrowheads="1"/>
          </p:cNvSpPr>
          <p:nvPr/>
        </p:nvSpPr>
        <p:spPr bwMode="auto">
          <a:xfrm>
            <a:off x="1524000" y="2362200"/>
            <a:ext cx="6057900" cy="325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en-US" altLang="zh-TW"/>
              <a:t>Set x</a:t>
            </a:r>
            <a:r>
              <a:rPr lang="en-US" altLang="zh-TW" baseline="-25000"/>
              <a:t>i</a:t>
            </a:r>
            <a:r>
              <a:rPr lang="en-US" altLang="zh-TW"/>
              <a:t>=y</a:t>
            </a:r>
            <a:r>
              <a:rPr lang="en-US" altLang="zh-TW" baseline="-25000"/>
              <a:t>i</a:t>
            </a:r>
            <a:r>
              <a:rPr lang="en-US" altLang="zh-TW"/>
              <a:t>+1. So, y</a:t>
            </a:r>
            <a:r>
              <a:rPr lang="en-US" altLang="zh-TW" baseline="-25000"/>
              <a:t>1</a:t>
            </a:r>
            <a:r>
              <a:rPr lang="en-US" altLang="zh-TW"/>
              <a:t> = x</a:t>
            </a:r>
            <a:r>
              <a:rPr lang="en-US" altLang="zh-TW" baseline="-25000"/>
              <a:t>1</a:t>
            </a:r>
            <a:r>
              <a:rPr lang="en-US" altLang="zh-TW"/>
              <a:t>-1; y</a:t>
            </a:r>
            <a:r>
              <a:rPr lang="en-US" altLang="zh-TW" baseline="-25000"/>
              <a:t>2</a:t>
            </a:r>
            <a:r>
              <a:rPr lang="en-US" altLang="zh-TW"/>
              <a:t> = x</a:t>
            </a:r>
            <a:r>
              <a:rPr lang="en-US" altLang="zh-TW" baseline="-25000"/>
              <a:t>2</a:t>
            </a:r>
            <a:r>
              <a:rPr lang="en-US" altLang="zh-TW"/>
              <a:t>-1; y</a:t>
            </a:r>
            <a:r>
              <a:rPr lang="en-US" altLang="zh-TW" baseline="-25000"/>
              <a:t>3</a:t>
            </a:r>
            <a:r>
              <a:rPr lang="en-US" altLang="zh-TW"/>
              <a:t> = x</a:t>
            </a:r>
            <a:r>
              <a:rPr lang="en-US" altLang="zh-TW" baseline="-25000"/>
              <a:t>3</a:t>
            </a:r>
            <a:r>
              <a:rPr lang="en-US" altLang="zh-TW"/>
              <a:t>-1; y</a:t>
            </a:r>
            <a:r>
              <a:rPr lang="en-US" altLang="zh-TW" baseline="-25000"/>
              <a:t>4</a:t>
            </a:r>
            <a:r>
              <a:rPr lang="en-US" altLang="zh-TW"/>
              <a:t> = x</a:t>
            </a:r>
            <a:r>
              <a:rPr lang="en-US" altLang="zh-TW" baseline="-25000"/>
              <a:t>4</a:t>
            </a:r>
            <a:r>
              <a:rPr lang="en-US" altLang="zh-TW"/>
              <a:t>-1;</a:t>
            </a:r>
          </a:p>
          <a:p>
            <a:pPr eaLnBrk="1" hangingPunct="1">
              <a:lnSpc>
                <a:spcPct val="200000"/>
              </a:lnSpc>
            </a:pPr>
            <a:r>
              <a:rPr lang="en-US" altLang="zh-TW"/>
              <a:t>Consider the equation y</a:t>
            </a:r>
            <a:r>
              <a:rPr lang="en-US" altLang="zh-TW" baseline="-25000"/>
              <a:t>1</a:t>
            </a:r>
            <a:r>
              <a:rPr lang="en-US" altLang="zh-TW"/>
              <a:t>+y</a:t>
            </a:r>
            <a:r>
              <a:rPr lang="en-US" altLang="zh-TW" baseline="-25000"/>
              <a:t>2</a:t>
            </a:r>
            <a:r>
              <a:rPr lang="en-US" altLang="zh-TW"/>
              <a:t>+y</a:t>
            </a:r>
            <a:r>
              <a:rPr lang="en-US" altLang="zh-TW" baseline="-25000"/>
              <a:t>3</a:t>
            </a:r>
            <a:r>
              <a:rPr lang="en-US" altLang="zh-TW"/>
              <a:t>+y</a:t>
            </a:r>
            <a:r>
              <a:rPr lang="en-US" altLang="zh-TW" baseline="-25000"/>
              <a:t>4</a:t>
            </a:r>
            <a:r>
              <a:rPr lang="en-US" altLang="zh-TW"/>
              <a:t>=10 where each y</a:t>
            </a:r>
            <a:r>
              <a:rPr lang="en-US" altLang="zh-TW" baseline="-25000"/>
              <a:t>i</a:t>
            </a:r>
            <a:r>
              <a:rPr lang="en-US" altLang="zh-TW"/>
              <a:t> &gt;=0.</a:t>
            </a:r>
          </a:p>
          <a:p>
            <a:pPr eaLnBrk="1" hangingPunct="1">
              <a:lnSpc>
                <a:spcPct val="200000"/>
              </a:lnSpc>
            </a:pPr>
            <a:r>
              <a:rPr lang="en-US" altLang="zh-TW"/>
              <a:t>There is a bijection between the solutions for y and</a:t>
            </a:r>
          </a:p>
          <a:p>
            <a:pPr eaLnBrk="1" hangingPunct="1">
              <a:lnSpc>
                <a:spcPct val="200000"/>
              </a:lnSpc>
            </a:pPr>
            <a:r>
              <a:rPr lang="en-US" altLang="zh-TW"/>
              <a:t>       the solutions for x.</a:t>
            </a:r>
          </a:p>
          <a:p>
            <a:pPr eaLnBrk="1" hangingPunct="1">
              <a:lnSpc>
                <a:spcPct val="200000"/>
              </a:lnSpc>
            </a:pPr>
            <a:r>
              <a:rPr lang="en-US" altLang="zh-TW"/>
              <a:t>Therefore we can apply the previous result,</a:t>
            </a:r>
          </a:p>
          <a:p>
            <a:pPr eaLnBrk="1" hangingPunct="1">
              <a:lnSpc>
                <a:spcPct val="200000"/>
              </a:lnSpc>
            </a:pPr>
            <a:r>
              <a:rPr lang="en-US" altLang="zh-TW"/>
              <a:t>       and conclude that the answer is </a:t>
            </a:r>
          </a:p>
        </p:txBody>
      </p:sp>
      <p:pic>
        <p:nvPicPr>
          <p:cNvPr id="1064970" name="Picture 10" descr="txp_fig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8800" y="5105400"/>
            <a:ext cx="566738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678" name="Text Box 19"/>
          <p:cNvSpPr txBox="1">
            <a:spLocks noChangeArrowheads="1"/>
          </p:cNvSpPr>
          <p:nvPr/>
        </p:nvSpPr>
        <p:spPr bwMode="auto">
          <a:xfrm>
            <a:off x="1905000" y="457200"/>
            <a:ext cx="53292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 sz="2400" b="1">
                <a:solidFill>
                  <a:srgbClr val="003366"/>
                </a:solidFill>
              </a:rPr>
              <a:t>Counting Positive Integer Solutions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fld id="{5760F64F-D84D-4954-98CC-64030561C1AD}" type="slidenum">
              <a:rPr lang="en-US" altLang="zh-TW">
                <a:latin typeface="Arial" panose="020B0604020202020204" pitchFamily="34" charset="0"/>
              </a:rPr>
              <a:pPr eaLnBrk="1" hangingPunct="1"/>
              <a:t>26</a:t>
            </a:fld>
            <a:endParaRPr lang="en-US" altLang="zh-TW">
              <a:latin typeface="Arial" panose="020B0604020202020204" pitchFamily="34" charset="0"/>
            </a:endParaRPr>
          </a:p>
        </p:txBody>
      </p:sp>
      <p:sp>
        <p:nvSpPr>
          <p:cNvPr id="29699" name="Text Box 5"/>
          <p:cNvSpPr txBox="1">
            <a:spLocks noChangeArrowheads="1"/>
          </p:cNvSpPr>
          <p:nvPr/>
        </p:nvSpPr>
        <p:spPr bwMode="auto">
          <a:xfrm>
            <a:off x="1295400" y="1452563"/>
            <a:ext cx="6637338" cy="37623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/>
              <a:t>How many integer solutions to x</a:t>
            </a:r>
            <a:r>
              <a:rPr lang="en-US" altLang="zh-TW" baseline="-25000"/>
              <a:t>1</a:t>
            </a:r>
            <a:r>
              <a:rPr lang="en-US" altLang="zh-TW"/>
              <a:t>+x</a:t>
            </a:r>
            <a:r>
              <a:rPr lang="en-US" altLang="zh-TW" baseline="-25000"/>
              <a:t>2</a:t>
            </a:r>
            <a:r>
              <a:rPr lang="en-US" altLang="zh-TW"/>
              <a:t>+x</a:t>
            </a:r>
            <a:r>
              <a:rPr lang="en-US" altLang="zh-TW" baseline="-25000"/>
              <a:t>3</a:t>
            </a:r>
            <a:r>
              <a:rPr lang="en-US" altLang="zh-TW"/>
              <a:t>+x</a:t>
            </a:r>
            <a:r>
              <a:rPr lang="en-US" altLang="zh-TW" baseline="-25000"/>
              <a:t>4</a:t>
            </a:r>
            <a:r>
              <a:rPr lang="en-US" altLang="zh-TW"/>
              <a:t>&lt;=10 if each x</a:t>
            </a:r>
            <a:r>
              <a:rPr lang="en-US" altLang="zh-TW" baseline="-25000"/>
              <a:t>i</a:t>
            </a:r>
            <a:r>
              <a:rPr lang="en-US" altLang="zh-TW"/>
              <a:t>&gt;=0?</a:t>
            </a:r>
          </a:p>
        </p:txBody>
      </p:sp>
      <p:sp>
        <p:nvSpPr>
          <p:cNvPr id="1064967" name="Text Box 7"/>
          <p:cNvSpPr txBox="1">
            <a:spLocks noChangeArrowheads="1"/>
          </p:cNvSpPr>
          <p:nvPr/>
        </p:nvSpPr>
        <p:spPr bwMode="auto">
          <a:xfrm>
            <a:off x="1590675" y="2362200"/>
            <a:ext cx="6311900" cy="3387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>
              <a:lnSpc>
                <a:spcPct val="200000"/>
              </a:lnSpc>
            </a:pPr>
            <a:r>
              <a:rPr lang="en-US" altLang="zh-TW"/>
              <a:t>Consider the equation y</a:t>
            </a:r>
            <a:r>
              <a:rPr lang="en-US" altLang="zh-TW" baseline="-25000"/>
              <a:t>1</a:t>
            </a:r>
            <a:r>
              <a:rPr lang="en-US" altLang="zh-TW"/>
              <a:t>+y</a:t>
            </a:r>
            <a:r>
              <a:rPr lang="en-US" altLang="zh-TW" baseline="-25000"/>
              <a:t>2</a:t>
            </a:r>
            <a:r>
              <a:rPr lang="en-US" altLang="zh-TW"/>
              <a:t>+y</a:t>
            </a:r>
            <a:r>
              <a:rPr lang="en-US" altLang="zh-TW" baseline="-25000"/>
              <a:t>3</a:t>
            </a:r>
            <a:r>
              <a:rPr lang="en-US" altLang="zh-TW"/>
              <a:t>+y</a:t>
            </a:r>
            <a:r>
              <a:rPr lang="en-US" altLang="zh-TW" baseline="-25000"/>
              <a:t>4</a:t>
            </a:r>
            <a:r>
              <a:rPr lang="en-US" altLang="zh-TW"/>
              <a:t>+y</a:t>
            </a:r>
            <a:r>
              <a:rPr lang="en-US" altLang="zh-TW" baseline="-25000"/>
              <a:t>5</a:t>
            </a:r>
            <a:r>
              <a:rPr lang="en-US" altLang="zh-TW"/>
              <a:t>=10 where each y</a:t>
            </a:r>
            <a:r>
              <a:rPr lang="en-US" altLang="zh-TW" baseline="-25000"/>
              <a:t>i</a:t>
            </a:r>
            <a:r>
              <a:rPr lang="en-US" altLang="zh-TW"/>
              <a:t>&gt;=0.</a:t>
            </a:r>
          </a:p>
          <a:p>
            <a:pPr eaLnBrk="1" hangingPunct="1">
              <a:lnSpc>
                <a:spcPct val="200000"/>
              </a:lnSpc>
            </a:pPr>
            <a:r>
              <a:rPr lang="en-US" altLang="zh-TW"/>
              <a:t>There is a bijection between the solutions for y and</a:t>
            </a:r>
          </a:p>
          <a:p>
            <a:pPr eaLnBrk="1" hangingPunct="1">
              <a:lnSpc>
                <a:spcPct val="200000"/>
              </a:lnSpc>
            </a:pPr>
            <a:r>
              <a:rPr lang="en-US" altLang="zh-TW"/>
              <a:t>       the solutions for x.</a:t>
            </a:r>
          </a:p>
          <a:p>
            <a:pPr eaLnBrk="1" hangingPunct="1">
              <a:lnSpc>
                <a:spcPct val="200000"/>
              </a:lnSpc>
            </a:pPr>
            <a:r>
              <a:rPr lang="en-US" altLang="zh-TW"/>
              <a:t>Therefore we can apply the previous result,</a:t>
            </a:r>
          </a:p>
          <a:p>
            <a:pPr eaLnBrk="1" hangingPunct="1">
              <a:lnSpc>
                <a:spcPct val="200000"/>
              </a:lnSpc>
            </a:pPr>
            <a:r>
              <a:rPr lang="en-US" altLang="zh-TW"/>
              <a:t>       and conclude that the answer is </a:t>
            </a:r>
          </a:p>
          <a:p>
            <a:pPr eaLnBrk="1" hangingPunct="1">
              <a:lnSpc>
                <a:spcPct val="200000"/>
              </a:lnSpc>
            </a:pPr>
            <a:r>
              <a:rPr lang="en-US" altLang="zh-TW"/>
              <a:t>       because we need 4 ones and 10 zeroes.</a:t>
            </a:r>
          </a:p>
        </p:txBody>
      </p:sp>
      <p:sp>
        <p:nvSpPr>
          <p:cNvPr id="29701" name="Text Box 19"/>
          <p:cNvSpPr txBox="1">
            <a:spLocks noChangeArrowheads="1"/>
          </p:cNvSpPr>
          <p:nvPr/>
        </p:nvSpPr>
        <p:spPr bwMode="auto">
          <a:xfrm>
            <a:off x="1905000" y="457200"/>
            <a:ext cx="53292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 sz="2400" b="1">
                <a:solidFill>
                  <a:srgbClr val="003366"/>
                </a:solidFill>
              </a:rPr>
              <a:t>Counting Positive Integer Solutions</a:t>
            </a:r>
          </a:p>
        </p:txBody>
      </p:sp>
      <p:pic>
        <p:nvPicPr>
          <p:cNvPr id="72710" name="Picture 6" descr="txp_fig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0" y="4724400"/>
            <a:ext cx="566738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fld id="{3CD64FC9-F9E8-43C7-BB02-D55294D6A14C}" type="slidenum">
              <a:rPr lang="en-US" altLang="zh-TW">
                <a:latin typeface="Arial" panose="020B0604020202020204" pitchFamily="34" charset="0"/>
              </a:rPr>
              <a:pPr eaLnBrk="1" hangingPunct="1"/>
              <a:t>27</a:t>
            </a:fld>
            <a:endParaRPr lang="en-US" altLang="zh-TW">
              <a:latin typeface="Arial" panose="020B0604020202020204" pitchFamily="34" charset="0"/>
            </a:endParaRPr>
          </a:p>
        </p:txBody>
      </p:sp>
      <p:sp>
        <p:nvSpPr>
          <p:cNvPr id="30723" name="Text Box 2"/>
          <p:cNvSpPr txBox="1">
            <a:spLocks noChangeArrowheads="1"/>
          </p:cNvSpPr>
          <p:nvPr/>
        </p:nvSpPr>
        <p:spPr bwMode="auto">
          <a:xfrm>
            <a:off x="1371600" y="1295400"/>
            <a:ext cx="6477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kumimoji="0" lang="en-US" altLang="en-US" i="1">
                <a:solidFill>
                  <a:srgbClr val="3333CC"/>
                </a:solidFill>
              </a:rPr>
              <a:t>A </a:t>
            </a:r>
            <a:r>
              <a:rPr kumimoji="0" lang="en-US" altLang="en-US">
                <a:solidFill>
                  <a:srgbClr val="000000"/>
                </a:solidFill>
              </a:rPr>
              <a:t>::= all selections of 6 non-adjacent books from 20 books</a:t>
            </a:r>
          </a:p>
        </p:txBody>
      </p:sp>
      <p:sp>
        <p:nvSpPr>
          <p:cNvPr id="948227" name="Text Box 3"/>
          <p:cNvSpPr txBox="1">
            <a:spLocks noChangeArrowheads="1"/>
          </p:cNvSpPr>
          <p:nvPr/>
        </p:nvSpPr>
        <p:spPr bwMode="auto">
          <a:xfrm>
            <a:off x="1295400" y="1828800"/>
            <a:ext cx="6384925" cy="696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kumimoji="0" lang="en-US" altLang="en-US"/>
              <a:t> </a:t>
            </a:r>
            <a:r>
              <a:rPr kumimoji="0" lang="en-US" altLang="en-US" i="1">
                <a:solidFill>
                  <a:srgbClr val="008000"/>
                </a:solidFill>
              </a:rPr>
              <a:t>B</a:t>
            </a:r>
            <a:r>
              <a:rPr kumimoji="0" lang="en-US" altLang="en-US"/>
              <a:t>::= the set of integer solutions to </a:t>
            </a:r>
            <a:r>
              <a:rPr lang="en-US" altLang="zh-TW"/>
              <a:t>x</a:t>
            </a:r>
            <a:r>
              <a:rPr lang="en-US" altLang="zh-TW" baseline="-25000"/>
              <a:t>1</a:t>
            </a:r>
            <a:r>
              <a:rPr lang="en-US" altLang="zh-TW"/>
              <a:t>+x</a:t>
            </a:r>
            <a:r>
              <a:rPr lang="en-US" altLang="zh-TW" baseline="-25000"/>
              <a:t>2</a:t>
            </a:r>
            <a:r>
              <a:rPr lang="en-US" altLang="zh-TW"/>
              <a:t>+x</a:t>
            </a:r>
            <a:r>
              <a:rPr lang="en-US" altLang="zh-TW" baseline="-25000"/>
              <a:t>3</a:t>
            </a:r>
            <a:r>
              <a:rPr lang="en-US" altLang="zh-TW"/>
              <a:t>+x</a:t>
            </a:r>
            <a:r>
              <a:rPr lang="en-US" altLang="zh-TW" baseline="-25000"/>
              <a:t>4</a:t>
            </a:r>
            <a:r>
              <a:rPr lang="en-US" altLang="zh-TW"/>
              <a:t>+x</a:t>
            </a:r>
            <a:r>
              <a:rPr lang="en-US" altLang="zh-TW" baseline="-25000"/>
              <a:t>5</a:t>
            </a:r>
            <a:r>
              <a:rPr lang="en-US" altLang="zh-TW"/>
              <a:t>+x</a:t>
            </a:r>
            <a:r>
              <a:rPr lang="en-US" altLang="zh-TW" baseline="-25000"/>
              <a:t>6</a:t>
            </a:r>
            <a:r>
              <a:rPr lang="en-US" altLang="zh-TW"/>
              <a:t>&lt;=20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zh-TW"/>
              <a:t>        where x</a:t>
            </a:r>
            <a:r>
              <a:rPr lang="en-US" altLang="zh-TW" baseline="-25000"/>
              <a:t>1</a:t>
            </a:r>
            <a:r>
              <a:rPr lang="en-US" altLang="zh-TW"/>
              <a:t>&gt;=1 and x</a:t>
            </a:r>
            <a:r>
              <a:rPr lang="en-US" altLang="zh-TW" baseline="-25000"/>
              <a:t>2</a:t>
            </a:r>
            <a:r>
              <a:rPr lang="en-US" altLang="zh-TW"/>
              <a:t>,x</a:t>
            </a:r>
            <a:r>
              <a:rPr lang="en-US" altLang="zh-TW" baseline="-25000"/>
              <a:t>3</a:t>
            </a:r>
            <a:r>
              <a:rPr lang="en-US" altLang="zh-TW"/>
              <a:t>,x</a:t>
            </a:r>
            <a:r>
              <a:rPr lang="en-US" altLang="zh-TW" baseline="-25000"/>
              <a:t>4</a:t>
            </a:r>
            <a:r>
              <a:rPr lang="en-US" altLang="zh-TW"/>
              <a:t>,x</a:t>
            </a:r>
            <a:r>
              <a:rPr lang="en-US" altLang="zh-TW" baseline="-25000"/>
              <a:t>5</a:t>
            </a:r>
            <a:r>
              <a:rPr lang="en-US" altLang="zh-TW"/>
              <a:t>,x</a:t>
            </a:r>
            <a:r>
              <a:rPr lang="en-US" altLang="zh-TW" baseline="-25000"/>
              <a:t>6</a:t>
            </a:r>
            <a:r>
              <a:rPr kumimoji="0" lang="en-US" altLang="en-US"/>
              <a:t>&gt;=2.</a:t>
            </a:r>
          </a:p>
        </p:txBody>
      </p:sp>
      <p:sp>
        <p:nvSpPr>
          <p:cNvPr id="30725" name="Text Box 4"/>
          <p:cNvSpPr txBox="1">
            <a:spLocks noChangeArrowheads="1"/>
          </p:cNvSpPr>
          <p:nvPr/>
        </p:nvSpPr>
        <p:spPr bwMode="auto">
          <a:xfrm>
            <a:off x="1676400" y="457200"/>
            <a:ext cx="619283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 sz="2400" b="1">
                <a:solidFill>
                  <a:srgbClr val="003366"/>
                </a:solidFill>
              </a:rPr>
              <a:t>Choosing Non-Adjacent Books Revisited</a:t>
            </a:r>
          </a:p>
        </p:txBody>
      </p:sp>
      <p:sp>
        <p:nvSpPr>
          <p:cNvPr id="71688" name="Text Box 8"/>
          <p:cNvSpPr txBox="1">
            <a:spLocks noChangeArrowheads="1"/>
          </p:cNvSpPr>
          <p:nvPr/>
        </p:nvSpPr>
        <p:spPr bwMode="auto">
          <a:xfrm>
            <a:off x="381000" y="2590800"/>
            <a:ext cx="87391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/>
              <a:t>Here, each x</a:t>
            </a:r>
            <a:r>
              <a:rPr lang="en-US" altLang="zh-TW" baseline="-25000"/>
              <a:t>i </a:t>
            </a:r>
            <a:r>
              <a:rPr lang="en-US" altLang="zh-TW"/>
              <a:t>represents to pick the x</a:t>
            </a:r>
            <a:r>
              <a:rPr lang="en-US" altLang="zh-TW" baseline="-25000"/>
              <a:t>i</a:t>
            </a:r>
            <a:r>
              <a:rPr lang="en-US" altLang="zh-TW"/>
              <a:t>th book after the previous chosen book.</a:t>
            </a:r>
          </a:p>
        </p:txBody>
      </p:sp>
      <p:pic>
        <p:nvPicPr>
          <p:cNvPr id="31751" name="Picture 1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2971800"/>
            <a:ext cx="7924800" cy="1301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690" name="Text Box 10"/>
          <p:cNvSpPr txBox="1">
            <a:spLocks noChangeArrowheads="1"/>
          </p:cNvSpPr>
          <p:nvPr/>
        </p:nvSpPr>
        <p:spPr bwMode="auto">
          <a:xfrm>
            <a:off x="685800" y="5181600"/>
            <a:ext cx="7804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/>
              <a:t>e.g. this configuration corresponds to x</a:t>
            </a:r>
            <a:r>
              <a:rPr lang="en-US" altLang="zh-TW" baseline="-25000"/>
              <a:t>1</a:t>
            </a:r>
            <a:r>
              <a:rPr lang="en-US" altLang="zh-TW"/>
              <a:t>=1, x</a:t>
            </a:r>
            <a:r>
              <a:rPr lang="en-US" altLang="zh-TW" baseline="-25000"/>
              <a:t>2</a:t>
            </a:r>
            <a:r>
              <a:rPr lang="en-US" altLang="zh-TW"/>
              <a:t>=4, x</a:t>
            </a:r>
            <a:r>
              <a:rPr lang="en-US" altLang="zh-TW" baseline="-25000"/>
              <a:t>3</a:t>
            </a:r>
            <a:r>
              <a:rPr lang="en-US" altLang="zh-TW"/>
              <a:t>=2, x</a:t>
            </a:r>
            <a:r>
              <a:rPr lang="en-US" altLang="zh-TW" baseline="-25000"/>
              <a:t>4</a:t>
            </a:r>
            <a:r>
              <a:rPr lang="en-US" altLang="zh-TW"/>
              <a:t>=5, x</a:t>
            </a:r>
            <a:r>
              <a:rPr lang="en-US" altLang="zh-TW" baseline="-25000"/>
              <a:t>5</a:t>
            </a:r>
            <a:r>
              <a:rPr lang="en-US" altLang="zh-TW"/>
              <a:t>=4, x</a:t>
            </a:r>
            <a:r>
              <a:rPr lang="en-US" altLang="zh-TW" baseline="-25000"/>
              <a:t>6</a:t>
            </a:r>
            <a:r>
              <a:rPr lang="en-US" altLang="zh-TW"/>
              <a:t>=4.</a:t>
            </a:r>
          </a:p>
        </p:txBody>
      </p:sp>
      <p:sp>
        <p:nvSpPr>
          <p:cNvPr id="30729" name="Rectangle 11"/>
          <p:cNvSpPr>
            <a:spLocks noChangeArrowheads="1"/>
          </p:cNvSpPr>
          <p:nvPr/>
        </p:nvSpPr>
        <p:spPr bwMode="auto">
          <a:xfrm>
            <a:off x="533400" y="2971800"/>
            <a:ext cx="8229600" cy="3810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71692" name="Text Box 12"/>
          <p:cNvSpPr txBox="1">
            <a:spLocks noChangeArrowheads="1"/>
          </p:cNvSpPr>
          <p:nvPr/>
        </p:nvSpPr>
        <p:spPr bwMode="auto">
          <a:xfrm>
            <a:off x="708025" y="5957888"/>
            <a:ext cx="55403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/>
              <a:t>It is not difficult to check that this is a bijection.</a:t>
            </a:r>
          </a:p>
        </p:txBody>
      </p:sp>
      <p:grpSp>
        <p:nvGrpSpPr>
          <p:cNvPr id="2" name="Group 10"/>
          <p:cNvGrpSpPr>
            <a:grpSpLocks/>
          </p:cNvGrpSpPr>
          <p:nvPr/>
        </p:nvGrpSpPr>
        <p:grpSpPr bwMode="auto">
          <a:xfrm>
            <a:off x="839788" y="2998788"/>
            <a:ext cx="7489825" cy="430212"/>
            <a:chOff x="854138" y="3075296"/>
            <a:chExt cx="7488530" cy="429904"/>
          </a:xfrm>
        </p:grpSpPr>
        <p:grpSp>
          <p:nvGrpSpPr>
            <p:cNvPr id="30738" name="Group 100"/>
            <p:cNvGrpSpPr>
              <a:grpSpLocks/>
            </p:cNvGrpSpPr>
            <p:nvPr/>
          </p:nvGrpSpPr>
          <p:grpSpPr bwMode="auto">
            <a:xfrm>
              <a:off x="854138" y="3075296"/>
              <a:ext cx="7057014" cy="429904"/>
              <a:chOff x="1248786" y="3075296"/>
              <a:chExt cx="7057014" cy="429904"/>
            </a:xfrm>
          </p:grpSpPr>
          <p:sp>
            <p:nvSpPr>
              <p:cNvPr id="30740" name="TextBox 13"/>
              <p:cNvSpPr txBox="1">
                <a:spLocks noChangeArrowheads="1"/>
              </p:cNvSpPr>
              <p:nvPr/>
            </p:nvSpPr>
            <p:spPr bwMode="auto">
              <a:xfrm>
                <a:off x="1248786" y="3124200"/>
                <a:ext cx="288862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9pPr>
              </a:lstStyle>
              <a:p>
                <a:pPr eaLnBrk="1" hangingPunct="1"/>
                <a:r>
                  <a:rPr lang="en-US" altLang="en-US"/>
                  <a:t>1</a:t>
                </a:r>
              </a:p>
            </p:txBody>
          </p:sp>
          <p:sp>
            <p:nvSpPr>
              <p:cNvPr id="30741" name="TextBox 14"/>
              <p:cNvSpPr txBox="1">
                <a:spLocks noChangeArrowheads="1"/>
              </p:cNvSpPr>
              <p:nvPr/>
            </p:nvSpPr>
            <p:spPr bwMode="auto">
              <a:xfrm>
                <a:off x="1565622" y="3124200"/>
                <a:ext cx="325730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9pPr>
              </a:lstStyle>
              <a:p>
                <a:pPr eaLnBrk="1" hangingPunct="1"/>
                <a:r>
                  <a:rPr lang="en-US" altLang="en-US"/>
                  <a:t>2</a:t>
                </a:r>
              </a:p>
            </p:txBody>
          </p:sp>
          <p:sp>
            <p:nvSpPr>
              <p:cNvPr id="30742" name="TextBox 15"/>
              <p:cNvSpPr txBox="1">
                <a:spLocks noChangeArrowheads="1"/>
              </p:cNvSpPr>
              <p:nvPr/>
            </p:nvSpPr>
            <p:spPr bwMode="auto">
              <a:xfrm>
                <a:off x="1946622" y="3116240"/>
                <a:ext cx="325730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9pPr>
              </a:lstStyle>
              <a:p>
                <a:pPr eaLnBrk="1" hangingPunct="1"/>
                <a:r>
                  <a:rPr lang="en-US" altLang="en-US"/>
                  <a:t>3</a:t>
                </a:r>
              </a:p>
            </p:txBody>
          </p:sp>
          <p:sp>
            <p:nvSpPr>
              <p:cNvPr id="30743" name="TextBox 16"/>
              <p:cNvSpPr txBox="1">
                <a:spLocks noChangeArrowheads="1"/>
              </p:cNvSpPr>
              <p:nvPr/>
            </p:nvSpPr>
            <p:spPr bwMode="auto">
              <a:xfrm>
                <a:off x="2341270" y="3124200"/>
                <a:ext cx="325730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9pPr>
              </a:lstStyle>
              <a:p>
                <a:pPr eaLnBrk="1" hangingPunct="1"/>
                <a:r>
                  <a:rPr lang="en-US" altLang="en-US"/>
                  <a:t>4</a:t>
                </a:r>
              </a:p>
            </p:txBody>
          </p:sp>
          <p:sp>
            <p:nvSpPr>
              <p:cNvPr id="30744" name="TextBox 17"/>
              <p:cNvSpPr txBox="1">
                <a:spLocks noChangeArrowheads="1"/>
              </p:cNvSpPr>
              <p:nvPr/>
            </p:nvSpPr>
            <p:spPr bwMode="auto">
              <a:xfrm>
                <a:off x="2699984" y="3124200"/>
                <a:ext cx="325730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9pPr>
              </a:lstStyle>
              <a:p>
                <a:pPr eaLnBrk="1" hangingPunct="1"/>
                <a:r>
                  <a:rPr lang="en-US" altLang="en-US"/>
                  <a:t>5</a:t>
                </a:r>
              </a:p>
            </p:txBody>
          </p:sp>
          <p:sp>
            <p:nvSpPr>
              <p:cNvPr id="30745" name="TextBox 18"/>
              <p:cNvSpPr txBox="1">
                <a:spLocks noChangeArrowheads="1"/>
              </p:cNvSpPr>
              <p:nvPr/>
            </p:nvSpPr>
            <p:spPr bwMode="auto">
              <a:xfrm>
                <a:off x="3040718" y="3122220"/>
                <a:ext cx="325730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9pPr>
              </a:lstStyle>
              <a:p>
                <a:pPr eaLnBrk="1" hangingPunct="1"/>
                <a:r>
                  <a:rPr lang="en-US" altLang="en-US"/>
                  <a:t>6</a:t>
                </a:r>
              </a:p>
            </p:txBody>
          </p:sp>
          <p:sp>
            <p:nvSpPr>
              <p:cNvPr id="30746" name="TextBox 19"/>
              <p:cNvSpPr txBox="1">
                <a:spLocks noChangeArrowheads="1"/>
              </p:cNvSpPr>
              <p:nvPr/>
            </p:nvSpPr>
            <p:spPr bwMode="auto">
              <a:xfrm>
                <a:off x="3421718" y="3135868"/>
                <a:ext cx="325730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9pPr>
              </a:lstStyle>
              <a:p>
                <a:pPr eaLnBrk="1" hangingPunct="1"/>
                <a:r>
                  <a:rPr lang="en-US" altLang="en-US"/>
                  <a:t>7</a:t>
                </a:r>
              </a:p>
            </p:txBody>
          </p:sp>
          <p:sp>
            <p:nvSpPr>
              <p:cNvPr id="30747" name="TextBox 20"/>
              <p:cNvSpPr txBox="1">
                <a:spLocks noChangeArrowheads="1"/>
              </p:cNvSpPr>
              <p:nvPr/>
            </p:nvSpPr>
            <p:spPr bwMode="auto">
              <a:xfrm>
                <a:off x="3726518" y="3110552"/>
                <a:ext cx="325730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9pPr>
              </a:lstStyle>
              <a:p>
                <a:pPr eaLnBrk="1" hangingPunct="1"/>
                <a:r>
                  <a:rPr lang="en-US" altLang="en-US"/>
                  <a:t>8</a:t>
                </a:r>
              </a:p>
            </p:txBody>
          </p:sp>
          <p:sp>
            <p:nvSpPr>
              <p:cNvPr id="30748" name="TextBox 21"/>
              <p:cNvSpPr txBox="1">
                <a:spLocks noChangeArrowheads="1"/>
              </p:cNvSpPr>
              <p:nvPr/>
            </p:nvSpPr>
            <p:spPr bwMode="auto">
              <a:xfrm>
                <a:off x="4114800" y="3088944"/>
                <a:ext cx="325730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9pPr>
              </a:lstStyle>
              <a:p>
                <a:pPr eaLnBrk="1" hangingPunct="1"/>
                <a:r>
                  <a:rPr lang="en-US" altLang="en-US"/>
                  <a:t>9</a:t>
                </a:r>
              </a:p>
            </p:txBody>
          </p:sp>
          <p:sp>
            <p:nvSpPr>
              <p:cNvPr id="30749" name="TextBox 22"/>
              <p:cNvSpPr txBox="1">
                <a:spLocks noChangeArrowheads="1"/>
              </p:cNvSpPr>
              <p:nvPr/>
            </p:nvSpPr>
            <p:spPr bwMode="auto">
              <a:xfrm>
                <a:off x="4435538" y="3088944"/>
                <a:ext cx="429926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9pPr>
              </a:lstStyle>
              <a:p>
                <a:pPr eaLnBrk="1" hangingPunct="1"/>
                <a:r>
                  <a:rPr lang="en-US" altLang="en-US"/>
                  <a:t>10</a:t>
                </a:r>
              </a:p>
            </p:txBody>
          </p:sp>
          <p:sp>
            <p:nvSpPr>
              <p:cNvPr id="30750" name="TextBox 23"/>
              <p:cNvSpPr txBox="1">
                <a:spLocks noChangeArrowheads="1"/>
              </p:cNvSpPr>
              <p:nvPr/>
            </p:nvSpPr>
            <p:spPr bwMode="auto">
              <a:xfrm>
                <a:off x="5271426" y="3088944"/>
                <a:ext cx="429926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9pPr>
              </a:lstStyle>
              <a:p>
                <a:pPr eaLnBrk="1" hangingPunct="1"/>
                <a:r>
                  <a:rPr lang="en-US" altLang="en-US"/>
                  <a:t>12</a:t>
                </a:r>
              </a:p>
            </p:txBody>
          </p:sp>
          <p:sp>
            <p:nvSpPr>
              <p:cNvPr id="30751" name="TextBox 24"/>
              <p:cNvSpPr txBox="1">
                <a:spLocks noChangeArrowheads="1"/>
              </p:cNvSpPr>
              <p:nvPr/>
            </p:nvSpPr>
            <p:spPr bwMode="auto">
              <a:xfrm>
                <a:off x="5610826" y="3080984"/>
                <a:ext cx="429926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9pPr>
              </a:lstStyle>
              <a:p>
                <a:pPr eaLnBrk="1" hangingPunct="1"/>
                <a:r>
                  <a:rPr lang="en-US" altLang="en-US"/>
                  <a:t>13</a:t>
                </a:r>
              </a:p>
            </p:txBody>
          </p:sp>
          <p:sp>
            <p:nvSpPr>
              <p:cNvPr id="30752" name="TextBox 25"/>
              <p:cNvSpPr txBox="1">
                <a:spLocks noChangeArrowheads="1"/>
              </p:cNvSpPr>
              <p:nvPr/>
            </p:nvSpPr>
            <p:spPr bwMode="auto">
              <a:xfrm>
                <a:off x="5943600" y="3088944"/>
                <a:ext cx="429926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9pPr>
              </a:lstStyle>
              <a:p>
                <a:pPr eaLnBrk="1" hangingPunct="1"/>
                <a:r>
                  <a:rPr lang="en-US" altLang="en-US"/>
                  <a:t>14</a:t>
                </a:r>
              </a:p>
            </p:txBody>
          </p:sp>
          <p:sp>
            <p:nvSpPr>
              <p:cNvPr id="30753" name="TextBox 26"/>
              <p:cNvSpPr txBox="1">
                <a:spLocks noChangeArrowheads="1"/>
              </p:cNvSpPr>
              <p:nvPr/>
            </p:nvSpPr>
            <p:spPr bwMode="auto">
              <a:xfrm>
                <a:off x="6323922" y="3088944"/>
                <a:ext cx="429926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9pPr>
              </a:lstStyle>
              <a:p>
                <a:pPr eaLnBrk="1" hangingPunct="1"/>
                <a:r>
                  <a:rPr lang="en-US" altLang="en-US"/>
                  <a:t>15</a:t>
                </a:r>
              </a:p>
            </p:txBody>
          </p:sp>
          <p:sp>
            <p:nvSpPr>
              <p:cNvPr id="30754" name="TextBox 27"/>
              <p:cNvSpPr txBox="1">
                <a:spLocks noChangeArrowheads="1"/>
              </p:cNvSpPr>
              <p:nvPr/>
            </p:nvSpPr>
            <p:spPr bwMode="auto">
              <a:xfrm>
                <a:off x="6746522" y="3086964"/>
                <a:ext cx="429926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9pPr>
              </a:lstStyle>
              <a:p>
                <a:pPr eaLnBrk="1" hangingPunct="1"/>
                <a:r>
                  <a:rPr lang="en-US" altLang="en-US"/>
                  <a:t>16</a:t>
                </a:r>
              </a:p>
            </p:txBody>
          </p:sp>
          <p:sp>
            <p:nvSpPr>
              <p:cNvPr id="30755" name="TextBox 28"/>
              <p:cNvSpPr txBox="1">
                <a:spLocks noChangeArrowheads="1"/>
              </p:cNvSpPr>
              <p:nvPr/>
            </p:nvSpPr>
            <p:spPr bwMode="auto">
              <a:xfrm>
                <a:off x="7078640" y="3088944"/>
                <a:ext cx="429926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9pPr>
              </a:lstStyle>
              <a:p>
                <a:pPr eaLnBrk="1" hangingPunct="1"/>
                <a:r>
                  <a:rPr lang="en-US" altLang="en-US"/>
                  <a:t>17</a:t>
                </a:r>
              </a:p>
            </p:txBody>
          </p:sp>
          <p:sp>
            <p:nvSpPr>
              <p:cNvPr id="30756" name="TextBox 29"/>
              <p:cNvSpPr txBox="1">
                <a:spLocks noChangeArrowheads="1"/>
              </p:cNvSpPr>
              <p:nvPr/>
            </p:nvSpPr>
            <p:spPr bwMode="auto">
              <a:xfrm>
                <a:off x="7453930" y="3075296"/>
                <a:ext cx="429926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9pPr>
              </a:lstStyle>
              <a:p>
                <a:pPr eaLnBrk="1" hangingPunct="1"/>
                <a:r>
                  <a:rPr lang="en-US" altLang="en-US"/>
                  <a:t>18</a:t>
                </a:r>
              </a:p>
            </p:txBody>
          </p:sp>
          <p:sp>
            <p:nvSpPr>
              <p:cNvPr id="30757" name="TextBox 30"/>
              <p:cNvSpPr txBox="1">
                <a:spLocks noChangeArrowheads="1"/>
              </p:cNvSpPr>
              <p:nvPr/>
            </p:nvSpPr>
            <p:spPr bwMode="auto">
              <a:xfrm>
                <a:off x="4841522" y="3094924"/>
                <a:ext cx="393056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9pPr>
              </a:lstStyle>
              <a:p>
                <a:pPr eaLnBrk="1" hangingPunct="1"/>
                <a:r>
                  <a:rPr lang="en-US" altLang="en-US"/>
                  <a:t>11</a:t>
                </a:r>
              </a:p>
            </p:txBody>
          </p:sp>
          <p:sp>
            <p:nvSpPr>
              <p:cNvPr id="30758" name="TextBox 31"/>
              <p:cNvSpPr txBox="1">
                <a:spLocks noChangeArrowheads="1"/>
              </p:cNvSpPr>
              <p:nvPr/>
            </p:nvSpPr>
            <p:spPr bwMode="auto">
              <a:xfrm>
                <a:off x="7875874" y="3081276"/>
                <a:ext cx="429926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9pPr>
              </a:lstStyle>
              <a:p>
                <a:pPr eaLnBrk="1" hangingPunct="1"/>
                <a:r>
                  <a:rPr lang="en-US" altLang="en-US"/>
                  <a:t>19</a:t>
                </a:r>
              </a:p>
            </p:txBody>
          </p:sp>
        </p:grpSp>
        <p:sp>
          <p:nvSpPr>
            <p:cNvPr id="30739" name="TextBox 12"/>
            <p:cNvSpPr txBox="1">
              <a:spLocks noChangeArrowheads="1"/>
            </p:cNvSpPr>
            <p:nvPr/>
          </p:nvSpPr>
          <p:spPr bwMode="auto">
            <a:xfrm>
              <a:off x="7875874" y="3081276"/>
              <a:ext cx="466794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9pPr>
            </a:lstStyle>
            <a:p>
              <a:pPr eaLnBrk="1" hangingPunct="1"/>
              <a:r>
                <a:rPr lang="en-US" altLang="en-US"/>
                <a:t>20</a:t>
              </a:r>
            </a:p>
          </p:txBody>
        </p:sp>
      </p:grpSp>
      <p:cxnSp>
        <p:nvCxnSpPr>
          <p:cNvPr id="34" name="Straight Arrow Connector 33"/>
          <p:cNvCxnSpPr>
            <a:cxnSpLocks noChangeShapeType="1"/>
          </p:cNvCxnSpPr>
          <p:nvPr/>
        </p:nvCxnSpPr>
        <p:spPr bwMode="auto">
          <a:xfrm flipH="1" flipV="1">
            <a:off x="990600" y="4191000"/>
            <a:ext cx="4191000" cy="9906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</p:spPr>
      </p:cxnSp>
      <p:cxnSp>
        <p:nvCxnSpPr>
          <p:cNvPr id="37" name="Straight Arrow Connector 36"/>
          <p:cNvCxnSpPr>
            <a:cxnSpLocks noChangeShapeType="1"/>
          </p:cNvCxnSpPr>
          <p:nvPr/>
        </p:nvCxnSpPr>
        <p:spPr bwMode="auto">
          <a:xfrm flipH="1" flipV="1">
            <a:off x="2590800" y="4191000"/>
            <a:ext cx="3200400" cy="9906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</p:spPr>
      </p:cxnSp>
      <p:cxnSp>
        <p:nvCxnSpPr>
          <p:cNvPr id="39" name="Straight Arrow Connector 38"/>
          <p:cNvCxnSpPr>
            <a:cxnSpLocks noChangeShapeType="1"/>
          </p:cNvCxnSpPr>
          <p:nvPr/>
        </p:nvCxnSpPr>
        <p:spPr bwMode="auto">
          <a:xfrm flipH="1" flipV="1">
            <a:off x="3200400" y="4191000"/>
            <a:ext cx="3200400" cy="9906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</p:spPr>
      </p:cxnSp>
      <p:cxnSp>
        <p:nvCxnSpPr>
          <p:cNvPr id="41" name="Straight Arrow Connector 40"/>
          <p:cNvCxnSpPr>
            <a:cxnSpLocks noChangeShapeType="1"/>
          </p:cNvCxnSpPr>
          <p:nvPr/>
        </p:nvCxnSpPr>
        <p:spPr bwMode="auto">
          <a:xfrm flipH="1" flipV="1">
            <a:off x="5105400" y="4191000"/>
            <a:ext cx="1905000" cy="9906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</p:spPr>
      </p:cxnSp>
      <p:cxnSp>
        <p:nvCxnSpPr>
          <p:cNvPr id="43" name="Straight Arrow Connector 42"/>
          <p:cNvCxnSpPr>
            <a:cxnSpLocks noChangeShapeType="1"/>
          </p:cNvCxnSpPr>
          <p:nvPr/>
        </p:nvCxnSpPr>
        <p:spPr bwMode="auto">
          <a:xfrm flipH="1" flipV="1">
            <a:off x="6553200" y="4114800"/>
            <a:ext cx="1066800" cy="10668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</p:spPr>
      </p:cxnSp>
      <p:cxnSp>
        <p:nvCxnSpPr>
          <p:cNvPr id="45" name="Straight Arrow Connector 44"/>
          <p:cNvCxnSpPr>
            <a:cxnSpLocks noChangeShapeType="1"/>
          </p:cNvCxnSpPr>
          <p:nvPr/>
        </p:nvCxnSpPr>
        <p:spPr bwMode="auto">
          <a:xfrm flipH="1" flipV="1">
            <a:off x="8077200" y="4191000"/>
            <a:ext cx="152400" cy="9906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8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317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716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48227" grpId="0"/>
      <p:bldP spid="71688" grpId="0"/>
      <p:bldP spid="71690" grpId="0"/>
      <p:bldP spid="71692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324600"/>
            <a:ext cx="2133600" cy="476250"/>
          </a:xfrm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fld id="{973F3840-2626-4DDC-AAF9-3FE9138B35B3}" type="slidenum">
              <a:rPr lang="en-US" altLang="zh-TW">
                <a:latin typeface="Arial" panose="020B0604020202020204" pitchFamily="34" charset="0"/>
              </a:rPr>
              <a:pPr eaLnBrk="1" hangingPunct="1"/>
              <a:t>28</a:t>
            </a:fld>
            <a:endParaRPr lang="en-US" altLang="zh-TW">
              <a:latin typeface="Arial" panose="020B0604020202020204" pitchFamily="34" charset="0"/>
            </a:endParaRPr>
          </a:p>
        </p:txBody>
      </p:sp>
      <p:sp>
        <p:nvSpPr>
          <p:cNvPr id="31747" name="Text Box 2"/>
          <p:cNvSpPr txBox="1">
            <a:spLocks noChangeArrowheads="1"/>
          </p:cNvSpPr>
          <p:nvPr/>
        </p:nvSpPr>
        <p:spPr bwMode="auto">
          <a:xfrm>
            <a:off x="1371600" y="609600"/>
            <a:ext cx="6477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kumimoji="0" lang="en-US" altLang="en-US" i="1">
                <a:solidFill>
                  <a:srgbClr val="3333CC"/>
                </a:solidFill>
              </a:rPr>
              <a:t>A </a:t>
            </a:r>
            <a:r>
              <a:rPr kumimoji="0" lang="en-US" altLang="en-US">
                <a:solidFill>
                  <a:srgbClr val="000000"/>
                </a:solidFill>
              </a:rPr>
              <a:t>::= all selections of 6 non-adjacent books from 20 books</a:t>
            </a:r>
          </a:p>
        </p:txBody>
      </p:sp>
      <p:sp>
        <p:nvSpPr>
          <p:cNvPr id="948227" name="Text Box 3"/>
          <p:cNvSpPr txBox="1">
            <a:spLocks noChangeArrowheads="1"/>
          </p:cNvSpPr>
          <p:nvPr/>
        </p:nvSpPr>
        <p:spPr bwMode="auto">
          <a:xfrm>
            <a:off x="1295400" y="1055688"/>
            <a:ext cx="6384925" cy="696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kumimoji="0" lang="en-US" altLang="en-US"/>
              <a:t> </a:t>
            </a:r>
            <a:r>
              <a:rPr kumimoji="0" lang="en-US" altLang="en-US" i="1">
                <a:solidFill>
                  <a:srgbClr val="008000"/>
                </a:solidFill>
              </a:rPr>
              <a:t>B</a:t>
            </a:r>
            <a:r>
              <a:rPr kumimoji="0" lang="en-US" altLang="en-US"/>
              <a:t>::= the set of integer solutions to </a:t>
            </a:r>
            <a:r>
              <a:rPr lang="en-US" altLang="zh-TW"/>
              <a:t>x</a:t>
            </a:r>
            <a:r>
              <a:rPr lang="en-US" altLang="zh-TW" baseline="-25000"/>
              <a:t>1</a:t>
            </a:r>
            <a:r>
              <a:rPr lang="en-US" altLang="zh-TW"/>
              <a:t>+x</a:t>
            </a:r>
            <a:r>
              <a:rPr lang="en-US" altLang="zh-TW" baseline="-25000"/>
              <a:t>2</a:t>
            </a:r>
            <a:r>
              <a:rPr lang="en-US" altLang="zh-TW"/>
              <a:t>+x</a:t>
            </a:r>
            <a:r>
              <a:rPr lang="en-US" altLang="zh-TW" baseline="-25000"/>
              <a:t>3</a:t>
            </a:r>
            <a:r>
              <a:rPr lang="en-US" altLang="zh-TW"/>
              <a:t>+x</a:t>
            </a:r>
            <a:r>
              <a:rPr lang="en-US" altLang="zh-TW" baseline="-25000"/>
              <a:t>4</a:t>
            </a:r>
            <a:r>
              <a:rPr lang="en-US" altLang="zh-TW"/>
              <a:t>+x</a:t>
            </a:r>
            <a:r>
              <a:rPr lang="en-US" altLang="zh-TW" baseline="-25000"/>
              <a:t>5</a:t>
            </a:r>
            <a:r>
              <a:rPr lang="en-US" altLang="zh-TW"/>
              <a:t>+x</a:t>
            </a:r>
            <a:r>
              <a:rPr lang="en-US" altLang="zh-TW" baseline="-25000"/>
              <a:t>6</a:t>
            </a:r>
            <a:r>
              <a:rPr lang="en-US" altLang="zh-TW"/>
              <a:t>&lt;=20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zh-TW"/>
              <a:t>        where x</a:t>
            </a:r>
            <a:r>
              <a:rPr lang="en-US" altLang="zh-TW" baseline="-25000"/>
              <a:t>1</a:t>
            </a:r>
            <a:r>
              <a:rPr lang="en-US" altLang="zh-TW"/>
              <a:t>&gt;=1 and x</a:t>
            </a:r>
            <a:r>
              <a:rPr lang="en-US" altLang="zh-TW" baseline="-25000"/>
              <a:t>2</a:t>
            </a:r>
            <a:r>
              <a:rPr lang="en-US" altLang="zh-TW"/>
              <a:t>,x</a:t>
            </a:r>
            <a:r>
              <a:rPr lang="en-US" altLang="zh-TW" baseline="-25000"/>
              <a:t>3</a:t>
            </a:r>
            <a:r>
              <a:rPr lang="en-US" altLang="zh-TW"/>
              <a:t>,x</a:t>
            </a:r>
            <a:r>
              <a:rPr lang="en-US" altLang="zh-TW" baseline="-25000"/>
              <a:t>4</a:t>
            </a:r>
            <a:r>
              <a:rPr lang="en-US" altLang="zh-TW"/>
              <a:t>,x</a:t>
            </a:r>
            <a:r>
              <a:rPr lang="en-US" altLang="zh-TW" baseline="-25000"/>
              <a:t>5</a:t>
            </a:r>
            <a:r>
              <a:rPr lang="en-US" altLang="zh-TW"/>
              <a:t>,x</a:t>
            </a:r>
            <a:r>
              <a:rPr lang="en-US" altLang="zh-TW" baseline="-25000"/>
              <a:t>6</a:t>
            </a:r>
            <a:r>
              <a:rPr kumimoji="0" lang="en-US" altLang="en-US"/>
              <a:t>&gt;=2.</a:t>
            </a:r>
          </a:p>
        </p:txBody>
      </p:sp>
      <p:sp>
        <p:nvSpPr>
          <p:cNvPr id="31749" name="Text Box 4"/>
          <p:cNvSpPr txBox="1">
            <a:spLocks noChangeArrowheads="1"/>
          </p:cNvSpPr>
          <p:nvPr/>
        </p:nvSpPr>
        <p:spPr bwMode="auto">
          <a:xfrm>
            <a:off x="1752600" y="34925"/>
            <a:ext cx="61055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 sz="2400" b="1">
                <a:solidFill>
                  <a:srgbClr val="003366"/>
                </a:solidFill>
              </a:rPr>
              <a:t>Choosing Non-Adjacent Books Revisited</a:t>
            </a:r>
          </a:p>
        </p:txBody>
      </p:sp>
      <p:sp>
        <p:nvSpPr>
          <p:cNvPr id="73738" name="Text Box 10"/>
          <p:cNvSpPr txBox="1">
            <a:spLocks noChangeArrowheads="1"/>
          </p:cNvSpPr>
          <p:nvPr/>
        </p:nvSpPr>
        <p:spPr bwMode="auto">
          <a:xfrm>
            <a:off x="0" y="1752600"/>
            <a:ext cx="91440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algn="ctr" eaLnBrk="1" hangingPunct="1"/>
            <a:r>
              <a:rPr lang="en-US" altLang="zh-TW"/>
              <a:t>Set, x</a:t>
            </a:r>
            <a:r>
              <a:rPr lang="en-US" altLang="zh-TW" baseline="-25000"/>
              <a:t>1 </a:t>
            </a:r>
            <a:r>
              <a:rPr lang="en-US" altLang="zh-TW"/>
              <a:t>=</a:t>
            </a:r>
            <a:r>
              <a:rPr lang="en-US" altLang="zh-TW" baseline="-25000"/>
              <a:t> </a:t>
            </a:r>
            <a:r>
              <a:rPr lang="en-US" altLang="zh-TW"/>
              <a:t>y</a:t>
            </a:r>
            <a:r>
              <a:rPr lang="en-US" altLang="zh-TW" baseline="-25000"/>
              <a:t>1</a:t>
            </a:r>
            <a:r>
              <a:rPr lang="en-US" altLang="zh-TW"/>
              <a:t>+1 =&gt; y</a:t>
            </a:r>
            <a:r>
              <a:rPr lang="en-US" altLang="zh-TW" baseline="-25000"/>
              <a:t>1</a:t>
            </a:r>
            <a:r>
              <a:rPr lang="en-US" altLang="zh-TW"/>
              <a:t>&gt;= 0 and for i </a:t>
            </a:r>
            <a:r>
              <a:rPr lang="en-US" altLang="zh-TW">
                <a:sym typeface="Symbol" panose="05050102010706020507" pitchFamily="18" charset="2"/>
              </a:rPr>
              <a:t> {2..6}, </a:t>
            </a:r>
            <a:r>
              <a:rPr lang="en-US" altLang="zh-TW"/>
              <a:t>x</a:t>
            </a:r>
            <a:r>
              <a:rPr lang="en-US" altLang="zh-TW" baseline="-25000"/>
              <a:t>i </a:t>
            </a:r>
            <a:r>
              <a:rPr lang="en-US" altLang="zh-TW"/>
              <a:t>=</a:t>
            </a:r>
            <a:r>
              <a:rPr lang="en-US" altLang="zh-TW" baseline="-25000"/>
              <a:t> </a:t>
            </a:r>
            <a:r>
              <a:rPr lang="en-US" altLang="zh-TW"/>
              <a:t>y</a:t>
            </a:r>
            <a:r>
              <a:rPr lang="en-US" altLang="zh-TW" baseline="-25000"/>
              <a:t>i</a:t>
            </a:r>
            <a:r>
              <a:rPr lang="en-US" altLang="zh-TW"/>
              <a:t>+2 =&gt; y</a:t>
            </a:r>
            <a:r>
              <a:rPr lang="en-US" altLang="zh-TW" baseline="-25000"/>
              <a:t>i</a:t>
            </a:r>
            <a:r>
              <a:rPr lang="en-US" altLang="zh-TW"/>
              <a:t>&gt;= 0, So, y</a:t>
            </a:r>
            <a:r>
              <a:rPr lang="en-US" altLang="zh-TW" baseline="-25000"/>
              <a:t>1</a:t>
            </a:r>
            <a:r>
              <a:rPr lang="en-US" altLang="zh-TW"/>
              <a:t>,y</a:t>
            </a:r>
            <a:r>
              <a:rPr lang="en-US" altLang="zh-TW" baseline="-25000"/>
              <a:t>2</a:t>
            </a:r>
            <a:r>
              <a:rPr lang="en-US" altLang="zh-TW"/>
              <a:t>,y</a:t>
            </a:r>
            <a:r>
              <a:rPr lang="en-US" altLang="zh-TW" baseline="-25000"/>
              <a:t>3</a:t>
            </a:r>
            <a:r>
              <a:rPr lang="en-US" altLang="zh-TW"/>
              <a:t>,y</a:t>
            </a:r>
            <a:r>
              <a:rPr lang="en-US" altLang="zh-TW" baseline="-25000"/>
              <a:t>4</a:t>
            </a:r>
            <a:r>
              <a:rPr lang="en-US" altLang="zh-TW"/>
              <a:t>,y</a:t>
            </a:r>
            <a:r>
              <a:rPr lang="en-US" altLang="zh-TW" baseline="-25000"/>
              <a:t>5</a:t>
            </a:r>
            <a:r>
              <a:rPr lang="en-US" altLang="zh-TW"/>
              <a:t>,y</a:t>
            </a:r>
            <a:r>
              <a:rPr lang="en-US" altLang="zh-TW" baseline="-25000"/>
              <a:t>6</a:t>
            </a:r>
            <a:r>
              <a:rPr kumimoji="0" lang="en-US" altLang="en-US"/>
              <a:t>&gt;=0</a:t>
            </a:r>
            <a:endParaRPr lang="en-US" altLang="zh-TW"/>
          </a:p>
          <a:p>
            <a:pPr algn="ctr" eaLnBrk="1" hangingPunct="1"/>
            <a:r>
              <a:rPr lang="en-US" altLang="zh-TW"/>
              <a:t>So, we can say: |</a:t>
            </a:r>
            <a:r>
              <a:rPr kumimoji="0" lang="en-US" altLang="en-US" i="1">
                <a:solidFill>
                  <a:srgbClr val="008000"/>
                </a:solidFill>
              </a:rPr>
              <a:t>B</a:t>
            </a:r>
            <a:r>
              <a:rPr lang="en-US" altLang="zh-TW"/>
              <a:t>|=|</a:t>
            </a:r>
            <a:r>
              <a:rPr kumimoji="0" lang="en-US" altLang="en-US" i="1">
                <a:solidFill>
                  <a:srgbClr val="A50021"/>
                </a:solidFill>
              </a:rPr>
              <a:t>C</a:t>
            </a:r>
            <a:r>
              <a:rPr lang="en-US" altLang="zh-TW"/>
              <a:t>| for</a:t>
            </a:r>
          </a:p>
        </p:txBody>
      </p:sp>
      <p:sp>
        <p:nvSpPr>
          <p:cNvPr id="2" name="Text Box 3"/>
          <p:cNvSpPr txBox="1">
            <a:spLocks noChangeArrowheads="1"/>
          </p:cNvSpPr>
          <p:nvPr/>
        </p:nvSpPr>
        <p:spPr bwMode="auto">
          <a:xfrm>
            <a:off x="1373188" y="2438400"/>
            <a:ext cx="61341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kumimoji="0" lang="en-US" altLang="en-US" i="1">
                <a:solidFill>
                  <a:srgbClr val="A50021"/>
                </a:solidFill>
              </a:rPr>
              <a:t>C</a:t>
            </a:r>
            <a:r>
              <a:rPr kumimoji="0" lang="en-US" altLang="en-US"/>
              <a:t>::= the set of integer solutions to </a:t>
            </a:r>
            <a:r>
              <a:rPr lang="en-US" altLang="zh-TW"/>
              <a:t>y</a:t>
            </a:r>
            <a:r>
              <a:rPr lang="en-US" altLang="zh-TW" baseline="-25000"/>
              <a:t>1</a:t>
            </a:r>
            <a:r>
              <a:rPr lang="en-US" altLang="zh-TW"/>
              <a:t>+y</a:t>
            </a:r>
            <a:r>
              <a:rPr lang="en-US" altLang="zh-TW" baseline="-25000"/>
              <a:t>2</a:t>
            </a:r>
            <a:r>
              <a:rPr lang="en-US" altLang="zh-TW"/>
              <a:t>+y</a:t>
            </a:r>
            <a:r>
              <a:rPr lang="en-US" altLang="zh-TW" baseline="-25000"/>
              <a:t>3</a:t>
            </a:r>
            <a:r>
              <a:rPr lang="en-US" altLang="zh-TW"/>
              <a:t>+y</a:t>
            </a:r>
            <a:r>
              <a:rPr lang="en-US" altLang="zh-TW" baseline="-25000"/>
              <a:t>4</a:t>
            </a:r>
            <a:r>
              <a:rPr lang="en-US" altLang="zh-TW"/>
              <a:t>+y</a:t>
            </a:r>
            <a:r>
              <a:rPr lang="en-US" altLang="zh-TW" baseline="-25000"/>
              <a:t>5</a:t>
            </a:r>
            <a:r>
              <a:rPr lang="en-US" altLang="zh-TW"/>
              <a:t>+y</a:t>
            </a:r>
            <a:r>
              <a:rPr lang="en-US" altLang="zh-TW" baseline="-25000"/>
              <a:t>6</a:t>
            </a:r>
            <a:r>
              <a:rPr lang="en-US" altLang="zh-TW"/>
              <a:t>&lt;=9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zh-TW"/>
              <a:t>        where y</a:t>
            </a:r>
            <a:r>
              <a:rPr lang="en-US" altLang="zh-TW" baseline="-25000"/>
              <a:t>1</a:t>
            </a:r>
            <a:r>
              <a:rPr lang="en-US" altLang="zh-TW"/>
              <a:t>,y</a:t>
            </a:r>
            <a:r>
              <a:rPr lang="en-US" altLang="zh-TW" baseline="-25000"/>
              <a:t>2</a:t>
            </a:r>
            <a:r>
              <a:rPr lang="en-US" altLang="zh-TW"/>
              <a:t>,y</a:t>
            </a:r>
            <a:r>
              <a:rPr lang="en-US" altLang="zh-TW" baseline="-25000"/>
              <a:t>3</a:t>
            </a:r>
            <a:r>
              <a:rPr lang="en-US" altLang="zh-TW"/>
              <a:t>,y</a:t>
            </a:r>
            <a:r>
              <a:rPr lang="en-US" altLang="zh-TW" baseline="-25000"/>
              <a:t>4</a:t>
            </a:r>
            <a:r>
              <a:rPr lang="en-US" altLang="zh-TW"/>
              <a:t>,y</a:t>
            </a:r>
            <a:r>
              <a:rPr lang="en-US" altLang="zh-TW" baseline="-25000"/>
              <a:t>5</a:t>
            </a:r>
            <a:r>
              <a:rPr lang="en-US" altLang="zh-TW"/>
              <a:t>,y</a:t>
            </a:r>
            <a:r>
              <a:rPr lang="en-US" altLang="zh-TW" baseline="-25000"/>
              <a:t>6</a:t>
            </a:r>
            <a:r>
              <a:rPr kumimoji="0" lang="en-US" altLang="en-US"/>
              <a:t>&gt;=0.</a:t>
            </a:r>
          </a:p>
        </p:txBody>
      </p:sp>
      <p:sp>
        <p:nvSpPr>
          <p:cNvPr id="73740" name="Text Box 12"/>
          <p:cNvSpPr txBox="1">
            <a:spLocks noChangeArrowheads="1"/>
          </p:cNvSpPr>
          <p:nvPr/>
        </p:nvSpPr>
        <p:spPr bwMode="auto">
          <a:xfrm>
            <a:off x="1398588" y="3200400"/>
            <a:ext cx="334486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/>
              <a:t>Again, we can say |</a:t>
            </a:r>
            <a:r>
              <a:rPr kumimoji="0" lang="en-US" altLang="en-US" i="1">
                <a:solidFill>
                  <a:srgbClr val="A50021"/>
                </a:solidFill>
              </a:rPr>
              <a:t>C</a:t>
            </a:r>
            <a:r>
              <a:rPr lang="en-US" altLang="zh-TW"/>
              <a:t>|=|</a:t>
            </a:r>
            <a:r>
              <a:rPr kumimoji="0" lang="en-US" altLang="en-US" i="1">
                <a:solidFill>
                  <a:srgbClr val="FF9933"/>
                </a:solidFill>
              </a:rPr>
              <a:t>D</a:t>
            </a:r>
            <a:r>
              <a:rPr lang="en-US" altLang="zh-TW"/>
              <a:t>| for</a:t>
            </a:r>
          </a:p>
        </p:txBody>
      </p:sp>
      <p:sp>
        <p:nvSpPr>
          <p:cNvPr id="3" name="Text Box 3"/>
          <p:cNvSpPr txBox="1">
            <a:spLocks noChangeArrowheads="1"/>
          </p:cNvSpPr>
          <p:nvPr/>
        </p:nvSpPr>
        <p:spPr bwMode="auto">
          <a:xfrm>
            <a:off x="1400175" y="3810000"/>
            <a:ext cx="6448425" cy="696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kumimoji="0" lang="en-US" altLang="en-US" i="1">
                <a:solidFill>
                  <a:srgbClr val="FF9933"/>
                </a:solidFill>
              </a:rPr>
              <a:t>D</a:t>
            </a:r>
            <a:r>
              <a:rPr kumimoji="0" lang="en-US" altLang="en-US"/>
              <a:t>::= the set of integer solutions to </a:t>
            </a:r>
            <a:r>
              <a:rPr lang="en-US" altLang="zh-TW"/>
              <a:t>x</a:t>
            </a:r>
            <a:r>
              <a:rPr lang="en-US" altLang="zh-TW" baseline="-25000"/>
              <a:t>1</a:t>
            </a:r>
            <a:r>
              <a:rPr lang="en-US" altLang="zh-TW"/>
              <a:t>+x</a:t>
            </a:r>
            <a:r>
              <a:rPr lang="en-US" altLang="zh-TW" baseline="-25000"/>
              <a:t>2</a:t>
            </a:r>
            <a:r>
              <a:rPr lang="en-US" altLang="zh-TW"/>
              <a:t>+x</a:t>
            </a:r>
            <a:r>
              <a:rPr lang="en-US" altLang="zh-TW" baseline="-25000"/>
              <a:t>3</a:t>
            </a:r>
            <a:r>
              <a:rPr lang="en-US" altLang="zh-TW"/>
              <a:t>+x</a:t>
            </a:r>
            <a:r>
              <a:rPr lang="en-US" altLang="zh-TW" baseline="-25000"/>
              <a:t>4</a:t>
            </a:r>
            <a:r>
              <a:rPr lang="en-US" altLang="zh-TW"/>
              <a:t>+x</a:t>
            </a:r>
            <a:r>
              <a:rPr lang="en-US" altLang="zh-TW" baseline="-25000"/>
              <a:t>5</a:t>
            </a:r>
            <a:r>
              <a:rPr lang="en-US" altLang="zh-TW"/>
              <a:t>+x</a:t>
            </a:r>
            <a:r>
              <a:rPr lang="en-US" altLang="zh-TW" baseline="-25000"/>
              <a:t>6</a:t>
            </a:r>
            <a:r>
              <a:rPr lang="en-US" altLang="zh-TW"/>
              <a:t>+</a:t>
            </a:r>
            <a:r>
              <a:rPr lang="en-US" altLang="zh-TW" b="1">
                <a:solidFill>
                  <a:srgbClr val="FF0000"/>
                </a:solidFill>
              </a:rPr>
              <a:t>x</a:t>
            </a:r>
            <a:r>
              <a:rPr lang="en-US" altLang="zh-TW" b="1" baseline="-25000">
                <a:solidFill>
                  <a:srgbClr val="FF0000"/>
                </a:solidFill>
              </a:rPr>
              <a:t>7</a:t>
            </a:r>
            <a:r>
              <a:rPr lang="en-US" altLang="zh-TW"/>
              <a:t>=9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zh-TW"/>
              <a:t>        where x</a:t>
            </a:r>
            <a:r>
              <a:rPr lang="en-US" altLang="zh-TW" baseline="-25000"/>
              <a:t>1</a:t>
            </a:r>
            <a:r>
              <a:rPr lang="en-US" altLang="zh-TW"/>
              <a:t>,x</a:t>
            </a:r>
            <a:r>
              <a:rPr lang="en-US" altLang="zh-TW" baseline="-25000"/>
              <a:t>2</a:t>
            </a:r>
            <a:r>
              <a:rPr lang="en-US" altLang="zh-TW"/>
              <a:t>,x</a:t>
            </a:r>
            <a:r>
              <a:rPr lang="en-US" altLang="zh-TW" baseline="-25000"/>
              <a:t>3</a:t>
            </a:r>
            <a:r>
              <a:rPr lang="en-US" altLang="zh-TW"/>
              <a:t>,x</a:t>
            </a:r>
            <a:r>
              <a:rPr lang="en-US" altLang="zh-TW" baseline="-25000"/>
              <a:t>4</a:t>
            </a:r>
            <a:r>
              <a:rPr lang="en-US" altLang="zh-TW"/>
              <a:t>,x</a:t>
            </a:r>
            <a:r>
              <a:rPr lang="en-US" altLang="zh-TW" baseline="-25000"/>
              <a:t>5</a:t>
            </a:r>
            <a:r>
              <a:rPr lang="en-US" altLang="zh-TW"/>
              <a:t>,x</a:t>
            </a:r>
            <a:r>
              <a:rPr lang="en-US" altLang="zh-TW" baseline="-25000"/>
              <a:t>6</a:t>
            </a:r>
            <a:r>
              <a:rPr lang="en-US" altLang="zh-TW"/>
              <a:t>,x</a:t>
            </a:r>
            <a:r>
              <a:rPr lang="en-US" altLang="zh-TW" baseline="-25000"/>
              <a:t>7</a:t>
            </a:r>
            <a:r>
              <a:rPr kumimoji="0" lang="en-US" altLang="en-US"/>
              <a:t>&gt;=0.</a:t>
            </a:r>
          </a:p>
        </p:txBody>
      </p:sp>
      <p:sp>
        <p:nvSpPr>
          <p:cNvPr id="73742" name="Text Box 14"/>
          <p:cNvSpPr txBox="1">
            <a:spLocks noChangeArrowheads="1"/>
          </p:cNvSpPr>
          <p:nvPr/>
        </p:nvSpPr>
        <p:spPr bwMode="auto">
          <a:xfrm>
            <a:off x="484188" y="4911725"/>
            <a:ext cx="10795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/>
              <a:t>So, |</a:t>
            </a:r>
            <a:r>
              <a:rPr kumimoji="0" lang="en-US" altLang="en-US" i="1">
                <a:solidFill>
                  <a:srgbClr val="FF9933"/>
                </a:solidFill>
              </a:rPr>
              <a:t>D</a:t>
            </a:r>
            <a:r>
              <a:rPr lang="en-US" altLang="zh-TW"/>
              <a:t>|=</a:t>
            </a:r>
          </a:p>
        </p:txBody>
      </p:sp>
      <p:pic>
        <p:nvPicPr>
          <p:cNvPr id="73744" name="Picture 16" descr="txp_fig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7713" y="4724400"/>
            <a:ext cx="566737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Text Box 12"/>
          <p:cNvSpPr txBox="1">
            <a:spLocks noChangeArrowheads="1"/>
          </p:cNvSpPr>
          <p:nvPr/>
        </p:nvSpPr>
        <p:spPr bwMode="auto">
          <a:xfrm>
            <a:off x="3505200" y="9869488"/>
            <a:ext cx="4340225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/>
              <a:t>So, the are exactly               integer solutions.  </a:t>
            </a:r>
          </a:p>
        </p:txBody>
      </p:sp>
      <p:pic>
        <p:nvPicPr>
          <p:cNvPr id="14" name="Picture 14" descr="txp_fig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11850" y="9717088"/>
            <a:ext cx="4699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Group 18"/>
          <p:cNvGrpSpPr>
            <a:grpSpLocks/>
          </p:cNvGrpSpPr>
          <p:nvPr/>
        </p:nvGrpSpPr>
        <p:grpSpPr bwMode="auto">
          <a:xfrm>
            <a:off x="4191000" y="4570413"/>
            <a:ext cx="4876800" cy="1754187"/>
            <a:chOff x="4191000" y="4570274"/>
            <a:chExt cx="4876800" cy="1754326"/>
          </a:xfrm>
        </p:grpSpPr>
        <p:sp>
          <p:nvSpPr>
            <p:cNvPr id="31764" name="Text Box 9"/>
            <p:cNvSpPr txBox="1">
              <a:spLocks noChangeArrowheads="1"/>
            </p:cNvSpPr>
            <p:nvPr/>
          </p:nvSpPr>
          <p:spPr bwMode="auto">
            <a:xfrm>
              <a:off x="4191000" y="4570274"/>
              <a:ext cx="4876800" cy="1754326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9pPr>
            </a:lstStyle>
            <a:p>
              <a:pPr eaLnBrk="1" hangingPunct="1"/>
              <a:endParaRPr lang="en-US" altLang="zh-TW"/>
            </a:p>
            <a:p>
              <a:pPr eaLnBrk="1" hangingPunct="1"/>
              <a:r>
                <a:rPr lang="en-US" altLang="zh-TW"/>
                <a:t>exactly               integer solutions  are  </a:t>
              </a:r>
            </a:p>
            <a:p>
              <a:pPr eaLnBrk="1" hangingPunct="1"/>
              <a:endParaRPr lang="en-US" altLang="zh-TW"/>
            </a:p>
            <a:p>
              <a:pPr eaLnBrk="1" hangingPunct="1"/>
              <a:r>
                <a:rPr lang="en-US" altLang="zh-TW"/>
                <a:t>there to the equation x</a:t>
              </a:r>
              <a:r>
                <a:rPr lang="en-US" altLang="zh-TW" baseline="-25000"/>
                <a:t>1 </a:t>
              </a:r>
              <a:r>
                <a:rPr lang="en-US" altLang="zh-TW"/>
                <a:t>+ x</a:t>
              </a:r>
              <a:r>
                <a:rPr lang="en-US" altLang="zh-TW" baseline="-25000"/>
                <a:t>2 </a:t>
              </a:r>
              <a:r>
                <a:rPr lang="en-US" altLang="zh-TW"/>
                <a:t>+ x</a:t>
              </a:r>
              <a:r>
                <a:rPr lang="en-US" altLang="zh-TW" baseline="-25000"/>
                <a:t>3 </a:t>
              </a:r>
              <a:r>
                <a:rPr lang="en-US" altLang="zh-TW"/>
                <a:t>+ x</a:t>
              </a:r>
              <a:r>
                <a:rPr lang="en-US" altLang="zh-TW" baseline="-25000"/>
                <a:t>4</a:t>
              </a:r>
              <a:r>
                <a:rPr lang="en-US" altLang="zh-TW"/>
                <a:t>= 10, where x</a:t>
              </a:r>
              <a:r>
                <a:rPr lang="en-US" altLang="zh-TW" baseline="-25000"/>
                <a:t>1</a:t>
              </a:r>
              <a:r>
                <a:rPr lang="en-US" altLang="zh-TW"/>
                <a:t>,x</a:t>
              </a:r>
              <a:r>
                <a:rPr lang="en-US" altLang="zh-TW" baseline="-25000"/>
                <a:t>2</a:t>
              </a:r>
              <a:r>
                <a:rPr lang="en-US" altLang="zh-TW"/>
                <a:t>,x</a:t>
              </a:r>
              <a:r>
                <a:rPr lang="en-US" altLang="zh-TW" baseline="-25000"/>
                <a:t>3</a:t>
              </a:r>
              <a:r>
                <a:rPr lang="en-US" altLang="zh-TW"/>
                <a:t>,x</a:t>
              </a:r>
              <a:r>
                <a:rPr lang="en-US" altLang="zh-TW" baseline="-25000"/>
                <a:t>4</a:t>
              </a:r>
              <a:r>
                <a:rPr lang="en-US" altLang="zh-TW"/>
                <a:t> are nonnegative integers?</a:t>
              </a:r>
            </a:p>
            <a:p>
              <a:pPr eaLnBrk="1" hangingPunct="1"/>
              <a:endParaRPr lang="en-US" altLang="zh-TW"/>
            </a:p>
          </p:txBody>
        </p:sp>
        <p:pic>
          <p:nvPicPr>
            <p:cNvPr id="31765" name="Picture 14" descr="txp_fig"/>
            <p:cNvPicPr>
              <a:picLocks noChangeAspect="1" noChangeArrowheads="1"/>
            </p:cNvPicPr>
            <p:nvPr>
              <p:custDataLst>
                <p:tags r:id="rId3"/>
              </p:custDataLst>
            </p:nvPr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76862" y="4724400"/>
              <a:ext cx="566738" cy="609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31759" name="AutoShape 2" descr="Image result for Question mark"/>
          <p:cNvSpPr>
            <a:spLocks noChangeAspect="1" noChangeArrowheads="1"/>
          </p:cNvSpPr>
          <p:nvPr/>
        </p:nvSpPr>
        <p:spPr bwMode="auto">
          <a:xfrm>
            <a:off x="155575" y="-1028700"/>
            <a:ext cx="2143125" cy="2143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1760" name="AutoShape 4" descr="Image result for Question mark"/>
          <p:cNvSpPr>
            <a:spLocks noChangeAspect="1" noChangeArrowheads="1"/>
          </p:cNvSpPr>
          <p:nvPr/>
        </p:nvSpPr>
        <p:spPr bwMode="auto">
          <a:xfrm>
            <a:off x="155575" y="-1028700"/>
            <a:ext cx="2143125" cy="2143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1761" name="AutoShape 6" descr="Image result for Question mark"/>
          <p:cNvSpPr>
            <a:spLocks noChangeAspect="1" noChangeArrowheads="1"/>
          </p:cNvSpPr>
          <p:nvPr/>
        </p:nvSpPr>
        <p:spPr bwMode="auto">
          <a:xfrm>
            <a:off x="155575" y="-1028700"/>
            <a:ext cx="2143125" cy="2143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pic>
        <p:nvPicPr>
          <p:cNvPr id="1091591" name="Picture 7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5410200"/>
            <a:ext cx="1314450" cy="1114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" name="Right Arrow 23"/>
          <p:cNvSpPr>
            <a:spLocks noChangeArrowheads="1"/>
          </p:cNvSpPr>
          <p:nvPr/>
        </p:nvSpPr>
        <p:spPr bwMode="auto">
          <a:xfrm>
            <a:off x="2971800" y="5257800"/>
            <a:ext cx="990600" cy="457200"/>
          </a:xfrm>
          <a:prstGeom prst="rightArrow">
            <a:avLst>
              <a:gd name="adj1" fmla="val 50000"/>
              <a:gd name="adj2" fmla="val 50004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8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1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2000"/>
                                        <p:tgtEl>
                                          <p:spTgt spid="10915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48227" grpId="0"/>
      <p:bldP spid="73738" grpId="0"/>
      <p:bldP spid="2" grpId="0"/>
      <p:bldP spid="73740" grpId="0"/>
      <p:bldP spid="3" grpId="0"/>
      <p:bldP spid="73742" grpId="0"/>
      <p:bldP spid="13" grpId="0"/>
      <p:bldP spid="24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ext Box 2"/>
          <p:cNvSpPr txBox="1">
            <a:spLocks noChangeArrowheads="1"/>
          </p:cNvSpPr>
          <p:nvPr/>
        </p:nvSpPr>
        <p:spPr bwMode="auto">
          <a:xfrm>
            <a:off x="3511550" y="457200"/>
            <a:ext cx="20510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 sz="2400" b="1">
                <a:solidFill>
                  <a:srgbClr val="003366"/>
                </a:solidFill>
              </a:rPr>
              <a:t>This Lecture</a:t>
            </a:r>
          </a:p>
        </p:txBody>
      </p:sp>
      <p:sp>
        <p:nvSpPr>
          <p:cNvPr id="32771" name="Text Box 4"/>
          <p:cNvSpPr txBox="1">
            <a:spLocks noChangeArrowheads="1"/>
          </p:cNvSpPr>
          <p:nvPr/>
        </p:nvSpPr>
        <p:spPr bwMode="auto">
          <a:xfrm>
            <a:off x="3678238" y="3048000"/>
            <a:ext cx="1809750" cy="1465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>
              <a:buClr>
                <a:srgbClr val="A50021"/>
              </a:buClr>
              <a:buFontTx/>
              <a:buChar char="•"/>
            </a:pPr>
            <a:r>
              <a:rPr lang="en-US" altLang="zh-TW"/>
              <a:t> </a:t>
            </a:r>
            <a:r>
              <a:rPr lang="en-US" altLang="zh-TW">
                <a:solidFill>
                  <a:schemeClr val="bg2"/>
                </a:solidFill>
              </a:rPr>
              <a:t>Bijection rule</a:t>
            </a:r>
          </a:p>
          <a:p>
            <a:pPr eaLnBrk="1" hangingPunct="1">
              <a:buClr>
                <a:srgbClr val="A50021"/>
              </a:buClr>
              <a:buFontTx/>
              <a:buChar char="•"/>
            </a:pPr>
            <a:endParaRPr lang="en-US" altLang="zh-TW">
              <a:solidFill>
                <a:schemeClr val="bg2"/>
              </a:solidFill>
            </a:endParaRPr>
          </a:p>
          <a:p>
            <a:pPr eaLnBrk="1" hangingPunct="1">
              <a:buClr>
                <a:srgbClr val="A50021"/>
              </a:buClr>
              <a:buFontTx/>
              <a:buChar char="•"/>
            </a:pPr>
            <a:r>
              <a:rPr lang="en-US" altLang="zh-TW"/>
              <a:t> Division rule</a:t>
            </a:r>
          </a:p>
          <a:p>
            <a:pPr eaLnBrk="1" hangingPunct="1">
              <a:buClr>
                <a:srgbClr val="A50021"/>
              </a:buClr>
              <a:buFontTx/>
              <a:buChar char="•"/>
            </a:pPr>
            <a:endParaRPr lang="en-US" altLang="zh-TW"/>
          </a:p>
          <a:p>
            <a:pPr eaLnBrk="1" hangingPunct="1">
              <a:buClr>
                <a:srgbClr val="A50021"/>
              </a:buClr>
              <a:buFontTx/>
              <a:buChar char="•"/>
            </a:pPr>
            <a:r>
              <a:rPr lang="en-US" altLang="zh-TW"/>
              <a:t> </a:t>
            </a:r>
            <a:r>
              <a:rPr lang="en-US" altLang="zh-TW">
                <a:solidFill>
                  <a:schemeClr val="bg2"/>
                </a:solidFill>
              </a:rPr>
              <a:t>More mapping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6178" name="Rectangle 2"/>
          <p:cNvSpPr>
            <a:spLocks noChangeArrowheads="1"/>
          </p:cNvSpPr>
          <p:nvPr/>
        </p:nvSpPr>
        <p:spPr bwMode="auto">
          <a:xfrm>
            <a:off x="2590800" y="1371600"/>
            <a:ext cx="3886200" cy="160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en-US" altLang="en-US"/>
              <a:t>if function from </a:t>
            </a:r>
            <a:r>
              <a:rPr lang="en-US" altLang="en-US" i="1">
                <a:solidFill>
                  <a:srgbClr val="3333CC"/>
                </a:solidFill>
              </a:rPr>
              <a:t>A</a:t>
            </a:r>
            <a:r>
              <a:rPr lang="en-US" altLang="en-US"/>
              <a:t> to </a:t>
            </a:r>
            <a:r>
              <a:rPr lang="en-US" altLang="en-US" i="1">
                <a:solidFill>
                  <a:srgbClr val="3333CC"/>
                </a:solidFill>
              </a:rPr>
              <a:t>B</a:t>
            </a:r>
            <a:r>
              <a:rPr lang="en-US" altLang="en-US"/>
              <a:t> is </a:t>
            </a:r>
            <a:r>
              <a:rPr lang="en-US" altLang="en-US" i="1">
                <a:solidFill>
                  <a:srgbClr val="3333CC"/>
                </a:solidFill>
              </a:rPr>
              <a:t>k</a:t>
            </a:r>
            <a:r>
              <a:rPr lang="en-US" altLang="en-US">
                <a:solidFill>
                  <a:srgbClr val="3333CC"/>
                </a:solidFill>
              </a:rPr>
              <a:t>-to-1</a:t>
            </a:r>
            <a:r>
              <a:rPr lang="en-US" altLang="en-US"/>
              <a:t>,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/>
              <a:t>then</a:t>
            </a:r>
          </a:p>
          <a:p>
            <a:pPr eaLnBrk="1" hangingPunct="1">
              <a:spcBef>
                <a:spcPct val="20000"/>
              </a:spcBef>
            </a:pPr>
            <a:endParaRPr lang="en-US" altLang="en-US"/>
          </a:p>
          <a:p>
            <a:pPr eaLnBrk="1" hangingPunct="1">
              <a:spcBef>
                <a:spcPct val="20000"/>
              </a:spcBef>
            </a:pPr>
            <a:r>
              <a:rPr lang="en-US" altLang="en-US"/>
              <a:t>(generalizes the Bijection Rule)</a:t>
            </a:r>
          </a:p>
        </p:txBody>
      </p:sp>
      <p:graphicFrame>
        <p:nvGraphicFramePr>
          <p:cNvPr id="3074" name="Object 3"/>
          <p:cNvGraphicFramePr>
            <a:graphicFrameLocks noChangeAspect="1"/>
          </p:cNvGraphicFramePr>
          <p:nvPr/>
        </p:nvGraphicFramePr>
        <p:xfrm>
          <a:off x="5232400" y="2514600"/>
          <a:ext cx="914400" cy="198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9" name="Equation" r:id="rId3" imgW="914400" imgH="198720" progId="Equation.DSMT4">
                  <p:embed/>
                </p:oleObj>
              </mc:Choice>
              <mc:Fallback>
                <p:oleObj name="Equation" r:id="rId3" imgW="914400" imgH="19872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32400" y="2514600"/>
                        <a:ext cx="914400" cy="198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46180" name="Object 4"/>
          <p:cNvGraphicFramePr>
            <a:graphicFrameLocks noChangeAspect="1"/>
          </p:cNvGraphicFramePr>
          <p:nvPr/>
        </p:nvGraphicFramePr>
        <p:xfrm>
          <a:off x="3733800" y="1676400"/>
          <a:ext cx="1314450" cy="560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0" name="Equation" r:id="rId5" imgW="596880" imgH="253800" progId="Equation.DSMT4">
                  <p:embed/>
                </p:oleObj>
              </mc:Choice>
              <mc:Fallback>
                <p:oleObj name="Equation" r:id="rId5" imgW="596880" imgH="2538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3800" y="1676400"/>
                        <a:ext cx="1314450" cy="560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7" name="Text Box 5"/>
          <p:cNvSpPr txBox="1">
            <a:spLocks noChangeArrowheads="1"/>
          </p:cNvSpPr>
          <p:nvPr/>
        </p:nvSpPr>
        <p:spPr bwMode="auto">
          <a:xfrm>
            <a:off x="3544888" y="457200"/>
            <a:ext cx="20177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 sz="2400" b="1">
                <a:solidFill>
                  <a:srgbClr val="003366"/>
                </a:solidFill>
              </a:rPr>
              <a:t>Division Rule</a:t>
            </a:r>
          </a:p>
        </p:txBody>
      </p:sp>
      <p:pic>
        <p:nvPicPr>
          <p:cNvPr id="946182" name="Picture 6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0175" y="3205163"/>
            <a:ext cx="3806825" cy="296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6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61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6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ext Box 2"/>
          <p:cNvSpPr txBox="1">
            <a:spLocks noChangeArrowheads="1"/>
          </p:cNvSpPr>
          <p:nvPr/>
        </p:nvSpPr>
        <p:spPr bwMode="auto">
          <a:xfrm>
            <a:off x="2743200" y="457200"/>
            <a:ext cx="35956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 sz="2400" b="1">
                <a:solidFill>
                  <a:srgbClr val="003366"/>
                </a:solidFill>
              </a:rPr>
              <a:t>Another Chess Problem</a:t>
            </a:r>
          </a:p>
        </p:txBody>
      </p:sp>
      <p:sp>
        <p:nvSpPr>
          <p:cNvPr id="33795" name="Rectangle 3"/>
          <p:cNvSpPr>
            <a:spLocks noChangeArrowheads="1"/>
          </p:cNvSpPr>
          <p:nvPr/>
        </p:nvSpPr>
        <p:spPr bwMode="auto">
          <a:xfrm>
            <a:off x="2133600" y="1371600"/>
            <a:ext cx="4876800" cy="1330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en-US" altLang="en-US"/>
              <a:t>In how many different ways can you place two identical rooks on a chessboard so that 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en-US"/>
              <a:t>they do not share a row or column?</a:t>
            </a:r>
          </a:p>
        </p:txBody>
      </p:sp>
      <p:pic>
        <p:nvPicPr>
          <p:cNvPr id="3379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3151188"/>
            <a:ext cx="7086600" cy="3173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ext Box 2"/>
          <p:cNvSpPr txBox="1">
            <a:spLocks noChangeArrowheads="1"/>
          </p:cNvSpPr>
          <p:nvPr/>
        </p:nvSpPr>
        <p:spPr bwMode="auto">
          <a:xfrm>
            <a:off x="2057400" y="1295400"/>
            <a:ext cx="5105400" cy="1614488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en-US"/>
              <a:t>We define a mapping between configurations 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en-US"/>
              <a:t>to sequences (r(1), c(1), r(2), c(2)),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en-US"/>
              <a:t>where r(1) and r(2) are distinct rows,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en-US"/>
              <a:t>and c(1) and c(2) are distinct columns.</a:t>
            </a:r>
          </a:p>
        </p:txBody>
      </p:sp>
      <p:sp>
        <p:nvSpPr>
          <p:cNvPr id="34819" name="Text Box 3"/>
          <p:cNvSpPr txBox="1">
            <a:spLocks noChangeArrowheads="1"/>
          </p:cNvSpPr>
          <p:nvPr/>
        </p:nvSpPr>
        <p:spPr bwMode="auto">
          <a:xfrm>
            <a:off x="2743200" y="457200"/>
            <a:ext cx="35956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 sz="2400" b="1">
                <a:solidFill>
                  <a:srgbClr val="003366"/>
                </a:solidFill>
              </a:rPr>
              <a:t>Another Chess Problem</a:t>
            </a:r>
          </a:p>
        </p:txBody>
      </p:sp>
      <p:sp>
        <p:nvSpPr>
          <p:cNvPr id="944132" name="Text Box 4"/>
          <p:cNvSpPr txBox="1">
            <a:spLocks noChangeArrowheads="1"/>
          </p:cNvSpPr>
          <p:nvPr/>
        </p:nvSpPr>
        <p:spPr bwMode="auto">
          <a:xfrm>
            <a:off x="762000" y="3124200"/>
            <a:ext cx="7696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kumimoji="0" lang="en-US" altLang="en-US" i="1">
                <a:solidFill>
                  <a:srgbClr val="3333CC"/>
                </a:solidFill>
              </a:rPr>
              <a:t>A </a:t>
            </a:r>
            <a:r>
              <a:rPr kumimoji="0" lang="en-US" altLang="en-US">
                <a:solidFill>
                  <a:srgbClr val="000000"/>
                </a:solidFill>
              </a:rPr>
              <a:t>::= all sequences (r(1),c(1),r(2),c(2)) with r(1) ≠ r(2) and c(1) ≠ c(2)</a:t>
            </a:r>
          </a:p>
        </p:txBody>
      </p:sp>
      <p:sp>
        <p:nvSpPr>
          <p:cNvPr id="944133" name="Text Box 5"/>
          <p:cNvSpPr txBox="1">
            <a:spLocks noChangeArrowheads="1"/>
          </p:cNvSpPr>
          <p:nvPr/>
        </p:nvSpPr>
        <p:spPr bwMode="auto">
          <a:xfrm>
            <a:off x="2743200" y="3733800"/>
            <a:ext cx="365283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kumimoji="0" lang="en-US" altLang="en-US"/>
              <a:t> </a:t>
            </a:r>
            <a:r>
              <a:rPr kumimoji="0" lang="en-US" altLang="en-US" i="1">
                <a:solidFill>
                  <a:srgbClr val="008000"/>
                </a:solidFill>
              </a:rPr>
              <a:t>B</a:t>
            </a:r>
            <a:r>
              <a:rPr kumimoji="0" lang="en-US" altLang="en-US"/>
              <a:t>::= all valid rook configurations</a:t>
            </a:r>
          </a:p>
        </p:txBody>
      </p:sp>
      <p:pic>
        <p:nvPicPr>
          <p:cNvPr id="944136" name="Picture 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4267200"/>
            <a:ext cx="2401888" cy="2401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44137" name="Text Box 9"/>
          <p:cNvSpPr txBox="1">
            <a:spLocks noChangeArrowheads="1"/>
          </p:cNvSpPr>
          <p:nvPr/>
        </p:nvSpPr>
        <p:spPr bwMode="auto">
          <a:xfrm>
            <a:off x="5167313" y="4408488"/>
            <a:ext cx="2986087" cy="696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en-US"/>
              <a:t>(1,1,8,8) and (8,8,1,1) maps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en-US"/>
              <a:t>to the same configuration.</a:t>
            </a:r>
          </a:p>
        </p:txBody>
      </p:sp>
      <p:sp>
        <p:nvSpPr>
          <p:cNvPr id="944138" name="AutoShape 10"/>
          <p:cNvSpPr>
            <a:spLocks noChangeArrowheads="1"/>
          </p:cNvSpPr>
          <p:nvPr/>
        </p:nvSpPr>
        <p:spPr bwMode="auto">
          <a:xfrm>
            <a:off x="3886200" y="4572000"/>
            <a:ext cx="976313" cy="485775"/>
          </a:xfrm>
          <a:prstGeom prst="leftArrow">
            <a:avLst>
              <a:gd name="adj1" fmla="val 50000"/>
              <a:gd name="adj2" fmla="val 50245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944139" name="Text Box 11"/>
          <p:cNvSpPr txBox="1">
            <a:spLocks noChangeArrowheads="1"/>
          </p:cNvSpPr>
          <p:nvPr/>
        </p:nvSpPr>
        <p:spPr bwMode="auto">
          <a:xfrm>
            <a:off x="4594225" y="5680075"/>
            <a:ext cx="3644900" cy="376238"/>
          </a:xfrm>
          <a:prstGeom prst="rect">
            <a:avLst/>
          </a:prstGeom>
          <a:solidFill>
            <a:srgbClr val="FFCCFF"/>
          </a:solidFill>
          <a:ln w="9525">
            <a:solidFill>
              <a:schemeClr val="bg2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en-US"/>
              <a:t>The mapping is a 2-to-1 mapping.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4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4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4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4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4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4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44132" grpId="0"/>
      <p:bldP spid="944133" grpId="0"/>
      <p:bldP spid="944137" grpId="0"/>
      <p:bldP spid="944138" grpId="0" animBg="1"/>
      <p:bldP spid="944139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ext Box 3"/>
          <p:cNvSpPr txBox="1">
            <a:spLocks noChangeArrowheads="1"/>
          </p:cNvSpPr>
          <p:nvPr/>
        </p:nvSpPr>
        <p:spPr bwMode="auto">
          <a:xfrm>
            <a:off x="2743200" y="457200"/>
            <a:ext cx="35956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 sz="2400" b="1">
                <a:solidFill>
                  <a:srgbClr val="003366"/>
                </a:solidFill>
              </a:rPr>
              <a:t>Another Chess Problem</a:t>
            </a:r>
          </a:p>
        </p:txBody>
      </p:sp>
      <p:sp>
        <p:nvSpPr>
          <p:cNvPr id="35843" name="Text Box 4"/>
          <p:cNvSpPr txBox="1">
            <a:spLocks noChangeArrowheads="1"/>
          </p:cNvSpPr>
          <p:nvPr/>
        </p:nvSpPr>
        <p:spPr bwMode="auto">
          <a:xfrm>
            <a:off x="762000" y="1295400"/>
            <a:ext cx="7696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kumimoji="0" lang="en-US" altLang="en-US" i="1">
                <a:solidFill>
                  <a:srgbClr val="3333CC"/>
                </a:solidFill>
              </a:rPr>
              <a:t>A </a:t>
            </a:r>
            <a:r>
              <a:rPr kumimoji="0" lang="en-US" altLang="en-US">
                <a:solidFill>
                  <a:srgbClr val="000000"/>
                </a:solidFill>
              </a:rPr>
              <a:t>::= all sequences (r(1),c(1),r(2),c(2)) with r(1) ≠ r(2) and c(1) ≠ c(2)</a:t>
            </a:r>
          </a:p>
        </p:txBody>
      </p:sp>
      <p:sp>
        <p:nvSpPr>
          <p:cNvPr id="35844" name="Text Box 5"/>
          <p:cNvSpPr txBox="1">
            <a:spLocks noChangeArrowheads="1"/>
          </p:cNvSpPr>
          <p:nvPr/>
        </p:nvSpPr>
        <p:spPr bwMode="auto">
          <a:xfrm>
            <a:off x="2743200" y="1905000"/>
            <a:ext cx="365283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kumimoji="0" lang="en-US" altLang="en-US"/>
              <a:t> </a:t>
            </a:r>
            <a:r>
              <a:rPr kumimoji="0" lang="en-US" altLang="en-US" i="1">
                <a:solidFill>
                  <a:srgbClr val="008000"/>
                </a:solidFill>
              </a:rPr>
              <a:t>B</a:t>
            </a:r>
            <a:r>
              <a:rPr kumimoji="0" lang="en-US" altLang="en-US"/>
              <a:t>::= all valid rook configurations</a:t>
            </a:r>
          </a:p>
        </p:txBody>
      </p:sp>
      <p:sp>
        <p:nvSpPr>
          <p:cNvPr id="972809" name="Text Box 9"/>
          <p:cNvSpPr txBox="1">
            <a:spLocks noChangeArrowheads="1"/>
          </p:cNvSpPr>
          <p:nvPr/>
        </p:nvSpPr>
        <p:spPr bwMode="auto">
          <a:xfrm>
            <a:off x="838200" y="2671763"/>
            <a:ext cx="3644900" cy="376237"/>
          </a:xfrm>
          <a:prstGeom prst="rect">
            <a:avLst/>
          </a:prstGeom>
          <a:solidFill>
            <a:srgbClr val="FFCCFF"/>
          </a:solidFill>
          <a:ln w="9525">
            <a:solidFill>
              <a:schemeClr val="bg2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en-US"/>
              <a:t>The mapping is a 2-to-1 mapping.</a:t>
            </a:r>
          </a:p>
        </p:txBody>
      </p:sp>
      <p:pic>
        <p:nvPicPr>
          <p:cNvPr id="972810" name="Picture 10" descr="txp_fig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2690813"/>
            <a:ext cx="1981200" cy="433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72811" name="AutoShape 11"/>
          <p:cNvSpPr>
            <a:spLocks noChangeArrowheads="1"/>
          </p:cNvSpPr>
          <p:nvPr/>
        </p:nvSpPr>
        <p:spPr bwMode="auto">
          <a:xfrm>
            <a:off x="4800600" y="2638425"/>
            <a:ext cx="976313" cy="485775"/>
          </a:xfrm>
          <a:prstGeom prst="rightArrow">
            <a:avLst>
              <a:gd name="adj1" fmla="val 50000"/>
              <a:gd name="adj2" fmla="val 50245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972812" name="Text Box 12"/>
          <p:cNvSpPr txBox="1">
            <a:spLocks noChangeArrowheads="1"/>
          </p:cNvSpPr>
          <p:nvPr/>
        </p:nvSpPr>
        <p:spPr bwMode="auto">
          <a:xfrm>
            <a:off x="1828800" y="3505200"/>
            <a:ext cx="5319713" cy="1604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en-US"/>
              <a:t>Using the generalized product rule to count |A|,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en-US"/>
              <a:t>there are 8 choices of r(1) and c(1),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en-US"/>
              <a:t>there are 7 choices of r(2) and c(2),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en-US"/>
              <a:t>and so |A| = 8x8x7x7 = 3136.</a:t>
            </a:r>
          </a:p>
        </p:txBody>
      </p:sp>
      <p:sp>
        <p:nvSpPr>
          <p:cNvPr id="972813" name="Text Box 13"/>
          <p:cNvSpPr txBox="1">
            <a:spLocks noChangeArrowheads="1"/>
          </p:cNvSpPr>
          <p:nvPr/>
        </p:nvSpPr>
        <p:spPr bwMode="auto">
          <a:xfrm>
            <a:off x="2576513" y="5486400"/>
            <a:ext cx="4111625" cy="788988"/>
          </a:xfrm>
          <a:prstGeom prst="rect">
            <a:avLst/>
          </a:prstGeom>
          <a:solidFill>
            <a:srgbClr val="CCFF99"/>
          </a:solidFill>
          <a:ln w="9525">
            <a:solidFill>
              <a:schemeClr val="bg2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en-US"/>
              <a:t>Thus, total number of configurations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en-US"/>
              <a:t>|B| = |A|/2 = 3136/2 = 1568.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2809" grpId="0" animBg="1"/>
      <p:bldP spid="972811" grpId="0" animBg="1"/>
      <p:bldP spid="972813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ChangeArrowheads="1"/>
          </p:cNvSpPr>
          <p:nvPr/>
        </p:nvSpPr>
        <p:spPr bwMode="auto">
          <a:xfrm>
            <a:off x="1046163" y="1219200"/>
            <a:ext cx="7031037" cy="376238"/>
          </a:xfrm>
          <a:prstGeom prst="rect">
            <a:avLst/>
          </a:prstGeom>
          <a:solidFill>
            <a:srgbClr val="FFCCFF"/>
          </a:solidFill>
          <a:ln w="9525">
            <a:solidFill>
              <a:schemeClr val="bg2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en-US"/>
              <a:t>How many ways can we seat n different people at a round table?</a:t>
            </a:r>
          </a:p>
        </p:txBody>
      </p:sp>
      <p:sp>
        <p:nvSpPr>
          <p:cNvPr id="36867" name="Text Box 3"/>
          <p:cNvSpPr txBox="1">
            <a:spLocks noChangeArrowheads="1"/>
          </p:cNvSpPr>
          <p:nvPr/>
        </p:nvSpPr>
        <p:spPr bwMode="auto">
          <a:xfrm>
            <a:off x="3575050" y="457200"/>
            <a:ext cx="1987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 sz="2400" b="1">
                <a:solidFill>
                  <a:srgbClr val="003366"/>
                </a:solidFill>
              </a:rPr>
              <a:t>Round Table</a:t>
            </a:r>
          </a:p>
        </p:txBody>
      </p:sp>
      <p:sp>
        <p:nvSpPr>
          <p:cNvPr id="943108" name="Rectangle 4"/>
          <p:cNvSpPr>
            <a:spLocks noChangeArrowheads="1"/>
          </p:cNvSpPr>
          <p:nvPr/>
        </p:nvSpPr>
        <p:spPr bwMode="auto">
          <a:xfrm>
            <a:off x="1981200" y="1978025"/>
            <a:ext cx="5105400" cy="917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en-US" altLang="en-US"/>
              <a:t>Two seatings are considered equivalent if one can be obtained from the other by rotation.</a:t>
            </a:r>
          </a:p>
        </p:txBody>
      </p:sp>
      <p:pic>
        <p:nvPicPr>
          <p:cNvPr id="943109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8675" y="3429000"/>
            <a:ext cx="4911725" cy="1652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43110" name="AutoShape 6"/>
          <p:cNvSpPr>
            <a:spLocks noChangeArrowheads="1"/>
          </p:cNvSpPr>
          <p:nvPr/>
        </p:nvSpPr>
        <p:spPr bwMode="auto">
          <a:xfrm>
            <a:off x="3962400" y="4086225"/>
            <a:ext cx="1214438" cy="485775"/>
          </a:xfrm>
          <a:prstGeom prst="left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943111" name="Text Box 7"/>
          <p:cNvSpPr txBox="1">
            <a:spLocks noChangeArrowheads="1"/>
          </p:cNvSpPr>
          <p:nvPr/>
        </p:nvSpPr>
        <p:spPr bwMode="auto">
          <a:xfrm>
            <a:off x="3962400" y="3546475"/>
            <a:ext cx="12541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en-US"/>
              <a:t>equivalent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3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3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3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3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43108" grpId="0"/>
      <p:bldP spid="943110" grpId="0" animBg="1"/>
      <p:bldP spid="943111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082" name="Text Box 2"/>
          <p:cNvSpPr txBox="1">
            <a:spLocks noChangeArrowheads="1"/>
          </p:cNvSpPr>
          <p:nvPr/>
        </p:nvSpPr>
        <p:spPr bwMode="auto">
          <a:xfrm>
            <a:off x="2209800" y="1371600"/>
            <a:ext cx="4648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kumimoji="0" lang="en-US" altLang="en-US" i="1">
                <a:solidFill>
                  <a:srgbClr val="3333CC"/>
                </a:solidFill>
              </a:rPr>
              <a:t>A </a:t>
            </a:r>
            <a:r>
              <a:rPr kumimoji="0" lang="en-US" altLang="en-US">
                <a:solidFill>
                  <a:srgbClr val="000000"/>
                </a:solidFill>
              </a:rPr>
              <a:t>::= </a:t>
            </a:r>
            <a:r>
              <a:rPr kumimoji="0" lang="en-US" altLang="en-US"/>
              <a:t>all the permutations of the people</a:t>
            </a:r>
          </a:p>
        </p:txBody>
      </p:sp>
      <p:sp>
        <p:nvSpPr>
          <p:cNvPr id="37891" name="Text Box 3"/>
          <p:cNvSpPr txBox="1">
            <a:spLocks noChangeArrowheads="1"/>
          </p:cNvSpPr>
          <p:nvPr/>
        </p:nvSpPr>
        <p:spPr bwMode="auto">
          <a:xfrm>
            <a:off x="1447800" y="2043113"/>
            <a:ext cx="62547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kumimoji="0" lang="en-US" altLang="en-US"/>
              <a:t> </a:t>
            </a:r>
            <a:r>
              <a:rPr kumimoji="0" lang="en-US" altLang="en-US" i="1">
                <a:solidFill>
                  <a:srgbClr val="008000"/>
                </a:solidFill>
              </a:rPr>
              <a:t>B</a:t>
            </a:r>
            <a:r>
              <a:rPr kumimoji="0" lang="en-US" altLang="en-US"/>
              <a:t>::= all possible seating arrangements at the round table</a:t>
            </a:r>
          </a:p>
        </p:txBody>
      </p:sp>
      <p:sp>
        <p:nvSpPr>
          <p:cNvPr id="37892" name="Text Box 4"/>
          <p:cNvSpPr txBox="1">
            <a:spLocks noChangeArrowheads="1"/>
          </p:cNvSpPr>
          <p:nvPr/>
        </p:nvSpPr>
        <p:spPr bwMode="auto">
          <a:xfrm>
            <a:off x="3575050" y="457200"/>
            <a:ext cx="1987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 sz="2400" b="1">
                <a:solidFill>
                  <a:srgbClr val="003366"/>
                </a:solidFill>
              </a:rPr>
              <a:t>Round Table</a:t>
            </a:r>
          </a:p>
        </p:txBody>
      </p:sp>
      <p:sp>
        <p:nvSpPr>
          <p:cNvPr id="942085" name="Rectangle 5"/>
          <p:cNvSpPr>
            <a:spLocks noChangeArrowheads="1"/>
          </p:cNvSpPr>
          <p:nvPr/>
        </p:nvSpPr>
        <p:spPr bwMode="auto">
          <a:xfrm>
            <a:off x="990600" y="4941888"/>
            <a:ext cx="7162800" cy="917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en-US" altLang="en-US"/>
              <a:t>Map each permutation in set A to a circular seating arrangement in set B by following the natural order in the permutation.</a:t>
            </a:r>
          </a:p>
        </p:txBody>
      </p:sp>
      <p:pic>
        <p:nvPicPr>
          <p:cNvPr id="942086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2200" y="2819400"/>
            <a:ext cx="4470400" cy="1720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42082" grpId="0"/>
      <p:bldP spid="942085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ext Box 2"/>
          <p:cNvSpPr txBox="1">
            <a:spLocks noChangeArrowheads="1"/>
          </p:cNvSpPr>
          <p:nvPr/>
        </p:nvSpPr>
        <p:spPr bwMode="auto">
          <a:xfrm>
            <a:off x="3575050" y="457200"/>
            <a:ext cx="1987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 sz="2400" b="1">
                <a:solidFill>
                  <a:srgbClr val="003366"/>
                </a:solidFill>
              </a:rPr>
              <a:t>Round Table</a:t>
            </a:r>
          </a:p>
        </p:txBody>
      </p:sp>
      <p:pic>
        <p:nvPicPr>
          <p:cNvPr id="94105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2667000"/>
            <a:ext cx="4613275" cy="1722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8916" name="Text Box 4"/>
          <p:cNvSpPr txBox="1">
            <a:spLocks noChangeArrowheads="1"/>
          </p:cNvSpPr>
          <p:nvPr/>
        </p:nvSpPr>
        <p:spPr bwMode="auto">
          <a:xfrm>
            <a:off x="2209800" y="1371600"/>
            <a:ext cx="4648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kumimoji="0" lang="en-US" altLang="en-US" i="1">
                <a:solidFill>
                  <a:srgbClr val="3333CC"/>
                </a:solidFill>
              </a:rPr>
              <a:t>A </a:t>
            </a:r>
            <a:r>
              <a:rPr kumimoji="0" lang="en-US" altLang="en-US">
                <a:solidFill>
                  <a:srgbClr val="000000"/>
                </a:solidFill>
              </a:rPr>
              <a:t>::= </a:t>
            </a:r>
            <a:r>
              <a:rPr kumimoji="0" lang="en-US" altLang="en-US"/>
              <a:t>all the permutations of the people</a:t>
            </a:r>
          </a:p>
        </p:txBody>
      </p:sp>
      <p:sp>
        <p:nvSpPr>
          <p:cNvPr id="38917" name="Text Box 5"/>
          <p:cNvSpPr txBox="1">
            <a:spLocks noChangeArrowheads="1"/>
          </p:cNvSpPr>
          <p:nvPr/>
        </p:nvSpPr>
        <p:spPr bwMode="auto">
          <a:xfrm>
            <a:off x="1447800" y="2043113"/>
            <a:ext cx="62547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kumimoji="0" lang="en-US" altLang="en-US"/>
              <a:t> </a:t>
            </a:r>
            <a:r>
              <a:rPr kumimoji="0" lang="en-US" altLang="en-US" i="1">
                <a:solidFill>
                  <a:srgbClr val="008000"/>
                </a:solidFill>
              </a:rPr>
              <a:t>B</a:t>
            </a:r>
            <a:r>
              <a:rPr kumimoji="0" lang="en-US" altLang="en-US"/>
              <a:t>::= all possible seating arrangements at the round table</a:t>
            </a:r>
          </a:p>
        </p:txBody>
      </p:sp>
      <p:sp>
        <p:nvSpPr>
          <p:cNvPr id="941062" name="Text Box 6"/>
          <p:cNvSpPr txBox="1">
            <a:spLocks noChangeArrowheads="1"/>
          </p:cNvSpPr>
          <p:nvPr/>
        </p:nvSpPr>
        <p:spPr bwMode="auto">
          <a:xfrm>
            <a:off x="685800" y="4689475"/>
            <a:ext cx="3792538" cy="376238"/>
          </a:xfrm>
          <a:prstGeom prst="rect">
            <a:avLst/>
          </a:prstGeom>
          <a:solidFill>
            <a:srgbClr val="FFFF66"/>
          </a:solidFill>
          <a:ln w="9525">
            <a:solidFill>
              <a:schemeClr val="bg2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en-US"/>
              <a:t>This mapping is an n-to-1 mapping.</a:t>
            </a:r>
          </a:p>
        </p:txBody>
      </p:sp>
      <p:sp>
        <p:nvSpPr>
          <p:cNvPr id="941064" name="AutoShape 8"/>
          <p:cNvSpPr>
            <a:spLocks noChangeArrowheads="1"/>
          </p:cNvSpPr>
          <p:nvPr/>
        </p:nvSpPr>
        <p:spPr bwMode="auto">
          <a:xfrm>
            <a:off x="4800600" y="4619625"/>
            <a:ext cx="976313" cy="485775"/>
          </a:xfrm>
          <a:prstGeom prst="rightArrow">
            <a:avLst>
              <a:gd name="adj1" fmla="val 50000"/>
              <a:gd name="adj2" fmla="val 50245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pic>
        <p:nvPicPr>
          <p:cNvPr id="941065" name="Picture 9" descr="txp_fig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4672013"/>
            <a:ext cx="1981200" cy="433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41066" name="Text Box 10"/>
          <p:cNvSpPr txBox="1">
            <a:spLocks noChangeArrowheads="1"/>
          </p:cNvSpPr>
          <p:nvPr/>
        </p:nvSpPr>
        <p:spPr bwMode="auto">
          <a:xfrm>
            <a:off x="2119313" y="5688013"/>
            <a:ext cx="4891087" cy="788987"/>
          </a:xfrm>
          <a:prstGeom prst="rect">
            <a:avLst/>
          </a:prstGeom>
          <a:solidFill>
            <a:srgbClr val="CCFF99"/>
          </a:solidFill>
          <a:ln w="9525">
            <a:solidFill>
              <a:schemeClr val="bg2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en-US"/>
              <a:t>Thus, total number of seating arrangements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en-US"/>
              <a:t>|B| = |A|/n = n!/n = (n-1)!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1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1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1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1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1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41062" grpId="0" animBg="1"/>
      <p:bldP spid="941064" grpId="0" animBg="1"/>
      <p:bldP spid="941066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ext Box 2"/>
          <p:cNvSpPr txBox="1">
            <a:spLocks noChangeArrowheads="1"/>
          </p:cNvSpPr>
          <p:nvPr/>
        </p:nvSpPr>
        <p:spPr bwMode="auto">
          <a:xfrm>
            <a:off x="3200400" y="457200"/>
            <a:ext cx="26939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 sz="2400" b="1">
                <a:solidFill>
                  <a:srgbClr val="003366"/>
                </a:solidFill>
              </a:rPr>
              <a:t>Counting Subsets</a:t>
            </a:r>
          </a:p>
        </p:txBody>
      </p:sp>
      <p:sp>
        <p:nvSpPr>
          <p:cNvPr id="940035" name="Text Box 3"/>
          <p:cNvSpPr txBox="1">
            <a:spLocks noChangeArrowheads="1"/>
          </p:cNvSpPr>
          <p:nvPr/>
        </p:nvSpPr>
        <p:spPr bwMode="auto">
          <a:xfrm>
            <a:off x="2438400" y="1700213"/>
            <a:ext cx="5457825" cy="3194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0000"/>
                </a:solidFill>
                <a:prstDash val="sysDot"/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kumimoji="0" lang="en-US" altLang="en-US"/>
              <a:t>How many size 4 subsets of {1,2,…,13} are there?</a:t>
            </a:r>
          </a:p>
          <a:p>
            <a:pPr eaLnBrk="1" hangingPunct="1">
              <a:lnSpc>
                <a:spcPct val="150000"/>
              </a:lnSpc>
              <a:spcBef>
                <a:spcPct val="20000"/>
              </a:spcBef>
            </a:pPr>
            <a:endParaRPr kumimoji="0" lang="en-US" altLang="en-US"/>
          </a:p>
          <a:p>
            <a:pPr eaLnBrk="1" hangingPunct="1">
              <a:lnSpc>
                <a:spcPct val="150000"/>
              </a:lnSpc>
              <a:spcBef>
                <a:spcPct val="20000"/>
              </a:spcBef>
            </a:pPr>
            <a:r>
              <a:rPr kumimoji="0" lang="en-US" altLang="en-US"/>
              <a:t>Let </a:t>
            </a:r>
            <a:r>
              <a:rPr kumimoji="0" lang="en-US" altLang="en-US" i="1"/>
              <a:t>A</a:t>
            </a:r>
            <a:r>
              <a:rPr kumimoji="0" lang="en-US" altLang="en-US"/>
              <a:t>::= permutations of {1,2,…,13}</a:t>
            </a:r>
          </a:p>
          <a:p>
            <a:pPr eaLnBrk="1" hangingPunct="1">
              <a:lnSpc>
                <a:spcPct val="150000"/>
              </a:lnSpc>
              <a:spcBef>
                <a:spcPct val="20000"/>
              </a:spcBef>
            </a:pPr>
            <a:r>
              <a:rPr kumimoji="0" lang="en-US" altLang="en-US" i="1"/>
              <a:t>      B</a:t>
            </a:r>
            <a:r>
              <a:rPr kumimoji="0" lang="en-US" altLang="en-US"/>
              <a:t>::= size 4 subsets</a:t>
            </a:r>
          </a:p>
          <a:p>
            <a:pPr eaLnBrk="1" hangingPunct="1">
              <a:lnSpc>
                <a:spcPct val="150000"/>
              </a:lnSpc>
              <a:spcBef>
                <a:spcPct val="20000"/>
              </a:spcBef>
            </a:pPr>
            <a:endParaRPr kumimoji="0" lang="en-US" altLang="en-US"/>
          </a:p>
          <a:p>
            <a:pPr eaLnBrk="1" hangingPunct="1">
              <a:lnSpc>
                <a:spcPct val="150000"/>
              </a:lnSpc>
              <a:spcBef>
                <a:spcPct val="20000"/>
              </a:spcBef>
            </a:pPr>
            <a:r>
              <a:rPr kumimoji="0" lang="en-US" altLang="en-US"/>
              <a:t>map     </a:t>
            </a:r>
            <a:r>
              <a:rPr kumimoji="0" lang="en-US" altLang="en-US">
                <a:solidFill>
                  <a:srgbClr val="008000"/>
                </a:solidFill>
              </a:rPr>
              <a:t>a</a:t>
            </a:r>
            <a:r>
              <a:rPr kumimoji="0" lang="en-US" altLang="en-US" baseline="-25000">
                <a:solidFill>
                  <a:srgbClr val="008000"/>
                </a:solidFill>
              </a:rPr>
              <a:t>1 </a:t>
            </a:r>
            <a:r>
              <a:rPr kumimoji="0" lang="en-US" altLang="en-US">
                <a:solidFill>
                  <a:srgbClr val="008000"/>
                </a:solidFill>
              </a:rPr>
              <a:t>a</a:t>
            </a:r>
            <a:r>
              <a:rPr kumimoji="0" lang="en-US" altLang="en-US" baseline="-25000">
                <a:solidFill>
                  <a:srgbClr val="008000"/>
                </a:solidFill>
              </a:rPr>
              <a:t>2 </a:t>
            </a:r>
            <a:r>
              <a:rPr kumimoji="0" lang="en-US" altLang="en-US">
                <a:solidFill>
                  <a:srgbClr val="008000"/>
                </a:solidFill>
              </a:rPr>
              <a:t>a</a:t>
            </a:r>
            <a:r>
              <a:rPr kumimoji="0" lang="en-US" altLang="en-US" baseline="-25000">
                <a:solidFill>
                  <a:srgbClr val="008000"/>
                </a:solidFill>
              </a:rPr>
              <a:t>3 </a:t>
            </a:r>
            <a:r>
              <a:rPr kumimoji="0" lang="en-US" altLang="en-US">
                <a:solidFill>
                  <a:srgbClr val="008000"/>
                </a:solidFill>
              </a:rPr>
              <a:t>a</a:t>
            </a:r>
            <a:r>
              <a:rPr kumimoji="0" lang="en-US" altLang="en-US" baseline="-25000">
                <a:solidFill>
                  <a:srgbClr val="008000"/>
                </a:solidFill>
              </a:rPr>
              <a:t>4</a:t>
            </a:r>
            <a:r>
              <a:rPr kumimoji="0" lang="en-US" altLang="en-US" baseline="-25000">
                <a:solidFill>
                  <a:srgbClr val="3333CC"/>
                </a:solidFill>
              </a:rPr>
              <a:t> </a:t>
            </a:r>
            <a:r>
              <a:rPr kumimoji="0" lang="en-US" altLang="en-US">
                <a:solidFill>
                  <a:srgbClr val="3333CC"/>
                </a:solidFill>
              </a:rPr>
              <a:t>a</a:t>
            </a:r>
            <a:r>
              <a:rPr kumimoji="0" lang="en-US" altLang="en-US" baseline="-25000">
                <a:solidFill>
                  <a:srgbClr val="3333CC"/>
                </a:solidFill>
              </a:rPr>
              <a:t>5</a:t>
            </a:r>
            <a:r>
              <a:rPr kumimoji="0" lang="en-US" altLang="en-US">
                <a:solidFill>
                  <a:srgbClr val="3333CC"/>
                </a:solidFill>
                <a:sym typeface="Euclid Extra" panose="02050502000505020303" pitchFamily="18" charset="2"/>
              </a:rPr>
              <a:t>… </a:t>
            </a:r>
            <a:r>
              <a:rPr kumimoji="0" lang="en-US" altLang="en-US">
                <a:solidFill>
                  <a:srgbClr val="3333CC"/>
                </a:solidFill>
              </a:rPr>
              <a:t>a</a:t>
            </a:r>
            <a:r>
              <a:rPr kumimoji="0" lang="en-US" altLang="en-US" baseline="-25000">
                <a:solidFill>
                  <a:srgbClr val="3333CC"/>
                </a:solidFill>
              </a:rPr>
              <a:t>12 </a:t>
            </a:r>
            <a:r>
              <a:rPr kumimoji="0" lang="en-US" altLang="en-US">
                <a:solidFill>
                  <a:srgbClr val="3333CC"/>
                </a:solidFill>
              </a:rPr>
              <a:t>a</a:t>
            </a:r>
            <a:r>
              <a:rPr kumimoji="0" lang="en-US" altLang="en-US" baseline="-25000">
                <a:solidFill>
                  <a:srgbClr val="3333CC"/>
                </a:solidFill>
              </a:rPr>
              <a:t>13</a:t>
            </a:r>
            <a:r>
              <a:rPr kumimoji="0" lang="en-US" altLang="en-US" baseline="-25000"/>
              <a:t>    </a:t>
            </a:r>
            <a:r>
              <a:rPr kumimoji="0" lang="en-US" altLang="en-US"/>
              <a:t>to</a:t>
            </a:r>
          </a:p>
          <a:p>
            <a:pPr eaLnBrk="1" hangingPunct="1">
              <a:lnSpc>
                <a:spcPct val="150000"/>
              </a:lnSpc>
              <a:spcBef>
                <a:spcPct val="20000"/>
              </a:spcBef>
            </a:pPr>
            <a:r>
              <a:rPr kumimoji="0" lang="en-US" altLang="en-US">
                <a:solidFill>
                  <a:srgbClr val="3333CC"/>
                </a:solidFill>
              </a:rPr>
              <a:t>          {</a:t>
            </a:r>
            <a:r>
              <a:rPr kumimoji="0" lang="en-US" altLang="en-US">
                <a:solidFill>
                  <a:srgbClr val="008000"/>
                </a:solidFill>
              </a:rPr>
              <a:t>a</a:t>
            </a:r>
            <a:r>
              <a:rPr kumimoji="0" lang="en-US" altLang="en-US" baseline="-25000">
                <a:solidFill>
                  <a:srgbClr val="008000"/>
                </a:solidFill>
              </a:rPr>
              <a:t>1</a:t>
            </a:r>
            <a:r>
              <a:rPr kumimoji="0" lang="en-US" altLang="en-US">
                <a:solidFill>
                  <a:srgbClr val="008000"/>
                </a:solidFill>
              </a:rPr>
              <a:t>,a</a:t>
            </a:r>
            <a:r>
              <a:rPr kumimoji="0" lang="en-US" altLang="en-US" baseline="-25000">
                <a:solidFill>
                  <a:srgbClr val="008000"/>
                </a:solidFill>
              </a:rPr>
              <a:t>2 </a:t>
            </a:r>
            <a:r>
              <a:rPr kumimoji="0" lang="en-US" altLang="en-US">
                <a:solidFill>
                  <a:srgbClr val="008000"/>
                </a:solidFill>
              </a:rPr>
              <a:t>,a</a:t>
            </a:r>
            <a:r>
              <a:rPr kumimoji="0" lang="en-US" altLang="en-US" baseline="-25000">
                <a:solidFill>
                  <a:srgbClr val="008000"/>
                </a:solidFill>
              </a:rPr>
              <a:t>3</a:t>
            </a:r>
            <a:r>
              <a:rPr kumimoji="0" lang="en-US" altLang="en-US">
                <a:solidFill>
                  <a:srgbClr val="008000"/>
                </a:solidFill>
              </a:rPr>
              <a:t>,</a:t>
            </a:r>
            <a:r>
              <a:rPr kumimoji="0" lang="en-US" altLang="en-US" baseline="-25000">
                <a:solidFill>
                  <a:srgbClr val="008000"/>
                </a:solidFill>
              </a:rPr>
              <a:t> </a:t>
            </a:r>
            <a:r>
              <a:rPr kumimoji="0" lang="en-US" altLang="en-US">
                <a:solidFill>
                  <a:srgbClr val="008000"/>
                </a:solidFill>
              </a:rPr>
              <a:t>a</a:t>
            </a:r>
            <a:r>
              <a:rPr kumimoji="0" lang="en-US" altLang="en-US" baseline="-25000">
                <a:solidFill>
                  <a:srgbClr val="008000"/>
                </a:solidFill>
              </a:rPr>
              <a:t>4</a:t>
            </a:r>
            <a:r>
              <a:rPr kumimoji="0" lang="en-US" altLang="en-US">
                <a:solidFill>
                  <a:srgbClr val="3333CC"/>
                </a:solidFill>
              </a:rPr>
              <a:t>}</a:t>
            </a:r>
          </a:p>
        </p:txBody>
      </p:sp>
      <p:sp>
        <p:nvSpPr>
          <p:cNvPr id="940036" name="Text Box 4"/>
          <p:cNvSpPr txBox="1">
            <a:spLocks noChangeArrowheads="1"/>
          </p:cNvSpPr>
          <p:nvPr/>
        </p:nvSpPr>
        <p:spPr bwMode="auto">
          <a:xfrm>
            <a:off x="1371600" y="5527675"/>
            <a:ext cx="6354763" cy="376238"/>
          </a:xfrm>
          <a:prstGeom prst="rect">
            <a:avLst/>
          </a:prstGeom>
          <a:solidFill>
            <a:srgbClr val="FFFF66"/>
          </a:solidFill>
          <a:ln w="9525">
            <a:solidFill>
              <a:schemeClr val="bg2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en-US"/>
              <a:t>How many permutations are mapped to the same subset??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00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00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00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00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0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40036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5"/>
          <p:cNvSpPr>
            <a:spLocks noChangeArrowheads="1"/>
          </p:cNvSpPr>
          <p:nvPr/>
        </p:nvSpPr>
        <p:spPr bwMode="auto">
          <a:xfrm>
            <a:off x="2743200" y="1447800"/>
            <a:ext cx="3657600" cy="982663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20000"/>
              </a:spcBef>
            </a:pPr>
            <a:r>
              <a:rPr kumimoji="0" lang="en-US" altLang="en-US"/>
              <a:t>map     </a:t>
            </a:r>
            <a:r>
              <a:rPr kumimoji="0" lang="en-US" altLang="en-US">
                <a:solidFill>
                  <a:srgbClr val="008000"/>
                </a:solidFill>
              </a:rPr>
              <a:t>a</a:t>
            </a:r>
            <a:r>
              <a:rPr kumimoji="0" lang="en-US" altLang="en-US" baseline="-25000">
                <a:solidFill>
                  <a:srgbClr val="008000"/>
                </a:solidFill>
              </a:rPr>
              <a:t>1 </a:t>
            </a:r>
            <a:r>
              <a:rPr kumimoji="0" lang="en-US" altLang="en-US">
                <a:solidFill>
                  <a:srgbClr val="008000"/>
                </a:solidFill>
              </a:rPr>
              <a:t>a</a:t>
            </a:r>
            <a:r>
              <a:rPr kumimoji="0" lang="en-US" altLang="en-US" baseline="-25000">
                <a:solidFill>
                  <a:srgbClr val="008000"/>
                </a:solidFill>
              </a:rPr>
              <a:t>2 </a:t>
            </a:r>
            <a:r>
              <a:rPr kumimoji="0" lang="en-US" altLang="en-US">
                <a:solidFill>
                  <a:srgbClr val="008000"/>
                </a:solidFill>
              </a:rPr>
              <a:t>a</a:t>
            </a:r>
            <a:r>
              <a:rPr kumimoji="0" lang="en-US" altLang="en-US" baseline="-25000">
                <a:solidFill>
                  <a:srgbClr val="008000"/>
                </a:solidFill>
              </a:rPr>
              <a:t>3 </a:t>
            </a:r>
            <a:r>
              <a:rPr kumimoji="0" lang="en-US" altLang="en-US">
                <a:solidFill>
                  <a:srgbClr val="008000"/>
                </a:solidFill>
              </a:rPr>
              <a:t>a</a:t>
            </a:r>
            <a:r>
              <a:rPr kumimoji="0" lang="en-US" altLang="en-US" baseline="-25000">
                <a:solidFill>
                  <a:srgbClr val="008000"/>
                </a:solidFill>
              </a:rPr>
              <a:t>4</a:t>
            </a:r>
            <a:r>
              <a:rPr kumimoji="0" lang="en-US" altLang="en-US" baseline="-25000">
                <a:solidFill>
                  <a:srgbClr val="3333CC"/>
                </a:solidFill>
              </a:rPr>
              <a:t> </a:t>
            </a:r>
            <a:r>
              <a:rPr kumimoji="0" lang="en-US" altLang="en-US">
                <a:solidFill>
                  <a:srgbClr val="3333CC"/>
                </a:solidFill>
              </a:rPr>
              <a:t>a</a:t>
            </a:r>
            <a:r>
              <a:rPr kumimoji="0" lang="en-US" altLang="en-US" baseline="-25000">
                <a:solidFill>
                  <a:srgbClr val="3333CC"/>
                </a:solidFill>
              </a:rPr>
              <a:t>5</a:t>
            </a:r>
            <a:r>
              <a:rPr kumimoji="0" lang="en-US" altLang="en-US">
                <a:solidFill>
                  <a:srgbClr val="3333CC"/>
                </a:solidFill>
                <a:sym typeface="Euclid Extra" panose="02050502000505020303" pitchFamily="18" charset="2"/>
              </a:rPr>
              <a:t>… </a:t>
            </a:r>
            <a:r>
              <a:rPr kumimoji="0" lang="en-US" altLang="en-US">
                <a:solidFill>
                  <a:srgbClr val="3333CC"/>
                </a:solidFill>
              </a:rPr>
              <a:t>a</a:t>
            </a:r>
            <a:r>
              <a:rPr kumimoji="0" lang="en-US" altLang="en-US" baseline="-25000">
                <a:solidFill>
                  <a:srgbClr val="3333CC"/>
                </a:solidFill>
              </a:rPr>
              <a:t>12 </a:t>
            </a:r>
            <a:r>
              <a:rPr kumimoji="0" lang="en-US" altLang="en-US">
                <a:solidFill>
                  <a:srgbClr val="3333CC"/>
                </a:solidFill>
              </a:rPr>
              <a:t>a</a:t>
            </a:r>
            <a:r>
              <a:rPr kumimoji="0" lang="en-US" altLang="en-US" baseline="-25000">
                <a:solidFill>
                  <a:srgbClr val="3333CC"/>
                </a:solidFill>
              </a:rPr>
              <a:t>13</a:t>
            </a:r>
            <a:r>
              <a:rPr kumimoji="0" lang="en-US" altLang="en-US" baseline="-25000"/>
              <a:t>    </a:t>
            </a:r>
            <a:r>
              <a:rPr kumimoji="0" lang="en-US" altLang="en-US"/>
              <a:t>to</a:t>
            </a:r>
          </a:p>
          <a:p>
            <a:pPr eaLnBrk="1" hangingPunct="1">
              <a:lnSpc>
                <a:spcPct val="150000"/>
              </a:lnSpc>
              <a:spcBef>
                <a:spcPct val="20000"/>
              </a:spcBef>
            </a:pPr>
            <a:r>
              <a:rPr kumimoji="0" lang="en-US" altLang="en-US">
                <a:solidFill>
                  <a:srgbClr val="3333CC"/>
                </a:solidFill>
              </a:rPr>
              <a:t>          {</a:t>
            </a:r>
            <a:r>
              <a:rPr kumimoji="0" lang="en-US" altLang="en-US">
                <a:solidFill>
                  <a:srgbClr val="008000"/>
                </a:solidFill>
              </a:rPr>
              <a:t>a</a:t>
            </a:r>
            <a:r>
              <a:rPr kumimoji="0" lang="en-US" altLang="en-US" baseline="-25000">
                <a:solidFill>
                  <a:srgbClr val="008000"/>
                </a:solidFill>
              </a:rPr>
              <a:t>1</a:t>
            </a:r>
            <a:r>
              <a:rPr kumimoji="0" lang="en-US" altLang="en-US">
                <a:solidFill>
                  <a:srgbClr val="008000"/>
                </a:solidFill>
              </a:rPr>
              <a:t>,a</a:t>
            </a:r>
            <a:r>
              <a:rPr kumimoji="0" lang="en-US" altLang="en-US" baseline="-25000">
                <a:solidFill>
                  <a:srgbClr val="008000"/>
                </a:solidFill>
              </a:rPr>
              <a:t>2 </a:t>
            </a:r>
            <a:r>
              <a:rPr kumimoji="0" lang="en-US" altLang="en-US">
                <a:solidFill>
                  <a:srgbClr val="008000"/>
                </a:solidFill>
              </a:rPr>
              <a:t>,a</a:t>
            </a:r>
            <a:r>
              <a:rPr kumimoji="0" lang="en-US" altLang="en-US" baseline="-25000">
                <a:solidFill>
                  <a:srgbClr val="008000"/>
                </a:solidFill>
              </a:rPr>
              <a:t>3 </a:t>
            </a:r>
            <a:r>
              <a:rPr kumimoji="0" lang="en-US" altLang="en-US">
                <a:solidFill>
                  <a:srgbClr val="008000"/>
                </a:solidFill>
              </a:rPr>
              <a:t>,</a:t>
            </a:r>
            <a:r>
              <a:rPr kumimoji="0" lang="en-US" altLang="en-US" baseline="-25000">
                <a:solidFill>
                  <a:srgbClr val="008000"/>
                </a:solidFill>
              </a:rPr>
              <a:t> </a:t>
            </a:r>
            <a:r>
              <a:rPr kumimoji="0" lang="en-US" altLang="en-US">
                <a:solidFill>
                  <a:srgbClr val="008000"/>
                </a:solidFill>
              </a:rPr>
              <a:t>a</a:t>
            </a:r>
            <a:r>
              <a:rPr kumimoji="0" lang="en-US" altLang="en-US" baseline="-25000">
                <a:solidFill>
                  <a:srgbClr val="008000"/>
                </a:solidFill>
              </a:rPr>
              <a:t>4</a:t>
            </a:r>
            <a:r>
              <a:rPr kumimoji="0" lang="en-US" altLang="en-US">
                <a:solidFill>
                  <a:srgbClr val="3333CC"/>
                </a:solidFill>
              </a:rPr>
              <a:t>}</a:t>
            </a:r>
          </a:p>
        </p:txBody>
      </p:sp>
      <p:sp>
        <p:nvSpPr>
          <p:cNvPr id="939015" name="Text Box 7"/>
          <p:cNvSpPr txBox="1">
            <a:spLocks noChangeArrowheads="1"/>
          </p:cNvSpPr>
          <p:nvPr/>
        </p:nvSpPr>
        <p:spPr bwMode="auto">
          <a:xfrm>
            <a:off x="2819400" y="2819400"/>
            <a:ext cx="4191000" cy="220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0000"/>
                </a:solidFill>
                <a:prstDash val="sysDot"/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kumimoji="0" lang="en-US" altLang="en-US">
                <a:solidFill>
                  <a:srgbClr val="008000"/>
                </a:solidFill>
              </a:rPr>
              <a:t>   a</a:t>
            </a:r>
            <a:r>
              <a:rPr kumimoji="0" lang="en-US" altLang="en-US" baseline="-25000">
                <a:solidFill>
                  <a:srgbClr val="008000"/>
                </a:solidFill>
              </a:rPr>
              <a:t>2 </a:t>
            </a:r>
            <a:r>
              <a:rPr kumimoji="0" lang="en-US" altLang="en-US">
                <a:solidFill>
                  <a:srgbClr val="008000"/>
                </a:solidFill>
              </a:rPr>
              <a:t>a</a:t>
            </a:r>
            <a:r>
              <a:rPr kumimoji="0" lang="en-US" altLang="en-US" baseline="-25000">
                <a:solidFill>
                  <a:srgbClr val="008000"/>
                </a:solidFill>
              </a:rPr>
              <a:t>4 </a:t>
            </a:r>
            <a:r>
              <a:rPr kumimoji="0" lang="en-US" altLang="en-US">
                <a:solidFill>
                  <a:srgbClr val="008000"/>
                </a:solidFill>
              </a:rPr>
              <a:t>a</a:t>
            </a:r>
            <a:r>
              <a:rPr kumimoji="0" lang="en-US" altLang="en-US" baseline="-25000">
                <a:solidFill>
                  <a:srgbClr val="008000"/>
                </a:solidFill>
              </a:rPr>
              <a:t>3 </a:t>
            </a:r>
            <a:r>
              <a:rPr kumimoji="0" lang="en-US" altLang="en-US">
                <a:solidFill>
                  <a:srgbClr val="008000"/>
                </a:solidFill>
              </a:rPr>
              <a:t>a</a:t>
            </a:r>
            <a:r>
              <a:rPr kumimoji="0" lang="en-US" altLang="en-US" baseline="-25000">
                <a:solidFill>
                  <a:srgbClr val="008000"/>
                </a:solidFill>
              </a:rPr>
              <a:t>1</a:t>
            </a:r>
            <a:r>
              <a:rPr kumimoji="0" lang="en-US" altLang="en-US" baseline="-25000">
                <a:solidFill>
                  <a:srgbClr val="3333CC"/>
                </a:solidFill>
              </a:rPr>
              <a:t> </a:t>
            </a:r>
            <a:r>
              <a:rPr kumimoji="0" lang="en-US" altLang="en-US">
                <a:solidFill>
                  <a:srgbClr val="3333CC"/>
                </a:solidFill>
              </a:rPr>
              <a:t>a</a:t>
            </a:r>
            <a:r>
              <a:rPr kumimoji="0" lang="en-US" altLang="en-US" baseline="-25000">
                <a:solidFill>
                  <a:srgbClr val="3333CC"/>
                </a:solidFill>
              </a:rPr>
              <a:t>5 </a:t>
            </a:r>
            <a:r>
              <a:rPr kumimoji="0" lang="en-US" altLang="en-US">
                <a:solidFill>
                  <a:srgbClr val="3333CC"/>
                </a:solidFill>
                <a:sym typeface="Euclid Extra" panose="02050502000505020303" pitchFamily="18" charset="2"/>
              </a:rPr>
              <a:t>… </a:t>
            </a:r>
            <a:r>
              <a:rPr kumimoji="0" lang="en-US" altLang="en-US">
                <a:solidFill>
                  <a:srgbClr val="3333CC"/>
                </a:solidFill>
              </a:rPr>
              <a:t>a</a:t>
            </a:r>
            <a:r>
              <a:rPr kumimoji="0" lang="en-US" altLang="en-US" baseline="-25000">
                <a:solidFill>
                  <a:srgbClr val="3333CC"/>
                </a:solidFill>
              </a:rPr>
              <a:t>12 </a:t>
            </a:r>
            <a:r>
              <a:rPr kumimoji="0" lang="en-US" altLang="en-US">
                <a:solidFill>
                  <a:srgbClr val="3333CC"/>
                </a:solidFill>
              </a:rPr>
              <a:t>a</a:t>
            </a:r>
            <a:r>
              <a:rPr kumimoji="0" lang="en-US" altLang="en-US" baseline="-25000">
                <a:solidFill>
                  <a:srgbClr val="3333CC"/>
                </a:solidFill>
              </a:rPr>
              <a:t>13</a:t>
            </a:r>
            <a:r>
              <a:rPr kumimoji="0" lang="en-US" altLang="en-US" baseline="-25000">
                <a:solidFill>
                  <a:srgbClr val="000000"/>
                </a:solidFill>
              </a:rPr>
              <a:t>  </a:t>
            </a:r>
            <a:r>
              <a:rPr kumimoji="0" lang="en-US" altLang="en-US">
                <a:solidFill>
                  <a:srgbClr val="000000"/>
                </a:solidFill>
              </a:rPr>
              <a:t>also maps</a:t>
            </a:r>
            <a:r>
              <a:rPr kumimoji="0" lang="en-US" altLang="en-US" baseline="-25000">
                <a:solidFill>
                  <a:srgbClr val="000000"/>
                </a:solidFill>
              </a:rPr>
              <a:t> </a:t>
            </a:r>
            <a:r>
              <a:rPr kumimoji="0" lang="en-US" altLang="en-US">
                <a:solidFill>
                  <a:srgbClr val="000000"/>
                </a:solidFill>
              </a:rPr>
              <a:t>to</a:t>
            </a:r>
          </a:p>
          <a:p>
            <a:pPr eaLnBrk="1" hangingPunct="1">
              <a:lnSpc>
                <a:spcPct val="150000"/>
              </a:lnSpc>
              <a:spcBef>
                <a:spcPct val="20000"/>
              </a:spcBef>
            </a:pPr>
            <a:r>
              <a:rPr kumimoji="0" lang="en-US" altLang="en-US">
                <a:solidFill>
                  <a:srgbClr val="3333CC"/>
                </a:solidFill>
              </a:rPr>
              <a:t>  {</a:t>
            </a:r>
            <a:r>
              <a:rPr kumimoji="0" lang="en-US" altLang="en-US">
                <a:solidFill>
                  <a:srgbClr val="008000"/>
                </a:solidFill>
              </a:rPr>
              <a:t>a</a:t>
            </a:r>
            <a:r>
              <a:rPr kumimoji="0" lang="en-US" altLang="en-US" baseline="-25000">
                <a:solidFill>
                  <a:srgbClr val="008000"/>
                </a:solidFill>
              </a:rPr>
              <a:t>1</a:t>
            </a:r>
            <a:r>
              <a:rPr kumimoji="0" lang="en-US" altLang="en-US">
                <a:solidFill>
                  <a:srgbClr val="008000"/>
                </a:solidFill>
              </a:rPr>
              <a:t>,a</a:t>
            </a:r>
            <a:r>
              <a:rPr kumimoji="0" lang="en-US" altLang="en-US" baseline="-25000">
                <a:solidFill>
                  <a:srgbClr val="008000"/>
                </a:solidFill>
              </a:rPr>
              <a:t>2 </a:t>
            </a:r>
            <a:r>
              <a:rPr kumimoji="0" lang="en-US" altLang="en-US">
                <a:solidFill>
                  <a:srgbClr val="008000"/>
                </a:solidFill>
              </a:rPr>
              <a:t>,a</a:t>
            </a:r>
            <a:r>
              <a:rPr kumimoji="0" lang="en-US" altLang="en-US" baseline="-25000">
                <a:solidFill>
                  <a:srgbClr val="008000"/>
                </a:solidFill>
              </a:rPr>
              <a:t>3</a:t>
            </a:r>
            <a:r>
              <a:rPr kumimoji="0" lang="en-US" altLang="en-US">
                <a:solidFill>
                  <a:srgbClr val="008000"/>
                </a:solidFill>
              </a:rPr>
              <a:t>,</a:t>
            </a:r>
            <a:r>
              <a:rPr kumimoji="0" lang="en-US" altLang="en-US" baseline="-25000">
                <a:solidFill>
                  <a:srgbClr val="008000"/>
                </a:solidFill>
              </a:rPr>
              <a:t> </a:t>
            </a:r>
            <a:r>
              <a:rPr kumimoji="0" lang="en-US" altLang="en-US">
                <a:solidFill>
                  <a:srgbClr val="008000"/>
                </a:solidFill>
              </a:rPr>
              <a:t>a</a:t>
            </a:r>
            <a:r>
              <a:rPr kumimoji="0" lang="en-US" altLang="en-US" baseline="-25000">
                <a:solidFill>
                  <a:srgbClr val="008000"/>
                </a:solidFill>
              </a:rPr>
              <a:t>4</a:t>
            </a:r>
            <a:r>
              <a:rPr kumimoji="0" lang="en-US" altLang="en-US">
                <a:solidFill>
                  <a:srgbClr val="3333CC"/>
                </a:solidFill>
              </a:rPr>
              <a:t>}</a:t>
            </a:r>
          </a:p>
          <a:p>
            <a:pPr eaLnBrk="1" hangingPunct="1">
              <a:lnSpc>
                <a:spcPct val="150000"/>
              </a:lnSpc>
              <a:spcBef>
                <a:spcPct val="20000"/>
              </a:spcBef>
            </a:pPr>
            <a:r>
              <a:rPr kumimoji="0" lang="en-US" altLang="en-US">
                <a:solidFill>
                  <a:srgbClr val="3333CC"/>
                </a:solidFill>
              </a:rPr>
              <a:t>as does</a:t>
            </a:r>
          </a:p>
          <a:p>
            <a:pPr eaLnBrk="1" hangingPunct="1">
              <a:lnSpc>
                <a:spcPct val="150000"/>
              </a:lnSpc>
              <a:spcBef>
                <a:spcPct val="20000"/>
              </a:spcBef>
            </a:pPr>
            <a:r>
              <a:rPr kumimoji="0" lang="en-US" altLang="en-US">
                <a:solidFill>
                  <a:srgbClr val="3333CC"/>
                </a:solidFill>
              </a:rPr>
              <a:t>   </a:t>
            </a:r>
            <a:r>
              <a:rPr kumimoji="0" lang="en-US" altLang="en-US">
                <a:solidFill>
                  <a:srgbClr val="008000"/>
                </a:solidFill>
              </a:rPr>
              <a:t>a</a:t>
            </a:r>
            <a:r>
              <a:rPr kumimoji="0" lang="en-US" altLang="en-US" baseline="-25000">
                <a:solidFill>
                  <a:srgbClr val="008000"/>
                </a:solidFill>
              </a:rPr>
              <a:t>2 </a:t>
            </a:r>
            <a:r>
              <a:rPr kumimoji="0" lang="en-US" altLang="en-US">
                <a:solidFill>
                  <a:srgbClr val="008000"/>
                </a:solidFill>
              </a:rPr>
              <a:t>a</a:t>
            </a:r>
            <a:r>
              <a:rPr kumimoji="0" lang="en-US" altLang="en-US" baseline="-25000">
                <a:solidFill>
                  <a:srgbClr val="008000"/>
                </a:solidFill>
              </a:rPr>
              <a:t>4 </a:t>
            </a:r>
            <a:r>
              <a:rPr kumimoji="0" lang="en-US" altLang="en-US">
                <a:solidFill>
                  <a:srgbClr val="008000"/>
                </a:solidFill>
              </a:rPr>
              <a:t>a</a:t>
            </a:r>
            <a:r>
              <a:rPr kumimoji="0" lang="en-US" altLang="en-US" baseline="-25000">
                <a:solidFill>
                  <a:srgbClr val="008000"/>
                </a:solidFill>
              </a:rPr>
              <a:t>3 </a:t>
            </a:r>
            <a:r>
              <a:rPr kumimoji="0" lang="en-US" altLang="en-US">
                <a:solidFill>
                  <a:srgbClr val="008000"/>
                </a:solidFill>
              </a:rPr>
              <a:t>a</a:t>
            </a:r>
            <a:r>
              <a:rPr kumimoji="0" lang="en-US" altLang="en-US" baseline="-25000">
                <a:solidFill>
                  <a:srgbClr val="008000"/>
                </a:solidFill>
              </a:rPr>
              <a:t>1</a:t>
            </a:r>
            <a:r>
              <a:rPr kumimoji="0" lang="en-US" altLang="en-US" baseline="-25000">
                <a:solidFill>
                  <a:srgbClr val="3333CC"/>
                </a:solidFill>
              </a:rPr>
              <a:t> </a:t>
            </a:r>
            <a:r>
              <a:rPr kumimoji="0" lang="en-US" altLang="en-US">
                <a:solidFill>
                  <a:srgbClr val="3333CC"/>
                </a:solidFill>
              </a:rPr>
              <a:t>a</a:t>
            </a:r>
            <a:r>
              <a:rPr kumimoji="0" lang="en-US" altLang="en-US" baseline="-25000">
                <a:solidFill>
                  <a:srgbClr val="3333CC"/>
                </a:solidFill>
              </a:rPr>
              <a:t>13 </a:t>
            </a:r>
            <a:r>
              <a:rPr kumimoji="0" lang="en-US" altLang="en-US">
                <a:solidFill>
                  <a:srgbClr val="3333CC"/>
                </a:solidFill>
              </a:rPr>
              <a:t>a</a:t>
            </a:r>
            <a:r>
              <a:rPr kumimoji="0" lang="en-US" altLang="en-US" baseline="-25000">
                <a:solidFill>
                  <a:srgbClr val="3333CC"/>
                </a:solidFill>
              </a:rPr>
              <a:t>12 </a:t>
            </a:r>
            <a:r>
              <a:rPr kumimoji="0" lang="en-US" altLang="en-US">
                <a:solidFill>
                  <a:srgbClr val="3333CC"/>
                </a:solidFill>
                <a:sym typeface="Euclid Extra" panose="02050502000505020303" pitchFamily="18" charset="2"/>
              </a:rPr>
              <a:t>… </a:t>
            </a:r>
            <a:r>
              <a:rPr kumimoji="0" lang="en-US" altLang="en-US">
                <a:solidFill>
                  <a:srgbClr val="3333CC"/>
                </a:solidFill>
              </a:rPr>
              <a:t>a</a:t>
            </a:r>
            <a:r>
              <a:rPr kumimoji="0" lang="en-US" altLang="en-US" baseline="-25000">
                <a:solidFill>
                  <a:srgbClr val="3333CC"/>
                </a:solidFill>
              </a:rPr>
              <a:t>5</a:t>
            </a:r>
          </a:p>
          <a:p>
            <a:pPr eaLnBrk="1" hangingPunct="1">
              <a:spcBef>
                <a:spcPct val="20000"/>
              </a:spcBef>
            </a:pPr>
            <a:endParaRPr kumimoji="0" lang="en-US" altLang="en-US" baseline="-25000">
              <a:solidFill>
                <a:srgbClr val="3333CC"/>
              </a:solidFill>
            </a:endParaRPr>
          </a:p>
          <a:p>
            <a:pPr eaLnBrk="1" hangingPunct="1">
              <a:spcBef>
                <a:spcPct val="20000"/>
              </a:spcBef>
            </a:pPr>
            <a:endParaRPr kumimoji="0" lang="en-US" altLang="en-US" baseline="-25000">
              <a:solidFill>
                <a:srgbClr val="3333CC"/>
              </a:solidFill>
            </a:endParaRPr>
          </a:p>
        </p:txBody>
      </p:sp>
      <p:sp>
        <p:nvSpPr>
          <p:cNvPr id="939017" name="Text Box 9"/>
          <p:cNvSpPr txBox="1">
            <a:spLocks noChangeArrowheads="1"/>
          </p:cNvSpPr>
          <p:nvPr/>
        </p:nvSpPr>
        <p:spPr bwMode="auto">
          <a:xfrm>
            <a:off x="685800" y="5832475"/>
            <a:ext cx="21685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en-US"/>
              <a:t>So this mapping is </a:t>
            </a:r>
          </a:p>
        </p:txBody>
      </p:sp>
      <p:sp>
        <p:nvSpPr>
          <p:cNvPr id="939019" name="Text Box 11"/>
          <p:cNvSpPr txBox="1">
            <a:spLocks noChangeArrowheads="1"/>
          </p:cNvSpPr>
          <p:nvPr/>
        </p:nvSpPr>
        <p:spPr bwMode="auto">
          <a:xfrm>
            <a:off x="2835275" y="5791200"/>
            <a:ext cx="1479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0000"/>
                </a:solidFill>
                <a:prstDash val="sysDot"/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kumimoji="0" lang="en-US" altLang="en-US" sz="2400">
                <a:solidFill>
                  <a:srgbClr val="FF00FF"/>
                </a:solidFill>
              </a:rPr>
              <a:t>4!</a:t>
            </a:r>
            <a:r>
              <a:rPr kumimoji="0" lang="en-US" altLang="en-US" sz="2400">
                <a:solidFill>
                  <a:srgbClr val="FF00FF"/>
                </a:solidFill>
                <a:sym typeface="Euclid Symbol" panose="05050102010706020507" pitchFamily="18" charset="2"/>
              </a:rPr>
              <a:t></a:t>
            </a:r>
            <a:r>
              <a:rPr kumimoji="0" lang="en-US" altLang="en-US" sz="2400">
                <a:solidFill>
                  <a:srgbClr val="FF00FF"/>
                </a:solidFill>
              </a:rPr>
              <a:t>9!</a:t>
            </a:r>
            <a:r>
              <a:rPr kumimoji="0" lang="en-US" altLang="en-US" sz="2400">
                <a:solidFill>
                  <a:srgbClr val="000000"/>
                </a:solidFill>
              </a:rPr>
              <a:t>-to-1</a:t>
            </a:r>
          </a:p>
        </p:txBody>
      </p:sp>
      <p:sp>
        <p:nvSpPr>
          <p:cNvPr id="40966" name="Text Box 12"/>
          <p:cNvSpPr txBox="1">
            <a:spLocks noChangeArrowheads="1"/>
          </p:cNvSpPr>
          <p:nvPr/>
        </p:nvSpPr>
        <p:spPr bwMode="auto">
          <a:xfrm>
            <a:off x="3200400" y="457200"/>
            <a:ext cx="26939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 sz="2400" b="1">
                <a:solidFill>
                  <a:srgbClr val="003366"/>
                </a:solidFill>
              </a:rPr>
              <a:t>Counting Subsets</a:t>
            </a:r>
          </a:p>
        </p:txBody>
      </p:sp>
      <p:sp>
        <p:nvSpPr>
          <p:cNvPr id="939021" name="AutoShape 13"/>
          <p:cNvSpPr>
            <a:spLocks noChangeArrowheads="1"/>
          </p:cNvSpPr>
          <p:nvPr/>
        </p:nvSpPr>
        <p:spPr bwMode="auto">
          <a:xfrm>
            <a:off x="4648200" y="5715000"/>
            <a:ext cx="976313" cy="485775"/>
          </a:xfrm>
          <a:prstGeom prst="rightArrow">
            <a:avLst>
              <a:gd name="adj1" fmla="val 50000"/>
              <a:gd name="adj2" fmla="val 50245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pic>
        <p:nvPicPr>
          <p:cNvPr id="939023" name="Picture 15" descr="txp_fig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4225" y="5767388"/>
            <a:ext cx="2517775" cy="433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39024" name="AutoShape 16"/>
          <p:cNvSpPr>
            <a:spLocks/>
          </p:cNvSpPr>
          <p:nvPr/>
        </p:nvSpPr>
        <p:spPr bwMode="auto">
          <a:xfrm rot="-5400000">
            <a:off x="3505200" y="4343400"/>
            <a:ext cx="228600" cy="838200"/>
          </a:xfrm>
          <a:prstGeom prst="leftBrace">
            <a:avLst>
              <a:gd name="adj1" fmla="val 30556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939025" name="AutoShape 17"/>
          <p:cNvSpPr>
            <a:spLocks/>
          </p:cNvSpPr>
          <p:nvPr/>
        </p:nvSpPr>
        <p:spPr bwMode="auto">
          <a:xfrm rot="-5400000">
            <a:off x="4572000" y="4267200"/>
            <a:ext cx="228600" cy="990600"/>
          </a:xfrm>
          <a:prstGeom prst="leftBrace">
            <a:avLst>
              <a:gd name="adj1" fmla="val 36111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939026" name="Text Box 18"/>
          <p:cNvSpPr txBox="1">
            <a:spLocks noChangeArrowheads="1"/>
          </p:cNvSpPr>
          <p:nvPr/>
        </p:nvSpPr>
        <p:spPr bwMode="auto">
          <a:xfrm>
            <a:off x="3413125" y="4918075"/>
            <a:ext cx="3778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en-US"/>
              <a:t>4!</a:t>
            </a:r>
          </a:p>
        </p:txBody>
      </p:sp>
      <p:sp>
        <p:nvSpPr>
          <p:cNvPr id="939027" name="Text Box 19"/>
          <p:cNvSpPr txBox="1">
            <a:spLocks noChangeArrowheads="1"/>
          </p:cNvSpPr>
          <p:nvPr/>
        </p:nvSpPr>
        <p:spPr bwMode="auto">
          <a:xfrm>
            <a:off x="4495800" y="4891088"/>
            <a:ext cx="37782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en-US"/>
              <a:t>9!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90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90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90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90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9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9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9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9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9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9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9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9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39017" grpId="0"/>
      <p:bldP spid="939019" grpId="0"/>
      <p:bldP spid="939021" grpId="0" animBg="1"/>
      <p:bldP spid="939024" grpId="0" animBg="1"/>
      <p:bldP spid="939025" grpId="0" animBg="1"/>
      <p:bldP spid="939026" grpId="0"/>
      <p:bldP spid="939027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3" name="Rectangle 3"/>
          <p:cNvSpPr>
            <a:spLocks noChangeArrowheads="1"/>
          </p:cNvSpPr>
          <p:nvPr/>
        </p:nvSpPr>
        <p:spPr bwMode="auto">
          <a:xfrm>
            <a:off x="838200" y="1219200"/>
            <a:ext cx="4572000" cy="973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20000"/>
              </a:spcBef>
            </a:pPr>
            <a:r>
              <a:rPr kumimoji="0" lang="en-US" altLang="en-US"/>
              <a:t>Let </a:t>
            </a:r>
            <a:r>
              <a:rPr kumimoji="0" lang="en-US" altLang="en-US" i="1"/>
              <a:t>A</a:t>
            </a:r>
            <a:r>
              <a:rPr kumimoji="0" lang="en-US" altLang="en-US"/>
              <a:t>::= permutations of {1,2,…,13}</a:t>
            </a:r>
          </a:p>
          <a:p>
            <a:pPr eaLnBrk="1" hangingPunct="1">
              <a:lnSpc>
                <a:spcPct val="150000"/>
              </a:lnSpc>
              <a:spcBef>
                <a:spcPct val="20000"/>
              </a:spcBef>
            </a:pPr>
            <a:r>
              <a:rPr kumimoji="0" lang="en-US" altLang="en-US" i="1"/>
              <a:t>      B</a:t>
            </a:r>
            <a:r>
              <a:rPr kumimoji="0" lang="en-US" altLang="en-US"/>
              <a:t>::= size 4 subsets</a:t>
            </a:r>
          </a:p>
        </p:txBody>
      </p:sp>
      <p:sp>
        <p:nvSpPr>
          <p:cNvPr id="4104" name="Text Box 4"/>
          <p:cNvSpPr txBox="1">
            <a:spLocks noChangeArrowheads="1"/>
          </p:cNvSpPr>
          <p:nvPr/>
        </p:nvSpPr>
        <p:spPr bwMode="auto">
          <a:xfrm>
            <a:off x="3200400" y="457200"/>
            <a:ext cx="26939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 sz="2400" b="1">
                <a:solidFill>
                  <a:srgbClr val="003366"/>
                </a:solidFill>
              </a:rPr>
              <a:t>Counting Subsets</a:t>
            </a:r>
          </a:p>
        </p:txBody>
      </p:sp>
      <p:pic>
        <p:nvPicPr>
          <p:cNvPr id="937989" name="Picture 5" descr="txp_fig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2600" y="1524000"/>
            <a:ext cx="22098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937990" name="Object 6"/>
          <p:cNvGraphicFramePr>
            <a:graphicFrameLocks noChangeAspect="1"/>
          </p:cNvGraphicFramePr>
          <p:nvPr/>
        </p:nvGraphicFramePr>
        <p:xfrm>
          <a:off x="3048000" y="2336800"/>
          <a:ext cx="3055938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9" name="Equation" r:id="rId5" imgW="1091880" imgH="253800" progId="Equation.DSMT4">
                  <p:embed/>
                </p:oleObj>
              </mc:Choice>
              <mc:Fallback>
                <p:oleObj name="Equation" r:id="rId5" imgW="1091880" imgH="2538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2336800"/>
                        <a:ext cx="3055938" cy="711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37997" name="Text Box 13"/>
          <p:cNvSpPr txBox="1">
            <a:spLocks noChangeArrowheads="1"/>
          </p:cNvSpPr>
          <p:nvPr/>
        </p:nvSpPr>
        <p:spPr bwMode="auto">
          <a:xfrm>
            <a:off x="1000125" y="3519488"/>
            <a:ext cx="38735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0000"/>
                </a:solidFill>
                <a:prstDash val="sysDot"/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kumimoji="0" lang="en-US" altLang="en-US">
                <a:solidFill>
                  <a:srgbClr val="000000"/>
                </a:solidFill>
              </a:rPr>
              <a:t>So number of 4 element subsets is</a:t>
            </a:r>
          </a:p>
        </p:txBody>
      </p:sp>
      <p:graphicFrame>
        <p:nvGraphicFramePr>
          <p:cNvPr id="937998" name="Object 14"/>
          <p:cNvGraphicFramePr>
            <a:graphicFrameLocks noChangeAspect="1"/>
          </p:cNvGraphicFramePr>
          <p:nvPr/>
        </p:nvGraphicFramePr>
        <p:xfrm>
          <a:off x="6334125" y="3346450"/>
          <a:ext cx="676275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0" name="Equation" r:id="rId7" imgW="317160" imgH="393480" progId="Equation.DSMT4">
                  <p:embed/>
                </p:oleObj>
              </mc:Choice>
              <mc:Fallback>
                <p:oleObj name="Equation" r:id="rId7" imgW="317160" imgH="393480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34125" y="3346450"/>
                        <a:ext cx="676275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37999" name="Object 15"/>
          <p:cNvGraphicFramePr>
            <a:graphicFrameLocks noChangeAspect="1"/>
          </p:cNvGraphicFramePr>
          <p:nvPr/>
        </p:nvGraphicFramePr>
        <p:xfrm>
          <a:off x="4962525" y="3270250"/>
          <a:ext cx="1219200" cy="996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1" name="Equation" r:id="rId9" imgW="558720" imgH="457200" progId="Equation.DSMT4">
                  <p:embed/>
                </p:oleObj>
              </mc:Choice>
              <mc:Fallback>
                <p:oleObj name="Equation" r:id="rId9" imgW="558720" imgH="457200" progId="Equation.DSMT4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62525" y="3270250"/>
                        <a:ext cx="1219200" cy="996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1" name="Object 20"/>
          <p:cNvGraphicFramePr>
            <a:graphicFrameLocks noChangeAspect="1"/>
          </p:cNvGraphicFramePr>
          <p:nvPr/>
        </p:nvGraphicFramePr>
        <p:xfrm>
          <a:off x="3784600" y="4648200"/>
          <a:ext cx="914400" cy="198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2" name="Equation" r:id="rId11" imgW="914400" imgH="198720" progId="Equation.DSMT4">
                  <p:embed/>
                </p:oleObj>
              </mc:Choice>
              <mc:Fallback>
                <p:oleObj name="Equation" r:id="rId11" imgW="914400" imgH="198720" progId="Equation.DSMT4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84600" y="4648200"/>
                        <a:ext cx="914400" cy="198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38005" name="Text Box 21"/>
          <p:cNvSpPr txBox="1">
            <a:spLocks noChangeArrowheads="1"/>
          </p:cNvSpPr>
          <p:nvPr/>
        </p:nvSpPr>
        <p:spPr bwMode="auto">
          <a:xfrm>
            <a:off x="1600200" y="4941888"/>
            <a:ext cx="58229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0000"/>
                </a:solidFill>
                <a:prstDash val="sysDot"/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kumimoji="0" lang="en-US" altLang="en-US">
                <a:solidFill>
                  <a:srgbClr val="000000"/>
                </a:solidFill>
              </a:rPr>
              <a:t>Number of </a:t>
            </a:r>
            <a:r>
              <a:rPr kumimoji="0" lang="en-US" altLang="en-US" i="1">
                <a:solidFill>
                  <a:srgbClr val="3333CC"/>
                </a:solidFill>
              </a:rPr>
              <a:t>m</a:t>
            </a:r>
            <a:r>
              <a:rPr kumimoji="0" lang="en-US" altLang="en-US">
                <a:solidFill>
                  <a:srgbClr val="000000"/>
                </a:solidFill>
              </a:rPr>
              <a:t> element subsets of an </a:t>
            </a:r>
            <a:r>
              <a:rPr kumimoji="0" lang="en-US" altLang="en-US" i="1">
                <a:solidFill>
                  <a:srgbClr val="3333CC"/>
                </a:solidFill>
              </a:rPr>
              <a:t>n</a:t>
            </a:r>
            <a:r>
              <a:rPr kumimoji="0" lang="en-US" altLang="en-US">
                <a:solidFill>
                  <a:srgbClr val="000000"/>
                </a:solidFill>
              </a:rPr>
              <a:t> element set is</a:t>
            </a:r>
          </a:p>
        </p:txBody>
      </p:sp>
      <p:graphicFrame>
        <p:nvGraphicFramePr>
          <p:cNvPr id="938006" name="Object 22"/>
          <p:cNvGraphicFramePr>
            <a:graphicFrameLocks noChangeAspect="1"/>
          </p:cNvGraphicFramePr>
          <p:nvPr/>
        </p:nvGraphicFramePr>
        <p:xfrm>
          <a:off x="3276600" y="5410200"/>
          <a:ext cx="2590800" cy="1003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3" name="Equation" r:id="rId13" imgW="1180800" imgH="457200" progId="Equation.DSMT4">
                  <p:embed/>
                </p:oleObj>
              </mc:Choice>
              <mc:Fallback>
                <p:oleObj name="Equation" r:id="rId13" imgW="1180800" imgH="457200" progId="Equation.DSMT4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5410200"/>
                        <a:ext cx="2590800" cy="1003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38007" name="Rectangle 23"/>
          <p:cNvSpPr>
            <a:spLocks noChangeArrowheads="1"/>
          </p:cNvSpPr>
          <p:nvPr/>
        </p:nvSpPr>
        <p:spPr bwMode="auto">
          <a:xfrm>
            <a:off x="1447800" y="4648200"/>
            <a:ext cx="6324600" cy="1905000"/>
          </a:xfrm>
          <a:prstGeom prst="rect">
            <a:avLst/>
          </a:prstGeom>
          <a:noFill/>
          <a:ln w="28575">
            <a:solidFill>
              <a:srgbClr val="FF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7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7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79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7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7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8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8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8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38005" grpId="0"/>
      <p:bldP spid="938007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Text Box 3"/>
          <p:cNvSpPr txBox="1">
            <a:spLocks noChangeArrowheads="1"/>
          </p:cNvSpPr>
          <p:nvPr/>
        </p:nvSpPr>
        <p:spPr bwMode="auto">
          <a:xfrm>
            <a:off x="3425825" y="457200"/>
            <a:ext cx="22891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 sz="2400" b="1">
                <a:solidFill>
                  <a:srgbClr val="003366"/>
                </a:solidFill>
              </a:rPr>
              <a:t>MISSISSIPPI</a:t>
            </a:r>
          </a:p>
        </p:txBody>
      </p:sp>
      <p:sp>
        <p:nvSpPr>
          <p:cNvPr id="41987" name="Text Box 13"/>
          <p:cNvSpPr txBox="1">
            <a:spLocks noChangeArrowheads="1"/>
          </p:cNvSpPr>
          <p:nvPr/>
        </p:nvSpPr>
        <p:spPr bwMode="auto">
          <a:xfrm>
            <a:off x="685800" y="1371600"/>
            <a:ext cx="7712075" cy="376238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/>
              <a:t>How many ways to rearrange the letters in the word “MISSISSIPPI”?</a:t>
            </a:r>
          </a:p>
        </p:txBody>
      </p:sp>
      <p:sp>
        <p:nvSpPr>
          <p:cNvPr id="1056782" name="Text Box 14"/>
          <p:cNvSpPr txBox="1">
            <a:spLocks noChangeArrowheads="1"/>
          </p:cNvSpPr>
          <p:nvPr/>
        </p:nvSpPr>
        <p:spPr bwMode="auto">
          <a:xfrm>
            <a:off x="685800" y="2192338"/>
            <a:ext cx="7820025" cy="779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/>
              <a:t>Let A be the set of all permutations of n letters.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TW"/>
              <a:t>      B be the set of all different words by rearranging “MISSISSIPPI”.</a:t>
            </a:r>
          </a:p>
        </p:txBody>
      </p:sp>
      <p:sp>
        <p:nvSpPr>
          <p:cNvPr id="1056783" name="Text Box 15"/>
          <p:cNvSpPr txBox="1">
            <a:spLocks noChangeArrowheads="1"/>
          </p:cNvSpPr>
          <p:nvPr/>
        </p:nvSpPr>
        <p:spPr bwMode="auto">
          <a:xfrm>
            <a:off x="762000" y="3276600"/>
            <a:ext cx="6048375" cy="376238"/>
          </a:xfrm>
          <a:prstGeom prst="rect">
            <a:avLst/>
          </a:prstGeom>
          <a:noFill/>
          <a:ln w="9525">
            <a:solidFill>
              <a:schemeClr val="bg2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/>
              <a:t>How many permutations are mapped to the same word?</a:t>
            </a:r>
          </a:p>
        </p:txBody>
      </p:sp>
      <p:sp>
        <p:nvSpPr>
          <p:cNvPr id="1056784" name="Rectangle 16"/>
          <p:cNvSpPr>
            <a:spLocks noChangeArrowheads="1"/>
          </p:cNvSpPr>
          <p:nvPr/>
        </p:nvSpPr>
        <p:spPr bwMode="auto">
          <a:xfrm>
            <a:off x="304800" y="4524375"/>
            <a:ext cx="176053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/>
              <a:t>MISSISSIPPI</a:t>
            </a:r>
          </a:p>
        </p:txBody>
      </p:sp>
      <p:sp>
        <p:nvSpPr>
          <p:cNvPr id="1056785" name="Text Box 17"/>
          <p:cNvSpPr txBox="1">
            <a:spLocks noChangeArrowheads="1"/>
          </p:cNvSpPr>
          <p:nvPr/>
        </p:nvSpPr>
        <p:spPr bwMode="auto">
          <a:xfrm>
            <a:off x="2514600" y="3976688"/>
            <a:ext cx="6240463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/>
              <a:t>4! possible ways to rearrange the S giving the same word</a:t>
            </a:r>
          </a:p>
        </p:txBody>
      </p:sp>
      <p:sp>
        <p:nvSpPr>
          <p:cNvPr id="1056786" name="Text Box 18"/>
          <p:cNvSpPr txBox="1">
            <a:spLocks noChangeArrowheads="1"/>
          </p:cNvSpPr>
          <p:nvPr/>
        </p:nvSpPr>
        <p:spPr bwMode="auto">
          <a:xfrm>
            <a:off x="2514600" y="4510088"/>
            <a:ext cx="620712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/>
              <a:t>4! possible ways to rearrange the I giving the same word</a:t>
            </a:r>
          </a:p>
        </p:txBody>
      </p:sp>
      <p:sp>
        <p:nvSpPr>
          <p:cNvPr id="1056787" name="Text Box 19"/>
          <p:cNvSpPr txBox="1">
            <a:spLocks noChangeArrowheads="1"/>
          </p:cNvSpPr>
          <p:nvPr/>
        </p:nvSpPr>
        <p:spPr bwMode="auto">
          <a:xfrm>
            <a:off x="2514600" y="5043488"/>
            <a:ext cx="62007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/>
              <a:t>2! possible ways to rearrange the P giving the same word</a:t>
            </a:r>
          </a:p>
        </p:txBody>
      </p:sp>
      <p:sp>
        <p:nvSpPr>
          <p:cNvPr id="1056788" name="Line 20"/>
          <p:cNvSpPr>
            <a:spLocks noChangeShapeType="1"/>
          </p:cNvSpPr>
          <p:nvPr/>
        </p:nvSpPr>
        <p:spPr bwMode="auto">
          <a:xfrm flipV="1">
            <a:off x="2057400" y="4205288"/>
            <a:ext cx="4572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56789" name="Line 21"/>
          <p:cNvSpPr>
            <a:spLocks noChangeShapeType="1"/>
          </p:cNvSpPr>
          <p:nvPr/>
        </p:nvSpPr>
        <p:spPr bwMode="auto">
          <a:xfrm>
            <a:off x="2057400" y="4662488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56790" name="Line 22"/>
          <p:cNvSpPr>
            <a:spLocks noChangeShapeType="1"/>
          </p:cNvSpPr>
          <p:nvPr/>
        </p:nvSpPr>
        <p:spPr bwMode="auto">
          <a:xfrm>
            <a:off x="2057400" y="4738688"/>
            <a:ext cx="3810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56791" name="Text Box 23"/>
          <p:cNvSpPr txBox="1">
            <a:spLocks noChangeArrowheads="1"/>
          </p:cNvSpPr>
          <p:nvPr/>
        </p:nvSpPr>
        <p:spPr bwMode="auto">
          <a:xfrm>
            <a:off x="762000" y="5867400"/>
            <a:ext cx="7732713" cy="376238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/>
              <a:t>The mapping is 4!4!2!-to-1, and so there are 13!/4!4!2! different words.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6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6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6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6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6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6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6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6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6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6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6782" grpId="0"/>
      <p:bldP spid="1056783" grpId="0" animBg="1"/>
      <p:bldP spid="1056784" grpId="0"/>
      <p:bldP spid="1056785" grpId="0"/>
      <p:bldP spid="1056786" grpId="0"/>
      <p:bldP spid="1056787" grpId="0"/>
      <p:bldP spid="1056791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8818" name="Rectangle 2"/>
          <p:cNvSpPr>
            <a:spLocks noChangeArrowheads="1"/>
          </p:cNvSpPr>
          <p:nvPr/>
        </p:nvSpPr>
        <p:spPr bwMode="auto">
          <a:xfrm>
            <a:off x="457200" y="1195388"/>
            <a:ext cx="8153400" cy="4765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en-US" altLang="en-US"/>
              <a:t>I’m planning a 20-mile walk, which should include 5 northward miles, 5 eastward miles, 5 southward miles, and 5 westward miles.</a:t>
            </a:r>
          </a:p>
          <a:p>
            <a:pPr eaLnBrk="1" hangingPunct="1"/>
            <a:endParaRPr lang="en-US" altLang="en-US"/>
          </a:p>
          <a:p>
            <a:pPr eaLnBrk="1" hangingPunct="1"/>
            <a:endParaRPr lang="en-US" altLang="en-US"/>
          </a:p>
          <a:p>
            <a:pPr eaLnBrk="1" hangingPunct="1"/>
            <a:r>
              <a:rPr lang="en-US" altLang="en-US"/>
              <a:t>How many different walks are possible?</a:t>
            </a:r>
          </a:p>
          <a:p>
            <a:pPr eaLnBrk="1" hangingPunct="1"/>
            <a:endParaRPr lang="en-US" altLang="en-US"/>
          </a:p>
          <a:p>
            <a:pPr eaLnBrk="1" hangingPunct="1"/>
            <a:endParaRPr lang="en-US" altLang="en-US"/>
          </a:p>
          <a:p>
            <a:pPr eaLnBrk="1" hangingPunct="1">
              <a:lnSpc>
                <a:spcPct val="150000"/>
              </a:lnSpc>
            </a:pPr>
            <a:r>
              <a:rPr lang="en-US" altLang="en-US"/>
              <a:t>There is a bijection between such walks and sequences with 5 N’s, 5 E’s, 5 S’s, and 5 W’s. </a:t>
            </a:r>
          </a:p>
          <a:p>
            <a:pPr eaLnBrk="1" hangingPunct="1"/>
            <a:endParaRPr lang="en-US" altLang="en-US"/>
          </a:p>
          <a:p>
            <a:pPr eaLnBrk="1" hangingPunct="1"/>
            <a:endParaRPr lang="en-US" altLang="en-US"/>
          </a:p>
          <a:p>
            <a:pPr eaLnBrk="1" hangingPunct="1"/>
            <a:r>
              <a:rPr lang="en-US" altLang="en-US"/>
              <a:t>The number of such sequences is equal to the number of rearrangements:</a:t>
            </a:r>
          </a:p>
          <a:p>
            <a:pPr algn="ctr" eaLnBrk="1" hangingPunct="1">
              <a:lnSpc>
                <a:spcPct val="150000"/>
              </a:lnSpc>
            </a:pPr>
            <a:r>
              <a:rPr lang="en-US" altLang="en-US"/>
              <a:t>20!</a:t>
            </a:r>
          </a:p>
          <a:p>
            <a:pPr algn="ctr" eaLnBrk="1" hangingPunct="1">
              <a:lnSpc>
                <a:spcPct val="150000"/>
              </a:lnSpc>
            </a:pPr>
            <a:r>
              <a:rPr lang="en-US" altLang="en-US"/>
              <a:t>5!5!5!5!</a:t>
            </a:r>
          </a:p>
        </p:txBody>
      </p:sp>
      <p:sp>
        <p:nvSpPr>
          <p:cNvPr id="43011" name="Text Box 3"/>
          <p:cNvSpPr txBox="1">
            <a:spLocks noChangeArrowheads="1"/>
          </p:cNvSpPr>
          <p:nvPr/>
        </p:nvSpPr>
        <p:spPr bwMode="auto">
          <a:xfrm>
            <a:off x="2743200" y="457200"/>
            <a:ext cx="36226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 sz="2400" b="1">
                <a:solidFill>
                  <a:srgbClr val="003366"/>
                </a:solidFill>
              </a:rPr>
              <a:t>Example: 20 Mile Walk</a:t>
            </a:r>
          </a:p>
        </p:txBody>
      </p:sp>
      <p:sp>
        <p:nvSpPr>
          <p:cNvPr id="1058820" name="Line 4"/>
          <p:cNvSpPr>
            <a:spLocks noChangeShapeType="1"/>
          </p:cNvSpPr>
          <p:nvPr/>
        </p:nvSpPr>
        <p:spPr bwMode="auto">
          <a:xfrm>
            <a:off x="3962400" y="5562600"/>
            <a:ext cx="11430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88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881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881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881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881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8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Text Box 2"/>
          <p:cNvSpPr txBox="1">
            <a:spLocks noChangeArrowheads="1"/>
          </p:cNvSpPr>
          <p:nvPr/>
        </p:nvSpPr>
        <p:spPr bwMode="auto">
          <a:xfrm>
            <a:off x="3511550" y="457200"/>
            <a:ext cx="20510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 sz="2400" b="1">
                <a:solidFill>
                  <a:srgbClr val="003366"/>
                </a:solidFill>
              </a:rPr>
              <a:t>This Lecture</a:t>
            </a:r>
          </a:p>
        </p:txBody>
      </p:sp>
      <p:sp>
        <p:nvSpPr>
          <p:cNvPr id="44035" name="Text Box 3"/>
          <p:cNvSpPr txBox="1">
            <a:spLocks noChangeArrowheads="1"/>
          </p:cNvSpPr>
          <p:nvPr/>
        </p:nvSpPr>
        <p:spPr bwMode="auto">
          <a:xfrm>
            <a:off x="3678238" y="3048000"/>
            <a:ext cx="1809750" cy="1465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>
              <a:buClr>
                <a:srgbClr val="A50021"/>
              </a:buClr>
              <a:buFontTx/>
              <a:buChar char="•"/>
            </a:pPr>
            <a:r>
              <a:rPr lang="en-US" altLang="zh-TW"/>
              <a:t> </a:t>
            </a:r>
            <a:r>
              <a:rPr lang="en-US" altLang="zh-TW">
                <a:solidFill>
                  <a:schemeClr val="bg2"/>
                </a:solidFill>
              </a:rPr>
              <a:t>Bijection rule</a:t>
            </a:r>
          </a:p>
          <a:p>
            <a:pPr eaLnBrk="1" hangingPunct="1">
              <a:buClr>
                <a:srgbClr val="A50021"/>
              </a:buClr>
              <a:buFontTx/>
              <a:buChar char="•"/>
            </a:pPr>
            <a:endParaRPr lang="en-US" altLang="zh-TW">
              <a:solidFill>
                <a:schemeClr val="bg2"/>
              </a:solidFill>
            </a:endParaRPr>
          </a:p>
          <a:p>
            <a:pPr eaLnBrk="1" hangingPunct="1">
              <a:buClr>
                <a:srgbClr val="A50021"/>
              </a:buClr>
              <a:buFontTx/>
              <a:buChar char="•"/>
            </a:pPr>
            <a:r>
              <a:rPr lang="en-US" altLang="zh-TW"/>
              <a:t> </a:t>
            </a:r>
            <a:r>
              <a:rPr lang="en-US" altLang="zh-TW">
                <a:solidFill>
                  <a:schemeClr val="bg2"/>
                </a:solidFill>
              </a:rPr>
              <a:t>Division rule</a:t>
            </a:r>
          </a:p>
          <a:p>
            <a:pPr eaLnBrk="1" hangingPunct="1">
              <a:buClr>
                <a:srgbClr val="A50021"/>
              </a:buClr>
              <a:buFontTx/>
              <a:buChar char="•"/>
            </a:pPr>
            <a:endParaRPr lang="en-US" altLang="zh-TW">
              <a:solidFill>
                <a:schemeClr val="bg2"/>
              </a:solidFill>
            </a:endParaRPr>
          </a:p>
          <a:p>
            <a:pPr eaLnBrk="1" hangingPunct="1">
              <a:buClr>
                <a:srgbClr val="A50021"/>
              </a:buClr>
              <a:buFontTx/>
              <a:buChar char="•"/>
            </a:pPr>
            <a:r>
              <a:rPr lang="en-US" altLang="zh-TW"/>
              <a:t> More mapping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ext Box 2"/>
          <p:cNvSpPr txBox="1">
            <a:spLocks noChangeArrowheads="1"/>
          </p:cNvSpPr>
          <p:nvPr/>
        </p:nvSpPr>
        <p:spPr bwMode="auto">
          <a:xfrm>
            <a:off x="3624263" y="457200"/>
            <a:ext cx="18621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 sz="2400" b="1">
                <a:solidFill>
                  <a:srgbClr val="003366"/>
                </a:solidFill>
              </a:rPr>
              <a:t>Parenthesis</a:t>
            </a:r>
          </a:p>
        </p:txBody>
      </p:sp>
      <p:sp>
        <p:nvSpPr>
          <p:cNvPr id="45059" name="Text Box 3"/>
          <p:cNvSpPr txBox="1">
            <a:spLocks noChangeArrowheads="1"/>
          </p:cNvSpPr>
          <p:nvPr/>
        </p:nvSpPr>
        <p:spPr bwMode="auto">
          <a:xfrm>
            <a:off x="1681163" y="1371600"/>
            <a:ext cx="5710237" cy="376238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/>
              <a:t>How many valid ways to add n pairs of parentheses?</a:t>
            </a:r>
          </a:p>
        </p:txBody>
      </p:sp>
      <p:sp>
        <p:nvSpPr>
          <p:cNvPr id="1071108" name="Text Box 4"/>
          <p:cNvSpPr txBox="1">
            <a:spLocks noChangeArrowheads="1"/>
          </p:cNvSpPr>
          <p:nvPr/>
        </p:nvSpPr>
        <p:spPr bwMode="auto">
          <a:xfrm>
            <a:off x="2608263" y="2819400"/>
            <a:ext cx="3868737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/>
              <a:t>((()))    (()())     (())()    ()(())    ()()()</a:t>
            </a:r>
          </a:p>
        </p:txBody>
      </p:sp>
      <p:sp>
        <p:nvSpPr>
          <p:cNvPr id="1071109" name="Text Box 5"/>
          <p:cNvSpPr txBox="1">
            <a:spLocks noChangeArrowheads="1"/>
          </p:cNvSpPr>
          <p:nvPr/>
        </p:nvSpPr>
        <p:spPr bwMode="auto">
          <a:xfrm>
            <a:off x="1447800" y="2133600"/>
            <a:ext cx="632618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/>
              <a:t>E.g. There are 5 valid ways to add 3 pairs of parentheses.</a:t>
            </a:r>
          </a:p>
        </p:txBody>
      </p:sp>
      <p:sp>
        <p:nvSpPr>
          <p:cNvPr id="1071110" name="Text Box 6"/>
          <p:cNvSpPr txBox="1">
            <a:spLocks noChangeArrowheads="1"/>
          </p:cNvSpPr>
          <p:nvPr/>
        </p:nvSpPr>
        <p:spPr bwMode="auto">
          <a:xfrm>
            <a:off x="1295400" y="3554413"/>
            <a:ext cx="656272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/>
              <a:t>Let r</a:t>
            </a:r>
            <a:r>
              <a:rPr lang="en-US" altLang="zh-TW" baseline="-25000"/>
              <a:t>n</a:t>
            </a:r>
            <a:r>
              <a:rPr lang="en-US" altLang="zh-TW"/>
              <a:t> be the number of ways to add n pairs of parentheses.</a:t>
            </a:r>
          </a:p>
        </p:txBody>
      </p:sp>
      <p:sp>
        <p:nvSpPr>
          <p:cNvPr id="1071112" name="Text Box 8"/>
          <p:cNvSpPr txBox="1">
            <a:spLocks noChangeArrowheads="1"/>
          </p:cNvSpPr>
          <p:nvPr/>
        </p:nvSpPr>
        <p:spPr bwMode="auto">
          <a:xfrm>
            <a:off x="1431925" y="4384675"/>
            <a:ext cx="6242050" cy="788988"/>
          </a:xfrm>
          <a:prstGeom prst="rect">
            <a:avLst/>
          </a:prstGeom>
          <a:solidFill>
            <a:srgbClr val="FFFFCC"/>
          </a:solidFill>
          <a:ln w="9525">
            <a:solidFill>
              <a:schemeClr val="bg2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/>
              <a:t>A pairing is valid if and only if there are at least as many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TW"/>
              <a:t>open parentheses than close parentheses from the left.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1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1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1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1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71108" grpId="0"/>
      <p:bldP spid="1071109" grpId="0"/>
      <p:bldP spid="1071110" grpId="0"/>
      <p:bldP spid="1071112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Text Box 3"/>
          <p:cNvSpPr txBox="1">
            <a:spLocks noChangeArrowheads="1"/>
          </p:cNvSpPr>
          <p:nvPr/>
        </p:nvSpPr>
        <p:spPr bwMode="auto">
          <a:xfrm>
            <a:off x="3363913" y="457200"/>
            <a:ext cx="23510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 sz="2400" b="1">
                <a:solidFill>
                  <a:srgbClr val="003366"/>
                </a:solidFill>
              </a:rPr>
              <a:t>Monotone Path</a:t>
            </a:r>
          </a:p>
        </p:txBody>
      </p:sp>
      <p:sp>
        <p:nvSpPr>
          <p:cNvPr id="46083" name="Rectangle 5"/>
          <p:cNvSpPr>
            <a:spLocks noChangeArrowheads="1"/>
          </p:cNvSpPr>
          <p:nvPr/>
        </p:nvSpPr>
        <p:spPr bwMode="auto">
          <a:xfrm>
            <a:off x="914400" y="1143000"/>
            <a:ext cx="7239000" cy="1330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en-US" altLang="zh-TW"/>
              <a:t>A monotone path from (0,0) to (n,n) is a path consisting of “right" moves (x-coordinate increase by 1) and “up" moves (y-coordinate increase by 1), starting at (0,0) and ending at (n,n). </a:t>
            </a:r>
          </a:p>
        </p:txBody>
      </p:sp>
      <p:sp>
        <p:nvSpPr>
          <p:cNvPr id="1069062" name="Rectangle 6"/>
          <p:cNvSpPr>
            <a:spLocks noChangeArrowheads="1"/>
          </p:cNvSpPr>
          <p:nvPr/>
        </p:nvSpPr>
        <p:spPr bwMode="auto">
          <a:xfrm>
            <a:off x="914400" y="2667000"/>
            <a:ext cx="6705600" cy="917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en-US" altLang="zh-TW"/>
              <a:t>We say such a path “lower-right" monotone path if all of the points (x</a:t>
            </a:r>
            <a:r>
              <a:rPr lang="en-US" altLang="zh-TW" baseline="-25000"/>
              <a:t>i</a:t>
            </a:r>
            <a:r>
              <a:rPr lang="en-US" altLang="zh-TW"/>
              <a:t>,y</a:t>
            </a:r>
            <a:r>
              <a:rPr lang="en-US" altLang="zh-TW" baseline="-25000"/>
              <a:t>i</a:t>
            </a:r>
            <a:r>
              <a:rPr lang="en-US" altLang="zh-TW"/>
              <a:t>) on the path has x</a:t>
            </a:r>
            <a:r>
              <a:rPr lang="en-US" altLang="zh-TW" baseline="-25000"/>
              <a:t>i</a:t>
            </a:r>
            <a:r>
              <a:rPr lang="en-US" altLang="zh-TW"/>
              <a:t> &gt;= y</a:t>
            </a:r>
            <a:r>
              <a:rPr lang="en-US" altLang="zh-TW" baseline="-25000"/>
              <a:t>i</a:t>
            </a:r>
            <a:r>
              <a:rPr lang="en-US" altLang="zh-TW"/>
              <a:t>. </a:t>
            </a:r>
          </a:p>
        </p:txBody>
      </p:sp>
      <p:pic>
        <p:nvPicPr>
          <p:cNvPr id="1069063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3810000"/>
            <a:ext cx="5791200" cy="170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69064" name="Text Box 8"/>
          <p:cNvSpPr txBox="1">
            <a:spLocks noChangeArrowheads="1"/>
          </p:cNvSpPr>
          <p:nvPr/>
        </p:nvSpPr>
        <p:spPr bwMode="auto">
          <a:xfrm>
            <a:off x="2209800" y="6019800"/>
            <a:ext cx="2476500" cy="376238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>
                <a:solidFill>
                  <a:srgbClr val="008000"/>
                </a:solidFill>
              </a:rPr>
              <a:t>lower-right monotone</a:t>
            </a:r>
          </a:p>
        </p:txBody>
      </p:sp>
      <p:sp>
        <p:nvSpPr>
          <p:cNvPr id="1069066" name="Text Box 10"/>
          <p:cNvSpPr txBox="1">
            <a:spLocks noChangeArrowheads="1"/>
          </p:cNvSpPr>
          <p:nvPr/>
        </p:nvSpPr>
        <p:spPr bwMode="auto">
          <a:xfrm>
            <a:off x="5410200" y="6019800"/>
            <a:ext cx="3065463" cy="376238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>
                <a:solidFill>
                  <a:srgbClr val="A50021"/>
                </a:solidFill>
              </a:rPr>
              <a:t>NOT lower-right monotone</a:t>
            </a:r>
          </a:p>
        </p:txBody>
      </p:sp>
      <p:sp>
        <p:nvSpPr>
          <p:cNvPr id="1069067" name="Line 11"/>
          <p:cNvSpPr>
            <a:spLocks noChangeShapeType="1"/>
          </p:cNvSpPr>
          <p:nvPr/>
        </p:nvSpPr>
        <p:spPr bwMode="auto">
          <a:xfrm flipH="1" flipV="1">
            <a:off x="2971800" y="5410200"/>
            <a:ext cx="3810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69068" name="Line 12"/>
          <p:cNvSpPr>
            <a:spLocks noChangeShapeType="1"/>
          </p:cNvSpPr>
          <p:nvPr/>
        </p:nvSpPr>
        <p:spPr bwMode="auto">
          <a:xfrm flipV="1">
            <a:off x="3429000" y="5486400"/>
            <a:ext cx="5334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69069" name="Line 13"/>
          <p:cNvSpPr>
            <a:spLocks noChangeShapeType="1"/>
          </p:cNvSpPr>
          <p:nvPr/>
        </p:nvSpPr>
        <p:spPr bwMode="auto">
          <a:xfrm flipH="1" flipV="1">
            <a:off x="6248400" y="4724400"/>
            <a:ext cx="609600" cy="1295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9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9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9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9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9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9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9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69062" grpId="0"/>
      <p:bldP spid="1069064" grpId="0" animBg="1"/>
      <p:bldP spid="1069066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Text Box 2"/>
          <p:cNvSpPr txBox="1">
            <a:spLocks noChangeArrowheads="1"/>
          </p:cNvSpPr>
          <p:nvPr/>
        </p:nvSpPr>
        <p:spPr bwMode="auto">
          <a:xfrm>
            <a:off x="3276600" y="457200"/>
            <a:ext cx="26289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 sz="2400" b="1">
                <a:solidFill>
                  <a:srgbClr val="003366"/>
                </a:solidFill>
              </a:rPr>
              <a:t>Mountain Ranges</a:t>
            </a:r>
          </a:p>
        </p:txBody>
      </p:sp>
      <p:sp>
        <p:nvSpPr>
          <p:cNvPr id="47107" name="Rectangle 3"/>
          <p:cNvSpPr>
            <a:spLocks noChangeArrowheads="1"/>
          </p:cNvSpPr>
          <p:nvPr/>
        </p:nvSpPr>
        <p:spPr bwMode="auto">
          <a:xfrm>
            <a:off x="1104900" y="1295400"/>
            <a:ext cx="6934200" cy="788988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/>
              <a:t>How many “mountain ranges” can you form with n upstrokes 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TW"/>
              <a:t>and n downstrokes that all stay above the original line?</a:t>
            </a:r>
          </a:p>
        </p:txBody>
      </p:sp>
      <p:sp>
        <p:nvSpPr>
          <p:cNvPr id="47108" name="Rectangle 4"/>
          <p:cNvSpPr>
            <a:spLocks noChangeArrowheads="1"/>
          </p:cNvSpPr>
          <p:nvPr/>
        </p:nvSpPr>
        <p:spPr bwMode="auto">
          <a:xfrm>
            <a:off x="1752600" y="2513013"/>
            <a:ext cx="5638800" cy="915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/>
              <a:t>                                                            /\ </a:t>
            </a:r>
          </a:p>
          <a:p>
            <a:pPr eaLnBrk="1" hangingPunct="1"/>
            <a:r>
              <a:rPr lang="en-US" altLang="zh-TW"/>
              <a:t>                    /\       /\           /\/\       /  \</a:t>
            </a:r>
          </a:p>
          <a:p>
            <a:pPr eaLnBrk="1" hangingPunct="1"/>
            <a:r>
              <a:rPr lang="en-US" altLang="zh-TW"/>
              <a:t>/\/\/\,    /\/  \,    /  \/\,    /       \,   /     \</a:t>
            </a:r>
          </a:p>
        </p:txBody>
      </p:sp>
      <p:sp>
        <p:nvSpPr>
          <p:cNvPr id="1073157" name="Text Box 5"/>
          <p:cNvSpPr txBox="1">
            <a:spLocks noChangeArrowheads="1"/>
          </p:cNvSpPr>
          <p:nvPr/>
        </p:nvSpPr>
        <p:spPr bwMode="auto">
          <a:xfrm>
            <a:off x="1143000" y="4079875"/>
            <a:ext cx="7150100" cy="1192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/>
              <a:t>We do not know how to solve these three problems yet, but 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TW"/>
              <a:t>we can show that all these three problems have the same answer,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TW"/>
              <a:t>by showing that there are bijections between these sets.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3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73157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Text Box 2"/>
          <p:cNvSpPr txBox="1">
            <a:spLocks noChangeArrowheads="1"/>
          </p:cNvSpPr>
          <p:nvPr/>
        </p:nvSpPr>
        <p:spPr bwMode="auto">
          <a:xfrm>
            <a:off x="2060575" y="457200"/>
            <a:ext cx="4949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 sz="2400" b="1">
                <a:solidFill>
                  <a:srgbClr val="003366"/>
                </a:solidFill>
              </a:rPr>
              <a:t>Parenthesis and Monotone Paths</a:t>
            </a:r>
          </a:p>
        </p:txBody>
      </p:sp>
      <p:sp>
        <p:nvSpPr>
          <p:cNvPr id="1072143" name="Text Box 15"/>
          <p:cNvSpPr txBox="1">
            <a:spLocks noChangeArrowheads="1"/>
          </p:cNvSpPr>
          <p:nvPr/>
        </p:nvSpPr>
        <p:spPr bwMode="auto">
          <a:xfrm>
            <a:off x="3157538" y="3276600"/>
            <a:ext cx="2827337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/>
              <a:t>(()()())                   ()()()()</a:t>
            </a:r>
          </a:p>
        </p:txBody>
      </p:sp>
      <p:pic>
        <p:nvPicPr>
          <p:cNvPr id="48132" name="Picture 1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5527"/>
          <a:stretch>
            <a:fillRect/>
          </a:stretch>
        </p:blipFill>
        <p:spPr bwMode="auto">
          <a:xfrm>
            <a:off x="2743200" y="3938588"/>
            <a:ext cx="3733800" cy="1700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8133" name="Text Box 18"/>
          <p:cNvSpPr txBox="1">
            <a:spLocks noChangeArrowheads="1"/>
          </p:cNvSpPr>
          <p:nvPr/>
        </p:nvSpPr>
        <p:spPr bwMode="auto">
          <a:xfrm>
            <a:off x="1431925" y="1192213"/>
            <a:ext cx="6242050" cy="788987"/>
          </a:xfrm>
          <a:prstGeom prst="rect">
            <a:avLst/>
          </a:prstGeom>
          <a:solidFill>
            <a:srgbClr val="FFFFCC"/>
          </a:solidFill>
          <a:ln w="9525">
            <a:solidFill>
              <a:schemeClr val="bg2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/>
              <a:t>A pairing is valid if and only if there are at least as many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TW"/>
              <a:t>open parentheses than close parentheses from the left.</a:t>
            </a:r>
          </a:p>
        </p:txBody>
      </p:sp>
      <p:sp>
        <p:nvSpPr>
          <p:cNvPr id="1072147" name="Text Box 19"/>
          <p:cNvSpPr txBox="1">
            <a:spLocks noChangeArrowheads="1"/>
          </p:cNvSpPr>
          <p:nvPr/>
        </p:nvSpPr>
        <p:spPr bwMode="auto">
          <a:xfrm>
            <a:off x="990600" y="2209800"/>
            <a:ext cx="7110413" cy="788988"/>
          </a:xfrm>
          <a:prstGeom prst="rect">
            <a:avLst/>
          </a:prstGeom>
          <a:solidFill>
            <a:srgbClr val="CCFF99"/>
          </a:solidFill>
          <a:ln w="9525">
            <a:solidFill>
              <a:schemeClr val="bg2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/>
              <a:t>A monotone path is “lower-right” if and only if there are at 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TW"/>
              <a:t>least as many right moves than up moves from the starting point.</a:t>
            </a:r>
          </a:p>
        </p:txBody>
      </p:sp>
      <p:sp>
        <p:nvSpPr>
          <p:cNvPr id="1072149" name="AutoShape 21"/>
          <p:cNvSpPr>
            <a:spLocks noChangeArrowheads="1"/>
          </p:cNvSpPr>
          <p:nvPr/>
        </p:nvSpPr>
        <p:spPr bwMode="auto">
          <a:xfrm>
            <a:off x="3505200" y="3733800"/>
            <a:ext cx="228600" cy="223838"/>
          </a:xfrm>
          <a:prstGeom prst="upDownArrow">
            <a:avLst>
              <a:gd name="adj1" fmla="val 50000"/>
              <a:gd name="adj2" fmla="val 20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vert="eaVert"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072150" name="AutoShape 22"/>
          <p:cNvSpPr>
            <a:spLocks noChangeArrowheads="1"/>
          </p:cNvSpPr>
          <p:nvPr/>
        </p:nvSpPr>
        <p:spPr bwMode="auto">
          <a:xfrm>
            <a:off x="5486400" y="3733800"/>
            <a:ext cx="228600" cy="223838"/>
          </a:xfrm>
          <a:prstGeom prst="upDownArrow">
            <a:avLst>
              <a:gd name="adj1" fmla="val 50000"/>
              <a:gd name="adj2" fmla="val 20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vert="eaVert"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072151" name="Text Box 23"/>
          <p:cNvSpPr txBox="1">
            <a:spLocks noChangeArrowheads="1"/>
          </p:cNvSpPr>
          <p:nvPr/>
        </p:nvSpPr>
        <p:spPr bwMode="auto">
          <a:xfrm>
            <a:off x="838200" y="5791200"/>
            <a:ext cx="7497763" cy="788988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/>
              <a:t>So there is a bijection between these two sets by each open 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TW"/>
              <a:t>parenthesis with a right move and a close parenthesis by an up move.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2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2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2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2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2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72143" grpId="0"/>
      <p:bldP spid="1072147" grpId="0" animBg="1"/>
      <p:bldP spid="1072149" grpId="0" animBg="1"/>
      <p:bldP spid="1072150" grpId="0" animBg="1"/>
      <p:bldP spid="1072151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ext Box 2"/>
          <p:cNvSpPr txBox="1">
            <a:spLocks noChangeArrowheads="1"/>
          </p:cNvSpPr>
          <p:nvPr/>
        </p:nvSpPr>
        <p:spPr bwMode="auto">
          <a:xfrm>
            <a:off x="1751013" y="457200"/>
            <a:ext cx="57165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 sz="2400" b="1">
                <a:solidFill>
                  <a:srgbClr val="003366"/>
                </a:solidFill>
              </a:rPr>
              <a:t>Monotone Paths and Mountain Ranges</a:t>
            </a:r>
          </a:p>
        </p:txBody>
      </p:sp>
      <p:pic>
        <p:nvPicPr>
          <p:cNvPr id="4915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5527" b="1401"/>
          <a:stretch>
            <a:fillRect/>
          </a:stretch>
        </p:blipFill>
        <p:spPr bwMode="auto">
          <a:xfrm>
            <a:off x="2705100" y="1219200"/>
            <a:ext cx="3733800" cy="167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74181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9737" b="1401"/>
          <a:stretch>
            <a:fillRect/>
          </a:stretch>
        </p:blipFill>
        <p:spPr bwMode="auto">
          <a:xfrm rot="-8062885">
            <a:off x="2400300" y="3238500"/>
            <a:ext cx="1752600" cy="167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74182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895" r="35527" b="5882"/>
          <a:stretch>
            <a:fillRect/>
          </a:stretch>
        </p:blipFill>
        <p:spPr bwMode="auto">
          <a:xfrm rot="-8094715">
            <a:off x="5067300" y="3390900"/>
            <a:ext cx="1828800" cy="160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74183" name="Text Box 7"/>
          <p:cNvSpPr txBox="1">
            <a:spLocks noChangeArrowheads="1"/>
          </p:cNvSpPr>
          <p:nvPr/>
        </p:nvSpPr>
        <p:spPr bwMode="auto">
          <a:xfrm>
            <a:off x="768350" y="5334000"/>
            <a:ext cx="7607300" cy="779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/>
              <a:t>By “rotating” the images, we see that a path not crossing the diagonal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TW"/>
              <a:t>is just the same as a mountain not crossing the horizontal line.</a:t>
            </a:r>
          </a:p>
        </p:txBody>
      </p:sp>
      <p:sp>
        <p:nvSpPr>
          <p:cNvPr id="1074184" name="Text Box 8"/>
          <p:cNvSpPr txBox="1">
            <a:spLocks noChangeArrowheads="1"/>
          </p:cNvSpPr>
          <p:nvPr/>
        </p:nvSpPr>
        <p:spPr bwMode="auto">
          <a:xfrm>
            <a:off x="76200" y="6289675"/>
            <a:ext cx="89598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/>
              <a:t>So there is a bijection between them by mapping “</a:t>
            </a:r>
            <a:r>
              <a:rPr lang="en-US" altLang="zh-TW">
                <a:solidFill>
                  <a:srgbClr val="A50021"/>
                </a:solidFill>
              </a:rPr>
              <a:t>right</a:t>
            </a:r>
            <a:r>
              <a:rPr lang="en-US" altLang="zh-TW"/>
              <a:t>” to “</a:t>
            </a:r>
            <a:r>
              <a:rPr lang="en-US" altLang="zh-TW">
                <a:solidFill>
                  <a:srgbClr val="008000"/>
                </a:solidFill>
              </a:rPr>
              <a:t>up</a:t>
            </a:r>
            <a:r>
              <a:rPr lang="en-US" altLang="zh-TW"/>
              <a:t>” and “</a:t>
            </a:r>
            <a:r>
              <a:rPr lang="en-US" altLang="zh-TW">
                <a:solidFill>
                  <a:srgbClr val="A50021"/>
                </a:solidFill>
              </a:rPr>
              <a:t>up</a:t>
            </a:r>
            <a:r>
              <a:rPr lang="en-US" altLang="zh-TW"/>
              <a:t>” to “</a:t>
            </a:r>
            <a:r>
              <a:rPr lang="en-US" altLang="zh-TW">
                <a:solidFill>
                  <a:srgbClr val="008000"/>
                </a:solidFill>
              </a:rPr>
              <a:t>down</a:t>
            </a:r>
            <a:r>
              <a:rPr lang="en-US" altLang="zh-TW"/>
              <a:t>”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4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74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4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4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4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74183" grpId="0"/>
      <p:bldP spid="1074184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Text Box 2"/>
          <p:cNvSpPr txBox="1">
            <a:spLocks noChangeArrowheads="1"/>
          </p:cNvSpPr>
          <p:nvPr/>
        </p:nvSpPr>
        <p:spPr bwMode="auto">
          <a:xfrm>
            <a:off x="723900" y="457200"/>
            <a:ext cx="76581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 sz="2400" b="1">
                <a:solidFill>
                  <a:srgbClr val="003366"/>
                </a:solidFill>
              </a:rPr>
              <a:t>Parenthesis, Monotone Paths and Mountain Ranges</a:t>
            </a:r>
          </a:p>
        </p:txBody>
      </p:sp>
      <p:sp>
        <p:nvSpPr>
          <p:cNvPr id="1075208" name="Text Box 8"/>
          <p:cNvSpPr txBox="1">
            <a:spLocks noChangeArrowheads="1"/>
          </p:cNvSpPr>
          <p:nvPr/>
        </p:nvSpPr>
        <p:spPr bwMode="auto">
          <a:xfrm>
            <a:off x="1508125" y="1641475"/>
            <a:ext cx="6340475" cy="3970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/>
              <a:t>Now we know that these three sets are of equal size,</a:t>
            </a:r>
          </a:p>
          <a:p>
            <a:pPr eaLnBrk="1" hangingPunct="1"/>
            <a:endParaRPr lang="en-US" altLang="zh-TW"/>
          </a:p>
          <a:p>
            <a:pPr eaLnBrk="1" hangingPunct="1"/>
            <a:r>
              <a:rPr lang="en-US" altLang="zh-TW"/>
              <a:t>although we don’t know the size.</a:t>
            </a:r>
          </a:p>
          <a:p>
            <a:pPr eaLnBrk="1" hangingPunct="1"/>
            <a:endParaRPr lang="en-US" altLang="zh-TW"/>
          </a:p>
          <a:p>
            <a:pPr eaLnBrk="1" hangingPunct="1"/>
            <a:r>
              <a:rPr lang="en-US" altLang="zh-TW"/>
              <a:t>It turns out that the answer is exactly</a:t>
            </a:r>
          </a:p>
          <a:p>
            <a:pPr eaLnBrk="1" hangingPunct="1"/>
            <a:endParaRPr lang="en-US" altLang="zh-TW"/>
          </a:p>
          <a:p>
            <a:pPr eaLnBrk="1" hangingPunct="1"/>
            <a:endParaRPr lang="en-US" altLang="zh-TW"/>
          </a:p>
          <a:p>
            <a:pPr eaLnBrk="1" hangingPunct="1"/>
            <a:r>
              <a:rPr lang="en-US" altLang="zh-TW"/>
              <a:t>This is called the nth Catalan number,</a:t>
            </a:r>
          </a:p>
          <a:p>
            <a:pPr eaLnBrk="1" hangingPunct="1"/>
            <a:endParaRPr lang="en-US" altLang="zh-TW"/>
          </a:p>
          <a:p>
            <a:pPr eaLnBrk="1" hangingPunct="1"/>
            <a:r>
              <a:rPr lang="en-US" altLang="zh-TW"/>
              <a:t>and has applications in many other places as well.</a:t>
            </a:r>
          </a:p>
          <a:p>
            <a:pPr eaLnBrk="1" hangingPunct="1"/>
            <a:endParaRPr lang="en-US" altLang="zh-TW"/>
          </a:p>
          <a:p>
            <a:pPr eaLnBrk="1" hangingPunct="1"/>
            <a:endParaRPr lang="en-US" altLang="zh-TW"/>
          </a:p>
          <a:p>
            <a:pPr eaLnBrk="1" hangingPunct="1"/>
            <a:r>
              <a:rPr lang="en-US" altLang="zh-TW"/>
              <a:t>We will not compute it in the lecture. This is FYI for now.</a:t>
            </a:r>
          </a:p>
          <a:p>
            <a:pPr eaLnBrk="1" hangingPunct="1"/>
            <a:endParaRPr lang="en-US" altLang="zh-TW"/>
          </a:p>
        </p:txBody>
      </p:sp>
      <p:pic>
        <p:nvPicPr>
          <p:cNvPr id="1075210" name="Picture 10" descr="txp_fig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3600" y="2560638"/>
            <a:ext cx="1524000" cy="71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0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0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0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0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Text Box 2"/>
          <p:cNvSpPr txBox="1">
            <a:spLocks noChangeArrowheads="1"/>
          </p:cNvSpPr>
          <p:nvPr/>
        </p:nvSpPr>
        <p:spPr bwMode="auto">
          <a:xfrm>
            <a:off x="3314700" y="457200"/>
            <a:ext cx="24765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 sz="2400" b="1">
                <a:solidFill>
                  <a:srgbClr val="003366"/>
                </a:solidFill>
              </a:rPr>
              <a:t>Quick Summary</a:t>
            </a:r>
          </a:p>
        </p:txBody>
      </p:sp>
      <p:sp>
        <p:nvSpPr>
          <p:cNvPr id="1078276" name="Text Box 4"/>
          <p:cNvSpPr txBox="1">
            <a:spLocks noChangeArrowheads="1"/>
          </p:cNvSpPr>
          <p:nvPr/>
        </p:nvSpPr>
        <p:spPr bwMode="auto">
          <a:xfrm>
            <a:off x="457200" y="1565275"/>
            <a:ext cx="8369300" cy="2563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/>
              <a:t>Counting by mapping is a very useful technique.</a:t>
            </a:r>
          </a:p>
          <a:p>
            <a:pPr eaLnBrk="1" hangingPunct="1"/>
            <a:endParaRPr lang="en-US" altLang="zh-TW"/>
          </a:p>
          <a:p>
            <a:pPr eaLnBrk="1" hangingPunct="1"/>
            <a:r>
              <a:rPr lang="en-US" altLang="zh-TW"/>
              <a:t>It is also a powerful technique to solve more complicated problems.</a:t>
            </a:r>
          </a:p>
          <a:p>
            <a:pPr eaLnBrk="1" hangingPunct="1"/>
            <a:endParaRPr lang="en-US" altLang="zh-TW"/>
          </a:p>
          <a:p>
            <a:pPr eaLnBrk="1" hangingPunct="1"/>
            <a:r>
              <a:rPr lang="en-US" altLang="zh-TW"/>
              <a:t>The basic examples usually map a set into a properly defined binary strings.</a:t>
            </a:r>
          </a:p>
          <a:p>
            <a:pPr eaLnBrk="1" hangingPunct="1"/>
            <a:endParaRPr lang="en-US" altLang="zh-TW"/>
          </a:p>
          <a:p>
            <a:pPr eaLnBrk="1" hangingPunct="1"/>
            <a:r>
              <a:rPr lang="en-US" altLang="zh-TW"/>
              <a:t>Then we see how to generalize this approach by considering k-to-1 functions.</a:t>
            </a:r>
          </a:p>
          <a:p>
            <a:pPr eaLnBrk="1" hangingPunct="1"/>
            <a:endParaRPr lang="en-US" altLang="zh-TW"/>
          </a:p>
          <a:p>
            <a:pPr eaLnBrk="1" hangingPunct="1"/>
            <a:r>
              <a:rPr lang="en-US" altLang="zh-TW"/>
              <a:t>Finally we see the mapping between more complicated sets.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827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827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827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FAULTFONTSIZE" val="10"/>
  <p:tag name="DEFAULTWIDTH" val="353"/>
  <p:tag name="DEFAULTHEIGHT" val="20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\[2^n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53"/>
  <p:tag name="BOXHEIGHT" val="200"/>
  <p:tag name="BOXFONT" val="10"/>
  <p:tag name="BOXWRAP" val="False"/>
  <p:tag name="WORKAROUNDTRANSPARENCYBUG" val="False"/>
  <p:tag name="ALLOWFONTSUBSTITUTION" val="False"/>
  <p:tag name="BITMAPFORMAT" val="pngmono"/>
  <p:tag name="ORIGWIDTH" val="22"/>
  <p:tag name="PICTUREFILESIZE" val="1534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usepackage{amsmath}&#10;\begin{document}&#10;\[=\binom{16}{4}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53"/>
  <p:tag name="BOXHEIGHT" val="200"/>
  <p:tag name="BOXFONT" val="10"/>
  <p:tag name="BOXWRAP" val="False"/>
  <p:tag name="WORKAROUNDTRANSPARENCYBUG" val="False"/>
  <p:tag name="ALLOWFONTSUBSTITUTION" val="False"/>
  <p:tag name="BITMAPFORMAT" val="pngmono"/>
  <p:tag name="ORIGWIDTH" val="67"/>
  <p:tag name="PICTUREFILESIZE" val="4245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usepackage{amsmath}&#10;\begin{document}&#10;\[=\binom{15}{6}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53"/>
  <p:tag name="BOXHEIGHT" val="200"/>
  <p:tag name="BOXFONT" val="10"/>
  <p:tag name="BOXWRAP" val="False"/>
  <p:tag name="WORKAROUNDTRANSPARENCYBUG" val="False"/>
  <p:tag name="ALLOWFONTSUBSTITUTION" val="False"/>
  <p:tag name="BITMAPFORMAT" val="pngmono"/>
  <p:tag name="ORIGWIDTH" val="67"/>
  <p:tag name="PICTUREFILESIZE" val="4405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usepackage{amsmath}&#10;\begin{document}&#10;\[\binom{13}{3}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53"/>
  <p:tag name="BOXHEIGHT" val="200"/>
  <p:tag name="BOXFONT" val="10"/>
  <p:tag name="BOXWRAP" val="False"/>
  <p:tag name="WORKAROUNDTRANSPARENCYBUG" val="False"/>
  <p:tag name="ALLOWFONTSUBSTITUTION" val="False"/>
  <p:tag name="BITMAPFORMAT" val="pngmono"/>
  <p:tag name="ORIGWIDTH" val="40"/>
  <p:tag name="PICTUREFILESIZE" val="4019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usepackage{amsmath}&#10;\begin{document}&#10;\[\binom{13}{3}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53"/>
  <p:tag name="BOXHEIGHT" val="200"/>
  <p:tag name="BOXFONT" val="10"/>
  <p:tag name="BOXWRAP" val="False"/>
  <p:tag name="WORKAROUNDTRANSPARENCYBUG" val="False"/>
  <p:tag name="ALLOWFONTSUBSTITUTION" val="False"/>
  <p:tag name="BITMAPFORMAT" val="pngmono"/>
  <p:tag name="ORIGWIDTH" val="40"/>
  <p:tag name="PICTUREFILESIZE" val="4025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usepackage{amsmath}&#10;\begin{document}&#10;\[\binom{14}{4}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53"/>
  <p:tag name="BOXHEIGHT" val="200"/>
  <p:tag name="BOXFONT" val="10"/>
  <p:tag name="BOXWRAP" val="False"/>
  <p:tag name="WORKAROUNDTRANSPARENCYBUG" val="False"/>
  <p:tag name="ALLOWFONTSUBSTITUTION" val="False"/>
  <p:tag name="BITMAPFORMAT" val="pngmono"/>
  <p:tag name="ORIGWIDTH" val="40"/>
  <p:tag name="PICTUREFILESIZE" val="3273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usepackage{amsmath}&#10;\begin{document}&#10;\[\binom{15}{6}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53"/>
  <p:tag name="BOXHEIGHT" val="200"/>
  <p:tag name="BOXFONT" val="10"/>
  <p:tag name="BOXWRAP" val="False"/>
  <p:tag name="WORKAROUNDTRANSPARENCYBUG" val="False"/>
  <p:tag name="ALLOWFONTSUBSTITUTION" val="False"/>
  <p:tag name="BITMAPFORMAT" val="pngmono"/>
  <p:tag name="ORIGWIDTH" val="40"/>
  <p:tag name="PICTUREFILESIZE" val="3859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usepackage{amsmath}&#10;\begin{document}&#10;\[\binom{13}{3}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53"/>
  <p:tag name="BOXHEIGHT" val="200"/>
  <p:tag name="BOXFONT" val="10"/>
  <p:tag name="BOXWRAP" val="False"/>
  <p:tag name="WORKAROUNDTRANSPARENCYBUG" val="False"/>
  <p:tag name="ALLOWFONTSUBSTITUTION" val="False"/>
  <p:tag name="BITMAPFORMAT" val="pngmono"/>
  <p:tag name="ORIGWIDTH" val="40"/>
  <p:tag name="PICTUREFILESIZE" val="4019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usepackage{amsmath}&#10;\begin{document}&#10;\[\binom{13}{3}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53"/>
  <p:tag name="BOXHEIGHT" val="200"/>
  <p:tag name="BOXFONT" val="10"/>
  <p:tag name="BOXWRAP" val="False"/>
  <p:tag name="WORKAROUNDTRANSPARENCYBUG" val="False"/>
  <p:tag name="ALLOWFONTSUBSTITUTION" val="False"/>
  <p:tag name="BITMAPFORMAT" val="pngmono"/>
  <p:tag name="ORIGWIDTH" val="40"/>
  <p:tag name="PICTUREFILESIZE" val="4019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\[|A| = 2|B|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53"/>
  <p:tag name="BOXHEIGHT" val="200"/>
  <p:tag name="BOXFONT" val="10"/>
  <p:tag name="BOXWRAP" val="False"/>
  <p:tag name="WORKAROUNDTRANSPARENCYBUG" val="False"/>
  <p:tag name="ALLOWFONTSUBSTITUTION" val="False"/>
  <p:tag name="BITMAPFORMAT" val="pngmono"/>
  <p:tag name="ORIGWIDTH" val="96"/>
  <p:tag name="PICTUREFILESIZE" val="3674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\[|A| = n|B|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53"/>
  <p:tag name="BOXHEIGHT" val="200"/>
  <p:tag name="BOXFONT" val="10"/>
  <p:tag name="BOXWRAP" val="False"/>
  <p:tag name="WORKAROUNDTRANSPARENCYBUG" val="False"/>
  <p:tag name="ALLOWFONTSUBSTITUTION" val="False"/>
  <p:tag name="BITMAPFORMAT" val="pngmono"/>
  <p:tag name="ORIGWIDTH" val="96"/>
  <p:tag name="PICTUREFILESIZE" val="3550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\[|A| = 4!9!|B|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53"/>
  <p:tag name="BOXHEIGHT" val="200"/>
  <p:tag name="BOXFONT" val="10"/>
  <p:tag name="BOXWRAP" val="False"/>
  <p:tag name="WORKAROUNDTRANSPARENCYBUG" val="False"/>
  <p:tag name="ALLOWFONTSUBSTITUTION" val="False"/>
  <p:tag name="BITMAPFORMAT" val="pngmono"/>
  <p:tag name="ORIGWIDTH" val="122"/>
  <p:tag name="PICTUREFILESIZE" val="4699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\[|A| = 4!9!|B|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53"/>
  <p:tag name="BOXHEIGHT" val="200"/>
  <p:tag name="BOXFONT" val="10"/>
  <p:tag name="BOXWRAP" val="False"/>
  <p:tag name="WORKAROUNDTRANSPARENCYBUG" val="False"/>
  <p:tag name="ALLOWFONTSUBSTITUTION" val="False"/>
  <p:tag name="BITMAPFORMAT" val="pngmono"/>
  <p:tag name="ORIGWIDTH" val="122"/>
  <p:tag name="PICTUREFILESIZE" val="4699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usepackage{amsmath}&#10;\begin{document}&#10;\[\frac{1}{n+1} \binom{2n}{n}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53"/>
  <p:tag name="BOXHEIGHT" val="200"/>
  <p:tag name="BOXFONT" val="10"/>
  <p:tag name="BOXWRAP" val="False"/>
  <p:tag name="WORKAROUNDTRANSPARENCYBUG" val="False"/>
  <p:tag name="ALLOWFONTSUBSTITUTION" val="False"/>
  <p:tag name="BITMAPFORMAT" val="pngmono"/>
  <p:tag name="ORIGWIDTH" val="98"/>
  <p:tag name="PICTUREFILESIZE" val="6516"/>
</p:tagLst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新細明體"/>
        <a:cs typeface="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itchFamily="66" charset="0"/>
            <a:ea typeface="新細明體" pitchFamily="18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itchFamily="66" charset="0"/>
            <a:ea typeface="新細明體" pitchFamily="18" charset="-12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18188</TotalTime>
  <Words>3203</Words>
  <Application>Microsoft Office PowerPoint</Application>
  <PresentationFormat>On-screen Show (4:3)</PresentationFormat>
  <Paragraphs>571</Paragraphs>
  <Slides>49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49</vt:i4>
      </vt:variant>
    </vt:vector>
  </HeadingPairs>
  <TitlesOfParts>
    <vt:vector size="59" baseType="lpstr">
      <vt:lpstr>Comic Sans MS</vt:lpstr>
      <vt:lpstr>新細明體</vt:lpstr>
      <vt:lpstr>Arial</vt:lpstr>
      <vt:lpstr>Symbol</vt:lpstr>
      <vt:lpstr>Wingdings</vt:lpstr>
      <vt:lpstr>Calibri</vt:lpstr>
      <vt:lpstr>Euclid Extra</vt:lpstr>
      <vt:lpstr>Euclid Symbol</vt:lpstr>
      <vt:lpstr>Default Design</vt:lpstr>
      <vt:lpstr>MathType 5.0 Equation</vt:lpstr>
      <vt:lpstr>Counting by Mapping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CUHK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Discrete Mathematics</dc:title>
  <dc:creator>CSE</dc:creator>
  <cp:lastModifiedBy>user</cp:lastModifiedBy>
  <cp:revision>378</cp:revision>
  <dcterms:created xsi:type="dcterms:W3CDTF">2007-08-29T04:27:34Z</dcterms:created>
  <dcterms:modified xsi:type="dcterms:W3CDTF">2022-07-30T16:38:16Z</dcterms:modified>
</cp:coreProperties>
</file>