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47" r:id="rId3"/>
    <p:sldId id="315" r:id="rId4"/>
    <p:sldId id="346" r:id="rId5"/>
    <p:sldId id="345" r:id="rId6"/>
    <p:sldId id="322" r:id="rId7"/>
    <p:sldId id="344" r:id="rId8"/>
    <p:sldId id="342" r:id="rId9"/>
    <p:sldId id="334" r:id="rId10"/>
  </p:sldIdLst>
  <p:sldSz cx="9144000" cy="6858000" type="screen4x3"/>
  <p:notesSz cx="6858000" cy="9144000"/>
  <p:custDataLst>
    <p:tags r:id="rId12"/>
  </p:custDataLst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99CCFF"/>
    <a:srgbClr val="CCFFCC"/>
    <a:srgbClr val="FFFFCC"/>
    <a:srgbClr val="FF6600"/>
    <a:srgbClr val="FFCCFF"/>
    <a:srgbClr val="A50021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267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98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Click to edit Master text styles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798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98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331391-6040-4825-9214-CB04EFAC915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fld id="{C4CCE768-AB6A-4D4A-8ECE-0027F6C93412}" type="slidenum">
              <a:rPr lang="en-US" altLang="zh-TW" smtClean="0">
                <a:latin typeface="Arial" panose="020B0604020202020204" pitchFamily="34" charset="0"/>
              </a:rPr>
              <a:pPr/>
              <a:t>5</a:t>
            </a:fld>
            <a:endParaRPr lang="en-US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D3284-47C0-46CA-9D6F-E6EFF0DA080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46918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4D6EF-00DC-482D-8DED-717B14A62B8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228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3376A-8941-4CDB-84D4-0FEB96B4C10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5003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8F41CF-4E17-4794-BAC7-BD80D353317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731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5C4AA8-7263-44DA-8D4C-8D83B047563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57683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EE222-2375-454E-B307-25BB98F3E4A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403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387DF6-158E-4A47-A1D2-090A978855D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9949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22850B-8B34-4252-B90A-F96FB349D9A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21078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C5502-C02C-4FC5-B39B-4D37F44CD26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9104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6F3AF-AE6A-49C8-85EB-9CF0901975E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4796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74DD0-822D-4BD9-BBEE-E0A1B959B04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0702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fld id="{3AE242E5-569C-4144-BB5B-B550C83E3EC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3" Type="http://schemas.openxmlformats.org/officeDocument/2006/relationships/tags" Target="../tags/tag5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7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image" Target="../media/image6.png"/><Relationship Id="rId5" Type="http://schemas.openxmlformats.org/officeDocument/2006/relationships/tags" Target="../tags/tag7.xml"/><Relationship Id="rId10" Type="http://schemas.openxmlformats.org/officeDocument/2006/relationships/image" Target="../media/image5.png"/><Relationship Id="rId4" Type="http://schemas.openxmlformats.org/officeDocument/2006/relationships/tags" Target="../tags/tag6.xml"/><Relationship Id="rId9" Type="http://schemas.openxmlformats.org/officeDocument/2006/relationships/image" Target="../media/image4.png"/><Relationship Id="rId1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4.emf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13.xml"/><Relationship Id="rId7" Type="http://schemas.openxmlformats.org/officeDocument/2006/relationships/image" Target="../media/image13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2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1.jpeg"/><Relationship Id="rId4" Type="http://schemas.openxmlformats.org/officeDocument/2006/relationships/tags" Target="../tags/tag14.xml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017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zh-TW" sz="3200" smtClean="0">
                <a:latin typeface="Comic Sans MS" panose="030F0702030302020204" pitchFamily="66" charset="0"/>
              </a:rPr>
              <a:t>Introduction to Discrete Mathematics</a:t>
            </a:r>
          </a:p>
        </p:txBody>
      </p:sp>
      <p:pic>
        <p:nvPicPr>
          <p:cNvPr id="3075" name="Picture 58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57400"/>
            <a:ext cx="4470400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076" name="Group 59"/>
          <p:cNvGrpSpPr>
            <a:grpSpLocks/>
          </p:cNvGrpSpPr>
          <p:nvPr/>
        </p:nvGrpSpPr>
        <p:grpSpPr bwMode="auto">
          <a:xfrm>
            <a:off x="5440363" y="1676400"/>
            <a:ext cx="3094037" cy="2476500"/>
            <a:chOff x="1692" y="1776"/>
            <a:chExt cx="2371" cy="2082"/>
          </a:xfrm>
        </p:grpSpPr>
        <p:sp>
          <p:nvSpPr>
            <p:cNvPr id="3097" name="Text Box 60"/>
            <p:cNvSpPr txBox="1">
              <a:spLocks noChangeArrowheads="1"/>
            </p:cNvSpPr>
            <p:nvPr/>
          </p:nvSpPr>
          <p:spPr bwMode="auto">
            <a:xfrm>
              <a:off x="1692" y="2194"/>
              <a:ext cx="283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098" name="Text Box 61"/>
            <p:cNvSpPr txBox="1">
              <a:spLocks noChangeArrowheads="1"/>
            </p:cNvSpPr>
            <p:nvPr/>
          </p:nvSpPr>
          <p:spPr bwMode="auto">
            <a:xfrm>
              <a:off x="3779" y="2194"/>
              <a:ext cx="28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099" name="Text Box 62"/>
            <p:cNvSpPr txBox="1">
              <a:spLocks noChangeArrowheads="1"/>
            </p:cNvSpPr>
            <p:nvPr/>
          </p:nvSpPr>
          <p:spPr bwMode="auto">
            <a:xfrm>
              <a:off x="2728" y="3474"/>
              <a:ext cx="29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grpSp>
          <p:nvGrpSpPr>
            <p:cNvPr id="3100" name="Group 63"/>
            <p:cNvGrpSpPr>
              <a:grpSpLocks/>
            </p:cNvGrpSpPr>
            <p:nvPr/>
          </p:nvGrpSpPr>
          <p:grpSpPr bwMode="auto">
            <a:xfrm>
              <a:off x="2064" y="1776"/>
              <a:ext cx="1632" cy="1608"/>
              <a:chOff x="1984" y="2232"/>
              <a:chExt cx="1632" cy="1608"/>
            </a:xfrm>
          </p:grpSpPr>
          <p:sp>
            <p:nvSpPr>
              <p:cNvPr id="3101" name="Oval 64"/>
              <p:cNvSpPr>
                <a:spLocks noChangeArrowheads="1"/>
              </p:cNvSpPr>
              <p:nvPr/>
            </p:nvSpPr>
            <p:spPr bwMode="auto">
              <a:xfrm>
                <a:off x="1984" y="2240"/>
                <a:ext cx="1016" cy="1032"/>
              </a:xfrm>
              <a:prstGeom prst="ellipse">
                <a:avLst/>
              </a:prstGeom>
              <a:solidFill>
                <a:srgbClr val="0066FF"/>
              </a:solidFill>
              <a:ln w="9525">
                <a:solidFill>
                  <a:srgbClr val="000000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en-US" altLang="en-US" sz="240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02" name="Oval 65"/>
              <p:cNvSpPr>
                <a:spLocks noChangeArrowheads="1"/>
              </p:cNvSpPr>
              <p:nvPr/>
            </p:nvSpPr>
            <p:spPr bwMode="auto">
              <a:xfrm>
                <a:off x="2292" y="2808"/>
                <a:ext cx="1016" cy="1032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3103" name="Oval 66"/>
              <p:cNvSpPr>
                <a:spLocks noChangeArrowheads="1"/>
              </p:cNvSpPr>
              <p:nvPr/>
            </p:nvSpPr>
            <p:spPr bwMode="auto">
              <a:xfrm>
                <a:off x="1984" y="2248"/>
                <a:ext cx="1016" cy="1032"/>
              </a:xfrm>
              <a:prstGeom prst="ellipse">
                <a:avLst/>
              </a:prstGeom>
              <a:solidFill>
                <a:srgbClr val="33CCFF">
                  <a:alpha val="50195"/>
                </a:srgbClr>
              </a:solidFill>
              <a:ln w="9525">
                <a:solidFill>
                  <a:srgbClr val="000000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en-US" altLang="en-US" sz="240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04" name="Oval 67"/>
              <p:cNvSpPr>
                <a:spLocks noChangeArrowheads="1"/>
              </p:cNvSpPr>
              <p:nvPr/>
            </p:nvSpPr>
            <p:spPr bwMode="auto">
              <a:xfrm>
                <a:off x="2600" y="2232"/>
                <a:ext cx="1016" cy="1032"/>
              </a:xfrm>
              <a:prstGeom prst="ellipse">
                <a:avLst/>
              </a:prstGeom>
              <a:solidFill>
                <a:srgbClr val="CC0000">
                  <a:alpha val="50195"/>
                </a:srgbClr>
              </a:solidFill>
              <a:ln w="9525">
                <a:solidFill>
                  <a:srgbClr val="000000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en-US" altLang="en-US" sz="240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077" name="Group 68"/>
          <p:cNvGrpSpPr>
            <a:grpSpLocks/>
          </p:cNvGrpSpPr>
          <p:nvPr/>
        </p:nvGrpSpPr>
        <p:grpSpPr bwMode="auto">
          <a:xfrm>
            <a:off x="4876800" y="4038600"/>
            <a:ext cx="1752600" cy="1524000"/>
            <a:chOff x="3264" y="1632"/>
            <a:chExt cx="1104" cy="960"/>
          </a:xfrm>
        </p:grpSpPr>
        <p:sp>
          <p:nvSpPr>
            <p:cNvPr id="3081" name="Oval 69"/>
            <p:cNvSpPr>
              <a:spLocks noChangeArrowheads="1"/>
            </p:cNvSpPr>
            <p:nvPr/>
          </p:nvSpPr>
          <p:spPr bwMode="auto">
            <a:xfrm>
              <a:off x="3504" y="2443"/>
              <a:ext cx="144" cy="144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mic Sans MS" panose="030F0702030302020204" pitchFamily="66" charset="0"/>
              </a:endParaRPr>
            </a:p>
          </p:txBody>
        </p:sp>
        <p:sp>
          <p:nvSpPr>
            <p:cNvPr id="3082" name="Oval 70"/>
            <p:cNvSpPr>
              <a:spLocks noChangeArrowheads="1"/>
            </p:cNvSpPr>
            <p:nvPr/>
          </p:nvSpPr>
          <p:spPr bwMode="auto">
            <a:xfrm>
              <a:off x="3264" y="1968"/>
              <a:ext cx="144" cy="144"/>
            </a:xfrm>
            <a:prstGeom prst="ellipse">
              <a:avLst/>
            </a:prstGeom>
            <a:solidFill>
              <a:srgbClr val="CC00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mic Sans MS" panose="030F0702030302020204" pitchFamily="66" charset="0"/>
              </a:endParaRPr>
            </a:p>
          </p:txBody>
        </p:sp>
        <p:sp>
          <p:nvSpPr>
            <p:cNvPr id="3083" name="Oval 71"/>
            <p:cNvSpPr>
              <a:spLocks noChangeArrowheads="1"/>
            </p:cNvSpPr>
            <p:nvPr/>
          </p:nvSpPr>
          <p:spPr bwMode="auto">
            <a:xfrm>
              <a:off x="4224" y="1968"/>
              <a:ext cx="144" cy="144"/>
            </a:xfrm>
            <a:prstGeom prst="ellipse">
              <a:avLst/>
            </a:prstGeom>
            <a:solidFill>
              <a:srgbClr val="CC00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mic Sans MS" panose="030F0702030302020204" pitchFamily="66" charset="0"/>
              </a:endParaRPr>
            </a:p>
          </p:txBody>
        </p:sp>
        <p:sp>
          <p:nvSpPr>
            <p:cNvPr id="3084" name="Oval 72"/>
            <p:cNvSpPr>
              <a:spLocks noChangeArrowheads="1"/>
            </p:cNvSpPr>
            <p:nvPr/>
          </p:nvSpPr>
          <p:spPr bwMode="auto">
            <a:xfrm>
              <a:off x="3744" y="1632"/>
              <a:ext cx="144" cy="14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mic Sans MS" panose="030F0702030302020204" pitchFamily="66" charset="0"/>
              </a:endParaRPr>
            </a:p>
          </p:txBody>
        </p:sp>
        <p:sp>
          <p:nvSpPr>
            <p:cNvPr id="3085" name="Oval 73"/>
            <p:cNvSpPr>
              <a:spLocks noChangeArrowheads="1"/>
            </p:cNvSpPr>
            <p:nvPr/>
          </p:nvSpPr>
          <p:spPr bwMode="auto">
            <a:xfrm>
              <a:off x="3984" y="2448"/>
              <a:ext cx="144" cy="14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mic Sans MS" panose="030F0702030302020204" pitchFamily="66" charset="0"/>
              </a:endParaRPr>
            </a:p>
          </p:txBody>
        </p:sp>
        <p:cxnSp>
          <p:nvCxnSpPr>
            <p:cNvPr id="3086" name="AutoShape 74"/>
            <p:cNvCxnSpPr>
              <a:cxnSpLocks noChangeShapeType="1"/>
              <a:stCxn id="3081" idx="6"/>
              <a:endCxn id="3085" idx="2"/>
            </p:cNvCxnSpPr>
            <p:nvPr/>
          </p:nvCxnSpPr>
          <p:spPr bwMode="auto">
            <a:xfrm>
              <a:off x="3648" y="2515"/>
              <a:ext cx="336" cy="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87" name="AutoShape 75"/>
            <p:cNvCxnSpPr>
              <a:cxnSpLocks noChangeShapeType="1"/>
              <a:stCxn id="3084" idx="6"/>
              <a:endCxn id="3083" idx="1"/>
            </p:cNvCxnSpPr>
            <p:nvPr/>
          </p:nvCxnSpPr>
          <p:spPr bwMode="auto">
            <a:xfrm>
              <a:off x="3888" y="1704"/>
              <a:ext cx="357" cy="28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88" name="AutoShape 76"/>
            <p:cNvCxnSpPr>
              <a:cxnSpLocks noChangeShapeType="1"/>
              <a:stCxn id="3083" idx="4"/>
              <a:endCxn id="3085" idx="7"/>
            </p:cNvCxnSpPr>
            <p:nvPr/>
          </p:nvCxnSpPr>
          <p:spPr bwMode="auto">
            <a:xfrm flipH="1">
              <a:off x="4107" y="2112"/>
              <a:ext cx="189" cy="357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89" name="AutoShape 77"/>
            <p:cNvCxnSpPr>
              <a:cxnSpLocks noChangeShapeType="1"/>
              <a:stCxn id="3084" idx="2"/>
              <a:endCxn id="3082" idx="7"/>
            </p:cNvCxnSpPr>
            <p:nvPr/>
          </p:nvCxnSpPr>
          <p:spPr bwMode="auto">
            <a:xfrm flipH="1">
              <a:off x="3387" y="1704"/>
              <a:ext cx="357" cy="28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90" name="AutoShape 78"/>
            <p:cNvCxnSpPr>
              <a:cxnSpLocks noChangeShapeType="1"/>
              <a:stCxn id="3082" idx="4"/>
              <a:endCxn id="3081" idx="1"/>
            </p:cNvCxnSpPr>
            <p:nvPr/>
          </p:nvCxnSpPr>
          <p:spPr bwMode="auto">
            <a:xfrm>
              <a:off x="3336" y="2112"/>
              <a:ext cx="189" cy="352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91" name="Oval 79"/>
            <p:cNvSpPr>
              <a:spLocks noChangeArrowheads="1"/>
            </p:cNvSpPr>
            <p:nvPr/>
          </p:nvSpPr>
          <p:spPr bwMode="auto">
            <a:xfrm>
              <a:off x="3744" y="2064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mic Sans MS" panose="030F0702030302020204" pitchFamily="66" charset="0"/>
              </a:endParaRPr>
            </a:p>
          </p:txBody>
        </p:sp>
        <p:cxnSp>
          <p:nvCxnSpPr>
            <p:cNvPr id="3092" name="AutoShape 80"/>
            <p:cNvCxnSpPr>
              <a:cxnSpLocks noChangeShapeType="1"/>
              <a:stCxn id="3084" idx="4"/>
              <a:endCxn id="3091" idx="0"/>
            </p:cNvCxnSpPr>
            <p:nvPr/>
          </p:nvCxnSpPr>
          <p:spPr bwMode="auto">
            <a:xfrm>
              <a:off x="3816" y="1776"/>
              <a:ext cx="0" cy="288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93" name="AutoShape 81"/>
            <p:cNvCxnSpPr>
              <a:cxnSpLocks noChangeShapeType="1"/>
              <a:stCxn id="3091" idx="6"/>
              <a:endCxn id="3083" idx="2"/>
            </p:cNvCxnSpPr>
            <p:nvPr/>
          </p:nvCxnSpPr>
          <p:spPr bwMode="auto">
            <a:xfrm flipV="1">
              <a:off x="3888" y="2040"/>
              <a:ext cx="336" cy="96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94" name="AutoShape 82"/>
            <p:cNvCxnSpPr>
              <a:cxnSpLocks noChangeShapeType="1"/>
              <a:stCxn id="3091" idx="5"/>
              <a:endCxn id="3085" idx="1"/>
            </p:cNvCxnSpPr>
            <p:nvPr/>
          </p:nvCxnSpPr>
          <p:spPr bwMode="auto">
            <a:xfrm>
              <a:off x="3867" y="2187"/>
              <a:ext cx="138" cy="282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95" name="AutoShape 83"/>
            <p:cNvCxnSpPr>
              <a:cxnSpLocks noChangeShapeType="1"/>
              <a:stCxn id="3091" idx="3"/>
              <a:endCxn id="3081" idx="7"/>
            </p:cNvCxnSpPr>
            <p:nvPr/>
          </p:nvCxnSpPr>
          <p:spPr bwMode="auto">
            <a:xfrm flipH="1">
              <a:off x="3627" y="2187"/>
              <a:ext cx="138" cy="277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96" name="AutoShape 84"/>
            <p:cNvCxnSpPr>
              <a:cxnSpLocks noChangeShapeType="1"/>
              <a:stCxn id="3091" idx="2"/>
              <a:endCxn id="3082" idx="6"/>
            </p:cNvCxnSpPr>
            <p:nvPr/>
          </p:nvCxnSpPr>
          <p:spPr bwMode="auto">
            <a:xfrm flipH="1" flipV="1">
              <a:off x="3408" y="2040"/>
              <a:ext cx="336" cy="96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8" name="Text Box 85"/>
          <p:cNvSpPr txBox="1">
            <a:spLocks noChangeArrowheads="1"/>
          </p:cNvSpPr>
          <p:nvPr/>
        </p:nvSpPr>
        <p:spPr bwMode="auto">
          <a:xfrm>
            <a:off x="685800" y="5638800"/>
            <a:ext cx="35321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latin typeface="Comic Sans MS" panose="030F0702030302020204" pitchFamily="66" charset="0"/>
              </a:rPr>
              <a:t>a = qb+r        gcd(a,b) = gcd(b,r)</a:t>
            </a:r>
          </a:p>
        </p:txBody>
      </p:sp>
      <p:pic>
        <p:nvPicPr>
          <p:cNvPr id="3079" name="Picture 86" descr="ist2_413656_encryp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505200"/>
            <a:ext cx="2514600" cy="19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0" name="AutoShape 87"/>
          <p:cNvSpPr>
            <a:spLocks noChangeArrowheads="1"/>
          </p:cNvSpPr>
          <p:nvPr/>
        </p:nvSpPr>
        <p:spPr bwMode="auto">
          <a:xfrm>
            <a:off x="1752600" y="57150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Continued from Part 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7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2863850" y="457200"/>
            <a:ext cx="346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b="1">
                <a:solidFill>
                  <a:srgbClr val="003366"/>
                </a:solidFill>
                <a:latin typeface="Comic Sans MS" panose="030F0702030302020204" pitchFamily="66" charset="0"/>
              </a:rPr>
              <a:t>Simplifying Statement</a:t>
            </a:r>
          </a:p>
        </p:txBody>
      </p:sp>
      <p:pic>
        <p:nvPicPr>
          <p:cNvPr id="62467" name="Picture 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600200"/>
            <a:ext cx="3810000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688" name="Picture 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86000"/>
            <a:ext cx="45720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690" name="Picture 10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895600"/>
            <a:ext cx="3970338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697" name="Picture 17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25" y="3581400"/>
            <a:ext cx="2811463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699" name="Picture 19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25" y="4240213"/>
            <a:ext cx="2297113" cy="407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1" name="Picture 21" descr="txp_fi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953000"/>
            <a:ext cx="708025" cy="30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02" name="Text Box 22"/>
          <p:cNvSpPr txBox="1">
            <a:spLocks noChangeArrowheads="1"/>
          </p:cNvSpPr>
          <p:nvPr/>
        </p:nvSpPr>
        <p:spPr bwMode="auto">
          <a:xfrm>
            <a:off x="2674938" y="5832475"/>
            <a:ext cx="3576637" cy="3698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latin typeface="Comic Sans MS" panose="030F0702030302020204" pitchFamily="66" charset="0"/>
              </a:rPr>
              <a:t>Please practice more identities.</a:t>
            </a:r>
          </a:p>
        </p:txBody>
      </p:sp>
      <p:sp>
        <p:nvSpPr>
          <p:cNvPr id="71703" name="Text Box 23"/>
          <p:cNvSpPr txBox="1">
            <a:spLocks noChangeArrowheads="1"/>
          </p:cNvSpPr>
          <p:nvPr/>
        </p:nvSpPr>
        <p:spPr bwMode="auto">
          <a:xfrm>
            <a:off x="6308725" y="2327275"/>
            <a:ext cx="127317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latin typeface="Comic Sans MS" panose="030F0702030302020204" pitchFamily="66" charset="0"/>
              </a:rPr>
              <a:t>DeMorgan</a:t>
            </a:r>
          </a:p>
        </p:txBody>
      </p:sp>
      <p:sp>
        <p:nvSpPr>
          <p:cNvPr id="71704" name="Text Box 24"/>
          <p:cNvSpPr txBox="1">
            <a:spLocks noChangeArrowheads="1"/>
          </p:cNvSpPr>
          <p:nvPr/>
        </p:nvSpPr>
        <p:spPr bwMode="auto">
          <a:xfrm>
            <a:off x="6324600" y="3586163"/>
            <a:ext cx="1881188" cy="3762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latin typeface="Comic Sans MS" panose="030F0702030302020204" pitchFamily="66" charset="0"/>
              </a:rPr>
              <a:t>Distributive law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1630363" y="412750"/>
            <a:ext cx="4621212" cy="6273800"/>
            <a:chOff x="1630680" y="413385"/>
            <a:chExt cx="4620895" cy="6273758"/>
          </a:xfrm>
        </p:grpSpPr>
        <p:pic>
          <p:nvPicPr>
            <p:cNvPr id="62477" name="Picture 2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0680" y="413385"/>
              <a:ext cx="3975744" cy="62594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478" name="Right Arrow 3"/>
            <p:cNvSpPr>
              <a:spLocks noChangeArrowheads="1"/>
            </p:cNvSpPr>
            <p:nvPr/>
          </p:nvSpPr>
          <p:spPr bwMode="auto">
            <a:xfrm rot="10800000">
              <a:off x="5715000" y="3581400"/>
              <a:ext cx="536575" cy="465932"/>
            </a:xfrm>
            <a:prstGeom prst="rightArrow">
              <a:avLst>
                <a:gd name="adj1" fmla="val 50000"/>
                <a:gd name="adj2" fmla="val 49999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mic Sans MS" panose="030F0702030302020204" pitchFamily="66" charset="0"/>
              </a:endParaRPr>
            </a:p>
          </p:txBody>
        </p:sp>
        <p:sp>
          <p:nvSpPr>
            <p:cNvPr id="62479" name="Rectangle 4"/>
            <p:cNvSpPr>
              <a:spLocks noChangeArrowheads="1"/>
            </p:cNvSpPr>
            <p:nvPr/>
          </p:nvSpPr>
          <p:spPr bwMode="auto">
            <a:xfrm>
              <a:off x="3963988" y="3109912"/>
              <a:ext cx="499268" cy="3562943"/>
            </a:xfrm>
            <a:prstGeom prst="rect">
              <a:avLst/>
            </a:prstGeom>
            <a:noFill/>
            <a:ln w="50800" algn="ctr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mic Sans MS" panose="030F0702030302020204" pitchFamily="66" charset="0"/>
              </a:endParaRPr>
            </a:p>
          </p:txBody>
        </p:sp>
        <p:sp>
          <p:nvSpPr>
            <p:cNvPr id="62480" name="Rectangle 15"/>
            <p:cNvSpPr>
              <a:spLocks noChangeArrowheads="1"/>
            </p:cNvSpPr>
            <p:nvPr/>
          </p:nvSpPr>
          <p:spPr bwMode="auto">
            <a:xfrm>
              <a:off x="5124292" y="3124200"/>
              <a:ext cx="499268" cy="3562943"/>
            </a:xfrm>
            <a:prstGeom prst="rect">
              <a:avLst/>
            </a:prstGeom>
            <a:noFill/>
            <a:ln w="50800" algn="ctr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mic Sans MS" panose="030F0702030302020204" pitchFamily="66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2" grpId="0" animBg="1"/>
      <p:bldP spid="71703" grpId="0" animBg="1"/>
      <p:bldP spid="7170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914400"/>
            <a:ext cx="9150350" cy="472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Negation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800600"/>
          </a:xfrm>
        </p:spPr>
        <p:txBody>
          <a:bodyPr/>
          <a:lstStyle/>
          <a:p>
            <a:r>
              <a:rPr lang="en-US" altLang="en-US" smtClean="0"/>
              <a:t>Jim is tall and thin</a:t>
            </a:r>
          </a:p>
          <a:p>
            <a:r>
              <a:rPr lang="en-US" altLang="en-US" smtClean="0"/>
              <a:t>~(Jim is tall and thin)</a:t>
            </a:r>
          </a:p>
          <a:p>
            <a:pPr lvl="1"/>
            <a:r>
              <a:rPr lang="en-US" altLang="en-US" smtClean="0"/>
              <a:t>How to do this negation?</a:t>
            </a:r>
          </a:p>
          <a:p>
            <a:pPr lvl="2"/>
            <a:r>
              <a:rPr lang="en-US" altLang="en-US" smtClean="0"/>
              <a:t>Jim is NOT tall and thin</a:t>
            </a:r>
          </a:p>
          <a:p>
            <a:pPr lvl="1"/>
            <a:r>
              <a:rPr lang="en-US" altLang="en-US" smtClean="0"/>
              <a:t>Actually we should proceed as follows:</a:t>
            </a:r>
          </a:p>
          <a:p>
            <a:pPr lvl="1"/>
            <a:r>
              <a:rPr lang="en-US" altLang="en-US" smtClean="0"/>
              <a:t>Original Statement: Jim is tall and Jim is thin</a:t>
            </a:r>
          </a:p>
          <a:p>
            <a:pPr lvl="1"/>
            <a:r>
              <a:rPr lang="en-US" altLang="en-US" smtClean="0"/>
              <a:t>~(Jim is tall and Jim is thin)</a:t>
            </a:r>
          </a:p>
          <a:p>
            <a:pPr lvl="1"/>
            <a:r>
              <a:rPr lang="en-US" altLang="en-US" smtClean="0"/>
              <a:t>Jim is </a:t>
            </a:r>
            <a:r>
              <a:rPr lang="en-US" altLang="en-US" b="1" smtClean="0"/>
              <a:t>Not</a:t>
            </a:r>
            <a:r>
              <a:rPr lang="en-US" altLang="en-US" smtClean="0"/>
              <a:t> tall </a:t>
            </a:r>
            <a:r>
              <a:rPr lang="en-US" altLang="en-US" b="1" smtClean="0"/>
              <a:t>or</a:t>
            </a:r>
            <a:r>
              <a:rPr lang="en-US" altLang="en-US" smtClean="0"/>
              <a:t> Jim is </a:t>
            </a:r>
            <a:r>
              <a:rPr lang="en-US" altLang="en-US" b="1" smtClean="0"/>
              <a:t>Not</a:t>
            </a:r>
            <a:r>
              <a:rPr lang="en-US" altLang="en-US" smtClean="0"/>
              <a:t> thin</a:t>
            </a:r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457200" y="2209800"/>
            <a:ext cx="8077200" cy="3962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Image result for why clipar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2230438"/>
            <a:ext cx="1270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3" name="Text Box 2"/>
          <p:cNvSpPr txBox="1">
            <a:spLocks noChangeArrowheads="1"/>
          </p:cNvSpPr>
          <p:nvPr/>
        </p:nvSpPr>
        <p:spPr bwMode="auto">
          <a:xfrm>
            <a:off x="2667000" y="457200"/>
            <a:ext cx="3806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b="1">
                <a:solidFill>
                  <a:srgbClr val="003366"/>
                </a:solidFill>
                <a:latin typeface="Comic Sans MS" panose="030F0702030302020204" pitchFamily="66" charset="0"/>
              </a:rPr>
              <a:t>Tautology, Contradiction</a:t>
            </a:r>
          </a:p>
        </p:txBody>
      </p:sp>
      <p:sp>
        <p:nvSpPr>
          <p:cNvPr id="66564" name="Text Box 3"/>
          <p:cNvSpPr txBox="1">
            <a:spLocks noChangeArrowheads="1"/>
          </p:cNvSpPr>
          <p:nvPr/>
        </p:nvSpPr>
        <p:spPr bwMode="auto">
          <a:xfrm>
            <a:off x="609600" y="1066800"/>
            <a:ext cx="5137150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latin typeface="Comic Sans MS" panose="030F0702030302020204" pitchFamily="66" charset="0"/>
              </a:rPr>
              <a:t>A tautology is a statement that is always true.</a:t>
            </a:r>
          </a:p>
        </p:txBody>
      </p:sp>
      <p:pic>
        <p:nvPicPr>
          <p:cNvPr id="92169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12874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71" name="Picture 11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86000"/>
            <a:ext cx="7467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176581" y="2667000"/>
            <a:ext cx="6672019" cy="4191000"/>
            <a:chOff x="1176581" y="2667000"/>
            <a:chExt cx="6672019" cy="41910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8400" y="3048000"/>
              <a:ext cx="4073525" cy="381000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1176581" y="2667000"/>
              <a:ext cx="66720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A                 B                     C                    D</a:t>
              </a:r>
              <a:endParaRPr lang="en-US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2667000" y="457200"/>
            <a:ext cx="3806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b="1">
                <a:solidFill>
                  <a:srgbClr val="003366"/>
                </a:solidFill>
                <a:latin typeface="Comic Sans MS" panose="030F0702030302020204" pitchFamily="66" charset="0"/>
              </a:rPr>
              <a:t>Tautology, Contradiction</a:t>
            </a: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609600" y="1066800"/>
            <a:ext cx="5137150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latin typeface="Comic Sans MS" panose="030F0702030302020204" pitchFamily="66" charset="0"/>
              </a:rPr>
              <a:t>A tautology is a statement that is always true.</a:t>
            </a:r>
          </a:p>
        </p:txBody>
      </p:sp>
      <p:sp>
        <p:nvSpPr>
          <p:cNvPr id="92164" name="Text Box 4"/>
          <p:cNvSpPr txBox="1">
            <a:spLocks noChangeArrowheads="1"/>
          </p:cNvSpPr>
          <p:nvPr/>
        </p:nvSpPr>
        <p:spPr bwMode="auto">
          <a:xfrm>
            <a:off x="609600" y="3276600"/>
            <a:ext cx="5630863" cy="376238"/>
          </a:xfrm>
          <a:prstGeom prst="rect">
            <a:avLst/>
          </a:prstGeom>
          <a:solidFill>
            <a:srgbClr val="CCE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latin typeface="Comic Sans MS" panose="030F0702030302020204" pitchFamily="66" charset="0"/>
              </a:rPr>
              <a:t>A contradiction is a statement that is always false.</a:t>
            </a:r>
          </a:p>
        </p:txBody>
      </p:sp>
      <p:pic>
        <p:nvPicPr>
          <p:cNvPr id="67589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12874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590" name="Picture 11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86000"/>
            <a:ext cx="7467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73" name="Picture 13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81438"/>
            <a:ext cx="12874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174" name="Text Box 14"/>
          <p:cNvSpPr txBox="1">
            <a:spLocks noChangeArrowheads="1"/>
          </p:cNvSpPr>
          <p:nvPr/>
        </p:nvSpPr>
        <p:spPr bwMode="auto">
          <a:xfrm>
            <a:off x="6248400" y="3276600"/>
            <a:ext cx="280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latin typeface="Comic Sans MS" panose="030F0702030302020204" pitchFamily="66" charset="0"/>
              </a:rPr>
              <a:t>(negation of a tautology)</a:t>
            </a:r>
          </a:p>
        </p:txBody>
      </p:sp>
      <p:pic>
        <p:nvPicPr>
          <p:cNvPr id="92181" name="Picture 21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411663"/>
            <a:ext cx="7467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533400" y="4953000"/>
            <a:ext cx="67056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>
                <a:latin typeface="Comic Sans MS" panose="030F0702030302020204" pitchFamily="66" charset="0"/>
              </a:rPr>
              <a:t>((</a:t>
            </a:r>
            <a:r>
              <a:rPr lang="en-GB" altLang="en-US" i="1">
                <a:latin typeface="Comic Sans MS" panose="030F0702030302020204" pitchFamily="66" charset="0"/>
              </a:rPr>
              <a:t>p</a:t>
            </a:r>
            <a:r>
              <a:rPr lang="en-GB" altLang="en-US">
                <a:latin typeface="Comic Sans MS" panose="030F0702030302020204" pitchFamily="66" charset="0"/>
              </a:rPr>
              <a:t> </a:t>
            </a:r>
            <a:r>
              <a:rPr lang="en-GB" altLang="en-US">
                <a:latin typeface="Comic Sans MS" panose="030F0702030302020204" pitchFamily="66" charset="0"/>
                <a:sym typeface="Symbol" panose="05050102010706020507" pitchFamily="18" charset="2"/>
              </a:rPr>
              <a:t></a:t>
            </a:r>
            <a:r>
              <a:rPr lang="en-GB" altLang="en-US">
                <a:latin typeface="Comic Sans MS" panose="030F0702030302020204" pitchFamily="66" charset="0"/>
              </a:rPr>
              <a:t> </a:t>
            </a:r>
            <a:r>
              <a:rPr lang="en-GB" altLang="en-US" i="1">
                <a:latin typeface="Comic Sans MS" panose="030F0702030302020204" pitchFamily="66" charset="0"/>
              </a:rPr>
              <a:t>r</a:t>
            </a:r>
            <a:r>
              <a:rPr lang="en-GB" altLang="en-US">
                <a:latin typeface="Comic Sans MS" panose="030F0702030302020204" pitchFamily="66" charset="0"/>
              </a:rPr>
              <a:t>) </a:t>
            </a:r>
            <a:r>
              <a:rPr lang="en-GB" altLang="en-US">
                <a:latin typeface="Comic Sans MS" panose="030F0702030302020204" pitchFamily="66" charset="0"/>
                <a:sym typeface="Symbol" panose="05050102010706020507" pitchFamily="18" charset="2"/>
              </a:rPr>
              <a:t></a:t>
            </a:r>
            <a:r>
              <a:rPr lang="en-GB" altLang="en-US">
                <a:latin typeface="Comic Sans MS" panose="030F0702030302020204" pitchFamily="66" charset="0"/>
              </a:rPr>
              <a:t> (</a:t>
            </a:r>
            <a:r>
              <a:rPr lang="en-GB" altLang="en-US" i="1">
                <a:latin typeface="Comic Sans MS" panose="030F0702030302020204" pitchFamily="66" charset="0"/>
              </a:rPr>
              <a:t>q</a:t>
            </a:r>
            <a:r>
              <a:rPr lang="en-GB" altLang="en-US">
                <a:latin typeface="Comic Sans MS" panose="030F0702030302020204" pitchFamily="66" charset="0"/>
              </a:rPr>
              <a:t> </a:t>
            </a:r>
            <a:r>
              <a:rPr lang="en-GB" altLang="en-US">
                <a:latin typeface="Comic Sans MS" panose="030F0702030302020204" pitchFamily="66" charset="0"/>
                <a:sym typeface="Symbol" panose="05050102010706020507" pitchFamily="18" charset="2"/>
              </a:rPr>
              <a:t></a:t>
            </a:r>
            <a:r>
              <a:rPr lang="en-GB" altLang="en-US">
                <a:latin typeface="Comic Sans MS" panose="030F0702030302020204" pitchFamily="66" charset="0"/>
              </a:rPr>
              <a:t> </a:t>
            </a:r>
            <a:r>
              <a:rPr lang="en-GB" altLang="en-US" i="1">
                <a:latin typeface="Comic Sans MS" panose="030F0702030302020204" pitchFamily="66" charset="0"/>
              </a:rPr>
              <a:t>r</a:t>
            </a:r>
            <a:r>
              <a:rPr lang="en-GB" altLang="en-US">
                <a:latin typeface="Comic Sans MS" panose="030F0702030302020204" pitchFamily="66" charset="0"/>
              </a:rPr>
              <a:t>)) </a:t>
            </a:r>
            <a:r>
              <a:rPr lang="en-GB" altLang="en-US">
                <a:latin typeface="Comic Sans MS" panose="030F0702030302020204" pitchFamily="66" charset="0"/>
                <a:sym typeface="Symbol" panose="05050102010706020507" pitchFamily="18" charset="2"/>
              </a:rPr>
              <a:t></a:t>
            </a:r>
            <a:r>
              <a:rPr lang="en-GB" altLang="en-US">
                <a:latin typeface="Comic Sans MS" panose="030F0702030302020204" pitchFamily="66" charset="0"/>
              </a:rPr>
              <a:t> (</a:t>
            </a:r>
            <a:r>
              <a:rPr lang="en-GB" altLang="en-US">
                <a:latin typeface="Comic Sans MS" panose="030F0702030302020204" pitchFamily="66" charset="0"/>
                <a:sym typeface="Symbol" panose="05050102010706020507" pitchFamily="18" charset="2"/>
              </a:rPr>
              <a:t></a:t>
            </a:r>
            <a:r>
              <a:rPr lang="en-GB" altLang="en-US">
                <a:latin typeface="Comic Sans MS" panose="030F0702030302020204" pitchFamily="66" charset="0"/>
              </a:rPr>
              <a:t>(</a:t>
            </a:r>
            <a:r>
              <a:rPr lang="en-GB" altLang="en-US" i="1">
                <a:latin typeface="Comic Sans MS" panose="030F0702030302020204" pitchFamily="66" charset="0"/>
              </a:rPr>
              <a:t>p</a:t>
            </a:r>
            <a:r>
              <a:rPr lang="en-GB" altLang="en-US">
                <a:latin typeface="Comic Sans MS" panose="030F0702030302020204" pitchFamily="66" charset="0"/>
              </a:rPr>
              <a:t> </a:t>
            </a:r>
            <a:r>
              <a:rPr lang="en-GB" altLang="en-US">
                <a:latin typeface="Comic Sans MS" panose="030F0702030302020204" pitchFamily="66" charset="0"/>
                <a:sym typeface="Symbol" panose="05050102010706020507" pitchFamily="18" charset="2"/>
              </a:rPr>
              <a:t></a:t>
            </a:r>
            <a:r>
              <a:rPr lang="en-GB" altLang="en-US">
                <a:latin typeface="Comic Sans MS" panose="030F0702030302020204" pitchFamily="66" charset="0"/>
              </a:rPr>
              <a:t> </a:t>
            </a:r>
            <a:r>
              <a:rPr lang="en-GB" altLang="en-US" i="1">
                <a:latin typeface="Comic Sans MS" panose="030F0702030302020204" pitchFamily="66" charset="0"/>
              </a:rPr>
              <a:t>q</a:t>
            </a:r>
            <a:r>
              <a:rPr lang="en-GB" altLang="en-US">
                <a:latin typeface="Comic Sans MS" panose="030F0702030302020204" pitchFamily="66" charset="0"/>
              </a:rPr>
              <a:t>) </a:t>
            </a:r>
            <a:r>
              <a:rPr lang="en-GB" altLang="en-US">
                <a:latin typeface="Comic Sans MS" panose="030F0702030302020204" pitchFamily="66" charset="0"/>
                <a:sym typeface="Symbol" panose="05050102010706020507" pitchFamily="18" charset="2"/>
              </a:rPr>
              <a:t></a:t>
            </a:r>
            <a:r>
              <a:rPr lang="en-GB" altLang="en-US">
                <a:latin typeface="Comic Sans MS" panose="030F0702030302020204" pitchFamily="66" charset="0"/>
              </a:rPr>
              <a:t> </a:t>
            </a:r>
            <a:r>
              <a:rPr lang="en-GB" altLang="en-US" i="1">
                <a:latin typeface="Comic Sans MS" panose="030F0702030302020204" pitchFamily="66" charset="0"/>
              </a:rPr>
              <a:t>r</a:t>
            </a:r>
            <a:r>
              <a:rPr lang="en-GB" altLang="en-US">
                <a:latin typeface="Comic Sans MS" panose="030F0702030302020204" pitchFamily="66" charset="0"/>
              </a:rPr>
              <a:t>)</a:t>
            </a:r>
            <a:endParaRPr lang="en-US" altLang="en-US">
              <a:latin typeface="Comic Sans MS" panose="030F0702030302020204" pitchFamily="66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Comic Sans MS" panose="030F0702030302020204" pitchFamily="66" charset="0"/>
            </a:endParaRPr>
          </a:p>
        </p:txBody>
      </p:sp>
      <p:pic>
        <p:nvPicPr>
          <p:cNvPr id="15" name="Picture 2" descr="Image result for why clipart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425" y="4964113"/>
            <a:ext cx="1270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6"/>
          <p:cNvSpPr/>
          <p:nvPr/>
        </p:nvSpPr>
        <p:spPr bwMode="auto">
          <a:xfrm>
            <a:off x="137160" y="1981200"/>
            <a:ext cx="457288" cy="2164080"/>
          </a:xfrm>
          <a:custGeom>
            <a:avLst/>
            <a:gdLst>
              <a:gd name="connsiteX0" fmla="*/ 396240 w 457288"/>
              <a:gd name="connsiteY0" fmla="*/ 0 h 2164080"/>
              <a:gd name="connsiteX1" fmla="*/ 365760 w 457288"/>
              <a:gd name="connsiteY1" fmla="*/ 76200 h 2164080"/>
              <a:gd name="connsiteX2" fmla="*/ 350520 w 457288"/>
              <a:gd name="connsiteY2" fmla="*/ 121920 h 2164080"/>
              <a:gd name="connsiteX3" fmla="*/ 320040 w 457288"/>
              <a:gd name="connsiteY3" fmla="*/ 167640 h 2164080"/>
              <a:gd name="connsiteX4" fmla="*/ 304800 w 457288"/>
              <a:gd name="connsiteY4" fmla="*/ 213360 h 2164080"/>
              <a:gd name="connsiteX5" fmla="*/ 243840 w 457288"/>
              <a:gd name="connsiteY5" fmla="*/ 304800 h 2164080"/>
              <a:gd name="connsiteX6" fmla="*/ 228600 w 457288"/>
              <a:gd name="connsiteY6" fmla="*/ 350520 h 2164080"/>
              <a:gd name="connsiteX7" fmla="*/ 167640 w 457288"/>
              <a:gd name="connsiteY7" fmla="*/ 441960 h 2164080"/>
              <a:gd name="connsiteX8" fmla="*/ 121920 w 457288"/>
              <a:gd name="connsiteY8" fmla="*/ 579120 h 2164080"/>
              <a:gd name="connsiteX9" fmla="*/ 106680 w 457288"/>
              <a:gd name="connsiteY9" fmla="*/ 624840 h 2164080"/>
              <a:gd name="connsiteX10" fmla="*/ 76200 w 457288"/>
              <a:gd name="connsiteY10" fmla="*/ 685800 h 2164080"/>
              <a:gd name="connsiteX11" fmla="*/ 60960 w 457288"/>
              <a:gd name="connsiteY11" fmla="*/ 762000 h 2164080"/>
              <a:gd name="connsiteX12" fmla="*/ 45720 w 457288"/>
              <a:gd name="connsiteY12" fmla="*/ 868680 h 2164080"/>
              <a:gd name="connsiteX13" fmla="*/ 30480 w 457288"/>
              <a:gd name="connsiteY13" fmla="*/ 929640 h 2164080"/>
              <a:gd name="connsiteX14" fmla="*/ 15240 w 457288"/>
              <a:gd name="connsiteY14" fmla="*/ 1036320 h 2164080"/>
              <a:gd name="connsiteX15" fmla="*/ 0 w 457288"/>
              <a:gd name="connsiteY15" fmla="*/ 1112520 h 2164080"/>
              <a:gd name="connsiteX16" fmla="*/ 15240 w 457288"/>
              <a:gd name="connsiteY16" fmla="*/ 1493520 h 2164080"/>
              <a:gd name="connsiteX17" fmla="*/ 45720 w 457288"/>
              <a:gd name="connsiteY17" fmla="*/ 1584960 h 2164080"/>
              <a:gd name="connsiteX18" fmla="*/ 60960 w 457288"/>
              <a:gd name="connsiteY18" fmla="*/ 1630680 h 2164080"/>
              <a:gd name="connsiteX19" fmla="*/ 91440 w 457288"/>
              <a:gd name="connsiteY19" fmla="*/ 1676400 h 2164080"/>
              <a:gd name="connsiteX20" fmla="*/ 106680 w 457288"/>
              <a:gd name="connsiteY20" fmla="*/ 1722120 h 2164080"/>
              <a:gd name="connsiteX21" fmla="*/ 213360 w 457288"/>
              <a:gd name="connsiteY21" fmla="*/ 1859280 h 2164080"/>
              <a:gd name="connsiteX22" fmla="*/ 274320 w 457288"/>
              <a:gd name="connsiteY22" fmla="*/ 1950720 h 2164080"/>
              <a:gd name="connsiteX23" fmla="*/ 320040 w 457288"/>
              <a:gd name="connsiteY23" fmla="*/ 1996440 h 2164080"/>
              <a:gd name="connsiteX24" fmla="*/ 350520 w 457288"/>
              <a:gd name="connsiteY24" fmla="*/ 2042160 h 2164080"/>
              <a:gd name="connsiteX25" fmla="*/ 396240 w 457288"/>
              <a:gd name="connsiteY25" fmla="*/ 2072640 h 2164080"/>
              <a:gd name="connsiteX26" fmla="*/ 411480 w 457288"/>
              <a:gd name="connsiteY26" fmla="*/ 2118360 h 2164080"/>
              <a:gd name="connsiteX27" fmla="*/ 457200 w 457288"/>
              <a:gd name="connsiteY27" fmla="*/ 2164080 h 2164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57288" h="2164080">
                <a:moveTo>
                  <a:pt x="396240" y="0"/>
                </a:moveTo>
                <a:cubicBezTo>
                  <a:pt x="386080" y="25400"/>
                  <a:pt x="375366" y="50585"/>
                  <a:pt x="365760" y="76200"/>
                </a:cubicBezTo>
                <a:cubicBezTo>
                  <a:pt x="360119" y="91242"/>
                  <a:pt x="357704" y="107552"/>
                  <a:pt x="350520" y="121920"/>
                </a:cubicBezTo>
                <a:cubicBezTo>
                  <a:pt x="342329" y="138303"/>
                  <a:pt x="328231" y="151257"/>
                  <a:pt x="320040" y="167640"/>
                </a:cubicBezTo>
                <a:cubicBezTo>
                  <a:pt x="312856" y="182008"/>
                  <a:pt x="312602" y="199317"/>
                  <a:pt x="304800" y="213360"/>
                </a:cubicBezTo>
                <a:cubicBezTo>
                  <a:pt x="287010" y="245382"/>
                  <a:pt x="255424" y="270047"/>
                  <a:pt x="243840" y="304800"/>
                </a:cubicBezTo>
                <a:cubicBezTo>
                  <a:pt x="238760" y="320040"/>
                  <a:pt x="236402" y="336477"/>
                  <a:pt x="228600" y="350520"/>
                </a:cubicBezTo>
                <a:cubicBezTo>
                  <a:pt x="210810" y="382542"/>
                  <a:pt x="179224" y="407207"/>
                  <a:pt x="167640" y="441960"/>
                </a:cubicBezTo>
                <a:lnTo>
                  <a:pt x="121920" y="579120"/>
                </a:lnTo>
                <a:cubicBezTo>
                  <a:pt x="116840" y="594360"/>
                  <a:pt x="113864" y="610472"/>
                  <a:pt x="106680" y="624840"/>
                </a:cubicBezTo>
                <a:lnTo>
                  <a:pt x="76200" y="685800"/>
                </a:lnTo>
                <a:cubicBezTo>
                  <a:pt x="71120" y="711200"/>
                  <a:pt x="65218" y="736449"/>
                  <a:pt x="60960" y="762000"/>
                </a:cubicBezTo>
                <a:cubicBezTo>
                  <a:pt x="55055" y="797432"/>
                  <a:pt x="52146" y="833338"/>
                  <a:pt x="45720" y="868680"/>
                </a:cubicBezTo>
                <a:cubicBezTo>
                  <a:pt x="41973" y="889288"/>
                  <a:pt x="34227" y="909032"/>
                  <a:pt x="30480" y="929640"/>
                </a:cubicBezTo>
                <a:cubicBezTo>
                  <a:pt x="24054" y="964982"/>
                  <a:pt x="21145" y="1000888"/>
                  <a:pt x="15240" y="1036320"/>
                </a:cubicBezTo>
                <a:cubicBezTo>
                  <a:pt x="10982" y="1061871"/>
                  <a:pt x="5080" y="1087120"/>
                  <a:pt x="0" y="1112520"/>
                </a:cubicBezTo>
                <a:cubicBezTo>
                  <a:pt x="5080" y="1239520"/>
                  <a:pt x="2997" y="1367009"/>
                  <a:pt x="15240" y="1493520"/>
                </a:cubicBezTo>
                <a:cubicBezTo>
                  <a:pt x="18335" y="1525499"/>
                  <a:pt x="35560" y="1554480"/>
                  <a:pt x="45720" y="1584960"/>
                </a:cubicBezTo>
                <a:cubicBezTo>
                  <a:pt x="50800" y="1600200"/>
                  <a:pt x="52049" y="1617314"/>
                  <a:pt x="60960" y="1630680"/>
                </a:cubicBezTo>
                <a:cubicBezTo>
                  <a:pt x="71120" y="1645920"/>
                  <a:pt x="83249" y="1660017"/>
                  <a:pt x="91440" y="1676400"/>
                </a:cubicBezTo>
                <a:cubicBezTo>
                  <a:pt x="98624" y="1690768"/>
                  <a:pt x="98878" y="1708077"/>
                  <a:pt x="106680" y="1722120"/>
                </a:cubicBezTo>
                <a:cubicBezTo>
                  <a:pt x="204692" y="1898542"/>
                  <a:pt x="126971" y="1748209"/>
                  <a:pt x="213360" y="1859280"/>
                </a:cubicBezTo>
                <a:cubicBezTo>
                  <a:pt x="235850" y="1888196"/>
                  <a:pt x="248417" y="1924817"/>
                  <a:pt x="274320" y="1950720"/>
                </a:cubicBezTo>
                <a:cubicBezTo>
                  <a:pt x="289560" y="1965960"/>
                  <a:pt x="306242" y="1979883"/>
                  <a:pt x="320040" y="1996440"/>
                </a:cubicBezTo>
                <a:cubicBezTo>
                  <a:pt x="331766" y="2010511"/>
                  <a:pt x="337568" y="2029208"/>
                  <a:pt x="350520" y="2042160"/>
                </a:cubicBezTo>
                <a:cubicBezTo>
                  <a:pt x="363472" y="2055112"/>
                  <a:pt x="381000" y="2062480"/>
                  <a:pt x="396240" y="2072640"/>
                </a:cubicBezTo>
                <a:cubicBezTo>
                  <a:pt x="401320" y="2087880"/>
                  <a:pt x="401445" y="2105816"/>
                  <a:pt x="411480" y="2118360"/>
                </a:cubicBezTo>
                <a:cubicBezTo>
                  <a:pt x="461427" y="2180794"/>
                  <a:pt x="457200" y="2122443"/>
                  <a:pt x="457200" y="2164080"/>
                </a:cubicBezTo>
              </a:path>
            </a:pathLst>
          </a:custGeom>
          <a:ln w="53975">
            <a:headEnd type="triangle" w="lg" len="sm"/>
            <a:tailEnd type="triangle" w="lg" len="med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vert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新細明體" pitchFamily="18" charset="-120"/>
              </a:rPr>
              <a:t>         </a:t>
            </a:r>
            <a:r>
              <a:rPr kumimoji="1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新細明體" pitchFamily="18" charset="-120"/>
              </a:rPr>
              <a:t>DeMorgan</a:t>
            </a:r>
            <a:endParaRPr kumimoji="1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新細明體" pitchFamily="18" charset="-120"/>
            </a:endParaRPr>
          </a:p>
        </p:txBody>
      </p:sp>
      <p:sp>
        <p:nvSpPr>
          <p:cNvPr id="17" name="Freeform 16"/>
          <p:cNvSpPr/>
          <p:nvPr/>
        </p:nvSpPr>
        <p:spPr bwMode="auto">
          <a:xfrm rot="10800000">
            <a:off x="8153400" y="2377916"/>
            <a:ext cx="581025" cy="2164080"/>
          </a:xfrm>
          <a:custGeom>
            <a:avLst/>
            <a:gdLst>
              <a:gd name="connsiteX0" fmla="*/ 396240 w 457288"/>
              <a:gd name="connsiteY0" fmla="*/ 0 h 2164080"/>
              <a:gd name="connsiteX1" fmla="*/ 365760 w 457288"/>
              <a:gd name="connsiteY1" fmla="*/ 76200 h 2164080"/>
              <a:gd name="connsiteX2" fmla="*/ 350520 w 457288"/>
              <a:gd name="connsiteY2" fmla="*/ 121920 h 2164080"/>
              <a:gd name="connsiteX3" fmla="*/ 320040 w 457288"/>
              <a:gd name="connsiteY3" fmla="*/ 167640 h 2164080"/>
              <a:gd name="connsiteX4" fmla="*/ 304800 w 457288"/>
              <a:gd name="connsiteY4" fmla="*/ 213360 h 2164080"/>
              <a:gd name="connsiteX5" fmla="*/ 243840 w 457288"/>
              <a:gd name="connsiteY5" fmla="*/ 304800 h 2164080"/>
              <a:gd name="connsiteX6" fmla="*/ 228600 w 457288"/>
              <a:gd name="connsiteY6" fmla="*/ 350520 h 2164080"/>
              <a:gd name="connsiteX7" fmla="*/ 167640 w 457288"/>
              <a:gd name="connsiteY7" fmla="*/ 441960 h 2164080"/>
              <a:gd name="connsiteX8" fmla="*/ 121920 w 457288"/>
              <a:gd name="connsiteY8" fmla="*/ 579120 h 2164080"/>
              <a:gd name="connsiteX9" fmla="*/ 106680 w 457288"/>
              <a:gd name="connsiteY9" fmla="*/ 624840 h 2164080"/>
              <a:gd name="connsiteX10" fmla="*/ 76200 w 457288"/>
              <a:gd name="connsiteY10" fmla="*/ 685800 h 2164080"/>
              <a:gd name="connsiteX11" fmla="*/ 60960 w 457288"/>
              <a:gd name="connsiteY11" fmla="*/ 762000 h 2164080"/>
              <a:gd name="connsiteX12" fmla="*/ 45720 w 457288"/>
              <a:gd name="connsiteY12" fmla="*/ 868680 h 2164080"/>
              <a:gd name="connsiteX13" fmla="*/ 30480 w 457288"/>
              <a:gd name="connsiteY13" fmla="*/ 929640 h 2164080"/>
              <a:gd name="connsiteX14" fmla="*/ 15240 w 457288"/>
              <a:gd name="connsiteY14" fmla="*/ 1036320 h 2164080"/>
              <a:gd name="connsiteX15" fmla="*/ 0 w 457288"/>
              <a:gd name="connsiteY15" fmla="*/ 1112520 h 2164080"/>
              <a:gd name="connsiteX16" fmla="*/ 15240 w 457288"/>
              <a:gd name="connsiteY16" fmla="*/ 1493520 h 2164080"/>
              <a:gd name="connsiteX17" fmla="*/ 45720 w 457288"/>
              <a:gd name="connsiteY17" fmla="*/ 1584960 h 2164080"/>
              <a:gd name="connsiteX18" fmla="*/ 60960 w 457288"/>
              <a:gd name="connsiteY18" fmla="*/ 1630680 h 2164080"/>
              <a:gd name="connsiteX19" fmla="*/ 91440 w 457288"/>
              <a:gd name="connsiteY19" fmla="*/ 1676400 h 2164080"/>
              <a:gd name="connsiteX20" fmla="*/ 106680 w 457288"/>
              <a:gd name="connsiteY20" fmla="*/ 1722120 h 2164080"/>
              <a:gd name="connsiteX21" fmla="*/ 213360 w 457288"/>
              <a:gd name="connsiteY21" fmla="*/ 1859280 h 2164080"/>
              <a:gd name="connsiteX22" fmla="*/ 274320 w 457288"/>
              <a:gd name="connsiteY22" fmla="*/ 1950720 h 2164080"/>
              <a:gd name="connsiteX23" fmla="*/ 320040 w 457288"/>
              <a:gd name="connsiteY23" fmla="*/ 1996440 h 2164080"/>
              <a:gd name="connsiteX24" fmla="*/ 350520 w 457288"/>
              <a:gd name="connsiteY24" fmla="*/ 2042160 h 2164080"/>
              <a:gd name="connsiteX25" fmla="*/ 396240 w 457288"/>
              <a:gd name="connsiteY25" fmla="*/ 2072640 h 2164080"/>
              <a:gd name="connsiteX26" fmla="*/ 411480 w 457288"/>
              <a:gd name="connsiteY26" fmla="*/ 2118360 h 2164080"/>
              <a:gd name="connsiteX27" fmla="*/ 457200 w 457288"/>
              <a:gd name="connsiteY27" fmla="*/ 2164080 h 2164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57288" h="2164080">
                <a:moveTo>
                  <a:pt x="396240" y="0"/>
                </a:moveTo>
                <a:cubicBezTo>
                  <a:pt x="386080" y="25400"/>
                  <a:pt x="375366" y="50585"/>
                  <a:pt x="365760" y="76200"/>
                </a:cubicBezTo>
                <a:cubicBezTo>
                  <a:pt x="360119" y="91242"/>
                  <a:pt x="357704" y="107552"/>
                  <a:pt x="350520" y="121920"/>
                </a:cubicBezTo>
                <a:cubicBezTo>
                  <a:pt x="342329" y="138303"/>
                  <a:pt x="328231" y="151257"/>
                  <a:pt x="320040" y="167640"/>
                </a:cubicBezTo>
                <a:cubicBezTo>
                  <a:pt x="312856" y="182008"/>
                  <a:pt x="312602" y="199317"/>
                  <a:pt x="304800" y="213360"/>
                </a:cubicBezTo>
                <a:cubicBezTo>
                  <a:pt x="287010" y="245382"/>
                  <a:pt x="255424" y="270047"/>
                  <a:pt x="243840" y="304800"/>
                </a:cubicBezTo>
                <a:cubicBezTo>
                  <a:pt x="238760" y="320040"/>
                  <a:pt x="236402" y="336477"/>
                  <a:pt x="228600" y="350520"/>
                </a:cubicBezTo>
                <a:cubicBezTo>
                  <a:pt x="210810" y="382542"/>
                  <a:pt x="179224" y="407207"/>
                  <a:pt x="167640" y="441960"/>
                </a:cubicBezTo>
                <a:lnTo>
                  <a:pt x="121920" y="579120"/>
                </a:lnTo>
                <a:cubicBezTo>
                  <a:pt x="116840" y="594360"/>
                  <a:pt x="113864" y="610472"/>
                  <a:pt x="106680" y="624840"/>
                </a:cubicBezTo>
                <a:lnTo>
                  <a:pt x="76200" y="685800"/>
                </a:lnTo>
                <a:cubicBezTo>
                  <a:pt x="71120" y="711200"/>
                  <a:pt x="65218" y="736449"/>
                  <a:pt x="60960" y="762000"/>
                </a:cubicBezTo>
                <a:cubicBezTo>
                  <a:pt x="55055" y="797432"/>
                  <a:pt x="52146" y="833338"/>
                  <a:pt x="45720" y="868680"/>
                </a:cubicBezTo>
                <a:cubicBezTo>
                  <a:pt x="41973" y="889288"/>
                  <a:pt x="34227" y="909032"/>
                  <a:pt x="30480" y="929640"/>
                </a:cubicBezTo>
                <a:cubicBezTo>
                  <a:pt x="24054" y="964982"/>
                  <a:pt x="21145" y="1000888"/>
                  <a:pt x="15240" y="1036320"/>
                </a:cubicBezTo>
                <a:cubicBezTo>
                  <a:pt x="10982" y="1061871"/>
                  <a:pt x="5080" y="1087120"/>
                  <a:pt x="0" y="1112520"/>
                </a:cubicBezTo>
                <a:cubicBezTo>
                  <a:pt x="5080" y="1239520"/>
                  <a:pt x="2997" y="1367009"/>
                  <a:pt x="15240" y="1493520"/>
                </a:cubicBezTo>
                <a:cubicBezTo>
                  <a:pt x="18335" y="1525499"/>
                  <a:pt x="35560" y="1554480"/>
                  <a:pt x="45720" y="1584960"/>
                </a:cubicBezTo>
                <a:cubicBezTo>
                  <a:pt x="50800" y="1600200"/>
                  <a:pt x="52049" y="1617314"/>
                  <a:pt x="60960" y="1630680"/>
                </a:cubicBezTo>
                <a:cubicBezTo>
                  <a:pt x="71120" y="1645920"/>
                  <a:pt x="83249" y="1660017"/>
                  <a:pt x="91440" y="1676400"/>
                </a:cubicBezTo>
                <a:cubicBezTo>
                  <a:pt x="98624" y="1690768"/>
                  <a:pt x="98878" y="1708077"/>
                  <a:pt x="106680" y="1722120"/>
                </a:cubicBezTo>
                <a:cubicBezTo>
                  <a:pt x="204692" y="1898542"/>
                  <a:pt x="126971" y="1748209"/>
                  <a:pt x="213360" y="1859280"/>
                </a:cubicBezTo>
                <a:cubicBezTo>
                  <a:pt x="235850" y="1888196"/>
                  <a:pt x="248417" y="1924817"/>
                  <a:pt x="274320" y="1950720"/>
                </a:cubicBezTo>
                <a:cubicBezTo>
                  <a:pt x="289560" y="1965960"/>
                  <a:pt x="306242" y="1979883"/>
                  <a:pt x="320040" y="1996440"/>
                </a:cubicBezTo>
                <a:cubicBezTo>
                  <a:pt x="331766" y="2010511"/>
                  <a:pt x="337568" y="2029208"/>
                  <a:pt x="350520" y="2042160"/>
                </a:cubicBezTo>
                <a:cubicBezTo>
                  <a:pt x="363472" y="2055112"/>
                  <a:pt x="381000" y="2062480"/>
                  <a:pt x="396240" y="2072640"/>
                </a:cubicBezTo>
                <a:cubicBezTo>
                  <a:pt x="401320" y="2087880"/>
                  <a:pt x="401445" y="2105816"/>
                  <a:pt x="411480" y="2118360"/>
                </a:cubicBezTo>
                <a:cubicBezTo>
                  <a:pt x="461427" y="2180794"/>
                  <a:pt x="457200" y="2122443"/>
                  <a:pt x="457200" y="2164080"/>
                </a:cubicBezTo>
              </a:path>
            </a:pathLst>
          </a:custGeom>
          <a:ln w="53975">
            <a:headEnd type="triangle" w="lg" len="sm"/>
            <a:tailEnd type="triangle" w="lg" len="med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vert270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新細明體" pitchFamily="18" charset="-120"/>
              </a:rPr>
              <a:t>       </a:t>
            </a:r>
            <a:r>
              <a:rPr kumimoji="1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新細明體" pitchFamily="18" charset="-120"/>
              </a:rPr>
              <a:t>DeMorgan</a:t>
            </a:r>
            <a:endParaRPr kumimoji="1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新細明體" pitchFamily="18" charset="-120"/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1219200" y="2682875"/>
            <a:ext cx="4038600" cy="17287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/>
          <p:nvPr/>
        </p:nvCxnSpPr>
        <p:spPr bwMode="auto">
          <a:xfrm>
            <a:off x="3194685" y="2682875"/>
            <a:ext cx="4038600" cy="17287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 flipH="1">
            <a:off x="1752600" y="2814638"/>
            <a:ext cx="3581400" cy="159702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/>
          <p:cNvCxnSpPr/>
          <p:nvPr/>
        </p:nvCxnSpPr>
        <p:spPr bwMode="auto">
          <a:xfrm flipH="1">
            <a:off x="3425031" y="2743200"/>
            <a:ext cx="3735547" cy="164465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4" grpId="0" animBg="1"/>
      <p:bldP spid="92174" grpId="0"/>
      <p:bldP spid="2" grpId="0"/>
      <p:bldP spid="7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Box 3"/>
          <p:cNvSpPr txBox="1">
            <a:spLocks noChangeArrowheads="1"/>
          </p:cNvSpPr>
          <p:nvPr/>
        </p:nvSpPr>
        <p:spPr bwMode="auto">
          <a:xfrm>
            <a:off x="609600" y="914400"/>
            <a:ext cx="7897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latin typeface="Comic Sans MS" panose="030F0702030302020204" pitchFamily="66" charset="0"/>
              </a:rPr>
              <a:t>s = ((</a:t>
            </a:r>
            <a:r>
              <a:rPr lang="en-GB" altLang="en-US" sz="3600" i="1">
                <a:latin typeface="Comic Sans MS" panose="030F0702030302020204" pitchFamily="66" charset="0"/>
              </a:rPr>
              <a:t>p</a:t>
            </a:r>
            <a:r>
              <a:rPr lang="en-GB" altLang="en-US" sz="3600">
                <a:latin typeface="Comic Sans MS" panose="030F0702030302020204" pitchFamily="66" charset="0"/>
              </a:rPr>
              <a:t> </a:t>
            </a:r>
            <a:r>
              <a:rPr lang="en-GB" altLang="en-US" sz="3600">
                <a:latin typeface="Comic Sans MS" panose="030F0702030302020204" pitchFamily="66" charset="0"/>
                <a:sym typeface="Symbol" panose="05050102010706020507" pitchFamily="18" charset="2"/>
              </a:rPr>
              <a:t></a:t>
            </a:r>
            <a:r>
              <a:rPr lang="en-GB" altLang="en-US" sz="3600">
                <a:latin typeface="Comic Sans MS" panose="030F0702030302020204" pitchFamily="66" charset="0"/>
              </a:rPr>
              <a:t> </a:t>
            </a:r>
            <a:r>
              <a:rPr lang="en-GB" altLang="en-US" sz="3600" i="1">
                <a:latin typeface="Comic Sans MS" panose="030F0702030302020204" pitchFamily="66" charset="0"/>
              </a:rPr>
              <a:t>r</a:t>
            </a:r>
            <a:r>
              <a:rPr lang="en-GB" altLang="en-US" sz="3600">
                <a:latin typeface="Comic Sans MS" panose="030F0702030302020204" pitchFamily="66" charset="0"/>
              </a:rPr>
              <a:t>) </a:t>
            </a:r>
            <a:r>
              <a:rPr lang="en-GB" altLang="en-US" sz="3600">
                <a:latin typeface="Comic Sans MS" panose="030F0702030302020204" pitchFamily="66" charset="0"/>
                <a:sym typeface="Symbol" panose="05050102010706020507" pitchFamily="18" charset="2"/>
              </a:rPr>
              <a:t></a:t>
            </a:r>
            <a:r>
              <a:rPr lang="en-GB" altLang="en-US" sz="3600">
                <a:latin typeface="Comic Sans MS" panose="030F0702030302020204" pitchFamily="66" charset="0"/>
              </a:rPr>
              <a:t> (</a:t>
            </a:r>
            <a:r>
              <a:rPr lang="en-GB" altLang="en-US" sz="3600" i="1">
                <a:latin typeface="Comic Sans MS" panose="030F0702030302020204" pitchFamily="66" charset="0"/>
              </a:rPr>
              <a:t>q</a:t>
            </a:r>
            <a:r>
              <a:rPr lang="en-GB" altLang="en-US" sz="3600">
                <a:latin typeface="Comic Sans MS" panose="030F0702030302020204" pitchFamily="66" charset="0"/>
              </a:rPr>
              <a:t> </a:t>
            </a:r>
            <a:r>
              <a:rPr lang="en-GB" altLang="en-US" sz="3600">
                <a:latin typeface="Comic Sans MS" panose="030F0702030302020204" pitchFamily="66" charset="0"/>
                <a:sym typeface="Symbol" panose="05050102010706020507" pitchFamily="18" charset="2"/>
              </a:rPr>
              <a:t></a:t>
            </a:r>
            <a:r>
              <a:rPr lang="en-GB" altLang="en-US" sz="3600">
                <a:latin typeface="Comic Sans MS" panose="030F0702030302020204" pitchFamily="66" charset="0"/>
              </a:rPr>
              <a:t> </a:t>
            </a:r>
            <a:r>
              <a:rPr lang="en-GB" altLang="en-US" sz="3600" i="1">
                <a:latin typeface="Comic Sans MS" panose="030F0702030302020204" pitchFamily="66" charset="0"/>
              </a:rPr>
              <a:t>r</a:t>
            </a:r>
            <a:r>
              <a:rPr lang="en-GB" altLang="en-US" sz="3600">
                <a:latin typeface="Comic Sans MS" panose="030F0702030302020204" pitchFamily="66" charset="0"/>
              </a:rPr>
              <a:t>)) </a:t>
            </a:r>
            <a:r>
              <a:rPr lang="en-GB" altLang="en-US" sz="3600">
                <a:latin typeface="Comic Sans MS" panose="030F0702030302020204" pitchFamily="66" charset="0"/>
                <a:sym typeface="Symbol" panose="05050102010706020507" pitchFamily="18" charset="2"/>
              </a:rPr>
              <a:t></a:t>
            </a:r>
            <a:r>
              <a:rPr lang="en-GB" altLang="en-US" sz="3600">
                <a:latin typeface="Comic Sans MS" panose="030F0702030302020204" pitchFamily="66" charset="0"/>
              </a:rPr>
              <a:t> (</a:t>
            </a:r>
            <a:r>
              <a:rPr lang="en-GB" altLang="en-US" sz="3600">
                <a:latin typeface="Comic Sans MS" panose="030F0702030302020204" pitchFamily="66" charset="0"/>
                <a:sym typeface="Symbol" panose="05050102010706020507" pitchFamily="18" charset="2"/>
              </a:rPr>
              <a:t></a:t>
            </a:r>
            <a:r>
              <a:rPr lang="en-GB" altLang="en-US" sz="3600">
                <a:latin typeface="Comic Sans MS" panose="030F0702030302020204" pitchFamily="66" charset="0"/>
              </a:rPr>
              <a:t>(</a:t>
            </a:r>
            <a:r>
              <a:rPr lang="en-GB" altLang="en-US" sz="3600" i="1">
                <a:latin typeface="Comic Sans MS" panose="030F0702030302020204" pitchFamily="66" charset="0"/>
              </a:rPr>
              <a:t>p</a:t>
            </a:r>
            <a:r>
              <a:rPr lang="en-GB" altLang="en-US" sz="3600">
                <a:latin typeface="Comic Sans MS" panose="030F0702030302020204" pitchFamily="66" charset="0"/>
              </a:rPr>
              <a:t> </a:t>
            </a:r>
            <a:r>
              <a:rPr lang="en-GB" altLang="en-US" sz="3600">
                <a:latin typeface="Comic Sans MS" panose="030F0702030302020204" pitchFamily="66" charset="0"/>
                <a:sym typeface="Symbol" panose="05050102010706020507" pitchFamily="18" charset="2"/>
              </a:rPr>
              <a:t></a:t>
            </a:r>
            <a:r>
              <a:rPr lang="en-GB" altLang="en-US" sz="3600">
                <a:latin typeface="Comic Sans MS" panose="030F0702030302020204" pitchFamily="66" charset="0"/>
              </a:rPr>
              <a:t> </a:t>
            </a:r>
            <a:r>
              <a:rPr lang="en-GB" altLang="en-US" sz="3600" i="1">
                <a:latin typeface="Comic Sans MS" panose="030F0702030302020204" pitchFamily="66" charset="0"/>
              </a:rPr>
              <a:t>q</a:t>
            </a:r>
            <a:r>
              <a:rPr lang="en-GB" altLang="en-US" sz="3600">
                <a:latin typeface="Comic Sans MS" panose="030F0702030302020204" pitchFamily="66" charset="0"/>
              </a:rPr>
              <a:t>) </a:t>
            </a:r>
            <a:r>
              <a:rPr lang="en-GB" altLang="en-US" sz="3600">
                <a:latin typeface="Comic Sans MS" panose="030F0702030302020204" pitchFamily="66" charset="0"/>
                <a:sym typeface="Symbol" panose="05050102010706020507" pitchFamily="18" charset="2"/>
              </a:rPr>
              <a:t></a:t>
            </a:r>
            <a:r>
              <a:rPr lang="en-GB" altLang="en-US" sz="3600">
                <a:latin typeface="Comic Sans MS" panose="030F0702030302020204" pitchFamily="66" charset="0"/>
              </a:rPr>
              <a:t> </a:t>
            </a:r>
            <a:r>
              <a:rPr lang="en-GB" altLang="en-US" sz="3600" i="1">
                <a:latin typeface="Comic Sans MS" panose="030F0702030302020204" pitchFamily="66" charset="0"/>
              </a:rPr>
              <a:t>r</a:t>
            </a:r>
            <a:r>
              <a:rPr lang="en-GB" altLang="en-US" sz="3600">
                <a:latin typeface="Comic Sans MS" panose="030F0702030302020204" pitchFamily="66" charset="0"/>
              </a:rPr>
              <a:t>)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1752600"/>
            <a:ext cx="8545513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3314700" y="457200"/>
            <a:ext cx="2476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b="1">
                <a:solidFill>
                  <a:srgbClr val="003366"/>
                </a:solidFill>
                <a:latin typeface="Comic Sans MS" panose="030F0702030302020204" pitchFamily="66" charset="0"/>
              </a:rPr>
              <a:t>Quick Summary</a:t>
            </a:r>
          </a:p>
        </p:txBody>
      </p:sp>
      <p:sp>
        <p:nvSpPr>
          <p:cNvPr id="69635" name="Text Box 12"/>
          <p:cNvSpPr txBox="1">
            <a:spLocks noChangeArrowheads="1"/>
          </p:cNvSpPr>
          <p:nvPr/>
        </p:nvSpPr>
        <p:spPr bwMode="auto">
          <a:xfrm>
            <a:off x="3459163" y="1371600"/>
            <a:ext cx="22240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latin typeface="Comic Sans MS" panose="030F0702030302020204" pitchFamily="66" charset="0"/>
              </a:rPr>
              <a:t>Key points to know.</a:t>
            </a:r>
          </a:p>
        </p:txBody>
      </p:sp>
      <p:sp>
        <p:nvSpPr>
          <p:cNvPr id="69636" name="Text Box 13"/>
          <p:cNvSpPr txBox="1">
            <a:spLocks noChangeArrowheads="1"/>
          </p:cNvSpPr>
          <p:nvPr/>
        </p:nvSpPr>
        <p:spPr bwMode="auto">
          <a:xfrm>
            <a:off x="850900" y="2176463"/>
            <a:ext cx="7378700" cy="201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Tx/>
              <a:buAutoNum type="arabicPeriod"/>
            </a:pPr>
            <a:r>
              <a:rPr lang="en-US" altLang="zh-TW"/>
              <a:t>Write a logical formula from a truth table.</a:t>
            </a:r>
          </a:p>
          <a:p>
            <a:pPr eaLnBrk="1" hangingPunct="1">
              <a:buClr>
                <a:srgbClr val="A50021"/>
              </a:buClr>
              <a:buFontTx/>
              <a:buAutoNum type="arabicPeriod"/>
            </a:pP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AutoNum type="arabicPeriod"/>
            </a:pPr>
            <a:r>
              <a:rPr lang="en-US" altLang="zh-TW"/>
              <a:t>Check logical equivalence of two logical formulas.</a:t>
            </a:r>
          </a:p>
          <a:p>
            <a:pPr eaLnBrk="1" hangingPunct="1">
              <a:buClr>
                <a:srgbClr val="A50021"/>
              </a:buClr>
              <a:buFontTx/>
              <a:buAutoNum type="arabicPeriod"/>
            </a:pP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AutoNum type="arabicPeriod"/>
            </a:pPr>
            <a:r>
              <a:rPr lang="en-US" altLang="zh-TW"/>
              <a:t>DeMorgan’s rule and other simple logical rules (e.g. distributive).</a:t>
            </a:r>
          </a:p>
          <a:p>
            <a:pPr eaLnBrk="1" hangingPunct="1">
              <a:buClr>
                <a:srgbClr val="A50021"/>
              </a:buClr>
              <a:buFontTx/>
              <a:buAutoNum type="arabicPeriod"/>
            </a:pP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AutoNum type="arabicPeriod"/>
            </a:pPr>
            <a:r>
              <a:rPr lang="en-US" altLang="zh-TW"/>
              <a:t>Use simple logical rules to simplify a logical formula.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48"/>
  <p:tag name="DEFAULTHEIGHT" val="2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frac{x_1+x_2+\ldots+x_n}{n} \geq \sqrt[n]{x1\cdot x_2 \cdots x_n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347"/>
  <p:tag name="PICTUREFILESIZE" val="1593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(\lnot p \land q) \land (p \lor q)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76"/>
  <p:tag name="PICTUREFILESIZE" val="870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equiv (\lnot \lnot p \lor \lnot q) \land (p \lor q)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13"/>
  <p:tag name="PICTUREFILESIZE" val="948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equiv (p \lor \lnot q) \land (p \lor q)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85"/>
  <p:tag name="PICTUREFILESIZE" val="915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equiv p \lor (\lnot q \land q)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31"/>
  <p:tag name="PICTUREFILESIZE" val="611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equiv p \lor {\rm False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07"/>
  <p:tag name="PICTUREFILESIZE" val="464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equiv 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33"/>
  <p:tag name="PICTUREFILESIZE" val="113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lor \lnot 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0"/>
  <p:tag name="PICTUREFILESIZE" val="279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(p \land q) \lor (\lnot q \land p) \lor (\lnot p \land \lnot q) \lor (\lnot p \land q)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376"/>
  <p:tag name="PICTUREFILESIZE" val="1802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lor \lnot 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0"/>
  <p:tag name="PICTUREFILESIZE" val="279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(p \land q) \lor (\lnot q \land p) \lor (\lnot p \land \lnot q) \lor (\lnot p \land q)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376"/>
  <p:tag name="PICTUREFILESIZE" val="1802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land \lnot 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0"/>
  <p:tag name="PICTUREFILESIZE" val="274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(p \lor q) \land (\lnot q \lor p) \land (\lnot p \lor \lnot q) \land (\lnot p \lor q)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376"/>
  <p:tag name="PICTUREFILESIZE" val="18399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新細明體" pitchFamily="18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5675</TotalTime>
  <Words>233</Words>
  <Application>Microsoft Office PowerPoint</Application>
  <PresentationFormat>On-screen Show (4:3)</PresentationFormat>
  <Paragraphs>41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Comic Sans MS</vt:lpstr>
      <vt:lpstr>新細明體</vt:lpstr>
      <vt:lpstr>Symbol</vt:lpstr>
      <vt:lpstr>Times New Roman</vt:lpstr>
      <vt:lpstr>Default Design</vt:lpstr>
      <vt:lpstr>Introduction to Discrete Mathematics</vt:lpstr>
      <vt:lpstr>Continued from Part A</vt:lpstr>
      <vt:lpstr>PowerPoint Presentation</vt:lpstr>
      <vt:lpstr>PowerPoint Presentation</vt:lpstr>
      <vt:lpstr>Negation Exercise</vt:lpstr>
      <vt:lpstr>PowerPoint Presentation</vt:lpstr>
      <vt:lpstr>PowerPoint Presentation</vt:lpstr>
      <vt:lpstr>PowerPoint Presentation</vt:lpstr>
      <vt:lpstr>PowerPoint Presentation</vt:lpstr>
    </vt:vector>
  </TitlesOfParts>
  <Company>CUHK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Discrete Mathematics</dc:title>
  <dc:creator>CSE</dc:creator>
  <cp:lastModifiedBy>M. Sohel Rahman</cp:lastModifiedBy>
  <cp:revision>106</cp:revision>
  <dcterms:created xsi:type="dcterms:W3CDTF">2007-08-29T04:27:34Z</dcterms:created>
  <dcterms:modified xsi:type="dcterms:W3CDTF">2021-03-08T10:50:16Z</dcterms:modified>
</cp:coreProperties>
</file>