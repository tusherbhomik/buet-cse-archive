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797675" cy="9928225"/>
  <p:embeddedFontLst>
    <p:embeddedFont>
      <p:font typeface="Helvetica Neue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  <p:ext uri="GoogleSlidesCustomDataVersion2">
      <go:slidesCustomData xmlns:go="http://customooxmlschemas.google.com/" r:id="rId35" roundtripDataSignature="AMtx7miTKMg+2Go3mLcuT+pvGxHVjVlq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  <p:guide pos="3127" orient="horz"/>
        <p:guide pos="2142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7"/>
          <p:cNvSpPr txBox="1"/>
          <p:nvPr>
            <p:ph idx="1" type="subTitle"/>
          </p:nvPr>
        </p:nvSpPr>
        <p:spPr>
          <a:xfrm>
            <a:off x="251520" y="78531"/>
            <a:ext cx="8640960" cy="576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60"/>
              <a:buNone/>
              <a:defRPr b="1" sz="2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20"/>
              </a:spcBef>
              <a:spcAft>
                <a:spcPts val="0"/>
              </a:spcAft>
              <a:buSzPts val="1040"/>
              <a:buNone/>
              <a:defRPr/>
            </a:lvl3pPr>
            <a:lvl4pPr lvl="3" algn="ctr">
              <a:spcBef>
                <a:spcPts val="280"/>
              </a:spcBef>
              <a:spcAft>
                <a:spcPts val="0"/>
              </a:spcAft>
              <a:buSzPts val="910"/>
              <a:buNone/>
              <a:defRPr/>
            </a:lvl4pPr>
            <a:lvl5pPr lvl="4" algn="ctr">
              <a:spcBef>
                <a:spcPts val="28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type="ctrTitle"/>
          </p:nvPr>
        </p:nvSpPr>
        <p:spPr>
          <a:xfrm>
            <a:off x="685800" y="1772816"/>
            <a:ext cx="7772400" cy="1542033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78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4400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" name="Google Shape;16;p27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17" name="Google Shape;17;p27"/>
            <p:cNvCxnSpPr/>
            <p:nvPr/>
          </p:nvCxnSpPr>
          <p:spPr>
            <a:xfrm>
              <a:off x="0" y="3356992"/>
              <a:ext cx="9144000" cy="0"/>
            </a:xfrm>
            <a:prstGeom prst="straightConnector1">
              <a:avLst/>
            </a:prstGeom>
            <a:noFill/>
            <a:ln cap="flat" cmpd="sng" w="63500">
              <a:solidFill>
                <a:srgbClr val="17365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" name="Google Shape;18;p27"/>
            <p:cNvCxnSpPr/>
            <p:nvPr/>
          </p:nvCxnSpPr>
          <p:spPr>
            <a:xfrm>
              <a:off x="-3579" y="3421185"/>
              <a:ext cx="9144000" cy="0"/>
            </a:xfrm>
            <a:prstGeom prst="straightConnector1">
              <a:avLst/>
            </a:prstGeom>
            <a:noFill/>
            <a:ln cap="flat" cmpd="sng" w="31750">
              <a:solidFill>
                <a:srgbClr val="36609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" name="Google Shape;19;p27"/>
          <p:cNvSpPr txBox="1"/>
          <p:nvPr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Youjip Won</a:t>
            </a:r>
            <a:endParaRPr b="1" i="0" sz="2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" name="Google Shape;2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52786" y="5013176"/>
            <a:ext cx="2638429" cy="75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 dir="ou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8"/>
          <p:cNvCxnSpPr/>
          <p:nvPr/>
        </p:nvCxnSpPr>
        <p:spPr>
          <a:xfrm>
            <a:off x="214313" y="4429125"/>
            <a:ext cx="8786812" cy="0"/>
          </a:xfrm>
          <a:prstGeom prst="straightConnector1">
            <a:avLst/>
          </a:prstGeom>
          <a:noFill/>
          <a:ln cap="flat" cmpd="sng" w="38100">
            <a:solidFill>
              <a:srgbClr val="0F24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891994" y="2906713"/>
            <a:ext cx="8072494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640"/>
              </a:spcBef>
              <a:spcAft>
                <a:spcPts val="0"/>
              </a:spcAft>
              <a:buSzPts val="2080"/>
              <a:buNone/>
              <a:defRPr b="1" sz="3200">
                <a:solidFill>
                  <a:srgbClr val="0F243E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9pPr>
          </a:lstStyle>
          <a:p/>
        </p:txBody>
      </p:sp>
      <p:cxnSp>
        <p:nvCxnSpPr>
          <p:cNvPr id="24" name="Google Shape;24;p28"/>
          <p:cNvCxnSpPr/>
          <p:nvPr/>
        </p:nvCxnSpPr>
        <p:spPr>
          <a:xfrm>
            <a:off x="0" y="6500813"/>
            <a:ext cx="9144000" cy="0"/>
          </a:xfrm>
          <a:prstGeom prst="straightConnector1">
            <a:avLst/>
          </a:prstGeom>
          <a:noFill/>
          <a:ln cap="flat" cmpd="sng" w="254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28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</a:t>
            </a:r>
            <a:endParaRPr b="0"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6" name="Google Shape;26;p28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zoom dir="ou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29"/>
          <p:cNvCxnSpPr/>
          <p:nvPr/>
        </p:nvCxnSpPr>
        <p:spPr>
          <a:xfrm>
            <a:off x="0" y="6500813"/>
            <a:ext cx="9144000" cy="0"/>
          </a:xfrm>
          <a:prstGeom prst="straightConnector1">
            <a:avLst/>
          </a:prstGeom>
          <a:noFill/>
          <a:ln cap="flat" cmpd="sng" w="254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29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" type="body"/>
          </p:nvPr>
        </p:nvSpPr>
        <p:spPr>
          <a:xfrm>
            <a:off x="214313" y="88007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1150" lvl="0" marL="4572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  <a:defRPr b="0"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800"/>
              <a:buChar char="⬥"/>
              <a:defRPr sz="1800">
                <a:solidFill>
                  <a:schemeClr val="dk1"/>
                </a:solidFill>
              </a:defRPr>
            </a:lvl2pPr>
            <a:lvl3pPr indent="-294639" lvl="2" marL="137160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1040"/>
              <a:buChar char="🞆"/>
              <a:defRPr sz="1600">
                <a:solidFill>
                  <a:schemeClr val="dk1"/>
                </a:solidFill>
              </a:defRPr>
            </a:lvl3pPr>
            <a:lvl4pPr indent="-286385" lvl="3" marL="182880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002060"/>
              </a:buClr>
              <a:buSzPts val="910"/>
              <a:buChar char="■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spcBef>
                <a:spcPts val="0"/>
              </a:spcBef>
              <a:buNone/>
              <a:defRPr b="1" i="0" sz="1000" u="none" cap="none" strike="noStrike">
                <a:solidFill>
                  <a:srgbClr val="0F243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</a:t>
            </a:r>
            <a:endParaRPr b="0"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2" name="Google Shape;32;p29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zoom dir="out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lab.kaist.ac.kr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rgbClr val="17365D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252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" name="Google Shape;7;p26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" type="body"/>
          </p:nvPr>
        </p:nvSpPr>
        <p:spPr>
          <a:xfrm>
            <a:off x="214313" y="1000125"/>
            <a:ext cx="8786812" cy="542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115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Font typeface="Noto Sans Symbols"/>
              <a:buChar char="🞐"/>
              <a:defRPr b="0" i="0" sz="2000" u="none" cap="none" strike="noStrike">
                <a:solidFill>
                  <a:srgbClr val="1025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007E3C"/>
              </a:buClr>
              <a:buSzPts val="1800"/>
              <a:buFont typeface="Noto Sans Symbols"/>
              <a:buChar char="⬥"/>
              <a:defRPr b="0" i="0" sz="1800" u="none" cap="none" strike="noStrike">
                <a:solidFill>
                  <a:srgbClr val="1025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94639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1040"/>
              <a:buFont typeface="Noto Sans Symbols"/>
              <a:buChar char="🞆"/>
              <a:defRPr b="0" i="0" sz="1600" u="none" cap="none" strike="noStrike">
                <a:solidFill>
                  <a:srgbClr val="1025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86385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00B03C"/>
              </a:buClr>
              <a:buSzPts val="910"/>
              <a:buFont typeface="Noto Sans Symbols"/>
              <a:buChar char="■"/>
              <a:defRPr b="0" i="0" sz="1400" u="none" cap="none" strike="noStrike">
                <a:solidFill>
                  <a:srgbClr val="1025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rgbClr val="1025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2" type="sldNum"/>
          </p:nvPr>
        </p:nvSpPr>
        <p:spPr>
          <a:xfrm>
            <a:off x="7500938" y="6562725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0F243E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0F243E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0F243E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0F243E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0F243E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0F243E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0F243E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0F243E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rgbClr val="0F243E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26"/>
          <p:cNvSpPr txBox="1"/>
          <p:nvPr>
            <p:ph idx="11" type="ftr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1" name="Google Shape;11;p26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rgbClr val="366092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252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" name="Google Shape;12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04" y="6429375"/>
            <a:ext cx="2429396" cy="5042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transition>
    <p:zoom dir="out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>
            <p:ph idx="1" type="subTitle"/>
          </p:nvPr>
        </p:nvSpPr>
        <p:spPr>
          <a:xfrm>
            <a:off x="251520" y="78531"/>
            <a:ext cx="8640960" cy="576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 txBox="1"/>
          <p:nvPr>
            <p:ph type="ctrTitle"/>
          </p:nvPr>
        </p:nvSpPr>
        <p:spPr>
          <a:xfrm>
            <a:off x="683568" y="1484784"/>
            <a:ext cx="7772400" cy="1326009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78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Operating Systems</a:t>
            </a:r>
            <a:br>
              <a:rPr lang="en-US" sz="3600"/>
            </a:br>
            <a:endParaRPr b="0" sz="1600"/>
          </a:p>
        </p:txBody>
      </p:sp>
    </p:spTree>
  </p:cSld>
  <p:clrMapOvr>
    <a:masterClrMapping/>
  </p:clrMapOvr>
  <p:transition>
    <p:zoom dir="out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idx="1" type="body"/>
          </p:nvPr>
        </p:nvSpPr>
        <p:spPr>
          <a:xfrm>
            <a:off x="891994" y="2906713"/>
            <a:ext cx="8072494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lang="en-US"/>
              <a:t>39. File and Directories</a:t>
            </a:r>
            <a:endParaRPr/>
          </a:p>
        </p:txBody>
      </p:sp>
      <p:sp>
        <p:nvSpPr>
          <p:cNvPr id="44" name="Google Shape;44;p2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45" name="Google Shape;45;p2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zoom dir="out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/>
          </a:p>
        </p:txBody>
      </p:sp>
      <p:sp>
        <p:nvSpPr>
          <p:cNvPr id="51" name="Google Shape;51;p3"/>
          <p:cNvSpPr txBox="1"/>
          <p:nvPr>
            <p:ph idx="1" type="body"/>
          </p:nvPr>
        </p:nvSpPr>
        <p:spPr>
          <a:xfrm>
            <a:off x="214313" y="662738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/>
              <a:t>File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File is simply a linear array of bytes.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Each file has low-level name as </a:t>
            </a:r>
            <a:r>
              <a:rPr lang="en-US" sz="1600">
                <a:solidFill>
                  <a:schemeClr val="accent1"/>
                </a:solidFill>
              </a:rPr>
              <a:t>’inode number’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/>
              <a:t>Directory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A file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A list of &lt;user-readable filename, low-level filename&gt; pairs</a:t>
            </a:r>
            <a:endParaRPr/>
          </a:p>
          <a:p>
            <a:pPr indent="-1841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</p:txBody>
      </p:sp>
      <p:sp>
        <p:nvSpPr>
          <p:cNvPr id="52" name="Google Shape;52;p3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Youjip Won</a:t>
            </a:r>
            <a:endParaRPr b="1" i="0" sz="10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1742083" y="6035266"/>
            <a:ext cx="33123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An Example Directory Tree</a:t>
            </a:r>
            <a:endParaRPr/>
          </a:p>
        </p:txBody>
      </p:sp>
      <p:grpSp>
        <p:nvGrpSpPr>
          <p:cNvPr id="55" name="Google Shape;55;p3"/>
          <p:cNvGrpSpPr/>
          <p:nvPr/>
        </p:nvGrpSpPr>
        <p:grpSpPr>
          <a:xfrm>
            <a:off x="1617257" y="3363258"/>
            <a:ext cx="3408922" cy="2775351"/>
            <a:chOff x="1742083" y="2857128"/>
            <a:chExt cx="3408922" cy="2775351"/>
          </a:xfrm>
        </p:grpSpPr>
        <p:sp>
          <p:nvSpPr>
            <p:cNvPr id="56" name="Google Shape;56;p3"/>
            <p:cNvSpPr/>
            <p:nvPr/>
          </p:nvSpPr>
          <p:spPr>
            <a:xfrm>
              <a:off x="3152545" y="2857128"/>
              <a:ext cx="540000" cy="540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B05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/</a:t>
              </a:r>
              <a:endParaRPr b="0" i="0" sz="14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29336" y="3527805"/>
              <a:ext cx="540000" cy="540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B05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foo</a:t>
              </a:r>
              <a:endParaRPr b="0" i="0" sz="14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1742083" y="4185052"/>
              <a:ext cx="540000" cy="540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B05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bar.txt</a:t>
              </a:r>
              <a:endParaRPr b="0" i="0" sz="14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3929404" y="3527805"/>
              <a:ext cx="540000" cy="540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B05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bar</a:t>
              </a:r>
              <a:endParaRPr b="0" i="0" sz="14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4536056" y="4185052"/>
              <a:ext cx="540000" cy="540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B05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foo</a:t>
              </a:r>
              <a:endParaRPr b="0" i="0" sz="14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3214503" y="4185052"/>
              <a:ext cx="540000" cy="540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B05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bar</a:t>
              </a:r>
              <a:endParaRPr b="0" i="0" sz="14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3929404" y="4869160"/>
              <a:ext cx="540000" cy="5400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B05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bar.txt</a:t>
              </a:r>
              <a:endParaRPr b="0" i="0" sz="1400" u="none" cap="none" strike="noStrike">
                <a:solidFill>
                  <a:srgbClr val="00B05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3" name="Google Shape;63;p3"/>
            <p:cNvCxnSpPr>
              <a:stCxn id="58" idx="3"/>
              <a:endCxn id="59" idx="7"/>
            </p:cNvCxnSpPr>
            <p:nvPr/>
          </p:nvCxnSpPr>
          <p:spPr>
            <a:xfrm flipH="1" rot="10800000">
              <a:off x="1821164" y="3606771"/>
              <a:ext cx="2569200" cy="10392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" name="Google Shape;64;p3"/>
            <p:cNvCxnSpPr>
              <a:stCxn id="59" idx="3"/>
              <a:endCxn id="60" idx="7"/>
            </p:cNvCxnSpPr>
            <p:nvPr/>
          </p:nvCxnSpPr>
          <p:spPr>
            <a:xfrm>
              <a:off x="4008485" y="3988724"/>
              <a:ext cx="988500" cy="275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" name="Google Shape;65;p3"/>
            <p:cNvCxnSpPr>
              <a:stCxn id="61" idx="3"/>
              <a:endCxn id="63" idx="7"/>
            </p:cNvCxnSpPr>
            <p:nvPr/>
          </p:nvCxnSpPr>
          <p:spPr>
            <a:xfrm flipH="1">
              <a:off x="2960584" y="4645971"/>
              <a:ext cx="333000" cy="275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" name="Google Shape;66;p3"/>
            <p:cNvCxnSpPr>
              <a:stCxn id="62" idx="3"/>
              <a:endCxn id="64" idx="7"/>
            </p:cNvCxnSpPr>
            <p:nvPr/>
          </p:nvCxnSpPr>
          <p:spPr>
            <a:xfrm flipH="1">
              <a:off x="3783785" y="5330079"/>
              <a:ext cx="224700" cy="30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" name="Google Shape;67;p3"/>
            <p:cNvCxnSpPr>
              <a:stCxn id="61" idx="5"/>
              <a:endCxn id="62" idx="1"/>
            </p:cNvCxnSpPr>
            <p:nvPr/>
          </p:nvCxnSpPr>
          <p:spPr>
            <a:xfrm>
              <a:off x="3675422" y="4645971"/>
              <a:ext cx="333000" cy="30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" name="Google Shape;68;p3"/>
            <p:cNvCxnSpPr>
              <a:stCxn id="58" idx="5"/>
              <a:endCxn id="61" idx="1"/>
            </p:cNvCxnSpPr>
            <p:nvPr/>
          </p:nvCxnSpPr>
          <p:spPr>
            <a:xfrm flipH="1" rot="10800000">
              <a:off x="2203002" y="4264071"/>
              <a:ext cx="1090500" cy="3819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" name="Google Shape;69;p3"/>
            <p:cNvSpPr txBox="1"/>
            <p:nvPr/>
          </p:nvSpPr>
          <p:spPr>
            <a:xfrm>
              <a:off x="3779912" y="2973239"/>
              <a:ext cx="13710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root directory</a:t>
              </a:r>
              <a:endParaRPr/>
            </a:p>
          </p:txBody>
        </p:sp>
      </p:grpSp>
      <p:sp>
        <p:nvSpPr>
          <p:cNvPr id="70" name="Google Shape;70;p3"/>
          <p:cNvSpPr txBox="1"/>
          <p:nvPr/>
        </p:nvSpPr>
        <p:spPr>
          <a:xfrm>
            <a:off x="6362151" y="3603391"/>
            <a:ext cx="2088232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vaild files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/foo/bar.txt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/bar/foo/bar.txt</a:t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vaild directory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/foo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/bar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/bar/bar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/bar/foo/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570063" y="4467487"/>
            <a:ext cx="576064" cy="235769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52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>
    <p:zoom dir="out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Interface: Creating a file</a:t>
            </a:r>
            <a:endParaRPr/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214313" y="764704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040"/>
              <a:buChar char="🞐"/>
            </a:pPr>
            <a:r>
              <a:rPr lang="en-US" sz="1600"/>
              <a:t>Use </a:t>
            </a:r>
            <a:r>
              <a:rPr lang="en-US" sz="16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1600">
                <a:solidFill>
                  <a:srgbClr val="FFC000"/>
                </a:solidFill>
              </a:rPr>
              <a:t> </a:t>
            </a:r>
            <a:r>
              <a:rPr lang="en-US" sz="1600"/>
              <a:t>system call with </a:t>
            </a:r>
            <a:r>
              <a:rPr lang="en-US" sz="16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O_CREAT</a:t>
            </a:r>
            <a:r>
              <a:rPr lang="en-US" sz="1600">
                <a:solidFill>
                  <a:schemeClr val="accent1"/>
                </a:solidFill>
              </a:rPr>
              <a:t> </a:t>
            </a:r>
            <a:r>
              <a:rPr lang="en-US" sz="1600"/>
              <a:t>flag.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int fd = open("foo", O_CREAT|O_WRONLY|O_TRUNC, S_IRUSR|S_IWUSR);</a:t>
            </a:r>
            <a:endParaRPr sz="1800"/>
          </a:p>
          <a:p>
            <a:pPr indent="-2857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Char char="⬥"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O_CREAT</a:t>
            </a:r>
            <a:r>
              <a:rPr lang="en-US" sz="1400"/>
              <a:t> : create file.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Char char="⬥"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O_WRONLY</a:t>
            </a:r>
            <a:r>
              <a:rPr lang="en-US" sz="1400"/>
              <a:t> : only write to that file while opened.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Char char="⬥"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O_TRUNC</a:t>
            </a:r>
            <a:r>
              <a:rPr lang="en-US" sz="1400"/>
              <a:t> : make the file size zero (remove any existing content).</a:t>
            </a:r>
            <a:endParaRPr sz="1400"/>
          </a:p>
          <a:p>
            <a:pPr indent="-342900" lvl="0" marL="3429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1040"/>
              <a:buChar char="🞐"/>
            </a:pPr>
            <a:r>
              <a:rPr lang="en-US" sz="1600"/>
              <a:t>open system call returns </a:t>
            </a:r>
            <a:r>
              <a:rPr lang="en-US" sz="1600">
                <a:solidFill>
                  <a:schemeClr val="accent1"/>
                </a:solidFill>
              </a:rPr>
              <a:t>file descriptor</a:t>
            </a:r>
            <a:r>
              <a:rPr lang="en-US" sz="1600"/>
              <a:t>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Char char="⬥"/>
            </a:pPr>
            <a:r>
              <a:rPr lang="en-US" sz="1400"/>
              <a:t>file descriptor is an integer, is used to access files.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Char char="⬥"/>
            </a:pPr>
            <a:r>
              <a:rPr lang="en-US" sz="1400"/>
              <a:t>Ex) </a:t>
            </a: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read (file descriptor)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Char char="⬥"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File descriptor table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2" marL="8001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struct proc {</a:t>
            </a:r>
            <a:endParaRPr/>
          </a:p>
          <a:p>
            <a:pPr indent="0" lvl="2" marL="8001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/>
          </a:p>
          <a:p>
            <a:pPr indent="0" lvl="2" marL="8001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	struct file *ofile[NOFILE]; // Open files</a:t>
            </a:r>
            <a:endParaRPr/>
          </a:p>
          <a:p>
            <a:pPr indent="0" lvl="2" marL="8001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/>
          </a:p>
          <a:p>
            <a:pPr indent="0" lvl="2" marL="8001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" name="Google Shape;78;p4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79" name="Google Shape;79;p4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zoom dir="out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Interface: Reading and Writing Files </a:t>
            </a:r>
            <a:endParaRPr/>
          </a:p>
        </p:txBody>
      </p:sp>
      <p:sp>
        <p:nvSpPr>
          <p:cNvPr id="85" name="Google Shape;85;p5"/>
          <p:cNvSpPr txBox="1"/>
          <p:nvPr>
            <p:ph idx="1" type="body"/>
          </p:nvPr>
        </p:nvSpPr>
        <p:spPr>
          <a:xfrm>
            <a:off x="214313" y="64135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An Example of reading and writing ‘foo’ file.</a:t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The result of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strace</a:t>
            </a:r>
            <a:r>
              <a:rPr lang="en-US"/>
              <a:t> to figure out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r>
              <a:rPr lang="en-US"/>
              <a:t> is doing.</a:t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open()</a:t>
            </a:r>
            <a:r>
              <a:rPr lang="en-US"/>
              <a:t>: open file for reading with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O_RDOLY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O_LARGEFILE</a:t>
            </a:r>
            <a:r>
              <a:rPr lang="en-US"/>
              <a:t> flags.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🞆"/>
            </a:pPr>
            <a:r>
              <a:rPr lang="en-US"/>
              <a:t>returns file descriptor 3 ( 0,1,2, is for standard input/output/error)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read()</a:t>
            </a:r>
            <a:r>
              <a:rPr lang="en-US"/>
              <a:t>: read bytes from the file.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write()</a:t>
            </a:r>
            <a:r>
              <a:rPr lang="en-US"/>
              <a:t>:  write buffer to standard output.</a:t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87" name="Google Shape;87;p5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1017124" y="1268760"/>
            <a:ext cx="7071652" cy="95410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prompt&gt; </a:t>
            </a:r>
            <a:r>
              <a:rPr lang="en-US" sz="1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hello &gt; foo  </a:t>
            </a: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//save the output to the file foo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prompt&gt; </a:t>
            </a:r>
            <a:r>
              <a:rPr lang="en-US" sz="1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foo          </a:t>
            </a: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//dump the contents to the screen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prompt&gt;</a:t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828714" y="2852936"/>
            <a:ext cx="7647716" cy="224676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prompt&gt; stace cat foo   //strace to figure out what cat is doing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open(“foo”, O_RDONLY|O_LARGEFILE)  = 3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read(3, “hello\n”, 4096)   	= 6 </a:t>
            </a: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/*the number of bytes to read*/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write(1, “hello\n”, 6)		= 6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hello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read(3, “hello\n”, 4096)     	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write(1, “hello\n”, 6)		= 0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prompt&gt;</a:t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890067" y="3154909"/>
            <a:ext cx="5631492" cy="1656184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52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>
    <p:zoom dir="out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and Writing Files (Cont.)</a:t>
            </a:r>
            <a:endParaRPr/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429890" y="856685"/>
            <a:ext cx="8246119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040"/>
              <a:buChar char="🞐"/>
            </a:pPr>
            <a:r>
              <a:rPr lang="en-US" sz="1600"/>
              <a:t>OFFSET</a:t>
            </a:r>
            <a:endParaRPr/>
          </a:p>
          <a:p>
            <a:pPr indent="-276860" lvl="0" marL="3429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1040"/>
              <a:buNone/>
            </a:pPr>
            <a:r>
              <a:t/>
            </a:r>
            <a:endParaRPr sz="1600"/>
          </a:p>
          <a:p>
            <a:pPr indent="-276860" lvl="0" marL="3429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1040"/>
              <a:buNone/>
            </a:pPr>
            <a:r>
              <a:t/>
            </a:r>
            <a:endParaRPr sz="1600"/>
          </a:p>
          <a:p>
            <a:pPr indent="-2857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Char char="⬥"/>
            </a:pPr>
            <a:r>
              <a:rPr lang="en-US" sz="1400"/>
              <a:t>The position of the file where we start read and write.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Char char="⬥"/>
            </a:pPr>
            <a:r>
              <a:rPr lang="en-US" sz="1400"/>
              <a:t>When a file is open, “an offset” is allocated.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Char char="⬥"/>
            </a:pPr>
            <a:r>
              <a:rPr lang="en-US" sz="1400"/>
              <a:t>Updated after read/write</a:t>
            </a:r>
            <a:endParaRPr sz="1400"/>
          </a:p>
          <a:p>
            <a:pPr indent="-342900" lvl="0" marL="3429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002060"/>
              </a:buClr>
              <a:buSzPts val="1040"/>
              <a:buChar char="🞐"/>
            </a:pPr>
            <a:r>
              <a:rPr lang="en-US" sz="1600"/>
              <a:t>How to read or write to a specific offset within a file ?</a:t>
            </a:r>
            <a:endParaRPr sz="1600"/>
          </a:p>
          <a:p>
            <a:pPr indent="-1968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1968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285750" lvl="1" marL="7429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Char char="⬥"/>
            </a:pPr>
            <a:r>
              <a:rPr lang="en-US" sz="1400"/>
              <a:t>Third argument is how the seek is performed.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780"/>
              <a:buChar char="🞆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SEEK_SET</a:t>
            </a:r>
            <a:r>
              <a:rPr lang="en-US" sz="1200"/>
              <a:t> : to offset bytes.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780"/>
              <a:buChar char="🞆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SEEK_CUR</a:t>
            </a:r>
            <a:r>
              <a:rPr lang="en-US" sz="1200"/>
              <a:t>: to its current location plus offset bytes.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780"/>
              <a:buChar char="🞆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SEEK_END</a:t>
            </a:r>
            <a:r>
              <a:rPr lang="en-US" sz="1200"/>
              <a:t>: to the size of the file plus offset bytes.</a:t>
            </a:r>
            <a:endParaRPr/>
          </a:p>
          <a:p>
            <a:pPr indent="-179069" lvl="2" marL="1143000" rtl="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SzPts val="780"/>
              <a:buNone/>
            </a:pPr>
            <a:r>
              <a:t/>
            </a:r>
            <a:endParaRPr sz="1200"/>
          </a:p>
        </p:txBody>
      </p:sp>
      <p:sp>
        <p:nvSpPr>
          <p:cNvPr id="97" name="Google Shape;97;p6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98" name="Google Shape;98;p6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1147618" y="3645783"/>
            <a:ext cx="6920202" cy="50405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off_t 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lseek(</a:t>
            </a:r>
            <a:r>
              <a:rPr lang="en-US" sz="1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fd, </a:t>
            </a:r>
            <a:r>
              <a:rPr lang="en-US" sz="1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off_t 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offset /*location */, </a:t>
            </a:r>
            <a:r>
              <a:rPr lang="en-US" sz="1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whence);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99592" y="1443773"/>
            <a:ext cx="6736180" cy="2880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2520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1" name="Google Shape;101;p6"/>
          <p:cNvCxnSpPr/>
          <p:nvPr/>
        </p:nvCxnSpPr>
        <p:spPr>
          <a:xfrm rot="10800000">
            <a:off x="3033713" y="1772816"/>
            <a:ext cx="0" cy="2880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6"/>
          <p:cNvSpPr txBox="1"/>
          <p:nvPr/>
        </p:nvSpPr>
        <p:spPr>
          <a:xfrm>
            <a:off x="1667532" y="1922348"/>
            <a:ext cx="5982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offset</a:t>
            </a:r>
            <a:endParaRPr sz="1200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cxnSp>
        <p:nvCxnSpPr>
          <p:cNvPr id="103" name="Google Shape;103;p6"/>
          <p:cNvCxnSpPr/>
          <p:nvPr/>
        </p:nvCxnSpPr>
        <p:spPr>
          <a:xfrm>
            <a:off x="899592" y="1731805"/>
            <a:ext cx="0" cy="46090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6"/>
          <p:cNvCxnSpPr/>
          <p:nvPr/>
        </p:nvCxnSpPr>
        <p:spPr>
          <a:xfrm>
            <a:off x="899592" y="1962257"/>
            <a:ext cx="2134121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ransition>
    <p:zoom dir="out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abstractions</a:t>
            </a:r>
            <a:endParaRPr/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824082" y="1079842"/>
            <a:ext cx="2520280" cy="26255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1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struct file {</a:t>
            </a:r>
            <a:endParaRPr/>
          </a:p>
          <a:p>
            <a:pPr indent="0" lvl="1" marL="4000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int ref;</a:t>
            </a:r>
            <a:endParaRPr/>
          </a:p>
          <a:p>
            <a:pPr indent="0" lvl="1" marL="4000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char readable;</a:t>
            </a:r>
            <a:endParaRPr/>
          </a:p>
          <a:p>
            <a:pPr indent="0" lvl="1" marL="4000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char writable;</a:t>
            </a:r>
            <a:endParaRPr/>
          </a:p>
          <a:p>
            <a:pPr indent="0" lvl="1" marL="4000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struct inode *ip;</a:t>
            </a:r>
            <a:endParaRPr/>
          </a:p>
          <a:p>
            <a:pPr indent="0" lvl="1" marL="40005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uint off;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>
              <a:solidFill>
                <a:srgbClr val="0F243E"/>
              </a:solidFill>
            </a:endParaRPr>
          </a:p>
        </p:txBody>
      </p:sp>
      <p:sp>
        <p:nvSpPr>
          <p:cNvPr id="112" name="Google Shape;112;p7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4359901" y="1515039"/>
            <a:ext cx="4069655" cy="17795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910"/>
              <a:buFont typeface="Noto Sans Symbols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{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002060"/>
              </a:buClr>
              <a:buSzPts val="910"/>
              <a:buFont typeface="Noto Sans Symbols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struct spinlock lock;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002060"/>
              </a:buClr>
              <a:buSzPts val="910"/>
              <a:buFont typeface="Noto Sans Symbols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struct file file[NFILE];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002060"/>
              </a:buClr>
              <a:buSzPts val="910"/>
              <a:buFont typeface="Noto Sans Symbols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ftable;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002060"/>
              </a:buClr>
              <a:buSzPts val="910"/>
              <a:buFont typeface="Noto Sans Symbols"/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002060"/>
              </a:buClr>
              <a:buSzPts val="910"/>
              <a:buFont typeface="Noto Sans Symbols"/>
              <a:buNone/>
            </a:pPr>
            <a:r>
              <a:t/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4222" y="4077072"/>
            <a:ext cx="5875107" cy="2052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 dir="out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Sample traces</a:t>
            </a:r>
            <a:endParaRPr/>
          </a:p>
        </p:txBody>
      </p:sp>
      <p:pic>
        <p:nvPicPr>
          <p:cNvPr id="120" name="Google Shape;120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664" y="1124744"/>
            <a:ext cx="6566288" cy="223224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>
              <a:solidFill>
                <a:srgbClr val="0F243E"/>
              </a:solidFill>
            </a:endParaRPr>
          </a:p>
        </p:txBody>
      </p:sp>
      <p:sp>
        <p:nvSpPr>
          <p:cNvPr id="122" name="Google Shape;122;p8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23" name="Google Shape;12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9752" y="4093069"/>
            <a:ext cx="5366156" cy="159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 dir="out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fork()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dup()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9" name="Google Shape;129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728" y="1124744"/>
            <a:ext cx="4107476" cy="348205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>
              <a:solidFill>
                <a:srgbClr val="0F243E"/>
              </a:solidFill>
            </a:endParaRPr>
          </a:p>
        </p:txBody>
      </p:sp>
      <p:sp>
        <p:nvSpPr>
          <p:cNvPr id="131" name="Google Shape;131;p9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429890" y="749017"/>
            <a:ext cx="8246119" cy="556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040"/>
              <a:buFont typeface="Noto Sans Symbols"/>
              <a:buChar char="🞐"/>
            </a:pPr>
            <a:r>
              <a:rPr b="0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Child process inherits the file descriptor table of the parent.</a:t>
            </a:r>
            <a:endParaRPr b="0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11560" y="4606802"/>
            <a:ext cx="8246119" cy="556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040"/>
              <a:buFont typeface="Noto Sans Symbols"/>
              <a:buChar char="🞐"/>
            </a:pPr>
            <a:r>
              <a:rPr b="0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Duplicating a file descriptor</a:t>
            </a:r>
            <a:endParaRPr b="0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4" name="Google Shape;1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4766" y="5017454"/>
            <a:ext cx="5105400" cy="13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 dir="out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fsync()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214313" y="659421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Persistency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write()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/>
              <a:t>write data to the buffer. Later, save it to the storage.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/>
              <a:t>some applications require more than eventual guarantee. Ex) DBMS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fsync()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/>
              <a:t>the writes are forced immediately to disk. </a:t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An Example of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fsync()</a:t>
            </a:r>
            <a:r>
              <a:rPr lang="en-US"/>
              <a:t>. </a:t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/>
              <a:t>If a file is created, it needs to be durably a part of the directory. 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040"/>
              <a:buChar char="🞆"/>
            </a:pPr>
            <a:r>
              <a:rPr lang="en-US"/>
              <a:t>Above code requires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fsync() </a:t>
            </a:r>
            <a:r>
              <a:rPr lang="en-US"/>
              <a:t>to directory also.</a:t>
            </a:r>
            <a:endParaRPr/>
          </a:p>
          <a:p>
            <a:pPr indent="-1714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142" name="Google Shape;142;p10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611560" y="2978368"/>
            <a:ext cx="7935748" cy="50405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off_t 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fsync(</a:t>
            </a:r>
            <a:r>
              <a:rPr lang="en-US" sz="1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fd </a:t>
            </a: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/*for the file referred to by the specified file*/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683568" y="4490536"/>
            <a:ext cx="7128792" cy="73866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1400">
                <a:solidFill>
                  <a:srgbClr val="00B050"/>
                </a:solidFill>
                <a:latin typeface="Courier"/>
                <a:ea typeface="Courier"/>
                <a:cs typeface="Courier"/>
                <a:sym typeface="Courier"/>
              </a:rPr>
              <a:t>int </a:t>
            </a: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fd = open("foo", O_CREAT | O_WRONLY | O_TRUNC);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1400">
                <a:solidFill>
                  <a:srgbClr val="00B050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rc = write(fd, buffer, size);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rc = fsync(fd);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ransition>
    <p:zoom dir="out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Renaming Files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214313" y="803866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rename()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800"/>
              <a:t>rename a file to different name.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It implemented as an atomic call.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Ex) change from foo to bar</a:t>
            </a:r>
            <a:endParaRPr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/>
              <a:t>Saving a file in an editor</a:t>
            </a:r>
            <a:endParaRPr sz="1800"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</p:txBody>
      </p:sp>
      <p:sp>
        <p:nvSpPr>
          <p:cNvPr id="151" name="Google Shape;151;p11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152" name="Google Shape;152;p11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3" name="Google Shape;153;p11"/>
          <p:cNvSpPr txBox="1"/>
          <p:nvPr/>
        </p:nvSpPr>
        <p:spPr>
          <a:xfrm>
            <a:off x="683568" y="2420888"/>
            <a:ext cx="7776864" cy="50405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promt &gt; mv foo bar</a:t>
            </a:r>
            <a:endParaRPr/>
          </a:p>
        </p:txBody>
      </p:sp>
      <p:sp>
        <p:nvSpPr>
          <p:cNvPr id="154" name="Google Shape;154;p11"/>
          <p:cNvSpPr txBox="1"/>
          <p:nvPr/>
        </p:nvSpPr>
        <p:spPr>
          <a:xfrm>
            <a:off x="683568" y="3607998"/>
            <a:ext cx="7776864" cy="190154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AutoNum type="arabicPlain"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fd = open("foo.txt.tmp", O_WRONLY|O_CREAT|O_TRUNC);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AutoNum type="arabicPlain"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write(fd, buffer, size); // write out new version of file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AutoNum type="arabicPlain"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fsync(fd);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AutoNum type="arabicPlain"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close(fd);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AutoNum type="arabicPlain"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rename("foo.txt.tmp", "foo.txt");</a:t>
            </a:r>
            <a:endParaRPr/>
          </a:p>
        </p:txBody>
      </p:sp>
    </p:spTree>
  </p:cSld>
  <p:clrMapOvr>
    <a:masterClrMapping/>
  </p:clrMapOvr>
  <p:transition>
    <p:zoom dir="out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Getting Information About Files</a:t>
            </a:r>
            <a:endParaRPr/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214313" y="88007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stat()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/>
              <a:t>Show the File metadata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/>
              <a:t>metadata is information about each file, ex: size, permission, ..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en-US"/>
              <a:t> structure is below:</a:t>
            </a:r>
            <a:endParaRPr/>
          </a:p>
        </p:txBody>
      </p:sp>
      <p:sp>
        <p:nvSpPr>
          <p:cNvPr id="161" name="Google Shape;161;p12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162" name="Google Shape;162;p12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683568" y="2553285"/>
            <a:ext cx="7776864" cy="33239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-US" sz="1400">
                <a:solidFill>
                  <a:srgbClr val="00B050"/>
                </a:solidFill>
                <a:latin typeface="Courier"/>
                <a:ea typeface="Courier"/>
                <a:cs typeface="Courier"/>
                <a:sym typeface="Courier"/>
              </a:rPr>
              <a:t>struct </a:t>
            </a: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stat {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dev_t st_dev;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ID of device containing file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ino_t st_ino;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inode number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mode_t st_mode;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protection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nlink_t st_nlink;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number of hard links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uid_t st_uid;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user ID of owner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gid_t st_gid;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group ID of owner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dev_t st_rdev;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device ID (if special file)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off_t st_size;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total size, in bytes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blksize_t st_blksize;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blocksize for filesystem I/O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blkcnt_t st_blocks;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number of blocks allocated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time_t st_atime;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time of last access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time_t st_mtime;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time of last modification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time_t st_ctime;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time of last status change */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};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ransition>
    <p:zoom dir="out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Getting Information About Files (Cont.)</a:t>
            </a:r>
            <a:endParaRPr/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214313" y="88007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An example of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stat()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/>
              <a:t>All information is in a inode</a:t>
            </a:r>
            <a:endParaRPr/>
          </a:p>
        </p:txBody>
      </p:sp>
      <p:sp>
        <p:nvSpPr>
          <p:cNvPr id="170" name="Google Shape;170;p13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171" name="Google Shape;171;p13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683568" y="1916832"/>
            <a:ext cx="7776864" cy="246221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echo hello &gt;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stat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File: ‘file’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Size: 6 Blocks: 8 IO Block: 4096 regular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Device: 811h/2065d Inode: 67158084 Links: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Access: (0640/-rw-r-----) Uid: (30686/ root) Gid: (30686/ remzi)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Access: 2011-05-03 15:50:20.157594748 -0500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Modify: 2011-05-03 15:50:20.157594748 -0500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Change: 2011-05-03 15:50:20.157594748 -0500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740708" y="2500323"/>
            <a:ext cx="7143660" cy="1656184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52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>
    <p:zoom dir="out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Removing Files</a:t>
            </a:r>
            <a:endParaRPr/>
          </a:p>
        </p:txBody>
      </p:sp>
      <p:sp>
        <p:nvSpPr>
          <p:cNvPr id="179" name="Google Shape;179;p14"/>
          <p:cNvSpPr txBox="1"/>
          <p:nvPr>
            <p:ph idx="1" type="body"/>
          </p:nvPr>
        </p:nvSpPr>
        <p:spPr>
          <a:xfrm>
            <a:off x="214313" y="88007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The result of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strace</a:t>
            </a:r>
            <a:r>
              <a:rPr lang="en-US"/>
              <a:t> to figure out what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rm</a:t>
            </a:r>
            <a:r>
              <a:rPr lang="en-US"/>
              <a:t> is doing.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rm</a:t>
            </a:r>
            <a:r>
              <a:rPr lang="en-US"/>
              <a:t> is Linux command to remove a file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rm</a:t>
            </a:r>
            <a:r>
              <a:rPr lang="en-US"/>
              <a:t> calls </a:t>
            </a: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unlink()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/>
              <a:t>to remove a file.</a:t>
            </a:r>
            <a:endParaRPr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14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181" name="Google Shape;181;p14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683568" y="2475473"/>
            <a:ext cx="7776864" cy="11695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strace rm foo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...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unlink(“foo”)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...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740708" y="2878982"/>
            <a:ext cx="2031092" cy="297879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52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>
    <p:zoom dir="out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Making Directories</a:t>
            </a:r>
            <a:endParaRPr/>
          </a:p>
        </p:txBody>
      </p:sp>
      <p:sp>
        <p:nvSpPr>
          <p:cNvPr id="189" name="Google Shape;189;p15"/>
          <p:cNvSpPr txBox="1"/>
          <p:nvPr>
            <p:ph idx="1" type="body"/>
          </p:nvPr>
        </p:nvSpPr>
        <p:spPr>
          <a:xfrm>
            <a:off x="214313" y="88007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mkdir()</a:t>
            </a:r>
            <a:r>
              <a:rPr lang="en-US"/>
              <a:t>: Make a directory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/>
              <a:t>When a directory is created, it is </a:t>
            </a:r>
            <a:r>
              <a:rPr lang="en-US">
                <a:solidFill>
                  <a:schemeClr val="accent1"/>
                </a:solidFill>
              </a:rPr>
              <a:t>empty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/>
              <a:t>Empty directory have two entries: </a:t>
            </a:r>
            <a:r>
              <a:rPr lang="en-US">
                <a:solidFill>
                  <a:schemeClr val="accent6"/>
                </a:solidFill>
              </a:rPr>
              <a:t>. </a:t>
            </a:r>
            <a:r>
              <a:rPr lang="en-US"/>
              <a:t>(itself), </a:t>
            </a:r>
            <a:r>
              <a:rPr lang="en-US">
                <a:solidFill>
                  <a:schemeClr val="accent6"/>
                </a:solidFill>
              </a:rPr>
              <a:t>..</a:t>
            </a:r>
            <a:r>
              <a:rPr lang="en-US"/>
              <a:t>(parent)</a:t>
            </a:r>
            <a:br>
              <a:rPr lang="en-US"/>
            </a:br>
            <a:endParaRPr/>
          </a:p>
        </p:txBody>
      </p:sp>
      <p:sp>
        <p:nvSpPr>
          <p:cNvPr id="190" name="Google Shape;190;p15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191" name="Google Shape;191;p15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755576" y="4725144"/>
            <a:ext cx="7776864" cy="95410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prompt&gt; ls -al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total 8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drwxr-x--- 2 roo root 6 Apr 30 16:17 ./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drwxr-x--- 26 root root 4096 Apr 30 16:17 ../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12716" y="5212553"/>
            <a:ext cx="5487476" cy="44247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52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4" name="Google Shape;1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396" y="2852936"/>
            <a:ext cx="5699107" cy="1338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 dir="out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Directories </a:t>
            </a:r>
            <a:endParaRPr/>
          </a:p>
        </p:txBody>
      </p:sp>
      <p:sp>
        <p:nvSpPr>
          <p:cNvPr id="200" name="Google Shape;200;p16"/>
          <p:cNvSpPr txBox="1"/>
          <p:nvPr>
            <p:ph idx="1" type="body"/>
          </p:nvPr>
        </p:nvSpPr>
        <p:spPr>
          <a:xfrm>
            <a:off x="214313" y="690513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readdir()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Directory is a file, but with a specific structure.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When reading a directory, we use specific system call other than read().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A sample code to read directory entries.</a:t>
            </a:r>
            <a:endParaRPr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</p:txBody>
      </p:sp>
      <p:sp>
        <p:nvSpPr>
          <p:cNvPr id="201" name="Google Shape;201;p16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202" name="Google Shape;202;p16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723851" y="2780928"/>
            <a:ext cx="7776864" cy="329705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main(int argc, char *argv[]) {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DIR *dp = </a:t>
            </a:r>
            <a:r>
              <a:rPr lang="en-US" sz="14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opendir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("."); </a:t>
            </a: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/* open current directory */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assert(dp != NULL);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struct dirent *d;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((d = </a:t>
            </a:r>
            <a:r>
              <a:rPr lang="en-US" sz="14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readdir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(dp)) != NULL) { </a:t>
            </a: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/* read one directory entry */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printf("%d %s\n", (int) d-&gt;d_ino, d-&gt;d_name);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closedir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(dp); </a:t>
            </a: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/*close current directory */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0;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lain"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/>
          </a:p>
        </p:txBody>
      </p:sp>
    </p:spTree>
  </p:cSld>
  <p:clrMapOvr>
    <a:masterClrMapping/>
  </p:clrMapOvr>
  <p:transition>
    <p:zoom dir="out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Directories </a:t>
            </a:r>
            <a:endParaRPr/>
          </a:p>
        </p:txBody>
      </p:sp>
      <p:sp>
        <p:nvSpPr>
          <p:cNvPr id="209" name="Google Shape;209;p17"/>
          <p:cNvSpPr txBox="1"/>
          <p:nvPr>
            <p:ph idx="1" type="body"/>
          </p:nvPr>
        </p:nvSpPr>
        <p:spPr>
          <a:xfrm>
            <a:off x="214313" y="690513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Structure of the directory entry</a:t>
            </a:r>
            <a:endParaRPr/>
          </a:p>
          <a:p>
            <a:pPr indent="0" lvl="1" marL="4000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struct dirent {</a:t>
            </a:r>
            <a:endParaRPr/>
          </a:p>
          <a:p>
            <a:pPr indent="0" lvl="2" marL="8001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char d_name[256]; /* filename */</a:t>
            </a:r>
            <a:endParaRPr/>
          </a:p>
          <a:p>
            <a:pPr indent="0" lvl="2" marL="8001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ino_t d_ino; /* inode number */</a:t>
            </a:r>
            <a:endParaRPr/>
          </a:p>
          <a:p>
            <a:pPr indent="0" lvl="2" marL="8001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off_t d_off; /* offset to the next dirent */</a:t>
            </a:r>
            <a:endParaRPr/>
          </a:p>
          <a:p>
            <a:pPr indent="0" lvl="2" marL="8001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unsigned short d_reclen; /* length of this record */</a:t>
            </a:r>
            <a:endParaRPr/>
          </a:p>
          <a:p>
            <a:pPr indent="0" lvl="2" marL="8001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unsigned char d_type; /* type of file */</a:t>
            </a:r>
            <a:endParaRPr/>
          </a:p>
          <a:p>
            <a:pPr indent="0" lvl="1" marL="4000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</p:txBody>
      </p:sp>
      <p:sp>
        <p:nvSpPr>
          <p:cNvPr id="210" name="Google Shape;210;p17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211" name="Google Shape;211;p17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zoom dir="out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Deleting Directories</a:t>
            </a:r>
            <a:endParaRPr/>
          </a:p>
        </p:txBody>
      </p:sp>
      <p:sp>
        <p:nvSpPr>
          <p:cNvPr id="217" name="Google Shape;217;p18"/>
          <p:cNvSpPr txBox="1"/>
          <p:nvPr>
            <p:ph idx="1" type="body"/>
          </p:nvPr>
        </p:nvSpPr>
        <p:spPr>
          <a:xfrm>
            <a:off x="214313" y="88007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rmdir()</a:t>
            </a:r>
            <a:r>
              <a:rPr lang="en-US"/>
              <a:t>: Delete a directory.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rmdir()</a:t>
            </a:r>
            <a:r>
              <a:rPr lang="en-US">
                <a:solidFill>
                  <a:schemeClr val="accent1"/>
                </a:solidFill>
              </a:rPr>
              <a:t>requires directory be empty</a:t>
            </a:r>
            <a:r>
              <a:rPr lang="en-US"/>
              <a:t> before it deleted.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/>
              <a:t>If you call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rmdir()</a:t>
            </a:r>
            <a:r>
              <a:rPr lang="en-US"/>
              <a:t>to a non-empty directory, it will fail.</a:t>
            </a:r>
            <a:endParaRPr/>
          </a:p>
          <a:p>
            <a:pPr indent="-26035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219" name="Google Shape;219;p18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zoom dir="out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 Links</a:t>
            </a:r>
            <a:endParaRPr/>
          </a:p>
        </p:txBody>
      </p:sp>
      <p:sp>
        <p:nvSpPr>
          <p:cNvPr id="225" name="Google Shape;225;p19"/>
          <p:cNvSpPr txBox="1"/>
          <p:nvPr>
            <p:ph idx="1" type="body"/>
          </p:nvPr>
        </p:nvSpPr>
        <p:spPr>
          <a:xfrm>
            <a:off x="214313" y="88007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link()</a:t>
            </a:r>
            <a:r>
              <a:rPr lang="en-US"/>
              <a:t>: Link old file and a new file.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/>
              <a:t>Create hard link named file2.</a:t>
            </a:r>
            <a:endParaRPr/>
          </a:p>
          <a:p>
            <a:pPr indent="-1714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714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714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714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The result of </a:t>
            </a:r>
            <a:r>
              <a:rPr lang="en-US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link()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/>
              <a:t>Two files have same inode number, but two human name(file, file2)</a:t>
            </a:r>
            <a:endParaRPr/>
          </a:p>
        </p:txBody>
      </p:sp>
      <p:sp>
        <p:nvSpPr>
          <p:cNvPr id="226" name="Google Shape;226;p19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227" name="Google Shape;227;p19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683568" y="1988840"/>
            <a:ext cx="7776864" cy="13849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echo hello &gt;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cat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hello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ln file file2 /* create a hard link, link file to file2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cat file2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hello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83568" y="4866818"/>
            <a:ext cx="7776864" cy="115447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ls -i file file2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67158084 file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inode value is 67158084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67158084 file2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inode value is 67158084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</a:t>
            </a:r>
            <a:endParaRPr/>
          </a:p>
        </p:txBody>
      </p:sp>
    </p:spTree>
  </p:cSld>
  <p:clrMapOvr>
    <a:masterClrMapping/>
  </p:clrMapOvr>
  <p:transition>
    <p:zoom dir="out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Hard Links (Cont.)</a:t>
            </a:r>
            <a:endParaRPr/>
          </a:p>
        </p:txBody>
      </p:sp>
      <p:sp>
        <p:nvSpPr>
          <p:cNvPr id="235" name="Google Shape;235;p20"/>
          <p:cNvSpPr txBox="1"/>
          <p:nvPr>
            <p:ph idx="1" type="body"/>
          </p:nvPr>
        </p:nvSpPr>
        <p:spPr>
          <a:xfrm>
            <a:off x="214313" y="856685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/>
              <a:t>How to create hard link file?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b="1" lang="en-US" sz="1600"/>
              <a:t>Step1.</a:t>
            </a:r>
            <a:r>
              <a:rPr lang="en-US" sz="1600"/>
              <a:t> Make an </a:t>
            </a:r>
            <a:r>
              <a:rPr lang="en-US" sz="1600">
                <a:solidFill>
                  <a:schemeClr val="accent6"/>
                </a:solidFill>
              </a:rPr>
              <a:t>inode</a:t>
            </a:r>
            <a:r>
              <a:rPr lang="en-US" sz="1600"/>
              <a:t>, track all information about the file.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b="1" lang="en-US" sz="1600"/>
              <a:t>Step2.</a:t>
            </a:r>
            <a:r>
              <a:rPr lang="en-US" sz="1600"/>
              <a:t> </a:t>
            </a:r>
            <a:r>
              <a:rPr lang="en-US" sz="1600">
                <a:solidFill>
                  <a:schemeClr val="accent1"/>
                </a:solidFill>
              </a:rPr>
              <a:t>Link</a:t>
            </a:r>
            <a:r>
              <a:rPr lang="en-US" sz="1600"/>
              <a:t> a human-readable name to file.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b="1" lang="en-US" sz="1600"/>
              <a:t>Step3.</a:t>
            </a:r>
            <a:r>
              <a:rPr lang="en-US" sz="1600"/>
              <a:t> Put link file into a current directory.</a:t>
            </a:r>
            <a:endParaRPr/>
          </a:p>
          <a:p>
            <a:pPr indent="-1841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/>
              <a:t>After creating a hard link to file, old and new files have no difference.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/>
              <a:t>Thus, to remove a file, we call </a:t>
            </a:r>
            <a:r>
              <a:rPr lang="en-US" sz="1800">
                <a:solidFill>
                  <a:srgbClr val="E36C09"/>
                </a:solidFill>
                <a:latin typeface="Courier New"/>
                <a:ea typeface="Courier New"/>
                <a:cs typeface="Courier New"/>
                <a:sym typeface="Courier New"/>
              </a:rPr>
              <a:t>unlink()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" name="Google Shape;236;p20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237" name="Google Shape;237;p20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zoom dir="out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unlink Hard Links</a:t>
            </a:r>
            <a:endParaRPr/>
          </a:p>
        </p:txBody>
      </p:sp>
      <p:sp>
        <p:nvSpPr>
          <p:cNvPr id="243" name="Google Shape;243;p21"/>
          <p:cNvSpPr txBox="1"/>
          <p:nvPr>
            <p:ph idx="1" type="body"/>
          </p:nvPr>
        </p:nvSpPr>
        <p:spPr>
          <a:xfrm>
            <a:off x="214313" y="88007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What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unlink()</a:t>
            </a:r>
            <a:r>
              <a:rPr lang="en-US"/>
              <a:t> is doing ?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>
                <a:solidFill>
                  <a:schemeClr val="accent1"/>
                </a:solidFill>
              </a:rPr>
              <a:t>Check reference count</a:t>
            </a:r>
            <a:r>
              <a:rPr lang="en-US"/>
              <a:t> within the inode number.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>
                <a:solidFill>
                  <a:schemeClr val="accent1"/>
                </a:solidFill>
              </a:rPr>
              <a:t>Remove</a:t>
            </a:r>
            <a:r>
              <a:rPr lang="en-US"/>
              <a:t> </a:t>
            </a:r>
            <a:r>
              <a:rPr lang="en-US">
                <a:solidFill>
                  <a:schemeClr val="accent1"/>
                </a:solidFill>
              </a:rPr>
              <a:t>link</a:t>
            </a:r>
            <a:r>
              <a:rPr lang="en-US"/>
              <a:t> between human-readable name and inode number.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</a:pPr>
            <a:r>
              <a:rPr lang="en-US">
                <a:solidFill>
                  <a:schemeClr val="accent1"/>
                </a:solidFill>
              </a:rPr>
              <a:t>Decrease reference count</a:t>
            </a:r>
            <a:r>
              <a:rPr lang="en-US"/>
              <a:t>.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040"/>
              <a:buChar char="🞆"/>
            </a:pPr>
            <a:r>
              <a:rPr lang="en-US"/>
              <a:t>When only it reaches zero, It delete a file (free the inode and related blocks)</a:t>
            </a:r>
            <a:endParaRPr/>
          </a:p>
          <a:p>
            <a:pPr indent="-1714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4" name="Google Shape;244;p21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245" name="Google Shape;245;p21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zoom dir="out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unlink Hard Links (Cont.)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214313" y="88007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The result of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unlink()</a:t>
            </a:r>
            <a:endParaRPr/>
          </a:p>
        </p:txBody>
      </p:sp>
      <p:sp>
        <p:nvSpPr>
          <p:cNvPr id="252" name="Google Shape;252;p22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253" name="Google Shape;253;p22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683568" y="1618922"/>
            <a:ext cx="7776864" cy="397031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echo hello &gt; file        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 /* create file*/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stat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... Inode: 67158084 Links: 1 ...  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Link count is 1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ln file file2             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hard link file2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stat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... Inode: 67158084 Links: 2 ...  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Link count is 2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stat file2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... Inode: 67158084 Links: 2 ...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    /* Link count is 2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ln file2 file3            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hard link file3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stat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... Inode: 67158084 Links: 3 ...  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Link count is 3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rm file                   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remove file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stat file2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... Inode: 67158084 Links: 2 ...  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Link count is 2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rm file2                  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remove file2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stat file3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... Inode: 67158084 Links: 1 ...  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Link count is 1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rm file3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ransition>
    <p:zoom dir="out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Symbolic Links</a:t>
            </a:r>
            <a:endParaRPr/>
          </a:p>
        </p:txBody>
      </p:sp>
      <p:sp>
        <p:nvSpPr>
          <p:cNvPr id="260" name="Google Shape;260;p23"/>
          <p:cNvSpPr txBox="1"/>
          <p:nvPr>
            <p:ph idx="1" type="body"/>
          </p:nvPr>
        </p:nvSpPr>
        <p:spPr>
          <a:xfrm>
            <a:off x="203447" y="692696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>
                <a:solidFill>
                  <a:schemeClr val="accent6"/>
                </a:solidFill>
              </a:rPr>
              <a:t>Symbolic link</a:t>
            </a:r>
            <a:endParaRPr sz="1800"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Special file that contains path to the source directory.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Hard Link cannot create to a directory.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Char char="⬥"/>
            </a:pPr>
            <a:r>
              <a:rPr lang="en-US" sz="1600"/>
              <a:t>Hard Link cannot create to a file to other partition.</a:t>
            </a:r>
            <a:endParaRPr sz="1600"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/>
              <a:t>An example of symbolic link</a:t>
            </a:r>
            <a:endParaRPr/>
          </a:p>
          <a:p>
            <a:pPr indent="-1841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261" name="Google Shape;261;p23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262" name="Google Shape;262;p23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708421" y="2966271"/>
            <a:ext cx="7776864" cy="95410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echo hello &gt;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ln –s file file2  </a:t>
            </a:r>
            <a:r>
              <a:rPr lang="en-US" sz="1400">
                <a:solidFill>
                  <a:srgbClr val="00B0F0"/>
                </a:solidFill>
                <a:latin typeface="Courier"/>
                <a:ea typeface="Courier"/>
                <a:cs typeface="Courier"/>
                <a:sym typeface="Courier"/>
              </a:rPr>
              <a:t>/* option –s : create a symbolic link,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cat file2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hello</a:t>
            </a:r>
            <a:endParaRPr/>
          </a:p>
        </p:txBody>
      </p:sp>
      <p:pic>
        <p:nvPicPr>
          <p:cNvPr id="264" name="Google Shape;2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776" y="4037479"/>
            <a:ext cx="3635896" cy="2350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zoom dir="out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Symbolic Links (Cont.)</a:t>
            </a:r>
            <a:endParaRPr/>
          </a:p>
        </p:txBody>
      </p:sp>
      <p:sp>
        <p:nvSpPr>
          <p:cNvPr id="270" name="Google Shape;270;p24"/>
          <p:cNvSpPr txBox="1"/>
          <p:nvPr>
            <p:ph idx="1" type="body"/>
          </p:nvPr>
        </p:nvSpPr>
        <p:spPr>
          <a:xfrm>
            <a:off x="214313" y="764704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/>
              <a:t>Symbolic link is different file type.</a:t>
            </a:r>
            <a:endParaRPr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  <a:p>
            <a:pPr indent="-268605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170"/>
              <a:buChar char="🞐"/>
            </a:pPr>
            <a:r>
              <a:rPr lang="en-US" sz="1800"/>
              <a:t>Symbolic link is subject to the dangling reference. </a:t>
            </a:r>
            <a:endParaRPr sz="1800"/>
          </a:p>
          <a:p>
            <a:pPr indent="-184150" lvl="1" marL="7429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271" name="Google Shape;271;p24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/>
          </a:p>
        </p:txBody>
      </p:sp>
      <p:sp>
        <p:nvSpPr>
          <p:cNvPr id="272" name="Google Shape;272;p24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898781" y="1338749"/>
            <a:ext cx="7920880" cy="11695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ls -al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d</a:t>
            </a: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rwxr-x--- 2 remzi remzi 29 May 3 19:10 ./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d</a:t>
            </a: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rwxr-x--- 27 remzi remzi 4096 May 3 15:14 ../       /* directory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-</a:t>
            </a: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rw-r----- 1 remzi remzi </a:t>
            </a:r>
            <a:r>
              <a:rPr lang="en-US" sz="14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6</a:t>
            </a: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May 3 19:10 file          /* regular file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l</a:t>
            </a: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rwxrwxrwx 1 remzi remzi </a:t>
            </a:r>
            <a:r>
              <a:rPr lang="en-US" sz="1400">
                <a:solidFill>
                  <a:schemeClr val="accent6"/>
                </a:solidFill>
                <a:latin typeface="Courier"/>
                <a:ea typeface="Courier"/>
                <a:cs typeface="Courier"/>
                <a:sym typeface="Courier"/>
              </a:rPr>
              <a:t>4</a:t>
            </a: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May 3 19:10 file2 -&gt; file /* symbolic link */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899592" y="3501008"/>
            <a:ext cx="7920880" cy="16004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echo hello &gt;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ln -s file file2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cat file2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hello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rm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prompt&gt; cat file2</a:t>
            </a:r>
            <a:endParaRPr sz="1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cat: file2: No such file or directory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947207" y="4783183"/>
            <a:ext cx="4128849" cy="241406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5200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>
    <p:zoom dir="out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"/>
          <p:cNvSpPr txBox="1"/>
          <p:nvPr>
            <p:ph type="title"/>
          </p:nvPr>
        </p:nvSpPr>
        <p:spPr>
          <a:xfrm>
            <a:off x="214313" y="55563"/>
            <a:ext cx="8786812" cy="58578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</a:t>
            </a:r>
            <a:endParaRPr/>
          </a:p>
        </p:txBody>
      </p:sp>
      <p:sp>
        <p:nvSpPr>
          <p:cNvPr id="281" name="Google Shape;281;p25"/>
          <p:cNvSpPr txBox="1"/>
          <p:nvPr>
            <p:ph idx="1" type="body"/>
          </p:nvPr>
        </p:nvSpPr>
        <p:spPr>
          <a:xfrm>
            <a:off x="214313" y="880070"/>
            <a:ext cx="8786812" cy="5501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Create file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read/write/lseek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mkdir/readdir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fsync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300"/>
              <a:buChar char="🞐"/>
            </a:pPr>
            <a:r>
              <a:rPr lang="en-US"/>
              <a:t>hardlink/softlink</a:t>
            </a:r>
            <a:endParaRPr/>
          </a:p>
        </p:txBody>
      </p:sp>
      <p:sp>
        <p:nvSpPr>
          <p:cNvPr id="282" name="Google Shape;282;p25"/>
          <p:cNvSpPr txBox="1"/>
          <p:nvPr>
            <p:ph idx="12" type="sldNum"/>
          </p:nvPr>
        </p:nvSpPr>
        <p:spPr>
          <a:xfrm>
            <a:off x="7964934" y="6592713"/>
            <a:ext cx="1071562" cy="22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F243E"/>
                </a:solidFill>
              </a:rPr>
              <a:t>‹#›</a:t>
            </a:fld>
            <a:r>
              <a:rPr lang="en-US">
                <a:solidFill>
                  <a:srgbClr val="0F243E"/>
                </a:solidFill>
              </a:rPr>
              <a:t> </a:t>
            </a:r>
            <a:endParaRPr>
              <a:solidFill>
                <a:srgbClr val="0F243E"/>
              </a:solidFill>
            </a:endParaRPr>
          </a:p>
        </p:txBody>
      </p:sp>
      <p:sp>
        <p:nvSpPr>
          <p:cNvPr id="283" name="Google Shape;283;p25"/>
          <p:cNvSpPr txBox="1"/>
          <p:nvPr>
            <p:ph idx="11" type="ftr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Youjip Won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zoom dir="out"/>
  </p:transition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양식_공청회_발표자료-총괄-양식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2011-05-01T06:09:10Z</dcterms:created>
  <dc:creator>유진수 (jedisty@hanyang.ac.kr)</dc:creator>
</cp:coreProperties>
</file>