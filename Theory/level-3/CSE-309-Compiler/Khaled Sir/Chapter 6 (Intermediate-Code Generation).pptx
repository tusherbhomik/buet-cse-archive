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44" r:id="rId1"/>
  </p:sldMasterIdLst>
  <p:notesMasterIdLst>
    <p:notesMasterId r:id="rId121"/>
  </p:notesMasterIdLst>
  <p:sldIdLst>
    <p:sldId id="256" r:id="rId2"/>
    <p:sldId id="257" r:id="rId3"/>
    <p:sldId id="366" r:id="rId4"/>
    <p:sldId id="258" r:id="rId5"/>
    <p:sldId id="259" r:id="rId6"/>
    <p:sldId id="260" r:id="rId7"/>
    <p:sldId id="336" r:id="rId8"/>
    <p:sldId id="261" r:id="rId9"/>
    <p:sldId id="367" r:id="rId10"/>
    <p:sldId id="262" r:id="rId11"/>
    <p:sldId id="264" r:id="rId12"/>
    <p:sldId id="263" r:id="rId13"/>
    <p:sldId id="265" r:id="rId14"/>
    <p:sldId id="266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65" r:id="rId29"/>
    <p:sldId id="282" r:id="rId30"/>
    <p:sldId id="283" r:id="rId31"/>
    <p:sldId id="284" r:id="rId32"/>
    <p:sldId id="285" r:id="rId33"/>
    <p:sldId id="287" r:id="rId34"/>
    <p:sldId id="286" r:id="rId35"/>
    <p:sldId id="368" r:id="rId36"/>
    <p:sldId id="290" r:id="rId37"/>
    <p:sldId id="337" r:id="rId38"/>
    <p:sldId id="343" r:id="rId39"/>
    <p:sldId id="338" r:id="rId40"/>
    <p:sldId id="339" r:id="rId41"/>
    <p:sldId id="340" r:id="rId42"/>
    <p:sldId id="341" r:id="rId43"/>
    <p:sldId id="342" r:id="rId44"/>
    <p:sldId id="369" r:id="rId45"/>
    <p:sldId id="371" r:id="rId46"/>
    <p:sldId id="373" r:id="rId47"/>
    <p:sldId id="372" r:id="rId48"/>
    <p:sldId id="346" r:id="rId49"/>
    <p:sldId id="347" r:id="rId50"/>
    <p:sldId id="328" r:id="rId51"/>
    <p:sldId id="329" r:id="rId52"/>
    <p:sldId id="291" r:id="rId53"/>
    <p:sldId id="294" r:id="rId54"/>
    <p:sldId id="297" r:id="rId55"/>
    <p:sldId id="374" r:id="rId56"/>
    <p:sldId id="375" r:id="rId57"/>
    <p:sldId id="376" r:id="rId58"/>
    <p:sldId id="377" r:id="rId59"/>
    <p:sldId id="378" r:id="rId60"/>
    <p:sldId id="379" r:id="rId61"/>
    <p:sldId id="293" r:id="rId62"/>
    <p:sldId id="296" r:id="rId63"/>
    <p:sldId id="348" r:id="rId64"/>
    <p:sldId id="349" r:id="rId65"/>
    <p:sldId id="350" r:id="rId66"/>
    <p:sldId id="380" r:id="rId67"/>
    <p:sldId id="382" r:id="rId68"/>
    <p:sldId id="383" r:id="rId69"/>
    <p:sldId id="384" r:id="rId70"/>
    <p:sldId id="351" r:id="rId71"/>
    <p:sldId id="352" r:id="rId72"/>
    <p:sldId id="298" r:id="rId73"/>
    <p:sldId id="301" r:id="rId74"/>
    <p:sldId id="302" r:id="rId75"/>
    <p:sldId id="299" r:id="rId76"/>
    <p:sldId id="300" r:id="rId77"/>
    <p:sldId id="303" r:id="rId78"/>
    <p:sldId id="308" r:id="rId79"/>
    <p:sldId id="310" r:id="rId80"/>
    <p:sldId id="309" r:id="rId81"/>
    <p:sldId id="305" r:id="rId82"/>
    <p:sldId id="311" r:id="rId83"/>
    <p:sldId id="312" r:id="rId84"/>
    <p:sldId id="314" r:id="rId85"/>
    <p:sldId id="315" r:id="rId86"/>
    <p:sldId id="318" r:id="rId87"/>
    <p:sldId id="389" r:id="rId88"/>
    <p:sldId id="316" r:id="rId89"/>
    <p:sldId id="319" r:id="rId90"/>
    <p:sldId id="320" r:id="rId91"/>
    <p:sldId id="321" r:id="rId92"/>
    <p:sldId id="322" r:id="rId93"/>
    <p:sldId id="353" r:id="rId94"/>
    <p:sldId id="354" r:id="rId95"/>
    <p:sldId id="399" r:id="rId96"/>
    <p:sldId id="400" r:id="rId97"/>
    <p:sldId id="385" r:id="rId98"/>
    <p:sldId id="388" r:id="rId99"/>
    <p:sldId id="330" r:id="rId100"/>
    <p:sldId id="331" r:id="rId101"/>
    <p:sldId id="333" r:id="rId102"/>
    <p:sldId id="332" r:id="rId103"/>
    <p:sldId id="355" r:id="rId104"/>
    <p:sldId id="356" r:id="rId105"/>
    <p:sldId id="357" r:id="rId106"/>
    <p:sldId id="358" r:id="rId107"/>
    <p:sldId id="359" r:id="rId108"/>
    <p:sldId id="390" r:id="rId109"/>
    <p:sldId id="391" r:id="rId110"/>
    <p:sldId id="364" r:id="rId111"/>
    <p:sldId id="392" r:id="rId112"/>
    <p:sldId id="394" r:id="rId113"/>
    <p:sldId id="395" r:id="rId114"/>
    <p:sldId id="361" r:id="rId115"/>
    <p:sldId id="362" r:id="rId116"/>
    <p:sldId id="397" r:id="rId117"/>
    <p:sldId id="398" r:id="rId118"/>
    <p:sldId id="326" r:id="rId119"/>
    <p:sldId id="327" r:id="rId1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BE46"/>
    <a:srgbClr val="92D050"/>
    <a:srgbClr val="C8F5E8"/>
    <a:srgbClr val="E8F3DA"/>
    <a:srgbClr val="5C250D"/>
    <a:srgbClr val="FCA68E"/>
    <a:srgbClr val="BEC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B7A7C-47B1-44DC-845C-31C861356A12}" type="datetimeFigureOut">
              <a:rPr lang="en-US" smtClean="0"/>
              <a:pPr/>
              <a:t>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EACF3-30E4-4081-B3A3-75911C1B4B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187C-BECE-47CD-A62D-C8FD2E7EC7BD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26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F623-490E-4CD3-A47A-FB719C2035E0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4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F6AC9-31C0-4C01-B54A-A382768016C3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7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84CCC-FD82-4AF6-BB43-500F02A12561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03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8F150-B1D9-4E3C-B580-AAA99388097A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5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A7B3-7C81-4189-9811-F5009E4A2C43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8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5CB0-DBF8-4576-A40D-6DE060EE9C8F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4412-BA3A-4180-8CE8-02551A1B66F0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4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D9AEB-8C3F-4709-AB37-74518BF927BD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4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5D89-5CFD-4C8E-AAF5-CBD89947E80D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5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4653-54D2-43BF-AEDE-7E075353BDF3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42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D06A4-A038-4B98-8FFF-EFFFA82DFF73}" type="datetime1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4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myyyy/py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50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5" Type="http://schemas.openxmlformats.org/officeDocument/2006/relationships/image" Target="../media/image770.png"/><Relationship Id="rId10" Type="http://schemas.openxmlformats.org/officeDocument/2006/relationships/image" Target="../media/image71.png"/><Relationship Id="rId4" Type="http://schemas.openxmlformats.org/officeDocument/2006/relationships/image" Target="../media/image760.png"/><Relationship Id="rId9" Type="http://schemas.openxmlformats.org/officeDocument/2006/relationships/image" Target="../media/image8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29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37137"/>
            <a:ext cx="9144000" cy="21061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Intermediate Code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59863" y="1422524"/>
            <a:ext cx="3365025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sz="5400" dirty="0">
                <a:solidFill>
                  <a:srgbClr val="FF0000"/>
                </a:solidFill>
                <a:latin typeface="Candara" panose="020E0502030303020204" pitchFamily="34" charset="0"/>
                <a:ea typeface="+mj-ea"/>
                <a:cs typeface="+mj-cs"/>
              </a:rPr>
              <a:t>Chapter 6</a:t>
            </a:r>
            <a:endParaRPr lang="en-US" sz="6000" dirty="0">
              <a:solidFill>
                <a:srgbClr val="FF0000"/>
              </a:solidFill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916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758"/>
            <a:ext cx="10515600" cy="11634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Intermediate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6602" y="2306471"/>
            <a:ext cx="2047164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Front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522212" y="2281447"/>
            <a:ext cx="2047164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Back End</a:t>
            </a:r>
          </a:p>
        </p:txBody>
      </p:sp>
      <p:cxnSp>
        <p:nvCxnSpPr>
          <p:cNvPr id="8" name="Straight Arrow Connector 7"/>
          <p:cNvCxnSpPr>
            <a:stCxn id="5" idx="3"/>
            <a:endCxn id="6" idx="1"/>
          </p:cNvCxnSpPr>
          <p:nvPr/>
        </p:nvCxnSpPr>
        <p:spPr>
          <a:xfrm flipV="1">
            <a:off x="4503766" y="2738647"/>
            <a:ext cx="3018446" cy="25024"/>
          </a:xfrm>
          <a:prstGeom prst="straightConnector1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453" y="2309609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Intermediate Code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303416" y="3741750"/>
            <a:ext cx="23487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Source Program </a:t>
            </a:r>
          </a:p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for Language </a:t>
            </a:r>
            <a:r>
              <a:rPr lang="en-US" altLang="en-US" dirty="0" err="1">
                <a:latin typeface="Candara" panose="020E0502030303020204" pitchFamily="34" charset="0"/>
              </a:rPr>
              <a:t>i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cxnSp>
        <p:nvCxnSpPr>
          <p:cNvPr id="12" name="Straight Arrow Connector 11"/>
          <p:cNvCxnSpPr>
            <a:stCxn id="11" idx="0"/>
            <a:endCxn id="5" idx="2"/>
          </p:cNvCxnSpPr>
          <p:nvPr/>
        </p:nvCxnSpPr>
        <p:spPr>
          <a:xfrm flipV="1">
            <a:off x="3477776" y="3220871"/>
            <a:ext cx="2408" cy="5208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606353" y="3730359"/>
            <a:ext cx="18838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Target Code </a:t>
            </a:r>
          </a:p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for Machine j</a:t>
            </a:r>
          </a:p>
        </p:txBody>
      </p:sp>
      <p:cxnSp>
        <p:nvCxnSpPr>
          <p:cNvPr id="20" name="Straight Arrow Connector 19"/>
          <p:cNvCxnSpPr>
            <a:stCxn id="19" idx="0"/>
            <a:endCxn id="6" idx="2"/>
          </p:cNvCxnSpPr>
          <p:nvPr/>
        </p:nvCxnSpPr>
        <p:spPr>
          <a:xfrm flipH="1" flipV="1">
            <a:off x="8545794" y="3195847"/>
            <a:ext cx="2484" cy="534512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96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758"/>
            <a:ext cx="10515600" cy="11634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Intermediate 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E59383-6D93-B197-DD1C-BC3D84786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76" y="2307771"/>
            <a:ext cx="10344869" cy="265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22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Intermediate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>
            <a:normAutofit/>
          </a:bodyPr>
          <a:lstStyle/>
          <a:p>
            <a:r>
              <a:rPr lang="en-US" sz="3200" dirty="0"/>
              <a:t>What is an </a:t>
            </a:r>
            <a:r>
              <a:rPr lang="en-US" sz="3200" dirty="0">
                <a:solidFill>
                  <a:srgbClr val="FF0000"/>
                </a:solidFill>
              </a:rPr>
              <a:t>Intermediate Representation (IR)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Abstract Machine Language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Machine and Language independent version of source program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Can express target machine operation without committing too much machine specific details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6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Why Need IR?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Modularity:</a:t>
                </a:r>
              </a:p>
              <a:p>
                <a:endParaRPr lang="en-US" sz="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Front end is not complicated with machine specific details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Back end is not bothered with information specific to the source code</a:t>
                </a:r>
              </a:p>
              <a:p>
                <a:pPr marL="457200" lvl="1" indent="0">
                  <a:buNone/>
                </a:pPr>
                <a:endParaRPr lang="en-US" sz="600" dirty="0"/>
              </a:p>
              <a:p>
                <a:r>
                  <a:rPr lang="en-US" dirty="0"/>
                  <a:t>Portability &amp; Cross-Compilation:</a:t>
                </a:r>
              </a:p>
              <a:p>
                <a:endParaRPr lang="en-US" sz="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source language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machines, need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front ends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back ends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Without IR, a total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compilers are required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sz="600" dirty="0"/>
              </a:p>
              <a:p>
                <a:r>
                  <a:rPr lang="en-US" dirty="0"/>
                  <a:t>Simplify Certain Optimization:</a:t>
                </a:r>
              </a:p>
              <a:p>
                <a:endParaRPr lang="en-US" sz="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Easier and clearer optimization tasks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 t="-2020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0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Why Need IR?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77"/>
          <a:stretch/>
        </p:blipFill>
        <p:spPr>
          <a:xfrm>
            <a:off x="1515928" y="1898943"/>
            <a:ext cx="3833681" cy="3400900"/>
          </a:xfrm>
        </p:spPr>
      </p:pic>
      <p:sp>
        <p:nvSpPr>
          <p:cNvPr id="6" name="TextBox 5"/>
          <p:cNvSpPr txBox="1"/>
          <p:nvPr/>
        </p:nvSpPr>
        <p:spPr>
          <a:xfrm>
            <a:off x="11127" y="6452640"/>
            <a:ext cx="5584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90000"/>
                  </a:schemeClr>
                </a:solidFill>
              </a:rPr>
              <a:t>Figure Source: Modern Compiler Implementation in Java by Andrew Appel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45000" y="6443434"/>
            <a:ext cx="4114800" cy="365125"/>
          </a:xfrm>
        </p:spPr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3" descr="Screen Clipping">
            <a:extLst>
              <a:ext uri="{FF2B5EF4-FFF2-40B4-BE49-F238E27FC236}">
                <a16:creationId xmlns:a16="http://schemas.microsoft.com/office/drawing/2014/main" id="{2172C69D-8B85-134D-845B-7F52FEB070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77"/>
          <a:stretch/>
        </p:blipFill>
        <p:spPr>
          <a:xfrm>
            <a:off x="6550702" y="2051343"/>
            <a:ext cx="3833680" cy="3400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F1B53B-EE98-4AC2-CC57-0F9EE3D6866B}"/>
              </a:ext>
            </a:extLst>
          </p:cNvPr>
          <p:cNvSpPr/>
          <p:nvPr/>
        </p:nvSpPr>
        <p:spPr>
          <a:xfrm>
            <a:off x="2525486" y="1898943"/>
            <a:ext cx="1727200" cy="3297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4072DB-9C78-C1B2-A077-14A1A6B46768}"/>
              </a:ext>
            </a:extLst>
          </p:cNvPr>
          <p:cNvSpPr txBox="1"/>
          <p:nvPr/>
        </p:nvSpPr>
        <p:spPr>
          <a:xfrm>
            <a:off x="2039254" y="5686887"/>
            <a:ext cx="303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Without an 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D6A9C-6146-E869-AE5A-DAE7CED06DEB}"/>
              </a:ext>
            </a:extLst>
          </p:cNvPr>
          <p:cNvSpPr txBox="1"/>
          <p:nvPr/>
        </p:nvSpPr>
        <p:spPr>
          <a:xfrm>
            <a:off x="7046690" y="5686887"/>
            <a:ext cx="303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With an IR</a:t>
            </a:r>
          </a:p>
        </p:txBody>
      </p:sp>
    </p:spTree>
    <p:extLst>
      <p:ext uri="{BB962C8B-B14F-4D97-AF65-F5344CB8AC3E}">
        <p14:creationId xmlns:p14="http://schemas.microsoft.com/office/powerpoint/2010/main" val="13945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909"/>
            <a:ext cx="10515600" cy="9016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The LLVM Project</a:t>
            </a:r>
            <a:b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</a:br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https://www.llvm.org/</a:t>
            </a:r>
            <a:endParaRPr lang="en-US" sz="50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99892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What exactly is LLVM? - Stack Overflow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87" b="6602"/>
          <a:stretch/>
        </p:blipFill>
        <p:spPr bwMode="auto">
          <a:xfrm>
            <a:off x="2656486" y="3132953"/>
            <a:ext cx="6077802" cy="3297454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LLVM? Definition and Related FAQs | OmniSc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517" y="1136063"/>
            <a:ext cx="6064926" cy="1784938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15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Designing Good 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dirty="0"/>
              <a:t>Balance between high-level source language and low level machine language</a:t>
            </a:r>
          </a:p>
          <a:p>
            <a:r>
              <a:rPr lang="en-US" dirty="0"/>
              <a:t>Often there are multiple IRs in a single compiler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4618" y="3414841"/>
            <a:ext cx="159431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Source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6755" y="3414836"/>
            <a:ext cx="159431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High Level IR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1025" y="3414831"/>
            <a:ext cx="159431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Low Level 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30145" y="3414826"/>
            <a:ext cx="159431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anose="020E0502030303020204" pitchFamily="34" charset="0"/>
              </a:rPr>
              <a:t>Target Code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 flipV="1">
            <a:off x="2868928" y="3872036"/>
            <a:ext cx="677827" cy="5"/>
          </a:xfrm>
          <a:prstGeom prst="straightConnector1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0" idx="1"/>
          </p:cNvCxnSpPr>
          <p:nvPr/>
        </p:nvCxnSpPr>
        <p:spPr>
          <a:xfrm flipV="1">
            <a:off x="8355335" y="3872026"/>
            <a:ext cx="774810" cy="5"/>
          </a:xfrm>
          <a:prstGeom prst="straightConnector1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3"/>
          </p:cNvCxnSpPr>
          <p:nvPr/>
        </p:nvCxnSpPr>
        <p:spPr>
          <a:xfrm flipV="1">
            <a:off x="5141065" y="3872026"/>
            <a:ext cx="331480" cy="10"/>
          </a:xfrm>
          <a:prstGeom prst="straightConnector1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9" idx="1"/>
          </p:cNvCxnSpPr>
          <p:nvPr/>
        </p:nvCxnSpPr>
        <p:spPr>
          <a:xfrm>
            <a:off x="6317673" y="3872026"/>
            <a:ext cx="443352" cy="5"/>
          </a:xfrm>
          <a:prstGeom prst="straightConnector1">
            <a:avLst/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652651" y="3872026"/>
            <a:ext cx="498766" cy="0"/>
          </a:xfrm>
          <a:prstGeom prst="line">
            <a:avLst/>
          </a:prstGeom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03971" y="4822407"/>
            <a:ext cx="22669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Close to Source </a:t>
            </a:r>
          </a:p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Language</a:t>
            </a:r>
          </a:p>
        </p:txBody>
      </p:sp>
      <p:cxnSp>
        <p:nvCxnSpPr>
          <p:cNvPr id="31" name="Straight Arrow Connector 30"/>
          <p:cNvCxnSpPr>
            <a:stCxn id="30" idx="0"/>
            <a:endCxn id="8" idx="2"/>
          </p:cNvCxnSpPr>
          <p:nvPr/>
        </p:nvCxnSpPr>
        <p:spPr>
          <a:xfrm flipV="1">
            <a:off x="4337455" y="4329236"/>
            <a:ext cx="6455" cy="4931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321234" y="4822403"/>
            <a:ext cx="247856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Close to Machine </a:t>
            </a:r>
          </a:p>
          <a:p>
            <a:pPr eaLnBrk="1" hangingPunct="1"/>
            <a:r>
              <a:rPr lang="en-US" altLang="en-US" dirty="0">
                <a:latin typeface="Candara" panose="020E0502030303020204" pitchFamily="34" charset="0"/>
              </a:rPr>
              <a:t>Language</a:t>
            </a:r>
          </a:p>
        </p:txBody>
      </p:sp>
      <p:cxnSp>
        <p:nvCxnSpPr>
          <p:cNvPr id="34" name="Straight Arrow Connector 33"/>
          <p:cNvCxnSpPr>
            <a:stCxn id="33" idx="0"/>
            <a:endCxn id="9" idx="2"/>
          </p:cNvCxnSpPr>
          <p:nvPr/>
        </p:nvCxnSpPr>
        <p:spPr>
          <a:xfrm flipH="1" flipV="1">
            <a:off x="7558180" y="4329231"/>
            <a:ext cx="2336" cy="4931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0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9195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Choice of an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3429"/>
            <a:ext cx="11136086" cy="57780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choice or design of an intermediate representation varies from compiler to compiler.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An intermediate representation may either be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an actual language or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it may consist of internal data structures that are shared by phases of the compiler.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 is a programming language, yet it is often used as an intermediate form because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it is flexible,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compiles into efficient machine code, and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its compilers are widely available.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original C + + compiler consisted of a front end that generated C, treating a C compiler as a back end.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Another example: python compiler using C++ as an IR (</a:t>
            </a:r>
            <a:r>
              <a:rPr lang="en-US" sz="2400" dirty="0">
                <a:hlinkClick r:id="rId2"/>
              </a:rPr>
              <a:t>https://github.com/Omyyyy/pycom</a:t>
            </a:r>
            <a:r>
              <a:rPr lang="en-US" sz="24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516004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High and Low Level 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Level IRs: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Syntax Tree</a:t>
            </a:r>
          </a:p>
          <a:p>
            <a:pPr lvl="1"/>
            <a:endParaRPr lang="en-US" sz="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DAG</a:t>
            </a:r>
          </a:p>
          <a:p>
            <a:pPr lvl="1"/>
            <a:endParaRPr lang="en-US" sz="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Three Address Code with high level operators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Low Level IRs: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Three Address Code with low level operators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3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Variants of Syntax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Syntax Tree: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Each node represents a construct of source program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Each children represent a meaningful component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Leaves correspond to atomic operands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Interior nodes correspond to operators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3887527" y="3822214"/>
            <a:ext cx="4357690" cy="2057400"/>
            <a:chOff x="1392" y="1968"/>
            <a:chExt cx="2745" cy="1296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1968"/>
              <a:ext cx="2208" cy="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440" y="2976"/>
              <a:ext cx="26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Syntax Tree for expression 9-5+2</a:t>
              </a:r>
            </a:p>
          </p:txBody>
        </p:sp>
      </p:grp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7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Directed Acyclic Graphs (DAG)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en-US" dirty="0">
                    <a:latin typeface="Candara" panose="020E0502030303020204" pitchFamily="34" charset="0"/>
                  </a:rPr>
                  <a:t>Detect Common Subexpression</a:t>
                </a:r>
                <a:endParaRPr lang="en-US" altLang="en-US" sz="2400" dirty="0">
                  <a:latin typeface="Candara" panose="020E0502030303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en-US" dirty="0">
                    <a:latin typeface="Candara" panose="020E0502030303020204" pitchFamily="34" charset="0"/>
                  </a:rPr>
                  <a:t>Produce only one subtree for each subexpression</a:t>
                </a:r>
                <a:endParaRPr lang="en-US" dirty="0">
                  <a:latin typeface="Candara" panose="020E0502030303020204" pitchFamily="34" charset="0"/>
                </a:endParaRPr>
              </a:p>
              <a:p>
                <a:pPr lvl="1"/>
                <a:r>
                  <a:rPr lang="en-US" dirty="0">
                    <a:latin typeface="Candara" panose="020E0502030303020204" pitchFamily="34" charset="0"/>
                  </a:rPr>
                  <a:t>Consider an expression: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2957526" y="3560318"/>
            <a:ext cx="1781175" cy="1177925"/>
            <a:chOff x="1191" y="2618"/>
            <a:chExt cx="1122" cy="742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670" y="2618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+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 flipH="1">
              <a:off x="1296" y="2832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824" y="2832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191" y="307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112" y="307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089570" y="5659240"/>
            <a:ext cx="1479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Syntax Tree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673935" y="4738243"/>
            <a:ext cx="283591" cy="318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957526" y="4738243"/>
            <a:ext cx="1462088" cy="318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49932" y="5126178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Common Subexpression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24952" y="4100932"/>
            <a:ext cx="978408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4"/>
          <p:cNvGrpSpPr>
            <a:grpSpLocks/>
          </p:cNvGrpSpPr>
          <p:nvPr/>
        </p:nvGrpSpPr>
        <p:grpSpPr bwMode="auto">
          <a:xfrm>
            <a:off x="8063350" y="3706090"/>
            <a:ext cx="914400" cy="1295400"/>
            <a:chOff x="3744" y="2640"/>
            <a:chExt cx="576" cy="816"/>
          </a:xfrm>
        </p:grpSpPr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3904" y="2640"/>
              <a:ext cx="2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+</a:t>
              </a: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3927" y="316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</a:t>
              </a:r>
            </a:p>
          </p:txBody>
        </p:sp>
        <p:sp>
          <p:nvSpPr>
            <p:cNvPr id="25" name="Arc 20"/>
            <p:cNvSpPr>
              <a:spLocks/>
            </p:cNvSpPr>
            <p:nvPr/>
          </p:nvSpPr>
          <p:spPr bwMode="auto">
            <a:xfrm flipH="1">
              <a:off x="3744" y="2832"/>
              <a:ext cx="192" cy="479"/>
            </a:xfrm>
            <a:custGeom>
              <a:avLst/>
              <a:gdLst>
                <a:gd name="T0" fmla="*/ 0 w 21600"/>
                <a:gd name="T1" fmla="*/ 0 h 43096"/>
                <a:gd name="T2" fmla="*/ 0 w 21600"/>
                <a:gd name="T3" fmla="*/ 5 h 43096"/>
                <a:gd name="T4" fmla="*/ 0 w 21600"/>
                <a:gd name="T5" fmla="*/ 3 h 4309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6"/>
                <a:gd name="T11" fmla="*/ 21600 w 21600"/>
                <a:gd name="T12" fmla="*/ 43096 h 430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0"/>
                    <a:pt x="13171" y="42008"/>
                    <a:pt x="2114" y="43096"/>
                  </a:cubicBezTo>
                </a:path>
                <a:path w="21600" h="430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0"/>
                    <a:pt x="13171" y="42008"/>
                    <a:pt x="2114" y="430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Arc 21"/>
            <p:cNvSpPr>
              <a:spLocks/>
            </p:cNvSpPr>
            <p:nvPr/>
          </p:nvSpPr>
          <p:spPr bwMode="auto">
            <a:xfrm>
              <a:off x="4128" y="2833"/>
              <a:ext cx="192" cy="479"/>
            </a:xfrm>
            <a:custGeom>
              <a:avLst/>
              <a:gdLst>
                <a:gd name="T0" fmla="*/ 0 w 21600"/>
                <a:gd name="T1" fmla="*/ 0 h 43096"/>
                <a:gd name="T2" fmla="*/ 0 w 21600"/>
                <a:gd name="T3" fmla="*/ 5 h 43096"/>
                <a:gd name="T4" fmla="*/ 0 w 21600"/>
                <a:gd name="T5" fmla="*/ 3 h 4309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6"/>
                <a:gd name="T11" fmla="*/ 21600 w 21600"/>
                <a:gd name="T12" fmla="*/ 43096 h 430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0"/>
                    <a:pt x="13171" y="42008"/>
                    <a:pt x="2114" y="43096"/>
                  </a:cubicBezTo>
                </a:path>
                <a:path w="21600" h="430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0"/>
                    <a:pt x="13171" y="42008"/>
                    <a:pt x="2114" y="430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215745" y="5659240"/>
            <a:ext cx="667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DAG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8672950" y="5001490"/>
            <a:ext cx="471051" cy="124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72950" y="5153891"/>
            <a:ext cx="2933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Single node for expression 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2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8" grpId="0"/>
      <p:bldP spid="21" grpId="0" animBg="1"/>
      <p:bldP spid="27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617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Directed Acyclic Graphs (DAG)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9014"/>
            <a:ext cx="10515600" cy="48274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 Node N can have more than one parent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If it represent a common subexpression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Succinct Representation of Syntax Tree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Provide clues for generating efficient code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58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Directed Acyclic Graphs (DAG)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6920"/>
                <a:ext cx="10515600" cy="47931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en-US" dirty="0">
                    <a:latin typeface="Candara" panose="020E0502030303020204" pitchFamily="34" charset="0"/>
                  </a:rPr>
                  <a:t>An example: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6920"/>
                <a:ext cx="10515600" cy="479314"/>
              </a:xfrm>
              <a:blipFill>
                <a:blip r:embed="rId2"/>
                <a:stretch>
                  <a:fillRect l="-1043" t="-20253" b="-35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50887" y="3801261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87" y="3801261"/>
                <a:ext cx="457200" cy="4572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246632" y="4521695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632" y="4521695"/>
                <a:ext cx="457200" cy="4572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786951" y="3773548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51" y="3773548"/>
                <a:ext cx="457200" cy="4572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1911641" y="5283701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641" y="5283701"/>
                <a:ext cx="457200" cy="457200"/>
              </a:xfrm>
              <a:prstGeom prst="ellipse">
                <a:avLst/>
              </a:prstGeom>
              <a:blipFill>
                <a:blip r:embed="rId6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2354989" y="4480142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989" y="4480142"/>
                <a:ext cx="457200" cy="4572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2812187" y="5269846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87" y="5269846"/>
                <a:ext cx="457200" cy="4572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05055" y="2942273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055" y="2942273"/>
                <a:ext cx="457200" cy="457200"/>
              </a:xfrm>
              <a:prstGeom prst="ellipse">
                <a:avLst/>
              </a:prstGeom>
              <a:blipFill>
                <a:blip r:embed="rId9"/>
                <a:stretch>
                  <a:fillRect l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3740449" y="4563268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449" y="4563268"/>
                <a:ext cx="457200" cy="457200"/>
              </a:xfrm>
              <a:prstGeom prst="ellipse">
                <a:avLst/>
              </a:prstGeom>
              <a:blipFill>
                <a:blip r:embed="rId10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4239217" y="3759709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217" y="3759709"/>
                <a:ext cx="457200" cy="4572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4737980" y="4549413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980" y="4549413"/>
                <a:ext cx="457200" cy="4572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4945786" y="2956121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786" y="2956121"/>
                <a:ext cx="457200" cy="4572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5486126" y="3745830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126" y="3745830"/>
                <a:ext cx="457200" cy="457200"/>
              </a:xfrm>
              <a:prstGeom prst="ellipse">
                <a:avLst/>
              </a:prstGeom>
              <a:blipFill>
                <a:blip r:embed="rId14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3158542" y="2041726"/>
                <a:ext cx="457200" cy="457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542" y="2041726"/>
                <a:ext cx="457200" cy="457200"/>
              </a:xfrm>
              <a:prstGeom prst="ellipse">
                <a:avLst/>
              </a:prstGeom>
              <a:blipFill>
                <a:blip r:embed="rId15"/>
                <a:stretch>
                  <a:fillRect l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stCxn id="7" idx="0"/>
            <a:endCxn id="8" idx="3"/>
          </p:cNvCxnSpPr>
          <p:nvPr/>
        </p:nvCxnSpPr>
        <p:spPr>
          <a:xfrm flipV="1">
            <a:off x="2140241" y="4870387"/>
            <a:ext cx="281703" cy="413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0"/>
            <a:endCxn id="8" idx="5"/>
          </p:cNvCxnSpPr>
          <p:nvPr/>
        </p:nvCxnSpPr>
        <p:spPr>
          <a:xfrm flipH="1" flipV="1">
            <a:off x="2745234" y="4870387"/>
            <a:ext cx="295553" cy="399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0"/>
            <a:endCxn id="12" idx="3"/>
          </p:cNvCxnSpPr>
          <p:nvPr/>
        </p:nvCxnSpPr>
        <p:spPr>
          <a:xfrm flipV="1">
            <a:off x="3969049" y="4149954"/>
            <a:ext cx="337123" cy="413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3" idx="0"/>
            <a:endCxn id="12" idx="5"/>
          </p:cNvCxnSpPr>
          <p:nvPr/>
        </p:nvCxnSpPr>
        <p:spPr>
          <a:xfrm flipH="1" flipV="1">
            <a:off x="4629462" y="4149954"/>
            <a:ext cx="337118" cy="3994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2" idx="0"/>
            <a:endCxn id="14" idx="3"/>
          </p:cNvCxnSpPr>
          <p:nvPr/>
        </p:nvCxnSpPr>
        <p:spPr>
          <a:xfrm flipV="1">
            <a:off x="4467817" y="3346366"/>
            <a:ext cx="544924" cy="4133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5" idx="0"/>
            <a:endCxn id="14" idx="5"/>
          </p:cNvCxnSpPr>
          <p:nvPr/>
        </p:nvCxnSpPr>
        <p:spPr>
          <a:xfrm flipH="1" flipV="1">
            <a:off x="5336031" y="3346366"/>
            <a:ext cx="378695" cy="3994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6" idx="0"/>
            <a:endCxn id="10" idx="5"/>
          </p:cNvCxnSpPr>
          <p:nvPr/>
        </p:nvCxnSpPr>
        <p:spPr>
          <a:xfrm flipH="1" flipV="1">
            <a:off x="1595300" y="3332518"/>
            <a:ext cx="420251" cy="4410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8" idx="0"/>
            <a:endCxn id="6" idx="5"/>
          </p:cNvCxnSpPr>
          <p:nvPr/>
        </p:nvCxnSpPr>
        <p:spPr>
          <a:xfrm flipH="1" flipV="1">
            <a:off x="2177196" y="4163793"/>
            <a:ext cx="406393" cy="316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5" idx="0"/>
            <a:endCxn id="6" idx="3"/>
          </p:cNvCxnSpPr>
          <p:nvPr/>
        </p:nvCxnSpPr>
        <p:spPr>
          <a:xfrm flipV="1">
            <a:off x="1475232" y="4163793"/>
            <a:ext cx="378674" cy="357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" idx="0"/>
            <a:endCxn id="10" idx="3"/>
          </p:cNvCxnSpPr>
          <p:nvPr/>
        </p:nvCxnSpPr>
        <p:spPr>
          <a:xfrm flipV="1">
            <a:off x="879487" y="3332518"/>
            <a:ext cx="392523" cy="4687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0" idx="7"/>
            <a:endCxn id="17" idx="3"/>
          </p:cNvCxnSpPr>
          <p:nvPr/>
        </p:nvCxnSpPr>
        <p:spPr>
          <a:xfrm flipV="1">
            <a:off x="1595300" y="2431971"/>
            <a:ext cx="1630197" cy="577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4" idx="1"/>
            <a:endCxn id="17" idx="5"/>
          </p:cNvCxnSpPr>
          <p:nvPr/>
        </p:nvCxnSpPr>
        <p:spPr>
          <a:xfrm flipH="1" flipV="1">
            <a:off x="3548787" y="2431971"/>
            <a:ext cx="1463954" cy="5911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09308" y="3828971"/>
            <a:ext cx="457200" cy="457200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5" name="Oval 54"/>
          <p:cNvSpPr/>
          <p:nvPr/>
        </p:nvSpPr>
        <p:spPr>
          <a:xfrm>
            <a:off x="1205063" y="4535559"/>
            <a:ext cx="457200" cy="457200"/>
          </a:xfrm>
          <a:prstGeom prst="ellips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6" name="Isosceles Triangle 55"/>
          <p:cNvSpPr/>
          <p:nvPr/>
        </p:nvSpPr>
        <p:spPr>
          <a:xfrm>
            <a:off x="1673800" y="4507848"/>
            <a:ext cx="1778002" cy="1177633"/>
          </a:xfrm>
          <a:prstGeom prst="triangl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Isosceles Triangle 56"/>
          <p:cNvSpPr/>
          <p:nvPr/>
        </p:nvSpPr>
        <p:spPr>
          <a:xfrm>
            <a:off x="3571870" y="3801259"/>
            <a:ext cx="1778002" cy="1177633"/>
          </a:xfrm>
          <a:prstGeom prst="triangl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856679" y="6044531"/>
            <a:ext cx="1479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Candara" panose="020E0502030303020204" pitchFamily="34" charset="0"/>
              </a:rPr>
              <a:t>Syntax Tree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4038600" y="6472462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1" name="Picture 20" descr="Screen Clipping">
            <a:extLst>
              <a:ext uri="{FF2B5EF4-FFF2-40B4-BE49-F238E27FC236}">
                <a16:creationId xmlns:a16="http://schemas.microsoft.com/office/drawing/2014/main" id="{94BC53A8-79D0-69A5-8052-6C8184D04F5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660" y="2255434"/>
            <a:ext cx="4648849" cy="3677163"/>
          </a:xfrm>
          <a:prstGeom prst="rect">
            <a:avLst/>
          </a:prstGeom>
        </p:spPr>
      </p:pic>
      <p:sp>
        <p:nvSpPr>
          <p:cNvPr id="22" name="Right Arrow 35">
            <a:extLst>
              <a:ext uri="{FF2B5EF4-FFF2-40B4-BE49-F238E27FC236}">
                <a16:creationId xmlns:a16="http://schemas.microsoft.com/office/drawing/2014/main" id="{084056D5-672B-780C-5E7A-BCA771979361}"/>
              </a:ext>
            </a:extLst>
          </p:cNvPr>
          <p:cNvSpPr/>
          <p:nvPr/>
        </p:nvSpPr>
        <p:spPr>
          <a:xfrm>
            <a:off x="6427197" y="4056457"/>
            <a:ext cx="640435" cy="48463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32D916-97F9-1663-A83D-703A3F3B5061}"/>
              </a:ext>
            </a:extLst>
          </p:cNvPr>
          <p:cNvSpPr txBox="1"/>
          <p:nvPr/>
        </p:nvSpPr>
        <p:spPr>
          <a:xfrm>
            <a:off x="9236356" y="6044531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DAG</a:t>
            </a:r>
          </a:p>
        </p:txBody>
      </p:sp>
    </p:spTree>
    <p:extLst>
      <p:ext uri="{BB962C8B-B14F-4D97-AF65-F5344CB8AC3E}">
        <p14:creationId xmlns:p14="http://schemas.microsoft.com/office/powerpoint/2010/main" val="237419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22" grpId="0" animBg="1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SDD for Constructing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Wait!! What?? This SDD constructs Syntax Tree!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Leaf and Node functions will return a previously created identical node if exist, otherwise return a newly created one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Identical Node means the subtree rooted at that node is same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637" y="1197798"/>
            <a:ext cx="6830290" cy="311095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38670" y="1880315"/>
            <a:ext cx="4056845" cy="208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7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SDD for constructing DAG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1756668"/>
            <a:ext cx="4389342" cy="395141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57" y="1756668"/>
            <a:ext cx="4648849" cy="3677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6429" y="5749624"/>
                <a:ext cx="56773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Candara" panose="020E0502030303020204" pitchFamily="34" charset="0"/>
                  </a:rPr>
                  <a:t>DAG for expression</a:t>
                </a:r>
                <a14:m>
                  <m:oMath xmlns:m="http://schemas.openxmlformats.org/officeDocument/2006/math">
                    <m:r>
                      <a:rPr lang="en-US" altLang="en-US" sz="2000" b="0" i="0" dirty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en-US" sz="2000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0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29" y="5749624"/>
                <a:ext cx="5677388" cy="400110"/>
              </a:xfrm>
              <a:prstGeom prst="rect">
                <a:avLst/>
              </a:prstGeom>
              <a:blipFill>
                <a:blip r:embed="rId4"/>
                <a:stretch>
                  <a:fillRect l="-107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051912" y="5749624"/>
            <a:ext cx="3877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Steps of constructing the left DAG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2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630" y="-19616"/>
            <a:ext cx="11165114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Value Number Method for Constructing DAG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52714" y="4412008"/>
                <a:ext cx="10515600" cy="25965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Nodes of AST or DAG can be stored in array or records (structures)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Each row represent one record (one node)</a:t>
                </a:r>
              </a:p>
              <a:p>
                <a:r>
                  <a:rPr lang="en-US" sz="2400" dirty="0">
                    <a:latin typeface="Candara" panose="020E0502030303020204" pitchFamily="34" charset="0"/>
                  </a:rPr>
                  <a:t>Reference to a node is the index of the node in the array</a:t>
                </a:r>
              </a:p>
              <a:p>
                <a:pPr lvl="1"/>
                <a:r>
                  <a:rPr lang="en-US" dirty="0">
                    <a:latin typeface="Candara" panose="020E0502030303020204" pitchFamily="34" charset="0"/>
                  </a:rPr>
                  <a:t>The integer index is called the value number of the node</a:t>
                </a:r>
              </a:p>
              <a:p>
                <a:r>
                  <a:rPr lang="en-US" sz="2400" dirty="0">
                    <a:latin typeface="Candara" panose="020E0502030303020204" pitchFamily="34" charset="0"/>
                  </a:rPr>
                  <a:t>The value number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latin typeface="Candara" panose="020E0502030303020204" pitchFamily="34" charset="0"/>
                  </a:rPr>
                  <a:t> node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2714" y="4412008"/>
                <a:ext cx="10515600" cy="2596548"/>
              </a:xfrm>
              <a:blipFill>
                <a:blip r:embed="rId2"/>
                <a:stretch>
                  <a:fillRect l="-812" t="-3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44" y="1215562"/>
            <a:ext cx="6870389" cy="2469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5087" y="3647978"/>
            <a:ext cx="499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First Field is an </a:t>
            </a:r>
            <a:r>
              <a:rPr lang="en-US" b="1" dirty="0">
                <a:latin typeface="Candara" panose="020E0502030303020204" pitchFamily="34" charset="0"/>
              </a:rPr>
              <a:t>operation code</a:t>
            </a:r>
            <a:r>
              <a:rPr lang="en-US" dirty="0">
                <a:latin typeface="Candara" panose="020E0502030303020204" pitchFamily="34" charset="0"/>
              </a:rPr>
              <a:t> (label of the 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6140" y="1918512"/>
            <a:ext cx="4059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Second Field of leaf node is lexical value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7700" y="2334151"/>
            <a:ext cx="4059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Second and Third Field of interior node contains index number of left and right child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5417129" y="2664302"/>
            <a:ext cx="678871" cy="9191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</p:cNvCxnSpPr>
          <p:nvPr/>
        </p:nvCxnSpPr>
        <p:spPr>
          <a:xfrm flipH="1" flipV="1">
            <a:off x="7273633" y="1918512"/>
            <a:ext cx="332507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7273633" y="2555833"/>
            <a:ext cx="374067" cy="110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927269" y="2666669"/>
            <a:ext cx="678871" cy="1662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1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Value Number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/>
              <a:lstStyle/>
              <a:p>
                <a:r>
                  <a:rPr lang="en-US" dirty="0"/>
                  <a:t>Algorithm for constructing Nodes of DAG (Node and Leaf function)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Input:</a:t>
                </a:r>
                <a:r>
                  <a:rPr lang="en-US" dirty="0"/>
                  <a:t> Label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𝑜𝑝</m:t>
                    </m:r>
                  </m:oMath>
                </a14:m>
                <a:r>
                  <a:rPr lang="en-US" dirty="0"/>
                  <a:t>,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and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( For leaf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Output:</a:t>
                </a:r>
                <a:r>
                  <a:rPr lang="en-US" dirty="0"/>
                  <a:t> The value number of a node in the array with signature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</a:rPr>
                  <a:t>Method: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/>
                  <a:t>Search array for a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with label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𝑜𝑝</m:t>
                    </m:r>
                  </m:oMath>
                </a14:m>
                <a:r>
                  <a:rPr lang="en-US" sz="2400" dirty="0"/>
                  <a:t>, left child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and right child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/>
                  <a:t>If found return value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4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/>
                  <a:t>Otherwise create in the array a new node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with label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𝑜𝑝</m:t>
                    </m:r>
                  </m:oMath>
                </a14:m>
                <a:r>
                  <a:rPr lang="en-US" sz="2400" dirty="0"/>
                  <a:t>, left child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and right child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lvl="2">
                  <a:lnSpc>
                    <a:spcPct val="100000"/>
                  </a:lnSpc>
                </a:pPr>
                <a:r>
                  <a:rPr lang="en-US" sz="2400" dirty="0"/>
                  <a:t>Return value number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 t="-2020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6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Value Number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Searching the entire array every time to check whether a node exists is expensive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Use Hash Table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Hash using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𝑜𝑝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as hash key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15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9617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At most one operator at the right side of an instruction</a:t>
                </a:r>
              </a:p>
              <a:p>
                <a:pPr>
                  <a:lnSpc>
                    <a:spcPct val="100000"/>
                  </a:lnSpc>
                </a:pPr>
                <a:endParaRPr lang="en-US" sz="1400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For expression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three address code is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2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are compiler generated names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67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Linearized representation for DAG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Explicit name corresponds to the interior nodes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Each instruction in the sequence has a label</a:t>
            </a: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65" y="2729130"/>
            <a:ext cx="4183964" cy="3309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99232" y="4992919"/>
                <a:ext cx="396262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32" y="4992919"/>
                <a:ext cx="396262" cy="362984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67860" y="4376061"/>
                <a:ext cx="396262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860" y="4376061"/>
                <a:ext cx="396262" cy="362984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15572" y="3860805"/>
                <a:ext cx="396262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572" y="3860805"/>
                <a:ext cx="396262" cy="362984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91859" y="3897093"/>
                <a:ext cx="396262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859" y="3897093"/>
                <a:ext cx="396262" cy="362984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57291" y="2960923"/>
                <a:ext cx="396262" cy="362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91" y="2960923"/>
                <a:ext cx="396262" cy="362984"/>
              </a:xfrm>
              <a:prstGeom prst="rect">
                <a:avLst/>
              </a:prstGeom>
              <a:blipFill>
                <a:blip r:embed="rId7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27435" y="3272199"/>
                <a:ext cx="16342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435" y="3272199"/>
                <a:ext cx="1634230" cy="461665"/>
              </a:xfrm>
              <a:prstGeom prst="rect">
                <a:avLst/>
              </a:prstGeom>
              <a:blipFill>
                <a:blip r:embed="rId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053258" y="3657602"/>
                <a:ext cx="156754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258" y="3657602"/>
                <a:ext cx="1567544" cy="453137"/>
              </a:xfrm>
              <a:prstGeom prst="rect">
                <a:avLst/>
              </a:prstGeom>
              <a:blipFill>
                <a:blip r:embed="rId9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046004" y="4013195"/>
                <a:ext cx="164769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004" y="4013195"/>
                <a:ext cx="1647694" cy="453137"/>
              </a:xfrm>
              <a:prstGeom prst="rect">
                <a:avLst/>
              </a:prstGeom>
              <a:blipFill>
                <a:blip r:embed="rId10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038752" y="4368796"/>
                <a:ext cx="157620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752" y="4368796"/>
                <a:ext cx="1576201" cy="453137"/>
              </a:xfrm>
              <a:prstGeom prst="rect">
                <a:avLst/>
              </a:prstGeom>
              <a:blipFill>
                <a:blip r:embed="rId11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058391" y="4738910"/>
                <a:ext cx="1704313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391" y="4738910"/>
                <a:ext cx="1704313" cy="453137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4038600" y="6443438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857342" y="6443436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668F0F-C44E-F22E-A69A-FC1F23A7462A}"/>
                  </a:ext>
                </a:extLst>
              </p:cNvPr>
              <p:cNvSpPr txBox="1"/>
              <p:nvPr/>
            </p:nvSpPr>
            <p:spPr>
              <a:xfrm>
                <a:off x="1353741" y="5902026"/>
                <a:ext cx="5131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ndara" panose="020E0502030303020204" pitchFamily="34" charset="0"/>
                  </a:rPr>
                  <a:t>DAG for expression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668F0F-C44E-F22E-A69A-FC1F23A74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741" y="5902026"/>
                <a:ext cx="5131598" cy="369332"/>
              </a:xfrm>
              <a:prstGeom prst="rect">
                <a:avLst/>
              </a:prstGeom>
              <a:blipFill>
                <a:blip r:embed="rId13"/>
                <a:stretch>
                  <a:fillRect l="-95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Right 3">
            <a:extLst>
              <a:ext uri="{FF2B5EF4-FFF2-40B4-BE49-F238E27FC236}">
                <a16:creationId xmlns:a16="http://schemas.microsoft.com/office/drawing/2014/main" id="{99281BC3-002B-A7AE-2404-1D77701385A1}"/>
              </a:ext>
            </a:extLst>
          </p:cNvPr>
          <p:cNvSpPr/>
          <p:nvPr/>
        </p:nvSpPr>
        <p:spPr>
          <a:xfrm>
            <a:off x="6154056" y="3904475"/>
            <a:ext cx="1088571" cy="769130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795B6-A0BE-9037-38D8-AD1ED7FF73B1}"/>
              </a:ext>
            </a:extLst>
          </p:cNvPr>
          <p:cNvSpPr txBox="1"/>
          <p:nvPr/>
        </p:nvSpPr>
        <p:spPr>
          <a:xfrm>
            <a:off x="7195745" y="5902026"/>
            <a:ext cx="3650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ndara" panose="020E0502030303020204" pitchFamily="34" charset="0"/>
              </a:rPr>
              <a:t>Three Address Code</a:t>
            </a:r>
          </a:p>
        </p:txBody>
      </p:sp>
    </p:spTree>
    <p:extLst>
      <p:ext uri="{BB962C8B-B14F-4D97-AF65-F5344CB8AC3E}">
        <p14:creationId xmlns:p14="http://schemas.microsoft.com/office/powerpoint/2010/main" val="351931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Based on Two concepts: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address can be used in the code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Instruction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kind of instruction sets can be applied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2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Address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Name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Name from source program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May be replaced by pointer to symbol table entry in implementation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Constant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2.3</m:t>
                    </m:r>
                  </m:oMath>
                </a14:m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2">
                  <a:lnSpc>
                    <a:spcPct val="100000"/>
                  </a:lnSpc>
                </a:pPr>
                <a:endParaRPr lang="en-US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3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Compiler generated temporary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600" baseline="-25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217" t="-1136" b="-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294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instructions</a:t>
            </a:r>
          </a:p>
          <a:p>
            <a:pPr lvl="1"/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 = y op z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 where x, y, z are addresses and op is a binary operator </a:t>
            </a:r>
          </a:p>
          <a:p>
            <a:pPr lvl="1"/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 = op y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where op is a unary operation such as unary minus, logical negation and conversion operator</a:t>
            </a: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 instruction: </a:t>
            </a:r>
            <a:r>
              <a:rPr lang="en-US" altLang="en-US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= 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x is assigned the value of y</a:t>
            </a:r>
          </a:p>
          <a:p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unconditional jump : </a:t>
            </a:r>
            <a:r>
              <a:rPr lang="en-US" altLang="en-US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goto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Instruction with label L is executed next</a:t>
            </a:r>
            <a:endParaRPr lang="en-US" alt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Conditional jumps:</a:t>
            </a:r>
          </a:p>
          <a:p>
            <a:pPr lvl="1"/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if x 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goto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L</a:t>
            </a:r>
          </a:p>
          <a:p>
            <a:pPr lvl="1"/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ifFalse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x 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goto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if x 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relop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goto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4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Instructions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Procedure calls and returns:</a:t>
                </a:r>
              </a:p>
              <a:p>
                <a:pPr lvl="1"/>
                <a:r>
                  <a:rPr lang="en-US" altLang="en-US" b="1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param</a:t>
                </a:r>
                <a:r>
                  <a:rPr lang="en-US" alt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x</a:t>
                </a:r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parameters</a:t>
                </a:r>
              </a:p>
              <a:p>
                <a:pPr lvl="1"/>
                <a:r>
                  <a:rPr lang="en-US" alt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call p, n</a:t>
                </a:r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alt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y = call p, n</a:t>
                </a:r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procedure/function calls</a:t>
                </a:r>
              </a:p>
              <a:p>
                <a:pPr lvl="1"/>
                <a:r>
                  <a:rPr lang="en-US" alt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return y</a:t>
                </a:r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represent returning a value</a:t>
                </a:r>
              </a:p>
              <a:p>
                <a:pPr lvl="1"/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procedure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𝑝𝑟𝑜𝑐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alt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519113">
                  <a:buNone/>
                </a:pPr>
                <a:r>
                  <a:rPr lang="en-US" altLang="en-US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param</a:t>
                </a:r>
                <a:r>
                  <a:rPr lang="en-US" alt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x</a:t>
                </a:r>
                <a:r>
                  <a:rPr lang="en-US" alt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lvl="1" indent="519113">
                  <a:buNone/>
                </a:pPr>
                <a:r>
                  <a:rPr lang="en-US" altLang="en-US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param</a:t>
                </a:r>
                <a:r>
                  <a:rPr lang="en-US" alt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x</a:t>
                </a:r>
                <a:r>
                  <a:rPr lang="en-US" altLang="en-US" i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lvl="1" indent="519113">
                  <a:buNone/>
                </a:pPr>
                <a:r>
                  <a:rPr lang="en-US" alt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...</a:t>
                </a:r>
              </a:p>
              <a:p>
                <a:pPr lvl="1" indent="519113">
                  <a:buNone/>
                </a:pPr>
                <a:r>
                  <a:rPr lang="en-US" altLang="en-US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paramx</a:t>
                </a:r>
                <a:r>
                  <a:rPr lang="en-US" altLang="en-US" i="1" baseline="-25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endParaRPr lang="en-US" altLang="en-US" i="1" baseline="-25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519113">
                  <a:buNone/>
                </a:pPr>
                <a:r>
                  <a:rPr lang="en-US" alt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	call </a:t>
                </a:r>
                <a:r>
                  <a:rPr lang="en-US" altLang="en-US" i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proc,n</a:t>
                </a:r>
                <a:endParaRPr lang="en-US" altLang="en-US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26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Indexed copy instructions: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 = y[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] 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sets x to the value in the location </a:t>
            </a:r>
            <a:r>
              <a:rPr lang="en-US" alt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memory units beyond location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x[</a:t>
            </a:r>
            <a:r>
              <a:rPr lang="en-US" altLang="en-US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] = y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sets the contents of the location </a:t>
            </a:r>
            <a:r>
              <a:rPr lang="en-US" alt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units beyond x to the value of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endParaRPr lang="en-US" alt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 and Pointers assignments: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x =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x = * y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* x = 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03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Example:  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do </a:t>
            </a:r>
            <a:r>
              <a:rPr lang="en-US" altLang="en-US" dirty="0" err="1">
                <a:solidFill>
                  <a:srgbClr val="C00000"/>
                </a:solidFill>
                <a:latin typeface="Candara" panose="020E0502030303020204" pitchFamily="34" charset="0"/>
              </a:rPr>
              <a:t>i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 = </a:t>
            </a:r>
            <a:r>
              <a:rPr lang="en-US" altLang="en-US" dirty="0" err="1">
                <a:solidFill>
                  <a:srgbClr val="C00000"/>
                </a:solidFill>
                <a:latin typeface="Candara" panose="020E0502030303020204" pitchFamily="34" charset="0"/>
              </a:rPr>
              <a:t>i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 +1; while( a[</a:t>
            </a:r>
            <a:r>
              <a:rPr lang="en-US" altLang="en-US" dirty="0" err="1">
                <a:solidFill>
                  <a:srgbClr val="C00000"/>
                </a:solidFill>
                <a:latin typeface="Candara" panose="020E0502030303020204" pitchFamily="34" charset="0"/>
              </a:rPr>
              <a:t>i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] &lt; v );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54"/>
          <a:stretch/>
        </p:blipFill>
        <p:spPr>
          <a:xfrm>
            <a:off x="1464298" y="2425833"/>
            <a:ext cx="3644731" cy="247303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422" y="5076228"/>
            <a:ext cx="1909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andara" panose="020E0502030303020204" pitchFamily="34" charset="0"/>
              </a:rPr>
              <a:t>Symbolic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4862" y="5076228"/>
            <a:ext cx="2111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Position Numbers</a:t>
            </a:r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0A32CEFB-94A2-84BE-4606-564C31C92C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7"/>
          <a:stretch/>
        </p:blipFill>
        <p:spPr>
          <a:xfrm>
            <a:off x="6284687" y="2425833"/>
            <a:ext cx="4443015" cy="247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Choice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choice of allowable operators is an important issue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operator set clearly must be rich enough to implement the operations in the source language.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Operators that are close to machine instructions make it easier to implement the intermediate form on a target machine. 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Tx/>
              <a:buChar char="-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However, if the front end must generate long sequences of instructions for some source-language operations, then the optimizer and code generator may have to work harder to rediscover the structure and generate good code for these operations.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85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Representing Three Address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What is the suitable data structure to represent three address code?</a:t>
            </a:r>
          </a:p>
          <a:p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Can be represented using objects or record with operators and operands as fields</a:t>
            </a:r>
          </a:p>
          <a:p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representations: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Quadruples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Triples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Indirect Triples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59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Quadruples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/>
          <a:lstStyle/>
          <a:p>
            <a:r>
              <a:rPr lang="en-US" alt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Fields:</a:t>
            </a:r>
          </a:p>
          <a:p>
            <a:pPr lvl="1"/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– represent operator </a:t>
            </a:r>
          </a:p>
          <a:p>
            <a:pPr lvl="1"/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arg1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arg2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– holding operands</a:t>
            </a:r>
          </a:p>
          <a:p>
            <a:pPr lvl="1"/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– hold result of the operation</a:t>
            </a:r>
          </a:p>
          <a:p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Exceptions: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Unary Operators: no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arg2</a:t>
            </a:r>
          </a:p>
          <a:p>
            <a:pPr lvl="1"/>
            <a:r>
              <a:rPr lang="en-US" alt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param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operator: no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arg2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, no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(Un)conditional jump: target label is the </a:t>
            </a:r>
            <a:r>
              <a:rPr lang="en-US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41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Quadruples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∗−</m:t>
                    </m:r>
                    <m:r>
                      <a:rPr lang="en-US" alt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∗−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en-US" i="1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7" y="2508323"/>
            <a:ext cx="3610479" cy="2305372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794" y="2233618"/>
            <a:ext cx="2295845" cy="2991267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782" y="2210435"/>
            <a:ext cx="5506218" cy="31055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5169" y="5318783"/>
            <a:ext cx="1452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Syntax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8600" y="5318783"/>
            <a:ext cx="2355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12" y="5318783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Quadruples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12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Triples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9502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solidFill>
                      <a:schemeClr val="accent6">
                        <a:lumMod val="75000"/>
                      </a:schemeClr>
                    </a:solidFill>
                    <a:latin typeface="Candara" panose="020E0502030303020204" pitchFamily="34" charset="0"/>
                  </a:rPr>
                  <a:t>Three fields:</a:t>
                </a:r>
              </a:p>
              <a:p>
                <a:pPr lvl="1"/>
                <a:r>
                  <a:rPr lang="en-US" altLang="en-US" i="1" dirty="0">
                    <a:latin typeface="Candara" panose="020E0502030303020204" pitchFamily="34" charset="0"/>
                  </a:rPr>
                  <a:t>op, arg1, arg2</a:t>
                </a:r>
              </a:p>
              <a:p>
                <a:pPr lvl="1"/>
                <a:r>
                  <a:rPr lang="en-US" altLang="en-US" dirty="0">
                    <a:latin typeface="Candara" panose="020E0502030303020204" pitchFamily="34" charset="0"/>
                  </a:rPr>
                  <a:t>No</a:t>
                </a:r>
                <a:r>
                  <a:rPr lang="en-US" altLang="en-US" i="1" dirty="0">
                    <a:latin typeface="Candara" panose="020E0502030303020204" pitchFamily="34" charset="0"/>
                  </a:rPr>
                  <a:t> result field</a:t>
                </a:r>
              </a:p>
              <a:p>
                <a:pPr lvl="1"/>
                <a:r>
                  <a:rPr lang="en-US" altLang="en-US" i="1" dirty="0">
                    <a:latin typeface="Candara" panose="020E0502030303020204" pitchFamily="34" charset="0"/>
                  </a:rPr>
                  <a:t>result </a:t>
                </a:r>
                <a:r>
                  <a:rPr lang="en-US" altLang="en-US" dirty="0">
                    <a:latin typeface="Candara" panose="020E0502030303020204" pitchFamily="34" charset="0"/>
                  </a:rPr>
                  <a:t>referred by their position</a:t>
                </a:r>
              </a:p>
              <a:p>
                <a:r>
                  <a:rPr lang="en-US" altLang="en-US" i="1" dirty="0">
                    <a:latin typeface="Candara" panose="020E050203030302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∗−</m:t>
                    </m:r>
                    <m:r>
                      <a:rPr lang="en-US" alt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∗−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en-US" i="1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9502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28524"/>
            <a:ext cx="3610479" cy="2305372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323" y="3248559"/>
            <a:ext cx="2295845" cy="2880332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639" y="3328524"/>
            <a:ext cx="3143689" cy="239110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038600" y="6443434"/>
            <a:ext cx="4114800" cy="365125"/>
          </a:xfrm>
        </p:spPr>
        <p:txBody>
          <a:bodyPr/>
          <a:lstStyle/>
          <a:p>
            <a:r>
              <a:rPr lang="en-US" dirty="0" err="1"/>
              <a:t>Dept</a:t>
            </a:r>
            <a:r>
              <a:rPr lang="en-US" dirty="0"/>
              <a:t>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4BF59-D75D-0611-20DD-D280FF28762A}"/>
              </a:ext>
            </a:extLst>
          </p:cNvPr>
          <p:cNvSpPr txBox="1"/>
          <p:nvPr/>
        </p:nvSpPr>
        <p:spPr>
          <a:xfrm>
            <a:off x="1690793" y="5928383"/>
            <a:ext cx="1452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Syntax Tree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5CBB1-0C85-B7BD-3A15-DB374F3E59E5}"/>
              </a:ext>
            </a:extLst>
          </p:cNvPr>
          <p:cNvSpPr txBox="1"/>
          <p:nvPr/>
        </p:nvSpPr>
        <p:spPr>
          <a:xfrm>
            <a:off x="4524224" y="5928383"/>
            <a:ext cx="2355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E6EFA-7139-A355-7574-293688565B0D}"/>
              </a:ext>
            </a:extLst>
          </p:cNvPr>
          <p:cNvSpPr txBox="1"/>
          <p:nvPr/>
        </p:nvSpPr>
        <p:spPr>
          <a:xfrm>
            <a:off x="9027898" y="5928383"/>
            <a:ext cx="892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Triples</a:t>
            </a:r>
          </a:p>
        </p:txBody>
      </p:sp>
    </p:spTree>
    <p:extLst>
      <p:ext uri="{BB962C8B-B14F-4D97-AF65-F5344CB8AC3E}">
        <p14:creationId xmlns:p14="http://schemas.microsoft.com/office/powerpoint/2010/main" val="370635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Optimization by moving instructions is difficult in Triples, but easy in Quadruples</a:t>
            </a: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Moving instructions forces to adjust the arguments where that position appear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842" y="5832136"/>
            <a:ext cx="892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Triples</a:t>
            </a:r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155" y="3441027"/>
            <a:ext cx="3143689" cy="239110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40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Indirect Triples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652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Listing pointers to the triples instead of triples</a:t>
            </a:r>
          </a:p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Reorder the pointers instead of the tuples itself during code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3471" y="5124724"/>
            <a:ext cx="892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Triples</a:t>
            </a:r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0" y="2711120"/>
            <a:ext cx="3143689" cy="2391109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658" y="2801615"/>
            <a:ext cx="6677957" cy="22101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4918" y="5139238"/>
            <a:ext cx="1785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Indirect Triples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4394579" y="2801615"/>
            <a:ext cx="13648" cy="248006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02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1117265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Another form of IR </a:t>
            </a:r>
          </a:p>
          <a:p>
            <a:r>
              <a:rPr lang="en-US" altLang="en-US" dirty="0">
                <a:latin typeface="Candara" panose="020E0502030303020204" pitchFamily="34" charset="0"/>
              </a:rPr>
              <a:t>All assignments are to variables with distinct names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r>
              <a:rPr lang="en-US" altLang="en-US" dirty="0">
                <a:latin typeface="Candara" panose="020E0502030303020204" pitchFamily="34" charset="0"/>
              </a:rPr>
              <a:t>Facilitates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code optimizations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/>
          <a:srcRect b="12875"/>
          <a:stretch/>
        </p:blipFill>
        <p:spPr bwMode="auto">
          <a:xfrm>
            <a:off x="1756469" y="2066477"/>
            <a:ext cx="6816031" cy="197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58056"/>
            <a:ext cx="10515600" cy="11898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Static Single Assignment Form (SSA)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919730" y="2279156"/>
            <a:ext cx="3652770" cy="1841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038600" y="6472467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610600" y="6472467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4930763" y="2542658"/>
            <a:ext cx="911584" cy="65708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SSA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3BF12-83B1-009B-5A91-9D475F50A7DB}"/>
              </a:ext>
            </a:extLst>
          </p:cNvPr>
          <p:cNvSpPr/>
          <p:nvPr/>
        </p:nvSpPr>
        <p:spPr>
          <a:xfrm>
            <a:off x="3207656" y="5034908"/>
            <a:ext cx="1480458" cy="1348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x = 10</a:t>
            </a:r>
          </a:p>
          <a:p>
            <a:r>
              <a:rPr lang="en-US" sz="2400" dirty="0">
                <a:solidFill>
                  <a:schemeClr val="tx1"/>
                </a:solidFill>
              </a:rPr>
              <a:t>x =  15</a:t>
            </a:r>
          </a:p>
          <a:p>
            <a:r>
              <a:rPr lang="en-US" sz="2400" dirty="0">
                <a:solidFill>
                  <a:schemeClr val="tx1"/>
                </a:solidFill>
              </a:rPr>
              <a:t>y = x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Right Arrow 14">
            <a:extLst>
              <a:ext uri="{FF2B5EF4-FFF2-40B4-BE49-F238E27FC236}">
                <a16:creationId xmlns:a16="http://schemas.microsoft.com/office/drawing/2014/main" id="{733A5A50-7BEB-AE31-E351-54EB3AF70E94}"/>
              </a:ext>
            </a:extLst>
          </p:cNvPr>
          <p:cNvSpPr/>
          <p:nvPr/>
        </p:nvSpPr>
        <p:spPr>
          <a:xfrm>
            <a:off x="4952536" y="5206028"/>
            <a:ext cx="911584" cy="65708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SSA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7F5D5E-8B96-A1A4-64A7-9D75D12911A8}"/>
              </a:ext>
            </a:extLst>
          </p:cNvPr>
          <p:cNvSpPr/>
          <p:nvPr/>
        </p:nvSpPr>
        <p:spPr>
          <a:xfrm>
            <a:off x="6683831" y="4897022"/>
            <a:ext cx="1480458" cy="1348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x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en-US" sz="2400" dirty="0">
                <a:solidFill>
                  <a:schemeClr val="tx1"/>
                </a:solidFill>
              </a:rPr>
              <a:t> = 10</a:t>
            </a:r>
          </a:p>
          <a:p>
            <a:r>
              <a:rPr lang="en-US" sz="2400" dirty="0">
                <a:solidFill>
                  <a:schemeClr val="tx1"/>
                </a:solidFill>
              </a:rPr>
              <a:t>x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=  15</a:t>
            </a:r>
          </a:p>
          <a:p>
            <a:r>
              <a:rPr lang="en-US" sz="2400" dirty="0">
                <a:solidFill>
                  <a:schemeClr val="tx1"/>
                </a:solidFill>
              </a:rPr>
              <a:t>y = x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D23027-6865-31F0-BCE4-B148C0C80C54}"/>
              </a:ext>
            </a:extLst>
          </p:cNvPr>
          <p:cNvGrpSpPr/>
          <p:nvPr/>
        </p:nvGrpSpPr>
        <p:grpSpPr>
          <a:xfrm>
            <a:off x="1226453" y="4853480"/>
            <a:ext cx="2960799" cy="646331"/>
            <a:chOff x="1182911" y="4679312"/>
            <a:chExt cx="2960799" cy="6463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AA85A07-C027-0F64-AF19-63270949A79E}"/>
                </a:ext>
              </a:extLst>
            </p:cNvPr>
            <p:cNvSpPr/>
            <p:nvPr/>
          </p:nvSpPr>
          <p:spPr>
            <a:xfrm>
              <a:off x="3044371" y="4708340"/>
              <a:ext cx="1099339" cy="55937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FB1304-DD9B-C03D-B4A0-391635B2EC16}"/>
                </a:ext>
              </a:extLst>
            </p:cNvPr>
            <p:cNvSpPr txBox="1"/>
            <p:nvPr/>
          </p:nvSpPr>
          <p:spPr>
            <a:xfrm>
              <a:off x="1182911" y="4679312"/>
              <a:ext cx="20211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Redundant but difficult to detect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364594-F629-65DF-D88B-90BE90552B5A}"/>
              </a:ext>
            </a:extLst>
          </p:cNvPr>
          <p:cNvGrpSpPr/>
          <p:nvPr/>
        </p:nvGrpSpPr>
        <p:grpSpPr>
          <a:xfrm>
            <a:off x="6589365" y="4669802"/>
            <a:ext cx="3019092" cy="646331"/>
            <a:chOff x="6589365" y="4497883"/>
            <a:chExt cx="3019092" cy="64633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65DB2F-B01C-00ED-40CB-3EFF228BF7D4}"/>
                </a:ext>
              </a:extLst>
            </p:cNvPr>
            <p:cNvCxnSpPr/>
            <p:nvPr/>
          </p:nvCxnSpPr>
          <p:spPr>
            <a:xfrm>
              <a:off x="6589365" y="4860740"/>
              <a:ext cx="126303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975383-AB9D-6AFF-FEF7-CD449D928F02}"/>
                </a:ext>
              </a:extLst>
            </p:cNvPr>
            <p:cNvSpPr txBox="1"/>
            <p:nvPr/>
          </p:nvSpPr>
          <p:spPr>
            <a:xfrm>
              <a:off x="7852232" y="4497883"/>
              <a:ext cx="17562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Easy to detect and remove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4D9CA4-5268-174D-5101-E87F1B7094CC}"/>
              </a:ext>
            </a:extLst>
          </p:cNvPr>
          <p:cNvGrpSpPr/>
          <p:nvPr/>
        </p:nvGrpSpPr>
        <p:grpSpPr>
          <a:xfrm>
            <a:off x="420917" y="2451690"/>
            <a:ext cx="2786739" cy="928877"/>
            <a:chOff x="420917" y="2451690"/>
            <a:chExt cx="2786739" cy="9288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03315D-A86B-1203-C3EB-ADC102645893}"/>
                </a:ext>
              </a:extLst>
            </p:cNvPr>
            <p:cNvSpPr txBox="1"/>
            <p:nvPr/>
          </p:nvSpPr>
          <p:spPr>
            <a:xfrm>
              <a:off x="420917" y="2734236"/>
              <a:ext cx="1915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Assignments to the same variable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7C9040-AF1A-9337-0E90-0D0DB253A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3" y="2969352"/>
              <a:ext cx="870853" cy="61302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1D1E28-4AFB-DCDC-C093-4535A5965EC3}"/>
                </a:ext>
              </a:extLst>
            </p:cNvPr>
            <p:cNvCxnSpPr>
              <a:cxnSpLocks/>
            </p:cNvCxnSpPr>
            <p:nvPr/>
          </p:nvCxnSpPr>
          <p:spPr>
            <a:xfrm>
              <a:off x="2347836" y="3031764"/>
              <a:ext cx="859820" cy="22498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9869B4-67E4-7027-0FB6-A433252EE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4502" y="2451690"/>
              <a:ext cx="849176" cy="56608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423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4" grpId="0"/>
      <p:bldP spid="14" grpId="0" animBg="1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200" y="4243500"/>
            <a:ext cx="10515600" cy="657087"/>
          </a:xfrm>
        </p:spPr>
        <p:txBody>
          <a:bodyPr/>
          <a:lstStyle/>
          <a:p>
            <a:r>
              <a:rPr lang="el-GR" altLang="en-US" dirty="0">
                <a:latin typeface="Candara" panose="020E0502030303020204" pitchFamily="34" charset="0"/>
              </a:rPr>
              <a:t>Φ</a:t>
            </a:r>
            <a:r>
              <a:rPr lang="en-US" altLang="en-US" dirty="0">
                <a:latin typeface="Candara" panose="020E0502030303020204" pitchFamily="34" charset="0"/>
              </a:rPr>
              <a:t> functions to combine two definitions of the same variable x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56" y="-135728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Static Single Assignment Form (SSA)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038600" y="6457948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610600" y="645794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5370047" y="3006368"/>
            <a:ext cx="911584" cy="65708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A5CD5-BB80-7EB6-ACEC-E06A4DF02BE0}"/>
              </a:ext>
            </a:extLst>
          </p:cNvPr>
          <p:cNvSpPr txBox="1"/>
          <p:nvPr/>
        </p:nvSpPr>
        <p:spPr>
          <a:xfrm>
            <a:off x="1941338" y="3014009"/>
            <a:ext cx="3149600" cy="830997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(flag) x = -1; else x = 1</a:t>
            </a:r>
          </a:p>
          <a:p>
            <a:r>
              <a:rPr lang="en-US" sz="2400" dirty="0"/>
              <a:t>y = x*a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3FAAF-7830-70B1-E9CF-C1A143399295}"/>
              </a:ext>
            </a:extLst>
          </p:cNvPr>
          <p:cNvSpPr txBox="1"/>
          <p:nvPr/>
        </p:nvSpPr>
        <p:spPr>
          <a:xfrm>
            <a:off x="6549571" y="3003077"/>
            <a:ext cx="3701091" cy="830997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(flag) x</a:t>
            </a:r>
            <a:r>
              <a:rPr lang="en-US" sz="2400" baseline="-25000" dirty="0"/>
              <a:t>1</a:t>
            </a:r>
            <a:r>
              <a:rPr lang="en-US" sz="2400" dirty="0"/>
              <a:t> = -1; else x</a:t>
            </a:r>
            <a:r>
              <a:rPr lang="en-US" sz="2400" baseline="-25000" dirty="0"/>
              <a:t>2</a:t>
            </a:r>
            <a:r>
              <a:rPr lang="en-US" sz="2400" dirty="0"/>
              <a:t> = 1</a:t>
            </a:r>
          </a:p>
          <a:p>
            <a:r>
              <a:rPr lang="en-US" sz="2400" dirty="0"/>
              <a:t>y = x</a:t>
            </a:r>
            <a:r>
              <a:rPr lang="en-US" sz="3200" b="1" baseline="-25000" dirty="0">
                <a:solidFill>
                  <a:srgbClr val="FF0000"/>
                </a:solidFill>
              </a:rPr>
              <a:t>?</a:t>
            </a:r>
            <a:r>
              <a:rPr lang="en-US" sz="2400" dirty="0"/>
              <a:t>*a</a:t>
            </a:r>
          </a:p>
        </p:txBody>
      </p:sp>
      <p:sp>
        <p:nvSpPr>
          <p:cNvPr id="16" name="Right Arrow 12">
            <a:extLst>
              <a:ext uri="{FF2B5EF4-FFF2-40B4-BE49-F238E27FC236}">
                <a16:creationId xmlns:a16="http://schemas.microsoft.com/office/drawing/2014/main" id="{DE8666D5-CD77-7273-3CB5-D8925D8617F8}"/>
              </a:ext>
            </a:extLst>
          </p:cNvPr>
          <p:cNvSpPr/>
          <p:nvPr/>
        </p:nvSpPr>
        <p:spPr>
          <a:xfrm>
            <a:off x="5420847" y="5049206"/>
            <a:ext cx="911584" cy="65708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SSA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F3DC8F-A2FF-FE6C-2774-4DA3216F1314}"/>
              </a:ext>
            </a:extLst>
          </p:cNvPr>
          <p:cNvSpPr txBox="1"/>
          <p:nvPr/>
        </p:nvSpPr>
        <p:spPr>
          <a:xfrm>
            <a:off x="2003307" y="4994772"/>
            <a:ext cx="3149600" cy="830997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(flag) x = -1; else x = 1</a:t>
            </a:r>
          </a:p>
          <a:p>
            <a:r>
              <a:rPr lang="en-US" sz="2400" dirty="0"/>
              <a:t>y = x*a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595C5C-4758-4936-CD48-A9277248C3D6}"/>
              </a:ext>
            </a:extLst>
          </p:cNvPr>
          <p:cNvSpPr txBox="1"/>
          <p:nvPr/>
        </p:nvSpPr>
        <p:spPr>
          <a:xfrm>
            <a:off x="6600371" y="4810106"/>
            <a:ext cx="3701091" cy="1200329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(flag) x</a:t>
            </a:r>
            <a:r>
              <a:rPr lang="en-US" sz="2400" baseline="-25000" dirty="0"/>
              <a:t>1</a:t>
            </a:r>
            <a:r>
              <a:rPr lang="en-US" sz="2400" dirty="0"/>
              <a:t> = -1; else x</a:t>
            </a:r>
            <a:r>
              <a:rPr lang="en-US" sz="2400" baseline="-25000" dirty="0"/>
              <a:t>2</a:t>
            </a:r>
            <a:r>
              <a:rPr lang="en-US" sz="2400" dirty="0"/>
              <a:t> = 1</a:t>
            </a:r>
          </a:p>
          <a:p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= </a:t>
            </a:r>
            <a:r>
              <a:rPr lang="el-GR" sz="2400" i="1" dirty="0">
                <a:highlight>
                  <a:srgbClr val="FFFF00"/>
                </a:highlight>
              </a:rPr>
              <a:t>ϕ</a:t>
            </a:r>
            <a:r>
              <a:rPr lang="en-US" sz="2400" dirty="0">
                <a:highlight>
                  <a:srgbClr val="FFFF00"/>
                </a:highlight>
              </a:rPr>
              <a:t>(x</a:t>
            </a:r>
            <a:r>
              <a:rPr lang="en-US" sz="2400" baseline="-25000" dirty="0">
                <a:highlight>
                  <a:srgbClr val="FFFF00"/>
                </a:highlight>
              </a:rPr>
              <a:t>1,</a:t>
            </a:r>
            <a:r>
              <a:rPr lang="en-US" sz="2400" dirty="0">
                <a:highlight>
                  <a:srgbClr val="FFFF00"/>
                </a:highlight>
              </a:rPr>
              <a:t> x</a:t>
            </a:r>
            <a:r>
              <a:rPr lang="en-US" sz="2400" baseline="-25000" dirty="0">
                <a:highlight>
                  <a:srgbClr val="FFFF00"/>
                </a:highlight>
              </a:rPr>
              <a:t>2</a:t>
            </a:r>
            <a:r>
              <a:rPr lang="en-US" sz="2400" dirty="0">
                <a:highlight>
                  <a:srgbClr val="FFFF00"/>
                </a:highlight>
              </a:rPr>
              <a:t>)</a:t>
            </a:r>
          </a:p>
          <a:p>
            <a:r>
              <a:rPr lang="en-US" sz="2400" dirty="0"/>
              <a:t>y = x</a:t>
            </a:r>
            <a:r>
              <a:rPr lang="en-US" sz="3200" b="1" baseline="-250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*a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C3FB27-3869-E2B5-BDEE-6809BCC3693B}"/>
              </a:ext>
            </a:extLst>
          </p:cNvPr>
          <p:cNvSpPr txBox="1"/>
          <p:nvPr/>
        </p:nvSpPr>
        <p:spPr>
          <a:xfrm>
            <a:off x="87087" y="6123410"/>
            <a:ext cx="895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For further details see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: https://en.wikipedia.org/wiki/Static_single-assignment_form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857D1A9-0E29-D2EA-64DD-67F014004FD7}"/>
              </a:ext>
            </a:extLst>
          </p:cNvPr>
          <p:cNvSpPr txBox="1">
            <a:spLocks/>
          </p:cNvSpPr>
          <p:nvPr/>
        </p:nvSpPr>
        <p:spPr>
          <a:xfrm>
            <a:off x="990600" y="1032165"/>
            <a:ext cx="10515600" cy="1894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Candara" panose="020E0502030303020204" pitchFamily="34" charset="0"/>
              </a:rPr>
              <a:t>Converting ordinary code into SSA form</a:t>
            </a:r>
          </a:p>
          <a:p>
            <a:pPr lvl="1"/>
            <a:r>
              <a:rPr lang="en-US" altLang="en-US" dirty="0">
                <a:latin typeface="Candara" panose="020E0502030303020204" pitchFamily="34" charset="0"/>
              </a:rPr>
              <a:t>Replace the target of each assignment with a new variable</a:t>
            </a:r>
          </a:p>
          <a:p>
            <a:pPr lvl="1"/>
            <a:r>
              <a:rPr lang="en-US" altLang="en-US" dirty="0">
                <a:latin typeface="Candara" panose="020E0502030303020204" pitchFamily="34" charset="0"/>
              </a:rPr>
              <a:t>Replacing each use of a variable with the "version" of the variable reaching that point.</a:t>
            </a:r>
          </a:p>
          <a:p>
            <a:r>
              <a:rPr lang="en-US" altLang="en-US" dirty="0">
                <a:solidFill>
                  <a:srgbClr val="FF0000"/>
                </a:solidFill>
                <a:latin typeface="Candara" panose="020E0502030303020204" pitchFamily="34" charset="0"/>
              </a:rPr>
              <a:t>What to do </a:t>
            </a:r>
            <a:r>
              <a:rPr lang="en-US" altLang="en-US">
                <a:solidFill>
                  <a:srgbClr val="FF0000"/>
                </a:solidFill>
                <a:latin typeface="Candara" panose="020E0502030303020204" pitchFamily="34" charset="0"/>
              </a:rPr>
              <a:t>when branching </a:t>
            </a:r>
            <a:r>
              <a:rPr lang="en-US" altLang="en-US" dirty="0">
                <a:solidFill>
                  <a:srgbClr val="FF0000"/>
                </a:solidFill>
                <a:latin typeface="Candara" panose="020E0502030303020204" pitchFamily="34" charset="0"/>
              </a:rPr>
              <a:t>is involved?</a:t>
            </a:r>
          </a:p>
        </p:txBody>
      </p:sp>
    </p:spTree>
    <p:extLst>
      <p:ext uri="{BB962C8B-B14F-4D97-AF65-F5344CB8AC3E}">
        <p14:creationId xmlns:p14="http://schemas.microsoft.com/office/powerpoint/2010/main" val="118076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Types and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8795"/>
            <a:ext cx="10515600" cy="53775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Application of types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Type Checking</a:t>
            </a:r>
          </a:p>
          <a:p>
            <a:pPr lvl="2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Uses logical rules to reason about the behavior of a program at run time</a:t>
            </a:r>
          </a:p>
          <a:p>
            <a:pPr lvl="2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Ensures that the types of the operands match the type expected by an operator</a:t>
            </a:r>
          </a:p>
          <a:p>
            <a:pPr lvl="2">
              <a:lnSpc>
                <a:spcPct val="110000"/>
              </a:lnSpc>
            </a:pPr>
            <a:r>
              <a:rPr lang="en-US" altLang="en-US" b="1" dirty="0">
                <a:latin typeface="Candara" panose="020E0502030303020204" pitchFamily="34" charset="0"/>
              </a:rPr>
              <a:t>Example:</a:t>
            </a:r>
            <a:r>
              <a:rPr lang="en-US" altLang="en-US" dirty="0">
                <a:latin typeface="Candara" panose="020E0502030303020204" pitchFamily="34" charset="0"/>
              </a:rPr>
              <a:t> the &amp;&amp; operator in java expects it two operands to be booleans; the result type is also boolean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Translation Applications</a:t>
            </a:r>
          </a:p>
          <a:p>
            <a:pPr lvl="2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From the type of a name, a compiler can determine its required storage at runtime</a:t>
            </a:r>
          </a:p>
          <a:p>
            <a:pPr lvl="2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Type information is also needed</a:t>
            </a:r>
          </a:p>
          <a:p>
            <a:pPr lvl="3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to calculate the address denoted by an array reference</a:t>
            </a:r>
          </a:p>
          <a:p>
            <a:pPr lvl="3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to insert explicit type conversion</a:t>
            </a:r>
          </a:p>
          <a:p>
            <a:pPr lvl="3">
              <a:lnSpc>
                <a:spcPct val="11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to choose the right version of an arithmetic operator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4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Computing Types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0639"/>
          <a:stretch/>
        </p:blipFill>
        <p:spPr>
          <a:xfrm>
            <a:off x="4907695" y="1052098"/>
            <a:ext cx="7000875" cy="257010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685" y="1103616"/>
            <a:ext cx="5249092" cy="17411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Let us compute an SDD to support declarations like</a:t>
            </a:r>
          </a:p>
          <a:p>
            <a:pPr lvl="2">
              <a:lnSpc>
                <a:spcPct val="100000"/>
              </a:lnSpc>
            </a:pPr>
            <a:r>
              <a:rPr lang="en-US" altLang="en-US" sz="2200" dirty="0">
                <a:solidFill>
                  <a:srgbClr val="002060"/>
                </a:solidFill>
                <a:latin typeface="Candara" panose="020E0502030303020204" pitchFamily="34" charset="0"/>
              </a:rPr>
              <a:t>int id1, id2, id3</a:t>
            </a:r>
          </a:p>
          <a:p>
            <a:pPr lvl="2">
              <a:lnSpc>
                <a:spcPct val="100000"/>
              </a:lnSpc>
            </a:pPr>
            <a:r>
              <a:rPr lang="en-US" altLang="en-US" sz="2200" dirty="0">
                <a:solidFill>
                  <a:srgbClr val="002060"/>
                </a:solidFill>
                <a:latin typeface="Candara" panose="020E0502030303020204" pitchFamily="34" charset="0"/>
              </a:rPr>
              <a:t>float id1, id2, id3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24137-300A-7ED4-B5DD-E661D36E8336}"/>
              </a:ext>
            </a:extLst>
          </p:cNvPr>
          <p:cNvSpPr/>
          <p:nvPr/>
        </p:nvSpPr>
        <p:spPr>
          <a:xfrm>
            <a:off x="6212114" y="1596571"/>
            <a:ext cx="2061029" cy="1832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9CC0D5-7811-2588-6189-230BEF2DEB9F}"/>
              </a:ext>
            </a:extLst>
          </p:cNvPr>
          <p:cNvSpPr/>
          <p:nvPr/>
        </p:nvSpPr>
        <p:spPr>
          <a:xfrm>
            <a:off x="8425550" y="1603831"/>
            <a:ext cx="2387594" cy="1832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BD83B2-A695-4CA0-0C9C-5703A4D196A2}"/>
              </a:ext>
            </a:extLst>
          </p:cNvPr>
          <p:cNvSpPr/>
          <p:nvPr/>
        </p:nvSpPr>
        <p:spPr>
          <a:xfrm>
            <a:off x="3062284" y="3287738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05B481-FA0B-1163-DFBF-02357C551017}"/>
              </a:ext>
            </a:extLst>
          </p:cNvPr>
          <p:cNvSpPr/>
          <p:nvPr/>
        </p:nvSpPr>
        <p:spPr>
          <a:xfrm>
            <a:off x="1366737" y="4084539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CC4709-5494-BDED-EF9F-00F44CD966B4}"/>
              </a:ext>
            </a:extLst>
          </p:cNvPr>
          <p:cNvSpPr/>
          <p:nvPr/>
        </p:nvSpPr>
        <p:spPr>
          <a:xfrm>
            <a:off x="964935" y="4846437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float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230DB5-6F56-8516-9518-6D374B915EB1}"/>
              </a:ext>
            </a:extLst>
          </p:cNvPr>
          <p:cNvCxnSpPr>
            <a:cxnSpLocks/>
          </p:cNvCxnSpPr>
          <p:nvPr/>
        </p:nvCxnSpPr>
        <p:spPr>
          <a:xfrm flipH="1">
            <a:off x="1605219" y="3605556"/>
            <a:ext cx="1508227" cy="531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E88566-7B60-5C83-F13B-F4211FD86C59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V="1">
            <a:off x="1481609" y="4465539"/>
            <a:ext cx="24828" cy="380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52F401-15F5-CF50-2D84-8E8DE9A0DDF3}"/>
              </a:ext>
            </a:extLst>
          </p:cNvPr>
          <p:cNvSpPr txBox="1"/>
          <p:nvPr/>
        </p:nvSpPr>
        <p:spPr>
          <a:xfrm>
            <a:off x="7832941" y="5767366"/>
            <a:ext cx="3846571" cy="707886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Parse tree for the declaration: </a:t>
            </a:r>
          </a:p>
          <a:p>
            <a:pPr algn="ctr"/>
            <a:r>
              <a:rPr lang="en-US" altLang="en-US" sz="2000" b="1" dirty="0">
                <a:latin typeface="Candara" panose="020E0502030303020204" pitchFamily="34" charset="0"/>
              </a:rPr>
              <a:t>float id1, id2, id3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234CDC-D353-BA61-F40C-155DECEF2F90}"/>
              </a:ext>
            </a:extLst>
          </p:cNvPr>
          <p:cNvSpPr/>
          <p:nvPr/>
        </p:nvSpPr>
        <p:spPr>
          <a:xfrm>
            <a:off x="4279682" y="4002767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A841AF-02D7-3E23-8D7A-3E3B13734AC7}"/>
              </a:ext>
            </a:extLst>
          </p:cNvPr>
          <p:cNvCxnSpPr>
            <a:cxnSpLocks/>
          </p:cNvCxnSpPr>
          <p:nvPr/>
        </p:nvCxnSpPr>
        <p:spPr>
          <a:xfrm>
            <a:off x="3382406" y="3599252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1011EE0-82A1-EB72-8D5F-3445FC3AB0C8}"/>
              </a:ext>
            </a:extLst>
          </p:cNvPr>
          <p:cNvSpPr/>
          <p:nvPr/>
        </p:nvSpPr>
        <p:spPr>
          <a:xfrm>
            <a:off x="3860535" y="4878423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968E90-485F-31DE-E8D5-E5588E54C214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 flipH="1">
            <a:off x="4152783" y="4524487"/>
            <a:ext cx="442231" cy="353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254486E-66B6-013E-57AA-B13D9301DF8F}"/>
              </a:ext>
            </a:extLst>
          </p:cNvPr>
          <p:cNvSpPr/>
          <p:nvPr/>
        </p:nvSpPr>
        <p:spPr>
          <a:xfrm>
            <a:off x="7133465" y="5002586"/>
            <a:ext cx="69947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r>
              <a:rPr lang="en-US" sz="2000" b="1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C97F2A-85E4-014F-0B2B-69BDDD01B320}"/>
              </a:ext>
            </a:extLst>
          </p:cNvPr>
          <p:cNvCxnSpPr>
            <a:cxnSpLocks/>
            <a:stCxn id="18" idx="5"/>
            <a:endCxn id="27" idx="0"/>
          </p:cNvCxnSpPr>
          <p:nvPr/>
        </p:nvCxnSpPr>
        <p:spPr>
          <a:xfrm>
            <a:off x="4817987" y="4448083"/>
            <a:ext cx="2665216" cy="554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8BE2368-04F9-730A-03D8-D87A63CDDAB5}"/>
              </a:ext>
            </a:extLst>
          </p:cNvPr>
          <p:cNvSpPr/>
          <p:nvPr/>
        </p:nvSpPr>
        <p:spPr>
          <a:xfrm>
            <a:off x="3101997" y="5469585"/>
            <a:ext cx="534111" cy="45070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CEAB6B-35E5-BC7A-BD54-7AD7CDF41887}"/>
              </a:ext>
            </a:extLst>
          </p:cNvPr>
          <p:cNvSpPr/>
          <p:nvPr/>
        </p:nvSpPr>
        <p:spPr>
          <a:xfrm>
            <a:off x="6132596" y="5579500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r>
              <a:rPr lang="en-US" sz="2000" b="1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3AD2F5-4848-1CA9-27AC-39737C452A32}"/>
              </a:ext>
            </a:extLst>
          </p:cNvPr>
          <p:cNvCxnSpPr>
            <a:cxnSpLocks/>
            <a:endCxn id="20" idx="5"/>
          </p:cNvCxnSpPr>
          <p:nvPr/>
        </p:nvCxnSpPr>
        <p:spPr>
          <a:xfrm flipH="1" flipV="1">
            <a:off x="4359434" y="5227106"/>
            <a:ext cx="2040217" cy="47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1482BED-1876-0714-1F62-DC78A3E49BCA}"/>
              </a:ext>
            </a:extLst>
          </p:cNvPr>
          <p:cNvSpPr txBox="1"/>
          <p:nvPr/>
        </p:nvSpPr>
        <p:spPr>
          <a:xfrm>
            <a:off x="-407706" y="4128092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float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DC5F14-C4E8-2497-CB5E-1E08B7F7CD51}"/>
              </a:ext>
            </a:extLst>
          </p:cNvPr>
          <p:cNvSpPr txBox="1"/>
          <p:nvPr/>
        </p:nvSpPr>
        <p:spPr>
          <a:xfrm>
            <a:off x="3540595" y="3289892"/>
            <a:ext cx="211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inh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A1A0C8-1165-E8E9-858F-665D0CE45571}"/>
              </a:ext>
            </a:extLst>
          </p:cNvPr>
          <p:cNvSpPr txBox="1"/>
          <p:nvPr/>
        </p:nvSpPr>
        <p:spPr>
          <a:xfrm>
            <a:off x="3388698" y="5592208"/>
            <a:ext cx="260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addType</a:t>
            </a:r>
            <a:r>
              <a:rPr lang="en-US" dirty="0">
                <a:solidFill>
                  <a:srgbClr val="0070C0"/>
                </a:solidFill>
              </a:rPr>
              <a:t>(id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entry, L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i="1" dirty="0">
                <a:solidFill>
                  <a:srgbClr val="0070C0"/>
                </a:solidFill>
              </a:rPr>
              <a:t>.inh)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905151-B9AE-172D-CCE1-DD8DF89F112F}"/>
              </a:ext>
            </a:extLst>
          </p:cNvPr>
          <p:cNvSpPr txBox="1"/>
          <p:nvPr/>
        </p:nvSpPr>
        <p:spPr>
          <a:xfrm>
            <a:off x="2980074" y="4109982"/>
            <a:ext cx="1359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.inh=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L.inh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635B023-7F78-A8EE-26A1-3EE0C6A61F7A}"/>
              </a:ext>
            </a:extLst>
          </p:cNvPr>
          <p:cNvSpPr/>
          <p:nvPr/>
        </p:nvSpPr>
        <p:spPr>
          <a:xfrm>
            <a:off x="1781874" y="3752833"/>
            <a:ext cx="2583543" cy="537469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67B5524-02BD-D82D-03B1-E1DE6906ECEB}"/>
              </a:ext>
            </a:extLst>
          </p:cNvPr>
          <p:cNvSpPr/>
          <p:nvPr/>
        </p:nvSpPr>
        <p:spPr>
          <a:xfrm>
            <a:off x="2845112" y="6356015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r>
              <a:rPr lang="en-US" sz="2000" b="1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1513373-DFEA-B2B9-4095-AEA3573EAE19}"/>
              </a:ext>
            </a:extLst>
          </p:cNvPr>
          <p:cNvCxnSpPr>
            <a:cxnSpLocks/>
            <a:stCxn id="67" idx="0"/>
            <a:endCxn id="30" idx="4"/>
          </p:cNvCxnSpPr>
          <p:nvPr/>
        </p:nvCxnSpPr>
        <p:spPr>
          <a:xfrm flipV="1">
            <a:off x="3361786" y="5920291"/>
            <a:ext cx="7267" cy="435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DFEBB13-8FCE-89AD-A04D-3B8BD82E5B6B}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3557889" y="5229000"/>
            <a:ext cx="388243" cy="306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ABAE1C8-3CB1-6C86-019C-23C479FA91A9}"/>
              </a:ext>
            </a:extLst>
          </p:cNvPr>
          <p:cNvSpPr txBox="1"/>
          <p:nvPr/>
        </p:nvSpPr>
        <p:spPr>
          <a:xfrm>
            <a:off x="2566416" y="4871980"/>
            <a:ext cx="1359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.inh=L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.inh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B3C9B7-052C-1F9A-510D-2406B7B58F9D}"/>
              </a:ext>
            </a:extLst>
          </p:cNvPr>
          <p:cNvSpPr txBox="1"/>
          <p:nvPr/>
        </p:nvSpPr>
        <p:spPr>
          <a:xfrm>
            <a:off x="4153933" y="4842886"/>
            <a:ext cx="266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addType</a:t>
            </a:r>
            <a:r>
              <a:rPr lang="en-US" dirty="0">
                <a:solidFill>
                  <a:srgbClr val="0070C0"/>
                </a:solidFill>
              </a:rPr>
              <a:t>(id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entry, L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i="1" dirty="0">
                <a:solidFill>
                  <a:srgbClr val="0070C0"/>
                </a:solidFill>
              </a:rPr>
              <a:t>.inh)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474369-09FD-A522-3228-D09BBA2BE4FC}"/>
              </a:ext>
            </a:extLst>
          </p:cNvPr>
          <p:cNvSpPr txBox="1"/>
          <p:nvPr/>
        </p:nvSpPr>
        <p:spPr>
          <a:xfrm>
            <a:off x="4740398" y="4051797"/>
            <a:ext cx="2478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addType</a:t>
            </a:r>
            <a:r>
              <a:rPr lang="en-US" dirty="0">
                <a:solidFill>
                  <a:srgbClr val="0070C0"/>
                </a:solidFill>
              </a:rPr>
              <a:t>(id</a:t>
            </a:r>
            <a:r>
              <a:rPr lang="en-US" baseline="-25000" dirty="0">
                <a:solidFill>
                  <a:srgbClr val="0070C0"/>
                </a:solidFill>
              </a:rPr>
              <a:t>3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entry, </a:t>
            </a:r>
            <a:r>
              <a:rPr lang="en-US" i="1" dirty="0" err="1">
                <a:solidFill>
                  <a:srgbClr val="0070C0"/>
                </a:solidFill>
              </a:rPr>
              <a:t>L.inh</a:t>
            </a:r>
            <a:r>
              <a:rPr lang="en-US" i="1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94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/>
      <p:bldP spid="13" grpId="0"/>
      <p:bldP spid="14" grpId="0"/>
      <p:bldP spid="17" grpId="0"/>
      <p:bldP spid="18" grpId="0"/>
      <p:bldP spid="20" grpId="0"/>
      <p:bldP spid="27" grpId="0"/>
      <p:bldP spid="30" grpId="0"/>
      <p:bldP spid="35" grpId="0"/>
      <p:bldP spid="42" grpId="0"/>
      <p:bldP spid="43" grpId="0"/>
      <p:bldP spid="44" grpId="0"/>
      <p:bldP spid="47" grpId="0"/>
      <p:bldP spid="61" grpId="0" animBg="1"/>
      <p:bldP spid="67" grpId="0"/>
      <p:bldP spid="76" grpId="0"/>
      <p:bldP spid="79" grpId="0"/>
      <p:bldP spid="8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Type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978795"/>
            <a:ext cx="10945968" cy="20606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expressions </a:t>
            </a:r>
            <a:r>
              <a:rPr lang="en-US" altLang="en-US" sz="2400" dirty="0">
                <a:latin typeface="Candara" panose="020E0502030303020204" pitchFamily="34" charset="0"/>
              </a:rPr>
              <a:t>are used to represent structures of types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A </a:t>
            </a:r>
            <a:r>
              <a:rPr lang="en-US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</a:t>
            </a:r>
            <a:r>
              <a:rPr lang="en-US" altLang="en-US" sz="2400" dirty="0">
                <a:latin typeface="Candara" panose="020E0502030303020204" pitchFamily="34" charset="0"/>
              </a:rPr>
              <a:t> is either a basic type or is formed by applying an operator called a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type constructor</a:t>
            </a:r>
            <a:r>
              <a:rPr lang="en-US" altLang="en-US" sz="2400" i="1" dirty="0">
                <a:latin typeface="Candara" panose="020E0502030303020204" pitchFamily="34" charset="0"/>
              </a:rPr>
              <a:t> </a:t>
            </a:r>
            <a:r>
              <a:rPr lang="en-US" altLang="en-US" sz="2400" dirty="0">
                <a:latin typeface="Candara" panose="020E0502030303020204" pitchFamily="34" charset="0"/>
              </a:rPr>
              <a:t>to a </a:t>
            </a:r>
            <a:r>
              <a:rPr lang="en-US" altLang="en-US" sz="2400" i="1" dirty="0">
                <a:latin typeface="Candara" panose="020E0502030303020204" pitchFamily="34" charset="0"/>
              </a:rPr>
              <a:t>type expression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sets of basic types and constructors depend on the language to be checked</a:t>
            </a:r>
          </a:p>
          <a:p>
            <a:pPr>
              <a:lnSpc>
                <a:spcPct val="100000"/>
              </a:lnSpc>
            </a:pPr>
            <a:endParaRPr lang="en-US" altLang="en-US" sz="24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dirty="0">
              <a:latin typeface="Candara" panose="020E0502030303020204" pitchFamily="34" charset="0"/>
            </a:endParaRPr>
          </a:p>
          <a:p>
            <a:pPr lvl="1">
              <a:lnSpc>
                <a:spcPct val="100000"/>
              </a:lnSpc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286" y="3368215"/>
            <a:ext cx="4648200" cy="19431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8199" y="3073576"/>
            <a:ext cx="73152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Example</a:t>
            </a:r>
            <a:r>
              <a:rPr lang="en-US" altLang="en-US" sz="2400" dirty="0">
                <a:latin typeface="Candara" panose="020E0502030303020204" pitchFamily="34" charset="0"/>
              </a:rPr>
              <a:t>: The array type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int[2][3] </a:t>
            </a:r>
            <a:r>
              <a:rPr lang="en-US" altLang="en-US" sz="2400" dirty="0">
                <a:latin typeface="Candara" panose="020E0502030303020204" pitchFamily="34" charset="0"/>
              </a:rPr>
              <a:t>can be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ndara" panose="020E0502030303020204" pitchFamily="34" charset="0"/>
              </a:rPr>
              <a:t>read as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“array of two arrays of 3 integers each”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ndara" panose="020E0502030303020204" pitchFamily="34" charset="0"/>
              </a:rPr>
              <a:t>written as a type expression 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array(2,array(3,integer))</a:t>
            </a:r>
          </a:p>
          <a:p>
            <a:pPr marL="12573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ndara" panose="020E0502030303020204" pitchFamily="34" charset="0"/>
              </a:rPr>
              <a:t>the operator 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array</a:t>
            </a:r>
            <a:r>
              <a:rPr lang="en-US" altLang="en-US" sz="2400" dirty="0">
                <a:latin typeface="Candara" panose="020E0502030303020204" pitchFamily="34" charset="0"/>
              </a:rPr>
              <a:t> takes two parameters, a number and a type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BAE42EF-0521-E34A-D144-442DCEE15625}"/>
              </a:ext>
            </a:extLst>
          </p:cNvPr>
          <p:cNvSpPr txBox="1">
            <a:spLocks/>
          </p:cNvSpPr>
          <p:nvPr/>
        </p:nvSpPr>
        <p:spPr>
          <a:xfrm>
            <a:off x="743857" y="5470969"/>
            <a:ext cx="10945968" cy="91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expressions </a:t>
            </a:r>
            <a:r>
              <a:rPr lang="en-US" altLang="en-US" sz="2400" dirty="0">
                <a:latin typeface="Candara" panose="020E0502030303020204" pitchFamily="34" charset="0"/>
              </a:rPr>
              <a:t>can be represented using a graph and the value-number method can used to store type expressions.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5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Definition of Type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78795"/>
            <a:ext cx="11035937" cy="52652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A </a:t>
            </a:r>
            <a:r>
              <a:rPr lang="en-US" altLang="en-US" sz="2200" dirty="0">
                <a:solidFill>
                  <a:srgbClr val="7030A0"/>
                </a:solidFill>
                <a:latin typeface="Candara" panose="020E0502030303020204" pitchFamily="34" charset="0"/>
              </a:rPr>
              <a:t>basic type</a:t>
            </a:r>
            <a:r>
              <a:rPr lang="en-US" altLang="en-US" sz="2200" dirty="0">
                <a:latin typeface="Candara" panose="020E0502030303020204" pitchFamily="34" charset="0"/>
              </a:rPr>
              <a:t> is a </a:t>
            </a:r>
            <a:r>
              <a:rPr lang="en-US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</a:t>
            </a:r>
            <a:r>
              <a:rPr lang="en-US" altLang="en-US" sz="2200" dirty="0">
                <a:latin typeface="Candara" panose="020E0502030303020204" pitchFamily="34" charset="0"/>
              </a:rPr>
              <a:t> such as </a:t>
            </a:r>
            <a:r>
              <a:rPr lang="en-US" altLang="en-US" sz="22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boolean, float, char, integer and void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A </a:t>
            </a:r>
            <a:r>
              <a:rPr lang="en-US" altLang="en-US" sz="2200" dirty="0">
                <a:solidFill>
                  <a:srgbClr val="7030A0"/>
                </a:solidFill>
                <a:latin typeface="Candara" panose="020E0502030303020204" pitchFamily="34" charset="0"/>
              </a:rPr>
              <a:t>type name</a:t>
            </a:r>
            <a:r>
              <a:rPr lang="en-US" altLang="en-US" sz="2200" dirty="0">
                <a:latin typeface="Candara" panose="020E0502030303020204" pitchFamily="34" charset="0"/>
              </a:rPr>
              <a:t> is a </a:t>
            </a:r>
            <a:r>
              <a:rPr lang="en-US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 </a:t>
            </a:r>
            <a:r>
              <a:rPr lang="en-US" altLang="en-US" sz="2200" dirty="0">
                <a:latin typeface="Candara" panose="020E0502030303020204" pitchFamily="34" charset="0"/>
              </a:rPr>
              <a:t>such as name of a record, structure or class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A </a:t>
            </a:r>
            <a:r>
              <a:rPr lang="en-US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</a:t>
            </a:r>
            <a:r>
              <a:rPr lang="en-US" altLang="en-US" sz="2200" dirty="0">
                <a:latin typeface="Candara" panose="020E0502030303020204" pitchFamily="34" charset="0"/>
              </a:rPr>
              <a:t> can be formed by applying the </a:t>
            </a:r>
            <a:r>
              <a:rPr lang="en-US" altLang="en-US" sz="22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array</a:t>
            </a:r>
            <a:r>
              <a:rPr lang="en-US" altLang="en-US" sz="2200" dirty="0">
                <a:latin typeface="Candara" panose="020E0502030303020204" pitchFamily="34" charset="0"/>
              </a:rPr>
              <a:t> type constructor to a number and a type expression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A </a:t>
            </a:r>
            <a:r>
              <a:rPr lang="en-US" altLang="en-US" sz="22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record</a:t>
            </a:r>
            <a:r>
              <a:rPr lang="en-US" altLang="en-US" sz="2200" dirty="0">
                <a:latin typeface="Candara" panose="020E0502030303020204" pitchFamily="34" charset="0"/>
              </a:rPr>
              <a:t> is a data structure with named fields. A type name can be formed by applying the </a:t>
            </a:r>
            <a:r>
              <a:rPr lang="en-US" altLang="en-US" sz="22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record</a:t>
            </a:r>
            <a:r>
              <a:rPr lang="en-US" altLang="en-US" sz="2200" dirty="0">
                <a:latin typeface="Candara" panose="020E0502030303020204" pitchFamily="34" charset="0"/>
              </a:rPr>
              <a:t> type constructor to the field names and their types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A type expression can be formed by using the type constructor </a:t>
            </a: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 for function types. 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 err="1">
                <a:latin typeface="Candara" panose="020E0502030303020204" pitchFamily="34" charset="0"/>
                <a:sym typeface="Wingdings" panose="05000000000000000000" pitchFamily="2" charset="2"/>
              </a:rPr>
              <a:t>st</a:t>
            </a: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 denotes “function from type s to type t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If s and t are </a:t>
            </a:r>
            <a:r>
              <a:rPr lang="en-US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expressions</a:t>
            </a: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, then their Cartesian product </a:t>
            </a:r>
            <a:r>
              <a:rPr lang="en-US" altLang="en-US" sz="22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  <a:sym typeface="Wingdings" panose="05000000000000000000" pitchFamily="2" charset="2"/>
              </a:rPr>
              <a:t>s x t</a:t>
            </a: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 is a type expression. 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Is used to represent a list or tuple of tuples (e.g., for function parameters)</a:t>
            </a:r>
          </a:p>
          <a:p>
            <a:pPr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  <a:sym typeface="Wingdings" panose="05000000000000000000" pitchFamily="2" charset="2"/>
              </a:rPr>
              <a:t>Type expressions may contain variables whose values are</a:t>
            </a:r>
            <a:r>
              <a:rPr lang="en-US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type expressions</a:t>
            </a:r>
          </a:p>
          <a:p>
            <a:pPr>
              <a:lnSpc>
                <a:spcPct val="100000"/>
              </a:lnSpc>
            </a:pPr>
            <a:endParaRPr lang="en-US" altLang="en-US" sz="2200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6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Type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78795"/>
            <a:ext cx="11035937" cy="4842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Many type-checking rules have the form,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“if two type expressions are equal then return a certain type else error”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When </a:t>
            </a:r>
            <a:r>
              <a:rPr lang="en-US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type expressions </a:t>
            </a:r>
            <a:r>
              <a:rPr lang="en-US" altLang="en-US" sz="2400" dirty="0">
                <a:latin typeface="Candara" panose="020E0502030303020204" pitchFamily="34" charset="0"/>
              </a:rPr>
              <a:t>are represented by graphs, two types are </a:t>
            </a: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structurally equivalent</a:t>
            </a:r>
            <a:r>
              <a:rPr lang="en-US" altLang="en-US" sz="2400" dirty="0">
                <a:latin typeface="Candara" panose="020E0502030303020204" pitchFamily="34" charset="0"/>
              </a:rPr>
              <a:t> if and only if one of the following conditions hold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They are the same basic type.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They are formed by applying the same constructor to structurally equivalent types</a:t>
            </a:r>
          </a:p>
          <a:p>
            <a:pPr lvl="1">
              <a:lnSpc>
                <a:spcPct val="100000"/>
              </a:lnSpc>
            </a:pPr>
            <a:r>
              <a:rPr lang="en-US" altLang="en-US" sz="2200" dirty="0">
                <a:latin typeface="Candara" panose="020E0502030303020204" pitchFamily="34" charset="0"/>
              </a:rPr>
              <a:t>One is a type name that denotes the other</a:t>
            </a:r>
          </a:p>
          <a:p>
            <a:pPr>
              <a:lnSpc>
                <a:spcPct val="100000"/>
              </a:lnSpc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25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Storage Layout for Local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78795"/>
            <a:ext cx="11035937" cy="4842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From the type of a name, the amount of storage required for it during runtime can be determined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At compile time, these amounts can be used to assign each name a relative address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type and relative address are saved in the symbol-table entry for the name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Data of varying length, such as strings, dynamic arrays is handled by reserving a known fixed amount of storage for a pointer to the data</a:t>
            </a:r>
            <a:endParaRPr lang="en-US" altLang="en-US" sz="22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Storage Layout for Local Names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78795"/>
            <a:ext cx="11035937" cy="48424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width</a:t>
            </a:r>
            <a:r>
              <a:rPr lang="en-US" altLang="en-US" sz="2400" dirty="0">
                <a:latin typeface="Candara" panose="020E0502030303020204" pitchFamily="34" charset="0"/>
              </a:rPr>
              <a:t> of a type is the number of storage units needed for objects of that type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we consider a byte as the smallest unit of addressable memory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A basic type, such as a 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character</a:t>
            </a:r>
            <a:r>
              <a:rPr lang="en-US" altLang="en-US" sz="2400" dirty="0">
                <a:latin typeface="Candara" panose="020E0502030303020204" pitchFamily="34" charset="0"/>
              </a:rPr>
              <a:t>, </a:t>
            </a:r>
            <a:r>
              <a:rPr lang="en-US" altLang="en-US" sz="24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integer</a:t>
            </a:r>
            <a:r>
              <a:rPr lang="en-US" altLang="en-US" sz="2400" dirty="0">
                <a:latin typeface="Candara" panose="020E0502030303020204" pitchFamily="34" charset="0"/>
              </a:rPr>
              <a:t>, or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float</a:t>
            </a:r>
            <a:r>
              <a:rPr lang="en-US" altLang="en-US" sz="2400" dirty="0">
                <a:latin typeface="Candara" panose="020E0502030303020204" pitchFamily="34" charset="0"/>
              </a:rPr>
              <a:t>, requires an integral number of bytes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For easy access, storage for aggregates such as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ndara" panose="020E0502030303020204" pitchFamily="34" charset="0"/>
              </a:rPr>
              <a:t>arrays</a:t>
            </a:r>
            <a:r>
              <a:rPr lang="en-US" altLang="en-US" sz="2400" dirty="0">
                <a:latin typeface="Candara" panose="020E0502030303020204" pitchFamily="34" charset="0"/>
              </a:rPr>
              <a:t> and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classes</a:t>
            </a:r>
            <a:r>
              <a:rPr lang="en-US" altLang="en-US" sz="2400" dirty="0">
                <a:latin typeface="Candara" panose="020E0502030303020204" pitchFamily="34" charset="0"/>
              </a:rPr>
              <a:t> is allocated in one contiguous block of bytes</a:t>
            </a:r>
          </a:p>
          <a:p>
            <a:pPr>
              <a:lnSpc>
                <a:spcPct val="100000"/>
              </a:lnSpc>
            </a:pPr>
            <a:endParaRPr lang="en-US" altLang="en-US" sz="2400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3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011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Computing Types and Their Widths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038600" y="6443434"/>
            <a:ext cx="4114800" cy="365125"/>
          </a:xfrm>
        </p:spPr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610600" y="6443434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7045" y="1356161"/>
            <a:ext cx="5652950" cy="4110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dirty="0">
                <a:latin typeface="Candara" panose="020E0502030303020204" pitchFamily="34" charset="0"/>
              </a:rPr>
              <a:t>A modified grammar</a:t>
            </a: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prstClr val="black"/>
                </a:solidFill>
                <a:latin typeface="Candara" panose="020E0502030303020204" pitchFamily="34" charset="0"/>
              </a:rPr>
              <a:t>Supports declarations like </a:t>
            </a:r>
          </a:p>
          <a:p>
            <a:pPr lvl="1">
              <a:lnSpc>
                <a:spcPct val="100000"/>
              </a:lnSpc>
            </a:pPr>
            <a:r>
              <a:rPr lang="en-US" altLang="en-US" sz="2800" dirty="0">
                <a:solidFill>
                  <a:srgbClr val="C00000"/>
                </a:solidFill>
                <a:latin typeface="Candara" panose="020E0502030303020204" pitchFamily="34" charset="0"/>
              </a:rPr>
              <a:t>int id; float id;</a:t>
            </a:r>
          </a:p>
          <a:p>
            <a:pPr lvl="1">
              <a:lnSpc>
                <a:spcPct val="100000"/>
              </a:lnSpc>
            </a:pPr>
            <a:r>
              <a:rPr lang="en-US" altLang="en-US" sz="2800" dirty="0">
                <a:solidFill>
                  <a:srgbClr val="C00000"/>
                </a:solidFill>
                <a:latin typeface="Candara" panose="020E0502030303020204" pitchFamily="34" charset="0"/>
              </a:rPr>
              <a:t>int[2][3][3] id;</a:t>
            </a:r>
          </a:p>
          <a:p>
            <a:pPr lvl="1">
              <a:lnSpc>
                <a:spcPct val="100000"/>
              </a:lnSpc>
            </a:pPr>
            <a:r>
              <a:rPr lang="en-US" altLang="en-US" sz="2800" dirty="0">
                <a:solidFill>
                  <a:srgbClr val="C00000"/>
                </a:solidFill>
                <a:latin typeface="Candara" panose="020E0502030303020204" pitchFamily="34" charset="0"/>
              </a:rPr>
              <a:t>record { int id; int[2][3] id2} id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055" y="1391585"/>
            <a:ext cx="4577445" cy="14491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DAF2DB-2B0A-2275-FB45-7C4025B83F94}"/>
              </a:ext>
            </a:extLst>
          </p:cNvPr>
          <p:cNvSpPr/>
          <p:nvPr/>
        </p:nvSpPr>
        <p:spPr>
          <a:xfrm>
            <a:off x="8153400" y="1755769"/>
            <a:ext cx="2398486" cy="348342"/>
          </a:xfrm>
          <a:prstGeom prst="rect">
            <a:avLst/>
          </a:prstGeom>
          <a:solidFill>
            <a:srgbClr val="5C250D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ED327-C794-0315-EFB7-6FE4BC1DA4E6}"/>
              </a:ext>
            </a:extLst>
          </p:cNvPr>
          <p:cNvSpPr/>
          <p:nvPr/>
        </p:nvSpPr>
        <p:spPr>
          <a:xfrm>
            <a:off x="6284685" y="1756229"/>
            <a:ext cx="4402182" cy="94342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2BAE0-46AD-63BA-1D0C-620739824CC8}"/>
              </a:ext>
            </a:extLst>
          </p:cNvPr>
          <p:cNvSpPr txBox="1"/>
          <p:nvPr/>
        </p:nvSpPr>
        <p:spPr>
          <a:xfrm>
            <a:off x="5510079" y="3345704"/>
            <a:ext cx="3237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Let’s start with the productions related to type definition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717F14-4AFE-4BBB-1A5E-7C85A9BE7E3D}"/>
              </a:ext>
            </a:extLst>
          </p:cNvPr>
          <p:cNvCxnSpPr>
            <a:cxnSpLocks/>
          </p:cNvCxnSpPr>
          <p:nvPr/>
        </p:nvCxnSpPr>
        <p:spPr>
          <a:xfrm flipV="1">
            <a:off x="6636564" y="2743370"/>
            <a:ext cx="410664" cy="65660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3F7347-CAB6-F511-6928-00D8EC7B1A50}"/>
              </a:ext>
            </a:extLst>
          </p:cNvPr>
          <p:cNvSpPr txBox="1"/>
          <p:nvPr/>
        </p:nvSpPr>
        <p:spPr>
          <a:xfrm>
            <a:off x="9719039" y="3321279"/>
            <a:ext cx="2431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For the next example we omit the record part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733373-AFCD-71EB-DB2D-7F8C165C82C8}"/>
              </a:ext>
            </a:extLst>
          </p:cNvPr>
          <p:cNvCxnSpPr>
            <a:cxnSpLocks/>
          </p:cNvCxnSpPr>
          <p:nvPr/>
        </p:nvCxnSpPr>
        <p:spPr>
          <a:xfrm flipH="1" flipV="1">
            <a:off x="9647828" y="2112262"/>
            <a:ext cx="1214302" cy="124753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6" grpId="0" animBg="1"/>
      <p:bldP spid="8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>
            <a:extLst>
              <a:ext uri="{FF2B5EF4-FFF2-40B4-BE49-F238E27FC236}">
                <a16:creationId xmlns:a16="http://schemas.microsoft.com/office/drawing/2014/main" id="{5C8B7324-BFCE-A4F4-E61C-F9474F9A9FE0}"/>
              </a:ext>
            </a:extLst>
          </p:cNvPr>
          <p:cNvSpPr txBox="1"/>
          <p:nvPr/>
        </p:nvSpPr>
        <p:spPr>
          <a:xfrm>
            <a:off x="3621017" y="4060629"/>
            <a:ext cx="2112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 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F7B3C6-00DE-1D46-F75F-27CE93A50172}"/>
              </a:ext>
            </a:extLst>
          </p:cNvPr>
          <p:cNvSpPr txBox="1"/>
          <p:nvPr/>
        </p:nvSpPr>
        <p:spPr>
          <a:xfrm>
            <a:off x="188686" y="3468914"/>
            <a:ext cx="137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int</a:t>
            </a:r>
          </a:p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4</a:t>
            </a:r>
            <a:endParaRPr lang="en-US" b="1" i="1" dirty="0">
              <a:solidFill>
                <a:srgbClr val="0070C0"/>
              </a:solidFill>
            </a:endParaRPr>
          </a:p>
          <a:p>
            <a:pPr algn="r"/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79A6CE-8B87-0AEA-BF58-73BFE05C230A}"/>
              </a:ext>
            </a:extLst>
          </p:cNvPr>
          <p:cNvSpPr/>
          <p:nvPr/>
        </p:nvSpPr>
        <p:spPr>
          <a:xfrm>
            <a:off x="461188" y="3053388"/>
            <a:ext cx="3085976" cy="415862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0862-18AE-BC89-E99B-DAC84D9A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863" y="644634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14AAA0-BD6E-5BED-B2B7-9676621BC470}"/>
              </a:ext>
            </a:extLst>
          </p:cNvPr>
          <p:cNvSpPr/>
          <p:nvPr/>
        </p:nvSpPr>
        <p:spPr>
          <a:xfrm>
            <a:off x="2182135" y="254216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5D15A6-B36E-7993-2CDA-D1334A28E466}"/>
              </a:ext>
            </a:extLst>
          </p:cNvPr>
          <p:cNvSpPr/>
          <p:nvPr/>
        </p:nvSpPr>
        <p:spPr>
          <a:xfrm>
            <a:off x="181788" y="3344387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B3F4E-C682-D58C-6E0D-549D6A9F8443}"/>
              </a:ext>
            </a:extLst>
          </p:cNvPr>
          <p:cNvSpPr/>
          <p:nvPr/>
        </p:nvSpPr>
        <p:spPr>
          <a:xfrm>
            <a:off x="-220014" y="4358754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7BB4D-B8C8-61C4-BB8D-63D2F6464569}"/>
              </a:ext>
            </a:extLst>
          </p:cNvPr>
          <p:cNvCxnSpPr>
            <a:cxnSpLocks/>
          </p:cNvCxnSpPr>
          <p:nvPr/>
        </p:nvCxnSpPr>
        <p:spPr>
          <a:xfrm flipH="1">
            <a:off x="321488" y="2859987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129F8F-D0E9-B879-C98D-E2E0880F8B23}"/>
              </a:ext>
            </a:extLst>
          </p:cNvPr>
          <p:cNvCxnSpPr>
            <a:cxnSpLocks/>
          </p:cNvCxnSpPr>
          <p:nvPr/>
        </p:nvCxnSpPr>
        <p:spPr>
          <a:xfrm flipV="1">
            <a:off x="296660" y="3722020"/>
            <a:ext cx="24828" cy="63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7E3E52-6ACE-287F-2112-1F46B1ACF188}"/>
              </a:ext>
            </a:extLst>
          </p:cNvPr>
          <p:cNvSpPr txBox="1"/>
          <p:nvPr/>
        </p:nvSpPr>
        <p:spPr>
          <a:xfrm>
            <a:off x="1670474" y="1158165"/>
            <a:ext cx="393743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Annotated Parse tree for </a:t>
            </a:r>
            <a:r>
              <a:rPr lang="en-US" altLang="en-US" sz="2000" b="1" dirty="0">
                <a:latin typeface="Candara" panose="020E0502030303020204" pitchFamily="34" charset="0"/>
              </a:rPr>
              <a:t>int [2][3]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82AFDA-D2E8-31E0-77BD-75C4EC53471B}"/>
              </a:ext>
            </a:extLst>
          </p:cNvPr>
          <p:cNvSpPr/>
          <p:nvPr/>
        </p:nvSpPr>
        <p:spPr>
          <a:xfrm>
            <a:off x="3418939" y="3270660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BDC42-7C28-DE1F-5392-9FD62ED9F8C2}"/>
              </a:ext>
            </a:extLst>
          </p:cNvPr>
          <p:cNvCxnSpPr>
            <a:cxnSpLocks/>
          </p:cNvCxnSpPr>
          <p:nvPr/>
        </p:nvCxnSpPr>
        <p:spPr>
          <a:xfrm>
            <a:off x="2502257" y="2853683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423CCF-8CF8-F154-2CCE-CCE7CA644A43}"/>
              </a:ext>
            </a:extLst>
          </p:cNvPr>
          <p:cNvSpPr/>
          <p:nvPr/>
        </p:nvSpPr>
        <p:spPr>
          <a:xfrm>
            <a:off x="4717488" y="428943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8DCA-DD5F-7C96-264D-3824F786A65E}"/>
              </a:ext>
            </a:extLst>
          </p:cNvPr>
          <p:cNvCxnSpPr>
            <a:cxnSpLocks/>
          </p:cNvCxnSpPr>
          <p:nvPr/>
        </p:nvCxnSpPr>
        <p:spPr>
          <a:xfrm>
            <a:off x="3752936" y="3781074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8D534EF-92D7-6C39-F47A-AB852369452B}"/>
              </a:ext>
            </a:extLst>
          </p:cNvPr>
          <p:cNvSpPr/>
          <p:nvPr/>
        </p:nvSpPr>
        <p:spPr>
          <a:xfrm>
            <a:off x="577084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6820CD-FED1-7DA9-6250-78D8465E2FB2}"/>
              </a:ext>
            </a:extLst>
          </p:cNvPr>
          <p:cNvCxnSpPr>
            <a:cxnSpLocks/>
          </p:cNvCxnSpPr>
          <p:nvPr/>
        </p:nvCxnSpPr>
        <p:spPr>
          <a:xfrm flipH="1">
            <a:off x="1268627" y="3792380"/>
            <a:ext cx="2494882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ACE0A5-5454-E77B-0D2D-49E775D843CB}"/>
              </a:ext>
            </a:extLst>
          </p:cNvPr>
          <p:cNvSpPr txBox="1"/>
          <p:nvPr/>
        </p:nvSpPr>
        <p:spPr>
          <a:xfrm>
            <a:off x="776008" y="2188288"/>
            <a:ext cx="1457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4B4FF2-7803-7C1A-FF3D-08021DB14F36}"/>
              </a:ext>
            </a:extLst>
          </p:cNvPr>
          <p:cNvCxnSpPr>
            <a:cxnSpLocks/>
          </p:cNvCxnSpPr>
          <p:nvPr/>
        </p:nvCxnSpPr>
        <p:spPr>
          <a:xfrm flipV="1">
            <a:off x="2349943" y="3792380"/>
            <a:ext cx="141356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74820C-3E8E-E43D-85EC-0ACE9654EBEF}"/>
              </a:ext>
            </a:extLst>
          </p:cNvPr>
          <p:cNvCxnSpPr>
            <a:cxnSpLocks/>
          </p:cNvCxnSpPr>
          <p:nvPr/>
        </p:nvCxnSpPr>
        <p:spPr>
          <a:xfrm flipV="1">
            <a:off x="3351434" y="3792380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E5FE7FD-5FDB-E1D8-6FB5-2C1022C1FCB7}"/>
              </a:ext>
            </a:extLst>
          </p:cNvPr>
          <p:cNvSpPr/>
          <p:nvPr/>
        </p:nvSpPr>
        <p:spPr>
          <a:xfrm>
            <a:off x="1658400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71BB2F-9FE3-BD6A-573A-CAA9A60DE4AC}"/>
              </a:ext>
            </a:extLst>
          </p:cNvPr>
          <p:cNvSpPr/>
          <p:nvPr/>
        </p:nvSpPr>
        <p:spPr>
          <a:xfrm>
            <a:off x="2659891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D01B0C-A661-FC5B-B757-BE093C8B55FA}"/>
              </a:ext>
            </a:extLst>
          </p:cNvPr>
          <p:cNvSpPr/>
          <p:nvPr/>
        </p:nvSpPr>
        <p:spPr>
          <a:xfrm>
            <a:off x="1542081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CF7C9B-99E0-295D-3490-13CFE09A106A}"/>
              </a:ext>
            </a:extLst>
          </p:cNvPr>
          <p:cNvCxnSpPr>
            <a:cxnSpLocks/>
          </p:cNvCxnSpPr>
          <p:nvPr/>
        </p:nvCxnSpPr>
        <p:spPr>
          <a:xfrm flipH="1">
            <a:off x="2233624" y="4697941"/>
            <a:ext cx="2776112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D6906D-DCFF-8F73-8466-12DFA744CE61}"/>
              </a:ext>
            </a:extLst>
          </p:cNvPr>
          <p:cNvCxnSpPr>
            <a:cxnSpLocks/>
          </p:cNvCxnSpPr>
          <p:nvPr/>
        </p:nvCxnSpPr>
        <p:spPr>
          <a:xfrm flipV="1">
            <a:off x="3416538" y="4697941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DA7EE3-6658-B9B4-61BC-D7E9ECA5C0AA}"/>
              </a:ext>
            </a:extLst>
          </p:cNvPr>
          <p:cNvCxnSpPr>
            <a:cxnSpLocks/>
          </p:cNvCxnSpPr>
          <p:nvPr/>
        </p:nvCxnSpPr>
        <p:spPr>
          <a:xfrm flipV="1">
            <a:off x="4577683" y="4697941"/>
            <a:ext cx="432053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9AD717-A452-60D1-36A7-DEBF5EB11F40}"/>
              </a:ext>
            </a:extLst>
          </p:cNvPr>
          <p:cNvSpPr/>
          <p:nvPr/>
        </p:nvSpPr>
        <p:spPr>
          <a:xfrm>
            <a:off x="2724995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E8B92A2-D0FE-C356-F172-66CB02E79262}"/>
              </a:ext>
            </a:extLst>
          </p:cNvPr>
          <p:cNvSpPr/>
          <p:nvPr/>
        </p:nvSpPr>
        <p:spPr>
          <a:xfrm>
            <a:off x="3886140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577CE-6C64-0640-4CFE-40FABD66DA96}"/>
              </a:ext>
            </a:extLst>
          </p:cNvPr>
          <p:cNvSpPr/>
          <p:nvPr/>
        </p:nvSpPr>
        <p:spPr>
          <a:xfrm>
            <a:off x="6132631" y="5378337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3CA4AF-7634-2B80-DF70-9C556B2ACA98}"/>
              </a:ext>
            </a:extLst>
          </p:cNvPr>
          <p:cNvCxnSpPr>
            <a:cxnSpLocks/>
          </p:cNvCxnSpPr>
          <p:nvPr/>
        </p:nvCxnSpPr>
        <p:spPr>
          <a:xfrm>
            <a:off x="5009736" y="4697941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E6DAC52-FC5E-7946-0E23-5A79C48BB54A}"/>
              </a:ext>
            </a:extLst>
          </p:cNvPr>
          <p:cNvSpPr/>
          <p:nvPr/>
        </p:nvSpPr>
        <p:spPr>
          <a:xfrm>
            <a:off x="5912277" y="6033994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1E2EE4-C4DB-D0D4-D8CA-D78198E3D990}"/>
              </a:ext>
            </a:extLst>
          </p:cNvPr>
          <p:cNvCxnSpPr>
            <a:cxnSpLocks/>
          </p:cNvCxnSpPr>
          <p:nvPr/>
        </p:nvCxnSpPr>
        <p:spPr>
          <a:xfrm flipH="1" flipV="1">
            <a:off x="6424879" y="5786844"/>
            <a:ext cx="4072" cy="24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BE77DC-2DED-EB00-E010-1E8DBAD0196D}"/>
              </a:ext>
            </a:extLst>
          </p:cNvPr>
          <p:cNvSpPr txBox="1"/>
          <p:nvPr/>
        </p:nvSpPr>
        <p:spPr>
          <a:xfrm>
            <a:off x="1713637" y="4711479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2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E0AFDE-43F6-A65A-3471-E5E3CAA8F407}"/>
              </a:ext>
            </a:extLst>
          </p:cNvPr>
          <p:cNvSpPr txBox="1"/>
          <p:nvPr/>
        </p:nvSpPr>
        <p:spPr>
          <a:xfrm>
            <a:off x="2794951" y="5605853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1742961-149C-6496-DF22-5E81CB6AF09E}"/>
              </a:ext>
            </a:extLst>
          </p:cNvPr>
          <p:cNvSpPr txBox="1"/>
          <p:nvPr/>
        </p:nvSpPr>
        <p:spPr>
          <a:xfrm>
            <a:off x="2263722" y="3197026"/>
            <a:ext cx="1413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 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iw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2AC9C2-41B8-61EA-EF8E-3C32286DB157}"/>
              </a:ext>
            </a:extLst>
          </p:cNvPr>
          <p:cNvSpPr txBox="1"/>
          <p:nvPr/>
        </p:nvSpPr>
        <p:spPr>
          <a:xfrm>
            <a:off x="6707414" y="5110012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it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iw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592B77-7D49-A5B4-EF31-E3334875963D}"/>
              </a:ext>
            </a:extLst>
          </p:cNvPr>
          <p:cNvSpPr txBox="1"/>
          <p:nvPr/>
        </p:nvSpPr>
        <p:spPr>
          <a:xfrm>
            <a:off x="5284023" y="4162226"/>
            <a:ext cx="460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array(3,int)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3*4=12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2585B2-6D53-2EDF-FE6C-D66AC19D62BD}"/>
              </a:ext>
            </a:extLst>
          </p:cNvPr>
          <p:cNvSpPr txBox="1"/>
          <p:nvPr/>
        </p:nvSpPr>
        <p:spPr>
          <a:xfrm>
            <a:off x="3932866" y="3138971"/>
            <a:ext cx="54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2*12=24 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AF4A25-8F1C-D99E-C806-B6E5AA655CF6}"/>
              </a:ext>
            </a:extLst>
          </p:cNvPr>
          <p:cNvSpPr txBox="1"/>
          <p:nvPr/>
        </p:nvSpPr>
        <p:spPr>
          <a:xfrm>
            <a:off x="2648350" y="2217315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24</a:t>
            </a:r>
            <a:endParaRPr lang="en-US" i="1" dirty="0">
              <a:solidFill>
                <a:srgbClr val="0070C0"/>
              </a:solidFill>
            </a:endParaRPr>
          </a:p>
        </p:txBody>
      </p:sp>
      <p:graphicFrame>
        <p:nvGraphicFramePr>
          <p:cNvPr id="71" name="Table 6">
            <a:extLst>
              <a:ext uri="{FF2B5EF4-FFF2-40B4-BE49-F238E27FC236}">
                <a16:creationId xmlns:a16="http://schemas.microsoft.com/office/drawing/2014/main" id="{F1912B34-850A-58B0-23DE-831B88CCC3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522552"/>
              </p:ext>
            </p:extLst>
          </p:nvPr>
        </p:nvGraphicFramePr>
        <p:xfrm>
          <a:off x="7544726" y="58698"/>
          <a:ext cx="4552337" cy="27432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47398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078356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 C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width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B </a:t>
                      </a:r>
                      <a:r>
                        <a:rPr lang="en-US" sz="14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baseline="0" dirty="0">
                          <a:sym typeface="Wingdings" panose="05000000000000000000" pitchFamily="2" charset="2"/>
                        </a:rPr>
                        <a:t>int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float,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B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float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int,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it,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iw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[num] C</a:t>
                      </a:r>
                      <a:r>
                        <a:rPr kumimoji="0" lang="en-US" sz="16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r>
                        <a:rPr lang="en-US" sz="1600" i="1" baseline="-25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it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C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it, C</a:t>
                      </a:r>
                      <a:r>
                        <a:rPr lang="en-US" sz="1600" i="1" baseline="-25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iw</a:t>
                      </a:r>
                      <a:endParaRPr lang="en-US" sz="1600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array(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type)</a:t>
                      </a: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*C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21E0CECD-7A31-C825-A308-FF9320C4BD11}"/>
              </a:ext>
            </a:extLst>
          </p:cNvPr>
          <p:cNvSpPr/>
          <p:nvPr/>
        </p:nvSpPr>
        <p:spPr>
          <a:xfrm>
            <a:off x="9080852" y="425261"/>
            <a:ext cx="2805017" cy="2350308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CF36CB8-F022-1CA9-8D72-33B15364344D}"/>
              </a:ext>
            </a:extLst>
          </p:cNvPr>
          <p:cNvCxnSpPr/>
          <p:nvPr/>
        </p:nvCxnSpPr>
        <p:spPr>
          <a:xfrm flipH="1" flipV="1">
            <a:off x="6707414" y="4842269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8306C60-022C-FAE6-7870-A57506F19AAB}"/>
              </a:ext>
            </a:extLst>
          </p:cNvPr>
          <p:cNvCxnSpPr/>
          <p:nvPr/>
        </p:nvCxnSpPr>
        <p:spPr>
          <a:xfrm flipH="1" flipV="1">
            <a:off x="5524500" y="3862557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D988C4B-644B-69E9-0BA7-FC31C6ABB91B}"/>
              </a:ext>
            </a:extLst>
          </p:cNvPr>
          <p:cNvCxnSpPr/>
          <p:nvPr/>
        </p:nvCxnSpPr>
        <p:spPr>
          <a:xfrm flipH="1" flipV="1">
            <a:off x="4073070" y="2904612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6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5" grpId="0"/>
      <p:bldP spid="26" grpId="0" animBg="1"/>
      <p:bldP spid="7" grpId="0"/>
      <p:bldP spid="8" grpId="0"/>
      <p:bldP spid="9" grpId="0"/>
      <p:bldP spid="12" grpId="0" animBg="1"/>
      <p:bldP spid="13" grpId="0"/>
      <p:bldP spid="17" grpId="0"/>
      <p:bldP spid="23" grpId="0"/>
      <p:bldP spid="51" grpId="0"/>
      <p:bldP spid="53" grpId="0"/>
      <p:bldP spid="63" grpId="0"/>
      <p:bldP spid="67" grpId="0"/>
      <p:bldP spid="68" grpId="0"/>
      <p:bldP spid="75" grpId="0"/>
      <p:bldP spid="78" grpId="0"/>
      <p:bldP spid="93" grpId="0"/>
      <p:bldP spid="94" grpId="0"/>
      <p:bldP spid="97" grpId="0"/>
      <p:bldP spid="100" grpId="0"/>
      <p:bldP spid="101" grpId="0"/>
      <p:bldP spid="102" grpId="0"/>
      <p:bldP spid="103" grpId="0"/>
      <p:bldP spid="7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E4DB40E-F24C-E44C-EB4F-D23E2A0A60F5}"/>
              </a:ext>
            </a:extLst>
          </p:cNvPr>
          <p:cNvSpPr txBox="1"/>
          <p:nvPr/>
        </p:nvSpPr>
        <p:spPr>
          <a:xfrm>
            <a:off x="517435" y="2184660"/>
            <a:ext cx="191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strike="sngStrike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strike="sngStrike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strike="sngStrike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strike="sngStrike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strike="sngStrike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strike="sngStrike" dirty="0" err="1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8B7324-BFCE-A4F4-E61C-F9474F9A9FE0}"/>
              </a:ext>
            </a:extLst>
          </p:cNvPr>
          <p:cNvSpPr txBox="1"/>
          <p:nvPr/>
        </p:nvSpPr>
        <p:spPr>
          <a:xfrm>
            <a:off x="3621017" y="4060629"/>
            <a:ext cx="2112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 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F7B3C6-00DE-1D46-F75F-27CE93A50172}"/>
              </a:ext>
            </a:extLst>
          </p:cNvPr>
          <p:cNvSpPr txBox="1"/>
          <p:nvPr/>
        </p:nvSpPr>
        <p:spPr>
          <a:xfrm>
            <a:off x="188686" y="3468914"/>
            <a:ext cx="137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int</a:t>
            </a:r>
          </a:p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4</a:t>
            </a:r>
            <a:endParaRPr lang="en-US" b="1" i="1" dirty="0">
              <a:solidFill>
                <a:srgbClr val="0070C0"/>
              </a:solidFill>
            </a:endParaRPr>
          </a:p>
          <a:p>
            <a:pPr algn="r"/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79A6CE-8B87-0AEA-BF58-73BFE05C230A}"/>
              </a:ext>
            </a:extLst>
          </p:cNvPr>
          <p:cNvSpPr/>
          <p:nvPr/>
        </p:nvSpPr>
        <p:spPr>
          <a:xfrm>
            <a:off x="461188" y="3053388"/>
            <a:ext cx="3085976" cy="415862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0862-18AE-BC89-E99B-DAC84D9A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863" y="644634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14AAA0-BD6E-5BED-B2B7-9676621BC470}"/>
              </a:ext>
            </a:extLst>
          </p:cNvPr>
          <p:cNvSpPr/>
          <p:nvPr/>
        </p:nvSpPr>
        <p:spPr>
          <a:xfrm>
            <a:off x="2182135" y="254216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5D15A6-B36E-7993-2CDA-D1334A28E466}"/>
              </a:ext>
            </a:extLst>
          </p:cNvPr>
          <p:cNvSpPr/>
          <p:nvPr/>
        </p:nvSpPr>
        <p:spPr>
          <a:xfrm>
            <a:off x="181788" y="3344387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B3F4E-C682-D58C-6E0D-549D6A9F8443}"/>
              </a:ext>
            </a:extLst>
          </p:cNvPr>
          <p:cNvSpPr/>
          <p:nvPr/>
        </p:nvSpPr>
        <p:spPr>
          <a:xfrm>
            <a:off x="-220014" y="4358754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7BB4D-B8C8-61C4-BB8D-63D2F6464569}"/>
              </a:ext>
            </a:extLst>
          </p:cNvPr>
          <p:cNvCxnSpPr>
            <a:cxnSpLocks/>
          </p:cNvCxnSpPr>
          <p:nvPr/>
        </p:nvCxnSpPr>
        <p:spPr>
          <a:xfrm flipH="1">
            <a:off x="321488" y="2859987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129F8F-D0E9-B879-C98D-E2E0880F8B23}"/>
              </a:ext>
            </a:extLst>
          </p:cNvPr>
          <p:cNvCxnSpPr>
            <a:cxnSpLocks/>
          </p:cNvCxnSpPr>
          <p:nvPr/>
        </p:nvCxnSpPr>
        <p:spPr>
          <a:xfrm flipV="1">
            <a:off x="296660" y="3722020"/>
            <a:ext cx="24828" cy="63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7E3E52-6ACE-287F-2112-1F46B1ACF188}"/>
              </a:ext>
            </a:extLst>
          </p:cNvPr>
          <p:cNvSpPr txBox="1"/>
          <p:nvPr/>
        </p:nvSpPr>
        <p:spPr>
          <a:xfrm>
            <a:off x="1670474" y="1158165"/>
            <a:ext cx="393743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Annotated Parse tree for </a:t>
            </a:r>
            <a:r>
              <a:rPr lang="en-US" altLang="en-US" sz="2000" b="1" dirty="0">
                <a:latin typeface="Candara" panose="020E0502030303020204" pitchFamily="34" charset="0"/>
              </a:rPr>
              <a:t>int [2][3]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82AFDA-D2E8-31E0-77BD-75C4EC53471B}"/>
              </a:ext>
            </a:extLst>
          </p:cNvPr>
          <p:cNvSpPr/>
          <p:nvPr/>
        </p:nvSpPr>
        <p:spPr>
          <a:xfrm>
            <a:off x="3418939" y="3270660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BDC42-7C28-DE1F-5392-9FD62ED9F8C2}"/>
              </a:ext>
            </a:extLst>
          </p:cNvPr>
          <p:cNvCxnSpPr>
            <a:cxnSpLocks/>
          </p:cNvCxnSpPr>
          <p:nvPr/>
        </p:nvCxnSpPr>
        <p:spPr>
          <a:xfrm>
            <a:off x="2502257" y="2853683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423CCF-8CF8-F154-2CCE-CCE7CA644A43}"/>
              </a:ext>
            </a:extLst>
          </p:cNvPr>
          <p:cNvSpPr/>
          <p:nvPr/>
        </p:nvSpPr>
        <p:spPr>
          <a:xfrm>
            <a:off x="4717488" y="428943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8DCA-DD5F-7C96-264D-3824F786A65E}"/>
              </a:ext>
            </a:extLst>
          </p:cNvPr>
          <p:cNvCxnSpPr>
            <a:cxnSpLocks/>
          </p:cNvCxnSpPr>
          <p:nvPr/>
        </p:nvCxnSpPr>
        <p:spPr>
          <a:xfrm>
            <a:off x="3752936" y="3781074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8D534EF-92D7-6C39-F47A-AB852369452B}"/>
              </a:ext>
            </a:extLst>
          </p:cNvPr>
          <p:cNvSpPr/>
          <p:nvPr/>
        </p:nvSpPr>
        <p:spPr>
          <a:xfrm>
            <a:off x="577084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6820CD-FED1-7DA9-6250-78D8465E2FB2}"/>
              </a:ext>
            </a:extLst>
          </p:cNvPr>
          <p:cNvCxnSpPr>
            <a:cxnSpLocks/>
          </p:cNvCxnSpPr>
          <p:nvPr/>
        </p:nvCxnSpPr>
        <p:spPr>
          <a:xfrm flipH="1">
            <a:off x="1268627" y="3792380"/>
            <a:ext cx="2494882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ACE0A5-5454-E77B-0D2D-49E775D843CB}"/>
              </a:ext>
            </a:extLst>
          </p:cNvPr>
          <p:cNvSpPr txBox="1"/>
          <p:nvPr/>
        </p:nvSpPr>
        <p:spPr>
          <a:xfrm>
            <a:off x="517435" y="2184660"/>
            <a:ext cx="191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4B4FF2-7803-7C1A-FF3D-08021DB14F36}"/>
              </a:ext>
            </a:extLst>
          </p:cNvPr>
          <p:cNvCxnSpPr>
            <a:cxnSpLocks/>
          </p:cNvCxnSpPr>
          <p:nvPr/>
        </p:nvCxnSpPr>
        <p:spPr>
          <a:xfrm flipV="1">
            <a:off x="2349943" y="3792380"/>
            <a:ext cx="141356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74820C-3E8E-E43D-85EC-0ACE9654EBEF}"/>
              </a:ext>
            </a:extLst>
          </p:cNvPr>
          <p:cNvCxnSpPr>
            <a:cxnSpLocks/>
          </p:cNvCxnSpPr>
          <p:nvPr/>
        </p:nvCxnSpPr>
        <p:spPr>
          <a:xfrm flipV="1">
            <a:off x="3351434" y="3792380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E5FE7FD-5FDB-E1D8-6FB5-2C1022C1FCB7}"/>
              </a:ext>
            </a:extLst>
          </p:cNvPr>
          <p:cNvSpPr/>
          <p:nvPr/>
        </p:nvSpPr>
        <p:spPr>
          <a:xfrm>
            <a:off x="1658400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71BB2F-9FE3-BD6A-573A-CAA9A60DE4AC}"/>
              </a:ext>
            </a:extLst>
          </p:cNvPr>
          <p:cNvSpPr/>
          <p:nvPr/>
        </p:nvSpPr>
        <p:spPr>
          <a:xfrm>
            <a:off x="2659891" y="436834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D01B0C-A661-FC5B-B757-BE093C8B55FA}"/>
              </a:ext>
            </a:extLst>
          </p:cNvPr>
          <p:cNvSpPr/>
          <p:nvPr/>
        </p:nvSpPr>
        <p:spPr>
          <a:xfrm>
            <a:off x="1542081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CF7C9B-99E0-295D-3490-13CFE09A106A}"/>
              </a:ext>
            </a:extLst>
          </p:cNvPr>
          <p:cNvCxnSpPr>
            <a:cxnSpLocks/>
          </p:cNvCxnSpPr>
          <p:nvPr/>
        </p:nvCxnSpPr>
        <p:spPr>
          <a:xfrm flipH="1">
            <a:off x="2233624" y="4697941"/>
            <a:ext cx="2776112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D6906D-DCFF-8F73-8466-12DFA744CE61}"/>
              </a:ext>
            </a:extLst>
          </p:cNvPr>
          <p:cNvCxnSpPr>
            <a:cxnSpLocks/>
          </p:cNvCxnSpPr>
          <p:nvPr/>
        </p:nvCxnSpPr>
        <p:spPr>
          <a:xfrm flipV="1">
            <a:off x="3416538" y="4697941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DA7EE3-6658-B9B4-61BC-D7E9ECA5C0AA}"/>
              </a:ext>
            </a:extLst>
          </p:cNvPr>
          <p:cNvCxnSpPr>
            <a:cxnSpLocks/>
          </p:cNvCxnSpPr>
          <p:nvPr/>
        </p:nvCxnSpPr>
        <p:spPr>
          <a:xfrm flipV="1">
            <a:off x="4577683" y="4697941"/>
            <a:ext cx="432053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9AD717-A452-60D1-36A7-DEBF5EB11F40}"/>
              </a:ext>
            </a:extLst>
          </p:cNvPr>
          <p:cNvSpPr/>
          <p:nvPr/>
        </p:nvSpPr>
        <p:spPr>
          <a:xfrm>
            <a:off x="2724995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E8B92A2-D0FE-C356-F172-66CB02E79262}"/>
              </a:ext>
            </a:extLst>
          </p:cNvPr>
          <p:cNvSpPr/>
          <p:nvPr/>
        </p:nvSpPr>
        <p:spPr>
          <a:xfrm>
            <a:off x="3886140" y="52651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577CE-6C64-0640-4CFE-40FABD66DA96}"/>
              </a:ext>
            </a:extLst>
          </p:cNvPr>
          <p:cNvSpPr/>
          <p:nvPr/>
        </p:nvSpPr>
        <p:spPr>
          <a:xfrm>
            <a:off x="6132631" y="5378337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3CA4AF-7634-2B80-DF70-9C556B2ACA98}"/>
              </a:ext>
            </a:extLst>
          </p:cNvPr>
          <p:cNvCxnSpPr>
            <a:cxnSpLocks/>
          </p:cNvCxnSpPr>
          <p:nvPr/>
        </p:nvCxnSpPr>
        <p:spPr>
          <a:xfrm>
            <a:off x="5009736" y="4697941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E6DAC52-FC5E-7946-0E23-5A79C48BB54A}"/>
              </a:ext>
            </a:extLst>
          </p:cNvPr>
          <p:cNvSpPr/>
          <p:nvPr/>
        </p:nvSpPr>
        <p:spPr>
          <a:xfrm>
            <a:off x="5912277" y="6033994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1E2EE4-C4DB-D0D4-D8CA-D78198E3D990}"/>
              </a:ext>
            </a:extLst>
          </p:cNvPr>
          <p:cNvCxnSpPr>
            <a:cxnSpLocks/>
          </p:cNvCxnSpPr>
          <p:nvPr/>
        </p:nvCxnSpPr>
        <p:spPr>
          <a:xfrm flipH="1" flipV="1">
            <a:off x="6424879" y="5786844"/>
            <a:ext cx="4072" cy="24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BE77DC-2DED-EB00-E010-1E8DBAD0196D}"/>
              </a:ext>
            </a:extLst>
          </p:cNvPr>
          <p:cNvSpPr txBox="1"/>
          <p:nvPr/>
        </p:nvSpPr>
        <p:spPr>
          <a:xfrm>
            <a:off x="1713637" y="4711479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2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E0AFDE-43F6-A65A-3471-E5E3CAA8F407}"/>
              </a:ext>
            </a:extLst>
          </p:cNvPr>
          <p:cNvSpPr txBox="1"/>
          <p:nvPr/>
        </p:nvSpPr>
        <p:spPr>
          <a:xfrm>
            <a:off x="2794951" y="5605853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1742961-149C-6496-DF22-5E81CB6AF09E}"/>
              </a:ext>
            </a:extLst>
          </p:cNvPr>
          <p:cNvSpPr txBox="1"/>
          <p:nvPr/>
        </p:nvSpPr>
        <p:spPr>
          <a:xfrm>
            <a:off x="2263722" y="3197026"/>
            <a:ext cx="1413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it 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iw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iw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2AC9C2-41B8-61EA-EF8E-3C32286DB157}"/>
              </a:ext>
            </a:extLst>
          </p:cNvPr>
          <p:cNvSpPr txBox="1"/>
          <p:nvPr/>
        </p:nvSpPr>
        <p:spPr>
          <a:xfrm>
            <a:off x="6707414" y="5110012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it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iw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592B77-7D49-A5B4-EF31-E3334875963D}"/>
              </a:ext>
            </a:extLst>
          </p:cNvPr>
          <p:cNvSpPr txBox="1"/>
          <p:nvPr/>
        </p:nvSpPr>
        <p:spPr>
          <a:xfrm>
            <a:off x="5284023" y="4162226"/>
            <a:ext cx="460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array(3,int)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3*4=12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2585B2-6D53-2EDF-FE6C-D66AC19D62BD}"/>
              </a:ext>
            </a:extLst>
          </p:cNvPr>
          <p:cNvSpPr txBox="1"/>
          <p:nvPr/>
        </p:nvSpPr>
        <p:spPr>
          <a:xfrm>
            <a:off x="3932866" y="3138971"/>
            <a:ext cx="54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2*12=24 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AF4A25-8F1C-D99E-C806-B6E5AA655CF6}"/>
              </a:ext>
            </a:extLst>
          </p:cNvPr>
          <p:cNvSpPr txBox="1"/>
          <p:nvPr/>
        </p:nvSpPr>
        <p:spPr>
          <a:xfrm>
            <a:off x="2648350" y="2217315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24</a:t>
            </a:r>
            <a:endParaRPr lang="en-US" i="1" dirty="0">
              <a:solidFill>
                <a:srgbClr val="0070C0"/>
              </a:solidFill>
            </a:endParaRPr>
          </a:p>
        </p:txBody>
      </p:sp>
      <p:graphicFrame>
        <p:nvGraphicFramePr>
          <p:cNvPr id="71" name="Table 6">
            <a:extLst>
              <a:ext uri="{FF2B5EF4-FFF2-40B4-BE49-F238E27FC236}">
                <a16:creationId xmlns:a16="http://schemas.microsoft.com/office/drawing/2014/main" id="{F1912B34-850A-58B0-23DE-831B88CCC3D2}"/>
              </a:ext>
            </a:extLst>
          </p:cNvPr>
          <p:cNvGraphicFramePr>
            <a:graphicFrameLocks/>
          </p:cNvGraphicFramePr>
          <p:nvPr/>
        </p:nvGraphicFramePr>
        <p:xfrm>
          <a:off x="7544726" y="58698"/>
          <a:ext cx="4552337" cy="249936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47398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078356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 C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width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B </a:t>
                      </a:r>
                      <a:r>
                        <a:rPr lang="en-US" sz="14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baseline="0" dirty="0">
                          <a:sym typeface="Wingdings" panose="05000000000000000000" pitchFamily="2" charset="2"/>
                        </a:rPr>
                        <a:t>int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float,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B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float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int,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endParaRPr lang="en-US" sz="1600" b="0" i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[num] C</a:t>
                      </a:r>
                      <a:r>
                        <a:rPr kumimoji="0" lang="en-US" sz="16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array(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type)</a:t>
                      </a: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*C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56E45173-E37F-26E7-1137-DE19E13B8A7D}"/>
              </a:ext>
            </a:extLst>
          </p:cNvPr>
          <p:cNvSpPr txBox="1"/>
          <p:nvPr/>
        </p:nvSpPr>
        <p:spPr>
          <a:xfrm>
            <a:off x="6685642" y="5102756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strike="sngStrike" dirty="0">
                <a:solidFill>
                  <a:srgbClr val="0070C0"/>
                </a:solidFill>
              </a:rPr>
              <a:t>C</a:t>
            </a:r>
            <a:r>
              <a:rPr lang="en-US" i="1" strike="sngStrike" baseline="-25000" dirty="0">
                <a:solidFill>
                  <a:srgbClr val="0070C0"/>
                </a:solidFill>
              </a:rPr>
              <a:t>2</a:t>
            </a:r>
            <a:r>
              <a:rPr lang="en-US" strike="sngStrike" dirty="0">
                <a:solidFill>
                  <a:srgbClr val="0070C0"/>
                </a:solidFill>
              </a:rPr>
              <a:t>.</a:t>
            </a:r>
            <a:r>
              <a:rPr lang="en-US" i="1" strike="sngStrike" dirty="0">
                <a:solidFill>
                  <a:srgbClr val="0070C0"/>
                </a:solidFill>
              </a:rPr>
              <a:t>it</a:t>
            </a:r>
            <a:r>
              <a:rPr lang="en-US" i="1" dirty="0">
                <a:solidFill>
                  <a:srgbClr val="0070C0"/>
                </a:solidFill>
              </a:rPr>
              <a:t> 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w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strike="sngStrike" dirty="0">
                <a:solidFill>
                  <a:srgbClr val="0070C0"/>
                </a:solidFill>
              </a:rPr>
              <a:t>C</a:t>
            </a:r>
            <a:r>
              <a:rPr lang="en-US" i="1" strike="sngStrike" baseline="-25000" dirty="0">
                <a:solidFill>
                  <a:srgbClr val="0070C0"/>
                </a:solidFill>
              </a:rPr>
              <a:t>2</a:t>
            </a:r>
            <a:r>
              <a:rPr lang="en-US" strike="sngStrike" dirty="0">
                <a:solidFill>
                  <a:srgbClr val="0070C0"/>
                </a:solidFill>
              </a:rPr>
              <a:t>.</a:t>
            </a:r>
            <a:r>
              <a:rPr lang="en-US" i="1" strike="sngStrike" dirty="0">
                <a:solidFill>
                  <a:srgbClr val="0070C0"/>
                </a:solidFill>
              </a:rPr>
              <a:t>iw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86397-9ADF-7CE2-DB7F-27B9A5EC9F94}"/>
              </a:ext>
            </a:extLst>
          </p:cNvPr>
          <p:cNvSpPr txBox="1"/>
          <p:nvPr/>
        </p:nvSpPr>
        <p:spPr>
          <a:xfrm>
            <a:off x="111282" y="6400802"/>
            <a:ext cx="536733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Use of global variables instead of inherited attributes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1E0CECD-7A31-C825-A308-FF9320C4BD11}"/>
              </a:ext>
            </a:extLst>
          </p:cNvPr>
          <p:cNvSpPr/>
          <p:nvPr/>
        </p:nvSpPr>
        <p:spPr>
          <a:xfrm>
            <a:off x="9119351" y="415145"/>
            <a:ext cx="2780189" cy="210928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933674-408A-510E-1D4B-E4C93DC335DC}"/>
              </a:ext>
            </a:extLst>
          </p:cNvPr>
          <p:cNvCxnSpPr/>
          <p:nvPr/>
        </p:nvCxnSpPr>
        <p:spPr>
          <a:xfrm flipH="1" flipV="1">
            <a:off x="6707414" y="4842269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70E31F1-DFFD-8549-1CC0-F72DA849D1B4}"/>
              </a:ext>
            </a:extLst>
          </p:cNvPr>
          <p:cNvCxnSpPr/>
          <p:nvPr/>
        </p:nvCxnSpPr>
        <p:spPr>
          <a:xfrm flipH="1" flipV="1">
            <a:off x="5524500" y="3862557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0406F5-3FCA-13D0-5C74-86B3F0702C9F}"/>
              </a:ext>
            </a:extLst>
          </p:cNvPr>
          <p:cNvCxnSpPr/>
          <p:nvPr/>
        </p:nvCxnSpPr>
        <p:spPr>
          <a:xfrm flipH="1" flipV="1">
            <a:off x="4073070" y="2904612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46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98" grpId="0"/>
      <p:bldP spid="23" grpId="0"/>
      <p:bldP spid="97" grpId="0"/>
      <p:bldP spid="100" grpId="0"/>
      <p:bldP spid="42" grpId="0"/>
      <p:bldP spid="2" grpId="0" animBg="1"/>
      <p:bldP spid="7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E4DB40E-F24C-E44C-EB4F-D23E2A0A60F5}"/>
              </a:ext>
            </a:extLst>
          </p:cNvPr>
          <p:cNvSpPr txBox="1"/>
          <p:nvPr/>
        </p:nvSpPr>
        <p:spPr>
          <a:xfrm>
            <a:off x="2728685" y="2745222"/>
            <a:ext cx="191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F7B3C6-00DE-1D46-F75F-27CE93A50172}"/>
              </a:ext>
            </a:extLst>
          </p:cNvPr>
          <p:cNvSpPr txBox="1"/>
          <p:nvPr/>
        </p:nvSpPr>
        <p:spPr>
          <a:xfrm>
            <a:off x="2133600" y="4020451"/>
            <a:ext cx="137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int</a:t>
            </a:r>
          </a:p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4</a:t>
            </a:r>
            <a:endParaRPr lang="en-US" b="1" i="1" dirty="0">
              <a:solidFill>
                <a:srgbClr val="0070C0"/>
              </a:solidFill>
            </a:endParaRPr>
          </a:p>
          <a:p>
            <a:pPr algn="r"/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79A6CE-8B87-0AEA-BF58-73BFE05C230A}"/>
              </a:ext>
            </a:extLst>
          </p:cNvPr>
          <p:cNvSpPr/>
          <p:nvPr/>
        </p:nvSpPr>
        <p:spPr>
          <a:xfrm>
            <a:off x="2406102" y="3604925"/>
            <a:ext cx="3085976" cy="415862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0862-18AE-BC89-E99B-DAC84D9A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863" y="6446348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14AAA0-BD6E-5BED-B2B7-9676621BC470}"/>
              </a:ext>
            </a:extLst>
          </p:cNvPr>
          <p:cNvSpPr/>
          <p:nvPr/>
        </p:nvSpPr>
        <p:spPr>
          <a:xfrm>
            <a:off x="4127049" y="309370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5D15A6-B36E-7993-2CDA-D1334A28E466}"/>
              </a:ext>
            </a:extLst>
          </p:cNvPr>
          <p:cNvSpPr/>
          <p:nvPr/>
        </p:nvSpPr>
        <p:spPr>
          <a:xfrm>
            <a:off x="2126702" y="3895924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B3F4E-C682-D58C-6E0D-549D6A9F8443}"/>
              </a:ext>
            </a:extLst>
          </p:cNvPr>
          <p:cNvSpPr/>
          <p:nvPr/>
        </p:nvSpPr>
        <p:spPr>
          <a:xfrm>
            <a:off x="1724900" y="4910291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7BB4D-B8C8-61C4-BB8D-63D2F6464569}"/>
              </a:ext>
            </a:extLst>
          </p:cNvPr>
          <p:cNvCxnSpPr>
            <a:cxnSpLocks/>
          </p:cNvCxnSpPr>
          <p:nvPr/>
        </p:nvCxnSpPr>
        <p:spPr>
          <a:xfrm flipH="1">
            <a:off x="2266402" y="3411524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129F8F-D0E9-B879-C98D-E2E0880F8B23}"/>
              </a:ext>
            </a:extLst>
          </p:cNvPr>
          <p:cNvCxnSpPr>
            <a:cxnSpLocks/>
          </p:cNvCxnSpPr>
          <p:nvPr/>
        </p:nvCxnSpPr>
        <p:spPr>
          <a:xfrm flipV="1">
            <a:off x="2241574" y="4273557"/>
            <a:ext cx="24828" cy="63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7E3E52-6ACE-287F-2112-1F46B1ACF188}"/>
              </a:ext>
            </a:extLst>
          </p:cNvPr>
          <p:cNvSpPr txBox="1"/>
          <p:nvPr/>
        </p:nvSpPr>
        <p:spPr>
          <a:xfrm>
            <a:off x="141019" y="6381923"/>
            <a:ext cx="393743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Annotated Parse tree for </a:t>
            </a:r>
            <a:r>
              <a:rPr lang="en-US" altLang="en-US" sz="2000" b="1" dirty="0">
                <a:latin typeface="Candara" panose="020E0502030303020204" pitchFamily="34" charset="0"/>
              </a:rPr>
              <a:t>int [2][3]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82AFDA-D2E8-31E0-77BD-75C4EC53471B}"/>
              </a:ext>
            </a:extLst>
          </p:cNvPr>
          <p:cNvSpPr/>
          <p:nvPr/>
        </p:nvSpPr>
        <p:spPr>
          <a:xfrm>
            <a:off x="5363853" y="3822197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BDC42-7C28-DE1F-5392-9FD62ED9F8C2}"/>
              </a:ext>
            </a:extLst>
          </p:cNvPr>
          <p:cNvCxnSpPr>
            <a:cxnSpLocks/>
          </p:cNvCxnSpPr>
          <p:nvPr/>
        </p:nvCxnSpPr>
        <p:spPr>
          <a:xfrm>
            <a:off x="4447171" y="3405220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423CCF-8CF8-F154-2CCE-CCE7CA644A43}"/>
              </a:ext>
            </a:extLst>
          </p:cNvPr>
          <p:cNvSpPr/>
          <p:nvPr/>
        </p:nvSpPr>
        <p:spPr>
          <a:xfrm>
            <a:off x="6662402" y="4840971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8DCA-DD5F-7C96-264D-3824F786A65E}"/>
              </a:ext>
            </a:extLst>
          </p:cNvPr>
          <p:cNvCxnSpPr>
            <a:cxnSpLocks/>
          </p:cNvCxnSpPr>
          <p:nvPr/>
        </p:nvCxnSpPr>
        <p:spPr>
          <a:xfrm>
            <a:off x="5697850" y="4332611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8D534EF-92D7-6C39-F47A-AB852369452B}"/>
              </a:ext>
            </a:extLst>
          </p:cNvPr>
          <p:cNvSpPr/>
          <p:nvPr/>
        </p:nvSpPr>
        <p:spPr>
          <a:xfrm>
            <a:off x="2521998" y="491988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6820CD-FED1-7DA9-6250-78D8465E2FB2}"/>
              </a:ext>
            </a:extLst>
          </p:cNvPr>
          <p:cNvCxnSpPr>
            <a:cxnSpLocks/>
          </p:cNvCxnSpPr>
          <p:nvPr/>
        </p:nvCxnSpPr>
        <p:spPr>
          <a:xfrm flipH="1">
            <a:off x="3213541" y="4343917"/>
            <a:ext cx="2494882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4B4FF2-7803-7C1A-FF3D-08021DB14F36}"/>
              </a:ext>
            </a:extLst>
          </p:cNvPr>
          <p:cNvCxnSpPr>
            <a:cxnSpLocks/>
          </p:cNvCxnSpPr>
          <p:nvPr/>
        </p:nvCxnSpPr>
        <p:spPr>
          <a:xfrm flipV="1">
            <a:off x="4294857" y="4343917"/>
            <a:ext cx="141356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74820C-3E8E-E43D-85EC-0ACE9654EBEF}"/>
              </a:ext>
            </a:extLst>
          </p:cNvPr>
          <p:cNvCxnSpPr>
            <a:cxnSpLocks/>
          </p:cNvCxnSpPr>
          <p:nvPr/>
        </p:nvCxnSpPr>
        <p:spPr>
          <a:xfrm flipV="1">
            <a:off x="5296348" y="4343917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E5FE7FD-5FDB-E1D8-6FB5-2C1022C1FCB7}"/>
              </a:ext>
            </a:extLst>
          </p:cNvPr>
          <p:cNvSpPr/>
          <p:nvPr/>
        </p:nvSpPr>
        <p:spPr>
          <a:xfrm>
            <a:off x="3603314" y="491988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71BB2F-9FE3-BD6A-573A-CAA9A60DE4AC}"/>
              </a:ext>
            </a:extLst>
          </p:cNvPr>
          <p:cNvSpPr/>
          <p:nvPr/>
        </p:nvSpPr>
        <p:spPr>
          <a:xfrm>
            <a:off x="4604805" y="491988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D01B0C-A661-FC5B-B757-BE093C8B55FA}"/>
              </a:ext>
            </a:extLst>
          </p:cNvPr>
          <p:cNvSpPr/>
          <p:nvPr/>
        </p:nvSpPr>
        <p:spPr>
          <a:xfrm>
            <a:off x="3486995" y="581666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CF7C9B-99E0-295D-3490-13CFE09A106A}"/>
              </a:ext>
            </a:extLst>
          </p:cNvPr>
          <p:cNvCxnSpPr>
            <a:cxnSpLocks/>
          </p:cNvCxnSpPr>
          <p:nvPr/>
        </p:nvCxnSpPr>
        <p:spPr>
          <a:xfrm flipH="1">
            <a:off x="4178538" y="5249478"/>
            <a:ext cx="2776112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D6906D-DCFF-8F73-8466-12DFA744CE61}"/>
              </a:ext>
            </a:extLst>
          </p:cNvPr>
          <p:cNvCxnSpPr>
            <a:cxnSpLocks/>
          </p:cNvCxnSpPr>
          <p:nvPr/>
        </p:nvCxnSpPr>
        <p:spPr>
          <a:xfrm flipV="1">
            <a:off x="5361452" y="5249478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DA7EE3-6658-B9B4-61BC-D7E9ECA5C0AA}"/>
              </a:ext>
            </a:extLst>
          </p:cNvPr>
          <p:cNvCxnSpPr>
            <a:cxnSpLocks/>
          </p:cNvCxnSpPr>
          <p:nvPr/>
        </p:nvCxnSpPr>
        <p:spPr>
          <a:xfrm flipV="1">
            <a:off x="6522597" y="5249478"/>
            <a:ext cx="432053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9AD717-A452-60D1-36A7-DEBF5EB11F40}"/>
              </a:ext>
            </a:extLst>
          </p:cNvPr>
          <p:cNvSpPr/>
          <p:nvPr/>
        </p:nvSpPr>
        <p:spPr>
          <a:xfrm>
            <a:off x="4669909" y="581666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E8B92A2-D0FE-C356-F172-66CB02E79262}"/>
              </a:ext>
            </a:extLst>
          </p:cNvPr>
          <p:cNvSpPr/>
          <p:nvPr/>
        </p:nvSpPr>
        <p:spPr>
          <a:xfrm>
            <a:off x="5831054" y="581666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577CE-6C64-0640-4CFE-40FABD66DA96}"/>
              </a:ext>
            </a:extLst>
          </p:cNvPr>
          <p:cNvSpPr/>
          <p:nvPr/>
        </p:nvSpPr>
        <p:spPr>
          <a:xfrm>
            <a:off x="8077545" y="592987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3CA4AF-7634-2B80-DF70-9C556B2ACA98}"/>
              </a:ext>
            </a:extLst>
          </p:cNvPr>
          <p:cNvCxnSpPr>
            <a:cxnSpLocks/>
          </p:cNvCxnSpPr>
          <p:nvPr/>
        </p:nvCxnSpPr>
        <p:spPr>
          <a:xfrm>
            <a:off x="6954650" y="5249478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E6DAC52-FC5E-7946-0E23-5A79C48BB54A}"/>
              </a:ext>
            </a:extLst>
          </p:cNvPr>
          <p:cNvSpPr/>
          <p:nvPr/>
        </p:nvSpPr>
        <p:spPr>
          <a:xfrm>
            <a:off x="7857191" y="6469419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1E2EE4-C4DB-D0D4-D8CA-D78198E3D990}"/>
              </a:ext>
            </a:extLst>
          </p:cNvPr>
          <p:cNvCxnSpPr>
            <a:cxnSpLocks/>
          </p:cNvCxnSpPr>
          <p:nvPr/>
        </p:nvCxnSpPr>
        <p:spPr>
          <a:xfrm flipH="1" flipV="1">
            <a:off x="8369793" y="6338381"/>
            <a:ext cx="4072" cy="24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BE77DC-2DED-EB00-E010-1E8DBAD0196D}"/>
              </a:ext>
            </a:extLst>
          </p:cNvPr>
          <p:cNvSpPr txBox="1"/>
          <p:nvPr/>
        </p:nvSpPr>
        <p:spPr>
          <a:xfrm>
            <a:off x="3658551" y="5263016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2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E0AFDE-43F6-A65A-3471-E5E3CAA8F407}"/>
              </a:ext>
            </a:extLst>
          </p:cNvPr>
          <p:cNvSpPr txBox="1"/>
          <p:nvPr/>
        </p:nvSpPr>
        <p:spPr>
          <a:xfrm>
            <a:off x="4739865" y="6157390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592B77-7D49-A5B4-EF31-E3334875963D}"/>
              </a:ext>
            </a:extLst>
          </p:cNvPr>
          <p:cNvSpPr txBox="1"/>
          <p:nvPr/>
        </p:nvSpPr>
        <p:spPr>
          <a:xfrm>
            <a:off x="7228937" y="4713763"/>
            <a:ext cx="460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array(3,int)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3*4=12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2585B2-6D53-2EDF-FE6C-D66AC19D62BD}"/>
              </a:ext>
            </a:extLst>
          </p:cNvPr>
          <p:cNvSpPr txBox="1"/>
          <p:nvPr/>
        </p:nvSpPr>
        <p:spPr>
          <a:xfrm>
            <a:off x="5877780" y="3690508"/>
            <a:ext cx="54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2*12=24 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AF4A25-8F1C-D99E-C806-B6E5AA655CF6}"/>
              </a:ext>
            </a:extLst>
          </p:cNvPr>
          <p:cNvSpPr txBox="1"/>
          <p:nvPr/>
        </p:nvSpPr>
        <p:spPr>
          <a:xfrm>
            <a:off x="4593264" y="2768852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24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E45173-E37F-26E7-1137-DE19E13B8A7D}"/>
              </a:ext>
            </a:extLst>
          </p:cNvPr>
          <p:cNvSpPr txBox="1"/>
          <p:nvPr/>
        </p:nvSpPr>
        <p:spPr>
          <a:xfrm>
            <a:off x="8623300" y="5800863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w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5" name="Table 6">
            <a:extLst>
              <a:ext uri="{FF2B5EF4-FFF2-40B4-BE49-F238E27FC236}">
                <a16:creationId xmlns:a16="http://schemas.microsoft.com/office/drawing/2014/main" id="{D1FD1AC7-D596-75B8-FB2F-6C59B1C33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878997"/>
              </p:ext>
            </p:extLst>
          </p:nvPr>
        </p:nvGraphicFramePr>
        <p:xfrm>
          <a:off x="7501183" y="73303"/>
          <a:ext cx="4552337" cy="249936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47398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078356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 C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width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B </a:t>
                      </a:r>
                      <a:r>
                        <a:rPr lang="en-US" sz="14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baseline="0" dirty="0">
                          <a:sym typeface="Wingdings" panose="05000000000000000000" pitchFamily="2" charset="2"/>
                        </a:rPr>
                        <a:t>int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float,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B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float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int,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endParaRPr lang="en-US" sz="1600" b="0" i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[num] C</a:t>
                      </a:r>
                      <a:r>
                        <a:rPr kumimoji="0" lang="en-US" sz="16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array(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type)</a:t>
                      </a:r>
                    </a:p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*C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width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graphicFrame>
        <p:nvGraphicFramePr>
          <p:cNvPr id="46" name="Table 6">
            <a:extLst>
              <a:ext uri="{FF2B5EF4-FFF2-40B4-BE49-F238E27FC236}">
                <a16:creationId xmlns:a16="http://schemas.microsoft.com/office/drawing/2014/main" id="{590B3392-DF53-1668-2C70-B193247E4C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983528"/>
              </p:ext>
            </p:extLst>
          </p:nvPr>
        </p:nvGraphicFramePr>
        <p:xfrm>
          <a:off x="868149" y="58698"/>
          <a:ext cx="4552337" cy="249936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5253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199806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SDT for Computing Type and Width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 </a:t>
                      </a:r>
                    </a:p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         C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B </a:t>
                      </a:r>
                      <a:r>
                        <a:rPr lang="en-US" sz="14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baseline="0" dirty="0">
                          <a:sym typeface="Wingdings" panose="05000000000000000000" pitchFamily="2" charset="2"/>
                        </a:rPr>
                        <a:t>int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float,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B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float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int,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8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[num] C</a:t>
                      </a:r>
                      <a:r>
                        <a:rPr kumimoji="0" lang="en-US" sz="16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array(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type)</a:t>
                      </a:r>
                    </a:p>
                    <a:p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*C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width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3" name="Arrow: Left 2">
            <a:extLst>
              <a:ext uri="{FF2B5EF4-FFF2-40B4-BE49-F238E27FC236}">
                <a16:creationId xmlns:a16="http://schemas.microsoft.com/office/drawing/2014/main" id="{B9CBFBA3-FBDD-2984-7785-F88E4D6E851D}"/>
              </a:ext>
            </a:extLst>
          </p:cNvPr>
          <p:cNvSpPr/>
          <p:nvPr/>
        </p:nvSpPr>
        <p:spPr>
          <a:xfrm>
            <a:off x="5958460" y="1106175"/>
            <a:ext cx="935826" cy="646331"/>
          </a:xfrm>
          <a:prstGeom prst="leftArrow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59B7DD-C579-06A2-22A5-0DA4CF9214A0}"/>
              </a:ext>
            </a:extLst>
          </p:cNvPr>
          <p:cNvCxnSpPr/>
          <p:nvPr/>
        </p:nvCxnSpPr>
        <p:spPr>
          <a:xfrm flipH="1" flipV="1">
            <a:off x="8768441" y="5451869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F578B6-3E99-DDD3-866B-4119385868E0}"/>
              </a:ext>
            </a:extLst>
          </p:cNvPr>
          <p:cNvCxnSpPr/>
          <p:nvPr/>
        </p:nvCxnSpPr>
        <p:spPr>
          <a:xfrm flipH="1" flipV="1">
            <a:off x="7585527" y="4472157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C77ED92-73A8-610A-E4F4-F3F011D59520}"/>
              </a:ext>
            </a:extLst>
          </p:cNvPr>
          <p:cNvCxnSpPr/>
          <p:nvPr/>
        </p:nvCxnSpPr>
        <p:spPr>
          <a:xfrm flipH="1" flipV="1">
            <a:off x="6134097" y="3514212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2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Computing Relative Addresses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9829" y="1959433"/>
            <a:ext cx="5055325" cy="3553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519354" y="1294622"/>
            <a:ext cx="7395898" cy="2667206"/>
            <a:chOff x="2451072" y="4005602"/>
            <a:chExt cx="7395898" cy="266720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7111" y="4005602"/>
              <a:ext cx="4429859" cy="2234884"/>
            </a:xfrm>
            <a:prstGeom prst="rect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3371870" y="6240486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CPP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9993" y="6303476"/>
              <a:ext cx="2294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ASM (x86-64 </a:t>
              </a:r>
              <a:r>
                <a:rPr lang="en-US" b="1" dirty="0" err="1">
                  <a:solidFill>
                    <a:schemeClr val="accent6">
                      <a:lumMod val="50000"/>
                    </a:schemeClr>
                  </a:solidFill>
                </a:rPr>
                <a:t>gcc</a:t>
              </a:r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 11.1)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1072" y="4123030"/>
              <a:ext cx="2537348" cy="2000027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grpSp>
        <p:nvGrpSpPr>
          <p:cNvPr id="20" name="Group 19"/>
          <p:cNvGrpSpPr/>
          <p:nvPr/>
        </p:nvGrpSpPr>
        <p:grpSpPr>
          <a:xfrm>
            <a:off x="2507667" y="4198937"/>
            <a:ext cx="6591300" cy="2284217"/>
            <a:chOff x="2507667" y="4198937"/>
            <a:chExt cx="6591300" cy="2284217"/>
          </a:xfrm>
        </p:grpSpPr>
        <p:grpSp>
          <p:nvGrpSpPr>
            <p:cNvPr id="17" name="Group 16"/>
            <p:cNvGrpSpPr/>
            <p:nvPr/>
          </p:nvGrpSpPr>
          <p:grpSpPr>
            <a:xfrm>
              <a:off x="2507667" y="4198937"/>
              <a:ext cx="6591300" cy="2088944"/>
              <a:chOff x="2349592" y="1208049"/>
              <a:chExt cx="6591300" cy="208894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2349592" y="1208049"/>
                <a:ext cx="6591300" cy="2088944"/>
                <a:chOff x="2349592" y="1208049"/>
                <a:chExt cx="6591300" cy="2088944"/>
              </a:xfrm>
            </p:grpSpPr>
            <p:pic>
              <p:nvPicPr>
                <p:cNvPr id="3" name="Picture 2"/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22932" b="17658"/>
                <a:stretch/>
              </p:blipFill>
              <p:spPr>
                <a:xfrm>
                  <a:off x="2349592" y="1820049"/>
                  <a:ext cx="6591300" cy="1476944"/>
                </a:xfrm>
                <a:prstGeom prst="roundRect">
                  <a:avLst/>
                </a:prstGeom>
              </p:spPr>
            </p:pic>
            <p:pic>
              <p:nvPicPr>
                <p:cNvPr id="4" name="Picture 3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30240" y="1208049"/>
                  <a:ext cx="2686050" cy="495300"/>
                </a:xfrm>
                <a:prstGeom prst="roundRect">
                  <a:avLst/>
                </a:prstGeom>
              </p:spPr>
            </p:pic>
          </p:grpSp>
          <p:sp>
            <p:nvSpPr>
              <p:cNvPr id="16" name="Rectangle 15"/>
              <p:cNvSpPr/>
              <p:nvPr/>
            </p:nvSpPr>
            <p:spPr>
              <a:xfrm>
                <a:off x="2949262" y="1231477"/>
                <a:ext cx="5473521" cy="1815586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noFill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913583" y="6113822"/>
              <a:ext cx="3661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50000"/>
                    </a:schemeClr>
                  </a:solidFill>
                </a:rPr>
                <a:t>SDT for computing relative addresses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95CFEF1-8F27-9F9C-36EC-F81FEBFB86BB}"/>
              </a:ext>
            </a:extLst>
          </p:cNvPr>
          <p:cNvSpPr/>
          <p:nvPr/>
        </p:nvSpPr>
        <p:spPr>
          <a:xfrm>
            <a:off x="5299709" y="1173475"/>
            <a:ext cx="4773205" cy="2788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9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9548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Fields in Records and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9829" y="1959433"/>
            <a:ext cx="5055325" cy="3553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064482" y="1166154"/>
            <a:ext cx="8114132" cy="2928629"/>
            <a:chOff x="2296710" y="1035524"/>
            <a:chExt cx="8114132" cy="2928629"/>
          </a:xfrm>
        </p:grpSpPr>
        <p:sp>
          <p:nvSpPr>
            <p:cNvPr id="11" name="TextBox 10"/>
            <p:cNvSpPr txBox="1"/>
            <p:nvPr/>
          </p:nvSpPr>
          <p:spPr>
            <a:xfrm>
              <a:off x="3296459" y="3594821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CPP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53669" y="3594821"/>
              <a:ext cx="2294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ASM (x86-64 </a:t>
              </a:r>
              <a:r>
                <a:rPr lang="en-US" b="1" dirty="0" err="1">
                  <a:solidFill>
                    <a:schemeClr val="accent6">
                      <a:lumMod val="50000"/>
                    </a:schemeClr>
                  </a:solidFill>
                </a:rPr>
                <a:t>gcc</a:t>
              </a:r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</a:rPr>
                <a:t> 11.1)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6710" y="1054666"/>
              <a:ext cx="2563217" cy="2549655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3317" y="1035524"/>
              <a:ext cx="4607525" cy="2568797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</p:grpSp>
      <p:grpSp>
        <p:nvGrpSpPr>
          <p:cNvPr id="22" name="Group 21"/>
          <p:cNvGrpSpPr/>
          <p:nvPr/>
        </p:nvGrpSpPr>
        <p:grpSpPr>
          <a:xfrm>
            <a:off x="1719742" y="4520609"/>
            <a:ext cx="9082513" cy="1498600"/>
            <a:chOff x="2250993" y="4374901"/>
            <a:chExt cx="9082513" cy="14986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1306" y="4387601"/>
              <a:ext cx="6172200" cy="14859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50993" y="4374901"/>
              <a:ext cx="2714625" cy="447675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/>
        </p:nvSpPr>
        <p:spPr>
          <a:xfrm>
            <a:off x="4154188" y="6455467"/>
            <a:ext cx="338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Handling of field names in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81841" y="4463801"/>
            <a:ext cx="9105900" cy="1549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96064-F7D2-3060-FE64-A4F6B848FA9C}"/>
              </a:ext>
            </a:extLst>
          </p:cNvPr>
          <p:cNvSpPr txBox="1"/>
          <p:nvPr/>
        </p:nvSpPr>
        <p:spPr>
          <a:xfrm>
            <a:off x="6442917" y="6072867"/>
            <a:ext cx="191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type constructor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CCFCBF-C9AE-8C9D-475D-A185D7A71CD0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7400860" y="5534566"/>
            <a:ext cx="435428" cy="538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C91ECD1-CCCF-CD0D-B9C5-DA0FC747FAAE}"/>
              </a:ext>
            </a:extLst>
          </p:cNvPr>
          <p:cNvSpPr txBox="1"/>
          <p:nvPr/>
        </p:nvSpPr>
        <p:spPr>
          <a:xfrm>
            <a:off x="8583773" y="6080127"/>
            <a:ext cx="2174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symbol table object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6C771C-4BE6-F32F-5A9C-E6D3C6A04426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8658705" y="5512530"/>
            <a:ext cx="1012538" cy="567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579D06A-8160-AFA8-8647-2750FD0AA549}"/>
              </a:ext>
            </a:extLst>
          </p:cNvPr>
          <p:cNvSpPr/>
          <p:nvPr/>
        </p:nvSpPr>
        <p:spPr>
          <a:xfrm>
            <a:off x="1523999" y="4325257"/>
            <a:ext cx="9278256" cy="216791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75782B-9883-BA9F-0931-0E0ABB11082D}"/>
              </a:ext>
            </a:extLst>
          </p:cNvPr>
          <p:cNvSpPr/>
          <p:nvPr/>
        </p:nvSpPr>
        <p:spPr>
          <a:xfrm>
            <a:off x="5546452" y="1144447"/>
            <a:ext cx="4773205" cy="2935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2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20" grpId="0"/>
      <p:bldP spid="1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017" y="2193925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Three Address Code Generation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46760" y="180680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An 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596" y="1519100"/>
            <a:ext cx="6534981" cy="2791642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prstDash val="dash"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8217" y="1247774"/>
            <a:ext cx="4188959" cy="5285243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prstDash val="dash"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>
          <a:xfrm>
            <a:off x="7068456" y="2808514"/>
            <a:ext cx="708163" cy="640080"/>
          </a:xfrm>
          <a:prstGeom prst="rightArrow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Need to convert an expression with more than one operator in source program to Three Address Codes with only one operator</a:t>
                </a:r>
              </a:p>
              <a:p>
                <a:pPr lvl="1"/>
                <a:endParaRPr lang="en-US" alt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en-US" dirty="0">
                  <a:latin typeface="Candara" panose="020E0502030303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altLang="en-US" dirty="0">
                    <a:latin typeface="Candara" panose="020E0502030303020204" pitchFamily="34" charset="0"/>
                  </a:rPr>
                  <a:t>An array reference will expand in sequence of Three Address Codes that calculate the address for the reference</a:t>
                </a:r>
              </a:p>
              <a:p>
                <a:pPr lvl="1"/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827474"/>
              </a:xfrm>
              <a:blipFill>
                <a:blip r:embed="rId2"/>
                <a:stretch>
                  <a:fillRect l="-1043" t="-2020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2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Expressions</a:t>
            </a:r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67" y="2697002"/>
            <a:ext cx="4979871" cy="1340426"/>
          </a:xfr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14" y="1414317"/>
            <a:ext cx="4915586" cy="390579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10" name="TextBox 9"/>
          <p:cNvSpPr txBox="1"/>
          <p:nvPr/>
        </p:nvSpPr>
        <p:spPr>
          <a:xfrm>
            <a:off x="1592981" y="4209323"/>
            <a:ext cx="1521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Source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63" y="5508461"/>
            <a:ext cx="4073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Corresponding Three Address Code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B589A4D-BF27-19D3-FAC4-62BD662C3B01}"/>
              </a:ext>
            </a:extLst>
          </p:cNvPr>
          <p:cNvSpPr/>
          <p:nvPr/>
        </p:nvSpPr>
        <p:spPr>
          <a:xfrm>
            <a:off x="5552659" y="3114261"/>
            <a:ext cx="689113" cy="609600"/>
          </a:xfrm>
          <a:prstGeom prst="rightArrow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Expressions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37"/>
              <p:cNvSpPr txBox="1">
                <a:spLocks noChangeArrowheads="1"/>
              </p:cNvSpPr>
              <p:nvPr/>
            </p:nvSpPr>
            <p:spPr bwMode="auto">
              <a:xfrm>
                <a:off x="6917149" y="2822493"/>
                <a:ext cx="1915140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en-US" b="1" dirty="0"/>
                  <a:t>minus</a:t>
                </a:r>
                <a14:m>
                  <m:oMath xmlns:m="http://schemas.openxmlformats.org/officeDocument/2006/math">
                    <m:r>
                      <a:rPr lang="en-US" altLang="en-US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en-US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baseline="-25000" dirty="0"/>
              </a:p>
            </p:txBody>
          </p:sp>
        </mc:Choice>
        <mc:Fallback xmlns="">
          <p:sp>
            <p:nvSpPr>
              <p:cNvPr id="45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7149" y="2822493"/>
                <a:ext cx="1915140" cy="1200329"/>
              </a:xfrm>
              <a:prstGeom prst="rect">
                <a:avLst/>
              </a:prstGeom>
              <a:blipFill>
                <a:blip r:embed="rId2"/>
                <a:stretch>
                  <a:fillRect l="-318" t="-4061" b="-10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55"/>
          <p:cNvGrpSpPr>
            <a:grpSpLocks/>
          </p:cNvGrpSpPr>
          <p:nvPr/>
        </p:nvGrpSpPr>
        <p:grpSpPr bwMode="auto">
          <a:xfrm>
            <a:off x="2474487" y="2270222"/>
            <a:ext cx="2133600" cy="2286000"/>
            <a:chOff x="3276600" y="4343400"/>
            <a:chExt cx="2133600" cy="2286000"/>
          </a:xfrm>
        </p:grpSpPr>
        <p:sp>
          <p:nvSpPr>
            <p:cNvPr id="51" name="Text Box 38"/>
            <p:cNvSpPr txBox="1">
              <a:spLocks noChangeArrowheads="1"/>
            </p:cNvSpPr>
            <p:nvPr/>
          </p:nvSpPr>
          <p:spPr bwMode="auto">
            <a:xfrm>
              <a:off x="4368800" y="4994275"/>
              <a:ext cx="355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99FF"/>
                  </a:solidFill>
                </a:rPr>
                <a:t>+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3733800" y="4495800"/>
              <a:ext cx="4397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99FF"/>
                  </a:solidFill>
                </a:rPr>
                <a:t>:=</a:t>
              </a:r>
            </a:p>
          </p:txBody>
        </p:sp>
        <p:sp>
          <p:nvSpPr>
            <p:cNvPr id="53" name="Text Box 40"/>
            <p:cNvSpPr txBox="1">
              <a:spLocks noChangeArrowheads="1"/>
            </p:cNvSpPr>
            <p:nvPr/>
          </p:nvSpPr>
          <p:spPr bwMode="auto">
            <a:xfrm>
              <a:off x="3962400" y="5410200"/>
              <a:ext cx="28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99FF"/>
                  </a:solidFill>
                </a:rPr>
                <a:t>-</a:t>
              </a: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3810000" y="6019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b</a:t>
              </a:r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4860925" y="58674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99FF"/>
                  </a:solidFill>
                </a:rPr>
                <a:t>c</a:t>
              </a:r>
            </a:p>
          </p:txBody>
        </p:sp>
        <p:sp>
          <p:nvSpPr>
            <p:cNvPr id="56" name="Text Box 43"/>
            <p:cNvSpPr txBox="1">
              <a:spLocks noChangeArrowheads="1"/>
            </p:cNvSpPr>
            <p:nvPr/>
          </p:nvSpPr>
          <p:spPr bwMode="auto">
            <a:xfrm>
              <a:off x="3276600" y="4876800"/>
              <a:ext cx="319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3399FF"/>
                  </a:solidFill>
                </a:rPr>
                <a:t>a</a:t>
              </a:r>
            </a:p>
          </p:txBody>
        </p:sp>
        <p:sp>
          <p:nvSpPr>
            <p:cNvPr id="57" name="Line 44"/>
            <p:cNvSpPr>
              <a:spLocks noChangeShapeType="1"/>
            </p:cNvSpPr>
            <p:nvPr/>
          </p:nvSpPr>
          <p:spPr bwMode="auto">
            <a:xfrm flipH="1">
              <a:off x="4114800" y="5334000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45"/>
            <p:cNvSpPr>
              <a:spLocks noChangeShapeType="1"/>
            </p:cNvSpPr>
            <p:nvPr/>
          </p:nvSpPr>
          <p:spPr bwMode="auto">
            <a:xfrm>
              <a:off x="4648200" y="5410200"/>
              <a:ext cx="304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46"/>
            <p:cNvSpPr>
              <a:spLocks noChangeShapeType="1"/>
            </p:cNvSpPr>
            <p:nvPr/>
          </p:nvSpPr>
          <p:spPr bwMode="auto">
            <a:xfrm flipH="1">
              <a:off x="3962400" y="5791200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47"/>
            <p:cNvSpPr>
              <a:spLocks noChangeShapeType="1"/>
            </p:cNvSpPr>
            <p:nvPr/>
          </p:nvSpPr>
          <p:spPr bwMode="auto">
            <a:xfrm flipH="1">
              <a:off x="3505200" y="4800600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8"/>
            <p:cNvSpPr>
              <a:spLocks noChangeShapeType="1"/>
            </p:cNvSpPr>
            <p:nvPr/>
          </p:nvSpPr>
          <p:spPr bwMode="auto">
            <a:xfrm>
              <a:off x="4114800" y="4724400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 49"/>
            <p:cNvSpPr>
              <a:spLocks noChangeArrowheads="1"/>
            </p:cNvSpPr>
            <p:nvPr/>
          </p:nvSpPr>
          <p:spPr bwMode="auto">
            <a:xfrm>
              <a:off x="3276600" y="4343400"/>
              <a:ext cx="21336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870467" y="1338565"/>
                <a:ext cx="52255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ndara" panose="020E0502030303020204" pitchFamily="34" charset="0"/>
                  </a:rPr>
                  <a:t>An Example Expression: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:= −(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67" y="1338565"/>
                <a:ext cx="5225533" cy="461665"/>
              </a:xfrm>
              <a:prstGeom prst="rect">
                <a:avLst/>
              </a:prstGeom>
              <a:blipFill>
                <a:blip r:embed="rId3"/>
                <a:stretch>
                  <a:fillRect l="-1867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56"/>
          <p:cNvGrpSpPr>
            <a:grpSpLocks/>
          </p:cNvGrpSpPr>
          <p:nvPr/>
        </p:nvGrpSpPr>
        <p:grpSpPr bwMode="auto">
          <a:xfrm>
            <a:off x="2886778" y="2879822"/>
            <a:ext cx="1286618" cy="995065"/>
            <a:chOff x="3717925" y="4841875"/>
            <a:chExt cx="1286618" cy="995065"/>
          </a:xfrm>
        </p:grpSpPr>
        <p:sp>
          <p:nvSpPr>
            <p:cNvPr id="65" name="Text Box 51"/>
            <p:cNvSpPr txBox="1">
              <a:spLocks noChangeArrowheads="1"/>
            </p:cNvSpPr>
            <p:nvPr/>
          </p:nvSpPr>
          <p:spPr bwMode="auto">
            <a:xfrm>
              <a:off x="3717925" y="5375275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i="1" dirty="0"/>
                <a:t>t</a:t>
              </a:r>
              <a:r>
                <a:rPr lang="en-US" altLang="en-US" baseline="-25000" dirty="0"/>
                <a:t>1</a:t>
              </a:r>
            </a:p>
          </p:txBody>
        </p:sp>
        <p:sp>
          <p:nvSpPr>
            <p:cNvPr id="66" name="Text Box 52"/>
            <p:cNvSpPr txBox="1">
              <a:spLocks noChangeArrowheads="1"/>
            </p:cNvSpPr>
            <p:nvPr/>
          </p:nvSpPr>
          <p:spPr bwMode="auto">
            <a:xfrm>
              <a:off x="4632325" y="4841875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i="1" dirty="0"/>
                <a:t>t</a:t>
              </a:r>
              <a:r>
                <a:rPr lang="en-US" altLang="en-US" baseline="-25000" dirty="0"/>
                <a:t>2</a:t>
              </a: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8F8048B3-84DD-8D91-DCFF-24825C6BED08}"/>
              </a:ext>
            </a:extLst>
          </p:cNvPr>
          <p:cNvSpPr/>
          <p:nvPr/>
        </p:nvSpPr>
        <p:spPr>
          <a:xfrm>
            <a:off x="5464842" y="3181424"/>
            <a:ext cx="662787" cy="51892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BE953-D0E2-BE11-C20D-CF8312E82A6D}"/>
              </a:ext>
            </a:extLst>
          </p:cNvPr>
          <p:cNvSpPr txBox="1"/>
          <p:nvPr/>
        </p:nvSpPr>
        <p:spPr>
          <a:xfrm>
            <a:off x="2815159" y="4775449"/>
            <a:ext cx="1452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Syntax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669EC-D045-F97F-F78D-38E7B25FE577}"/>
              </a:ext>
            </a:extLst>
          </p:cNvPr>
          <p:cNvSpPr txBox="1"/>
          <p:nvPr/>
        </p:nvSpPr>
        <p:spPr>
          <a:xfrm>
            <a:off x="6742043" y="4775449"/>
            <a:ext cx="2355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Three Address Code</a:t>
            </a:r>
          </a:p>
        </p:txBody>
      </p:sp>
    </p:spTree>
    <p:extLst>
      <p:ext uri="{BB962C8B-B14F-4D97-AF65-F5344CB8AC3E}">
        <p14:creationId xmlns:p14="http://schemas.microsoft.com/office/powerpoint/2010/main" val="333241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3" grpId="0" animBg="1"/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B4E96384-5DF0-437F-8BE3-EB5B9DDD43FD}"/>
              </a:ext>
            </a:extLst>
          </p:cNvPr>
          <p:cNvGrpSpPr/>
          <p:nvPr/>
        </p:nvGrpSpPr>
        <p:grpSpPr>
          <a:xfrm>
            <a:off x="5050518" y="867777"/>
            <a:ext cx="2669359" cy="381000"/>
            <a:chOff x="5334000" y="1981200"/>
            <a:chExt cx="2669359" cy="381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C03A32-FE1C-4604-B607-9EE12E427B16}"/>
                </a:ext>
              </a:extLst>
            </p:cNvPr>
            <p:cNvSpPr/>
            <p:nvPr/>
          </p:nvSpPr>
          <p:spPr>
            <a:xfrm>
              <a:off x="5334000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6233CD-8323-425C-0682-112BDE5CC73A}"/>
                </a:ext>
              </a:extLst>
            </p:cNvPr>
            <p:cNvSpPr/>
            <p:nvPr/>
          </p:nvSpPr>
          <p:spPr>
            <a:xfrm>
              <a:off x="6479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CDC052-2E24-0CD7-4169-79A3F6AF4152}"/>
                </a:ext>
              </a:extLst>
            </p:cNvPr>
            <p:cNvSpPr/>
            <p:nvPr/>
          </p:nvSpPr>
          <p:spPr>
            <a:xfrm>
              <a:off x="7622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EEE70982-B9D5-7956-9E18-12A186F380B7}"/>
              </a:ext>
            </a:extLst>
          </p:cNvPr>
          <p:cNvSpPr/>
          <p:nvPr/>
        </p:nvSpPr>
        <p:spPr>
          <a:xfrm>
            <a:off x="4416765" y="219936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2B23F0C-6318-CE44-A1A9-6BBD744A82DA}"/>
              </a:ext>
            </a:extLst>
          </p:cNvPr>
          <p:cNvSpPr/>
          <p:nvPr/>
        </p:nvSpPr>
        <p:spPr>
          <a:xfrm>
            <a:off x="4974748" y="216256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DEA01-0F25-9736-08DA-1AAA8E2555C2}"/>
              </a:ext>
            </a:extLst>
          </p:cNvPr>
          <p:cNvSpPr/>
          <p:nvPr/>
        </p:nvSpPr>
        <p:spPr>
          <a:xfrm>
            <a:off x="6058114" y="216322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6195876" y="1524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14A0CF-1ADB-D282-9771-A49671582BE5}"/>
              </a:ext>
            </a:extLst>
          </p:cNvPr>
          <p:cNvCxnSpPr>
            <a:cxnSpLocks/>
          </p:cNvCxnSpPr>
          <p:nvPr/>
        </p:nvCxnSpPr>
        <p:spPr>
          <a:xfrm flipH="1">
            <a:off x="5369832" y="524775"/>
            <a:ext cx="875951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6380709" y="580571"/>
            <a:ext cx="0" cy="287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</p:cNvCxnSpPr>
          <p:nvPr/>
        </p:nvCxnSpPr>
        <p:spPr>
          <a:xfrm>
            <a:off x="6515413" y="524776"/>
            <a:ext cx="873592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83B936-B2A6-DDD6-5F19-20FD662FB023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4607266" y="1194314"/>
            <a:ext cx="496213" cy="1005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</p:cNvCxnSpPr>
          <p:nvPr/>
        </p:nvCxnSpPr>
        <p:spPr>
          <a:xfrm flipV="1">
            <a:off x="5164341" y="1250110"/>
            <a:ext cx="73841" cy="914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5372886" y="1192981"/>
            <a:ext cx="741024" cy="1026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9A5ED45-5059-F28F-A82F-6500215E6B1B}"/>
              </a:ext>
            </a:extLst>
          </p:cNvPr>
          <p:cNvSpPr/>
          <p:nvPr/>
        </p:nvSpPr>
        <p:spPr>
          <a:xfrm>
            <a:off x="4348690" y="3472934"/>
            <a:ext cx="604310" cy="3693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4419600" y="280794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4610101" y="3191474"/>
            <a:ext cx="40745" cy="281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9E3E08-933F-C52C-F88A-F6D41F4168CB}"/>
              </a:ext>
            </a:extLst>
          </p:cNvPr>
          <p:cNvCxnSpPr>
            <a:cxnSpLocks/>
            <a:stCxn id="30" idx="4"/>
            <a:endCxn id="71" idx="0"/>
          </p:cNvCxnSpPr>
          <p:nvPr/>
        </p:nvCxnSpPr>
        <p:spPr>
          <a:xfrm>
            <a:off x="4607266" y="2580360"/>
            <a:ext cx="2835" cy="227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984406F-43A8-344E-3269-58F1B13899DA}"/>
              </a:ext>
            </a:extLst>
          </p:cNvPr>
          <p:cNvSpPr/>
          <p:nvPr/>
        </p:nvSpPr>
        <p:spPr>
          <a:xfrm>
            <a:off x="5664836" y="2773145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num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</p:cNvCxnSpPr>
          <p:nvPr/>
        </p:nvCxnSpPr>
        <p:spPr>
          <a:xfrm>
            <a:off x="6255281" y="2544230"/>
            <a:ext cx="24642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5A6E3242-DED6-BAC3-BFD7-B739BF86C915}"/>
              </a:ext>
            </a:extLst>
          </p:cNvPr>
          <p:cNvSpPr>
            <a:spLocks/>
          </p:cNvSpPr>
          <p:nvPr/>
        </p:nvSpPr>
        <p:spPr>
          <a:xfrm>
            <a:off x="8077200" y="1535668"/>
            <a:ext cx="685800" cy="3693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91BBC00-0F2C-AC0B-E844-65B1B5B14184}"/>
              </a:ext>
            </a:extLst>
          </p:cNvPr>
          <p:cNvCxnSpPr>
            <a:cxnSpLocks/>
            <a:stCxn id="29" idx="4"/>
            <a:endCxn id="150" idx="0"/>
          </p:cNvCxnSpPr>
          <p:nvPr/>
        </p:nvCxnSpPr>
        <p:spPr>
          <a:xfrm>
            <a:off x="7529376" y="1248778"/>
            <a:ext cx="890724" cy="286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BF4C15F4-EEC8-7B4F-0151-84D1E8901B49}"/>
              </a:ext>
            </a:extLst>
          </p:cNvPr>
          <p:cNvSpPr txBox="1"/>
          <p:nvPr/>
        </p:nvSpPr>
        <p:spPr>
          <a:xfrm>
            <a:off x="7924800" y="1066800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87E46C7-642C-3DF7-6409-A879F5C46FEA}"/>
              </a:ext>
            </a:extLst>
          </p:cNvPr>
          <p:cNvSpPr txBox="1"/>
          <p:nvPr/>
        </p:nvSpPr>
        <p:spPr>
          <a:xfrm>
            <a:off x="6096001" y="2479802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203203" y="1"/>
            <a:ext cx="419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Construct syntax tree for: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a-4+c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96B131-51A4-070D-1F03-AEE8BC9CCEB1}"/>
              </a:ext>
            </a:extLst>
          </p:cNvPr>
          <p:cNvGrpSpPr/>
          <p:nvPr/>
        </p:nvGrpSpPr>
        <p:grpSpPr>
          <a:xfrm>
            <a:off x="3605425" y="6019800"/>
            <a:ext cx="1602783" cy="871954"/>
            <a:chOff x="3957458" y="5410200"/>
            <a:chExt cx="1602783" cy="8719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E7E161E-0BE1-7F7C-C8E4-E8518E995A08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8D5330-F0CA-3AD0-050C-8700DA2D206C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C82756-18EF-785D-8C59-F9E5E322F8D9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a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A1CE239-0222-D538-15B3-F6DB7F9A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5D16E1F-5100-27B3-12D2-C6AC09D21615}"/>
              </a:ext>
            </a:extLst>
          </p:cNvPr>
          <p:cNvGrpSpPr/>
          <p:nvPr/>
        </p:nvGrpSpPr>
        <p:grpSpPr>
          <a:xfrm>
            <a:off x="6048766" y="5802868"/>
            <a:ext cx="1067372" cy="369332"/>
            <a:chOff x="5866828" y="5412575"/>
            <a:chExt cx="106737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E1D824E-EC29-AD26-A2BB-BABF7C167A79}"/>
                </a:ext>
              </a:extLst>
            </p:cNvPr>
            <p:cNvSpPr txBox="1"/>
            <p:nvPr/>
          </p:nvSpPr>
          <p:spPr>
            <a:xfrm>
              <a:off x="5866828" y="5412575"/>
              <a:ext cx="61489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num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0F88E0-91E6-EE5F-1F95-BED7606ECA26}"/>
                </a:ext>
              </a:extLst>
            </p:cNvPr>
            <p:cNvSpPr txBox="1"/>
            <p:nvPr/>
          </p:nvSpPr>
          <p:spPr>
            <a:xfrm>
              <a:off x="6474310" y="5412575"/>
              <a:ext cx="45989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5DAB5-8D06-B284-9A8C-14E59D9A7283}"/>
              </a:ext>
            </a:extLst>
          </p:cNvPr>
          <p:cNvGrpSpPr/>
          <p:nvPr/>
        </p:nvGrpSpPr>
        <p:grpSpPr>
          <a:xfrm>
            <a:off x="7344167" y="4843046"/>
            <a:ext cx="1602783" cy="871954"/>
            <a:chOff x="3957458" y="5410200"/>
            <a:chExt cx="1602783" cy="8719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28F1F9C-297B-7633-11CE-5306F6447F86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A306F4-5A98-C93C-01E0-90E374D9CC74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829B2B-1C55-63C3-CC5F-89D4B1EC0F1E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c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2502522-86AD-D328-5F1D-831DFC258A7D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6E64AC-2384-CD71-2C7E-E3CD4A5DB0C9}"/>
              </a:ext>
            </a:extLst>
          </p:cNvPr>
          <p:cNvGrpSpPr/>
          <p:nvPr/>
        </p:nvGrpSpPr>
        <p:grpSpPr>
          <a:xfrm>
            <a:off x="4296166" y="4964668"/>
            <a:ext cx="1352000" cy="369332"/>
            <a:chOff x="776083" y="4724400"/>
            <a:chExt cx="1352000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2301F2-9F88-6263-B9DF-2ACCF33E3978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2B577-C6C9-1225-0F43-4904462E00F3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FF495E2-FC59-50C1-4451-086A546491A8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E6209D-3345-8E76-8EBC-E3BF6D76108A}"/>
              </a:ext>
            </a:extLst>
          </p:cNvPr>
          <p:cNvCxnSpPr/>
          <p:nvPr/>
        </p:nvCxnSpPr>
        <p:spPr>
          <a:xfrm flipH="1">
            <a:off x="4249512" y="5149334"/>
            <a:ext cx="715613" cy="8704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673A0A-228D-C68C-1027-E2C505DD107B}"/>
              </a:ext>
            </a:extLst>
          </p:cNvPr>
          <p:cNvCxnSpPr>
            <a:cxnSpLocks/>
          </p:cNvCxnSpPr>
          <p:nvPr/>
        </p:nvCxnSpPr>
        <p:spPr>
          <a:xfrm>
            <a:off x="5441526" y="5161660"/>
            <a:ext cx="1214723" cy="6338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95A2940-2577-777E-6A1C-E318CA3A0C76}"/>
              </a:ext>
            </a:extLst>
          </p:cNvPr>
          <p:cNvGrpSpPr/>
          <p:nvPr/>
        </p:nvGrpSpPr>
        <p:grpSpPr>
          <a:xfrm>
            <a:off x="5839766" y="3974068"/>
            <a:ext cx="1352000" cy="369332"/>
            <a:chOff x="776083" y="4724400"/>
            <a:chExt cx="1352000" cy="36933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CC617D-84D8-5E95-D3BA-CFFE14DBB09D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A768C3-70AD-B7DE-0AE2-BC1A54486E9B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71A429B-16EE-C880-4CB3-B6BA062B619D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CA750B4-26EF-88B5-0A40-086F6BCED355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4965125" y="4147066"/>
            <a:ext cx="1494454" cy="81760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5CF627D-F4F6-DD1A-D6F8-7BEE6C2BE7CF}"/>
              </a:ext>
            </a:extLst>
          </p:cNvPr>
          <p:cNvCxnSpPr>
            <a:cxnSpLocks/>
          </p:cNvCxnSpPr>
          <p:nvPr/>
        </p:nvCxnSpPr>
        <p:spPr>
          <a:xfrm>
            <a:off x="6935980" y="4159392"/>
            <a:ext cx="1017786" cy="68365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7B95088-1843-995E-793B-4CAC6DC178BD}"/>
              </a:ext>
            </a:extLst>
          </p:cNvPr>
          <p:cNvSpPr txBox="1"/>
          <p:nvPr/>
        </p:nvSpPr>
        <p:spPr>
          <a:xfrm>
            <a:off x="1524000" y="2819114"/>
            <a:ext cx="322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C939D5-777F-14C5-197B-912FBC8ADD72}"/>
              </a:ext>
            </a:extLst>
          </p:cNvPr>
          <p:cNvSpPr txBox="1"/>
          <p:nvPr/>
        </p:nvSpPr>
        <p:spPr>
          <a:xfrm>
            <a:off x="2725950" y="2221468"/>
            <a:ext cx="169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51524B-F807-C84D-5B45-CA1BDB14B6A5}"/>
              </a:ext>
            </a:extLst>
          </p:cNvPr>
          <p:cNvSpPr txBox="1"/>
          <p:nvPr/>
        </p:nvSpPr>
        <p:spPr>
          <a:xfrm>
            <a:off x="1529270" y="609600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new 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 (‘-’, E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i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0925A5-6A94-802F-7BDF-9EE04819EAAE}"/>
              </a:ext>
            </a:extLst>
          </p:cNvPr>
          <p:cNvSpPr txBox="1"/>
          <p:nvPr/>
        </p:nvSpPr>
        <p:spPr>
          <a:xfrm>
            <a:off x="7575350" y="773668"/>
            <a:ext cx="322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73B0BF-1F30-E5F0-12AC-9929962B4226}"/>
              </a:ext>
            </a:extLst>
          </p:cNvPr>
          <p:cNvSpPr txBox="1"/>
          <p:nvPr/>
        </p:nvSpPr>
        <p:spPr>
          <a:xfrm>
            <a:off x="3862238" y="3135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5B2D702-660F-DCA5-02C3-AEB43E51E3DC}"/>
              </a:ext>
            </a:extLst>
          </p:cNvPr>
          <p:cNvSpPr txBox="1"/>
          <p:nvPr/>
        </p:nvSpPr>
        <p:spPr>
          <a:xfrm>
            <a:off x="6634670" y="164068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new 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 (‘+’, E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i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D2565FF-9C50-D6C9-9695-3E4077AFAD1C}"/>
              </a:ext>
            </a:extLst>
          </p:cNvPr>
          <p:cNvSpPr/>
          <p:nvPr/>
        </p:nvSpPr>
        <p:spPr>
          <a:xfrm>
            <a:off x="2032611" y="3275354"/>
            <a:ext cx="1723773" cy="2789695"/>
          </a:xfrm>
          <a:custGeom>
            <a:avLst/>
            <a:gdLst>
              <a:gd name="connsiteX0" fmla="*/ 266932 w 1723773"/>
              <a:gd name="connsiteY0" fmla="*/ 0 h 2789695"/>
              <a:gd name="connsiteX1" fmla="*/ 111949 w 1723773"/>
              <a:gd name="connsiteY1" fmla="*/ 1379350 h 2789695"/>
              <a:gd name="connsiteX2" fmla="*/ 1723773 w 1723773"/>
              <a:gd name="connsiteY2" fmla="*/ 2789695 h 2789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3773" h="2789695">
                <a:moveTo>
                  <a:pt x="266932" y="0"/>
                </a:moveTo>
                <a:cubicBezTo>
                  <a:pt x="68037" y="457200"/>
                  <a:pt x="-130858" y="914401"/>
                  <a:pt x="111949" y="1379350"/>
                </a:cubicBezTo>
                <a:cubicBezTo>
                  <a:pt x="354756" y="1844299"/>
                  <a:pt x="1039264" y="2316997"/>
                  <a:pt x="1723773" y="2789695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2D0EEF7-6F8F-3533-0A96-96C694EAE1FF}"/>
              </a:ext>
            </a:extLst>
          </p:cNvPr>
          <p:cNvSpPr/>
          <p:nvPr/>
        </p:nvSpPr>
        <p:spPr>
          <a:xfrm>
            <a:off x="2993707" y="2605453"/>
            <a:ext cx="900799" cy="3394129"/>
          </a:xfrm>
          <a:custGeom>
            <a:avLst/>
            <a:gdLst>
              <a:gd name="connsiteX0" fmla="*/ 265368 w 900799"/>
              <a:gd name="connsiteY0" fmla="*/ 0 h 3394129"/>
              <a:gd name="connsiteX1" fmla="*/ 32894 w 900799"/>
              <a:gd name="connsiteY1" fmla="*/ 1410346 h 3394129"/>
              <a:gd name="connsiteX2" fmla="*/ 900799 w 900799"/>
              <a:gd name="connsiteY2" fmla="*/ 3394129 h 339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0799" h="3394129">
                <a:moveTo>
                  <a:pt x="265368" y="0"/>
                </a:moveTo>
                <a:cubicBezTo>
                  <a:pt x="96178" y="422329"/>
                  <a:pt x="-73011" y="844658"/>
                  <a:pt x="32894" y="1410346"/>
                </a:cubicBezTo>
                <a:cubicBezTo>
                  <a:pt x="138799" y="1976034"/>
                  <a:pt x="519799" y="2685081"/>
                  <a:pt x="900799" y="3394129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E683325-B743-7A4D-89F8-91BCAE9F41BE}"/>
              </a:ext>
            </a:extLst>
          </p:cNvPr>
          <p:cNvSpPr/>
          <p:nvPr/>
        </p:nvSpPr>
        <p:spPr>
          <a:xfrm>
            <a:off x="3597910" y="1039054"/>
            <a:ext cx="1072565" cy="3843580"/>
          </a:xfrm>
          <a:custGeom>
            <a:avLst/>
            <a:gdLst>
              <a:gd name="connsiteX0" fmla="*/ 499128 w 1072565"/>
              <a:gd name="connsiteY0" fmla="*/ 0 h 3843580"/>
              <a:gd name="connsiteX1" fmla="*/ 18680 w 1072565"/>
              <a:gd name="connsiteY1" fmla="*/ 805912 h 3843580"/>
              <a:gd name="connsiteX2" fmla="*/ 1072565 w 1072565"/>
              <a:gd name="connsiteY2" fmla="*/ 3843580 h 384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2565" h="3843580">
                <a:moveTo>
                  <a:pt x="499128" y="0"/>
                </a:moveTo>
                <a:cubicBezTo>
                  <a:pt x="211117" y="82657"/>
                  <a:pt x="-76893" y="165315"/>
                  <a:pt x="18680" y="805912"/>
                </a:cubicBezTo>
                <a:cubicBezTo>
                  <a:pt x="114253" y="1446509"/>
                  <a:pt x="593409" y="2645044"/>
                  <a:pt x="1072565" y="3843580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AA1DDFB-0612-56B6-0AF6-31D332F82427}"/>
              </a:ext>
            </a:extLst>
          </p:cNvPr>
          <p:cNvSpPr/>
          <p:nvPr/>
        </p:nvSpPr>
        <p:spPr>
          <a:xfrm>
            <a:off x="5373252" y="2402237"/>
            <a:ext cx="1544159" cy="3347634"/>
          </a:xfrm>
          <a:custGeom>
            <a:avLst/>
            <a:gdLst>
              <a:gd name="connsiteX0" fmla="*/ 738247 w 1544159"/>
              <a:gd name="connsiteY0" fmla="*/ 0 h 3347634"/>
              <a:gd name="connsiteX1" fmla="*/ 25325 w 1544159"/>
              <a:gd name="connsiteY1" fmla="*/ 1286360 h 3347634"/>
              <a:gd name="connsiteX2" fmla="*/ 1544159 w 1544159"/>
              <a:gd name="connsiteY2" fmla="*/ 3347634 h 33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159" h="3347634">
                <a:moveTo>
                  <a:pt x="738247" y="0"/>
                </a:moveTo>
                <a:cubicBezTo>
                  <a:pt x="314626" y="364210"/>
                  <a:pt x="-108994" y="728421"/>
                  <a:pt x="25325" y="1286360"/>
                </a:cubicBezTo>
                <a:cubicBezTo>
                  <a:pt x="159644" y="1844299"/>
                  <a:pt x="851901" y="2595966"/>
                  <a:pt x="1544159" y="3347634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B21F6DF-4F22-6CDE-7352-F6CA047399AD}"/>
              </a:ext>
            </a:extLst>
          </p:cNvPr>
          <p:cNvSpPr/>
          <p:nvPr/>
        </p:nvSpPr>
        <p:spPr>
          <a:xfrm>
            <a:off x="6498956" y="650930"/>
            <a:ext cx="577104" cy="3301139"/>
          </a:xfrm>
          <a:custGeom>
            <a:avLst/>
            <a:gdLst>
              <a:gd name="connsiteX0" fmla="*/ 0 w 577104"/>
              <a:gd name="connsiteY0" fmla="*/ 0 h 3301139"/>
              <a:gd name="connsiteX1" fmla="*/ 573437 w 577104"/>
              <a:gd name="connsiteY1" fmla="*/ 728420 h 3301139"/>
              <a:gd name="connsiteX2" fmla="*/ 201478 w 577104"/>
              <a:gd name="connsiteY2" fmla="*/ 3301139 h 3301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104" h="3301139">
                <a:moveTo>
                  <a:pt x="0" y="0"/>
                </a:moveTo>
                <a:cubicBezTo>
                  <a:pt x="269928" y="89115"/>
                  <a:pt x="539857" y="178230"/>
                  <a:pt x="573437" y="728420"/>
                </a:cubicBezTo>
                <a:cubicBezTo>
                  <a:pt x="607017" y="1278610"/>
                  <a:pt x="404247" y="2289874"/>
                  <a:pt x="201478" y="3301139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066A1BA-BA27-9AAA-CFE5-A3C125DF8C1D}"/>
              </a:ext>
            </a:extLst>
          </p:cNvPr>
          <p:cNvSpPr/>
          <p:nvPr/>
        </p:nvSpPr>
        <p:spPr>
          <a:xfrm>
            <a:off x="8126278" y="1177871"/>
            <a:ext cx="1306748" cy="3673098"/>
          </a:xfrm>
          <a:custGeom>
            <a:avLst/>
            <a:gdLst>
              <a:gd name="connsiteX0" fmla="*/ 945397 w 1306748"/>
              <a:gd name="connsiteY0" fmla="*/ 0 h 3673098"/>
              <a:gd name="connsiteX1" fmla="*/ 1255363 w 1306748"/>
              <a:gd name="connsiteY1" fmla="*/ 1441343 h 3673098"/>
              <a:gd name="connsiteX2" fmla="*/ 0 w 1306748"/>
              <a:gd name="connsiteY2" fmla="*/ 3673098 h 367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748" h="3673098">
                <a:moveTo>
                  <a:pt x="945397" y="0"/>
                </a:moveTo>
                <a:cubicBezTo>
                  <a:pt x="1179163" y="414580"/>
                  <a:pt x="1412929" y="829160"/>
                  <a:pt x="1255363" y="1441343"/>
                </a:cubicBezTo>
                <a:cubicBezTo>
                  <a:pt x="1097797" y="2053526"/>
                  <a:pt x="548898" y="2863312"/>
                  <a:pt x="0" y="3673098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1CF8581-E071-4373-4727-7F27A2D362A6}"/>
              </a:ext>
            </a:extLst>
          </p:cNvPr>
          <p:cNvSpPr txBox="1"/>
          <p:nvPr/>
        </p:nvSpPr>
        <p:spPr>
          <a:xfrm>
            <a:off x="6365060" y="2209800"/>
            <a:ext cx="3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(num, </a:t>
            </a:r>
            <a:r>
              <a:rPr lang="en-US" b="1" dirty="0" err="1">
                <a:solidFill>
                  <a:srgbClr val="0070C0"/>
                </a:solidFill>
              </a:rPr>
              <a:t>num.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02711C2-F78C-00B0-6362-113B0CFE84A6}"/>
              </a:ext>
            </a:extLst>
          </p:cNvPr>
          <p:cNvGrpSpPr/>
          <p:nvPr/>
        </p:nvGrpSpPr>
        <p:grpSpPr>
          <a:xfrm>
            <a:off x="10606779" y="4224174"/>
            <a:ext cx="1228048" cy="2458090"/>
            <a:chOff x="1828800" y="1416916"/>
            <a:chExt cx="1228048" cy="24580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1EA5E6D-2A19-7712-367B-BD4C6026457E}"/>
                </a:ext>
              </a:extLst>
            </p:cNvPr>
            <p:cNvSpPr txBox="1"/>
            <p:nvPr/>
          </p:nvSpPr>
          <p:spPr>
            <a:xfrm>
              <a:off x="1828800" y="1771438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E</a:t>
              </a:r>
              <a:r>
                <a:rPr lang="en-US" baseline="-25000" dirty="0">
                  <a:sym typeface="Wingdings" panose="05000000000000000000" pitchFamily="2" charset="2"/>
                </a:rPr>
                <a:t>1</a:t>
              </a:r>
              <a:r>
                <a:rPr lang="en-US" dirty="0">
                  <a:sym typeface="Wingdings" panose="05000000000000000000" pitchFamily="2" charset="2"/>
                </a:rPr>
                <a:t> + T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01619E-249D-DCC3-FC4E-CC5229D3F5B1}"/>
                </a:ext>
              </a:extLst>
            </p:cNvPr>
            <p:cNvSpPr txBox="1"/>
            <p:nvPr/>
          </p:nvSpPr>
          <p:spPr>
            <a:xfrm>
              <a:off x="1828800" y="2812427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( E )</a:t>
              </a:r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4ED03F-5E72-98A4-F2EC-14E921685FE7}"/>
                </a:ext>
              </a:extLst>
            </p:cNvPr>
            <p:cNvSpPr txBox="1"/>
            <p:nvPr/>
          </p:nvSpPr>
          <p:spPr>
            <a:xfrm>
              <a:off x="1828800" y="3156835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</a:t>
              </a:r>
              <a:r>
                <a:rPr lang="en-US" b="1" dirty="0">
                  <a:sym typeface="Wingdings" panose="05000000000000000000" pitchFamily="2" charset="2"/>
                </a:rPr>
                <a:t>id</a:t>
              </a:r>
              <a:endParaRPr lang="en-US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8400531-2C21-588C-CC9A-857D24E8A401}"/>
                </a:ext>
              </a:extLst>
            </p:cNvPr>
            <p:cNvSpPr txBox="1"/>
            <p:nvPr/>
          </p:nvSpPr>
          <p:spPr>
            <a:xfrm>
              <a:off x="1828800" y="3505674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num</a:t>
              </a:r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A5D95E8-56C7-80FB-4050-F5F38E2F597B}"/>
                </a:ext>
              </a:extLst>
            </p:cNvPr>
            <p:cNvSpPr txBox="1"/>
            <p:nvPr/>
          </p:nvSpPr>
          <p:spPr>
            <a:xfrm>
              <a:off x="1828800" y="2116162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E</a:t>
              </a:r>
              <a:r>
                <a:rPr lang="en-US" baseline="-25000" dirty="0">
                  <a:sym typeface="Wingdings" panose="05000000000000000000" pitchFamily="2" charset="2"/>
                </a:rPr>
                <a:t>1</a:t>
              </a:r>
              <a:r>
                <a:rPr lang="en-US" dirty="0">
                  <a:sym typeface="Wingdings" panose="05000000000000000000" pitchFamily="2" charset="2"/>
                </a:rPr>
                <a:t> - T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65A9559-2033-2C26-3F33-FD16AF85F34F}"/>
                </a:ext>
              </a:extLst>
            </p:cNvPr>
            <p:cNvSpPr txBox="1"/>
            <p:nvPr/>
          </p:nvSpPr>
          <p:spPr>
            <a:xfrm>
              <a:off x="1828800" y="2464980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T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9812AF4-FB93-36B8-B6E7-19B7A6F4F74C}"/>
                </a:ext>
              </a:extLst>
            </p:cNvPr>
            <p:cNvSpPr txBox="1"/>
            <p:nvPr/>
          </p:nvSpPr>
          <p:spPr>
            <a:xfrm>
              <a:off x="1828800" y="1416916"/>
              <a:ext cx="122804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Production</a:t>
              </a:r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C5CD1DAC-F24B-04D7-EAD0-24EEB5971C5C}"/>
              </a:ext>
            </a:extLst>
          </p:cNvPr>
          <p:cNvSpPr/>
          <p:nvPr/>
        </p:nvSpPr>
        <p:spPr>
          <a:xfrm>
            <a:off x="10398380" y="4038600"/>
            <a:ext cx="1644849" cy="2719864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8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4" grpId="0"/>
      <p:bldP spid="64" grpId="0"/>
      <p:bldP spid="71" grpId="0"/>
      <p:bldP spid="146" grpId="0"/>
      <p:bldP spid="150" grpId="0"/>
      <p:bldP spid="333" grpId="0"/>
      <p:bldP spid="343" grpId="0"/>
      <p:bldP spid="94" grpId="0"/>
      <p:bldP spid="95" grpId="0"/>
      <p:bldP spid="96" grpId="0"/>
      <p:bldP spid="97" grpId="0"/>
      <p:bldP spid="98" grpId="0"/>
      <p:bldP spid="169" grpId="0"/>
      <p:bldP spid="42" grpId="0" animBg="1"/>
      <p:bldP spid="43" grpId="0" animBg="1"/>
      <p:bldP spid="45" grpId="0" animBg="1"/>
      <p:bldP spid="66" grpId="0" animBg="1"/>
      <p:bldP spid="68" grpId="0" animBg="1"/>
      <p:bldP spid="69" grpId="0" animBg="1"/>
      <p:bldP spid="17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FB7E5B-8399-1298-FB9E-9E15834B1763}"/>
              </a:ext>
            </a:extLst>
          </p:cNvPr>
          <p:cNvGrpSpPr/>
          <p:nvPr/>
        </p:nvGrpSpPr>
        <p:grpSpPr>
          <a:xfrm>
            <a:off x="1694132" y="1086738"/>
            <a:ext cx="1880640" cy="1694583"/>
            <a:chOff x="2044498" y="3914434"/>
            <a:chExt cx="1880640" cy="1694583"/>
          </a:xfrm>
        </p:grpSpPr>
        <p:sp>
          <p:nvSpPr>
            <p:cNvPr id="8" name="Text Box 38">
              <a:extLst>
                <a:ext uri="{FF2B5EF4-FFF2-40B4-BE49-F238E27FC236}">
                  <a16:creationId xmlns:a16="http://schemas.microsoft.com/office/drawing/2014/main" id="{2C2E9E43-83FC-BDEE-47B1-09C32B2F6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4309" y="4443369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-</a:t>
              </a:r>
            </a:p>
          </p:txBody>
        </p:sp>
        <p:sp>
          <p:nvSpPr>
            <p:cNvPr id="9" name="Text Box 39">
              <a:extLst>
                <a:ext uri="{FF2B5EF4-FFF2-40B4-BE49-F238E27FC236}">
                  <a16:creationId xmlns:a16="http://schemas.microsoft.com/office/drawing/2014/main" id="{BF63FF36-5FAE-29F6-7325-C267DCC05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216" y="3914434"/>
              <a:ext cx="4347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 +</a:t>
              </a:r>
            </a:p>
          </p:txBody>
        </p:sp>
        <p:sp>
          <p:nvSpPr>
            <p:cNvPr id="11" name="Text Box 41">
              <a:extLst>
                <a:ext uri="{FF2B5EF4-FFF2-40B4-BE49-F238E27FC236}">
                  <a16:creationId xmlns:a16="http://schemas.microsoft.com/office/drawing/2014/main" id="{A9DE7DA1-B8A4-25D7-2DAF-337699E32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498" y="5146560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a</a:t>
              </a:r>
            </a:p>
          </p:txBody>
        </p:sp>
        <p:sp>
          <p:nvSpPr>
            <p:cNvPr id="12" name="Text Box 42">
              <a:extLst>
                <a:ext uri="{FF2B5EF4-FFF2-40B4-BE49-F238E27FC236}">
                  <a16:creationId xmlns:a16="http://schemas.microsoft.com/office/drawing/2014/main" id="{DCE8BC3D-24C1-171D-D7A1-6602A7D82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8872" y="5147352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4</a:t>
              </a:r>
            </a:p>
          </p:txBody>
        </p:sp>
        <p:sp>
          <p:nvSpPr>
            <p:cNvPr id="13" name="Text Box 43">
              <a:extLst>
                <a:ext uri="{FF2B5EF4-FFF2-40B4-BE49-F238E27FC236}">
                  <a16:creationId xmlns:a16="http://schemas.microsoft.com/office/drawing/2014/main" id="{8BC59171-26E8-59B7-6F0C-27F8E1BBE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216" y="4639276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c</a:t>
              </a:r>
            </a:p>
          </p:txBody>
        </p:sp>
        <p:sp>
          <p:nvSpPr>
            <p:cNvPr id="15" name="Line 45">
              <a:extLst>
                <a:ext uri="{FF2B5EF4-FFF2-40B4-BE49-F238E27FC236}">
                  <a16:creationId xmlns:a16="http://schemas.microsoft.com/office/drawing/2014/main" id="{14095BBA-6445-26A2-1DF3-6DF7AF7A9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8579" y="4870109"/>
              <a:ext cx="160293" cy="353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6">
              <a:extLst>
                <a:ext uri="{FF2B5EF4-FFF2-40B4-BE49-F238E27FC236}">
                  <a16:creationId xmlns:a16="http://schemas.microsoft.com/office/drawing/2014/main" id="{81917056-9794-073D-8BEA-EFCB437FF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8648" y="4905034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7">
              <a:extLst>
                <a:ext uri="{FF2B5EF4-FFF2-40B4-BE49-F238E27FC236}">
                  <a16:creationId xmlns:a16="http://schemas.microsoft.com/office/drawing/2014/main" id="{BAE4A0F5-52DE-FF0A-82BE-3AF5EAD71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83543" y="4219233"/>
              <a:ext cx="334873" cy="309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8">
              <a:extLst>
                <a:ext uri="{FF2B5EF4-FFF2-40B4-BE49-F238E27FC236}">
                  <a16:creationId xmlns:a16="http://schemas.microsoft.com/office/drawing/2014/main" id="{86BD069F-76D1-07B6-228E-B8084919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2244" y="4331721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46F178DC-C0AF-51E0-EFC7-1A18B5059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217"/>
              </p:ext>
            </p:extLst>
          </p:nvPr>
        </p:nvGraphicFramePr>
        <p:xfrm>
          <a:off x="565944" y="3441098"/>
          <a:ext cx="4838938" cy="271272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13091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708028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57295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(‘+’,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(‘-’,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 (id, </a:t>
                      </a:r>
                      <a:r>
                        <a:rPr lang="en-US" sz="1600" b="1" dirty="0" err="1">
                          <a:solidFill>
                            <a:srgbClr val="0070C0"/>
                          </a:solidFill>
                        </a:rPr>
                        <a:t>id.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entry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  <a:tr h="135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dirty="0">
                          <a:sym typeface="Wingdings" panose="05000000000000000000" pitchFamily="2" charset="2"/>
                        </a:rPr>
                        <a:t>num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 (num, </a:t>
                      </a:r>
                      <a:r>
                        <a:rPr lang="en-US" sz="1600" b="1" dirty="0" err="1">
                          <a:solidFill>
                            <a:srgbClr val="0070C0"/>
                          </a:solidFill>
                        </a:rPr>
                        <a:t>num.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val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5691111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D943208E-600D-0186-FFA6-855CA6C0FA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9280545"/>
              </p:ext>
            </p:extLst>
          </p:nvPr>
        </p:nvGraphicFramePr>
        <p:xfrm>
          <a:off x="5776686" y="3441098"/>
          <a:ext cx="6299200" cy="271272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472188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4827012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S.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(‘:=‘, new Leaf (id,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id.entry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), 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(‘+’,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(‘-’,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 (id, </a:t>
                      </a:r>
                      <a:r>
                        <a:rPr lang="en-US" sz="1600" b="1" dirty="0" err="1">
                          <a:solidFill>
                            <a:srgbClr val="0070C0"/>
                          </a:solidFill>
                        </a:rPr>
                        <a:t>id.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entry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  <a:tr h="1352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dirty="0">
                          <a:sym typeface="Wingdings" panose="05000000000000000000" pitchFamily="2" charset="2"/>
                        </a:rPr>
                        <a:t>num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 (num, </a:t>
                      </a:r>
                      <a:r>
                        <a:rPr lang="en-US" sz="1600" b="1" dirty="0" err="1">
                          <a:solidFill>
                            <a:srgbClr val="0070C0"/>
                          </a:solidFill>
                        </a:rPr>
                        <a:t>num.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val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5691111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80699B8-045A-1B84-0681-A5DCF210280A}"/>
              </a:ext>
            </a:extLst>
          </p:cNvPr>
          <p:cNvGrpSpPr/>
          <p:nvPr/>
        </p:nvGrpSpPr>
        <p:grpSpPr>
          <a:xfrm>
            <a:off x="8516715" y="708965"/>
            <a:ext cx="2062069" cy="2376799"/>
            <a:chOff x="7937304" y="3261813"/>
            <a:chExt cx="2062069" cy="2376799"/>
          </a:xfrm>
        </p:grpSpPr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0D41C93A-28FC-81B6-0246-A3EEB380A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8544" y="4473756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-</a:t>
              </a:r>
            </a:p>
          </p:txBody>
        </p:sp>
        <p:sp>
          <p:nvSpPr>
            <p:cNvPr id="29" name="Text Box 39">
              <a:extLst>
                <a:ext uri="{FF2B5EF4-FFF2-40B4-BE49-F238E27FC236}">
                  <a16:creationId xmlns:a16="http://schemas.microsoft.com/office/drawing/2014/main" id="{ECEEC9C9-F3EC-8D78-8A13-0DF1F9D30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9870" y="3936206"/>
              <a:ext cx="4347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 +</a:t>
              </a:r>
            </a:p>
          </p:txBody>
        </p:sp>
        <p:sp>
          <p:nvSpPr>
            <p:cNvPr id="30" name="Text Box 41">
              <a:extLst>
                <a:ext uri="{FF2B5EF4-FFF2-40B4-BE49-F238E27FC236}">
                  <a16:creationId xmlns:a16="http://schemas.microsoft.com/office/drawing/2014/main" id="{7BFE1E96-B121-4B47-A248-FBA0B6D4D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8733" y="5176947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a</a:t>
              </a:r>
            </a:p>
          </p:txBody>
        </p: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DEADC93B-27AD-CD4B-EBA9-D442DBE73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3107" y="516912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4</a:t>
              </a:r>
            </a:p>
          </p:txBody>
        </p:sp>
        <p:sp>
          <p:nvSpPr>
            <p:cNvPr id="32" name="Text Box 43">
              <a:extLst>
                <a:ext uri="{FF2B5EF4-FFF2-40B4-BE49-F238E27FC236}">
                  <a16:creationId xmlns:a16="http://schemas.microsoft.com/office/drawing/2014/main" id="{0F7C2E5F-6FED-33BC-C586-B5749F930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8451" y="4661048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c</a:t>
              </a:r>
            </a:p>
          </p:txBody>
        </p:sp>
        <p:sp>
          <p:nvSpPr>
            <p:cNvPr id="33" name="Line 45">
              <a:extLst>
                <a:ext uri="{FF2B5EF4-FFF2-40B4-BE49-F238E27FC236}">
                  <a16:creationId xmlns:a16="http://schemas.microsoft.com/office/drawing/2014/main" id="{304A6EB2-6DC9-515D-932E-3ACD1E7F7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2814" y="4891881"/>
              <a:ext cx="160293" cy="353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46">
              <a:extLst>
                <a:ext uri="{FF2B5EF4-FFF2-40B4-BE49-F238E27FC236}">
                  <a16:creationId xmlns:a16="http://schemas.microsoft.com/office/drawing/2014/main" id="{A790A29F-D937-C7D8-5350-B4F034529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2883" y="4935421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17B138AF-2177-C680-8518-9E2A421EE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57778" y="4241005"/>
              <a:ext cx="334873" cy="309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48">
              <a:extLst>
                <a:ext uri="{FF2B5EF4-FFF2-40B4-BE49-F238E27FC236}">
                  <a16:creationId xmlns:a16="http://schemas.microsoft.com/office/drawing/2014/main" id="{DCE7246A-013A-1769-CAE4-A0C6E0447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6479" y="4353493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E7091FDF-4625-2689-581B-9FEA64308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7115" y="3261813"/>
              <a:ext cx="3577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=</a:t>
              </a:r>
            </a:p>
          </p:txBody>
        </p:sp>
        <p:sp>
          <p:nvSpPr>
            <p:cNvPr id="38" name="Text Box 41">
              <a:extLst>
                <a:ext uri="{FF2B5EF4-FFF2-40B4-BE49-F238E27FC236}">
                  <a16:creationId xmlns:a16="http://schemas.microsoft.com/office/drawing/2014/main" id="{CA7446CA-888F-B7CF-2991-DC26220AA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7304" y="396500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w</a:t>
              </a:r>
            </a:p>
          </p:txBody>
        </p:sp>
        <p:sp>
          <p:nvSpPr>
            <p:cNvPr id="39" name="Line 46">
              <a:extLst>
                <a:ext uri="{FF2B5EF4-FFF2-40B4-BE49-F238E27FC236}">
                  <a16:creationId xmlns:a16="http://schemas.microsoft.com/office/drawing/2014/main" id="{04E23F15-132C-D330-0FD5-FAFA10CF5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21454" y="3723478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48">
              <a:extLst>
                <a:ext uri="{FF2B5EF4-FFF2-40B4-BE49-F238E27FC236}">
                  <a16:creationId xmlns:a16="http://schemas.microsoft.com/office/drawing/2014/main" id="{678AF2B3-E500-442A-3D05-C9C74BFAB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5108" y="3664068"/>
              <a:ext cx="292277" cy="364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5A0F650-C89A-5CF0-1208-6390D76D1318}"/>
              </a:ext>
            </a:extLst>
          </p:cNvPr>
          <p:cNvSpPr txBox="1"/>
          <p:nvPr/>
        </p:nvSpPr>
        <p:spPr>
          <a:xfrm>
            <a:off x="1687443" y="203197"/>
            <a:ext cx="419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AST for a-4+c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420804-EA26-497E-2090-8D1CC7CFAE6B}"/>
              </a:ext>
            </a:extLst>
          </p:cNvPr>
          <p:cNvSpPr txBox="1"/>
          <p:nvPr/>
        </p:nvSpPr>
        <p:spPr>
          <a:xfrm>
            <a:off x="8369898" y="203197"/>
            <a:ext cx="419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AST for w=a-4+c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6F7BD7-4259-9D73-EC78-EC4A4087B93B}"/>
              </a:ext>
            </a:extLst>
          </p:cNvPr>
          <p:cNvSpPr/>
          <p:nvPr/>
        </p:nvSpPr>
        <p:spPr>
          <a:xfrm>
            <a:off x="1378857" y="996460"/>
            <a:ext cx="2452914" cy="191513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1488A-A739-DEAF-E2A1-A032EF69F80F}"/>
              </a:ext>
            </a:extLst>
          </p:cNvPr>
          <p:cNvSpPr/>
          <p:nvPr/>
        </p:nvSpPr>
        <p:spPr>
          <a:xfrm>
            <a:off x="8040914" y="708965"/>
            <a:ext cx="2706917" cy="252919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D943208E-600D-0186-FFA6-855CA6C0FA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908730"/>
              </p:ext>
            </p:extLst>
          </p:nvPr>
        </p:nvGraphicFramePr>
        <p:xfrm>
          <a:off x="348345" y="3429000"/>
          <a:ext cx="5290455" cy="2590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6196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928494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 for AST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S.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(‘:=‘, new Leaf (id,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                                               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id.entry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), 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(‘+’,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(‘-’,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node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new 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Leaf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 (id, </a:t>
                      </a:r>
                      <a:r>
                        <a:rPr lang="en-US" sz="1600" b="1" dirty="0" err="1">
                          <a:solidFill>
                            <a:srgbClr val="0070C0"/>
                          </a:solidFill>
                        </a:rPr>
                        <a:t>id.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entry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80699B8-045A-1B84-0681-A5DCF210280A}"/>
              </a:ext>
            </a:extLst>
          </p:cNvPr>
          <p:cNvGrpSpPr/>
          <p:nvPr/>
        </p:nvGrpSpPr>
        <p:grpSpPr>
          <a:xfrm>
            <a:off x="1985296" y="725898"/>
            <a:ext cx="2062069" cy="2376799"/>
            <a:chOff x="7937304" y="3261813"/>
            <a:chExt cx="2062069" cy="2376799"/>
          </a:xfrm>
        </p:grpSpPr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0D41C93A-28FC-81B6-0246-A3EEB380A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8544" y="4473756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-</a:t>
              </a:r>
            </a:p>
          </p:txBody>
        </p:sp>
        <p:sp>
          <p:nvSpPr>
            <p:cNvPr id="29" name="Text Box 39">
              <a:extLst>
                <a:ext uri="{FF2B5EF4-FFF2-40B4-BE49-F238E27FC236}">
                  <a16:creationId xmlns:a16="http://schemas.microsoft.com/office/drawing/2014/main" id="{ECEEC9C9-F3EC-8D78-8A13-0DF1F9D30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9870" y="3936206"/>
              <a:ext cx="4347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 +</a:t>
              </a:r>
            </a:p>
          </p:txBody>
        </p:sp>
        <p:sp>
          <p:nvSpPr>
            <p:cNvPr id="30" name="Text Box 41">
              <a:extLst>
                <a:ext uri="{FF2B5EF4-FFF2-40B4-BE49-F238E27FC236}">
                  <a16:creationId xmlns:a16="http://schemas.microsoft.com/office/drawing/2014/main" id="{7BFE1E96-B121-4B47-A248-FBA0B6D4D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8733" y="5176947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a</a:t>
              </a:r>
            </a:p>
          </p:txBody>
        </p: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DEADC93B-27AD-CD4B-EBA9-D442DBE73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3107" y="516912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b</a:t>
              </a:r>
            </a:p>
          </p:txBody>
        </p:sp>
        <p:sp>
          <p:nvSpPr>
            <p:cNvPr id="32" name="Text Box 43">
              <a:extLst>
                <a:ext uri="{FF2B5EF4-FFF2-40B4-BE49-F238E27FC236}">
                  <a16:creationId xmlns:a16="http://schemas.microsoft.com/office/drawing/2014/main" id="{0F7C2E5F-6FED-33BC-C586-B5749F930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8451" y="4661048"/>
              <a:ext cx="32092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c</a:t>
              </a:r>
            </a:p>
          </p:txBody>
        </p:sp>
        <p:sp>
          <p:nvSpPr>
            <p:cNvPr id="33" name="Line 45">
              <a:extLst>
                <a:ext uri="{FF2B5EF4-FFF2-40B4-BE49-F238E27FC236}">
                  <a16:creationId xmlns:a16="http://schemas.microsoft.com/office/drawing/2014/main" id="{304A6EB2-6DC9-515D-932E-3ACD1E7F7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2814" y="4891881"/>
              <a:ext cx="160293" cy="353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46">
              <a:extLst>
                <a:ext uri="{FF2B5EF4-FFF2-40B4-BE49-F238E27FC236}">
                  <a16:creationId xmlns:a16="http://schemas.microsoft.com/office/drawing/2014/main" id="{A790A29F-D937-C7D8-5350-B4F034529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2883" y="4935421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17B138AF-2177-C680-8518-9E2A421EE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57778" y="4241005"/>
              <a:ext cx="334873" cy="309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48">
              <a:extLst>
                <a:ext uri="{FF2B5EF4-FFF2-40B4-BE49-F238E27FC236}">
                  <a16:creationId xmlns:a16="http://schemas.microsoft.com/office/drawing/2014/main" id="{DCE7246A-013A-1769-CAE4-A0C6E0447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6479" y="4353493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38">
              <a:extLst>
                <a:ext uri="{FF2B5EF4-FFF2-40B4-BE49-F238E27FC236}">
                  <a16:creationId xmlns:a16="http://schemas.microsoft.com/office/drawing/2014/main" id="{E7091FDF-4625-2689-581B-9FEA64308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7115" y="3261813"/>
              <a:ext cx="3577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=</a:t>
              </a:r>
            </a:p>
          </p:txBody>
        </p:sp>
        <p:sp>
          <p:nvSpPr>
            <p:cNvPr id="38" name="Text Box 41">
              <a:extLst>
                <a:ext uri="{FF2B5EF4-FFF2-40B4-BE49-F238E27FC236}">
                  <a16:creationId xmlns:a16="http://schemas.microsoft.com/office/drawing/2014/main" id="{CA7446CA-888F-B7CF-2991-DC26220AA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7304" y="396500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dirty="0">
                  <a:solidFill>
                    <a:srgbClr val="3399FF"/>
                  </a:solidFill>
                </a:rPr>
                <a:t>w</a:t>
              </a:r>
            </a:p>
          </p:txBody>
        </p:sp>
        <p:sp>
          <p:nvSpPr>
            <p:cNvPr id="39" name="Line 46">
              <a:extLst>
                <a:ext uri="{FF2B5EF4-FFF2-40B4-BE49-F238E27FC236}">
                  <a16:creationId xmlns:a16="http://schemas.microsoft.com/office/drawing/2014/main" id="{04E23F15-132C-D330-0FD5-FAFA10CF5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21454" y="3723478"/>
              <a:ext cx="152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48">
              <a:extLst>
                <a:ext uri="{FF2B5EF4-FFF2-40B4-BE49-F238E27FC236}">
                  <a16:creationId xmlns:a16="http://schemas.microsoft.com/office/drawing/2014/main" id="{678AF2B3-E500-442A-3D05-C9C74BFAB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5108" y="3664068"/>
              <a:ext cx="292277" cy="364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6420804-EA26-497E-2090-8D1CC7CFAE6B}"/>
              </a:ext>
            </a:extLst>
          </p:cNvPr>
          <p:cNvSpPr txBox="1"/>
          <p:nvPr/>
        </p:nvSpPr>
        <p:spPr>
          <a:xfrm>
            <a:off x="1765701" y="227706"/>
            <a:ext cx="257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AST for w:=a-b+c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70A33-451C-7795-AE07-A0DE559DC718}"/>
              </a:ext>
            </a:extLst>
          </p:cNvPr>
          <p:cNvSpPr txBox="1"/>
          <p:nvPr/>
        </p:nvSpPr>
        <p:spPr>
          <a:xfrm>
            <a:off x="8286934" y="11032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</a:rPr>
              <a:t>t1 = a - 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88CFD4-9FC2-AA1B-FF6F-C71C78815CF4}"/>
              </a:ext>
            </a:extLst>
          </p:cNvPr>
          <p:cNvSpPr txBox="1"/>
          <p:nvPr/>
        </p:nvSpPr>
        <p:spPr>
          <a:xfrm>
            <a:off x="8286934" y="153506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dirty="0">
                <a:solidFill>
                  <a:schemeClr val="tx1"/>
                </a:solidFill>
              </a:rPr>
              <a:t>t2 = t1 + 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C21DF1-BD71-B8F0-15B6-356850EF39F5}"/>
              </a:ext>
            </a:extLst>
          </p:cNvPr>
          <p:cNvSpPr txBox="1"/>
          <p:nvPr/>
        </p:nvSpPr>
        <p:spPr>
          <a:xfrm>
            <a:off x="8286934" y="196687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 = t2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7178428" y="263994"/>
            <a:ext cx="451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Three address code for w:=a-4+c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27AC0-2EA2-11AE-7B3D-664411E7A5BA}"/>
              </a:ext>
            </a:extLst>
          </p:cNvPr>
          <p:cNvSpPr txBox="1"/>
          <p:nvPr/>
        </p:nvSpPr>
        <p:spPr>
          <a:xfrm>
            <a:off x="2813572" y="1961061"/>
            <a:ext cx="43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A2D328-0C2E-4DC2-1D6E-37641E8B90E4}"/>
              </a:ext>
            </a:extLst>
          </p:cNvPr>
          <p:cNvSpPr txBox="1"/>
          <p:nvPr/>
        </p:nvSpPr>
        <p:spPr>
          <a:xfrm>
            <a:off x="3278023" y="1283307"/>
            <a:ext cx="43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t2</a:t>
            </a: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938890"/>
              </p:ext>
            </p:extLst>
          </p:nvPr>
        </p:nvGraphicFramePr>
        <p:xfrm>
          <a:off x="6553203" y="3445875"/>
          <a:ext cx="5500910" cy="283464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28562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421529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 Three Address Code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S.code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 || ‘=‘ ||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‘+’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‘-’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D45A01A-252F-AC5A-93E1-811D0A6EDB62}"/>
              </a:ext>
            </a:extLst>
          </p:cNvPr>
          <p:cNvSpPr txBox="1"/>
          <p:nvPr/>
        </p:nvSpPr>
        <p:spPr>
          <a:xfrm>
            <a:off x="7424058" y="6448866"/>
            <a:ext cx="411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Returns a pointer to symbol table of id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BCD67C-00EB-7B6D-A145-A04298FF7421}"/>
              </a:ext>
            </a:extLst>
          </p:cNvPr>
          <p:cNvCxnSpPr>
            <a:stCxn id="7" idx="0"/>
          </p:cNvCxnSpPr>
          <p:nvPr/>
        </p:nvCxnSpPr>
        <p:spPr>
          <a:xfrm flipV="1">
            <a:off x="9481458" y="6207945"/>
            <a:ext cx="112485" cy="24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8F46F50-2D93-9D8B-9CB4-07BB077BB0FA}"/>
              </a:ext>
            </a:extLst>
          </p:cNvPr>
          <p:cNvSpPr/>
          <p:nvPr/>
        </p:nvSpPr>
        <p:spPr>
          <a:xfrm>
            <a:off x="5602514" y="1492362"/>
            <a:ext cx="836872" cy="632771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96FED-DC39-F5E1-A5B8-DBEC359AA1D9}"/>
              </a:ext>
            </a:extLst>
          </p:cNvPr>
          <p:cNvSpPr/>
          <p:nvPr/>
        </p:nvSpPr>
        <p:spPr>
          <a:xfrm>
            <a:off x="7837715" y="3804895"/>
            <a:ext cx="4187370" cy="329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5650A8-F5A2-30A7-A374-FCB91D58C48D}"/>
              </a:ext>
            </a:extLst>
          </p:cNvPr>
          <p:cNvSpPr/>
          <p:nvPr/>
        </p:nvSpPr>
        <p:spPr>
          <a:xfrm>
            <a:off x="7852229" y="4175007"/>
            <a:ext cx="4100285" cy="468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F61729-59C4-3062-3068-B1E38B047CB0}"/>
              </a:ext>
            </a:extLst>
          </p:cNvPr>
          <p:cNvSpPr/>
          <p:nvPr/>
        </p:nvSpPr>
        <p:spPr>
          <a:xfrm>
            <a:off x="7852229" y="4762835"/>
            <a:ext cx="4078517" cy="468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AA4916-C396-F94B-33A1-2C802712DA0A}"/>
              </a:ext>
            </a:extLst>
          </p:cNvPr>
          <p:cNvSpPr/>
          <p:nvPr/>
        </p:nvSpPr>
        <p:spPr>
          <a:xfrm>
            <a:off x="7910289" y="5328893"/>
            <a:ext cx="4005943" cy="302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DD37D8-1A29-D2F3-0EDA-6F6A0538A309}"/>
              </a:ext>
            </a:extLst>
          </p:cNvPr>
          <p:cNvSpPr/>
          <p:nvPr/>
        </p:nvSpPr>
        <p:spPr>
          <a:xfrm>
            <a:off x="7903033" y="5684495"/>
            <a:ext cx="4005943" cy="3029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C68F9DE-13F3-DAE8-4FE6-BE8A778451E2}"/>
              </a:ext>
            </a:extLst>
          </p:cNvPr>
          <p:cNvSpPr/>
          <p:nvPr/>
        </p:nvSpPr>
        <p:spPr>
          <a:xfrm>
            <a:off x="7844972" y="6003809"/>
            <a:ext cx="4187370" cy="250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BF14ED-92DB-C32B-9FB9-2098E4B3CD52}"/>
              </a:ext>
            </a:extLst>
          </p:cNvPr>
          <p:cNvSpPr/>
          <p:nvPr/>
        </p:nvSpPr>
        <p:spPr>
          <a:xfrm>
            <a:off x="1451434" y="793264"/>
            <a:ext cx="2928194" cy="236877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B7CED-E36B-7C1D-EE02-781F13E87D61}"/>
              </a:ext>
            </a:extLst>
          </p:cNvPr>
          <p:cNvSpPr/>
          <p:nvPr/>
        </p:nvSpPr>
        <p:spPr>
          <a:xfrm>
            <a:off x="7648433" y="784450"/>
            <a:ext cx="2928194" cy="236877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1" grpId="0"/>
      <p:bldP spid="44" grpId="0"/>
      <p:bldP spid="45" grpId="0"/>
      <p:bldP spid="6" grpId="0"/>
      <p:bldP spid="47" grpId="0"/>
      <p:bldP spid="7" grpId="0"/>
      <p:bldP spid="19" grpId="0" animBg="1"/>
      <p:bldP spid="21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1">
            <a:extLst>
              <a:ext uri="{FF2B5EF4-FFF2-40B4-BE49-F238E27FC236}">
                <a16:creationId xmlns:a16="http://schemas.microsoft.com/office/drawing/2014/main" id="{DEB12920-A131-5DCD-525C-690435C62566}"/>
              </a:ext>
            </a:extLst>
          </p:cNvPr>
          <p:cNvSpPr txBox="1"/>
          <p:nvPr/>
        </p:nvSpPr>
        <p:spPr>
          <a:xfrm>
            <a:off x="915855" y="4155116"/>
            <a:ext cx="2496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E.code</a:t>
            </a:r>
            <a:r>
              <a:rPr lang="en-US" sz="1800" i="1" dirty="0">
                <a:solidFill>
                  <a:srgbClr val="0070C0"/>
                </a:solidFill>
              </a:rPr>
              <a:t> =‘’ </a:t>
            </a:r>
          </a:p>
          <a:p>
            <a:r>
              <a:rPr lang="en-US" sz="1800" i="1" dirty="0" err="1">
                <a:solidFill>
                  <a:srgbClr val="0070C0"/>
                </a:solidFill>
              </a:rPr>
              <a:t>E.addr</a:t>
            </a:r>
            <a:r>
              <a:rPr lang="en-US" sz="1800" i="1" dirty="0">
                <a:solidFill>
                  <a:srgbClr val="0070C0"/>
                </a:solidFill>
              </a:rPr>
              <a:t> = </a:t>
            </a:r>
            <a:r>
              <a:rPr lang="en-US" sz="1800" i="1" dirty="0" err="1">
                <a:solidFill>
                  <a:srgbClr val="0070C0"/>
                </a:solidFill>
              </a:rPr>
              <a:t>T.addr</a:t>
            </a:r>
            <a:r>
              <a:rPr lang="en-US" sz="1800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179" y="651108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250460" y="118851"/>
            <a:ext cx="451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Three address code for</a:t>
            </a:r>
            <a:r>
              <a:rPr lang="en-US" sz="2400" dirty="0">
                <a:solidFill>
                  <a:srgbClr val="7030A0"/>
                </a:solidFill>
              </a:rPr>
              <a:t> w:=a-b+c</a:t>
            </a: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0063701"/>
              </p:ext>
            </p:extLst>
          </p:nvPr>
        </p:nvGraphicFramePr>
        <p:xfrm>
          <a:off x="6669314" y="35395"/>
          <a:ext cx="5500910" cy="283464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28562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421529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 Three Address Code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S.code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 || ‘=‘ ||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‘+’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‘-’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13F7A497-B483-0D7E-B5BB-ED754060FA02}"/>
              </a:ext>
            </a:extLst>
          </p:cNvPr>
          <p:cNvSpPr txBox="1"/>
          <p:nvPr/>
        </p:nvSpPr>
        <p:spPr>
          <a:xfrm>
            <a:off x="843284" y="4938888"/>
            <a:ext cx="3344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2327273" y="12068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39773A-95B9-E88F-67D4-99156D7DDBAE}"/>
              </a:ext>
            </a:extLst>
          </p:cNvPr>
          <p:cNvSpPr/>
          <p:nvPr/>
        </p:nvSpPr>
        <p:spPr>
          <a:xfrm>
            <a:off x="326926" y="2009074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65FAB-EB12-8BF5-20DB-05D38958C1CC}"/>
              </a:ext>
            </a:extLst>
          </p:cNvPr>
          <p:cNvCxnSpPr>
            <a:cxnSpLocks/>
          </p:cNvCxnSpPr>
          <p:nvPr/>
        </p:nvCxnSpPr>
        <p:spPr>
          <a:xfrm flipH="1">
            <a:off x="466626" y="1524674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AC4477C-5E22-A2AC-E31F-E8E62B1D94B5}"/>
              </a:ext>
            </a:extLst>
          </p:cNvPr>
          <p:cNvSpPr/>
          <p:nvPr/>
        </p:nvSpPr>
        <p:spPr>
          <a:xfrm>
            <a:off x="3564077" y="1935347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595FE7-7A3B-1A04-00B2-E6A3EFF42D86}"/>
              </a:ext>
            </a:extLst>
          </p:cNvPr>
          <p:cNvCxnSpPr>
            <a:cxnSpLocks/>
          </p:cNvCxnSpPr>
          <p:nvPr/>
        </p:nvCxnSpPr>
        <p:spPr>
          <a:xfrm>
            <a:off x="2647395" y="1518370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733931C-7C26-7DB4-4776-29F4EFA6C4F9}"/>
              </a:ext>
            </a:extLst>
          </p:cNvPr>
          <p:cNvSpPr/>
          <p:nvPr/>
        </p:nvSpPr>
        <p:spPr>
          <a:xfrm>
            <a:off x="4862626" y="2954121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8A393B-962A-A1A3-E71E-5952211CAA71}"/>
              </a:ext>
            </a:extLst>
          </p:cNvPr>
          <p:cNvCxnSpPr>
            <a:cxnSpLocks/>
          </p:cNvCxnSpPr>
          <p:nvPr/>
        </p:nvCxnSpPr>
        <p:spPr>
          <a:xfrm>
            <a:off x="3898074" y="2445761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2630E8F7-EE80-ADFB-8DBD-CC8CBB5DFDD5}"/>
              </a:ext>
            </a:extLst>
          </p:cNvPr>
          <p:cNvSpPr/>
          <p:nvPr/>
        </p:nvSpPr>
        <p:spPr>
          <a:xfrm>
            <a:off x="1825304" y="303303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210058-96B2-992C-2666-D3C0A0D19703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2516847" y="2457067"/>
            <a:ext cx="1391800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AB79B8-6AED-2506-8BFB-5E19B802FB10}"/>
              </a:ext>
            </a:extLst>
          </p:cNvPr>
          <p:cNvCxnSpPr>
            <a:cxnSpLocks/>
          </p:cNvCxnSpPr>
          <p:nvPr/>
        </p:nvCxnSpPr>
        <p:spPr>
          <a:xfrm flipV="1">
            <a:off x="3496572" y="2457067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48F5C7A-452E-DF46-1CC9-FEA0DBD79FFE}"/>
              </a:ext>
            </a:extLst>
          </p:cNvPr>
          <p:cNvSpPr/>
          <p:nvPr/>
        </p:nvSpPr>
        <p:spPr>
          <a:xfrm>
            <a:off x="2805029" y="303303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+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FE1FFE-6826-49CD-68F3-8A29243711F6}"/>
              </a:ext>
            </a:extLst>
          </p:cNvPr>
          <p:cNvCxnSpPr>
            <a:cxnSpLocks/>
            <a:stCxn id="76" idx="0"/>
            <a:endCxn id="62" idx="4"/>
          </p:cNvCxnSpPr>
          <p:nvPr/>
        </p:nvCxnSpPr>
        <p:spPr>
          <a:xfrm flipV="1">
            <a:off x="5143735" y="3362628"/>
            <a:ext cx="11139" cy="291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72AF81-D8B9-CCDE-00CF-0E8C2D92F997}"/>
              </a:ext>
            </a:extLst>
          </p:cNvPr>
          <p:cNvSpPr/>
          <p:nvPr/>
        </p:nvSpPr>
        <p:spPr>
          <a:xfrm>
            <a:off x="73008" y="412918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5DC23D-C776-A2CA-818D-5197347F99DA}"/>
              </a:ext>
            </a:extLst>
          </p:cNvPr>
          <p:cNvSpPr/>
          <p:nvPr/>
        </p:nvSpPr>
        <p:spPr>
          <a:xfrm>
            <a:off x="4452192" y="3654039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</p:cNvCxnSpPr>
          <p:nvPr/>
        </p:nvCxnSpPr>
        <p:spPr>
          <a:xfrm flipH="1">
            <a:off x="2295426" y="1599162"/>
            <a:ext cx="213199" cy="421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1916239" y="2016331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=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B8D6ED-1149-BD26-D112-73595E090766}"/>
              </a:ext>
            </a:extLst>
          </p:cNvPr>
          <p:cNvCxnSpPr>
            <a:cxnSpLocks/>
          </p:cNvCxnSpPr>
          <p:nvPr/>
        </p:nvCxnSpPr>
        <p:spPr>
          <a:xfrm flipV="1">
            <a:off x="753157" y="3486000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B84A0B8-11E6-91B2-9106-56FCC7EFF3B5}"/>
              </a:ext>
            </a:extLst>
          </p:cNvPr>
          <p:cNvCxnSpPr>
            <a:cxnSpLocks/>
          </p:cNvCxnSpPr>
          <p:nvPr/>
        </p:nvCxnSpPr>
        <p:spPr>
          <a:xfrm flipV="1">
            <a:off x="2343560" y="3520501"/>
            <a:ext cx="2795" cy="63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A3200664-225B-9DDF-AB03-42E517DD5117}"/>
              </a:ext>
            </a:extLst>
          </p:cNvPr>
          <p:cNvSpPr/>
          <p:nvPr/>
        </p:nvSpPr>
        <p:spPr>
          <a:xfrm>
            <a:off x="2035558" y="3966099"/>
            <a:ext cx="665388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baseline="-25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14E9D9D-F245-6D91-5E62-80F75DC7E20D}"/>
              </a:ext>
            </a:extLst>
          </p:cNvPr>
          <p:cNvSpPr/>
          <p:nvPr/>
        </p:nvSpPr>
        <p:spPr>
          <a:xfrm>
            <a:off x="3469250" y="416639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9501B0-D9C4-3E48-CE3F-126BB21C294D}"/>
              </a:ext>
            </a:extLst>
          </p:cNvPr>
          <p:cNvCxnSpPr>
            <a:cxnSpLocks/>
          </p:cNvCxnSpPr>
          <p:nvPr/>
        </p:nvCxnSpPr>
        <p:spPr>
          <a:xfrm>
            <a:off x="2346355" y="3486000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C2FF1370-3889-51AB-0083-C2E1D1C3967C}"/>
              </a:ext>
            </a:extLst>
          </p:cNvPr>
          <p:cNvSpPr/>
          <p:nvPr/>
        </p:nvSpPr>
        <p:spPr>
          <a:xfrm>
            <a:off x="486566" y="5022403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E222F1-1588-B9E4-64BA-ADA0565D649F}"/>
              </a:ext>
            </a:extLst>
          </p:cNvPr>
          <p:cNvCxnSpPr>
            <a:cxnSpLocks/>
            <a:stCxn id="75" idx="4"/>
            <a:endCxn id="98" idx="0"/>
          </p:cNvCxnSpPr>
          <p:nvPr/>
        </p:nvCxnSpPr>
        <p:spPr>
          <a:xfrm>
            <a:off x="764551" y="4650900"/>
            <a:ext cx="14263" cy="371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200AEA5-A801-A116-B48D-BB3FEC7ED14E}"/>
              </a:ext>
            </a:extLst>
          </p:cNvPr>
          <p:cNvCxnSpPr>
            <a:cxnSpLocks/>
            <a:stCxn id="101" idx="0"/>
            <a:endCxn id="98" idx="4"/>
          </p:cNvCxnSpPr>
          <p:nvPr/>
        </p:nvCxnSpPr>
        <p:spPr>
          <a:xfrm flipV="1">
            <a:off x="767678" y="5430910"/>
            <a:ext cx="11136" cy="363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2B9553F-4603-4A33-5B9C-658448BC1915}"/>
              </a:ext>
            </a:extLst>
          </p:cNvPr>
          <p:cNvSpPr/>
          <p:nvPr/>
        </p:nvSpPr>
        <p:spPr>
          <a:xfrm>
            <a:off x="76135" y="5794895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F2FFA3-6B7C-1B96-C537-978D0D7C68E6}"/>
              </a:ext>
            </a:extLst>
          </p:cNvPr>
          <p:cNvSpPr txBox="1"/>
          <p:nvPr/>
        </p:nvSpPr>
        <p:spPr>
          <a:xfrm>
            <a:off x="-2" y="2667401"/>
            <a:ext cx="25159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</a:t>
            </a:r>
            <a:r>
              <a:rPr lang="en-US" sz="1600" i="1" dirty="0">
                <a:solidFill>
                  <a:srgbClr val="0070C0"/>
                </a:solidFill>
              </a:rPr>
              <a:t>code </a:t>
            </a:r>
            <a:r>
              <a:rPr lang="en-US" sz="1600" dirty="0">
                <a:solidFill>
                  <a:srgbClr val="0070C0"/>
                </a:solidFill>
              </a:rPr>
              <a:t>= 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‘=‘ ||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dirty="0">
                <a:solidFill>
                  <a:srgbClr val="0070C0"/>
                </a:solidFill>
              </a:rPr>
              <a:t>.addr || ‘-’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t1= a -b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1D988D-EB2F-FD43-739D-A5E1E1343AA4}"/>
              </a:ext>
            </a:extLst>
          </p:cNvPr>
          <p:cNvSpPr txBox="1"/>
          <p:nvPr/>
        </p:nvSpPr>
        <p:spPr>
          <a:xfrm>
            <a:off x="3911599" y="1484489"/>
            <a:ext cx="284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 err="1">
                <a:solidFill>
                  <a:srgbClr val="0070C0"/>
                </a:solidFill>
              </a:rPr>
              <a:t>E.</a:t>
            </a:r>
            <a:r>
              <a:rPr lang="en-US" sz="1600" i="1" dirty="0" err="1">
                <a:solidFill>
                  <a:srgbClr val="0070C0"/>
                </a:solidFill>
              </a:rPr>
              <a:t>code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= </a:t>
            </a:r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|| ‘=‘ ||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‘+’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t2= t1 + c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BBE209A-0C6B-5167-8653-176D5CD3719E}"/>
              </a:ext>
            </a:extLst>
          </p:cNvPr>
          <p:cNvSpPr txBox="1"/>
          <p:nvPr/>
        </p:nvSpPr>
        <p:spPr>
          <a:xfrm>
            <a:off x="2571200" y="1001033"/>
            <a:ext cx="3902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S.</a:t>
            </a:r>
            <a:r>
              <a:rPr lang="en-US" sz="1600" i="1" dirty="0" err="1">
                <a:solidFill>
                  <a:srgbClr val="0070C0"/>
                </a:solidFill>
              </a:rPr>
              <a:t>code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i="0" dirty="0">
                <a:solidFill>
                  <a:srgbClr val="0070C0"/>
                </a:solidFill>
              </a:rPr>
              <a:t>(</a:t>
            </a:r>
            <a:r>
              <a:rPr lang="en-US" sz="1600" b="1" i="0" dirty="0" err="1">
                <a:solidFill>
                  <a:srgbClr val="0070C0"/>
                </a:solidFill>
              </a:rPr>
              <a:t>id</a:t>
            </a:r>
            <a:r>
              <a:rPr lang="en-US" sz="1600" i="0" dirty="0" err="1">
                <a:solidFill>
                  <a:srgbClr val="0070C0"/>
                </a:solidFill>
              </a:rPr>
              <a:t>.lexeme</a:t>
            </a:r>
            <a:r>
              <a:rPr lang="en-US" sz="1600" i="0" dirty="0">
                <a:solidFill>
                  <a:srgbClr val="0070C0"/>
                </a:solidFill>
              </a:rPr>
              <a:t>) || ‘=‘ || </a:t>
            </a:r>
            <a:r>
              <a:rPr lang="en-US" sz="1600" i="0" dirty="0" err="1">
                <a:solidFill>
                  <a:srgbClr val="0070C0"/>
                </a:solidFill>
              </a:rPr>
              <a:t>E.addr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w= t2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8E17C8A-94F0-2061-A71E-1AC25B90F09F}"/>
              </a:ext>
            </a:extLst>
          </p:cNvPr>
          <p:cNvSpPr txBox="1"/>
          <p:nvPr/>
        </p:nvSpPr>
        <p:spPr>
          <a:xfrm>
            <a:off x="4046491" y="4175667"/>
            <a:ext cx="334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b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4E2D567-4620-414A-763E-4BB8014842A8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801165" y="4586183"/>
            <a:ext cx="0" cy="207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6346555-480D-EA4C-5386-AD8569C3C0A0}"/>
              </a:ext>
            </a:extLst>
          </p:cNvPr>
          <p:cNvSpPr/>
          <p:nvPr/>
        </p:nvSpPr>
        <p:spPr>
          <a:xfrm>
            <a:off x="3109622" y="479341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D0499B-EDEB-5E74-F5E1-B538DFFC7816}"/>
              </a:ext>
            </a:extLst>
          </p:cNvPr>
          <p:cNvSpPr txBox="1"/>
          <p:nvPr/>
        </p:nvSpPr>
        <p:spPr>
          <a:xfrm>
            <a:off x="5389061" y="2876641"/>
            <a:ext cx="334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c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1743995-25F0-628F-4B27-CAA1BA719576}"/>
              </a:ext>
            </a:extLst>
          </p:cNvPr>
          <p:cNvGrpSpPr/>
          <p:nvPr/>
        </p:nvGrpSpPr>
        <p:grpSpPr>
          <a:xfrm>
            <a:off x="8910979" y="4511161"/>
            <a:ext cx="3208626" cy="1425249"/>
            <a:chOff x="8199783" y="5149790"/>
            <a:chExt cx="3208626" cy="1425249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5531EAA-EA66-9A72-CD25-8BC9AC015EBE}"/>
                </a:ext>
              </a:extLst>
            </p:cNvPr>
            <p:cNvSpPr txBox="1"/>
            <p:nvPr/>
          </p:nvSpPr>
          <p:spPr>
            <a:xfrm>
              <a:off x="10245627" y="5443703"/>
              <a:ext cx="11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solidFill>
                    <a:srgbClr val="FF0000"/>
                  </a:solidFill>
                </a:rPr>
                <a:t>t1 = a - b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6AD0D46-CDBC-D254-05A3-AC4F5D909A01}"/>
                </a:ext>
              </a:extLst>
            </p:cNvPr>
            <p:cNvSpPr txBox="1"/>
            <p:nvPr/>
          </p:nvSpPr>
          <p:spPr>
            <a:xfrm>
              <a:off x="10245627" y="5744878"/>
              <a:ext cx="1128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0" dirty="0">
                  <a:solidFill>
                    <a:srgbClr val="FF0000"/>
                  </a:solidFill>
                </a:rPr>
                <a:t>t2 = t1 + c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05B664F-107E-9DC4-0824-15E16ED53523}"/>
                </a:ext>
              </a:extLst>
            </p:cNvPr>
            <p:cNvSpPr txBox="1"/>
            <p:nvPr/>
          </p:nvSpPr>
          <p:spPr>
            <a:xfrm>
              <a:off x="10260141" y="6046053"/>
              <a:ext cx="951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w = t2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E3BAF61-1ED1-789D-EAE0-48EA4E8AFB8F}"/>
                </a:ext>
              </a:extLst>
            </p:cNvPr>
            <p:cNvSpPr txBox="1"/>
            <p:nvPr/>
          </p:nvSpPr>
          <p:spPr>
            <a:xfrm>
              <a:off x="8280042" y="5698520"/>
              <a:ext cx="13719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w:=a-b+c</a:t>
              </a:r>
              <a:endParaRPr lang="en-US" sz="2000" dirty="0"/>
            </a:p>
          </p:txBody>
        </p:sp>
        <p:sp>
          <p:nvSpPr>
            <p:cNvPr id="114" name="Arrow: Right 113">
              <a:extLst>
                <a:ext uri="{FF2B5EF4-FFF2-40B4-BE49-F238E27FC236}">
                  <a16:creationId xmlns:a16="http://schemas.microsoft.com/office/drawing/2014/main" id="{C4FBFCEA-3279-6DFE-BB2F-0B8A56943486}"/>
                </a:ext>
              </a:extLst>
            </p:cNvPr>
            <p:cNvSpPr/>
            <p:nvPr/>
          </p:nvSpPr>
          <p:spPr>
            <a:xfrm>
              <a:off x="9478134" y="5719741"/>
              <a:ext cx="534956" cy="365124"/>
            </a:xfrm>
            <a:prstGeom prst="rightArrow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B193B1A-073E-F9B1-8F16-97C5C79010DB}"/>
                </a:ext>
              </a:extLst>
            </p:cNvPr>
            <p:cNvSpPr/>
            <p:nvPr/>
          </p:nvSpPr>
          <p:spPr>
            <a:xfrm>
              <a:off x="8199783" y="5149790"/>
              <a:ext cx="3128367" cy="142524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Speech Bubble: Rectangle with Corners Rounded 121">
            <a:extLst>
              <a:ext uri="{FF2B5EF4-FFF2-40B4-BE49-F238E27FC236}">
                <a16:creationId xmlns:a16="http://schemas.microsoft.com/office/drawing/2014/main" id="{01537C41-84FD-C9C9-6807-AADAB98C2D04}"/>
              </a:ext>
            </a:extLst>
          </p:cNvPr>
          <p:cNvSpPr/>
          <p:nvPr/>
        </p:nvSpPr>
        <p:spPr>
          <a:xfrm>
            <a:off x="73007" y="580515"/>
            <a:ext cx="2418345" cy="607297"/>
          </a:xfrm>
          <a:prstGeom prst="wedgeRoundRectCallout">
            <a:avLst>
              <a:gd name="adj1" fmla="val 44112"/>
              <a:gd name="adj2" fmla="val 72324"/>
              <a:gd name="adj3" fmla="val 16667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But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S.code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produces a single line!</a:t>
            </a:r>
          </a:p>
        </p:txBody>
      </p:sp>
    </p:spTree>
    <p:extLst>
      <p:ext uri="{BB962C8B-B14F-4D97-AF65-F5344CB8AC3E}">
        <p14:creationId xmlns:p14="http://schemas.microsoft.com/office/powerpoint/2010/main" val="377478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45" grpId="0"/>
      <p:bldP spid="46" grpId="0"/>
      <p:bldP spid="55" grpId="0"/>
      <p:bldP spid="56" grpId="0"/>
      <p:bldP spid="60" grpId="0"/>
      <p:bldP spid="62" grpId="0"/>
      <p:bldP spid="64" grpId="0"/>
      <p:bldP spid="70" grpId="0"/>
      <p:bldP spid="75" grpId="0"/>
      <p:bldP spid="76" grpId="0"/>
      <p:bldP spid="92" grpId="0"/>
      <p:bldP spid="95" grpId="0"/>
      <p:bldP spid="96" grpId="0"/>
      <p:bldP spid="98" grpId="0"/>
      <p:bldP spid="101" grpId="0"/>
      <p:bldP spid="103" grpId="0"/>
      <p:bldP spid="104" grpId="0"/>
      <p:bldP spid="105" grpId="0"/>
      <p:bldP spid="106" grpId="0"/>
      <p:bldP spid="108" grpId="0"/>
      <p:bldP spid="109" grpId="0"/>
      <p:bldP spid="12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85F2FFA3-6B7C-1B96-C537-978D0D7C68E6}"/>
              </a:ext>
            </a:extLst>
          </p:cNvPr>
          <p:cNvSpPr txBox="1"/>
          <p:nvPr/>
        </p:nvSpPr>
        <p:spPr>
          <a:xfrm>
            <a:off x="-18074" y="2813440"/>
            <a:ext cx="2665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</a:t>
            </a:r>
            <a:r>
              <a:rPr lang="en-US" sz="1600" i="1" dirty="0">
                <a:solidFill>
                  <a:srgbClr val="0070C0"/>
                </a:solidFill>
              </a:rPr>
              <a:t>code </a:t>
            </a:r>
            <a:r>
              <a:rPr lang="en-US" sz="1600" dirty="0">
                <a:solidFill>
                  <a:srgbClr val="0070C0"/>
                </a:solidFill>
              </a:rPr>
              <a:t>= 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  <a:highlight>
                  <a:srgbClr val="FFFF00"/>
                </a:highlight>
              </a:rPr>
              <a:t>1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.code || </a:t>
            </a:r>
            <a:r>
              <a:rPr lang="en-US" sz="1600" dirty="0" err="1">
                <a:solidFill>
                  <a:srgbClr val="0070C0"/>
                </a:solidFill>
                <a:highlight>
                  <a:srgbClr val="FFFF00"/>
                </a:highlight>
              </a:rPr>
              <a:t>T.code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 || </a:t>
            </a:r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‘=‘ || 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dirty="0">
                <a:solidFill>
                  <a:srgbClr val="0070C0"/>
                </a:solidFill>
              </a:rPr>
              <a:t>.addr || ‘-’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t1= a -b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EB12920-A131-5DCD-525C-690435C62566}"/>
              </a:ext>
            </a:extLst>
          </p:cNvPr>
          <p:cNvSpPr txBox="1"/>
          <p:nvPr/>
        </p:nvSpPr>
        <p:spPr>
          <a:xfrm>
            <a:off x="799743" y="4300256"/>
            <a:ext cx="2496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E.code</a:t>
            </a:r>
            <a:r>
              <a:rPr lang="en-US" sz="1800" i="1" dirty="0">
                <a:solidFill>
                  <a:srgbClr val="0070C0"/>
                </a:solidFill>
              </a:rPr>
              <a:t> =</a:t>
            </a:r>
            <a:r>
              <a:rPr lang="en-US" dirty="0" err="1">
                <a:solidFill>
                  <a:srgbClr val="0070C0"/>
                </a:solidFill>
                <a:highlight>
                  <a:srgbClr val="FFFF00"/>
                </a:highlight>
              </a:rPr>
              <a:t>T.code</a:t>
            </a:r>
            <a:endParaRPr lang="en-US" sz="1800" i="1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US" sz="1800" i="1" dirty="0" err="1">
                <a:solidFill>
                  <a:srgbClr val="0070C0"/>
                </a:solidFill>
              </a:rPr>
              <a:t>E.addr</a:t>
            </a:r>
            <a:r>
              <a:rPr lang="en-US" sz="1800" i="1" dirty="0">
                <a:solidFill>
                  <a:srgbClr val="0070C0"/>
                </a:solidFill>
              </a:rPr>
              <a:t> = </a:t>
            </a:r>
            <a:r>
              <a:rPr lang="en-US" sz="1800" i="1" dirty="0" err="1">
                <a:solidFill>
                  <a:srgbClr val="0070C0"/>
                </a:solidFill>
              </a:rPr>
              <a:t>T.addr</a:t>
            </a:r>
            <a:r>
              <a:rPr lang="en-US" sz="1800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179" y="651108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250460" y="2737"/>
            <a:ext cx="451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Three address code for</a:t>
            </a:r>
            <a:r>
              <a:rPr lang="en-US" sz="2400" dirty="0">
                <a:solidFill>
                  <a:srgbClr val="7030A0"/>
                </a:solidFill>
              </a:rPr>
              <a:t> w:=a-b+c</a:t>
            </a: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5524159"/>
              </p:ext>
            </p:extLst>
          </p:nvPr>
        </p:nvGraphicFramePr>
        <p:xfrm>
          <a:off x="6628590" y="42001"/>
          <a:ext cx="5500910" cy="356616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28562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421529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 Three Address Code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S.code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.code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||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               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 || ‘=‘ ||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.code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T.code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 || </a:t>
                      </a:r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              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‘+’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.code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T.code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 ||</a:t>
                      </a:r>
                    </a:p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              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‘-’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T.code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E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T.code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=‘’,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13F7A497-B483-0D7E-B5BB-ED754060FA02}"/>
              </a:ext>
            </a:extLst>
          </p:cNvPr>
          <p:cNvSpPr txBox="1"/>
          <p:nvPr/>
        </p:nvSpPr>
        <p:spPr>
          <a:xfrm>
            <a:off x="843284" y="5084028"/>
            <a:ext cx="3344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2327273" y="135199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39773A-95B9-E88F-67D4-99156D7DDBAE}"/>
              </a:ext>
            </a:extLst>
          </p:cNvPr>
          <p:cNvSpPr/>
          <p:nvPr/>
        </p:nvSpPr>
        <p:spPr>
          <a:xfrm>
            <a:off x="326926" y="2154214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65FAB-EB12-8BF5-20DB-05D38958C1CC}"/>
              </a:ext>
            </a:extLst>
          </p:cNvPr>
          <p:cNvCxnSpPr>
            <a:cxnSpLocks/>
          </p:cNvCxnSpPr>
          <p:nvPr/>
        </p:nvCxnSpPr>
        <p:spPr>
          <a:xfrm flipH="1">
            <a:off x="466626" y="1669814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AC4477C-5E22-A2AC-E31F-E8E62B1D94B5}"/>
              </a:ext>
            </a:extLst>
          </p:cNvPr>
          <p:cNvSpPr/>
          <p:nvPr/>
        </p:nvSpPr>
        <p:spPr>
          <a:xfrm>
            <a:off x="3186706" y="2080487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595FE7-7A3B-1A04-00B2-E6A3EFF42D86}"/>
              </a:ext>
            </a:extLst>
          </p:cNvPr>
          <p:cNvCxnSpPr>
            <a:cxnSpLocks/>
          </p:cNvCxnSpPr>
          <p:nvPr/>
        </p:nvCxnSpPr>
        <p:spPr>
          <a:xfrm>
            <a:off x="2647395" y="1663510"/>
            <a:ext cx="737125" cy="571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733931C-7C26-7DB4-4776-29F4EFA6C4F9}"/>
              </a:ext>
            </a:extLst>
          </p:cNvPr>
          <p:cNvSpPr/>
          <p:nvPr/>
        </p:nvSpPr>
        <p:spPr>
          <a:xfrm>
            <a:off x="4862626" y="3258915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8A393B-962A-A1A3-E71E-5952211CAA71}"/>
              </a:ext>
            </a:extLst>
          </p:cNvPr>
          <p:cNvCxnSpPr>
            <a:cxnSpLocks/>
            <a:stCxn id="60" idx="4"/>
            <a:endCxn id="62" idx="0"/>
          </p:cNvCxnSpPr>
          <p:nvPr/>
        </p:nvCxnSpPr>
        <p:spPr>
          <a:xfrm>
            <a:off x="3502038" y="2602207"/>
            <a:ext cx="1652836" cy="656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2630E8F7-EE80-ADFB-8DBD-CC8CBB5DFDD5}"/>
              </a:ext>
            </a:extLst>
          </p:cNvPr>
          <p:cNvSpPr/>
          <p:nvPr/>
        </p:nvSpPr>
        <p:spPr>
          <a:xfrm>
            <a:off x="2028500" y="317817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210058-96B2-992C-2666-D3C0A0D19703}"/>
              </a:ext>
            </a:extLst>
          </p:cNvPr>
          <p:cNvCxnSpPr>
            <a:cxnSpLocks/>
            <a:stCxn id="60" idx="4"/>
            <a:endCxn id="64" idx="0"/>
          </p:cNvCxnSpPr>
          <p:nvPr/>
        </p:nvCxnSpPr>
        <p:spPr>
          <a:xfrm flipH="1">
            <a:off x="2720043" y="2602207"/>
            <a:ext cx="78199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AB79B8-6AED-2506-8BFB-5E19B802FB10}"/>
              </a:ext>
            </a:extLst>
          </p:cNvPr>
          <p:cNvCxnSpPr>
            <a:cxnSpLocks/>
            <a:stCxn id="70" idx="0"/>
            <a:endCxn id="60" idx="4"/>
          </p:cNvCxnSpPr>
          <p:nvPr/>
        </p:nvCxnSpPr>
        <p:spPr>
          <a:xfrm flipH="1" flipV="1">
            <a:off x="3502038" y="2602207"/>
            <a:ext cx="16870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48F5C7A-452E-DF46-1CC9-FEA0DBD79FFE}"/>
              </a:ext>
            </a:extLst>
          </p:cNvPr>
          <p:cNvSpPr/>
          <p:nvPr/>
        </p:nvSpPr>
        <p:spPr>
          <a:xfrm>
            <a:off x="2979201" y="317817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+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FE1FFE-6826-49CD-68F3-8A29243711F6}"/>
              </a:ext>
            </a:extLst>
          </p:cNvPr>
          <p:cNvCxnSpPr>
            <a:cxnSpLocks/>
            <a:stCxn id="76" idx="0"/>
            <a:endCxn id="62" idx="4"/>
          </p:cNvCxnSpPr>
          <p:nvPr/>
        </p:nvCxnSpPr>
        <p:spPr>
          <a:xfrm flipV="1">
            <a:off x="5143735" y="3667422"/>
            <a:ext cx="11139" cy="204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72AF81-D8B9-CCDE-00CF-0E8C2D92F997}"/>
              </a:ext>
            </a:extLst>
          </p:cNvPr>
          <p:cNvSpPr/>
          <p:nvPr/>
        </p:nvSpPr>
        <p:spPr>
          <a:xfrm>
            <a:off x="73008" y="427432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5DC23D-C776-A2CA-818D-5197347F99DA}"/>
              </a:ext>
            </a:extLst>
          </p:cNvPr>
          <p:cNvSpPr/>
          <p:nvPr/>
        </p:nvSpPr>
        <p:spPr>
          <a:xfrm>
            <a:off x="4452192" y="3871749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</p:cNvCxnSpPr>
          <p:nvPr/>
        </p:nvCxnSpPr>
        <p:spPr>
          <a:xfrm flipH="1">
            <a:off x="2295426" y="1744302"/>
            <a:ext cx="213199" cy="421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1916239" y="2161471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:=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B8D6ED-1149-BD26-D112-73595E090766}"/>
              </a:ext>
            </a:extLst>
          </p:cNvPr>
          <p:cNvCxnSpPr>
            <a:cxnSpLocks/>
          </p:cNvCxnSpPr>
          <p:nvPr/>
        </p:nvCxnSpPr>
        <p:spPr>
          <a:xfrm flipV="1">
            <a:off x="753157" y="3631140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B84A0B8-11E6-91B2-9106-56FCC7EFF3B5}"/>
              </a:ext>
            </a:extLst>
          </p:cNvPr>
          <p:cNvCxnSpPr>
            <a:cxnSpLocks/>
          </p:cNvCxnSpPr>
          <p:nvPr/>
        </p:nvCxnSpPr>
        <p:spPr>
          <a:xfrm flipV="1">
            <a:off x="2343560" y="3665641"/>
            <a:ext cx="2795" cy="63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A3200664-225B-9DDF-AB03-42E517DD5117}"/>
              </a:ext>
            </a:extLst>
          </p:cNvPr>
          <p:cNvSpPr/>
          <p:nvPr/>
        </p:nvSpPr>
        <p:spPr>
          <a:xfrm>
            <a:off x="2035558" y="4111239"/>
            <a:ext cx="665388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baseline="-25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14E9D9D-F245-6D91-5E62-80F75DC7E20D}"/>
              </a:ext>
            </a:extLst>
          </p:cNvPr>
          <p:cNvSpPr/>
          <p:nvPr/>
        </p:nvSpPr>
        <p:spPr>
          <a:xfrm>
            <a:off x="3469250" y="431153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9501B0-D9C4-3E48-CE3F-126BB21C294D}"/>
              </a:ext>
            </a:extLst>
          </p:cNvPr>
          <p:cNvCxnSpPr>
            <a:cxnSpLocks/>
          </p:cNvCxnSpPr>
          <p:nvPr/>
        </p:nvCxnSpPr>
        <p:spPr>
          <a:xfrm>
            <a:off x="2346355" y="3631140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C2FF1370-3889-51AB-0083-C2E1D1C3967C}"/>
              </a:ext>
            </a:extLst>
          </p:cNvPr>
          <p:cNvSpPr/>
          <p:nvPr/>
        </p:nvSpPr>
        <p:spPr>
          <a:xfrm>
            <a:off x="486566" y="5167543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E222F1-1588-B9E4-64BA-ADA0565D649F}"/>
              </a:ext>
            </a:extLst>
          </p:cNvPr>
          <p:cNvCxnSpPr>
            <a:cxnSpLocks/>
            <a:stCxn id="75" idx="4"/>
            <a:endCxn id="98" idx="0"/>
          </p:cNvCxnSpPr>
          <p:nvPr/>
        </p:nvCxnSpPr>
        <p:spPr>
          <a:xfrm>
            <a:off x="764551" y="4796040"/>
            <a:ext cx="14263" cy="371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200AEA5-A801-A116-B48D-BB3FEC7ED14E}"/>
              </a:ext>
            </a:extLst>
          </p:cNvPr>
          <p:cNvCxnSpPr>
            <a:cxnSpLocks/>
            <a:stCxn id="101" idx="0"/>
            <a:endCxn id="98" idx="4"/>
          </p:cNvCxnSpPr>
          <p:nvPr/>
        </p:nvCxnSpPr>
        <p:spPr>
          <a:xfrm flipV="1">
            <a:off x="767678" y="5576050"/>
            <a:ext cx="11136" cy="363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2B9553F-4603-4A33-5B9C-658448BC1915}"/>
              </a:ext>
            </a:extLst>
          </p:cNvPr>
          <p:cNvSpPr/>
          <p:nvPr/>
        </p:nvSpPr>
        <p:spPr>
          <a:xfrm>
            <a:off x="76135" y="5940035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1D988D-EB2F-FD43-739D-A5E1E1343AA4}"/>
              </a:ext>
            </a:extLst>
          </p:cNvPr>
          <p:cNvSpPr txBox="1"/>
          <p:nvPr/>
        </p:nvSpPr>
        <p:spPr>
          <a:xfrm>
            <a:off x="3047466" y="1165178"/>
            <a:ext cx="3929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 err="1">
                <a:solidFill>
                  <a:srgbClr val="0070C0"/>
                </a:solidFill>
              </a:rPr>
              <a:t>E.</a:t>
            </a:r>
            <a:r>
              <a:rPr lang="en-US" sz="1600" i="1" dirty="0" err="1">
                <a:solidFill>
                  <a:srgbClr val="0070C0"/>
                </a:solidFill>
              </a:rPr>
              <a:t>code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= 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  <a:highlight>
                  <a:srgbClr val="FFFF00"/>
                </a:highlight>
              </a:rPr>
              <a:t>1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.code || </a:t>
            </a:r>
            <a:r>
              <a:rPr lang="en-US" sz="1600" dirty="0" err="1">
                <a:solidFill>
                  <a:srgbClr val="0070C0"/>
                </a:solidFill>
                <a:highlight>
                  <a:srgbClr val="FFFF00"/>
                </a:highlight>
              </a:rPr>
              <a:t>T.code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 ||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</a:t>
            </a:r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|| ‘=‘ ||  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‘+’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     t1= a –b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         t2= t1 + c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BBE209A-0C6B-5167-8653-176D5CD3719E}"/>
              </a:ext>
            </a:extLst>
          </p:cNvPr>
          <p:cNvSpPr txBox="1"/>
          <p:nvPr/>
        </p:nvSpPr>
        <p:spPr>
          <a:xfrm>
            <a:off x="871210" y="507540"/>
            <a:ext cx="4753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S.</a:t>
            </a:r>
            <a:r>
              <a:rPr lang="en-US" sz="1600" i="1" dirty="0" err="1">
                <a:solidFill>
                  <a:srgbClr val="0070C0"/>
                </a:solidFill>
              </a:rPr>
              <a:t>code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= </a:t>
            </a:r>
            <a:r>
              <a:rPr lang="en-US" sz="1600" dirty="0" err="1">
                <a:solidFill>
                  <a:srgbClr val="0070C0"/>
                </a:solidFill>
                <a:highlight>
                  <a:srgbClr val="FFFF00"/>
                </a:highlight>
              </a:rPr>
              <a:t>E.code</a:t>
            </a:r>
            <a:r>
              <a:rPr lang="en-US" sz="1600" dirty="0">
                <a:solidFill>
                  <a:srgbClr val="0070C0"/>
                </a:solidFill>
                <a:highlight>
                  <a:srgbClr val="FFFF00"/>
                </a:highlight>
              </a:rPr>
              <a:t> ||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              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i="0" dirty="0">
                <a:solidFill>
                  <a:srgbClr val="0070C0"/>
                </a:solidFill>
              </a:rPr>
              <a:t>(</a:t>
            </a:r>
            <a:r>
              <a:rPr lang="en-US" sz="1600" b="1" i="0" dirty="0" err="1">
                <a:solidFill>
                  <a:srgbClr val="0070C0"/>
                </a:solidFill>
              </a:rPr>
              <a:t>id</a:t>
            </a:r>
            <a:r>
              <a:rPr lang="en-US" sz="1600" i="0" dirty="0" err="1">
                <a:solidFill>
                  <a:srgbClr val="0070C0"/>
                </a:solidFill>
              </a:rPr>
              <a:t>.lexeme</a:t>
            </a:r>
            <a:r>
              <a:rPr lang="en-US" sz="1600" i="0" dirty="0">
                <a:solidFill>
                  <a:srgbClr val="0070C0"/>
                </a:solidFill>
              </a:rPr>
              <a:t>) || ‘=‘ || </a:t>
            </a:r>
            <a:r>
              <a:rPr lang="en-US" sz="1600" i="0" dirty="0" err="1">
                <a:solidFill>
                  <a:srgbClr val="0070C0"/>
                </a:solidFill>
              </a:rPr>
              <a:t>E.addr</a:t>
            </a:r>
            <a:endParaRPr lang="en-US" sz="16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t1= a –b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 t2= t1 + c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 w= t2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8E17C8A-94F0-2061-A71E-1AC25B90F09F}"/>
              </a:ext>
            </a:extLst>
          </p:cNvPr>
          <p:cNvSpPr txBox="1"/>
          <p:nvPr/>
        </p:nvSpPr>
        <p:spPr>
          <a:xfrm>
            <a:off x="4046491" y="4320807"/>
            <a:ext cx="334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b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4E2D567-4620-414A-763E-4BB8014842A8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801165" y="4731323"/>
            <a:ext cx="0" cy="207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6346555-480D-EA4C-5386-AD8569C3C0A0}"/>
              </a:ext>
            </a:extLst>
          </p:cNvPr>
          <p:cNvSpPr/>
          <p:nvPr/>
        </p:nvSpPr>
        <p:spPr>
          <a:xfrm>
            <a:off x="3109622" y="4938550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D0499B-EDEB-5E74-F5E1-B538DFFC7816}"/>
              </a:ext>
            </a:extLst>
          </p:cNvPr>
          <p:cNvSpPr txBox="1"/>
          <p:nvPr/>
        </p:nvSpPr>
        <p:spPr>
          <a:xfrm>
            <a:off x="5224137" y="3370567"/>
            <a:ext cx="334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T.code</a:t>
            </a:r>
            <a:r>
              <a:rPr lang="en-US" dirty="0">
                <a:solidFill>
                  <a:srgbClr val="0070C0"/>
                </a:solidFill>
              </a:rPr>
              <a:t> =‘’</a:t>
            </a:r>
          </a:p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c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9C75AB-9623-3B18-5DC3-5B708CE1166C}"/>
              </a:ext>
            </a:extLst>
          </p:cNvPr>
          <p:cNvGrpSpPr/>
          <p:nvPr/>
        </p:nvGrpSpPr>
        <p:grpSpPr>
          <a:xfrm>
            <a:off x="8925489" y="4467619"/>
            <a:ext cx="3208626" cy="1425249"/>
            <a:chOff x="8199783" y="5149790"/>
            <a:chExt cx="3208626" cy="142524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12BD22-4DC6-3C6A-D7EC-43DFCEBAB7BE}"/>
                </a:ext>
              </a:extLst>
            </p:cNvPr>
            <p:cNvSpPr txBox="1"/>
            <p:nvPr/>
          </p:nvSpPr>
          <p:spPr>
            <a:xfrm>
              <a:off x="10245627" y="5443703"/>
              <a:ext cx="11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solidFill>
                    <a:srgbClr val="FF0000"/>
                  </a:solidFill>
                </a:rPr>
                <a:t>t1 = a - b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3D6CF52-3EBC-C910-62FE-558423CACBAA}"/>
                </a:ext>
              </a:extLst>
            </p:cNvPr>
            <p:cNvSpPr txBox="1"/>
            <p:nvPr/>
          </p:nvSpPr>
          <p:spPr>
            <a:xfrm>
              <a:off x="10245627" y="5744878"/>
              <a:ext cx="1128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0" dirty="0">
                  <a:solidFill>
                    <a:srgbClr val="FF0000"/>
                  </a:solidFill>
                </a:rPr>
                <a:t>t2 = t1 + 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6E57DF3-7B78-0F71-AB3D-82B65621D877}"/>
                </a:ext>
              </a:extLst>
            </p:cNvPr>
            <p:cNvSpPr txBox="1"/>
            <p:nvPr/>
          </p:nvSpPr>
          <p:spPr>
            <a:xfrm>
              <a:off x="10260141" y="6046053"/>
              <a:ext cx="951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w = t2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438C7D8-C1B9-5071-A75F-9A1C88612D4E}"/>
                </a:ext>
              </a:extLst>
            </p:cNvPr>
            <p:cNvSpPr txBox="1"/>
            <p:nvPr/>
          </p:nvSpPr>
          <p:spPr>
            <a:xfrm>
              <a:off x="8280042" y="5698520"/>
              <a:ext cx="13719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w:=a-b+c</a:t>
              </a:r>
              <a:endParaRPr lang="en-US" sz="2000" dirty="0"/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25362ED7-B960-8083-47FF-2A202F154761}"/>
                </a:ext>
              </a:extLst>
            </p:cNvPr>
            <p:cNvSpPr/>
            <p:nvPr/>
          </p:nvSpPr>
          <p:spPr>
            <a:xfrm>
              <a:off x="9478134" y="5719741"/>
              <a:ext cx="534956" cy="365124"/>
            </a:xfrm>
            <a:prstGeom prst="rightArrow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F6E56BA-F922-25C7-D210-AD00A4820BE4}"/>
                </a:ext>
              </a:extLst>
            </p:cNvPr>
            <p:cNvSpPr/>
            <p:nvPr/>
          </p:nvSpPr>
          <p:spPr>
            <a:xfrm>
              <a:off x="8199783" y="5149790"/>
              <a:ext cx="3128367" cy="142524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62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85F2FFA3-6B7C-1B96-C537-978D0D7C68E6}"/>
              </a:ext>
            </a:extLst>
          </p:cNvPr>
          <p:cNvSpPr txBox="1"/>
          <p:nvPr/>
        </p:nvSpPr>
        <p:spPr>
          <a:xfrm>
            <a:off x="-32588" y="2305444"/>
            <a:ext cx="26654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  <a:highlight>
                  <a:srgbClr val="FFFF00"/>
                </a:highlight>
              </a:rPr>
              <a:t>print</a:t>
            </a:r>
            <a:r>
              <a:rPr lang="en-US" sz="1600" dirty="0">
                <a:solidFill>
                  <a:srgbClr val="0070C0"/>
                </a:solidFill>
              </a:rPr>
              <a:t> (E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‘=‘ || 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dirty="0">
                <a:solidFill>
                  <a:srgbClr val="0070C0"/>
                </a:solidFill>
              </a:rPr>
              <a:t>.addr || ‘-’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t1= a -b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EB12920-A131-5DCD-525C-690435C62566}"/>
              </a:ext>
            </a:extLst>
          </p:cNvPr>
          <p:cNvSpPr txBox="1"/>
          <p:nvPr/>
        </p:nvSpPr>
        <p:spPr>
          <a:xfrm>
            <a:off x="785229" y="3792260"/>
            <a:ext cx="249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E.addr</a:t>
            </a:r>
            <a:r>
              <a:rPr lang="en-US" sz="1800" i="1" dirty="0">
                <a:solidFill>
                  <a:srgbClr val="0070C0"/>
                </a:solidFill>
              </a:rPr>
              <a:t> = </a:t>
            </a:r>
            <a:r>
              <a:rPr lang="en-US" sz="1800" i="1" dirty="0" err="1">
                <a:solidFill>
                  <a:srgbClr val="0070C0"/>
                </a:solidFill>
              </a:rPr>
              <a:t>T.addr</a:t>
            </a:r>
            <a:r>
              <a:rPr lang="en-US" sz="1800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179" y="651108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250460" y="2737"/>
            <a:ext cx="451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Three address code </a:t>
            </a:r>
            <a:r>
              <a:rPr lang="en-US" sz="2400" dirty="0">
                <a:solidFill>
                  <a:srgbClr val="7030A0"/>
                </a:solidFill>
              </a:rPr>
              <a:t>for w:=a-b+c</a:t>
            </a: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0956807"/>
              </p:ext>
            </p:extLst>
          </p:nvPr>
        </p:nvGraphicFramePr>
        <p:xfrm>
          <a:off x="6628590" y="42001"/>
          <a:ext cx="5500910" cy="283464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28562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421529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 Three Address Code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print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 || ‘=‘ || 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T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i="1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print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‘+’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– T</a:t>
                      </a:r>
                      <a:endParaRPr lang="en-US" sz="18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= new Temp()</a:t>
                      </a:r>
                    </a:p>
                    <a:p>
                      <a:r>
                        <a:rPr lang="en-US" sz="1600" i="1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print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 || ‘=‘ || E</a:t>
                      </a:r>
                      <a:r>
                        <a:rPr lang="en-US" sz="1600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.addr || ‘-’ ||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)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endParaRPr lang="en-US" sz="16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(</a:t>
                      </a:r>
                      <a:r>
                        <a:rPr kumimoji="0" 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)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E.addr</a:t>
                      </a:r>
                      <a:endParaRPr lang="en-US" sz="16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T.addr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 =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top.get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0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0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13F7A497-B483-0D7E-B5BB-ED754060FA02}"/>
              </a:ext>
            </a:extLst>
          </p:cNvPr>
          <p:cNvSpPr txBox="1"/>
          <p:nvPr/>
        </p:nvSpPr>
        <p:spPr>
          <a:xfrm>
            <a:off x="828770" y="4851804"/>
            <a:ext cx="334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2312759" y="844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39773A-95B9-E88F-67D4-99156D7DDBAE}"/>
              </a:ext>
            </a:extLst>
          </p:cNvPr>
          <p:cNvSpPr/>
          <p:nvPr/>
        </p:nvSpPr>
        <p:spPr>
          <a:xfrm>
            <a:off x="312412" y="1646218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65FAB-EB12-8BF5-20DB-05D38958C1CC}"/>
              </a:ext>
            </a:extLst>
          </p:cNvPr>
          <p:cNvCxnSpPr>
            <a:cxnSpLocks/>
          </p:cNvCxnSpPr>
          <p:nvPr/>
        </p:nvCxnSpPr>
        <p:spPr>
          <a:xfrm flipH="1">
            <a:off x="452112" y="1161818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AC4477C-5E22-A2AC-E31F-E8E62B1D94B5}"/>
              </a:ext>
            </a:extLst>
          </p:cNvPr>
          <p:cNvSpPr/>
          <p:nvPr/>
        </p:nvSpPr>
        <p:spPr>
          <a:xfrm>
            <a:off x="3172192" y="1572491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595FE7-7A3B-1A04-00B2-E6A3EFF42D86}"/>
              </a:ext>
            </a:extLst>
          </p:cNvPr>
          <p:cNvCxnSpPr>
            <a:cxnSpLocks/>
          </p:cNvCxnSpPr>
          <p:nvPr/>
        </p:nvCxnSpPr>
        <p:spPr>
          <a:xfrm>
            <a:off x="2632881" y="1155514"/>
            <a:ext cx="737125" cy="571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733931C-7C26-7DB4-4776-29F4EFA6C4F9}"/>
              </a:ext>
            </a:extLst>
          </p:cNvPr>
          <p:cNvSpPr/>
          <p:nvPr/>
        </p:nvSpPr>
        <p:spPr>
          <a:xfrm>
            <a:off x="4848112" y="2750919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8A393B-962A-A1A3-E71E-5952211CAA71}"/>
              </a:ext>
            </a:extLst>
          </p:cNvPr>
          <p:cNvCxnSpPr>
            <a:cxnSpLocks/>
            <a:stCxn id="60" idx="4"/>
            <a:endCxn id="62" idx="0"/>
          </p:cNvCxnSpPr>
          <p:nvPr/>
        </p:nvCxnSpPr>
        <p:spPr>
          <a:xfrm>
            <a:off x="3487524" y="2094211"/>
            <a:ext cx="1652836" cy="656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2630E8F7-EE80-ADFB-8DBD-CC8CBB5DFDD5}"/>
              </a:ext>
            </a:extLst>
          </p:cNvPr>
          <p:cNvSpPr/>
          <p:nvPr/>
        </p:nvSpPr>
        <p:spPr>
          <a:xfrm>
            <a:off x="2013986" y="267017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210058-96B2-992C-2666-D3C0A0D19703}"/>
              </a:ext>
            </a:extLst>
          </p:cNvPr>
          <p:cNvCxnSpPr>
            <a:cxnSpLocks/>
            <a:stCxn id="60" idx="4"/>
            <a:endCxn id="64" idx="0"/>
          </p:cNvCxnSpPr>
          <p:nvPr/>
        </p:nvCxnSpPr>
        <p:spPr>
          <a:xfrm flipH="1">
            <a:off x="2705529" y="2094211"/>
            <a:ext cx="78199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AB79B8-6AED-2506-8BFB-5E19B802FB10}"/>
              </a:ext>
            </a:extLst>
          </p:cNvPr>
          <p:cNvCxnSpPr>
            <a:cxnSpLocks/>
            <a:stCxn id="70" idx="0"/>
            <a:endCxn id="60" idx="4"/>
          </p:cNvCxnSpPr>
          <p:nvPr/>
        </p:nvCxnSpPr>
        <p:spPr>
          <a:xfrm flipH="1" flipV="1">
            <a:off x="3487524" y="2094211"/>
            <a:ext cx="16870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48F5C7A-452E-DF46-1CC9-FEA0DBD79FFE}"/>
              </a:ext>
            </a:extLst>
          </p:cNvPr>
          <p:cNvSpPr/>
          <p:nvPr/>
        </p:nvSpPr>
        <p:spPr>
          <a:xfrm>
            <a:off x="2964687" y="267017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+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FE1FFE-6826-49CD-68F3-8A29243711F6}"/>
              </a:ext>
            </a:extLst>
          </p:cNvPr>
          <p:cNvCxnSpPr>
            <a:cxnSpLocks/>
            <a:stCxn id="76" idx="0"/>
            <a:endCxn id="62" idx="4"/>
          </p:cNvCxnSpPr>
          <p:nvPr/>
        </p:nvCxnSpPr>
        <p:spPr>
          <a:xfrm flipV="1">
            <a:off x="5129221" y="3159426"/>
            <a:ext cx="11139" cy="204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72AF81-D8B9-CCDE-00CF-0E8C2D92F997}"/>
              </a:ext>
            </a:extLst>
          </p:cNvPr>
          <p:cNvSpPr/>
          <p:nvPr/>
        </p:nvSpPr>
        <p:spPr>
          <a:xfrm>
            <a:off x="58494" y="376632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5DC23D-C776-A2CA-818D-5197347F99DA}"/>
              </a:ext>
            </a:extLst>
          </p:cNvPr>
          <p:cNvSpPr/>
          <p:nvPr/>
        </p:nvSpPr>
        <p:spPr>
          <a:xfrm>
            <a:off x="4437678" y="336375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</p:cNvCxnSpPr>
          <p:nvPr/>
        </p:nvCxnSpPr>
        <p:spPr>
          <a:xfrm flipH="1">
            <a:off x="2280912" y="1236306"/>
            <a:ext cx="213199" cy="421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1901725" y="1653475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:=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B8D6ED-1149-BD26-D112-73595E090766}"/>
              </a:ext>
            </a:extLst>
          </p:cNvPr>
          <p:cNvCxnSpPr>
            <a:cxnSpLocks/>
          </p:cNvCxnSpPr>
          <p:nvPr/>
        </p:nvCxnSpPr>
        <p:spPr>
          <a:xfrm flipV="1">
            <a:off x="738643" y="3123144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B84A0B8-11E6-91B2-9106-56FCC7EFF3B5}"/>
              </a:ext>
            </a:extLst>
          </p:cNvPr>
          <p:cNvCxnSpPr>
            <a:cxnSpLocks/>
          </p:cNvCxnSpPr>
          <p:nvPr/>
        </p:nvCxnSpPr>
        <p:spPr>
          <a:xfrm flipV="1">
            <a:off x="2329046" y="3157645"/>
            <a:ext cx="2795" cy="63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A3200664-225B-9DDF-AB03-42E517DD5117}"/>
              </a:ext>
            </a:extLst>
          </p:cNvPr>
          <p:cNvSpPr/>
          <p:nvPr/>
        </p:nvSpPr>
        <p:spPr>
          <a:xfrm>
            <a:off x="2021044" y="3603243"/>
            <a:ext cx="665388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baseline="-25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14E9D9D-F245-6D91-5E62-80F75DC7E20D}"/>
              </a:ext>
            </a:extLst>
          </p:cNvPr>
          <p:cNvSpPr/>
          <p:nvPr/>
        </p:nvSpPr>
        <p:spPr>
          <a:xfrm>
            <a:off x="3454736" y="380354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9501B0-D9C4-3E48-CE3F-126BB21C294D}"/>
              </a:ext>
            </a:extLst>
          </p:cNvPr>
          <p:cNvCxnSpPr>
            <a:cxnSpLocks/>
          </p:cNvCxnSpPr>
          <p:nvPr/>
        </p:nvCxnSpPr>
        <p:spPr>
          <a:xfrm>
            <a:off x="2331841" y="3123144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C2FF1370-3889-51AB-0083-C2E1D1C3967C}"/>
              </a:ext>
            </a:extLst>
          </p:cNvPr>
          <p:cNvSpPr/>
          <p:nvPr/>
        </p:nvSpPr>
        <p:spPr>
          <a:xfrm>
            <a:off x="472052" y="4659547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E222F1-1588-B9E4-64BA-ADA0565D649F}"/>
              </a:ext>
            </a:extLst>
          </p:cNvPr>
          <p:cNvCxnSpPr>
            <a:cxnSpLocks/>
            <a:stCxn id="75" idx="4"/>
            <a:endCxn id="98" idx="0"/>
          </p:cNvCxnSpPr>
          <p:nvPr/>
        </p:nvCxnSpPr>
        <p:spPr>
          <a:xfrm>
            <a:off x="750037" y="4288044"/>
            <a:ext cx="14263" cy="371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200AEA5-A801-A116-B48D-BB3FEC7ED14E}"/>
              </a:ext>
            </a:extLst>
          </p:cNvPr>
          <p:cNvCxnSpPr>
            <a:cxnSpLocks/>
            <a:stCxn id="101" idx="0"/>
            <a:endCxn id="98" idx="4"/>
          </p:cNvCxnSpPr>
          <p:nvPr/>
        </p:nvCxnSpPr>
        <p:spPr>
          <a:xfrm flipV="1">
            <a:off x="753164" y="5068054"/>
            <a:ext cx="11136" cy="363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2B9553F-4603-4A33-5B9C-658448BC1915}"/>
              </a:ext>
            </a:extLst>
          </p:cNvPr>
          <p:cNvSpPr/>
          <p:nvPr/>
        </p:nvSpPr>
        <p:spPr>
          <a:xfrm>
            <a:off x="61621" y="5432039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31D988D-EB2F-FD43-739D-A5E1E1343AA4}"/>
              </a:ext>
            </a:extLst>
          </p:cNvPr>
          <p:cNvSpPr txBox="1"/>
          <p:nvPr/>
        </p:nvSpPr>
        <p:spPr>
          <a:xfrm>
            <a:off x="3152489" y="1020606"/>
            <a:ext cx="32764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  <a:highlight>
                  <a:srgbClr val="FFFF00"/>
                </a:highlight>
              </a:rPr>
              <a:t>print</a:t>
            </a:r>
            <a:r>
              <a:rPr lang="en-US" sz="1600" dirty="0">
                <a:solidFill>
                  <a:srgbClr val="0070C0"/>
                </a:solidFill>
              </a:rPr>
              <a:t> (</a:t>
            </a:r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|| ‘=‘ ||  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|| ‘+’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|| </a:t>
            </a:r>
            <a:r>
              <a:rPr lang="en-US" sz="1600" dirty="0" err="1">
                <a:solidFill>
                  <a:srgbClr val="0070C0"/>
                </a:solidFill>
              </a:rPr>
              <a:t>T.addr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     t2= t1 + c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BBE209A-0C6B-5167-8653-176D5CD3719E}"/>
              </a:ext>
            </a:extLst>
          </p:cNvPr>
          <p:cNvSpPr txBox="1"/>
          <p:nvPr/>
        </p:nvSpPr>
        <p:spPr>
          <a:xfrm>
            <a:off x="871210" y="507540"/>
            <a:ext cx="4753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  <a:highlight>
                  <a:srgbClr val="FFFF00"/>
                </a:highlight>
              </a:rPr>
              <a:t>print</a:t>
            </a:r>
            <a:r>
              <a:rPr lang="en-US" sz="1600" dirty="0">
                <a:solidFill>
                  <a:srgbClr val="0070C0"/>
                </a:solidFill>
              </a:rPr>
              <a:t> (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i="0" dirty="0">
                <a:solidFill>
                  <a:srgbClr val="0070C0"/>
                </a:solidFill>
              </a:rPr>
              <a:t>(</a:t>
            </a:r>
            <a:r>
              <a:rPr lang="en-US" sz="1600" b="1" i="0" dirty="0" err="1">
                <a:solidFill>
                  <a:srgbClr val="0070C0"/>
                </a:solidFill>
              </a:rPr>
              <a:t>id</a:t>
            </a:r>
            <a:r>
              <a:rPr lang="en-US" sz="1600" i="0" dirty="0" err="1">
                <a:solidFill>
                  <a:srgbClr val="0070C0"/>
                </a:solidFill>
              </a:rPr>
              <a:t>.lexeme</a:t>
            </a:r>
            <a:r>
              <a:rPr lang="en-US" sz="1600" i="0" dirty="0">
                <a:solidFill>
                  <a:srgbClr val="0070C0"/>
                </a:solidFill>
              </a:rPr>
              <a:t>) || ‘=‘ || </a:t>
            </a:r>
            <a:r>
              <a:rPr lang="en-US" sz="1600" i="0" dirty="0" err="1">
                <a:solidFill>
                  <a:srgbClr val="0070C0"/>
                </a:solidFill>
              </a:rPr>
              <a:t>E.addr</a:t>
            </a:r>
            <a:r>
              <a:rPr lang="en-US" sz="1600" i="0" dirty="0">
                <a:solidFill>
                  <a:srgbClr val="0070C0"/>
                </a:solidFill>
              </a:rPr>
              <a:t>)</a:t>
            </a:r>
            <a:endParaRPr lang="en-US" sz="1600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w= t2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8E17C8A-94F0-2061-A71E-1AC25B90F09F}"/>
              </a:ext>
            </a:extLst>
          </p:cNvPr>
          <p:cNvSpPr txBox="1"/>
          <p:nvPr/>
        </p:nvSpPr>
        <p:spPr>
          <a:xfrm>
            <a:off x="4031977" y="3812811"/>
            <a:ext cx="3344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b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4E2D567-4620-414A-763E-4BB8014842A8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786651" y="4223327"/>
            <a:ext cx="0" cy="207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6346555-480D-EA4C-5386-AD8569C3C0A0}"/>
              </a:ext>
            </a:extLst>
          </p:cNvPr>
          <p:cNvSpPr/>
          <p:nvPr/>
        </p:nvSpPr>
        <p:spPr>
          <a:xfrm>
            <a:off x="3095108" y="443055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D0499B-EDEB-5E74-F5E1-B538DFFC7816}"/>
              </a:ext>
            </a:extLst>
          </p:cNvPr>
          <p:cNvSpPr txBox="1"/>
          <p:nvPr/>
        </p:nvSpPr>
        <p:spPr>
          <a:xfrm>
            <a:off x="5209623" y="2862571"/>
            <a:ext cx="3344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T.addr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i="1" dirty="0" err="1">
                <a:solidFill>
                  <a:srgbClr val="0070C0"/>
                </a:solidFill>
              </a:rPr>
              <a:t>top.get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</a:t>
            </a:r>
            <a:r>
              <a:rPr lang="en-US" dirty="0" err="1">
                <a:solidFill>
                  <a:srgbClr val="0070C0"/>
                </a:solidFill>
              </a:rPr>
              <a:t>.lexeme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 c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0070C0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9C75AB-9623-3B18-5DC3-5B708CE1166C}"/>
              </a:ext>
            </a:extLst>
          </p:cNvPr>
          <p:cNvGrpSpPr/>
          <p:nvPr/>
        </p:nvGrpSpPr>
        <p:grpSpPr>
          <a:xfrm>
            <a:off x="8925489" y="4467619"/>
            <a:ext cx="3208626" cy="1425249"/>
            <a:chOff x="8199783" y="5149790"/>
            <a:chExt cx="3208626" cy="142524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12BD22-4DC6-3C6A-D7EC-43DFCEBAB7BE}"/>
                </a:ext>
              </a:extLst>
            </p:cNvPr>
            <p:cNvSpPr txBox="1"/>
            <p:nvPr/>
          </p:nvSpPr>
          <p:spPr>
            <a:xfrm>
              <a:off x="10245627" y="5443703"/>
              <a:ext cx="1162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solidFill>
                    <a:srgbClr val="FF0000"/>
                  </a:solidFill>
                </a:rPr>
                <a:t>t1 = a - b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3D6CF52-3EBC-C910-62FE-558423CACBAA}"/>
                </a:ext>
              </a:extLst>
            </p:cNvPr>
            <p:cNvSpPr txBox="1"/>
            <p:nvPr/>
          </p:nvSpPr>
          <p:spPr>
            <a:xfrm>
              <a:off x="10245627" y="5744878"/>
              <a:ext cx="1128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0" dirty="0">
                  <a:solidFill>
                    <a:srgbClr val="FF0000"/>
                  </a:solidFill>
                </a:rPr>
                <a:t>t2 = t1 + 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6E57DF3-7B78-0F71-AB3D-82B65621D877}"/>
                </a:ext>
              </a:extLst>
            </p:cNvPr>
            <p:cNvSpPr txBox="1"/>
            <p:nvPr/>
          </p:nvSpPr>
          <p:spPr>
            <a:xfrm>
              <a:off x="10260141" y="6046053"/>
              <a:ext cx="951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w = t2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438C7D8-C1B9-5071-A75F-9A1C88612D4E}"/>
                </a:ext>
              </a:extLst>
            </p:cNvPr>
            <p:cNvSpPr txBox="1"/>
            <p:nvPr/>
          </p:nvSpPr>
          <p:spPr>
            <a:xfrm>
              <a:off x="8280042" y="5698520"/>
              <a:ext cx="13719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w:=a-b+c</a:t>
              </a:r>
              <a:endParaRPr lang="en-US" sz="2000" dirty="0"/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25362ED7-B960-8083-47FF-2A202F154761}"/>
                </a:ext>
              </a:extLst>
            </p:cNvPr>
            <p:cNvSpPr/>
            <p:nvPr/>
          </p:nvSpPr>
          <p:spPr>
            <a:xfrm>
              <a:off x="9478134" y="5719741"/>
              <a:ext cx="534956" cy="365124"/>
            </a:xfrm>
            <a:prstGeom prst="rightArrow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F6E56BA-F922-25C7-D210-AD00A4820BE4}"/>
                </a:ext>
              </a:extLst>
            </p:cNvPr>
            <p:cNvSpPr/>
            <p:nvPr/>
          </p:nvSpPr>
          <p:spPr>
            <a:xfrm>
              <a:off x="8199783" y="5149790"/>
              <a:ext cx="3128367" cy="142524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C1C882-91CE-FE3F-265F-4C6E22C03D4F}"/>
              </a:ext>
            </a:extLst>
          </p:cNvPr>
          <p:cNvSpPr txBox="1"/>
          <p:nvPr/>
        </p:nvSpPr>
        <p:spPr>
          <a:xfrm>
            <a:off x="4644574" y="4674448"/>
            <a:ext cx="3484396" cy="919401"/>
          </a:xfrm>
          <a:prstGeom prst="round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On the Fly (Incremental)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168684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21" y="1491519"/>
            <a:ext cx="7359090" cy="522995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8D691C5-5129-65DC-B022-FB246D8128ED}"/>
              </a:ext>
            </a:extLst>
          </p:cNvPr>
          <p:cNvGrpSpPr/>
          <p:nvPr/>
        </p:nvGrpSpPr>
        <p:grpSpPr>
          <a:xfrm>
            <a:off x="9056914" y="2080108"/>
            <a:ext cx="2931887" cy="1015663"/>
            <a:chOff x="9056914" y="2080108"/>
            <a:chExt cx="2931887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9921579" y="2080108"/>
              <a:ext cx="20672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  <a:latin typeface="Candara" panose="020E0502030303020204" pitchFamily="34" charset="0"/>
                </a:rPr>
                <a:t>gen(…) builds an instruction and returns it</a:t>
              </a:r>
            </a:p>
          </p:txBody>
        </p:sp>
        <p:cxnSp>
          <p:nvCxnSpPr>
            <p:cNvPr id="10" name="Straight Arrow Connector 9"/>
            <p:cNvCxnSpPr>
              <a:cxnSpLocks/>
              <a:stCxn id="7" idx="1"/>
            </p:cNvCxnSpPr>
            <p:nvPr/>
          </p:nvCxnSpPr>
          <p:spPr>
            <a:xfrm flipH="1" flipV="1">
              <a:off x="9056914" y="2587939"/>
              <a:ext cx="86466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11024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Expressions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2FC24-24F5-8CE4-C34C-FEA6368079D7}"/>
              </a:ext>
            </a:extLst>
          </p:cNvPr>
          <p:cNvSpPr txBox="1"/>
          <p:nvPr/>
        </p:nvSpPr>
        <p:spPr>
          <a:xfrm>
            <a:off x="3261470" y="1053825"/>
            <a:ext cx="5376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CFG and SDD from your text</a:t>
            </a:r>
          </a:p>
        </p:txBody>
      </p:sp>
    </p:spTree>
    <p:extLst>
      <p:ext uri="{BB962C8B-B14F-4D97-AF65-F5344CB8AC3E}">
        <p14:creationId xmlns:p14="http://schemas.microsoft.com/office/powerpoint/2010/main" val="2565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10082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Expressions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"/>
              <p:cNvSpPr txBox="1">
                <a:spLocks noChangeArrowheads="1"/>
              </p:cNvSpPr>
              <p:nvPr/>
            </p:nvSpPr>
            <p:spPr bwMode="auto">
              <a:xfrm>
                <a:off x="5159549" y="5311930"/>
                <a:ext cx="134666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/>
                  <a:t>E.addr</a:t>
                </a:r>
                <a:r>
                  <a:rPr lang="en-US" altLang="en-US" sz="1800" dirty="0"/>
                  <a:t> 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1800" dirty="0">
                  <a:solidFill>
                    <a:srgbClr val="C00000"/>
                  </a:solidFill>
                </a:endParaRPr>
              </a:p>
              <a:p>
                <a:pPr eaLnBrk="1" hangingPunct="1"/>
                <a:r>
                  <a:rPr lang="en-US" altLang="en-US" sz="1800" dirty="0" err="1"/>
                  <a:t>E.code</a:t>
                </a:r>
                <a:r>
                  <a:rPr lang="en-US" altLang="en-US" sz="1800" dirty="0"/>
                  <a:t> :</a:t>
                </a:r>
                <a:r>
                  <a:rPr lang="en-US" altLang="en-US" sz="18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“”</a:t>
                </a:r>
              </a:p>
            </p:txBody>
          </p:sp>
        </mc:Choice>
        <mc:Fallback xmlns="">
          <p:sp>
            <p:nvSpPr>
              <p:cNvPr id="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9549" y="5311930"/>
                <a:ext cx="1346666" cy="646331"/>
              </a:xfrm>
              <a:prstGeom prst="rect">
                <a:avLst/>
              </a:prstGeom>
              <a:blipFill>
                <a:blip r:embed="rId2"/>
                <a:stretch>
                  <a:fillRect l="-3620" t="-4717" r="-4072" b="-150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"/>
              <p:cNvSpPr txBox="1">
                <a:spLocks noChangeArrowheads="1"/>
              </p:cNvSpPr>
              <p:nvPr/>
            </p:nvSpPr>
            <p:spPr bwMode="auto">
              <a:xfrm>
                <a:off x="10732875" y="3160443"/>
                <a:ext cx="135517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E.addr : </a:t>
                </a:r>
                <a14:m>
                  <m:oMath xmlns:m="http://schemas.openxmlformats.org/officeDocument/2006/math">
                    <m:r>
                      <a:rPr lang="en-US" altLang="en-US" sz="1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en-US" sz="1800" dirty="0">
                  <a:solidFill>
                    <a:srgbClr val="C00000"/>
                  </a:solidFill>
                </a:endParaRPr>
              </a:p>
              <a:p>
                <a:pPr eaLnBrk="1" hangingPunct="1"/>
                <a:r>
                  <a:rPr lang="en-US" altLang="en-US" sz="1800" dirty="0" err="1"/>
                  <a:t>E.code</a:t>
                </a:r>
                <a:r>
                  <a:rPr lang="en-US" altLang="en-US" sz="1800" dirty="0"/>
                  <a:t> :</a:t>
                </a:r>
                <a:r>
                  <a:rPr lang="en-US" altLang="en-US" sz="18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“”</a:t>
                </a:r>
              </a:p>
            </p:txBody>
          </p:sp>
        </mc:Choice>
        <mc:Fallback xmlns="">
          <p:sp>
            <p:nvSpPr>
              <p:cNvPr id="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32875" y="3160443"/>
                <a:ext cx="1355176" cy="646331"/>
              </a:xfrm>
              <a:prstGeom prst="rect">
                <a:avLst/>
              </a:prstGeom>
              <a:blipFill>
                <a:blip r:embed="rId3"/>
                <a:stretch>
                  <a:fillRect l="-4054" t="-4717" r="-3153" b="-150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5"/>
              <p:cNvSpPr txBox="1">
                <a:spLocks noChangeArrowheads="1"/>
              </p:cNvSpPr>
              <p:nvPr/>
            </p:nvSpPr>
            <p:spPr bwMode="auto">
              <a:xfrm>
                <a:off x="6709601" y="4057288"/>
                <a:ext cx="1492716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E.addr :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1800" dirty="0">
                  <a:solidFill>
                    <a:srgbClr val="C00000"/>
                  </a:solidFill>
                </a:endParaRPr>
              </a:p>
              <a:p>
                <a:pPr eaLnBrk="1" hangingPunct="1"/>
                <a:r>
                  <a:rPr lang="en-US" altLang="en-US" sz="1800" dirty="0" err="1"/>
                  <a:t>E.code</a:t>
                </a:r>
                <a:r>
                  <a:rPr lang="en-US" altLang="en-US" sz="1800" dirty="0"/>
                  <a:t> :</a:t>
                </a:r>
                <a:r>
                  <a:rPr lang="en-US" altLang="en-US" sz="1800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“”</a:t>
                </a:r>
              </a:p>
            </p:txBody>
          </p:sp>
        </mc:Choice>
        <mc:Fallback xmlns="">
          <p:sp>
            <p:nvSpPr>
              <p:cNvPr id="10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9601" y="4057288"/>
                <a:ext cx="1492716" cy="646331"/>
              </a:xfrm>
              <a:prstGeom prst="rect">
                <a:avLst/>
              </a:prstGeom>
              <a:blipFill>
                <a:blip r:embed="rId4"/>
                <a:stretch>
                  <a:fillRect l="-3673" t="-5660" b="-150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6088703" y="3192193"/>
                <a:ext cx="235352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/>
                  <a:t>E.addr</a:t>
                </a:r>
                <a:r>
                  <a:rPr lang="en-US" altLang="en-US" sz="1800" dirty="0"/>
                  <a:t> 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sz="1800" baseline="-25000" dirty="0"/>
              </a:p>
              <a:p>
                <a:pPr eaLnBrk="1" hangingPunct="1"/>
                <a:r>
                  <a:rPr lang="en-US" altLang="en-US" sz="1800" dirty="0" err="1"/>
                  <a:t>E.code</a:t>
                </a:r>
                <a:r>
                  <a:rPr lang="en-US" altLang="en-US" sz="1800" dirty="0"/>
                  <a:t> 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altLang="en-US" sz="1800" dirty="0">
                    <a:solidFill>
                      <a:srgbClr val="C00000"/>
                    </a:solidFill>
                  </a:rPr>
                  <a:t>minus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8703" y="3192193"/>
                <a:ext cx="2353529" cy="646331"/>
              </a:xfrm>
              <a:prstGeom prst="rect">
                <a:avLst/>
              </a:prstGeom>
              <a:blipFill>
                <a:blip r:embed="rId5"/>
                <a:stretch>
                  <a:fillRect l="-2332" t="-5660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7"/>
              <p:cNvSpPr txBox="1">
                <a:spLocks noChangeArrowheads="1"/>
              </p:cNvSpPr>
              <p:nvPr/>
            </p:nvSpPr>
            <p:spPr bwMode="auto">
              <a:xfrm>
                <a:off x="8058790" y="1865043"/>
                <a:ext cx="3808607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/>
                  <a:t>E.addr</a:t>
                </a:r>
                <a:r>
                  <a:rPr lang="en-US" altLang="en-US" sz="1800" dirty="0"/>
                  <a:t> 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sz="1800" dirty="0"/>
              </a:p>
              <a:p>
                <a:pPr eaLnBrk="1" hangingPunct="1"/>
                <a:r>
                  <a:rPr lang="en-US" altLang="en-US" sz="1800" dirty="0" err="1"/>
                  <a:t>E.code</a:t>
                </a:r>
                <a:r>
                  <a:rPr lang="en-US" altLang="en-US" sz="1800" dirty="0"/>
                  <a:t> : 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1800" dirty="0">
                    <a:solidFill>
                      <a:srgbClr val="C00000"/>
                    </a:solidFill>
                  </a:rPr>
                  <a:t> minus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i="1" baseline="-25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1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14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8790" y="1865043"/>
                <a:ext cx="3808607" cy="646331"/>
              </a:xfrm>
              <a:prstGeom prst="rect">
                <a:avLst/>
              </a:prstGeom>
              <a:blipFill>
                <a:blip r:embed="rId6"/>
                <a:stretch>
                  <a:fillRect l="-1440" t="-5660" b="-132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6458590" y="1207818"/>
                <a:ext cx="473597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/>
                  <a:t>S.code</a:t>
                </a:r>
                <a14:m>
                  <m:oMath xmlns:m="http://schemas.openxmlformats.org/officeDocument/2006/math"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1= </m:t>
                    </m:r>
                  </m:oMath>
                </a14:m>
                <a:r>
                  <a:rPr lang="en-US" altLang="en-US" sz="1800" dirty="0">
                    <a:solidFill>
                      <a:srgbClr val="C00000"/>
                    </a:solidFill>
                  </a:rPr>
                  <a:t>minus </a:t>
                </a:r>
                <a14:m>
                  <m:oMath xmlns:m="http://schemas.openxmlformats.org/officeDocument/2006/math"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|| 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 = 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en-US" sz="18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endParaRPr lang="en-US" altLang="en-US" sz="1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8590" y="1207818"/>
                <a:ext cx="4735976" cy="369332"/>
              </a:xfrm>
              <a:prstGeom prst="rect">
                <a:avLst/>
              </a:prstGeom>
              <a:blipFill>
                <a:blip r:embed="rId7"/>
                <a:stretch>
                  <a:fillRect l="-1030" t="-8197" b="-24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54"/>
          <p:cNvGrpSpPr>
            <a:grpSpLocks/>
          </p:cNvGrpSpPr>
          <p:nvPr/>
        </p:nvGrpSpPr>
        <p:grpSpPr bwMode="auto">
          <a:xfrm>
            <a:off x="5086990" y="1436418"/>
            <a:ext cx="5695950" cy="4897065"/>
            <a:chOff x="304800" y="1520825"/>
            <a:chExt cx="5695950" cy="4897065"/>
          </a:xfrm>
        </p:grpSpPr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685800" y="1863725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53"/>
            <p:cNvGrpSpPr>
              <a:grpSpLocks/>
            </p:cNvGrpSpPr>
            <p:nvPr/>
          </p:nvGrpSpPr>
          <p:grpSpPr bwMode="auto">
            <a:xfrm>
              <a:off x="304800" y="1520825"/>
              <a:ext cx="5695950" cy="4897065"/>
              <a:chOff x="304800" y="1520825"/>
              <a:chExt cx="5695950" cy="4897065"/>
            </a:xfrm>
          </p:grpSpPr>
          <p:sp>
            <p:nvSpPr>
              <p:cNvPr id="19" name="Text Box 10"/>
              <p:cNvSpPr txBox="1">
                <a:spLocks noChangeArrowheads="1"/>
              </p:cNvSpPr>
              <p:nvPr/>
            </p:nvSpPr>
            <p:spPr bwMode="auto">
              <a:xfrm>
                <a:off x="1143000" y="1520825"/>
                <a:ext cx="3111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S</a:t>
                </a:r>
              </a:p>
            </p:txBody>
          </p:sp>
          <p:sp>
            <p:nvSpPr>
              <p:cNvPr id="20" name="Text Box 11"/>
              <p:cNvSpPr txBox="1">
                <a:spLocks noChangeArrowheads="1"/>
              </p:cNvSpPr>
              <p:nvPr/>
            </p:nvSpPr>
            <p:spPr bwMode="auto">
              <a:xfrm>
                <a:off x="304800" y="2282825"/>
                <a:ext cx="361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id</a:t>
                </a:r>
              </a:p>
            </p:txBody>
          </p:sp>
          <p:sp>
            <p:nvSpPr>
              <p:cNvPr id="21" name="Text Box 12"/>
              <p:cNvSpPr txBox="1">
                <a:spLocks noChangeArrowheads="1"/>
              </p:cNvSpPr>
              <p:nvPr/>
            </p:nvSpPr>
            <p:spPr bwMode="auto">
              <a:xfrm>
                <a:off x="1195388" y="2317750"/>
                <a:ext cx="376237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:=</a:t>
                </a: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2906713" y="2282825"/>
                <a:ext cx="323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23" name="Text Box 14"/>
              <p:cNvSpPr txBox="1">
                <a:spLocks noChangeArrowheads="1"/>
              </p:cNvSpPr>
              <p:nvPr/>
            </p:nvSpPr>
            <p:spPr bwMode="auto">
              <a:xfrm>
                <a:off x="819150" y="3352800"/>
                <a:ext cx="323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24" name="Text Box 15"/>
              <p:cNvSpPr txBox="1">
                <a:spLocks noChangeArrowheads="1"/>
              </p:cNvSpPr>
              <p:nvPr/>
            </p:nvSpPr>
            <p:spPr bwMode="auto">
              <a:xfrm>
                <a:off x="3821113" y="3290888"/>
                <a:ext cx="369887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+ </a:t>
                </a:r>
              </a:p>
            </p:txBody>
          </p:sp>
          <p:sp>
            <p:nvSpPr>
              <p:cNvPr id="25" name="Text Box 16"/>
              <p:cNvSpPr txBox="1">
                <a:spLocks noChangeArrowheads="1"/>
              </p:cNvSpPr>
              <p:nvPr/>
            </p:nvSpPr>
            <p:spPr bwMode="auto">
              <a:xfrm>
                <a:off x="5619750" y="3290888"/>
                <a:ext cx="323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349250" y="4114800"/>
                <a:ext cx="260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-</a:t>
                </a:r>
              </a:p>
            </p:txBody>
          </p:sp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>
                <a:off x="1428750" y="4129088"/>
                <a:ext cx="323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28" name="Text Box 19"/>
              <p:cNvSpPr txBox="1">
                <a:spLocks noChangeArrowheads="1"/>
              </p:cNvSpPr>
              <p:nvPr/>
            </p:nvSpPr>
            <p:spPr bwMode="auto">
              <a:xfrm>
                <a:off x="1004045" y="4904535"/>
                <a:ext cx="2603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(</a:t>
                </a:r>
              </a:p>
            </p:txBody>
          </p:sp>
          <p:sp>
            <p:nvSpPr>
              <p:cNvPr id="29" name="Text Box 20"/>
              <p:cNvSpPr txBox="1">
                <a:spLocks noChangeArrowheads="1"/>
              </p:cNvSpPr>
              <p:nvPr/>
            </p:nvSpPr>
            <p:spPr bwMode="auto">
              <a:xfrm>
                <a:off x="1504950" y="5302623"/>
                <a:ext cx="323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E</a:t>
                </a:r>
              </a:p>
            </p:txBody>
          </p:sp>
          <p:sp>
            <p:nvSpPr>
              <p:cNvPr id="30" name="Text Box 21"/>
              <p:cNvSpPr txBox="1">
                <a:spLocks noChangeArrowheads="1"/>
              </p:cNvSpPr>
              <p:nvPr/>
            </p:nvSpPr>
            <p:spPr bwMode="auto">
              <a:xfrm>
                <a:off x="2111189" y="4894730"/>
                <a:ext cx="260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)</a:t>
                </a:r>
              </a:p>
            </p:txBody>
          </p:sp>
          <p:sp>
            <p:nvSpPr>
              <p:cNvPr id="31" name="Text Box 22"/>
              <p:cNvSpPr txBox="1">
                <a:spLocks noChangeArrowheads="1"/>
              </p:cNvSpPr>
              <p:nvPr/>
            </p:nvSpPr>
            <p:spPr bwMode="auto">
              <a:xfrm>
                <a:off x="1543050" y="6051177"/>
                <a:ext cx="361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id</a:t>
                </a:r>
              </a:p>
            </p:txBody>
          </p:sp>
          <p:sp>
            <p:nvSpPr>
              <p:cNvPr id="32" name="Text Box 23"/>
              <p:cNvSpPr txBox="1">
                <a:spLocks noChangeArrowheads="1"/>
              </p:cNvSpPr>
              <p:nvPr/>
            </p:nvSpPr>
            <p:spPr bwMode="auto">
              <a:xfrm>
                <a:off x="5638800" y="5576888"/>
                <a:ext cx="3619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id</a:t>
                </a:r>
              </a:p>
            </p:txBody>
          </p:sp>
          <p:sp>
            <p:nvSpPr>
              <p:cNvPr id="33" name="Line 25"/>
              <p:cNvSpPr>
                <a:spLocks noChangeShapeType="1"/>
              </p:cNvSpPr>
              <p:nvPr/>
            </p:nvSpPr>
            <p:spPr bwMode="auto">
              <a:xfrm>
                <a:off x="1295400" y="1939925"/>
                <a:ext cx="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6"/>
              <p:cNvSpPr>
                <a:spLocks noChangeShapeType="1"/>
              </p:cNvSpPr>
              <p:nvPr/>
            </p:nvSpPr>
            <p:spPr bwMode="auto">
              <a:xfrm>
                <a:off x="1447800" y="1863725"/>
                <a:ext cx="8382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7"/>
              <p:cNvSpPr>
                <a:spLocks noChangeShapeType="1"/>
              </p:cNvSpPr>
              <p:nvPr/>
            </p:nvSpPr>
            <p:spPr bwMode="auto">
              <a:xfrm flipH="1">
                <a:off x="1066800" y="2625725"/>
                <a:ext cx="1676400" cy="803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28"/>
              <p:cNvSpPr>
                <a:spLocks noChangeShapeType="1"/>
              </p:cNvSpPr>
              <p:nvPr/>
            </p:nvSpPr>
            <p:spPr bwMode="auto">
              <a:xfrm>
                <a:off x="3124200" y="2701925"/>
                <a:ext cx="762000" cy="574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29"/>
              <p:cNvSpPr>
                <a:spLocks noChangeShapeType="1"/>
              </p:cNvSpPr>
              <p:nvPr/>
            </p:nvSpPr>
            <p:spPr bwMode="auto">
              <a:xfrm>
                <a:off x="3429000" y="2625725"/>
                <a:ext cx="2209800" cy="7270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30"/>
              <p:cNvSpPr>
                <a:spLocks noChangeShapeType="1"/>
              </p:cNvSpPr>
              <p:nvPr/>
            </p:nvSpPr>
            <p:spPr bwMode="auto">
              <a:xfrm flipH="1">
                <a:off x="533400" y="3733800"/>
                <a:ext cx="3810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>
                <a:off x="1143000" y="3657600"/>
                <a:ext cx="3810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 flipH="1">
                <a:off x="1066800" y="4419599"/>
                <a:ext cx="381000" cy="5378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33"/>
              <p:cNvSpPr>
                <a:spLocks noChangeShapeType="1"/>
              </p:cNvSpPr>
              <p:nvPr/>
            </p:nvSpPr>
            <p:spPr bwMode="auto">
              <a:xfrm>
                <a:off x="1587123" y="4481513"/>
                <a:ext cx="39222" cy="7436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34"/>
              <p:cNvSpPr>
                <a:spLocks noChangeShapeType="1"/>
              </p:cNvSpPr>
              <p:nvPr/>
            </p:nvSpPr>
            <p:spPr bwMode="auto">
              <a:xfrm>
                <a:off x="1752601" y="4419600"/>
                <a:ext cx="322728" cy="4387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35"/>
              <p:cNvSpPr>
                <a:spLocks noChangeShapeType="1"/>
              </p:cNvSpPr>
              <p:nvPr/>
            </p:nvSpPr>
            <p:spPr bwMode="auto">
              <a:xfrm>
                <a:off x="1676400" y="5651457"/>
                <a:ext cx="0" cy="4030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36"/>
              <p:cNvSpPr>
                <a:spLocks noChangeShapeType="1"/>
              </p:cNvSpPr>
              <p:nvPr/>
            </p:nvSpPr>
            <p:spPr bwMode="auto">
              <a:xfrm>
                <a:off x="5791200" y="3657600"/>
                <a:ext cx="0" cy="1828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653750" y="5963524"/>
                <a:ext cx="1332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id.lexeme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750" y="5963524"/>
                <a:ext cx="1332481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365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0732875" y="5492481"/>
                <a:ext cx="133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id.lexeme: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875" y="5492481"/>
                <a:ext cx="1332481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4128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66257" y="1322696"/>
                <a:ext cx="44576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ndara" panose="020E0502030303020204" pitchFamily="34" charset="0"/>
                  </a:rPr>
                  <a:t>Another Example: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:= −(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7" y="1322696"/>
                <a:ext cx="4457695" cy="461665"/>
              </a:xfrm>
              <a:prstGeom prst="rect">
                <a:avLst/>
              </a:prstGeom>
              <a:blipFill>
                <a:blip r:embed="rId10"/>
                <a:stretch>
                  <a:fillRect l="-204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735969" y="2198418"/>
                <a:ext cx="13397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id.lexeme: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969" y="2198418"/>
                <a:ext cx="1339726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0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20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/>
      <p:bldP spid="15" grpId="0"/>
      <p:bldP spid="67" grpId="0"/>
      <p:bldP spid="69" grpId="0"/>
      <p:bldP spid="4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1055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Incremental Translation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8199" y="1118495"/>
            <a:ext cx="11035937" cy="118020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Code attributes can be long strings, so they are usually generated incrementally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Instead of building up </a:t>
            </a:r>
            <a:r>
              <a:rPr lang="en-US" altLang="en-US" sz="2400" dirty="0" err="1">
                <a:solidFill>
                  <a:schemeClr val="accent6"/>
                </a:solidFill>
                <a:latin typeface="Candara" panose="020E0502030303020204" pitchFamily="34" charset="0"/>
              </a:rPr>
              <a:t>E.code</a:t>
            </a:r>
            <a:r>
              <a:rPr lang="en-US" altLang="en-US" sz="2400" dirty="0">
                <a:latin typeface="Candara" panose="020E0502030303020204" pitchFamily="34" charset="0"/>
              </a:rPr>
              <a:t>, generate only the new three address instructions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function </a:t>
            </a:r>
            <a:r>
              <a:rPr lang="en-US" alt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gen(…)</a:t>
            </a:r>
            <a:r>
              <a:rPr lang="en-US" altLang="en-US" sz="2400" dirty="0">
                <a:latin typeface="Candara" panose="020E0502030303020204" pitchFamily="34" charset="0"/>
              </a:rPr>
              <a:t>, in addition to constructing new instruction, append to the stream</a:t>
            </a:r>
            <a:endParaRPr lang="en-US" altLang="en-US" sz="22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49244" y="2298700"/>
            <a:ext cx="11524892" cy="3841615"/>
            <a:chOff x="400408" y="2328324"/>
            <a:chExt cx="11524892" cy="384161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10193" r="7742" b="13405"/>
            <a:stretch/>
          </p:blipFill>
          <p:spPr>
            <a:xfrm>
              <a:off x="5867400" y="2453502"/>
              <a:ext cx="6057900" cy="3216813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pic>
          <p:nvPicPr>
            <p:cNvPr id="9" name="Picture 8" descr="Screen Clippi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408" y="2328324"/>
              <a:ext cx="4933592" cy="3506204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867400" y="5800607"/>
              <a:ext cx="6057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Generating three-address code for expressions incrementally</a:t>
              </a:r>
            </a:p>
          </p:txBody>
        </p:sp>
      </p:grpSp>
      <p:sp>
        <p:nvSpPr>
          <p:cNvPr id="6" name="Arrow: Right 5">
            <a:extLst>
              <a:ext uri="{FF2B5EF4-FFF2-40B4-BE49-F238E27FC236}">
                <a16:creationId xmlns:a16="http://schemas.microsoft.com/office/drawing/2014/main" id="{65DF2EEE-7C38-7418-5ACC-EA71127A292A}"/>
              </a:ext>
            </a:extLst>
          </p:cNvPr>
          <p:cNvSpPr/>
          <p:nvPr/>
        </p:nvSpPr>
        <p:spPr>
          <a:xfrm>
            <a:off x="5210629" y="3759200"/>
            <a:ext cx="508000" cy="36512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6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1055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Addressing Array Element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8199" y="1118495"/>
            <a:ext cx="11035937" cy="43679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In C and Java, array elements are numbered </a:t>
            </a:r>
            <a:r>
              <a:rPr lang="en-US" altLang="en-US" sz="2400" i="1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0,1,….,n-1,</a:t>
            </a:r>
            <a:r>
              <a:rPr lang="en-US" altLang="en-US" sz="2400" dirty="0">
                <a:latin typeface="Candara" panose="020E0502030303020204" pitchFamily="34" charset="0"/>
              </a:rPr>
              <a:t> for an array of </a:t>
            </a:r>
            <a:r>
              <a:rPr lang="en-US" altLang="en-US" sz="2400" i="1" dirty="0">
                <a:latin typeface="Candara" panose="020E0502030303020204" pitchFamily="34" charset="0"/>
              </a:rPr>
              <a:t>n</a:t>
            </a:r>
            <a:r>
              <a:rPr lang="en-US" altLang="en-US" sz="2400" dirty="0">
                <a:latin typeface="Candara" panose="020E0502030303020204" pitchFamily="34" charset="0"/>
              </a:rPr>
              <a:t> elements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If the width of each array element is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w</a:t>
            </a:r>
            <a:r>
              <a:rPr lang="en-US" altLang="en-US" sz="2400" baseline="-25000" dirty="0">
                <a:latin typeface="Candara" panose="020E0502030303020204" pitchFamily="34" charset="0"/>
              </a:rPr>
              <a:t>, </a:t>
            </a:r>
            <a:r>
              <a:rPr lang="en-US" altLang="en-US" sz="2400" dirty="0">
                <a:latin typeface="Candara" panose="020E0502030303020204" pitchFamily="34" charset="0"/>
              </a:rPr>
              <a:t>then the </a:t>
            </a:r>
            <a:r>
              <a:rPr lang="en-US" altLang="en-US" sz="2400" i="1" dirty="0" err="1">
                <a:latin typeface="Candara" panose="020E0502030303020204" pitchFamily="34" charset="0"/>
              </a:rPr>
              <a:t>i</a:t>
            </a:r>
            <a:r>
              <a:rPr lang="en-US" altLang="en-US" sz="2400" dirty="0" err="1">
                <a:latin typeface="Candara" panose="020E0502030303020204" pitchFamily="34" charset="0"/>
              </a:rPr>
              <a:t>-th</a:t>
            </a:r>
            <a:r>
              <a:rPr lang="en-US" altLang="en-US" sz="2400" dirty="0">
                <a:latin typeface="Candara" panose="020E0502030303020204" pitchFamily="34" charset="0"/>
              </a:rPr>
              <a:t> element of array A begins in location</a:t>
            </a:r>
            <a:endParaRPr lang="en-US" altLang="en-US" sz="2400" baseline="-25000" dirty="0">
              <a:latin typeface="Candara" panose="020E0502030303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en-US" i="1" dirty="0">
              <a:solidFill>
                <a:schemeClr val="accent6">
                  <a:lumMod val="75000"/>
                </a:schemeClr>
              </a:solidFill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above formula generalized to </a:t>
            </a:r>
            <a:r>
              <a:rPr lang="en-US" altLang="en-US" sz="2400" i="1" dirty="0">
                <a:latin typeface="Candara" panose="020E0502030303020204" pitchFamily="34" charset="0"/>
              </a:rPr>
              <a:t>k-</a:t>
            </a:r>
            <a:r>
              <a:rPr lang="en-US" altLang="en-US" sz="2400" dirty="0">
                <a:latin typeface="Candara" panose="020E0502030303020204" pitchFamily="34" charset="0"/>
              </a:rPr>
              <a:t>dimensions as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400" i="1" dirty="0"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For the array, </a:t>
            </a:r>
            <a:r>
              <a:rPr lang="en-US" altLang="en-US" sz="24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int A[5][7][8], </a:t>
            </a:r>
            <a:r>
              <a:rPr lang="en-US" altLang="en-US" sz="2400" dirty="0">
                <a:latin typeface="Candara" panose="020E0502030303020204" pitchFamily="34" charset="0"/>
              </a:rPr>
              <a:t>location of </a:t>
            </a:r>
            <a:r>
              <a:rPr lang="en-US" altLang="en-US" sz="2400" dirty="0">
                <a:solidFill>
                  <a:srgbClr val="0070C0"/>
                </a:solidFill>
                <a:latin typeface="Candara" panose="020E0502030303020204" pitchFamily="34" charset="0"/>
              </a:rPr>
              <a:t>A[2][3][4]</a:t>
            </a:r>
            <a:r>
              <a:rPr lang="en-US" altLang="en-US" sz="2400" dirty="0">
                <a:latin typeface="Candara" panose="020E0502030303020204" pitchFamily="34" charset="0"/>
              </a:rPr>
              <a:t> will be</a:t>
            </a:r>
            <a:endParaRPr lang="en-US" altLang="en-US" sz="2400" dirty="0">
              <a:solidFill>
                <a:schemeClr val="accent2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82214" y="2086378"/>
            <a:ext cx="6637986" cy="984885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base + </a:t>
            </a:r>
            <a:r>
              <a:rPr lang="en-US" altLang="en-US" sz="28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8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 x w</a:t>
            </a: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ndara" panose="020E0502030303020204" pitchFamily="34" charset="0"/>
              </a:rPr>
              <a:t>Here base is the relative address of A[0]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2214" y="3681211"/>
            <a:ext cx="6637986" cy="52322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base + i</a:t>
            </a:r>
            <a:r>
              <a:rPr lang="en-US" altLang="en-US" sz="2800" i="1" baseline="-250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1</a:t>
            </a:r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 x w</a:t>
            </a:r>
            <a:r>
              <a:rPr lang="en-US" altLang="en-US" sz="2800" i="1" baseline="-250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1 </a:t>
            </a:r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+ i</a:t>
            </a:r>
            <a:r>
              <a:rPr lang="en-US" altLang="en-US" sz="2800" i="1" baseline="-250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2</a:t>
            </a:r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 x w</a:t>
            </a:r>
            <a:r>
              <a:rPr lang="en-US" altLang="en-US" sz="2800" i="1" baseline="-250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2 </a:t>
            </a:r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+ …+ </a:t>
            </a:r>
            <a:r>
              <a:rPr lang="en-US" altLang="en-US" sz="2800" i="1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800" i="1" baseline="-25000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k</a:t>
            </a:r>
            <a:r>
              <a:rPr lang="en-US" altLang="en-US" sz="28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 x </a:t>
            </a:r>
            <a:r>
              <a:rPr lang="en-US" altLang="en-US" sz="2800" i="1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w</a:t>
            </a:r>
            <a:r>
              <a:rPr lang="en-US" altLang="en-US" sz="2800" i="1" baseline="-25000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k</a:t>
            </a:r>
            <a:endParaRPr lang="en-US" altLang="en-US" sz="2800" i="1" dirty="0">
              <a:solidFill>
                <a:schemeClr val="accent5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82214" y="5059256"/>
            <a:ext cx="6637986" cy="984885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i="1" dirty="0">
                <a:solidFill>
                  <a:schemeClr val="accent3">
                    <a:lumMod val="50000"/>
                  </a:schemeClr>
                </a:solidFill>
                <a:latin typeface="Candara" panose="020E0502030303020204" pitchFamily="34" charset="0"/>
              </a:rPr>
              <a:t>base + 2 x 224  + 3 X 32 + 4 x 4</a:t>
            </a:r>
          </a:p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ndara" panose="020E0502030303020204" pitchFamily="34" charset="0"/>
              </a:rPr>
              <a:t>Here size of integer is assumed as 4 byte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6" grpId="0" animBg="1"/>
      <p:bldP spid="14" grpId="0" animBg="1"/>
      <p:bldP spid="1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1055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Array References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8199" y="1118495"/>
            <a:ext cx="11035937" cy="436790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The chief problem in generating code for array references is to related the address calculation formulas to a grammar for array references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For the array </a:t>
            </a:r>
            <a:r>
              <a:rPr lang="en-US" altLang="en-US" sz="24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a</a:t>
            </a:r>
            <a:r>
              <a:rPr lang="en-US" altLang="en-US" sz="2400" dirty="0">
                <a:latin typeface="Candara" panose="020E0502030303020204" pitchFamily="34" charset="0"/>
              </a:rPr>
              <a:t> declared as </a:t>
            </a:r>
            <a:r>
              <a:rPr lang="en-US" altLang="en-US" sz="24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int[2][3]</a:t>
            </a:r>
            <a:r>
              <a:rPr lang="en-US" altLang="en-US" sz="2400" dirty="0">
                <a:latin typeface="Candara" panose="020E0502030303020204" pitchFamily="34" charset="0"/>
              </a:rPr>
              <a:t>, three-address translation of the expression –</a:t>
            </a: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400" baseline="-250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Candara" panose="020E0502030303020204" pitchFamily="34" charset="0"/>
              </a:rPr>
              <a:t>We will use the following grammar production rule where nonterminal </a:t>
            </a:r>
            <a:r>
              <a:rPr lang="en-US" altLang="en-US" sz="2400" i="1" dirty="0">
                <a:latin typeface="Candara" panose="020E0502030303020204" pitchFamily="34" charset="0"/>
              </a:rPr>
              <a:t>L</a:t>
            </a:r>
            <a:r>
              <a:rPr lang="en-US" altLang="en-US" sz="2400" dirty="0">
                <a:latin typeface="Candara" panose="020E0502030303020204" pitchFamily="34" charset="0"/>
              </a:rPr>
              <a:t> generates  an array name followed by a sequence of index expression.</a:t>
            </a:r>
            <a:endParaRPr lang="en-US" altLang="en-US" sz="2400" baseline="-25000" dirty="0">
              <a:latin typeface="Candara" panose="020E0502030303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en-US" i="1" dirty="0">
              <a:solidFill>
                <a:schemeClr val="accent6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268753" y="2618842"/>
            <a:ext cx="5341847" cy="1675279"/>
            <a:chOff x="3415786" y="1627168"/>
            <a:chExt cx="5341847" cy="167527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5786" y="2141540"/>
              <a:ext cx="1580481" cy="451566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73750" y="1627168"/>
              <a:ext cx="1983883" cy="1675279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sp>
          <p:nvSpPr>
            <p:cNvPr id="5" name="Right Arrow 4"/>
            <p:cNvSpPr/>
            <p:nvPr/>
          </p:nvSpPr>
          <p:spPr>
            <a:xfrm>
              <a:off x="5525037" y="2102903"/>
              <a:ext cx="831130" cy="490693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444" y="5308827"/>
            <a:ext cx="3790518" cy="576818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341760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179" y="651108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134347" y="46281"/>
            <a:ext cx="576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Translation of array references for 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c+a</a:t>
            </a:r>
            <a:r>
              <a:rPr lang="en-US" sz="2400" dirty="0">
                <a:solidFill>
                  <a:srgbClr val="7030A0"/>
                </a:solidFill>
              </a:rPr>
              <a:t>[i][j]</a:t>
            </a:r>
          </a:p>
        </p:txBody>
      </p:sp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869519"/>
              </p:ext>
            </p:extLst>
          </p:nvPr>
        </p:nvGraphicFramePr>
        <p:xfrm>
          <a:off x="10604779" y="108427"/>
          <a:ext cx="1380056" cy="271272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80056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L = E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15419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+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E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L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L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id 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[E]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L  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L</a:t>
                      </a:r>
                      <a:r>
                        <a:rPr kumimoji="0" lang="en-US" sz="18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[E]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endParaRPr kumimoji="0" lang="en-US" sz="20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672216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2464817" y="87302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39773A-95B9-E88F-67D4-99156D7DDBAE}"/>
              </a:ext>
            </a:extLst>
          </p:cNvPr>
          <p:cNvSpPr/>
          <p:nvPr/>
        </p:nvSpPr>
        <p:spPr>
          <a:xfrm>
            <a:off x="464469" y="1776837"/>
            <a:ext cx="655489" cy="46166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65FAB-EB12-8BF5-20DB-05D38958C1CC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792214" y="1198226"/>
            <a:ext cx="1728399" cy="578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AC4477C-5E22-A2AC-E31F-E8E62B1D94B5}"/>
              </a:ext>
            </a:extLst>
          </p:cNvPr>
          <p:cNvSpPr/>
          <p:nvPr/>
        </p:nvSpPr>
        <p:spPr>
          <a:xfrm>
            <a:off x="5545903" y="2472363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595FE7-7A3B-1A04-00B2-E6A3EFF42D86}"/>
              </a:ext>
            </a:extLst>
          </p:cNvPr>
          <p:cNvCxnSpPr>
            <a:cxnSpLocks/>
            <a:stCxn id="55" idx="5"/>
            <a:endCxn id="117" idx="0"/>
          </p:cNvCxnSpPr>
          <p:nvPr/>
        </p:nvCxnSpPr>
        <p:spPr>
          <a:xfrm>
            <a:off x="2790021" y="1198226"/>
            <a:ext cx="1227268" cy="410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733931C-7C26-7DB4-4776-29F4EFA6C4F9}"/>
              </a:ext>
            </a:extLst>
          </p:cNvPr>
          <p:cNvSpPr/>
          <p:nvPr/>
        </p:nvSpPr>
        <p:spPr>
          <a:xfrm>
            <a:off x="4504610" y="382728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8A393B-962A-A1A3-E71E-5952211CAA71}"/>
              </a:ext>
            </a:extLst>
          </p:cNvPr>
          <p:cNvCxnSpPr>
            <a:cxnSpLocks/>
            <a:stCxn id="60" idx="4"/>
            <a:endCxn id="62" idx="0"/>
          </p:cNvCxnSpPr>
          <p:nvPr/>
        </p:nvCxnSpPr>
        <p:spPr>
          <a:xfrm flipH="1">
            <a:off x="4796858" y="2994083"/>
            <a:ext cx="1064377" cy="83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2630E8F7-EE80-ADFB-8DBD-CC8CBB5DFDD5}"/>
              </a:ext>
            </a:extLst>
          </p:cNvPr>
          <p:cNvSpPr/>
          <p:nvPr/>
        </p:nvSpPr>
        <p:spPr>
          <a:xfrm>
            <a:off x="1955930" y="381679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210058-96B2-992C-2666-D3C0A0D19703}"/>
              </a:ext>
            </a:extLst>
          </p:cNvPr>
          <p:cNvCxnSpPr>
            <a:cxnSpLocks/>
            <a:stCxn id="60" idx="4"/>
            <a:endCxn id="64" idx="0"/>
          </p:cNvCxnSpPr>
          <p:nvPr/>
        </p:nvCxnSpPr>
        <p:spPr>
          <a:xfrm flipH="1">
            <a:off x="2647473" y="2994083"/>
            <a:ext cx="3213762" cy="822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AB79B8-6AED-2506-8BFB-5E19B802FB10}"/>
              </a:ext>
            </a:extLst>
          </p:cNvPr>
          <p:cNvCxnSpPr>
            <a:cxnSpLocks/>
            <a:stCxn id="70" idx="0"/>
            <a:endCxn id="60" idx="4"/>
          </p:cNvCxnSpPr>
          <p:nvPr/>
        </p:nvCxnSpPr>
        <p:spPr>
          <a:xfrm flipV="1">
            <a:off x="3627198" y="2994083"/>
            <a:ext cx="2234037" cy="822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48F5C7A-452E-DF46-1CC9-FEA0DBD79FFE}"/>
              </a:ext>
            </a:extLst>
          </p:cNvPr>
          <p:cNvSpPr/>
          <p:nvPr/>
        </p:nvSpPr>
        <p:spPr>
          <a:xfrm>
            <a:off x="2935655" y="381679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FE1FFE-6826-49CD-68F3-8A29243711F6}"/>
              </a:ext>
            </a:extLst>
          </p:cNvPr>
          <p:cNvCxnSpPr>
            <a:cxnSpLocks/>
            <a:stCxn id="76" idx="0"/>
            <a:endCxn id="62" idx="4"/>
          </p:cNvCxnSpPr>
          <p:nvPr/>
        </p:nvCxnSpPr>
        <p:spPr>
          <a:xfrm flipH="1" flipV="1">
            <a:off x="4796858" y="4235793"/>
            <a:ext cx="13045" cy="318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72AF81-D8B9-CCDE-00CF-0E8C2D92F997}"/>
              </a:ext>
            </a:extLst>
          </p:cNvPr>
          <p:cNvSpPr/>
          <p:nvPr/>
        </p:nvSpPr>
        <p:spPr>
          <a:xfrm>
            <a:off x="203634" y="4912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5DC23D-C776-A2CA-818D-5197347F99DA}"/>
              </a:ext>
            </a:extLst>
          </p:cNvPr>
          <p:cNvSpPr/>
          <p:nvPr/>
        </p:nvSpPr>
        <p:spPr>
          <a:xfrm>
            <a:off x="4118360" y="455391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  <a:stCxn id="55" idx="4"/>
            <a:endCxn id="92" idx="0"/>
          </p:cNvCxnSpPr>
          <p:nvPr/>
        </p:nvCxnSpPr>
        <p:spPr>
          <a:xfrm>
            <a:off x="2655317" y="1254022"/>
            <a:ext cx="22487" cy="413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2380694" y="1667983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B8D6ED-1149-BD26-D112-73595E090766}"/>
              </a:ext>
            </a:extLst>
          </p:cNvPr>
          <p:cNvCxnSpPr>
            <a:cxnSpLocks/>
            <a:stCxn id="75" idx="0"/>
            <a:endCxn id="64" idx="4"/>
          </p:cNvCxnSpPr>
          <p:nvPr/>
        </p:nvCxnSpPr>
        <p:spPr>
          <a:xfrm flipV="1">
            <a:off x="895177" y="4338516"/>
            <a:ext cx="1752296" cy="574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2B9553F-4603-4A33-5B9C-658448BC1915}"/>
              </a:ext>
            </a:extLst>
          </p:cNvPr>
          <p:cNvSpPr/>
          <p:nvPr/>
        </p:nvSpPr>
        <p:spPr>
          <a:xfrm>
            <a:off x="61617" y="2558204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F2FFA3-6B7C-1B96-C537-978D0D7C68E6}"/>
              </a:ext>
            </a:extLst>
          </p:cNvPr>
          <p:cNvSpPr txBox="1"/>
          <p:nvPr/>
        </p:nvSpPr>
        <p:spPr>
          <a:xfrm>
            <a:off x="935845" y="1918357"/>
            <a:ext cx="251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7C1755-1FAF-6509-73FD-670F0EE10DBE}"/>
              </a:ext>
            </a:extLst>
          </p:cNvPr>
          <p:cNvCxnSpPr>
            <a:cxnSpLocks/>
            <a:stCxn id="50" idx="0"/>
            <a:endCxn id="60" idx="4"/>
          </p:cNvCxnSpPr>
          <p:nvPr/>
        </p:nvCxnSpPr>
        <p:spPr>
          <a:xfrm flipH="1" flipV="1">
            <a:off x="5861235" y="2994083"/>
            <a:ext cx="461442" cy="675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B409F49-B08D-4338-7624-24E1424EBDF4}"/>
              </a:ext>
            </a:extLst>
          </p:cNvPr>
          <p:cNvSpPr/>
          <p:nvPr/>
        </p:nvSpPr>
        <p:spPr>
          <a:xfrm>
            <a:off x="5631134" y="367007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A72CF4A-7D32-96B8-315E-EC1E0D5D32D7}"/>
              </a:ext>
            </a:extLst>
          </p:cNvPr>
          <p:cNvSpPr/>
          <p:nvPr/>
        </p:nvSpPr>
        <p:spPr>
          <a:xfrm>
            <a:off x="2973356" y="4865058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71D860-EB63-47C9-D295-19DEE715F6BD}"/>
              </a:ext>
            </a:extLst>
          </p:cNvPr>
          <p:cNvCxnSpPr>
            <a:cxnSpLocks/>
            <a:stCxn id="64" idx="4"/>
            <a:endCxn id="57" idx="0"/>
          </p:cNvCxnSpPr>
          <p:nvPr/>
        </p:nvCxnSpPr>
        <p:spPr>
          <a:xfrm>
            <a:off x="2647473" y="4338516"/>
            <a:ext cx="618131" cy="526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2786ADC-4A24-DDA5-979A-7CB286BAA64E}"/>
              </a:ext>
            </a:extLst>
          </p:cNvPr>
          <p:cNvCxnSpPr>
            <a:cxnSpLocks/>
            <a:endCxn id="64" idx="4"/>
          </p:cNvCxnSpPr>
          <p:nvPr/>
        </p:nvCxnSpPr>
        <p:spPr>
          <a:xfrm flipV="1">
            <a:off x="2095944" y="4338516"/>
            <a:ext cx="551529" cy="516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F7975A5B-D433-04CC-9695-761D3EF30355}"/>
              </a:ext>
            </a:extLst>
          </p:cNvPr>
          <p:cNvSpPr/>
          <p:nvPr/>
        </p:nvSpPr>
        <p:spPr>
          <a:xfrm>
            <a:off x="1404401" y="4854568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8D76FA3-84D8-AD2D-BC93-655D35DB5922}"/>
              </a:ext>
            </a:extLst>
          </p:cNvPr>
          <p:cNvCxnSpPr>
            <a:cxnSpLocks/>
            <a:endCxn id="57" idx="4"/>
          </p:cNvCxnSpPr>
          <p:nvPr/>
        </p:nvCxnSpPr>
        <p:spPr>
          <a:xfrm flipH="1" flipV="1">
            <a:off x="3265604" y="5273565"/>
            <a:ext cx="13045" cy="318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7D9F6A-9D1A-DBD6-1B09-132E5B709901}"/>
              </a:ext>
            </a:extLst>
          </p:cNvPr>
          <p:cNvCxnSpPr>
            <a:cxnSpLocks/>
            <a:stCxn id="72" idx="0"/>
            <a:endCxn id="64" idx="4"/>
          </p:cNvCxnSpPr>
          <p:nvPr/>
        </p:nvCxnSpPr>
        <p:spPr>
          <a:xfrm flipH="1" flipV="1">
            <a:off x="2647473" y="4338516"/>
            <a:ext cx="1587808" cy="413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39A0AFA-E3AC-EDE8-F1B1-EE35D602177B}"/>
              </a:ext>
            </a:extLst>
          </p:cNvPr>
          <p:cNvSpPr/>
          <p:nvPr/>
        </p:nvSpPr>
        <p:spPr>
          <a:xfrm>
            <a:off x="3543738" y="4751845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FBDA94E-7BE9-B108-CDDA-5A0959CEC18F}"/>
              </a:ext>
            </a:extLst>
          </p:cNvPr>
          <p:cNvSpPr/>
          <p:nvPr/>
        </p:nvSpPr>
        <p:spPr>
          <a:xfrm>
            <a:off x="2616134" y="553363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781484-FC39-6FDD-5E92-36D03FC12A66}"/>
              </a:ext>
            </a:extLst>
          </p:cNvPr>
          <p:cNvGrpSpPr/>
          <p:nvPr/>
        </p:nvGrpSpPr>
        <p:grpSpPr>
          <a:xfrm>
            <a:off x="753160" y="2185917"/>
            <a:ext cx="504682" cy="401307"/>
            <a:chOff x="622534" y="2722953"/>
            <a:chExt cx="504682" cy="401307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200AEA5-A801-A116-B48D-BB3FEC7ED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534" y="2760275"/>
              <a:ext cx="11136" cy="3639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5BCA39-BF6F-107A-F95D-3E324ED3D565}"/>
                </a:ext>
              </a:extLst>
            </p:cNvPr>
            <p:cNvSpPr txBox="1"/>
            <p:nvPr/>
          </p:nvSpPr>
          <p:spPr>
            <a:xfrm>
              <a:off x="701175" y="2722953"/>
              <a:ext cx="426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1A37B1D-9A60-FE4B-5949-898FDD276608}"/>
              </a:ext>
            </a:extLst>
          </p:cNvPr>
          <p:cNvSpPr txBox="1"/>
          <p:nvPr/>
        </p:nvSpPr>
        <p:spPr>
          <a:xfrm>
            <a:off x="3379060" y="5226670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D68DB27-527B-6D54-4C03-707029888BB9}"/>
              </a:ext>
            </a:extLst>
          </p:cNvPr>
          <p:cNvSpPr txBox="1"/>
          <p:nvPr/>
        </p:nvSpPr>
        <p:spPr>
          <a:xfrm>
            <a:off x="4903060" y="4181637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95ACE8-9749-ED76-5EA5-554EE526A2E6}"/>
              </a:ext>
            </a:extLst>
          </p:cNvPr>
          <p:cNvSpPr txBox="1"/>
          <p:nvPr/>
        </p:nvSpPr>
        <p:spPr>
          <a:xfrm>
            <a:off x="1230945" y="4399353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2F4EF0D-F8D3-CD75-CEA0-BD206621199A}"/>
              </a:ext>
            </a:extLst>
          </p:cNvPr>
          <p:cNvSpPr/>
          <p:nvPr/>
        </p:nvSpPr>
        <p:spPr>
          <a:xfrm>
            <a:off x="3701957" y="1608770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4FE5DF-27D9-BFC3-9E68-10A9EAC9422F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4223370" y="2073911"/>
            <a:ext cx="1414892" cy="474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A43A445-CAB8-2BBD-545C-A4D6AD9C795E}"/>
              </a:ext>
            </a:extLst>
          </p:cNvPr>
          <p:cNvSpPr txBox="1"/>
          <p:nvPr/>
        </p:nvSpPr>
        <p:spPr>
          <a:xfrm>
            <a:off x="2888018" y="706415"/>
            <a:ext cx="4069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>
                <a:solidFill>
                  <a:srgbClr val="0070C0"/>
                </a:solidFill>
              </a:rPr>
              <a:t>new Temp ()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gen (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E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‘+’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E</a:t>
            </a:r>
            <a:r>
              <a:rPr lang="en-US" sz="1600" i="1" baseline="-25000" dirty="0">
                <a:solidFill>
                  <a:srgbClr val="0070C0"/>
                </a:solidFill>
              </a:rPr>
              <a:t>2</a:t>
            </a:r>
            <a:r>
              <a:rPr lang="en-US" sz="1600" i="1" dirty="0">
                <a:solidFill>
                  <a:srgbClr val="0070C0"/>
                </a:solidFill>
              </a:rPr>
              <a:t>.addr</a:t>
            </a:r>
            <a:endParaRPr lang="en-US" sz="1600" i="1" dirty="0">
              <a:solidFill>
                <a:srgbClr val="FF0000"/>
              </a:solidFill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BC3248A-6526-7617-6EBE-BA962FC380EE}"/>
              </a:ext>
            </a:extLst>
          </p:cNvPr>
          <p:cNvGrpSpPr/>
          <p:nvPr/>
        </p:nvGrpSpPr>
        <p:grpSpPr>
          <a:xfrm>
            <a:off x="7964715" y="4883075"/>
            <a:ext cx="4114800" cy="1517726"/>
            <a:chOff x="7623042" y="4868560"/>
            <a:chExt cx="4441959" cy="1675279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50B77202-788F-4150-FD46-9869BB0BA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3042" y="5369072"/>
              <a:ext cx="1580481" cy="451566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4993FFA-8668-19DA-3AD2-47E6B193D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1118" y="4868560"/>
              <a:ext cx="1983883" cy="1675279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sp>
          <p:nvSpPr>
            <p:cNvPr id="126" name="Right Arrow 4">
              <a:extLst>
                <a:ext uri="{FF2B5EF4-FFF2-40B4-BE49-F238E27FC236}">
                  <a16:creationId xmlns:a16="http://schemas.microsoft.com/office/drawing/2014/main" id="{23A3648F-5D2F-9005-94E0-41C4DBD0AF34}"/>
                </a:ext>
              </a:extLst>
            </p:cNvPr>
            <p:cNvSpPr/>
            <p:nvPr/>
          </p:nvSpPr>
          <p:spPr>
            <a:xfrm>
              <a:off x="9305748" y="5330435"/>
              <a:ext cx="648067" cy="490693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3C7400B7-A1D9-5049-13F8-393EC771F33D}"/>
              </a:ext>
            </a:extLst>
          </p:cNvPr>
          <p:cNvSpPr txBox="1"/>
          <p:nvPr/>
        </p:nvSpPr>
        <p:spPr>
          <a:xfrm>
            <a:off x="4216075" y="1439389"/>
            <a:ext cx="4779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dirty="0">
                <a:solidFill>
                  <a:srgbClr val="0070C0"/>
                </a:solidFill>
              </a:rPr>
              <a:t>.addr = </a:t>
            </a:r>
            <a:r>
              <a:rPr lang="en-US" sz="1600" i="1" dirty="0">
                <a:solidFill>
                  <a:srgbClr val="0070C0"/>
                </a:solidFill>
              </a:rPr>
              <a:t>new Temp ()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gen (E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 ‘=‘ ||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i="1" dirty="0" err="1">
                <a:solidFill>
                  <a:srgbClr val="0070C0"/>
                </a:solidFill>
              </a:rPr>
              <a:t>L.array.base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‘[‘ || </a:t>
            </a:r>
            <a:r>
              <a:rPr lang="en-US" sz="1600" dirty="0" err="1">
                <a:solidFill>
                  <a:srgbClr val="0070C0"/>
                </a:solidFill>
              </a:rPr>
              <a:t>L.addr</a:t>
            </a:r>
            <a:r>
              <a:rPr lang="en-US" sz="1600" dirty="0">
                <a:solidFill>
                  <a:srgbClr val="0070C0"/>
                </a:solidFill>
              </a:rPr>
              <a:t> || ‘]’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E7F182C-5C59-82AF-4C15-8D682A2799F8}"/>
              </a:ext>
            </a:extLst>
          </p:cNvPr>
          <p:cNvSpPr txBox="1"/>
          <p:nvPr/>
        </p:nvSpPr>
        <p:spPr>
          <a:xfrm>
            <a:off x="159804" y="3014796"/>
            <a:ext cx="25663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.array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.type = 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.array.type.elem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= new Temp()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gen (L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 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‘*</a:t>
            </a:r>
            <a:r>
              <a:rPr lang="en-US" sz="1600" dirty="0">
                <a:solidFill>
                  <a:srgbClr val="0070C0"/>
                </a:solidFill>
              </a:rPr>
              <a:t>‘ || </a:t>
            </a:r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.type.width</a:t>
            </a:r>
            <a:endParaRPr lang="en-US" sz="1600" i="1" dirty="0">
              <a:solidFill>
                <a:srgbClr val="0070C0"/>
              </a:solidFill>
            </a:endParaRPr>
          </a:p>
          <a:p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C69C047-D84F-CDC9-439F-63CDDBED18A9}"/>
              </a:ext>
            </a:extLst>
          </p:cNvPr>
          <p:cNvSpPr txBox="1"/>
          <p:nvPr/>
        </p:nvSpPr>
        <p:spPr>
          <a:xfrm>
            <a:off x="3642761" y="5191331"/>
            <a:ext cx="251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E5701B9-BC94-5611-EB98-525D7E3607A2}"/>
              </a:ext>
            </a:extLst>
          </p:cNvPr>
          <p:cNvSpPr txBox="1"/>
          <p:nvPr/>
        </p:nvSpPr>
        <p:spPr>
          <a:xfrm>
            <a:off x="5004516" y="4000200"/>
            <a:ext cx="2515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43FF255-28C5-740E-3F57-80A49E298825}"/>
              </a:ext>
            </a:extLst>
          </p:cNvPr>
          <p:cNvSpPr txBox="1"/>
          <p:nvPr/>
        </p:nvSpPr>
        <p:spPr>
          <a:xfrm>
            <a:off x="6502172" y="2104108"/>
            <a:ext cx="4292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solidFill>
                  <a:srgbClr val="0070C0"/>
                </a:solidFill>
              </a:rPr>
              <a:t>L</a:t>
            </a:r>
            <a:r>
              <a:rPr lang="en-US" sz="1600" dirty="0" err="1">
                <a:solidFill>
                  <a:srgbClr val="0070C0"/>
                </a:solidFill>
              </a:rPr>
              <a:t>.array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.array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 err="1">
                <a:solidFill>
                  <a:srgbClr val="0070C0"/>
                </a:solidFill>
              </a:rPr>
              <a:t>L.type</a:t>
            </a:r>
            <a:r>
              <a:rPr lang="en-US" sz="1600" i="1" dirty="0">
                <a:solidFill>
                  <a:srgbClr val="0070C0"/>
                </a:solidFill>
              </a:rPr>
              <a:t> = 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 </a:t>
            </a:r>
            <a:r>
              <a:rPr lang="en-US" sz="1600" i="1" dirty="0" err="1">
                <a:solidFill>
                  <a:srgbClr val="0070C0"/>
                </a:solidFill>
              </a:rPr>
              <a:t>type.elem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t = new Temp ()</a:t>
            </a:r>
          </a:p>
          <a:p>
            <a:r>
              <a:rPr lang="en-US" sz="1600" i="1" dirty="0" err="1">
                <a:solidFill>
                  <a:srgbClr val="0070C0"/>
                </a:solidFill>
              </a:rPr>
              <a:t>L.addr</a:t>
            </a:r>
            <a:r>
              <a:rPr lang="en-US" sz="1600" i="1" dirty="0">
                <a:solidFill>
                  <a:srgbClr val="0070C0"/>
                </a:solidFill>
              </a:rPr>
              <a:t> = new Temp()</a:t>
            </a:r>
          </a:p>
          <a:p>
            <a:r>
              <a:rPr lang="en-US" sz="1600" i="1" dirty="0">
                <a:solidFill>
                  <a:srgbClr val="0070C0"/>
                </a:solidFill>
              </a:rPr>
              <a:t>gen (t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 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‘*</a:t>
            </a:r>
            <a:r>
              <a:rPr lang="en-US" sz="1600" dirty="0">
                <a:solidFill>
                  <a:srgbClr val="0070C0"/>
                </a:solidFill>
              </a:rPr>
              <a:t>‘ || </a:t>
            </a:r>
            <a:r>
              <a:rPr lang="en-US" sz="1600" dirty="0" err="1">
                <a:solidFill>
                  <a:srgbClr val="0070C0"/>
                </a:solidFill>
              </a:rPr>
              <a:t>L.type.width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</a:t>
            </a:r>
            <a:r>
              <a:rPr lang="en-US" sz="1600" i="1" dirty="0" err="1">
                <a:solidFill>
                  <a:srgbClr val="0070C0"/>
                </a:solidFill>
              </a:rPr>
              <a:t>L.addr</a:t>
            </a:r>
            <a:r>
              <a:rPr lang="en-US" sz="1600" i="1" dirty="0">
                <a:solidFill>
                  <a:srgbClr val="0070C0"/>
                </a:solidFill>
              </a:rPr>
              <a:t> || ‘=‘ || L1.addr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‘+’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 t</a:t>
            </a:r>
          </a:p>
          <a:p>
            <a:endParaRPr lang="en-U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6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0" grpId="0"/>
      <p:bldP spid="62" grpId="0"/>
      <p:bldP spid="64" grpId="0"/>
      <p:bldP spid="70" grpId="0"/>
      <p:bldP spid="75" grpId="0"/>
      <p:bldP spid="76" grpId="0"/>
      <p:bldP spid="92" grpId="0"/>
      <p:bldP spid="101" grpId="0"/>
      <p:bldP spid="103" grpId="0"/>
      <p:bldP spid="50" grpId="0"/>
      <p:bldP spid="57" grpId="0"/>
      <p:bldP spid="67" grpId="0"/>
      <p:bldP spid="72" grpId="0"/>
      <p:bldP spid="73" grpId="0"/>
      <p:bldP spid="87" grpId="0"/>
      <p:bldP spid="88" grpId="0"/>
      <p:bldP spid="89" grpId="0"/>
      <p:bldP spid="117" grpId="0"/>
      <p:bldP spid="121" grpId="0"/>
      <p:bldP spid="128" grpId="0"/>
      <p:bldP spid="129" grpId="0"/>
      <p:bldP spid="130" grpId="0"/>
      <p:bldP spid="131" grpId="0"/>
      <p:bldP spid="13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F8F29C5-9813-BF83-AE8B-C980F1121A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65" r="16413" b="27678"/>
          <a:stretch/>
        </p:blipFill>
        <p:spPr>
          <a:xfrm>
            <a:off x="8889719" y="5394935"/>
            <a:ext cx="2952632" cy="140529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E4DB40E-F24C-E44C-EB4F-D23E2A0A60F5}"/>
              </a:ext>
            </a:extLst>
          </p:cNvPr>
          <p:cNvSpPr txBox="1"/>
          <p:nvPr/>
        </p:nvSpPr>
        <p:spPr>
          <a:xfrm>
            <a:off x="744075" y="2650288"/>
            <a:ext cx="191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F7B3C6-00DE-1D46-F75F-27CE93A50172}"/>
              </a:ext>
            </a:extLst>
          </p:cNvPr>
          <p:cNvSpPr txBox="1"/>
          <p:nvPr/>
        </p:nvSpPr>
        <p:spPr>
          <a:xfrm>
            <a:off x="148990" y="3925517"/>
            <a:ext cx="137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int</a:t>
            </a:r>
          </a:p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4</a:t>
            </a:r>
            <a:endParaRPr lang="en-US" b="1" i="1" dirty="0">
              <a:solidFill>
                <a:srgbClr val="0070C0"/>
              </a:solidFill>
            </a:endParaRPr>
          </a:p>
          <a:p>
            <a:pPr algn="r"/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79A6CE-8B87-0AEA-BF58-73BFE05C230A}"/>
              </a:ext>
            </a:extLst>
          </p:cNvPr>
          <p:cNvSpPr/>
          <p:nvPr/>
        </p:nvSpPr>
        <p:spPr>
          <a:xfrm>
            <a:off x="421492" y="3509991"/>
            <a:ext cx="3085976" cy="415862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0862-18AE-BC89-E99B-DAC84D9A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356" y="6456932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14AAA0-BD6E-5BED-B2B7-9676621BC470}"/>
              </a:ext>
            </a:extLst>
          </p:cNvPr>
          <p:cNvSpPr/>
          <p:nvPr/>
        </p:nvSpPr>
        <p:spPr>
          <a:xfrm>
            <a:off x="2142439" y="299877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5D15A6-B36E-7993-2CDA-D1334A28E466}"/>
              </a:ext>
            </a:extLst>
          </p:cNvPr>
          <p:cNvSpPr/>
          <p:nvPr/>
        </p:nvSpPr>
        <p:spPr>
          <a:xfrm>
            <a:off x="142092" y="3800990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B3F4E-C682-D58C-6E0D-549D6A9F8443}"/>
              </a:ext>
            </a:extLst>
          </p:cNvPr>
          <p:cNvSpPr/>
          <p:nvPr/>
        </p:nvSpPr>
        <p:spPr>
          <a:xfrm>
            <a:off x="-259710" y="4815357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7BB4D-B8C8-61C4-BB8D-63D2F6464569}"/>
              </a:ext>
            </a:extLst>
          </p:cNvPr>
          <p:cNvCxnSpPr>
            <a:cxnSpLocks/>
          </p:cNvCxnSpPr>
          <p:nvPr/>
        </p:nvCxnSpPr>
        <p:spPr>
          <a:xfrm flipH="1">
            <a:off x="281792" y="3316590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129F8F-D0E9-B879-C98D-E2E0880F8B23}"/>
              </a:ext>
            </a:extLst>
          </p:cNvPr>
          <p:cNvCxnSpPr>
            <a:cxnSpLocks/>
          </p:cNvCxnSpPr>
          <p:nvPr/>
        </p:nvCxnSpPr>
        <p:spPr>
          <a:xfrm flipV="1">
            <a:off x="256964" y="4178623"/>
            <a:ext cx="24828" cy="63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7E3E52-6ACE-287F-2112-1F46B1ACF188}"/>
              </a:ext>
            </a:extLst>
          </p:cNvPr>
          <p:cNvSpPr txBox="1"/>
          <p:nvPr/>
        </p:nvSpPr>
        <p:spPr>
          <a:xfrm>
            <a:off x="669041" y="236546"/>
            <a:ext cx="393743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Annotated Parse tree for </a:t>
            </a:r>
            <a:r>
              <a:rPr lang="en-US" altLang="en-US" sz="2000" b="1" dirty="0">
                <a:latin typeface="Candara" panose="020E0502030303020204" pitchFamily="34" charset="0"/>
              </a:rPr>
              <a:t>int [2][3] 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82AFDA-D2E8-31E0-77BD-75C4EC53471B}"/>
              </a:ext>
            </a:extLst>
          </p:cNvPr>
          <p:cNvSpPr/>
          <p:nvPr/>
        </p:nvSpPr>
        <p:spPr>
          <a:xfrm>
            <a:off x="3379243" y="3727263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BDC42-7C28-DE1F-5392-9FD62ED9F8C2}"/>
              </a:ext>
            </a:extLst>
          </p:cNvPr>
          <p:cNvCxnSpPr>
            <a:cxnSpLocks/>
          </p:cNvCxnSpPr>
          <p:nvPr/>
        </p:nvCxnSpPr>
        <p:spPr>
          <a:xfrm>
            <a:off x="2462561" y="3310286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423CCF-8CF8-F154-2CCE-CCE7CA644A43}"/>
              </a:ext>
            </a:extLst>
          </p:cNvPr>
          <p:cNvSpPr/>
          <p:nvPr/>
        </p:nvSpPr>
        <p:spPr>
          <a:xfrm>
            <a:off x="4677792" y="4746037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8DCA-DD5F-7C96-264D-3824F786A65E}"/>
              </a:ext>
            </a:extLst>
          </p:cNvPr>
          <p:cNvCxnSpPr>
            <a:cxnSpLocks/>
          </p:cNvCxnSpPr>
          <p:nvPr/>
        </p:nvCxnSpPr>
        <p:spPr>
          <a:xfrm>
            <a:off x="3713240" y="4237677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8D534EF-92D7-6C39-F47A-AB852369452B}"/>
              </a:ext>
            </a:extLst>
          </p:cNvPr>
          <p:cNvSpPr/>
          <p:nvPr/>
        </p:nvSpPr>
        <p:spPr>
          <a:xfrm>
            <a:off x="537388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6820CD-FED1-7DA9-6250-78D8465E2FB2}"/>
              </a:ext>
            </a:extLst>
          </p:cNvPr>
          <p:cNvCxnSpPr>
            <a:cxnSpLocks/>
          </p:cNvCxnSpPr>
          <p:nvPr/>
        </p:nvCxnSpPr>
        <p:spPr>
          <a:xfrm flipH="1">
            <a:off x="1228931" y="4248983"/>
            <a:ext cx="2494882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4B4FF2-7803-7C1A-FF3D-08021DB14F36}"/>
              </a:ext>
            </a:extLst>
          </p:cNvPr>
          <p:cNvCxnSpPr>
            <a:cxnSpLocks/>
          </p:cNvCxnSpPr>
          <p:nvPr/>
        </p:nvCxnSpPr>
        <p:spPr>
          <a:xfrm flipV="1">
            <a:off x="2310247" y="4248983"/>
            <a:ext cx="141356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74820C-3E8E-E43D-85EC-0ACE9654EBEF}"/>
              </a:ext>
            </a:extLst>
          </p:cNvPr>
          <p:cNvCxnSpPr>
            <a:cxnSpLocks/>
          </p:cNvCxnSpPr>
          <p:nvPr/>
        </p:nvCxnSpPr>
        <p:spPr>
          <a:xfrm flipV="1">
            <a:off x="3311738" y="4248983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E5FE7FD-5FDB-E1D8-6FB5-2C1022C1FCB7}"/>
              </a:ext>
            </a:extLst>
          </p:cNvPr>
          <p:cNvSpPr/>
          <p:nvPr/>
        </p:nvSpPr>
        <p:spPr>
          <a:xfrm>
            <a:off x="1618704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71BB2F-9FE3-BD6A-573A-CAA9A60DE4AC}"/>
              </a:ext>
            </a:extLst>
          </p:cNvPr>
          <p:cNvSpPr/>
          <p:nvPr/>
        </p:nvSpPr>
        <p:spPr>
          <a:xfrm>
            <a:off x="2620195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D01B0C-A661-FC5B-B757-BE093C8B55FA}"/>
              </a:ext>
            </a:extLst>
          </p:cNvPr>
          <p:cNvSpPr/>
          <p:nvPr/>
        </p:nvSpPr>
        <p:spPr>
          <a:xfrm>
            <a:off x="1502385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CF7C9B-99E0-295D-3490-13CFE09A106A}"/>
              </a:ext>
            </a:extLst>
          </p:cNvPr>
          <p:cNvCxnSpPr>
            <a:cxnSpLocks/>
          </p:cNvCxnSpPr>
          <p:nvPr/>
        </p:nvCxnSpPr>
        <p:spPr>
          <a:xfrm flipH="1">
            <a:off x="2193928" y="5154544"/>
            <a:ext cx="2776112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D6906D-DCFF-8F73-8466-12DFA744CE61}"/>
              </a:ext>
            </a:extLst>
          </p:cNvPr>
          <p:cNvCxnSpPr>
            <a:cxnSpLocks/>
          </p:cNvCxnSpPr>
          <p:nvPr/>
        </p:nvCxnSpPr>
        <p:spPr>
          <a:xfrm flipV="1">
            <a:off x="3376842" y="5154544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DA7EE3-6658-B9B4-61BC-D7E9ECA5C0AA}"/>
              </a:ext>
            </a:extLst>
          </p:cNvPr>
          <p:cNvCxnSpPr>
            <a:cxnSpLocks/>
          </p:cNvCxnSpPr>
          <p:nvPr/>
        </p:nvCxnSpPr>
        <p:spPr>
          <a:xfrm flipV="1">
            <a:off x="4537987" y="5154544"/>
            <a:ext cx="432053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9AD717-A452-60D1-36A7-DEBF5EB11F40}"/>
              </a:ext>
            </a:extLst>
          </p:cNvPr>
          <p:cNvSpPr/>
          <p:nvPr/>
        </p:nvSpPr>
        <p:spPr>
          <a:xfrm>
            <a:off x="2685299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E8B92A2-D0FE-C356-F172-66CB02E79262}"/>
              </a:ext>
            </a:extLst>
          </p:cNvPr>
          <p:cNvSpPr/>
          <p:nvPr/>
        </p:nvSpPr>
        <p:spPr>
          <a:xfrm>
            <a:off x="3846444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577CE-6C64-0640-4CFE-40FABD66DA96}"/>
              </a:ext>
            </a:extLst>
          </p:cNvPr>
          <p:cNvSpPr/>
          <p:nvPr/>
        </p:nvSpPr>
        <p:spPr>
          <a:xfrm>
            <a:off x="6092935" y="583494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3CA4AF-7634-2B80-DF70-9C556B2ACA98}"/>
              </a:ext>
            </a:extLst>
          </p:cNvPr>
          <p:cNvCxnSpPr>
            <a:cxnSpLocks/>
          </p:cNvCxnSpPr>
          <p:nvPr/>
        </p:nvCxnSpPr>
        <p:spPr>
          <a:xfrm>
            <a:off x="4970040" y="5154544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E6DAC52-FC5E-7946-0E23-5A79C48BB54A}"/>
              </a:ext>
            </a:extLst>
          </p:cNvPr>
          <p:cNvSpPr/>
          <p:nvPr/>
        </p:nvSpPr>
        <p:spPr>
          <a:xfrm>
            <a:off x="5872581" y="6374485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1E2EE4-C4DB-D0D4-D8CA-D78198E3D990}"/>
              </a:ext>
            </a:extLst>
          </p:cNvPr>
          <p:cNvCxnSpPr>
            <a:cxnSpLocks/>
          </p:cNvCxnSpPr>
          <p:nvPr/>
        </p:nvCxnSpPr>
        <p:spPr>
          <a:xfrm flipH="1" flipV="1">
            <a:off x="6385183" y="6243447"/>
            <a:ext cx="4072" cy="24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BE77DC-2DED-EB00-E010-1E8DBAD0196D}"/>
              </a:ext>
            </a:extLst>
          </p:cNvPr>
          <p:cNvSpPr txBox="1"/>
          <p:nvPr/>
        </p:nvSpPr>
        <p:spPr>
          <a:xfrm>
            <a:off x="1673941" y="5168082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2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E0AFDE-43F6-A65A-3471-E5E3CAA8F407}"/>
              </a:ext>
            </a:extLst>
          </p:cNvPr>
          <p:cNvSpPr txBox="1"/>
          <p:nvPr/>
        </p:nvSpPr>
        <p:spPr>
          <a:xfrm>
            <a:off x="2755255" y="6062456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592B77-7D49-A5B4-EF31-E3334875963D}"/>
              </a:ext>
            </a:extLst>
          </p:cNvPr>
          <p:cNvSpPr txBox="1"/>
          <p:nvPr/>
        </p:nvSpPr>
        <p:spPr>
          <a:xfrm>
            <a:off x="5244327" y="4618829"/>
            <a:ext cx="460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array(3,int)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3*4=12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2585B2-6D53-2EDF-FE6C-D66AC19D62BD}"/>
              </a:ext>
            </a:extLst>
          </p:cNvPr>
          <p:cNvSpPr txBox="1"/>
          <p:nvPr/>
        </p:nvSpPr>
        <p:spPr>
          <a:xfrm>
            <a:off x="3893170" y="3668144"/>
            <a:ext cx="54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2*12=24 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AF4A25-8F1C-D99E-C806-B6E5AA655CF6}"/>
              </a:ext>
            </a:extLst>
          </p:cNvPr>
          <p:cNvSpPr txBox="1"/>
          <p:nvPr/>
        </p:nvSpPr>
        <p:spPr>
          <a:xfrm>
            <a:off x="2608654" y="2673918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24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E45173-E37F-26E7-1137-DE19E13B8A7D}"/>
              </a:ext>
            </a:extLst>
          </p:cNvPr>
          <p:cNvSpPr txBox="1"/>
          <p:nvPr/>
        </p:nvSpPr>
        <p:spPr>
          <a:xfrm>
            <a:off x="6638690" y="5705929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w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6" name="Table 6">
            <a:extLst>
              <a:ext uri="{FF2B5EF4-FFF2-40B4-BE49-F238E27FC236}">
                <a16:creationId xmlns:a16="http://schemas.microsoft.com/office/drawing/2014/main" id="{590B3392-DF53-1668-2C70-B193247E4C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935363"/>
              </p:ext>
            </p:extLst>
          </p:nvPr>
        </p:nvGraphicFramePr>
        <p:xfrm>
          <a:off x="7614555" y="17810"/>
          <a:ext cx="4552337" cy="36576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52531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3199806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28474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SDT for Computing Type and Width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05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Rules</a:t>
                      </a:r>
                      <a:endParaRPr lang="en-US" sz="16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P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baseline="50000" dirty="0">
                          <a:sym typeface="Wingdings" panose="05000000000000000000" pitchFamily="2" charset="2"/>
                        </a:rPr>
                        <a:t>             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D</a:t>
                      </a:r>
                      <a:endParaRPr lang="en-US" sz="1600" b="1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{offset = 0;}</a:t>
                      </a: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39555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D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T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endParaRPr lang="en-US" sz="1600" b="1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top.put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(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</a:rPr>
                        <a:t>id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.lexeme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offset;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 offset = offset +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T.width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8037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 </a:t>
                      </a:r>
                    </a:p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         C</a:t>
                      </a:r>
                      <a:endParaRPr lang="en-US" sz="16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 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</a:t>
                      </a:r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</a:t>
                      </a:r>
                      <a:r>
                        <a:rPr lang="en-US" sz="16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B </a:t>
                      </a:r>
                      <a:r>
                        <a:rPr lang="en-US" sz="14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baseline="0" dirty="0">
                          <a:sym typeface="Wingdings" panose="05000000000000000000" pitchFamily="2" charset="2"/>
                        </a:rPr>
                        <a:t>int</a:t>
                      </a:r>
                      <a:endParaRPr lang="en-US" sz="1800" b="0" i="1" baseline="50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float,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4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B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float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int,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B.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8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w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C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[num] C</a:t>
                      </a:r>
                      <a:r>
                        <a:rPr kumimoji="0" lang="en-US" sz="1600" b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{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type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array(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, 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type)</a:t>
                      </a:r>
                    </a:p>
                    <a:p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 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width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=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b="1" i="1" dirty="0" err="1">
                          <a:solidFill>
                            <a:srgbClr val="0070C0"/>
                          </a:solidFill>
                        </a:rPr>
                        <a:t>num</a:t>
                      </a:r>
                      <a:r>
                        <a:rPr lang="en-US" sz="1600" i="1" dirty="0" err="1">
                          <a:solidFill>
                            <a:srgbClr val="0070C0"/>
                          </a:solidFill>
                        </a:rPr>
                        <a:t>.val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 *C</a:t>
                      </a:r>
                      <a:r>
                        <a:rPr lang="en-US" sz="1600" i="1" baseline="-25000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.</a:t>
                      </a:r>
                      <a:r>
                        <a:rPr lang="en-US" sz="1600" i="1" dirty="0">
                          <a:solidFill>
                            <a:srgbClr val="0070C0"/>
                          </a:solidFill>
                        </a:rPr>
                        <a:t>width </a:t>
                      </a:r>
                      <a:r>
                        <a:rPr lang="en-US" sz="1600" i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59B7DD-C579-06A2-22A5-0DA4CF9214A0}"/>
              </a:ext>
            </a:extLst>
          </p:cNvPr>
          <p:cNvCxnSpPr/>
          <p:nvPr/>
        </p:nvCxnSpPr>
        <p:spPr>
          <a:xfrm flipH="1" flipV="1">
            <a:off x="6783831" y="5356935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F578B6-3E99-DDD3-866B-4119385868E0}"/>
              </a:ext>
            </a:extLst>
          </p:cNvPr>
          <p:cNvCxnSpPr/>
          <p:nvPr/>
        </p:nvCxnSpPr>
        <p:spPr>
          <a:xfrm flipH="1" flipV="1">
            <a:off x="5600917" y="4377223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C77ED92-73A8-610A-E4F4-F3F011D59520}"/>
              </a:ext>
            </a:extLst>
          </p:cNvPr>
          <p:cNvCxnSpPr/>
          <p:nvPr/>
        </p:nvCxnSpPr>
        <p:spPr>
          <a:xfrm flipH="1" flipV="1">
            <a:off x="4149487" y="3419278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0FC4ADF-E010-F253-7DAA-E2D59C620859}"/>
              </a:ext>
            </a:extLst>
          </p:cNvPr>
          <p:cNvSpPr/>
          <p:nvPr/>
        </p:nvSpPr>
        <p:spPr>
          <a:xfrm>
            <a:off x="2174232" y="857908"/>
            <a:ext cx="4191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1504C0-EC0B-2C87-9FCC-E4A94816B434}"/>
              </a:ext>
            </a:extLst>
          </p:cNvPr>
          <p:cNvSpPr/>
          <p:nvPr/>
        </p:nvSpPr>
        <p:spPr>
          <a:xfrm>
            <a:off x="2224892" y="1674651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99A9FC-6788-4AFB-D182-F7A82DEA3367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 flipH="1">
            <a:off x="2364592" y="1238908"/>
            <a:ext cx="19190" cy="4357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A7409DA-4EF6-6D4C-4ED0-114F761DA18B}"/>
              </a:ext>
            </a:extLst>
          </p:cNvPr>
          <p:cNvSpPr/>
          <p:nvPr/>
        </p:nvSpPr>
        <p:spPr>
          <a:xfrm>
            <a:off x="3093149" y="2266846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5F47F2-BF7F-88FA-1559-7E8B5463FE5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2332939" y="2055651"/>
            <a:ext cx="31653" cy="943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528A74-FE39-4A44-382E-F89DD175ADB4}"/>
              </a:ext>
            </a:extLst>
          </p:cNvPr>
          <p:cNvCxnSpPr>
            <a:cxnSpLocks/>
            <a:stCxn id="4" idx="5"/>
            <a:endCxn id="19" idx="1"/>
          </p:cNvCxnSpPr>
          <p:nvPr/>
        </p:nvCxnSpPr>
        <p:spPr>
          <a:xfrm>
            <a:off x="2463375" y="1999855"/>
            <a:ext cx="722133" cy="343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72FF728-78A4-D4B1-4551-A076E4148058}"/>
              </a:ext>
            </a:extLst>
          </p:cNvPr>
          <p:cNvSpPr txBox="1"/>
          <p:nvPr/>
        </p:nvSpPr>
        <p:spPr>
          <a:xfrm>
            <a:off x="2572370" y="1374889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 err="1">
                <a:solidFill>
                  <a:srgbClr val="0070C0"/>
                </a:solidFill>
              </a:rPr>
              <a:t>top.put</a:t>
            </a:r>
            <a:r>
              <a:rPr lang="en-US" sz="1800" i="1" dirty="0">
                <a:solidFill>
                  <a:srgbClr val="0070C0"/>
                </a:solidFill>
              </a:rPr>
              <a:t>(</a:t>
            </a:r>
            <a:r>
              <a:rPr lang="en-US" sz="1800" b="1" i="0" dirty="0" err="1">
                <a:solidFill>
                  <a:srgbClr val="0070C0"/>
                </a:solidFill>
              </a:rPr>
              <a:t>id</a:t>
            </a:r>
            <a:r>
              <a:rPr lang="en-US" sz="1800" i="1" dirty="0" err="1">
                <a:solidFill>
                  <a:srgbClr val="0070C0"/>
                </a:solidFill>
              </a:rPr>
              <a:t>.lexeme</a:t>
            </a:r>
            <a:r>
              <a:rPr lang="en-US" sz="1800" i="1" dirty="0">
                <a:solidFill>
                  <a:srgbClr val="0070C0"/>
                </a:solidFill>
              </a:rPr>
              <a:t>, </a:t>
            </a:r>
            <a:r>
              <a:rPr lang="en-US" sz="1800" i="1" dirty="0" err="1">
                <a:solidFill>
                  <a:srgbClr val="0070C0"/>
                </a:solidFill>
              </a:rPr>
              <a:t>T</a:t>
            </a:r>
            <a:r>
              <a:rPr lang="en-US" sz="1800" dirty="0" err="1">
                <a:solidFill>
                  <a:srgbClr val="0070C0"/>
                </a:solidFill>
              </a:rPr>
              <a:t>.</a:t>
            </a:r>
            <a:r>
              <a:rPr lang="en-US" sz="1800" i="1" dirty="0" err="1">
                <a:solidFill>
                  <a:srgbClr val="0070C0"/>
                </a:solidFill>
              </a:rPr>
              <a:t>type</a:t>
            </a:r>
            <a:r>
              <a:rPr lang="en-US" sz="1800" i="1" dirty="0">
                <a:solidFill>
                  <a:srgbClr val="0070C0"/>
                </a:solidFill>
              </a:rPr>
              <a:t>, offset;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>
                <a:solidFill>
                  <a:srgbClr val="0070C0"/>
                </a:solidFill>
              </a:rPr>
              <a:t>offset = offset + </a:t>
            </a:r>
            <a:r>
              <a:rPr lang="en-US" sz="1800" i="1" dirty="0" err="1">
                <a:solidFill>
                  <a:srgbClr val="0070C0"/>
                </a:solidFill>
              </a:rPr>
              <a:t>T.width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5CEC6-D276-90E4-024E-91AB040A188D}"/>
              </a:ext>
            </a:extLst>
          </p:cNvPr>
          <p:cNvSpPr txBox="1"/>
          <p:nvPr/>
        </p:nvSpPr>
        <p:spPr>
          <a:xfrm>
            <a:off x="2593332" y="2124893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1757B-3FA0-739C-7AF8-56BD41B39F4B}"/>
              </a:ext>
            </a:extLst>
          </p:cNvPr>
          <p:cNvSpPr txBox="1"/>
          <p:nvPr/>
        </p:nvSpPr>
        <p:spPr>
          <a:xfrm flipH="1">
            <a:off x="8867144" y="5065620"/>
            <a:ext cx="3058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Type expression for int[2][3]</a:t>
            </a:r>
          </a:p>
        </p:txBody>
      </p:sp>
    </p:spTree>
    <p:extLst>
      <p:ext uri="{BB962C8B-B14F-4D97-AF65-F5344CB8AC3E}">
        <p14:creationId xmlns:p14="http://schemas.microsoft.com/office/powerpoint/2010/main" val="79721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95" grpId="0"/>
      <p:bldP spid="26" grpId="0" animBg="1"/>
      <p:bldP spid="5" grpId="0"/>
      <p:bldP spid="7" grpId="0"/>
      <p:bldP spid="8" grpId="0"/>
      <p:bldP spid="9" grpId="0"/>
      <p:bldP spid="13" grpId="0"/>
      <p:bldP spid="15" grpId="0"/>
      <p:bldP spid="17" grpId="0"/>
      <p:bldP spid="51" grpId="0"/>
      <p:bldP spid="53" grpId="0"/>
      <p:bldP spid="63" grpId="0"/>
      <p:bldP spid="67" grpId="0"/>
      <p:bldP spid="68" grpId="0"/>
      <p:bldP spid="75" grpId="0"/>
      <p:bldP spid="78" grpId="0"/>
      <p:bldP spid="93" grpId="0"/>
      <p:bldP spid="94" grpId="0"/>
      <p:bldP spid="101" grpId="0"/>
      <p:bldP spid="102" grpId="0"/>
      <p:bldP spid="103" grpId="0"/>
      <p:bldP spid="42" grpId="0"/>
      <p:bldP spid="2" grpId="0"/>
      <p:bldP spid="4" grpId="0"/>
      <p:bldP spid="19" grpId="0"/>
      <p:bldP spid="30" grpId="0"/>
      <p:bldP spid="31" grpId="0"/>
      <p:bldP spid="3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E4DB40E-F24C-E44C-EB4F-D23E2A0A60F5}"/>
              </a:ext>
            </a:extLst>
          </p:cNvPr>
          <p:cNvSpPr txBox="1"/>
          <p:nvPr/>
        </p:nvSpPr>
        <p:spPr>
          <a:xfrm>
            <a:off x="744075" y="2650288"/>
            <a:ext cx="191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type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width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F7B3C6-00DE-1D46-F75F-27CE93A50172}"/>
              </a:ext>
            </a:extLst>
          </p:cNvPr>
          <p:cNvSpPr txBox="1"/>
          <p:nvPr/>
        </p:nvSpPr>
        <p:spPr>
          <a:xfrm>
            <a:off x="148990" y="3925517"/>
            <a:ext cx="137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int</a:t>
            </a:r>
          </a:p>
          <a:p>
            <a:pPr algn="r"/>
            <a:r>
              <a:rPr lang="en-US" dirty="0" err="1">
                <a:solidFill>
                  <a:srgbClr val="0070C0"/>
                </a:solidFill>
              </a:rPr>
              <a:t>B.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4</a:t>
            </a:r>
            <a:endParaRPr lang="en-US" b="1" i="1" dirty="0">
              <a:solidFill>
                <a:srgbClr val="0070C0"/>
              </a:solidFill>
            </a:endParaRPr>
          </a:p>
          <a:p>
            <a:pPr algn="r"/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379A6CE-8B87-0AEA-BF58-73BFE05C230A}"/>
              </a:ext>
            </a:extLst>
          </p:cNvPr>
          <p:cNvSpPr/>
          <p:nvPr/>
        </p:nvSpPr>
        <p:spPr>
          <a:xfrm>
            <a:off x="421492" y="3509991"/>
            <a:ext cx="3085976" cy="415862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10862-18AE-BC89-E99B-DAC84D9A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7542" y="6509315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14AAA0-BD6E-5BED-B2B7-9676621BC470}"/>
              </a:ext>
            </a:extLst>
          </p:cNvPr>
          <p:cNvSpPr/>
          <p:nvPr/>
        </p:nvSpPr>
        <p:spPr>
          <a:xfrm>
            <a:off x="2142439" y="299877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5D15A6-B36E-7993-2CDA-D1334A28E466}"/>
              </a:ext>
            </a:extLst>
          </p:cNvPr>
          <p:cNvSpPr/>
          <p:nvPr/>
        </p:nvSpPr>
        <p:spPr>
          <a:xfrm>
            <a:off x="142092" y="3800990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B3F4E-C682-D58C-6E0D-549D6A9F8443}"/>
              </a:ext>
            </a:extLst>
          </p:cNvPr>
          <p:cNvSpPr/>
          <p:nvPr/>
        </p:nvSpPr>
        <p:spPr>
          <a:xfrm>
            <a:off x="-259710" y="4815357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7BB4D-B8C8-61C4-BB8D-63D2F6464569}"/>
              </a:ext>
            </a:extLst>
          </p:cNvPr>
          <p:cNvCxnSpPr>
            <a:cxnSpLocks/>
          </p:cNvCxnSpPr>
          <p:nvPr/>
        </p:nvCxnSpPr>
        <p:spPr>
          <a:xfrm flipH="1">
            <a:off x="281792" y="3316590"/>
            <a:ext cx="1911809" cy="48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129F8F-D0E9-B879-C98D-E2E0880F8B23}"/>
              </a:ext>
            </a:extLst>
          </p:cNvPr>
          <p:cNvCxnSpPr>
            <a:cxnSpLocks/>
          </p:cNvCxnSpPr>
          <p:nvPr/>
        </p:nvCxnSpPr>
        <p:spPr>
          <a:xfrm flipV="1">
            <a:off x="256964" y="4178623"/>
            <a:ext cx="24828" cy="636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7E3E52-6ACE-287F-2112-1F46B1ACF188}"/>
              </a:ext>
            </a:extLst>
          </p:cNvPr>
          <p:cNvSpPr txBox="1"/>
          <p:nvPr/>
        </p:nvSpPr>
        <p:spPr>
          <a:xfrm>
            <a:off x="669041" y="236546"/>
            <a:ext cx="393743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Annotated Parse tree for </a:t>
            </a:r>
            <a:r>
              <a:rPr lang="en-US" altLang="en-US" sz="2000" b="1" dirty="0">
                <a:latin typeface="Candara" panose="020E0502030303020204" pitchFamily="34" charset="0"/>
              </a:rPr>
              <a:t>int [2][3] 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82AFDA-D2E8-31E0-77BD-75C4EC53471B}"/>
              </a:ext>
            </a:extLst>
          </p:cNvPr>
          <p:cNvSpPr/>
          <p:nvPr/>
        </p:nvSpPr>
        <p:spPr>
          <a:xfrm>
            <a:off x="3379243" y="3727263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ABDC42-7C28-DE1F-5392-9FD62ED9F8C2}"/>
              </a:ext>
            </a:extLst>
          </p:cNvPr>
          <p:cNvCxnSpPr>
            <a:cxnSpLocks/>
          </p:cNvCxnSpPr>
          <p:nvPr/>
        </p:nvCxnSpPr>
        <p:spPr>
          <a:xfrm>
            <a:off x="2462561" y="3310286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423CCF-8CF8-F154-2CCE-CCE7CA644A43}"/>
              </a:ext>
            </a:extLst>
          </p:cNvPr>
          <p:cNvSpPr/>
          <p:nvPr/>
        </p:nvSpPr>
        <p:spPr>
          <a:xfrm>
            <a:off x="4677792" y="4746037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8DCA-DD5F-7C96-264D-3824F786A65E}"/>
              </a:ext>
            </a:extLst>
          </p:cNvPr>
          <p:cNvCxnSpPr>
            <a:cxnSpLocks/>
          </p:cNvCxnSpPr>
          <p:nvPr/>
        </p:nvCxnSpPr>
        <p:spPr>
          <a:xfrm>
            <a:off x="3713240" y="4237677"/>
            <a:ext cx="1286038" cy="508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8D534EF-92D7-6C39-F47A-AB852369452B}"/>
              </a:ext>
            </a:extLst>
          </p:cNvPr>
          <p:cNvSpPr/>
          <p:nvPr/>
        </p:nvSpPr>
        <p:spPr>
          <a:xfrm>
            <a:off x="537388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6820CD-FED1-7DA9-6250-78D8465E2FB2}"/>
              </a:ext>
            </a:extLst>
          </p:cNvPr>
          <p:cNvCxnSpPr>
            <a:cxnSpLocks/>
          </p:cNvCxnSpPr>
          <p:nvPr/>
        </p:nvCxnSpPr>
        <p:spPr>
          <a:xfrm flipH="1">
            <a:off x="1228931" y="4248983"/>
            <a:ext cx="2494882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4B4FF2-7803-7C1A-FF3D-08021DB14F36}"/>
              </a:ext>
            </a:extLst>
          </p:cNvPr>
          <p:cNvCxnSpPr>
            <a:cxnSpLocks/>
          </p:cNvCxnSpPr>
          <p:nvPr/>
        </p:nvCxnSpPr>
        <p:spPr>
          <a:xfrm flipV="1">
            <a:off x="2310247" y="4248983"/>
            <a:ext cx="1413566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74820C-3E8E-E43D-85EC-0ACE9654EBEF}"/>
              </a:ext>
            </a:extLst>
          </p:cNvPr>
          <p:cNvCxnSpPr>
            <a:cxnSpLocks/>
          </p:cNvCxnSpPr>
          <p:nvPr/>
        </p:nvCxnSpPr>
        <p:spPr>
          <a:xfrm flipV="1">
            <a:off x="3311738" y="4248983"/>
            <a:ext cx="412075" cy="57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E5FE7FD-5FDB-E1D8-6FB5-2C1022C1FCB7}"/>
              </a:ext>
            </a:extLst>
          </p:cNvPr>
          <p:cNvSpPr/>
          <p:nvPr/>
        </p:nvSpPr>
        <p:spPr>
          <a:xfrm>
            <a:off x="1618704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71BB2F-9FE3-BD6A-573A-CAA9A60DE4AC}"/>
              </a:ext>
            </a:extLst>
          </p:cNvPr>
          <p:cNvSpPr/>
          <p:nvPr/>
        </p:nvSpPr>
        <p:spPr>
          <a:xfrm>
            <a:off x="2620195" y="4824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D01B0C-A661-FC5B-B757-BE093C8B55FA}"/>
              </a:ext>
            </a:extLst>
          </p:cNvPr>
          <p:cNvSpPr/>
          <p:nvPr/>
        </p:nvSpPr>
        <p:spPr>
          <a:xfrm>
            <a:off x="1502385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CF7C9B-99E0-295D-3490-13CFE09A106A}"/>
              </a:ext>
            </a:extLst>
          </p:cNvPr>
          <p:cNvCxnSpPr>
            <a:cxnSpLocks/>
          </p:cNvCxnSpPr>
          <p:nvPr/>
        </p:nvCxnSpPr>
        <p:spPr>
          <a:xfrm flipH="1">
            <a:off x="2193928" y="5154544"/>
            <a:ext cx="2776112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D6906D-DCFF-8F73-8466-12DFA744CE61}"/>
              </a:ext>
            </a:extLst>
          </p:cNvPr>
          <p:cNvCxnSpPr>
            <a:cxnSpLocks/>
          </p:cNvCxnSpPr>
          <p:nvPr/>
        </p:nvCxnSpPr>
        <p:spPr>
          <a:xfrm flipV="1">
            <a:off x="3376842" y="5154544"/>
            <a:ext cx="1593198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4DA7EE3-6658-B9B4-61BC-D7E9ECA5C0AA}"/>
              </a:ext>
            </a:extLst>
          </p:cNvPr>
          <p:cNvCxnSpPr>
            <a:cxnSpLocks/>
          </p:cNvCxnSpPr>
          <p:nvPr/>
        </p:nvCxnSpPr>
        <p:spPr>
          <a:xfrm flipV="1">
            <a:off x="4537987" y="5154544"/>
            <a:ext cx="432053" cy="567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9AD717-A452-60D1-36A7-DEBF5EB11F40}"/>
              </a:ext>
            </a:extLst>
          </p:cNvPr>
          <p:cNvSpPr/>
          <p:nvPr/>
        </p:nvSpPr>
        <p:spPr>
          <a:xfrm>
            <a:off x="2685299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E8B92A2-D0FE-C356-F172-66CB02E79262}"/>
              </a:ext>
            </a:extLst>
          </p:cNvPr>
          <p:cNvSpPr/>
          <p:nvPr/>
        </p:nvSpPr>
        <p:spPr>
          <a:xfrm>
            <a:off x="3846444" y="572172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1C577CE-6C64-0640-4CFE-40FABD66DA96}"/>
              </a:ext>
            </a:extLst>
          </p:cNvPr>
          <p:cNvSpPr/>
          <p:nvPr/>
        </p:nvSpPr>
        <p:spPr>
          <a:xfrm>
            <a:off x="6092935" y="583494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3CA4AF-7634-2B80-DF70-9C556B2ACA98}"/>
              </a:ext>
            </a:extLst>
          </p:cNvPr>
          <p:cNvCxnSpPr>
            <a:cxnSpLocks/>
          </p:cNvCxnSpPr>
          <p:nvPr/>
        </p:nvCxnSpPr>
        <p:spPr>
          <a:xfrm>
            <a:off x="4970040" y="5154544"/>
            <a:ext cx="1415143" cy="680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E6DAC52-FC5E-7946-0E23-5A79C48BB54A}"/>
              </a:ext>
            </a:extLst>
          </p:cNvPr>
          <p:cNvSpPr/>
          <p:nvPr/>
        </p:nvSpPr>
        <p:spPr>
          <a:xfrm>
            <a:off x="5872581" y="6374485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11E2EE4-C4DB-D0D4-D8CA-D78198E3D990}"/>
              </a:ext>
            </a:extLst>
          </p:cNvPr>
          <p:cNvCxnSpPr>
            <a:cxnSpLocks/>
          </p:cNvCxnSpPr>
          <p:nvPr/>
        </p:nvCxnSpPr>
        <p:spPr>
          <a:xfrm flipH="1" flipV="1">
            <a:off x="6385183" y="6243447"/>
            <a:ext cx="4072" cy="24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BE77DC-2DED-EB00-E010-1E8DBAD0196D}"/>
              </a:ext>
            </a:extLst>
          </p:cNvPr>
          <p:cNvSpPr txBox="1"/>
          <p:nvPr/>
        </p:nvSpPr>
        <p:spPr>
          <a:xfrm>
            <a:off x="1673941" y="5168082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2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E0AFDE-43F6-A65A-3471-E5E3CAA8F407}"/>
              </a:ext>
            </a:extLst>
          </p:cNvPr>
          <p:cNvSpPr txBox="1"/>
          <p:nvPr/>
        </p:nvSpPr>
        <p:spPr>
          <a:xfrm>
            <a:off x="2755255" y="6062456"/>
            <a:ext cx="125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srgbClr val="0070C0"/>
                </a:solidFill>
              </a:rPr>
              <a:t>num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592B77-7D49-A5B4-EF31-E3334875963D}"/>
              </a:ext>
            </a:extLst>
          </p:cNvPr>
          <p:cNvSpPr txBox="1"/>
          <p:nvPr/>
        </p:nvSpPr>
        <p:spPr>
          <a:xfrm>
            <a:off x="5244327" y="4618829"/>
            <a:ext cx="460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array(3,int)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3*4=12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F2585B2-6D53-2EDF-FE6C-D66AC19D62BD}"/>
              </a:ext>
            </a:extLst>
          </p:cNvPr>
          <p:cNvSpPr txBox="1"/>
          <p:nvPr/>
        </p:nvSpPr>
        <p:spPr>
          <a:xfrm>
            <a:off x="3893170" y="3668144"/>
            <a:ext cx="544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array(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, 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num</a:t>
            </a:r>
            <a:r>
              <a:rPr lang="en-US" i="1" dirty="0" err="1">
                <a:solidFill>
                  <a:srgbClr val="0070C0"/>
                </a:solidFill>
              </a:rPr>
              <a:t>.val</a:t>
            </a:r>
            <a:r>
              <a:rPr lang="en-US" i="1" dirty="0">
                <a:solidFill>
                  <a:srgbClr val="0070C0"/>
                </a:solidFill>
              </a:rPr>
              <a:t> *C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2*12=24 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AF4A25-8F1C-D99E-C806-B6E5AA655CF6}"/>
              </a:ext>
            </a:extLst>
          </p:cNvPr>
          <p:cNvSpPr txBox="1"/>
          <p:nvPr/>
        </p:nvSpPr>
        <p:spPr>
          <a:xfrm>
            <a:off x="2608654" y="2673918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type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array(2, array(3,int))</a:t>
            </a:r>
            <a:endParaRPr lang="en-US" i="1" dirty="0">
              <a:solidFill>
                <a:srgbClr val="0070C0"/>
              </a:solidFill>
            </a:endParaRPr>
          </a:p>
          <a:p>
            <a:r>
              <a:rPr lang="en-US" i="1" dirty="0" err="1">
                <a:solidFill>
                  <a:srgbClr val="0070C0"/>
                </a:solidFill>
              </a:rPr>
              <a:t>T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C</a:t>
            </a:r>
            <a:r>
              <a:rPr lang="en-US" dirty="0" err="1">
                <a:solidFill>
                  <a:srgbClr val="0070C0"/>
                </a:solidFill>
              </a:rPr>
              <a:t>.</a:t>
            </a:r>
            <a:r>
              <a:rPr lang="en-US" i="1" dirty="0" err="1">
                <a:solidFill>
                  <a:srgbClr val="0070C0"/>
                </a:solidFill>
              </a:rPr>
              <a:t>width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 24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E45173-E37F-26E7-1137-DE19E13B8A7D}"/>
              </a:ext>
            </a:extLst>
          </p:cNvPr>
          <p:cNvSpPr txBox="1"/>
          <p:nvPr/>
        </p:nvSpPr>
        <p:spPr>
          <a:xfrm>
            <a:off x="6633086" y="5709275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type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int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i="1" dirty="0">
                <a:solidFill>
                  <a:srgbClr val="0070C0"/>
                </a:solidFill>
              </a:rPr>
              <a:t>C</a:t>
            </a:r>
            <a:r>
              <a:rPr lang="en-US" i="1" baseline="-25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width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w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4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59B7DD-C579-06A2-22A5-0DA4CF9214A0}"/>
              </a:ext>
            </a:extLst>
          </p:cNvPr>
          <p:cNvCxnSpPr/>
          <p:nvPr/>
        </p:nvCxnSpPr>
        <p:spPr>
          <a:xfrm flipH="1" flipV="1">
            <a:off x="6783831" y="5356935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F578B6-3E99-DDD3-866B-4119385868E0}"/>
              </a:ext>
            </a:extLst>
          </p:cNvPr>
          <p:cNvCxnSpPr/>
          <p:nvPr/>
        </p:nvCxnSpPr>
        <p:spPr>
          <a:xfrm flipH="1" flipV="1">
            <a:off x="5600917" y="4377223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C77ED92-73A8-610A-E4F4-F3F011D59520}"/>
              </a:ext>
            </a:extLst>
          </p:cNvPr>
          <p:cNvCxnSpPr/>
          <p:nvPr/>
        </p:nvCxnSpPr>
        <p:spPr>
          <a:xfrm flipH="1" flipV="1">
            <a:off x="4149487" y="3419278"/>
            <a:ext cx="419100" cy="238542"/>
          </a:xfrm>
          <a:prstGeom prst="straightConnector1">
            <a:avLst/>
          </a:prstGeom>
          <a:ln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0FC4ADF-E010-F253-7DAA-E2D59C620859}"/>
              </a:ext>
            </a:extLst>
          </p:cNvPr>
          <p:cNvSpPr/>
          <p:nvPr/>
        </p:nvSpPr>
        <p:spPr>
          <a:xfrm>
            <a:off x="2174232" y="857908"/>
            <a:ext cx="4191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1504C0-EC0B-2C87-9FCC-E4A94816B434}"/>
              </a:ext>
            </a:extLst>
          </p:cNvPr>
          <p:cNvSpPr/>
          <p:nvPr/>
        </p:nvSpPr>
        <p:spPr>
          <a:xfrm>
            <a:off x="2224892" y="1674651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99A9FC-6788-4AFB-D182-F7A82DEA3367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 flipH="1">
            <a:off x="2364592" y="1238908"/>
            <a:ext cx="19190" cy="4357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A7409DA-4EF6-6D4C-4ED0-114F761DA18B}"/>
              </a:ext>
            </a:extLst>
          </p:cNvPr>
          <p:cNvSpPr/>
          <p:nvPr/>
        </p:nvSpPr>
        <p:spPr>
          <a:xfrm>
            <a:off x="3093149" y="2266846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5F47F2-BF7F-88FA-1559-7E8B5463FE5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2332939" y="2055651"/>
            <a:ext cx="31653" cy="943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528A74-FE39-4A44-382E-F89DD175ADB4}"/>
              </a:ext>
            </a:extLst>
          </p:cNvPr>
          <p:cNvCxnSpPr>
            <a:cxnSpLocks/>
            <a:stCxn id="4" idx="5"/>
            <a:endCxn id="19" idx="1"/>
          </p:cNvCxnSpPr>
          <p:nvPr/>
        </p:nvCxnSpPr>
        <p:spPr>
          <a:xfrm>
            <a:off x="2463375" y="1999855"/>
            <a:ext cx="722133" cy="343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72FF728-78A4-D4B1-4551-A076E4148058}"/>
              </a:ext>
            </a:extLst>
          </p:cNvPr>
          <p:cNvSpPr txBox="1"/>
          <p:nvPr/>
        </p:nvSpPr>
        <p:spPr>
          <a:xfrm>
            <a:off x="2572370" y="1374889"/>
            <a:ext cx="497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 err="1">
                <a:solidFill>
                  <a:srgbClr val="0070C0"/>
                </a:solidFill>
              </a:rPr>
              <a:t>top.put</a:t>
            </a:r>
            <a:r>
              <a:rPr lang="en-US" sz="1800" i="1" dirty="0">
                <a:solidFill>
                  <a:srgbClr val="0070C0"/>
                </a:solidFill>
              </a:rPr>
              <a:t>(</a:t>
            </a:r>
            <a:r>
              <a:rPr lang="en-US" sz="1800" b="1" i="0" dirty="0" err="1">
                <a:solidFill>
                  <a:srgbClr val="0070C0"/>
                </a:solidFill>
              </a:rPr>
              <a:t>id</a:t>
            </a:r>
            <a:r>
              <a:rPr lang="en-US" sz="1800" i="1" dirty="0" err="1">
                <a:solidFill>
                  <a:srgbClr val="0070C0"/>
                </a:solidFill>
              </a:rPr>
              <a:t>.lexeme</a:t>
            </a:r>
            <a:r>
              <a:rPr lang="en-US" sz="1800" i="1" dirty="0">
                <a:solidFill>
                  <a:srgbClr val="0070C0"/>
                </a:solidFill>
              </a:rPr>
              <a:t>, </a:t>
            </a:r>
            <a:r>
              <a:rPr lang="en-US" sz="1800" i="1" dirty="0" err="1">
                <a:solidFill>
                  <a:srgbClr val="0070C0"/>
                </a:solidFill>
              </a:rPr>
              <a:t>T</a:t>
            </a:r>
            <a:r>
              <a:rPr lang="en-US" sz="1800" dirty="0" err="1">
                <a:solidFill>
                  <a:srgbClr val="0070C0"/>
                </a:solidFill>
              </a:rPr>
              <a:t>.</a:t>
            </a:r>
            <a:r>
              <a:rPr lang="en-US" sz="1800" i="1" dirty="0" err="1">
                <a:solidFill>
                  <a:srgbClr val="0070C0"/>
                </a:solidFill>
              </a:rPr>
              <a:t>type</a:t>
            </a:r>
            <a:r>
              <a:rPr lang="en-US" sz="1800" i="1" dirty="0">
                <a:solidFill>
                  <a:srgbClr val="0070C0"/>
                </a:solidFill>
              </a:rPr>
              <a:t>, offset;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>
                <a:solidFill>
                  <a:srgbClr val="0070C0"/>
                </a:solidFill>
              </a:rPr>
              <a:t>offset = offset + </a:t>
            </a:r>
            <a:r>
              <a:rPr lang="en-US" sz="1800" i="1" dirty="0" err="1">
                <a:solidFill>
                  <a:srgbClr val="0070C0"/>
                </a:solidFill>
              </a:rPr>
              <a:t>T.width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5CEC6-D276-90E4-024E-91AB040A188D}"/>
              </a:ext>
            </a:extLst>
          </p:cNvPr>
          <p:cNvSpPr txBox="1"/>
          <p:nvPr/>
        </p:nvSpPr>
        <p:spPr>
          <a:xfrm>
            <a:off x="2593332" y="2124893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graphicFrame>
        <p:nvGraphicFramePr>
          <p:cNvPr id="3" name="Table 20">
            <a:extLst>
              <a:ext uri="{FF2B5EF4-FFF2-40B4-BE49-F238E27FC236}">
                <a16:creationId xmlns:a16="http://schemas.microsoft.com/office/drawing/2014/main" id="{6F00D7EE-5870-3104-EF6F-6BF47B2D4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27088"/>
              </p:ext>
            </p:extLst>
          </p:nvPr>
        </p:nvGraphicFramePr>
        <p:xfrm>
          <a:off x="7567874" y="886018"/>
          <a:ext cx="1413431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33177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Symbol 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7C2F2C0-4CCA-34BE-E8A0-CF0849C66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412616"/>
              </p:ext>
            </p:extLst>
          </p:nvPr>
        </p:nvGraphicFramePr>
        <p:xfrm>
          <a:off x="10096402" y="1900578"/>
          <a:ext cx="141343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Elem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1582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FB58C5F-23B9-F848-86C8-0456E2528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93537"/>
              </p:ext>
            </p:extLst>
          </p:nvPr>
        </p:nvGraphicFramePr>
        <p:xfrm>
          <a:off x="10117813" y="3766820"/>
          <a:ext cx="141343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Elem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1582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BF398C3-C99D-FB3F-1353-F11E767FC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750715"/>
              </p:ext>
            </p:extLst>
          </p:nvPr>
        </p:nvGraphicFramePr>
        <p:xfrm>
          <a:off x="10117814" y="5516388"/>
          <a:ext cx="141343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E3D0CB-A1C6-5F88-3EAB-ACFBD3692105}"/>
              </a:ext>
            </a:extLst>
          </p:cNvPr>
          <p:cNvCxnSpPr/>
          <p:nvPr/>
        </p:nvCxnSpPr>
        <p:spPr>
          <a:xfrm flipV="1">
            <a:off x="8737600" y="5721727"/>
            <a:ext cx="1233714" cy="26086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7B1408-46C8-6659-B113-B157E88AD65A}"/>
              </a:ext>
            </a:extLst>
          </p:cNvPr>
          <p:cNvCxnSpPr>
            <a:cxnSpLocks/>
          </p:cNvCxnSpPr>
          <p:nvPr/>
        </p:nvCxnSpPr>
        <p:spPr>
          <a:xfrm flipV="1">
            <a:off x="8731908" y="4016300"/>
            <a:ext cx="1232146" cy="5206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7FA462-1EFD-C536-A89C-EA0596990EC9}"/>
              </a:ext>
            </a:extLst>
          </p:cNvPr>
          <p:cNvCxnSpPr>
            <a:cxnSpLocks/>
          </p:cNvCxnSpPr>
          <p:nvPr/>
        </p:nvCxnSpPr>
        <p:spPr>
          <a:xfrm flipV="1">
            <a:off x="8389961" y="2343250"/>
            <a:ext cx="1587907" cy="120819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17AB8BA-267C-6201-D8B9-7950422F0034}"/>
              </a:ext>
            </a:extLst>
          </p:cNvPr>
          <p:cNvCxnSpPr/>
          <p:nvPr/>
        </p:nvCxnSpPr>
        <p:spPr>
          <a:xfrm>
            <a:off x="11219543" y="3311133"/>
            <a:ext cx="0" cy="4306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30A830-BCEC-B5CC-CB2D-119A2612419E}"/>
              </a:ext>
            </a:extLst>
          </p:cNvPr>
          <p:cNvCxnSpPr/>
          <p:nvPr/>
        </p:nvCxnSpPr>
        <p:spPr>
          <a:xfrm>
            <a:off x="11197772" y="5074625"/>
            <a:ext cx="0" cy="4306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881F8E-E84A-573A-67DF-F32524780A39}"/>
              </a:ext>
            </a:extLst>
          </p:cNvPr>
          <p:cNvCxnSpPr>
            <a:cxnSpLocks/>
          </p:cNvCxnSpPr>
          <p:nvPr/>
        </p:nvCxnSpPr>
        <p:spPr>
          <a:xfrm flipV="1">
            <a:off x="8731908" y="2073273"/>
            <a:ext cx="1385905" cy="2211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609D195-9947-B970-F9AF-DD2AE264EDAE}"/>
              </a:ext>
            </a:extLst>
          </p:cNvPr>
          <p:cNvCxnSpPr>
            <a:cxnSpLocks/>
          </p:cNvCxnSpPr>
          <p:nvPr/>
        </p:nvCxnSpPr>
        <p:spPr>
          <a:xfrm flipV="1">
            <a:off x="5810467" y="1113777"/>
            <a:ext cx="1565958" cy="34300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38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E048-7403-B8D6-B1A4-02E98F9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231"/>
            <a:ext cx="4114800" cy="365125"/>
          </a:xfrm>
        </p:spPr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042B7-14A1-8232-5733-B71EF1C1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179" y="651108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819D68-1FEE-5211-A954-71135457E6CA}"/>
              </a:ext>
            </a:extLst>
          </p:cNvPr>
          <p:cNvSpPr txBox="1"/>
          <p:nvPr/>
        </p:nvSpPr>
        <p:spPr>
          <a:xfrm>
            <a:off x="134347" y="46281"/>
            <a:ext cx="576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Translation of array references for 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c+a</a:t>
            </a:r>
            <a:r>
              <a:rPr lang="en-US" sz="2400" dirty="0">
                <a:solidFill>
                  <a:srgbClr val="7030A0"/>
                </a:solidFill>
              </a:rPr>
              <a:t>[i][j]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2464817" y="87302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39773A-95B9-E88F-67D4-99156D7DDBAE}"/>
              </a:ext>
            </a:extLst>
          </p:cNvPr>
          <p:cNvSpPr/>
          <p:nvPr/>
        </p:nvSpPr>
        <p:spPr>
          <a:xfrm>
            <a:off x="464469" y="1776837"/>
            <a:ext cx="655489" cy="46166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265FAB-EB12-8BF5-20DB-05D38958C1CC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792214" y="1198226"/>
            <a:ext cx="1728399" cy="578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AC4477C-5E22-A2AC-E31F-E8E62B1D94B5}"/>
              </a:ext>
            </a:extLst>
          </p:cNvPr>
          <p:cNvSpPr/>
          <p:nvPr/>
        </p:nvSpPr>
        <p:spPr>
          <a:xfrm>
            <a:off x="5545903" y="2472363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595FE7-7A3B-1A04-00B2-E6A3EFF42D86}"/>
              </a:ext>
            </a:extLst>
          </p:cNvPr>
          <p:cNvCxnSpPr>
            <a:cxnSpLocks/>
            <a:stCxn id="55" idx="5"/>
            <a:endCxn id="117" idx="0"/>
          </p:cNvCxnSpPr>
          <p:nvPr/>
        </p:nvCxnSpPr>
        <p:spPr>
          <a:xfrm>
            <a:off x="2790021" y="1198226"/>
            <a:ext cx="1227268" cy="410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9733931C-7C26-7DB4-4776-29F4EFA6C4F9}"/>
              </a:ext>
            </a:extLst>
          </p:cNvPr>
          <p:cNvSpPr/>
          <p:nvPr/>
        </p:nvSpPr>
        <p:spPr>
          <a:xfrm>
            <a:off x="4504610" y="382728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8A393B-962A-A1A3-E71E-5952211CAA71}"/>
              </a:ext>
            </a:extLst>
          </p:cNvPr>
          <p:cNvCxnSpPr>
            <a:cxnSpLocks/>
            <a:stCxn id="60" idx="4"/>
            <a:endCxn id="62" idx="0"/>
          </p:cNvCxnSpPr>
          <p:nvPr/>
        </p:nvCxnSpPr>
        <p:spPr>
          <a:xfrm flipH="1">
            <a:off x="4796858" y="2994083"/>
            <a:ext cx="1064377" cy="833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2630E8F7-EE80-ADFB-8DBD-CC8CBB5DFDD5}"/>
              </a:ext>
            </a:extLst>
          </p:cNvPr>
          <p:cNvSpPr/>
          <p:nvPr/>
        </p:nvSpPr>
        <p:spPr>
          <a:xfrm>
            <a:off x="1955930" y="381679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210058-96B2-992C-2666-D3C0A0D19703}"/>
              </a:ext>
            </a:extLst>
          </p:cNvPr>
          <p:cNvCxnSpPr>
            <a:cxnSpLocks/>
            <a:stCxn id="60" idx="4"/>
            <a:endCxn id="64" idx="0"/>
          </p:cNvCxnSpPr>
          <p:nvPr/>
        </p:nvCxnSpPr>
        <p:spPr>
          <a:xfrm flipH="1">
            <a:off x="2647473" y="2994083"/>
            <a:ext cx="3213762" cy="822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8AB79B8-6AED-2506-8BFB-5E19B802FB10}"/>
              </a:ext>
            </a:extLst>
          </p:cNvPr>
          <p:cNvCxnSpPr>
            <a:cxnSpLocks/>
            <a:stCxn id="70" idx="0"/>
            <a:endCxn id="60" idx="4"/>
          </p:cNvCxnSpPr>
          <p:nvPr/>
        </p:nvCxnSpPr>
        <p:spPr>
          <a:xfrm flipV="1">
            <a:off x="3627198" y="2994083"/>
            <a:ext cx="2234037" cy="822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48F5C7A-452E-DF46-1CC9-FEA0DBD79FFE}"/>
              </a:ext>
            </a:extLst>
          </p:cNvPr>
          <p:cNvSpPr/>
          <p:nvPr/>
        </p:nvSpPr>
        <p:spPr>
          <a:xfrm>
            <a:off x="2935655" y="381679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FE1FFE-6826-49CD-68F3-8A29243711F6}"/>
              </a:ext>
            </a:extLst>
          </p:cNvPr>
          <p:cNvCxnSpPr>
            <a:cxnSpLocks/>
            <a:stCxn id="76" idx="0"/>
            <a:endCxn id="62" idx="4"/>
          </p:cNvCxnSpPr>
          <p:nvPr/>
        </p:nvCxnSpPr>
        <p:spPr>
          <a:xfrm flipH="1" flipV="1">
            <a:off x="4796858" y="4235793"/>
            <a:ext cx="13045" cy="318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A872AF81-D8B9-CCDE-00CF-0E8C2D92F997}"/>
              </a:ext>
            </a:extLst>
          </p:cNvPr>
          <p:cNvSpPr/>
          <p:nvPr/>
        </p:nvSpPr>
        <p:spPr>
          <a:xfrm>
            <a:off x="203634" y="491294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85DC23D-C776-A2CA-818D-5197347F99DA}"/>
              </a:ext>
            </a:extLst>
          </p:cNvPr>
          <p:cNvSpPr/>
          <p:nvPr/>
        </p:nvSpPr>
        <p:spPr>
          <a:xfrm>
            <a:off x="4118360" y="4553917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  <a:stCxn id="55" idx="4"/>
            <a:endCxn id="92" idx="0"/>
          </p:cNvCxnSpPr>
          <p:nvPr/>
        </p:nvCxnSpPr>
        <p:spPr>
          <a:xfrm>
            <a:off x="2655317" y="1254022"/>
            <a:ext cx="22487" cy="413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2380694" y="1667983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B8D6ED-1149-BD26-D112-73595E090766}"/>
              </a:ext>
            </a:extLst>
          </p:cNvPr>
          <p:cNvCxnSpPr>
            <a:cxnSpLocks/>
            <a:stCxn id="75" idx="0"/>
            <a:endCxn id="64" idx="4"/>
          </p:cNvCxnSpPr>
          <p:nvPr/>
        </p:nvCxnSpPr>
        <p:spPr>
          <a:xfrm flipV="1">
            <a:off x="895177" y="4338516"/>
            <a:ext cx="1752296" cy="574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2B9553F-4603-4A33-5B9C-658448BC1915}"/>
              </a:ext>
            </a:extLst>
          </p:cNvPr>
          <p:cNvSpPr/>
          <p:nvPr/>
        </p:nvSpPr>
        <p:spPr>
          <a:xfrm>
            <a:off x="61617" y="2500148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F2FFA3-6B7C-1B96-C537-978D0D7C68E6}"/>
              </a:ext>
            </a:extLst>
          </p:cNvPr>
          <p:cNvSpPr txBox="1"/>
          <p:nvPr/>
        </p:nvSpPr>
        <p:spPr>
          <a:xfrm>
            <a:off x="935844" y="1918357"/>
            <a:ext cx="2931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.addr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c</a:t>
            </a:r>
            <a:r>
              <a:rPr lang="en-US" sz="1600" dirty="0">
                <a:solidFill>
                  <a:srgbClr val="0070C0"/>
                </a:solidFill>
              </a:rPr>
              <a:t> 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7C1755-1FAF-6509-73FD-670F0EE10DBE}"/>
              </a:ext>
            </a:extLst>
          </p:cNvPr>
          <p:cNvCxnSpPr>
            <a:cxnSpLocks/>
            <a:stCxn id="50" idx="0"/>
            <a:endCxn id="60" idx="4"/>
          </p:cNvCxnSpPr>
          <p:nvPr/>
        </p:nvCxnSpPr>
        <p:spPr>
          <a:xfrm flipH="1" flipV="1">
            <a:off x="5861235" y="2994083"/>
            <a:ext cx="461442" cy="675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B409F49-B08D-4338-7624-24E1424EBDF4}"/>
              </a:ext>
            </a:extLst>
          </p:cNvPr>
          <p:cNvSpPr/>
          <p:nvPr/>
        </p:nvSpPr>
        <p:spPr>
          <a:xfrm>
            <a:off x="5631134" y="367007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A72CF4A-7D32-96B8-315E-EC1E0D5D32D7}"/>
              </a:ext>
            </a:extLst>
          </p:cNvPr>
          <p:cNvSpPr/>
          <p:nvPr/>
        </p:nvSpPr>
        <p:spPr>
          <a:xfrm>
            <a:off x="2973356" y="4865058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71D860-EB63-47C9-D295-19DEE715F6BD}"/>
              </a:ext>
            </a:extLst>
          </p:cNvPr>
          <p:cNvCxnSpPr>
            <a:cxnSpLocks/>
            <a:stCxn id="64" idx="4"/>
            <a:endCxn id="57" idx="0"/>
          </p:cNvCxnSpPr>
          <p:nvPr/>
        </p:nvCxnSpPr>
        <p:spPr>
          <a:xfrm>
            <a:off x="2647473" y="4338516"/>
            <a:ext cx="618131" cy="526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2786ADC-4A24-DDA5-979A-7CB286BAA64E}"/>
              </a:ext>
            </a:extLst>
          </p:cNvPr>
          <p:cNvCxnSpPr>
            <a:cxnSpLocks/>
            <a:endCxn id="64" idx="4"/>
          </p:cNvCxnSpPr>
          <p:nvPr/>
        </p:nvCxnSpPr>
        <p:spPr>
          <a:xfrm flipV="1">
            <a:off x="2095944" y="4338516"/>
            <a:ext cx="551529" cy="516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F7975A5B-D433-04CC-9695-761D3EF30355}"/>
              </a:ext>
            </a:extLst>
          </p:cNvPr>
          <p:cNvSpPr/>
          <p:nvPr/>
        </p:nvSpPr>
        <p:spPr>
          <a:xfrm>
            <a:off x="1404401" y="4854568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[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8D76FA3-84D8-AD2D-BC93-655D35DB5922}"/>
              </a:ext>
            </a:extLst>
          </p:cNvPr>
          <p:cNvCxnSpPr>
            <a:cxnSpLocks/>
            <a:endCxn id="57" idx="4"/>
          </p:cNvCxnSpPr>
          <p:nvPr/>
        </p:nvCxnSpPr>
        <p:spPr>
          <a:xfrm flipH="1" flipV="1">
            <a:off x="3265604" y="5273565"/>
            <a:ext cx="13045" cy="318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7D9F6A-9D1A-DBD6-1B09-132E5B709901}"/>
              </a:ext>
            </a:extLst>
          </p:cNvPr>
          <p:cNvCxnSpPr>
            <a:cxnSpLocks/>
            <a:stCxn id="72" idx="0"/>
            <a:endCxn id="64" idx="4"/>
          </p:cNvCxnSpPr>
          <p:nvPr/>
        </p:nvCxnSpPr>
        <p:spPr>
          <a:xfrm flipH="1" flipV="1">
            <a:off x="2647473" y="4338516"/>
            <a:ext cx="1587808" cy="413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D39A0AFA-E3AC-EDE8-F1B1-EE35D602177B}"/>
              </a:ext>
            </a:extLst>
          </p:cNvPr>
          <p:cNvSpPr/>
          <p:nvPr/>
        </p:nvSpPr>
        <p:spPr>
          <a:xfrm>
            <a:off x="3543738" y="4751845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]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FBDA94E-7BE9-B108-CDDA-5A0959CEC18F}"/>
              </a:ext>
            </a:extLst>
          </p:cNvPr>
          <p:cNvSpPr/>
          <p:nvPr/>
        </p:nvSpPr>
        <p:spPr>
          <a:xfrm>
            <a:off x="2616134" y="553363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781484-FC39-6FDD-5E92-36D03FC12A66}"/>
              </a:ext>
            </a:extLst>
          </p:cNvPr>
          <p:cNvGrpSpPr/>
          <p:nvPr/>
        </p:nvGrpSpPr>
        <p:grpSpPr>
          <a:xfrm>
            <a:off x="753160" y="2185917"/>
            <a:ext cx="504682" cy="401307"/>
            <a:chOff x="622534" y="2722953"/>
            <a:chExt cx="504682" cy="401307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200AEA5-A801-A116-B48D-BB3FEC7ED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534" y="2760275"/>
              <a:ext cx="11136" cy="3639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5BCA39-BF6F-107A-F95D-3E324ED3D565}"/>
                </a:ext>
              </a:extLst>
            </p:cNvPr>
            <p:cNvSpPr txBox="1"/>
            <p:nvPr/>
          </p:nvSpPr>
          <p:spPr>
            <a:xfrm>
              <a:off x="701175" y="2722953"/>
              <a:ext cx="426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1A37B1D-9A60-FE4B-5949-898FDD276608}"/>
              </a:ext>
            </a:extLst>
          </p:cNvPr>
          <p:cNvSpPr txBox="1"/>
          <p:nvPr/>
        </p:nvSpPr>
        <p:spPr>
          <a:xfrm>
            <a:off x="3016200" y="5226670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D68DB27-527B-6D54-4C03-707029888BB9}"/>
              </a:ext>
            </a:extLst>
          </p:cNvPr>
          <p:cNvSpPr txBox="1"/>
          <p:nvPr/>
        </p:nvSpPr>
        <p:spPr>
          <a:xfrm>
            <a:off x="4554718" y="4181637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95ACE8-9749-ED76-5EA5-554EE526A2E6}"/>
              </a:ext>
            </a:extLst>
          </p:cNvPr>
          <p:cNvSpPr txBox="1"/>
          <p:nvPr/>
        </p:nvSpPr>
        <p:spPr>
          <a:xfrm>
            <a:off x="1534367" y="4570037"/>
            <a:ext cx="42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2F4EF0D-F8D3-CD75-CEA0-BD206621199A}"/>
              </a:ext>
            </a:extLst>
          </p:cNvPr>
          <p:cNvSpPr/>
          <p:nvPr/>
        </p:nvSpPr>
        <p:spPr>
          <a:xfrm>
            <a:off x="3701957" y="1608770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4FE5DF-27D9-BFC3-9E68-10A9EAC9422F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4223370" y="2073911"/>
            <a:ext cx="1414892" cy="474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A43A445-CAB8-2BBD-545C-A4D6AD9C795E}"/>
              </a:ext>
            </a:extLst>
          </p:cNvPr>
          <p:cNvSpPr txBox="1"/>
          <p:nvPr/>
        </p:nvSpPr>
        <p:spPr>
          <a:xfrm>
            <a:off x="2888018" y="517732"/>
            <a:ext cx="4069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>
                <a:solidFill>
                  <a:srgbClr val="0070C0"/>
                </a:solidFill>
              </a:rPr>
              <a:t>new Temp 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t5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E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‘+’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E</a:t>
            </a:r>
            <a:r>
              <a:rPr lang="en-US" sz="1600" i="1" baseline="-25000" dirty="0">
                <a:solidFill>
                  <a:srgbClr val="0070C0"/>
                </a:solidFill>
              </a:rPr>
              <a:t>2</a:t>
            </a:r>
            <a:r>
              <a:rPr lang="en-US" sz="1600" i="1" dirty="0">
                <a:solidFill>
                  <a:srgbClr val="0070C0"/>
                </a:solidFill>
              </a:rPr>
              <a:t>.addr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t5 = c + t4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C7400B7-A1D9-5049-13F8-393EC771F33D}"/>
              </a:ext>
            </a:extLst>
          </p:cNvPr>
          <p:cNvSpPr txBox="1"/>
          <p:nvPr/>
        </p:nvSpPr>
        <p:spPr>
          <a:xfrm>
            <a:off x="4259617" y="1381333"/>
            <a:ext cx="4779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dirty="0">
                <a:solidFill>
                  <a:srgbClr val="0070C0"/>
                </a:solidFill>
              </a:rPr>
              <a:t>.addr = </a:t>
            </a:r>
            <a:r>
              <a:rPr lang="en-US" sz="1600" i="1" dirty="0">
                <a:solidFill>
                  <a:srgbClr val="0070C0"/>
                </a:solidFill>
              </a:rPr>
              <a:t>new Temp 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t4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(E</a:t>
            </a:r>
            <a:r>
              <a:rPr lang="en-US" sz="1600" baseline="-25000" dirty="0">
                <a:solidFill>
                  <a:srgbClr val="0070C0"/>
                </a:solidFill>
              </a:rPr>
              <a:t>2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 ‘=‘ ||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i="1" dirty="0" err="1">
                <a:solidFill>
                  <a:srgbClr val="0070C0"/>
                </a:solidFill>
              </a:rPr>
              <a:t>L.array.base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‘[‘ || </a:t>
            </a:r>
            <a:r>
              <a:rPr lang="en-US" sz="1600" dirty="0" err="1">
                <a:solidFill>
                  <a:srgbClr val="0070C0"/>
                </a:solidFill>
              </a:rPr>
              <a:t>L.addr</a:t>
            </a:r>
            <a:r>
              <a:rPr lang="en-US" sz="1600" dirty="0">
                <a:solidFill>
                  <a:srgbClr val="0070C0"/>
                </a:solidFill>
              </a:rPr>
              <a:t> || ‘]’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t4 = a [t3]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E7F182C-5C59-82AF-4C15-8D682A2799F8}"/>
              </a:ext>
            </a:extLst>
          </p:cNvPr>
          <p:cNvSpPr txBox="1"/>
          <p:nvPr/>
        </p:nvSpPr>
        <p:spPr>
          <a:xfrm>
            <a:off x="29178" y="2840628"/>
            <a:ext cx="3055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.array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.type = </a:t>
            </a:r>
            <a:r>
              <a:rPr lang="en-US" sz="1600" i="1" dirty="0" err="1">
                <a:solidFill>
                  <a:srgbClr val="0070C0"/>
                </a:solidFill>
              </a:rPr>
              <a:t>L.array.type.elem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</a:t>
            </a:r>
            <a:endParaRPr lang="en-US" sz="1600" i="1" dirty="0">
              <a:solidFill>
                <a:srgbClr val="FF000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</a:t>
            </a:r>
            <a:r>
              <a:rPr lang="en-US" sz="1600" i="1" dirty="0" err="1">
                <a:solidFill>
                  <a:srgbClr val="0070C0"/>
                </a:solidFill>
              </a:rPr>
              <a:t>L.addr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 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‘*</a:t>
            </a:r>
            <a:r>
              <a:rPr lang="en-US" sz="1600" dirty="0">
                <a:solidFill>
                  <a:srgbClr val="0070C0"/>
                </a:solidFill>
              </a:rPr>
              <a:t>‘ || </a:t>
            </a:r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dirty="0">
                <a:solidFill>
                  <a:srgbClr val="0070C0"/>
                </a:solidFill>
              </a:rPr>
              <a:t>.type.width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t1 = i * 12</a:t>
            </a: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C69C047-D84F-CDC9-439F-63CDDBED18A9}"/>
              </a:ext>
            </a:extLst>
          </p:cNvPr>
          <p:cNvSpPr txBox="1"/>
          <p:nvPr/>
        </p:nvSpPr>
        <p:spPr>
          <a:xfrm>
            <a:off x="3642760" y="5191331"/>
            <a:ext cx="2937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i</a:t>
            </a:r>
            <a:r>
              <a:rPr lang="en-US" sz="1600" dirty="0">
                <a:solidFill>
                  <a:srgbClr val="0070C0"/>
                </a:solidFill>
              </a:rPr>
              <a:t>  </a:t>
            </a:r>
            <a:endParaRPr lang="en-US" sz="1600" i="1" dirty="0">
              <a:solidFill>
                <a:srgbClr val="FF0000"/>
              </a:solidFill>
            </a:endParaRPr>
          </a:p>
          <a:p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E5701B9-BC94-5611-EB98-525D7E3607A2}"/>
              </a:ext>
            </a:extLst>
          </p:cNvPr>
          <p:cNvSpPr txBox="1"/>
          <p:nvPr/>
        </p:nvSpPr>
        <p:spPr>
          <a:xfrm>
            <a:off x="5004516" y="4000200"/>
            <a:ext cx="2937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E.addr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 err="1">
                <a:solidFill>
                  <a:srgbClr val="0070C0"/>
                </a:solidFill>
              </a:rPr>
              <a:t>top.get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b="1" dirty="0" err="1">
                <a:solidFill>
                  <a:srgbClr val="0070C0"/>
                </a:solidFill>
              </a:rPr>
              <a:t>id</a:t>
            </a:r>
            <a:r>
              <a:rPr lang="en-US" sz="1600" dirty="0" err="1">
                <a:solidFill>
                  <a:srgbClr val="0070C0"/>
                </a:solidFill>
              </a:rPr>
              <a:t>.lexeme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j</a:t>
            </a:r>
            <a:r>
              <a:rPr lang="en-US" sz="1600" dirty="0">
                <a:solidFill>
                  <a:srgbClr val="0070C0"/>
                </a:solidFill>
              </a:rPr>
              <a:t>   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43FF255-28C5-740E-3F57-80A49E298825}"/>
              </a:ext>
            </a:extLst>
          </p:cNvPr>
          <p:cNvSpPr txBox="1"/>
          <p:nvPr/>
        </p:nvSpPr>
        <p:spPr>
          <a:xfrm>
            <a:off x="6429602" y="2017024"/>
            <a:ext cx="42920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L.array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i="1" dirty="0">
                <a:solidFill>
                  <a:srgbClr val="0070C0"/>
                </a:solidFill>
              </a:rPr>
              <a:t>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.array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a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 err="1">
                <a:solidFill>
                  <a:srgbClr val="0070C0"/>
                </a:solidFill>
              </a:rPr>
              <a:t>L.type</a:t>
            </a:r>
            <a:r>
              <a:rPr lang="en-US" sz="1600" i="1" dirty="0">
                <a:solidFill>
                  <a:srgbClr val="0070C0"/>
                </a:solidFill>
              </a:rPr>
              <a:t> = 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 </a:t>
            </a:r>
            <a:r>
              <a:rPr lang="en-US" sz="1600" i="1" dirty="0" err="1">
                <a:solidFill>
                  <a:srgbClr val="0070C0"/>
                </a:solidFill>
              </a:rPr>
              <a:t>type.elem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t = new Temp 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 err="1">
                <a:solidFill>
                  <a:srgbClr val="0070C0"/>
                </a:solidFill>
              </a:rPr>
              <a:t>L.addr</a:t>
            </a:r>
            <a:r>
              <a:rPr lang="en-US" sz="1600" i="1" dirty="0">
                <a:solidFill>
                  <a:srgbClr val="0070C0"/>
                </a:solidFill>
              </a:rPr>
              <a:t> = new Temp() </a:t>
            </a:r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t3</a:t>
            </a:r>
            <a:endParaRPr lang="en-US" sz="1600" i="1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(t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‘=‘ </a:t>
            </a:r>
            <a:r>
              <a:rPr lang="en-US" sz="1600" dirty="0">
                <a:solidFill>
                  <a:srgbClr val="0070C0"/>
                </a:solidFill>
              </a:rPr>
              <a:t>|| </a:t>
            </a:r>
            <a:r>
              <a:rPr lang="en-US" sz="1600" i="1" dirty="0" err="1">
                <a:solidFill>
                  <a:srgbClr val="0070C0"/>
                </a:solidFill>
              </a:rPr>
              <a:t>E.addr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‘*</a:t>
            </a:r>
            <a:r>
              <a:rPr lang="en-US" sz="1600" dirty="0">
                <a:solidFill>
                  <a:srgbClr val="0070C0"/>
                </a:solidFill>
              </a:rPr>
              <a:t>‘ || </a:t>
            </a:r>
            <a:r>
              <a:rPr lang="en-US" sz="1600" dirty="0" err="1">
                <a:solidFill>
                  <a:srgbClr val="0070C0"/>
                </a:solidFill>
              </a:rPr>
              <a:t>L.type.width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i="1" dirty="0">
                <a:solidFill>
                  <a:srgbClr val="0070C0"/>
                </a:solidFill>
              </a:rPr>
              <a:t>gen (</a:t>
            </a:r>
            <a:r>
              <a:rPr lang="en-US" sz="1600" i="1" dirty="0" err="1">
                <a:solidFill>
                  <a:srgbClr val="0070C0"/>
                </a:solidFill>
              </a:rPr>
              <a:t>L.addr</a:t>
            </a:r>
            <a:r>
              <a:rPr lang="en-US" sz="1600" i="1" dirty="0">
                <a:solidFill>
                  <a:srgbClr val="0070C0"/>
                </a:solidFill>
              </a:rPr>
              <a:t> || ‘=‘ || L</a:t>
            </a:r>
            <a:r>
              <a:rPr lang="en-US" sz="1600" i="1" baseline="-25000" dirty="0">
                <a:solidFill>
                  <a:srgbClr val="0070C0"/>
                </a:solidFill>
              </a:rPr>
              <a:t>1</a:t>
            </a:r>
            <a:r>
              <a:rPr lang="en-US" sz="1600" i="1" dirty="0">
                <a:solidFill>
                  <a:srgbClr val="0070C0"/>
                </a:solidFill>
              </a:rPr>
              <a:t>.addr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‘+’ </a:t>
            </a:r>
            <a:r>
              <a:rPr lang="en-US" sz="1600" dirty="0">
                <a:solidFill>
                  <a:srgbClr val="0070C0"/>
                </a:solidFill>
              </a:rPr>
              <a:t>||</a:t>
            </a:r>
            <a:r>
              <a:rPr lang="en-US" sz="1600" i="1" dirty="0">
                <a:solidFill>
                  <a:srgbClr val="0070C0"/>
                </a:solidFill>
              </a:rPr>
              <a:t>  t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 t2 = j* 4</a:t>
            </a:r>
          </a:p>
          <a:p>
            <a:r>
              <a:rPr lang="en-US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     t3 = t1 + t2</a:t>
            </a:r>
            <a:endParaRPr lang="en-US" sz="1600" i="1" dirty="0">
              <a:solidFill>
                <a:srgbClr val="0070C0"/>
              </a:solidFill>
            </a:endParaRPr>
          </a:p>
        </p:txBody>
      </p:sp>
      <p:graphicFrame>
        <p:nvGraphicFramePr>
          <p:cNvPr id="2" name="Table 20">
            <a:extLst>
              <a:ext uri="{FF2B5EF4-FFF2-40B4-BE49-F238E27FC236}">
                <a16:creationId xmlns:a16="http://schemas.microsoft.com/office/drawing/2014/main" id="{9EC341D5-81BC-9B8D-412A-F444DA3D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37087"/>
              </p:ext>
            </p:extLst>
          </p:nvPr>
        </p:nvGraphicFramePr>
        <p:xfrm>
          <a:off x="8787072" y="160306"/>
          <a:ext cx="1413431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33177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Symbol 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331777"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BD2D9F-4E11-186E-7EBA-DA5C2E2A0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937997"/>
              </p:ext>
            </p:extLst>
          </p:nvPr>
        </p:nvGraphicFramePr>
        <p:xfrm>
          <a:off x="10430232" y="1740920"/>
          <a:ext cx="141343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Elem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158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A86ECD-9C81-FE4D-EEA5-F035A4F6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47355"/>
              </p:ext>
            </p:extLst>
          </p:nvPr>
        </p:nvGraphicFramePr>
        <p:xfrm>
          <a:off x="10451643" y="3607162"/>
          <a:ext cx="141343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3778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Elem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158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2DDC25-1768-4589-C44F-316971ABA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580933"/>
              </p:ext>
            </p:extLst>
          </p:nvPr>
        </p:nvGraphicFramePr>
        <p:xfrm>
          <a:off x="10451644" y="5356730"/>
          <a:ext cx="141343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4137919447"/>
                    </a:ext>
                  </a:extLst>
                </a:gridCol>
                <a:gridCol w="635231">
                  <a:extLst>
                    <a:ext uri="{9D8B030D-6E8A-4147-A177-3AD203B41FA5}">
                      <a16:colId xmlns:a16="http://schemas.microsoft.com/office/drawing/2014/main" val="1775701769"/>
                    </a:ext>
                  </a:extLst>
                </a:gridCol>
              </a:tblGrid>
              <a:tr h="2682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817348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Token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6374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lang="en-US" sz="1400" dirty="0"/>
                        <a:t>Width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3498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391ADC-984B-36D9-168D-CD71CFFC7CF6}"/>
              </a:ext>
            </a:extLst>
          </p:cNvPr>
          <p:cNvCxnSpPr/>
          <p:nvPr/>
        </p:nvCxnSpPr>
        <p:spPr>
          <a:xfrm>
            <a:off x="11553373" y="3151475"/>
            <a:ext cx="0" cy="4306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C6E4AF-4409-7100-A434-A795935368D1}"/>
              </a:ext>
            </a:extLst>
          </p:cNvPr>
          <p:cNvCxnSpPr/>
          <p:nvPr/>
        </p:nvCxnSpPr>
        <p:spPr>
          <a:xfrm>
            <a:off x="11531602" y="4914967"/>
            <a:ext cx="0" cy="4306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364446-1697-2895-BC9C-6165E82F2891}"/>
              </a:ext>
            </a:extLst>
          </p:cNvPr>
          <p:cNvCxnSpPr>
            <a:cxnSpLocks/>
          </p:cNvCxnSpPr>
          <p:nvPr/>
        </p:nvCxnSpPr>
        <p:spPr>
          <a:xfrm>
            <a:off x="9913257" y="1398678"/>
            <a:ext cx="538386" cy="51493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A1FF7F-E665-8374-C4A6-1D75E3227784}"/>
              </a:ext>
            </a:extLst>
          </p:cNvPr>
          <p:cNvGrpSpPr/>
          <p:nvPr/>
        </p:nvGrpSpPr>
        <p:grpSpPr>
          <a:xfrm>
            <a:off x="6440716" y="5334358"/>
            <a:ext cx="3566887" cy="1406070"/>
            <a:chOff x="7623042" y="4868560"/>
            <a:chExt cx="4441959" cy="167527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F0E8DC-DA2B-5BEB-186A-4CECED9FB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3042" y="5369072"/>
              <a:ext cx="1580481" cy="451566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8983B78-A8F1-249A-E66E-3F27735D0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1118" y="4868560"/>
              <a:ext cx="1983883" cy="1675279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</p:pic>
        <p:sp>
          <p:nvSpPr>
            <p:cNvPr id="16" name="Right Arrow 4">
              <a:extLst>
                <a:ext uri="{FF2B5EF4-FFF2-40B4-BE49-F238E27FC236}">
                  <a16:creationId xmlns:a16="http://schemas.microsoft.com/office/drawing/2014/main" id="{AD5ABF0B-E4EF-F12A-5093-2A7A4650A8FF}"/>
                </a:ext>
              </a:extLst>
            </p:cNvPr>
            <p:cNvSpPr/>
            <p:nvPr/>
          </p:nvSpPr>
          <p:spPr>
            <a:xfrm>
              <a:off x="9305748" y="5330435"/>
              <a:ext cx="648067" cy="490693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827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21" grpId="0"/>
      <p:bldP spid="128" grpId="0"/>
      <p:bldP spid="129" grpId="0"/>
      <p:bldP spid="130" grpId="0"/>
      <p:bldP spid="131" grpId="0"/>
      <p:bldP spid="13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328263" y="88322"/>
            <a:ext cx="4460335" cy="6268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8322"/>
            <a:ext cx="5074270" cy="1055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Array References (2)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848" y="91675"/>
            <a:ext cx="6381750" cy="6372225"/>
          </a:xfrm>
          <a:prstGeom prst="rect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</p:pic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3184" y="1517742"/>
            <a:ext cx="5087154" cy="4367905"/>
          </a:xfrm>
          <a:ln>
            <a:solidFill>
              <a:schemeClr val="accent2">
                <a:lumMod val="75000"/>
              </a:schemeClr>
            </a:solidFill>
            <a:prstDash val="dashDot"/>
          </a:ln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Attributes of </a:t>
            </a:r>
            <a:r>
              <a:rPr lang="en-US" altLang="en-US" i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L.addr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  - </a:t>
            </a:r>
            <a:r>
              <a:rPr lang="en-US" altLang="en-US" sz="2400" dirty="0">
                <a:latin typeface="Candara" panose="020E0502030303020204" pitchFamily="34" charset="0"/>
              </a:rPr>
              <a:t>a temporary that holds the sum of the terms</a:t>
            </a:r>
            <a:r>
              <a:rPr lang="en-US" altLang="en-US" sz="2400" i="1" dirty="0">
                <a:latin typeface="Candara" panose="020E0502030303020204" pitchFamily="34" charset="0"/>
              </a:rPr>
              <a:t> </a:t>
            </a:r>
            <a:r>
              <a:rPr lang="en-US" altLang="en-US" sz="2400" i="1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400" i="1" baseline="-25000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k</a:t>
            </a:r>
            <a:r>
              <a:rPr lang="en-US" altLang="en-US" sz="2400" i="1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 x </a:t>
            </a:r>
            <a:r>
              <a:rPr lang="en-US" altLang="en-US" sz="2400" i="1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w</a:t>
            </a:r>
            <a:r>
              <a:rPr lang="en-US" altLang="en-US" sz="2400" i="1" baseline="-25000" dirty="0" err="1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k</a:t>
            </a:r>
            <a:r>
              <a:rPr lang="en-US" altLang="en-US" sz="2400" i="1" dirty="0">
                <a:latin typeface="Candara" panose="020E0502030303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L.array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  - </a:t>
            </a:r>
            <a:r>
              <a:rPr lang="en-US" altLang="en-US" sz="2400" dirty="0">
                <a:latin typeface="Candara" panose="020E0502030303020204" pitchFamily="34" charset="0"/>
              </a:rPr>
              <a:t>a pointer to the symbol-table entry for the array 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L.type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 - </a:t>
            </a:r>
            <a:r>
              <a:rPr lang="en-US" altLang="en-US" sz="2400" dirty="0">
                <a:latin typeface="Candara" panose="020E0502030303020204" pitchFamily="34" charset="0"/>
              </a:rPr>
              <a:t>type of the </a:t>
            </a:r>
            <a:r>
              <a:rPr lang="en-US" altLang="en-US" sz="2400" dirty="0" err="1">
                <a:latin typeface="Candara" panose="020E0502030303020204" pitchFamily="34" charset="0"/>
              </a:rPr>
              <a:t>subarray</a:t>
            </a:r>
            <a:r>
              <a:rPr lang="en-US" altLang="en-US" sz="2400" dirty="0">
                <a:latin typeface="Candara" panose="020E0502030303020204" pitchFamily="34" charset="0"/>
              </a:rPr>
              <a:t> generated by </a:t>
            </a:r>
            <a:r>
              <a:rPr lang="en-US" altLang="en-US" sz="2400" i="1" dirty="0">
                <a:latin typeface="Candara" panose="020E0502030303020204" pitchFamily="34" charset="0"/>
              </a:rPr>
              <a:t>L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sz="24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8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707" y="-81497"/>
            <a:ext cx="10489474" cy="1055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Array References (2)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1249"/>
          <a:stretch/>
        </p:blipFill>
        <p:spPr>
          <a:xfrm>
            <a:off x="2290762" y="1186604"/>
            <a:ext cx="7610475" cy="4957219"/>
          </a:xfrm>
          <a:prstGeom prst="rect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lgDashDot"/>
          </a:ln>
        </p:spPr>
      </p:pic>
    </p:spTree>
    <p:extLst>
      <p:ext uri="{BB962C8B-B14F-4D97-AF65-F5344CB8AC3E}">
        <p14:creationId xmlns:p14="http://schemas.microsoft.com/office/powerpoint/2010/main" val="12486800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>
                <a:latin typeface="Candara" panose="020E0502030303020204" pitchFamily="34" charset="0"/>
              </a:rPr>
              <a:t>We will translate control flow statements such as </a:t>
            </a:r>
            <a:r>
              <a:rPr lang="en-US" altLang="en-US" i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if-else</a:t>
            </a:r>
            <a:r>
              <a:rPr lang="en-US" altLang="en-US" dirty="0">
                <a:latin typeface="Candara" panose="020E0502030303020204" pitchFamily="34" charset="0"/>
              </a:rPr>
              <a:t>, </a:t>
            </a:r>
            <a:r>
              <a:rPr lang="en-US" altLang="en-US" i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while</a:t>
            </a:r>
            <a:endParaRPr lang="en-US" altLang="en-US" i="1" dirty="0">
              <a:latin typeface="Candara" panose="020E0502030303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dirty="0">
                <a:latin typeface="Candara" panose="020E0502030303020204" pitchFamily="34" charset="0"/>
              </a:rPr>
              <a:t>Translation of control flow statements are tied with 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Boolean expressions</a:t>
            </a:r>
            <a:endParaRPr lang="en-US" altLang="en-US" dirty="0">
              <a:latin typeface="Candara" panose="020E0502030303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Boolean expressions</a:t>
            </a:r>
            <a:r>
              <a:rPr lang="en-US" altLang="en-US" dirty="0">
                <a:latin typeface="Candara" panose="020E0502030303020204" pitchFamily="34" charset="0"/>
              </a:rPr>
              <a:t> are composed of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Boolean operators</a:t>
            </a:r>
          </a:p>
          <a:p>
            <a:pPr>
              <a:spcAft>
                <a:spcPts val="600"/>
              </a:spcAft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Boolean operators</a:t>
            </a:r>
            <a:r>
              <a:rPr lang="en-US" altLang="en-US" dirty="0">
                <a:latin typeface="Candara" panose="020E0502030303020204" pitchFamily="34" charset="0"/>
              </a:rPr>
              <a:t> are applied to</a:t>
            </a:r>
          </a:p>
          <a:p>
            <a:pPr lvl="1">
              <a:spcAft>
                <a:spcPts val="600"/>
              </a:spcAft>
            </a:pPr>
            <a:r>
              <a:rPr lang="en-US" altLang="en-US" dirty="0">
                <a:latin typeface="Candara" panose="020E0502030303020204" pitchFamily="34" charset="0"/>
              </a:rPr>
              <a:t>Boolean variables</a:t>
            </a:r>
          </a:p>
          <a:p>
            <a:pPr lvl="1">
              <a:spcAft>
                <a:spcPts val="600"/>
              </a:spcAft>
            </a:pPr>
            <a:r>
              <a:rPr lang="en-US" altLang="en-US" dirty="0">
                <a:latin typeface="Candara" panose="020E0502030303020204" pitchFamily="34" charset="0"/>
              </a:rPr>
              <a:t>Relational expression with relational operator 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8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Boolean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We consider 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Boolean expressions</a:t>
            </a:r>
            <a:r>
              <a:rPr lang="en-US" altLang="en-US" dirty="0">
                <a:latin typeface="Candara" panose="020E0502030303020204" pitchFamily="34" charset="0"/>
              </a:rPr>
              <a:t> generated by following grammar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b="1" dirty="0">
              <a:latin typeface="Candara" panose="020E0502030303020204" pitchFamily="34" charset="0"/>
            </a:endParaRPr>
          </a:p>
          <a:p>
            <a:r>
              <a:rPr lang="en-US" altLang="en-US" b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rel</a:t>
            </a:r>
            <a:r>
              <a:rPr lang="en-US" altLang="en-US" dirty="0">
                <a:latin typeface="Candara" panose="020E0502030303020204" pitchFamily="34" charset="0"/>
              </a:rPr>
              <a:t> is relational operator which is any one of &lt; , &gt; , &lt;= , &gt;= , ==, !=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r>
              <a:rPr lang="en-US" altLang="en-US" dirty="0">
                <a:latin typeface="Candara" panose="020E0502030303020204" pitchFamily="34" charset="0"/>
              </a:rPr>
              <a:t>We assume &amp;&amp;, || are 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left associative </a:t>
            </a:r>
            <a:r>
              <a:rPr lang="en-US" altLang="en-US" dirty="0">
                <a:latin typeface="Candara" panose="020E0502030303020204" pitchFamily="34" charset="0"/>
              </a:rPr>
              <a:t>and precedence order is !, &amp;&amp; then ||</a:t>
            </a:r>
          </a:p>
          <a:p>
            <a:pPr marL="0" indent="0">
              <a:buNone/>
            </a:pPr>
            <a:endParaRPr lang="en-US" altLang="en-US" dirty="0"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01" y="2234860"/>
            <a:ext cx="9132400" cy="72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1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Boolean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7" y="1349489"/>
            <a:ext cx="10515600" cy="482747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sz="3200" dirty="0">
                <a:latin typeface="Candara" panose="020E0502030303020204" pitchFamily="34" charset="0"/>
              </a:rPr>
              <a:t>Boolean expressions are used to</a:t>
            </a:r>
          </a:p>
          <a:p>
            <a:pPr lvl="1"/>
            <a:r>
              <a:rPr lang="en-US" altLang="en-US" sz="2800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Alter flow of control</a:t>
            </a:r>
          </a:p>
          <a:p>
            <a:pPr lvl="2"/>
            <a:r>
              <a:rPr lang="en-US" altLang="en-US" sz="2400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If (B) then S</a:t>
            </a:r>
            <a:r>
              <a:rPr lang="en-US" altLang="en-US" sz="2400" dirty="0">
                <a:latin typeface="Candara" panose="020E0502030303020204" pitchFamily="34" charset="0"/>
              </a:rPr>
              <a:t>: B must be true to reach S</a:t>
            </a:r>
          </a:p>
          <a:p>
            <a:pPr lvl="2"/>
            <a:endParaRPr lang="en-US" altLang="en-US" sz="2400" dirty="0">
              <a:latin typeface="Candara" panose="020E0502030303020204" pitchFamily="34" charset="0"/>
            </a:endParaRPr>
          </a:p>
          <a:p>
            <a:pPr lvl="1"/>
            <a:r>
              <a:rPr lang="en-US" altLang="en-US" sz="28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To compute logical values</a:t>
            </a:r>
          </a:p>
          <a:p>
            <a:pPr lvl="2"/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</a:rPr>
              <a:t>True</a:t>
            </a:r>
            <a:r>
              <a:rPr lang="en-US" altLang="en-US" sz="2400" dirty="0">
                <a:latin typeface="Candara" panose="020E0502030303020204" pitchFamily="34" charset="0"/>
              </a:rPr>
              <a:t> or </a:t>
            </a:r>
            <a:r>
              <a:rPr lang="en-US" altLang="en-US" sz="2400" dirty="0">
                <a:solidFill>
                  <a:srgbClr val="FF0000"/>
                </a:solidFill>
                <a:latin typeface="Candara" panose="020E0502030303020204" pitchFamily="34" charset="0"/>
              </a:rPr>
              <a:t>False</a:t>
            </a:r>
            <a:r>
              <a:rPr lang="en-US" altLang="en-US" sz="2400" dirty="0">
                <a:latin typeface="Candara" panose="020E0502030303020204" pitchFamily="34" charset="0"/>
              </a:rPr>
              <a:t> as value</a:t>
            </a:r>
          </a:p>
          <a:p>
            <a:pPr marL="0" indent="0">
              <a:buNone/>
            </a:pPr>
            <a:endParaRPr lang="en-US" altLang="en-US" sz="3200" dirty="0">
              <a:latin typeface="Candara" panose="020E0502030303020204" pitchFamily="34" charset="0"/>
            </a:endParaRPr>
          </a:p>
          <a:p>
            <a:endParaRPr lang="en-US" altLang="en-US" sz="3200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66A3E-E8F8-2B1C-B778-78EF4B6805A1}"/>
              </a:ext>
            </a:extLst>
          </p:cNvPr>
          <p:cNvSpPr txBox="1"/>
          <p:nvPr/>
        </p:nvSpPr>
        <p:spPr>
          <a:xfrm>
            <a:off x="6861901" y="3624947"/>
            <a:ext cx="4041913" cy="400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p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 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&amp;&amp;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 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||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s-E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s-E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);</a:t>
            </a:r>
            <a:endParaRPr lang="es-ES" sz="2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6DE5A-A3AA-7447-D265-AE6434637B87}"/>
              </a:ext>
            </a:extLst>
          </p:cNvPr>
          <p:cNvSpPr txBox="1"/>
          <p:nvPr/>
        </p:nvSpPr>
        <p:spPr>
          <a:xfrm>
            <a:off x="6861901" y="2251422"/>
            <a:ext cx="5000712" cy="64633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0292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Short Circuit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Also called 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jumping code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r>
              <a:rPr lang="en-US" altLang="en-US" dirty="0">
                <a:latin typeface="Candara" panose="020E0502030303020204" pitchFamily="34" charset="0"/>
              </a:rPr>
              <a:t>&amp;&amp;, || and ! are translated into </a:t>
            </a:r>
            <a:r>
              <a:rPr lang="en-US" altLang="en-US" dirty="0">
                <a:solidFill>
                  <a:srgbClr val="C00000"/>
                </a:solidFill>
                <a:latin typeface="Candara" panose="020E0502030303020204" pitchFamily="34" charset="0"/>
              </a:rPr>
              <a:t>jumps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r>
              <a:rPr lang="en-US" altLang="en-US" dirty="0">
                <a:latin typeface="Candara" panose="020E0502030303020204" pitchFamily="34" charset="0"/>
              </a:rPr>
              <a:t>The operators don’t appear in the code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r>
              <a:rPr lang="en-US" altLang="en-US" dirty="0">
                <a:latin typeface="Candara" panose="020E0502030303020204" pitchFamily="34" charset="0"/>
              </a:rPr>
              <a:t>The value of a boolean expression is represented by a position in the code 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1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Short Circuit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444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Example: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21277" y="1863349"/>
            <a:ext cx="4245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A statement with Boolean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4886" y="1863349"/>
            <a:ext cx="17267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</a:rPr>
              <a:t>Jumping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E63D9-C983-D403-F2CC-BA898B32394D}"/>
              </a:ext>
            </a:extLst>
          </p:cNvPr>
          <p:cNvSpPr txBox="1"/>
          <p:nvPr/>
        </p:nvSpPr>
        <p:spPr>
          <a:xfrm>
            <a:off x="660409" y="2375985"/>
            <a:ext cx="5603519" cy="70788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000" b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x 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0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A3A39-3886-9BE6-76AA-4F3BF85CB0ED}"/>
              </a:ext>
            </a:extLst>
          </p:cNvPr>
          <p:cNvSpPr txBox="1"/>
          <p:nvPr/>
        </p:nvSpPr>
        <p:spPr>
          <a:xfrm>
            <a:off x="6841194" y="2375985"/>
            <a:ext cx="5104279" cy="192360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 if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goto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L2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ifFalse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goto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L1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ifFalse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!=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 </a:t>
            </a:r>
            <a:r>
              <a:rPr lang="en-US" sz="2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goto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L1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L2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L1</a:t>
            </a:r>
            <a:r>
              <a:rPr lang="en-US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703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We will consider flow of control statements generated by following grammar</a:t>
                </a:r>
              </a:p>
              <a:p>
                <a:pPr marL="0" indent="0">
                  <a:buNone/>
                </a:pPr>
                <a:endParaRPr lang="en-US" altLang="en-US" dirty="0">
                  <a:latin typeface="Candara" panose="020E0502030303020204" pitchFamily="34" charset="0"/>
                </a:endParaRPr>
              </a:p>
              <a:p>
                <a:endParaRPr lang="en-US" altLang="en-US" dirty="0">
                  <a:latin typeface="Candara" panose="020E0502030303020204" pitchFamily="34" charset="0"/>
                </a:endParaRPr>
              </a:p>
              <a:p>
                <a:endParaRPr lang="en-US" altLang="en-US" dirty="0">
                  <a:latin typeface="Candara" panose="020E0502030303020204" pitchFamily="34" charset="0"/>
                </a:endParaRPr>
              </a:p>
              <a:p>
                <a:pPr marL="0" indent="0">
                  <a:buNone/>
                </a:pPr>
                <a:endParaRPr lang="en-US" altLang="en-US" sz="1600" dirty="0">
                  <a:latin typeface="Candara" panose="020E0502030303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represent </a:t>
                </a:r>
                <a:r>
                  <a:rPr lang="en-US" altLang="en-US" dirty="0">
                    <a:solidFill>
                      <a:srgbClr val="C00000"/>
                    </a:solidFill>
                    <a:latin typeface="Candara" panose="020E0502030303020204" pitchFamily="34" charset="0"/>
                  </a:rPr>
                  <a:t>Boolean expression</a:t>
                </a:r>
              </a:p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represent </a:t>
                </a:r>
                <a:r>
                  <a:rPr lang="en-US" altLang="en-US" dirty="0">
                    <a:solidFill>
                      <a:srgbClr val="C00000"/>
                    </a:solidFill>
                    <a:latin typeface="Candara" panose="020E0502030303020204" pitchFamily="34" charset="0"/>
                  </a:rPr>
                  <a:t>Statements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186136-BE66-B20E-44EB-C1640D3DAAB5}"/>
                  </a:ext>
                </a:extLst>
              </p:cNvPr>
              <p:cNvSpPr txBox="1"/>
              <p:nvPr/>
            </p:nvSpPr>
            <p:spPr>
              <a:xfrm>
                <a:off x="2385390" y="2714542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8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sz="28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en-US" sz="28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i="1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800" i="1" baseline="-250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i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800" i="1" baseline="-250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186136-BE66-B20E-44EB-C1640D3DA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0" y="2714542"/>
                <a:ext cx="60960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9F0836-F327-E8EC-AAB6-254DCDD66F61}"/>
                  </a:ext>
                </a:extLst>
              </p:cNvPr>
              <p:cNvSpPr txBox="1"/>
              <p:nvPr/>
            </p:nvSpPr>
            <p:spPr>
              <a:xfrm>
                <a:off x="2385390" y="3260154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sz="2800" dirty="0">
                    <a:solidFill>
                      <a:srgbClr val="0070C0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𝑤h𝑖𝑙𝑒</m:t>
                    </m:r>
                    <m:r>
                      <a:rPr lang="en-US" alt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sz="2800" i="1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9F0836-F327-E8EC-AAB6-254DCDD66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0" y="3260154"/>
                <a:ext cx="60960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DCB97F-27E5-AE68-1281-30E8700D6E76}"/>
                  </a:ext>
                </a:extLst>
              </p:cNvPr>
              <p:cNvSpPr txBox="1"/>
              <p:nvPr/>
            </p:nvSpPr>
            <p:spPr>
              <a:xfrm>
                <a:off x="2385390" y="216893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sz="2800" i="1" baseline="-25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DCB97F-27E5-AE68-1281-30E8700D6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0" y="2168930"/>
                <a:ext cx="6096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89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8" grpId="0"/>
      <p:bldP spid="1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The Grammar</a:t>
            </a:r>
          </a:p>
          <a:p>
            <a:pPr marL="0" indent="0">
              <a:buNone/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855130"/>
                  </p:ext>
                </p:extLst>
              </p:nvPr>
            </p:nvGraphicFramePr>
            <p:xfrm>
              <a:off x="2032000" y="2084009"/>
              <a:ext cx="6807200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3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340360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1" i="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63805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1" i="0" dirty="0" smtClean="0">
                                    <a:latin typeface="Cambria Math" panose="02040503050406030204" pitchFamily="18" charset="0"/>
                                  </a:rPr>
                                  <m:t>𝐚𝐬𝐬𝐢𝐠𝐧</m:t>
                                </m:r>
                              </m:oMath>
                            </m:oMathPara>
                          </a14:m>
                          <a:endParaRPr lang="en-US" sz="2400" b="1" i="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7585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5236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𝑒𝑙𝑠𝑒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2185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𝑤h𝑖𝑙𝑒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1015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855130"/>
                  </p:ext>
                </p:extLst>
              </p:nvPr>
            </p:nvGraphicFramePr>
            <p:xfrm>
              <a:off x="2032000" y="2084009"/>
              <a:ext cx="6807200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3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340360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109333" r="-100358" b="-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209333" r="-100358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63805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305263" r="-100358" b="-3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75858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410667" r="-100358" b="-2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5236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510667" r="-100358" b="-10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2185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610667" r="-100358" b="-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1015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9100459" y="2728687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anose="020E0502030303020204" pitchFamily="34" charset="0"/>
              </a:rPr>
              <a:t>assign</a:t>
            </a:r>
            <a:r>
              <a:rPr lang="en-US" sz="2000" dirty="0">
                <a:latin typeface="Candara" panose="020E0502030303020204" pitchFamily="34" charset="0"/>
              </a:rPr>
              <a:t> is a Placeholder for</a:t>
            </a:r>
          </a:p>
          <a:p>
            <a:r>
              <a:rPr lang="en-US" sz="2000" dirty="0">
                <a:latin typeface="Candara" panose="020E0502030303020204" pitchFamily="34" charset="0"/>
              </a:rPr>
              <a:t>an assignment statement</a:t>
            </a:r>
          </a:p>
        </p:txBody>
      </p:sp>
      <p:cxnSp>
        <p:nvCxnSpPr>
          <p:cNvPr id="8" name="Straight Arrow Connector 7"/>
          <p:cNvCxnSpPr>
            <a:cxnSpLocks/>
            <a:stCxn id="6" idx="1"/>
          </p:cNvCxnSpPr>
          <p:nvPr/>
        </p:nvCxnSpPr>
        <p:spPr>
          <a:xfrm flipH="1">
            <a:off x="4775202" y="3082630"/>
            <a:ext cx="4325257" cy="5894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75202" y="5660572"/>
            <a:ext cx="4870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andara" panose="020E0502030303020204" pitchFamily="34" charset="0"/>
              </a:rPr>
              <a:t>We need to find out the Semantic Rules</a:t>
            </a:r>
          </a:p>
        </p:txBody>
      </p:sp>
      <p:sp>
        <p:nvSpPr>
          <p:cNvPr id="10" name="Right Brace 9"/>
          <p:cNvSpPr/>
          <p:nvPr/>
        </p:nvSpPr>
        <p:spPr>
          <a:xfrm rot="-5400000">
            <a:off x="7090247" y="3838595"/>
            <a:ext cx="174139" cy="332377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1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9861"/>
            <a:ext cx="10515600" cy="10785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5019"/>
                <a:ext cx="10515600" cy="4827474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:endParaRPr lang="en-US" alt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en-US" i="1" baseline="-25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dirty="0">
                  <a:latin typeface="Candara" panose="020E0502030303020204" pitchFamily="34" charset="0"/>
                </a:endParaRPr>
              </a:p>
              <a:p>
                <a:pPr marL="0" indent="0">
                  <a:buNone/>
                </a:pP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5019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001572"/>
                  </p:ext>
                </p:extLst>
              </p:nvPr>
            </p:nvGraphicFramePr>
            <p:xfrm>
              <a:off x="852711" y="3256308"/>
              <a:ext cx="5969001" cy="1706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92245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076756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aseline="-25000" dirty="0">
                            <a:latin typeface="Candara" panose="020E0502030303020204" pitchFamily="34" charset="0"/>
                          </a:endParaRPr>
                        </a:p>
                        <a:p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𝑓𝑎𝑙𝑠𝑒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𝑡𝑟𝑢𝑒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001572"/>
                  </p:ext>
                </p:extLst>
              </p:nvPr>
            </p:nvGraphicFramePr>
            <p:xfrm>
              <a:off x="852711" y="3256308"/>
              <a:ext cx="5969001" cy="1706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92245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076756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2" t="-32407" r="-216077" b="-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567" t="-32407" r="-299" b="-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C030532-E6C5-B080-997F-1FF5205A6C24}"/>
              </a:ext>
            </a:extLst>
          </p:cNvPr>
          <p:cNvSpPr/>
          <p:nvPr/>
        </p:nvSpPr>
        <p:spPr>
          <a:xfrm>
            <a:off x="8617858" y="3214484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</a:rPr>
              <a:t>B.code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C4417-E128-BF57-40F8-4DE5EEABDC8E}"/>
              </a:ext>
            </a:extLst>
          </p:cNvPr>
          <p:cNvSpPr/>
          <p:nvPr/>
        </p:nvSpPr>
        <p:spPr>
          <a:xfrm>
            <a:off x="8621486" y="4265020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</a:t>
            </a:r>
            <a:r>
              <a:rPr lang="en-US" sz="2000" i="1" baseline="-25000" dirty="0">
                <a:solidFill>
                  <a:schemeClr val="tx1"/>
                </a:solidFill>
              </a:rPr>
              <a:t>1</a:t>
            </a:r>
            <a:r>
              <a:rPr lang="en-US" sz="2000" i="1" dirty="0">
                <a:solidFill>
                  <a:schemeClr val="tx1"/>
                </a:solidFill>
              </a:rPr>
              <a:t>.code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BD79E68-3099-75F0-23E9-EED816AE0CF9}"/>
              </a:ext>
            </a:extLst>
          </p:cNvPr>
          <p:cNvGrpSpPr/>
          <p:nvPr/>
        </p:nvGrpSpPr>
        <p:grpSpPr>
          <a:xfrm>
            <a:off x="10120085" y="2995492"/>
            <a:ext cx="1516746" cy="437984"/>
            <a:chOff x="10522857" y="1882362"/>
            <a:chExt cx="1516746" cy="43798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67DDEE1-841C-ED5F-904F-6F174B5C4086}"/>
                </a:ext>
              </a:extLst>
            </p:cNvPr>
            <p:cNvCxnSpPr/>
            <p:nvPr/>
          </p:nvCxnSpPr>
          <p:spPr>
            <a:xfrm>
              <a:off x="10522857" y="2320346"/>
              <a:ext cx="830943" cy="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0E05A1-CCDC-9747-485D-858E556B70BA}"/>
                </a:ext>
              </a:extLst>
            </p:cNvPr>
            <p:cNvSpPr txBox="1"/>
            <p:nvPr/>
          </p:nvSpPr>
          <p:spPr>
            <a:xfrm>
              <a:off x="10892974" y="1882362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to </a:t>
              </a:r>
              <a:r>
                <a:rPr lang="en-US" i="1" dirty="0" err="1">
                  <a:solidFill>
                    <a:srgbClr val="00B050"/>
                  </a:solidFill>
                </a:rPr>
                <a:t>B.true</a:t>
              </a:r>
              <a:r>
                <a:rPr lang="en-US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BF16C4-B913-424D-2F56-1C30924D87C4}"/>
              </a:ext>
            </a:extLst>
          </p:cNvPr>
          <p:cNvGrpSpPr/>
          <p:nvPr/>
        </p:nvGrpSpPr>
        <p:grpSpPr>
          <a:xfrm>
            <a:off x="10120085" y="3583816"/>
            <a:ext cx="1436917" cy="420915"/>
            <a:chOff x="10602686" y="2471761"/>
            <a:chExt cx="1436917" cy="42091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86686A3-606C-3F5E-0B2D-BDF732DDAD1D}"/>
                </a:ext>
              </a:extLst>
            </p:cNvPr>
            <p:cNvCxnSpPr/>
            <p:nvPr/>
          </p:nvCxnSpPr>
          <p:spPr>
            <a:xfrm>
              <a:off x="10602686" y="2892676"/>
              <a:ext cx="83094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7877DF-575E-2BED-1A8D-D5CE6B21EAB4}"/>
                </a:ext>
              </a:extLst>
            </p:cNvPr>
            <p:cNvSpPr txBox="1"/>
            <p:nvPr/>
          </p:nvSpPr>
          <p:spPr>
            <a:xfrm>
              <a:off x="10892974" y="2471761"/>
              <a:ext cx="1146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to </a:t>
              </a:r>
              <a:r>
                <a:rPr lang="en-US" i="1" dirty="0" err="1">
                  <a:solidFill>
                    <a:srgbClr val="FF0000"/>
                  </a:solidFill>
                </a:rPr>
                <a:t>B.false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580A6C9-A530-12F0-B454-D50B8A19ECD3}"/>
              </a:ext>
            </a:extLst>
          </p:cNvPr>
          <p:cNvSpPr txBox="1"/>
          <p:nvPr/>
        </p:nvSpPr>
        <p:spPr>
          <a:xfrm>
            <a:off x="7790704" y="4125970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B.true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7732FB-BF65-F770-B6F2-D6A4B337E823}"/>
              </a:ext>
            </a:extLst>
          </p:cNvPr>
          <p:cNvSpPr txBox="1"/>
          <p:nvPr/>
        </p:nvSpPr>
        <p:spPr>
          <a:xfrm>
            <a:off x="7683196" y="5296008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FF0000"/>
                </a:solidFill>
              </a:rPr>
              <a:t>B.false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BA8ACE-4F4B-B942-C3B7-7745359B6BEE}"/>
              </a:ext>
            </a:extLst>
          </p:cNvPr>
          <p:cNvSpPr/>
          <p:nvPr/>
        </p:nvSpPr>
        <p:spPr>
          <a:xfrm>
            <a:off x="8632372" y="5406668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 …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228C7F-83A2-9634-E62D-0ACEE54B1EB0}"/>
              </a:ext>
            </a:extLst>
          </p:cNvPr>
          <p:cNvGrpSpPr/>
          <p:nvPr/>
        </p:nvGrpSpPr>
        <p:grpSpPr>
          <a:xfrm>
            <a:off x="10134600" y="4403247"/>
            <a:ext cx="1436917" cy="420915"/>
            <a:chOff x="10134600" y="3552769"/>
            <a:chExt cx="1436917" cy="42091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6086742-D3B8-312D-3357-96489FED27D5}"/>
                </a:ext>
              </a:extLst>
            </p:cNvPr>
            <p:cNvCxnSpPr/>
            <p:nvPr/>
          </p:nvCxnSpPr>
          <p:spPr>
            <a:xfrm>
              <a:off x="10134600" y="3973684"/>
              <a:ext cx="830943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07EDF9A-D865-BD1A-63F1-1FCECB7251DF}"/>
                </a:ext>
              </a:extLst>
            </p:cNvPr>
            <p:cNvSpPr txBox="1"/>
            <p:nvPr/>
          </p:nvSpPr>
          <p:spPr>
            <a:xfrm>
              <a:off x="10424888" y="3552769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to </a:t>
              </a:r>
              <a:r>
                <a:rPr lang="en-US" i="1" dirty="0">
                  <a:solidFill>
                    <a:srgbClr val="0070C0"/>
                  </a:solidFill>
                </a:rPr>
                <a:t>S</a:t>
              </a:r>
              <a:r>
                <a:rPr lang="en-US" sz="1600" i="1" baseline="-25000" dirty="0">
                  <a:solidFill>
                    <a:srgbClr val="0070C0"/>
                  </a:solidFill>
                </a:rPr>
                <a:t>1</a:t>
              </a:r>
              <a:r>
                <a:rPr lang="en-US" i="1" dirty="0">
                  <a:solidFill>
                    <a:srgbClr val="0070C0"/>
                  </a:solidFill>
                </a:rPr>
                <a:t>.next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7C23822-6974-F4C5-3114-3540BC09E370}"/>
              </a:ext>
            </a:extLst>
          </p:cNvPr>
          <p:cNvSpPr txBox="1"/>
          <p:nvPr/>
        </p:nvSpPr>
        <p:spPr>
          <a:xfrm>
            <a:off x="6863488" y="5296008"/>
            <a:ext cx="99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S</a:t>
            </a:r>
            <a:r>
              <a:rPr lang="en-US" i="1" baseline="-25000" dirty="0">
                <a:solidFill>
                  <a:srgbClr val="0070C0"/>
                </a:solidFill>
              </a:rPr>
              <a:t>1</a:t>
            </a:r>
            <a:r>
              <a:rPr lang="en-US" i="1" dirty="0">
                <a:solidFill>
                  <a:srgbClr val="0070C0"/>
                </a:solidFill>
              </a:rPr>
              <a:t>.next: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45D461-A6FA-E434-34B7-41B5CBFDFA53}"/>
              </a:ext>
            </a:extLst>
          </p:cNvPr>
          <p:cNvGrpSpPr/>
          <p:nvPr/>
        </p:nvGrpSpPr>
        <p:grpSpPr>
          <a:xfrm>
            <a:off x="8501746" y="2748750"/>
            <a:ext cx="1828796" cy="2615672"/>
            <a:chOff x="8501746" y="1898272"/>
            <a:chExt cx="1828796" cy="26156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5819CA-0B8D-1149-13B5-D3912913C40B}"/>
                </a:ext>
              </a:extLst>
            </p:cNvPr>
            <p:cNvSpPr/>
            <p:nvPr/>
          </p:nvSpPr>
          <p:spPr>
            <a:xfrm>
              <a:off x="8567058" y="2287296"/>
              <a:ext cx="1763484" cy="22266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6AD08B-B78D-199D-E734-B32C50C4BD99}"/>
                </a:ext>
              </a:extLst>
            </p:cNvPr>
            <p:cNvSpPr txBox="1"/>
            <p:nvPr/>
          </p:nvSpPr>
          <p:spPr>
            <a:xfrm>
              <a:off x="8501746" y="1898272"/>
              <a:ext cx="903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S.code</a:t>
              </a:r>
              <a:endParaRPr lang="en-US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4861083-F971-90C7-8771-C3EBB19B9239}"/>
              </a:ext>
            </a:extLst>
          </p:cNvPr>
          <p:cNvSpPr/>
          <p:nvPr/>
        </p:nvSpPr>
        <p:spPr>
          <a:xfrm>
            <a:off x="2808515" y="3703589"/>
            <a:ext cx="2989942" cy="279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2E99F0-AB6A-B0C7-693B-3023055C7038}"/>
              </a:ext>
            </a:extLst>
          </p:cNvPr>
          <p:cNvSpPr/>
          <p:nvPr/>
        </p:nvSpPr>
        <p:spPr>
          <a:xfrm>
            <a:off x="2808515" y="4023626"/>
            <a:ext cx="3185885" cy="31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F3CCE4-0D6F-6286-AD2E-9CE0CB47B777}"/>
              </a:ext>
            </a:extLst>
          </p:cNvPr>
          <p:cNvSpPr/>
          <p:nvPr/>
        </p:nvSpPr>
        <p:spPr>
          <a:xfrm>
            <a:off x="2808516" y="4363838"/>
            <a:ext cx="3824514" cy="534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C25741-5036-5497-08BD-FC76B978B5DD}"/>
              </a:ext>
            </a:extLst>
          </p:cNvPr>
          <p:cNvSpPr txBox="1"/>
          <p:nvPr/>
        </p:nvSpPr>
        <p:spPr>
          <a:xfrm>
            <a:off x="6131442" y="5296008"/>
            <a:ext cx="9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S.next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DBAC28-B469-7AA7-AEA3-4E427976D690}"/>
                  </a:ext>
                </a:extLst>
              </p:cNvPr>
              <p:cNvSpPr txBox="1"/>
              <p:nvPr/>
            </p:nvSpPr>
            <p:spPr>
              <a:xfrm>
                <a:off x="3810948" y="2423061"/>
                <a:ext cx="3338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𝑒𝑤𝑙𝑎𝑏𝑒𝑙</m:t>
                    </m:r>
                    <m:r>
                      <a:rPr lang="en-US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()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andara" panose="020E0502030303020204" pitchFamily="34" charset="0"/>
                    <a:cs typeface="Andalus" panose="02020603050405020304" pitchFamily="18" charset="-78"/>
                  </a:rPr>
                  <a:t> creates</a:t>
                </a:r>
              </a:p>
              <a:p>
                <a:pPr algn="ctr"/>
                <a:r>
                  <a:rPr lang="en-US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andara" panose="020E0502030303020204" pitchFamily="34" charset="0"/>
                    <a:cs typeface="Andalus" panose="02020603050405020304" pitchFamily="18" charset="-78"/>
                  </a:rPr>
                  <a:t>new label each time it is called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DBAC28-B469-7AA7-AEA3-4E427976D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948" y="2423061"/>
                <a:ext cx="3338283" cy="646331"/>
              </a:xfrm>
              <a:prstGeom prst="rect">
                <a:avLst/>
              </a:prstGeom>
              <a:blipFill>
                <a:blip r:embed="rId4"/>
                <a:stretch>
                  <a:fillRect t="-4673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08B32D-7C5E-6D80-F897-968E8E23D9EF}"/>
              </a:ext>
            </a:extLst>
          </p:cNvPr>
          <p:cNvCxnSpPr>
            <a:cxnSpLocks/>
          </p:cNvCxnSpPr>
          <p:nvPr/>
        </p:nvCxnSpPr>
        <p:spPr>
          <a:xfrm flipH="1">
            <a:off x="4455885" y="3077353"/>
            <a:ext cx="769258" cy="68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616F57-0A2D-683E-682E-870D1E73C5C2}"/>
                  </a:ext>
                </a:extLst>
              </p:cNvPr>
              <p:cNvSpPr txBox="1"/>
              <p:nvPr/>
            </p:nvSpPr>
            <p:spPr>
              <a:xfrm>
                <a:off x="2234119" y="5459475"/>
                <a:ext cx="32232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𝑙𝑎𝑏𝑒𝑙</m:t>
                    </m:r>
                    <m:r>
                      <a:rPr lang="en-US" sz="1600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(</m:t>
                    </m:r>
                    <m:r>
                      <a:rPr lang="en-US" sz="1600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𝐿</m:t>
                    </m:r>
                    <m:r>
                      <a:rPr lang="en-US" sz="1600" i="1" dirty="0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Andalus" panose="02020603050405020304" pitchFamily="18" charset="-78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Candara" panose="020E0502030303020204" pitchFamily="34" charset="0"/>
                    <a:cs typeface="Andalus" panose="02020603050405020304" pitchFamily="18" charset="-78"/>
                  </a:rPr>
                  <a:t> attaches label L to the next instruction to be generated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616F57-0A2D-683E-682E-870D1E73C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119" y="5459475"/>
                <a:ext cx="3223252" cy="584775"/>
              </a:xfrm>
              <a:prstGeom prst="rect">
                <a:avLst/>
              </a:prstGeom>
              <a:blipFill>
                <a:blip r:embed="rId5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939303-A898-B73C-625E-6DD229CB4BE2}"/>
              </a:ext>
            </a:extLst>
          </p:cNvPr>
          <p:cNvCxnSpPr>
            <a:cxnSpLocks/>
          </p:cNvCxnSpPr>
          <p:nvPr/>
        </p:nvCxnSpPr>
        <p:spPr>
          <a:xfrm flipV="1">
            <a:off x="3845745" y="4690816"/>
            <a:ext cx="1322598" cy="739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F016F6-EDBC-5631-49B1-1CA4F4E4C326}"/>
              </a:ext>
            </a:extLst>
          </p:cNvPr>
          <p:cNvSpPr txBox="1"/>
          <p:nvPr/>
        </p:nvSpPr>
        <p:spPr>
          <a:xfrm>
            <a:off x="7034955" y="1215019"/>
            <a:ext cx="5000712" cy="147732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x 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b="0" dirty="0">
                <a:solidFill>
                  <a:srgbClr val="FF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342416-C2DC-6856-A5EC-3962C8025028}"/>
              </a:ext>
            </a:extLst>
          </p:cNvPr>
          <p:cNvGrpSpPr/>
          <p:nvPr/>
        </p:nvGrpSpPr>
        <p:grpSpPr>
          <a:xfrm>
            <a:off x="7651275" y="686696"/>
            <a:ext cx="4091572" cy="521883"/>
            <a:chOff x="7651275" y="686696"/>
            <a:chExt cx="4091572" cy="521883"/>
          </a:xfrm>
        </p:grpSpPr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A48AC7F3-480B-07AD-2165-48C9CD45036A}"/>
                </a:ext>
              </a:extLst>
            </p:cNvPr>
            <p:cNvSpPr/>
            <p:nvPr/>
          </p:nvSpPr>
          <p:spPr>
            <a:xfrm rot="5400000" flipV="1">
              <a:off x="9595866" y="-938401"/>
              <a:ext cx="202389" cy="4091572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6DDDA1-B525-FD45-6E55-C89CDA345CBE}"/>
                </a:ext>
              </a:extLst>
            </p:cNvPr>
            <p:cNvSpPr txBox="1"/>
            <p:nvPr/>
          </p:nvSpPr>
          <p:spPr>
            <a:xfrm>
              <a:off x="10234993" y="686696"/>
              <a:ext cx="630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B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AE8930-05C6-B38E-F39E-D7A038FEAC38}"/>
              </a:ext>
            </a:extLst>
          </p:cNvPr>
          <p:cNvGrpSpPr/>
          <p:nvPr/>
        </p:nvGrpSpPr>
        <p:grpSpPr>
          <a:xfrm>
            <a:off x="8693425" y="1645272"/>
            <a:ext cx="738730" cy="669987"/>
            <a:chOff x="8726718" y="1645272"/>
            <a:chExt cx="783916" cy="66998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78A9ADE-5299-F2F3-33B1-BBC0644A4CD9}"/>
                </a:ext>
              </a:extLst>
            </p:cNvPr>
            <p:cNvSpPr txBox="1"/>
            <p:nvPr/>
          </p:nvSpPr>
          <p:spPr>
            <a:xfrm>
              <a:off x="8880479" y="1742950"/>
              <a:ext cx="630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2400" baseline="-25000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30276047-B58F-1FBF-4C0B-AFC1E7A83F28}"/>
                </a:ext>
              </a:extLst>
            </p:cNvPr>
            <p:cNvSpPr/>
            <p:nvPr/>
          </p:nvSpPr>
          <p:spPr>
            <a:xfrm>
              <a:off x="8726718" y="1645272"/>
              <a:ext cx="250371" cy="669987"/>
            </a:xfrm>
            <a:prstGeom prst="rightBrac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77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8" grpId="0"/>
      <p:bldP spid="19" grpId="0"/>
      <p:bldP spid="20" grpId="0" animBg="1"/>
      <p:bldP spid="25" grpId="0"/>
      <p:bldP spid="30" grpId="0" animBg="1"/>
      <p:bldP spid="31" grpId="0" animBg="1"/>
      <p:bldP spid="32" grpId="0" animBg="1"/>
      <p:bldP spid="33" grpId="0"/>
      <p:bldP spid="34" grpId="0"/>
      <p:bldP spid="42" grpId="0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89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Semantic Rules for the first two productions </a:t>
            </a:r>
          </a:p>
          <a:p>
            <a:pPr marL="0" indent="0">
              <a:buNone/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445168" y="6484824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24676"/>
                  </p:ext>
                </p:extLst>
              </p:nvPr>
            </p:nvGraphicFramePr>
            <p:xfrm>
              <a:off x="754742" y="1996921"/>
              <a:ext cx="8142514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41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5500914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( )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6624676"/>
                  </p:ext>
                </p:extLst>
              </p:nvPr>
            </p:nvGraphicFramePr>
            <p:xfrm>
              <a:off x="754742" y="1996921"/>
              <a:ext cx="8142514" cy="1280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41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5500914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0" t="-60294" r="-208525" b="-10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173" t="-60294" r="-221" b="-10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05F3C95-F273-A055-A678-08226500F2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882596"/>
                  </p:ext>
                </p:extLst>
              </p:nvPr>
            </p:nvGraphicFramePr>
            <p:xfrm>
              <a:off x="753668" y="4155224"/>
              <a:ext cx="8142514" cy="15460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42674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549984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 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b="0" i="1" baseline="-2500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𝑛𝑒𝑥𝑡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05F3C95-F273-A055-A678-08226500F2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2882596"/>
                  </p:ext>
                </p:extLst>
              </p:nvPr>
            </p:nvGraphicFramePr>
            <p:xfrm>
              <a:off x="753668" y="4155224"/>
              <a:ext cx="8142514" cy="154603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642674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549984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1546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0" t="-392" r="-208525" b="-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173" t="-392" r="-221" b="-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D7D9C290-12DD-8B9D-9139-8CD8B0FC271D}"/>
              </a:ext>
            </a:extLst>
          </p:cNvPr>
          <p:cNvSpPr/>
          <p:nvPr/>
        </p:nvSpPr>
        <p:spPr>
          <a:xfrm>
            <a:off x="10098314" y="1802106"/>
            <a:ext cx="1669143" cy="13946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</a:rPr>
              <a:t>S.code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CA9804-6781-805A-9E52-8CC15C5A1812}"/>
              </a:ext>
            </a:extLst>
          </p:cNvPr>
          <p:cNvSpPr txBox="1"/>
          <p:nvPr/>
        </p:nvSpPr>
        <p:spPr>
          <a:xfrm>
            <a:off x="9307289" y="3081186"/>
            <a:ext cx="9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S.next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3BA72C-5BE3-7D51-F8C7-FCCAF86F3A42}"/>
              </a:ext>
            </a:extLst>
          </p:cNvPr>
          <p:cNvSpPr/>
          <p:nvPr/>
        </p:nvSpPr>
        <p:spPr>
          <a:xfrm>
            <a:off x="10126273" y="3670290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S1.code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FE63E2-7A99-A6F7-9817-BD320689A40D}"/>
              </a:ext>
            </a:extLst>
          </p:cNvPr>
          <p:cNvSpPr/>
          <p:nvPr/>
        </p:nvSpPr>
        <p:spPr>
          <a:xfrm>
            <a:off x="10120086" y="576375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 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14BA7-269A-4D58-AC4F-88E094699B3D}"/>
              </a:ext>
            </a:extLst>
          </p:cNvPr>
          <p:cNvSpPr txBox="1"/>
          <p:nvPr/>
        </p:nvSpPr>
        <p:spPr>
          <a:xfrm>
            <a:off x="9202055" y="5751814"/>
            <a:ext cx="109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S2.next: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D5F51-A022-6FAA-2573-EFA481DA5399}"/>
              </a:ext>
            </a:extLst>
          </p:cNvPr>
          <p:cNvSpPr/>
          <p:nvPr/>
        </p:nvSpPr>
        <p:spPr>
          <a:xfrm>
            <a:off x="10120086" y="4710340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S2.code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53C5EF-3618-64AD-89C2-73CD4EB954F3}"/>
              </a:ext>
            </a:extLst>
          </p:cNvPr>
          <p:cNvSpPr txBox="1"/>
          <p:nvPr/>
        </p:nvSpPr>
        <p:spPr>
          <a:xfrm>
            <a:off x="9202055" y="4655988"/>
            <a:ext cx="109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S1.next:</a:t>
            </a:r>
          </a:p>
        </p:txBody>
      </p:sp>
    </p:spTree>
    <p:extLst>
      <p:ext uri="{BB962C8B-B14F-4D97-AF65-F5344CB8AC3E}">
        <p14:creationId xmlns:p14="http://schemas.microsoft.com/office/powerpoint/2010/main" val="6116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/>
      <p:bldP spid="18" grpId="0" animBg="1"/>
      <p:bldP spid="19" grpId="0" animBg="1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sz="3200" dirty="0">
                <a:latin typeface="Candara" panose="020E0502030303020204" pitchFamily="34" charset="0"/>
              </a:rPr>
              <a:t>Attributes of SDD:</a:t>
            </a:r>
          </a:p>
          <a:p>
            <a:pPr lvl="1"/>
            <a:r>
              <a:rPr lang="en-US" altLang="en-US" sz="2800" dirty="0">
                <a:latin typeface="Candara" panose="020E0502030303020204" pitchFamily="34" charset="0"/>
              </a:rPr>
              <a:t>Codes are managed using</a:t>
            </a:r>
          </a:p>
          <a:p>
            <a:pPr lvl="2"/>
            <a:r>
              <a:rPr lang="en-US" altLang="en-US" sz="2400" dirty="0" err="1">
                <a:latin typeface="Candara" panose="020E0502030303020204" pitchFamily="34" charset="0"/>
              </a:rPr>
              <a:t>B.code</a:t>
            </a:r>
            <a:r>
              <a:rPr lang="en-US" altLang="en-US" sz="2400" dirty="0">
                <a:latin typeface="Candara" panose="020E0502030303020204" pitchFamily="34" charset="0"/>
              </a:rPr>
              <a:t> : contains codes of B</a:t>
            </a:r>
          </a:p>
          <a:p>
            <a:pPr lvl="2"/>
            <a:r>
              <a:rPr lang="en-US" altLang="en-US" sz="2400" dirty="0" err="1">
                <a:latin typeface="Candara" panose="020E0502030303020204" pitchFamily="34" charset="0"/>
              </a:rPr>
              <a:t>S.code</a:t>
            </a:r>
            <a:r>
              <a:rPr lang="en-US" altLang="en-US" sz="2400" dirty="0">
                <a:latin typeface="Candara" panose="020E0502030303020204" pitchFamily="34" charset="0"/>
              </a:rPr>
              <a:t> : contains codes of S</a:t>
            </a:r>
          </a:p>
          <a:p>
            <a:endParaRPr lang="en-US" altLang="en-US" sz="3200" dirty="0">
              <a:latin typeface="Candara" panose="020E0502030303020204" pitchFamily="34" charset="0"/>
            </a:endParaRPr>
          </a:p>
          <a:p>
            <a:pPr lvl="1"/>
            <a:r>
              <a:rPr lang="en-US" altLang="en-US" sz="2800" dirty="0">
                <a:latin typeface="Candara" panose="020E0502030303020204" pitchFamily="34" charset="0"/>
              </a:rPr>
              <a:t>Jumping Labels are managed using</a:t>
            </a:r>
          </a:p>
          <a:p>
            <a:pPr lvl="2"/>
            <a:r>
              <a:rPr lang="en-US" altLang="en-US" sz="2400" dirty="0" err="1">
                <a:latin typeface="Candara" panose="020E0502030303020204" pitchFamily="34" charset="0"/>
              </a:rPr>
              <a:t>B.true</a:t>
            </a:r>
            <a:r>
              <a:rPr lang="en-US" altLang="en-US" sz="2400" dirty="0">
                <a:latin typeface="Candara" panose="020E0502030303020204" pitchFamily="34" charset="0"/>
              </a:rPr>
              <a:t> : label to which control flows if B is true</a:t>
            </a:r>
          </a:p>
          <a:p>
            <a:pPr lvl="2"/>
            <a:r>
              <a:rPr lang="en-US" altLang="en-US" sz="2400" dirty="0" err="1">
                <a:latin typeface="Candara" panose="020E0502030303020204" pitchFamily="34" charset="0"/>
              </a:rPr>
              <a:t>B.false</a:t>
            </a:r>
            <a:r>
              <a:rPr lang="en-US" altLang="en-US" sz="2400" dirty="0">
                <a:latin typeface="Candara" panose="020E0502030303020204" pitchFamily="34" charset="0"/>
              </a:rPr>
              <a:t> : label to which control flows if B is false</a:t>
            </a:r>
          </a:p>
          <a:p>
            <a:pPr lvl="2"/>
            <a:r>
              <a:rPr lang="en-US" altLang="en-US" sz="2400" dirty="0" err="1">
                <a:latin typeface="Candara" panose="020E0502030303020204" pitchFamily="34" charset="0"/>
              </a:rPr>
              <a:t>S.next</a:t>
            </a:r>
            <a:r>
              <a:rPr lang="en-US" altLang="en-US" sz="2400" dirty="0">
                <a:latin typeface="Candara" panose="020E0502030303020204" pitchFamily="34" charset="0"/>
              </a:rPr>
              <a:t> : label of an instruction immediately after S</a:t>
            </a:r>
          </a:p>
          <a:p>
            <a:pPr lvl="1"/>
            <a:endParaRPr lang="en-US" altLang="en-US" sz="2800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5795682" y="2339787"/>
            <a:ext cx="187654" cy="769659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52377" y="2535235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ndara" panose="020E0502030303020204" pitchFamily="34" charset="0"/>
              </a:rPr>
              <a:t>Synthesized</a:t>
            </a:r>
          </a:p>
        </p:txBody>
      </p:sp>
      <p:sp>
        <p:nvSpPr>
          <p:cNvPr id="9" name="Right Brace 8"/>
          <p:cNvSpPr/>
          <p:nvPr/>
        </p:nvSpPr>
        <p:spPr>
          <a:xfrm>
            <a:off x="8560010" y="4305469"/>
            <a:ext cx="116779" cy="1025857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698767" y="460799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ndara" panose="020E0502030303020204" pitchFamily="34" charset="0"/>
              </a:rPr>
              <a:t>Inherited</a:t>
            </a:r>
          </a:p>
        </p:txBody>
      </p:sp>
    </p:spTree>
    <p:extLst>
      <p:ext uri="{BB962C8B-B14F-4D97-AF65-F5344CB8AC3E}">
        <p14:creationId xmlns:p14="http://schemas.microsoft.com/office/powerpoint/2010/main" val="201694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9" grpId="0" animBg="1"/>
      <p:bldP spid="1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10515600" cy="478522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  <a:p>
                <a:pPr marL="0" indent="0">
                  <a:buNone/>
                </a:pP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10515600" cy="478522"/>
              </a:xfrm>
              <a:blipFill>
                <a:blip r:embed="rId2"/>
                <a:stretch>
                  <a:fillRect l="-1043" t="-20253" b="-35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431203"/>
                  </p:ext>
                </p:extLst>
              </p:nvPr>
            </p:nvGraphicFramePr>
            <p:xfrm>
              <a:off x="566058" y="2040468"/>
              <a:ext cx="7344229" cy="2621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88342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455887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𝑒𝑙𝑠𝑒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aseline="-25000" dirty="0">
                            <a:latin typeface="Candara" panose="020E0502030303020204" pitchFamily="34" charset="0"/>
                          </a:endParaRPr>
                        </a:p>
                        <a:p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𝑓𝑎𝑙𝑠𝑒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𝑡𝑟𝑢𝑒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𝑔𝑒𝑛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𝑔𝑜𝑡</m:t>
                                    </m:r>
                                    <m:sSup>
                                      <m:sSup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p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𝑛𝑒𝑥𝑡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𝑓𝑎𝑙𝑠𝑒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431203"/>
                  </p:ext>
                </p:extLst>
              </p:nvPr>
            </p:nvGraphicFramePr>
            <p:xfrm>
              <a:off x="566058" y="2040468"/>
              <a:ext cx="7344229" cy="2621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88342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455887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1" t="-19126" r="-154852" b="-27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891" t="-19126" r="-273" b="-27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7A413DA-6BFE-C2FE-CA4C-9AE7C7EEC488}"/>
              </a:ext>
            </a:extLst>
          </p:cNvPr>
          <p:cNvSpPr/>
          <p:nvPr/>
        </p:nvSpPr>
        <p:spPr>
          <a:xfrm>
            <a:off x="8951684" y="239303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</a:rPr>
              <a:t>B.code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BED74-78D4-2900-B11D-647968824871}"/>
              </a:ext>
            </a:extLst>
          </p:cNvPr>
          <p:cNvSpPr/>
          <p:nvPr/>
        </p:nvSpPr>
        <p:spPr>
          <a:xfrm>
            <a:off x="8951684" y="344344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S1.code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E8ABAD-3C1D-C281-3B75-3CE23DAF4D08}"/>
              </a:ext>
            </a:extLst>
          </p:cNvPr>
          <p:cNvGrpSpPr/>
          <p:nvPr/>
        </p:nvGrpSpPr>
        <p:grpSpPr>
          <a:xfrm>
            <a:off x="10453911" y="2174043"/>
            <a:ext cx="1516746" cy="437984"/>
            <a:chOff x="10522857" y="1882362"/>
            <a:chExt cx="1516746" cy="437984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E114737-4025-8B13-06F5-B94F730EB302}"/>
                </a:ext>
              </a:extLst>
            </p:cNvPr>
            <p:cNvCxnSpPr/>
            <p:nvPr/>
          </p:nvCxnSpPr>
          <p:spPr>
            <a:xfrm>
              <a:off x="10522857" y="2320346"/>
              <a:ext cx="830943" cy="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4C7E47-68D9-8BAE-AA37-76D52C71224B}"/>
                </a:ext>
              </a:extLst>
            </p:cNvPr>
            <p:cNvSpPr txBox="1"/>
            <p:nvPr/>
          </p:nvSpPr>
          <p:spPr>
            <a:xfrm>
              <a:off x="10892974" y="1882362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to </a:t>
              </a:r>
              <a:r>
                <a:rPr lang="en-US" i="1" dirty="0" err="1">
                  <a:solidFill>
                    <a:srgbClr val="00B050"/>
                  </a:solidFill>
                </a:rPr>
                <a:t>B.true</a:t>
              </a:r>
              <a:r>
                <a:rPr lang="en-US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CC5F64-F4DC-A53E-489C-D3F7C30BF309}"/>
              </a:ext>
            </a:extLst>
          </p:cNvPr>
          <p:cNvGrpSpPr/>
          <p:nvPr/>
        </p:nvGrpSpPr>
        <p:grpSpPr>
          <a:xfrm>
            <a:off x="10453911" y="2762367"/>
            <a:ext cx="1436917" cy="420915"/>
            <a:chOff x="10602686" y="2471761"/>
            <a:chExt cx="1436917" cy="42091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5E0D19D-A126-9700-E738-200838BE39DB}"/>
                </a:ext>
              </a:extLst>
            </p:cNvPr>
            <p:cNvCxnSpPr/>
            <p:nvPr/>
          </p:nvCxnSpPr>
          <p:spPr>
            <a:xfrm>
              <a:off x="10602686" y="2892676"/>
              <a:ext cx="83094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F60C9D-3459-7667-91D8-5DAEE7E8DBE3}"/>
                </a:ext>
              </a:extLst>
            </p:cNvPr>
            <p:cNvSpPr txBox="1"/>
            <p:nvPr/>
          </p:nvSpPr>
          <p:spPr>
            <a:xfrm>
              <a:off x="10892974" y="2471761"/>
              <a:ext cx="1146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to </a:t>
              </a:r>
              <a:r>
                <a:rPr lang="en-US" i="1" dirty="0" err="1">
                  <a:solidFill>
                    <a:srgbClr val="FF0000"/>
                  </a:solidFill>
                </a:rPr>
                <a:t>B.false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2E60E83-1449-4539-85A7-6CB88E70C1A6}"/>
              </a:ext>
            </a:extLst>
          </p:cNvPr>
          <p:cNvSpPr txBox="1"/>
          <p:nvPr/>
        </p:nvSpPr>
        <p:spPr>
          <a:xfrm>
            <a:off x="8164286" y="3304521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B.true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724922-97DD-340C-B583-021A44083A64}"/>
              </a:ext>
            </a:extLst>
          </p:cNvPr>
          <p:cNvSpPr txBox="1"/>
          <p:nvPr/>
        </p:nvSpPr>
        <p:spPr>
          <a:xfrm>
            <a:off x="8069030" y="4343930"/>
            <a:ext cx="89353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FF0000"/>
                </a:solidFill>
              </a:rPr>
              <a:t>B.false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A7F432-B0C9-0311-71C0-3F31B0D94680}"/>
              </a:ext>
            </a:extLst>
          </p:cNvPr>
          <p:cNvSpPr/>
          <p:nvPr/>
        </p:nvSpPr>
        <p:spPr>
          <a:xfrm>
            <a:off x="8951683" y="5672823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 …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ADA6F3-1372-D28D-5B12-526331D45E7B}"/>
              </a:ext>
            </a:extLst>
          </p:cNvPr>
          <p:cNvGrpSpPr/>
          <p:nvPr/>
        </p:nvGrpSpPr>
        <p:grpSpPr>
          <a:xfrm>
            <a:off x="10468426" y="3581798"/>
            <a:ext cx="1436917" cy="420915"/>
            <a:chOff x="10134600" y="3552769"/>
            <a:chExt cx="1436917" cy="42091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D3AA8F-1922-C069-C79A-4FF66CDED3C1}"/>
                </a:ext>
              </a:extLst>
            </p:cNvPr>
            <p:cNvCxnSpPr/>
            <p:nvPr/>
          </p:nvCxnSpPr>
          <p:spPr>
            <a:xfrm>
              <a:off x="10134600" y="3973684"/>
              <a:ext cx="830943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A8D79-D69B-A17A-2020-B5532D1FE2CE}"/>
                </a:ext>
              </a:extLst>
            </p:cNvPr>
            <p:cNvSpPr txBox="1"/>
            <p:nvPr/>
          </p:nvSpPr>
          <p:spPr>
            <a:xfrm>
              <a:off x="10424888" y="3552769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to </a:t>
              </a:r>
              <a:r>
                <a:rPr lang="en-US" i="1" dirty="0">
                  <a:solidFill>
                    <a:srgbClr val="0070C0"/>
                  </a:solidFill>
                </a:rPr>
                <a:t>S1.next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04D448E-2873-B07A-0C62-40F783E27199}"/>
              </a:ext>
            </a:extLst>
          </p:cNvPr>
          <p:cNvSpPr txBox="1"/>
          <p:nvPr/>
        </p:nvSpPr>
        <p:spPr>
          <a:xfrm>
            <a:off x="7267679" y="5596923"/>
            <a:ext cx="99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S1.next: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22ACF8-18CC-5F1B-C748-6FDF177266C0}"/>
              </a:ext>
            </a:extLst>
          </p:cNvPr>
          <p:cNvGrpSpPr/>
          <p:nvPr/>
        </p:nvGrpSpPr>
        <p:grpSpPr>
          <a:xfrm>
            <a:off x="8844784" y="1924958"/>
            <a:ext cx="1828796" cy="3672953"/>
            <a:chOff x="8501746" y="2026075"/>
            <a:chExt cx="1828796" cy="248786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198C3E-4A78-D2DB-D2D4-DCC7CBA61EFC}"/>
                </a:ext>
              </a:extLst>
            </p:cNvPr>
            <p:cNvSpPr/>
            <p:nvPr/>
          </p:nvSpPr>
          <p:spPr>
            <a:xfrm>
              <a:off x="8567058" y="2287296"/>
              <a:ext cx="1763484" cy="22266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3E61B4-611F-396C-C40D-CCEB8B68E9E8}"/>
                </a:ext>
              </a:extLst>
            </p:cNvPr>
            <p:cNvSpPr txBox="1"/>
            <p:nvPr/>
          </p:nvSpPr>
          <p:spPr>
            <a:xfrm>
              <a:off x="8501746" y="2026075"/>
              <a:ext cx="903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S.code</a:t>
              </a:r>
              <a:endParaRPr lang="en-US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D2B892C-6695-92D9-0905-18FD5A8D91B2}"/>
              </a:ext>
            </a:extLst>
          </p:cNvPr>
          <p:cNvSpPr txBox="1"/>
          <p:nvPr/>
        </p:nvSpPr>
        <p:spPr>
          <a:xfrm>
            <a:off x="8160656" y="5596923"/>
            <a:ext cx="9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S.next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589DDA-8643-7AEC-D9DF-B9BF1FA9C509}"/>
              </a:ext>
            </a:extLst>
          </p:cNvPr>
          <p:cNvSpPr/>
          <p:nvPr/>
        </p:nvSpPr>
        <p:spPr>
          <a:xfrm>
            <a:off x="8955311" y="449776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S2.code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CB46236-F979-FF65-6272-DFA987E44C12}"/>
              </a:ext>
            </a:extLst>
          </p:cNvPr>
          <p:cNvGrpSpPr/>
          <p:nvPr/>
        </p:nvGrpSpPr>
        <p:grpSpPr>
          <a:xfrm>
            <a:off x="10461169" y="4561512"/>
            <a:ext cx="1436917" cy="420915"/>
            <a:chOff x="10134600" y="3552769"/>
            <a:chExt cx="1436917" cy="42091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C1A858D-8373-1998-B259-302204DAF110}"/>
                </a:ext>
              </a:extLst>
            </p:cNvPr>
            <p:cNvCxnSpPr/>
            <p:nvPr/>
          </p:nvCxnSpPr>
          <p:spPr>
            <a:xfrm>
              <a:off x="10134600" y="3973684"/>
              <a:ext cx="830943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3937EF-5CD3-8C01-70C6-A23B7C2D93A3}"/>
                </a:ext>
              </a:extLst>
            </p:cNvPr>
            <p:cNvSpPr txBox="1"/>
            <p:nvPr/>
          </p:nvSpPr>
          <p:spPr>
            <a:xfrm>
              <a:off x="10424888" y="3552769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to </a:t>
              </a:r>
              <a:r>
                <a:rPr lang="en-US" i="1" dirty="0">
                  <a:solidFill>
                    <a:srgbClr val="0070C0"/>
                  </a:solidFill>
                </a:rPr>
                <a:t>S2.next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229295-252B-45E5-5920-0ED40BF7632A}"/>
              </a:ext>
            </a:extLst>
          </p:cNvPr>
          <p:cNvSpPr txBox="1"/>
          <p:nvPr/>
        </p:nvSpPr>
        <p:spPr>
          <a:xfrm>
            <a:off x="6287965" y="5596923"/>
            <a:ext cx="99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S2.next: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99925-797E-970A-C208-38252AB17F2C}"/>
              </a:ext>
            </a:extLst>
          </p:cNvPr>
          <p:cNvSpPr/>
          <p:nvPr/>
        </p:nvSpPr>
        <p:spPr>
          <a:xfrm>
            <a:off x="3519715" y="2466012"/>
            <a:ext cx="3047998" cy="292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A45F86-81FA-AEC8-2F69-07BD99A90FF5}"/>
              </a:ext>
            </a:extLst>
          </p:cNvPr>
          <p:cNvSpPr/>
          <p:nvPr/>
        </p:nvSpPr>
        <p:spPr>
          <a:xfrm>
            <a:off x="3548746" y="2792270"/>
            <a:ext cx="3185885" cy="32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2C5D2F-EB89-4EA5-1233-2DE2643060E5}"/>
              </a:ext>
            </a:extLst>
          </p:cNvPr>
          <p:cNvSpPr/>
          <p:nvPr/>
        </p:nvSpPr>
        <p:spPr>
          <a:xfrm>
            <a:off x="3519715" y="3108667"/>
            <a:ext cx="3824514" cy="282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373BA0-9296-7350-DF5D-1706C966520F}"/>
              </a:ext>
            </a:extLst>
          </p:cNvPr>
          <p:cNvSpPr/>
          <p:nvPr/>
        </p:nvSpPr>
        <p:spPr>
          <a:xfrm>
            <a:off x="3483428" y="3466416"/>
            <a:ext cx="3904347" cy="113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137BE2-F58D-7466-712F-176EDA6AF963}"/>
              </a:ext>
            </a:extLst>
          </p:cNvPr>
          <p:cNvSpPr/>
          <p:nvPr/>
        </p:nvSpPr>
        <p:spPr>
          <a:xfrm>
            <a:off x="3570517" y="4044837"/>
            <a:ext cx="3824514" cy="282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E71B24-C300-34BF-A5B5-109803AC6C79}"/>
              </a:ext>
            </a:extLst>
          </p:cNvPr>
          <p:cNvSpPr txBox="1"/>
          <p:nvPr/>
        </p:nvSpPr>
        <p:spPr>
          <a:xfrm>
            <a:off x="8966197" y="4131474"/>
            <a:ext cx="1640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go to </a:t>
            </a:r>
            <a:r>
              <a:rPr lang="en-US" i="1" dirty="0">
                <a:solidFill>
                  <a:srgbClr val="7030A0"/>
                </a:solidFill>
              </a:rPr>
              <a:t>S1.next</a:t>
            </a:r>
          </a:p>
        </p:txBody>
      </p:sp>
    </p:spTree>
    <p:extLst>
      <p:ext uri="{BB962C8B-B14F-4D97-AF65-F5344CB8AC3E}">
        <p14:creationId xmlns:p14="http://schemas.microsoft.com/office/powerpoint/2010/main" val="22081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6" grpId="0"/>
      <p:bldP spid="17" grpId="0"/>
      <p:bldP spid="18" grpId="0" animBg="1"/>
      <p:bldP spid="22" grpId="0"/>
      <p:bldP spid="26" grpId="0"/>
      <p:bldP spid="27" grpId="0" animBg="1"/>
      <p:bldP spid="31" grpId="0"/>
      <p:bldP spid="32" grpId="0" animBg="1"/>
      <p:bldP spid="33" grpId="0" animBg="1"/>
      <p:bldP spid="34" grpId="0" animBg="1"/>
      <p:bldP spid="36" grpId="0" animBg="1"/>
      <p:bldP spid="35" grpId="0" animBg="1"/>
      <p:bldP spid="3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Flow of Control Statements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5630" y="1262406"/>
                <a:ext cx="10515600" cy="592581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𝑤h𝑖𝑙𝑒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  <a:p>
                <a:pPr marL="0" indent="0">
                  <a:buNone/>
                </a:pP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5630" y="1262406"/>
                <a:ext cx="10515600" cy="592581"/>
              </a:xfrm>
              <a:blipFill>
                <a:blip r:embed="rId2"/>
                <a:stretch>
                  <a:fillRect l="-1043" t="-16495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1718241"/>
                  </p:ext>
                </p:extLst>
              </p:nvPr>
            </p:nvGraphicFramePr>
            <p:xfrm>
              <a:off x="689565" y="2018314"/>
              <a:ext cx="6291805" cy="2621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1062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310743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𝑤h𝑖𝑙𝑒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aseline="-25000" dirty="0">
                            <a:latin typeface="Candara" panose="020E0502030303020204" pitchFamily="34" charset="0"/>
                          </a:endParaRPr>
                        </a:p>
                        <a:p>
                          <a:endParaRPr lang="en-US" sz="2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𝑏𝑒𝑔𝑖𝑛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( )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𝑛𝑒𝑤𝑙𝑎𝑏𝑒𝑙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𝑓𝑎𝑙𝑠𝑒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𝑛𝑒𝑥𝑡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𝑏𝑒𝑔𝑖𝑛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𝑏𝑒𝑔𝑖𝑛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| |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𝑙𝑎𝑏𝑒𝑙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𝑡𝑟𝑢𝑒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𝑐𝑜𝑑𝑒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𝑔𝑒𝑛</m:t>
                                </m:r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𝑔𝑜𝑡</m:t>
                                    </m:r>
                                    <m:sSup>
                                      <m:sSupPr>
                                        <m:ctrlP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p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𝑏𝑒𝑔𝑖𝑛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1718241"/>
                  </p:ext>
                </p:extLst>
              </p:nvPr>
            </p:nvGraphicFramePr>
            <p:xfrm>
              <a:off x="689565" y="2018314"/>
              <a:ext cx="6291805" cy="2621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1062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4310743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" t="-19126" r="-218462" b="-30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6045" t="-19126" r="-282" b="-30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F194898-AE51-91B7-5222-D2DF3EC3ADB2}"/>
              </a:ext>
            </a:extLst>
          </p:cNvPr>
          <p:cNvSpPr/>
          <p:nvPr/>
        </p:nvSpPr>
        <p:spPr>
          <a:xfrm>
            <a:off x="8922656" y="239303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tx1"/>
                </a:solidFill>
              </a:rPr>
              <a:t>B.code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4775D1-68B0-E309-3509-F1084A782911}"/>
              </a:ext>
            </a:extLst>
          </p:cNvPr>
          <p:cNvSpPr/>
          <p:nvPr/>
        </p:nvSpPr>
        <p:spPr>
          <a:xfrm>
            <a:off x="8922656" y="3443445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S1.code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3EB03B-028D-AD10-CED4-C04ABD2FBF6B}"/>
              </a:ext>
            </a:extLst>
          </p:cNvPr>
          <p:cNvGrpSpPr/>
          <p:nvPr/>
        </p:nvGrpSpPr>
        <p:grpSpPr>
          <a:xfrm>
            <a:off x="10424883" y="2174043"/>
            <a:ext cx="1516746" cy="437984"/>
            <a:chOff x="10522857" y="1882362"/>
            <a:chExt cx="1516746" cy="43798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5E2D417-3E9C-A392-31A7-12C9BB8315A5}"/>
                </a:ext>
              </a:extLst>
            </p:cNvPr>
            <p:cNvCxnSpPr/>
            <p:nvPr/>
          </p:nvCxnSpPr>
          <p:spPr>
            <a:xfrm>
              <a:off x="10522857" y="2320346"/>
              <a:ext cx="830943" cy="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5553F7-8647-550E-5AE5-29C33A965E8E}"/>
                </a:ext>
              </a:extLst>
            </p:cNvPr>
            <p:cNvSpPr txBox="1"/>
            <p:nvPr/>
          </p:nvSpPr>
          <p:spPr>
            <a:xfrm>
              <a:off x="10892974" y="1882362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to </a:t>
              </a:r>
              <a:r>
                <a:rPr lang="en-US" i="1" dirty="0" err="1">
                  <a:solidFill>
                    <a:srgbClr val="00B050"/>
                  </a:solidFill>
                </a:rPr>
                <a:t>B.true</a:t>
              </a:r>
              <a:r>
                <a:rPr lang="en-US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D81C01-3EEB-70C5-2041-C74CC1BED82A}"/>
              </a:ext>
            </a:extLst>
          </p:cNvPr>
          <p:cNvGrpSpPr/>
          <p:nvPr/>
        </p:nvGrpSpPr>
        <p:grpSpPr>
          <a:xfrm>
            <a:off x="10424883" y="2762367"/>
            <a:ext cx="1436917" cy="420915"/>
            <a:chOff x="10602686" y="2471761"/>
            <a:chExt cx="1436917" cy="42091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FD7F2F6-3310-C300-7685-F349CC1E7449}"/>
                </a:ext>
              </a:extLst>
            </p:cNvPr>
            <p:cNvCxnSpPr/>
            <p:nvPr/>
          </p:nvCxnSpPr>
          <p:spPr>
            <a:xfrm>
              <a:off x="10602686" y="2892676"/>
              <a:ext cx="83094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7777EA-8854-879F-D04F-2F4EE45F3305}"/>
                </a:ext>
              </a:extLst>
            </p:cNvPr>
            <p:cNvSpPr txBox="1"/>
            <p:nvPr/>
          </p:nvSpPr>
          <p:spPr>
            <a:xfrm>
              <a:off x="10892974" y="2471761"/>
              <a:ext cx="11466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to </a:t>
              </a:r>
              <a:r>
                <a:rPr lang="en-US" i="1" dirty="0" err="1">
                  <a:solidFill>
                    <a:srgbClr val="FF0000"/>
                  </a:solidFill>
                </a:rPr>
                <a:t>B.false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9AABCF1-9D23-7F34-F3F3-8C02D75AA3CF}"/>
              </a:ext>
            </a:extLst>
          </p:cNvPr>
          <p:cNvSpPr txBox="1"/>
          <p:nvPr/>
        </p:nvSpPr>
        <p:spPr>
          <a:xfrm>
            <a:off x="8135258" y="3304521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B.true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13468A-4421-9DD5-C38C-50EF9FB5DF1D}"/>
              </a:ext>
            </a:extLst>
          </p:cNvPr>
          <p:cNvSpPr txBox="1"/>
          <p:nvPr/>
        </p:nvSpPr>
        <p:spPr>
          <a:xfrm>
            <a:off x="7123441" y="4482483"/>
            <a:ext cx="89353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FF0000"/>
                </a:solidFill>
              </a:rPr>
              <a:t>B.false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A076E-A895-013E-BA99-97B6E693C103}"/>
              </a:ext>
            </a:extLst>
          </p:cNvPr>
          <p:cNvSpPr/>
          <p:nvPr/>
        </p:nvSpPr>
        <p:spPr>
          <a:xfrm>
            <a:off x="8922655" y="4627793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 …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0C356D-D260-CF60-1261-6A134800F539}"/>
              </a:ext>
            </a:extLst>
          </p:cNvPr>
          <p:cNvGrpSpPr/>
          <p:nvPr/>
        </p:nvGrpSpPr>
        <p:grpSpPr>
          <a:xfrm>
            <a:off x="10439398" y="3581798"/>
            <a:ext cx="1436917" cy="420915"/>
            <a:chOff x="10134600" y="3552769"/>
            <a:chExt cx="1436917" cy="42091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9A66AF9-C7EF-1F72-F61F-07E11CC91646}"/>
                </a:ext>
              </a:extLst>
            </p:cNvPr>
            <p:cNvCxnSpPr/>
            <p:nvPr/>
          </p:nvCxnSpPr>
          <p:spPr>
            <a:xfrm>
              <a:off x="10134600" y="3973684"/>
              <a:ext cx="830943" cy="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80A572-8888-8CA5-0E35-19F5A65F5150}"/>
                </a:ext>
              </a:extLst>
            </p:cNvPr>
            <p:cNvSpPr txBox="1"/>
            <p:nvPr/>
          </p:nvSpPr>
          <p:spPr>
            <a:xfrm>
              <a:off x="10424888" y="3552769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to </a:t>
              </a:r>
              <a:r>
                <a:rPr lang="en-US" i="1" dirty="0">
                  <a:solidFill>
                    <a:srgbClr val="0070C0"/>
                  </a:solidFill>
                </a:rPr>
                <a:t>S1.next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53ABAC2-F411-9DCB-F6A7-DCEEC5145A3B}"/>
              </a:ext>
            </a:extLst>
          </p:cNvPr>
          <p:cNvSpPr txBox="1"/>
          <p:nvPr/>
        </p:nvSpPr>
        <p:spPr>
          <a:xfrm>
            <a:off x="7999917" y="2213649"/>
            <a:ext cx="99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S1.next: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31F9C6-1A1A-DC02-4705-84BE10BA7CCC}"/>
              </a:ext>
            </a:extLst>
          </p:cNvPr>
          <p:cNvGrpSpPr/>
          <p:nvPr/>
        </p:nvGrpSpPr>
        <p:grpSpPr>
          <a:xfrm>
            <a:off x="8806544" y="1989286"/>
            <a:ext cx="1828796" cy="2573807"/>
            <a:chOff x="8501746" y="2026075"/>
            <a:chExt cx="1828796" cy="246012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FCDFE50-86E4-96B3-EE83-FD93D2F353BA}"/>
                </a:ext>
              </a:extLst>
            </p:cNvPr>
            <p:cNvSpPr/>
            <p:nvPr/>
          </p:nvSpPr>
          <p:spPr>
            <a:xfrm>
              <a:off x="8567058" y="2367660"/>
              <a:ext cx="1763484" cy="211853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F15A5AA-839D-B383-24CA-0137C39E1D49}"/>
                </a:ext>
              </a:extLst>
            </p:cNvPr>
            <p:cNvSpPr txBox="1"/>
            <p:nvPr/>
          </p:nvSpPr>
          <p:spPr>
            <a:xfrm>
              <a:off x="8501746" y="2026075"/>
              <a:ext cx="903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S.code</a:t>
              </a:r>
              <a:endParaRPr lang="en-US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807EE79-F8F1-7FCC-9F8F-9B4F2377BCC6}"/>
              </a:ext>
            </a:extLst>
          </p:cNvPr>
          <p:cNvSpPr txBox="1"/>
          <p:nvPr/>
        </p:nvSpPr>
        <p:spPr>
          <a:xfrm>
            <a:off x="8069941" y="4478215"/>
            <a:ext cx="9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S.next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72DC87-6E3D-59C3-E1D1-79B35510C5BF}"/>
              </a:ext>
            </a:extLst>
          </p:cNvPr>
          <p:cNvSpPr txBox="1"/>
          <p:nvPr/>
        </p:nvSpPr>
        <p:spPr>
          <a:xfrm>
            <a:off x="7181497" y="2219179"/>
            <a:ext cx="99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begin: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5E230E-1ED5-D170-0A91-B1E5B3729838}"/>
              </a:ext>
            </a:extLst>
          </p:cNvPr>
          <p:cNvSpPr txBox="1"/>
          <p:nvPr/>
        </p:nvSpPr>
        <p:spPr>
          <a:xfrm>
            <a:off x="8937169" y="4131474"/>
            <a:ext cx="16401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go to </a:t>
            </a:r>
            <a:r>
              <a:rPr lang="en-US" sz="1600" i="1" dirty="0">
                <a:solidFill>
                  <a:srgbClr val="7030A0"/>
                </a:solidFill>
              </a:rPr>
              <a:t>begin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96EB9F-7838-7025-22B6-5D143DB3C0E2}"/>
              </a:ext>
            </a:extLst>
          </p:cNvPr>
          <p:cNvSpPr/>
          <p:nvPr/>
        </p:nvSpPr>
        <p:spPr>
          <a:xfrm>
            <a:off x="2719616" y="2791576"/>
            <a:ext cx="3047998" cy="374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924ADC-F794-B4E3-24DF-E66C33219B5A}"/>
              </a:ext>
            </a:extLst>
          </p:cNvPr>
          <p:cNvSpPr/>
          <p:nvPr/>
        </p:nvSpPr>
        <p:spPr>
          <a:xfrm>
            <a:off x="2712361" y="3132662"/>
            <a:ext cx="3047998" cy="292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9E7FDA-0900-277C-7A41-D299004B8315}"/>
              </a:ext>
            </a:extLst>
          </p:cNvPr>
          <p:cNvSpPr/>
          <p:nvPr/>
        </p:nvSpPr>
        <p:spPr>
          <a:xfrm>
            <a:off x="2741388" y="2523064"/>
            <a:ext cx="3047998" cy="292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359F8E-DBCC-7158-2B1E-61CD4974CE49}"/>
              </a:ext>
            </a:extLst>
          </p:cNvPr>
          <p:cNvSpPr/>
          <p:nvPr/>
        </p:nvSpPr>
        <p:spPr>
          <a:xfrm>
            <a:off x="2712359" y="3364888"/>
            <a:ext cx="3047998" cy="333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FF4F31-24A5-C3C7-AFD7-C7FED8875AA8}"/>
              </a:ext>
            </a:extLst>
          </p:cNvPr>
          <p:cNvSpPr/>
          <p:nvPr/>
        </p:nvSpPr>
        <p:spPr>
          <a:xfrm>
            <a:off x="3904343" y="4293801"/>
            <a:ext cx="2305956" cy="333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894F6A-D3E4-EF7B-9882-81B0E4685B6B}"/>
              </a:ext>
            </a:extLst>
          </p:cNvPr>
          <p:cNvSpPr/>
          <p:nvPr/>
        </p:nvSpPr>
        <p:spPr>
          <a:xfrm>
            <a:off x="2712359" y="3691450"/>
            <a:ext cx="3695696" cy="89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1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6" grpId="0"/>
      <p:bldP spid="17" grpId="0"/>
      <p:bldP spid="18" grpId="0" animBg="1"/>
      <p:bldP spid="22" grpId="0"/>
      <p:bldP spid="26" grpId="0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/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Now we will consider productions containing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in their head</a:t>
                </a:r>
              </a:p>
              <a:p>
                <a:pPr lvl="1"/>
                <a:r>
                  <a:rPr lang="en-US" altLang="en-US" dirty="0">
                    <a:latin typeface="Candara" panose="020E0502030303020204" pitchFamily="34" charset="0"/>
                  </a:rPr>
                  <a:t>We want to know how we produce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𝑐𝑜𝑑𝑒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  <a:p>
                <a:pPr marL="0" indent="0">
                  <a:buNone/>
                </a:pPr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84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094" y="2890990"/>
            <a:ext cx="4615506" cy="2715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4451" y="2890990"/>
            <a:ext cx="2831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ndara" panose="020E0502030303020204" pitchFamily="34" charset="0"/>
              </a:rPr>
              <a:t>How to produce </a:t>
            </a:r>
            <a:r>
              <a:rPr lang="en-US" sz="2000" dirty="0" err="1">
                <a:latin typeface="Candara" panose="020E0502030303020204" pitchFamily="34" charset="0"/>
              </a:rPr>
              <a:t>B.code</a:t>
            </a:r>
            <a:r>
              <a:rPr lang="en-US" sz="2000" dirty="0">
                <a:latin typeface="Candara" panose="020E0502030303020204" pitchFamily="34" charset="0"/>
              </a:rPr>
              <a:t>?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267200" y="3091543"/>
            <a:ext cx="1291771" cy="6716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/>
          <a:lstStyle/>
          <a:p>
            <a:r>
              <a:rPr lang="en-US" altLang="en-US" dirty="0">
                <a:latin typeface="Candara" panose="020E0502030303020204" pitchFamily="34" charset="0"/>
              </a:rPr>
              <a:t>The Grammar</a:t>
            </a:r>
          </a:p>
          <a:p>
            <a:pPr marL="0" indent="0">
              <a:buNone/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17376"/>
                  </p:ext>
                </p:extLst>
              </p:nvPr>
            </p:nvGraphicFramePr>
            <p:xfrm>
              <a:off x="2844800" y="2084009"/>
              <a:ext cx="6807200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3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340360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1" i="0" dirty="0" smtClean="0">
                                    <a:latin typeface="Cambria Math" panose="02040503050406030204" pitchFamily="18" charset="0"/>
                                  </a:rPr>
                                  <m:t> &amp;&amp;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i="1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7585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→!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3618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0" dirty="0" smtClean="0">
                                    <a:latin typeface="Cambria Math" panose="02040503050406030204" pitchFamily="18" charset="0"/>
                                  </a:rPr>
                                  <m:t>𝐫𝐞𝐥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400" b="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236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1" i="0" dirty="0" smtClean="0">
                                    <a:latin typeface="Cambria Math" panose="02040503050406030204" pitchFamily="18" charset="0"/>
                                  </a:rPr>
                                  <m:t>𝐭𝐫𝐮𝐞</m:t>
                                </m:r>
                              </m:oMath>
                            </m:oMathPara>
                          </a14:m>
                          <a:endParaRPr lang="en-US" sz="2400" b="1" i="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72185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b="1" i="0" dirty="0" smtClean="0">
                                    <a:latin typeface="Cambria Math" panose="02040503050406030204" pitchFamily="18" charset="0"/>
                                  </a:rPr>
                                  <m:t>𝐟𝐚𝐥𝐬𝐞</m:t>
                                </m:r>
                              </m:oMath>
                            </m:oMathPara>
                          </a14:m>
                          <a:endParaRPr lang="en-US" sz="2400" b="1" i="0" baseline="-250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1015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17376"/>
                  </p:ext>
                </p:extLst>
              </p:nvPr>
            </p:nvGraphicFramePr>
            <p:xfrm>
              <a:off x="2844800" y="2084009"/>
              <a:ext cx="6807200" cy="3200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3600">
                      <a:extLst>
                        <a:ext uri="{9D8B030D-6E8A-4147-A177-3AD203B41FA5}">
                          <a16:colId xmlns:a16="http://schemas.microsoft.com/office/drawing/2014/main" val="441847405"/>
                        </a:ext>
                      </a:extLst>
                    </a:gridCol>
                    <a:gridCol w="3403600">
                      <a:extLst>
                        <a:ext uri="{9D8B030D-6E8A-4147-A177-3AD203B41FA5}">
                          <a16:colId xmlns:a16="http://schemas.microsoft.com/office/drawing/2014/main" val="54687814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Productions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Candara" panose="020E0502030303020204" pitchFamily="34" charset="0"/>
                            </a:rPr>
                            <a:t>Semantic Rules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04299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109333" r="-100358" b="-5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55258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209333" r="-100358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75858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305263" r="-100358" b="-298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361814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410667" r="-100358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5236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510667" r="-100358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72185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9" t="-610667" r="-100358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ndara" panose="020E0502030303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1015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57440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 |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86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39" y="2017240"/>
            <a:ext cx="5539693" cy="231923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94BDE11-E9A5-A27D-340D-CF5291797B59}"/>
              </a:ext>
            </a:extLst>
          </p:cNvPr>
          <p:cNvGrpSpPr/>
          <p:nvPr/>
        </p:nvGrpSpPr>
        <p:grpSpPr>
          <a:xfrm>
            <a:off x="8063763" y="2053267"/>
            <a:ext cx="3850159" cy="3368096"/>
            <a:chOff x="8063763" y="2034182"/>
            <a:chExt cx="3850159" cy="33680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6F5F3C-450F-0E1B-E243-E9A2A9C162CA}"/>
                </a:ext>
              </a:extLst>
            </p:cNvPr>
            <p:cNvSpPr/>
            <p:nvPr/>
          </p:nvSpPr>
          <p:spPr>
            <a:xfrm>
              <a:off x="8896593" y="2249895"/>
              <a:ext cx="1669143" cy="104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 err="1">
                  <a:solidFill>
                    <a:schemeClr val="tx1"/>
                  </a:solidFill>
                </a:rPr>
                <a:t>B.code</a:t>
              </a:r>
              <a:endParaRPr lang="en-US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A3D0A8-CB0B-C9FB-0BC6-E8B08A136834}"/>
                </a:ext>
              </a:extLst>
            </p:cNvPr>
            <p:cNvSpPr/>
            <p:nvPr/>
          </p:nvSpPr>
          <p:spPr>
            <a:xfrm>
              <a:off x="8898577" y="3303710"/>
              <a:ext cx="1669143" cy="104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… …. …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2617446-F126-343E-F1F5-939863FFE0B9}"/>
                </a:ext>
              </a:extLst>
            </p:cNvPr>
            <p:cNvGrpSpPr/>
            <p:nvPr/>
          </p:nvGrpSpPr>
          <p:grpSpPr>
            <a:xfrm>
              <a:off x="10397176" y="2034182"/>
              <a:ext cx="1516746" cy="437984"/>
              <a:chOff x="10522857" y="1882362"/>
              <a:chExt cx="1516746" cy="437984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6956C9F0-D80E-37C0-1B1E-7CFBA89D0151}"/>
                  </a:ext>
                </a:extLst>
              </p:cNvPr>
              <p:cNvCxnSpPr/>
              <p:nvPr/>
            </p:nvCxnSpPr>
            <p:spPr>
              <a:xfrm>
                <a:off x="10522857" y="2320346"/>
                <a:ext cx="830943" cy="0"/>
              </a:xfrm>
              <a:prstGeom prst="straightConnector1">
                <a:avLst/>
              </a:prstGeom>
              <a:ln w="28575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C65B40-4421-F3AB-1711-0066DB85B9E5}"/>
                  </a:ext>
                </a:extLst>
              </p:cNvPr>
              <p:cNvSpPr txBox="1"/>
              <p:nvPr/>
            </p:nvSpPr>
            <p:spPr>
              <a:xfrm>
                <a:off x="10892974" y="1882362"/>
                <a:ext cx="114662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to </a:t>
                </a:r>
                <a:r>
                  <a:rPr lang="en-US" i="1" dirty="0" err="1">
                    <a:solidFill>
                      <a:srgbClr val="00B050"/>
                    </a:solidFill>
                  </a:rPr>
                  <a:t>B.true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0D9D7E-196B-4EE4-C282-BCCEFB768FF3}"/>
                </a:ext>
              </a:extLst>
            </p:cNvPr>
            <p:cNvGrpSpPr/>
            <p:nvPr/>
          </p:nvGrpSpPr>
          <p:grpSpPr>
            <a:xfrm>
              <a:off x="10397176" y="2622506"/>
              <a:ext cx="1436917" cy="420915"/>
              <a:chOff x="10602686" y="2471761"/>
              <a:chExt cx="1436917" cy="42091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DC48E58-B05A-F738-9965-89E8D0E47AC1}"/>
                  </a:ext>
                </a:extLst>
              </p:cNvPr>
              <p:cNvCxnSpPr/>
              <p:nvPr/>
            </p:nvCxnSpPr>
            <p:spPr>
              <a:xfrm>
                <a:off x="10602686" y="2892676"/>
                <a:ext cx="830943" cy="0"/>
              </a:xfrm>
              <a:prstGeom prst="straightConnector1">
                <a:avLst/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AF082A-981C-0AA3-8814-BB18B590FD47}"/>
                  </a:ext>
                </a:extLst>
              </p:cNvPr>
              <p:cNvSpPr txBox="1"/>
              <p:nvPr/>
            </p:nvSpPr>
            <p:spPr>
              <a:xfrm>
                <a:off x="10892974" y="2471761"/>
                <a:ext cx="11466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to 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B.false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7AA9B6-3084-380A-4A45-0CF24239B25B}"/>
                </a:ext>
              </a:extLst>
            </p:cNvPr>
            <p:cNvSpPr txBox="1"/>
            <p:nvPr/>
          </p:nvSpPr>
          <p:spPr>
            <a:xfrm>
              <a:off x="8107551" y="3164660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rgbClr val="00B050"/>
                  </a:solidFill>
                </a:rPr>
                <a:t>B.true</a:t>
              </a:r>
              <a:r>
                <a:rPr lang="en-US" dirty="0">
                  <a:solidFill>
                    <a:srgbClr val="00B050"/>
                  </a:solidFill>
                </a:rPr>
                <a:t>: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C1FF27-10D9-F409-6CD7-3DF6F84B0113}"/>
                </a:ext>
              </a:extLst>
            </p:cNvPr>
            <p:cNvSpPr txBox="1"/>
            <p:nvPr/>
          </p:nvSpPr>
          <p:spPr>
            <a:xfrm>
              <a:off x="8063763" y="4293133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rgbClr val="FF0000"/>
                  </a:solidFill>
                </a:rPr>
                <a:t>B.false</a:t>
              </a:r>
              <a:r>
                <a:rPr lang="en-US" dirty="0">
                  <a:solidFill>
                    <a:srgbClr val="FF0000"/>
                  </a:solidFill>
                </a:rPr>
                <a:t>: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CDDCA2-DE32-9DC4-6C5A-B33276546FF9}"/>
                </a:ext>
              </a:extLst>
            </p:cNvPr>
            <p:cNvSpPr/>
            <p:nvPr/>
          </p:nvSpPr>
          <p:spPr>
            <a:xfrm>
              <a:off x="8895608" y="4362228"/>
              <a:ext cx="1669143" cy="104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… … …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02CA084-7AC5-3A79-4A3C-E7B701175D94}"/>
              </a:ext>
            </a:extLst>
          </p:cNvPr>
          <p:cNvSpPr/>
          <p:nvPr/>
        </p:nvSpPr>
        <p:spPr>
          <a:xfrm>
            <a:off x="2729345" y="2641591"/>
            <a:ext cx="4120815" cy="1376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4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89"/>
                <a:ext cx="7624622" cy="643457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 |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89"/>
                <a:ext cx="7624622" cy="643457"/>
              </a:xfrm>
              <a:blipFill>
                <a:blip r:embed="rId2"/>
                <a:stretch>
                  <a:fillRect l="-1440" t="-15094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37" y="2025888"/>
            <a:ext cx="5729017" cy="23984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6F5F3C-450F-0E1B-E243-E9A2A9C162CA}"/>
              </a:ext>
            </a:extLst>
          </p:cNvPr>
          <p:cNvSpPr/>
          <p:nvPr/>
        </p:nvSpPr>
        <p:spPr>
          <a:xfrm>
            <a:off x="8813463" y="2637231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B2.code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3D0A8-CB0B-C9FB-0BC6-E8B08A136834}"/>
              </a:ext>
            </a:extLst>
          </p:cNvPr>
          <p:cNvSpPr/>
          <p:nvPr/>
        </p:nvSpPr>
        <p:spPr>
          <a:xfrm>
            <a:off x="8812478" y="3803697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…. 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617446-F126-343E-F1F5-939863FFE0B9}"/>
              </a:ext>
            </a:extLst>
          </p:cNvPr>
          <p:cNvGrpSpPr/>
          <p:nvPr/>
        </p:nvGrpSpPr>
        <p:grpSpPr>
          <a:xfrm>
            <a:off x="10314046" y="2446539"/>
            <a:ext cx="1516746" cy="437984"/>
            <a:chOff x="10522857" y="1882362"/>
            <a:chExt cx="1516746" cy="43798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956C9F0-D80E-37C0-1B1E-7CFBA89D0151}"/>
                </a:ext>
              </a:extLst>
            </p:cNvPr>
            <p:cNvCxnSpPr/>
            <p:nvPr/>
          </p:nvCxnSpPr>
          <p:spPr>
            <a:xfrm>
              <a:off x="10522857" y="2320346"/>
              <a:ext cx="830943" cy="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C65B40-4421-F3AB-1711-0066DB85B9E5}"/>
                </a:ext>
              </a:extLst>
            </p:cNvPr>
            <p:cNvSpPr txBox="1"/>
            <p:nvPr/>
          </p:nvSpPr>
          <p:spPr>
            <a:xfrm>
              <a:off x="10892974" y="1882362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to </a:t>
              </a:r>
              <a:r>
                <a:rPr lang="en-US" i="1" dirty="0">
                  <a:solidFill>
                    <a:srgbClr val="00B050"/>
                  </a:solidFill>
                </a:rPr>
                <a:t>B2.true</a:t>
              </a:r>
              <a:r>
                <a:rPr lang="en-US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D9D7E-196B-4EE4-C282-BCCEFB768FF3}"/>
              </a:ext>
            </a:extLst>
          </p:cNvPr>
          <p:cNvGrpSpPr/>
          <p:nvPr/>
        </p:nvGrpSpPr>
        <p:grpSpPr>
          <a:xfrm>
            <a:off x="10314046" y="3034418"/>
            <a:ext cx="1669143" cy="420915"/>
            <a:chOff x="10602686" y="2471761"/>
            <a:chExt cx="1669143" cy="42091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DC48E58-B05A-F738-9965-89E8D0E47AC1}"/>
                </a:ext>
              </a:extLst>
            </p:cNvPr>
            <p:cNvCxnSpPr/>
            <p:nvPr/>
          </p:nvCxnSpPr>
          <p:spPr>
            <a:xfrm>
              <a:off x="10602686" y="2892676"/>
              <a:ext cx="83094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AF082A-981C-0AA3-8814-BB18B590FD47}"/>
                </a:ext>
              </a:extLst>
            </p:cNvPr>
            <p:cNvSpPr txBox="1"/>
            <p:nvPr/>
          </p:nvSpPr>
          <p:spPr>
            <a:xfrm>
              <a:off x="10892974" y="2471761"/>
              <a:ext cx="1378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to </a:t>
              </a:r>
              <a:r>
                <a:rPr lang="en-US" i="1" dirty="0">
                  <a:solidFill>
                    <a:srgbClr val="FF0000"/>
                  </a:solidFill>
                </a:rPr>
                <a:t>B2.false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97AA9B6-3084-380A-4A45-0CF24239B25B}"/>
              </a:ext>
            </a:extLst>
          </p:cNvPr>
          <p:cNvSpPr txBox="1"/>
          <p:nvPr/>
        </p:nvSpPr>
        <p:spPr>
          <a:xfrm>
            <a:off x="7982856" y="3677281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B050"/>
                </a:solidFill>
              </a:rPr>
              <a:t>B.true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1FF27-10D9-F409-6CD7-3DF6F84B0113}"/>
              </a:ext>
            </a:extLst>
          </p:cNvPr>
          <p:cNvSpPr txBox="1"/>
          <p:nvPr/>
        </p:nvSpPr>
        <p:spPr>
          <a:xfrm>
            <a:off x="7232481" y="4750334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FF0000"/>
                </a:solidFill>
              </a:rPr>
              <a:t>B.false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CDDCA2-DE32-9DC4-6C5A-B33276546FF9}"/>
              </a:ext>
            </a:extLst>
          </p:cNvPr>
          <p:cNvSpPr/>
          <p:nvPr/>
        </p:nvSpPr>
        <p:spPr>
          <a:xfrm>
            <a:off x="8812478" y="4862707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… … …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A5AC09-CA8C-3D99-8733-75267A3D10BA}"/>
              </a:ext>
            </a:extLst>
          </p:cNvPr>
          <p:cNvGrpSpPr/>
          <p:nvPr/>
        </p:nvGrpSpPr>
        <p:grpSpPr>
          <a:xfrm>
            <a:off x="8693730" y="1132605"/>
            <a:ext cx="1828796" cy="2615672"/>
            <a:chOff x="8501746" y="1898272"/>
            <a:chExt cx="1828796" cy="261567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B078D9-B7C7-AD10-53AB-6B76EC65ABDB}"/>
                </a:ext>
              </a:extLst>
            </p:cNvPr>
            <p:cNvSpPr/>
            <p:nvPr/>
          </p:nvSpPr>
          <p:spPr>
            <a:xfrm>
              <a:off x="8567058" y="2287296"/>
              <a:ext cx="1763484" cy="22266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A9C691-E370-B0AB-62E9-8613B673EDE6}"/>
                </a:ext>
              </a:extLst>
            </p:cNvPr>
            <p:cNvSpPr txBox="1"/>
            <p:nvPr/>
          </p:nvSpPr>
          <p:spPr>
            <a:xfrm>
              <a:off x="8501746" y="1898272"/>
              <a:ext cx="903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B.code</a:t>
              </a:r>
              <a:endParaRPr lang="en-US" i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700A8F5-37B6-E409-A18E-33EC14D2D314}"/>
              </a:ext>
            </a:extLst>
          </p:cNvPr>
          <p:cNvSpPr txBox="1"/>
          <p:nvPr/>
        </p:nvSpPr>
        <p:spPr>
          <a:xfrm>
            <a:off x="8006280" y="4750334"/>
            <a:ext cx="903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S.next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BD0FF1-C7E3-6B01-FD81-240F54D3B072}"/>
              </a:ext>
            </a:extLst>
          </p:cNvPr>
          <p:cNvSpPr/>
          <p:nvPr/>
        </p:nvSpPr>
        <p:spPr>
          <a:xfrm>
            <a:off x="8813462" y="1584281"/>
            <a:ext cx="1669143" cy="104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B1.code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D811E1-306A-D7BD-8A43-C14C01292A10}"/>
              </a:ext>
            </a:extLst>
          </p:cNvPr>
          <p:cNvGrpSpPr/>
          <p:nvPr/>
        </p:nvGrpSpPr>
        <p:grpSpPr>
          <a:xfrm>
            <a:off x="10383317" y="1352029"/>
            <a:ext cx="1516746" cy="437984"/>
            <a:chOff x="10522857" y="1882362"/>
            <a:chExt cx="1516746" cy="4379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5C33804-82E9-EAB3-9066-E905907D3BB2}"/>
                </a:ext>
              </a:extLst>
            </p:cNvPr>
            <p:cNvCxnSpPr/>
            <p:nvPr/>
          </p:nvCxnSpPr>
          <p:spPr>
            <a:xfrm>
              <a:off x="10522857" y="2320346"/>
              <a:ext cx="830943" cy="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938B4E-0BF6-6CE9-070A-E4CA264FCEBD}"/>
                </a:ext>
              </a:extLst>
            </p:cNvPr>
            <p:cNvSpPr txBox="1"/>
            <p:nvPr/>
          </p:nvSpPr>
          <p:spPr>
            <a:xfrm>
              <a:off x="10892974" y="1882362"/>
              <a:ext cx="1146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to </a:t>
              </a:r>
              <a:r>
                <a:rPr lang="en-US" i="1" dirty="0">
                  <a:solidFill>
                    <a:srgbClr val="00B050"/>
                  </a:solidFill>
                </a:rPr>
                <a:t>B1.true</a:t>
              </a:r>
              <a:r>
                <a:rPr lang="en-US" dirty="0">
                  <a:solidFill>
                    <a:srgbClr val="00B050"/>
                  </a:solidFill>
                </a:rPr>
                <a:t>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B3630F-9264-8175-5387-5287E028C8D5}"/>
              </a:ext>
            </a:extLst>
          </p:cNvPr>
          <p:cNvGrpSpPr/>
          <p:nvPr/>
        </p:nvGrpSpPr>
        <p:grpSpPr>
          <a:xfrm>
            <a:off x="10383317" y="1939908"/>
            <a:ext cx="1516746" cy="420915"/>
            <a:chOff x="10602686" y="2471761"/>
            <a:chExt cx="1516746" cy="420915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7E5E9EC-183B-3E47-C12C-F6B6335D1176}"/>
                </a:ext>
              </a:extLst>
            </p:cNvPr>
            <p:cNvCxnSpPr/>
            <p:nvPr/>
          </p:nvCxnSpPr>
          <p:spPr>
            <a:xfrm>
              <a:off x="10602686" y="2892676"/>
              <a:ext cx="830943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BC60B5-C4C9-9F67-FA70-13B6594FF18C}"/>
                </a:ext>
              </a:extLst>
            </p:cNvPr>
            <p:cNvSpPr txBox="1"/>
            <p:nvPr/>
          </p:nvSpPr>
          <p:spPr>
            <a:xfrm>
              <a:off x="10892974" y="2471761"/>
              <a:ext cx="1226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to </a:t>
              </a:r>
              <a:r>
                <a:rPr lang="en-US" i="1" dirty="0">
                  <a:solidFill>
                    <a:srgbClr val="FF0000"/>
                  </a:solidFill>
                </a:rPr>
                <a:t>B1.false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D8A7B23-17DF-E05B-A9F0-5EECA104ECF9}"/>
              </a:ext>
            </a:extLst>
          </p:cNvPr>
          <p:cNvSpPr txBox="1"/>
          <p:nvPr/>
        </p:nvSpPr>
        <p:spPr>
          <a:xfrm>
            <a:off x="7143705" y="3677281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B1.true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B0F215-4091-859B-F0CC-798E9B7E0DB2}"/>
              </a:ext>
            </a:extLst>
          </p:cNvPr>
          <p:cNvSpPr txBox="1"/>
          <p:nvPr/>
        </p:nvSpPr>
        <p:spPr>
          <a:xfrm>
            <a:off x="7682014" y="2538097"/>
            <a:ext cx="122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B1.false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AE7490-053E-B703-2E6B-9A16432C3130}"/>
              </a:ext>
            </a:extLst>
          </p:cNvPr>
          <p:cNvSpPr txBox="1"/>
          <p:nvPr/>
        </p:nvSpPr>
        <p:spPr>
          <a:xfrm>
            <a:off x="6326285" y="3677279"/>
            <a:ext cx="11466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B2.true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F76A96-B3D9-BBEA-1C8A-7A9F13E1D39C}"/>
              </a:ext>
            </a:extLst>
          </p:cNvPr>
          <p:cNvSpPr txBox="1"/>
          <p:nvPr/>
        </p:nvSpPr>
        <p:spPr>
          <a:xfrm>
            <a:off x="6338122" y="4754828"/>
            <a:ext cx="122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B2.false: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9FB73-E5C5-B5B6-98A8-55B1CD3AACC9}"/>
              </a:ext>
            </a:extLst>
          </p:cNvPr>
          <p:cNvSpPr/>
          <p:nvPr/>
        </p:nvSpPr>
        <p:spPr>
          <a:xfrm>
            <a:off x="1911927" y="2631205"/>
            <a:ext cx="4017483" cy="14154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1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  <p:bldP spid="34" grpId="0"/>
      <p:bldP spid="35" grpId="0"/>
      <p:bldP spid="36" grpId="0"/>
      <p:bldP spid="37" grpId="0"/>
      <p:bldP spid="3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en-US" dirty="0">
                    <a:latin typeface="Candara" panose="020E0502030303020204" pitchFamily="34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b="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b="0" baseline="-25000" dirty="0">
                  <a:latin typeface="Candara" panose="020E0502030303020204" pitchFamily="34" charset="0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en-US" dirty="0">
                    <a:latin typeface="Candara" panose="020E0502030303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is </a:t>
                </a: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  <a:latin typeface="Candara" panose="020E0502030303020204" pitchFamily="34" charset="0"/>
                  </a:rPr>
                  <a:t>true </a:t>
                </a:r>
                <a:r>
                  <a:rPr lang="en-US" altLang="en-US" dirty="0">
                    <a:latin typeface="Candara" panose="020E0502030303020204" pitchFamily="34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is also </a:t>
                </a:r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  <a:latin typeface="Candara" panose="020E0502030303020204" pitchFamily="34" charset="0"/>
                  </a:rPr>
                  <a:t>true</a:t>
                </a:r>
                <a:r>
                  <a:rPr lang="en-US" altLang="en-US" dirty="0">
                    <a:latin typeface="Candara" panose="020E0502030303020204" pitchFamily="34" charset="0"/>
                  </a:rPr>
                  <a:t>. So label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altLang="en-US" dirty="0">
                    <a:solidFill>
                      <a:schemeClr val="accent2">
                        <a:lumMod val="75000"/>
                      </a:schemeClr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altLang="en-US" dirty="0">
                    <a:latin typeface="Candara" panose="020E0502030303020204" pitchFamily="34" charset="0"/>
                  </a:rPr>
                  <a:t>is same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en-US" dirty="0">
                    <a:latin typeface="Candara" panose="020E0502030303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is </a:t>
                </a:r>
                <a:r>
                  <a:rPr lang="en-US" altLang="en-US" dirty="0">
                    <a:solidFill>
                      <a:srgbClr val="FF0000"/>
                    </a:solidFill>
                    <a:latin typeface="Candara" panose="020E0502030303020204" pitchFamily="34" charset="0"/>
                  </a:rPr>
                  <a:t>false</a:t>
                </a:r>
                <a:r>
                  <a:rPr lang="en-US" altLang="en-US" dirty="0">
                    <a:latin typeface="Candara" panose="020E0502030303020204" pitchFamily="34" charset="0"/>
                  </a:rPr>
                  <a:t>, then we need to evaluate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. So label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r>
                  <a:rPr lang="en-US" altLang="en-US" dirty="0">
                    <a:solidFill>
                      <a:srgbClr val="FF0000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altLang="en-US" dirty="0">
                    <a:latin typeface="Candara" panose="020E0502030303020204" pitchFamily="34" charset="0"/>
                  </a:rPr>
                  <a:t>is the label of first instruction of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altLang="en-US" dirty="0">
                    <a:solidFill>
                      <a:schemeClr val="accent2">
                        <a:lumMod val="50000"/>
                      </a:schemeClr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altLang="en-US" dirty="0">
                    <a:latin typeface="Candara" panose="020E0502030303020204" pitchFamily="34" charset="0"/>
                  </a:rPr>
                  <a:t>is same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r>
                  <a:rPr lang="en-US" altLang="en-US" dirty="0">
                    <a:solidFill>
                      <a:srgbClr val="FF0000"/>
                    </a:solidFill>
                    <a:latin typeface="Candara" panose="020E0502030303020204" pitchFamily="34" charset="0"/>
                  </a:rPr>
                  <a:t> </a:t>
                </a:r>
                <a:r>
                  <a:rPr lang="en-US" altLang="en-US" dirty="0">
                    <a:latin typeface="Candara" panose="020E0502030303020204" pitchFamily="34" charset="0"/>
                  </a:rPr>
                  <a:t>is same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9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&amp;&amp;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599" y="2105924"/>
            <a:ext cx="8430802" cy="3400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DA3665-50FA-C8A6-6C98-069FDFC63D3B}"/>
              </a:ext>
            </a:extLst>
          </p:cNvPr>
          <p:cNvSpPr/>
          <p:nvPr/>
        </p:nvSpPr>
        <p:spPr>
          <a:xfrm>
            <a:off x="5694217" y="2929078"/>
            <a:ext cx="2189019" cy="499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AB897-ADF4-85F7-189A-68504FE00A50}"/>
              </a:ext>
            </a:extLst>
          </p:cNvPr>
          <p:cNvSpPr/>
          <p:nvPr/>
        </p:nvSpPr>
        <p:spPr>
          <a:xfrm>
            <a:off x="5749632" y="3428999"/>
            <a:ext cx="2189019" cy="3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DE5B6-7E03-1933-7B4D-F5D199A23FCC}"/>
              </a:ext>
            </a:extLst>
          </p:cNvPr>
          <p:cNvSpPr/>
          <p:nvPr/>
        </p:nvSpPr>
        <p:spPr>
          <a:xfrm>
            <a:off x="5652652" y="3718790"/>
            <a:ext cx="2189019" cy="499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B7A11-D217-E28E-B098-9942C78FBBFD}"/>
              </a:ext>
            </a:extLst>
          </p:cNvPr>
          <p:cNvSpPr/>
          <p:nvPr/>
        </p:nvSpPr>
        <p:spPr>
          <a:xfrm>
            <a:off x="5721927" y="4106719"/>
            <a:ext cx="2189019" cy="458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F6017D-B2B1-0165-C3AA-D97A0F39B1DF}"/>
              </a:ext>
            </a:extLst>
          </p:cNvPr>
          <p:cNvSpPr/>
          <p:nvPr/>
        </p:nvSpPr>
        <p:spPr>
          <a:xfrm>
            <a:off x="5666505" y="4550060"/>
            <a:ext cx="4405750" cy="499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9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90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96" y="2487649"/>
            <a:ext cx="5068007" cy="27245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641340-C0DF-F7CC-9829-1D7D6D09AAA1}"/>
              </a:ext>
            </a:extLst>
          </p:cNvPr>
          <p:cNvSpPr/>
          <p:nvPr/>
        </p:nvSpPr>
        <p:spPr>
          <a:xfrm>
            <a:off x="6165273" y="3413986"/>
            <a:ext cx="3138986" cy="1310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5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𝐫𝐞𝐥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US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91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86" y="2245670"/>
            <a:ext cx="9088118" cy="2715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2027DE-0FB8-55A7-F062-4E64DE5CE9FA}"/>
              </a:ext>
            </a:extLst>
          </p:cNvPr>
          <p:cNvSpPr/>
          <p:nvPr/>
        </p:nvSpPr>
        <p:spPr>
          <a:xfrm>
            <a:off x="3906983" y="2929078"/>
            <a:ext cx="6689531" cy="1490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9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Translation of Boolean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>
                    <a:latin typeface="Candara" panose="020E0502030303020204" pitchFamily="34" charset="0"/>
                  </a:rPr>
                  <a:t>Semantic Rules for the productions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𝐭𝐫𝐮𝐞</m:t>
                    </m:r>
                  </m:oMath>
                </a14:m>
                <a:r>
                  <a:rPr lang="en-US" altLang="en-US" dirty="0">
                    <a:latin typeface="Candara" panose="020E05020303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en-US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𝐟𝐚𝐥𝐬𝐞</m:t>
                    </m:r>
                  </m:oMath>
                </a14:m>
                <a:endParaRPr lang="en-US" altLang="en-US" dirty="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490"/>
                <a:ext cx="10515600" cy="4827474"/>
              </a:xfrm>
              <a:blipFill>
                <a:blip r:embed="rId2"/>
                <a:stretch>
                  <a:fillRect l="-1043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560" y="2308265"/>
            <a:ext cx="6277851" cy="26768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E965E6-3174-9FA5-E641-15D37CAC9A9A}"/>
              </a:ext>
            </a:extLst>
          </p:cNvPr>
          <p:cNvSpPr/>
          <p:nvPr/>
        </p:nvSpPr>
        <p:spPr>
          <a:xfrm>
            <a:off x="5285511" y="3233879"/>
            <a:ext cx="3775362" cy="576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AD890-6F4E-31CE-8965-6655C41B2F0A}"/>
              </a:ext>
            </a:extLst>
          </p:cNvPr>
          <p:cNvSpPr/>
          <p:nvPr/>
        </p:nvSpPr>
        <p:spPr>
          <a:xfrm>
            <a:off x="5299364" y="4037449"/>
            <a:ext cx="3775362" cy="576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1" y="77740"/>
            <a:ext cx="5486945" cy="1724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SDD for Generating Three Address Code for Flow-of-Control Statements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312" y="6416403"/>
            <a:ext cx="2590528" cy="365125"/>
          </a:xfrm>
        </p:spPr>
        <p:txBody>
          <a:bodyPr/>
          <a:lstStyle/>
          <a:p>
            <a:r>
              <a:rPr lang="en-US" dirty="0" err="1"/>
              <a:t>Dept</a:t>
            </a:r>
            <a:r>
              <a:rPr lang="en-US" dirty="0"/>
              <a:t>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316" y="137795"/>
            <a:ext cx="6079663" cy="6583680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64649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1" y="77740"/>
            <a:ext cx="4556761" cy="1724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SDD for Generating Three Address Code for Booleans</a:t>
            </a:r>
            <a:endParaRPr lang="en-US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312" y="6416403"/>
            <a:ext cx="2590528" cy="365125"/>
          </a:xfrm>
        </p:spPr>
        <p:txBody>
          <a:bodyPr/>
          <a:lstStyle/>
          <a:p>
            <a:r>
              <a:rPr lang="en-US" dirty="0" err="1"/>
              <a:t>Dept</a:t>
            </a:r>
            <a:r>
              <a:rPr lang="en-US" dirty="0"/>
              <a:t>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1202"/>
          <a:stretch/>
        </p:blipFill>
        <p:spPr>
          <a:xfrm>
            <a:off x="4891903" y="106408"/>
            <a:ext cx="7178177" cy="6675120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93326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6BC46DDE-1848-B2CC-9E60-F1262EC92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81807"/>
              </p:ext>
            </p:extLst>
          </p:nvPr>
        </p:nvGraphicFramePr>
        <p:xfrm>
          <a:off x="245267" y="1082077"/>
          <a:ext cx="11842714" cy="54779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04416">
                  <a:extLst>
                    <a:ext uri="{9D8B030D-6E8A-4147-A177-3AD203B41FA5}">
                      <a16:colId xmlns:a16="http://schemas.microsoft.com/office/drawing/2014/main" val="2562192025"/>
                    </a:ext>
                  </a:extLst>
                </a:gridCol>
                <a:gridCol w="4251007">
                  <a:extLst>
                    <a:ext uri="{9D8B030D-6E8A-4147-A177-3AD203B41FA5}">
                      <a16:colId xmlns:a16="http://schemas.microsoft.com/office/drawing/2014/main" val="14997649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18349636"/>
                    </a:ext>
                  </a:extLst>
                </a:gridCol>
                <a:gridCol w="5879011">
                  <a:extLst>
                    <a:ext uri="{9D8B030D-6E8A-4147-A177-3AD203B41FA5}">
                      <a16:colId xmlns:a16="http://schemas.microsoft.com/office/drawing/2014/main" val="4120242278"/>
                    </a:ext>
                  </a:extLst>
                </a:gridCol>
              </a:tblGrid>
              <a:tr h="4487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Semantic 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Productions with Embedded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P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P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P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  S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endParaRPr lang="en-US" sz="1800" i="1" baseline="0" dirty="0">
                        <a:solidFill>
                          <a:schemeClr val="accent5">
                            <a:lumMod val="75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(B)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B )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67073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false=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B.false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3989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                        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203533" y="6479861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BC173-603F-7BF9-1E7A-35A483988CB0}"/>
              </a:ext>
            </a:extLst>
          </p:cNvPr>
          <p:cNvSpPr txBox="1"/>
          <p:nvPr/>
        </p:nvSpPr>
        <p:spPr>
          <a:xfrm>
            <a:off x="609488" y="681967"/>
            <a:ext cx="5588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SDD for Flow-of-Control and Booleans (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partial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51AEF-C777-45F8-457D-D8B05B61A1E8}"/>
              </a:ext>
            </a:extLst>
          </p:cNvPr>
          <p:cNvSpPr txBox="1"/>
          <p:nvPr/>
        </p:nvSpPr>
        <p:spPr>
          <a:xfrm>
            <a:off x="6506865" y="699237"/>
            <a:ext cx="5524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SDT for Flow-of-Control and Booleans (on the fly)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A7CC7E7B-CDAA-EF8E-6363-B5BE9BC4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9"/>
            <a:ext cx="10515600" cy="765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Code Generation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615535-6D47-3BE0-00FA-BE38CFD0D486}"/>
              </a:ext>
            </a:extLst>
          </p:cNvPr>
          <p:cNvSpPr/>
          <p:nvPr/>
        </p:nvSpPr>
        <p:spPr>
          <a:xfrm>
            <a:off x="6083373" y="2205592"/>
            <a:ext cx="6025375" cy="912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CF330D-339D-5E66-B9C1-22059A0554D4}"/>
              </a:ext>
            </a:extLst>
          </p:cNvPr>
          <p:cNvSpPr/>
          <p:nvPr/>
        </p:nvSpPr>
        <p:spPr>
          <a:xfrm>
            <a:off x="6083373" y="3124794"/>
            <a:ext cx="6025375" cy="919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F4C364-C2C4-4757-5525-CAFADD7DF7C0}"/>
              </a:ext>
            </a:extLst>
          </p:cNvPr>
          <p:cNvSpPr/>
          <p:nvPr/>
        </p:nvSpPr>
        <p:spPr>
          <a:xfrm>
            <a:off x="6083373" y="4043996"/>
            <a:ext cx="6025375" cy="1623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91899-6D01-921A-04F3-2DBAEC276502}"/>
              </a:ext>
            </a:extLst>
          </p:cNvPr>
          <p:cNvSpPr/>
          <p:nvPr/>
        </p:nvSpPr>
        <p:spPr>
          <a:xfrm>
            <a:off x="6083373" y="5674659"/>
            <a:ext cx="6025375" cy="892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8848DB-180B-B426-4FEE-FD6DE81EE93A}"/>
              </a:ext>
            </a:extLst>
          </p:cNvPr>
          <p:cNvSpPr/>
          <p:nvPr/>
        </p:nvSpPr>
        <p:spPr>
          <a:xfrm>
            <a:off x="6083373" y="1044916"/>
            <a:ext cx="6025375" cy="51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AD9488-C7E3-74ED-46B4-BEB69EDACE64}"/>
              </a:ext>
            </a:extLst>
          </p:cNvPr>
          <p:cNvSpPr/>
          <p:nvPr/>
        </p:nvSpPr>
        <p:spPr>
          <a:xfrm>
            <a:off x="6083373" y="1590869"/>
            <a:ext cx="6025375" cy="640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5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72B5198-98B2-57AF-23CE-51C5B95E1F4A}"/>
              </a:ext>
            </a:extLst>
          </p:cNvPr>
          <p:cNvSpPr/>
          <p:nvPr/>
        </p:nvSpPr>
        <p:spPr>
          <a:xfrm>
            <a:off x="6096820" y="1591760"/>
            <a:ext cx="6025375" cy="640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B3F507-B93C-1A53-48CA-749DD78CEDF3}"/>
              </a:ext>
            </a:extLst>
          </p:cNvPr>
          <p:cNvSpPr/>
          <p:nvPr/>
        </p:nvSpPr>
        <p:spPr>
          <a:xfrm>
            <a:off x="6096820" y="2205591"/>
            <a:ext cx="6025375" cy="912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518CFE-9C0A-8FDA-F625-1C66CA0797F1}"/>
              </a:ext>
            </a:extLst>
          </p:cNvPr>
          <p:cNvSpPr/>
          <p:nvPr/>
        </p:nvSpPr>
        <p:spPr>
          <a:xfrm>
            <a:off x="6096820" y="3124794"/>
            <a:ext cx="6025375" cy="919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033C73-0B71-AC37-2175-26D978CE3FD3}"/>
              </a:ext>
            </a:extLst>
          </p:cNvPr>
          <p:cNvSpPr/>
          <p:nvPr/>
        </p:nvSpPr>
        <p:spPr>
          <a:xfrm>
            <a:off x="6096820" y="4043996"/>
            <a:ext cx="6025375" cy="1623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A1084-6D4A-DCA0-FF87-D01C105C1C68}"/>
              </a:ext>
            </a:extLst>
          </p:cNvPr>
          <p:cNvSpPr/>
          <p:nvPr/>
        </p:nvSpPr>
        <p:spPr>
          <a:xfrm>
            <a:off x="6096820" y="5674659"/>
            <a:ext cx="6025375" cy="892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A9975A-C181-AA08-3427-EF0152529DD6}"/>
              </a:ext>
            </a:extLst>
          </p:cNvPr>
          <p:cNvSpPr/>
          <p:nvPr/>
        </p:nvSpPr>
        <p:spPr>
          <a:xfrm>
            <a:off x="6096820" y="1044916"/>
            <a:ext cx="6025375" cy="51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3F4D3025-7D06-4C20-3800-92145A34D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577459"/>
              </p:ext>
            </p:extLst>
          </p:nvPr>
        </p:nvGraphicFramePr>
        <p:xfrm>
          <a:off x="245267" y="1082077"/>
          <a:ext cx="11842714" cy="54779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04416">
                  <a:extLst>
                    <a:ext uri="{9D8B030D-6E8A-4147-A177-3AD203B41FA5}">
                      <a16:colId xmlns:a16="http://schemas.microsoft.com/office/drawing/2014/main" val="2562192025"/>
                    </a:ext>
                  </a:extLst>
                </a:gridCol>
                <a:gridCol w="4251007">
                  <a:extLst>
                    <a:ext uri="{9D8B030D-6E8A-4147-A177-3AD203B41FA5}">
                      <a16:colId xmlns:a16="http://schemas.microsoft.com/office/drawing/2014/main" val="14997649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18349636"/>
                    </a:ext>
                  </a:extLst>
                </a:gridCol>
                <a:gridCol w="5879011">
                  <a:extLst>
                    <a:ext uri="{9D8B030D-6E8A-4147-A177-3AD203B41FA5}">
                      <a16:colId xmlns:a16="http://schemas.microsoft.com/office/drawing/2014/main" val="4120242278"/>
                    </a:ext>
                  </a:extLst>
                </a:gridCol>
              </a:tblGrid>
              <a:tr h="4487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Semantic 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Productions with Embedded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P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P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P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  S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endParaRPr lang="en-US" sz="1800" i="1" baseline="0" dirty="0">
                        <a:solidFill>
                          <a:schemeClr val="accent5">
                            <a:lumMod val="75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(B)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B )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67073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false=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B.false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3989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                        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45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able 6">
            <a:extLst>
              <a:ext uri="{FF2B5EF4-FFF2-40B4-BE49-F238E27FC236}">
                <a16:creationId xmlns:a16="http://schemas.microsoft.com/office/drawing/2014/main" id="{82FB8C7A-5D6B-3B91-28D6-1D3252E2D0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635813"/>
              </p:ext>
            </p:extLst>
          </p:nvPr>
        </p:nvGraphicFramePr>
        <p:xfrm>
          <a:off x="122943" y="1372150"/>
          <a:ext cx="1466042" cy="3058854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466042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</a:tblGrid>
              <a:tr h="28329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P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S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74065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= E;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07158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S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S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15419"/>
                  </a:ext>
                </a:extLst>
              </a:tr>
              <a:tr h="333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S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if (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S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endParaRPr lang="en-US" sz="1600" b="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443143"/>
                  </a:ext>
                </a:extLst>
              </a:tr>
              <a:tr h="376614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ym typeface="Wingdings" panose="05000000000000000000" pitchFamily="2" charset="2"/>
                        </a:rPr>
                        <a:t>B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 </a:t>
                      </a:r>
                      <a:endParaRPr lang="en-US" sz="16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B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>
                          <a:sym typeface="Wingdings" panose="05000000000000000000" pitchFamily="2" charset="2"/>
                        </a:rPr>
                        <a:t>&amp;&amp;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B  </a:t>
                      </a:r>
                      <a:r>
                        <a:rPr lang="en-US" sz="14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b="0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kumimoji="0" lang="en-US" sz="18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20350"/>
                  </a:ext>
                </a:extLst>
              </a:tr>
              <a:tr h="28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E  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…</a:t>
                      </a:r>
                      <a:endParaRPr kumimoji="0" lang="en-US" sz="18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8370675" y="163967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  <a:stCxn id="55" idx="4"/>
            <a:endCxn id="92" idx="0"/>
          </p:cNvCxnSpPr>
          <p:nvPr/>
        </p:nvCxnSpPr>
        <p:spPr>
          <a:xfrm flipH="1">
            <a:off x="8553682" y="544967"/>
            <a:ext cx="7493" cy="28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8256572" y="828302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7C1755-1FAF-6509-73FD-670F0EE10DBE}"/>
              </a:ext>
            </a:extLst>
          </p:cNvPr>
          <p:cNvCxnSpPr>
            <a:cxnSpLocks/>
          </p:cNvCxnSpPr>
          <p:nvPr/>
        </p:nvCxnSpPr>
        <p:spPr>
          <a:xfrm flipH="1" flipV="1">
            <a:off x="5875579" y="2024522"/>
            <a:ext cx="1727515" cy="630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B409F49-B08D-4338-7624-24E1424EBDF4}"/>
              </a:ext>
            </a:extLst>
          </p:cNvPr>
          <p:cNvSpPr/>
          <p:nvPr/>
        </p:nvSpPr>
        <p:spPr>
          <a:xfrm>
            <a:off x="6911551" y="2656223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80073B-5A41-783F-E379-A99B76295EFA}"/>
              </a:ext>
            </a:extLst>
          </p:cNvPr>
          <p:cNvSpPr/>
          <p:nvPr/>
        </p:nvSpPr>
        <p:spPr>
          <a:xfrm>
            <a:off x="5583441" y="1644598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1352DE-F463-7B2B-C0B3-9EC4A49B7877}"/>
              </a:ext>
            </a:extLst>
          </p:cNvPr>
          <p:cNvSpPr/>
          <p:nvPr/>
        </p:nvSpPr>
        <p:spPr>
          <a:xfrm>
            <a:off x="10579093" y="1626589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C1483D-AC53-0499-2C66-02CFA294F320}"/>
              </a:ext>
            </a:extLst>
          </p:cNvPr>
          <p:cNvCxnSpPr>
            <a:cxnSpLocks/>
            <a:stCxn id="92" idx="4"/>
            <a:endCxn id="3" idx="0"/>
          </p:cNvCxnSpPr>
          <p:nvPr/>
        </p:nvCxnSpPr>
        <p:spPr>
          <a:xfrm flipH="1">
            <a:off x="5880551" y="1209302"/>
            <a:ext cx="2673131" cy="435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051523-C492-EDFE-1ED7-2D69B85D556C}"/>
              </a:ext>
            </a:extLst>
          </p:cNvPr>
          <p:cNvCxnSpPr>
            <a:cxnSpLocks/>
            <a:stCxn id="92" idx="4"/>
            <a:endCxn id="6" idx="0"/>
          </p:cNvCxnSpPr>
          <p:nvPr/>
        </p:nvCxnSpPr>
        <p:spPr>
          <a:xfrm>
            <a:off x="8553682" y="1209302"/>
            <a:ext cx="2322521" cy="417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876CBD8-550A-2D49-EAE4-89D01E8EA8C9}"/>
              </a:ext>
            </a:extLst>
          </p:cNvPr>
          <p:cNvSpPr/>
          <p:nvPr/>
        </p:nvSpPr>
        <p:spPr>
          <a:xfrm>
            <a:off x="5832282" y="2696248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7F3776-5C61-E95F-1EDC-310D153B25F0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875579" y="2024522"/>
            <a:ext cx="248951" cy="671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E97E54C-EBD7-D980-C600-22FE1CC63209}"/>
              </a:ext>
            </a:extLst>
          </p:cNvPr>
          <p:cNvSpPr/>
          <p:nvPr/>
        </p:nvSpPr>
        <p:spPr>
          <a:xfrm>
            <a:off x="2169143" y="2697614"/>
            <a:ext cx="91414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if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B67C2F-E2FA-53B3-C45C-FAD2A70FD515}"/>
              </a:ext>
            </a:extLst>
          </p:cNvPr>
          <p:cNvCxnSpPr>
            <a:cxnSpLocks/>
          </p:cNvCxnSpPr>
          <p:nvPr/>
        </p:nvCxnSpPr>
        <p:spPr>
          <a:xfrm flipH="1">
            <a:off x="2621243" y="2024522"/>
            <a:ext cx="3254336" cy="672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3A6529-02A9-CE1C-571A-B69775FD6C59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3762756" y="2024522"/>
            <a:ext cx="2112823" cy="660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90AD3EB-6820-FB32-22C5-493419821800}"/>
              </a:ext>
            </a:extLst>
          </p:cNvPr>
          <p:cNvSpPr/>
          <p:nvPr/>
        </p:nvSpPr>
        <p:spPr>
          <a:xfrm>
            <a:off x="3071213" y="2685086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(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3381DC-08E2-3E9F-0D41-71FC25386695}"/>
              </a:ext>
            </a:extLst>
          </p:cNvPr>
          <p:cNvSpPr/>
          <p:nvPr/>
        </p:nvSpPr>
        <p:spPr>
          <a:xfrm>
            <a:off x="8930257" y="2610238"/>
            <a:ext cx="670423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8848A9-543B-3F78-083C-2046C07DB0FC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770" y="2025598"/>
            <a:ext cx="3388699" cy="584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6B2D48-3F1C-6194-0962-12487AFD5783}"/>
              </a:ext>
            </a:extLst>
          </p:cNvPr>
          <p:cNvCxnSpPr>
            <a:cxnSpLocks/>
            <a:stCxn id="27" idx="4"/>
            <a:endCxn id="79" idx="0"/>
          </p:cNvCxnSpPr>
          <p:nvPr/>
        </p:nvCxnSpPr>
        <p:spPr>
          <a:xfrm flipH="1">
            <a:off x="3748400" y="3104755"/>
            <a:ext cx="2376130" cy="876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60D62E-BDF9-C519-4EA2-B96236D0C317}"/>
              </a:ext>
            </a:extLst>
          </p:cNvPr>
          <p:cNvSpPr/>
          <p:nvPr/>
        </p:nvSpPr>
        <p:spPr>
          <a:xfrm>
            <a:off x="8091065" y="400337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EB9398E-AB0B-A7F3-D1F1-35739AEEE559}"/>
              </a:ext>
            </a:extLst>
          </p:cNvPr>
          <p:cNvSpPr/>
          <p:nvPr/>
        </p:nvSpPr>
        <p:spPr>
          <a:xfrm>
            <a:off x="3456152" y="398159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BE4B33A-B7B2-3D4D-7DBE-2BC1F5D9CD65}"/>
              </a:ext>
            </a:extLst>
          </p:cNvPr>
          <p:cNvSpPr/>
          <p:nvPr/>
        </p:nvSpPr>
        <p:spPr>
          <a:xfrm>
            <a:off x="7116704" y="400337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9551A9E-04D4-7F11-F7C6-448C2A278C3B}"/>
              </a:ext>
            </a:extLst>
          </p:cNvPr>
          <p:cNvCxnSpPr>
            <a:cxnSpLocks/>
            <a:stCxn id="27" idx="4"/>
            <a:endCxn id="52" idx="0"/>
          </p:cNvCxnSpPr>
          <p:nvPr/>
        </p:nvCxnSpPr>
        <p:spPr>
          <a:xfrm>
            <a:off x="6124530" y="3104755"/>
            <a:ext cx="2258783" cy="898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AFBDC429-6D38-02EE-3DC3-15301E75E1E9}"/>
              </a:ext>
            </a:extLst>
          </p:cNvPr>
          <p:cNvSpPr/>
          <p:nvPr/>
        </p:nvSpPr>
        <p:spPr>
          <a:xfrm>
            <a:off x="5669361" y="4002240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||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1E280D9-D008-8A62-9ACA-E09B8A362595}"/>
              </a:ext>
            </a:extLst>
          </p:cNvPr>
          <p:cNvCxnSpPr>
            <a:cxnSpLocks/>
            <a:stCxn id="27" idx="4"/>
            <a:endCxn id="82" idx="0"/>
          </p:cNvCxnSpPr>
          <p:nvPr/>
        </p:nvCxnSpPr>
        <p:spPr>
          <a:xfrm flipH="1">
            <a:off x="6065856" y="3104755"/>
            <a:ext cx="58674" cy="897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29D757-8504-E351-AF17-C7536D262396}"/>
              </a:ext>
            </a:extLst>
          </p:cNvPr>
          <p:cNvCxnSpPr>
            <a:cxnSpLocks/>
            <a:stCxn id="52" idx="4"/>
            <a:endCxn id="95" idx="0"/>
          </p:cNvCxnSpPr>
          <p:nvPr/>
        </p:nvCxnSpPr>
        <p:spPr>
          <a:xfrm flipH="1">
            <a:off x="7005315" y="4411877"/>
            <a:ext cx="1377998" cy="491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97898B42-7EE5-E8C0-A8F1-82C87C479EB1}"/>
              </a:ext>
            </a:extLst>
          </p:cNvPr>
          <p:cNvSpPr/>
          <p:nvPr/>
        </p:nvSpPr>
        <p:spPr>
          <a:xfrm>
            <a:off x="10027398" y="4895054"/>
            <a:ext cx="769654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BB4B6A-E63B-9DCD-0659-E19401603366}"/>
              </a:ext>
            </a:extLst>
          </p:cNvPr>
          <p:cNvSpPr/>
          <p:nvPr/>
        </p:nvSpPr>
        <p:spPr>
          <a:xfrm>
            <a:off x="6628375" y="4903260"/>
            <a:ext cx="753879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77FD64E-C83F-4419-4D6B-3383BA8DA5AE}"/>
              </a:ext>
            </a:extLst>
          </p:cNvPr>
          <p:cNvCxnSpPr>
            <a:cxnSpLocks/>
            <a:stCxn id="52" idx="4"/>
            <a:endCxn id="94" idx="0"/>
          </p:cNvCxnSpPr>
          <p:nvPr/>
        </p:nvCxnSpPr>
        <p:spPr>
          <a:xfrm>
            <a:off x="8383313" y="4411877"/>
            <a:ext cx="2028912" cy="483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B5B1D9EA-02A5-31EF-1099-31A95202AEFB}"/>
              </a:ext>
            </a:extLst>
          </p:cNvPr>
          <p:cNvSpPr/>
          <p:nvPr/>
        </p:nvSpPr>
        <p:spPr>
          <a:xfrm>
            <a:off x="8008531" y="4926164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&amp;&amp;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C5AA634-89C7-777F-9F5F-5C4EB7720E93}"/>
              </a:ext>
            </a:extLst>
          </p:cNvPr>
          <p:cNvCxnSpPr>
            <a:cxnSpLocks/>
            <a:stCxn id="52" idx="4"/>
            <a:endCxn id="97" idx="0"/>
          </p:cNvCxnSpPr>
          <p:nvPr/>
        </p:nvCxnSpPr>
        <p:spPr>
          <a:xfrm>
            <a:off x="8383313" y="4411877"/>
            <a:ext cx="21713" cy="5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90083CA-5838-BCAB-8745-E97802427960}"/>
              </a:ext>
            </a:extLst>
          </p:cNvPr>
          <p:cNvCxnSpPr>
            <a:cxnSpLocks/>
            <a:stCxn id="95" idx="4"/>
            <a:endCxn id="112" idx="0"/>
          </p:cNvCxnSpPr>
          <p:nvPr/>
        </p:nvCxnSpPr>
        <p:spPr>
          <a:xfrm flipH="1">
            <a:off x="6038669" y="5311767"/>
            <a:ext cx="966646" cy="49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A5C5240A-6A04-4773-3065-6D5A21DF2C54}"/>
              </a:ext>
            </a:extLst>
          </p:cNvPr>
          <p:cNvSpPr/>
          <p:nvPr/>
        </p:nvSpPr>
        <p:spPr>
          <a:xfrm>
            <a:off x="8209566" y="5832165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A4B8E78-46ED-AC8C-5C28-9F1363C72EDD}"/>
              </a:ext>
            </a:extLst>
          </p:cNvPr>
          <p:cNvSpPr/>
          <p:nvPr/>
        </p:nvSpPr>
        <p:spPr>
          <a:xfrm>
            <a:off x="5684650" y="5810391"/>
            <a:ext cx="70803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895D6E0-A7A1-6B48-FFDD-0B411C5BE4EF}"/>
              </a:ext>
            </a:extLst>
          </p:cNvPr>
          <p:cNvCxnSpPr>
            <a:cxnSpLocks/>
            <a:stCxn id="95" idx="4"/>
            <a:endCxn id="111" idx="0"/>
          </p:cNvCxnSpPr>
          <p:nvPr/>
        </p:nvCxnSpPr>
        <p:spPr>
          <a:xfrm>
            <a:off x="7005315" y="5311767"/>
            <a:ext cx="1550440" cy="520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908DBA30-6E1B-1FB4-C130-CF1C7EC2388D}"/>
              </a:ext>
            </a:extLst>
          </p:cNvPr>
          <p:cNvSpPr/>
          <p:nvPr/>
        </p:nvSpPr>
        <p:spPr>
          <a:xfrm>
            <a:off x="6870250" y="5833295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B0440DD-9EF0-1738-43AA-4BDD5BD998D8}"/>
              </a:ext>
            </a:extLst>
          </p:cNvPr>
          <p:cNvCxnSpPr>
            <a:cxnSpLocks/>
            <a:stCxn id="95" idx="4"/>
            <a:endCxn id="114" idx="0"/>
          </p:cNvCxnSpPr>
          <p:nvPr/>
        </p:nvCxnSpPr>
        <p:spPr>
          <a:xfrm>
            <a:off x="7005315" y="5311767"/>
            <a:ext cx="261430" cy="52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B34B43D-2A47-CB3A-AE90-D9B37784B955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9673879" y="5304781"/>
            <a:ext cx="738346" cy="45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FCA3A58B-00CE-B117-6240-58D737046CEE}"/>
              </a:ext>
            </a:extLst>
          </p:cNvPr>
          <p:cNvSpPr/>
          <p:nvPr/>
        </p:nvSpPr>
        <p:spPr>
          <a:xfrm>
            <a:off x="10781132" y="574352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26ECA6-C69F-A866-4CD8-2ABA7C06FDC2}"/>
              </a:ext>
            </a:extLst>
          </p:cNvPr>
          <p:cNvSpPr/>
          <p:nvPr/>
        </p:nvSpPr>
        <p:spPr>
          <a:xfrm>
            <a:off x="9327690" y="575973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4C4DF11-FB54-D6DB-506D-5A4AF249D99F}"/>
              </a:ext>
            </a:extLst>
          </p:cNvPr>
          <p:cNvCxnSpPr>
            <a:cxnSpLocks/>
            <a:stCxn id="94" idx="4"/>
            <a:endCxn id="119" idx="0"/>
          </p:cNvCxnSpPr>
          <p:nvPr/>
        </p:nvCxnSpPr>
        <p:spPr>
          <a:xfrm>
            <a:off x="10412225" y="5303561"/>
            <a:ext cx="715096" cy="439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CF7B572B-C744-F359-7321-6194903EF84B}"/>
              </a:ext>
            </a:extLst>
          </p:cNvPr>
          <p:cNvSpPr/>
          <p:nvPr/>
        </p:nvSpPr>
        <p:spPr>
          <a:xfrm>
            <a:off x="10000009" y="578264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7C6459B-E395-BB43-C771-C1F8607BA7C0}"/>
              </a:ext>
            </a:extLst>
          </p:cNvPr>
          <p:cNvCxnSpPr>
            <a:cxnSpLocks/>
            <a:endCxn id="123" idx="0"/>
          </p:cNvCxnSpPr>
          <p:nvPr/>
        </p:nvCxnSpPr>
        <p:spPr>
          <a:xfrm flipH="1">
            <a:off x="10396504" y="5304781"/>
            <a:ext cx="15721" cy="477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2DAA87-61A6-2E40-99EC-10F7F832F825}"/>
              </a:ext>
            </a:extLst>
          </p:cNvPr>
          <p:cNvCxnSpPr>
            <a:cxnSpLocks/>
            <a:stCxn id="79" idx="4"/>
            <a:endCxn id="145" idx="0"/>
          </p:cNvCxnSpPr>
          <p:nvPr/>
        </p:nvCxnSpPr>
        <p:spPr>
          <a:xfrm flipH="1">
            <a:off x="2391101" y="4390103"/>
            <a:ext cx="1357299" cy="37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50EF24FC-5856-53A0-0A0A-4A6261B97AF4}"/>
              </a:ext>
            </a:extLst>
          </p:cNvPr>
          <p:cNvSpPr/>
          <p:nvPr/>
        </p:nvSpPr>
        <p:spPr>
          <a:xfrm>
            <a:off x="5042460" y="4790941"/>
            <a:ext cx="680042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FD47E4AC-11DE-8A74-D3D3-28FC9E934B45}"/>
              </a:ext>
            </a:extLst>
          </p:cNvPr>
          <p:cNvSpPr/>
          <p:nvPr/>
        </p:nvSpPr>
        <p:spPr>
          <a:xfrm>
            <a:off x="2045696" y="4769167"/>
            <a:ext cx="69081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4EF6B05-EDCD-18F4-4B5C-683BE071178E}"/>
              </a:ext>
            </a:extLst>
          </p:cNvPr>
          <p:cNvCxnSpPr>
            <a:cxnSpLocks/>
            <a:stCxn id="79" idx="4"/>
            <a:endCxn id="144" idx="0"/>
          </p:cNvCxnSpPr>
          <p:nvPr/>
        </p:nvCxnSpPr>
        <p:spPr>
          <a:xfrm>
            <a:off x="3748400" y="4390103"/>
            <a:ext cx="1634081" cy="400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C419232A-9497-AB2A-5B0D-680C97C0D4F9}"/>
              </a:ext>
            </a:extLst>
          </p:cNvPr>
          <p:cNvSpPr/>
          <p:nvPr/>
        </p:nvSpPr>
        <p:spPr>
          <a:xfrm>
            <a:off x="3378963" y="479207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1EFFF3-FC24-7C24-8727-92C119947D7C}"/>
              </a:ext>
            </a:extLst>
          </p:cNvPr>
          <p:cNvCxnSpPr>
            <a:cxnSpLocks/>
            <a:stCxn id="79" idx="4"/>
            <a:endCxn id="147" idx="0"/>
          </p:cNvCxnSpPr>
          <p:nvPr/>
        </p:nvCxnSpPr>
        <p:spPr>
          <a:xfrm>
            <a:off x="3748400" y="4390103"/>
            <a:ext cx="27058" cy="401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1D581733-65E5-CE10-076D-880F8F9147BD}"/>
              </a:ext>
            </a:extLst>
          </p:cNvPr>
          <p:cNvSpPr/>
          <p:nvPr/>
        </p:nvSpPr>
        <p:spPr>
          <a:xfrm>
            <a:off x="2052076" y="5169781"/>
            <a:ext cx="595254" cy="512484"/>
          </a:xfrm>
          <a:prstGeom prst="triangle">
            <a:avLst>
              <a:gd name="adj" fmla="val 52518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6331345D-0253-1E38-2AA8-0DD83AE60CB7}"/>
              </a:ext>
            </a:extLst>
          </p:cNvPr>
          <p:cNvSpPr/>
          <p:nvPr/>
        </p:nvSpPr>
        <p:spPr>
          <a:xfrm>
            <a:off x="5074107" y="5159704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389AEB8B-BB6C-0D46-50E8-F06EB22E20CB}"/>
              </a:ext>
            </a:extLst>
          </p:cNvPr>
          <p:cNvSpPr/>
          <p:nvPr/>
        </p:nvSpPr>
        <p:spPr>
          <a:xfrm>
            <a:off x="5721180" y="622650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8" name="Isosceles Triangle 217">
            <a:extLst>
              <a:ext uri="{FF2B5EF4-FFF2-40B4-BE49-F238E27FC236}">
                <a16:creationId xmlns:a16="http://schemas.microsoft.com/office/drawing/2014/main" id="{37FB1234-1977-7883-5CBB-BD4B3D75D6CD}"/>
              </a:ext>
            </a:extLst>
          </p:cNvPr>
          <p:cNvSpPr/>
          <p:nvPr/>
        </p:nvSpPr>
        <p:spPr>
          <a:xfrm>
            <a:off x="8272970" y="6240672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9" name="Isosceles Triangle 218">
            <a:extLst>
              <a:ext uri="{FF2B5EF4-FFF2-40B4-BE49-F238E27FC236}">
                <a16:creationId xmlns:a16="http://schemas.microsoft.com/office/drawing/2014/main" id="{7C4C3382-302A-1BC5-D5EB-6DE61020A7D5}"/>
              </a:ext>
            </a:extLst>
          </p:cNvPr>
          <p:cNvSpPr/>
          <p:nvPr/>
        </p:nvSpPr>
        <p:spPr>
          <a:xfrm>
            <a:off x="9366294" y="623022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0" name="Isosceles Triangle 219">
            <a:extLst>
              <a:ext uri="{FF2B5EF4-FFF2-40B4-BE49-F238E27FC236}">
                <a16:creationId xmlns:a16="http://schemas.microsoft.com/office/drawing/2014/main" id="{9C0C14B4-DDB8-558C-131A-E12BAC5923E9}"/>
              </a:ext>
            </a:extLst>
          </p:cNvPr>
          <p:cNvSpPr/>
          <p:nvPr/>
        </p:nvSpPr>
        <p:spPr>
          <a:xfrm>
            <a:off x="10820332" y="624399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EF819DD-14C7-FB25-EE67-A60CF5457E53}"/>
              </a:ext>
            </a:extLst>
          </p:cNvPr>
          <p:cNvGrpSpPr/>
          <p:nvPr/>
        </p:nvGrpSpPr>
        <p:grpSpPr>
          <a:xfrm>
            <a:off x="74291" y="0"/>
            <a:ext cx="5277051" cy="1179598"/>
            <a:chOff x="27819" y="5318"/>
            <a:chExt cx="5593626" cy="117959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9C503F9-65F2-6CFD-E0BB-4F6BF63CDF62}"/>
                </a:ext>
              </a:extLst>
            </p:cNvPr>
            <p:cNvSpPr txBox="1"/>
            <p:nvPr/>
          </p:nvSpPr>
          <p:spPr>
            <a:xfrm>
              <a:off x="69990" y="323142"/>
              <a:ext cx="5551455" cy="86177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6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6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92FB5193-100A-E5E9-AAA6-CD206E015198}"/>
                </a:ext>
              </a:extLst>
            </p:cNvPr>
            <p:cNvSpPr txBox="1"/>
            <p:nvPr/>
          </p:nvSpPr>
          <p:spPr>
            <a:xfrm>
              <a:off x="27819" y="5318"/>
              <a:ext cx="376469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bg1">
                      <a:lumMod val="65000"/>
                    </a:schemeClr>
                  </a:solidFill>
                </a:rPr>
                <a:t>Translation of statement</a:t>
              </a:r>
            </a:p>
          </p:txBody>
        </p: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6BF27BC-0AE1-0FF6-5E02-732A59947A33}"/>
              </a:ext>
            </a:extLst>
          </p:cNvPr>
          <p:cNvCxnSpPr>
            <a:cxnSpLocks/>
            <a:stCxn id="6" idx="4"/>
            <a:endCxn id="233" idx="0"/>
          </p:cNvCxnSpPr>
          <p:nvPr/>
        </p:nvCxnSpPr>
        <p:spPr>
          <a:xfrm flipH="1">
            <a:off x="10223585" y="2007589"/>
            <a:ext cx="652618" cy="501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Oval 231">
            <a:extLst>
              <a:ext uri="{FF2B5EF4-FFF2-40B4-BE49-F238E27FC236}">
                <a16:creationId xmlns:a16="http://schemas.microsoft.com/office/drawing/2014/main" id="{6D81C836-153C-4C94-C2E3-23E09044B53D}"/>
              </a:ext>
            </a:extLst>
          </p:cNvPr>
          <p:cNvSpPr/>
          <p:nvPr/>
        </p:nvSpPr>
        <p:spPr>
          <a:xfrm>
            <a:off x="11330838" y="249316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B84A0E00-6C3C-C6FD-ABDF-104E36260DCB}"/>
              </a:ext>
            </a:extLst>
          </p:cNvPr>
          <p:cNvSpPr/>
          <p:nvPr/>
        </p:nvSpPr>
        <p:spPr>
          <a:xfrm>
            <a:off x="9877396" y="250937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6C28B01-217B-3B33-1583-4374C363157D}"/>
              </a:ext>
            </a:extLst>
          </p:cNvPr>
          <p:cNvCxnSpPr>
            <a:cxnSpLocks/>
            <a:stCxn id="6" idx="4"/>
            <a:endCxn id="232" idx="0"/>
          </p:cNvCxnSpPr>
          <p:nvPr/>
        </p:nvCxnSpPr>
        <p:spPr>
          <a:xfrm>
            <a:off x="10876203" y="2007589"/>
            <a:ext cx="800824" cy="485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Oval 234">
            <a:extLst>
              <a:ext uri="{FF2B5EF4-FFF2-40B4-BE49-F238E27FC236}">
                <a16:creationId xmlns:a16="http://schemas.microsoft.com/office/drawing/2014/main" id="{303BA7F5-B0B9-DAC0-A679-0B71BF377426}"/>
              </a:ext>
            </a:extLst>
          </p:cNvPr>
          <p:cNvSpPr/>
          <p:nvPr/>
        </p:nvSpPr>
        <p:spPr>
          <a:xfrm>
            <a:off x="10549715" y="253228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=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47BE93A-70FA-28CE-B368-3E9871A12B3B}"/>
              </a:ext>
            </a:extLst>
          </p:cNvPr>
          <p:cNvCxnSpPr>
            <a:cxnSpLocks/>
            <a:stCxn id="6" idx="4"/>
            <a:endCxn id="235" idx="0"/>
          </p:cNvCxnSpPr>
          <p:nvPr/>
        </p:nvCxnSpPr>
        <p:spPr>
          <a:xfrm>
            <a:off x="10876203" y="2007589"/>
            <a:ext cx="70007" cy="524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Isosceles Triangle 237">
            <a:extLst>
              <a:ext uri="{FF2B5EF4-FFF2-40B4-BE49-F238E27FC236}">
                <a16:creationId xmlns:a16="http://schemas.microsoft.com/office/drawing/2014/main" id="{621552D5-DBEF-CAD8-475D-24111BB72C26}"/>
              </a:ext>
            </a:extLst>
          </p:cNvPr>
          <p:cNvSpPr/>
          <p:nvPr/>
        </p:nvSpPr>
        <p:spPr>
          <a:xfrm>
            <a:off x="11370038" y="291868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5608E8C-64C5-77F1-5D7B-34A1F7EB3D17}"/>
              </a:ext>
            </a:extLst>
          </p:cNvPr>
          <p:cNvCxnSpPr>
            <a:cxnSpLocks/>
            <a:stCxn id="41" idx="4"/>
            <a:endCxn id="252" idx="0"/>
          </p:cNvCxnSpPr>
          <p:nvPr/>
        </p:nvCxnSpPr>
        <p:spPr>
          <a:xfrm flipH="1">
            <a:off x="8891960" y="3018745"/>
            <a:ext cx="373509" cy="527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Oval 250">
            <a:extLst>
              <a:ext uri="{FF2B5EF4-FFF2-40B4-BE49-F238E27FC236}">
                <a16:creationId xmlns:a16="http://schemas.microsoft.com/office/drawing/2014/main" id="{E902B4A6-4B17-807A-4A73-552EDE9DC328}"/>
              </a:ext>
            </a:extLst>
          </p:cNvPr>
          <p:cNvSpPr/>
          <p:nvPr/>
        </p:nvSpPr>
        <p:spPr>
          <a:xfrm>
            <a:off x="9999213" y="3529986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5AAA9F6B-FC28-E4DB-2412-065F201E9F86}"/>
              </a:ext>
            </a:extLst>
          </p:cNvPr>
          <p:cNvSpPr/>
          <p:nvPr/>
        </p:nvSpPr>
        <p:spPr>
          <a:xfrm>
            <a:off x="8545771" y="3546196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E4241A79-F154-8A9A-944D-DA214E1D9637}"/>
              </a:ext>
            </a:extLst>
          </p:cNvPr>
          <p:cNvCxnSpPr>
            <a:cxnSpLocks/>
            <a:stCxn id="41" idx="4"/>
            <a:endCxn id="251" idx="0"/>
          </p:cNvCxnSpPr>
          <p:nvPr/>
        </p:nvCxnSpPr>
        <p:spPr>
          <a:xfrm>
            <a:off x="9265469" y="3018745"/>
            <a:ext cx="1079933" cy="511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BFA8B501-878A-93A4-5F3C-0EB3EAF0F2A9}"/>
              </a:ext>
            </a:extLst>
          </p:cNvPr>
          <p:cNvSpPr/>
          <p:nvPr/>
        </p:nvSpPr>
        <p:spPr>
          <a:xfrm>
            <a:off x="9218090" y="3569099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=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603C071B-85DC-3431-2B61-F290B9755FFE}"/>
              </a:ext>
            </a:extLst>
          </p:cNvPr>
          <p:cNvCxnSpPr>
            <a:cxnSpLocks/>
            <a:stCxn id="41" idx="4"/>
            <a:endCxn id="254" idx="0"/>
          </p:cNvCxnSpPr>
          <p:nvPr/>
        </p:nvCxnSpPr>
        <p:spPr>
          <a:xfrm>
            <a:off x="9265469" y="3018745"/>
            <a:ext cx="349116" cy="550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Isosceles Triangle 255">
            <a:extLst>
              <a:ext uri="{FF2B5EF4-FFF2-40B4-BE49-F238E27FC236}">
                <a16:creationId xmlns:a16="http://schemas.microsoft.com/office/drawing/2014/main" id="{98E2EB0D-7E55-275D-1915-7B79E044FE07}"/>
              </a:ext>
            </a:extLst>
          </p:cNvPr>
          <p:cNvSpPr/>
          <p:nvPr/>
        </p:nvSpPr>
        <p:spPr>
          <a:xfrm>
            <a:off x="10038413" y="3955501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60EB02BD-BB2A-3923-8431-243A8BF258CA}"/>
              </a:ext>
            </a:extLst>
          </p:cNvPr>
          <p:cNvSpPr txBox="1"/>
          <p:nvPr/>
        </p:nvSpPr>
        <p:spPr>
          <a:xfrm>
            <a:off x="4228792" y="3752250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C55D7FE9-A4AE-592D-106C-E0C7117DE663}"/>
              </a:ext>
            </a:extLst>
          </p:cNvPr>
          <p:cNvSpPr txBox="1"/>
          <p:nvPr/>
        </p:nvSpPr>
        <p:spPr>
          <a:xfrm>
            <a:off x="7070787" y="4347154"/>
            <a:ext cx="1729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endParaRPr lang="en-US" sz="1400" dirty="0">
              <a:latin typeface="+mj-lt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D72FD9A-5F7A-B289-BC4F-C59658FFBCE5}"/>
              </a:ext>
            </a:extLst>
          </p:cNvPr>
          <p:cNvSpPr txBox="1"/>
          <p:nvPr/>
        </p:nvSpPr>
        <p:spPr>
          <a:xfrm>
            <a:off x="8783719" y="4244514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</a:t>
            </a:r>
            <a:endParaRPr lang="en-US" sz="1400" dirty="0">
              <a:latin typeface="+mj-lt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83CFD9DA-F227-59A8-68A6-74928D7ABF4A}"/>
              </a:ext>
            </a:extLst>
          </p:cNvPr>
          <p:cNvSpPr txBox="1"/>
          <p:nvPr/>
        </p:nvSpPr>
        <p:spPr>
          <a:xfrm>
            <a:off x="7837732" y="2435171"/>
            <a:ext cx="1035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=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</a:t>
            </a:r>
            <a:endParaRPr lang="en-US" sz="1400" dirty="0">
              <a:latin typeface="+mj-lt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7420C6E2-8948-1571-C1E6-D8D11E3CD0F8}"/>
              </a:ext>
            </a:extLst>
          </p:cNvPr>
          <p:cNvSpPr txBox="1"/>
          <p:nvPr/>
        </p:nvSpPr>
        <p:spPr>
          <a:xfrm>
            <a:off x="9671119" y="1052869"/>
            <a:ext cx="95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= 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+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</a:t>
            </a:r>
            <a:endParaRPr lang="en-US" sz="1400" dirty="0">
              <a:latin typeface="+mj-lt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B0FE0E90-492C-7751-2B60-B3352859454D}"/>
              </a:ext>
            </a:extLst>
          </p:cNvPr>
          <p:cNvSpPr txBox="1"/>
          <p:nvPr/>
        </p:nvSpPr>
        <p:spPr>
          <a:xfrm>
            <a:off x="5640959" y="961321"/>
            <a:ext cx="2852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||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	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=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;</a:t>
            </a:r>
            <a:endParaRPr lang="en-US" sz="1400" dirty="0">
              <a:latin typeface="+mj-lt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C7A8B3C0-A507-7F66-005B-7735DC0F23A4}"/>
              </a:ext>
            </a:extLst>
          </p:cNvPr>
          <p:cNvSpPr txBox="1"/>
          <p:nvPr/>
        </p:nvSpPr>
        <p:spPr>
          <a:xfrm>
            <a:off x="4683120" y="2420652"/>
            <a:ext cx="13206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||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</a:t>
            </a:r>
            <a:endParaRPr lang="en-US" sz="14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7C6B4FFB-75ED-48CC-875E-A74EC04E34EC}"/>
              </a:ext>
            </a:extLst>
          </p:cNvPr>
          <p:cNvSpPr txBox="1"/>
          <p:nvPr/>
        </p:nvSpPr>
        <p:spPr>
          <a:xfrm>
            <a:off x="6357258" y="3770475"/>
            <a:ext cx="159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</a:t>
            </a:r>
            <a:endParaRPr lang="en-US" sz="1400" dirty="0">
              <a:latin typeface="+mj-lt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CABCECB-8ADF-1DA4-DCD3-FCB078229EE1}"/>
              </a:ext>
            </a:extLst>
          </p:cNvPr>
          <p:cNvSpPr txBox="1"/>
          <p:nvPr/>
        </p:nvSpPr>
        <p:spPr>
          <a:xfrm>
            <a:off x="2668507" y="429653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A9A0FC5-B15F-3CE4-246A-03007F9CF1A3}"/>
              </a:ext>
            </a:extLst>
          </p:cNvPr>
          <p:cNvSpPr txBox="1"/>
          <p:nvPr/>
        </p:nvSpPr>
        <p:spPr>
          <a:xfrm>
            <a:off x="4395706" y="4311050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AB3E6ED-5A42-BC46-AB38-9423B0B0D99B}"/>
              </a:ext>
            </a:extLst>
          </p:cNvPr>
          <p:cNvSpPr txBox="1"/>
          <p:nvPr/>
        </p:nvSpPr>
        <p:spPr>
          <a:xfrm>
            <a:off x="3466791" y="4441680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endParaRPr lang="en-US" sz="1400" b="1" dirty="0">
              <a:latin typeface="+mj-lt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F4B7163-488D-C97C-96B8-81964DCBD770}"/>
              </a:ext>
            </a:extLst>
          </p:cNvPr>
          <p:cNvSpPr txBox="1"/>
          <p:nvPr/>
        </p:nvSpPr>
        <p:spPr>
          <a:xfrm>
            <a:off x="6101137" y="530527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E72A358-E80C-C478-8EEB-F4BA39B06F8B}"/>
              </a:ext>
            </a:extLst>
          </p:cNvPr>
          <p:cNvSpPr txBox="1"/>
          <p:nvPr/>
        </p:nvSpPr>
        <p:spPr>
          <a:xfrm>
            <a:off x="7701200" y="5305276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00</a:t>
            </a:r>
            <a:endParaRPr lang="en-US" sz="1400" dirty="0">
              <a:latin typeface="+mj-lt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5D738BE-466C-B969-CD4F-D19B716154F4}"/>
              </a:ext>
            </a:extLst>
          </p:cNvPr>
          <p:cNvSpPr txBox="1"/>
          <p:nvPr/>
        </p:nvSpPr>
        <p:spPr>
          <a:xfrm>
            <a:off x="6853248" y="5422933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&gt;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194E17-68E4-F9F2-A7FF-9F44F47D52AC}"/>
              </a:ext>
            </a:extLst>
          </p:cNvPr>
          <p:cNvSpPr txBox="1"/>
          <p:nvPr/>
        </p:nvSpPr>
        <p:spPr>
          <a:xfrm>
            <a:off x="9731968" y="5253302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A500037-DC1F-10D0-5DC2-DD17A63B9027}"/>
              </a:ext>
            </a:extLst>
          </p:cNvPr>
          <p:cNvSpPr txBox="1"/>
          <p:nvPr/>
        </p:nvSpPr>
        <p:spPr>
          <a:xfrm>
            <a:off x="10699604" y="5246005"/>
            <a:ext cx="45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919CF9F-4CA7-B68E-0474-E779409F5120}"/>
              </a:ext>
            </a:extLst>
          </p:cNvPr>
          <p:cNvSpPr txBox="1"/>
          <p:nvPr/>
        </p:nvSpPr>
        <p:spPr>
          <a:xfrm>
            <a:off x="10097259" y="5470975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endParaRPr lang="en-US" sz="1400" dirty="0">
              <a:latin typeface="+mj-lt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9F182CC-9BC1-018D-0F54-B3343AC6BF88}"/>
              </a:ext>
            </a:extLst>
          </p:cNvPr>
          <p:cNvSpPr txBox="1"/>
          <p:nvPr/>
        </p:nvSpPr>
        <p:spPr>
          <a:xfrm>
            <a:off x="8839337" y="3068906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519AF8D8-9A4C-2353-2857-89E6E77B342C}"/>
              </a:ext>
            </a:extLst>
          </p:cNvPr>
          <p:cNvSpPr txBox="1"/>
          <p:nvPr/>
        </p:nvSpPr>
        <p:spPr>
          <a:xfrm>
            <a:off x="9674287" y="3003128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0</a:t>
            </a:r>
            <a:endParaRPr lang="en-US" sz="1400" dirty="0">
              <a:latin typeface="+mj-lt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D6052481-0031-8D01-F3B7-05F34902AE51}"/>
              </a:ext>
            </a:extLst>
          </p:cNvPr>
          <p:cNvSpPr txBox="1"/>
          <p:nvPr/>
        </p:nvSpPr>
        <p:spPr>
          <a:xfrm>
            <a:off x="10283510" y="1973074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28A9BDCE-4920-3782-2CEF-3706C4ED5364}"/>
              </a:ext>
            </a:extLst>
          </p:cNvPr>
          <p:cNvSpPr txBox="1"/>
          <p:nvPr/>
        </p:nvSpPr>
        <p:spPr>
          <a:xfrm>
            <a:off x="11260434" y="2003553"/>
            <a:ext cx="95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+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12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1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8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3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0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7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2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7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7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2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3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92" grpId="0"/>
      <p:bldP spid="50" grpId="0"/>
      <p:bldP spid="3" grpId="0"/>
      <p:bldP spid="6" grpId="0"/>
      <p:bldP spid="27" grpId="0"/>
      <p:bldP spid="29" grpId="0"/>
      <p:bldP spid="33" grpId="0"/>
      <p:bldP spid="41" grpId="0"/>
      <p:bldP spid="52" grpId="0"/>
      <p:bldP spid="79" grpId="0"/>
      <p:bldP spid="80" grpId="0"/>
      <p:bldP spid="82" grpId="0"/>
      <p:bldP spid="94" grpId="0"/>
      <p:bldP spid="95" grpId="0"/>
      <p:bldP spid="97" grpId="0"/>
      <p:bldP spid="111" grpId="0"/>
      <p:bldP spid="112" grpId="0"/>
      <p:bldP spid="114" grpId="0"/>
      <p:bldP spid="119" grpId="0"/>
      <p:bldP spid="120" grpId="0"/>
      <p:bldP spid="123" grpId="0"/>
      <p:bldP spid="144" grpId="0"/>
      <p:bldP spid="145" grpId="0"/>
      <p:bldP spid="147" grpId="0"/>
      <p:bldP spid="209" grpId="0" animBg="1"/>
      <p:bldP spid="210" grpId="0" animBg="1"/>
      <p:bldP spid="217" grpId="0" animBg="1"/>
      <p:bldP spid="218" grpId="0" animBg="1"/>
      <p:bldP spid="219" grpId="0" animBg="1"/>
      <p:bldP spid="220" grpId="0" animBg="1"/>
      <p:bldP spid="232" grpId="0"/>
      <p:bldP spid="233" grpId="0"/>
      <p:bldP spid="235" grpId="0"/>
      <p:bldP spid="238" grpId="0" animBg="1"/>
      <p:bldP spid="251" grpId="0"/>
      <p:bldP spid="252" grpId="0"/>
      <p:bldP spid="254" grpId="0"/>
      <p:bldP spid="256" grpId="0" animBg="1"/>
      <p:bldP spid="269" grpId="0"/>
      <p:bldP spid="271" grpId="0"/>
      <p:bldP spid="273" grpId="0"/>
      <p:bldP spid="277" grpId="0"/>
      <p:bldP spid="279" grpId="0"/>
      <p:bldP spid="281" grpId="0"/>
      <p:bldP spid="283" grpId="0"/>
      <p:bldP spid="286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>
            <a:extLst>
              <a:ext uri="{FF2B5EF4-FFF2-40B4-BE49-F238E27FC236}">
                <a16:creationId xmlns:a16="http://schemas.microsoft.com/office/drawing/2014/main" id="{8BB8789A-7C01-80B7-89BC-90647D22DD9C}"/>
              </a:ext>
            </a:extLst>
          </p:cNvPr>
          <p:cNvSpPr txBox="1"/>
          <p:nvPr/>
        </p:nvSpPr>
        <p:spPr>
          <a:xfrm>
            <a:off x="90520" y="1245455"/>
            <a:ext cx="4910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L3: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24A1EEE-BE19-4413-8553-0BB624DBAA3B}"/>
              </a:ext>
            </a:extLst>
          </p:cNvPr>
          <p:cNvSpPr txBox="1"/>
          <p:nvPr/>
        </p:nvSpPr>
        <p:spPr>
          <a:xfrm>
            <a:off x="39718" y="2486423"/>
            <a:ext cx="4910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L4: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049FD5-8386-811F-3298-2B93FE5970E1}"/>
              </a:ext>
            </a:extLst>
          </p:cNvPr>
          <p:cNvSpPr txBox="1"/>
          <p:nvPr/>
        </p:nvSpPr>
        <p:spPr>
          <a:xfrm>
            <a:off x="6279468" y="3629077"/>
            <a:ext cx="212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B3.true=new Label() 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L4</a:t>
            </a: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B3.false=B2.false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B4.true=B2.true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L2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B4.false=B2.false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BFDF4-DB9D-DBFA-641F-6FF7E79C32BD}"/>
              </a:ext>
            </a:extLst>
          </p:cNvPr>
          <p:cNvSpPr txBox="1"/>
          <p:nvPr/>
        </p:nvSpPr>
        <p:spPr>
          <a:xfrm>
            <a:off x="5658359" y="4389219"/>
            <a:ext cx="18156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B3.Code: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if E3.addr </a:t>
            </a:r>
            <a:r>
              <a:rPr lang="en-US" sz="1400" b="1" i="1" dirty="0" err="1">
                <a:solidFill>
                  <a:srgbClr val="0070C0"/>
                </a:solidFill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E4.addr  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    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B3.true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rgbClr val="FF0000"/>
                </a:solidFill>
                <a:sym typeface="Wingdings" panose="05000000000000000000" pitchFamily="2" charset="2"/>
              </a:rPr>
              <a:t>B3.false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DE4CF-89F3-FFBC-1738-F93A0FAB0201}"/>
              </a:ext>
            </a:extLst>
          </p:cNvPr>
          <p:cNvSpPr txBox="1"/>
          <p:nvPr/>
        </p:nvSpPr>
        <p:spPr>
          <a:xfrm>
            <a:off x="1087455" y="4653305"/>
            <a:ext cx="1815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t1 = x-k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E9514-B0A0-0CF0-7D35-79E50AF827F3}"/>
              </a:ext>
            </a:extLst>
          </p:cNvPr>
          <p:cNvSpPr txBox="1"/>
          <p:nvPr/>
        </p:nvSpPr>
        <p:spPr>
          <a:xfrm>
            <a:off x="2332277" y="3354280"/>
            <a:ext cx="18153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B1.Code: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if E1.addr </a:t>
            </a:r>
            <a:r>
              <a:rPr lang="en-US" sz="1400" b="1" i="1" dirty="0" err="1">
                <a:solidFill>
                  <a:srgbClr val="0070C0"/>
                </a:solidFill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E2.addr  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      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B1.true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rgbClr val="FF0000"/>
                </a:solidFill>
                <a:sym typeface="Wingdings" panose="05000000000000000000" pitchFamily="2" charset="2"/>
              </a:rPr>
              <a:t>B1.false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3AA0E7-0C4B-6CCE-13D7-2E22EB2B9011}"/>
              </a:ext>
            </a:extLst>
          </p:cNvPr>
          <p:cNvSpPr txBox="1"/>
          <p:nvPr/>
        </p:nvSpPr>
        <p:spPr>
          <a:xfrm>
            <a:off x="8690235" y="4653785"/>
            <a:ext cx="18156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B4.Code: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if E5.addr </a:t>
            </a:r>
            <a:r>
              <a:rPr lang="en-US" sz="1400" b="1" i="1" dirty="0" err="1">
                <a:solidFill>
                  <a:srgbClr val="0070C0"/>
                </a:solidFill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E6.addr  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      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B4.true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go to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u="sng" dirty="0">
                <a:solidFill>
                  <a:srgbClr val="FF0000"/>
                </a:solidFill>
                <a:sym typeface="Wingdings" panose="05000000000000000000" pitchFamily="2" charset="2"/>
              </a:rPr>
              <a:t>B4.false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1B54C78-B928-3A89-930B-C93F1B1972D7}"/>
              </a:ext>
            </a:extLst>
          </p:cNvPr>
          <p:cNvSpPr/>
          <p:nvPr/>
        </p:nvSpPr>
        <p:spPr>
          <a:xfrm>
            <a:off x="8515819" y="163967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21D82A1-D386-6A45-B89F-8FDDA69E565A}"/>
              </a:ext>
            </a:extLst>
          </p:cNvPr>
          <p:cNvCxnSpPr>
            <a:cxnSpLocks/>
            <a:stCxn id="55" idx="4"/>
            <a:endCxn id="92" idx="0"/>
          </p:cNvCxnSpPr>
          <p:nvPr/>
        </p:nvCxnSpPr>
        <p:spPr>
          <a:xfrm flipH="1">
            <a:off x="8698826" y="544967"/>
            <a:ext cx="7493" cy="28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C1BF085-83BB-9B8D-2CCA-F166C349E003}"/>
              </a:ext>
            </a:extLst>
          </p:cNvPr>
          <p:cNvSpPr/>
          <p:nvPr/>
        </p:nvSpPr>
        <p:spPr>
          <a:xfrm>
            <a:off x="8401716" y="828302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7C1755-1FAF-6509-73FD-670F0EE10DBE}"/>
              </a:ext>
            </a:extLst>
          </p:cNvPr>
          <p:cNvCxnSpPr>
            <a:cxnSpLocks/>
            <a:stCxn id="50" idx="0"/>
            <a:endCxn id="3" idx="4"/>
          </p:cNvCxnSpPr>
          <p:nvPr/>
        </p:nvCxnSpPr>
        <p:spPr>
          <a:xfrm flipH="1" flipV="1">
            <a:off x="6025695" y="2025598"/>
            <a:ext cx="1232382" cy="631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B409F49-B08D-4338-7624-24E1424EBDF4}"/>
              </a:ext>
            </a:extLst>
          </p:cNvPr>
          <p:cNvSpPr/>
          <p:nvPr/>
        </p:nvSpPr>
        <p:spPr>
          <a:xfrm>
            <a:off x="6566534" y="2657025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80073B-5A41-783F-E379-A99B76295EFA}"/>
              </a:ext>
            </a:extLst>
          </p:cNvPr>
          <p:cNvSpPr/>
          <p:nvPr/>
        </p:nvSpPr>
        <p:spPr>
          <a:xfrm>
            <a:off x="5728585" y="1644598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1352DE-F463-7B2B-C0B3-9EC4A49B7877}"/>
              </a:ext>
            </a:extLst>
          </p:cNvPr>
          <p:cNvSpPr/>
          <p:nvPr/>
        </p:nvSpPr>
        <p:spPr>
          <a:xfrm>
            <a:off x="10724237" y="1626589"/>
            <a:ext cx="59422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C1483D-AC53-0499-2C66-02CFA294F320}"/>
              </a:ext>
            </a:extLst>
          </p:cNvPr>
          <p:cNvCxnSpPr>
            <a:cxnSpLocks/>
            <a:stCxn id="92" idx="4"/>
            <a:endCxn id="3" idx="0"/>
          </p:cNvCxnSpPr>
          <p:nvPr/>
        </p:nvCxnSpPr>
        <p:spPr>
          <a:xfrm flipH="1">
            <a:off x="6025695" y="1209302"/>
            <a:ext cx="2673131" cy="435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051523-C492-EDFE-1ED7-2D69B85D556C}"/>
              </a:ext>
            </a:extLst>
          </p:cNvPr>
          <p:cNvCxnSpPr>
            <a:cxnSpLocks/>
            <a:stCxn id="92" idx="4"/>
            <a:endCxn id="6" idx="0"/>
          </p:cNvCxnSpPr>
          <p:nvPr/>
        </p:nvCxnSpPr>
        <p:spPr>
          <a:xfrm>
            <a:off x="8698826" y="1209302"/>
            <a:ext cx="2322521" cy="417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876CBD8-550A-2D49-EAE4-89D01E8EA8C9}"/>
              </a:ext>
            </a:extLst>
          </p:cNvPr>
          <p:cNvSpPr/>
          <p:nvPr/>
        </p:nvSpPr>
        <p:spPr>
          <a:xfrm>
            <a:off x="5982398" y="269732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7F3776-5C61-E95F-1EDC-310D153B25F0}"/>
              </a:ext>
            </a:extLst>
          </p:cNvPr>
          <p:cNvCxnSpPr>
            <a:cxnSpLocks/>
            <a:stCxn id="3" idx="4"/>
            <a:endCxn id="27" idx="0"/>
          </p:cNvCxnSpPr>
          <p:nvPr/>
        </p:nvCxnSpPr>
        <p:spPr>
          <a:xfrm>
            <a:off x="6025695" y="2025598"/>
            <a:ext cx="248951" cy="671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E97E54C-EBD7-D980-C600-22FE1CC63209}"/>
              </a:ext>
            </a:extLst>
          </p:cNvPr>
          <p:cNvSpPr/>
          <p:nvPr/>
        </p:nvSpPr>
        <p:spPr>
          <a:xfrm>
            <a:off x="2880352" y="2596014"/>
            <a:ext cx="91414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if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B67C2F-E2FA-53B3-C45C-FAD2A70FD515}"/>
              </a:ext>
            </a:extLst>
          </p:cNvPr>
          <p:cNvCxnSpPr>
            <a:cxnSpLocks/>
            <a:stCxn id="3" idx="4"/>
            <a:endCxn id="29" idx="0"/>
          </p:cNvCxnSpPr>
          <p:nvPr/>
        </p:nvCxnSpPr>
        <p:spPr>
          <a:xfrm flipH="1">
            <a:off x="3337424" y="2025598"/>
            <a:ext cx="2688271" cy="570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3A6529-02A9-CE1C-571A-B69775FD6C59}"/>
              </a:ext>
            </a:extLst>
          </p:cNvPr>
          <p:cNvCxnSpPr>
            <a:cxnSpLocks/>
            <a:stCxn id="33" idx="0"/>
            <a:endCxn id="3" idx="4"/>
          </p:cNvCxnSpPr>
          <p:nvPr/>
        </p:nvCxnSpPr>
        <p:spPr>
          <a:xfrm flipV="1">
            <a:off x="3832934" y="2025598"/>
            <a:ext cx="2192761" cy="558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90AD3EB-6820-FB32-22C5-493419821800}"/>
              </a:ext>
            </a:extLst>
          </p:cNvPr>
          <p:cNvSpPr/>
          <p:nvPr/>
        </p:nvSpPr>
        <p:spPr>
          <a:xfrm>
            <a:off x="3380769" y="2584562"/>
            <a:ext cx="904330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(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3381DC-08E2-3E9F-0D41-71FC25386695}"/>
              </a:ext>
            </a:extLst>
          </p:cNvPr>
          <p:cNvSpPr/>
          <p:nvPr/>
        </p:nvSpPr>
        <p:spPr>
          <a:xfrm>
            <a:off x="8745355" y="2610238"/>
            <a:ext cx="670423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8848A9-543B-3F78-083C-2046C07DB0FC}"/>
              </a:ext>
            </a:extLst>
          </p:cNvPr>
          <p:cNvCxnSpPr>
            <a:cxnSpLocks/>
            <a:stCxn id="3" idx="4"/>
            <a:endCxn id="41" idx="0"/>
          </p:cNvCxnSpPr>
          <p:nvPr/>
        </p:nvCxnSpPr>
        <p:spPr>
          <a:xfrm>
            <a:off x="6025695" y="2025598"/>
            <a:ext cx="3054872" cy="584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6B2D48-3F1C-6194-0962-12487AFD5783}"/>
              </a:ext>
            </a:extLst>
          </p:cNvPr>
          <p:cNvCxnSpPr>
            <a:cxnSpLocks/>
            <a:stCxn id="27" idx="4"/>
            <a:endCxn id="79" idx="0"/>
          </p:cNvCxnSpPr>
          <p:nvPr/>
        </p:nvCxnSpPr>
        <p:spPr>
          <a:xfrm flipH="1">
            <a:off x="4140285" y="3105831"/>
            <a:ext cx="2134361" cy="71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60D62E-BDF9-C519-4EA2-B96236D0C317}"/>
              </a:ext>
            </a:extLst>
          </p:cNvPr>
          <p:cNvSpPr/>
          <p:nvPr/>
        </p:nvSpPr>
        <p:spPr>
          <a:xfrm>
            <a:off x="8236209" y="400337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EB9398E-AB0B-A7F3-D1F1-35739AEEE559}"/>
              </a:ext>
            </a:extLst>
          </p:cNvPr>
          <p:cNvSpPr/>
          <p:nvPr/>
        </p:nvSpPr>
        <p:spPr>
          <a:xfrm>
            <a:off x="3848037" y="3821935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BE4B33A-B7B2-3D4D-7DBE-2BC1F5D9CD65}"/>
              </a:ext>
            </a:extLst>
          </p:cNvPr>
          <p:cNvSpPr/>
          <p:nvPr/>
        </p:nvSpPr>
        <p:spPr>
          <a:xfrm>
            <a:off x="7261848" y="400337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9551A9E-04D4-7F11-F7C6-448C2A278C3B}"/>
              </a:ext>
            </a:extLst>
          </p:cNvPr>
          <p:cNvCxnSpPr>
            <a:cxnSpLocks/>
            <a:stCxn id="27" idx="4"/>
            <a:endCxn id="52" idx="0"/>
          </p:cNvCxnSpPr>
          <p:nvPr/>
        </p:nvCxnSpPr>
        <p:spPr>
          <a:xfrm>
            <a:off x="6274646" y="3105831"/>
            <a:ext cx="2253811" cy="897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AFBDC429-6D38-02EE-3DC3-15301E75E1E9}"/>
              </a:ext>
            </a:extLst>
          </p:cNvPr>
          <p:cNvSpPr/>
          <p:nvPr/>
        </p:nvSpPr>
        <p:spPr>
          <a:xfrm>
            <a:off x="4609820" y="3900642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||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1E280D9-D008-8A62-9ACA-E09B8A362595}"/>
              </a:ext>
            </a:extLst>
          </p:cNvPr>
          <p:cNvCxnSpPr>
            <a:cxnSpLocks/>
            <a:stCxn id="27" idx="4"/>
            <a:endCxn id="82" idx="0"/>
          </p:cNvCxnSpPr>
          <p:nvPr/>
        </p:nvCxnSpPr>
        <p:spPr>
          <a:xfrm flipH="1">
            <a:off x="5006315" y="3105831"/>
            <a:ext cx="1268331" cy="79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29D757-8504-E351-AF17-C7536D262396}"/>
              </a:ext>
            </a:extLst>
          </p:cNvPr>
          <p:cNvCxnSpPr>
            <a:cxnSpLocks/>
            <a:stCxn id="52" idx="4"/>
            <a:endCxn id="95" idx="0"/>
          </p:cNvCxnSpPr>
          <p:nvPr/>
        </p:nvCxnSpPr>
        <p:spPr>
          <a:xfrm flipH="1">
            <a:off x="7150459" y="4411877"/>
            <a:ext cx="1377998" cy="491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97898B42-7EE5-E8C0-A8F1-82C87C479EB1}"/>
              </a:ext>
            </a:extLst>
          </p:cNvPr>
          <p:cNvSpPr/>
          <p:nvPr/>
        </p:nvSpPr>
        <p:spPr>
          <a:xfrm>
            <a:off x="10172542" y="4895054"/>
            <a:ext cx="769654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BB4B6A-E63B-9DCD-0659-E19401603366}"/>
              </a:ext>
            </a:extLst>
          </p:cNvPr>
          <p:cNvSpPr/>
          <p:nvPr/>
        </p:nvSpPr>
        <p:spPr>
          <a:xfrm>
            <a:off x="6773519" y="4903260"/>
            <a:ext cx="753879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77FD64E-C83F-4419-4D6B-3383BA8DA5AE}"/>
              </a:ext>
            </a:extLst>
          </p:cNvPr>
          <p:cNvCxnSpPr>
            <a:cxnSpLocks/>
            <a:stCxn id="52" idx="4"/>
            <a:endCxn id="94" idx="0"/>
          </p:cNvCxnSpPr>
          <p:nvPr/>
        </p:nvCxnSpPr>
        <p:spPr>
          <a:xfrm>
            <a:off x="8528457" y="4411877"/>
            <a:ext cx="2028912" cy="483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B5B1D9EA-02A5-31EF-1099-31A95202AEFB}"/>
              </a:ext>
            </a:extLst>
          </p:cNvPr>
          <p:cNvSpPr/>
          <p:nvPr/>
        </p:nvSpPr>
        <p:spPr>
          <a:xfrm>
            <a:off x="7137678" y="4926164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&amp;&amp;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C5AA634-89C7-777F-9F5F-5C4EB7720E93}"/>
              </a:ext>
            </a:extLst>
          </p:cNvPr>
          <p:cNvCxnSpPr>
            <a:cxnSpLocks/>
            <a:stCxn id="52" idx="4"/>
            <a:endCxn id="97" idx="0"/>
          </p:cNvCxnSpPr>
          <p:nvPr/>
        </p:nvCxnSpPr>
        <p:spPr>
          <a:xfrm flipH="1">
            <a:off x="7534173" y="4411877"/>
            <a:ext cx="994284" cy="5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90083CA-5838-BCAB-8745-E97802427960}"/>
              </a:ext>
            </a:extLst>
          </p:cNvPr>
          <p:cNvCxnSpPr>
            <a:cxnSpLocks/>
            <a:stCxn id="95" idx="4"/>
            <a:endCxn id="112" idx="0"/>
          </p:cNvCxnSpPr>
          <p:nvPr/>
        </p:nvCxnSpPr>
        <p:spPr>
          <a:xfrm flipH="1">
            <a:off x="6183813" y="5311767"/>
            <a:ext cx="966646" cy="49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A5C5240A-6A04-4773-3065-6D5A21DF2C54}"/>
              </a:ext>
            </a:extLst>
          </p:cNvPr>
          <p:cNvSpPr/>
          <p:nvPr/>
        </p:nvSpPr>
        <p:spPr>
          <a:xfrm>
            <a:off x="8354710" y="5832165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A4B8E78-46ED-AC8C-5C28-9F1363C72EDD}"/>
              </a:ext>
            </a:extLst>
          </p:cNvPr>
          <p:cNvSpPr/>
          <p:nvPr/>
        </p:nvSpPr>
        <p:spPr>
          <a:xfrm>
            <a:off x="5829794" y="5810391"/>
            <a:ext cx="70803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895D6E0-A7A1-6B48-FFDD-0B411C5BE4EF}"/>
              </a:ext>
            </a:extLst>
          </p:cNvPr>
          <p:cNvCxnSpPr>
            <a:cxnSpLocks/>
            <a:stCxn id="95" idx="4"/>
            <a:endCxn id="111" idx="0"/>
          </p:cNvCxnSpPr>
          <p:nvPr/>
        </p:nvCxnSpPr>
        <p:spPr>
          <a:xfrm>
            <a:off x="7150459" y="5311767"/>
            <a:ext cx="1550440" cy="520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908DBA30-6E1B-1FB4-C130-CF1C7EC2388D}"/>
              </a:ext>
            </a:extLst>
          </p:cNvPr>
          <p:cNvSpPr/>
          <p:nvPr/>
        </p:nvSpPr>
        <p:spPr>
          <a:xfrm>
            <a:off x="6681567" y="5833295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B0440DD-9EF0-1738-43AA-4BDD5BD998D8}"/>
              </a:ext>
            </a:extLst>
          </p:cNvPr>
          <p:cNvCxnSpPr>
            <a:cxnSpLocks/>
            <a:stCxn id="95" idx="4"/>
            <a:endCxn id="114" idx="0"/>
          </p:cNvCxnSpPr>
          <p:nvPr/>
        </p:nvCxnSpPr>
        <p:spPr>
          <a:xfrm flipH="1">
            <a:off x="7078062" y="5311767"/>
            <a:ext cx="72397" cy="52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B34B43D-2A47-CB3A-AE90-D9B37784B955}"/>
              </a:ext>
            </a:extLst>
          </p:cNvPr>
          <p:cNvCxnSpPr>
            <a:cxnSpLocks/>
            <a:stCxn id="94" idx="4"/>
            <a:endCxn id="120" idx="0"/>
          </p:cNvCxnSpPr>
          <p:nvPr/>
        </p:nvCxnSpPr>
        <p:spPr>
          <a:xfrm flipH="1">
            <a:off x="9964166" y="5303561"/>
            <a:ext cx="593203" cy="456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FCA3A58B-00CE-B117-6240-58D737046CEE}"/>
              </a:ext>
            </a:extLst>
          </p:cNvPr>
          <p:cNvSpPr/>
          <p:nvPr/>
        </p:nvSpPr>
        <p:spPr>
          <a:xfrm>
            <a:off x="10723080" y="574352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26ECA6-C69F-A866-4CD8-2ABA7C06FDC2}"/>
              </a:ext>
            </a:extLst>
          </p:cNvPr>
          <p:cNvSpPr/>
          <p:nvPr/>
        </p:nvSpPr>
        <p:spPr>
          <a:xfrm>
            <a:off x="9617977" y="575973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4C4DF11-FB54-D6DB-506D-5A4AF249D99F}"/>
              </a:ext>
            </a:extLst>
          </p:cNvPr>
          <p:cNvCxnSpPr>
            <a:cxnSpLocks/>
            <a:stCxn id="94" idx="4"/>
            <a:endCxn id="119" idx="0"/>
          </p:cNvCxnSpPr>
          <p:nvPr/>
        </p:nvCxnSpPr>
        <p:spPr>
          <a:xfrm>
            <a:off x="10557369" y="5303561"/>
            <a:ext cx="511900" cy="439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CF7B572B-C744-F359-7321-6194903EF84B}"/>
              </a:ext>
            </a:extLst>
          </p:cNvPr>
          <p:cNvSpPr/>
          <p:nvPr/>
        </p:nvSpPr>
        <p:spPr>
          <a:xfrm>
            <a:off x="10145153" y="578264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7C6459B-E395-BB43-C771-C1F8607BA7C0}"/>
              </a:ext>
            </a:extLst>
          </p:cNvPr>
          <p:cNvCxnSpPr>
            <a:cxnSpLocks/>
            <a:endCxn id="123" idx="0"/>
          </p:cNvCxnSpPr>
          <p:nvPr/>
        </p:nvCxnSpPr>
        <p:spPr>
          <a:xfrm flipH="1">
            <a:off x="10541648" y="5304781"/>
            <a:ext cx="15721" cy="477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2DAA87-61A6-2E40-99EC-10F7F832F825}"/>
              </a:ext>
            </a:extLst>
          </p:cNvPr>
          <p:cNvCxnSpPr>
            <a:cxnSpLocks/>
            <a:stCxn id="79" idx="4"/>
            <a:endCxn id="145" idx="0"/>
          </p:cNvCxnSpPr>
          <p:nvPr/>
        </p:nvCxnSpPr>
        <p:spPr>
          <a:xfrm flipH="1">
            <a:off x="2536245" y="4230442"/>
            <a:ext cx="1604040" cy="538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50EF24FC-5856-53A0-0A0A-4A6261B97AF4}"/>
              </a:ext>
            </a:extLst>
          </p:cNvPr>
          <p:cNvSpPr/>
          <p:nvPr/>
        </p:nvSpPr>
        <p:spPr>
          <a:xfrm>
            <a:off x="5187604" y="4790941"/>
            <a:ext cx="680042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FD47E4AC-11DE-8A74-D3D3-28FC9E934B45}"/>
              </a:ext>
            </a:extLst>
          </p:cNvPr>
          <p:cNvSpPr/>
          <p:nvPr/>
        </p:nvSpPr>
        <p:spPr>
          <a:xfrm>
            <a:off x="2190840" y="4769167"/>
            <a:ext cx="69081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4EF6B05-EDCD-18F4-4B5C-683BE071178E}"/>
              </a:ext>
            </a:extLst>
          </p:cNvPr>
          <p:cNvCxnSpPr>
            <a:cxnSpLocks/>
            <a:stCxn id="79" idx="4"/>
            <a:endCxn id="144" idx="0"/>
          </p:cNvCxnSpPr>
          <p:nvPr/>
        </p:nvCxnSpPr>
        <p:spPr>
          <a:xfrm>
            <a:off x="4140285" y="4230442"/>
            <a:ext cx="1387340" cy="560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C419232A-9497-AB2A-5B0D-680C97C0D4F9}"/>
              </a:ext>
            </a:extLst>
          </p:cNvPr>
          <p:cNvSpPr/>
          <p:nvPr/>
        </p:nvSpPr>
        <p:spPr>
          <a:xfrm>
            <a:off x="3324870" y="4791168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1EFFF3-FC24-7C24-8727-92C119947D7C}"/>
              </a:ext>
            </a:extLst>
          </p:cNvPr>
          <p:cNvCxnSpPr>
            <a:cxnSpLocks/>
            <a:stCxn id="79" idx="4"/>
            <a:endCxn id="147" idx="0"/>
          </p:cNvCxnSpPr>
          <p:nvPr/>
        </p:nvCxnSpPr>
        <p:spPr>
          <a:xfrm flipH="1">
            <a:off x="3721365" y="4230442"/>
            <a:ext cx="418920" cy="560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1D581733-65E5-CE10-076D-880F8F9147BD}"/>
              </a:ext>
            </a:extLst>
          </p:cNvPr>
          <p:cNvSpPr/>
          <p:nvPr/>
        </p:nvSpPr>
        <p:spPr>
          <a:xfrm>
            <a:off x="2197220" y="5169781"/>
            <a:ext cx="595254" cy="512484"/>
          </a:xfrm>
          <a:prstGeom prst="triangle">
            <a:avLst>
              <a:gd name="adj" fmla="val 52518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6331345D-0253-1E38-2AA8-0DD83AE60CB7}"/>
              </a:ext>
            </a:extLst>
          </p:cNvPr>
          <p:cNvSpPr/>
          <p:nvPr/>
        </p:nvSpPr>
        <p:spPr>
          <a:xfrm>
            <a:off x="5219251" y="5159704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389AEB8B-BB6C-0D46-50E8-F06EB22E20CB}"/>
              </a:ext>
            </a:extLst>
          </p:cNvPr>
          <p:cNvSpPr/>
          <p:nvPr/>
        </p:nvSpPr>
        <p:spPr>
          <a:xfrm>
            <a:off x="5866324" y="622650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8" name="Isosceles Triangle 217">
            <a:extLst>
              <a:ext uri="{FF2B5EF4-FFF2-40B4-BE49-F238E27FC236}">
                <a16:creationId xmlns:a16="http://schemas.microsoft.com/office/drawing/2014/main" id="{37FB1234-1977-7883-5CBB-BD4B3D75D6CD}"/>
              </a:ext>
            </a:extLst>
          </p:cNvPr>
          <p:cNvSpPr/>
          <p:nvPr/>
        </p:nvSpPr>
        <p:spPr>
          <a:xfrm>
            <a:off x="8418114" y="6240672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9" name="Isosceles Triangle 218">
            <a:extLst>
              <a:ext uri="{FF2B5EF4-FFF2-40B4-BE49-F238E27FC236}">
                <a16:creationId xmlns:a16="http://schemas.microsoft.com/office/drawing/2014/main" id="{7C4C3382-302A-1BC5-D5EB-6DE61020A7D5}"/>
              </a:ext>
            </a:extLst>
          </p:cNvPr>
          <p:cNvSpPr/>
          <p:nvPr/>
        </p:nvSpPr>
        <p:spPr>
          <a:xfrm>
            <a:off x="9656581" y="623022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0" name="Isosceles Triangle 219">
            <a:extLst>
              <a:ext uri="{FF2B5EF4-FFF2-40B4-BE49-F238E27FC236}">
                <a16:creationId xmlns:a16="http://schemas.microsoft.com/office/drawing/2014/main" id="{9C0C14B4-DDB8-558C-131A-E12BAC5923E9}"/>
              </a:ext>
            </a:extLst>
          </p:cNvPr>
          <p:cNvSpPr/>
          <p:nvPr/>
        </p:nvSpPr>
        <p:spPr>
          <a:xfrm>
            <a:off x="10791305" y="6214966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6BF27BC-0AE1-0FF6-5E02-732A59947A33}"/>
              </a:ext>
            </a:extLst>
          </p:cNvPr>
          <p:cNvCxnSpPr>
            <a:cxnSpLocks/>
            <a:stCxn id="6" idx="4"/>
            <a:endCxn id="233" idx="0"/>
          </p:cNvCxnSpPr>
          <p:nvPr/>
        </p:nvCxnSpPr>
        <p:spPr>
          <a:xfrm flipH="1">
            <a:off x="10368729" y="2007589"/>
            <a:ext cx="652618" cy="501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Oval 231">
            <a:extLst>
              <a:ext uri="{FF2B5EF4-FFF2-40B4-BE49-F238E27FC236}">
                <a16:creationId xmlns:a16="http://schemas.microsoft.com/office/drawing/2014/main" id="{6D81C836-153C-4C94-C2E3-23E09044B53D}"/>
              </a:ext>
            </a:extLst>
          </p:cNvPr>
          <p:cNvSpPr/>
          <p:nvPr/>
        </p:nvSpPr>
        <p:spPr>
          <a:xfrm>
            <a:off x="11475982" y="249316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B84A0E00-6C3C-C6FD-ABDF-104E36260DCB}"/>
              </a:ext>
            </a:extLst>
          </p:cNvPr>
          <p:cNvSpPr/>
          <p:nvPr/>
        </p:nvSpPr>
        <p:spPr>
          <a:xfrm>
            <a:off x="10022540" y="250937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76C28B01-217B-3B33-1583-4374C363157D}"/>
              </a:ext>
            </a:extLst>
          </p:cNvPr>
          <p:cNvCxnSpPr>
            <a:cxnSpLocks/>
            <a:stCxn id="6" idx="4"/>
            <a:endCxn id="232" idx="0"/>
          </p:cNvCxnSpPr>
          <p:nvPr/>
        </p:nvCxnSpPr>
        <p:spPr>
          <a:xfrm>
            <a:off x="11021347" y="2007589"/>
            <a:ext cx="800824" cy="485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Oval 234">
            <a:extLst>
              <a:ext uri="{FF2B5EF4-FFF2-40B4-BE49-F238E27FC236}">
                <a16:creationId xmlns:a16="http://schemas.microsoft.com/office/drawing/2014/main" id="{303BA7F5-B0B9-DAC0-A679-0B71BF377426}"/>
              </a:ext>
            </a:extLst>
          </p:cNvPr>
          <p:cNvSpPr/>
          <p:nvPr/>
        </p:nvSpPr>
        <p:spPr>
          <a:xfrm>
            <a:off x="10694859" y="253228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=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47BE93A-70FA-28CE-B368-3E9871A12B3B}"/>
              </a:ext>
            </a:extLst>
          </p:cNvPr>
          <p:cNvCxnSpPr>
            <a:cxnSpLocks/>
            <a:stCxn id="6" idx="4"/>
            <a:endCxn id="235" idx="0"/>
          </p:cNvCxnSpPr>
          <p:nvPr/>
        </p:nvCxnSpPr>
        <p:spPr>
          <a:xfrm>
            <a:off x="11021347" y="2007589"/>
            <a:ext cx="70007" cy="524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Isosceles Triangle 237">
            <a:extLst>
              <a:ext uri="{FF2B5EF4-FFF2-40B4-BE49-F238E27FC236}">
                <a16:creationId xmlns:a16="http://schemas.microsoft.com/office/drawing/2014/main" id="{621552D5-DBEF-CAD8-475D-24111BB72C26}"/>
              </a:ext>
            </a:extLst>
          </p:cNvPr>
          <p:cNvSpPr/>
          <p:nvPr/>
        </p:nvSpPr>
        <p:spPr>
          <a:xfrm>
            <a:off x="11515182" y="291868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5608E8C-64C5-77F1-5D7B-34A1F7EB3D17}"/>
              </a:ext>
            </a:extLst>
          </p:cNvPr>
          <p:cNvCxnSpPr>
            <a:cxnSpLocks/>
            <a:stCxn id="41" idx="4"/>
            <a:endCxn id="252" idx="0"/>
          </p:cNvCxnSpPr>
          <p:nvPr/>
        </p:nvCxnSpPr>
        <p:spPr>
          <a:xfrm flipH="1">
            <a:off x="9037104" y="3018745"/>
            <a:ext cx="43463" cy="527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Oval 250">
            <a:extLst>
              <a:ext uri="{FF2B5EF4-FFF2-40B4-BE49-F238E27FC236}">
                <a16:creationId xmlns:a16="http://schemas.microsoft.com/office/drawing/2014/main" id="{E902B4A6-4B17-807A-4A73-552EDE9DC328}"/>
              </a:ext>
            </a:extLst>
          </p:cNvPr>
          <p:cNvSpPr/>
          <p:nvPr/>
        </p:nvSpPr>
        <p:spPr>
          <a:xfrm>
            <a:off x="10144357" y="3529986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5AAA9F6B-FC28-E4DB-2412-065F201E9F86}"/>
              </a:ext>
            </a:extLst>
          </p:cNvPr>
          <p:cNvSpPr/>
          <p:nvPr/>
        </p:nvSpPr>
        <p:spPr>
          <a:xfrm>
            <a:off x="8690915" y="3546196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E4241A79-F154-8A9A-944D-DA214E1D9637}"/>
              </a:ext>
            </a:extLst>
          </p:cNvPr>
          <p:cNvCxnSpPr>
            <a:cxnSpLocks/>
            <a:stCxn id="41" idx="4"/>
            <a:endCxn id="251" idx="0"/>
          </p:cNvCxnSpPr>
          <p:nvPr/>
        </p:nvCxnSpPr>
        <p:spPr>
          <a:xfrm>
            <a:off x="9080567" y="3018745"/>
            <a:ext cx="1409979" cy="511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BFA8B501-878A-93A4-5F3C-0EB3EAF0F2A9}"/>
              </a:ext>
            </a:extLst>
          </p:cNvPr>
          <p:cNvSpPr/>
          <p:nvPr/>
        </p:nvSpPr>
        <p:spPr>
          <a:xfrm>
            <a:off x="9363234" y="3569099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=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603C071B-85DC-3431-2B61-F290B9755FFE}"/>
              </a:ext>
            </a:extLst>
          </p:cNvPr>
          <p:cNvCxnSpPr>
            <a:cxnSpLocks/>
            <a:stCxn id="41" idx="4"/>
            <a:endCxn id="254" idx="0"/>
          </p:cNvCxnSpPr>
          <p:nvPr/>
        </p:nvCxnSpPr>
        <p:spPr>
          <a:xfrm>
            <a:off x="9080567" y="3018745"/>
            <a:ext cx="679162" cy="550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Isosceles Triangle 255">
            <a:extLst>
              <a:ext uri="{FF2B5EF4-FFF2-40B4-BE49-F238E27FC236}">
                <a16:creationId xmlns:a16="http://schemas.microsoft.com/office/drawing/2014/main" id="{98E2EB0D-7E55-275D-1915-7B79E044FE07}"/>
              </a:ext>
            </a:extLst>
          </p:cNvPr>
          <p:cNvSpPr/>
          <p:nvPr/>
        </p:nvSpPr>
        <p:spPr>
          <a:xfrm>
            <a:off x="10183557" y="3955501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CABCECB-8ADF-1DA4-DCD3-FCB078229EE1}"/>
              </a:ext>
            </a:extLst>
          </p:cNvPr>
          <p:cNvSpPr txBox="1"/>
          <p:nvPr/>
        </p:nvSpPr>
        <p:spPr>
          <a:xfrm>
            <a:off x="2971630" y="429653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A9A0FC5-B15F-3CE4-246A-03007F9CF1A3}"/>
              </a:ext>
            </a:extLst>
          </p:cNvPr>
          <p:cNvSpPr txBox="1"/>
          <p:nvPr/>
        </p:nvSpPr>
        <p:spPr>
          <a:xfrm>
            <a:off x="4273654" y="4398136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AB3E6ED-5A42-BC46-AB38-9423B0B0D99B}"/>
              </a:ext>
            </a:extLst>
          </p:cNvPr>
          <p:cNvSpPr txBox="1"/>
          <p:nvPr/>
        </p:nvSpPr>
        <p:spPr>
          <a:xfrm>
            <a:off x="3582907" y="4412652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endParaRPr lang="en-US" sz="1400" b="1" dirty="0">
              <a:latin typeface="+mj-lt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F4B7163-488D-C97C-96B8-81964DCBD770}"/>
              </a:ext>
            </a:extLst>
          </p:cNvPr>
          <p:cNvSpPr txBox="1"/>
          <p:nvPr/>
        </p:nvSpPr>
        <p:spPr>
          <a:xfrm>
            <a:off x="6246281" y="530527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E72A358-E80C-C478-8EEB-F4BA39B06F8B}"/>
              </a:ext>
            </a:extLst>
          </p:cNvPr>
          <p:cNvSpPr txBox="1"/>
          <p:nvPr/>
        </p:nvSpPr>
        <p:spPr>
          <a:xfrm>
            <a:off x="7846344" y="5305276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00</a:t>
            </a:r>
            <a:endParaRPr lang="en-US" sz="1400" dirty="0">
              <a:latin typeface="+mj-lt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5D738BE-466C-B969-CD4F-D19B716154F4}"/>
              </a:ext>
            </a:extLst>
          </p:cNvPr>
          <p:cNvSpPr txBox="1"/>
          <p:nvPr/>
        </p:nvSpPr>
        <p:spPr>
          <a:xfrm>
            <a:off x="6809708" y="5422933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&gt;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194E17-68E4-F9F2-A7FF-9F44F47D52AC}"/>
              </a:ext>
            </a:extLst>
          </p:cNvPr>
          <p:cNvSpPr txBox="1"/>
          <p:nvPr/>
        </p:nvSpPr>
        <p:spPr>
          <a:xfrm>
            <a:off x="10007738" y="5311358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A500037-DC1F-10D0-5DC2-DD17A63B9027}"/>
              </a:ext>
            </a:extLst>
          </p:cNvPr>
          <p:cNvSpPr txBox="1"/>
          <p:nvPr/>
        </p:nvSpPr>
        <p:spPr>
          <a:xfrm>
            <a:off x="10830234" y="5318575"/>
            <a:ext cx="45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919CF9F-4CA7-B68E-0474-E779409F5120}"/>
              </a:ext>
            </a:extLst>
          </p:cNvPr>
          <p:cNvSpPr txBox="1"/>
          <p:nvPr/>
        </p:nvSpPr>
        <p:spPr>
          <a:xfrm>
            <a:off x="10243518" y="5442259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endParaRPr lang="en-US" sz="1400" dirty="0">
              <a:latin typeface="+mj-lt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9F182CC-9BC1-018D-0F54-B3343AC6BF88}"/>
              </a:ext>
            </a:extLst>
          </p:cNvPr>
          <p:cNvSpPr txBox="1"/>
          <p:nvPr/>
        </p:nvSpPr>
        <p:spPr>
          <a:xfrm>
            <a:off x="8810309" y="3068906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519AF8D8-9A4C-2353-2857-89E6E77B342C}"/>
              </a:ext>
            </a:extLst>
          </p:cNvPr>
          <p:cNvSpPr txBox="1"/>
          <p:nvPr/>
        </p:nvSpPr>
        <p:spPr>
          <a:xfrm>
            <a:off x="9819431" y="3003128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0</a:t>
            </a:r>
            <a:endParaRPr lang="en-US" sz="1400" dirty="0">
              <a:latin typeface="+mj-lt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D6052481-0031-8D01-F3B7-05F34902AE51}"/>
              </a:ext>
            </a:extLst>
          </p:cNvPr>
          <p:cNvSpPr txBox="1"/>
          <p:nvPr/>
        </p:nvSpPr>
        <p:spPr>
          <a:xfrm>
            <a:off x="10428654" y="1973074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28A9BDCE-4920-3782-2CEF-3706C4ED5364}"/>
              </a:ext>
            </a:extLst>
          </p:cNvPr>
          <p:cNvSpPr txBox="1"/>
          <p:nvPr/>
        </p:nvSpPr>
        <p:spPr>
          <a:xfrm>
            <a:off x="11405578" y="2003553"/>
            <a:ext cx="959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+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</a:t>
            </a:r>
            <a:endParaRPr lang="en-US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A2314-C870-37EE-F6D9-960FE1062BC9}"/>
              </a:ext>
            </a:extLst>
          </p:cNvPr>
          <p:cNvSpPr txBox="1"/>
          <p:nvPr/>
        </p:nvSpPr>
        <p:spPr>
          <a:xfrm>
            <a:off x="4088095" y="4718999"/>
            <a:ext cx="1378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t2=100</a:t>
            </a: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2028A4-A3CF-0A90-F9BE-3A31F6D62F91}"/>
              </a:ext>
            </a:extLst>
          </p:cNvPr>
          <p:cNvSpPr txBox="1"/>
          <p:nvPr/>
        </p:nvSpPr>
        <p:spPr>
          <a:xfrm>
            <a:off x="4752311" y="5763648"/>
            <a:ext cx="1815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E3.code: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t3 = x-k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E3.Addr: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2AE00D-F271-1BB4-DF27-F996F7F47222}"/>
              </a:ext>
            </a:extLst>
          </p:cNvPr>
          <p:cNvSpPr txBox="1"/>
          <p:nvPr/>
        </p:nvSpPr>
        <p:spPr>
          <a:xfrm>
            <a:off x="7303008" y="5756769"/>
            <a:ext cx="1378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t4=200</a:t>
            </a: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444097-6C7D-CA7D-D5BF-EDC4246AFFB0}"/>
              </a:ext>
            </a:extLst>
          </p:cNvPr>
          <p:cNvSpPr txBox="1"/>
          <p:nvPr/>
        </p:nvSpPr>
        <p:spPr>
          <a:xfrm>
            <a:off x="8962792" y="5605815"/>
            <a:ext cx="1095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E5.Addr: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1C0971-0EA3-8B40-4CE4-63CEE9AF49B1}"/>
              </a:ext>
            </a:extLst>
          </p:cNvPr>
          <p:cNvSpPr txBox="1"/>
          <p:nvPr/>
        </p:nvSpPr>
        <p:spPr>
          <a:xfrm>
            <a:off x="11218431" y="5495132"/>
            <a:ext cx="1095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E5.Addr: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902A10-1630-356D-CA6E-26B34E0C14B1}"/>
              </a:ext>
            </a:extLst>
          </p:cNvPr>
          <p:cNvSpPr txBox="1"/>
          <p:nvPr/>
        </p:nvSpPr>
        <p:spPr>
          <a:xfrm>
            <a:off x="8624920" y="3978872"/>
            <a:ext cx="18156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B2.Code: ‘’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ED62A4-E584-B3E6-A0C4-CF828DD78F42}"/>
              </a:ext>
            </a:extLst>
          </p:cNvPr>
          <p:cNvSpPr txBox="1"/>
          <p:nvPr/>
        </p:nvSpPr>
        <p:spPr>
          <a:xfrm>
            <a:off x="6354462" y="2741347"/>
            <a:ext cx="1035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B.Code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: ‘’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DFB3F2-F6FA-87CE-61AC-9DA79CA76FE4}"/>
              </a:ext>
            </a:extLst>
          </p:cNvPr>
          <p:cNvSpPr txBox="1"/>
          <p:nvPr/>
        </p:nvSpPr>
        <p:spPr>
          <a:xfrm>
            <a:off x="10674147" y="3569529"/>
            <a:ext cx="132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E7.code: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t5=0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E5.Addr: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689F8A-0FC2-0AB7-416B-505254585588}"/>
              </a:ext>
            </a:extLst>
          </p:cNvPr>
          <p:cNvSpPr txBox="1"/>
          <p:nvPr/>
        </p:nvSpPr>
        <p:spPr>
          <a:xfrm>
            <a:off x="8736174" y="2034858"/>
            <a:ext cx="1658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S3.code: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id.lexeme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=E7.addr</a:t>
            </a:r>
            <a:endParaRPr lang="en-US" sz="1400" i="1" dirty="0">
              <a:solidFill>
                <a:srgbClr val="0070C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6671E5-160F-634E-5EB6-1E3C0CAA5B2D}"/>
              </a:ext>
            </a:extLst>
          </p:cNvPr>
          <p:cNvSpPr txBox="1"/>
          <p:nvPr/>
        </p:nvSpPr>
        <p:spPr>
          <a:xfrm>
            <a:off x="10282260" y="2831762"/>
            <a:ext cx="1815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E8.code: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t6 = x+10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B861C6-0C4F-C8F8-8473-FC4D4794F9E3}"/>
              </a:ext>
            </a:extLst>
          </p:cNvPr>
          <p:cNvSpPr txBox="1"/>
          <p:nvPr/>
        </p:nvSpPr>
        <p:spPr>
          <a:xfrm>
            <a:off x="9397429" y="1523018"/>
            <a:ext cx="1658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S2.code: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id.lexeme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=E8.addr</a:t>
            </a:r>
            <a:endParaRPr lang="en-US" sz="1400" i="1" dirty="0">
              <a:solidFill>
                <a:srgbClr val="0070C0"/>
              </a:solidFill>
            </a:endParaRPr>
          </a:p>
        </p:txBody>
      </p:sp>
      <p:graphicFrame>
        <p:nvGraphicFramePr>
          <p:cNvPr id="53" name="Table 53">
            <a:extLst>
              <a:ext uri="{FF2B5EF4-FFF2-40B4-BE49-F238E27FC236}">
                <a16:creationId xmlns:a16="http://schemas.microsoft.com/office/drawing/2014/main" id="{B4A4DBD0-C6C0-4602-69BB-0606E6DEF3AD}"/>
              </a:ext>
            </a:extLst>
          </p:cNvPr>
          <p:cNvGraphicFramePr>
            <a:graphicFrameLocks noGrp="1"/>
          </p:cNvGraphicFramePr>
          <p:nvPr/>
        </p:nvGraphicFramePr>
        <p:xfrm>
          <a:off x="521859" y="78884"/>
          <a:ext cx="2022955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955">
                  <a:extLst>
                    <a:ext uri="{9D8B030D-6E8A-4147-A177-3AD203B41FA5}">
                      <a16:colId xmlns:a16="http://schemas.microsoft.com/office/drawing/2014/main" val="1973579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t1 = x-k   </a:t>
                      </a:r>
                      <a:endParaRPr lang="en-US" sz="1400" b="0" i="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33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t2=100</a:t>
                      </a:r>
                      <a:endParaRPr lang="en-US" sz="1400" b="0" i="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95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if t1 </a:t>
                      </a:r>
                      <a:r>
                        <a:rPr lang="en-US" sz="1400" b="1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&lt; </a:t>
                      </a: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t2  go to </a:t>
                      </a:r>
                      <a:r>
                        <a:rPr lang="en-US" sz="1400" i="1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B1.true</a:t>
                      </a:r>
                    </a:p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B1.false</a:t>
                      </a:r>
                      <a:endParaRPr lang="en-US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47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t3 = x-k</a:t>
                      </a:r>
                      <a:endParaRPr lang="en-US" sz="14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46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t4=200</a:t>
                      </a:r>
                      <a:endParaRPr lang="en-US" sz="1400" b="0" i="0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46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if t3 </a:t>
                      </a:r>
                      <a:r>
                        <a:rPr lang="en-US" sz="1400" b="1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&lt; </a:t>
                      </a: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t4  go to </a:t>
                      </a:r>
                      <a:r>
                        <a:rPr lang="en-US" sz="1400" i="1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B3.true</a:t>
                      </a:r>
                    </a:p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B3.false</a:t>
                      </a:r>
                      <a:endParaRPr lang="en-US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198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!= </a:t>
                      </a: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y  go to </a:t>
                      </a:r>
                      <a:r>
                        <a:rPr lang="en-US" sz="1400" i="1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B4.true</a:t>
                      </a:r>
                    </a:p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B4.false</a:t>
                      </a:r>
                      <a:endParaRPr lang="en-US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11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x = t5</a:t>
                      </a:r>
                      <a:endParaRPr lang="en-US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254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t6 = x+10</a:t>
                      </a:r>
                      <a:endParaRPr lang="en-US" sz="14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69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y = t6</a:t>
                      </a:r>
                      <a:endParaRPr lang="en-US" sz="14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29775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8C651870-8ED3-7DBE-D753-CD6666B3BE38}"/>
              </a:ext>
            </a:extLst>
          </p:cNvPr>
          <p:cNvSpPr txBox="1"/>
          <p:nvPr/>
        </p:nvSpPr>
        <p:spPr>
          <a:xfrm>
            <a:off x="8824114" y="790046"/>
            <a:ext cx="16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S2.code: ‘’</a:t>
            </a:r>
            <a:endParaRPr lang="en-US" sz="1400" i="1" dirty="0">
              <a:solidFill>
                <a:srgbClr val="0070C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CD53FA-7759-1D72-E777-740FF43E94B7}"/>
              </a:ext>
            </a:extLst>
          </p:cNvPr>
          <p:cNvSpPr txBox="1"/>
          <p:nvPr/>
        </p:nvSpPr>
        <p:spPr>
          <a:xfrm>
            <a:off x="8874915" y="231247"/>
            <a:ext cx="16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P.code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: ‘’</a:t>
            </a:r>
            <a:endParaRPr lang="en-US" sz="1400" i="1" dirty="0">
              <a:solidFill>
                <a:srgbClr val="0070C0"/>
              </a:solidFill>
            </a:endParaRPr>
          </a:p>
        </p:txBody>
      </p:sp>
      <p:sp>
        <p:nvSpPr>
          <p:cNvPr id="57" name="Right Brace 56">
            <a:extLst>
              <a:ext uri="{FF2B5EF4-FFF2-40B4-BE49-F238E27FC236}">
                <a16:creationId xmlns:a16="http://schemas.microsoft.com/office/drawing/2014/main" id="{CFC18CF9-1413-A5E3-1E01-3F68DEA4860D}"/>
              </a:ext>
            </a:extLst>
          </p:cNvPr>
          <p:cNvSpPr/>
          <p:nvPr/>
        </p:nvSpPr>
        <p:spPr>
          <a:xfrm>
            <a:off x="2197743" y="163967"/>
            <a:ext cx="172903" cy="12294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86C37B-70C1-C50B-8234-D1A8E08DA47D}"/>
              </a:ext>
            </a:extLst>
          </p:cNvPr>
          <p:cNvSpPr txBox="1"/>
          <p:nvPr/>
        </p:nvSpPr>
        <p:spPr>
          <a:xfrm>
            <a:off x="2375821" y="644901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B1</a:t>
            </a:r>
          </a:p>
        </p:txBody>
      </p:sp>
      <p:sp>
        <p:nvSpPr>
          <p:cNvPr id="59" name="Right Brace 58">
            <a:extLst>
              <a:ext uri="{FF2B5EF4-FFF2-40B4-BE49-F238E27FC236}">
                <a16:creationId xmlns:a16="http://schemas.microsoft.com/office/drawing/2014/main" id="{419FCFFE-9D02-5442-1794-DEC12F8E2D41}"/>
              </a:ext>
            </a:extLst>
          </p:cNvPr>
          <p:cNvSpPr/>
          <p:nvPr/>
        </p:nvSpPr>
        <p:spPr>
          <a:xfrm>
            <a:off x="2189102" y="1410896"/>
            <a:ext cx="172903" cy="12294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F2C653-0025-2E0C-AA92-DD3C3E7361AD}"/>
              </a:ext>
            </a:extLst>
          </p:cNvPr>
          <p:cNvSpPr txBox="1"/>
          <p:nvPr/>
        </p:nvSpPr>
        <p:spPr>
          <a:xfrm>
            <a:off x="2310511" y="1871355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B3</a:t>
            </a:r>
          </a:p>
        </p:txBody>
      </p:sp>
      <p:sp>
        <p:nvSpPr>
          <p:cNvPr id="61" name="Right Brace 60">
            <a:extLst>
              <a:ext uri="{FF2B5EF4-FFF2-40B4-BE49-F238E27FC236}">
                <a16:creationId xmlns:a16="http://schemas.microsoft.com/office/drawing/2014/main" id="{09D67259-CDF7-576C-CD6B-793911FF2104}"/>
              </a:ext>
            </a:extLst>
          </p:cNvPr>
          <p:cNvSpPr/>
          <p:nvPr/>
        </p:nvSpPr>
        <p:spPr>
          <a:xfrm>
            <a:off x="2212703" y="2637352"/>
            <a:ext cx="128187" cy="4684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55679C-40BD-1651-CD55-D03E8B41B11B}"/>
              </a:ext>
            </a:extLst>
          </p:cNvPr>
          <p:cNvSpPr txBox="1"/>
          <p:nvPr/>
        </p:nvSpPr>
        <p:spPr>
          <a:xfrm>
            <a:off x="2288737" y="2705927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B4</a:t>
            </a:r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361363D3-DBBA-50ED-4DEC-CA1A689C92DE}"/>
              </a:ext>
            </a:extLst>
          </p:cNvPr>
          <p:cNvSpPr/>
          <p:nvPr/>
        </p:nvSpPr>
        <p:spPr>
          <a:xfrm>
            <a:off x="2571011" y="1396382"/>
            <a:ext cx="95796" cy="17456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1830CF-2312-60E6-AA20-F6F9909F38B7}"/>
              </a:ext>
            </a:extLst>
          </p:cNvPr>
          <p:cNvSpPr txBox="1"/>
          <p:nvPr/>
        </p:nvSpPr>
        <p:spPr>
          <a:xfrm>
            <a:off x="2645831" y="2089425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B2</a:t>
            </a:r>
          </a:p>
        </p:txBody>
      </p:sp>
      <p:sp>
        <p:nvSpPr>
          <p:cNvPr id="65" name="Right Brace 64">
            <a:extLst>
              <a:ext uri="{FF2B5EF4-FFF2-40B4-BE49-F238E27FC236}">
                <a16:creationId xmlns:a16="http://schemas.microsoft.com/office/drawing/2014/main" id="{0C6FEB57-5190-5DC1-B902-EB527A10E9F2}"/>
              </a:ext>
            </a:extLst>
          </p:cNvPr>
          <p:cNvSpPr/>
          <p:nvPr/>
        </p:nvSpPr>
        <p:spPr>
          <a:xfrm>
            <a:off x="2862370" y="163967"/>
            <a:ext cx="152775" cy="29780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600149-7C61-AF06-D1C6-1F4B496F2F71}"/>
              </a:ext>
            </a:extLst>
          </p:cNvPr>
          <p:cNvSpPr txBox="1"/>
          <p:nvPr/>
        </p:nvSpPr>
        <p:spPr>
          <a:xfrm>
            <a:off x="2992586" y="1495675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B</a:t>
            </a:r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0A5A6B50-3FB7-89B1-92EB-263B1E02D1CC}"/>
              </a:ext>
            </a:extLst>
          </p:cNvPr>
          <p:cNvSpPr/>
          <p:nvPr/>
        </p:nvSpPr>
        <p:spPr>
          <a:xfrm>
            <a:off x="1457835" y="128852"/>
            <a:ext cx="221998" cy="303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9E98D7-DA96-6A6F-28C6-5BFE5AAF18CF}"/>
              </a:ext>
            </a:extLst>
          </p:cNvPr>
          <p:cNvSpPr txBox="1"/>
          <p:nvPr/>
        </p:nvSpPr>
        <p:spPr>
          <a:xfrm>
            <a:off x="1632330" y="110362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E1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F3E7600C-49BA-CEAF-7E2C-B7EF085156DA}"/>
              </a:ext>
            </a:extLst>
          </p:cNvPr>
          <p:cNvSpPr/>
          <p:nvPr/>
        </p:nvSpPr>
        <p:spPr>
          <a:xfrm>
            <a:off x="1483455" y="445696"/>
            <a:ext cx="189120" cy="2582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A43E27-B74B-9221-61E5-0FBBA8E91E07}"/>
              </a:ext>
            </a:extLst>
          </p:cNvPr>
          <p:cNvSpPr txBox="1"/>
          <p:nvPr/>
        </p:nvSpPr>
        <p:spPr>
          <a:xfrm>
            <a:off x="1595450" y="418307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E2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E08B8E-15A2-C1AD-B73B-A301891C1C91}"/>
              </a:ext>
            </a:extLst>
          </p:cNvPr>
          <p:cNvSpPr txBox="1"/>
          <p:nvPr/>
        </p:nvSpPr>
        <p:spPr>
          <a:xfrm>
            <a:off x="1622495" y="1319080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E3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ADF071-3D24-A88B-F6BF-3F80244C506D}"/>
              </a:ext>
            </a:extLst>
          </p:cNvPr>
          <p:cNvSpPr txBox="1"/>
          <p:nvPr/>
        </p:nvSpPr>
        <p:spPr>
          <a:xfrm>
            <a:off x="1643962" y="1646765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E4</a:t>
            </a:r>
          </a:p>
        </p:txBody>
      </p:sp>
      <p:sp>
        <p:nvSpPr>
          <p:cNvPr id="74" name="Right Brace 73">
            <a:extLst>
              <a:ext uri="{FF2B5EF4-FFF2-40B4-BE49-F238E27FC236}">
                <a16:creationId xmlns:a16="http://schemas.microsoft.com/office/drawing/2014/main" id="{5C360819-D94E-FBE8-029F-B7DA95FFC3EA}"/>
              </a:ext>
            </a:extLst>
          </p:cNvPr>
          <p:cNvSpPr/>
          <p:nvPr/>
        </p:nvSpPr>
        <p:spPr>
          <a:xfrm>
            <a:off x="1463390" y="1658644"/>
            <a:ext cx="221998" cy="303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0EE6BC-6B80-DE5F-D509-9D164A3364A1}"/>
              </a:ext>
            </a:extLst>
          </p:cNvPr>
          <p:cNvSpPr txBox="1"/>
          <p:nvPr/>
        </p:nvSpPr>
        <p:spPr>
          <a:xfrm>
            <a:off x="1595761" y="3068906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S3</a:t>
            </a:r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E9AC24B3-9339-043C-D507-6EB66754FFA3}"/>
              </a:ext>
            </a:extLst>
          </p:cNvPr>
          <p:cNvSpPr/>
          <p:nvPr/>
        </p:nvSpPr>
        <p:spPr>
          <a:xfrm>
            <a:off x="1425341" y="3502169"/>
            <a:ext cx="247233" cy="5905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741535-0288-C485-7684-67DEF8CAAE3D}"/>
              </a:ext>
            </a:extLst>
          </p:cNvPr>
          <p:cNvSpPr txBox="1"/>
          <p:nvPr/>
        </p:nvSpPr>
        <p:spPr>
          <a:xfrm>
            <a:off x="1639585" y="3630077"/>
            <a:ext cx="56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S2</a:t>
            </a:r>
          </a:p>
        </p:txBody>
      </p:sp>
      <p:sp>
        <p:nvSpPr>
          <p:cNvPr id="84" name="Right Brace 83">
            <a:extLst>
              <a:ext uri="{FF2B5EF4-FFF2-40B4-BE49-F238E27FC236}">
                <a16:creationId xmlns:a16="http://schemas.microsoft.com/office/drawing/2014/main" id="{9456E69E-E137-2D87-F180-1907C5838324}"/>
              </a:ext>
            </a:extLst>
          </p:cNvPr>
          <p:cNvSpPr/>
          <p:nvPr/>
        </p:nvSpPr>
        <p:spPr>
          <a:xfrm flipH="1">
            <a:off x="348674" y="182932"/>
            <a:ext cx="261844" cy="32565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4F97CB-A071-C007-C265-EE605A5BE1DA}"/>
              </a:ext>
            </a:extLst>
          </p:cNvPr>
          <p:cNvSpPr txBox="1"/>
          <p:nvPr/>
        </p:nvSpPr>
        <p:spPr>
          <a:xfrm>
            <a:off x="55288" y="1666218"/>
            <a:ext cx="4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F07AB8-4D0C-7ACE-78DD-B6892151C9A1}"/>
              </a:ext>
            </a:extLst>
          </p:cNvPr>
          <p:cNvSpPr txBox="1"/>
          <p:nvPr/>
        </p:nvSpPr>
        <p:spPr>
          <a:xfrm>
            <a:off x="6417648" y="1008479"/>
            <a:ext cx="212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S1.next=new Label()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E09A1-B465-FB35-EB89-DACBF1E8C7A1}"/>
              </a:ext>
            </a:extLst>
          </p:cNvPr>
          <p:cNvSpPr txBox="1"/>
          <p:nvPr/>
        </p:nvSpPr>
        <p:spPr>
          <a:xfrm>
            <a:off x="8094228" y="1540507"/>
            <a:ext cx="1308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{print(S1.next)}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8F8CF0-86A2-3CCF-ADF0-1CB517F14061}"/>
              </a:ext>
            </a:extLst>
          </p:cNvPr>
          <p:cNvCxnSpPr>
            <a:cxnSpLocks/>
          </p:cNvCxnSpPr>
          <p:nvPr/>
        </p:nvCxnSpPr>
        <p:spPr>
          <a:xfrm>
            <a:off x="8706319" y="1223816"/>
            <a:ext cx="42103" cy="31745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96E7524-2935-C893-F726-155CEB229D13}"/>
              </a:ext>
            </a:extLst>
          </p:cNvPr>
          <p:cNvSpPr txBox="1"/>
          <p:nvPr/>
        </p:nvSpPr>
        <p:spPr>
          <a:xfrm>
            <a:off x="13212" y="3415348"/>
            <a:ext cx="477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L1: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B7275-7884-9E64-0CBA-AB34285D682B}"/>
              </a:ext>
            </a:extLst>
          </p:cNvPr>
          <p:cNvSpPr txBox="1"/>
          <p:nvPr/>
        </p:nvSpPr>
        <p:spPr>
          <a:xfrm>
            <a:off x="3927567" y="1422908"/>
            <a:ext cx="212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B.true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=new Label()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L2</a:t>
            </a:r>
          </a:p>
          <a:p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B.false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=S1.next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S3.next=S1.next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B87552-DF40-7357-880E-D96BD4CA2241}"/>
              </a:ext>
            </a:extLst>
          </p:cNvPr>
          <p:cNvSpPr txBox="1"/>
          <p:nvPr/>
        </p:nvSpPr>
        <p:spPr>
          <a:xfrm>
            <a:off x="7390439" y="2650145"/>
            <a:ext cx="1308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{print(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</a:rPr>
              <a:t>B.true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)}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419199-19B6-C977-5634-224525E95DCD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025851" y="2024892"/>
            <a:ext cx="2018782" cy="62525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08EE068-BA47-2021-C371-26543D0843A5}"/>
              </a:ext>
            </a:extLst>
          </p:cNvPr>
          <p:cNvSpPr txBox="1"/>
          <p:nvPr/>
        </p:nvSpPr>
        <p:spPr>
          <a:xfrm>
            <a:off x="20469" y="2987176"/>
            <a:ext cx="477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L2: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FB6ECD-11E9-73E8-5D13-13BE38977FC5}"/>
              </a:ext>
            </a:extLst>
          </p:cNvPr>
          <p:cNvSpPr txBox="1"/>
          <p:nvPr/>
        </p:nvSpPr>
        <p:spPr>
          <a:xfrm>
            <a:off x="4123514" y="2417135"/>
            <a:ext cx="212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B1.true=</a:t>
            </a:r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B.true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L2</a:t>
            </a: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B1.false=new Label()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L3</a:t>
            </a: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B2.true=</a:t>
            </a:r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B.true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L2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B2.false=</a:t>
            </a:r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B.false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L1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B7B68-FE98-FEB6-9E24-5DBD9EBAEFB7}"/>
              </a:ext>
            </a:extLst>
          </p:cNvPr>
          <p:cNvSpPr txBox="1"/>
          <p:nvPr/>
        </p:nvSpPr>
        <p:spPr>
          <a:xfrm>
            <a:off x="5082509" y="3949175"/>
            <a:ext cx="143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{print(B1.false)}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E8AAD9B-837B-D6B0-305C-1C825587B488}"/>
              </a:ext>
            </a:extLst>
          </p:cNvPr>
          <p:cNvCxnSpPr>
            <a:cxnSpLocks/>
            <a:stCxn id="27" idx="4"/>
            <a:endCxn id="43" idx="0"/>
          </p:cNvCxnSpPr>
          <p:nvPr/>
        </p:nvCxnSpPr>
        <p:spPr>
          <a:xfrm flipH="1">
            <a:off x="5798468" y="3105831"/>
            <a:ext cx="476178" cy="84334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5A3F90B-3BF0-BFAB-8906-6A6A83F5628B}"/>
              </a:ext>
            </a:extLst>
          </p:cNvPr>
          <p:cNvSpPr txBox="1"/>
          <p:nvPr/>
        </p:nvSpPr>
        <p:spPr>
          <a:xfrm>
            <a:off x="1687088" y="839051"/>
            <a:ext cx="55398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D63E32-FD9C-F054-FE86-32191EE4B793}"/>
              </a:ext>
            </a:extLst>
          </p:cNvPr>
          <p:cNvSpPr txBox="1"/>
          <p:nvPr/>
        </p:nvSpPr>
        <p:spPr>
          <a:xfrm>
            <a:off x="1012175" y="1039639"/>
            <a:ext cx="60410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53F0C8-2287-6682-0B77-9E387945F3C6}"/>
              </a:ext>
            </a:extLst>
          </p:cNvPr>
          <p:cNvSpPr txBox="1"/>
          <p:nvPr/>
        </p:nvSpPr>
        <p:spPr>
          <a:xfrm>
            <a:off x="7542684" y="4798261"/>
            <a:ext cx="143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{print(B3.true)}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809E4AB-8D84-DD4A-7050-2B062FD16BA5}"/>
              </a:ext>
            </a:extLst>
          </p:cNvPr>
          <p:cNvCxnSpPr>
            <a:cxnSpLocks/>
          </p:cNvCxnSpPr>
          <p:nvPr/>
        </p:nvCxnSpPr>
        <p:spPr>
          <a:xfrm flipH="1">
            <a:off x="8258643" y="4436375"/>
            <a:ext cx="276589" cy="36122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019D4EB-FBC5-B779-7E5A-DD85FF96CC2B}"/>
              </a:ext>
            </a:extLst>
          </p:cNvPr>
          <p:cNvSpPr txBox="1"/>
          <p:nvPr/>
        </p:nvSpPr>
        <p:spPr>
          <a:xfrm>
            <a:off x="1716118" y="2072765"/>
            <a:ext cx="5326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6385F52-4349-0EC4-82B7-07576B5AA12C}"/>
              </a:ext>
            </a:extLst>
          </p:cNvPr>
          <p:cNvSpPr txBox="1"/>
          <p:nvPr/>
        </p:nvSpPr>
        <p:spPr>
          <a:xfrm>
            <a:off x="1018275" y="2292803"/>
            <a:ext cx="97118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C5EB693-81E0-9C85-DF4B-B224BA86CE45}"/>
              </a:ext>
            </a:extLst>
          </p:cNvPr>
          <p:cNvSpPr txBox="1"/>
          <p:nvPr/>
        </p:nvSpPr>
        <p:spPr>
          <a:xfrm>
            <a:off x="1625882" y="2609795"/>
            <a:ext cx="62483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2F9C315-FFE8-A488-0B91-B46BE61973C0}"/>
              </a:ext>
            </a:extLst>
          </p:cNvPr>
          <p:cNvSpPr txBox="1"/>
          <p:nvPr/>
        </p:nvSpPr>
        <p:spPr>
          <a:xfrm>
            <a:off x="1025659" y="2819570"/>
            <a:ext cx="64691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52CD4FB-08A6-BF30-29F2-69BA03C7C0E1}"/>
              </a:ext>
            </a:extLst>
          </p:cNvPr>
          <p:cNvSpPr txBox="1"/>
          <p:nvPr/>
        </p:nvSpPr>
        <p:spPr>
          <a:xfrm>
            <a:off x="6302635" y="1714647"/>
            <a:ext cx="1035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S1.Code: ‘’</a:t>
            </a:r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1BC52338-5980-F8E4-D5BB-9C9B8B13619B}"/>
              </a:ext>
            </a:extLst>
          </p:cNvPr>
          <p:cNvSpPr/>
          <p:nvPr/>
        </p:nvSpPr>
        <p:spPr>
          <a:xfrm>
            <a:off x="1463108" y="1337594"/>
            <a:ext cx="221998" cy="303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Brace 74">
            <a:extLst>
              <a:ext uri="{FF2B5EF4-FFF2-40B4-BE49-F238E27FC236}">
                <a16:creationId xmlns:a16="http://schemas.microsoft.com/office/drawing/2014/main" id="{E49976D3-5378-ADB4-FB24-BA8BCCD32741}"/>
              </a:ext>
            </a:extLst>
          </p:cNvPr>
          <p:cNvSpPr/>
          <p:nvPr/>
        </p:nvSpPr>
        <p:spPr>
          <a:xfrm>
            <a:off x="1421266" y="3087396"/>
            <a:ext cx="221998" cy="3031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D1DABAF-2D6C-F0AC-8DCF-D8007A2F977A}"/>
              </a:ext>
            </a:extLst>
          </p:cNvPr>
          <p:cNvGrpSpPr/>
          <p:nvPr/>
        </p:nvGrpSpPr>
        <p:grpSpPr>
          <a:xfrm>
            <a:off x="3154305" y="-23510"/>
            <a:ext cx="4518313" cy="1056488"/>
            <a:chOff x="27819" y="5318"/>
            <a:chExt cx="5593626" cy="1056488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D030F2C-638C-E7AF-C54E-336155A24C4B}"/>
                </a:ext>
              </a:extLst>
            </p:cNvPr>
            <p:cNvSpPr txBox="1"/>
            <p:nvPr/>
          </p:nvSpPr>
          <p:spPr>
            <a:xfrm>
              <a:off x="69990" y="323142"/>
              <a:ext cx="5551455" cy="73866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x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4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4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4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r>
                <a:rPr lang="en-US" sz="14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4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A383817-8370-7336-1E48-DC75713CB481}"/>
                </a:ext>
              </a:extLst>
            </p:cNvPr>
            <p:cNvSpPr txBox="1"/>
            <p:nvPr/>
          </p:nvSpPr>
          <p:spPr>
            <a:xfrm>
              <a:off x="27819" y="5318"/>
              <a:ext cx="376469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chemeClr val="bg1">
                      <a:lumMod val="65000"/>
                    </a:schemeClr>
                  </a:solidFill>
                </a:rPr>
                <a:t>Translation of statement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1333C2D-6749-771C-0A61-4580B891FDFE}"/>
              </a:ext>
            </a:extLst>
          </p:cNvPr>
          <p:cNvSpPr txBox="1"/>
          <p:nvPr/>
        </p:nvSpPr>
        <p:spPr>
          <a:xfrm>
            <a:off x="8755075" y="491278"/>
            <a:ext cx="212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S.next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=new Label()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9A263-B763-F4E6-7128-B416803F24CF}"/>
              </a:ext>
            </a:extLst>
          </p:cNvPr>
          <p:cNvSpPr txBox="1"/>
          <p:nvPr/>
        </p:nvSpPr>
        <p:spPr>
          <a:xfrm>
            <a:off x="9217614" y="1039756"/>
            <a:ext cx="212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S2.next = </a:t>
            </a:r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S.next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  <a:sym typeface="Wingdings" panose="05000000000000000000" pitchFamily="2" charset="2"/>
              </a:rPr>
              <a:t> L0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D7B-F6AB-6146-3E58-C5BBA22AA5C9}"/>
              </a:ext>
            </a:extLst>
          </p:cNvPr>
          <p:cNvSpPr txBox="1"/>
          <p:nvPr/>
        </p:nvSpPr>
        <p:spPr>
          <a:xfrm>
            <a:off x="10648673" y="819439"/>
            <a:ext cx="1308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{print(</a:t>
            </a:r>
            <a:r>
              <a:rPr lang="en-US" dirty="0" err="1"/>
              <a:t>S.next</a:t>
            </a:r>
            <a:r>
              <a:rPr lang="en-US" dirty="0"/>
              <a:t>)}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EF48AB-30E6-AFA2-A71E-D9A4CB78C882}"/>
              </a:ext>
            </a:extLst>
          </p:cNvPr>
          <p:cNvCxnSpPr>
            <a:cxnSpLocks/>
            <a:stCxn id="55" idx="5"/>
          </p:cNvCxnSpPr>
          <p:nvPr/>
        </p:nvCxnSpPr>
        <p:spPr>
          <a:xfrm>
            <a:off x="8841023" y="489171"/>
            <a:ext cx="2461844" cy="33103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BBDD325-BDE5-D77C-7B8B-91711A430735}"/>
              </a:ext>
            </a:extLst>
          </p:cNvPr>
          <p:cNvSpPr txBox="1"/>
          <p:nvPr/>
        </p:nvSpPr>
        <p:spPr>
          <a:xfrm>
            <a:off x="13212" y="4127314"/>
            <a:ext cx="4779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L0: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306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06" grpId="0" animBg="1"/>
      <p:bldP spid="93" grpId="0"/>
      <p:bldP spid="20" grpId="0"/>
      <p:bldP spid="4" grpId="0"/>
      <p:bldP spid="8" grpId="0"/>
      <p:bldP spid="24" grpId="0"/>
      <p:bldP spid="5" grpId="0"/>
      <p:bldP spid="16" grpId="0"/>
      <p:bldP spid="17" grpId="0"/>
      <p:bldP spid="22" grpId="0"/>
      <p:bldP spid="23" grpId="0"/>
      <p:bldP spid="36" grpId="0"/>
      <p:bldP spid="37" grpId="0"/>
      <p:bldP spid="38" grpId="0"/>
      <p:bldP spid="39" grpId="0"/>
      <p:bldP spid="44" grpId="0"/>
      <p:bldP spid="46" grpId="0"/>
      <p:bldP spid="54" grpId="0"/>
      <p:bldP spid="56" grpId="0"/>
      <p:bldP spid="57" grpId="0" animBg="1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  <p:bldP spid="68" grpId="0"/>
      <p:bldP spid="69" grpId="0" animBg="1"/>
      <p:bldP spid="70" grpId="0"/>
      <p:bldP spid="72" grpId="0"/>
      <p:bldP spid="73" grpId="0"/>
      <p:bldP spid="74" grpId="0" animBg="1"/>
      <p:bldP spid="76" grpId="0"/>
      <p:bldP spid="77" grpId="0" animBg="1"/>
      <p:bldP spid="78" grpId="0"/>
      <p:bldP spid="84" grpId="0" animBg="1"/>
      <p:bldP spid="85" grpId="0"/>
      <p:bldP spid="2" grpId="0"/>
      <p:bldP spid="9" grpId="0"/>
      <p:bldP spid="14" grpId="0"/>
      <p:bldP spid="19" grpId="0"/>
      <p:bldP spid="21" grpId="0"/>
      <p:bldP spid="34" grpId="0"/>
      <p:bldP spid="35" grpId="0"/>
      <p:bldP spid="43" grpId="0"/>
      <p:bldP spid="86" grpId="0" animBg="1"/>
      <p:bldP spid="87" grpId="0" animBg="1"/>
      <p:bldP spid="99" grpId="0"/>
      <p:bldP spid="105" grpId="0" animBg="1"/>
      <p:bldP spid="107" grpId="0" animBg="1"/>
      <p:bldP spid="108" grpId="0" animBg="1"/>
      <p:bldP spid="109" grpId="0" animBg="1"/>
      <p:bldP spid="121" grpId="0"/>
      <p:bldP spid="71" grpId="0" animBg="1"/>
      <p:bldP spid="75" grpId="0" animBg="1"/>
      <p:bldP spid="11" grpId="0"/>
      <p:bldP spid="13" grpId="0"/>
      <p:bldP spid="15" grpId="0"/>
      <p:bldP spid="3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Avoiding Redundant </a:t>
            </a:r>
            <a:r>
              <a:rPr lang="en-US" sz="5000" dirty="0" err="1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Gotos</a:t>
            </a:r>
            <a:endParaRPr lang="en-US" sz="50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99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66" y="1337617"/>
            <a:ext cx="6068272" cy="600159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/>
          <a:srcRect l="15169" r="18088"/>
          <a:stretch/>
        </p:blipFill>
        <p:spPr bwMode="auto">
          <a:xfrm>
            <a:off x="1049502" y="2878093"/>
            <a:ext cx="3683358" cy="2978039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" r="6295"/>
          <a:stretch/>
        </p:blipFill>
        <p:spPr>
          <a:xfrm>
            <a:off x="6946408" y="3152631"/>
            <a:ext cx="4597757" cy="2281840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10" name="Right Arrow 9"/>
          <p:cNvSpPr/>
          <p:nvPr/>
        </p:nvSpPr>
        <p:spPr>
          <a:xfrm>
            <a:off x="5323627" y="3837352"/>
            <a:ext cx="1032014" cy="75194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2B8B0-7A03-13EE-C0F7-51126F298B48}"/>
              </a:ext>
            </a:extLst>
          </p:cNvPr>
          <p:cNvSpPr txBox="1"/>
          <p:nvPr/>
        </p:nvSpPr>
        <p:spPr>
          <a:xfrm>
            <a:off x="1022998" y="5962111"/>
            <a:ext cx="368335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Code with redundant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goto</a:t>
            </a:r>
            <a:endParaRPr lang="en-US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60349-9B81-DEE3-71C9-06DE966E6F35}"/>
              </a:ext>
            </a:extLst>
          </p:cNvPr>
          <p:cNvSpPr txBox="1"/>
          <p:nvPr/>
        </p:nvSpPr>
        <p:spPr>
          <a:xfrm>
            <a:off x="7132444" y="5962111"/>
            <a:ext cx="368335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Code without redundant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</a:rPr>
              <a:t>goto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Right Arrow 9">
            <a:extLst>
              <a:ext uri="{FF2B5EF4-FFF2-40B4-BE49-F238E27FC236}">
                <a16:creationId xmlns:a16="http://schemas.microsoft.com/office/drawing/2014/main" id="{938C02C7-6794-479B-86BC-C5E4B6C5DDD4}"/>
              </a:ext>
            </a:extLst>
          </p:cNvPr>
          <p:cNvSpPr/>
          <p:nvPr/>
        </p:nvSpPr>
        <p:spPr>
          <a:xfrm rot="5400000">
            <a:off x="2509392" y="2022472"/>
            <a:ext cx="710569" cy="75194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5" grpId="0"/>
      <p:bldP spid="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1666" y="2000045"/>
            <a:ext cx="6194896" cy="1407931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Avoiding Redundant </a:t>
            </a:r>
            <a:r>
              <a:rPr lang="en-US" sz="5000" dirty="0" err="1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Gotos</a:t>
            </a:r>
            <a:endParaRPr lang="en-US" sz="50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 rot="5400000">
            <a:off x="2724910" y="3632131"/>
            <a:ext cx="750108" cy="63710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1666" y="4444271"/>
            <a:ext cx="4473703" cy="1553569"/>
          </a:xfrm>
          <a:prstGeom prst="rect">
            <a:avLst/>
          </a:prstGeom>
          <a:noFill/>
          <a:ln w="9525">
            <a:solidFill>
              <a:schemeClr val="tx2">
                <a:lumMod val="60000"/>
                <a:lumOff val="40000"/>
              </a:schemeClr>
            </a:solidFill>
            <a:prstDash val="dash"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/>
          <a:srcRect t="19143" b="29888"/>
          <a:stretch/>
        </p:blipFill>
        <p:spPr bwMode="auto">
          <a:xfrm>
            <a:off x="1208393" y="1325105"/>
            <a:ext cx="3099620" cy="426979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  <a:headEnd/>
            <a:tailEnd/>
          </a:ln>
          <a:effectLst/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94FCB1-632E-9994-CBEC-B70418A318A5}"/>
              </a:ext>
            </a:extLst>
          </p:cNvPr>
          <p:cNvSpPr/>
          <p:nvPr/>
        </p:nvSpPr>
        <p:spPr>
          <a:xfrm rot="16200000">
            <a:off x="-2997935" y="2997935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(6.6.5)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6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Avoiding Redundant </a:t>
            </a:r>
            <a:r>
              <a:rPr lang="en-US" sz="5000" dirty="0" err="1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Gotos</a:t>
            </a:r>
            <a:endParaRPr lang="en-US" sz="50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 rot="5400000">
            <a:off x="3645072" y="3739200"/>
            <a:ext cx="627199" cy="52251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/>
          <a:srcRect l="3452" t="4090" r="6290" b="6156"/>
          <a:stretch/>
        </p:blipFill>
        <p:spPr bwMode="auto">
          <a:xfrm>
            <a:off x="1209620" y="4495317"/>
            <a:ext cx="6779623" cy="2181497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7366" y="1855111"/>
            <a:ext cx="5146002" cy="1672181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09620" y="1200720"/>
            <a:ext cx="2461668" cy="468252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CE4BE9-3BC1-2162-927B-2D476D832E6F}"/>
              </a:ext>
            </a:extLst>
          </p:cNvPr>
          <p:cNvSpPr/>
          <p:nvPr/>
        </p:nvSpPr>
        <p:spPr>
          <a:xfrm rot="16200000">
            <a:off x="-2997935" y="2997935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(6.6.5)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6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/>
          <a:srcRect r="5396"/>
          <a:stretch/>
        </p:blipFill>
        <p:spPr bwMode="auto">
          <a:xfrm>
            <a:off x="1064621" y="1988605"/>
            <a:ext cx="6489154" cy="1242876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92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Avoiding Redundant </a:t>
            </a:r>
            <a:r>
              <a:rPr lang="en-US" sz="5000" dirty="0" err="1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Gotos</a:t>
            </a:r>
            <a:endParaRPr lang="en-US" sz="50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 rot="5400000">
            <a:off x="3649542" y="3426613"/>
            <a:ext cx="738052" cy="48985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/>
          <a:srcRect b="22674"/>
          <a:stretch/>
        </p:blipFill>
        <p:spPr bwMode="auto">
          <a:xfrm>
            <a:off x="1076813" y="1208406"/>
            <a:ext cx="2709019" cy="487157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/>
          <a:srcRect l="4618"/>
          <a:stretch/>
        </p:blipFill>
        <p:spPr bwMode="auto">
          <a:xfrm>
            <a:off x="1121881" y="4127817"/>
            <a:ext cx="7762196" cy="2593658"/>
          </a:xfrm>
          <a:prstGeom prst="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6B25EB-6264-1FD6-FA73-40BA81C23FB0}"/>
              </a:ext>
            </a:extLst>
          </p:cNvPr>
          <p:cNvSpPr/>
          <p:nvPr/>
        </p:nvSpPr>
        <p:spPr>
          <a:xfrm rot="16200000">
            <a:off x="-2997935" y="2997935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(6.6.5)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6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Boolean Values and Jumping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71156"/>
            <a:ext cx="11244943" cy="2403566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So far we have use boolean expressions to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alter the flow of control</a:t>
            </a:r>
            <a:r>
              <a:rPr lang="en-US" altLang="en-US" dirty="0">
                <a:latin typeface="Candara" panose="020E0502030303020204" pitchFamily="34" charset="0"/>
              </a:rPr>
              <a:t> in statements</a:t>
            </a:r>
          </a:p>
          <a:p>
            <a:r>
              <a:rPr lang="en-US" altLang="en-US" dirty="0">
                <a:latin typeface="Candara" panose="020E0502030303020204" pitchFamily="34" charset="0"/>
              </a:rPr>
              <a:t>A boolean expression may also be 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evaluated for its value</a:t>
            </a:r>
            <a:r>
              <a:rPr lang="en-US" altLang="en-US" dirty="0">
                <a:latin typeface="Candara" panose="020E0502030303020204" pitchFamily="34" charset="0"/>
              </a:rPr>
              <a:t> such as</a:t>
            </a:r>
            <a:endParaRPr lang="en-US" altLang="en-US" dirty="0">
              <a:solidFill>
                <a:schemeClr val="accent4">
                  <a:lumMod val="50000"/>
                </a:schemeClr>
              </a:solidFill>
              <a:latin typeface="Candara" panose="020E0502030303020204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532" y="2710262"/>
            <a:ext cx="2980576" cy="372572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605" y="4099876"/>
            <a:ext cx="3990431" cy="1995216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>
          <a:xfrm rot="5400000">
            <a:off x="5549537" y="3418431"/>
            <a:ext cx="607424" cy="49421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B50553-5DAA-CD10-DF37-D4C9BEC31461}"/>
              </a:ext>
            </a:extLst>
          </p:cNvPr>
          <p:cNvSpPr txBox="1"/>
          <p:nvPr/>
        </p:nvSpPr>
        <p:spPr>
          <a:xfrm>
            <a:off x="7986985" y="2708147"/>
            <a:ext cx="3990430" cy="9233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Boolean Values and Jumping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8903"/>
            <a:ext cx="11244943" cy="57025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A clean way of handling both roles of boolean expressions is to </a:t>
            </a:r>
            <a:r>
              <a:rPr lang="en-US" altLang="en-US" sz="2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first build a syntax tree for expressions</a:t>
            </a:r>
            <a:r>
              <a:rPr lang="en-US" altLang="en-US" sz="2400" dirty="0">
                <a:latin typeface="Candara" panose="020E0502030303020204" pitchFamily="34" charset="0"/>
              </a:rPr>
              <a:t>, using either of the following approaches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Use two passes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	– Construct a complete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syntax tree</a:t>
            </a:r>
            <a:r>
              <a:rPr lang="en-US" altLang="en-US" dirty="0">
                <a:latin typeface="Candara" panose="020E0502030303020204" pitchFamily="34" charset="0"/>
              </a:rPr>
              <a:t> for the input, and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	– then traverse in </a:t>
            </a:r>
            <a:r>
              <a:rPr lang="en-US" alt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depth-first order</a:t>
            </a:r>
            <a:r>
              <a:rPr lang="en-US" altLang="en-US" dirty="0">
                <a:latin typeface="Candara" panose="020E0502030303020204" pitchFamily="34" charset="0"/>
              </a:rPr>
              <a:t> computing the translations specified by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          the semantic rule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Use one pass for statements, but two passes for expressions</a:t>
            </a:r>
            <a:endParaRPr lang="en-US" altLang="en-US" dirty="0">
              <a:latin typeface="Candara" panose="020E0502030303020204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	– In the approach, we would  first translate </a:t>
            </a:r>
            <a:r>
              <a:rPr lang="en-US" altLang="en-US" i="1" dirty="0">
                <a:solidFill>
                  <a:srgbClr val="7030A0"/>
                </a:solidFill>
                <a:latin typeface="Candara" panose="020E0502030303020204" pitchFamily="34" charset="0"/>
              </a:rPr>
              <a:t>E</a:t>
            </a:r>
            <a:r>
              <a:rPr lang="en-US" altLang="en-US" dirty="0">
                <a:latin typeface="Candara" panose="020E0502030303020204" pitchFamily="34" charset="0"/>
              </a:rPr>
              <a:t> in </a:t>
            </a:r>
            <a:r>
              <a:rPr lang="en-US" altLang="en-US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while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(</a:t>
            </a:r>
            <a:r>
              <a:rPr lang="en-US" altLang="en-US" i="1" dirty="0">
                <a:solidFill>
                  <a:srgbClr val="7030A0"/>
                </a:solidFill>
                <a:latin typeface="Candara" panose="020E0502030303020204" pitchFamily="34" charset="0"/>
              </a:rPr>
              <a:t>E</a:t>
            </a:r>
            <a:r>
              <a:rPr lang="en-US" alt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) </a:t>
            </a:r>
            <a:r>
              <a:rPr lang="en-US" altLang="en-US" i="1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S1</a:t>
            </a:r>
            <a:r>
              <a:rPr lang="en-US" altLang="en-US" dirty="0">
                <a:latin typeface="Candara" panose="020E0502030303020204" pitchFamily="34" charset="0"/>
              </a:rPr>
              <a:t> before </a:t>
            </a:r>
            <a:r>
              <a:rPr lang="en-US" altLang="en-US" i="1" dirty="0">
                <a:solidFill>
                  <a:schemeClr val="accent6">
                    <a:lumMod val="50000"/>
                  </a:schemeClr>
                </a:solidFill>
                <a:latin typeface="Candara" panose="020E0502030303020204" pitchFamily="34" charset="0"/>
              </a:rPr>
              <a:t>S1</a:t>
            </a:r>
            <a:r>
              <a:rPr lang="en-US" altLang="en-US" dirty="0">
                <a:latin typeface="Candara" panose="020E0502030303020204" pitchFamily="34" charset="0"/>
              </a:rPr>
              <a:t> is 	  	 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          examined. 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       – The translation of </a:t>
            </a:r>
            <a:r>
              <a:rPr lang="en-US" altLang="en-US" i="1" dirty="0">
                <a:solidFill>
                  <a:srgbClr val="7030A0"/>
                </a:solidFill>
                <a:latin typeface="Candara" panose="020E0502030303020204" pitchFamily="34" charset="0"/>
              </a:rPr>
              <a:t>E</a:t>
            </a:r>
            <a:r>
              <a:rPr lang="en-US" altLang="en-US" dirty="0">
                <a:latin typeface="Candara" panose="020E0502030303020204" pitchFamily="34" charset="0"/>
              </a:rPr>
              <a:t>, however would be done by building its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</a:rPr>
              <a:t>syntax tree</a:t>
            </a:r>
            <a:r>
              <a:rPr lang="en-US" altLang="en-US" dirty="0">
                <a:latin typeface="Candara" panose="020E0502030303020204" pitchFamily="34" charset="0"/>
              </a:rPr>
              <a:t> and 	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ndara" panose="020E0502030303020204" pitchFamily="34" charset="0"/>
              </a:rPr>
              <a:t>           then walking the tree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Use separate code generation functions for expressions</a:t>
            </a:r>
            <a:endParaRPr lang="en-US" altLang="en-US" dirty="0">
              <a:latin typeface="Candara" panose="020E0502030303020204" pitchFamily="34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latin typeface="Candara" panose="020E0502030303020204" pitchFamily="34" charset="0"/>
              </a:rPr>
              <a:t>One for generating</a:t>
            </a:r>
            <a:r>
              <a:rPr lang="en-US" altLang="en-US" dirty="0">
                <a:solidFill>
                  <a:schemeClr val="tx2">
                    <a:lumMod val="75000"/>
                  </a:schemeClr>
                </a:solidFill>
                <a:latin typeface="Candara" panose="020E0502030303020204" pitchFamily="34" charset="0"/>
              </a:rPr>
              <a:t> jumping code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latin typeface="Candara" panose="020E0502030303020204" pitchFamily="34" charset="0"/>
              </a:rPr>
              <a:t>The other for </a:t>
            </a: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computing the value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0BC923-D905-6855-2E42-B372F1A81A88}"/>
              </a:ext>
            </a:extLst>
          </p:cNvPr>
          <p:cNvSpPr/>
          <p:nvPr/>
        </p:nvSpPr>
        <p:spPr>
          <a:xfrm rot="16200000">
            <a:off x="-2997937" y="2997936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(6.6.6)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9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Backpatching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18903"/>
            <a:ext cx="11244943" cy="57025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A key problem when generating code for boolean expression and flow-of-control statement is that of matching a jump instruction with the target of the jump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The SDD we have used earlier generates symbolic labels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A separate pass is needed to bind labels to address</a:t>
            </a: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105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/>
          <a:srcRect l="15169" t="2622" r="18088" b="5264"/>
          <a:stretch/>
        </p:blipFill>
        <p:spPr bwMode="auto">
          <a:xfrm>
            <a:off x="1306992" y="3620640"/>
            <a:ext cx="3683358" cy="2743201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39" y="2887917"/>
            <a:ext cx="6068272" cy="600159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Dot"/>
            <a:miter lim="800000"/>
            <a:headEnd/>
            <a:tailEnd/>
          </a:ln>
          <a:effectLst/>
        </p:spPr>
      </p:pic>
      <p:sp>
        <p:nvSpPr>
          <p:cNvPr id="10" name="Right Arrow 9"/>
          <p:cNvSpPr/>
          <p:nvPr/>
        </p:nvSpPr>
        <p:spPr>
          <a:xfrm>
            <a:off x="5533165" y="4626576"/>
            <a:ext cx="658632" cy="49421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6743697" y="3615756"/>
            <a:ext cx="4610103" cy="2978039"/>
            <a:chOff x="6743697" y="3615756"/>
            <a:chExt cx="4610103" cy="2978039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/>
            <a:srcRect l="28529" r="29575"/>
            <a:stretch/>
          </p:blipFill>
          <p:spPr bwMode="auto">
            <a:xfrm>
              <a:off x="7824651" y="3615756"/>
              <a:ext cx="2312126" cy="2978039"/>
            </a:xfrm>
            <a:prstGeom prst="rect">
              <a:avLst/>
            </a:prstGeom>
            <a:noFill/>
            <a:ln w="19050">
              <a:noFill/>
              <a:prstDash val="dashDot"/>
              <a:miter lim="800000"/>
              <a:headEnd/>
              <a:tailEnd/>
            </a:ln>
            <a:effectLst/>
          </p:spPr>
        </p:pic>
        <p:grpSp>
          <p:nvGrpSpPr>
            <p:cNvPr id="23" name="Group 22"/>
            <p:cNvGrpSpPr/>
            <p:nvPr/>
          </p:nvGrpSpPr>
          <p:grpSpPr>
            <a:xfrm>
              <a:off x="6743697" y="3736271"/>
              <a:ext cx="1120143" cy="2616445"/>
              <a:chOff x="6743697" y="3736271"/>
              <a:chExt cx="1120143" cy="2616445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761116" y="3736271"/>
                <a:ext cx="1102724" cy="713622"/>
                <a:chOff x="6761116" y="3736271"/>
                <a:chExt cx="1102724" cy="713622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6761116" y="3736271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100: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761116" y="4049783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101:</a:t>
                  </a: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6756760" y="4345869"/>
                <a:ext cx="1102724" cy="765874"/>
                <a:chOff x="6761116" y="3736271"/>
                <a:chExt cx="1102724" cy="765874"/>
              </a:xfrm>
            </p:grpSpPr>
            <p:sp>
              <p:nvSpPr>
                <p:cNvPr id="15" name="TextBox 14"/>
                <p:cNvSpPr txBox="1"/>
                <p:nvPr/>
              </p:nvSpPr>
              <p:spPr>
                <a:xfrm>
                  <a:off x="6761116" y="3736271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102: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761116" y="4102035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103:</a:t>
                  </a: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6756760" y="5012075"/>
                <a:ext cx="1102724" cy="713622"/>
                <a:chOff x="6761116" y="3736271"/>
                <a:chExt cx="1102724" cy="713622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6761116" y="3736271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104: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6761116" y="4049783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105:</a:t>
                  </a:r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6743697" y="5639094"/>
                <a:ext cx="1102724" cy="713622"/>
                <a:chOff x="6761116" y="3736271"/>
                <a:chExt cx="1102724" cy="713622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6761116" y="3736271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106: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6761116" y="4049783"/>
                  <a:ext cx="11027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000" dirty="0"/>
                    <a:t>107:</a:t>
                  </a:r>
                </a:p>
              </p:txBody>
            </p:sp>
          </p:grpSp>
        </p:grpSp>
        <p:grpSp>
          <p:nvGrpSpPr>
            <p:cNvPr id="31" name="Group 30"/>
            <p:cNvGrpSpPr/>
            <p:nvPr/>
          </p:nvGrpSpPr>
          <p:grpSpPr>
            <a:xfrm>
              <a:off x="8577940" y="3735163"/>
              <a:ext cx="2157212" cy="2004133"/>
              <a:chOff x="8577940" y="3735163"/>
              <a:chExt cx="2157212" cy="2004133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10071461" y="3735163"/>
                <a:ext cx="6549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106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8577940" y="4044319"/>
                <a:ext cx="65498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102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0136777" y="4373462"/>
                <a:ext cx="598375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104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637061" y="4670744"/>
                <a:ext cx="65498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107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9982200" y="5004521"/>
                <a:ext cx="65498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106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586820" y="5339186"/>
                <a:ext cx="65498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107</a:t>
                </a:r>
              </a:p>
            </p:txBody>
          </p:sp>
        </p:grpSp>
        <p:sp>
          <p:nvSpPr>
            <p:cNvPr id="32" name="Rectangle 31"/>
            <p:cNvSpPr/>
            <p:nvPr/>
          </p:nvSpPr>
          <p:spPr>
            <a:xfrm>
              <a:off x="6756760" y="3631767"/>
              <a:ext cx="4597040" cy="272094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7063ED-86CF-63F4-0DC1-FF16ECE513C4}"/>
              </a:ext>
            </a:extLst>
          </p:cNvPr>
          <p:cNvSpPr txBox="1"/>
          <p:nvPr/>
        </p:nvSpPr>
        <p:spPr>
          <a:xfrm>
            <a:off x="1275996" y="3239143"/>
            <a:ext cx="13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baseline="30000" dirty="0">
                <a:solidFill>
                  <a:srgbClr val="0070C0"/>
                </a:solidFill>
              </a:rPr>
              <a:t>st</a:t>
            </a:r>
            <a:r>
              <a:rPr lang="en-US" dirty="0">
                <a:solidFill>
                  <a:srgbClr val="0070C0"/>
                </a:solidFill>
              </a:rPr>
              <a:t> Pass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AB68FB-054F-1C12-13F2-50F6F808C811}"/>
              </a:ext>
            </a:extLst>
          </p:cNvPr>
          <p:cNvSpPr txBox="1"/>
          <p:nvPr/>
        </p:nvSpPr>
        <p:spPr>
          <a:xfrm>
            <a:off x="10456534" y="3216407"/>
            <a:ext cx="13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nd</a:t>
            </a:r>
            <a:r>
              <a:rPr lang="en-US" dirty="0">
                <a:solidFill>
                  <a:srgbClr val="0070C0"/>
                </a:solidFill>
              </a:rPr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273902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8" grpId="0"/>
      <p:bldP spid="34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Backpatching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18903"/>
            <a:ext cx="11244943" cy="47026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Backpatching</a:t>
            </a:r>
            <a:r>
              <a:rPr lang="en-US" altLang="en-US" dirty="0">
                <a:latin typeface="Candara" panose="020E0502030303020204" pitchFamily="34" charset="0"/>
              </a:rPr>
              <a:t> is used to generate code for boolean expressions and flow-of-control statements in one pass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latin typeface="Candara" panose="020E0502030303020204" pitchFamily="34" charset="0"/>
              </a:rPr>
              <a:t>In </a:t>
            </a:r>
            <a:r>
              <a:rPr lang="en-US" altLang="en-US" dirty="0">
                <a:solidFill>
                  <a:srgbClr val="8BC145">
                    <a:lumMod val="75000"/>
                  </a:srgbClr>
                </a:solidFill>
                <a:latin typeface="Candara" panose="020E0502030303020204" pitchFamily="34" charset="0"/>
              </a:rPr>
              <a:t>Backpatching</a:t>
            </a:r>
            <a:r>
              <a:rPr lang="en-US" altLang="en-US" dirty="0">
                <a:solidFill>
                  <a:prstClr val="black"/>
                </a:solidFill>
                <a:latin typeface="Candara" panose="020E0502030303020204" pitchFamily="34" charset="0"/>
              </a:rPr>
              <a:t>, list of jumps are passed as </a:t>
            </a:r>
            <a:r>
              <a:rPr lang="en-US" altLang="en-US" dirty="0">
                <a:solidFill>
                  <a:srgbClr val="0070C0"/>
                </a:solidFill>
                <a:latin typeface="Candara" panose="020E0502030303020204" pitchFamily="34" charset="0"/>
              </a:rPr>
              <a:t>synthesized attributes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</a:rPr>
              <a:t>Specifically, when a jump is generated, the target of the jump label is left unspecified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rgbClr val="0070C0"/>
                </a:solidFill>
                <a:latin typeface="Candara" panose="020E0502030303020204" pitchFamily="34" charset="0"/>
              </a:rPr>
              <a:t>Each such jump is put on a list of jumps whose labels are to be filled in when proper label can be determined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</a:rPr>
              <a:t>All of the jumps on a list have the same target label</a:t>
            </a:r>
            <a:endParaRPr lang="en-US" altLang="en-US" sz="3200" dirty="0">
              <a:solidFill>
                <a:schemeClr val="accent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58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7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Code Generation Using Backpatching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1"/>
            <a:ext cx="11244943" cy="57025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Two synthesized attributes for boolean expression </a:t>
            </a:r>
            <a:r>
              <a:rPr lang="en-US" altLang="en-US" sz="2400" i="1" dirty="0">
                <a:latin typeface="Candara" panose="020E0502030303020204" pitchFamily="34" charset="0"/>
              </a:rPr>
              <a:t>B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altLang="en-US" sz="2200" i="1" dirty="0">
                <a:solidFill>
                  <a:schemeClr val="accent2">
                    <a:lumMod val="50000"/>
                  </a:schemeClr>
                </a:solidFill>
                <a:latin typeface="Candara" panose="020E0502030303020204" pitchFamily="34" charset="0"/>
              </a:rPr>
              <a:t>B. truelist</a:t>
            </a:r>
            <a:r>
              <a:rPr lang="en-US" altLang="en-US" sz="2200" i="1" dirty="0">
                <a:latin typeface="Candara" panose="020E0502030303020204" pitchFamily="34" charset="0"/>
              </a:rPr>
              <a:t> – </a:t>
            </a:r>
            <a:r>
              <a:rPr lang="en-US" altLang="en-US" sz="2200" dirty="0">
                <a:latin typeface="Candara" panose="020E0502030303020204" pitchFamily="34" charset="0"/>
              </a:rPr>
              <a:t>a list of jumps or conditional jumps</a:t>
            </a:r>
            <a:r>
              <a:rPr lang="en-US" altLang="en-US" sz="2200" i="1" dirty="0">
                <a:latin typeface="Candara" panose="020E0502030303020204" pitchFamily="34" charset="0"/>
              </a:rPr>
              <a:t> </a:t>
            </a:r>
            <a:r>
              <a:rPr lang="en-US" altLang="en-US" sz="2200" dirty="0">
                <a:latin typeface="Candara" panose="020E0502030303020204" pitchFamily="34" charset="0"/>
              </a:rPr>
              <a:t>into which we must insert the label to which control goes if </a:t>
            </a:r>
            <a:r>
              <a:rPr lang="en-US" altLang="en-US" sz="2200" i="1" dirty="0">
                <a:latin typeface="Candara" panose="020E0502030303020204" pitchFamily="34" charset="0"/>
              </a:rPr>
              <a:t>B</a:t>
            </a:r>
            <a:r>
              <a:rPr lang="en-US" altLang="en-US" sz="2200" dirty="0">
                <a:latin typeface="Candara" panose="020E0502030303020204" pitchFamily="34" charset="0"/>
              </a:rPr>
              <a:t> is true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altLang="en-US" sz="2200" i="1" dirty="0">
                <a:solidFill>
                  <a:srgbClr val="FF0000"/>
                </a:solidFill>
                <a:latin typeface="Candara" panose="020E0502030303020204" pitchFamily="34" charset="0"/>
              </a:rPr>
              <a:t>B. falselist</a:t>
            </a:r>
            <a:r>
              <a:rPr lang="en-US" altLang="en-US" sz="2200" i="1" dirty="0">
                <a:latin typeface="Candara" panose="020E0502030303020204" pitchFamily="34" charset="0"/>
              </a:rPr>
              <a:t> – </a:t>
            </a:r>
            <a:r>
              <a:rPr lang="en-US" altLang="en-US" sz="2200" dirty="0">
                <a:latin typeface="Candara" panose="020E0502030303020204" pitchFamily="34" charset="0"/>
              </a:rPr>
              <a:t>a list of jumps or conditional jumps</a:t>
            </a:r>
            <a:r>
              <a:rPr lang="en-US" altLang="en-US" sz="2200" i="1" dirty="0">
                <a:latin typeface="Candara" panose="020E0502030303020204" pitchFamily="34" charset="0"/>
              </a:rPr>
              <a:t> </a:t>
            </a:r>
            <a:r>
              <a:rPr lang="en-US" altLang="en-US" sz="2200" dirty="0">
                <a:latin typeface="Candara" panose="020E0502030303020204" pitchFamily="34" charset="0"/>
              </a:rPr>
              <a:t>into which we must insert the label to which control goes if </a:t>
            </a:r>
            <a:r>
              <a:rPr lang="en-US" altLang="en-US" sz="2200" i="1" dirty="0">
                <a:latin typeface="Candara" panose="020E0502030303020204" pitchFamily="34" charset="0"/>
              </a:rPr>
              <a:t>B</a:t>
            </a:r>
            <a:r>
              <a:rPr lang="en-US" altLang="en-US" sz="2200" dirty="0">
                <a:latin typeface="Candara" panose="020E0502030303020204" pitchFamily="34" charset="0"/>
              </a:rPr>
              <a:t> is false</a:t>
            </a:r>
            <a:endParaRPr lang="en-US" altLang="en-US" sz="2200" i="1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A synthesized attribute for statement </a:t>
            </a:r>
            <a:r>
              <a:rPr lang="en-US" altLang="en-US" sz="2400" i="1" dirty="0">
                <a:latin typeface="Candara" panose="020E0502030303020204" pitchFamily="34" charset="0"/>
              </a:rPr>
              <a:t>S		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200" i="1" dirty="0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</a:rPr>
              <a:t>S. </a:t>
            </a:r>
            <a:r>
              <a:rPr lang="en-US" altLang="en-US" sz="2200" i="1" dirty="0" err="1">
                <a:solidFill>
                  <a:schemeClr val="bg2">
                    <a:lumMod val="25000"/>
                  </a:schemeClr>
                </a:solidFill>
                <a:latin typeface="Candara" panose="020E0502030303020204" pitchFamily="34" charset="0"/>
              </a:rPr>
              <a:t>nextlist</a:t>
            </a:r>
            <a:r>
              <a:rPr lang="en-US" altLang="en-US" sz="2200" i="1" dirty="0">
                <a:latin typeface="Candara" panose="020E0502030303020204" pitchFamily="34" charset="0"/>
              </a:rPr>
              <a:t> – </a:t>
            </a:r>
            <a:r>
              <a:rPr lang="en-US" altLang="en-US" sz="2200" dirty="0">
                <a:latin typeface="Candara" panose="020E0502030303020204" pitchFamily="34" charset="0"/>
              </a:rPr>
              <a:t>a list of jumps to the instruction immediately following the code for </a:t>
            </a:r>
            <a:r>
              <a:rPr lang="en-US" altLang="en-US" sz="2200" i="1" dirty="0">
                <a:latin typeface="Candara" panose="020E0502030303020204" pitchFamily="34" charset="0"/>
              </a:rPr>
              <a:t>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400" dirty="0">
                <a:latin typeface="Candara" panose="020E0502030303020204" pitchFamily="34" charset="0"/>
              </a:rPr>
              <a:t>Three functions</a:t>
            </a:r>
          </a:p>
          <a:p>
            <a:pPr marL="685800" lvl="2">
              <a:lnSpc>
                <a:spcPct val="100000"/>
              </a:lnSpc>
              <a:spcBef>
                <a:spcPts val="300"/>
              </a:spcBef>
            </a:pPr>
            <a:r>
              <a:rPr lang="en-US" altLang="en-US" sz="22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makelist</a:t>
            </a:r>
            <a:r>
              <a:rPr lang="en-US" altLang="en-US" sz="22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(</a:t>
            </a:r>
            <a:r>
              <a:rPr lang="en-US" altLang="en-US" sz="22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200" i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)</a:t>
            </a:r>
            <a:r>
              <a:rPr lang="en-US" altLang="en-US" sz="2200" i="1" dirty="0">
                <a:latin typeface="Candara" panose="020E0502030303020204" pitchFamily="34" charset="0"/>
              </a:rPr>
              <a:t> – </a:t>
            </a:r>
            <a:r>
              <a:rPr lang="en-US" altLang="en-US" sz="2200" dirty="0">
                <a:latin typeface="Candara" panose="020E0502030303020204" pitchFamily="34" charset="0"/>
              </a:rPr>
              <a:t>creates a new list containing only </a:t>
            </a:r>
            <a:r>
              <a:rPr lang="en-US" altLang="en-US" sz="2200" i="1" dirty="0" err="1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200" dirty="0">
                <a:latin typeface="Candara" panose="020E0502030303020204" pitchFamily="34" charset="0"/>
              </a:rPr>
              <a:t>, an index into the array of instructions. Returns a pointer to the newly created array</a:t>
            </a:r>
          </a:p>
          <a:p>
            <a:pPr marL="685800" lvl="2">
              <a:lnSpc>
                <a:spcPct val="100000"/>
              </a:lnSpc>
              <a:spcBef>
                <a:spcPts val="300"/>
              </a:spcBef>
            </a:pPr>
            <a:r>
              <a:rPr lang="en-US" altLang="en-US" sz="2200" i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merge(p1, p2) </a:t>
            </a:r>
            <a:r>
              <a:rPr lang="en-US" altLang="en-US" sz="2200" i="1" dirty="0">
                <a:latin typeface="Candara" panose="020E0502030303020204" pitchFamily="34" charset="0"/>
              </a:rPr>
              <a:t>– </a:t>
            </a:r>
            <a:r>
              <a:rPr lang="en-US" altLang="en-US" sz="2200" dirty="0">
                <a:latin typeface="Candara" panose="020E0502030303020204" pitchFamily="34" charset="0"/>
              </a:rPr>
              <a:t>concatenates the lists pointed to by </a:t>
            </a:r>
            <a:r>
              <a:rPr lang="en-US" altLang="en-US" sz="2200" i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p1</a:t>
            </a:r>
            <a:r>
              <a:rPr lang="en-US" altLang="en-US" sz="2200" dirty="0">
                <a:latin typeface="Candara" panose="020E0502030303020204" pitchFamily="34" charset="0"/>
              </a:rPr>
              <a:t> and</a:t>
            </a:r>
            <a:r>
              <a:rPr lang="en-US" altLang="en-US" sz="2200" i="1" dirty="0">
                <a:solidFill>
                  <a:schemeClr val="accent3">
                    <a:lumMod val="75000"/>
                  </a:schemeClr>
                </a:solidFill>
                <a:latin typeface="Candara" panose="020E0502030303020204" pitchFamily="34" charset="0"/>
              </a:rPr>
              <a:t> p2</a:t>
            </a:r>
            <a:r>
              <a:rPr lang="en-US" altLang="en-US" sz="2200" dirty="0">
                <a:latin typeface="Candara" panose="020E0502030303020204" pitchFamily="34" charset="0"/>
              </a:rPr>
              <a:t>, and returns a pointer to the concatenated list</a:t>
            </a:r>
          </a:p>
          <a:p>
            <a:pPr marL="685800" lvl="2">
              <a:lnSpc>
                <a:spcPct val="100000"/>
              </a:lnSpc>
              <a:spcBef>
                <a:spcPts val="300"/>
              </a:spcBef>
            </a:pPr>
            <a:r>
              <a:rPr lang="en-US" altLang="en-US" sz="2200" i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backpatch(p, </a:t>
            </a:r>
            <a:r>
              <a:rPr lang="en-US" altLang="en-US" sz="2200" i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200" i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)</a:t>
            </a:r>
            <a:r>
              <a:rPr lang="en-US" altLang="en-US" sz="2200" i="1" dirty="0">
                <a:latin typeface="Candara" panose="020E0502030303020204" pitchFamily="34" charset="0"/>
              </a:rPr>
              <a:t> – </a:t>
            </a:r>
            <a:r>
              <a:rPr lang="en-US" altLang="en-US" sz="2200" dirty="0">
                <a:latin typeface="Candara" panose="020E0502030303020204" pitchFamily="34" charset="0"/>
              </a:rPr>
              <a:t>inserts </a:t>
            </a:r>
            <a:r>
              <a:rPr lang="en-US" altLang="en-US" sz="2200" i="1" dirty="0" err="1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en-US" sz="2200" i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 </a:t>
            </a:r>
            <a:r>
              <a:rPr lang="en-US" altLang="en-US" sz="2200" dirty="0">
                <a:latin typeface="Candara" panose="020E0502030303020204" pitchFamily="34" charset="0"/>
              </a:rPr>
              <a:t>as the target label for each of the instructions on the list pointed to by </a:t>
            </a:r>
            <a:r>
              <a:rPr lang="en-US" altLang="en-US" sz="2200" i="1" dirty="0">
                <a:solidFill>
                  <a:schemeClr val="accent2">
                    <a:lumMod val="75000"/>
                  </a:schemeClr>
                </a:solidFill>
                <a:latin typeface="Candara" panose="020E0502030303020204" pitchFamily="34" charset="0"/>
              </a:rPr>
              <a:t>p</a:t>
            </a:r>
            <a:endParaRPr lang="en-US" altLang="en-US" sz="2200" i="1" dirty="0">
              <a:latin typeface="Candara" panose="020E0502030303020204" pitchFamily="34" charset="0"/>
            </a:endParaRPr>
          </a:p>
          <a:p>
            <a:pPr marL="685800" lvl="2">
              <a:lnSpc>
                <a:spcPct val="100000"/>
              </a:lnSpc>
              <a:spcBef>
                <a:spcPts val="600"/>
              </a:spcBef>
            </a:pPr>
            <a:endParaRPr lang="en-US" altLang="en-US" sz="2400" dirty="0">
              <a:latin typeface="Candara" panose="020E0502030303020204" pitchFamily="34" charset="0"/>
            </a:endParaRPr>
          </a:p>
          <a:p>
            <a:pPr marL="685800" lvl="2">
              <a:lnSpc>
                <a:spcPct val="100000"/>
              </a:lnSpc>
              <a:spcBef>
                <a:spcPts val="600"/>
              </a:spcBef>
            </a:pPr>
            <a:endParaRPr lang="en-US" altLang="en-US" sz="2400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en-US" sz="2400" i="1" dirty="0">
              <a:latin typeface="Candara" panose="020E0502030303020204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altLang="en-US" sz="2400" i="1" dirty="0">
              <a:latin typeface="Candara" panose="020E0502030303020204" pitchFamily="34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US" altLang="en-US" i="1" dirty="0">
              <a:latin typeface="Candara" panose="020E0502030303020204" pitchFamily="34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8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6BC46DDE-1848-B2CC-9E60-F1262EC92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53031"/>
              </p:ext>
            </p:extLst>
          </p:nvPr>
        </p:nvGraphicFramePr>
        <p:xfrm>
          <a:off x="245267" y="1082077"/>
          <a:ext cx="11842714" cy="54779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04416">
                  <a:extLst>
                    <a:ext uri="{9D8B030D-6E8A-4147-A177-3AD203B41FA5}">
                      <a16:colId xmlns:a16="http://schemas.microsoft.com/office/drawing/2014/main" val="2562192025"/>
                    </a:ext>
                  </a:extLst>
                </a:gridCol>
                <a:gridCol w="4251007">
                  <a:extLst>
                    <a:ext uri="{9D8B030D-6E8A-4147-A177-3AD203B41FA5}">
                      <a16:colId xmlns:a16="http://schemas.microsoft.com/office/drawing/2014/main" val="14997649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18349636"/>
                    </a:ext>
                  </a:extLst>
                </a:gridCol>
                <a:gridCol w="5879011">
                  <a:extLst>
                    <a:ext uri="{9D8B030D-6E8A-4147-A177-3AD203B41FA5}">
                      <a16:colId xmlns:a16="http://schemas.microsoft.com/office/drawing/2014/main" val="4120242278"/>
                    </a:ext>
                  </a:extLst>
                </a:gridCol>
              </a:tblGrid>
              <a:tr h="4487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Semantic 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Productions with Embedded Actions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=L.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=L.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label(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-2500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=L.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(B)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B)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67073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false=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B.false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label(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3989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code</a:t>
                      </a:r>
                      <a:endParaRPr lang="en-US" sz="1800" i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                        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F099332-BD72-0305-43DD-25F254F2EE5C}"/>
              </a:ext>
            </a:extLst>
          </p:cNvPr>
          <p:cNvSpPr/>
          <p:nvPr/>
        </p:nvSpPr>
        <p:spPr>
          <a:xfrm>
            <a:off x="6083373" y="1564866"/>
            <a:ext cx="6025375" cy="911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203533" y="6479861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BC173-603F-7BF9-1E7A-35A483988CB0}"/>
              </a:ext>
            </a:extLst>
          </p:cNvPr>
          <p:cNvSpPr txBox="1"/>
          <p:nvPr/>
        </p:nvSpPr>
        <p:spPr>
          <a:xfrm>
            <a:off x="206078" y="681967"/>
            <a:ext cx="5588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SDD for Flow-of-Control and Booleans (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partial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51AEF-C777-45F8-457D-D8B05B61A1E8}"/>
              </a:ext>
            </a:extLst>
          </p:cNvPr>
          <p:cNvSpPr txBox="1"/>
          <p:nvPr/>
        </p:nvSpPr>
        <p:spPr>
          <a:xfrm>
            <a:off x="6130349" y="699237"/>
            <a:ext cx="5524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SDT for Flow-of-Control and Booleans (on the fly)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A7CC7E7B-CDAA-EF8E-6363-B5BE9BC4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9"/>
            <a:ext cx="10515600" cy="7652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Code Generation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B8CDFF-AAFF-66E0-22FA-5FF46C77D209}"/>
              </a:ext>
            </a:extLst>
          </p:cNvPr>
          <p:cNvSpPr/>
          <p:nvPr/>
        </p:nvSpPr>
        <p:spPr>
          <a:xfrm>
            <a:off x="6094555" y="2555214"/>
            <a:ext cx="6025375" cy="407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88F54C-3BBE-719A-929B-DA60E806D39C}"/>
              </a:ext>
            </a:extLst>
          </p:cNvPr>
          <p:cNvSpPr/>
          <p:nvPr/>
        </p:nvSpPr>
        <p:spPr>
          <a:xfrm>
            <a:off x="6129499" y="2981232"/>
            <a:ext cx="6025375" cy="976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970B3D9-1AA7-DDA9-31E9-F9BE531D81A7}"/>
              </a:ext>
            </a:extLst>
          </p:cNvPr>
          <p:cNvSpPr/>
          <p:nvPr/>
        </p:nvSpPr>
        <p:spPr>
          <a:xfrm>
            <a:off x="6094555" y="3960947"/>
            <a:ext cx="6025375" cy="1275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E6B879-7AE8-51B9-B210-D8ADFC8FCBD8}"/>
              </a:ext>
            </a:extLst>
          </p:cNvPr>
          <p:cNvSpPr/>
          <p:nvPr/>
        </p:nvSpPr>
        <p:spPr>
          <a:xfrm>
            <a:off x="6146807" y="5254171"/>
            <a:ext cx="6025375" cy="13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0BAF51-0E67-DBA4-44CF-8EA05A284735}"/>
              </a:ext>
            </a:extLst>
          </p:cNvPr>
          <p:cNvSpPr/>
          <p:nvPr/>
        </p:nvSpPr>
        <p:spPr>
          <a:xfrm>
            <a:off x="6087856" y="1044916"/>
            <a:ext cx="6025375" cy="51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43" grpId="0" animBg="1"/>
      <p:bldP spid="44" grpId="0" animBg="1"/>
      <p:bldP spid="45" grpId="0" animBg="1"/>
      <p:bldP spid="46" grpId="0" animBg="1"/>
      <p:bldP spid="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6BC46DDE-1848-B2CC-9E60-F1262EC92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6074"/>
              </p:ext>
            </p:extLst>
          </p:nvPr>
        </p:nvGraphicFramePr>
        <p:xfrm>
          <a:off x="245267" y="959150"/>
          <a:ext cx="11837877" cy="565247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184306">
                  <a:extLst>
                    <a:ext uri="{9D8B030D-6E8A-4147-A177-3AD203B41FA5}">
                      <a16:colId xmlns:a16="http://schemas.microsoft.com/office/drawing/2014/main" val="4120242278"/>
                    </a:ext>
                  </a:extLst>
                </a:gridCol>
                <a:gridCol w="1655233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  <a:gridCol w="3998338">
                  <a:extLst>
                    <a:ext uri="{9D8B030D-6E8A-4147-A177-3AD203B41FA5}">
                      <a16:colId xmlns:a16="http://schemas.microsoft.com/office/drawing/2014/main" val="1558531983"/>
                    </a:ext>
                  </a:extLst>
                </a:gridCol>
              </a:tblGrid>
              <a:tr h="4487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SDT for Flow-of-Control and Booleans (on the fly)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SDT for Backpatching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=L.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label(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-2500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L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 </a:t>
                      </a:r>
                      <a:r>
                        <a:rPr lang="en-US" sz="18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Backpatch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kern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i="1" kern="1200" baseline="-25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nextlist,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L.</a:t>
                      </a:r>
                      <a:r>
                        <a:rPr lang="en-US" sz="18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=L.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L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S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L.</a:t>
                      </a:r>
                      <a:r>
                        <a:rPr lang="en-US" sz="18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=S.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B)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S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(B) </a:t>
                      </a:r>
                      <a:r>
                        <a:rPr lang="en-US" sz="18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S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8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merge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</a:t>
                      </a:r>
                      <a:r>
                        <a:rPr lang="en-US" sz="1800" i="1" kern="1200" baseline="-25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Backpatch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667073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        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newlabel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0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B.</a:t>
                      </a:r>
                      <a:r>
                        <a:rPr lang="en-US" sz="1800" i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label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kern="12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dirty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      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merge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Backpatch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falselist, </a:t>
                      </a:r>
                      <a:r>
                        <a:rPr lang="en-US" sz="18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8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3989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                           </a:t>
                      </a: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 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makelist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nextinstr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makelist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800" i="1" baseline="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nextinstr</a:t>
                      </a:r>
                      <a:r>
                        <a:rPr lang="en-US" sz="1800" i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+1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</a:t>
                      </a:r>
                      <a:endParaRPr lang="en-US" sz="1800" i="1" kern="1200" baseline="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(‘if’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baseline="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addr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__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gen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(‘ </a:t>
                      </a:r>
                      <a:r>
                        <a:rPr lang="en-US" sz="1800" i="0" baseline="0" dirty="0" err="1">
                          <a:sym typeface="Wingdings" panose="05000000000000000000" pitchFamily="2" charset="2"/>
                        </a:rPr>
                        <a:t>goto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__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’); }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Ɛ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8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8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800" i="1" baseline="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nextinstr</a:t>
                      </a:r>
                      <a:r>
                        <a:rPr lang="en-US" sz="18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8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800" i="1" baseline="0" dirty="0">
                        <a:solidFill>
                          <a:schemeClr val="accent6">
                            <a:lumMod val="5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51794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292433" y="6505261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0EE9F4-3287-9987-972B-8858174524E3}"/>
              </a:ext>
            </a:extLst>
          </p:cNvPr>
          <p:cNvSpPr txBox="1">
            <a:spLocks/>
          </p:cNvSpPr>
          <p:nvPr/>
        </p:nvSpPr>
        <p:spPr>
          <a:xfrm>
            <a:off x="838200" y="-8452"/>
            <a:ext cx="10515600" cy="8904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Code Generation Using Backpatching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84032B-6AE5-A630-EBDD-3CFC5AB3053A}"/>
              </a:ext>
            </a:extLst>
          </p:cNvPr>
          <p:cNvSpPr/>
          <p:nvPr/>
        </p:nvSpPr>
        <p:spPr>
          <a:xfrm>
            <a:off x="8138159" y="5618050"/>
            <a:ext cx="3944985" cy="585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A8582-1C2A-1B3D-9363-B88C907D13EC}"/>
              </a:ext>
            </a:extLst>
          </p:cNvPr>
          <p:cNvSpPr/>
          <p:nvPr/>
        </p:nvSpPr>
        <p:spPr>
          <a:xfrm>
            <a:off x="8159929" y="5065058"/>
            <a:ext cx="3944985" cy="49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594DD-7315-2664-3271-CD966269150C}"/>
              </a:ext>
            </a:extLst>
          </p:cNvPr>
          <p:cNvSpPr/>
          <p:nvPr/>
        </p:nvSpPr>
        <p:spPr>
          <a:xfrm>
            <a:off x="8138159" y="6203962"/>
            <a:ext cx="2281647" cy="336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FC86A1-DB68-9C49-BFF8-9733361D09A3}"/>
              </a:ext>
            </a:extLst>
          </p:cNvPr>
          <p:cNvSpPr/>
          <p:nvPr/>
        </p:nvSpPr>
        <p:spPr>
          <a:xfrm>
            <a:off x="8001748" y="2971558"/>
            <a:ext cx="3944985" cy="347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D8AB94-18B2-F7EA-AEF9-40F9C5481DAC}"/>
              </a:ext>
            </a:extLst>
          </p:cNvPr>
          <p:cNvSpPr/>
          <p:nvPr/>
        </p:nvSpPr>
        <p:spPr>
          <a:xfrm>
            <a:off x="8001747" y="2297670"/>
            <a:ext cx="3944985" cy="337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71CD3F-1833-D34C-15C5-C6BB67480240}"/>
              </a:ext>
            </a:extLst>
          </p:cNvPr>
          <p:cNvSpPr/>
          <p:nvPr/>
        </p:nvSpPr>
        <p:spPr>
          <a:xfrm>
            <a:off x="6296297" y="1459255"/>
            <a:ext cx="1841862" cy="5020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612C0-C83D-1B43-7A8F-07F223307EEC}"/>
              </a:ext>
            </a:extLst>
          </p:cNvPr>
          <p:cNvSpPr/>
          <p:nvPr/>
        </p:nvSpPr>
        <p:spPr>
          <a:xfrm>
            <a:off x="8138159" y="3967033"/>
            <a:ext cx="3944985" cy="49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A1B61-5FDE-9B1E-39C9-1B87E1B5F321}"/>
              </a:ext>
            </a:extLst>
          </p:cNvPr>
          <p:cNvSpPr/>
          <p:nvPr/>
        </p:nvSpPr>
        <p:spPr>
          <a:xfrm>
            <a:off x="8138159" y="4463424"/>
            <a:ext cx="3944985" cy="495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4A7DDD-A3A1-F49F-F1F6-C55B47041848}"/>
              </a:ext>
            </a:extLst>
          </p:cNvPr>
          <p:cNvSpPr/>
          <p:nvPr/>
        </p:nvSpPr>
        <p:spPr>
          <a:xfrm>
            <a:off x="8001748" y="3296475"/>
            <a:ext cx="3944985" cy="347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69138D-07B9-83DC-5220-A913D2FA480B}"/>
              </a:ext>
            </a:extLst>
          </p:cNvPr>
          <p:cNvSpPr/>
          <p:nvPr/>
        </p:nvSpPr>
        <p:spPr>
          <a:xfrm>
            <a:off x="7984328" y="1509542"/>
            <a:ext cx="3944985" cy="512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  <p:bldP spid="16" grpId="0" animBg="1"/>
      <p:bldP spid="18" grpId="0" animBg="1"/>
      <p:bldP spid="20" grpId="0" animBg="1"/>
      <p:bldP spid="5" grpId="0" animBg="1"/>
      <p:bldP spid="9" grpId="0" animBg="1"/>
      <p:bldP spid="11" grpId="0" animBg="1"/>
      <p:bldP spid="2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782693"/>
            <a:ext cx="7600950" cy="596265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99704"/>
            <a:ext cx="10515600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Backpatching for Boolean Expression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6C3C5-4519-B51A-56AF-117B0772B039}"/>
              </a:ext>
            </a:extLst>
          </p:cNvPr>
          <p:cNvSpPr/>
          <p:nvPr/>
        </p:nvSpPr>
        <p:spPr>
          <a:xfrm>
            <a:off x="4973678" y="2557085"/>
            <a:ext cx="4740731" cy="669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39448-D1C4-68AC-1721-C22EAFAE6B6E}"/>
              </a:ext>
            </a:extLst>
          </p:cNvPr>
          <p:cNvSpPr/>
          <p:nvPr/>
        </p:nvSpPr>
        <p:spPr>
          <a:xfrm>
            <a:off x="4982387" y="1666612"/>
            <a:ext cx="4740731" cy="890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E70746-D03B-D0C6-23DE-7C3F53F1E2C5}"/>
              </a:ext>
            </a:extLst>
          </p:cNvPr>
          <p:cNvSpPr/>
          <p:nvPr/>
        </p:nvSpPr>
        <p:spPr>
          <a:xfrm>
            <a:off x="4825630" y="3218936"/>
            <a:ext cx="4740731" cy="669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9847D-E14B-A15D-AC4A-98EEE04B8D33}"/>
              </a:ext>
            </a:extLst>
          </p:cNvPr>
          <p:cNvSpPr/>
          <p:nvPr/>
        </p:nvSpPr>
        <p:spPr>
          <a:xfrm>
            <a:off x="4956259" y="5034677"/>
            <a:ext cx="4740731" cy="669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01C0CC-B046-4CCD-0131-B15BEBB0A85A}"/>
              </a:ext>
            </a:extLst>
          </p:cNvPr>
          <p:cNvSpPr/>
          <p:nvPr/>
        </p:nvSpPr>
        <p:spPr>
          <a:xfrm>
            <a:off x="4943197" y="5687820"/>
            <a:ext cx="4740731" cy="669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E1A8D-A36D-FF73-3FB8-F27202205CF7}"/>
              </a:ext>
            </a:extLst>
          </p:cNvPr>
          <p:cNvSpPr/>
          <p:nvPr/>
        </p:nvSpPr>
        <p:spPr>
          <a:xfrm>
            <a:off x="2389096" y="1666612"/>
            <a:ext cx="7289200" cy="93231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32B5B2-1B2D-84B1-18F8-99EC67A97592}"/>
              </a:ext>
            </a:extLst>
          </p:cNvPr>
          <p:cNvSpPr/>
          <p:nvPr/>
        </p:nvSpPr>
        <p:spPr>
          <a:xfrm>
            <a:off x="2389096" y="2558597"/>
            <a:ext cx="7289200" cy="5342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95ABC-355D-279B-CB1C-0FEBA277B2CF}"/>
              </a:ext>
            </a:extLst>
          </p:cNvPr>
          <p:cNvSpPr/>
          <p:nvPr/>
        </p:nvSpPr>
        <p:spPr>
          <a:xfrm>
            <a:off x="2389096" y="3208536"/>
            <a:ext cx="7289200" cy="66944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181FD-5BF5-6457-53A8-AF750DD9B0D9}"/>
              </a:ext>
            </a:extLst>
          </p:cNvPr>
          <p:cNvSpPr/>
          <p:nvPr/>
        </p:nvSpPr>
        <p:spPr>
          <a:xfrm>
            <a:off x="2389096" y="5091125"/>
            <a:ext cx="7289200" cy="5342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A41C2-5259-E987-A78F-789F18C4171D}"/>
              </a:ext>
            </a:extLst>
          </p:cNvPr>
          <p:cNvSpPr/>
          <p:nvPr/>
        </p:nvSpPr>
        <p:spPr>
          <a:xfrm>
            <a:off x="2389096" y="5750030"/>
            <a:ext cx="7289200" cy="5342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5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9" grpId="0" animBg="1"/>
      <p:bldP spid="13" grpId="0" animBg="1"/>
      <p:bldP spid="14" grpId="0" animBg="1"/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10" grpId="0" animBg="1"/>
      <p:bldP spid="10" grpId="1" animBg="1"/>
      <p:bldP spid="1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D876CBD8-550A-2D49-EAE4-89D01E8EA8C9}"/>
              </a:ext>
            </a:extLst>
          </p:cNvPr>
          <p:cNvSpPr/>
          <p:nvPr/>
        </p:nvSpPr>
        <p:spPr>
          <a:xfrm>
            <a:off x="6452718" y="30579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6B2D48-3F1C-6194-0962-12487AFD5783}"/>
              </a:ext>
            </a:extLst>
          </p:cNvPr>
          <p:cNvCxnSpPr>
            <a:cxnSpLocks/>
            <a:stCxn id="27" idx="4"/>
            <a:endCxn id="79" idx="0"/>
          </p:cNvCxnSpPr>
          <p:nvPr/>
        </p:nvCxnSpPr>
        <p:spPr>
          <a:xfrm flipH="1">
            <a:off x="4363864" y="714301"/>
            <a:ext cx="2381102" cy="880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60D62E-BDF9-C519-4EA2-B96236D0C317}"/>
              </a:ext>
            </a:extLst>
          </p:cNvPr>
          <p:cNvSpPr/>
          <p:nvPr/>
        </p:nvSpPr>
        <p:spPr>
          <a:xfrm>
            <a:off x="8706529" y="161184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EB9398E-AB0B-A7F3-D1F1-35739AEEE559}"/>
              </a:ext>
            </a:extLst>
          </p:cNvPr>
          <p:cNvSpPr/>
          <p:nvPr/>
        </p:nvSpPr>
        <p:spPr>
          <a:xfrm>
            <a:off x="4071616" y="1595065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BE4B33A-B7B2-3D4D-7DBE-2BC1F5D9CD65}"/>
              </a:ext>
            </a:extLst>
          </p:cNvPr>
          <p:cNvSpPr/>
          <p:nvPr/>
        </p:nvSpPr>
        <p:spPr>
          <a:xfrm>
            <a:off x="7732168" y="1611840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9551A9E-04D4-7F11-F7C6-448C2A278C3B}"/>
              </a:ext>
            </a:extLst>
          </p:cNvPr>
          <p:cNvCxnSpPr>
            <a:cxnSpLocks/>
            <a:stCxn id="27" idx="4"/>
            <a:endCxn id="52" idx="0"/>
          </p:cNvCxnSpPr>
          <p:nvPr/>
        </p:nvCxnSpPr>
        <p:spPr>
          <a:xfrm>
            <a:off x="6744966" y="714301"/>
            <a:ext cx="2253811" cy="897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AFBDC429-6D38-02EE-3DC3-15301E75E1E9}"/>
              </a:ext>
            </a:extLst>
          </p:cNvPr>
          <p:cNvSpPr/>
          <p:nvPr/>
        </p:nvSpPr>
        <p:spPr>
          <a:xfrm>
            <a:off x="6284825" y="1610710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||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1E280D9-D008-8A62-9ACA-E09B8A362595}"/>
              </a:ext>
            </a:extLst>
          </p:cNvPr>
          <p:cNvCxnSpPr>
            <a:cxnSpLocks/>
            <a:stCxn id="27" idx="4"/>
            <a:endCxn id="82" idx="0"/>
          </p:cNvCxnSpPr>
          <p:nvPr/>
        </p:nvCxnSpPr>
        <p:spPr>
          <a:xfrm flipH="1">
            <a:off x="6681320" y="714301"/>
            <a:ext cx="63646" cy="896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29D757-8504-E351-AF17-C7536D262396}"/>
              </a:ext>
            </a:extLst>
          </p:cNvPr>
          <p:cNvCxnSpPr>
            <a:cxnSpLocks/>
            <a:stCxn id="52" idx="4"/>
            <a:endCxn id="95" idx="0"/>
          </p:cNvCxnSpPr>
          <p:nvPr/>
        </p:nvCxnSpPr>
        <p:spPr>
          <a:xfrm flipH="1">
            <a:off x="7620779" y="2020347"/>
            <a:ext cx="1377998" cy="491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97898B42-7EE5-E8C0-A8F1-82C87C479EB1}"/>
              </a:ext>
            </a:extLst>
          </p:cNvPr>
          <p:cNvSpPr/>
          <p:nvPr/>
        </p:nvSpPr>
        <p:spPr>
          <a:xfrm>
            <a:off x="10642862" y="2503524"/>
            <a:ext cx="769654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FBB4B6A-E63B-9DCD-0659-E19401603366}"/>
              </a:ext>
            </a:extLst>
          </p:cNvPr>
          <p:cNvSpPr/>
          <p:nvPr/>
        </p:nvSpPr>
        <p:spPr>
          <a:xfrm>
            <a:off x="7243839" y="2511730"/>
            <a:ext cx="753879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77FD64E-C83F-4419-4D6B-3383BA8DA5AE}"/>
              </a:ext>
            </a:extLst>
          </p:cNvPr>
          <p:cNvCxnSpPr>
            <a:cxnSpLocks/>
            <a:stCxn id="52" idx="4"/>
            <a:endCxn id="94" idx="0"/>
          </p:cNvCxnSpPr>
          <p:nvPr/>
        </p:nvCxnSpPr>
        <p:spPr>
          <a:xfrm>
            <a:off x="8998777" y="2020347"/>
            <a:ext cx="2028912" cy="483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B5B1D9EA-02A5-31EF-1099-31A95202AEFB}"/>
              </a:ext>
            </a:extLst>
          </p:cNvPr>
          <p:cNvSpPr/>
          <p:nvPr/>
        </p:nvSpPr>
        <p:spPr>
          <a:xfrm>
            <a:off x="8623995" y="2534634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&amp;&amp;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C5AA634-89C7-777F-9F5F-5C4EB7720E93}"/>
              </a:ext>
            </a:extLst>
          </p:cNvPr>
          <p:cNvCxnSpPr>
            <a:cxnSpLocks/>
            <a:stCxn id="52" idx="4"/>
            <a:endCxn id="97" idx="0"/>
          </p:cNvCxnSpPr>
          <p:nvPr/>
        </p:nvCxnSpPr>
        <p:spPr>
          <a:xfrm>
            <a:off x="8998777" y="2020347"/>
            <a:ext cx="21713" cy="5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90083CA-5838-BCAB-8745-E97802427960}"/>
              </a:ext>
            </a:extLst>
          </p:cNvPr>
          <p:cNvCxnSpPr>
            <a:cxnSpLocks/>
            <a:stCxn id="95" idx="4"/>
            <a:endCxn id="112" idx="0"/>
          </p:cNvCxnSpPr>
          <p:nvPr/>
        </p:nvCxnSpPr>
        <p:spPr>
          <a:xfrm flipH="1">
            <a:off x="6654133" y="2920237"/>
            <a:ext cx="966646" cy="49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A5C5240A-6A04-4773-3065-6D5A21DF2C54}"/>
              </a:ext>
            </a:extLst>
          </p:cNvPr>
          <p:cNvSpPr/>
          <p:nvPr/>
        </p:nvSpPr>
        <p:spPr>
          <a:xfrm>
            <a:off x="8825030" y="3440635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A4B8E78-46ED-AC8C-5C28-9F1363C72EDD}"/>
              </a:ext>
            </a:extLst>
          </p:cNvPr>
          <p:cNvSpPr/>
          <p:nvPr/>
        </p:nvSpPr>
        <p:spPr>
          <a:xfrm>
            <a:off x="6300114" y="3418861"/>
            <a:ext cx="70803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895D6E0-A7A1-6B48-FFDD-0B411C5BE4EF}"/>
              </a:ext>
            </a:extLst>
          </p:cNvPr>
          <p:cNvCxnSpPr>
            <a:cxnSpLocks/>
            <a:stCxn id="95" idx="4"/>
            <a:endCxn id="111" idx="0"/>
          </p:cNvCxnSpPr>
          <p:nvPr/>
        </p:nvCxnSpPr>
        <p:spPr>
          <a:xfrm>
            <a:off x="7620779" y="2920237"/>
            <a:ext cx="1550440" cy="520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908DBA30-6E1B-1FB4-C130-CF1C7EC2388D}"/>
              </a:ext>
            </a:extLst>
          </p:cNvPr>
          <p:cNvSpPr/>
          <p:nvPr/>
        </p:nvSpPr>
        <p:spPr>
          <a:xfrm>
            <a:off x="7485714" y="3441765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FB0440DD-9EF0-1738-43AA-4BDD5BD998D8}"/>
              </a:ext>
            </a:extLst>
          </p:cNvPr>
          <p:cNvCxnSpPr>
            <a:cxnSpLocks/>
            <a:stCxn id="95" idx="4"/>
            <a:endCxn id="114" idx="0"/>
          </p:cNvCxnSpPr>
          <p:nvPr/>
        </p:nvCxnSpPr>
        <p:spPr>
          <a:xfrm>
            <a:off x="7620779" y="2920237"/>
            <a:ext cx="261430" cy="52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B34B43D-2A47-CB3A-AE90-D9B37784B955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10289343" y="2913251"/>
            <a:ext cx="738346" cy="45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FCA3A58B-00CE-B117-6240-58D737046CEE}"/>
              </a:ext>
            </a:extLst>
          </p:cNvPr>
          <p:cNvSpPr/>
          <p:nvPr/>
        </p:nvSpPr>
        <p:spPr>
          <a:xfrm>
            <a:off x="11396596" y="335199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726ECA6-C69F-A866-4CD8-2ABA7C06FDC2}"/>
              </a:ext>
            </a:extLst>
          </p:cNvPr>
          <p:cNvSpPr/>
          <p:nvPr/>
        </p:nvSpPr>
        <p:spPr>
          <a:xfrm>
            <a:off x="9943154" y="336820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4C4DF11-FB54-D6DB-506D-5A4AF249D99F}"/>
              </a:ext>
            </a:extLst>
          </p:cNvPr>
          <p:cNvCxnSpPr>
            <a:cxnSpLocks/>
            <a:stCxn id="94" idx="4"/>
            <a:endCxn id="119" idx="0"/>
          </p:cNvCxnSpPr>
          <p:nvPr/>
        </p:nvCxnSpPr>
        <p:spPr>
          <a:xfrm>
            <a:off x="11027689" y="2912031"/>
            <a:ext cx="715096" cy="439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CF7B572B-C744-F359-7321-6194903EF84B}"/>
              </a:ext>
            </a:extLst>
          </p:cNvPr>
          <p:cNvSpPr/>
          <p:nvPr/>
        </p:nvSpPr>
        <p:spPr>
          <a:xfrm>
            <a:off x="10615473" y="3391111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7C6459B-E395-BB43-C771-C1F8607BA7C0}"/>
              </a:ext>
            </a:extLst>
          </p:cNvPr>
          <p:cNvCxnSpPr>
            <a:cxnSpLocks/>
            <a:endCxn id="123" idx="0"/>
          </p:cNvCxnSpPr>
          <p:nvPr/>
        </p:nvCxnSpPr>
        <p:spPr>
          <a:xfrm flipH="1">
            <a:off x="11011968" y="2913251"/>
            <a:ext cx="15721" cy="477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2DAA87-61A6-2E40-99EC-10F7F832F825}"/>
              </a:ext>
            </a:extLst>
          </p:cNvPr>
          <p:cNvCxnSpPr>
            <a:cxnSpLocks/>
            <a:endCxn id="145" idx="0"/>
          </p:cNvCxnSpPr>
          <p:nvPr/>
        </p:nvCxnSpPr>
        <p:spPr>
          <a:xfrm flipH="1">
            <a:off x="3006565" y="1998522"/>
            <a:ext cx="1357299" cy="379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50EF24FC-5856-53A0-0A0A-4A6261B97AF4}"/>
              </a:ext>
            </a:extLst>
          </p:cNvPr>
          <p:cNvSpPr/>
          <p:nvPr/>
        </p:nvSpPr>
        <p:spPr>
          <a:xfrm>
            <a:off x="5657924" y="2399411"/>
            <a:ext cx="680042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FD47E4AC-11DE-8A74-D3D3-28FC9E934B45}"/>
              </a:ext>
            </a:extLst>
          </p:cNvPr>
          <p:cNvSpPr/>
          <p:nvPr/>
        </p:nvSpPr>
        <p:spPr>
          <a:xfrm>
            <a:off x="2661160" y="2377586"/>
            <a:ext cx="69081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4EF6B05-EDCD-18F4-4B5C-683BE071178E}"/>
              </a:ext>
            </a:extLst>
          </p:cNvPr>
          <p:cNvCxnSpPr>
            <a:cxnSpLocks/>
            <a:stCxn id="79" idx="4"/>
            <a:endCxn id="144" idx="0"/>
          </p:cNvCxnSpPr>
          <p:nvPr/>
        </p:nvCxnSpPr>
        <p:spPr>
          <a:xfrm>
            <a:off x="4363864" y="2003572"/>
            <a:ext cx="1634081" cy="395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C419232A-9497-AB2A-5B0D-680C97C0D4F9}"/>
              </a:ext>
            </a:extLst>
          </p:cNvPr>
          <p:cNvSpPr/>
          <p:nvPr/>
        </p:nvSpPr>
        <p:spPr>
          <a:xfrm>
            <a:off x="3994427" y="2400490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rel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1EFFF3-FC24-7C24-8727-92C119947D7C}"/>
              </a:ext>
            </a:extLst>
          </p:cNvPr>
          <p:cNvCxnSpPr>
            <a:cxnSpLocks/>
            <a:stCxn id="79" idx="4"/>
            <a:endCxn id="147" idx="0"/>
          </p:cNvCxnSpPr>
          <p:nvPr/>
        </p:nvCxnSpPr>
        <p:spPr>
          <a:xfrm>
            <a:off x="4363864" y="2003572"/>
            <a:ext cx="27058" cy="396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1D581733-65E5-CE10-076D-880F8F9147BD}"/>
              </a:ext>
            </a:extLst>
          </p:cNvPr>
          <p:cNvSpPr/>
          <p:nvPr/>
        </p:nvSpPr>
        <p:spPr>
          <a:xfrm>
            <a:off x="2667540" y="2778251"/>
            <a:ext cx="595254" cy="512484"/>
          </a:xfrm>
          <a:prstGeom prst="triangle">
            <a:avLst>
              <a:gd name="adj" fmla="val 52518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0" name="Isosceles Triangle 209">
            <a:extLst>
              <a:ext uri="{FF2B5EF4-FFF2-40B4-BE49-F238E27FC236}">
                <a16:creationId xmlns:a16="http://schemas.microsoft.com/office/drawing/2014/main" id="{6331345D-0253-1E38-2AA8-0DD83AE60CB7}"/>
              </a:ext>
            </a:extLst>
          </p:cNvPr>
          <p:cNvSpPr/>
          <p:nvPr/>
        </p:nvSpPr>
        <p:spPr>
          <a:xfrm>
            <a:off x="5689571" y="2768174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389AEB8B-BB6C-0D46-50E8-F06EB22E20CB}"/>
              </a:ext>
            </a:extLst>
          </p:cNvPr>
          <p:cNvSpPr/>
          <p:nvPr/>
        </p:nvSpPr>
        <p:spPr>
          <a:xfrm>
            <a:off x="6336644" y="383497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8" name="Isosceles Triangle 217">
            <a:extLst>
              <a:ext uri="{FF2B5EF4-FFF2-40B4-BE49-F238E27FC236}">
                <a16:creationId xmlns:a16="http://schemas.microsoft.com/office/drawing/2014/main" id="{37FB1234-1977-7883-5CBB-BD4B3D75D6CD}"/>
              </a:ext>
            </a:extLst>
          </p:cNvPr>
          <p:cNvSpPr/>
          <p:nvPr/>
        </p:nvSpPr>
        <p:spPr>
          <a:xfrm>
            <a:off x="8888434" y="3849142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9" name="Isosceles Triangle 218">
            <a:extLst>
              <a:ext uri="{FF2B5EF4-FFF2-40B4-BE49-F238E27FC236}">
                <a16:creationId xmlns:a16="http://schemas.microsoft.com/office/drawing/2014/main" id="{7C4C3382-302A-1BC5-D5EB-6DE61020A7D5}"/>
              </a:ext>
            </a:extLst>
          </p:cNvPr>
          <p:cNvSpPr/>
          <p:nvPr/>
        </p:nvSpPr>
        <p:spPr>
          <a:xfrm>
            <a:off x="9981758" y="383869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20" name="Isosceles Triangle 219">
            <a:extLst>
              <a:ext uri="{FF2B5EF4-FFF2-40B4-BE49-F238E27FC236}">
                <a16:creationId xmlns:a16="http://schemas.microsoft.com/office/drawing/2014/main" id="{9C0C14B4-DDB8-558C-131A-E12BAC5923E9}"/>
              </a:ext>
            </a:extLst>
          </p:cNvPr>
          <p:cNvSpPr/>
          <p:nvPr/>
        </p:nvSpPr>
        <p:spPr>
          <a:xfrm>
            <a:off x="11435796" y="385246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EF819DD-14C7-FB25-EE67-A60CF5457E53}"/>
              </a:ext>
            </a:extLst>
          </p:cNvPr>
          <p:cNvGrpSpPr/>
          <p:nvPr/>
        </p:nvGrpSpPr>
        <p:grpSpPr>
          <a:xfrm>
            <a:off x="74290" y="0"/>
            <a:ext cx="5277052" cy="656378"/>
            <a:chOff x="27818" y="5318"/>
            <a:chExt cx="5593627" cy="65637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9C503F9-65F2-6CFD-E0BB-4F6BF63CDF62}"/>
                </a:ext>
              </a:extLst>
            </p:cNvPr>
            <p:cNvSpPr txBox="1"/>
            <p:nvPr/>
          </p:nvSpPr>
          <p:spPr>
            <a:xfrm>
              <a:off x="69990" y="323142"/>
              <a:ext cx="5551455" cy="338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92FB5193-100A-E5E9-AAA6-CD206E015198}"/>
                </a:ext>
              </a:extLst>
            </p:cNvPr>
            <p:cNvSpPr txBox="1"/>
            <p:nvPr/>
          </p:nvSpPr>
          <p:spPr>
            <a:xfrm>
              <a:off x="27818" y="5318"/>
              <a:ext cx="523304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bg1">
                      <a:lumMod val="65000"/>
                    </a:schemeClr>
                  </a:solidFill>
                </a:rPr>
                <a:t>Translation of a boolean expression using backpatching</a:t>
              </a:r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60EB02BD-BB2A-3923-8431-243A8BF258CA}"/>
              </a:ext>
            </a:extLst>
          </p:cNvPr>
          <p:cNvSpPr txBox="1"/>
          <p:nvPr/>
        </p:nvSpPr>
        <p:spPr>
          <a:xfrm>
            <a:off x="4844256" y="1360720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C55D7FE9-A4AE-592D-106C-E0C7117DE663}"/>
              </a:ext>
            </a:extLst>
          </p:cNvPr>
          <p:cNvSpPr txBox="1"/>
          <p:nvPr/>
        </p:nvSpPr>
        <p:spPr>
          <a:xfrm>
            <a:off x="7686251" y="1955624"/>
            <a:ext cx="17295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endParaRPr lang="en-US" sz="1400" dirty="0">
              <a:latin typeface="+mj-lt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7C6B4FFB-75ED-48CC-875E-A74EC04E34EC}"/>
              </a:ext>
            </a:extLst>
          </p:cNvPr>
          <p:cNvSpPr txBox="1"/>
          <p:nvPr/>
        </p:nvSpPr>
        <p:spPr>
          <a:xfrm>
            <a:off x="6972722" y="1378945"/>
            <a:ext cx="159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200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</a:t>
            </a:r>
            <a:endParaRPr lang="en-US" sz="1400" dirty="0">
              <a:latin typeface="+mj-lt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CABCECB-8ADF-1DA4-DCD3-FCB078229EE1}"/>
              </a:ext>
            </a:extLst>
          </p:cNvPr>
          <p:cNvSpPr txBox="1"/>
          <p:nvPr/>
        </p:nvSpPr>
        <p:spPr>
          <a:xfrm>
            <a:off x="3283971" y="190500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A9A0FC5-B15F-3CE4-246A-03007F9CF1A3}"/>
              </a:ext>
            </a:extLst>
          </p:cNvPr>
          <p:cNvSpPr txBox="1"/>
          <p:nvPr/>
        </p:nvSpPr>
        <p:spPr>
          <a:xfrm>
            <a:off x="5011170" y="1919469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AB3E6ED-5A42-BC46-AB38-9423B0B0D99B}"/>
              </a:ext>
            </a:extLst>
          </p:cNvPr>
          <p:cNvSpPr txBox="1"/>
          <p:nvPr/>
        </p:nvSpPr>
        <p:spPr>
          <a:xfrm>
            <a:off x="4082255" y="2050099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endParaRPr lang="en-US" sz="1400" b="1" dirty="0">
              <a:latin typeface="+mj-lt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F4B7163-488D-C97C-96B8-81964DCBD770}"/>
              </a:ext>
            </a:extLst>
          </p:cNvPr>
          <p:cNvSpPr txBox="1"/>
          <p:nvPr/>
        </p:nvSpPr>
        <p:spPr>
          <a:xfrm>
            <a:off x="6857279" y="2913746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DE72A358-E80C-C478-8EEB-F4BA39B06F8B}"/>
              </a:ext>
            </a:extLst>
          </p:cNvPr>
          <p:cNvSpPr txBox="1"/>
          <p:nvPr/>
        </p:nvSpPr>
        <p:spPr>
          <a:xfrm>
            <a:off x="8316664" y="2913746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00</a:t>
            </a:r>
            <a:endParaRPr lang="en-US" sz="1400" dirty="0">
              <a:latin typeface="+mj-lt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5D738BE-466C-B969-CD4F-D19B716154F4}"/>
              </a:ext>
            </a:extLst>
          </p:cNvPr>
          <p:cNvSpPr txBox="1"/>
          <p:nvPr/>
        </p:nvSpPr>
        <p:spPr>
          <a:xfrm>
            <a:off x="7468712" y="3031403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&gt;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194E17-68E4-F9F2-A7FF-9F44F47D52AC}"/>
              </a:ext>
            </a:extLst>
          </p:cNvPr>
          <p:cNvSpPr txBox="1"/>
          <p:nvPr/>
        </p:nvSpPr>
        <p:spPr>
          <a:xfrm>
            <a:off x="10347432" y="2861772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A500037-DC1F-10D0-5DC2-DD17A63B9027}"/>
              </a:ext>
            </a:extLst>
          </p:cNvPr>
          <p:cNvSpPr txBox="1"/>
          <p:nvPr/>
        </p:nvSpPr>
        <p:spPr>
          <a:xfrm>
            <a:off x="11315068" y="2854475"/>
            <a:ext cx="45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919CF9F-4CA7-B68E-0474-E779409F5120}"/>
              </a:ext>
            </a:extLst>
          </p:cNvPr>
          <p:cNvSpPr txBox="1"/>
          <p:nvPr/>
        </p:nvSpPr>
        <p:spPr>
          <a:xfrm>
            <a:off x="10712723" y="3079445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endParaRPr lang="en-US" sz="1400" dirty="0">
              <a:latin typeface="+mj-lt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9E4DA9DE-72B6-EE6F-8408-3FF42E32C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193651"/>
              </p:ext>
            </p:extLst>
          </p:nvPr>
        </p:nvGraphicFramePr>
        <p:xfrm>
          <a:off x="122175" y="801726"/>
          <a:ext cx="1601578" cy="17951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01578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</a:tblGrid>
              <a:tr h="4487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&amp;&amp;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8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48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/>
                        <a:t>B 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800" i="1" baseline="-25000" dirty="0">
                          <a:sym typeface="Wingdings" panose="05000000000000000000" pitchFamily="2" charset="2"/>
                        </a:rPr>
                        <a:t>2 </a:t>
                      </a:r>
                      <a:endParaRPr lang="en-US" sz="18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4CFCC47-F523-63C8-A0B1-EA0748215A82}"/>
              </a:ext>
            </a:extLst>
          </p:cNvPr>
          <p:cNvSpPr txBox="1"/>
          <p:nvPr/>
        </p:nvSpPr>
        <p:spPr>
          <a:xfrm>
            <a:off x="9805704" y="1864514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y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418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2" grpId="0"/>
      <p:bldP spid="79" grpId="0"/>
      <p:bldP spid="80" grpId="0"/>
      <p:bldP spid="82" grpId="0"/>
      <p:bldP spid="94" grpId="0"/>
      <p:bldP spid="95" grpId="0"/>
      <p:bldP spid="97" grpId="0"/>
      <p:bldP spid="111" grpId="0"/>
      <p:bldP spid="112" grpId="0"/>
      <p:bldP spid="114" grpId="0"/>
      <p:bldP spid="119" grpId="0"/>
      <p:bldP spid="120" grpId="0"/>
      <p:bldP spid="123" grpId="0"/>
      <p:bldP spid="144" grpId="0"/>
      <p:bldP spid="145" grpId="0"/>
      <p:bldP spid="147" grpId="0"/>
      <p:bldP spid="209" grpId="0" animBg="1"/>
      <p:bldP spid="210" grpId="0" animBg="1"/>
      <p:bldP spid="217" grpId="0" animBg="1"/>
      <p:bldP spid="218" grpId="0" animBg="1"/>
      <p:bldP spid="219" grpId="0" animBg="1"/>
      <p:bldP spid="220" grpId="0" animBg="1"/>
      <p:bldP spid="269" grpId="0"/>
      <p:bldP spid="271" grpId="0"/>
      <p:bldP spid="286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able 6">
            <a:extLst>
              <a:ext uri="{FF2B5EF4-FFF2-40B4-BE49-F238E27FC236}">
                <a16:creationId xmlns:a16="http://schemas.microsoft.com/office/drawing/2014/main" id="{668D49CA-C432-CACD-15AF-116F882A5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36041"/>
              </p:ext>
            </p:extLst>
          </p:nvPr>
        </p:nvGraphicFramePr>
        <p:xfrm>
          <a:off x="47581" y="3784705"/>
          <a:ext cx="2479719" cy="2275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6680">
                  <a:extLst>
                    <a:ext uri="{9D8B030D-6E8A-4147-A177-3AD203B41FA5}">
                      <a16:colId xmlns:a16="http://schemas.microsoft.com/office/drawing/2014/main" val="37608615"/>
                    </a:ext>
                  </a:extLst>
                </a:gridCol>
                <a:gridCol w="1713039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</a:tblGrid>
              <a:tr h="2773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Instr.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2267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&lt;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100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&gt;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00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23042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37556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!=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y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010727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429418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8322A8A8-D252-5AA7-18BB-0434670916AF}"/>
              </a:ext>
            </a:extLst>
          </p:cNvPr>
          <p:cNvSpPr txBox="1"/>
          <p:nvPr/>
        </p:nvSpPr>
        <p:spPr>
          <a:xfrm>
            <a:off x="4993864" y="2835169"/>
            <a:ext cx="2845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+1)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04BD65-1D1C-4CDA-30B0-77FBAEC6B794}"/>
              </a:ext>
            </a:extLst>
          </p:cNvPr>
          <p:cNvSpPr txBox="1"/>
          <p:nvPr/>
        </p:nvSpPr>
        <p:spPr>
          <a:xfrm>
            <a:off x="8807394" y="3443005"/>
            <a:ext cx="2630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+1)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3274D2-8268-485E-3E09-036DD4126D77}"/>
              </a:ext>
            </a:extLst>
          </p:cNvPr>
          <p:cNvSpPr txBox="1"/>
          <p:nvPr/>
        </p:nvSpPr>
        <p:spPr>
          <a:xfrm>
            <a:off x="8802299" y="3858318"/>
            <a:ext cx="18153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B4.Code: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if E5.addr </a:t>
            </a:r>
            <a:r>
              <a:rPr lang="en-US" sz="1400" b="1" i="1" dirty="0" err="1"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E6.addr  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       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7D54B0-EAD3-70DC-7040-764D77EFFEF5}"/>
              </a:ext>
            </a:extLst>
          </p:cNvPr>
          <p:cNvSpPr txBox="1"/>
          <p:nvPr/>
        </p:nvSpPr>
        <p:spPr>
          <a:xfrm>
            <a:off x="4993864" y="3273054"/>
            <a:ext cx="18153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B3.Code: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if E3.addr </a:t>
            </a:r>
            <a:r>
              <a:rPr lang="en-US" sz="1400" b="1" i="1" dirty="0" err="1"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E4.addr  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       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EF819DD-14C7-FB25-EE67-A60CF5457E53}"/>
              </a:ext>
            </a:extLst>
          </p:cNvPr>
          <p:cNvGrpSpPr/>
          <p:nvPr/>
        </p:nvGrpSpPr>
        <p:grpSpPr>
          <a:xfrm>
            <a:off x="39810" y="0"/>
            <a:ext cx="4778032" cy="656378"/>
            <a:chOff x="-19962" y="5318"/>
            <a:chExt cx="5243265" cy="65637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9C503F9-65F2-6CFD-E0BB-4F6BF63CDF62}"/>
                </a:ext>
              </a:extLst>
            </p:cNvPr>
            <p:cNvSpPr txBox="1"/>
            <p:nvPr/>
          </p:nvSpPr>
          <p:spPr>
            <a:xfrm>
              <a:off x="69990" y="323142"/>
              <a:ext cx="4117753" cy="338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92FB5193-100A-E5E9-AAA6-CD206E015198}"/>
                </a:ext>
              </a:extLst>
            </p:cNvPr>
            <p:cNvSpPr txBox="1"/>
            <p:nvPr/>
          </p:nvSpPr>
          <p:spPr>
            <a:xfrm>
              <a:off x="-19962" y="5318"/>
              <a:ext cx="524326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bg1">
                      <a:lumMod val="65000"/>
                    </a:schemeClr>
                  </a:solidFill>
                </a:rPr>
                <a:t>Translation of a boolean expression using backpatching</a:t>
              </a:r>
            </a:p>
          </p:txBody>
        </p:sp>
      </p:grp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9E4DA9DE-72B6-EE6F-8408-3FF42E32C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72093"/>
              </p:ext>
            </p:extLst>
          </p:nvPr>
        </p:nvGraphicFramePr>
        <p:xfrm>
          <a:off x="121009" y="803768"/>
          <a:ext cx="1755969" cy="2031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55969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</a:tblGrid>
              <a:tr h="4062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/>
                        <a:t>B 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i="0" dirty="0">
                          <a:sym typeface="Wingdings" panose="05000000000000000000" pitchFamily="2" charset="2"/>
                        </a:rPr>
                        <a:t>&amp;&amp;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6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/>
                        <a:t>B 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 B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i="0" dirty="0">
                          <a:sym typeface="Wingdings" panose="05000000000000000000" pitchFamily="2" charset="2"/>
                        </a:rPr>
                        <a:t>||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B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2</a:t>
                      </a:r>
                      <a:endParaRPr lang="en-US" sz="16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/>
                        <a:t>B 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 E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i="0" dirty="0" err="1">
                          <a:sym typeface="Wingdings" panose="05000000000000000000" pitchFamily="2" charset="2"/>
                        </a:rPr>
                        <a:t>rel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 E</a:t>
                      </a:r>
                      <a:r>
                        <a:rPr lang="en-US" sz="1600" i="1" baseline="-25000" dirty="0">
                          <a:sym typeface="Wingdings" panose="05000000000000000000" pitchFamily="2" charset="2"/>
                        </a:rPr>
                        <a:t>2 </a:t>
                      </a:r>
                      <a:endParaRPr lang="en-US" sz="16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 Ɛ</a:t>
                      </a:r>
                      <a:endParaRPr lang="en-US" sz="16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51794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23D8D01-1AA9-B0F7-F4FC-C2F1071A8CAD}"/>
              </a:ext>
            </a:extLst>
          </p:cNvPr>
          <p:cNvSpPr/>
          <p:nvPr/>
        </p:nvSpPr>
        <p:spPr>
          <a:xfrm>
            <a:off x="6455631" y="34188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9E2DA6-42D8-8A8B-8F55-3CFA7D014C36}"/>
              </a:ext>
            </a:extLst>
          </p:cNvPr>
          <p:cNvCxnSpPr>
            <a:cxnSpLocks/>
            <a:stCxn id="3" idx="4"/>
            <a:endCxn id="6" idx="0"/>
          </p:cNvCxnSpPr>
          <p:nvPr/>
        </p:nvCxnSpPr>
        <p:spPr>
          <a:xfrm flipH="1">
            <a:off x="4557277" y="750391"/>
            <a:ext cx="2190602" cy="901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21FFB8E-34F2-5A49-1F62-CD4A07A6C831}"/>
              </a:ext>
            </a:extLst>
          </p:cNvPr>
          <p:cNvSpPr/>
          <p:nvPr/>
        </p:nvSpPr>
        <p:spPr>
          <a:xfrm>
            <a:off x="8586209" y="1646833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A54165-DE01-41E3-3EC4-B6E7CCC5C328}"/>
              </a:ext>
            </a:extLst>
          </p:cNvPr>
          <p:cNvSpPr/>
          <p:nvPr/>
        </p:nvSpPr>
        <p:spPr>
          <a:xfrm>
            <a:off x="4265029" y="1651556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49E551-E285-D6A9-EF8D-1F3CDFFC0D02}"/>
              </a:ext>
            </a:extLst>
          </p:cNvPr>
          <p:cNvSpPr/>
          <p:nvPr/>
        </p:nvSpPr>
        <p:spPr>
          <a:xfrm>
            <a:off x="7732168" y="1647934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000482-A6FA-590A-0430-21EC0791A6F4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6747879" y="750391"/>
            <a:ext cx="2130578" cy="897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C5FF5AA-6EEC-5F15-4D51-77B2E67C76E1}"/>
              </a:ext>
            </a:extLst>
          </p:cNvPr>
          <p:cNvSpPr/>
          <p:nvPr/>
        </p:nvSpPr>
        <p:spPr>
          <a:xfrm>
            <a:off x="5534301" y="1249130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||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8B49D4-2F3A-1E7E-6E2F-F3E879B935F3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5930796" y="750391"/>
            <a:ext cx="817083" cy="498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59B4FE-45D4-CDF6-6AAE-CDC75C7D99B8}"/>
              </a:ext>
            </a:extLst>
          </p:cNvPr>
          <p:cNvCxnSpPr>
            <a:cxnSpLocks/>
            <a:stCxn id="5" idx="4"/>
            <a:endCxn id="13" idx="0"/>
          </p:cNvCxnSpPr>
          <p:nvPr/>
        </p:nvCxnSpPr>
        <p:spPr>
          <a:xfrm flipH="1">
            <a:off x="7340045" y="2055340"/>
            <a:ext cx="1538412" cy="1353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106E8BE-C3B9-569E-19D7-5F6E9260E5D8}"/>
              </a:ext>
            </a:extLst>
          </p:cNvPr>
          <p:cNvSpPr/>
          <p:nvPr/>
        </p:nvSpPr>
        <p:spPr>
          <a:xfrm>
            <a:off x="11124130" y="3273552"/>
            <a:ext cx="769654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D34B91-B572-0381-ACD8-B98CD89F027C}"/>
              </a:ext>
            </a:extLst>
          </p:cNvPr>
          <p:cNvSpPr/>
          <p:nvPr/>
        </p:nvSpPr>
        <p:spPr>
          <a:xfrm>
            <a:off x="6963105" y="3408758"/>
            <a:ext cx="753879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340AB9-68C4-8435-0B70-66F1824B4990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>
            <a:off x="8878457" y="2055340"/>
            <a:ext cx="2630500" cy="1218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727408F-F36F-3773-CBDD-189A1DF39BE9}"/>
              </a:ext>
            </a:extLst>
          </p:cNvPr>
          <p:cNvSpPr/>
          <p:nvPr/>
        </p:nvSpPr>
        <p:spPr>
          <a:xfrm>
            <a:off x="8319187" y="2682362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&amp;&amp;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145599-31DB-2DC5-8A64-5D0D644871E5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 flipH="1">
            <a:off x="8715682" y="2055340"/>
            <a:ext cx="162775" cy="627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25F6CB-1633-36FB-E389-074716603128}"/>
              </a:ext>
            </a:extLst>
          </p:cNvPr>
          <p:cNvCxnSpPr>
            <a:cxnSpLocks/>
            <a:stCxn id="13" idx="4"/>
            <a:endCxn id="19" idx="0"/>
          </p:cNvCxnSpPr>
          <p:nvPr/>
        </p:nvCxnSpPr>
        <p:spPr>
          <a:xfrm flipH="1">
            <a:off x="6047287" y="3817265"/>
            <a:ext cx="1292758" cy="997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2617022-00CC-851E-4948-8FD5336EDC6A}"/>
              </a:ext>
            </a:extLst>
          </p:cNvPr>
          <p:cNvSpPr/>
          <p:nvPr/>
        </p:nvSpPr>
        <p:spPr>
          <a:xfrm>
            <a:off x="8218184" y="4836318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8F5FDC-CBA0-9AC5-D34A-A6E775F90537}"/>
              </a:ext>
            </a:extLst>
          </p:cNvPr>
          <p:cNvSpPr/>
          <p:nvPr/>
        </p:nvSpPr>
        <p:spPr>
          <a:xfrm>
            <a:off x="5693268" y="4814544"/>
            <a:ext cx="70803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17A9B9-15F4-AD7B-0DF1-23EE220AFDCD}"/>
              </a:ext>
            </a:extLst>
          </p:cNvPr>
          <p:cNvCxnSpPr>
            <a:cxnSpLocks/>
            <a:stCxn id="13" idx="4"/>
            <a:endCxn id="18" idx="0"/>
          </p:cNvCxnSpPr>
          <p:nvPr/>
        </p:nvCxnSpPr>
        <p:spPr>
          <a:xfrm>
            <a:off x="7340045" y="3817265"/>
            <a:ext cx="1224328" cy="1019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8A30278-F28A-9FCD-B423-4FEE44D9D1DA}"/>
              </a:ext>
            </a:extLst>
          </p:cNvPr>
          <p:cNvSpPr/>
          <p:nvPr/>
        </p:nvSpPr>
        <p:spPr>
          <a:xfrm>
            <a:off x="6878868" y="4693064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16EED9-717F-5ECF-08A5-3AF5C492AC6F}"/>
              </a:ext>
            </a:extLst>
          </p:cNvPr>
          <p:cNvCxnSpPr>
            <a:cxnSpLocks/>
            <a:stCxn id="13" idx="4"/>
            <a:endCxn id="21" idx="0"/>
          </p:cNvCxnSpPr>
          <p:nvPr/>
        </p:nvCxnSpPr>
        <p:spPr>
          <a:xfrm flipH="1">
            <a:off x="7275363" y="3817265"/>
            <a:ext cx="64682" cy="875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3C0703-D29A-6D16-72F4-683A505BA2EE}"/>
              </a:ext>
            </a:extLst>
          </p:cNvPr>
          <p:cNvCxnSpPr>
            <a:cxnSpLocks/>
            <a:stCxn id="12" idx="4"/>
            <a:endCxn id="25" idx="0"/>
          </p:cNvCxnSpPr>
          <p:nvPr/>
        </p:nvCxnSpPr>
        <p:spPr>
          <a:xfrm flipH="1">
            <a:off x="10337471" y="3682059"/>
            <a:ext cx="1171486" cy="1093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77FAB6F-0C8E-FF8B-5A02-F022E5571FB8}"/>
              </a:ext>
            </a:extLst>
          </p:cNvPr>
          <p:cNvSpPr/>
          <p:nvPr/>
        </p:nvSpPr>
        <p:spPr>
          <a:xfrm>
            <a:off x="11372532" y="4759701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1E2D7F-AAE8-3FD3-0F45-5D3A95E59B15}"/>
              </a:ext>
            </a:extLst>
          </p:cNvPr>
          <p:cNvSpPr/>
          <p:nvPr/>
        </p:nvSpPr>
        <p:spPr>
          <a:xfrm>
            <a:off x="9991282" y="4775923"/>
            <a:ext cx="692377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549142-C043-7E49-0D7B-4CF7A9819957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>
            <a:off x="11508957" y="3682059"/>
            <a:ext cx="209764" cy="1077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0FB6826-2E88-6AD9-EF88-D19C673563F2}"/>
              </a:ext>
            </a:extLst>
          </p:cNvPr>
          <p:cNvSpPr/>
          <p:nvPr/>
        </p:nvSpPr>
        <p:spPr>
          <a:xfrm>
            <a:off x="10727029" y="4570256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F29AF0-5170-3498-845C-4AA5D85BD634}"/>
              </a:ext>
            </a:extLst>
          </p:cNvPr>
          <p:cNvCxnSpPr>
            <a:cxnSpLocks/>
            <a:stCxn id="12" idx="4"/>
            <a:endCxn id="28" idx="0"/>
          </p:cNvCxnSpPr>
          <p:nvPr/>
        </p:nvCxnSpPr>
        <p:spPr>
          <a:xfrm flipH="1">
            <a:off x="11123524" y="3682059"/>
            <a:ext cx="385433" cy="8881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F907F2-6C1E-7C7A-E8DF-F851D882B5C1}"/>
              </a:ext>
            </a:extLst>
          </p:cNvPr>
          <p:cNvCxnSpPr>
            <a:cxnSpLocks/>
            <a:stCxn id="6" idx="4"/>
            <a:endCxn id="32" idx="0"/>
          </p:cNvCxnSpPr>
          <p:nvPr/>
        </p:nvCxnSpPr>
        <p:spPr>
          <a:xfrm flipH="1">
            <a:off x="3006565" y="2060063"/>
            <a:ext cx="1550712" cy="979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BA6D3F6-0334-4ED8-9452-55B185583B53}"/>
              </a:ext>
            </a:extLst>
          </p:cNvPr>
          <p:cNvSpPr/>
          <p:nvPr/>
        </p:nvSpPr>
        <p:spPr>
          <a:xfrm>
            <a:off x="4387976" y="3169439"/>
            <a:ext cx="680042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AFD29D-B700-E35E-3D16-4F17B84CD79A}"/>
              </a:ext>
            </a:extLst>
          </p:cNvPr>
          <p:cNvSpPr/>
          <p:nvPr/>
        </p:nvSpPr>
        <p:spPr>
          <a:xfrm>
            <a:off x="2661160" y="3039377"/>
            <a:ext cx="69081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DD24B7-C25E-2B43-DF19-C098845BEAFE}"/>
              </a:ext>
            </a:extLst>
          </p:cNvPr>
          <p:cNvCxnSpPr>
            <a:cxnSpLocks/>
            <a:stCxn id="6" idx="4"/>
            <a:endCxn id="31" idx="0"/>
          </p:cNvCxnSpPr>
          <p:nvPr/>
        </p:nvCxnSpPr>
        <p:spPr>
          <a:xfrm>
            <a:off x="4557277" y="2060063"/>
            <a:ext cx="170720" cy="1109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B0B6A1C-D7E7-5FB1-AEBB-EB9112D80C5B}"/>
              </a:ext>
            </a:extLst>
          </p:cNvPr>
          <p:cNvSpPr/>
          <p:nvPr/>
        </p:nvSpPr>
        <p:spPr>
          <a:xfrm>
            <a:off x="3434959" y="2917906"/>
            <a:ext cx="792990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rel</a:t>
            </a:r>
            <a:endParaRPr lang="en-US" b="1" baseline="-25000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48E8C2-88D7-F13B-1610-F939BA185B5D}"/>
              </a:ext>
            </a:extLst>
          </p:cNvPr>
          <p:cNvCxnSpPr>
            <a:cxnSpLocks/>
            <a:stCxn id="6" idx="4"/>
            <a:endCxn id="34" idx="0"/>
          </p:cNvCxnSpPr>
          <p:nvPr/>
        </p:nvCxnSpPr>
        <p:spPr>
          <a:xfrm flipH="1">
            <a:off x="3831454" y="2060063"/>
            <a:ext cx="725823" cy="857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B9EF2A0-B570-F2B3-D7A9-8F366E2BCEFB}"/>
              </a:ext>
            </a:extLst>
          </p:cNvPr>
          <p:cNvSpPr/>
          <p:nvPr/>
        </p:nvSpPr>
        <p:spPr>
          <a:xfrm>
            <a:off x="2667540" y="3439991"/>
            <a:ext cx="595254" cy="512484"/>
          </a:xfrm>
          <a:prstGeom prst="triangle">
            <a:avLst>
              <a:gd name="adj" fmla="val 52518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BA66599-666D-9A38-6BA7-6F967E0FF1D5}"/>
              </a:ext>
            </a:extLst>
          </p:cNvPr>
          <p:cNvSpPr/>
          <p:nvPr/>
        </p:nvSpPr>
        <p:spPr>
          <a:xfrm>
            <a:off x="4419623" y="3543300"/>
            <a:ext cx="595254" cy="591860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109671F4-9DD5-0EEB-3218-38DAA05334B0}"/>
              </a:ext>
            </a:extLst>
          </p:cNvPr>
          <p:cNvSpPr/>
          <p:nvPr/>
        </p:nvSpPr>
        <p:spPr>
          <a:xfrm>
            <a:off x="5732037" y="5231933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193D2713-8CD4-1FCC-86B1-EAD1AE971723}"/>
              </a:ext>
            </a:extLst>
          </p:cNvPr>
          <p:cNvSpPr/>
          <p:nvPr/>
        </p:nvSpPr>
        <p:spPr>
          <a:xfrm>
            <a:off x="8281588" y="5244825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7B43E707-33B0-8B67-BF29-BC58721961B3}"/>
              </a:ext>
            </a:extLst>
          </p:cNvPr>
          <p:cNvSpPr/>
          <p:nvPr/>
        </p:nvSpPr>
        <p:spPr>
          <a:xfrm>
            <a:off x="9981758" y="5234376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D8E74E44-D28C-5049-6760-B86B9E5DCA50}"/>
              </a:ext>
            </a:extLst>
          </p:cNvPr>
          <p:cNvSpPr/>
          <p:nvPr/>
        </p:nvSpPr>
        <p:spPr>
          <a:xfrm>
            <a:off x="11435796" y="5248146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C0D291-0A73-B6DC-2B41-0C30D113CF57}"/>
              </a:ext>
            </a:extLst>
          </p:cNvPr>
          <p:cNvSpPr txBox="1"/>
          <p:nvPr/>
        </p:nvSpPr>
        <p:spPr>
          <a:xfrm>
            <a:off x="3142264" y="2532771"/>
            <a:ext cx="584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5DD9AE-FAA0-ED91-15EC-ED6A3DC4D23E}"/>
              </a:ext>
            </a:extLst>
          </p:cNvPr>
          <p:cNvSpPr txBox="1"/>
          <p:nvPr/>
        </p:nvSpPr>
        <p:spPr>
          <a:xfrm>
            <a:off x="4615068" y="2491695"/>
            <a:ext cx="618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100</a:t>
            </a:r>
            <a:endParaRPr lang="en-US" sz="1400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9315C-F586-EF58-A1B4-8644E165F0A9}"/>
              </a:ext>
            </a:extLst>
          </p:cNvPr>
          <p:cNvSpPr txBox="1"/>
          <p:nvPr/>
        </p:nvSpPr>
        <p:spPr>
          <a:xfrm>
            <a:off x="3697866" y="2459546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&lt;</a:t>
            </a:r>
            <a:endParaRPr lang="en-US" sz="1400" b="1" dirty="0"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6F782E-6FCD-52B4-AF27-F75685A0E96F}"/>
              </a:ext>
            </a:extLst>
          </p:cNvPr>
          <p:cNvSpPr txBox="1"/>
          <p:nvPr/>
        </p:nvSpPr>
        <p:spPr>
          <a:xfrm>
            <a:off x="6755148" y="4146069"/>
            <a:ext cx="537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1BC77E-42FD-4560-522F-8609BDB05DEA}"/>
              </a:ext>
            </a:extLst>
          </p:cNvPr>
          <p:cNvSpPr txBox="1"/>
          <p:nvPr/>
        </p:nvSpPr>
        <p:spPr>
          <a:xfrm>
            <a:off x="8033893" y="4175553"/>
            <a:ext cx="1345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2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00</a:t>
            </a:r>
            <a:endParaRPr lang="en-US" sz="1400" dirty="0"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8DCE03-1789-BC1B-6557-B580E06ABABF}"/>
              </a:ext>
            </a:extLst>
          </p:cNvPr>
          <p:cNvSpPr txBox="1"/>
          <p:nvPr/>
        </p:nvSpPr>
        <p:spPr>
          <a:xfrm>
            <a:off x="7323093" y="4174541"/>
            <a:ext cx="4396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+mj-lt"/>
              </a:rPr>
              <a:t>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8C4BFF-B045-950A-70EE-13D7387EC1AC}"/>
              </a:ext>
            </a:extLst>
          </p:cNvPr>
          <p:cNvSpPr txBox="1"/>
          <p:nvPr/>
        </p:nvSpPr>
        <p:spPr>
          <a:xfrm>
            <a:off x="10396088" y="4187324"/>
            <a:ext cx="4073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</a:t>
            </a:r>
            <a:endParaRPr lang="en-US" sz="1400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9F9F32-4C73-2F39-B5D5-B1D99CE22A2F}"/>
              </a:ext>
            </a:extLst>
          </p:cNvPr>
          <p:cNvSpPr txBox="1"/>
          <p:nvPr/>
        </p:nvSpPr>
        <p:spPr>
          <a:xfrm>
            <a:off x="11630474" y="4079780"/>
            <a:ext cx="456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</a:t>
            </a:r>
            <a:endParaRPr lang="en-US" sz="1400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002380-66E6-5D0C-E43C-7B4088CBDD3C}"/>
              </a:ext>
            </a:extLst>
          </p:cNvPr>
          <p:cNvSpPr txBox="1"/>
          <p:nvPr/>
        </p:nvSpPr>
        <p:spPr>
          <a:xfrm>
            <a:off x="10929291" y="4162297"/>
            <a:ext cx="815919" cy="30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!=</a:t>
            </a:r>
            <a:endParaRPr lang="en-US" sz="1400" dirty="0"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A7F54E-66A8-597A-C231-39BC7AC854E6}"/>
              </a:ext>
            </a:extLst>
          </p:cNvPr>
          <p:cNvSpPr txBox="1"/>
          <p:nvPr/>
        </p:nvSpPr>
        <p:spPr>
          <a:xfrm>
            <a:off x="1929983" y="2903654"/>
            <a:ext cx="107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EC8BEC-A4BD-D59C-F4C0-A9733761718D}"/>
              </a:ext>
            </a:extLst>
          </p:cNvPr>
          <p:cNvSpPr txBox="1"/>
          <p:nvPr/>
        </p:nvSpPr>
        <p:spPr>
          <a:xfrm>
            <a:off x="3229113" y="3351744"/>
            <a:ext cx="153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t1=100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E2.Addr: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A1A470-0080-9D60-E108-975CA2F64B7F}"/>
              </a:ext>
            </a:extLst>
          </p:cNvPr>
          <p:cNvSpPr txBox="1"/>
          <p:nvPr/>
        </p:nvSpPr>
        <p:spPr>
          <a:xfrm>
            <a:off x="1974338" y="1661584"/>
            <a:ext cx="18153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B1.Code:</a:t>
            </a:r>
          </a:p>
          <a:p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if E1.addr </a:t>
            </a:r>
            <a:r>
              <a:rPr lang="en-US" sz="1400" b="1" i="1" dirty="0" err="1">
                <a:sym typeface="Wingdings" panose="05000000000000000000" pitchFamily="2" charset="2"/>
              </a:rPr>
              <a:t>rel</a:t>
            </a:r>
            <a:r>
              <a:rPr lang="en-US" sz="1400" b="1" i="1" dirty="0">
                <a:sym typeface="Wingdings" panose="05000000000000000000" pitchFamily="2" charset="2"/>
              </a:rPr>
              <a:t> </a:t>
            </a:r>
            <a:r>
              <a:rPr lang="en-US" sz="1400" i="1" dirty="0">
                <a:sym typeface="Wingdings" panose="05000000000000000000" pitchFamily="2" charset="2"/>
              </a:rPr>
              <a:t>E2.addr  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       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go to </a:t>
            </a:r>
            <a:r>
              <a:rPr lang="en-US" sz="1400" i="1" u="sng" dirty="0">
                <a:sym typeface="Wingdings" panose="05000000000000000000" pitchFamily="2" charset="2"/>
              </a:rPr>
              <a:t>__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576C68-BA4D-9310-1B47-338DD752F42E}"/>
              </a:ext>
            </a:extLst>
          </p:cNvPr>
          <p:cNvSpPr txBox="1"/>
          <p:nvPr/>
        </p:nvSpPr>
        <p:spPr>
          <a:xfrm>
            <a:off x="2009054" y="1223801"/>
            <a:ext cx="2845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rgbClr val="00B050"/>
                </a:solidFill>
                <a:sym typeface="Wingdings" panose="05000000000000000000" pitchFamily="2" charset="2"/>
              </a:rPr>
              <a:t>makelist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r>
              <a:rPr lang="en-US" sz="1400" i="1" dirty="0">
                <a:sym typeface="Wingdings" panose="05000000000000000000" pitchFamily="2" charset="2"/>
              </a:rPr>
              <a:t>+1)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904C66-80B4-BBCC-7581-0FCAC0D88216}"/>
              </a:ext>
            </a:extLst>
          </p:cNvPr>
          <p:cNvSpPr txBox="1"/>
          <p:nvPr/>
        </p:nvSpPr>
        <p:spPr>
          <a:xfrm>
            <a:off x="4916575" y="4812678"/>
            <a:ext cx="107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E3.code: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E3.Addr: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x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434C0B-4B43-00E7-5344-772B8B45F565}"/>
              </a:ext>
            </a:extLst>
          </p:cNvPr>
          <p:cNvSpPr txBox="1"/>
          <p:nvPr/>
        </p:nvSpPr>
        <p:spPr>
          <a:xfrm>
            <a:off x="7114346" y="5169616"/>
            <a:ext cx="1530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E4.code: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t2=200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E4.Addr: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t2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BD97FC-949F-99CB-0D99-794F8F55CBBF}"/>
              </a:ext>
            </a:extLst>
          </p:cNvPr>
          <p:cNvSpPr txBox="1"/>
          <p:nvPr/>
        </p:nvSpPr>
        <p:spPr>
          <a:xfrm>
            <a:off x="9289306" y="4969092"/>
            <a:ext cx="107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E1.Addr: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1AAB4F-3AAE-8B7A-F889-0DE09D034E17}"/>
              </a:ext>
            </a:extLst>
          </p:cNvPr>
          <p:cNvSpPr txBox="1"/>
          <p:nvPr/>
        </p:nvSpPr>
        <p:spPr>
          <a:xfrm>
            <a:off x="10680566" y="5084324"/>
            <a:ext cx="107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E6.code: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‘’</a:t>
            </a:r>
            <a:endParaRPr lang="en-US" sz="1400" i="1" dirty="0">
              <a:solidFill>
                <a:srgbClr val="0070C0"/>
              </a:solidFill>
            </a:endParaRPr>
          </a:p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E6.Addr: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7DFD60-8148-6BA7-1C38-9FDE5F069393}"/>
              </a:ext>
            </a:extLst>
          </p:cNvPr>
          <p:cNvSpPr txBox="1"/>
          <p:nvPr/>
        </p:nvSpPr>
        <p:spPr>
          <a:xfrm>
            <a:off x="8955112" y="1247231"/>
            <a:ext cx="3295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 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endParaRPr lang="en-US" sz="1400" i="1" dirty="0">
              <a:sym typeface="Wingdings" panose="05000000000000000000" pitchFamily="2" charset="2"/>
            </a:endParaRPr>
          </a:p>
          <a:p>
            <a:r>
              <a:rPr lang="en-US" sz="1400" i="1" dirty="0">
                <a:sym typeface="Wingdings" panose="05000000000000000000" pitchFamily="2" charset="2"/>
              </a:rPr>
              <a:t>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merge</a:t>
            </a:r>
            <a:r>
              <a:rPr lang="en-US" sz="1400" i="1" dirty="0">
                <a:sym typeface="Wingdings" panose="05000000000000000000" pitchFamily="2" charset="2"/>
              </a:rPr>
              <a:t>(B3.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falselist,</a:t>
            </a:r>
            <a:r>
              <a:rPr lang="en-US" sz="1400" i="1" dirty="0">
                <a:sym typeface="Wingdings" panose="05000000000000000000" pitchFamily="2" charset="2"/>
              </a:rPr>
              <a:t> 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F14807-38AA-19E2-A7AC-9102409D392A}"/>
              </a:ext>
            </a:extLst>
          </p:cNvPr>
          <p:cNvSpPr txBox="1"/>
          <p:nvPr/>
        </p:nvSpPr>
        <p:spPr>
          <a:xfrm>
            <a:off x="6265407" y="1072554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M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EA8353D-E178-EBB2-8B98-68285EC27CD6}"/>
              </a:ext>
            </a:extLst>
          </p:cNvPr>
          <p:cNvCxnSpPr>
            <a:cxnSpLocks/>
            <a:endCxn id="88" idx="0"/>
          </p:cNvCxnSpPr>
          <p:nvPr/>
        </p:nvCxnSpPr>
        <p:spPr>
          <a:xfrm flipH="1">
            <a:off x="6510471" y="749882"/>
            <a:ext cx="232498" cy="3226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E491B5A-1F83-70D2-1B36-39367339BCAE}"/>
              </a:ext>
            </a:extLst>
          </p:cNvPr>
          <p:cNvSpPr txBox="1"/>
          <p:nvPr/>
        </p:nvSpPr>
        <p:spPr>
          <a:xfrm>
            <a:off x="8904312" y="2476600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M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0412043-D229-8B8E-4EE7-672A56682744}"/>
              </a:ext>
            </a:extLst>
          </p:cNvPr>
          <p:cNvCxnSpPr>
            <a:cxnSpLocks/>
          </p:cNvCxnSpPr>
          <p:nvPr/>
        </p:nvCxnSpPr>
        <p:spPr>
          <a:xfrm>
            <a:off x="8870284" y="2056441"/>
            <a:ext cx="275809" cy="4201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D53DBD6F-9D71-923D-1F75-B4D6CCB1164E}"/>
              </a:ext>
            </a:extLst>
          </p:cNvPr>
          <p:cNvSpPr txBox="1"/>
          <p:nvPr/>
        </p:nvSpPr>
        <p:spPr>
          <a:xfrm>
            <a:off x="6265407" y="1566235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Ɛ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DF5A4AD-53DA-CDE9-F533-AFFC467E888B}"/>
              </a:ext>
            </a:extLst>
          </p:cNvPr>
          <p:cNvCxnSpPr>
            <a:cxnSpLocks/>
          </p:cNvCxnSpPr>
          <p:nvPr/>
        </p:nvCxnSpPr>
        <p:spPr>
          <a:xfrm>
            <a:off x="6510470" y="1411108"/>
            <a:ext cx="0" cy="15512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8B20E51-A28C-4C78-B144-7A3B8A44BB9E}"/>
              </a:ext>
            </a:extLst>
          </p:cNvPr>
          <p:cNvSpPr txBox="1"/>
          <p:nvPr/>
        </p:nvSpPr>
        <p:spPr>
          <a:xfrm>
            <a:off x="8925427" y="3017473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Ɛ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CF2EF3C-903C-257A-B4DA-1604C2AE46E7}"/>
              </a:ext>
            </a:extLst>
          </p:cNvPr>
          <p:cNvCxnSpPr>
            <a:cxnSpLocks/>
          </p:cNvCxnSpPr>
          <p:nvPr/>
        </p:nvCxnSpPr>
        <p:spPr>
          <a:xfrm>
            <a:off x="9149375" y="2815154"/>
            <a:ext cx="16225" cy="20231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1572DFF6-DE61-D012-A8EF-2FDAB55E4FED}"/>
              </a:ext>
            </a:extLst>
          </p:cNvPr>
          <p:cNvSpPr txBox="1"/>
          <p:nvPr/>
        </p:nvSpPr>
        <p:spPr>
          <a:xfrm>
            <a:off x="6898000" y="73292"/>
            <a:ext cx="3295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 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endParaRPr lang="en-US" sz="1400" i="1" dirty="0">
              <a:sym typeface="Wingdings" panose="05000000000000000000" pitchFamily="2" charset="2"/>
            </a:endParaRPr>
          </a:p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merge</a:t>
            </a:r>
            <a:r>
              <a:rPr lang="en-US" sz="1400" i="1" dirty="0">
                <a:sym typeface="Wingdings" panose="05000000000000000000" pitchFamily="2" charset="2"/>
              </a:rPr>
              <a:t>(B1.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truelist,</a:t>
            </a:r>
            <a:r>
              <a:rPr lang="en-US" sz="1400" i="1" dirty="0">
                <a:sym typeface="Wingdings" panose="05000000000000000000" pitchFamily="2" charset="2"/>
              </a:rPr>
              <a:t> 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1CCD823-BBDC-5628-B878-0746DC3B130C}"/>
              </a:ext>
            </a:extLst>
          </p:cNvPr>
          <p:cNvSpPr txBox="1"/>
          <p:nvPr/>
        </p:nvSpPr>
        <p:spPr>
          <a:xfrm>
            <a:off x="-5710" y="3382483"/>
            <a:ext cx="116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solidFill>
                  <a:srgbClr val="FF0000"/>
                </a:solidFill>
              </a:rPr>
              <a:t>nextinstr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=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C22FB2-E8A2-0875-D149-E978491D5331}"/>
              </a:ext>
            </a:extLst>
          </p:cNvPr>
          <p:cNvSpPr txBox="1"/>
          <p:nvPr/>
        </p:nvSpPr>
        <p:spPr>
          <a:xfrm>
            <a:off x="1037653" y="3345526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100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9015BA9-DB36-9FFA-39AC-83AFA283C170}"/>
              </a:ext>
            </a:extLst>
          </p:cNvPr>
          <p:cNvSpPr txBox="1"/>
          <p:nvPr/>
        </p:nvSpPr>
        <p:spPr>
          <a:xfrm>
            <a:off x="2441307" y="751939"/>
            <a:ext cx="1545964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{100}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{101}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B46D2F3-675F-1D3D-7D0E-52AA803BB11E}"/>
              </a:ext>
            </a:extLst>
          </p:cNvPr>
          <p:cNvSpPr txBox="1"/>
          <p:nvPr/>
        </p:nvSpPr>
        <p:spPr>
          <a:xfrm>
            <a:off x="5331242" y="2303980"/>
            <a:ext cx="1473612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{102}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86D0E85-972A-7750-A34D-32A209B784A2}"/>
              </a:ext>
            </a:extLst>
          </p:cNvPr>
          <p:cNvSpPr txBox="1"/>
          <p:nvPr/>
        </p:nvSpPr>
        <p:spPr>
          <a:xfrm>
            <a:off x="9326632" y="2986718"/>
            <a:ext cx="1463299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{104}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B4.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{105}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51B61CD-47E5-7BD1-3455-68EF2EF4CA53}"/>
              </a:ext>
            </a:extLst>
          </p:cNvPr>
          <p:cNvSpPr txBox="1"/>
          <p:nvPr/>
        </p:nvSpPr>
        <p:spPr>
          <a:xfrm>
            <a:off x="9128481" y="766511"/>
            <a:ext cx="1757354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{104}</a:t>
            </a:r>
          </a:p>
          <a:p>
            <a:r>
              <a:rPr lang="en-US" sz="1400" i="1" dirty="0">
                <a:sym typeface="Wingdings" panose="05000000000000000000" pitchFamily="2" charset="2"/>
              </a:rPr>
              <a:t>B2.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{103,105}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3F033EF-7FB4-47CA-268B-F7868F38E5EE}"/>
              </a:ext>
            </a:extLst>
          </p:cNvPr>
          <p:cNvSpPr txBox="1"/>
          <p:nvPr/>
        </p:nvSpPr>
        <p:spPr>
          <a:xfrm>
            <a:off x="6618738" y="1227639"/>
            <a:ext cx="1929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M.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instr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endParaRPr lang="en-US" sz="1400" i="1" dirty="0">
              <a:sym typeface="Wingdings" panose="05000000000000000000" pitchFamily="2" charset="2"/>
            </a:endParaRPr>
          </a:p>
          <a:p>
            <a:r>
              <a:rPr lang="en-US" sz="1400" i="1" dirty="0">
                <a:sym typeface="Wingdings" panose="05000000000000000000" pitchFamily="2" charset="2"/>
              </a:rPr>
              <a:t> </a:t>
            </a:r>
            <a:r>
              <a:rPr lang="en-US" sz="1400" dirty="0">
                <a:sym typeface="Wingdings" panose="05000000000000000000" pitchFamily="2" charset="2"/>
              </a:rPr>
              <a:t>102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0ED80F0-E5D8-783B-5FD4-91F9039C98C5}"/>
              </a:ext>
            </a:extLst>
          </p:cNvPr>
          <p:cNvSpPr txBox="1"/>
          <p:nvPr/>
        </p:nvSpPr>
        <p:spPr>
          <a:xfrm>
            <a:off x="4861384" y="65192"/>
            <a:ext cx="1757354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{100, 104}</a:t>
            </a:r>
          </a:p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{103,105}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4A1D251-708B-E847-4A1B-0D63042986DF}"/>
              </a:ext>
            </a:extLst>
          </p:cNvPr>
          <p:cNvSpPr txBox="1"/>
          <p:nvPr/>
        </p:nvSpPr>
        <p:spPr>
          <a:xfrm>
            <a:off x="1036263" y="3341730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102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98914A3-255C-EE85-1A56-B7A0C6626EF0}"/>
              </a:ext>
            </a:extLst>
          </p:cNvPr>
          <p:cNvSpPr txBox="1"/>
          <p:nvPr/>
        </p:nvSpPr>
        <p:spPr>
          <a:xfrm>
            <a:off x="1043184" y="3321530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104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3E5C775-E07C-BBB7-D37B-FC18C6C7B115}"/>
              </a:ext>
            </a:extLst>
          </p:cNvPr>
          <p:cNvSpPr/>
          <p:nvPr/>
        </p:nvSpPr>
        <p:spPr>
          <a:xfrm>
            <a:off x="102043" y="4111758"/>
            <a:ext cx="2234758" cy="584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C3D5768-E218-DBFC-75EE-E708E046A95A}"/>
              </a:ext>
            </a:extLst>
          </p:cNvPr>
          <p:cNvSpPr/>
          <p:nvPr/>
        </p:nvSpPr>
        <p:spPr>
          <a:xfrm>
            <a:off x="127443" y="4708658"/>
            <a:ext cx="2234758" cy="783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5038CF8-3322-BB8E-3458-337EE92BEA3F}"/>
              </a:ext>
            </a:extLst>
          </p:cNvPr>
          <p:cNvSpPr/>
          <p:nvPr/>
        </p:nvSpPr>
        <p:spPr>
          <a:xfrm>
            <a:off x="144303" y="5431226"/>
            <a:ext cx="2234758" cy="623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43E56F4-B1A4-13C1-E4A6-36639BC3F324}"/>
              </a:ext>
            </a:extLst>
          </p:cNvPr>
          <p:cNvSpPr txBox="1"/>
          <p:nvPr/>
        </p:nvSpPr>
        <p:spPr>
          <a:xfrm>
            <a:off x="9220514" y="2365012"/>
            <a:ext cx="1526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M.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instr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endParaRPr lang="en-US" sz="14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sz="1400" i="1" dirty="0">
                <a:sym typeface="Wingdings" panose="05000000000000000000" pitchFamily="2" charset="2"/>
              </a:rPr>
              <a:t> 104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4A9E8CD-CF98-973F-39AE-CD3188A6C73F}"/>
              </a:ext>
            </a:extLst>
          </p:cNvPr>
          <p:cNvSpPr txBox="1"/>
          <p:nvPr/>
        </p:nvSpPr>
        <p:spPr>
          <a:xfrm>
            <a:off x="8953770" y="1656407"/>
            <a:ext cx="3015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backpatch</a:t>
            </a:r>
            <a:r>
              <a:rPr lang="en-US" sz="1400" i="1" dirty="0">
                <a:sym typeface="Wingdings" panose="05000000000000000000" pitchFamily="2" charset="2"/>
              </a:rPr>
              <a:t>(B3.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truelist,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M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.instr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25E0F10-2871-C2D2-BA8D-666F83778273}"/>
              </a:ext>
            </a:extLst>
          </p:cNvPr>
          <p:cNvSpPr txBox="1"/>
          <p:nvPr/>
        </p:nvSpPr>
        <p:spPr>
          <a:xfrm>
            <a:off x="6881632" y="487458"/>
            <a:ext cx="2928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backpatch</a:t>
            </a:r>
            <a:r>
              <a:rPr lang="en-US" sz="1400" i="1" dirty="0">
                <a:sym typeface="Wingdings" panose="05000000000000000000" pitchFamily="2" charset="2"/>
              </a:rPr>
              <a:t>(B1.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falselist,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M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.instr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244A72-A70A-2D7D-1BEB-01E2B82AA646}"/>
              </a:ext>
            </a:extLst>
          </p:cNvPr>
          <p:cNvSpPr txBox="1"/>
          <p:nvPr/>
        </p:nvSpPr>
        <p:spPr>
          <a:xfrm>
            <a:off x="1955567" y="4836318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104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6F2EC80-09BB-D845-FF47-B6513C0ABB70}"/>
              </a:ext>
            </a:extLst>
          </p:cNvPr>
          <p:cNvSpPr txBox="1"/>
          <p:nvPr/>
        </p:nvSpPr>
        <p:spPr>
          <a:xfrm>
            <a:off x="1218967" y="4379118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102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7537379-B607-2D1D-1D1B-40109C73F92F}"/>
              </a:ext>
            </a:extLst>
          </p:cNvPr>
          <p:cNvSpPr txBox="1"/>
          <p:nvPr/>
        </p:nvSpPr>
        <p:spPr>
          <a:xfrm>
            <a:off x="1055884" y="3334230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106</a:t>
            </a: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74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2" grpId="0"/>
      <p:bldP spid="71" grpId="0"/>
      <p:bldP spid="69" grpId="0"/>
      <p:bldP spid="59" grpId="0"/>
      <p:bldP spid="60" grpId="0"/>
      <p:bldP spid="61" grpId="0"/>
      <p:bldP spid="62" grpId="0"/>
      <p:bldP spid="63" grpId="0"/>
      <p:bldP spid="64" grpId="0"/>
      <p:bldP spid="66" grpId="0"/>
      <p:bldP spid="67" grpId="0"/>
      <p:bldP spid="76" grpId="0"/>
      <p:bldP spid="88" grpId="0"/>
      <p:bldP spid="100" grpId="0"/>
      <p:bldP spid="118" grpId="0"/>
      <p:bldP spid="130" grpId="0"/>
      <p:bldP spid="136" grpId="0"/>
      <p:bldP spid="139" grpId="0"/>
      <p:bldP spid="149" grpId="0" animBg="1"/>
      <p:bldP spid="153" grpId="0" animBg="1"/>
      <p:bldP spid="156" grpId="0" animBg="1"/>
      <p:bldP spid="162" grpId="0" animBg="1"/>
      <p:bldP spid="163" grpId="0" animBg="1"/>
      <p:bldP spid="164" grpId="0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4" grpId="0"/>
      <p:bldP spid="181" grpId="0"/>
      <p:bldP spid="183" grpId="0"/>
      <p:bldP spid="185" grpId="0"/>
      <p:bldP spid="186" grpId="0"/>
      <p:bldP spid="187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able 6">
            <a:extLst>
              <a:ext uri="{FF2B5EF4-FFF2-40B4-BE49-F238E27FC236}">
                <a16:creationId xmlns:a16="http://schemas.microsoft.com/office/drawing/2014/main" id="{668D49CA-C432-CACD-15AF-116F882A5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48291"/>
              </p:ext>
            </p:extLst>
          </p:nvPr>
        </p:nvGraphicFramePr>
        <p:xfrm>
          <a:off x="50643" y="3947010"/>
          <a:ext cx="2479719" cy="2885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6680">
                  <a:extLst>
                    <a:ext uri="{9D8B030D-6E8A-4147-A177-3AD203B41FA5}">
                      <a16:colId xmlns:a16="http://schemas.microsoft.com/office/drawing/2014/main" val="37608615"/>
                    </a:ext>
                  </a:extLst>
                </a:gridCol>
                <a:gridCol w="1713039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</a:tblGrid>
              <a:tr h="2773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Instr.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62837"/>
                  </a:ext>
                </a:extLst>
              </a:tr>
              <a:tr h="2267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&lt;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100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&gt;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00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23042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37556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if 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!=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y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  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010727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go to </a:t>
                      </a:r>
                      <a:r>
                        <a:rPr lang="en-US" sz="1400" i="1" u="sng" dirty="0">
                          <a:sym typeface="Wingdings" panose="05000000000000000000" pitchFamily="2" charset="2"/>
                        </a:rPr>
                        <a:t>___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429418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sym typeface="Wingdings" panose="05000000000000000000" pitchFamily="2" charset="2"/>
                        </a:rPr>
                        <a:t>x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=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0</a:t>
                      </a:r>
                      <a:endParaRPr lang="en-US" sz="1400" b="0" i="1" u="sng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240382"/>
                  </a:ext>
                </a:extLst>
              </a:tr>
              <a:tr h="118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/>
                        <a:t>107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ym typeface="Wingdings" panose="05000000000000000000" pitchFamily="2" charset="2"/>
                        </a:rPr>
                        <a:t>y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= </a:t>
                      </a:r>
                      <a:r>
                        <a:rPr lang="en-US" sz="1400" b="0" i="1" dirty="0">
                          <a:sym typeface="Wingdings" panose="05000000000000000000" pitchFamily="2" charset="2"/>
                        </a:rPr>
                        <a:t>x + 10</a:t>
                      </a:r>
                      <a:endParaRPr lang="en-US" sz="1400" b="0" i="1" u="sng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844006"/>
                  </a:ext>
                </a:extLst>
              </a:tr>
            </a:tbl>
          </a:graphicData>
        </a:graphic>
      </p:graphicFrame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EF819DD-14C7-FB25-EE67-A60CF5457E53}"/>
              </a:ext>
            </a:extLst>
          </p:cNvPr>
          <p:cNvGrpSpPr/>
          <p:nvPr/>
        </p:nvGrpSpPr>
        <p:grpSpPr>
          <a:xfrm>
            <a:off x="36858" y="-15498"/>
            <a:ext cx="5640880" cy="1148821"/>
            <a:chOff x="27819" y="5318"/>
            <a:chExt cx="6190126" cy="114882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9C503F9-65F2-6CFD-E0BB-4F6BF63CDF62}"/>
                </a:ext>
              </a:extLst>
            </p:cNvPr>
            <p:cNvSpPr txBox="1"/>
            <p:nvPr/>
          </p:nvSpPr>
          <p:spPr>
            <a:xfrm>
              <a:off x="69990" y="323142"/>
              <a:ext cx="5510679" cy="83099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if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600" b="0" dirty="0">
                  <a:solidFill>
                    <a:srgbClr val="000000"/>
                  </a:solidFill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 y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</a:p>
            <a:p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	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6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 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  <a:endParaRPr lang="en-US" sz="1600" b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92FB5193-100A-E5E9-AAA6-CD206E015198}"/>
                </a:ext>
              </a:extLst>
            </p:cNvPr>
            <p:cNvSpPr txBox="1"/>
            <p:nvPr/>
          </p:nvSpPr>
          <p:spPr>
            <a:xfrm>
              <a:off x="27819" y="5318"/>
              <a:ext cx="619012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bg1">
                      <a:lumMod val="65000"/>
                    </a:schemeClr>
                  </a:solidFill>
                </a:rPr>
                <a:t>Translation of Flow-of-Control statements using backpatching</a:t>
              </a:r>
            </a:p>
          </p:txBody>
        </p:sp>
      </p:grp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9E4DA9DE-72B6-EE6F-8408-3FF42E32C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35976"/>
              </p:ext>
            </p:extLst>
          </p:nvPr>
        </p:nvGraphicFramePr>
        <p:xfrm>
          <a:off x="73777" y="1192892"/>
          <a:ext cx="4414451" cy="2255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2521">
                  <a:extLst>
                    <a:ext uri="{9D8B030D-6E8A-4147-A177-3AD203B41FA5}">
                      <a16:colId xmlns:a16="http://schemas.microsoft.com/office/drawing/2014/main" val="2563990376"/>
                    </a:ext>
                  </a:extLst>
                </a:gridCol>
                <a:gridCol w="3151930">
                  <a:extLst>
                    <a:ext uri="{9D8B030D-6E8A-4147-A177-3AD203B41FA5}">
                      <a16:colId xmlns:a16="http://schemas.microsoft.com/office/drawing/2014/main" val="1864059364"/>
                    </a:ext>
                  </a:extLst>
                </a:gridCol>
              </a:tblGrid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L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 L</a:t>
                      </a:r>
                      <a:r>
                        <a:rPr lang="en-US" sz="1400" b="0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 S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 S</a:t>
                      </a:r>
                      <a:endParaRPr lang="en-US" sz="14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400" i="1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Backpatch</a:t>
                      </a:r>
                      <a:r>
                        <a:rPr lang="en-US" sz="1400" b="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400" b="0" i="1" kern="12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400" b="0" i="1" kern="1200" baseline="-25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400" b="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b="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nextlist, </a:t>
                      </a:r>
                      <a:r>
                        <a:rPr lang="en-US" sz="1400" b="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400" b="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400" b="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400" b="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baseline="0" dirty="0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L.</a:t>
                      </a:r>
                      <a:r>
                        <a:rPr lang="en-US" sz="1400" b="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400" b="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400" b="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400" b="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400" b="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b="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400" b="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400" b="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  <a:endParaRPr lang="en-US" sz="1400" b="0" i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7130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L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 S</a:t>
                      </a:r>
                      <a:endParaRPr lang="en-US" sz="14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4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L.</a:t>
                      </a:r>
                      <a:r>
                        <a:rPr lang="en-US" sz="14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4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4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;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131474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S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 A</a:t>
                      </a:r>
                      <a:endParaRPr lang="en-US" sz="14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4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4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4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null</a:t>
                      </a:r>
                      <a:r>
                        <a:rPr lang="en-US" sz="14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3752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S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400" b="1" i="1" dirty="0">
                          <a:sym typeface="Wingdings" panose="05000000000000000000" pitchFamily="2" charset="2"/>
                        </a:rPr>
                        <a:t>if 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(B) </a:t>
                      </a:r>
                      <a:r>
                        <a:rPr lang="en-US" sz="1400" i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 S</a:t>
                      </a:r>
                      <a:r>
                        <a:rPr lang="en-US" sz="1400" i="1" baseline="-25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400" i="1" dirty="0">
                          <a:sym typeface="Wingdings" panose="05000000000000000000" pitchFamily="2" charset="2"/>
                        </a:rPr>
                        <a:t> </a:t>
                      </a:r>
                      <a:endParaRPr lang="en-US" sz="1400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400" i="1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S.</a:t>
                      </a:r>
                      <a:r>
                        <a:rPr lang="en-US" sz="14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4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merge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4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false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list</a:t>
                      </a:r>
                      <a:r>
                        <a:rPr lang="en-US" sz="14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</a:t>
                      </a:r>
                      <a:r>
                        <a:rPr lang="en-US" sz="1400" i="1" kern="1200" baseline="-250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400" i="1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nextlist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Backpatch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400" i="1" dirty="0" err="1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truelist</a:t>
                      </a:r>
                      <a:r>
                        <a:rPr lang="en-US" sz="1400" i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en-US" sz="1400" i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400" i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); </a:t>
                      </a:r>
                      <a:r>
                        <a:rPr lang="en-US" sz="1400" i="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740092"/>
                  </a:ext>
                </a:extLst>
              </a:tr>
              <a:tr h="406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en-US" sz="1200" i="1" dirty="0"/>
                        <a:t> </a:t>
                      </a:r>
                      <a:r>
                        <a:rPr lang="en-US" sz="1200" i="1" dirty="0">
                          <a:sym typeface="Wingdings" panose="05000000000000000000" pitchFamily="2" charset="2"/>
                        </a:rPr>
                        <a:t> Ɛ</a:t>
                      </a:r>
                      <a:endParaRPr lang="en-US" sz="1200" i="0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baseline="0" dirty="0">
                          <a:sym typeface="Wingdings" panose="05000000000000000000" pitchFamily="2" charset="2"/>
                        </a:rPr>
                        <a:t>{ </a:t>
                      </a:r>
                      <a:r>
                        <a:rPr lang="en-US" sz="1400" i="1" baseline="0" dirty="0" err="1">
                          <a:sym typeface="Wingdings" panose="05000000000000000000" pitchFamily="2" charset="2"/>
                        </a:rPr>
                        <a:t>M.</a:t>
                      </a:r>
                      <a:r>
                        <a:rPr lang="en-US" sz="1400" i="1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instr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400" i="1" baseline="0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nextinstr</a:t>
                      </a:r>
                      <a:r>
                        <a:rPr lang="en-US" sz="1400" i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; </a:t>
                      </a:r>
                      <a:r>
                        <a:rPr lang="en-US" sz="1400" i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400" i="1" baseline="0" dirty="0">
                        <a:solidFill>
                          <a:schemeClr val="accent6">
                            <a:lumMod val="5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451794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01CCD823-BBDC-5628-B878-0746DC3B130C}"/>
              </a:ext>
            </a:extLst>
          </p:cNvPr>
          <p:cNvSpPr txBox="1"/>
          <p:nvPr/>
        </p:nvSpPr>
        <p:spPr>
          <a:xfrm>
            <a:off x="-5710" y="3551892"/>
            <a:ext cx="116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solidFill>
                  <a:srgbClr val="FF0000"/>
                </a:solidFill>
              </a:rPr>
              <a:t>nextinstr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>
                  <a:srgbClr val="FF0000"/>
                </a:solidFill>
              </a:rPr>
              <a:t>=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0ED80F0-E5D8-783B-5FD4-91F9039C98C5}"/>
              </a:ext>
            </a:extLst>
          </p:cNvPr>
          <p:cNvSpPr txBox="1"/>
          <p:nvPr/>
        </p:nvSpPr>
        <p:spPr>
          <a:xfrm>
            <a:off x="5677738" y="4838248"/>
            <a:ext cx="1757354" cy="523220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truelist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{100, 104}</a:t>
            </a:r>
          </a:p>
          <a:p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{103,105}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244A72-A70A-2D7D-1BEB-01E2B82AA646}"/>
              </a:ext>
            </a:extLst>
          </p:cNvPr>
          <p:cNvSpPr txBox="1"/>
          <p:nvPr/>
        </p:nvSpPr>
        <p:spPr>
          <a:xfrm>
            <a:off x="1958629" y="4967627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104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6F2EC80-09BB-D845-FF47-B6513C0ABB70}"/>
              </a:ext>
            </a:extLst>
          </p:cNvPr>
          <p:cNvSpPr txBox="1"/>
          <p:nvPr/>
        </p:nvSpPr>
        <p:spPr>
          <a:xfrm>
            <a:off x="1222029" y="4510427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102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7537379-B607-2D1D-1D1B-40109C73F92F}"/>
              </a:ext>
            </a:extLst>
          </p:cNvPr>
          <p:cNvSpPr txBox="1"/>
          <p:nvPr/>
        </p:nvSpPr>
        <p:spPr>
          <a:xfrm>
            <a:off x="1066340" y="3477969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106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B68E6C-9B17-3EF8-C7AA-608D452161EE}"/>
              </a:ext>
            </a:extLst>
          </p:cNvPr>
          <p:cNvSpPr/>
          <p:nvPr/>
        </p:nvSpPr>
        <p:spPr>
          <a:xfrm>
            <a:off x="9090555" y="1708749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F29BA5-C7BA-2944-15FF-D16CE37E6C9E}"/>
              </a:ext>
            </a:extLst>
          </p:cNvPr>
          <p:cNvCxnSpPr>
            <a:cxnSpLocks/>
            <a:stCxn id="27" idx="4"/>
            <a:endCxn id="44" idx="0"/>
          </p:cNvCxnSpPr>
          <p:nvPr/>
        </p:nvCxnSpPr>
        <p:spPr>
          <a:xfrm flipH="1">
            <a:off x="7250288" y="2117256"/>
            <a:ext cx="2132515" cy="901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C558377F-4E1F-77E1-F30F-E29A69E79AA1}"/>
              </a:ext>
            </a:extLst>
          </p:cNvPr>
          <p:cNvSpPr/>
          <p:nvPr/>
        </p:nvSpPr>
        <p:spPr>
          <a:xfrm>
            <a:off x="11221133" y="3013698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04431D-2317-8DD0-6574-D760F74241DB}"/>
              </a:ext>
            </a:extLst>
          </p:cNvPr>
          <p:cNvSpPr/>
          <p:nvPr/>
        </p:nvSpPr>
        <p:spPr>
          <a:xfrm>
            <a:off x="6899952" y="3018422"/>
            <a:ext cx="700671" cy="40378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D23712-F84C-358C-31E6-0550718015C7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9382803" y="2117256"/>
            <a:ext cx="2130578" cy="897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9A78025-0850-510B-606D-7E31722EC63C}"/>
              </a:ext>
            </a:extLst>
          </p:cNvPr>
          <p:cNvSpPr txBox="1"/>
          <p:nvPr/>
        </p:nvSpPr>
        <p:spPr>
          <a:xfrm>
            <a:off x="8896503" y="2466841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M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C53580D-F16F-05F0-B932-9CD5F19CFBB7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9141567" y="2144169"/>
            <a:ext cx="232498" cy="3226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80FA131-DE08-779A-D723-B29EEB2F9394}"/>
              </a:ext>
            </a:extLst>
          </p:cNvPr>
          <p:cNvSpPr txBox="1"/>
          <p:nvPr/>
        </p:nvSpPr>
        <p:spPr>
          <a:xfrm>
            <a:off x="8900331" y="2996600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Ɛ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E79169-9FD1-8113-25B8-96087F5EFA1D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9141567" y="2805395"/>
            <a:ext cx="0" cy="19120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ADC520-FE71-331B-ED84-C629589E3C6F}"/>
              </a:ext>
            </a:extLst>
          </p:cNvPr>
          <p:cNvCxnSpPr>
            <a:cxnSpLocks/>
            <a:stCxn id="44" idx="4"/>
          </p:cNvCxnSpPr>
          <p:nvPr/>
        </p:nvCxnSpPr>
        <p:spPr>
          <a:xfrm>
            <a:off x="7250288" y="3422206"/>
            <a:ext cx="20136" cy="467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A634283-C2B4-B582-A66F-FDD75C8DDC84}"/>
              </a:ext>
            </a:extLst>
          </p:cNvPr>
          <p:cNvSpPr/>
          <p:nvPr/>
        </p:nvSpPr>
        <p:spPr>
          <a:xfrm>
            <a:off x="6925352" y="3889999"/>
            <a:ext cx="700671" cy="40378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051257F-9D0F-AA54-9430-3AC28BC75E6D}"/>
              </a:ext>
            </a:extLst>
          </p:cNvPr>
          <p:cNvCxnSpPr>
            <a:cxnSpLocks/>
            <a:stCxn id="82" idx="0"/>
            <a:endCxn id="78" idx="4"/>
          </p:cNvCxnSpPr>
          <p:nvPr/>
        </p:nvCxnSpPr>
        <p:spPr>
          <a:xfrm flipH="1" flipV="1">
            <a:off x="7275688" y="4293783"/>
            <a:ext cx="892230" cy="580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FCF5CE2-BBEF-01EE-73D4-28316EE5CEA9}"/>
              </a:ext>
            </a:extLst>
          </p:cNvPr>
          <p:cNvSpPr/>
          <p:nvPr/>
        </p:nvSpPr>
        <p:spPr>
          <a:xfrm>
            <a:off x="7476375" y="4873988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DB3EB3A-8194-2C7E-C9E0-6D35394DEFBF}"/>
              </a:ext>
            </a:extLst>
          </p:cNvPr>
          <p:cNvSpPr/>
          <p:nvPr/>
        </p:nvSpPr>
        <p:spPr>
          <a:xfrm>
            <a:off x="7311506" y="4952113"/>
            <a:ext cx="584496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4680F1-49A0-734E-2D43-590C48208ADB}"/>
              </a:ext>
            </a:extLst>
          </p:cNvPr>
          <p:cNvCxnSpPr>
            <a:cxnSpLocks/>
            <a:stCxn id="78" idx="4"/>
            <a:endCxn id="83" idx="0"/>
          </p:cNvCxnSpPr>
          <p:nvPr/>
        </p:nvCxnSpPr>
        <p:spPr>
          <a:xfrm>
            <a:off x="7275688" y="4293783"/>
            <a:ext cx="328066" cy="658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4290F56-7288-C73C-BAD4-53FCA94D55F7}"/>
              </a:ext>
            </a:extLst>
          </p:cNvPr>
          <p:cNvCxnSpPr>
            <a:cxnSpLocks/>
            <a:stCxn id="78" idx="4"/>
            <a:endCxn id="93" idx="0"/>
          </p:cNvCxnSpPr>
          <p:nvPr/>
        </p:nvCxnSpPr>
        <p:spPr>
          <a:xfrm flipH="1">
            <a:off x="4308389" y="4293783"/>
            <a:ext cx="2967299" cy="696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0C9126B-8542-D4A7-F02D-9D3AADEF5867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5178480" y="4280387"/>
            <a:ext cx="2112823" cy="660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DEFDC6AE-B649-B19C-0F72-968C78AB8E78}"/>
              </a:ext>
            </a:extLst>
          </p:cNvPr>
          <p:cNvSpPr/>
          <p:nvPr/>
        </p:nvSpPr>
        <p:spPr>
          <a:xfrm>
            <a:off x="4486937" y="4940951"/>
            <a:ext cx="1383086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(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E880594-6F34-DCE2-778E-C212BFA30889}"/>
              </a:ext>
            </a:extLst>
          </p:cNvPr>
          <p:cNvSpPr/>
          <p:nvPr/>
        </p:nvSpPr>
        <p:spPr>
          <a:xfrm>
            <a:off x="10036021" y="4866103"/>
            <a:ext cx="670423" cy="4085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014C117-3CB0-0B67-7799-44C153F14635}"/>
              </a:ext>
            </a:extLst>
          </p:cNvPr>
          <p:cNvCxnSpPr>
            <a:cxnSpLocks/>
            <a:stCxn id="78" idx="4"/>
            <a:endCxn id="90" idx="0"/>
          </p:cNvCxnSpPr>
          <p:nvPr/>
        </p:nvCxnSpPr>
        <p:spPr>
          <a:xfrm>
            <a:off x="7275688" y="4293783"/>
            <a:ext cx="3095545" cy="572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6B6B42B-C495-F258-6E79-66517FDA4D61}"/>
              </a:ext>
            </a:extLst>
          </p:cNvPr>
          <p:cNvSpPr txBox="1"/>
          <p:nvPr/>
        </p:nvSpPr>
        <p:spPr>
          <a:xfrm>
            <a:off x="9356537" y="4361088"/>
            <a:ext cx="1035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= </a:t>
            </a:r>
            <a:r>
              <a:rPr lang="en-US" sz="1400" b="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0</a:t>
            </a:r>
            <a:endParaRPr lang="en-US" sz="1400" dirty="0">
              <a:latin typeface="+mj-lt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35C337-8056-4C9E-2F24-79699C7A128E}"/>
              </a:ext>
            </a:extLst>
          </p:cNvPr>
          <p:cNvSpPr/>
          <p:nvPr/>
        </p:nvSpPr>
        <p:spPr>
          <a:xfrm>
            <a:off x="3851317" y="4990218"/>
            <a:ext cx="91414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if</a:t>
            </a:r>
            <a:endParaRPr lang="en-US" sz="2000" b="1" baseline="-25000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3F7EFA-E68E-B32A-0A5E-2323BB62316D}"/>
              </a:ext>
            </a:extLst>
          </p:cNvPr>
          <p:cNvSpPr txBox="1"/>
          <p:nvPr/>
        </p:nvSpPr>
        <p:spPr>
          <a:xfrm>
            <a:off x="10498414" y="2328341"/>
            <a:ext cx="1014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= </a:t>
            </a:r>
            <a:r>
              <a:rPr lang="en-US" sz="14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+mj-lt"/>
                <a:cs typeface="Courier New" panose="02070309020205020404" pitchFamily="49" charset="0"/>
              </a:rPr>
              <a:t>+ </a:t>
            </a:r>
            <a:r>
              <a:rPr lang="en-US" sz="1400" dirty="0">
                <a:solidFill>
                  <a:srgbClr val="FF8000"/>
                </a:solidFill>
                <a:latin typeface="+mj-lt"/>
                <a:cs typeface="Courier New" panose="02070309020205020404" pitchFamily="49" charset="0"/>
              </a:rPr>
              <a:t>10</a:t>
            </a:r>
            <a:endParaRPr lang="en-US" sz="1400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7EA9D2F-6B54-D783-3AD7-F02CF6DC0C07}"/>
              </a:ext>
            </a:extLst>
          </p:cNvPr>
          <p:cNvSpPr txBox="1"/>
          <p:nvPr/>
        </p:nvSpPr>
        <p:spPr>
          <a:xfrm>
            <a:off x="8741702" y="5072099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M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6E682DB-D855-C7D7-8520-13F368C3C43D}"/>
              </a:ext>
            </a:extLst>
          </p:cNvPr>
          <p:cNvCxnSpPr>
            <a:cxnSpLocks/>
            <a:stCxn id="78" idx="4"/>
            <a:endCxn id="103" idx="0"/>
          </p:cNvCxnSpPr>
          <p:nvPr/>
        </p:nvCxnSpPr>
        <p:spPr>
          <a:xfrm>
            <a:off x="7275688" y="4293783"/>
            <a:ext cx="1711078" cy="77831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6DF2467F-4F94-2867-0EAE-37E778E0303F}"/>
              </a:ext>
            </a:extLst>
          </p:cNvPr>
          <p:cNvSpPr txBox="1"/>
          <p:nvPr/>
        </p:nvSpPr>
        <p:spPr>
          <a:xfrm>
            <a:off x="8747931" y="5600100"/>
            <a:ext cx="4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algn="ctr"/>
            <a:r>
              <a:rPr lang="en-US" sz="1600" dirty="0">
                <a:solidFill>
                  <a:srgbClr val="FF0000"/>
                </a:solidFill>
              </a:rPr>
              <a:t>Ɛ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7833C6A-C70C-BF2C-D37E-FEB4F4564B16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8986766" y="5410653"/>
            <a:ext cx="0" cy="19120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E864009-B187-4A90-26D1-81D5B200CE3E}"/>
              </a:ext>
            </a:extLst>
          </p:cNvPr>
          <p:cNvSpPr txBox="1"/>
          <p:nvPr/>
        </p:nvSpPr>
        <p:spPr>
          <a:xfrm>
            <a:off x="9149931" y="5189133"/>
            <a:ext cx="1526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M.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instr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endParaRPr lang="en-US" sz="1400" i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sz="1400" i="1" dirty="0">
                <a:sym typeface="Wingdings" panose="05000000000000000000" pitchFamily="2" charset="2"/>
              </a:rPr>
              <a:t> 106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22CAD4-8991-5695-ECC9-4C8D6509668A}"/>
              </a:ext>
            </a:extLst>
          </p:cNvPr>
          <p:cNvSpPr txBox="1"/>
          <p:nvPr/>
        </p:nvSpPr>
        <p:spPr>
          <a:xfrm>
            <a:off x="4238231" y="3744358"/>
            <a:ext cx="3518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S1.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00B050"/>
                </a:solidFill>
                <a:sym typeface="Wingdings" panose="05000000000000000000" pitchFamily="2" charset="2"/>
              </a:rPr>
              <a:t>merge</a:t>
            </a:r>
            <a:r>
              <a:rPr lang="en-US" sz="1400" i="1" dirty="0"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ym typeface="Wingdings" panose="05000000000000000000" pitchFamily="2" charset="2"/>
              </a:rPr>
              <a:t>B.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falselist</a:t>
            </a:r>
            <a:r>
              <a:rPr lang="en-US" sz="1400" i="1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, S</a:t>
            </a:r>
            <a:r>
              <a:rPr lang="en-US" sz="1400" i="1" baseline="-25000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2</a:t>
            </a:r>
            <a:r>
              <a:rPr lang="en-US" sz="1400" i="1" dirty="0">
                <a:sym typeface="Wingdings" panose="05000000000000000000" pitchFamily="2" charset="2"/>
              </a:rPr>
              <a:t>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A97A6E2-6626-14C5-F1E9-67C148A78C88}"/>
              </a:ext>
            </a:extLst>
          </p:cNvPr>
          <p:cNvSpPr txBox="1"/>
          <p:nvPr/>
        </p:nvSpPr>
        <p:spPr>
          <a:xfrm>
            <a:off x="4621851" y="3489471"/>
            <a:ext cx="1751722" cy="307777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S1.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{103,105}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3C5AC60-F359-E90A-8BC3-52336D5D184C}"/>
              </a:ext>
            </a:extLst>
          </p:cNvPr>
          <p:cNvSpPr txBox="1"/>
          <p:nvPr/>
        </p:nvSpPr>
        <p:spPr>
          <a:xfrm>
            <a:off x="4237470" y="4000949"/>
            <a:ext cx="2590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kern="1200" baseline="0" dirty="0">
                <a:solidFill>
                  <a:srgbClr val="00B05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Backpatch</a:t>
            </a:r>
            <a:r>
              <a:rPr lang="en-US" sz="1400" i="1" baseline="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sz="1400" i="1" dirty="0" err="1">
                <a:sym typeface="Wingdings" panose="05000000000000000000" pitchFamily="2" charset="2"/>
              </a:rPr>
              <a:t>B</a:t>
            </a:r>
            <a:r>
              <a:rPr lang="en-US" sz="1400" i="1" baseline="0" dirty="0" err="1">
                <a:sym typeface="Wingdings" panose="05000000000000000000" pitchFamily="2" charset="2"/>
              </a:rPr>
              <a:t>.</a:t>
            </a:r>
            <a:r>
              <a:rPr lang="en-US" sz="1400" i="1" kern="1200" dirty="0" err="1">
                <a:solidFill>
                  <a:srgbClr val="0070C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truelist</a:t>
            </a:r>
            <a:r>
              <a:rPr lang="en-US" sz="1400" i="1" kern="1200" dirty="0">
                <a:solidFill>
                  <a:srgbClr val="0070C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lang="en-US" sz="1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M.</a:t>
            </a:r>
            <a:r>
              <a:rPr lang="en-US" sz="1400" i="1" kern="1200" dirty="0" err="1">
                <a:solidFill>
                  <a:srgbClr val="0070C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instr</a:t>
            </a:r>
            <a:r>
              <a:rPr lang="en-US" sz="1400" i="1" baseline="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); </a:t>
            </a:r>
            <a:r>
              <a:rPr lang="en-US" sz="1400" i="0" baseline="0" dirty="0">
                <a:solidFill>
                  <a:schemeClr val="tx1"/>
                </a:solidFill>
                <a:sym typeface="Wingdings" panose="05000000000000000000" pitchFamily="2" charset="2"/>
              </a:rPr>
              <a:t>}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A0C7C05-4297-2387-D487-FC1CD8622898}"/>
              </a:ext>
            </a:extLst>
          </p:cNvPr>
          <p:cNvSpPr txBox="1"/>
          <p:nvPr/>
        </p:nvSpPr>
        <p:spPr>
          <a:xfrm>
            <a:off x="1958629" y="4218327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106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3BBF61A-710E-0C22-0A97-3C4BD24C2EE3}"/>
              </a:ext>
            </a:extLst>
          </p:cNvPr>
          <p:cNvSpPr txBox="1"/>
          <p:nvPr/>
        </p:nvSpPr>
        <p:spPr>
          <a:xfrm>
            <a:off x="1822649" y="5563038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106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2417B13-DD66-BB4E-A4AE-5963D9DB7F08}"/>
              </a:ext>
            </a:extLst>
          </p:cNvPr>
          <p:cNvSpPr txBox="1"/>
          <p:nvPr/>
        </p:nvSpPr>
        <p:spPr>
          <a:xfrm>
            <a:off x="10430761" y="4518339"/>
            <a:ext cx="1390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S2.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null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F411135-A51F-E32D-AB2A-4972EEEE30D7}"/>
              </a:ext>
            </a:extLst>
          </p:cNvPr>
          <p:cNvSpPr txBox="1"/>
          <p:nvPr/>
        </p:nvSpPr>
        <p:spPr>
          <a:xfrm>
            <a:off x="5274033" y="2966859"/>
            <a:ext cx="1794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L1.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S</a:t>
            </a:r>
            <a:r>
              <a:rPr lang="en-US" sz="1400" i="1" baseline="-25000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1</a:t>
            </a:r>
            <a:r>
              <a:rPr lang="en-US" sz="1400" i="1" dirty="0">
                <a:sym typeface="Wingdings" panose="05000000000000000000" pitchFamily="2" charset="2"/>
              </a:rPr>
              <a:t>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endParaRPr lang="en-US" sz="1400" i="1" dirty="0">
              <a:sym typeface="Wingdings" panose="05000000000000000000" pitchFamily="2" charset="2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0AC73AE-D8F0-5FFA-F4EB-06C1C34C0D6F}"/>
              </a:ext>
            </a:extLst>
          </p:cNvPr>
          <p:cNvSpPr txBox="1"/>
          <p:nvPr/>
        </p:nvSpPr>
        <p:spPr>
          <a:xfrm>
            <a:off x="5316691" y="2711972"/>
            <a:ext cx="1751722" cy="307777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ym typeface="Wingdings" panose="05000000000000000000" pitchFamily="2" charset="2"/>
              </a:rPr>
              <a:t>L1.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{103,105}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6BF39DC-19E9-E025-07C6-5EA7380E0CC6}"/>
              </a:ext>
            </a:extLst>
          </p:cNvPr>
          <p:cNvSpPr txBox="1"/>
          <p:nvPr/>
        </p:nvSpPr>
        <p:spPr>
          <a:xfrm>
            <a:off x="9495324" y="1572143"/>
            <a:ext cx="1794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L.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 err="1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S</a:t>
            </a:r>
            <a:r>
              <a:rPr lang="en-US" sz="1400" i="1" dirty="0" err="1">
                <a:sym typeface="Wingdings" panose="05000000000000000000" pitchFamily="2" charset="2"/>
              </a:rPr>
              <a:t>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endParaRPr lang="en-US" sz="1400" i="1" dirty="0">
              <a:sym typeface="Wingdings" panose="05000000000000000000" pitchFamily="2" charset="2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9367B0B-B361-FE49-FFE1-82C8039E941E}"/>
              </a:ext>
            </a:extLst>
          </p:cNvPr>
          <p:cNvSpPr txBox="1"/>
          <p:nvPr/>
        </p:nvSpPr>
        <p:spPr>
          <a:xfrm>
            <a:off x="9516932" y="1313523"/>
            <a:ext cx="1751722" cy="307777"/>
          </a:xfrm>
          <a:prstGeom prst="rect">
            <a:avLst/>
          </a:prstGeom>
          <a:noFill/>
          <a:ln>
            <a:solidFill>
              <a:srgbClr val="92D05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L.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{}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DCBA92D-518A-2060-8F1E-64C5A5BDAD6D}"/>
              </a:ext>
            </a:extLst>
          </p:cNvPr>
          <p:cNvSpPr txBox="1"/>
          <p:nvPr/>
        </p:nvSpPr>
        <p:spPr>
          <a:xfrm>
            <a:off x="9237949" y="2606986"/>
            <a:ext cx="19292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M.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instr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nextinstr</a:t>
            </a:r>
            <a:endParaRPr lang="en-US" sz="1400" i="1" dirty="0">
              <a:sym typeface="Wingdings" panose="05000000000000000000" pitchFamily="2" charset="2"/>
            </a:endParaRPr>
          </a:p>
          <a:p>
            <a:r>
              <a:rPr lang="en-US" sz="1400" i="1" dirty="0">
                <a:sym typeface="Wingdings" panose="05000000000000000000" pitchFamily="2" charset="2"/>
              </a:rPr>
              <a:t> </a:t>
            </a:r>
            <a:r>
              <a:rPr lang="en-US" sz="1400" dirty="0">
                <a:sym typeface="Wingdings" panose="05000000000000000000" pitchFamily="2" charset="2"/>
              </a:rPr>
              <a:t>107</a:t>
            </a:r>
            <a:endParaRPr lang="en-US" sz="1400" i="1" u="sng" dirty="0">
              <a:sym typeface="Wingdings" panose="05000000000000000000" pitchFamily="2" charset="2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D789A1A-79EC-21E7-8CCA-7E0DB3261FDB}"/>
              </a:ext>
            </a:extLst>
          </p:cNvPr>
          <p:cNvSpPr txBox="1"/>
          <p:nvPr/>
        </p:nvSpPr>
        <p:spPr>
          <a:xfrm>
            <a:off x="10155866" y="2995277"/>
            <a:ext cx="1390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ym typeface="Wingdings" panose="05000000000000000000" pitchFamily="2" charset="2"/>
              </a:rPr>
              <a:t>S.</a:t>
            </a:r>
            <a:r>
              <a:rPr lang="en-US" sz="1400" i="1" dirty="0" err="1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dirty="0">
                <a:sym typeface="Wingdings" panose="05000000000000000000" pitchFamily="2" charset="2"/>
              </a:rPr>
              <a:t>=</a:t>
            </a:r>
            <a:r>
              <a:rPr lang="en-US" sz="1400" dirty="0">
                <a:sym typeface="Wingdings" panose="05000000000000000000" pitchFamily="2" charset="2"/>
              </a:rPr>
              <a:t>null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E4A8386-DAEE-3E1C-1EDE-CC4065CFFC76}"/>
              </a:ext>
            </a:extLst>
          </p:cNvPr>
          <p:cNvSpPr txBox="1"/>
          <p:nvPr/>
        </p:nvSpPr>
        <p:spPr>
          <a:xfrm>
            <a:off x="9466154" y="1800320"/>
            <a:ext cx="2590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kern="1200" baseline="0" dirty="0">
                <a:solidFill>
                  <a:srgbClr val="00B05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Backpatch</a:t>
            </a:r>
            <a:r>
              <a:rPr lang="en-US" sz="1400" i="1" baseline="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sz="1400" i="1" dirty="0">
                <a:sym typeface="Wingdings" panose="05000000000000000000" pitchFamily="2" charset="2"/>
              </a:rPr>
              <a:t>L1.</a:t>
            </a:r>
            <a:r>
              <a:rPr lang="en-US" sz="1400" i="1" dirty="0">
                <a:solidFill>
                  <a:srgbClr val="0070C0"/>
                </a:solidFill>
                <a:sym typeface="Wingdings" panose="05000000000000000000" pitchFamily="2" charset="2"/>
              </a:rPr>
              <a:t>nextlist</a:t>
            </a:r>
            <a:r>
              <a:rPr lang="en-US" sz="1400" i="1" kern="1200" dirty="0">
                <a:solidFill>
                  <a:srgbClr val="0070C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lang="en-US" sz="1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M.</a:t>
            </a:r>
            <a:r>
              <a:rPr lang="en-US" sz="1400" i="1" kern="1200" dirty="0" err="1">
                <a:solidFill>
                  <a:srgbClr val="0070C0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instr</a:t>
            </a:r>
            <a:r>
              <a:rPr lang="en-US" sz="1400" i="1" baseline="0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); </a:t>
            </a:r>
            <a:r>
              <a:rPr lang="en-US" sz="1400" i="0" baseline="0" dirty="0">
                <a:solidFill>
                  <a:schemeClr val="tx1"/>
                </a:solidFill>
                <a:sym typeface="Wingdings" panose="05000000000000000000" pitchFamily="2" charset="2"/>
              </a:rPr>
              <a:t>}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475CC5E-43B3-5DC9-A944-C4FB97FF2BC7}"/>
              </a:ext>
            </a:extLst>
          </p:cNvPr>
          <p:cNvSpPr txBox="1"/>
          <p:nvPr/>
        </p:nvSpPr>
        <p:spPr>
          <a:xfrm>
            <a:off x="1227626" y="5879446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107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D8FDE59-A916-4AC4-1548-11E05106875E}"/>
              </a:ext>
            </a:extLst>
          </p:cNvPr>
          <p:cNvSpPr txBox="1"/>
          <p:nvPr/>
        </p:nvSpPr>
        <p:spPr>
          <a:xfrm>
            <a:off x="1227624" y="5228516"/>
            <a:ext cx="559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sym typeface="Wingdings" panose="05000000000000000000" pitchFamily="2" charset="2"/>
              </a:rPr>
              <a:t>107</a:t>
            </a:r>
            <a:endParaRPr lang="en-US" sz="1400" dirty="0">
              <a:solidFill>
                <a:srgbClr val="0070C0"/>
              </a:solidFill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792CBE3-3953-AB0E-EFC8-215E050ECED4}"/>
              </a:ext>
            </a:extLst>
          </p:cNvPr>
          <p:cNvGrpSpPr/>
          <p:nvPr/>
        </p:nvGrpSpPr>
        <p:grpSpPr>
          <a:xfrm>
            <a:off x="36858" y="-15498"/>
            <a:ext cx="4644645" cy="656378"/>
            <a:chOff x="27819" y="5318"/>
            <a:chExt cx="5096890" cy="656378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4CC3113-4EC9-9AD5-10E9-AF5ACA200FE7}"/>
                </a:ext>
              </a:extLst>
            </p:cNvPr>
            <p:cNvSpPr txBox="1"/>
            <p:nvPr/>
          </p:nvSpPr>
          <p:spPr>
            <a:xfrm>
              <a:off x="69990" y="323142"/>
              <a:ext cx="4117753" cy="338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||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0" dirty="0">
                  <a:solidFill>
                    <a:srgbClr val="FF8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200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&amp;&amp;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x </a:t>
              </a:r>
              <a:r>
                <a:rPr lang="en-US" sz="1600" b="1" dirty="0">
                  <a:solidFill>
                    <a:srgbClr val="00008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en-US" sz="1600" b="0" dirty="0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y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64C2B3C-14D6-375E-35C2-C3783D80CB75}"/>
                </a:ext>
              </a:extLst>
            </p:cNvPr>
            <p:cNvSpPr txBox="1"/>
            <p:nvPr/>
          </p:nvSpPr>
          <p:spPr>
            <a:xfrm>
              <a:off x="27819" y="5318"/>
              <a:ext cx="50968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bg1">
                      <a:lumMod val="65000"/>
                    </a:schemeClr>
                  </a:solidFill>
                </a:rPr>
                <a:t>Translation of boolean expression using backpatching</a:t>
              </a: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E89CA7D-0964-B6F1-1F99-D9B537186AD0}"/>
              </a:ext>
            </a:extLst>
          </p:cNvPr>
          <p:cNvSpPr/>
          <p:nvPr/>
        </p:nvSpPr>
        <p:spPr>
          <a:xfrm>
            <a:off x="144303" y="6206140"/>
            <a:ext cx="2234758" cy="30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F866907-368A-24F2-6F2B-EEE0A2D13D4D}"/>
              </a:ext>
            </a:extLst>
          </p:cNvPr>
          <p:cNvSpPr/>
          <p:nvPr/>
        </p:nvSpPr>
        <p:spPr>
          <a:xfrm>
            <a:off x="141721" y="6498023"/>
            <a:ext cx="2234758" cy="30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C98BF65-F947-4E30-9910-7EDFCCA06CF7}"/>
              </a:ext>
            </a:extLst>
          </p:cNvPr>
          <p:cNvSpPr txBox="1"/>
          <p:nvPr/>
        </p:nvSpPr>
        <p:spPr>
          <a:xfrm>
            <a:off x="1048262" y="3490885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107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7C58FF9-99B4-6D2A-8B64-BAAF8DDB7192}"/>
              </a:ext>
            </a:extLst>
          </p:cNvPr>
          <p:cNvSpPr txBox="1"/>
          <p:nvPr/>
        </p:nvSpPr>
        <p:spPr>
          <a:xfrm>
            <a:off x="1017266" y="3506385"/>
            <a:ext cx="641548" cy="408623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108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06D8B4E-3598-F409-8940-D9701A4C432A}"/>
              </a:ext>
            </a:extLst>
          </p:cNvPr>
          <p:cNvSpPr txBox="1"/>
          <p:nvPr/>
        </p:nvSpPr>
        <p:spPr>
          <a:xfrm>
            <a:off x="10428014" y="4757157"/>
            <a:ext cx="16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S2.code: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>
                <a:solidFill>
                  <a:srgbClr val="000000"/>
                </a:solidFill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cs typeface="Courier New" panose="02070309020205020404" pitchFamily="49" charset="0"/>
              </a:rPr>
              <a:t>= </a:t>
            </a:r>
            <a:r>
              <a:rPr lang="en-US" sz="1400" dirty="0">
                <a:solidFill>
                  <a:srgbClr val="FF8000"/>
                </a:solidFill>
                <a:cs typeface="Courier New" panose="02070309020205020404" pitchFamily="49" charset="0"/>
              </a:rPr>
              <a:t>0</a:t>
            </a:r>
            <a:endParaRPr lang="en-US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2A5DF52-338B-B78E-828F-F0BD9DCD5924}"/>
              </a:ext>
            </a:extLst>
          </p:cNvPr>
          <p:cNvSpPr txBox="1"/>
          <p:nvPr/>
        </p:nvSpPr>
        <p:spPr>
          <a:xfrm>
            <a:off x="10136602" y="3218145"/>
            <a:ext cx="16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S.code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:</a:t>
            </a:r>
            <a:r>
              <a:rPr lang="en-US" sz="1400" i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1400" dirty="0">
                <a:solidFill>
                  <a:srgbClr val="000000"/>
                </a:solidFill>
                <a:cs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cs typeface="Courier New" panose="02070309020205020404" pitchFamily="49" charset="0"/>
              </a:rPr>
              <a:t>= </a:t>
            </a:r>
            <a:r>
              <a:rPr lang="en-US" sz="1400" dirty="0">
                <a:solidFill>
                  <a:srgbClr val="000000"/>
                </a:solidFill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cs typeface="Courier New" panose="02070309020205020404" pitchFamily="49" charset="0"/>
              </a:rPr>
              <a:t>+ </a:t>
            </a:r>
            <a:r>
              <a:rPr lang="en-US" sz="1400" dirty="0">
                <a:solidFill>
                  <a:srgbClr val="FF8000"/>
                </a:solidFill>
                <a:cs typeface="Courier New" panose="02070309020205020404" pitchFamily="49" charset="0"/>
              </a:rPr>
              <a:t>10</a:t>
            </a:r>
            <a:endParaRPr lang="en-US" sz="1400" dirty="0">
              <a:solidFill>
                <a:srgbClr val="000000"/>
              </a:solidFill>
              <a:cs typeface="Courier New" panose="02070309020205020404" pitchFamily="49" charset="0"/>
            </a:endParaRPr>
          </a:p>
        </p:txBody>
      </p:sp>
      <p:sp>
        <p:nvSpPr>
          <p:cNvPr id="161" name="Isosceles Triangle 160">
            <a:extLst>
              <a:ext uri="{FF2B5EF4-FFF2-40B4-BE49-F238E27FC236}">
                <a16:creationId xmlns:a16="http://schemas.microsoft.com/office/drawing/2014/main" id="{25456797-47F9-C3D1-D398-6FA8773BC2D2}"/>
              </a:ext>
            </a:extLst>
          </p:cNvPr>
          <p:cNvSpPr/>
          <p:nvPr/>
        </p:nvSpPr>
        <p:spPr>
          <a:xfrm>
            <a:off x="7326758" y="5356185"/>
            <a:ext cx="595254" cy="520758"/>
          </a:xfrm>
          <a:prstGeom prst="triangl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7587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"/>
                            </p:stCondLst>
                            <p:childTnLst>
                              <p:par>
                                <p:cTn id="17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000"/>
                            </p:stCondLst>
                            <p:childTnLst>
                              <p:par>
                                <p:cTn id="246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00"/>
                            </p:stCondLst>
                            <p:childTnLst>
                              <p:par>
                                <p:cTn id="2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44" grpId="0"/>
      <p:bldP spid="57" grpId="0"/>
      <p:bldP spid="65" grpId="0"/>
      <p:bldP spid="78" grpId="0"/>
      <p:bldP spid="82" grpId="0"/>
      <p:bldP spid="87" grpId="0"/>
      <p:bldP spid="90" grpId="0"/>
      <p:bldP spid="92" grpId="0"/>
      <p:bldP spid="93" grpId="0"/>
      <p:bldP spid="98" grpId="0"/>
      <p:bldP spid="103" grpId="0"/>
      <p:bldP spid="105" grpId="0"/>
      <p:bldP spid="119" grpId="0"/>
      <p:bldP spid="123" grpId="0"/>
      <p:bldP spid="124" grpId="0" animBg="1"/>
      <p:bldP spid="126" grpId="0"/>
      <p:bldP spid="127" grpId="0"/>
      <p:bldP spid="128" grpId="0"/>
      <p:bldP spid="129" grpId="0"/>
      <p:bldP spid="132" grpId="0"/>
      <p:bldP spid="133" grpId="0" animBg="1"/>
      <p:bldP spid="134" grpId="0"/>
      <p:bldP spid="135" grpId="0" animBg="1"/>
      <p:bldP spid="137" grpId="0"/>
      <p:bldP spid="140" grpId="0"/>
      <p:bldP spid="141" grpId="0"/>
      <p:bldP spid="142" grpId="0"/>
      <p:bldP spid="143" grpId="0"/>
      <p:bldP spid="152" grpId="0" animBg="1"/>
      <p:bldP spid="154" grpId="0" animBg="1"/>
      <p:bldP spid="155" grpId="0" animBg="1"/>
      <p:bldP spid="157" grpId="0" animBg="1"/>
      <p:bldP spid="158" grpId="0"/>
      <p:bldP spid="15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4" y="-39188"/>
            <a:ext cx="11756571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Backpatching for Flow-of-Control Statements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611187" y="6212340"/>
            <a:ext cx="2013857" cy="365125"/>
          </a:xfrm>
        </p:spPr>
        <p:txBody>
          <a:bodyPr/>
          <a:lstStyle/>
          <a:p>
            <a:r>
              <a:rPr lang="en-US" dirty="0" err="1"/>
              <a:t>Dept</a:t>
            </a:r>
            <a:r>
              <a:rPr lang="en-US" dirty="0"/>
              <a:t>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041675" y="6486979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48029"/>
          <a:stretch/>
        </p:blipFill>
        <p:spPr>
          <a:xfrm>
            <a:off x="2385059" y="1016725"/>
            <a:ext cx="7368778" cy="420841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1AE5DB-92B5-B314-392F-6D40BC54C80C}"/>
              </a:ext>
            </a:extLst>
          </p:cNvPr>
          <p:cNvSpPr/>
          <p:nvPr/>
        </p:nvSpPr>
        <p:spPr>
          <a:xfrm>
            <a:off x="4629688" y="2313815"/>
            <a:ext cx="4906199" cy="1132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35F57-0506-E596-6BC0-3DD93F3AF734}"/>
              </a:ext>
            </a:extLst>
          </p:cNvPr>
          <p:cNvSpPr/>
          <p:nvPr/>
        </p:nvSpPr>
        <p:spPr>
          <a:xfrm>
            <a:off x="4629688" y="3991305"/>
            <a:ext cx="4740731" cy="1132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F395ED-34AA-5D95-1EAA-50BEBA8FA9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858" r="12587" b="16840"/>
          <a:stretch/>
        </p:blipFill>
        <p:spPr>
          <a:xfrm>
            <a:off x="2385059" y="5225142"/>
            <a:ext cx="7368778" cy="135310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F37657-809F-8182-4DB5-C2E236BC59AC}"/>
              </a:ext>
            </a:extLst>
          </p:cNvPr>
          <p:cNvSpPr/>
          <p:nvPr/>
        </p:nvSpPr>
        <p:spPr>
          <a:xfrm>
            <a:off x="4912718" y="5812491"/>
            <a:ext cx="4740731" cy="69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221B3F-10B8-24C9-9316-C7C9089628BA}"/>
              </a:ext>
            </a:extLst>
          </p:cNvPr>
          <p:cNvSpPr/>
          <p:nvPr/>
        </p:nvSpPr>
        <p:spPr>
          <a:xfrm>
            <a:off x="2402543" y="1962445"/>
            <a:ext cx="7289200" cy="162791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FE1351-354F-3681-9FCD-CE7A9B0E86BB}"/>
              </a:ext>
            </a:extLst>
          </p:cNvPr>
          <p:cNvSpPr/>
          <p:nvPr/>
        </p:nvSpPr>
        <p:spPr>
          <a:xfrm>
            <a:off x="2398506" y="3656349"/>
            <a:ext cx="7289200" cy="149381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595FB0-03C2-9EE1-EAA3-878CE3632C0F}"/>
              </a:ext>
            </a:extLst>
          </p:cNvPr>
          <p:cNvSpPr/>
          <p:nvPr/>
        </p:nvSpPr>
        <p:spPr>
          <a:xfrm>
            <a:off x="2418037" y="5758495"/>
            <a:ext cx="7289200" cy="79856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1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14" y="58465"/>
            <a:ext cx="11756571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Backpatching for Flow-of-Control Statements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611187" y="6434410"/>
            <a:ext cx="2013857" cy="365125"/>
          </a:xfrm>
        </p:spPr>
        <p:txBody>
          <a:bodyPr/>
          <a:lstStyle/>
          <a:p>
            <a:r>
              <a:rPr lang="en-US" dirty="0" err="1"/>
              <a:t>Dept</a:t>
            </a:r>
            <a:r>
              <a:rPr lang="en-US" dirty="0"/>
              <a:t> of CSE, BUET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2314" r="12587" b="32735"/>
          <a:stretch/>
        </p:blipFill>
        <p:spPr>
          <a:xfrm>
            <a:off x="2794765" y="1449977"/>
            <a:ext cx="6606822" cy="124097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20CDAA-44CE-56C8-2099-6D8628BF8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213" r="12587"/>
          <a:stretch/>
        </p:blipFill>
        <p:spPr>
          <a:xfrm>
            <a:off x="2794766" y="2690949"/>
            <a:ext cx="6602469" cy="139337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303838-87F5-4152-32EF-8A4CDBC733A4}"/>
              </a:ext>
            </a:extLst>
          </p:cNvPr>
          <p:cNvSpPr/>
          <p:nvPr/>
        </p:nvSpPr>
        <p:spPr>
          <a:xfrm>
            <a:off x="4912718" y="1476103"/>
            <a:ext cx="4126779" cy="523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CEED5C-65E1-41D0-6054-1B71FAB9B3DD}"/>
              </a:ext>
            </a:extLst>
          </p:cNvPr>
          <p:cNvSpPr/>
          <p:nvPr/>
        </p:nvSpPr>
        <p:spPr>
          <a:xfrm>
            <a:off x="5025929" y="2098770"/>
            <a:ext cx="4126779" cy="523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75576-98A0-F3CE-C632-312EEBF27B75}"/>
              </a:ext>
            </a:extLst>
          </p:cNvPr>
          <p:cNvSpPr/>
          <p:nvPr/>
        </p:nvSpPr>
        <p:spPr>
          <a:xfrm>
            <a:off x="2864223" y="1545589"/>
            <a:ext cx="6248143" cy="48594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6C522-7F4B-BE92-1115-05E6143B10EA}"/>
              </a:ext>
            </a:extLst>
          </p:cNvPr>
          <p:cNvSpPr/>
          <p:nvPr/>
        </p:nvSpPr>
        <p:spPr>
          <a:xfrm>
            <a:off x="2882153" y="2114846"/>
            <a:ext cx="6248143" cy="48594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4" grpId="0" animBg="1"/>
      <p:bldP spid="4" grpId="1" animBg="1"/>
      <p:bldP spid="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0192-130D-6F1B-CC8E-DB10D795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8" y="2779002"/>
            <a:ext cx="11090375" cy="407899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If </a:t>
            </a:r>
            <a:r>
              <a:rPr lang="en-US" i="1" dirty="0"/>
              <a:t>S</a:t>
            </a:r>
            <a:r>
              <a:rPr lang="en-US" dirty="0"/>
              <a:t> is the enclosing loop construct, then a </a:t>
            </a:r>
            <a:r>
              <a:rPr lang="en-US" dirty="0">
                <a:solidFill>
                  <a:srgbClr val="0070C0"/>
                </a:solidFill>
              </a:rPr>
              <a:t>break</a:t>
            </a:r>
            <a:r>
              <a:rPr lang="en-US" dirty="0"/>
              <a:t>-statement is a jump to the first instruction after the code for </a:t>
            </a:r>
            <a:r>
              <a:rPr lang="en-US" i="1" dirty="0"/>
              <a:t>S</a:t>
            </a:r>
          </a:p>
          <a:p>
            <a:pPr algn="just"/>
            <a:r>
              <a:rPr lang="en-US" dirty="0"/>
              <a:t>Code for </a:t>
            </a:r>
            <a:r>
              <a:rPr lang="en-US" dirty="0">
                <a:solidFill>
                  <a:srgbClr val="0070C0"/>
                </a:solidFill>
              </a:rPr>
              <a:t>break</a:t>
            </a:r>
            <a:r>
              <a:rPr lang="en-US" dirty="0"/>
              <a:t> can be generated by</a:t>
            </a:r>
          </a:p>
          <a:p>
            <a:pPr marL="914400" lvl="1" indent="-457200" algn="just">
              <a:buAutoNum type="arabicParenBoth"/>
            </a:pPr>
            <a:r>
              <a:rPr lang="en-US" dirty="0"/>
              <a:t>Keeping track of the enclosing loop statement </a:t>
            </a:r>
            <a:r>
              <a:rPr lang="en-US" i="1" dirty="0"/>
              <a:t>S</a:t>
            </a:r>
          </a:p>
          <a:p>
            <a:pPr marL="914400" lvl="1" indent="-457200" algn="just">
              <a:buAutoNum type="arabicParenBoth"/>
            </a:pPr>
            <a:r>
              <a:rPr lang="en-US" dirty="0"/>
              <a:t>generating an unfilled jump for the </a:t>
            </a:r>
            <a:r>
              <a:rPr lang="en-US" dirty="0">
                <a:solidFill>
                  <a:srgbClr val="0070C0"/>
                </a:solidFill>
              </a:rPr>
              <a:t>break</a:t>
            </a:r>
            <a:r>
              <a:rPr lang="en-US" dirty="0"/>
              <a:t>-statement, and</a:t>
            </a:r>
          </a:p>
          <a:p>
            <a:pPr marL="914400" lvl="1" indent="-457200" algn="just">
              <a:buAutoNum type="arabicParenBoth"/>
            </a:pPr>
            <a:r>
              <a:rPr lang="en-US" dirty="0"/>
              <a:t>putting this unfilled jump on </a:t>
            </a:r>
            <a:r>
              <a:rPr lang="en-US" i="1" dirty="0" err="1"/>
              <a:t>S</a:t>
            </a:r>
            <a:r>
              <a:rPr lang="en-US" dirty="0" err="1"/>
              <a:t>.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</a:rPr>
              <a:t>nextlist</a:t>
            </a:r>
            <a:endParaRPr lang="en-US" i="1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r>
              <a:rPr lang="en-US" dirty="0"/>
              <a:t>In a two-pass front end that builds syntax trees, </a:t>
            </a:r>
            <a:r>
              <a:rPr lang="en-US" i="1" dirty="0" err="1"/>
              <a:t>S</a:t>
            </a:r>
            <a:r>
              <a:rPr lang="en-US" dirty="0" err="1"/>
              <a:t>.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</a:rPr>
              <a:t>nextlist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can be implemented as a field in the node for S</a:t>
            </a:r>
          </a:p>
          <a:p>
            <a:pPr algn="just"/>
            <a:r>
              <a:rPr lang="en-US" dirty="0"/>
              <a:t>We can keep track of S by using the symbol table to map a special identifier break to the node for the enclosing loop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732C5-39D6-FD63-5B9F-4F663CB8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D5FF83-E67B-5A6B-A2C5-CB610474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6" y="-3527"/>
            <a:ext cx="11756571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Break- and Continue- Statements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6EA9DE-C9D5-B424-996E-FAD281C814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39"/>
          <a:stretch/>
        </p:blipFill>
        <p:spPr>
          <a:xfrm>
            <a:off x="2652371" y="898199"/>
            <a:ext cx="7462858" cy="1760657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DA4FA8-76C1-E42C-BEEB-E59132F7B2CA}"/>
              </a:ext>
            </a:extLst>
          </p:cNvPr>
          <p:cNvSpPr/>
          <p:nvPr/>
        </p:nvSpPr>
        <p:spPr>
          <a:xfrm rot="16200000">
            <a:off x="-2984289" y="2997936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(6.7.4)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6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0192-130D-6F1B-CC8E-DB10D795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370"/>
            <a:ext cx="10515600" cy="4968095"/>
          </a:xfrm>
        </p:spPr>
        <p:txBody>
          <a:bodyPr/>
          <a:lstStyle/>
          <a:p>
            <a:r>
              <a:rPr lang="en-US" dirty="0"/>
              <a:t>Alternatively,  a pointer to the </a:t>
            </a:r>
            <a:r>
              <a:rPr lang="en-US" i="1" dirty="0" err="1"/>
              <a:t>S</a:t>
            </a:r>
            <a:r>
              <a:rPr lang="en-US" dirty="0" err="1"/>
              <a:t>.</a:t>
            </a:r>
            <a:r>
              <a:rPr lang="en-US" i="1" dirty="0" err="1">
                <a:solidFill>
                  <a:schemeClr val="accent5">
                    <a:lumMod val="75000"/>
                  </a:schemeClr>
                </a:solidFill>
              </a:rPr>
              <a:t>nextlist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/>
              <a:t>can be put in the symbol table.</a:t>
            </a:r>
          </a:p>
          <a:p>
            <a:r>
              <a:rPr lang="en-US" dirty="0"/>
              <a:t>When a </a:t>
            </a:r>
            <a:r>
              <a:rPr lang="en-US" dirty="0">
                <a:solidFill>
                  <a:srgbClr val="0070C0"/>
                </a:solidFill>
              </a:rPr>
              <a:t>break</a:t>
            </a:r>
            <a:r>
              <a:rPr lang="en-US" dirty="0"/>
              <a:t>-statement is reached, </a:t>
            </a:r>
          </a:p>
          <a:p>
            <a:pPr lvl="1"/>
            <a:r>
              <a:rPr lang="en-US" dirty="0"/>
              <a:t>a unfilled jump is generated, </a:t>
            </a:r>
          </a:p>
          <a:p>
            <a:pPr lvl="1"/>
            <a:r>
              <a:rPr lang="en-US" dirty="0"/>
              <a:t>the  </a:t>
            </a:r>
            <a:r>
              <a:rPr lang="en-US" i="1" dirty="0" err="1">
                <a:solidFill>
                  <a:schemeClr val="accent6">
                    <a:lumMod val="50000"/>
                  </a:schemeClr>
                </a:solidFill>
              </a:rPr>
              <a:t>nextlist</a:t>
            </a:r>
            <a:r>
              <a:rPr lang="en-US" dirty="0"/>
              <a:t> is looked up in the symbol table,</a:t>
            </a:r>
          </a:p>
          <a:p>
            <a:pPr lvl="1"/>
            <a:r>
              <a:rPr lang="en-US" dirty="0"/>
              <a:t>the jump added to the list, and</a:t>
            </a:r>
          </a:p>
          <a:p>
            <a:pPr lvl="1"/>
            <a:r>
              <a:rPr lang="en-US" dirty="0"/>
              <a:t>finally, the list is backpatched</a:t>
            </a:r>
          </a:p>
          <a:p>
            <a:r>
              <a:rPr lang="en-US" dirty="0">
                <a:solidFill>
                  <a:srgbClr val="0070C0"/>
                </a:solidFill>
              </a:rPr>
              <a:t>Continue-</a:t>
            </a:r>
            <a:r>
              <a:rPr lang="en-US" dirty="0"/>
              <a:t>statement can be handled in a manner analogous to </a:t>
            </a:r>
            <a:r>
              <a:rPr lang="en-US" dirty="0">
                <a:solidFill>
                  <a:srgbClr val="0070C0"/>
                </a:solidFill>
              </a:rPr>
              <a:t>break-</a:t>
            </a:r>
            <a:r>
              <a:rPr lang="en-US" dirty="0"/>
              <a:t>statement.</a:t>
            </a:r>
          </a:p>
          <a:p>
            <a:pPr lvl="1"/>
            <a:r>
              <a:rPr lang="en-US" dirty="0"/>
              <a:t>However, the target of the generated jump </a:t>
            </a:r>
            <a:r>
              <a:rPr lang="en-US"/>
              <a:t>is different.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1E6A2-7F38-6085-42FD-73715BD5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732C5-39D6-FD63-5B9F-4F663CB8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D5FF83-E67B-5A6B-A2C5-CB610474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58465"/>
            <a:ext cx="11756571" cy="8904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Break-, Continue-, and </a:t>
            </a:r>
            <a:r>
              <a:rPr lang="en-US" sz="4000" dirty="0" err="1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Goto</a:t>
            </a:r>
            <a:r>
              <a:rPr lang="en-US" sz="4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-Statements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B16946-087B-FCDE-4051-357E41F7B38E}"/>
              </a:ext>
            </a:extLst>
          </p:cNvPr>
          <p:cNvSpPr/>
          <p:nvPr/>
        </p:nvSpPr>
        <p:spPr>
          <a:xfrm rot="16200000">
            <a:off x="-2997937" y="2997936"/>
            <a:ext cx="6834074" cy="838200"/>
          </a:xfrm>
          <a:prstGeom prst="roundRect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Self Study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(6.7.4)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2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6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9490"/>
            <a:ext cx="10515600" cy="4827474"/>
          </a:xfrm>
        </p:spPr>
        <p:txBody>
          <a:bodyPr>
            <a:normAutofit/>
          </a:bodyPr>
          <a:lstStyle/>
          <a:p>
            <a:r>
              <a:rPr lang="en-US" dirty="0">
                <a:latin typeface="Candara" pitchFamily="34" charset="0"/>
              </a:rPr>
              <a:t>Compilers: Principles, Techniques, &amp; Tools, by</a:t>
            </a:r>
          </a:p>
          <a:p>
            <a:pPr marL="457200" lvl="1" indent="0">
              <a:buNone/>
            </a:pPr>
            <a:r>
              <a:rPr lang="en-US" dirty="0">
                <a:latin typeface="Candara" pitchFamily="34" charset="0"/>
              </a:rPr>
              <a:t>Alfred B. </a:t>
            </a:r>
            <a:r>
              <a:rPr lang="en-US" dirty="0" err="1">
                <a:latin typeface="Candara" pitchFamily="34" charset="0"/>
              </a:rPr>
              <a:t>Aho</a:t>
            </a:r>
            <a:r>
              <a:rPr lang="en-US" dirty="0">
                <a:latin typeface="Candara" pitchFamily="34" charset="0"/>
              </a:rPr>
              <a:t>, Monica S. Lam, Ravi </a:t>
            </a:r>
            <a:r>
              <a:rPr lang="en-US" dirty="0" err="1">
                <a:latin typeface="Candara" pitchFamily="34" charset="0"/>
              </a:rPr>
              <a:t>Sethi</a:t>
            </a:r>
            <a:r>
              <a:rPr lang="en-US" dirty="0">
                <a:latin typeface="Candara" pitchFamily="34" charset="0"/>
              </a:rPr>
              <a:t>, Jeffrey D. Ullman</a:t>
            </a:r>
          </a:p>
          <a:p>
            <a:pPr lvl="1"/>
            <a:endParaRPr lang="en-US" dirty="0">
              <a:latin typeface="Candara" pitchFamily="34" charset="0"/>
            </a:endParaRPr>
          </a:p>
          <a:p>
            <a:pPr lvl="1"/>
            <a:r>
              <a:rPr lang="en-US" dirty="0">
                <a:latin typeface="Candara" pitchFamily="34" charset="0"/>
              </a:rPr>
              <a:t>Chapter 6</a:t>
            </a:r>
          </a:p>
          <a:p>
            <a:pPr lvl="2"/>
            <a:r>
              <a:rPr lang="en-US" dirty="0">
                <a:latin typeface="Candara" pitchFamily="34" charset="0"/>
              </a:rPr>
              <a:t>6.1</a:t>
            </a:r>
          </a:p>
          <a:p>
            <a:pPr lvl="2"/>
            <a:r>
              <a:rPr lang="en-US" dirty="0">
                <a:latin typeface="Candara" pitchFamily="34" charset="0"/>
              </a:rPr>
              <a:t>6.2</a:t>
            </a:r>
          </a:p>
          <a:p>
            <a:pPr lvl="2"/>
            <a:r>
              <a:rPr lang="en-US" dirty="0">
                <a:latin typeface="Candara" pitchFamily="34" charset="0"/>
              </a:rPr>
              <a:t>6.3</a:t>
            </a:r>
          </a:p>
          <a:p>
            <a:pPr lvl="2"/>
            <a:r>
              <a:rPr lang="en-US" dirty="0">
                <a:latin typeface="Candara" pitchFamily="34" charset="0"/>
              </a:rPr>
              <a:t>6.4</a:t>
            </a:r>
          </a:p>
          <a:p>
            <a:pPr lvl="2"/>
            <a:r>
              <a:rPr lang="en-US" dirty="0">
                <a:latin typeface="Candara" pitchFamily="34" charset="0"/>
              </a:rPr>
              <a:t>6.6</a:t>
            </a:r>
          </a:p>
          <a:p>
            <a:pPr lvl="2"/>
            <a:r>
              <a:rPr lang="en-US" dirty="0">
                <a:latin typeface="Candara" pitchFamily="34" charset="0"/>
              </a:rPr>
              <a:t>6.7</a:t>
            </a:r>
          </a:p>
          <a:p>
            <a:pPr lvl="2"/>
            <a:r>
              <a:rPr lang="en-US" dirty="0">
                <a:latin typeface="Candara" pitchFamily="34" charset="0"/>
              </a:rPr>
              <a:t>6.8 (Self study)</a:t>
            </a:r>
          </a:p>
          <a:p>
            <a:pPr lvl="2"/>
            <a:r>
              <a:rPr lang="en-US">
                <a:latin typeface="Candara" pitchFamily="34" charset="0"/>
              </a:rPr>
              <a:t>6.9 </a:t>
            </a:r>
            <a:r>
              <a:rPr lang="en-US" dirty="0">
                <a:latin typeface="Candara" pitchFamily="34" charset="0"/>
              </a:rPr>
              <a:t>(Self study)</a:t>
            </a:r>
          </a:p>
          <a:p>
            <a:pPr lvl="2"/>
            <a:endParaRPr lang="en-US" dirty="0">
              <a:latin typeface="Candara" pitchFamily="34" charset="0"/>
            </a:endParaRPr>
          </a:p>
          <a:p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85521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455" y="2498722"/>
            <a:ext cx="10515600" cy="122815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319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42852</TotalTime>
  <Words>12820</Words>
  <Application>Microsoft Office PowerPoint</Application>
  <PresentationFormat>Widescreen</PresentationFormat>
  <Paragraphs>2320</Paragraphs>
  <Slides>119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8" baseType="lpstr">
      <vt:lpstr>Arial</vt:lpstr>
      <vt:lpstr>Calibri</vt:lpstr>
      <vt:lpstr>Calibri Light</vt:lpstr>
      <vt:lpstr>Cambria Math</vt:lpstr>
      <vt:lpstr>Candara</vt:lpstr>
      <vt:lpstr>Courier New</vt:lpstr>
      <vt:lpstr>Times New Roman</vt:lpstr>
      <vt:lpstr>Wingdings</vt:lpstr>
      <vt:lpstr>Office Theme</vt:lpstr>
      <vt:lpstr>Intermediate Code Generation</vt:lpstr>
      <vt:lpstr>Intermediate Representation</vt:lpstr>
      <vt:lpstr>Intermediate Representation</vt:lpstr>
      <vt:lpstr>Intermediate Representation</vt:lpstr>
      <vt:lpstr>Why Need IR?</vt:lpstr>
      <vt:lpstr>Why Need IR?</vt:lpstr>
      <vt:lpstr>The LLVM Project https://www.llvm.org/</vt:lpstr>
      <vt:lpstr>Designing Good IR?</vt:lpstr>
      <vt:lpstr>Choice of an IR</vt:lpstr>
      <vt:lpstr>High and Low Level IRs</vt:lpstr>
      <vt:lpstr>Variants of Syntax Trees</vt:lpstr>
      <vt:lpstr>Directed Acyclic Graphs (DAG)</vt:lpstr>
      <vt:lpstr>Directed Acyclic Graphs (DAG)</vt:lpstr>
      <vt:lpstr>Directed Acyclic Graphs (DAG)</vt:lpstr>
      <vt:lpstr>SDD for Constructing DAG</vt:lpstr>
      <vt:lpstr>SDD for constructing DAG</vt:lpstr>
      <vt:lpstr>Value Number Method for Constructing DAG</vt:lpstr>
      <vt:lpstr>Value Number Method</vt:lpstr>
      <vt:lpstr>Value Number Method</vt:lpstr>
      <vt:lpstr>Three Address Code</vt:lpstr>
      <vt:lpstr>Three Address Code</vt:lpstr>
      <vt:lpstr>Three Address Code</vt:lpstr>
      <vt:lpstr>Address</vt:lpstr>
      <vt:lpstr>Instructions</vt:lpstr>
      <vt:lpstr>Instructions</vt:lpstr>
      <vt:lpstr>Instructions</vt:lpstr>
      <vt:lpstr>Instructions</vt:lpstr>
      <vt:lpstr>Choice of Operators</vt:lpstr>
      <vt:lpstr>Representing Three Address Code </vt:lpstr>
      <vt:lpstr>Quadruples</vt:lpstr>
      <vt:lpstr>Quadruples</vt:lpstr>
      <vt:lpstr>Triples</vt:lpstr>
      <vt:lpstr>Triples</vt:lpstr>
      <vt:lpstr>Indirect Triples</vt:lpstr>
      <vt:lpstr>Static Single Assignment Form (SSA)</vt:lpstr>
      <vt:lpstr>Static Single Assignment Form (SSA)</vt:lpstr>
      <vt:lpstr>Types and Declarations</vt:lpstr>
      <vt:lpstr>Computing Types</vt:lpstr>
      <vt:lpstr>Type Expressions</vt:lpstr>
      <vt:lpstr>Definition of Type Expressions</vt:lpstr>
      <vt:lpstr>Type Equivalence</vt:lpstr>
      <vt:lpstr>Storage Layout for Local Names</vt:lpstr>
      <vt:lpstr>Storage Layout for Local Names (2)</vt:lpstr>
      <vt:lpstr>Computing Types and Their Widths</vt:lpstr>
      <vt:lpstr>PowerPoint Presentation</vt:lpstr>
      <vt:lpstr>PowerPoint Presentation</vt:lpstr>
      <vt:lpstr>PowerPoint Presentation</vt:lpstr>
      <vt:lpstr>Computing Relative Addresses</vt:lpstr>
      <vt:lpstr>Fields in Records and Classes</vt:lpstr>
      <vt:lpstr>Three Address Code Generation</vt:lpstr>
      <vt:lpstr>An Example</vt:lpstr>
      <vt:lpstr>Translation of Expressions</vt:lpstr>
      <vt:lpstr>Translation of Expressions</vt:lpstr>
      <vt:lpstr>Translation of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Translation of Expressions</vt:lpstr>
      <vt:lpstr>Translation of Expressions</vt:lpstr>
      <vt:lpstr>Incremental Translation</vt:lpstr>
      <vt:lpstr>Addressing Array Element</vt:lpstr>
      <vt:lpstr>Translation of Array References</vt:lpstr>
      <vt:lpstr>PowerPoint Presentation</vt:lpstr>
      <vt:lpstr>PowerPoint Presentation</vt:lpstr>
      <vt:lpstr>PowerPoint Presentation</vt:lpstr>
      <vt:lpstr>PowerPoint Presentation</vt:lpstr>
      <vt:lpstr>Translation of Array References (2)</vt:lpstr>
      <vt:lpstr>Translation of Array References (2)</vt:lpstr>
      <vt:lpstr>Control Flow</vt:lpstr>
      <vt:lpstr>Boolean Expression</vt:lpstr>
      <vt:lpstr>Boolean Expression</vt:lpstr>
      <vt:lpstr>Short Circuit Code</vt:lpstr>
      <vt:lpstr>Short Circuit Code</vt:lpstr>
      <vt:lpstr>Flow of Control Statements</vt:lpstr>
      <vt:lpstr>Flow of Control Statements</vt:lpstr>
      <vt:lpstr>Flow of Control Statements</vt:lpstr>
      <vt:lpstr>Flow of Control Statements</vt:lpstr>
      <vt:lpstr>Flow of Control Statements</vt:lpstr>
      <vt:lpstr>Flow of Control Statements</vt:lpstr>
      <vt:lpstr>Flow of Control Statements</vt:lpstr>
      <vt:lpstr>Translation of Boolean Expression</vt:lpstr>
      <vt:lpstr>Translation of Boolean Expression</vt:lpstr>
      <vt:lpstr>Translation of Boolean Expression</vt:lpstr>
      <vt:lpstr>Translation of Boolean Expression</vt:lpstr>
      <vt:lpstr>Translation of Boolean Expression</vt:lpstr>
      <vt:lpstr>Translation of Boolean Expression</vt:lpstr>
      <vt:lpstr>Translation of Boolean Expression</vt:lpstr>
      <vt:lpstr>Translation of Boolean Expression</vt:lpstr>
      <vt:lpstr>Translation of Boolean Expression</vt:lpstr>
      <vt:lpstr>SDD for Generating Three Address Code for Flow-of-Control Statements</vt:lpstr>
      <vt:lpstr>SDD for Generating Three Address Code for Booleans</vt:lpstr>
      <vt:lpstr>Code Generation</vt:lpstr>
      <vt:lpstr>PowerPoint Presentation</vt:lpstr>
      <vt:lpstr>PowerPoint Presentation</vt:lpstr>
      <vt:lpstr>PowerPoint Presentation</vt:lpstr>
      <vt:lpstr>Avoiding Redundant Gotos</vt:lpstr>
      <vt:lpstr>Avoiding Redundant Gotos</vt:lpstr>
      <vt:lpstr>Avoiding Redundant Gotos</vt:lpstr>
      <vt:lpstr>Avoiding Redundant Gotos</vt:lpstr>
      <vt:lpstr>Boolean Values and Jumping Code</vt:lpstr>
      <vt:lpstr>Boolean Values and Jumping Code</vt:lpstr>
      <vt:lpstr>Backpatching</vt:lpstr>
      <vt:lpstr>Backpatching</vt:lpstr>
      <vt:lpstr>Code Generation Using Backpatching</vt:lpstr>
      <vt:lpstr>Code Generation</vt:lpstr>
      <vt:lpstr>PowerPoint Presentation</vt:lpstr>
      <vt:lpstr>Backpatching for Boolean Expression</vt:lpstr>
      <vt:lpstr>PowerPoint Presentation</vt:lpstr>
      <vt:lpstr>PowerPoint Presentation</vt:lpstr>
      <vt:lpstr>PowerPoint Presentation</vt:lpstr>
      <vt:lpstr>Backpatching for Flow-of-Control Statements</vt:lpstr>
      <vt:lpstr>Backpatching for Flow-of-Control Statements</vt:lpstr>
      <vt:lpstr>Break- and Continue- Statements </vt:lpstr>
      <vt:lpstr>Break-, Continue-, and Goto-Statements </vt:lpstr>
      <vt:lpstr>Reference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Code Generation</dc:title>
  <dc:creator>TAMAL</dc:creator>
  <cp:lastModifiedBy>khaled mahmud</cp:lastModifiedBy>
  <cp:revision>585</cp:revision>
  <dcterms:created xsi:type="dcterms:W3CDTF">2017-05-10T10:10:19Z</dcterms:created>
  <dcterms:modified xsi:type="dcterms:W3CDTF">2023-02-07T02:49:48Z</dcterms:modified>
</cp:coreProperties>
</file>