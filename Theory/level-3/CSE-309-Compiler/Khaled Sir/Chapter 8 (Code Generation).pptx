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340" r:id="rId2"/>
    <p:sldId id="341" r:id="rId3"/>
    <p:sldId id="342" r:id="rId4"/>
    <p:sldId id="343" r:id="rId5"/>
    <p:sldId id="344" r:id="rId6"/>
    <p:sldId id="345" r:id="rId7"/>
    <p:sldId id="346" r:id="rId8"/>
    <p:sldId id="347" r:id="rId9"/>
    <p:sldId id="349" r:id="rId10"/>
    <p:sldId id="350" r:id="rId11"/>
    <p:sldId id="351" r:id="rId12"/>
    <p:sldId id="352" r:id="rId13"/>
    <p:sldId id="355" r:id="rId14"/>
    <p:sldId id="367" r:id="rId15"/>
    <p:sldId id="395" r:id="rId16"/>
    <p:sldId id="368" r:id="rId17"/>
    <p:sldId id="370" r:id="rId18"/>
    <p:sldId id="371" r:id="rId19"/>
    <p:sldId id="375" r:id="rId20"/>
    <p:sldId id="376" r:id="rId21"/>
    <p:sldId id="396" r:id="rId22"/>
    <p:sldId id="377" r:id="rId23"/>
    <p:sldId id="402" r:id="rId24"/>
    <p:sldId id="372" r:id="rId25"/>
    <p:sldId id="373" r:id="rId26"/>
    <p:sldId id="374" r:id="rId27"/>
    <p:sldId id="378" r:id="rId28"/>
    <p:sldId id="379" r:id="rId29"/>
    <p:sldId id="385" r:id="rId30"/>
    <p:sldId id="381" r:id="rId31"/>
    <p:sldId id="382" r:id="rId32"/>
    <p:sldId id="383" r:id="rId33"/>
    <p:sldId id="393" r:id="rId34"/>
    <p:sldId id="328" r:id="rId35"/>
    <p:sldId id="384" r:id="rId36"/>
    <p:sldId id="397" r:id="rId37"/>
    <p:sldId id="398" r:id="rId38"/>
    <p:sldId id="399" r:id="rId39"/>
    <p:sldId id="400" r:id="rId40"/>
    <p:sldId id="356" r:id="rId41"/>
    <p:sldId id="357" r:id="rId42"/>
    <p:sldId id="358" r:id="rId43"/>
    <p:sldId id="359" r:id="rId44"/>
    <p:sldId id="360" r:id="rId45"/>
    <p:sldId id="361" r:id="rId46"/>
    <p:sldId id="362" r:id="rId47"/>
    <p:sldId id="363" r:id="rId48"/>
    <p:sldId id="324" r:id="rId49"/>
    <p:sldId id="325" r:id="rId50"/>
    <p:sldId id="364" r:id="rId51"/>
    <p:sldId id="365" r:id="rId52"/>
    <p:sldId id="366" r:id="rId53"/>
    <p:sldId id="401" r:id="rId54"/>
    <p:sldId id="394" r:id="rId55"/>
    <p:sldId id="329" r:id="rId56"/>
    <p:sldId id="334" r:id="rId57"/>
    <p:sldId id="335" r:id="rId58"/>
    <p:sldId id="330" r:id="rId59"/>
    <p:sldId id="331" r:id="rId60"/>
    <p:sldId id="332" r:id="rId61"/>
    <p:sldId id="333" r:id="rId62"/>
    <p:sldId id="337" r:id="rId63"/>
    <p:sldId id="338" r:id="rId64"/>
    <p:sldId id="403" r:id="rId65"/>
    <p:sldId id="404" r:id="rId66"/>
    <p:sldId id="339" r:id="rId67"/>
    <p:sldId id="387" r:id="rId68"/>
    <p:sldId id="388" r:id="rId69"/>
    <p:sldId id="389" r:id="rId70"/>
    <p:sldId id="390" r:id="rId71"/>
    <p:sldId id="391" r:id="rId72"/>
    <p:sldId id="392" r:id="rId73"/>
    <p:sldId id="322" r:id="rId74"/>
    <p:sldId id="32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6" autoAdjust="0"/>
    <p:restoredTop sz="94280" autoAdjust="0"/>
  </p:normalViewPr>
  <p:slideViewPr>
    <p:cSldViewPr snapToGrid="0">
      <p:cViewPr varScale="1">
        <p:scale>
          <a:sx n="70" d="100"/>
          <a:sy n="70" d="100"/>
        </p:scale>
        <p:origin x="726" y="54"/>
      </p:cViewPr>
      <p:guideLst>
        <p:guide orient="horz" pos="2160"/>
        <p:guide pos="3840"/>
      </p:guideLst>
    </p:cSldViewPr>
  </p:slideViewPr>
  <p:outlineViewPr>
    <p:cViewPr>
      <p:scale>
        <a:sx n="33" d="100"/>
        <a:sy n="33" d="100"/>
      </p:scale>
      <p:origin x="0" y="-1180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5A8469-F2F8-4C2D-95A7-DF365BA336AB}" type="datetimeFigureOut">
              <a:rPr lang="en-US" smtClean="0"/>
              <a:pPr/>
              <a:t>3/3/2023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BAF06-35E5-4F2E-8263-85249F2169BB}" type="slidenum">
              <a:rPr lang="en-US" smtClean="0"/>
              <a:pPr/>
              <a:t>‹#›</a:t>
            </a:fld>
            <a:endParaRPr lang="en-US"/>
          </a:p>
        </p:txBody>
      </p:sp>
    </p:spTree>
    <p:extLst>
      <p:ext uri="{BB962C8B-B14F-4D97-AF65-F5344CB8AC3E}">
        <p14:creationId xmlns:p14="http://schemas.microsoft.com/office/powerpoint/2010/main" val="811058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ABAF06-35E5-4F2E-8263-85249F2169BB}" type="slidenum">
              <a:rPr lang="en-US" smtClean="0"/>
              <a:pPr/>
              <a:t>18</a:t>
            </a:fld>
            <a:endParaRPr lang="en-US"/>
          </a:p>
        </p:txBody>
      </p:sp>
    </p:spTree>
    <p:extLst>
      <p:ext uri="{BB962C8B-B14F-4D97-AF65-F5344CB8AC3E}">
        <p14:creationId xmlns:p14="http://schemas.microsoft.com/office/powerpoint/2010/main" val="279877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we add another instruction at the top v = a + b</a:t>
            </a:r>
          </a:p>
        </p:txBody>
      </p:sp>
      <p:sp>
        <p:nvSpPr>
          <p:cNvPr id="4" name="Slide Number Placeholder 3"/>
          <p:cNvSpPr>
            <a:spLocks noGrp="1"/>
          </p:cNvSpPr>
          <p:nvPr>
            <p:ph type="sldNum" sz="quarter" idx="5"/>
          </p:nvPr>
        </p:nvSpPr>
        <p:spPr/>
        <p:txBody>
          <a:bodyPr/>
          <a:lstStyle/>
          <a:p>
            <a:fld id="{59ABAF06-35E5-4F2E-8263-85249F2169BB}" type="slidenum">
              <a:rPr lang="en-US" smtClean="0"/>
              <a:pPr/>
              <a:t>26</a:t>
            </a:fld>
            <a:endParaRPr lang="en-US"/>
          </a:p>
        </p:txBody>
      </p:sp>
    </p:spTree>
    <p:extLst>
      <p:ext uri="{BB962C8B-B14F-4D97-AF65-F5344CB8AC3E}">
        <p14:creationId xmlns:p14="http://schemas.microsoft.com/office/powerpoint/2010/main" val="2013745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BAF06-35E5-4F2E-8263-85249F2169BB}" type="slidenum">
              <a:rPr lang="en-US" smtClean="0"/>
              <a:pPr/>
              <a:t>48</a:t>
            </a:fld>
            <a:endParaRPr lang="en-US"/>
          </a:p>
        </p:txBody>
      </p:sp>
    </p:spTree>
    <p:extLst>
      <p:ext uri="{BB962C8B-B14F-4D97-AF65-F5344CB8AC3E}">
        <p14:creationId xmlns:p14="http://schemas.microsoft.com/office/powerpoint/2010/main" val="529062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BAF06-35E5-4F2E-8263-85249F2169BB}" type="slidenum">
              <a:rPr lang="en-US" smtClean="0"/>
              <a:pPr/>
              <a:t>49</a:t>
            </a:fld>
            <a:endParaRPr lang="en-US"/>
          </a:p>
        </p:txBody>
      </p:sp>
    </p:spTree>
    <p:extLst>
      <p:ext uri="{BB962C8B-B14F-4D97-AF65-F5344CB8AC3E}">
        <p14:creationId xmlns:p14="http://schemas.microsoft.com/office/powerpoint/2010/main" val="865215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ABAF06-35E5-4F2E-8263-85249F2169BB}" type="slidenum">
              <a:rPr lang="en-US" smtClean="0"/>
              <a:pPr/>
              <a:t>51</a:t>
            </a:fld>
            <a:endParaRPr lang="en-US"/>
          </a:p>
        </p:txBody>
      </p:sp>
    </p:spTree>
    <p:extLst>
      <p:ext uri="{BB962C8B-B14F-4D97-AF65-F5344CB8AC3E}">
        <p14:creationId xmlns:p14="http://schemas.microsoft.com/office/powerpoint/2010/main" val="1795182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BAF06-35E5-4F2E-8263-85249F2169BB}" type="slidenum">
              <a:rPr lang="en-US" smtClean="0"/>
              <a:pPr/>
              <a:t>52</a:t>
            </a:fld>
            <a:endParaRPr lang="en-US"/>
          </a:p>
        </p:txBody>
      </p:sp>
    </p:spTree>
    <p:extLst>
      <p:ext uri="{BB962C8B-B14F-4D97-AF65-F5344CB8AC3E}">
        <p14:creationId xmlns:p14="http://schemas.microsoft.com/office/powerpoint/2010/main" val="3226524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ABAF06-35E5-4F2E-8263-85249F2169BB}" type="slidenum">
              <a:rPr lang="en-US" smtClean="0"/>
              <a:pPr/>
              <a:t>70</a:t>
            </a:fld>
            <a:endParaRPr lang="en-US"/>
          </a:p>
        </p:txBody>
      </p:sp>
    </p:spTree>
    <p:extLst>
      <p:ext uri="{BB962C8B-B14F-4D97-AF65-F5344CB8AC3E}">
        <p14:creationId xmlns:p14="http://schemas.microsoft.com/office/powerpoint/2010/main" val="2343431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76837C-D6AB-4423-AF86-17F672FE3F82}" type="datetimeFigureOut">
              <a:rPr lang="en-US" smtClean="0"/>
              <a:pPr/>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3561974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76837C-D6AB-4423-AF86-17F672FE3F82}" type="datetimeFigureOut">
              <a:rPr lang="en-US" smtClean="0"/>
              <a:pPr/>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2536717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76837C-D6AB-4423-AF86-17F672FE3F82}" type="datetimeFigureOut">
              <a:rPr lang="en-US" smtClean="0"/>
              <a:pPr/>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1540665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76837C-D6AB-4423-AF86-17F672FE3F82}" type="datetimeFigureOut">
              <a:rPr lang="en-US" smtClean="0"/>
              <a:pPr/>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3966353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76837C-D6AB-4423-AF86-17F672FE3F82}" type="datetimeFigureOut">
              <a:rPr lang="en-US" smtClean="0"/>
              <a:pPr/>
              <a:t>3/3/2023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1054962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76837C-D6AB-4423-AF86-17F672FE3F82}" type="datetimeFigureOut">
              <a:rPr lang="en-US" smtClean="0"/>
              <a:pPr/>
              <a:t>3/3/2023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43880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76837C-D6AB-4423-AF86-17F672FE3F82}" type="datetimeFigureOut">
              <a:rPr lang="en-US" smtClean="0"/>
              <a:pPr/>
              <a:t>3/3/2023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1505992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376837C-D6AB-4423-AF86-17F672FE3F82}" type="datetimeFigureOut">
              <a:rPr lang="en-US" smtClean="0"/>
              <a:pPr/>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791130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376837C-D6AB-4423-AF86-17F672FE3F82}" type="datetimeFigureOut">
              <a:rPr lang="en-US" smtClean="0"/>
              <a:pPr/>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2644181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76837C-D6AB-4423-AF86-17F672FE3F82}" type="datetimeFigureOut">
              <a:rPr lang="en-US" smtClean="0"/>
              <a:pPr/>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2475483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76837C-D6AB-4423-AF86-17F672FE3F82}" type="datetimeFigureOut">
              <a:rPr lang="en-US" smtClean="0"/>
              <a:pPr/>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57326-B925-4718-81F1-25EB183CA7BB}" type="slidenum">
              <a:rPr lang="en-US" smtClean="0"/>
              <a:pPr/>
              <a:t>‹#›</a:t>
            </a:fld>
            <a:endParaRPr lang="en-US"/>
          </a:p>
        </p:txBody>
      </p:sp>
    </p:spTree>
    <p:extLst>
      <p:ext uri="{BB962C8B-B14F-4D97-AF65-F5344CB8AC3E}">
        <p14:creationId xmlns:p14="http://schemas.microsoft.com/office/powerpoint/2010/main" val="28416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6837C-D6AB-4423-AF86-17F672FE3F82}" type="datetimeFigureOut">
              <a:rPr lang="en-US" smtClean="0"/>
              <a:pPr/>
              <a:t>3/3/2023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E57326-B925-4718-81F1-25EB183CA7BB}" type="slidenum">
              <a:rPr lang="en-US" smtClean="0"/>
              <a:pPr/>
              <a:t>‹#›</a:t>
            </a:fld>
            <a:endParaRPr lang="en-US"/>
          </a:p>
        </p:txBody>
      </p:sp>
    </p:spTree>
    <p:extLst>
      <p:ext uri="{BB962C8B-B14F-4D97-AF65-F5344CB8AC3E}">
        <p14:creationId xmlns:p14="http://schemas.microsoft.com/office/powerpoint/2010/main" val="3672341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user.it.uu.se/~kostis/Teaching/KT1-11/Slides/lecture16.pdf" TargetMode="External"/><Relationship Id="rId2" Type="http://schemas.openxmlformats.org/officeDocument/2006/relationships/hyperlink" Target="http://web.cs.ucla.edu/~palsberg/course/cs132/linearscan.pdf"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33806"/>
            <a:ext cx="9144000" cy="2387600"/>
          </a:xfrm>
          <a:effectLst>
            <a:outerShdw blurRad="50800" dist="38100" dir="2700000" algn="tl" rotWithShape="0">
              <a:prstClr val="black">
                <a:alpha val="40000"/>
              </a:prstClr>
            </a:outerShdw>
          </a:effectLst>
        </p:spPr>
        <p:txBody>
          <a:bodyPr/>
          <a:lstStyle/>
          <a:p>
            <a:r>
              <a:rPr lang="en-US" dirty="0">
                <a:solidFill>
                  <a:schemeClr val="tx2">
                    <a:lumMod val="50000"/>
                  </a:schemeClr>
                </a:solidFill>
                <a:latin typeface="Candara" panose="020E0502030303020204" pitchFamily="34" charset="0"/>
              </a:rPr>
              <a:t>Code Generation</a:t>
            </a:r>
          </a:p>
        </p:txBody>
      </p:sp>
      <p:sp>
        <p:nvSpPr>
          <p:cNvPr id="4" name="Rectangle 3">
            <a:extLst>
              <a:ext uri="{FF2B5EF4-FFF2-40B4-BE49-F238E27FC236}">
                <a16:creationId xmlns:a16="http://schemas.microsoft.com/office/drawing/2014/main" id="{8ABD2224-64F1-590A-492B-08D14AAB117E}"/>
              </a:ext>
            </a:extLst>
          </p:cNvPr>
          <p:cNvSpPr/>
          <p:nvPr/>
        </p:nvSpPr>
        <p:spPr>
          <a:xfrm>
            <a:off x="4159863" y="1933967"/>
            <a:ext cx="3365025" cy="92333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defTabSz="914400">
              <a:lnSpc>
                <a:spcPct val="90000"/>
              </a:lnSpc>
              <a:spcBef>
                <a:spcPct val="0"/>
              </a:spcBef>
            </a:pPr>
            <a:r>
              <a:rPr lang="en-US" sz="5400" dirty="0">
                <a:solidFill>
                  <a:srgbClr val="FF0000"/>
                </a:solidFill>
                <a:latin typeface="Candara" panose="020E0502030303020204" pitchFamily="34" charset="0"/>
                <a:ea typeface="+mj-ea"/>
                <a:cs typeface="+mj-cs"/>
              </a:rPr>
              <a:t>Chapter 8</a:t>
            </a:r>
            <a:endParaRPr lang="en-US" sz="6000" dirty="0">
              <a:solidFill>
                <a:srgbClr val="FF0000"/>
              </a:solidFill>
              <a:latin typeface="Candara" panose="020E0502030303020204" pitchFamily="34" charset="0"/>
              <a:ea typeface="+mj-ea"/>
              <a:cs typeface="+mj-cs"/>
            </a:endParaRPr>
          </a:p>
        </p:txBody>
      </p:sp>
    </p:spTree>
    <p:extLst>
      <p:ext uri="{BB962C8B-B14F-4D97-AF65-F5344CB8AC3E}">
        <p14:creationId xmlns:p14="http://schemas.microsoft.com/office/powerpoint/2010/main" val="979164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Code Generation</a:t>
            </a:r>
          </a:p>
        </p:txBody>
      </p:sp>
      <p:sp>
        <p:nvSpPr>
          <p:cNvPr id="7" name="Content Placeholder 6"/>
          <p:cNvSpPr>
            <a:spLocks noGrp="1"/>
          </p:cNvSpPr>
          <p:nvPr>
            <p:ph idx="1"/>
          </p:nvPr>
        </p:nvSpPr>
        <p:spPr>
          <a:xfrm>
            <a:off x="838200" y="1246909"/>
            <a:ext cx="10515600" cy="4930054"/>
          </a:xfrm>
        </p:spPr>
        <p:txBody>
          <a:bodyPr/>
          <a:lstStyle/>
          <a:p>
            <a:r>
              <a:rPr lang="en-US" dirty="0">
                <a:latin typeface="Candara" panose="020E0502030303020204" pitchFamily="34" charset="0"/>
              </a:rPr>
              <a:t>Final phase of our compiler model</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a:t>
            </a:fld>
            <a:endParaRPr lang="en-US" dirty="0"/>
          </a:p>
        </p:txBody>
      </p:sp>
      <p:grpSp>
        <p:nvGrpSpPr>
          <p:cNvPr id="5" name="Group 3"/>
          <p:cNvGrpSpPr>
            <a:grpSpLocks/>
          </p:cNvGrpSpPr>
          <p:nvPr/>
        </p:nvGrpSpPr>
        <p:grpSpPr bwMode="auto">
          <a:xfrm>
            <a:off x="1353006" y="2659626"/>
            <a:ext cx="9113846" cy="2601913"/>
            <a:chOff x="-21" y="2112"/>
            <a:chExt cx="5741" cy="1639"/>
          </a:xfrm>
        </p:grpSpPr>
        <p:sp>
          <p:nvSpPr>
            <p:cNvPr id="8" name="Rectangle 4"/>
            <p:cNvSpPr>
              <a:spLocks noChangeArrowheads="1"/>
            </p:cNvSpPr>
            <p:nvPr/>
          </p:nvSpPr>
          <p:spPr bwMode="auto">
            <a:xfrm>
              <a:off x="1632" y="2112"/>
              <a:ext cx="1535" cy="671"/>
            </a:xfrm>
            <a:prstGeom prst="rect">
              <a:avLst/>
            </a:prstGeom>
            <a:noFill/>
            <a:ln w="936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en-US" sz="2400" dirty="0">
                  <a:latin typeface="Candara" panose="020E0502030303020204" pitchFamily="34" charset="0"/>
                  <a:cs typeface="Andalus" panose="02020603050405020304" pitchFamily="18" charset="-78"/>
                </a:rPr>
                <a:t>Code Generator</a:t>
              </a:r>
            </a:p>
          </p:txBody>
        </p:sp>
        <p:sp>
          <p:nvSpPr>
            <p:cNvPr id="10" name="Line 6"/>
            <p:cNvSpPr>
              <a:spLocks noChangeShapeType="1"/>
            </p:cNvSpPr>
            <p:nvPr/>
          </p:nvSpPr>
          <p:spPr bwMode="auto">
            <a:xfrm>
              <a:off x="240" y="2496"/>
              <a:ext cx="1391" cy="0"/>
            </a:xfrm>
            <a:prstGeom prst="line">
              <a:avLst/>
            </a:prstGeom>
            <a:noFill/>
            <a:ln w="9360" cap="sq">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Text Box 7"/>
            <p:cNvSpPr txBox="1">
              <a:spLocks noChangeArrowheads="1"/>
            </p:cNvSpPr>
            <p:nvPr/>
          </p:nvSpPr>
          <p:spPr bwMode="auto">
            <a:xfrm>
              <a:off x="-21" y="2175"/>
              <a:ext cx="164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9pPr>
            </a:lstStyle>
            <a:p>
              <a:pPr eaLnBrk="1" hangingPunct="1">
                <a:buClrTx/>
                <a:buFontTx/>
                <a:buNone/>
              </a:pPr>
              <a:r>
                <a:rPr lang="en-US" altLang="en-US" dirty="0">
                  <a:solidFill>
                    <a:srgbClr val="000000"/>
                  </a:solidFill>
                  <a:latin typeface="Candara" panose="020E0502030303020204" pitchFamily="34" charset="0"/>
                </a:rPr>
                <a:t>Intermediate Code</a:t>
              </a:r>
            </a:p>
          </p:txBody>
        </p:sp>
        <p:sp>
          <p:nvSpPr>
            <p:cNvPr id="12" name="Text Box 8"/>
            <p:cNvSpPr txBox="1">
              <a:spLocks noChangeArrowheads="1"/>
            </p:cNvSpPr>
            <p:nvPr/>
          </p:nvSpPr>
          <p:spPr bwMode="auto">
            <a:xfrm>
              <a:off x="1536" y="3226"/>
              <a:ext cx="1976"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9pPr>
            </a:lstStyle>
            <a:p>
              <a:pPr eaLnBrk="1" hangingPunct="1">
                <a:buClrTx/>
                <a:buFontTx/>
                <a:buNone/>
              </a:pPr>
              <a:r>
                <a:rPr lang="en-US" altLang="en-US" dirty="0">
                  <a:solidFill>
                    <a:srgbClr val="000000"/>
                  </a:solidFill>
                  <a:latin typeface="Candara" panose="020E0502030303020204" pitchFamily="34" charset="0"/>
                </a:rPr>
                <a:t>Relevant Symbol-Table</a:t>
              </a:r>
            </a:p>
            <a:p>
              <a:pPr eaLnBrk="1" hangingPunct="1">
                <a:buClrTx/>
                <a:buFontTx/>
                <a:buNone/>
              </a:pPr>
              <a:r>
                <a:rPr lang="en-US" altLang="en-US" dirty="0">
                  <a:solidFill>
                    <a:srgbClr val="000000"/>
                  </a:solidFill>
                  <a:latin typeface="Candara" panose="020E0502030303020204" pitchFamily="34" charset="0"/>
                </a:rPr>
                <a:t> Information </a:t>
              </a:r>
            </a:p>
          </p:txBody>
        </p:sp>
        <p:sp>
          <p:nvSpPr>
            <p:cNvPr id="13" name="Line 9"/>
            <p:cNvSpPr>
              <a:spLocks noChangeShapeType="1"/>
            </p:cNvSpPr>
            <p:nvPr/>
          </p:nvSpPr>
          <p:spPr bwMode="auto">
            <a:xfrm flipV="1">
              <a:off x="2448" y="2783"/>
              <a:ext cx="0" cy="481"/>
            </a:xfrm>
            <a:prstGeom prst="line">
              <a:avLst/>
            </a:prstGeom>
            <a:noFill/>
            <a:ln w="9360" cap="sq">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 name="Line 10"/>
            <p:cNvSpPr>
              <a:spLocks noChangeShapeType="1"/>
            </p:cNvSpPr>
            <p:nvPr/>
          </p:nvSpPr>
          <p:spPr bwMode="auto">
            <a:xfrm>
              <a:off x="3168" y="2400"/>
              <a:ext cx="527" cy="0"/>
            </a:xfrm>
            <a:prstGeom prst="line">
              <a:avLst/>
            </a:prstGeom>
            <a:noFill/>
            <a:ln w="9360" cap="sq">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Text Box 11"/>
            <p:cNvSpPr txBox="1">
              <a:spLocks noChangeArrowheads="1"/>
            </p:cNvSpPr>
            <p:nvPr/>
          </p:nvSpPr>
          <p:spPr bwMode="auto">
            <a:xfrm>
              <a:off x="3670" y="2170"/>
              <a:ext cx="205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Arial" panose="020B0604020202020204" pitchFamily="34" charset="0"/>
                </a:defRPr>
              </a:lvl9pPr>
            </a:lstStyle>
            <a:p>
              <a:pPr eaLnBrk="1" hangingPunct="1">
                <a:buClrTx/>
                <a:buFontTx/>
                <a:buNone/>
              </a:pPr>
              <a:r>
                <a:rPr lang="en-US" altLang="en-US" dirty="0">
                  <a:solidFill>
                    <a:srgbClr val="000000"/>
                  </a:solidFill>
                  <a:latin typeface="Candara" panose="020E0502030303020204" pitchFamily="34" charset="0"/>
                </a:rPr>
                <a:t>Semantically Equivalent</a:t>
              </a:r>
            </a:p>
            <a:p>
              <a:pPr eaLnBrk="1" hangingPunct="1">
                <a:buClrTx/>
                <a:buFontTx/>
                <a:buNone/>
              </a:pPr>
              <a:r>
                <a:rPr lang="en-US" altLang="en-US" dirty="0">
                  <a:solidFill>
                    <a:srgbClr val="000000"/>
                  </a:solidFill>
                  <a:latin typeface="Candara" panose="020E0502030303020204" pitchFamily="34" charset="0"/>
                </a:rPr>
                <a:t>Target Program</a:t>
              </a:r>
            </a:p>
          </p:txBody>
        </p:sp>
      </p:grpSp>
    </p:spTree>
    <p:extLst>
      <p:ext uri="{BB962C8B-B14F-4D97-AF65-F5344CB8AC3E}">
        <p14:creationId xmlns:p14="http://schemas.microsoft.com/office/powerpoint/2010/main" val="300696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additive="repl">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100000">
                                          <p:val>
                                            <p:strVal val="#ppt_x"/>
                                          </p:val>
                                        </p:tav>
                                        <p:tav tm="100000">
                                          <p:val>
                                            <p:strVal val="#ppt_x"/>
                                          </p:val>
                                        </p:tav>
                                      </p:tavLst>
                                    </p:anim>
                                    <p:anim calcmode="lin" valueType="num">
                                      <p:cBhvr>
                                        <p:cTn id="8" dur="500" fill="hold"/>
                                        <p:tgtEl>
                                          <p:spTgt spid="5"/>
                                        </p:tgtEl>
                                        <p:attrNameLst>
                                          <p:attrName>ppt_y</p:attrName>
                                        </p:attrNameLst>
                                      </p:cBhvr>
                                      <p:tavLst>
                                        <p:tav tm="10000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Important Issues of Code Generation</a:t>
            </a:r>
          </a:p>
        </p:txBody>
      </p:sp>
      <p:sp>
        <p:nvSpPr>
          <p:cNvPr id="7" name="Content Placeholder 6"/>
          <p:cNvSpPr>
            <a:spLocks noGrp="1"/>
          </p:cNvSpPr>
          <p:nvPr>
            <p:ph idx="1"/>
          </p:nvPr>
        </p:nvSpPr>
        <p:spPr>
          <a:xfrm>
            <a:off x="838200" y="1246909"/>
            <a:ext cx="10515600" cy="4930054"/>
          </a:xfrm>
        </p:spPr>
        <p:txBody>
          <a:bodyPr/>
          <a:lstStyle/>
          <a:p>
            <a:endParaRPr lang="en-US" dirty="0">
              <a:latin typeface="Candara" panose="020E0502030303020204" pitchFamily="34" charset="0"/>
            </a:endParaRPr>
          </a:p>
          <a:p>
            <a:r>
              <a:rPr lang="en-US" dirty="0">
                <a:latin typeface="Candara" panose="020E0502030303020204" pitchFamily="34" charset="0"/>
              </a:rPr>
              <a:t>Should produce correct Target Program</a:t>
            </a:r>
          </a:p>
          <a:p>
            <a:pPr lvl="1"/>
            <a:endParaRPr lang="en-US" sz="800" dirty="0">
              <a:latin typeface="Candara" panose="020E0502030303020204" pitchFamily="34" charset="0"/>
            </a:endParaRPr>
          </a:p>
          <a:p>
            <a:pPr lvl="1"/>
            <a:r>
              <a:rPr lang="en-US" dirty="0">
                <a:latin typeface="Candara" panose="020E0502030303020204" pitchFamily="34" charset="0"/>
              </a:rPr>
              <a:t>Preserving Semantic meaning of Source Program</a:t>
            </a:r>
          </a:p>
          <a:p>
            <a:endParaRPr lang="en-US" sz="1200" dirty="0">
              <a:latin typeface="Candara" panose="020E0502030303020204" pitchFamily="34" charset="0"/>
            </a:endParaRPr>
          </a:p>
          <a:p>
            <a:r>
              <a:rPr lang="en-US" dirty="0">
                <a:latin typeface="Candara" panose="020E0502030303020204" pitchFamily="34" charset="0"/>
              </a:rPr>
              <a:t>Should produce high quality Target Program</a:t>
            </a:r>
          </a:p>
          <a:p>
            <a:pPr lvl="1"/>
            <a:endParaRPr lang="en-US" sz="800" dirty="0">
              <a:latin typeface="Candara" panose="020E0502030303020204" pitchFamily="34" charset="0"/>
            </a:endParaRPr>
          </a:p>
          <a:p>
            <a:pPr lvl="1"/>
            <a:r>
              <a:rPr lang="en-US" dirty="0">
                <a:latin typeface="Candara" panose="020E0502030303020204" pitchFamily="34" charset="0"/>
              </a:rPr>
              <a:t>Efficient use of available resources of target program</a:t>
            </a:r>
          </a:p>
          <a:p>
            <a:endParaRPr lang="en-US" sz="1200" dirty="0">
              <a:latin typeface="Candara" panose="020E0502030303020204" pitchFamily="34" charset="0"/>
            </a:endParaRPr>
          </a:p>
          <a:p>
            <a:r>
              <a:rPr lang="en-US" dirty="0">
                <a:latin typeface="Candara" panose="020E0502030303020204" pitchFamily="34" charset="0"/>
              </a:rPr>
              <a:t>Should run efficiently</a:t>
            </a:r>
          </a:p>
          <a:p>
            <a:endParaRPr lang="en-US" dirty="0">
              <a:latin typeface="Candara" panose="020E0502030303020204" pitchFamily="34" charset="0"/>
            </a:endParaRP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79955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wipe(down)">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wipe(down)">
                                      <p:cBhvr>
                                        <p:cTn id="15" dur="500"/>
                                        <p:tgtEl>
                                          <p:spTgt spid="7">
                                            <p:txEl>
                                              <p:pRg st="5" end="5"/>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xEl>
                                              <p:pRg st="7" end="7"/>
                                            </p:txEl>
                                          </p:spTgt>
                                        </p:tgtEl>
                                        <p:attrNameLst>
                                          <p:attrName>style.visibility</p:attrName>
                                        </p:attrNameLst>
                                      </p:cBhvr>
                                      <p:to>
                                        <p:strVal val="visible"/>
                                      </p:to>
                                    </p:set>
                                    <p:animEffect transition="in" filter="wipe(down)">
                                      <p:cBhvr>
                                        <p:cTn id="18" dur="500"/>
                                        <p:tgtEl>
                                          <p:spTgt spid="7">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Effect transition="in" filter="wipe(down)">
                                      <p:cBhvr>
                                        <p:cTn id="23"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Code Generation &amp; Optimization</a:t>
            </a:r>
          </a:p>
        </p:txBody>
      </p:sp>
      <p:sp>
        <p:nvSpPr>
          <p:cNvPr id="7" name="Content Placeholder 6"/>
          <p:cNvSpPr>
            <a:spLocks noGrp="1"/>
          </p:cNvSpPr>
          <p:nvPr>
            <p:ph idx="1"/>
          </p:nvPr>
        </p:nvSpPr>
        <p:spPr>
          <a:xfrm>
            <a:off x="838200" y="1246909"/>
            <a:ext cx="10515600" cy="4930054"/>
          </a:xfrm>
        </p:spPr>
        <p:txBody>
          <a:bodyPr/>
          <a:lstStyle/>
          <a:p>
            <a:r>
              <a:rPr lang="en-US" dirty="0">
                <a:latin typeface="Candara" panose="020E0502030303020204" pitchFamily="34" charset="0"/>
              </a:rPr>
              <a:t>To produce optimized target program, compiler may include an optimization phase prior to the generation</a:t>
            </a:r>
          </a:p>
          <a:p>
            <a:r>
              <a:rPr lang="en-US" dirty="0">
                <a:latin typeface="Candara" panose="020E0502030303020204" pitchFamily="34" charset="0"/>
              </a:rPr>
              <a:t>Optimizer maps the IR into IR from which efficient code can be generated </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a:t>
            </a:fld>
            <a:endParaRPr lang="en-US" dirty="0"/>
          </a:p>
        </p:txBody>
      </p:sp>
      <p:grpSp>
        <p:nvGrpSpPr>
          <p:cNvPr id="10" name="Group 9">
            <a:extLst>
              <a:ext uri="{FF2B5EF4-FFF2-40B4-BE49-F238E27FC236}">
                <a16:creationId xmlns:a16="http://schemas.microsoft.com/office/drawing/2014/main" id="{A87FE996-DC16-DEC4-43C3-B4326A39A659}"/>
              </a:ext>
            </a:extLst>
          </p:cNvPr>
          <p:cNvGrpSpPr/>
          <p:nvPr/>
        </p:nvGrpSpPr>
        <p:grpSpPr>
          <a:xfrm>
            <a:off x="235824" y="3800958"/>
            <a:ext cx="11720351" cy="1810133"/>
            <a:chOff x="225843" y="3790700"/>
            <a:chExt cx="11720351" cy="1810133"/>
          </a:xfrm>
        </p:grpSpPr>
        <p:sp>
          <p:nvSpPr>
            <p:cNvPr id="6" name="Rectangle 5"/>
            <p:cNvSpPr/>
            <p:nvPr/>
          </p:nvSpPr>
          <p:spPr>
            <a:xfrm>
              <a:off x="2397164" y="3790700"/>
              <a:ext cx="1394962" cy="914400"/>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95000"/>
                      <a:lumOff val="5000"/>
                    </a:schemeClr>
                  </a:solidFill>
                  <a:latin typeface="Candara" panose="020E0502030303020204" pitchFamily="34" charset="0"/>
                </a:rPr>
                <a:t>Front End</a:t>
              </a:r>
            </a:p>
          </p:txBody>
        </p:sp>
        <p:sp>
          <p:nvSpPr>
            <p:cNvPr id="8" name="Rectangle 7"/>
            <p:cNvSpPr/>
            <p:nvPr/>
          </p:nvSpPr>
          <p:spPr>
            <a:xfrm>
              <a:off x="7490482" y="3793386"/>
              <a:ext cx="2047164" cy="914400"/>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95000"/>
                      <a:lumOff val="5000"/>
                    </a:schemeClr>
                  </a:solidFill>
                  <a:latin typeface="Candara" panose="020E0502030303020204" pitchFamily="34" charset="0"/>
                </a:rPr>
                <a:t>Code Generator</a:t>
              </a:r>
            </a:p>
          </p:txBody>
        </p:sp>
        <p:sp>
          <p:nvSpPr>
            <p:cNvPr id="11" name="TextBox 10"/>
            <p:cNvSpPr txBox="1">
              <a:spLocks noChangeArrowheads="1"/>
            </p:cNvSpPr>
            <p:nvPr/>
          </p:nvSpPr>
          <p:spPr bwMode="auto">
            <a:xfrm>
              <a:off x="225843" y="4046514"/>
              <a:ext cx="19319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latin typeface="Candara" panose="020E0502030303020204" pitchFamily="34" charset="0"/>
                </a:rPr>
                <a:t>Source Program</a:t>
              </a:r>
            </a:p>
          </p:txBody>
        </p:sp>
        <p:cxnSp>
          <p:nvCxnSpPr>
            <p:cNvPr id="12" name="Straight Arrow Connector 11"/>
            <p:cNvCxnSpPr>
              <a:cxnSpLocks/>
              <a:stCxn id="11" idx="3"/>
              <a:endCxn id="6" idx="1"/>
            </p:cNvCxnSpPr>
            <p:nvPr/>
          </p:nvCxnSpPr>
          <p:spPr>
            <a:xfrm>
              <a:off x="2157782" y="4246569"/>
              <a:ext cx="239382" cy="133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a:spLocks noChangeArrowheads="1"/>
            </p:cNvSpPr>
            <p:nvPr/>
          </p:nvSpPr>
          <p:spPr bwMode="auto">
            <a:xfrm>
              <a:off x="9927672" y="4049908"/>
              <a:ext cx="2018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latin typeface="Candara" panose="020E0502030303020204" pitchFamily="34" charset="0"/>
                </a:rPr>
                <a:t>Target program</a:t>
              </a:r>
              <a:endParaRPr lang="en-US" altLang="en-US" dirty="0">
                <a:latin typeface="Candara" panose="020E0502030303020204" pitchFamily="34" charset="0"/>
              </a:endParaRPr>
            </a:p>
          </p:txBody>
        </p:sp>
        <p:cxnSp>
          <p:nvCxnSpPr>
            <p:cNvPr id="14" name="Straight Arrow Connector 13"/>
            <p:cNvCxnSpPr>
              <a:cxnSpLocks/>
              <a:stCxn id="13" idx="1"/>
              <a:endCxn id="8" idx="3"/>
            </p:cNvCxnSpPr>
            <p:nvPr/>
          </p:nvCxnSpPr>
          <p:spPr>
            <a:xfrm flipH="1">
              <a:off x="9537646" y="4249963"/>
              <a:ext cx="390026" cy="623"/>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4946408" y="3804553"/>
              <a:ext cx="1394962" cy="914400"/>
            </a:xfrm>
            <a:prstGeom prst="rect">
              <a:avLst/>
            </a:prstGeom>
            <a:noFill/>
            <a:ln>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95000"/>
                      <a:lumOff val="5000"/>
                    </a:schemeClr>
                  </a:solidFill>
                  <a:latin typeface="Candara" panose="020E0502030303020204" pitchFamily="34" charset="0"/>
                </a:rPr>
                <a:t>Optimizer</a:t>
              </a:r>
            </a:p>
          </p:txBody>
        </p:sp>
        <p:cxnSp>
          <p:nvCxnSpPr>
            <p:cNvPr id="21" name="Straight Arrow Connector 20"/>
            <p:cNvCxnSpPr>
              <a:cxnSpLocks/>
              <a:stCxn id="6" idx="3"/>
              <a:endCxn id="20" idx="1"/>
            </p:cNvCxnSpPr>
            <p:nvPr/>
          </p:nvCxnSpPr>
          <p:spPr>
            <a:xfrm>
              <a:off x="3792126" y="4247900"/>
              <a:ext cx="1154282" cy="138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stCxn id="20" idx="3"/>
              <a:endCxn id="8" idx="1"/>
            </p:cNvCxnSpPr>
            <p:nvPr/>
          </p:nvCxnSpPr>
          <p:spPr>
            <a:xfrm flipV="1">
              <a:off x="6341370" y="4250586"/>
              <a:ext cx="1149112" cy="111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a:spLocks noChangeArrowheads="1"/>
            </p:cNvSpPr>
            <p:nvPr/>
          </p:nvSpPr>
          <p:spPr bwMode="auto">
            <a:xfrm>
              <a:off x="4069441" y="3856832"/>
              <a:ext cx="6647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latin typeface="Candara" panose="020E0502030303020204" pitchFamily="34" charset="0"/>
                </a:rPr>
                <a:t>IR</a:t>
              </a:r>
              <a:endParaRPr lang="en-US" altLang="en-US" dirty="0">
                <a:latin typeface="Candara" panose="020E0502030303020204" pitchFamily="34" charset="0"/>
              </a:endParaRPr>
            </a:p>
          </p:txBody>
        </p:sp>
        <p:sp>
          <p:nvSpPr>
            <p:cNvPr id="31" name="TextBox 30"/>
            <p:cNvSpPr txBox="1">
              <a:spLocks noChangeArrowheads="1"/>
            </p:cNvSpPr>
            <p:nvPr/>
          </p:nvSpPr>
          <p:spPr bwMode="auto">
            <a:xfrm>
              <a:off x="6563261" y="3870683"/>
              <a:ext cx="6647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latin typeface="Candara" panose="020E0502030303020204" pitchFamily="34" charset="0"/>
                </a:rPr>
                <a:t>IR</a:t>
              </a:r>
              <a:endParaRPr lang="en-US" altLang="en-US" dirty="0">
                <a:latin typeface="Candara" panose="020E0502030303020204" pitchFamily="34" charset="0"/>
              </a:endParaRPr>
            </a:p>
          </p:txBody>
        </p:sp>
        <p:sp>
          <p:nvSpPr>
            <p:cNvPr id="32" name="TextBox 31"/>
            <p:cNvSpPr txBox="1">
              <a:spLocks noChangeArrowheads="1"/>
            </p:cNvSpPr>
            <p:nvPr/>
          </p:nvSpPr>
          <p:spPr bwMode="auto">
            <a:xfrm>
              <a:off x="4078967" y="5200723"/>
              <a:ext cx="3289556"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solidFill>
                    <a:schemeClr val="accent1">
                      <a:lumMod val="75000"/>
                    </a:schemeClr>
                  </a:solidFill>
                  <a:latin typeface="Candara" panose="020E0502030303020204" pitchFamily="34" charset="0"/>
                </a:rPr>
                <a:t>Position of a Code Generator</a:t>
              </a:r>
              <a:endParaRPr lang="en-US" altLang="en-US" dirty="0">
                <a:solidFill>
                  <a:schemeClr val="accent1">
                    <a:lumMod val="75000"/>
                  </a:schemeClr>
                </a:solidFill>
                <a:latin typeface="Candara" panose="020E0502030303020204" pitchFamily="34" charset="0"/>
              </a:endParaRPr>
            </a:p>
          </p:txBody>
        </p:sp>
      </p:grpSp>
    </p:spTree>
    <p:extLst>
      <p:ext uri="{BB962C8B-B14F-4D97-AF65-F5344CB8AC3E}">
        <p14:creationId xmlns:p14="http://schemas.microsoft.com/office/powerpoint/2010/main" val="392964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1: Input to Code Generator</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a:t>
            </a:fld>
            <a:endParaRPr lang="en-US" dirty="0"/>
          </a:p>
        </p:txBody>
      </p:sp>
      <p:sp>
        <p:nvSpPr>
          <p:cNvPr id="9" name="Content Placeholder 6"/>
          <p:cNvSpPr>
            <a:spLocks noGrp="1"/>
          </p:cNvSpPr>
          <p:nvPr>
            <p:ph idx="1"/>
          </p:nvPr>
        </p:nvSpPr>
        <p:spPr>
          <a:xfrm>
            <a:off x="838200" y="1246909"/>
            <a:ext cx="10515600" cy="4930054"/>
          </a:xfrm>
        </p:spPr>
        <p:txBody>
          <a:bodyPr>
            <a:normAutofit lnSpcReduction="10000"/>
          </a:bodyPr>
          <a:lstStyle/>
          <a:p>
            <a:pPr>
              <a:lnSpc>
                <a:spcPct val="80000"/>
              </a:lnSpc>
              <a:spcBef>
                <a:spcPts val="700"/>
              </a:spcBef>
              <a:buFont typeface="Times New Roman" panose="02020603050405020304" pitchFamily="18" charset="0"/>
              <a:buChar char="•"/>
            </a:pPr>
            <a:r>
              <a:rPr lang="en-US" altLang="en-US" dirty="0">
                <a:solidFill>
                  <a:srgbClr val="000000"/>
                </a:solidFill>
                <a:latin typeface="Candara" panose="020E0502030303020204" pitchFamily="34" charset="0"/>
              </a:rPr>
              <a:t>The intermediate representation (IR) of the source program.</a:t>
            </a:r>
          </a:p>
          <a:p>
            <a:pPr lvl="1">
              <a:lnSpc>
                <a:spcPct val="80000"/>
              </a:lnSpc>
              <a:spcBef>
                <a:spcPts val="600"/>
              </a:spcBef>
              <a:buFont typeface="Wingdings" panose="05000000000000000000" pitchFamily="2" charset="2"/>
              <a:buChar char="Ø"/>
            </a:pPr>
            <a:endParaRPr lang="en-US" altLang="en-US" sz="1000" dirty="0">
              <a:solidFill>
                <a:srgbClr val="000000"/>
              </a:solidFill>
              <a:latin typeface="Candara" panose="020E0502030303020204" pitchFamily="34" charset="0"/>
            </a:endParaRPr>
          </a:p>
          <a:p>
            <a:pPr lvl="1">
              <a:lnSpc>
                <a:spcPct val="80000"/>
              </a:lnSpc>
              <a:spcBef>
                <a:spcPts val="600"/>
              </a:spcBef>
              <a:buFont typeface="Wingdings" panose="05000000000000000000" pitchFamily="2" charset="2"/>
              <a:buChar char="Ø"/>
            </a:pPr>
            <a:r>
              <a:rPr lang="en-US" altLang="en-US" dirty="0">
                <a:solidFill>
                  <a:srgbClr val="FF0000"/>
                </a:solidFill>
                <a:latin typeface="Candara" panose="020E0502030303020204" pitchFamily="34" charset="0"/>
              </a:rPr>
              <a:t>Three address representation</a:t>
            </a:r>
          </a:p>
          <a:p>
            <a:pPr lvl="2">
              <a:lnSpc>
                <a:spcPct val="80000"/>
              </a:lnSpc>
              <a:buFont typeface="Times New Roman" panose="02020603050405020304" pitchFamily="18" charset="0"/>
              <a:buChar char="•"/>
            </a:pPr>
            <a:r>
              <a:rPr lang="en-US" altLang="en-US" dirty="0">
                <a:solidFill>
                  <a:srgbClr val="000000"/>
                </a:solidFill>
                <a:latin typeface="Candara" panose="020E0502030303020204" pitchFamily="34" charset="0"/>
              </a:rPr>
              <a:t>Quadruples</a:t>
            </a:r>
          </a:p>
          <a:p>
            <a:pPr lvl="2">
              <a:lnSpc>
                <a:spcPct val="80000"/>
              </a:lnSpc>
              <a:buFont typeface="Times New Roman" panose="02020603050405020304" pitchFamily="18" charset="0"/>
              <a:buChar char="•"/>
            </a:pPr>
            <a:r>
              <a:rPr lang="en-US" altLang="en-US" dirty="0">
                <a:solidFill>
                  <a:srgbClr val="000000"/>
                </a:solidFill>
                <a:latin typeface="Candara" panose="020E0502030303020204" pitchFamily="34" charset="0"/>
              </a:rPr>
              <a:t>Triples</a:t>
            </a:r>
          </a:p>
          <a:p>
            <a:pPr lvl="2">
              <a:lnSpc>
                <a:spcPct val="80000"/>
              </a:lnSpc>
              <a:buFont typeface="Times New Roman" panose="02020603050405020304" pitchFamily="18" charset="0"/>
              <a:buChar char="•"/>
            </a:pPr>
            <a:r>
              <a:rPr lang="en-US" altLang="en-US" dirty="0">
                <a:solidFill>
                  <a:srgbClr val="000000"/>
                </a:solidFill>
                <a:latin typeface="Candara" panose="020E0502030303020204" pitchFamily="34" charset="0"/>
              </a:rPr>
              <a:t>Indirect triples</a:t>
            </a:r>
          </a:p>
          <a:p>
            <a:pPr lvl="1">
              <a:lnSpc>
                <a:spcPct val="80000"/>
              </a:lnSpc>
              <a:spcBef>
                <a:spcPts val="600"/>
              </a:spcBef>
              <a:buFont typeface="Wingdings" panose="05000000000000000000" pitchFamily="2" charset="2"/>
              <a:buChar char="Ø"/>
            </a:pPr>
            <a:endParaRPr lang="en-US" altLang="en-US" sz="1000" dirty="0">
              <a:solidFill>
                <a:srgbClr val="000000"/>
              </a:solidFill>
              <a:latin typeface="Candara" panose="020E0502030303020204" pitchFamily="34" charset="0"/>
            </a:endParaRPr>
          </a:p>
          <a:p>
            <a:pPr lvl="1">
              <a:lnSpc>
                <a:spcPct val="80000"/>
              </a:lnSpc>
              <a:spcBef>
                <a:spcPts val="600"/>
              </a:spcBef>
              <a:buFont typeface="Wingdings" panose="05000000000000000000" pitchFamily="2" charset="2"/>
              <a:buChar char="Ø"/>
            </a:pPr>
            <a:r>
              <a:rPr lang="en-US" altLang="en-US" dirty="0">
                <a:solidFill>
                  <a:srgbClr val="FF0000"/>
                </a:solidFill>
                <a:latin typeface="Candara" panose="020E0502030303020204" pitchFamily="34" charset="0"/>
              </a:rPr>
              <a:t>Virtual machine representation</a:t>
            </a:r>
          </a:p>
          <a:p>
            <a:pPr lvl="2">
              <a:lnSpc>
                <a:spcPct val="80000"/>
              </a:lnSpc>
              <a:buFont typeface="Times New Roman" panose="02020603050405020304" pitchFamily="18" charset="0"/>
              <a:buChar char="•"/>
            </a:pPr>
            <a:r>
              <a:rPr lang="en-US" altLang="en-US" dirty="0">
                <a:solidFill>
                  <a:srgbClr val="000000"/>
                </a:solidFill>
                <a:latin typeface="Candara" panose="020E0502030303020204" pitchFamily="34" charset="0"/>
              </a:rPr>
              <a:t>Byte codes and stack-machine code</a:t>
            </a:r>
          </a:p>
          <a:p>
            <a:pPr lvl="1">
              <a:lnSpc>
                <a:spcPct val="80000"/>
              </a:lnSpc>
              <a:spcBef>
                <a:spcPts val="600"/>
              </a:spcBef>
              <a:buFont typeface="Wingdings" panose="05000000000000000000" pitchFamily="2" charset="2"/>
              <a:buChar char="Ø"/>
            </a:pPr>
            <a:endParaRPr lang="en-US" altLang="en-US" sz="1000" dirty="0">
              <a:solidFill>
                <a:srgbClr val="000000"/>
              </a:solidFill>
              <a:latin typeface="Candara" panose="020E0502030303020204" pitchFamily="34" charset="0"/>
            </a:endParaRPr>
          </a:p>
          <a:p>
            <a:pPr lvl="1">
              <a:lnSpc>
                <a:spcPct val="80000"/>
              </a:lnSpc>
              <a:spcBef>
                <a:spcPts val="600"/>
              </a:spcBef>
              <a:buFont typeface="Wingdings" panose="05000000000000000000" pitchFamily="2" charset="2"/>
              <a:buChar char="Ø"/>
            </a:pPr>
            <a:r>
              <a:rPr lang="en-US" altLang="en-US" dirty="0">
                <a:solidFill>
                  <a:srgbClr val="FF0000"/>
                </a:solidFill>
                <a:latin typeface="Candara" panose="020E0502030303020204" pitchFamily="34" charset="0"/>
              </a:rPr>
              <a:t>Linear representation</a:t>
            </a:r>
          </a:p>
          <a:p>
            <a:pPr lvl="2">
              <a:lnSpc>
                <a:spcPct val="80000"/>
              </a:lnSpc>
              <a:buFont typeface="Times New Roman" panose="02020603050405020304" pitchFamily="18" charset="0"/>
              <a:buChar char="•"/>
            </a:pPr>
            <a:r>
              <a:rPr lang="en-US" altLang="en-US" dirty="0">
                <a:solidFill>
                  <a:srgbClr val="000000"/>
                </a:solidFill>
                <a:latin typeface="Candara" panose="020E0502030303020204" pitchFamily="34" charset="0"/>
              </a:rPr>
              <a:t>Postfix notations</a:t>
            </a:r>
          </a:p>
          <a:p>
            <a:pPr lvl="1">
              <a:lnSpc>
                <a:spcPct val="80000"/>
              </a:lnSpc>
              <a:spcBef>
                <a:spcPts val="600"/>
              </a:spcBef>
              <a:buFont typeface="Wingdings" panose="05000000000000000000" pitchFamily="2" charset="2"/>
              <a:buChar char="Ø"/>
            </a:pPr>
            <a:endParaRPr lang="en-US" altLang="en-US" sz="1000" dirty="0">
              <a:solidFill>
                <a:srgbClr val="000000"/>
              </a:solidFill>
              <a:latin typeface="Candara" panose="020E0502030303020204" pitchFamily="34" charset="0"/>
            </a:endParaRPr>
          </a:p>
          <a:p>
            <a:pPr lvl="1">
              <a:lnSpc>
                <a:spcPct val="80000"/>
              </a:lnSpc>
              <a:spcBef>
                <a:spcPts val="600"/>
              </a:spcBef>
              <a:buFont typeface="Wingdings" panose="05000000000000000000" pitchFamily="2" charset="2"/>
              <a:buChar char="Ø"/>
            </a:pPr>
            <a:r>
              <a:rPr lang="en-US" altLang="en-US" dirty="0">
                <a:solidFill>
                  <a:srgbClr val="FF0000"/>
                </a:solidFill>
                <a:latin typeface="Candara" panose="020E0502030303020204" pitchFamily="34" charset="0"/>
              </a:rPr>
              <a:t>Graphical representation</a:t>
            </a:r>
          </a:p>
          <a:p>
            <a:pPr lvl="2">
              <a:lnSpc>
                <a:spcPct val="80000"/>
              </a:lnSpc>
              <a:buFont typeface="Times New Roman" panose="02020603050405020304" pitchFamily="18" charset="0"/>
              <a:buChar char="•"/>
            </a:pPr>
            <a:r>
              <a:rPr lang="en-US" altLang="en-US" dirty="0">
                <a:solidFill>
                  <a:srgbClr val="000000"/>
                </a:solidFill>
                <a:latin typeface="Candara" panose="020E0502030303020204" pitchFamily="34" charset="0"/>
              </a:rPr>
              <a:t>Syntax tree and DAG</a:t>
            </a:r>
          </a:p>
          <a:p>
            <a:pPr lvl="2">
              <a:lnSpc>
                <a:spcPct val="80000"/>
              </a:lnSpc>
              <a:buFont typeface="Times New Roman" panose="02020603050405020304" pitchFamily="18" charset="0"/>
              <a:buChar char="•"/>
            </a:pPr>
            <a:endParaRPr lang="en-US" altLang="en-US" dirty="0">
              <a:solidFill>
                <a:srgbClr val="000000"/>
              </a:solidFill>
              <a:latin typeface="Candara" panose="020E0502030303020204" pitchFamily="34" charset="0"/>
            </a:endParaRPr>
          </a:p>
          <a:p>
            <a:pPr marL="228600" lvl="1">
              <a:lnSpc>
                <a:spcPct val="80000"/>
              </a:lnSpc>
              <a:spcBef>
                <a:spcPts val="1000"/>
              </a:spcBef>
              <a:buFont typeface="Times New Roman" panose="02020603050405020304" pitchFamily="18" charset="0"/>
              <a:buChar char="•"/>
            </a:pPr>
            <a:r>
              <a:rPr lang="en-US" altLang="en-US" dirty="0">
                <a:solidFill>
                  <a:srgbClr val="000000"/>
                </a:solidFill>
                <a:latin typeface="Candara" panose="020E0502030303020204" pitchFamily="34" charset="0"/>
              </a:rPr>
              <a:t>We consider </a:t>
            </a:r>
            <a:r>
              <a:rPr lang="en-US" altLang="en-US" dirty="0">
                <a:solidFill>
                  <a:srgbClr val="FF0000"/>
                </a:solidFill>
                <a:latin typeface="Candara" panose="020E0502030303020204" pitchFamily="34" charset="0"/>
              </a:rPr>
              <a:t>Three address representation.</a:t>
            </a:r>
          </a:p>
          <a:p>
            <a:pPr>
              <a:lnSpc>
                <a:spcPct val="80000"/>
              </a:lnSpc>
              <a:buFont typeface="Times New Roman" panose="02020603050405020304" pitchFamily="18" charset="0"/>
              <a:buChar char="•"/>
            </a:pPr>
            <a:endParaRPr lang="en-US" altLang="en-US" dirty="0">
              <a:solidFill>
                <a:srgbClr val="000000"/>
              </a:solidFill>
              <a:latin typeface="Candara" panose="020E0502030303020204" pitchFamily="34" charset="0"/>
            </a:endParaRPr>
          </a:p>
        </p:txBody>
      </p:sp>
    </p:spTree>
    <p:extLst>
      <p:ext uri="{BB962C8B-B14F-4D97-AF65-F5344CB8AC3E}">
        <p14:creationId xmlns:p14="http://schemas.microsoft.com/office/powerpoint/2010/main" val="334195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down)">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wipe(down)">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wipe(down)">
                                      <p:cBhvr>
                                        <p:cTn id="22" dur="500"/>
                                        <p:tgtEl>
                                          <p:spTgt spid="9">
                                            <p:txEl>
                                              <p:pRg st="4" end="4"/>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Effect transition="in" filter="wipe(down)">
                                      <p:cBhvr>
                                        <p:cTn id="25" dur="500"/>
                                        <p:tgtEl>
                                          <p:spTgt spid="9">
                                            <p:txEl>
                                              <p:pRg st="5" end="5"/>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9">
                                            <p:txEl>
                                              <p:pRg st="7" end="7"/>
                                            </p:txEl>
                                          </p:spTgt>
                                        </p:tgtEl>
                                        <p:attrNameLst>
                                          <p:attrName>style.visibility</p:attrName>
                                        </p:attrNameLst>
                                      </p:cBhvr>
                                      <p:to>
                                        <p:strVal val="visible"/>
                                      </p:to>
                                    </p:set>
                                    <p:animEffect transition="in" filter="wipe(down)">
                                      <p:cBhvr>
                                        <p:cTn id="28" dur="500"/>
                                        <p:tgtEl>
                                          <p:spTgt spid="9">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Effect transition="in" filter="wipe(down)">
                                      <p:cBhvr>
                                        <p:cTn id="33" dur="500"/>
                                        <p:tgtEl>
                                          <p:spTgt spid="9">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9">
                                            <p:txEl>
                                              <p:pRg st="10" end="10"/>
                                            </p:txEl>
                                          </p:spTgt>
                                        </p:tgtEl>
                                        <p:attrNameLst>
                                          <p:attrName>style.visibility</p:attrName>
                                        </p:attrNameLst>
                                      </p:cBhvr>
                                      <p:to>
                                        <p:strVal val="visible"/>
                                      </p:to>
                                    </p:set>
                                    <p:animEffect transition="in" filter="wipe(down)">
                                      <p:cBhvr>
                                        <p:cTn id="38" dur="500"/>
                                        <p:tgtEl>
                                          <p:spTgt spid="9">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9">
                                            <p:txEl>
                                              <p:pRg st="11" end="11"/>
                                            </p:txEl>
                                          </p:spTgt>
                                        </p:tgtEl>
                                        <p:attrNameLst>
                                          <p:attrName>style.visibility</p:attrName>
                                        </p:attrNameLst>
                                      </p:cBhvr>
                                      <p:to>
                                        <p:strVal val="visible"/>
                                      </p:to>
                                    </p:set>
                                    <p:animEffect transition="in" filter="wipe(down)">
                                      <p:cBhvr>
                                        <p:cTn id="43" dur="500"/>
                                        <p:tgtEl>
                                          <p:spTgt spid="9">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9">
                                            <p:txEl>
                                              <p:pRg st="13" end="13"/>
                                            </p:txEl>
                                          </p:spTgt>
                                        </p:tgtEl>
                                        <p:attrNameLst>
                                          <p:attrName>style.visibility</p:attrName>
                                        </p:attrNameLst>
                                      </p:cBhvr>
                                      <p:to>
                                        <p:strVal val="visible"/>
                                      </p:to>
                                    </p:set>
                                    <p:animEffect transition="in" filter="wipe(down)">
                                      <p:cBhvr>
                                        <p:cTn id="48" dur="500"/>
                                        <p:tgtEl>
                                          <p:spTgt spid="9">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9">
                                            <p:txEl>
                                              <p:pRg st="14" end="14"/>
                                            </p:txEl>
                                          </p:spTgt>
                                        </p:tgtEl>
                                        <p:attrNameLst>
                                          <p:attrName>style.visibility</p:attrName>
                                        </p:attrNameLst>
                                      </p:cBhvr>
                                      <p:to>
                                        <p:strVal val="visible"/>
                                      </p:to>
                                    </p:set>
                                    <p:animEffect transition="in" filter="wipe(down)">
                                      <p:cBhvr>
                                        <p:cTn id="53" dur="500"/>
                                        <p:tgtEl>
                                          <p:spTgt spid="9">
                                            <p:txEl>
                                              <p:pRg st="14" end="1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9">
                                            <p:txEl>
                                              <p:pRg st="16" end="16"/>
                                            </p:txEl>
                                          </p:spTgt>
                                        </p:tgtEl>
                                        <p:attrNameLst>
                                          <p:attrName>style.visibility</p:attrName>
                                        </p:attrNameLst>
                                      </p:cBhvr>
                                      <p:to>
                                        <p:strVal val="visible"/>
                                      </p:to>
                                    </p:set>
                                    <p:animEffect transition="in" filter="wipe(down)">
                                      <p:cBhvr>
                                        <p:cTn id="58" dur="500"/>
                                        <p:tgtEl>
                                          <p:spTgt spid="9">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1: Input to Code Generator</a:t>
            </a:r>
          </a:p>
        </p:txBody>
      </p:sp>
      <p:sp>
        <p:nvSpPr>
          <p:cNvPr id="7" name="Content Placeholder 6"/>
          <p:cNvSpPr>
            <a:spLocks noGrp="1"/>
          </p:cNvSpPr>
          <p:nvPr>
            <p:ph idx="1"/>
          </p:nvPr>
        </p:nvSpPr>
        <p:spPr>
          <a:xfrm>
            <a:off x="838200" y="1246909"/>
            <a:ext cx="10515600" cy="4930054"/>
          </a:xfrm>
        </p:spPr>
        <p:txBody>
          <a:bodyPr/>
          <a:lstStyle/>
          <a:p>
            <a:pPr>
              <a:spcBef>
                <a:spcPts val="800"/>
              </a:spcBef>
              <a:buFont typeface="Times New Roman" panose="02020603050405020304" pitchFamily="18" charset="0"/>
              <a:buChar char="•"/>
            </a:pPr>
            <a:r>
              <a:rPr lang="en-US" altLang="en-US" sz="3200" dirty="0">
                <a:solidFill>
                  <a:srgbClr val="000000"/>
                </a:solidFill>
                <a:latin typeface="Candara" panose="020E0502030303020204" pitchFamily="34" charset="0"/>
                <a:cs typeface="Andalus" panose="02020603050405020304" pitchFamily="18" charset="-78"/>
              </a:rPr>
              <a:t>Code generator assumes that</a:t>
            </a:r>
          </a:p>
          <a:p>
            <a:pPr>
              <a:spcBef>
                <a:spcPts val="800"/>
              </a:spcBef>
              <a:buFont typeface="Times New Roman" panose="02020603050405020304" pitchFamily="18" charset="0"/>
              <a:buChar char="•"/>
            </a:pPr>
            <a:endParaRPr lang="en-US" altLang="en-US" sz="1200" dirty="0">
              <a:solidFill>
                <a:srgbClr val="000000"/>
              </a:solidFill>
              <a:latin typeface="Candara" panose="020E0502030303020204" pitchFamily="34" charset="0"/>
              <a:cs typeface="Andalus" panose="02020603050405020304" pitchFamily="18" charset="-78"/>
            </a:endParaRP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cs typeface="Andalus" panose="02020603050405020304" pitchFamily="18" charset="-78"/>
              </a:rPr>
              <a:t>Front end has scanned, parsed, translated the source program into a relatively low level IR</a:t>
            </a:r>
          </a:p>
          <a:p>
            <a:pPr lvl="1">
              <a:spcBef>
                <a:spcPts val="700"/>
              </a:spcBef>
              <a:buFont typeface="Times New Roman" panose="02020603050405020304" pitchFamily="18" charset="0"/>
              <a:buChar char="–"/>
            </a:pPr>
            <a:endParaRPr lang="en-US" altLang="en-US" sz="600" dirty="0">
              <a:solidFill>
                <a:srgbClr val="000000"/>
              </a:solidFill>
              <a:latin typeface="Candara" panose="020E0502030303020204" pitchFamily="34" charset="0"/>
              <a:cs typeface="Andalus" panose="02020603050405020304" pitchFamily="18" charset="-78"/>
            </a:endParaRP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cs typeface="Andalus" panose="02020603050405020304" pitchFamily="18" charset="-78"/>
              </a:rPr>
              <a:t>All syntactic and static semantic errors have been detected</a:t>
            </a:r>
          </a:p>
          <a:p>
            <a:pPr lvl="1">
              <a:spcBef>
                <a:spcPts val="700"/>
              </a:spcBef>
              <a:buFont typeface="Times New Roman" panose="02020603050405020304" pitchFamily="18" charset="0"/>
              <a:buChar char="–"/>
            </a:pPr>
            <a:endParaRPr lang="en-US" altLang="en-US" sz="600" dirty="0">
              <a:solidFill>
                <a:srgbClr val="000000"/>
              </a:solidFill>
              <a:latin typeface="Candara" panose="020E0502030303020204" pitchFamily="34" charset="0"/>
              <a:cs typeface="Andalus" panose="02020603050405020304" pitchFamily="18" charset="-78"/>
            </a:endParaRP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cs typeface="Andalus" panose="02020603050405020304" pitchFamily="18" charset="-78"/>
              </a:rPr>
              <a:t>The necessary type checking has taken place</a:t>
            </a:r>
          </a:p>
          <a:p>
            <a:pPr lvl="1">
              <a:spcBef>
                <a:spcPts val="700"/>
              </a:spcBef>
              <a:buFont typeface="Times New Roman" panose="02020603050405020304" pitchFamily="18" charset="0"/>
              <a:buChar char="–"/>
            </a:pPr>
            <a:endParaRPr lang="en-US" altLang="en-US" sz="600" dirty="0">
              <a:solidFill>
                <a:srgbClr val="000000"/>
              </a:solidFill>
              <a:latin typeface="Candara" panose="020E0502030303020204" pitchFamily="34" charset="0"/>
              <a:cs typeface="Andalus" panose="02020603050405020304" pitchFamily="18" charset="-78"/>
            </a:endParaRP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cs typeface="Andalus" panose="02020603050405020304" pitchFamily="18" charset="-78"/>
              </a:rPr>
              <a:t>Type conversion operators have been inserted</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57798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down)">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wipe(down)">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wipe(down)">
                                      <p:cBhvr>
                                        <p:cTn id="22" dur="500"/>
                                        <p:tgtEl>
                                          <p:spTgt spid="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wipe(down)">
                                      <p:cBhvr>
                                        <p:cTn id="2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2: Target Machine and Program</a:t>
            </a:r>
          </a:p>
        </p:txBody>
      </p:sp>
      <p:sp>
        <p:nvSpPr>
          <p:cNvPr id="7" name="Content Placeholder 6"/>
          <p:cNvSpPr>
            <a:spLocks noGrp="1"/>
          </p:cNvSpPr>
          <p:nvPr>
            <p:ph idx="1"/>
          </p:nvPr>
        </p:nvSpPr>
        <p:spPr>
          <a:xfrm>
            <a:off x="838200" y="1246909"/>
            <a:ext cx="10515600" cy="4930054"/>
          </a:xfrm>
        </p:spPr>
        <p:txBody>
          <a:bodyPr>
            <a:normAutofit fontScale="92500" lnSpcReduction="10000"/>
          </a:bodyPr>
          <a:lstStyle/>
          <a:p>
            <a:r>
              <a:rPr lang="en-US" dirty="0">
                <a:latin typeface="Candara" panose="020E0502030303020204" pitchFamily="34" charset="0"/>
              </a:rPr>
              <a:t>Instruction set architecture of the target machine has significant impact on code generation</a:t>
            </a:r>
          </a:p>
          <a:p>
            <a:r>
              <a:rPr lang="en-US" dirty="0">
                <a:latin typeface="Candara" panose="020E0502030303020204" pitchFamily="34" charset="0"/>
              </a:rPr>
              <a:t>The most common machine architectures are:</a:t>
            </a:r>
          </a:p>
          <a:p>
            <a:pPr lvl="1">
              <a:buFont typeface="Wingdings" panose="05000000000000000000" pitchFamily="2" charset="2"/>
              <a:buChar char="Ø"/>
            </a:pPr>
            <a:r>
              <a:rPr lang="en-US" dirty="0">
                <a:solidFill>
                  <a:schemeClr val="accent1">
                    <a:lumMod val="75000"/>
                  </a:schemeClr>
                </a:solidFill>
                <a:latin typeface="Candara" panose="020E0502030303020204" pitchFamily="34" charset="0"/>
              </a:rPr>
              <a:t>RISC</a:t>
            </a:r>
          </a:p>
          <a:p>
            <a:pPr lvl="2"/>
            <a:r>
              <a:rPr lang="en-US" sz="2200" dirty="0">
                <a:latin typeface="Candara" panose="020E0502030303020204" pitchFamily="34" charset="0"/>
              </a:rPr>
              <a:t>Many Registers</a:t>
            </a:r>
          </a:p>
          <a:p>
            <a:pPr lvl="2"/>
            <a:r>
              <a:rPr lang="en-US" altLang="en-US" sz="2200" dirty="0">
                <a:solidFill>
                  <a:srgbClr val="000000"/>
                </a:solidFill>
                <a:latin typeface="Candara" panose="020E0502030303020204" pitchFamily="34" charset="0"/>
              </a:rPr>
              <a:t>Three address instructions</a:t>
            </a:r>
          </a:p>
          <a:p>
            <a:pPr lvl="2"/>
            <a:r>
              <a:rPr lang="en-US" altLang="en-US" sz="2200" dirty="0">
                <a:solidFill>
                  <a:srgbClr val="000000"/>
                </a:solidFill>
                <a:latin typeface="Candara" panose="020E0502030303020204" pitchFamily="34" charset="0"/>
              </a:rPr>
              <a:t>Simple addressing modes</a:t>
            </a:r>
          </a:p>
          <a:p>
            <a:pPr lvl="2"/>
            <a:r>
              <a:rPr lang="en-US" altLang="en-US" sz="2200" dirty="0">
                <a:solidFill>
                  <a:srgbClr val="000000"/>
                </a:solidFill>
                <a:latin typeface="Candara" panose="020E0502030303020204" pitchFamily="34" charset="0"/>
              </a:rPr>
              <a:t>Relatively simple instruction – set architecture</a:t>
            </a:r>
            <a:endParaRPr lang="en-US" sz="2200" dirty="0">
              <a:latin typeface="Candara" panose="020E0502030303020204" pitchFamily="34" charset="0"/>
            </a:endParaRPr>
          </a:p>
          <a:p>
            <a:pPr lvl="1">
              <a:buFont typeface="Wingdings" panose="05000000000000000000" pitchFamily="2" charset="2"/>
              <a:buChar char="Ø"/>
            </a:pPr>
            <a:r>
              <a:rPr lang="en-US" dirty="0">
                <a:solidFill>
                  <a:srgbClr val="00B050"/>
                </a:solidFill>
                <a:latin typeface="Candara" panose="020E0502030303020204" pitchFamily="34" charset="0"/>
              </a:rPr>
              <a:t>CISC</a:t>
            </a:r>
          </a:p>
          <a:p>
            <a:pPr lvl="2"/>
            <a:r>
              <a:rPr lang="en-US" altLang="en-US" sz="2200" dirty="0">
                <a:solidFill>
                  <a:srgbClr val="000000"/>
                </a:solidFill>
                <a:latin typeface="Candara" panose="020E0502030303020204" pitchFamily="34" charset="0"/>
              </a:rPr>
              <a:t>Few registers</a:t>
            </a:r>
          </a:p>
          <a:p>
            <a:pPr lvl="2"/>
            <a:r>
              <a:rPr lang="en-US" altLang="en-US" sz="2200" dirty="0">
                <a:solidFill>
                  <a:srgbClr val="000000"/>
                </a:solidFill>
                <a:latin typeface="Candara" panose="020E0502030303020204" pitchFamily="34" charset="0"/>
              </a:rPr>
              <a:t>Two address instructions</a:t>
            </a:r>
          </a:p>
          <a:p>
            <a:pPr lvl="2"/>
            <a:r>
              <a:rPr lang="en-US" altLang="en-US" sz="2200" dirty="0">
                <a:solidFill>
                  <a:srgbClr val="000000"/>
                </a:solidFill>
                <a:latin typeface="Candara" panose="020E0502030303020204" pitchFamily="34" charset="0"/>
              </a:rPr>
              <a:t>Variety of addressing modes</a:t>
            </a:r>
          </a:p>
          <a:p>
            <a:pPr lvl="2"/>
            <a:r>
              <a:rPr lang="en-US" altLang="en-US" sz="2200" dirty="0">
                <a:solidFill>
                  <a:srgbClr val="000000"/>
                </a:solidFill>
                <a:latin typeface="Candara" panose="020E0502030303020204" pitchFamily="34" charset="0"/>
              </a:rPr>
              <a:t>Variable length instructions</a:t>
            </a:r>
          </a:p>
          <a:p>
            <a:pPr lvl="1">
              <a:buFont typeface="Wingdings" panose="05000000000000000000" pitchFamily="2" charset="2"/>
              <a:buChar char="Ø"/>
            </a:pPr>
            <a:r>
              <a:rPr lang="en-US" dirty="0">
                <a:solidFill>
                  <a:srgbClr val="7030A0"/>
                </a:solidFill>
                <a:latin typeface="Candara" panose="020E0502030303020204" pitchFamily="34" charset="0"/>
              </a:rPr>
              <a:t>Stack Based</a:t>
            </a:r>
          </a:p>
          <a:p>
            <a:pPr lvl="2">
              <a:buFont typeface="Wingdings" panose="05000000000000000000" pitchFamily="2" charset="2"/>
              <a:buChar char="Ø"/>
            </a:pPr>
            <a:r>
              <a:rPr lang="en-US" dirty="0">
                <a:latin typeface="Candara" panose="020E0502030303020204" pitchFamily="34" charset="0"/>
              </a:rPr>
              <a:t>For example, JVM</a:t>
            </a:r>
          </a:p>
          <a:p>
            <a:endParaRPr lang="en-US" dirty="0">
              <a:latin typeface="Candara" panose="020E0502030303020204" pitchFamily="34" charset="0"/>
            </a:endParaRP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94050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wipe(down)">
                                      <p:cBhvr>
                                        <p:cTn id="25" dur="500"/>
                                        <p:tgtEl>
                                          <p:spTgt spid="7">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wipe(down)">
                                      <p:cBhvr>
                                        <p:cTn id="28" dur="500"/>
                                        <p:tgtEl>
                                          <p:spTgt spid="7">
                                            <p:txEl>
                                              <p:pRg st="5" end="5"/>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wipe(down)">
                                      <p:cBhvr>
                                        <p:cTn id="31" dur="500"/>
                                        <p:tgtEl>
                                          <p:spTgt spid="7">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wipe(down)">
                                      <p:cBhvr>
                                        <p:cTn id="36" dur="500"/>
                                        <p:tgtEl>
                                          <p:spTgt spid="7">
                                            <p:txEl>
                                              <p:pRg st="7" end="7"/>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wipe(down)">
                                      <p:cBhvr>
                                        <p:cTn id="39" dur="500"/>
                                        <p:tgtEl>
                                          <p:spTgt spid="7">
                                            <p:txEl>
                                              <p:pRg st="8" end="8"/>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wipe(down)">
                                      <p:cBhvr>
                                        <p:cTn id="42" dur="500"/>
                                        <p:tgtEl>
                                          <p:spTgt spid="7">
                                            <p:txEl>
                                              <p:pRg st="9" end="9"/>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7">
                                            <p:txEl>
                                              <p:pRg st="10" end="10"/>
                                            </p:txEl>
                                          </p:spTgt>
                                        </p:tgtEl>
                                        <p:attrNameLst>
                                          <p:attrName>style.visibility</p:attrName>
                                        </p:attrNameLst>
                                      </p:cBhvr>
                                      <p:to>
                                        <p:strVal val="visible"/>
                                      </p:to>
                                    </p:set>
                                    <p:animEffect transition="in" filter="wipe(down)">
                                      <p:cBhvr>
                                        <p:cTn id="45" dur="500"/>
                                        <p:tgtEl>
                                          <p:spTgt spid="7">
                                            <p:txEl>
                                              <p:pRg st="10" end="10"/>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7">
                                            <p:txEl>
                                              <p:pRg st="11" end="11"/>
                                            </p:txEl>
                                          </p:spTgt>
                                        </p:tgtEl>
                                        <p:attrNameLst>
                                          <p:attrName>style.visibility</p:attrName>
                                        </p:attrNameLst>
                                      </p:cBhvr>
                                      <p:to>
                                        <p:strVal val="visible"/>
                                      </p:to>
                                    </p:set>
                                    <p:animEffect transition="in" filter="wipe(down)">
                                      <p:cBhvr>
                                        <p:cTn id="48" dur="500"/>
                                        <p:tgtEl>
                                          <p:spTgt spid="7">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7">
                                            <p:txEl>
                                              <p:pRg st="12" end="12"/>
                                            </p:txEl>
                                          </p:spTgt>
                                        </p:tgtEl>
                                        <p:attrNameLst>
                                          <p:attrName>style.visibility</p:attrName>
                                        </p:attrNameLst>
                                      </p:cBhvr>
                                      <p:to>
                                        <p:strVal val="visible"/>
                                      </p:to>
                                    </p:set>
                                    <p:animEffect transition="in" filter="wipe(down)">
                                      <p:cBhvr>
                                        <p:cTn id="53" dur="500"/>
                                        <p:tgtEl>
                                          <p:spTgt spid="7">
                                            <p:txEl>
                                              <p:pRg st="12" end="12"/>
                                            </p:txEl>
                                          </p:spTgt>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7">
                                            <p:txEl>
                                              <p:pRg st="13" end="13"/>
                                            </p:txEl>
                                          </p:spTgt>
                                        </p:tgtEl>
                                        <p:attrNameLst>
                                          <p:attrName>style.visibility</p:attrName>
                                        </p:attrNameLst>
                                      </p:cBhvr>
                                      <p:to>
                                        <p:strVal val="visible"/>
                                      </p:to>
                                    </p:set>
                                    <p:animEffect transition="in" filter="wipe(down)">
                                      <p:cBhvr>
                                        <p:cTn id="56"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940512"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Issue 2: Target Machine and Program (2)</a:t>
            </a:r>
          </a:p>
        </p:txBody>
      </p:sp>
      <p:sp>
        <p:nvSpPr>
          <p:cNvPr id="7" name="Content Placeholder 6"/>
          <p:cNvSpPr>
            <a:spLocks noGrp="1"/>
          </p:cNvSpPr>
          <p:nvPr>
            <p:ph idx="1"/>
          </p:nvPr>
        </p:nvSpPr>
        <p:spPr>
          <a:xfrm>
            <a:off x="838200" y="1246909"/>
            <a:ext cx="10515600" cy="4930054"/>
          </a:xfrm>
        </p:spPr>
        <p:txBody>
          <a:bodyPr>
            <a:normAutofit/>
          </a:bodyPr>
          <a:lstStyle/>
          <a:p>
            <a:pPr>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Absolute machine code</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It can be placed in a fixed location in memory</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Can immediately be executed</a:t>
            </a:r>
          </a:p>
          <a:p>
            <a:pPr>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Relocatable machine – language program </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Allows subprograms to be compiled separately</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Linker : links a set of Relocatable object modules together</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Loader: load them in memory</a:t>
            </a:r>
          </a:p>
          <a:p>
            <a:pPr>
              <a:spcBef>
                <a:spcPts val="700"/>
              </a:spcBef>
            </a:pPr>
            <a:r>
              <a:rPr lang="en-US" altLang="en-US" dirty="0">
                <a:solidFill>
                  <a:srgbClr val="000000"/>
                </a:solidFill>
                <a:latin typeface="Candara" panose="020E0502030303020204" pitchFamily="34" charset="0"/>
              </a:rPr>
              <a:t>Assembly language</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Easier to generate using of macro and symbolic instruction</a:t>
            </a:r>
          </a:p>
          <a:p>
            <a:pPr lvl="1">
              <a:spcBef>
                <a:spcPts val="700"/>
              </a:spcBef>
              <a:buFont typeface="Times New Roman" panose="02020603050405020304" pitchFamily="18" charset="0"/>
              <a:buChar char="–"/>
            </a:pPr>
            <a:r>
              <a:rPr lang="en-US" altLang="en-US" sz="2800" dirty="0">
                <a:solidFill>
                  <a:srgbClr val="000000"/>
                </a:solidFill>
                <a:latin typeface="Candara" panose="020E0502030303020204" pitchFamily="34" charset="0"/>
              </a:rPr>
              <a:t>However, requires assembly step after code generation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06620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ipe(down)">
                                      <p:cBhvr>
                                        <p:cTn id="10" dur="500"/>
                                        <p:tgtEl>
                                          <p:spTgt spid="7">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wipe(down)">
                                      <p:cBhvr>
                                        <p:cTn id="13" dur="500"/>
                                        <p:tgtEl>
                                          <p:spTgt spid="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ipe(down)">
                                      <p:cBhvr>
                                        <p:cTn id="18" dur="500"/>
                                        <p:tgtEl>
                                          <p:spTgt spid="7">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wipe(down)">
                                      <p:cBhvr>
                                        <p:cTn id="21" dur="500"/>
                                        <p:tgtEl>
                                          <p:spTgt spid="7">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wipe(down)">
                                      <p:cBhvr>
                                        <p:cTn id="24" dur="500"/>
                                        <p:tgtEl>
                                          <p:spTgt spid="7">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wipe(down)">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wipe(down)">
                                      <p:cBhvr>
                                        <p:cTn id="32" dur="500"/>
                                        <p:tgtEl>
                                          <p:spTgt spid="7">
                                            <p:txEl>
                                              <p:pRg st="7" end="7"/>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wipe(down)">
                                      <p:cBhvr>
                                        <p:cTn id="35" dur="500"/>
                                        <p:tgtEl>
                                          <p:spTgt spid="7">
                                            <p:txEl>
                                              <p:pRg st="8" end="8"/>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7">
                                            <p:txEl>
                                              <p:pRg st="9" end="9"/>
                                            </p:txEl>
                                          </p:spTgt>
                                        </p:tgtEl>
                                        <p:attrNameLst>
                                          <p:attrName>style.visibility</p:attrName>
                                        </p:attrNameLst>
                                      </p:cBhvr>
                                      <p:to>
                                        <p:strVal val="visible"/>
                                      </p:to>
                                    </p:set>
                                    <p:animEffect transition="in" filter="wipe(down)">
                                      <p:cBhvr>
                                        <p:cTn id="38"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3: Instruction Selection</a:t>
            </a:r>
          </a:p>
        </p:txBody>
      </p:sp>
      <p:sp>
        <p:nvSpPr>
          <p:cNvPr id="7" name="Content Placeholder 6"/>
          <p:cNvSpPr>
            <a:spLocks noGrp="1"/>
          </p:cNvSpPr>
          <p:nvPr>
            <p:ph idx="1"/>
          </p:nvPr>
        </p:nvSpPr>
        <p:spPr>
          <a:xfrm>
            <a:off x="838200" y="1246909"/>
            <a:ext cx="10515600" cy="4930054"/>
          </a:xfrm>
        </p:spPr>
        <p:txBody>
          <a:bodyPr>
            <a:normAutofit lnSpcReduction="10000"/>
          </a:bodyPr>
          <a:lstStyle/>
          <a:p>
            <a:r>
              <a:rPr lang="en-US" dirty="0">
                <a:latin typeface="Candara" panose="020E0502030303020204" pitchFamily="34" charset="0"/>
              </a:rPr>
              <a:t>The code generator must map the IR program into a code sequence that can be executed by the machine</a:t>
            </a:r>
          </a:p>
          <a:p>
            <a:r>
              <a:rPr lang="en-US" dirty="0">
                <a:latin typeface="Candara" panose="020E0502030303020204" pitchFamily="34" charset="0"/>
              </a:rPr>
              <a:t>The complexity of performing the mapping is determined by factors such as </a:t>
            </a:r>
          </a:p>
          <a:p>
            <a:pPr lvl="1"/>
            <a:r>
              <a:rPr lang="en-US" dirty="0">
                <a:latin typeface="Candara" panose="020E0502030303020204" pitchFamily="34" charset="0"/>
              </a:rPr>
              <a:t>The level of the IR</a:t>
            </a:r>
          </a:p>
          <a:p>
            <a:pPr lvl="1"/>
            <a:r>
              <a:rPr lang="en-US" dirty="0">
                <a:latin typeface="Candara" panose="020E0502030303020204" pitchFamily="34" charset="0"/>
              </a:rPr>
              <a:t>The nature of the ISA (instruction-set architecture)</a:t>
            </a:r>
          </a:p>
          <a:p>
            <a:pPr lvl="1"/>
            <a:r>
              <a:rPr lang="en-US" dirty="0">
                <a:latin typeface="Candara" panose="020E0502030303020204" pitchFamily="34" charset="0"/>
              </a:rPr>
              <a:t>The desired quality of the generated code</a:t>
            </a:r>
          </a:p>
          <a:p>
            <a:r>
              <a:rPr lang="en-US" dirty="0">
                <a:latin typeface="Candara" panose="020E0502030303020204" pitchFamily="34" charset="0"/>
              </a:rPr>
              <a:t>From a set of instructions, we need to select instructions such that</a:t>
            </a:r>
            <a:endParaRPr lang="en-US" sz="2000" dirty="0">
              <a:latin typeface="Candara" panose="020E0502030303020204" pitchFamily="34" charset="0"/>
            </a:endParaRPr>
          </a:p>
          <a:p>
            <a:pPr lvl="1"/>
            <a:r>
              <a:rPr lang="en-US" dirty="0">
                <a:latin typeface="Candara" panose="020E0502030303020204" pitchFamily="34" charset="0"/>
              </a:rPr>
              <a:t>Generated code is correct and efficient</a:t>
            </a:r>
          </a:p>
          <a:p>
            <a:r>
              <a:rPr lang="en-US" dirty="0">
                <a:solidFill>
                  <a:srgbClr val="FF0000"/>
                </a:solidFill>
                <a:latin typeface="Candara" panose="020E0502030303020204" pitchFamily="34" charset="0"/>
              </a:rPr>
              <a:t>Instruction selection is easy if we don’t care efficiency</a:t>
            </a:r>
          </a:p>
          <a:p>
            <a:pPr lvl="1"/>
            <a:r>
              <a:rPr lang="en-US" dirty="0">
                <a:solidFill>
                  <a:schemeClr val="accent5">
                    <a:lumMod val="50000"/>
                  </a:schemeClr>
                </a:solidFill>
                <a:latin typeface="Candara" panose="020E0502030303020204" pitchFamily="34" charset="0"/>
              </a:rPr>
              <a:t>For each three address statement, we can design a code skeleton that defines the target code for that construct</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61543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down)">
                                      <p:cBhvr>
                                        <p:cTn id="15" dur="500"/>
                                        <p:tgtEl>
                                          <p:spTgt spid="7">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ipe(down)">
                                      <p:cBhvr>
                                        <p:cTn id="18" dur="500"/>
                                        <p:tgtEl>
                                          <p:spTgt spid="7">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wipe(down)">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wipe(down)">
                                      <p:cBhvr>
                                        <p:cTn id="26" dur="500"/>
                                        <p:tgtEl>
                                          <p:spTgt spid="7">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wipe(down)">
                                      <p:cBhvr>
                                        <p:cTn id="29" dur="500"/>
                                        <p:tgtEl>
                                          <p:spTgt spid="7">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wipe(down)">
                                      <p:cBhvr>
                                        <p:cTn id="34" dur="500"/>
                                        <p:tgtEl>
                                          <p:spTgt spid="7">
                                            <p:txEl>
                                              <p:pRg st="7" end="7"/>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wipe(down)">
                                      <p:cBhvr>
                                        <p:cTn id="3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6253" y="3554106"/>
            <a:ext cx="4876219" cy="2179958"/>
          </a:xfrm>
          <a:prstGeom prst="rect">
            <a:avLst/>
          </a:prstGeom>
          <a:ln w="19050">
            <a:solidFill>
              <a:schemeClr val="accent4">
                <a:lumMod val="60000"/>
                <a:lumOff val="40000"/>
              </a:schemeClr>
            </a:solidFill>
            <a:prstDash val="dash"/>
          </a:ln>
        </p:spPr>
      </p:pic>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3: Instruction Selection</a:t>
            </a:r>
          </a:p>
        </p:txBody>
      </p:sp>
      <p:sp>
        <p:nvSpPr>
          <p:cNvPr id="7" name="Content Placeholder 6"/>
          <p:cNvSpPr>
            <a:spLocks noGrp="1"/>
          </p:cNvSpPr>
          <p:nvPr>
            <p:ph idx="1"/>
          </p:nvPr>
        </p:nvSpPr>
        <p:spPr>
          <a:xfrm>
            <a:off x="838200" y="1246909"/>
            <a:ext cx="10515600" cy="4930054"/>
          </a:xfrm>
        </p:spPr>
        <p:txBody>
          <a:bodyPr>
            <a:normAutofit/>
          </a:bodyPr>
          <a:lstStyle/>
          <a:p>
            <a:r>
              <a:rPr lang="en-US" dirty="0">
                <a:latin typeface="Candara" panose="020E0502030303020204" pitchFamily="34" charset="0"/>
              </a:rPr>
              <a:t>Instruction selection for three address statement of form x = y + z can be:</a:t>
            </a:r>
          </a:p>
          <a:p>
            <a:endParaRPr lang="en-US" dirty="0">
              <a:latin typeface="Candara" panose="020E0502030303020204" pitchFamily="34" charset="0"/>
            </a:endParaRPr>
          </a:p>
          <a:p>
            <a:endParaRPr lang="en-US" dirty="0">
              <a:latin typeface="Candara" panose="020E0502030303020204" pitchFamily="34" charset="0"/>
            </a:endParaRPr>
          </a:p>
          <a:p>
            <a:r>
              <a:rPr lang="en-US" dirty="0">
                <a:latin typeface="Candara" panose="020E0502030303020204" pitchFamily="34" charset="0"/>
              </a:rPr>
              <a:t>But can produce redundant loads and stores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10</a:t>
            </a:fld>
            <a:endParaRPr lang="en-US" dirty="0"/>
          </a:p>
        </p:txBody>
      </p:sp>
      <p:pic>
        <p:nvPicPr>
          <p:cNvPr id="5" name="Picture 4"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8319" y="2029579"/>
            <a:ext cx="5975362" cy="902753"/>
          </a:xfrm>
          <a:prstGeom prst="rect">
            <a:avLst/>
          </a:prstGeom>
          <a:ln w="19050">
            <a:solidFill>
              <a:schemeClr val="accent4">
                <a:lumMod val="60000"/>
                <a:lumOff val="40000"/>
              </a:schemeClr>
            </a:solidFill>
            <a:prstDash val="dash"/>
          </a:ln>
        </p:spPr>
      </p:pic>
      <p:pic>
        <p:nvPicPr>
          <p:cNvPr id="30" name="Picture 29" descr="Screen Clippi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20613" y="4122659"/>
            <a:ext cx="2053615" cy="951147"/>
          </a:xfrm>
          <a:prstGeom prst="rect">
            <a:avLst/>
          </a:prstGeom>
          <a:ln w="19050">
            <a:solidFill>
              <a:schemeClr val="accent4">
                <a:lumMod val="60000"/>
                <a:lumOff val="40000"/>
              </a:schemeClr>
            </a:solidFill>
            <a:prstDash val="dash"/>
          </a:ln>
        </p:spPr>
      </p:pic>
      <p:sp>
        <p:nvSpPr>
          <p:cNvPr id="32" name="Right Arrow 31"/>
          <p:cNvSpPr/>
          <p:nvPr/>
        </p:nvSpPr>
        <p:spPr>
          <a:xfrm>
            <a:off x="4454814" y="4377044"/>
            <a:ext cx="602093" cy="484632"/>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a:spLocks noChangeArrowheads="1"/>
          </p:cNvSpPr>
          <p:nvPr/>
        </p:nvSpPr>
        <p:spPr bwMode="auto">
          <a:xfrm>
            <a:off x="1345369" y="5725223"/>
            <a:ext cx="32895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solidFill>
                  <a:srgbClr val="7030A0"/>
                </a:solidFill>
                <a:latin typeface="Candara" panose="020E0502030303020204" pitchFamily="34" charset="0"/>
              </a:rPr>
              <a:t>Three address statements</a:t>
            </a:r>
            <a:endParaRPr lang="en-US" altLang="en-US" dirty="0">
              <a:solidFill>
                <a:srgbClr val="7030A0"/>
              </a:solidFill>
              <a:latin typeface="Candara" panose="020E0502030303020204" pitchFamily="34" charset="0"/>
            </a:endParaRPr>
          </a:p>
        </p:txBody>
      </p:sp>
      <p:sp>
        <p:nvSpPr>
          <p:cNvPr id="34" name="TextBox 33"/>
          <p:cNvSpPr txBox="1">
            <a:spLocks noChangeArrowheads="1"/>
          </p:cNvSpPr>
          <p:nvPr/>
        </p:nvSpPr>
        <p:spPr bwMode="auto">
          <a:xfrm>
            <a:off x="6591022" y="5734064"/>
            <a:ext cx="21963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solidFill>
                  <a:srgbClr val="00B050"/>
                </a:solidFill>
                <a:latin typeface="Candara" panose="020E0502030303020204" pitchFamily="34" charset="0"/>
              </a:rPr>
              <a:t>Translated Code</a:t>
            </a:r>
            <a:endParaRPr lang="en-US" altLang="en-US" dirty="0">
              <a:solidFill>
                <a:srgbClr val="00B050"/>
              </a:solidFill>
              <a:latin typeface="Candara" panose="020E0502030303020204" pitchFamily="34" charset="0"/>
            </a:endParaRPr>
          </a:p>
        </p:txBody>
      </p:sp>
      <p:sp>
        <p:nvSpPr>
          <p:cNvPr id="35" name="Rectangle 34"/>
          <p:cNvSpPr/>
          <p:nvPr/>
        </p:nvSpPr>
        <p:spPr>
          <a:xfrm>
            <a:off x="5709227" y="4377044"/>
            <a:ext cx="1537855" cy="6266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38BCD0-4065-EA5E-C834-EA4738A7F602}"/>
              </a:ext>
            </a:extLst>
          </p:cNvPr>
          <p:cNvSpPr/>
          <p:nvPr/>
        </p:nvSpPr>
        <p:spPr>
          <a:xfrm>
            <a:off x="5709227" y="3704095"/>
            <a:ext cx="4562160" cy="1007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C894FE0-9D2C-F0CC-AC76-2A3BC2A5F054}"/>
              </a:ext>
            </a:extLst>
          </p:cNvPr>
          <p:cNvSpPr/>
          <p:nvPr/>
        </p:nvSpPr>
        <p:spPr>
          <a:xfrm>
            <a:off x="5644655" y="4693408"/>
            <a:ext cx="4562160" cy="1007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771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barn(inVertical)">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down)">
                                      <p:cBhvr>
                                        <p:cTn id="17" dur="500"/>
                                        <p:tgtEl>
                                          <p:spTgt spid="30"/>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down)">
                                      <p:cBhvr>
                                        <p:cTn id="23" dur="500"/>
                                        <p:tgtEl>
                                          <p:spTgt spid="3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down)">
                                      <p:cBhvr>
                                        <p:cTn id="26" dur="500"/>
                                        <p:tgtEl>
                                          <p:spTgt spid="34"/>
                                        </p:tgtEl>
                                      </p:cBhvr>
                                    </p:animEffect>
                                  </p:childTnLst>
                                </p:cTn>
                              </p:par>
                              <p:par>
                                <p:cTn id="27" presetID="22" presetClass="entr" presetSubtype="4"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down)">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grpId="0" nodeType="clickEffect">
                                  <p:stCondLst>
                                    <p:cond delay="0"/>
                                  </p:stCondLst>
                                  <p:childTnLst>
                                    <p:animEffect transition="out" filter="dissolve">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9" presetClass="exit" presetSubtype="0" fill="hold" grpId="0" nodeType="clickEffect">
                                  <p:stCondLst>
                                    <p:cond delay="0"/>
                                  </p:stCondLst>
                                  <p:childTnLst>
                                    <p:animEffect transition="out" filter="dissolve">
                                      <p:cBhvr>
                                        <p:cTn id="38" dur="500"/>
                                        <p:tgtEl>
                                          <p:spTgt spid="8"/>
                                        </p:tgtEl>
                                      </p:cBhvr>
                                    </p:animEffect>
                                    <p:set>
                                      <p:cBhvr>
                                        <p:cTn id="39" dur="1" fill="hold">
                                          <p:stCondLst>
                                            <p:cond delay="499"/>
                                          </p:stCondLst>
                                        </p:cTn>
                                        <p:tgtEl>
                                          <p:spTgt spid="8"/>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down)">
                                      <p:cBhvr>
                                        <p:cTn id="4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5" grpId="0" animBg="1"/>
      <p:bldP spid="6"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3: Instruction Selection</a:t>
            </a:r>
          </a:p>
        </p:txBody>
      </p:sp>
      <p:sp>
        <p:nvSpPr>
          <p:cNvPr id="7" name="Content Placeholder 6"/>
          <p:cNvSpPr>
            <a:spLocks noGrp="1"/>
          </p:cNvSpPr>
          <p:nvPr>
            <p:ph idx="1"/>
          </p:nvPr>
        </p:nvSpPr>
        <p:spPr>
          <a:xfrm>
            <a:off x="838200" y="1246909"/>
            <a:ext cx="10515600" cy="4930054"/>
          </a:xfrm>
        </p:spPr>
        <p:txBody>
          <a:bodyPr>
            <a:normAutofit/>
          </a:bodyPr>
          <a:lstStyle/>
          <a:p>
            <a:r>
              <a:rPr lang="en-US" dirty="0">
                <a:latin typeface="Candara" panose="020E0502030303020204" pitchFamily="34" charset="0"/>
              </a:rPr>
              <a:t>On most machines, a given IR can be translated in many different ways</a:t>
            </a:r>
          </a:p>
          <a:p>
            <a:pPr lvl="1"/>
            <a:r>
              <a:rPr lang="en-US" dirty="0">
                <a:latin typeface="Candara" panose="020E0502030303020204" pitchFamily="34" charset="0"/>
                <a:cs typeface="Courier New" panose="02070309020205020404" pitchFamily="49" charset="0"/>
              </a:rPr>
              <a:t>Some may be efficient, some not</a:t>
            </a:r>
          </a:p>
          <a:p>
            <a:r>
              <a:rPr lang="en-US" dirty="0">
                <a:latin typeface="Candara" panose="020E0502030303020204" pitchFamily="34" charset="0"/>
                <a:cs typeface="Courier New" panose="02070309020205020404" pitchFamily="49" charset="0"/>
              </a:rPr>
              <a:t>Example statement: a = a + 1</a:t>
            </a:r>
          </a:p>
          <a:p>
            <a:pPr lvl="1"/>
            <a:r>
              <a:rPr lang="en-US" dirty="0">
                <a:latin typeface="Candara" panose="020E0502030303020204" pitchFamily="34" charset="0"/>
                <a:cs typeface="Courier New" panose="02070309020205020404" pitchFamily="49" charset="0"/>
              </a:rPr>
              <a:t>If the target machine has an INC instruction, then we have two ways to implement for that machine</a:t>
            </a:r>
          </a:p>
          <a:p>
            <a:pPr marL="914400" lvl="2" indent="0">
              <a:buNone/>
            </a:pPr>
            <a:endParaRPr lang="en-US" dirty="0">
              <a:latin typeface="Candara" panose="020E0502030303020204" pitchFamily="34" charset="0"/>
              <a:cs typeface="Courier New" panose="02070309020205020404" pitchFamily="49" charset="0"/>
            </a:endParaRPr>
          </a:p>
          <a:p>
            <a:pPr marL="457200" lvl="1" indent="0">
              <a:buNone/>
            </a:pPr>
            <a:endParaRPr lang="en-US" dirty="0">
              <a:latin typeface="Candara" panose="020E0502030303020204" pitchFamily="34" charset="0"/>
              <a:cs typeface="Courier New" panose="02070309020205020404" pitchFamily="49" charset="0"/>
            </a:endParaRP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5" name="Picture 4"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70428" y="4506271"/>
            <a:ext cx="802551" cy="373280"/>
          </a:xfrm>
          <a:prstGeom prst="rect">
            <a:avLst/>
          </a:prstGeom>
          <a:ln w="19050">
            <a:solidFill>
              <a:schemeClr val="accent4">
                <a:lumMod val="60000"/>
                <a:lumOff val="40000"/>
              </a:schemeClr>
            </a:solidFill>
            <a:prstDash val="dash"/>
          </a:ln>
        </p:spPr>
      </p:pic>
      <p:pic>
        <p:nvPicPr>
          <p:cNvPr id="6" name="Picture 5"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3409" y="4211831"/>
            <a:ext cx="4237756" cy="1076527"/>
          </a:xfrm>
          <a:prstGeom prst="rect">
            <a:avLst/>
          </a:prstGeom>
          <a:ln w="19050">
            <a:solidFill>
              <a:schemeClr val="accent4">
                <a:lumMod val="60000"/>
                <a:lumOff val="40000"/>
              </a:schemeClr>
            </a:solidFill>
            <a:prstDash val="dash"/>
          </a:ln>
        </p:spPr>
      </p:pic>
      <p:sp>
        <p:nvSpPr>
          <p:cNvPr id="9" name="TextBox 8"/>
          <p:cNvSpPr txBox="1">
            <a:spLocks noChangeArrowheads="1"/>
          </p:cNvSpPr>
          <p:nvPr/>
        </p:nvSpPr>
        <p:spPr bwMode="auto">
          <a:xfrm>
            <a:off x="8206421" y="5210981"/>
            <a:ext cx="5665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solidFill>
                  <a:srgbClr val="00B0F0"/>
                </a:solidFill>
                <a:latin typeface="Candara" panose="020E0502030303020204" pitchFamily="34" charset="0"/>
              </a:rPr>
              <a:t>(ii)</a:t>
            </a:r>
            <a:endParaRPr lang="en-US" altLang="en-US" dirty="0">
              <a:solidFill>
                <a:srgbClr val="00B0F0"/>
              </a:solidFill>
              <a:latin typeface="Candara" panose="020E0502030303020204" pitchFamily="34" charset="0"/>
            </a:endParaRPr>
          </a:p>
        </p:txBody>
      </p:sp>
      <p:sp>
        <p:nvSpPr>
          <p:cNvPr id="10" name="TextBox 9"/>
          <p:cNvSpPr txBox="1">
            <a:spLocks noChangeArrowheads="1"/>
          </p:cNvSpPr>
          <p:nvPr/>
        </p:nvSpPr>
        <p:spPr bwMode="auto">
          <a:xfrm>
            <a:off x="3559008" y="5411036"/>
            <a:ext cx="5665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dirty="0">
                <a:solidFill>
                  <a:srgbClr val="FF0000"/>
                </a:solidFill>
                <a:latin typeface="Candara" panose="020E0502030303020204" pitchFamily="34" charset="0"/>
              </a:rPr>
              <a:t>(i)</a:t>
            </a:r>
            <a:endParaRPr lang="en-US" altLang="en-US" dirty="0">
              <a:solidFill>
                <a:srgbClr val="FF0000"/>
              </a:solidFill>
              <a:latin typeface="Candara" panose="020E0502030303020204" pitchFamily="34" charset="0"/>
            </a:endParaRPr>
          </a:p>
        </p:txBody>
      </p:sp>
    </p:spTree>
    <p:extLst>
      <p:ext uri="{BB962C8B-B14F-4D97-AF65-F5344CB8AC3E}">
        <p14:creationId xmlns:p14="http://schemas.microsoft.com/office/powerpoint/2010/main" val="263420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16" presetClass="entr" presetSubtype="21"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arn(inVertical)">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4: Register Allocation</a:t>
            </a:r>
          </a:p>
        </p:txBody>
      </p:sp>
      <p:sp>
        <p:nvSpPr>
          <p:cNvPr id="7" name="Content Placeholder 6"/>
          <p:cNvSpPr>
            <a:spLocks noGrp="1"/>
          </p:cNvSpPr>
          <p:nvPr>
            <p:ph idx="1"/>
          </p:nvPr>
        </p:nvSpPr>
        <p:spPr>
          <a:xfrm>
            <a:off x="838200" y="1053885"/>
            <a:ext cx="10515600" cy="5123078"/>
          </a:xfrm>
        </p:spPr>
        <p:txBody>
          <a:bodyPr>
            <a:normAutofit/>
          </a:bodyPr>
          <a:lstStyle/>
          <a:p>
            <a:r>
              <a:rPr lang="en-US" altLang="en-US" dirty="0">
                <a:latin typeface="Candara" panose="020E0502030303020204" pitchFamily="34" charset="0"/>
              </a:rPr>
              <a:t>Registers are the fastest computational unit but we do not have enough of them</a:t>
            </a:r>
          </a:p>
          <a:p>
            <a:r>
              <a:rPr lang="en-US" altLang="en-US" dirty="0">
                <a:latin typeface="Candara" panose="020E0502030303020204" pitchFamily="34" charset="0"/>
              </a:rPr>
              <a:t>Values not held in register need to reside in memory</a:t>
            </a:r>
          </a:p>
          <a:p>
            <a:r>
              <a:rPr lang="en-US" altLang="en-US" dirty="0">
                <a:latin typeface="Candara" panose="020E0502030303020204" pitchFamily="34" charset="0"/>
              </a:rPr>
              <a:t>Instruction involving register operands are shorter and faster</a:t>
            </a:r>
          </a:p>
          <a:p>
            <a:r>
              <a:rPr lang="en-US" altLang="en-US" dirty="0">
                <a:latin typeface="Candara" panose="020E0502030303020204" pitchFamily="34" charset="0"/>
              </a:rPr>
              <a:t>Use of registers is subdivided into two subproblems – </a:t>
            </a:r>
            <a:endParaRPr lang="en-US" altLang="en-US" sz="1200" dirty="0">
              <a:latin typeface="Candara" panose="020E0502030303020204" pitchFamily="34" charset="0"/>
            </a:endParaRPr>
          </a:p>
          <a:p>
            <a:pPr lvl="1"/>
            <a:r>
              <a:rPr lang="en-US" altLang="en-US" dirty="0">
                <a:solidFill>
                  <a:srgbClr val="C00000"/>
                </a:solidFill>
                <a:latin typeface="Candara" panose="020E0502030303020204" pitchFamily="34" charset="0"/>
              </a:rPr>
              <a:t>Register allocation</a:t>
            </a:r>
            <a:r>
              <a:rPr lang="en-US" altLang="en-US" dirty="0">
                <a:latin typeface="Candara" panose="020E0502030303020204" pitchFamily="34" charset="0"/>
              </a:rPr>
              <a:t>: select the set of variables that will reside in registers at each point in the program</a:t>
            </a:r>
            <a:endParaRPr lang="en-US" altLang="en-US" sz="800" dirty="0">
              <a:latin typeface="Candara" panose="020E0502030303020204" pitchFamily="34" charset="0"/>
            </a:endParaRPr>
          </a:p>
          <a:p>
            <a:pPr lvl="1"/>
            <a:r>
              <a:rPr lang="en-US" altLang="en-US" dirty="0">
                <a:solidFill>
                  <a:srgbClr val="C00000"/>
                </a:solidFill>
                <a:latin typeface="Candara" panose="020E0502030303020204" pitchFamily="34" charset="0"/>
              </a:rPr>
              <a:t>Register assignment</a:t>
            </a:r>
            <a:r>
              <a:rPr lang="en-US" altLang="en-US" dirty="0">
                <a:latin typeface="Candara" panose="020E0502030303020204" pitchFamily="34" charset="0"/>
              </a:rPr>
              <a:t>: we pick a register that a variable will reside in.</a:t>
            </a:r>
          </a:p>
          <a:p>
            <a:r>
              <a:rPr lang="en-US" altLang="en-US" dirty="0">
                <a:latin typeface="Candara" panose="020E0502030303020204" pitchFamily="34" charset="0"/>
              </a:rPr>
              <a:t>Finding an optimal assignment of registers to variables is difficult</a:t>
            </a:r>
          </a:p>
          <a:p>
            <a:pPr lvl="1"/>
            <a:r>
              <a:rPr lang="en-US" altLang="en-US" dirty="0">
                <a:solidFill>
                  <a:srgbClr val="FF0000"/>
                </a:solidFill>
                <a:latin typeface="Candara" panose="020E0502030303020204" pitchFamily="34" charset="0"/>
                <a:cs typeface="Times New Roman" panose="02020603050405020304" pitchFamily="18" charset="0"/>
              </a:rPr>
              <a:t>NP-complete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42200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down)">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down)">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down)">
                                      <p:cBhvr>
                                        <p:cTn id="37" dur="500"/>
                                        <p:tgtEl>
                                          <p:spTgt spid="7">
                                            <p:txEl>
                                              <p:pRg st="6" end="6"/>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7">
                                            <p:txEl>
                                              <p:pRg st="7" end="7"/>
                                            </p:txEl>
                                          </p:spTgt>
                                        </p:tgtEl>
                                        <p:attrNameLst>
                                          <p:attrName>style.visibility</p:attrName>
                                        </p:attrNameLst>
                                      </p:cBhvr>
                                      <p:to>
                                        <p:strVal val="visible"/>
                                      </p:to>
                                    </p:set>
                                    <p:animEffect transition="in" filter="wipe(down)">
                                      <p:cBhvr>
                                        <p:cTn id="40"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Issue 5: Evaluation Order</a:t>
            </a:r>
          </a:p>
        </p:txBody>
      </p:sp>
      <p:sp>
        <p:nvSpPr>
          <p:cNvPr id="7" name="Content Placeholder 6"/>
          <p:cNvSpPr>
            <a:spLocks noGrp="1"/>
          </p:cNvSpPr>
          <p:nvPr>
            <p:ph idx="1"/>
          </p:nvPr>
        </p:nvSpPr>
        <p:spPr>
          <a:xfrm>
            <a:off x="838200" y="1246909"/>
            <a:ext cx="10515600" cy="4930054"/>
          </a:xfrm>
        </p:spPr>
        <p:txBody>
          <a:bodyPr>
            <a:normAutofit/>
          </a:bodyPr>
          <a:lstStyle/>
          <a:p>
            <a:r>
              <a:rPr lang="en-US" altLang="en-US" dirty="0">
                <a:latin typeface="Candara" panose="020E0502030303020204" pitchFamily="34" charset="0"/>
              </a:rPr>
              <a:t>Evaluation order can affect the efficiency of the target code</a:t>
            </a:r>
          </a:p>
          <a:p>
            <a:pPr lvl="1"/>
            <a:endParaRPr lang="en-US" altLang="en-US" sz="800" dirty="0">
              <a:latin typeface="Candara" panose="020E0502030303020204" pitchFamily="34" charset="0"/>
            </a:endParaRPr>
          </a:p>
          <a:p>
            <a:pPr lvl="1"/>
            <a:r>
              <a:rPr lang="en-US" altLang="en-US" dirty="0">
                <a:latin typeface="Candara" panose="020E0502030303020204" pitchFamily="34" charset="0"/>
              </a:rPr>
              <a:t>Some ordering requires fewer registers to hold intermediate results</a:t>
            </a:r>
          </a:p>
          <a:p>
            <a:r>
              <a:rPr lang="en-US" altLang="en-US" dirty="0">
                <a:latin typeface="Candara" panose="020E0502030303020204" pitchFamily="34" charset="0"/>
              </a:rPr>
              <a:t>Finding the best order is difficult</a:t>
            </a:r>
          </a:p>
          <a:p>
            <a:pPr lvl="1"/>
            <a:endParaRPr lang="en-US" altLang="en-US" sz="800" dirty="0">
              <a:latin typeface="Candara" panose="020E0502030303020204" pitchFamily="34" charset="0"/>
            </a:endParaRPr>
          </a:p>
          <a:p>
            <a:pPr lvl="1"/>
            <a:r>
              <a:rPr lang="en-US" altLang="en-US" dirty="0">
                <a:latin typeface="Candara" panose="020E0502030303020204" pitchFamily="34" charset="0"/>
              </a:rPr>
              <a:t>NP-complete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54345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wipe(down)">
                                      <p:cBhvr>
                                        <p:cTn id="15" dur="500"/>
                                        <p:tgtEl>
                                          <p:spTgt spid="7">
                                            <p:txEl>
                                              <p:pRg st="3" end="3"/>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wipe(down)">
                                      <p:cBhvr>
                                        <p:cTn id="18"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Basic Blocks &amp; Flow Graphs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14</a:t>
            </a:fld>
            <a:endParaRPr lang="en-US" dirty="0"/>
          </a:p>
        </p:txBody>
      </p:sp>
      <p:sp>
        <p:nvSpPr>
          <p:cNvPr id="6" name="Content Placeholder 5"/>
          <p:cNvSpPr>
            <a:spLocks noGrp="1"/>
          </p:cNvSpPr>
          <p:nvPr>
            <p:ph idx="1"/>
          </p:nvPr>
        </p:nvSpPr>
        <p:spPr>
          <a:xfrm>
            <a:off x="838200" y="1371600"/>
            <a:ext cx="10515600" cy="4805363"/>
          </a:xfrm>
        </p:spPr>
        <p:txBody>
          <a:bodyPr/>
          <a:lstStyle/>
          <a:p>
            <a:r>
              <a:rPr lang="en-US" i="1" dirty="0">
                <a:solidFill>
                  <a:schemeClr val="accent4">
                    <a:lumMod val="75000"/>
                  </a:schemeClr>
                </a:solidFill>
                <a:latin typeface="Candara" panose="020E0502030303020204" pitchFamily="34" charset="0"/>
              </a:rPr>
              <a:t>Flow graph</a:t>
            </a:r>
            <a:r>
              <a:rPr lang="en-US" dirty="0">
                <a:latin typeface="Candara" panose="020E0502030303020204" pitchFamily="34" charset="0"/>
              </a:rPr>
              <a:t> is a graphical representation of Intermediate code (IR)</a:t>
            </a:r>
          </a:p>
          <a:p>
            <a:pPr lvl="1"/>
            <a:endParaRPr lang="en-US" sz="1200" dirty="0">
              <a:latin typeface="Candara" panose="020E0502030303020204" pitchFamily="34" charset="0"/>
            </a:endParaRPr>
          </a:p>
          <a:p>
            <a:pPr lvl="1"/>
            <a:r>
              <a:rPr lang="en-US" dirty="0">
                <a:latin typeface="Candara" panose="020E0502030303020204" pitchFamily="34" charset="0"/>
              </a:rPr>
              <a:t>Helps in Code Generation </a:t>
            </a:r>
          </a:p>
          <a:p>
            <a:pPr lvl="1"/>
            <a:endParaRPr lang="en-US" sz="600" dirty="0">
              <a:latin typeface="Candara" panose="020E0502030303020204" pitchFamily="34" charset="0"/>
            </a:endParaRPr>
          </a:p>
          <a:p>
            <a:pPr lvl="1"/>
            <a:r>
              <a:rPr lang="en-US" dirty="0">
                <a:latin typeface="Candara" panose="020E0502030303020204" pitchFamily="34" charset="0"/>
              </a:rPr>
              <a:t>Better job in Register Allocation</a:t>
            </a:r>
          </a:p>
          <a:p>
            <a:pPr lvl="1"/>
            <a:endParaRPr lang="en-US" sz="600" dirty="0">
              <a:latin typeface="Candara" panose="020E0502030303020204" pitchFamily="34" charset="0"/>
            </a:endParaRPr>
          </a:p>
          <a:p>
            <a:pPr lvl="1"/>
            <a:r>
              <a:rPr lang="en-US" dirty="0">
                <a:latin typeface="Candara" panose="020E0502030303020204" pitchFamily="34" charset="0"/>
              </a:rPr>
              <a:t>Better job in Instruction Selection</a:t>
            </a:r>
          </a:p>
        </p:txBody>
      </p:sp>
    </p:spTree>
    <p:extLst>
      <p:ext uri="{BB962C8B-B14F-4D97-AF65-F5344CB8AC3E}">
        <p14:creationId xmlns:p14="http://schemas.microsoft.com/office/powerpoint/2010/main" val="59448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arn(inVertic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barn(inVertical)">
                                      <p:cBhvr>
                                        <p:cTn id="12" dur="500"/>
                                        <p:tgtEl>
                                          <p:spTgt spid="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animEffect transition="in" filter="barn(inVertical)">
                                      <p:cBhvr>
                                        <p:cTn id="1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Basic Blocks &amp; Flow Graphs</a:t>
            </a:r>
          </a:p>
        </p:txBody>
      </p:sp>
      <p:sp>
        <p:nvSpPr>
          <p:cNvPr id="4" name="Slide Number Placeholder 3"/>
          <p:cNvSpPr>
            <a:spLocks noGrp="1"/>
          </p:cNvSpPr>
          <p:nvPr>
            <p:ph type="sldNum" sz="quarter" idx="12"/>
          </p:nvPr>
        </p:nvSpPr>
        <p:spPr/>
        <p:txBody>
          <a:bodyPr/>
          <a:lstStyle/>
          <a:p>
            <a:fld id="{48F63A3B-78C7-47BE-AE5E-E10140E04643}" type="slidenum">
              <a:rPr lang="en-US" smtClean="0"/>
              <a:pPr/>
              <a:t>15</a:t>
            </a:fld>
            <a:endParaRPr lang="en-US" dirty="0"/>
          </a:p>
        </p:txBody>
      </p:sp>
      <p:pic>
        <p:nvPicPr>
          <p:cNvPr id="9" name="Picture 8">
            <a:extLst>
              <a:ext uri="{FF2B5EF4-FFF2-40B4-BE49-F238E27FC236}">
                <a16:creationId xmlns:a16="http://schemas.microsoft.com/office/drawing/2014/main" id="{55A56F14-8194-0388-F4CA-5F1CB84FEE82}"/>
              </a:ext>
            </a:extLst>
          </p:cNvPr>
          <p:cNvPicPr>
            <a:picLocks noChangeAspect="1"/>
          </p:cNvPicPr>
          <p:nvPr/>
        </p:nvPicPr>
        <p:blipFill rotWithShape="1">
          <a:blip r:embed="rId2"/>
          <a:srcRect r="11803"/>
          <a:stretch/>
        </p:blipFill>
        <p:spPr>
          <a:xfrm>
            <a:off x="279776" y="1496312"/>
            <a:ext cx="3510152" cy="1804827"/>
          </a:xfrm>
          <a:prstGeom prst="rect">
            <a:avLst/>
          </a:prstGeom>
          <a:ln>
            <a:solidFill>
              <a:schemeClr val="accent4">
                <a:lumMod val="75000"/>
              </a:schemeClr>
            </a:solidFill>
            <a:prstDash val="dash"/>
          </a:ln>
        </p:spPr>
      </p:pic>
      <p:pic>
        <p:nvPicPr>
          <p:cNvPr id="11" name="Picture 10">
            <a:extLst>
              <a:ext uri="{FF2B5EF4-FFF2-40B4-BE49-F238E27FC236}">
                <a16:creationId xmlns:a16="http://schemas.microsoft.com/office/drawing/2014/main" id="{29AB1AC9-B02D-0AB7-D89C-640527D7E912}"/>
              </a:ext>
            </a:extLst>
          </p:cNvPr>
          <p:cNvPicPr>
            <a:picLocks noChangeAspect="1"/>
          </p:cNvPicPr>
          <p:nvPr/>
        </p:nvPicPr>
        <p:blipFill>
          <a:blip r:embed="rId3"/>
          <a:stretch>
            <a:fillRect/>
          </a:stretch>
        </p:blipFill>
        <p:spPr>
          <a:xfrm>
            <a:off x="4828930" y="1228151"/>
            <a:ext cx="3138488" cy="4825252"/>
          </a:xfrm>
          <a:prstGeom prst="rect">
            <a:avLst/>
          </a:prstGeom>
          <a:ln>
            <a:solidFill>
              <a:schemeClr val="accent6">
                <a:lumMod val="75000"/>
              </a:schemeClr>
            </a:solidFill>
            <a:prstDash val="dash"/>
          </a:ln>
        </p:spPr>
      </p:pic>
      <p:sp>
        <p:nvSpPr>
          <p:cNvPr id="12" name="Arrow: Right 11">
            <a:extLst>
              <a:ext uri="{FF2B5EF4-FFF2-40B4-BE49-F238E27FC236}">
                <a16:creationId xmlns:a16="http://schemas.microsoft.com/office/drawing/2014/main" id="{7909D95F-16D0-A3EA-56B2-D2AFC3FCBBFB}"/>
              </a:ext>
            </a:extLst>
          </p:cNvPr>
          <p:cNvSpPr/>
          <p:nvPr/>
        </p:nvSpPr>
        <p:spPr>
          <a:xfrm>
            <a:off x="4038600" y="2398725"/>
            <a:ext cx="650848" cy="4804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585BFBF-8AC3-84AA-E4BC-22465F9B1FF1}"/>
              </a:ext>
            </a:extLst>
          </p:cNvPr>
          <p:cNvSpPr txBox="1"/>
          <p:nvPr/>
        </p:nvSpPr>
        <p:spPr>
          <a:xfrm>
            <a:off x="1160350" y="3456111"/>
            <a:ext cx="1673215" cy="369332"/>
          </a:xfrm>
          <a:prstGeom prst="rect">
            <a:avLst/>
          </a:prstGeom>
          <a:noFill/>
        </p:spPr>
        <p:txBody>
          <a:bodyPr wrap="none" rtlCol="0">
            <a:spAutoFit/>
          </a:bodyPr>
          <a:lstStyle/>
          <a:p>
            <a:r>
              <a:rPr lang="en-US" dirty="0">
                <a:solidFill>
                  <a:schemeClr val="accent4">
                    <a:lumMod val="75000"/>
                  </a:schemeClr>
                </a:solidFill>
              </a:rPr>
              <a:t>Source Program</a:t>
            </a:r>
          </a:p>
        </p:txBody>
      </p:sp>
      <p:sp>
        <p:nvSpPr>
          <p:cNvPr id="14" name="TextBox 13">
            <a:extLst>
              <a:ext uri="{FF2B5EF4-FFF2-40B4-BE49-F238E27FC236}">
                <a16:creationId xmlns:a16="http://schemas.microsoft.com/office/drawing/2014/main" id="{D1F47C3E-6982-4384-0578-6445D4791AF6}"/>
              </a:ext>
            </a:extLst>
          </p:cNvPr>
          <p:cNvSpPr txBox="1"/>
          <p:nvPr/>
        </p:nvSpPr>
        <p:spPr>
          <a:xfrm>
            <a:off x="5435299" y="6150233"/>
            <a:ext cx="2063770" cy="369332"/>
          </a:xfrm>
          <a:prstGeom prst="rect">
            <a:avLst/>
          </a:prstGeom>
          <a:noFill/>
        </p:spPr>
        <p:txBody>
          <a:bodyPr wrap="none" rtlCol="0">
            <a:spAutoFit/>
          </a:bodyPr>
          <a:lstStyle/>
          <a:p>
            <a:r>
              <a:rPr lang="en-US" dirty="0">
                <a:solidFill>
                  <a:srgbClr val="00B0F0"/>
                </a:solidFill>
              </a:rPr>
              <a:t>Three Address Code</a:t>
            </a:r>
          </a:p>
        </p:txBody>
      </p:sp>
      <p:pic>
        <p:nvPicPr>
          <p:cNvPr id="15" name="Content Placeholder 7" descr="Screen Clipping">
            <a:extLst>
              <a:ext uri="{FF2B5EF4-FFF2-40B4-BE49-F238E27FC236}">
                <a16:creationId xmlns:a16="http://schemas.microsoft.com/office/drawing/2014/main" id="{B6C9ABE7-0740-FA37-40EA-05C04752ED2D}"/>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8862479" y="1123623"/>
            <a:ext cx="3329521" cy="5261679"/>
          </a:xfrm>
          <a:prstGeom prst="rect">
            <a:avLst/>
          </a:prstGeom>
          <a:ln>
            <a:solidFill>
              <a:schemeClr val="accent4">
                <a:lumMod val="75000"/>
              </a:schemeClr>
            </a:solidFill>
            <a:prstDash val="dash"/>
          </a:ln>
        </p:spPr>
      </p:pic>
      <p:sp>
        <p:nvSpPr>
          <p:cNvPr id="16" name="Arrow: Right 15">
            <a:extLst>
              <a:ext uri="{FF2B5EF4-FFF2-40B4-BE49-F238E27FC236}">
                <a16:creationId xmlns:a16="http://schemas.microsoft.com/office/drawing/2014/main" id="{A1FB2CD7-00C3-5AB0-7A10-B22A0B9A5EC0}"/>
              </a:ext>
            </a:extLst>
          </p:cNvPr>
          <p:cNvSpPr/>
          <p:nvPr/>
        </p:nvSpPr>
        <p:spPr>
          <a:xfrm>
            <a:off x="8196133" y="2472704"/>
            <a:ext cx="650848" cy="4804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7E61534-9F5C-F58B-D070-209BC15DB07D}"/>
              </a:ext>
            </a:extLst>
          </p:cNvPr>
          <p:cNvSpPr txBox="1"/>
          <p:nvPr/>
        </p:nvSpPr>
        <p:spPr>
          <a:xfrm>
            <a:off x="10934155" y="6053403"/>
            <a:ext cx="1257845" cy="369332"/>
          </a:xfrm>
          <a:prstGeom prst="rect">
            <a:avLst/>
          </a:prstGeom>
          <a:noFill/>
        </p:spPr>
        <p:txBody>
          <a:bodyPr wrap="none" rtlCol="0">
            <a:spAutoFit/>
          </a:bodyPr>
          <a:lstStyle/>
          <a:p>
            <a:r>
              <a:rPr lang="en-US" dirty="0">
                <a:solidFill>
                  <a:schemeClr val="accent6">
                    <a:lumMod val="75000"/>
                  </a:schemeClr>
                </a:solidFill>
              </a:rPr>
              <a:t>Flow Graph</a:t>
            </a:r>
          </a:p>
        </p:txBody>
      </p:sp>
    </p:spTree>
    <p:extLst>
      <p:ext uri="{BB962C8B-B14F-4D97-AF65-F5344CB8AC3E}">
        <p14:creationId xmlns:p14="http://schemas.microsoft.com/office/powerpoint/2010/main" val="33682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P spid="16" grpId="0" animBg="1"/>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16</a:t>
            </a:fld>
            <a:endParaRPr lang="en-US" dirty="0"/>
          </a:p>
        </p:txBody>
      </p:sp>
      <p:sp>
        <p:nvSpPr>
          <p:cNvPr id="6" name="Content Placeholder 5"/>
          <p:cNvSpPr>
            <a:spLocks noGrp="1"/>
          </p:cNvSpPr>
          <p:nvPr>
            <p:ph idx="1"/>
          </p:nvPr>
        </p:nvSpPr>
        <p:spPr>
          <a:xfrm>
            <a:off x="838200" y="1430594"/>
            <a:ext cx="10515600" cy="4746369"/>
          </a:xfrm>
        </p:spPr>
        <p:txBody>
          <a:bodyPr>
            <a:normAutofit fontScale="92500" lnSpcReduction="10000"/>
          </a:bodyPr>
          <a:lstStyle/>
          <a:p>
            <a:pPr>
              <a:lnSpc>
                <a:spcPct val="120000"/>
              </a:lnSpc>
            </a:pPr>
            <a:r>
              <a:rPr lang="en-US" altLang="en-US" dirty="0">
                <a:latin typeface="Candara" panose="020E0502030303020204" pitchFamily="34" charset="0"/>
              </a:rPr>
              <a:t>Partition the intermediate code into </a:t>
            </a:r>
            <a:r>
              <a:rPr lang="en-US" altLang="en-US" i="1" dirty="0">
                <a:solidFill>
                  <a:srgbClr val="00B0F0"/>
                </a:solidFill>
                <a:latin typeface="Candara" panose="020E0502030303020204" pitchFamily="34" charset="0"/>
              </a:rPr>
              <a:t>basic blocks</a:t>
            </a:r>
            <a:r>
              <a:rPr lang="en-US" altLang="en-US" i="1" dirty="0">
                <a:latin typeface="Candara" panose="020E0502030303020204" pitchFamily="34" charset="0"/>
              </a:rPr>
              <a:t>,</a:t>
            </a:r>
            <a:r>
              <a:rPr lang="en-US" altLang="en-US" dirty="0">
                <a:latin typeface="Candara" panose="020E0502030303020204" pitchFamily="34" charset="0"/>
              </a:rPr>
              <a:t> which are </a:t>
            </a:r>
            <a:r>
              <a:rPr lang="en-US" altLang="en-US" dirty="0">
                <a:solidFill>
                  <a:srgbClr val="0070C0"/>
                </a:solidFill>
                <a:latin typeface="Candara" panose="020E0502030303020204" pitchFamily="34" charset="0"/>
              </a:rPr>
              <a:t>maximal sequences of consecutive Three-Address instructions</a:t>
            </a:r>
            <a:r>
              <a:rPr lang="en-US" altLang="en-US" dirty="0">
                <a:latin typeface="Candara" panose="020E0502030303020204" pitchFamily="34" charset="0"/>
              </a:rPr>
              <a:t> with the properties – </a:t>
            </a:r>
            <a:endParaRPr lang="en-US" altLang="en-US" sz="800" dirty="0">
              <a:latin typeface="Candara" panose="020E0502030303020204" pitchFamily="34" charset="0"/>
            </a:endParaRPr>
          </a:p>
          <a:p>
            <a:pPr lvl="1">
              <a:lnSpc>
                <a:spcPct val="120000"/>
              </a:lnSpc>
            </a:pPr>
            <a:r>
              <a:rPr lang="en-US" altLang="en-US" dirty="0">
                <a:latin typeface="Candara" panose="020E0502030303020204" pitchFamily="34" charset="0"/>
              </a:rPr>
              <a:t>The flow of control can only enter the basic block through the first instruction in the block</a:t>
            </a:r>
          </a:p>
          <a:p>
            <a:pPr lvl="2">
              <a:lnSpc>
                <a:spcPct val="120000"/>
              </a:lnSpc>
            </a:pPr>
            <a:r>
              <a:rPr lang="en-US" altLang="en-US" sz="2200" dirty="0">
                <a:latin typeface="Candara" panose="020E0502030303020204" pitchFamily="34" charset="0"/>
              </a:rPr>
              <a:t>There are no jumps into the middle of the bock</a:t>
            </a:r>
            <a:endParaRPr lang="en-US" altLang="en-US" sz="800" dirty="0">
              <a:latin typeface="Candara" panose="020E0502030303020204" pitchFamily="34" charset="0"/>
            </a:endParaRPr>
          </a:p>
          <a:p>
            <a:pPr lvl="1">
              <a:lnSpc>
                <a:spcPct val="120000"/>
              </a:lnSpc>
            </a:pPr>
            <a:r>
              <a:rPr lang="en-US" altLang="en-US" dirty="0">
                <a:latin typeface="Candara" panose="020E0502030303020204" pitchFamily="34" charset="0"/>
              </a:rPr>
              <a:t>Control will leave the block without halting or branching</a:t>
            </a:r>
          </a:p>
          <a:p>
            <a:pPr lvl="2">
              <a:lnSpc>
                <a:spcPct val="120000"/>
              </a:lnSpc>
            </a:pPr>
            <a:r>
              <a:rPr lang="en-US" altLang="en-US" sz="2200" dirty="0">
                <a:latin typeface="Candara" panose="020E0502030303020204" pitchFamily="34" charset="0"/>
              </a:rPr>
              <a:t>Except possibly at the last instruction in the block</a:t>
            </a:r>
          </a:p>
          <a:p>
            <a:pPr>
              <a:lnSpc>
                <a:spcPct val="120000"/>
              </a:lnSpc>
            </a:pPr>
            <a:r>
              <a:rPr lang="en-US" altLang="en-US" sz="3000" dirty="0">
                <a:latin typeface="Candara" panose="020E0502030303020204" pitchFamily="34" charset="0"/>
              </a:rPr>
              <a:t>The basic blocks become the </a:t>
            </a:r>
            <a:r>
              <a:rPr lang="en-US" altLang="en-US" sz="3000" dirty="0">
                <a:solidFill>
                  <a:srgbClr val="0070C0"/>
                </a:solidFill>
                <a:latin typeface="Candara" panose="020E0502030303020204" pitchFamily="34" charset="0"/>
              </a:rPr>
              <a:t>nodes</a:t>
            </a:r>
            <a:r>
              <a:rPr lang="en-US" altLang="en-US" sz="3000" dirty="0">
                <a:latin typeface="Candara" panose="020E0502030303020204" pitchFamily="34" charset="0"/>
              </a:rPr>
              <a:t> of a </a:t>
            </a:r>
            <a:r>
              <a:rPr lang="en-US" altLang="en-US" sz="3000" i="1" dirty="0">
                <a:solidFill>
                  <a:schemeClr val="accent4">
                    <a:lumMod val="75000"/>
                  </a:schemeClr>
                </a:solidFill>
                <a:latin typeface="Candara" panose="020E0502030303020204" pitchFamily="34" charset="0"/>
              </a:rPr>
              <a:t>flow graph</a:t>
            </a:r>
          </a:p>
          <a:p>
            <a:pPr lvl="1">
              <a:lnSpc>
                <a:spcPct val="120000"/>
              </a:lnSpc>
            </a:pPr>
            <a:r>
              <a:rPr lang="en-US" altLang="en-US" sz="2600" dirty="0">
                <a:solidFill>
                  <a:schemeClr val="accent6">
                    <a:lumMod val="75000"/>
                  </a:schemeClr>
                </a:solidFill>
                <a:latin typeface="Candara" panose="020E0502030303020204" pitchFamily="34" charset="0"/>
              </a:rPr>
              <a:t>Edges</a:t>
            </a:r>
            <a:r>
              <a:rPr lang="en-US" altLang="en-US" sz="2600" dirty="0">
                <a:latin typeface="Candara" panose="020E0502030303020204" pitchFamily="34" charset="0"/>
              </a:rPr>
              <a:t> indicate which block can follow which other blocks</a:t>
            </a:r>
          </a:p>
          <a:p>
            <a:pPr>
              <a:lnSpc>
                <a:spcPct val="120000"/>
              </a:lnSpc>
            </a:pPr>
            <a:endParaRPr lang="en-US" dirty="0">
              <a:latin typeface="Candara" panose="020E0502030303020204" pitchFamily="34" charset="0"/>
            </a:endParaRPr>
          </a:p>
        </p:txBody>
      </p:sp>
      <p:sp>
        <p:nvSpPr>
          <p:cNvPr id="5" name="Title 1">
            <a:extLst>
              <a:ext uri="{FF2B5EF4-FFF2-40B4-BE49-F238E27FC236}">
                <a16:creationId xmlns:a16="http://schemas.microsoft.com/office/drawing/2014/main" id="{F14F50AE-FA0C-26F7-3C7A-2E3209F2432C}"/>
              </a:ext>
            </a:extLst>
          </p:cNvPr>
          <p:cNvSpPr txBox="1">
            <a:spLocks/>
          </p:cNvSpPr>
          <p:nvPr/>
        </p:nvSpPr>
        <p:spPr>
          <a:xfrm>
            <a:off x="990600" y="152400"/>
            <a:ext cx="10515600" cy="1228151"/>
          </a:xfrm>
          <a:prstGeom prst="rect">
            <a:avLst/>
          </a:prstGeom>
          <a:effectLst>
            <a:outerShdw blurRad="50800" dist="38100" dir="2700000" algn="tl" rotWithShape="0">
              <a:prstClr val="black">
                <a:alpha val="40000"/>
              </a:prstClr>
            </a:outerShdw>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000" dirty="0">
                <a:solidFill>
                  <a:schemeClr val="tx2">
                    <a:lumMod val="50000"/>
                  </a:schemeClr>
                </a:solidFill>
                <a:latin typeface="Candara" panose="020E0502030303020204" pitchFamily="34" charset="0"/>
              </a:rPr>
              <a:t>Constructing Flow Graphs</a:t>
            </a:r>
          </a:p>
        </p:txBody>
      </p:sp>
    </p:spTree>
    <p:extLst>
      <p:ext uri="{BB962C8B-B14F-4D97-AF65-F5344CB8AC3E}">
        <p14:creationId xmlns:p14="http://schemas.microsoft.com/office/powerpoint/2010/main" val="377425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wipe(down)">
                                      <p:cBhvr>
                                        <p:cTn id="16" dur="500"/>
                                        <p:tgtEl>
                                          <p:spTgt spid="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wipe(down)">
                                      <p:cBhvr>
                                        <p:cTn id="21" dur="500"/>
                                        <p:tgtEl>
                                          <p:spTgt spid="6">
                                            <p:txEl>
                                              <p:pRg st="3" end="3"/>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wipe(down)">
                                      <p:cBhvr>
                                        <p:cTn id="24" dur="500"/>
                                        <p:tgtEl>
                                          <p:spTgt spid="6">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wipe(down)">
                                      <p:cBhvr>
                                        <p:cTn id="29" dur="500"/>
                                        <p:tgtEl>
                                          <p:spTgt spid="6">
                                            <p:txEl>
                                              <p:pRg st="5" end="5"/>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wipe(down)">
                                      <p:cBhvr>
                                        <p:cTn id="3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Constructing Basic Blocks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17</a:t>
            </a:fld>
            <a:endParaRPr lang="en-US" dirty="0"/>
          </a:p>
        </p:txBody>
      </p:sp>
      <p:sp>
        <p:nvSpPr>
          <p:cNvPr id="6" name="Content Placeholder 5"/>
          <p:cNvSpPr>
            <a:spLocks noGrp="1"/>
          </p:cNvSpPr>
          <p:nvPr>
            <p:ph idx="1"/>
          </p:nvPr>
        </p:nvSpPr>
        <p:spPr>
          <a:xfrm>
            <a:off x="838200" y="1371600"/>
            <a:ext cx="10515600" cy="4805363"/>
          </a:xfrm>
        </p:spPr>
        <p:txBody>
          <a:bodyPr>
            <a:normAutofit/>
          </a:bodyPr>
          <a:lstStyle/>
          <a:p>
            <a:r>
              <a:rPr lang="en-US" b="1" dirty="0">
                <a:latin typeface="Candara" panose="020E0502030303020204" pitchFamily="34" charset="0"/>
              </a:rPr>
              <a:t>Algorithm</a:t>
            </a:r>
            <a:r>
              <a:rPr lang="en-US" dirty="0">
                <a:latin typeface="Candara" panose="020E0502030303020204" pitchFamily="34" charset="0"/>
              </a:rPr>
              <a:t>: </a:t>
            </a:r>
            <a:r>
              <a:rPr lang="en-US" sz="2600" dirty="0">
                <a:latin typeface="Candara" panose="020E0502030303020204" pitchFamily="34" charset="0"/>
              </a:rPr>
              <a:t>Partitioning Three-Address Code into Basic Blocks</a:t>
            </a:r>
          </a:p>
          <a:p>
            <a:r>
              <a:rPr lang="en-US" b="1" dirty="0">
                <a:latin typeface="Candara" panose="020E0502030303020204" pitchFamily="34" charset="0"/>
              </a:rPr>
              <a:t>Input</a:t>
            </a:r>
            <a:r>
              <a:rPr lang="en-US" dirty="0">
                <a:latin typeface="Candara" panose="020E0502030303020204" pitchFamily="34" charset="0"/>
              </a:rPr>
              <a:t>: </a:t>
            </a:r>
            <a:r>
              <a:rPr lang="en-US" sz="2600" dirty="0">
                <a:latin typeface="Candara" panose="020E0502030303020204" pitchFamily="34" charset="0"/>
              </a:rPr>
              <a:t>A sequence of Three-Address Code</a:t>
            </a:r>
          </a:p>
          <a:p>
            <a:r>
              <a:rPr lang="en-US" b="1" dirty="0">
                <a:latin typeface="Candara" panose="020E0502030303020204" pitchFamily="34" charset="0"/>
              </a:rPr>
              <a:t>Output</a:t>
            </a:r>
            <a:r>
              <a:rPr lang="en-US" dirty="0">
                <a:latin typeface="Candara" panose="020E0502030303020204" pitchFamily="34" charset="0"/>
              </a:rPr>
              <a:t>: </a:t>
            </a:r>
            <a:r>
              <a:rPr lang="en-US" sz="2600" dirty="0">
                <a:latin typeface="Candara" panose="020E0502030303020204" pitchFamily="34" charset="0"/>
              </a:rPr>
              <a:t>A </a:t>
            </a:r>
            <a:r>
              <a:rPr lang="en-US" sz="2600" dirty="0">
                <a:solidFill>
                  <a:srgbClr val="C00000"/>
                </a:solidFill>
                <a:latin typeface="Candara" panose="020E0502030303020204" pitchFamily="34" charset="0"/>
              </a:rPr>
              <a:t>list of basic blocks</a:t>
            </a:r>
            <a:r>
              <a:rPr lang="en-US" sz="2600" dirty="0">
                <a:latin typeface="Candara" panose="020E0502030303020204" pitchFamily="34" charset="0"/>
              </a:rPr>
              <a:t> where each instruction is assigned to exactly one block</a:t>
            </a:r>
          </a:p>
          <a:p>
            <a:r>
              <a:rPr lang="en-US" b="1" dirty="0">
                <a:latin typeface="Candara" panose="020E0502030303020204" pitchFamily="34" charset="0"/>
              </a:rPr>
              <a:t>Method:</a:t>
            </a:r>
          </a:p>
          <a:p>
            <a:pPr marL="914400" lvl="1" indent="-457200">
              <a:buFont typeface="+mj-lt"/>
              <a:buAutoNum type="arabicPeriod"/>
            </a:pPr>
            <a:r>
              <a:rPr lang="en-US" dirty="0">
                <a:latin typeface="Candara" panose="020E0502030303020204" pitchFamily="34" charset="0"/>
              </a:rPr>
              <a:t>D</a:t>
            </a:r>
            <a:r>
              <a:rPr lang="en-US" altLang="en-US" dirty="0">
                <a:latin typeface="Candara" panose="020E0502030303020204" pitchFamily="34" charset="0"/>
              </a:rPr>
              <a:t>etermine those instructions in the intermediate code that are the first instructions in some basic blocks – </a:t>
            </a:r>
            <a:r>
              <a:rPr lang="en-US" altLang="en-US" dirty="0">
                <a:solidFill>
                  <a:srgbClr val="C00000"/>
                </a:solidFill>
                <a:latin typeface="Candara" panose="020E0502030303020204" pitchFamily="34" charset="0"/>
              </a:rPr>
              <a:t>leaders</a:t>
            </a:r>
          </a:p>
          <a:p>
            <a:pPr marL="1371600" lvl="2" indent="-457200">
              <a:buFont typeface="+mj-lt"/>
              <a:buAutoNum type="alphaLcPeriod"/>
            </a:pPr>
            <a:r>
              <a:rPr lang="en-US" sz="2200" dirty="0">
                <a:latin typeface="Candara" panose="020E0502030303020204" pitchFamily="34" charset="0"/>
              </a:rPr>
              <a:t>The </a:t>
            </a:r>
            <a:r>
              <a:rPr lang="en-US" sz="2200" dirty="0">
                <a:solidFill>
                  <a:srgbClr val="C00000"/>
                </a:solidFill>
                <a:latin typeface="Candara" panose="020E0502030303020204" pitchFamily="34" charset="0"/>
              </a:rPr>
              <a:t>first</a:t>
            </a:r>
            <a:r>
              <a:rPr lang="en-US" sz="2200" dirty="0">
                <a:latin typeface="Candara" panose="020E0502030303020204" pitchFamily="34" charset="0"/>
              </a:rPr>
              <a:t> instruction in a sequence is a leader</a:t>
            </a:r>
          </a:p>
          <a:p>
            <a:pPr marL="1371600" lvl="2" indent="-457200">
              <a:buFont typeface="+mj-lt"/>
              <a:buAutoNum type="alphaLcPeriod"/>
            </a:pPr>
            <a:r>
              <a:rPr lang="en-US" sz="2200" dirty="0">
                <a:latin typeface="Candara" panose="020E0502030303020204" pitchFamily="34" charset="0"/>
              </a:rPr>
              <a:t>Any instruction that is the </a:t>
            </a:r>
            <a:r>
              <a:rPr lang="en-US" sz="2200" dirty="0">
                <a:solidFill>
                  <a:srgbClr val="C00000"/>
                </a:solidFill>
                <a:latin typeface="Candara" panose="020E0502030303020204" pitchFamily="34" charset="0"/>
              </a:rPr>
              <a:t>target of a branch</a:t>
            </a:r>
            <a:r>
              <a:rPr lang="en-US" sz="2200" dirty="0">
                <a:latin typeface="Candara" panose="020E0502030303020204" pitchFamily="34" charset="0"/>
              </a:rPr>
              <a:t> is a leader</a:t>
            </a:r>
          </a:p>
          <a:p>
            <a:pPr marL="1371600" lvl="2" indent="-457200">
              <a:buFont typeface="+mj-lt"/>
              <a:buAutoNum type="alphaLcPeriod"/>
            </a:pPr>
            <a:r>
              <a:rPr lang="en-US" sz="2200" dirty="0">
                <a:latin typeface="Candara" panose="020E0502030303020204" pitchFamily="34" charset="0"/>
              </a:rPr>
              <a:t>Any instruction that </a:t>
            </a:r>
            <a:r>
              <a:rPr lang="en-US" sz="2200" dirty="0">
                <a:solidFill>
                  <a:srgbClr val="C00000"/>
                </a:solidFill>
                <a:latin typeface="Candara" panose="020E0502030303020204" pitchFamily="34" charset="0"/>
              </a:rPr>
              <a:t>follows a branch</a:t>
            </a:r>
            <a:r>
              <a:rPr lang="en-US" sz="2200" dirty="0">
                <a:latin typeface="Candara" panose="020E0502030303020204" pitchFamily="34" charset="0"/>
              </a:rPr>
              <a:t> is a leader</a:t>
            </a:r>
          </a:p>
          <a:p>
            <a:pPr marL="971550" lvl="1" indent="-514350">
              <a:buFont typeface="+mj-lt"/>
              <a:buAutoNum type="arabicPeriod"/>
            </a:pPr>
            <a:r>
              <a:rPr lang="en-US" sz="2600" dirty="0">
                <a:latin typeface="Candara" panose="020E0502030303020204" pitchFamily="34" charset="0"/>
              </a:rPr>
              <a:t>For each leader, basic block consists codes </a:t>
            </a:r>
            <a:r>
              <a:rPr lang="en-US" sz="2600" dirty="0" err="1">
                <a:latin typeface="Candara" panose="020E0502030303020204" pitchFamily="34" charset="0"/>
              </a:rPr>
              <a:t>upto</a:t>
            </a:r>
            <a:r>
              <a:rPr lang="en-US" sz="2600" dirty="0">
                <a:latin typeface="Candara" panose="020E0502030303020204" pitchFamily="34" charset="0"/>
              </a:rPr>
              <a:t> next leader or end </a:t>
            </a:r>
          </a:p>
        </p:txBody>
      </p:sp>
    </p:spTree>
    <p:extLst>
      <p:ext uri="{BB962C8B-B14F-4D97-AF65-F5344CB8AC3E}">
        <p14:creationId xmlns:p14="http://schemas.microsoft.com/office/powerpoint/2010/main" val="257506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down)">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down)">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wipe(down)">
                                      <p:cBhvr>
                                        <p:cTn id="4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87785"/>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Constructing Basic Blocks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18</a:t>
            </a:fld>
            <a:endParaRPr lang="en-US" dirty="0"/>
          </a:p>
        </p:txBody>
      </p:sp>
      <p:pic>
        <p:nvPicPr>
          <p:cNvPr id="12" name="Picture 11"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6903" y="1337970"/>
            <a:ext cx="3319518" cy="4640983"/>
          </a:xfrm>
          <a:prstGeom prst="rect">
            <a:avLst/>
          </a:prstGeom>
        </p:spPr>
      </p:pic>
      <p:sp>
        <p:nvSpPr>
          <p:cNvPr id="13" name="TextBox 12"/>
          <p:cNvSpPr txBox="1"/>
          <p:nvPr/>
        </p:nvSpPr>
        <p:spPr>
          <a:xfrm>
            <a:off x="10411890" y="1278816"/>
            <a:ext cx="1685077" cy="369332"/>
          </a:xfrm>
          <a:prstGeom prst="rect">
            <a:avLst/>
          </a:prstGeom>
          <a:noFill/>
        </p:spPr>
        <p:txBody>
          <a:bodyPr wrap="none" rtlCol="0">
            <a:spAutoFit/>
          </a:bodyPr>
          <a:lstStyle/>
          <a:p>
            <a:r>
              <a:rPr lang="en-US" dirty="0">
                <a:latin typeface="Candara" panose="020E0502030303020204" pitchFamily="34" charset="0"/>
              </a:rPr>
              <a:t>Leader (Rule 1) </a:t>
            </a:r>
          </a:p>
        </p:txBody>
      </p:sp>
      <p:cxnSp>
        <p:nvCxnSpPr>
          <p:cNvPr id="15" name="Straight Arrow Connector 14"/>
          <p:cNvCxnSpPr>
            <a:cxnSpLocks/>
            <a:stCxn id="13" idx="1"/>
          </p:cNvCxnSpPr>
          <p:nvPr/>
        </p:nvCxnSpPr>
        <p:spPr>
          <a:xfrm flipH="1">
            <a:off x="8317619" y="1463482"/>
            <a:ext cx="2094271"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387312" y="1770430"/>
            <a:ext cx="1685077" cy="369332"/>
          </a:xfrm>
          <a:prstGeom prst="rect">
            <a:avLst/>
          </a:prstGeom>
          <a:noFill/>
        </p:spPr>
        <p:txBody>
          <a:bodyPr wrap="square" rtlCol="0">
            <a:spAutoFit/>
          </a:bodyPr>
          <a:lstStyle/>
          <a:p>
            <a:r>
              <a:rPr lang="en-US" dirty="0">
                <a:latin typeface="Candara" panose="020E0502030303020204" pitchFamily="34" charset="0"/>
              </a:rPr>
              <a:t>Leader (Rule 2) </a:t>
            </a:r>
          </a:p>
        </p:txBody>
      </p:sp>
      <p:cxnSp>
        <p:nvCxnSpPr>
          <p:cNvPr id="18" name="Straight Arrow Connector 17"/>
          <p:cNvCxnSpPr>
            <a:cxnSpLocks/>
            <a:stCxn id="17" idx="1"/>
          </p:cNvCxnSpPr>
          <p:nvPr/>
        </p:nvCxnSpPr>
        <p:spPr>
          <a:xfrm flipH="1" flipV="1">
            <a:off x="8317620" y="1827536"/>
            <a:ext cx="2069692" cy="1275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0436475" y="2262045"/>
            <a:ext cx="1685077" cy="369332"/>
          </a:xfrm>
          <a:prstGeom prst="rect">
            <a:avLst/>
          </a:prstGeom>
          <a:noFill/>
        </p:spPr>
        <p:txBody>
          <a:bodyPr wrap="square" rtlCol="0">
            <a:spAutoFit/>
          </a:bodyPr>
          <a:lstStyle/>
          <a:p>
            <a:r>
              <a:rPr lang="en-US" dirty="0">
                <a:latin typeface="Candara" panose="020E0502030303020204" pitchFamily="34" charset="0"/>
              </a:rPr>
              <a:t>Leader (Rule 2) </a:t>
            </a:r>
          </a:p>
        </p:txBody>
      </p:sp>
      <p:cxnSp>
        <p:nvCxnSpPr>
          <p:cNvPr id="21" name="Straight Arrow Connector 20"/>
          <p:cNvCxnSpPr>
            <a:cxnSpLocks/>
            <a:stCxn id="20" idx="1"/>
          </p:cNvCxnSpPr>
          <p:nvPr/>
        </p:nvCxnSpPr>
        <p:spPr>
          <a:xfrm flipH="1" flipV="1">
            <a:off x="8878059" y="2134483"/>
            <a:ext cx="1558416" cy="3122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0475808" y="4627677"/>
            <a:ext cx="1685077" cy="369332"/>
          </a:xfrm>
          <a:prstGeom prst="rect">
            <a:avLst/>
          </a:prstGeom>
          <a:noFill/>
        </p:spPr>
        <p:txBody>
          <a:bodyPr wrap="square" rtlCol="0">
            <a:spAutoFit/>
          </a:bodyPr>
          <a:lstStyle/>
          <a:p>
            <a:r>
              <a:rPr lang="en-US" dirty="0">
                <a:latin typeface="Candara" panose="020E0502030303020204" pitchFamily="34" charset="0"/>
              </a:rPr>
              <a:t>Leader (Rule 2) </a:t>
            </a:r>
          </a:p>
        </p:txBody>
      </p:sp>
      <p:cxnSp>
        <p:nvCxnSpPr>
          <p:cNvPr id="25" name="Straight Arrow Connector 24"/>
          <p:cNvCxnSpPr>
            <a:cxnSpLocks/>
            <a:stCxn id="24" idx="1"/>
          </p:cNvCxnSpPr>
          <p:nvPr/>
        </p:nvCxnSpPr>
        <p:spPr>
          <a:xfrm flipH="1" flipV="1">
            <a:off x="8764992" y="4627677"/>
            <a:ext cx="1710816"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0475808" y="4130175"/>
            <a:ext cx="1685077" cy="369332"/>
          </a:xfrm>
          <a:prstGeom prst="rect">
            <a:avLst/>
          </a:prstGeom>
          <a:noFill/>
        </p:spPr>
        <p:txBody>
          <a:bodyPr wrap="square" rtlCol="0">
            <a:spAutoFit/>
          </a:bodyPr>
          <a:lstStyle/>
          <a:p>
            <a:r>
              <a:rPr lang="en-US" dirty="0">
                <a:latin typeface="Candara" panose="020E0502030303020204" pitchFamily="34" charset="0"/>
              </a:rPr>
              <a:t>Leader (Rule 3) </a:t>
            </a:r>
          </a:p>
        </p:txBody>
      </p:sp>
      <p:cxnSp>
        <p:nvCxnSpPr>
          <p:cNvPr id="28" name="Straight Arrow Connector 27"/>
          <p:cNvCxnSpPr>
            <a:cxnSpLocks/>
            <a:stCxn id="27" idx="1"/>
          </p:cNvCxnSpPr>
          <p:nvPr/>
        </p:nvCxnSpPr>
        <p:spPr>
          <a:xfrm flipH="1">
            <a:off x="8479854" y="4314841"/>
            <a:ext cx="1995954" cy="1271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0569216" y="3574651"/>
            <a:ext cx="1685077" cy="369332"/>
          </a:xfrm>
          <a:prstGeom prst="rect">
            <a:avLst/>
          </a:prstGeom>
          <a:noFill/>
        </p:spPr>
        <p:txBody>
          <a:bodyPr wrap="square" rtlCol="0">
            <a:spAutoFit/>
          </a:bodyPr>
          <a:lstStyle/>
          <a:p>
            <a:r>
              <a:rPr lang="en-US" dirty="0">
                <a:latin typeface="Candara" panose="020E0502030303020204" pitchFamily="34" charset="0"/>
              </a:rPr>
              <a:t>Leader (Rule 3) </a:t>
            </a:r>
          </a:p>
        </p:txBody>
      </p:sp>
      <p:cxnSp>
        <p:nvCxnSpPr>
          <p:cNvPr id="33" name="Straight Arrow Connector 32"/>
          <p:cNvCxnSpPr>
            <a:cxnSpLocks/>
            <a:stCxn id="32" idx="1"/>
          </p:cNvCxnSpPr>
          <p:nvPr/>
        </p:nvCxnSpPr>
        <p:spPr>
          <a:xfrm flipH="1">
            <a:off x="8573262" y="3759317"/>
            <a:ext cx="1995954" cy="1271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51701" y="1337970"/>
            <a:ext cx="5308979" cy="4493538"/>
          </a:xfrm>
          <a:prstGeom prst="rect">
            <a:avLst/>
          </a:prstGeom>
          <a:ln>
            <a:solidFill>
              <a:schemeClr val="accent4">
                <a:lumMod val="60000"/>
                <a:lumOff val="40000"/>
              </a:schemeClr>
            </a:solidFill>
            <a:prstDash val="dash"/>
          </a:ln>
        </p:spPr>
        <p:txBody>
          <a:bodyPr wrap="square">
            <a:spAutoFit/>
          </a:bodyPr>
          <a:lstStyle/>
          <a:p>
            <a:r>
              <a:rPr lang="en-US" sz="2200" b="1" dirty="0">
                <a:latin typeface="Candara" panose="020E0502030303020204" pitchFamily="34" charset="0"/>
              </a:rPr>
              <a:t>Method:</a:t>
            </a:r>
          </a:p>
          <a:p>
            <a:pPr marL="457200" indent="-457200">
              <a:buFont typeface="+mj-lt"/>
              <a:buAutoNum type="arabicPeriod"/>
            </a:pPr>
            <a:r>
              <a:rPr lang="en-US" sz="2200" dirty="0">
                <a:latin typeface="Candara" panose="020E0502030303020204" pitchFamily="34" charset="0"/>
              </a:rPr>
              <a:t>D</a:t>
            </a:r>
            <a:r>
              <a:rPr lang="en-US" altLang="en-US" sz="2200" dirty="0">
                <a:latin typeface="Candara" panose="020E0502030303020204" pitchFamily="34" charset="0"/>
              </a:rPr>
              <a:t>etermine those instructions in the intermediate code that are the first instructions in some basic blocks – </a:t>
            </a:r>
            <a:r>
              <a:rPr lang="en-US" altLang="en-US" sz="2200" dirty="0">
                <a:solidFill>
                  <a:srgbClr val="C00000"/>
                </a:solidFill>
                <a:latin typeface="Candara" panose="020E0502030303020204" pitchFamily="34" charset="0"/>
              </a:rPr>
              <a:t>leaders</a:t>
            </a:r>
          </a:p>
          <a:p>
            <a:pPr marL="914400" lvl="1" indent="-457200">
              <a:buFont typeface="+mj-lt"/>
              <a:buAutoNum type="alphaLcPeriod"/>
            </a:pPr>
            <a:r>
              <a:rPr lang="en-US" sz="2200" dirty="0">
                <a:latin typeface="Candara" panose="020E0502030303020204" pitchFamily="34" charset="0"/>
              </a:rPr>
              <a:t>The </a:t>
            </a:r>
            <a:r>
              <a:rPr lang="en-US" sz="2200" dirty="0">
                <a:solidFill>
                  <a:srgbClr val="C00000"/>
                </a:solidFill>
                <a:latin typeface="Candara" panose="020E0502030303020204" pitchFamily="34" charset="0"/>
              </a:rPr>
              <a:t>first</a:t>
            </a:r>
            <a:r>
              <a:rPr lang="en-US" sz="2200" dirty="0">
                <a:latin typeface="Candara" panose="020E0502030303020204" pitchFamily="34" charset="0"/>
              </a:rPr>
              <a:t> instruction in a sequence is a leader</a:t>
            </a:r>
          </a:p>
          <a:p>
            <a:pPr marL="914400" lvl="1" indent="-457200">
              <a:buFont typeface="+mj-lt"/>
              <a:buAutoNum type="alphaLcPeriod"/>
            </a:pPr>
            <a:r>
              <a:rPr lang="en-US" sz="2200" dirty="0">
                <a:latin typeface="Candara" panose="020E0502030303020204" pitchFamily="34" charset="0"/>
              </a:rPr>
              <a:t>Any instruction that is the </a:t>
            </a:r>
            <a:r>
              <a:rPr lang="en-US" sz="2200" dirty="0">
                <a:solidFill>
                  <a:srgbClr val="C00000"/>
                </a:solidFill>
                <a:latin typeface="Candara" panose="020E0502030303020204" pitchFamily="34" charset="0"/>
              </a:rPr>
              <a:t>target of a branch</a:t>
            </a:r>
            <a:r>
              <a:rPr lang="en-US" sz="2200" dirty="0">
                <a:latin typeface="Candara" panose="020E0502030303020204" pitchFamily="34" charset="0"/>
              </a:rPr>
              <a:t> is a leader</a:t>
            </a:r>
          </a:p>
          <a:p>
            <a:pPr marL="914400" lvl="1" indent="-457200">
              <a:buFont typeface="+mj-lt"/>
              <a:buAutoNum type="alphaLcPeriod"/>
            </a:pPr>
            <a:r>
              <a:rPr lang="en-US" sz="2200" dirty="0">
                <a:latin typeface="Candara" panose="020E0502030303020204" pitchFamily="34" charset="0"/>
              </a:rPr>
              <a:t>Any instruction that </a:t>
            </a:r>
            <a:r>
              <a:rPr lang="en-US" sz="2200" dirty="0">
                <a:solidFill>
                  <a:srgbClr val="C00000"/>
                </a:solidFill>
                <a:latin typeface="Candara" panose="020E0502030303020204" pitchFamily="34" charset="0"/>
              </a:rPr>
              <a:t>follows a branch</a:t>
            </a:r>
            <a:r>
              <a:rPr lang="en-US" sz="2200" dirty="0">
                <a:latin typeface="Candara" panose="020E0502030303020204" pitchFamily="34" charset="0"/>
              </a:rPr>
              <a:t> is a leader</a:t>
            </a:r>
          </a:p>
          <a:p>
            <a:pPr marL="514350" indent="-514350">
              <a:buFont typeface="+mj-lt"/>
              <a:buAutoNum type="arabicPeriod"/>
            </a:pPr>
            <a:r>
              <a:rPr lang="en-US" sz="2200" dirty="0">
                <a:latin typeface="Candara" panose="020E0502030303020204" pitchFamily="34" charset="0"/>
              </a:rPr>
              <a:t>For each leader, basic block consists codes </a:t>
            </a:r>
            <a:r>
              <a:rPr lang="en-US" sz="2200" dirty="0" err="1">
                <a:latin typeface="Candara" panose="020E0502030303020204" pitchFamily="34" charset="0"/>
              </a:rPr>
              <a:t>upto</a:t>
            </a:r>
            <a:r>
              <a:rPr lang="en-US" sz="2200" dirty="0">
                <a:latin typeface="Candara" panose="020E0502030303020204" pitchFamily="34" charset="0"/>
              </a:rPr>
              <a:t> next leader or end </a:t>
            </a:r>
          </a:p>
        </p:txBody>
      </p:sp>
      <p:sp>
        <p:nvSpPr>
          <p:cNvPr id="7" name="Rectangle 6"/>
          <p:cNvSpPr/>
          <p:nvPr/>
        </p:nvSpPr>
        <p:spPr>
          <a:xfrm>
            <a:off x="6945088" y="1463482"/>
            <a:ext cx="2873829" cy="271702"/>
          </a:xfrm>
          <a:prstGeom prst="rect">
            <a:avLst/>
          </a:prstGeom>
          <a:solidFill>
            <a:schemeClr val="accent5">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945088" y="1735184"/>
            <a:ext cx="2873829" cy="297542"/>
          </a:xfrm>
          <a:prstGeom prst="rect">
            <a:avLst/>
          </a:prstGeom>
          <a:solidFill>
            <a:schemeClr val="accent4">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945088" y="2021608"/>
            <a:ext cx="2873829" cy="1737709"/>
          </a:xfrm>
          <a:prstGeom prst="rect">
            <a:avLst/>
          </a:prstGeom>
          <a:solidFill>
            <a:schemeClr val="accent5">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6945088" y="3769655"/>
            <a:ext cx="2873829" cy="494255"/>
          </a:xfrm>
          <a:prstGeom prst="rect">
            <a:avLst/>
          </a:prstGeom>
          <a:solidFill>
            <a:schemeClr val="accent4">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945088" y="4263910"/>
            <a:ext cx="2873829" cy="267749"/>
          </a:xfrm>
          <a:prstGeom prst="rect">
            <a:avLst/>
          </a:prstGeom>
          <a:solidFill>
            <a:schemeClr val="accent5">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6945088" y="4531659"/>
            <a:ext cx="2873829" cy="1270693"/>
          </a:xfrm>
          <a:prstGeom prst="rect">
            <a:avLst/>
          </a:prstGeom>
          <a:solidFill>
            <a:schemeClr val="accent4">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6357257" y="1434454"/>
            <a:ext cx="508000" cy="3440858"/>
            <a:chOff x="6357257" y="1434454"/>
            <a:chExt cx="508000" cy="3440858"/>
          </a:xfrm>
        </p:grpSpPr>
        <p:sp>
          <p:nvSpPr>
            <p:cNvPr id="8" name="TextBox 7"/>
            <p:cNvSpPr txBox="1"/>
            <p:nvPr/>
          </p:nvSpPr>
          <p:spPr>
            <a:xfrm>
              <a:off x="6357257" y="1434454"/>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1</a:t>
              </a:r>
            </a:p>
          </p:txBody>
        </p:sp>
        <p:sp>
          <p:nvSpPr>
            <p:cNvPr id="34" name="TextBox 33"/>
            <p:cNvSpPr txBox="1"/>
            <p:nvPr/>
          </p:nvSpPr>
          <p:spPr>
            <a:xfrm>
              <a:off x="6357257" y="1673940"/>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2</a:t>
              </a:r>
            </a:p>
          </p:txBody>
        </p:sp>
        <p:sp>
          <p:nvSpPr>
            <p:cNvPr id="35" name="TextBox 34"/>
            <p:cNvSpPr txBox="1"/>
            <p:nvPr/>
          </p:nvSpPr>
          <p:spPr>
            <a:xfrm>
              <a:off x="6357257" y="1935198"/>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3</a:t>
              </a:r>
            </a:p>
          </p:txBody>
        </p:sp>
        <p:sp>
          <p:nvSpPr>
            <p:cNvPr id="36" name="TextBox 35"/>
            <p:cNvSpPr txBox="1"/>
            <p:nvPr/>
          </p:nvSpPr>
          <p:spPr>
            <a:xfrm>
              <a:off x="6357257" y="3734971"/>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4</a:t>
              </a:r>
            </a:p>
          </p:txBody>
        </p:sp>
        <p:sp>
          <p:nvSpPr>
            <p:cNvPr id="37" name="TextBox 36"/>
            <p:cNvSpPr txBox="1"/>
            <p:nvPr/>
          </p:nvSpPr>
          <p:spPr>
            <a:xfrm>
              <a:off x="6357257" y="4199428"/>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5</a:t>
              </a:r>
            </a:p>
          </p:txBody>
        </p:sp>
        <p:sp>
          <p:nvSpPr>
            <p:cNvPr id="38" name="TextBox 37"/>
            <p:cNvSpPr txBox="1"/>
            <p:nvPr/>
          </p:nvSpPr>
          <p:spPr>
            <a:xfrm>
              <a:off x="6357257" y="4475202"/>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6</a:t>
              </a:r>
            </a:p>
          </p:txBody>
        </p:sp>
      </p:grpSp>
    </p:spTree>
    <p:extLst>
      <p:ext uri="{BB962C8B-B14F-4D97-AF65-F5344CB8AC3E}">
        <p14:creationId xmlns:p14="http://schemas.microsoft.com/office/powerpoint/2010/main" val="398716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inVertical)">
                                      <p:cBhvr>
                                        <p:cTn id="15" dur="500"/>
                                        <p:tgtEl>
                                          <p:spTgt spid="17"/>
                                        </p:tgtEl>
                                      </p:cBhvr>
                                    </p:animEffect>
                                  </p:childTnLst>
                                </p:cTn>
                              </p:par>
                              <p:par>
                                <p:cTn id="16" presetID="16" presetClass="entr" presetSubtype="21"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down)">
                                      <p:cBhvr>
                                        <p:cTn id="23" dur="500"/>
                                        <p:tgtEl>
                                          <p:spTgt spid="20"/>
                                        </p:tgtEl>
                                      </p:cBhvr>
                                    </p:animEffect>
                                  </p:childTnLst>
                                </p:cTn>
                              </p:par>
                              <p:par>
                                <p:cTn id="24" presetID="22" presetClass="entr" presetSubtype="4"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down)">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arn(inVertical)">
                                      <p:cBhvr>
                                        <p:cTn id="31" dur="500"/>
                                        <p:tgtEl>
                                          <p:spTgt spid="32"/>
                                        </p:tgtEl>
                                      </p:cBhvr>
                                    </p:animEffect>
                                  </p:childTnLst>
                                </p:cTn>
                              </p:par>
                              <p:par>
                                <p:cTn id="32" presetID="16" presetClass="entr" presetSubtype="21"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arn(inVertical)">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barn(inVertical)">
                                      <p:cBhvr>
                                        <p:cTn id="39" dur="500"/>
                                        <p:tgtEl>
                                          <p:spTgt spid="27"/>
                                        </p:tgtEl>
                                      </p:cBhvr>
                                    </p:animEffect>
                                  </p:childTnLst>
                                </p:cTn>
                              </p:par>
                              <p:par>
                                <p:cTn id="40" presetID="16" presetClass="entr" presetSubtype="21"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barn(inVertical)">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arn(inVertical)">
                                      <p:cBhvr>
                                        <p:cTn id="47" dur="500"/>
                                        <p:tgtEl>
                                          <p:spTgt spid="24"/>
                                        </p:tgtEl>
                                      </p:cBhvr>
                                    </p:animEffect>
                                  </p:childTnLst>
                                </p:cTn>
                              </p:par>
                              <p:par>
                                <p:cTn id="48" presetID="16" presetClass="entr" presetSubtype="21"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barn(inVertical)">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down)">
                                      <p:cBhvr>
                                        <p:cTn id="55" dur="500"/>
                                        <p:tgtEl>
                                          <p:spTgt spid="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down)">
                                      <p:cBhvr>
                                        <p:cTn id="60" dur="500"/>
                                        <p:tgtEl>
                                          <p:spTgt spid="2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down)">
                                      <p:cBhvr>
                                        <p:cTn id="65"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wipe(down)">
                                      <p:cBhvr>
                                        <p:cTn id="70" dur="500"/>
                                        <p:tgtEl>
                                          <p:spTgt spid="2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wipe(down)">
                                      <p:cBhvr>
                                        <p:cTn id="75" dur="500"/>
                                        <p:tgtEl>
                                          <p:spTgt spid="3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wipe(down)">
                                      <p:cBhvr>
                                        <p:cTn id="80" dur="500"/>
                                        <p:tgtEl>
                                          <p:spTgt spid="31"/>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20" grpId="0"/>
      <p:bldP spid="24" grpId="0"/>
      <p:bldP spid="27" grpId="0"/>
      <p:bldP spid="32" grpId="0"/>
      <p:bldP spid="7" grpId="0" animBg="1"/>
      <p:bldP spid="22" grpId="0" animBg="1"/>
      <p:bldP spid="23" grpId="0" animBg="1"/>
      <p:bldP spid="29" grpId="0" animBg="1"/>
      <p:bldP spid="30"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Flow Graphs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19</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371600"/>
                <a:ext cx="10515600" cy="4805363"/>
              </a:xfrm>
            </p:spPr>
            <p:txBody>
              <a:bodyPr>
                <a:normAutofit/>
              </a:bodyPr>
              <a:lstStyle/>
              <a:p>
                <a:r>
                  <a:rPr lang="en-US" altLang="en-US" dirty="0">
                    <a:latin typeface="Candara" panose="020E0502030303020204" pitchFamily="34" charset="0"/>
                  </a:rPr>
                  <a:t>There is an edge from a block </a:t>
                </a:r>
                <a14:m>
                  <m:oMath xmlns:m="http://schemas.openxmlformats.org/officeDocument/2006/math">
                    <m:r>
                      <a:rPr lang="en-US" altLang="en-US" i="1" dirty="0" smtClean="0">
                        <a:latin typeface="Cambria Math" panose="02040503050406030204" pitchFamily="18" charset="0"/>
                      </a:rPr>
                      <m:t>𝐵</m:t>
                    </m:r>
                  </m:oMath>
                </a14:m>
                <a:r>
                  <a:rPr lang="en-US" altLang="en-US" dirty="0">
                    <a:latin typeface="Candara" panose="020E0502030303020204" pitchFamily="34" charset="0"/>
                  </a:rPr>
                  <a:t> to block </a:t>
                </a:r>
                <a14:m>
                  <m:oMath xmlns:m="http://schemas.openxmlformats.org/officeDocument/2006/math">
                    <m:r>
                      <a:rPr lang="en-US" altLang="en-US" i="1" dirty="0" smtClean="0">
                        <a:latin typeface="Cambria Math" panose="02040503050406030204" pitchFamily="18" charset="0"/>
                      </a:rPr>
                      <m:t>𝐶</m:t>
                    </m:r>
                    <m:r>
                      <a:rPr lang="en-US" altLang="en-US" b="0" i="1" dirty="0" smtClean="0">
                        <a:latin typeface="Cambria Math" panose="02040503050406030204" pitchFamily="18" charset="0"/>
                      </a:rPr>
                      <m:t> </m:t>
                    </m:r>
                  </m:oMath>
                </a14:m>
                <a:r>
                  <a:rPr lang="en-US" altLang="en-US" i="1" dirty="0" err="1">
                    <a:solidFill>
                      <a:schemeClr val="accent5">
                        <a:lumMod val="75000"/>
                      </a:schemeClr>
                    </a:solidFill>
                    <a:latin typeface="Candara" panose="020E0502030303020204" pitchFamily="34" charset="0"/>
                  </a:rPr>
                  <a:t>iff</a:t>
                </a:r>
                <a:r>
                  <a:rPr lang="en-US" altLang="en-US" dirty="0">
                    <a:latin typeface="Candara" panose="020E0502030303020204" pitchFamily="34" charset="0"/>
                  </a:rPr>
                  <a:t> – </a:t>
                </a:r>
              </a:p>
              <a:p>
                <a:pPr lvl="1"/>
                <a:endParaRPr lang="en-US" altLang="en-US" sz="800" dirty="0">
                  <a:latin typeface="Candara" panose="020E0502030303020204" pitchFamily="34" charset="0"/>
                </a:endParaRPr>
              </a:p>
              <a:p>
                <a:pPr lvl="1"/>
                <a:r>
                  <a:rPr lang="en-US" altLang="en-US" dirty="0">
                    <a:latin typeface="Candara" panose="020E0502030303020204" pitchFamily="34" charset="0"/>
                  </a:rPr>
                  <a:t>It is possible for the first instruction in block </a:t>
                </a:r>
                <a14:m>
                  <m:oMath xmlns:m="http://schemas.openxmlformats.org/officeDocument/2006/math">
                    <m:r>
                      <a:rPr lang="en-US" altLang="en-US" i="1" dirty="0" smtClean="0">
                        <a:latin typeface="Cambria Math" panose="02040503050406030204" pitchFamily="18" charset="0"/>
                      </a:rPr>
                      <m:t>𝐶</m:t>
                    </m:r>
                  </m:oMath>
                </a14:m>
                <a:r>
                  <a:rPr lang="en-US" altLang="en-US" dirty="0">
                    <a:latin typeface="Candara" panose="020E0502030303020204" pitchFamily="34" charset="0"/>
                  </a:rPr>
                  <a:t> to immediately follow the last instruction in block </a:t>
                </a:r>
                <a14:m>
                  <m:oMath xmlns:m="http://schemas.openxmlformats.org/officeDocument/2006/math">
                    <m:r>
                      <a:rPr lang="en-US" altLang="en-US" i="1" dirty="0" smtClean="0">
                        <a:latin typeface="Cambria Math" panose="02040503050406030204" pitchFamily="18" charset="0"/>
                      </a:rPr>
                      <m:t>𝐵</m:t>
                    </m:r>
                  </m:oMath>
                </a14:m>
                <a:endParaRPr lang="en-US" altLang="en-US" dirty="0">
                  <a:latin typeface="Candara" panose="020E0502030303020204" pitchFamily="34" charset="0"/>
                </a:endParaRPr>
              </a:p>
              <a:p>
                <a:pPr lvl="1"/>
                <a:endParaRPr lang="en-US" altLang="en-US" sz="800" dirty="0">
                  <a:latin typeface="Candara" panose="020E0502030303020204" pitchFamily="34" charset="0"/>
                </a:endParaRPr>
              </a:p>
              <a:p>
                <a:pPr lvl="1"/>
                <a:r>
                  <a:rPr lang="en-US" altLang="en-US" dirty="0">
                    <a:latin typeface="Candara" panose="020E0502030303020204" pitchFamily="34" charset="0"/>
                  </a:rPr>
                  <a:t>There are </a:t>
                </a:r>
                <a:r>
                  <a:rPr lang="en-US" altLang="en-US" dirty="0">
                    <a:solidFill>
                      <a:schemeClr val="accent2">
                        <a:lumMod val="75000"/>
                      </a:schemeClr>
                    </a:solidFill>
                    <a:latin typeface="Candara" panose="020E0502030303020204" pitchFamily="34" charset="0"/>
                  </a:rPr>
                  <a:t>two ways</a:t>
                </a:r>
                <a:r>
                  <a:rPr lang="en-US" altLang="en-US" dirty="0">
                    <a:latin typeface="Candara" panose="020E0502030303020204" pitchFamily="34" charset="0"/>
                  </a:rPr>
                  <a:t> to construct such an edge -</a:t>
                </a:r>
              </a:p>
              <a:p>
                <a:pPr lvl="2"/>
                <a:r>
                  <a:rPr lang="en-US" altLang="en-US" sz="2200" dirty="0">
                    <a:latin typeface="Candara" panose="020E0502030303020204" pitchFamily="34" charset="0"/>
                  </a:rPr>
                  <a:t>There is a conditional or unconditional jump from the end of </a:t>
                </a:r>
                <a14:m>
                  <m:oMath xmlns:m="http://schemas.openxmlformats.org/officeDocument/2006/math">
                    <m:r>
                      <a:rPr lang="en-US" altLang="en-US" sz="2200" i="1" dirty="0" smtClean="0">
                        <a:latin typeface="Cambria Math" panose="02040503050406030204" pitchFamily="18" charset="0"/>
                      </a:rPr>
                      <m:t>𝐵</m:t>
                    </m:r>
                  </m:oMath>
                </a14:m>
                <a:r>
                  <a:rPr lang="en-US" altLang="en-US" sz="2200" dirty="0">
                    <a:latin typeface="Candara" panose="020E0502030303020204" pitchFamily="34" charset="0"/>
                  </a:rPr>
                  <a:t> to the beginning of </a:t>
                </a:r>
                <a14:m>
                  <m:oMath xmlns:m="http://schemas.openxmlformats.org/officeDocument/2006/math">
                    <m:r>
                      <a:rPr lang="en-US" altLang="en-US" sz="2200" i="1" dirty="0" smtClean="0">
                        <a:latin typeface="Cambria Math" panose="02040503050406030204" pitchFamily="18" charset="0"/>
                      </a:rPr>
                      <m:t>𝐶</m:t>
                    </m:r>
                  </m:oMath>
                </a14:m>
                <a:endParaRPr lang="en-US" altLang="en-US" sz="2200" dirty="0">
                  <a:latin typeface="Candara" panose="020E0502030303020204" pitchFamily="34" charset="0"/>
                </a:endParaRPr>
              </a:p>
              <a:p>
                <a:pPr lvl="2"/>
                <a14:m>
                  <m:oMath xmlns:m="http://schemas.openxmlformats.org/officeDocument/2006/math">
                    <m:r>
                      <a:rPr lang="en-US" altLang="en-US" sz="2200" i="1" dirty="0" smtClean="0">
                        <a:latin typeface="Cambria Math" panose="02040503050406030204" pitchFamily="18" charset="0"/>
                      </a:rPr>
                      <m:t>𝐶</m:t>
                    </m:r>
                  </m:oMath>
                </a14:m>
                <a:r>
                  <a:rPr lang="en-US" altLang="en-US" sz="2200" dirty="0">
                    <a:latin typeface="Candara" panose="020E0502030303020204" pitchFamily="34" charset="0"/>
                  </a:rPr>
                  <a:t> immediately follows </a:t>
                </a:r>
                <a14:m>
                  <m:oMath xmlns:m="http://schemas.openxmlformats.org/officeDocument/2006/math">
                    <m:r>
                      <a:rPr lang="en-US" altLang="en-US" sz="2200" i="1" dirty="0" smtClean="0">
                        <a:latin typeface="Cambria Math" panose="02040503050406030204" pitchFamily="18" charset="0"/>
                      </a:rPr>
                      <m:t>𝐵</m:t>
                    </m:r>
                  </m:oMath>
                </a14:m>
                <a:r>
                  <a:rPr lang="en-US" altLang="en-US" sz="2200" dirty="0">
                    <a:latin typeface="Candara" panose="020E0502030303020204" pitchFamily="34" charset="0"/>
                  </a:rPr>
                  <a:t> in the original order of the three – address instructions and </a:t>
                </a:r>
                <a14:m>
                  <m:oMath xmlns:m="http://schemas.openxmlformats.org/officeDocument/2006/math">
                    <m:r>
                      <a:rPr lang="en-US" altLang="en-US" sz="2200" i="1" dirty="0" smtClean="0">
                        <a:latin typeface="Cambria Math" panose="02040503050406030204" pitchFamily="18" charset="0"/>
                      </a:rPr>
                      <m:t>𝐵</m:t>
                    </m:r>
                  </m:oMath>
                </a14:m>
                <a:r>
                  <a:rPr lang="en-US" altLang="en-US" sz="2200" dirty="0">
                    <a:latin typeface="Candara" panose="020E0502030303020204" pitchFamily="34" charset="0"/>
                  </a:rPr>
                  <a:t> does not end  an unconditional jump</a:t>
                </a:r>
              </a:p>
              <a:p>
                <a:pPr lvl="2"/>
                <a:endParaRPr lang="en-US" altLang="en-US" sz="1200" dirty="0">
                  <a:latin typeface="Candara" panose="020E0502030303020204" pitchFamily="34" charset="0"/>
                </a:endParaRPr>
              </a:p>
              <a:p>
                <a14:m>
                  <m:oMath xmlns:m="http://schemas.openxmlformats.org/officeDocument/2006/math">
                    <m:r>
                      <a:rPr lang="en-US" altLang="en-US" i="1" dirty="0" smtClean="0">
                        <a:latin typeface="Cambria Math" panose="02040503050406030204" pitchFamily="18" charset="0"/>
                      </a:rPr>
                      <m:t>𝐵</m:t>
                    </m:r>
                  </m:oMath>
                </a14:m>
                <a:r>
                  <a:rPr lang="en-US" altLang="en-US" dirty="0">
                    <a:latin typeface="Candara" panose="020E0502030303020204" pitchFamily="34" charset="0"/>
                  </a:rPr>
                  <a:t> is a predecessor of </a:t>
                </a:r>
                <a14:m>
                  <m:oMath xmlns:m="http://schemas.openxmlformats.org/officeDocument/2006/math">
                    <m:r>
                      <a:rPr lang="en-US" altLang="en-US" i="1" dirty="0" smtClean="0">
                        <a:latin typeface="Cambria Math" panose="02040503050406030204" pitchFamily="18" charset="0"/>
                      </a:rPr>
                      <m:t>𝐶</m:t>
                    </m:r>
                  </m:oMath>
                </a14:m>
                <a:r>
                  <a:rPr lang="en-US" altLang="en-US" dirty="0">
                    <a:latin typeface="Candara" panose="020E0502030303020204" pitchFamily="34" charset="0"/>
                  </a:rPr>
                  <a:t> and </a:t>
                </a:r>
                <a14:m>
                  <m:oMath xmlns:m="http://schemas.openxmlformats.org/officeDocument/2006/math">
                    <m:r>
                      <a:rPr lang="en-US" altLang="en-US" i="1" dirty="0" smtClean="0">
                        <a:latin typeface="Cambria Math" panose="02040503050406030204" pitchFamily="18" charset="0"/>
                      </a:rPr>
                      <m:t>𝐶</m:t>
                    </m:r>
                  </m:oMath>
                </a14:m>
                <a:r>
                  <a:rPr lang="en-US" altLang="en-US" dirty="0">
                    <a:latin typeface="Candara" panose="020E0502030303020204" pitchFamily="34" charset="0"/>
                  </a:rPr>
                  <a:t> is a successor of </a:t>
                </a:r>
                <a14:m>
                  <m:oMath xmlns:m="http://schemas.openxmlformats.org/officeDocument/2006/math">
                    <m:r>
                      <a:rPr lang="en-US" altLang="en-US" i="1" dirty="0" smtClean="0">
                        <a:latin typeface="Cambria Math" panose="02040503050406030204" pitchFamily="18" charset="0"/>
                      </a:rPr>
                      <m:t>𝐵</m:t>
                    </m:r>
                  </m:oMath>
                </a14:m>
                <a:endParaRPr lang="en-US" altLang="en-US"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371600"/>
                <a:ext cx="10515600" cy="4805363"/>
              </a:xfrm>
              <a:blipFill>
                <a:blip r:embed="rId2"/>
                <a:stretch>
                  <a:fillRect l="-1043" t="-2030"/>
                </a:stretch>
              </a:blipFill>
            </p:spPr>
            <p:txBody>
              <a:bodyPr/>
              <a:lstStyle/>
              <a:p>
                <a:r>
                  <a:rPr lang="en-US">
                    <a:noFill/>
                  </a:rPr>
                  <a:t> </a:t>
                </a:r>
              </a:p>
            </p:txBody>
          </p:sp>
        </mc:Fallback>
      </mc:AlternateContent>
    </p:spTree>
    <p:extLst>
      <p:ext uri="{BB962C8B-B14F-4D97-AF65-F5344CB8AC3E}">
        <p14:creationId xmlns:p14="http://schemas.microsoft.com/office/powerpoint/2010/main" val="1905332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down)">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wipe(down)">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wipe(down)">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wipe(down)">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wipe(down)">
                                      <p:cBhvr>
                                        <p:cTn id="32"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Flow Graphs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20</a:t>
            </a:fld>
            <a:endParaRPr lang="en-US" dirty="0"/>
          </a:p>
        </p:txBody>
      </p:sp>
      <p:pic>
        <p:nvPicPr>
          <p:cNvPr id="11" name="Picture 10">
            <a:extLst>
              <a:ext uri="{FF2B5EF4-FFF2-40B4-BE49-F238E27FC236}">
                <a16:creationId xmlns:a16="http://schemas.microsoft.com/office/drawing/2014/main" id="{DD819C29-F12A-2322-AB0B-9A7B148D59DD}"/>
              </a:ext>
            </a:extLst>
          </p:cNvPr>
          <p:cNvPicPr>
            <a:picLocks noChangeAspect="1"/>
          </p:cNvPicPr>
          <p:nvPr/>
        </p:nvPicPr>
        <p:blipFill>
          <a:blip r:embed="rId2"/>
          <a:stretch>
            <a:fillRect/>
          </a:stretch>
        </p:blipFill>
        <p:spPr>
          <a:xfrm>
            <a:off x="7951922" y="998081"/>
            <a:ext cx="3429000" cy="5676900"/>
          </a:xfrm>
          <a:prstGeom prst="rect">
            <a:avLst/>
          </a:prstGeom>
          <a:ln>
            <a:solidFill>
              <a:schemeClr val="accent6">
                <a:lumMod val="75000"/>
              </a:schemeClr>
            </a:solidFill>
            <a:prstDash val="dash"/>
          </a:ln>
        </p:spPr>
      </p:pic>
      <p:pic>
        <p:nvPicPr>
          <p:cNvPr id="12" name="Picture 11" descr="Screen Clipping">
            <a:extLst>
              <a:ext uri="{FF2B5EF4-FFF2-40B4-BE49-F238E27FC236}">
                <a16:creationId xmlns:a16="http://schemas.microsoft.com/office/drawing/2014/main" id="{FD196F2E-F765-16D6-922F-55ECDED94C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7482" y="1337970"/>
            <a:ext cx="3319518" cy="4640983"/>
          </a:xfrm>
          <a:prstGeom prst="rect">
            <a:avLst/>
          </a:prstGeom>
        </p:spPr>
      </p:pic>
      <p:sp>
        <p:nvSpPr>
          <p:cNvPr id="19" name="Rectangle 18">
            <a:extLst>
              <a:ext uri="{FF2B5EF4-FFF2-40B4-BE49-F238E27FC236}">
                <a16:creationId xmlns:a16="http://schemas.microsoft.com/office/drawing/2014/main" id="{2A54FC74-E4AE-DBC8-7AD1-5C8C25E6CF60}"/>
              </a:ext>
            </a:extLst>
          </p:cNvPr>
          <p:cNvSpPr/>
          <p:nvPr/>
        </p:nvSpPr>
        <p:spPr>
          <a:xfrm>
            <a:off x="1675667" y="1463482"/>
            <a:ext cx="2873829" cy="271702"/>
          </a:xfrm>
          <a:prstGeom prst="rect">
            <a:avLst/>
          </a:prstGeom>
          <a:solidFill>
            <a:schemeClr val="accent5">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0D8ED27-3F9E-F527-54D8-6C91FE3F7199}"/>
              </a:ext>
            </a:extLst>
          </p:cNvPr>
          <p:cNvSpPr/>
          <p:nvPr/>
        </p:nvSpPr>
        <p:spPr>
          <a:xfrm>
            <a:off x="1675667" y="1735184"/>
            <a:ext cx="2873829" cy="297542"/>
          </a:xfrm>
          <a:prstGeom prst="rect">
            <a:avLst/>
          </a:prstGeom>
          <a:solidFill>
            <a:schemeClr val="accent4">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4FD35A-CA86-FDC2-E951-7D050A1D8A92}"/>
              </a:ext>
            </a:extLst>
          </p:cNvPr>
          <p:cNvSpPr/>
          <p:nvPr/>
        </p:nvSpPr>
        <p:spPr>
          <a:xfrm>
            <a:off x="1675667" y="2021608"/>
            <a:ext cx="2873829" cy="1737709"/>
          </a:xfrm>
          <a:prstGeom prst="rect">
            <a:avLst/>
          </a:prstGeom>
          <a:solidFill>
            <a:schemeClr val="accent5">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391C818-853C-8769-122B-01F01CB2E4BF}"/>
              </a:ext>
            </a:extLst>
          </p:cNvPr>
          <p:cNvSpPr/>
          <p:nvPr/>
        </p:nvSpPr>
        <p:spPr>
          <a:xfrm>
            <a:off x="1675667" y="3769655"/>
            <a:ext cx="2873829" cy="494255"/>
          </a:xfrm>
          <a:prstGeom prst="rect">
            <a:avLst/>
          </a:prstGeom>
          <a:solidFill>
            <a:schemeClr val="accent4">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7FA2491-A04E-2396-B0C9-0F388F669F1A}"/>
              </a:ext>
            </a:extLst>
          </p:cNvPr>
          <p:cNvSpPr/>
          <p:nvPr/>
        </p:nvSpPr>
        <p:spPr>
          <a:xfrm>
            <a:off x="1675667" y="4263910"/>
            <a:ext cx="2873829" cy="267749"/>
          </a:xfrm>
          <a:prstGeom prst="rect">
            <a:avLst/>
          </a:prstGeom>
          <a:solidFill>
            <a:schemeClr val="accent5">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C294E99-837F-74C9-BA18-03EFF970A880}"/>
              </a:ext>
            </a:extLst>
          </p:cNvPr>
          <p:cNvSpPr/>
          <p:nvPr/>
        </p:nvSpPr>
        <p:spPr>
          <a:xfrm>
            <a:off x="1675667" y="4531659"/>
            <a:ext cx="2873829" cy="1270693"/>
          </a:xfrm>
          <a:prstGeom prst="rect">
            <a:avLst/>
          </a:prstGeom>
          <a:solidFill>
            <a:schemeClr val="accent4">
              <a:lumMod val="60000"/>
              <a:lumOff val="40000"/>
              <a:alpha val="30196"/>
            </a:schemeClr>
          </a:solidFill>
          <a:ln>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90BDF2FC-C9B2-0BF6-737A-A659F376A164}"/>
              </a:ext>
            </a:extLst>
          </p:cNvPr>
          <p:cNvGrpSpPr/>
          <p:nvPr/>
        </p:nvGrpSpPr>
        <p:grpSpPr>
          <a:xfrm>
            <a:off x="1087836" y="1434454"/>
            <a:ext cx="508000" cy="3440858"/>
            <a:chOff x="6357257" y="1434454"/>
            <a:chExt cx="508000" cy="3440858"/>
          </a:xfrm>
        </p:grpSpPr>
        <p:sp>
          <p:nvSpPr>
            <p:cNvPr id="26" name="TextBox 25">
              <a:extLst>
                <a:ext uri="{FF2B5EF4-FFF2-40B4-BE49-F238E27FC236}">
                  <a16:creationId xmlns:a16="http://schemas.microsoft.com/office/drawing/2014/main" id="{B567B53E-57BB-159B-E8F9-3154E231B637}"/>
                </a:ext>
              </a:extLst>
            </p:cNvPr>
            <p:cNvSpPr txBox="1"/>
            <p:nvPr/>
          </p:nvSpPr>
          <p:spPr>
            <a:xfrm>
              <a:off x="6357257" y="1434454"/>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1</a:t>
              </a:r>
            </a:p>
          </p:txBody>
        </p:sp>
        <p:sp>
          <p:nvSpPr>
            <p:cNvPr id="27" name="TextBox 26">
              <a:extLst>
                <a:ext uri="{FF2B5EF4-FFF2-40B4-BE49-F238E27FC236}">
                  <a16:creationId xmlns:a16="http://schemas.microsoft.com/office/drawing/2014/main" id="{80A8E6E8-5324-8374-C98B-4F7B8A5C56F5}"/>
                </a:ext>
              </a:extLst>
            </p:cNvPr>
            <p:cNvSpPr txBox="1"/>
            <p:nvPr/>
          </p:nvSpPr>
          <p:spPr>
            <a:xfrm>
              <a:off x="6357257" y="1673940"/>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2</a:t>
              </a:r>
            </a:p>
          </p:txBody>
        </p:sp>
        <p:sp>
          <p:nvSpPr>
            <p:cNvPr id="28" name="TextBox 27">
              <a:extLst>
                <a:ext uri="{FF2B5EF4-FFF2-40B4-BE49-F238E27FC236}">
                  <a16:creationId xmlns:a16="http://schemas.microsoft.com/office/drawing/2014/main" id="{A5AA8AB8-0FE1-48B9-2E68-8438E9174F7E}"/>
                </a:ext>
              </a:extLst>
            </p:cNvPr>
            <p:cNvSpPr txBox="1"/>
            <p:nvPr/>
          </p:nvSpPr>
          <p:spPr>
            <a:xfrm>
              <a:off x="6357257" y="1935198"/>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3</a:t>
              </a:r>
            </a:p>
          </p:txBody>
        </p:sp>
        <p:sp>
          <p:nvSpPr>
            <p:cNvPr id="29" name="TextBox 28">
              <a:extLst>
                <a:ext uri="{FF2B5EF4-FFF2-40B4-BE49-F238E27FC236}">
                  <a16:creationId xmlns:a16="http://schemas.microsoft.com/office/drawing/2014/main" id="{0B9350B5-D54B-515B-741A-6CFA9CBA6D4F}"/>
                </a:ext>
              </a:extLst>
            </p:cNvPr>
            <p:cNvSpPr txBox="1"/>
            <p:nvPr/>
          </p:nvSpPr>
          <p:spPr>
            <a:xfrm>
              <a:off x="6357257" y="3734971"/>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4</a:t>
              </a:r>
            </a:p>
          </p:txBody>
        </p:sp>
        <p:sp>
          <p:nvSpPr>
            <p:cNvPr id="30" name="TextBox 29">
              <a:extLst>
                <a:ext uri="{FF2B5EF4-FFF2-40B4-BE49-F238E27FC236}">
                  <a16:creationId xmlns:a16="http://schemas.microsoft.com/office/drawing/2014/main" id="{C8629824-7CFC-FA0F-A0E5-BC2BE6DBFAB5}"/>
                </a:ext>
              </a:extLst>
            </p:cNvPr>
            <p:cNvSpPr txBox="1"/>
            <p:nvPr/>
          </p:nvSpPr>
          <p:spPr>
            <a:xfrm>
              <a:off x="6357257" y="4199428"/>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5</a:t>
              </a:r>
            </a:p>
          </p:txBody>
        </p:sp>
        <p:sp>
          <p:nvSpPr>
            <p:cNvPr id="31" name="TextBox 30">
              <a:extLst>
                <a:ext uri="{FF2B5EF4-FFF2-40B4-BE49-F238E27FC236}">
                  <a16:creationId xmlns:a16="http://schemas.microsoft.com/office/drawing/2014/main" id="{FD29A29D-339A-C407-CB06-54469AB7C4FA}"/>
                </a:ext>
              </a:extLst>
            </p:cNvPr>
            <p:cNvSpPr txBox="1"/>
            <p:nvPr/>
          </p:nvSpPr>
          <p:spPr>
            <a:xfrm>
              <a:off x="6357257" y="4475202"/>
              <a:ext cx="508000" cy="400110"/>
            </a:xfrm>
            <a:prstGeom prst="rect">
              <a:avLst/>
            </a:prstGeom>
            <a:noFill/>
          </p:spPr>
          <p:txBody>
            <a:bodyPr wrap="square" rtlCol="0">
              <a:spAutoFit/>
            </a:bodyPr>
            <a:lstStyle/>
            <a:p>
              <a:r>
                <a:rPr lang="en-US" sz="2000" dirty="0">
                  <a:solidFill>
                    <a:schemeClr val="accent2">
                      <a:lumMod val="75000"/>
                    </a:schemeClr>
                  </a:solidFill>
                </a:rPr>
                <a:t>B</a:t>
              </a:r>
              <a:r>
                <a:rPr lang="en-US" sz="2000" baseline="-25000" dirty="0">
                  <a:solidFill>
                    <a:schemeClr val="accent2">
                      <a:lumMod val="75000"/>
                    </a:schemeClr>
                  </a:solidFill>
                </a:rPr>
                <a:t>6</a:t>
              </a:r>
            </a:p>
          </p:txBody>
        </p:sp>
      </p:grpSp>
      <p:sp>
        <p:nvSpPr>
          <p:cNvPr id="33" name="Arrow: Right 32">
            <a:extLst>
              <a:ext uri="{FF2B5EF4-FFF2-40B4-BE49-F238E27FC236}">
                <a16:creationId xmlns:a16="http://schemas.microsoft.com/office/drawing/2014/main" id="{FB72C40A-0338-31CD-86B0-BD4A1AC3C9EE}"/>
              </a:ext>
            </a:extLst>
          </p:cNvPr>
          <p:cNvSpPr/>
          <p:nvPr/>
        </p:nvSpPr>
        <p:spPr>
          <a:xfrm>
            <a:off x="5770576" y="3363013"/>
            <a:ext cx="650848" cy="4804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77EBA0F-BBFC-D25C-3D7D-07FACE56C6DD}"/>
              </a:ext>
            </a:extLst>
          </p:cNvPr>
          <p:cNvSpPr txBox="1"/>
          <p:nvPr/>
        </p:nvSpPr>
        <p:spPr>
          <a:xfrm>
            <a:off x="10109516" y="6328896"/>
            <a:ext cx="1257845" cy="369332"/>
          </a:xfrm>
          <a:prstGeom prst="rect">
            <a:avLst/>
          </a:prstGeom>
          <a:noFill/>
        </p:spPr>
        <p:txBody>
          <a:bodyPr wrap="none" rtlCol="0">
            <a:spAutoFit/>
          </a:bodyPr>
          <a:lstStyle/>
          <a:p>
            <a:r>
              <a:rPr lang="en-US" dirty="0">
                <a:solidFill>
                  <a:schemeClr val="accent6">
                    <a:lumMod val="75000"/>
                  </a:schemeClr>
                </a:solidFill>
              </a:rPr>
              <a:t>Flow Graph</a:t>
            </a:r>
          </a:p>
        </p:txBody>
      </p:sp>
    </p:spTree>
    <p:extLst>
      <p:ext uri="{BB962C8B-B14F-4D97-AF65-F5344CB8AC3E}">
        <p14:creationId xmlns:p14="http://schemas.microsoft.com/office/powerpoint/2010/main" val="191919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Representation of Flow Graphs</a:t>
            </a:r>
          </a:p>
        </p:txBody>
      </p:sp>
      <p:sp>
        <p:nvSpPr>
          <p:cNvPr id="3" name="Footer Placeholder 2"/>
          <p:cNvSpPr>
            <a:spLocks noGrp="1"/>
          </p:cNvSpPr>
          <p:nvPr>
            <p:ph type="ftr" sz="quarter" idx="11"/>
          </p:nvPr>
        </p:nvSpPr>
        <p:spPr>
          <a:xfrm>
            <a:off x="4038600" y="6468894"/>
            <a:ext cx="4114800" cy="365125"/>
          </a:xfrm>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21</a:t>
            </a:fld>
            <a:endParaRPr lang="en-US" dirty="0"/>
          </a:p>
        </p:txBody>
      </p:sp>
      <p:sp>
        <p:nvSpPr>
          <p:cNvPr id="6" name="Content Placeholder 5"/>
          <p:cNvSpPr>
            <a:spLocks noGrp="1"/>
          </p:cNvSpPr>
          <p:nvPr>
            <p:ph idx="1"/>
          </p:nvPr>
        </p:nvSpPr>
        <p:spPr>
          <a:xfrm>
            <a:off x="838200" y="1069146"/>
            <a:ext cx="10515600" cy="5652330"/>
          </a:xfrm>
        </p:spPr>
        <p:txBody>
          <a:bodyPr>
            <a:normAutofit/>
          </a:bodyPr>
          <a:lstStyle/>
          <a:p>
            <a:pPr>
              <a:lnSpc>
                <a:spcPct val="120000"/>
              </a:lnSpc>
            </a:pPr>
            <a:r>
              <a:rPr lang="en-US" altLang="en-US" sz="2400" dirty="0">
                <a:latin typeface="Candara" panose="020E0502030303020204" pitchFamily="34" charset="0"/>
              </a:rPr>
              <a:t>Jumps to instruction numbers or labels are replaced by jumps to basic blocks</a:t>
            </a:r>
          </a:p>
          <a:p>
            <a:pPr lvl="1">
              <a:lnSpc>
                <a:spcPct val="120000"/>
              </a:lnSpc>
            </a:pPr>
            <a:r>
              <a:rPr lang="en-US" altLang="en-US" sz="2000" dirty="0">
                <a:latin typeface="Candara" panose="020E0502030303020204" pitchFamily="34" charset="0"/>
              </a:rPr>
              <a:t>Every conditional or unconditional jump is to the leader of some basic block, it is to this block this jump will now refer</a:t>
            </a:r>
          </a:p>
          <a:p>
            <a:pPr>
              <a:lnSpc>
                <a:spcPct val="120000"/>
              </a:lnSpc>
            </a:pPr>
            <a:r>
              <a:rPr lang="en-US" altLang="en-US" sz="2400" dirty="0">
                <a:latin typeface="Candara" panose="020E0502030303020204" pitchFamily="34" charset="0"/>
              </a:rPr>
              <a:t>After constructing the flow graph it is common to make substantial changes to the instructions in the various basic blocks</a:t>
            </a:r>
          </a:p>
          <a:p>
            <a:pPr lvl="1">
              <a:lnSpc>
                <a:spcPct val="120000"/>
              </a:lnSpc>
            </a:pPr>
            <a:r>
              <a:rPr lang="en-US" altLang="en-US" sz="2000" dirty="0">
                <a:latin typeface="Candara" panose="020E0502030303020204" pitchFamily="34" charset="0"/>
              </a:rPr>
              <a:t>If jumps were to instructions, it would cause to fix the targets with each change</a:t>
            </a:r>
          </a:p>
          <a:p>
            <a:pPr>
              <a:lnSpc>
                <a:spcPct val="120000"/>
              </a:lnSpc>
            </a:pPr>
            <a:r>
              <a:rPr lang="en-US" altLang="en-US" sz="2400" dirty="0">
                <a:latin typeface="Candara" panose="020E0502030303020204" pitchFamily="34" charset="0"/>
              </a:rPr>
              <a:t>Flow graphs can be represented by any of the data structures used for graph</a:t>
            </a:r>
          </a:p>
          <a:p>
            <a:pPr>
              <a:lnSpc>
                <a:spcPct val="120000"/>
              </a:lnSpc>
            </a:pPr>
            <a:r>
              <a:rPr lang="en-US" altLang="en-US" sz="2400" dirty="0">
                <a:latin typeface="Candara" panose="020E0502030303020204" pitchFamily="34" charset="0"/>
              </a:rPr>
              <a:t>The content of nodes can be represented by </a:t>
            </a:r>
          </a:p>
          <a:p>
            <a:pPr lvl="1">
              <a:lnSpc>
                <a:spcPct val="120000"/>
              </a:lnSpc>
            </a:pPr>
            <a:r>
              <a:rPr lang="en-US" altLang="en-US" sz="2000" dirty="0">
                <a:latin typeface="Candara" panose="020E0502030303020204" pitchFamily="34" charset="0"/>
              </a:rPr>
              <a:t>pointer to the leader in the array of three address instructions together with count of the number of instructions or a second pointer to the last instruction.</a:t>
            </a:r>
          </a:p>
          <a:p>
            <a:pPr lvl="1">
              <a:lnSpc>
                <a:spcPct val="120000"/>
              </a:lnSpc>
            </a:pPr>
            <a:r>
              <a:rPr lang="en-US" altLang="en-US" sz="2000" dirty="0">
                <a:latin typeface="Candara" panose="020E0502030303020204" pitchFamily="34" charset="0"/>
              </a:rPr>
              <a:t>It is better to maintain a </a:t>
            </a:r>
            <a:r>
              <a:rPr lang="en-US" altLang="en-US" sz="2000" dirty="0">
                <a:solidFill>
                  <a:schemeClr val="accent5">
                    <a:lumMod val="75000"/>
                  </a:schemeClr>
                </a:solidFill>
                <a:latin typeface="Candara" panose="020E0502030303020204" pitchFamily="34" charset="0"/>
              </a:rPr>
              <a:t>linked list</a:t>
            </a:r>
            <a:r>
              <a:rPr lang="en-US" altLang="en-US" sz="2000" dirty="0">
                <a:latin typeface="Candara" panose="020E0502030303020204" pitchFamily="34" charset="0"/>
              </a:rPr>
              <a:t> as the number of instructions in a basic block are changed frequently.</a:t>
            </a:r>
          </a:p>
        </p:txBody>
      </p:sp>
    </p:spTree>
    <p:extLst>
      <p:ext uri="{BB962C8B-B14F-4D97-AF65-F5344CB8AC3E}">
        <p14:creationId xmlns:p14="http://schemas.microsoft.com/office/powerpoint/2010/main" val="394349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wipe(down)">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wipe(down)">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wipe(down)">
                                      <p:cBhvr>
                                        <p:cTn id="30" dur="500"/>
                                        <p:tgtEl>
                                          <p:spTgt spid="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wipe(down)">
                                      <p:cBhvr>
                                        <p:cTn id="35" dur="500"/>
                                        <p:tgtEl>
                                          <p:spTgt spid="6">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6">
                                            <p:txEl>
                                              <p:pRg st="7" end="7"/>
                                            </p:txEl>
                                          </p:spTgt>
                                        </p:tgtEl>
                                        <p:attrNameLst>
                                          <p:attrName>style.visibility</p:attrName>
                                        </p:attrNameLst>
                                      </p:cBhvr>
                                      <p:to>
                                        <p:strVal val="visible"/>
                                      </p:to>
                                    </p:set>
                                    <p:animEffect transition="in" filter="wipe(down)">
                                      <p:cBhvr>
                                        <p:cTn id="40"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Loops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22</a:t>
            </a:fld>
            <a:endParaRPr lang="en-US" dirty="0"/>
          </a:p>
        </p:txBody>
      </p:sp>
      <p:sp>
        <p:nvSpPr>
          <p:cNvPr id="9" name="Content Placeholder 8"/>
          <p:cNvSpPr>
            <a:spLocks noGrp="1"/>
          </p:cNvSpPr>
          <p:nvPr>
            <p:ph idx="1"/>
          </p:nvPr>
        </p:nvSpPr>
        <p:spPr>
          <a:xfrm>
            <a:off x="838200" y="1301473"/>
            <a:ext cx="10515600" cy="4819218"/>
          </a:xfrm>
        </p:spPr>
        <p:txBody>
          <a:bodyPr>
            <a:normAutofit/>
          </a:bodyPr>
          <a:lstStyle/>
          <a:p>
            <a:r>
              <a:rPr lang="en-US" dirty="0"/>
              <a:t>Programming-language constructs like while-statements and for-statements naturally gives rise to loops in programs.</a:t>
            </a:r>
          </a:p>
          <a:p>
            <a:r>
              <a:rPr lang="en-US" dirty="0"/>
              <a:t>Virtually every program spends most of its time in executing its loops</a:t>
            </a:r>
          </a:p>
          <a:p>
            <a:pPr lvl="1"/>
            <a:r>
              <a:rPr lang="en-US" dirty="0"/>
              <a:t>It is important for a compiler to generate good code for loops</a:t>
            </a:r>
          </a:p>
          <a:p>
            <a:r>
              <a:rPr lang="en-US" dirty="0"/>
              <a:t>Many code transformations depend upon the identification of “loops” in a flow graph</a:t>
            </a:r>
          </a:p>
        </p:txBody>
      </p:sp>
    </p:spTree>
    <p:extLst>
      <p:ext uri="{BB962C8B-B14F-4D97-AF65-F5344CB8AC3E}">
        <p14:creationId xmlns:p14="http://schemas.microsoft.com/office/powerpoint/2010/main" val="142200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down)">
                                      <p:cBhvr>
                                        <p:cTn id="12" dur="500"/>
                                        <p:tgtEl>
                                          <p:spTgt spid="9">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wipe(down)">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wipe(down)">
                                      <p:cBhvr>
                                        <p:cTn id="20"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Loops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23</a:t>
            </a:fld>
            <a:endParaRPr lang="en-US" dirty="0"/>
          </a:p>
        </p:txBody>
      </p:sp>
      <p:sp>
        <p:nvSpPr>
          <p:cNvPr id="9" name="Content Placeholder 8"/>
          <p:cNvSpPr>
            <a:spLocks noGrp="1"/>
          </p:cNvSpPr>
          <p:nvPr>
            <p:ph idx="1"/>
          </p:nvPr>
        </p:nvSpPr>
        <p:spPr>
          <a:xfrm>
            <a:off x="633030" y="1109878"/>
            <a:ext cx="7832980" cy="4819218"/>
          </a:xfrm>
        </p:spPr>
        <p:txBody>
          <a:bodyPr>
            <a:normAutofit lnSpcReduction="10000"/>
          </a:bodyPr>
          <a:lstStyle/>
          <a:p>
            <a:pPr>
              <a:lnSpc>
                <a:spcPct val="100000"/>
              </a:lnSpc>
            </a:pPr>
            <a:r>
              <a:rPr lang="en-US" dirty="0"/>
              <a:t>A set of nodes </a:t>
            </a:r>
            <a:r>
              <a:rPr lang="en-US" i="1" dirty="0"/>
              <a:t>L</a:t>
            </a:r>
            <a:r>
              <a:rPr lang="en-US" dirty="0"/>
              <a:t> in the flow graph is a loop if </a:t>
            </a:r>
            <a:r>
              <a:rPr lang="en-US" i="1" dirty="0"/>
              <a:t>L</a:t>
            </a:r>
            <a:r>
              <a:rPr lang="en-US" dirty="0"/>
              <a:t> contains a node </a:t>
            </a:r>
            <a:r>
              <a:rPr lang="en-US" i="1" dirty="0">
                <a:solidFill>
                  <a:srgbClr val="FF0000"/>
                </a:solidFill>
              </a:rPr>
              <a:t>e</a:t>
            </a:r>
            <a:r>
              <a:rPr lang="en-US" dirty="0"/>
              <a:t> called the </a:t>
            </a:r>
            <a:r>
              <a:rPr lang="en-US" dirty="0">
                <a:solidFill>
                  <a:srgbClr val="7030A0"/>
                </a:solidFill>
              </a:rPr>
              <a:t>loop entry</a:t>
            </a:r>
            <a:r>
              <a:rPr lang="en-US" dirty="0"/>
              <a:t>, such that</a:t>
            </a:r>
          </a:p>
          <a:p>
            <a:pPr marL="914400" lvl="1" indent="-457200">
              <a:lnSpc>
                <a:spcPct val="100000"/>
              </a:lnSpc>
              <a:buFont typeface="+mj-lt"/>
              <a:buAutoNum type="arabicPeriod"/>
            </a:pPr>
            <a:r>
              <a:rPr lang="en-US" i="1" dirty="0">
                <a:solidFill>
                  <a:srgbClr val="FF0000"/>
                </a:solidFill>
              </a:rPr>
              <a:t>e</a:t>
            </a:r>
            <a:r>
              <a:rPr lang="en-US" dirty="0"/>
              <a:t> is not </a:t>
            </a:r>
            <a:r>
              <a:rPr lang="en-US" dirty="0">
                <a:solidFill>
                  <a:schemeClr val="accent5">
                    <a:lumMod val="75000"/>
                  </a:schemeClr>
                </a:solidFill>
              </a:rPr>
              <a:t>ENTRY</a:t>
            </a:r>
            <a:r>
              <a:rPr lang="en-US" dirty="0"/>
              <a:t>, the entry of the entire flow graph</a:t>
            </a:r>
          </a:p>
          <a:p>
            <a:pPr marL="914400" lvl="1" indent="-457200">
              <a:lnSpc>
                <a:spcPct val="100000"/>
              </a:lnSpc>
              <a:buFont typeface="+mj-lt"/>
              <a:buAutoNum type="arabicPeriod"/>
            </a:pPr>
            <a:r>
              <a:rPr lang="en-US" dirty="0"/>
              <a:t>No node in </a:t>
            </a:r>
            <a:r>
              <a:rPr lang="en-US" i="1" dirty="0"/>
              <a:t>L</a:t>
            </a:r>
            <a:r>
              <a:rPr lang="en-US" dirty="0"/>
              <a:t> besides </a:t>
            </a:r>
            <a:r>
              <a:rPr lang="en-US" i="1" dirty="0">
                <a:solidFill>
                  <a:srgbClr val="FF0000"/>
                </a:solidFill>
              </a:rPr>
              <a:t>e</a:t>
            </a:r>
            <a:r>
              <a:rPr lang="en-US" dirty="0"/>
              <a:t> has a predecessor outside </a:t>
            </a:r>
            <a:r>
              <a:rPr lang="en-US" i="1" dirty="0"/>
              <a:t>L</a:t>
            </a:r>
            <a:r>
              <a:rPr lang="en-US" dirty="0"/>
              <a:t>, </a:t>
            </a:r>
            <a:r>
              <a:rPr lang="en-US" i="1" dirty="0"/>
              <a:t>i.e.</a:t>
            </a:r>
            <a:r>
              <a:rPr lang="en-US" dirty="0"/>
              <a:t>, every path from ENTRY to any node in </a:t>
            </a:r>
            <a:r>
              <a:rPr lang="en-US" i="1" dirty="0"/>
              <a:t>L</a:t>
            </a:r>
            <a:r>
              <a:rPr lang="en-US" dirty="0"/>
              <a:t> goes through </a:t>
            </a:r>
            <a:r>
              <a:rPr lang="en-US" i="1" dirty="0">
                <a:solidFill>
                  <a:srgbClr val="FF0000"/>
                </a:solidFill>
              </a:rPr>
              <a:t>e</a:t>
            </a:r>
            <a:r>
              <a:rPr lang="en-US" dirty="0"/>
              <a:t>  </a:t>
            </a:r>
          </a:p>
          <a:p>
            <a:pPr marL="914400" lvl="1" indent="-457200">
              <a:lnSpc>
                <a:spcPct val="100000"/>
              </a:lnSpc>
              <a:buFont typeface="+mj-lt"/>
              <a:buAutoNum type="arabicPeriod"/>
            </a:pPr>
            <a:r>
              <a:rPr lang="en-US" dirty="0"/>
              <a:t>Every node in </a:t>
            </a:r>
            <a:r>
              <a:rPr lang="en-US" i="1" dirty="0"/>
              <a:t>L</a:t>
            </a:r>
            <a:r>
              <a:rPr lang="en-US" dirty="0"/>
              <a:t> has a nonempty path, completely withing </a:t>
            </a:r>
            <a:r>
              <a:rPr lang="en-US" i="1" dirty="0"/>
              <a:t>L</a:t>
            </a:r>
            <a:r>
              <a:rPr lang="en-US" dirty="0"/>
              <a:t>, to </a:t>
            </a:r>
            <a:r>
              <a:rPr lang="en-US" i="1" dirty="0">
                <a:solidFill>
                  <a:srgbClr val="FF0000"/>
                </a:solidFill>
              </a:rPr>
              <a:t>e</a:t>
            </a:r>
          </a:p>
          <a:p>
            <a:pPr>
              <a:lnSpc>
                <a:spcPct val="100000"/>
              </a:lnSpc>
            </a:pPr>
            <a:r>
              <a:rPr lang="en-US" dirty="0"/>
              <a:t>Example: Loops in the flow graph on the right are - </a:t>
            </a:r>
          </a:p>
          <a:p>
            <a:pPr marL="971550" lvl="1" indent="-514350">
              <a:lnSpc>
                <a:spcPct val="100000"/>
              </a:lnSpc>
              <a:buFont typeface="+mj-lt"/>
              <a:buAutoNum type="arabicPeriod"/>
            </a:pPr>
            <a:r>
              <a:rPr lang="en-US" i="1" dirty="0"/>
              <a:t>B</a:t>
            </a:r>
            <a:r>
              <a:rPr lang="en-US" i="1" baseline="-25000" dirty="0"/>
              <a:t>3</a:t>
            </a:r>
            <a:r>
              <a:rPr lang="en-US" dirty="0"/>
              <a:t> by itself</a:t>
            </a:r>
          </a:p>
          <a:p>
            <a:pPr marL="971550" lvl="1" indent="-514350">
              <a:lnSpc>
                <a:spcPct val="100000"/>
              </a:lnSpc>
              <a:buFont typeface="+mj-lt"/>
              <a:buAutoNum type="arabicPeriod"/>
            </a:pPr>
            <a:r>
              <a:rPr lang="en-US" i="1" dirty="0"/>
              <a:t>B</a:t>
            </a:r>
            <a:r>
              <a:rPr lang="en-US" i="1" baseline="-25000" dirty="0"/>
              <a:t>6</a:t>
            </a:r>
            <a:r>
              <a:rPr lang="en-US" dirty="0"/>
              <a:t> by itself</a:t>
            </a:r>
          </a:p>
          <a:p>
            <a:pPr marL="971550" lvl="1" indent="-514350">
              <a:lnSpc>
                <a:spcPct val="100000"/>
              </a:lnSpc>
              <a:buFont typeface="+mj-lt"/>
              <a:buAutoNum type="arabicPeriod"/>
            </a:pPr>
            <a:r>
              <a:rPr lang="en-US" dirty="0"/>
              <a:t>{</a:t>
            </a:r>
            <a:r>
              <a:rPr lang="en-US" i="1" dirty="0"/>
              <a:t>B</a:t>
            </a:r>
            <a:r>
              <a:rPr lang="en-US" i="1" baseline="-25000" dirty="0"/>
              <a:t>2</a:t>
            </a:r>
            <a:r>
              <a:rPr lang="en-US" i="1" dirty="0"/>
              <a:t>, B</a:t>
            </a:r>
            <a:r>
              <a:rPr lang="en-US" i="1" baseline="-25000" dirty="0"/>
              <a:t>3</a:t>
            </a:r>
            <a:r>
              <a:rPr lang="en-US" i="1" dirty="0"/>
              <a:t>, B</a:t>
            </a:r>
            <a:r>
              <a:rPr lang="en-US" i="1" baseline="-25000" dirty="0"/>
              <a:t>4</a:t>
            </a:r>
            <a:r>
              <a:rPr lang="en-US" dirty="0"/>
              <a:t>}</a:t>
            </a:r>
          </a:p>
        </p:txBody>
      </p:sp>
      <p:pic>
        <p:nvPicPr>
          <p:cNvPr id="5" name="Picture 4">
            <a:extLst>
              <a:ext uri="{FF2B5EF4-FFF2-40B4-BE49-F238E27FC236}">
                <a16:creationId xmlns:a16="http://schemas.microsoft.com/office/drawing/2014/main" id="{5161BB5E-86C3-E066-20EF-47F5FF5E68C0}"/>
              </a:ext>
            </a:extLst>
          </p:cNvPr>
          <p:cNvPicPr>
            <a:picLocks noChangeAspect="1"/>
          </p:cNvPicPr>
          <p:nvPr/>
        </p:nvPicPr>
        <p:blipFill>
          <a:blip r:embed="rId2"/>
          <a:stretch>
            <a:fillRect/>
          </a:stretch>
        </p:blipFill>
        <p:spPr>
          <a:xfrm>
            <a:off x="8610600" y="681037"/>
            <a:ext cx="3429000" cy="5676900"/>
          </a:xfrm>
          <a:prstGeom prst="rect">
            <a:avLst/>
          </a:prstGeom>
          <a:ln>
            <a:solidFill>
              <a:schemeClr val="accent6">
                <a:lumMod val="75000"/>
              </a:schemeClr>
            </a:solidFill>
            <a:prstDash val="dash"/>
          </a:ln>
        </p:spPr>
      </p:pic>
    </p:spTree>
    <p:extLst>
      <p:ext uri="{BB962C8B-B14F-4D97-AF65-F5344CB8AC3E}">
        <p14:creationId xmlns:p14="http://schemas.microsoft.com/office/powerpoint/2010/main" val="168927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down)">
                                      <p:cBhvr>
                                        <p:cTn id="12" dur="500"/>
                                        <p:tgtEl>
                                          <p:spTgt spid="9">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wipe(down)">
                                      <p:cBhvr>
                                        <p:cTn id="15" dur="500"/>
                                        <p:tgtEl>
                                          <p:spTgt spid="9">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wipe(down)">
                                      <p:cBhvr>
                                        <p:cTn id="18" dur="500"/>
                                        <p:tgtEl>
                                          <p:spTgt spid="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9">
                                            <p:txEl>
                                              <p:pRg st="4" end="4"/>
                                            </p:txEl>
                                          </p:spTgt>
                                        </p:tgtEl>
                                        <p:attrNameLst>
                                          <p:attrName>style.visibility</p:attrName>
                                        </p:attrNameLst>
                                      </p:cBhvr>
                                      <p:to>
                                        <p:strVal val="visible"/>
                                      </p:to>
                                    </p:set>
                                    <p:animEffect transition="in" filter="wipe(down)">
                                      <p:cBhvr>
                                        <p:cTn id="30" dur="500"/>
                                        <p:tgtEl>
                                          <p:spTgt spid="9">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animEffect transition="in" filter="wipe(down)">
                                      <p:cBhvr>
                                        <p:cTn id="35" dur="500"/>
                                        <p:tgtEl>
                                          <p:spTgt spid="9">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9">
                                            <p:txEl>
                                              <p:pRg st="6" end="6"/>
                                            </p:txEl>
                                          </p:spTgt>
                                        </p:tgtEl>
                                        <p:attrNameLst>
                                          <p:attrName>style.visibility</p:attrName>
                                        </p:attrNameLst>
                                      </p:cBhvr>
                                      <p:to>
                                        <p:strVal val="visible"/>
                                      </p:to>
                                    </p:set>
                                    <p:animEffect transition="in" filter="wipe(down)">
                                      <p:cBhvr>
                                        <p:cTn id="40" dur="500"/>
                                        <p:tgtEl>
                                          <p:spTgt spid="9">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animEffect transition="in" filter="wipe(down)">
                                      <p:cBhvr>
                                        <p:cTn id="45"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Liveliness &amp; Next-Use Information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24</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371600"/>
                <a:ext cx="10515600" cy="4805363"/>
              </a:xfrm>
            </p:spPr>
            <p:txBody>
              <a:bodyPr>
                <a:normAutofit fontScale="92500"/>
              </a:bodyPr>
              <a:lstStyle/>
              <a:p>
                <a:r>
                  <a:rPr lang="en-US" dirty="0">
                    <a:latin typeface="Candara" panose="020E0502030303020204" pitchFamily="34" charset="0"/>
                  </a:rPr>
                  <a:t>Knowledge of next </a:t>
                </a:r>
                <a:r>
                  <a:rPr lang="en-US" i="1" dirty="0">
                    <a:solidFill>
                      <a:srgbClr val="00B0F0"/>
                    </a:solidFill>
                    <a:latin typeface="Candara" panose="020E0502030303020204" pitchFamily="34" charset="0"/>
                  </a:rPr>
                  <a:t>use</a:t>
                </a:r>
                <a:r>
                  <a:rPr lang="en-US" dirty="0">
                    <a:latin typeface="Candara" panose="020E0502030303020204" pitchFamily="34" charset="0"/>
                  </a:rPr>
                  <a:t> of a variable is helpful in good code generation</a:t>
                </a:r>
              </a:p>
              <a:p>
                <a:r>
                  <a:rPr lang="en-US" dirty="0">
                    <a:latin typeface="Candara" panose="020E0502030303020204" pitchFamily="34" charset="0"/>
                  </a:rPr>
                  <a:t>If the value of a variable that is currently in a register will never be referenced subsequently, then that register can be assigned to another variable</a:t>
                </a:r>
              </a:p>
              <a:p>
                <a:r>
                  <a:rPr lang="en-US" dirty="0">
                    <a:latin typeface="Candara" panose="020E0502030303020204" pitchFamily="34" charset="0"/>
                  </a:rPr>
                  <a:t>Definition of </a:t>
                </a:r>
                <a:r>
                  <a:rPr lang="en-US" i="1" dirty="0">
                    <a:solidFill>
                      <a:srgbClr val="00B0F0"/>
                    </a:solidFill>
                    <a:latin typeface="Candara" panose="020E0502030303020204" pitchFamily="34" charset="0"/>
                  </a:rPr>
                  <a:t>use</a:t>
                </a:r>
              </a:p>
              <a:p>
                <a:pPr marL="0" indent="0">
                  <a:buNone/>
                </a:pPr>
                <a14:m>
                  <m:oMath xmlns:m="http://schemas.openxmlformats.org/officeDocument/2006/math">
                    <m:r>
                      <a:rPr lang="en-US" sz="2400" b="0" i="1" dirty="0" smtClean="0">
                        <a:solidFill>
                          <a:srgbClr val="002060"/>
                        </a:solidFill>
                        <a:latin typeface="Cambria Math" panose="02040503050406030204" pitchFamily="18" charset="0"/>
                      </a:rPr>
                      <m:t>         </m:t>
                    </m:r>
                    <m:r>
                      <a:rPr lang="en-US" sz="2400" i="1" dirty="0" smtClean="0">
                        <a:solidFill>
                          <a:srgbClr val="002060"/>
                        </a:solidFill>
                        <a:latin typeface="Cambria Math" panose="02040503050406030204" pitchFamily="18" charset="0"/>
                      </a:rPr>
                      <m:t>𝑖</m:t>
                    </m:r>
                  </m:oMath>
                </a14:m>
                <a:r>
                  <a:rPr lang="en-US" sz="2400" dirty="0">
                    <a:latin typeface="Candara" panose="020E0502030303020204" pitchFamily="34" charset="0"/>
                  </a:rPr>
                  <a:t> :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 = 5</m:t>
                    </m:r>
                  </m:oMath>
                </a14:m>
                <a:r>
                  <a:rPr lang="en-US" sz="2400" dirty="0">
                    <a:latin typeface="Candara" panose="020E0502030303020204" pitchFamily="34" charset="0"/>
                  </a:rPr>
                  <a:t>  // </a:t>
                </a:r>
                <a14:m>
                  <m:oMath xmlns:m="http://schemas.openxmlformats.org/officeDocument/2006/math">
                    <m:r>
                      <a:rPr lang="en-US" sz="2400" i="1" dirty="0" smtClean="0">
                        <a:latin typeface="Cambria Math" panose="02040503050406030204" pitchFamily="18" charset="0"/>
                      </a:rPr>
                      <m:t>𝑥</m:t>
                    </m:r>
                  </m:oMath>
                </a14:m>
                <a:r>
                  <a:rPr lang="en-US" sz="2400" dirty="0">
                    <a:latin typeface="Candara" panose="020E0502030303020204" pitchFamily="34" charset="0"/>
                  </a:rPr>
                  <a:t> is </a:t>
                </a:r>
                <a:r>
                  <a:rPr lang="en-US" sz="2400" dirty="0">
                    <a:solidFill>
                      <a:srgbClr val="C00000"/>
                    </a:solidFill>
                    <a:latin typeface="Candara" panose="020E0502030303020204" pitchFamily="34" charset="0"/>
                  </a:rPr>
                  <a:t>live</a:t>
                </a:r>
                <a:r>
                  <a:rPr lang="en-US" sz="2400" dirty="0">
                    <a:latin typeface="Candara" panose="020E0502030303020204" pitchFamily="34" charset="0"/>
                  </a:rPr>
                  <a:t> at statement </a:t>
                </a:r>
                <a14:m>
                  <m:oMath xmlns:m="http://schemas.openxmlformats.org/officeDocument/2006/math">
                    <m:r>
                      <a:rPr lang="en-US" sz="2400" i="1" dirty="0" smtClean="0">
                        <a:latin typeface="Cambria Math" panose="02040503050406030204" pitchFamily="18" charset="0"/>
                      </a:rPr>
                      <m:t>𝑖</m:t>
                    </m:r>
                  </m:oMath>
                </a14:m>
                <a:endParaRPr lang="en-US" sz="2400" dirty="0">
                  <a:latin typeface="Candara" panose="020E0502030303020204" pitchFamily="34" charset="0"/>
                </a:endParaRPr>
              </a:p>
              <a:p>
                <a:pPr marL="0" indent="0">
                  <a:buNone/>
                </a:pPr>
                <a:r>
                  <a:rPr lang="en-US" sz="2400" dirty="0">
                    <a:latin typeface="Candara" panose="020E0502030303020204" pitchFamily="34" charset="0"/>
                  </a:rPr>
                  <a:t>               ….….   // no use of </a:t>
                </a:r>
                <a14:m>
                  <m:oMath xmlns:m="http://schemas.openxmlformats.org/officeDocument/2006/math">
                    <m:r>
                      <a:rPr lang="en-US" sz="2400" i="1" dirty="0" smtClean="0">
                        <a:latin typeface="Cambria Math" panose="02040503050406030204" pitchFamily="18" charset="0"/>
                      </a:rPr>
                      <m:t>𝑥</m:t>
                    </m:r>
                  </m:oMath>
                </a14:m>
                <a:endParaRPr lang="en-US" sz="2400" dirty="0">
                  <a:latin typeface="Candara" panose="020E0502030303020204" pitchFamily="34" charset="0"/>
                </a:endParaRPr>
              </a:p>
              <a:p>
                <a:pPr marL="0" indent="0">
                  <a:buNone/>
                </a:pPr>
                <a14:m>
                  <m:oMath xmlns:m="http://schemas.openxmlformats.org/officeDocument/2006/math">
                    <m:r>
                      <a:rPr lang="en-US" sz="2400" b="0" i="1" dirty="0" smtClean="0">
                        <a:solidFill>
                          <a:srgbClr val="002060"/>
                        </a:solidFill>
                        <a:latin typeface="Cambria Math" panose="02040503050406030204" pitchFamily="18" charset="0"/>
                      </a:rPr>
                      <m:t>          </m:t>
                    </m:r>
                    <m:r>
                      <a:rPr lang="en-US" sz="2400" i="1" dirty="0" smtClean="0">
                        <a:solidFill>
                          <a:srgbClr val="002060"/>
                        </a:solidFill>
                        <a:latin typeface="Cambria Math" panose="02040503050406030204" pitchFamily="18" charset="0"/>
                      </a:rPr>
                      <m:t>𝑗</m:t>
                    </m:r>
                  </m:oMath>
                </a14:m>
                <a:r>
                  <a:rPr lang="en-US" sz="2400" dirty="0">
                    <a:latin typeface="Candara" panose="020E0502030303020204" pitchFamily="34" charset="0"/>
                  </a:rPr>
                  <a:t> : </a:t>
                </a:r>
                <a14:m>
                  <m:oMath xmlns:m="http://schemas.openxmlformats.org/officeDocument/2006/math">
                    <m:r>
                      <a:rPr lang="en-US" sz="2400" i="1" dirty="0" smtClean="0">
                        <a:latin typeface="Cambria Math" panose="02040503050406030204" pitchFamily="18" charset="0"/>
                      </a:rPr>
                      <m:t>𝑦</m:t>
                    </m:r>
                    <m:r>
                      <a:rPr lang="en-US" sz="2400" i="1" dirty="0" smtClean="0">
                        <a:latin typeface="Cambria Math" panose="02040503050406030204" pitchFamily="18" charset="0"/>
                      </a:rPr>
                      <m:t> = </m:t>
                    </m:r>
                    <m:r>
                      <a:rPr lang="en-US" sz="2400" i="1" dirty="0" smtClean="0">
                        <a:latin typeface="Cambria Math" panose="02040503050406030204" pitchFamily="18" charset="0"/>
                      </a:rPr>
                      <m:t>𝑥</m:t>
                    </m:r>
                  </m:oMath>
                </a14:m>
                <a:r>
                  <a:rPr lang="en-US" sz="2400" dirty="0">
                    <a:latin typeface="Candara" panose="020E0502030303020204" pitchFamily="34" charset="0"/>
                  </a:rPr>
                  <a:t>  // statement </a:t>
                </a:r>
                <a14:m>
                  <m:oMath xmlns:m="http://schemas.openxmlformats.org/officeDocument/2006/math">
                    <m:r>
                      <a:rPr lang="en-US" sz="2400" i="1" dirty="0" smtClean="0">
                        <a:latin typeface="Cambria Math" panose="02040503050406030204" pitchFamily="18" charset="0"/>
                      </a:rPr>
                      <m:t>𝑗</m:t>
                    </m:r>
                  </m:oMath>
                </a14:m>
                <a:r>
                  <a:rPr lang="en-US" sz="2400" dirty="0">
                    <a:solidFill>
                      <a:srgbClr val="C00000"/>
                    </a:solidFill>
                    <a:latin typeface="Candara" panose="020E0502030303020204" pitchFamily="34" charset="0"/>
                  </a:rPr>
                  <a:t> uses </a:t>
                </a:r>
                <a14:m>
                  <m:oMath xmlns:m="http://schemas.openxmlformats.org/officeDocument/2006/math">
                    <m:r>
                      <m:rPr>
                        <m:sty m:val="p"/>
                      </m:rPr>
                      <a:rPr lang="en-US" sz="2400" b="0" i="0" dirty="0" smtClean="0">
                        <a:latin typeface="Cambria Math" panose="02040503050406030204" pitchFamily="18" charset="0"/>
                      </a:rPr>
                      <m:t>the</m:t>
                    </m:r>
                    <m:r>
                      <a:rPr lang="en-US" sz="2400" b="0" i="0" dirty="0" smtClean="0">
                        <a:latin typeface="Cambria Math" panose="02040503050406030204" pitchFamily="18" charset="0"/>
                      </a:rPr>
                      <m:t> </m:t>
                    </m:r>
                    <m:r>
                      <m:rPr>
                        <m:sty m:val="p"/>
                      </m:rPr>
                      <a:rPr lang="en-US" sz="2400" b="0" i="0" dirty="0" smtClean="0">
                        <a:latin typeface="Cambria Math" panose="02040503050406030204" pitchFamily="18" charset="0"/>
                      </a:rPr>
                      <m:t>value</m:t>
                    </m:r>
                    <m:r>
                      <a:rPr lang="en-US" sz="2400" b="0" i="0" dirty="0" smtClean="0">
                        <a:latin typeface="Cambria Math" panose="02040503050406030204" pitchFamily="18" charset="0"/>
                      </a:rPr>
                      <m:t> </m:t>
                    </m:r>
                    <m:r>
                      <m:rPr>
                        <m:sty m:val="p"/>
                      </m:rPr>
                      <a:rPr lang="en-US" sz="2400" b="0" i="0" dirty="0" smtClean="0">
                        <a:latin typeface="Cambria Math" panose="02040503050406030204" pitchFamily="18" charset="0"/>
                      </a:rPr>
                      <m:t>of</m:t>
                    </m:r>
                    <m:r>
                      <a:rPr lang="en-US" sz="2400" b="0" i="0" dirty="0" smtClean="0">
                        <a:latin typeface="Cambria Math" panose="02040503050406030204" pitchFamily="18" charset="0"/>
                      </a:rPr>
                      <m:t> </m:t>
                    </m:r>
                    <m:r>
                      <a:rPr lang="en-US" sz="2400" i="1" dirty="0" smtClean="0">
                        <a:latin typeface="Cambria Math" panose="02040503050406030204" pitchFamily="18" charset="0"/>
                      </a:rPr>
                      <m:t>𝑥</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𝑐𝑜𝑚𝑝𝑢𝑡𝑒𝑑</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𝑎𝑡</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𝑖</m:t>
                    </m:r>
                  </m:oMath>
                </a14:m>
                <a:endParaRPr lang="en-US" sz="2400" dirty="0">
                  <a:latin typeface="Candara" panose="020E0502030303020204" pitchFamily="34" charset="0"/>
                </a:endParaRPr>
              </a:p>
              <a:p>
                <a:endParaRPr lang="en-US" sz="2400" dirty="0">
                  <a:latin typeface="Candara" panose="020E0502030303020204" pitchFamily="34" charset="0"/>
                </a:endParaRPr>
              </a:p>
              <a:p>
                <a:r>
                  <a:rPr lang="en-US" dirty="0">
                    <a:latin typeface="Candara" panose="020E0502030303020204" pitchFamily="34" charset="0"/>
                  </a:rPr>
                  <a:t>For each statement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err="1" smtClean="0">
                        <a:latin typeface="Cambria Math" panose="02040503050406030204" pitchFamily="18" charset="0"/>
                      </a:rPr>
                      <m:t>𝑦</m:t>
                    </m:r>
                    <m:r>
                      <a:rPr lang="en-US" i="1" dirty="0" err="1" smtClean="0">
                        <a:latin typeface="Cambria Math" panose="02040503050406030204" pitchFamily="18" charset="0"/>
                      </a:rPr>
                      <m:t>+</m:t>
                    </m:r>
                    <m:r>
                      <a:rPr lang="en-US" i="1" dirty="0" err="1" smtClean="0">
                        <a:latin typeface="Cambria Math" panose="02040503050406030204" pitchFamily="18" charset="0"/>
                      </a:rPr>
                      <m:t>𝑧</m:t>
                    </m:r>
                  </m:oMath>
                </a14:m>
                <a:r>
                  <a:rPr lang="en-US" dirty="0">
                    <a:latin typeface="Candara" panose="020E0502030303020204" pitchFamily="34" charset="0"/>
                  </a:rPr>
                  <a:t>, we want to find next use of </a:t>
                </a:r>
                <a14:m>
                  <m:oMath xmlns:m="http://schemas.openxmlformats.org/officeDocument/2006/math">
                    <m:r>
                      <a:rPr lang="en-US" i="1" dirty="0" smtClean="0">
                        <a:latin typeface="Cambria Math" panose="02040503050406030204" pitchFamily="18" charset="0"/>
                      </a:rPr>
                      <m:t>𝑥</m:t>
                    </m:r>
                  </m:oMath>
                </a14:m>
                <a:r>
                  <a:rPr lang="en-US" dirty="0">
                    <a:latin typeface="Candara" panose="020E0502030303020204" pitchFamily="34" charset="0"/>
                  </a:rPr>
                  <a:t>, </a:t>
                </a:r>
                <a14:m>
                  <m:oMath xmlns:m="http://schemas.openxmlformats.org/officeDocument/2006/math">
                    <m:r>
                      <a:rPr lang="en-US" i="1" dirty="0" smtClean="0">
                        <a:latin typeface="Cambria Math" panose="02040503050406030204" pitchFamily="18" charset="0"/>
                      </a:rPr>
                      <m:t>𝑦</m:t>
                    </m:r>
                  </m:oMath>
                </a14:m>
                <a:r>
                  <a:rPr lang="en-US" dirty="0">
                    <a:latin typeface="Candara" panose="020E0502030303020204" pitchFamily="34" charset="0"/>
                  </a:rPr>
                  <a:t> and </a:t>
                </a:r>
                <a14:m>
                  <m:oMath xmlns:m="http://schemas.openxmlformats.org/officeDocument/2006/math">
                    <m:r>
                      <a:rPr lang="en-US" i="1" dirty="0" smtClean="0">
                        <a:latin typeface="Cambria Math" panose="02040503050406030204" pitchFamily="18" charset="0"/>
                      </a:rPr>
                      <m:t>𝑧</m:t>
                    </m:r>
                  </m:oMath>
                </a14:m>
                <a:endParaRPr lang="en-US" dirty="0">
                  <a:latin typeface="Candara" panose="020E0502030303020204" pitchFamily="34" charset="0"/>
                </a:endParaRPr>
              </a:p>
              <a:p>
                <a:endParaRPr lang="en-US" dirty="0">
                  <a:latin typeface="Candara" panose="020E0502030303020204" pitchFamily="34" charset="0"/>
                </a:endParaRPr>
              </a:p>
              <a:p>
                <a:endParaRPr lang="en-US" sz="2400"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371600"/>
                <a:ext cx="10515600" cy="4805363"/>
              </a:xfrm>
              <a:blipFill rotWithShape="0">
                <a:blip r:embed="rId2"/>
                <a:stretch>
                  <a:fillRect l="-928" t="-1904"/>
                </a:stretch>
              </a:blipFill>
            </p:spPr>
            <p:txBody>
              <a:bodyPr/>
              <a:lstStyle/>
              <a:p>
                <a:r>
                  <a:rPr lang="en-US">
                    <a:noFill/>
                  </a:rPr>
                  <a:t> </a:t>
                </a:r>
              </a:p>
            </p:txBody>
          </p:sp>
        </mc:Fallback>
      </mc:AlternateContent>
    </p:spTree>
    <p:extLst>
      <p:ext uri="{BB962C8B-B14F-4D97-AF65-F5344CB8AC3E}">
        <p14:creationId xmlns:p14="http://schemas.microsoft.com/office/powerpoint/2010/main" val="243599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wipe(down)">
                                      <p:cBhvr>
                                        <p:cTn id="3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Liveliness &amp; Next-Use Information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25</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371600"/>
                <a:ext cx="10515600" cy="5349875"/>
              </a:xfrm>
            </p:spPr>
            <p:txBody>
              <a:bodyPr>
                <a:normAutofit/>
              </a:bodyPr>
              <a:lstStyle/>
              <a:p>
                <a:pPr algn="just"/>
                <a:r>
                  <a:rPr lang="en-US" b="1" dirty="0">
                    <a:latin typeface="Candara" panose="020E0502030303020204" pitchFamily="34" charset="0"/>
                  </a:rPr>
                  <a:t>Algorithm</a:t>
                </a:r>
                <a:r>
                  <a:rPr lang="en-US" dirty="0">
                    <a:latin typeface="Candara" panose="020E0502030303020204" pitchFamily="34" charset="0"/>
                  </a:rPr>
                  <a:t>: </a:t>
                </a:r>
                <a:r>
                  <a:rPr lang="en-US" sz="2600" dirty="0">
                    <a:latin typeface="Candara" panose="020E0502030303020204" pitchFamily="34" charset="0"/>
                  </a:rPr>
                  <a:t>Determining liveliness &amp; next-use information for each statement of a basic block</a:t>
                </a:r>
              </a:p>
              <a:p>
                <a:pPr algn="just"/>
                <a:r>
                  <a:rPr lang="en-US" b="1" dirty="0">
                    <a:latin typeface="Candara" panose="020E0502030303020204" pitchFamily="34" charset="0"/>
                  </a:rPr>
                  <a:t>Input</a:t>
                </a:r>
                <a:r>
                  <a:rPr lang="en-US" dirty="0">
                    <a:latin typeface="Candara" panose="020E0502030303020204" pitchFamily="34" charset="0"/>
                  </a:rPr>
                  <a:t>: </a:t>
                </a:r>
                <a:r>
                  <a:rPr lang="en-US" sz="2600" dirty="0">
                    <a:latin typeface="Candara" panose="020E0502030303020204" pitchFamily="34" charset="0"/>
                  </a:rPr>
                  <a:t>A basic block </a:t>
                </a:r>
                <a:r>
                  <a:rPr lang="en-US" sz="2600" i="1" dirty="0">
                    <a:latin typeface="Candara" panose="020E0502030303020204" pitchFamily="34" charset="0"/>
                  </a:rPr>
                  <a:t>B </a:t>
                </a:r>
                <a:r>
                  <a:rPr lang="en-US" sz="2600" dirty="0">
                    <a:latin typeface="Candara" panose="020E0502030303020204" pitchFamily="34" charset="0"/>
                  </a:rPr>
                  <a:t>of three-address statements. </a:t>
                </a:r>
                <a:r>
                  <a:rPr lang="en-US" sz="2600" dirty="0">
                    <a:solidFill>
                      <a:schemeClr val="accent6">
                        <a:lumMod val="75000"/>
                      </a:schemeClr>
                    </a:solidFill>
                    <a:latin typeface="Candara" panose="020E0502030303020204" pitchFamily="34" charset="0"/>
                  </a:rPr>
                  <a:t>It is assumed that the symbol table initially shows all nontemporary variables in </a:t>
                </a:r>
                <a:r>
                  <a:rPr lang="en-US" sz="2600" i="1" dirty="0">
                    <a:solidFill>
                      <a:schemeClr val="accent6">
                        <a:lumMod val="75000"/>
                      </a:schemeClr>
                    </a:solidFill>
                    <a:latin typeface="Candara" panose="020E0502030303020204" pitchFamily="34" charset="0"/>
                  </a:rPr>
                  <a:t>B</a:t>
                </a:r>
                <a:r>
                  <a:rPr lang="en-US" sz="2600" dirty="0">
                    <a:solidFill>
                      <a:schemeClr val="accent6">
                        <a:lumMod val="75000"/>
                      </a:schemeClr>
                    </a:solidFill>
                    <a:latin typeface="Candara" panose="020E0502030303020204" pitchFamily="34" charset="0"/>
                  </a:rPr>
                  <a:t> as being live on exit</a:t>
                </a:r>
              </a:p>
              <a:p>
                <a:pPr algn="just"/>
                <a:r>
                  <a:rPr lang="en-US" b="1" dirty="0">
                    <a:latin typeface="Candara" panose="020E0502030303020204" pitchFamily="34" charset="0"/>
                  </a:rPr>
                  <a:t>Output</a:t>
                </a:r>
                <a:r>
                  <a:rPr lang="en-US" dirty="0">
                    <a:latin typeface="Candara" panose="020E0502030303020204" pitchFamily="34" charset="0"/>
                  </a:rPr>
                  <a:t>: </a:t>
                </a:r>
                <a:r>
                  <a:rPr lang="en-US" sz="2600" dirty="0">
                    <a:latin typeface="Candara" panose="020E0502030303020204" pitchFamily="34" charset="0"/>
                  </a:rPr>
                  <a:t>At each statement </a:t>
                </a:r>
                <a14:m>
                  <m:oMath xmlns:m="http://schemas.openxmlformats.org/officeDocument/2006/math">
                    <m:r>
                      <a:rPr lang="en-US" sz="2600" i="1" dirty="0" smtClean="0">
                        <a:latin typeface="Cambria Math" panose="02040503050406030204" pitchFamily="18" charset="0"/>
                      </a:rPr>
                      <m:t>𝑖</m:t>
                    </m:r>
                    <m:r>
                      <a:rPr lang="en-US" sz="2600" i="1" dirty="0" smtClean="0">
                        <a:latin typeface="Cambria Math" panose="02040503050406030204" pitchFamily="18" charset="0"/>
                      </a:rPr>
                      <m:t>: </m:t>
                    </m:r>
                    <m:r>
                      <a:rPr lang="en-US" sz="2600" i="1" dirty="0" smtClean="0">
                        <a:latin typeface="Cambria Math" panose="02040503050406030204" pitchFamily="18" charset="0"/>
                      </a:rPr>
                      <m:t>𝑥</m:t>
                    </m:r>
                    <m:r>
                      <a:rPr lang="en-US" sz="2600" i="1" dirty="0" smtClean="0">
                        <a:latin typeface="Cambria Math" panose="02040503050406030204" pitchFamily="18" charset="0"/>
                      </a:rPr>
                      <m:t>=</m:t>
                    </m:r>
                    <m:r>
                      <a:rPr lang="en-US" sz="2600" i="1" dirty="0" err="1" smtClean="0">
                        <a:latin typeface="Cambria Math" panose="02040503050406030204" pitchFamily="18" charset="0"/>
                      </a:rPr>
                      <m:t>𝑦</m:t>
                    </m:r>
                    <m:r>
                      <a:rPr lang="en-US" sz="2600" i="1" dirty="0" err="1" smtClean="0">
                        <a:latin typeface="Cambria Math" panose="02040503050406030204" pitchFamily="18" charset="0"/>
                      </a:rPr>
                      <m:t>+</m:t>
                    </m:r>
                    <m:r>
                      <a:rPr lang="en-US" sz="2600" i="1" dirty="0" err="1" smtClean="0">
                        <a:latin typeface="Cambria Math" panose="02040503050406030204" pitchFamily="18" charset="0"/>
                      </a:rPr>
                      <m:t>𝑧</m:t>
                    </m:r>
                  </m:oMath>
                </a14:m>
                <a:r>
                  <a:rPr lang="en-US" sz="2600" dirty="0">
                    <a:latin typeface="Candara" panose="020E0502030303020204" pitchFamily="34" charset="0"/>
                  </a:rPr>
                  <a:t>, liveliness and next-use information of </a:t>
                </a:r>
                <a14:m>
                  <m:oMath xmlns:m="http://schemas.openxmlformats.org/officeDocument/2006/math">
                    <m:r>
                      <a:rPr lang="en-US" sz="2600" i="1" dirty="0" smtClean="0">
                        <a:latin typeface="Cambria Math" panose="02040503050406030204" pitchFamily="18" charset="0"/>
                      </a:rPr>
                      <m:t>𝑥</m:t>
                    </m:r>
                    <m:r>
                      <a:rPr lang="en-US" sz="2600" i="1" dirty="0" smtClean="0">
                        <a:latin typeface="Cambria Math" panose="02040503050406030204" pitchFamily="18" charset="0"/>
                      </a:rPr>
                      <m:t>,</m:t>
                    </m:r>
                    <m:r>
                      <a:rPr lang="en-US" sz="2600" i="1" dirty="0" smtClean="0">
                        <a:latin typeface="Cambria Math" panose="02040503050406030204" pitchFamily="18" charset="0"/>
                      </a:rPr>
                      <m:t>𝑦</m:t>
                    </m:r>
                  </m:oMath>
                </a14:m>
                <a:r>
                  <a:rPr lang="en-US" sz="2600" dirty="0">
                    <a:latin typeface="Candara" panose="020E0502030303020204" pitchFamily="34" charset="0"/>
                  </a:rPr>
                  <a:t> and </a:t>
                </a:r>
                <a14:m>
                  <m:oMath xmlns:m="http://schemas.openxmlformats.org/officeDocument/2006/math">
                    <m:r>
                      <a:rPr lang="en-US" sz="2600" i="1" dirty="0" smtClean="0">
                        <a:latin typeface="Cambria Math" panose="02040503050406030204" pitchFamily="18" charset="0"/>
                      </a:rPr>
                      <m:t>𝑧</m:t>
                    </m:r>
                  </m:oMath>
                </a14:m>
                <a:r>
                  <a:rPr lang="en-US" sz="2600" dirty="0">
                    <a:latin typeface="Candara" panose="020E0502030303020204" pitchFamily="34" charset="0"/>
                  </a:rPr>
                  <a:t> will be attached with </a:t>
                </a:r>
                <a14:m>
                  <m:oMath xmlns:m="http://schemas.openxmlformats.org/officeDocument/2006/math">
                    <m:r>
                      <a:rPr lang="en-US" sz="2600" i="1" dirty="0" smtClean="0">
                        <a:latin typeface="Cambria Math" panose="02040503050406030204" pitchFamily="18" charset="0"/>
                      </a:rPr>
                      <m:t>𝑖</m:t>
                    </m:r>
                  </m:oMath>
                </a14:m>
                <a:endParaRPr lang="en-US" sz="2600" dirty="0">
                  <a:latin typeface="Candara" panose="020E0502030303020204" pitchFamily="34" charset="0"/>
                </a:endParaRPr>
              </a:p>
              <a:p>
                <a:r>
                  <a:rPr lang="en-US" b="1" dirty="0">
                    <a:latin typeface="Candara" panose="020E0502030303020204" pitchFamily="34" charset="0"/>
                  </a:rPr>
                  <a:t>Method</a:t>
                </a:r>
                <a:r>
                  <a:rPr lang="en-US" dirty="0">
                    <a:latin typeface="Candara" panose="020E0502030303020204" pitchFamily="34" charset="0"/>
                  </a:rPr>
                  <a:t>: </a:t>
                </a:r>
                <a:r>
                  <a:rPr lang="en-US" sz="2600" dirty="0">
                    <a:latin typeface="Candara" panose="020E0502030303020204" pitchFamily="34" charset="0"/>
                  </a:rPr>
                  <a:t>From last statement of B, scan backwards</a:t>
                </a:r>
              </a:p>
              <a:p>
                <a:pPr marL="914400" lvl="1" indent="-457200">
                  <a:buFont typeface="+mj-lt"/>
                  <a:buAutoNum type="arabicPeriod"/>
                </a:pPr>
                <a:r>
                  <a:rPr lang="en-US" sz="2200" dirty="0">
                    <a:latin typeface="Candara" panose="020E0502030303020204" pitchFamily="34" charset="0"/>
                  </a:rPr>
                  <a:t>Attach current liveliness &amp; Next-use of </a:t>
                </a:r>
                <a14:m>
                  <m:oMath xmlns:m="http://schemas.openxmlformats.org/officeDocument/2006/math">
                    <m:r>
                      <a:rPr lang="en-US" sz="2200" i="1" dirty="0">
                        <a:latin typeface="Cambria Math" panose="02040503050406030204" pitchFamily="18" charset="0"/>
                      </a:rPr>
                      <m:t>𝑥</m:t>
                    </m:r>
                    <m:r>
                      <a:rPr lang="en-US" sz="2200" i="1" dirty="0">
                        <a:latin typeface="Cambria Math" panose="02040503050406030204" pitchFamily="18" charset="0"/>
                      </a:rPr>
                      <m:t>,</m:t>
                    </m:r>
                    <m:r>
                      <a:rPr lang="en-US" sz="2200" i="1" dirty="0">
                        <a:latin typeface="Cambria Math" panose="02040503050406030204" pitchFamily="18" charset="0"/>
                      </a:rPr>
                      <m:t>𝑦</m:t>
                    </m:r>
                  </m:oMath>
                </a14:m>
                <a:r>
                  <a:rPr lang="en-US" sz="2200" dirty="0">
                    <a:latin typeface="Candara" panose="020E0502030303020204" pitchFamily="34" charset="0"/>
                  </a:rPr>
                  <a:t> and </a:t>
                </a:r>
                <a14:m>
                  <m:oMath xmlns:m="http://schemas.openxmlformats.org/officeDocument/2006/math">
                    <m:r>
                      <a:rPr lang="en-US" sz="2200" i="1" dirty="0">
                        <a:latin typeface="Cambria Math" panose="02040503050406030204" pitchFamily="18" charset="0"/>
                      </a:rPr>
                      <m:t>𝑧</m:t>
                    </m:r>
                  </m:oMath>
                </a14:m>
                <a:r>
                  <a:rPr lang="en-US" sz="2200" dirty="0">
                    <a:latin typeface="Candara" panose="020E0502030303020204" pitchFamily="34" charset="0"/>
                  </a:rPr>
                  <a:t> found in symbol table to statement </a:t>
                </a:r>
                <a14:m>
                  <m:oMath xmlns:m="http://schemas.openxmlformats.org/officeDocument/2006/math">
                    <m:r>
                      <a:rPr lang="en-US" sz="2200" i="1" dirty="0" smtClean="0">
                        <a:latin typeface="Cambria Math" panose="02040503050406030204" pitchFamily="18" charset="0"/>
                      </a:rPr>
                      <m:t>𝑖</m:t>
                    </m:r>
                  </m:oMath>
                </a14:m>
                <a:endParaRPr lang="en-US" sz="2200" dirty="0">
                  <a:latin typeface="Candara" panose="020E0502030303020204" pitchFamily="34" charset="0"/>
                </a:endParaRPr>
              </a:p>
              <a:p>
                <a:pPr marL="914400" lvl="1" indent="-457200">
                  <a:buFont typeface="+mj-lt"/>
                  <a:buAutoNum type="arabicPeriod"/>
                </a:pPr>
                <a:r>
                  <a:rPr lang="en-US" sz="2200" dirty="0">
                    <a:latin typeface="Candara" panose="020E0502030303020204" pitchFamily="34" charset="0"/>
                  </a:rPr>
                  <a:t>In the symbol table, set x to </a:t>
                </a:r>
                <a:r>
                  <a:rPr lang="en-US" sz="2200" dirty="0">
                    <a:solidFill>
                      <a:srgbClr val="C00000"/>
                    </a:solidFill>
                    <a:latin typeface="Candara" panose="020E0502030303020204" pitchFamily="34" charset="0"/>
                  </a:rPr>
                  <a:t>not live</a:t>
                </a:r>
                <a:r>
                  <a:rPr lang="en-US" sz="2200" dirty="0">
                    <a:latin typeface="Candara" panose="020E0502030303020204" pitchFamily="34" charset="0"/>
                  </a:rPr>
                  <a:t> and </a:t>
                </a:r>
                <a:r>
                  <a:rPr lang="en-US" sz="2200" dirty="0">
                    <a:solidFill>
                      <a:srgbClr val="C00000"/>
                    </a:solidFill>
                    <a:latin typeface="Candara" panose="020E0502030303020204" pitchFamily="34" charset="0"/>
                  </a:rPr>
                  <a:t>no next use</a:t>
                </a:r>
              </a:p>
              <a:p>
                <a:pPr marL="914400" lvl="1" indent="-457200">
                  <a:buFont typeface="+mj-lt"/>
                  <a:buAutoNum type="arabicPeriod"/>
                </a:pPr>
                <a:r>
                  <a:rPr lang="en-US" sz="2200" dirty="0">
                    <a:solidFill>
                      <a:schemeClr val="tx1">
                        <a:lumMod val="95000"/>
                        <a:lumOff val="5000"/>
                      </a:schemeClr>
                    </a:solidFill>
                    <a:latin typeface="Candara" panose="020E0502030303020204" pitchFamily="34" charset="0"/>
                  </a:rPr>
                  <a:t>In the symbol table, set </a:t>
                </a:r>
                <a14:m>
                  <m:oMath xmlns:m="http://schemas.openxmlformats.org/officeDocument/2006/math">
                    <m:r>
                      <a:rPr lang="en-US" sz="2200" i="1" dirty="0" smtClean="0">
                        <a:solidFill>
                          <a:schemeClr val="tx1">
                            <a:lumMod val="95000"/>
                            <a:lumOff val="5000"/>
                          </a:schemeClr>
                        </a:solidFill>
                        <a:latin typeface="Cambria Math" panose="02040503050406030204" pitchFamily="18" charset="0"/>
                      </a:rPr>
                      <m:t>𝑦</m:t>
                    </m:r>
                    <m:r>
                      <a:rPr lang="en-US" sz="2200" i="1" dirty="0" smtClean="0">
                        <a:solidFill>
                          <a:schemeClr val="tx1">
                            <a:lumMod val="95000"/>
                            <a:lumOff val="5000"/>
                          </a:schemeClr>
                        </a:solidFill>
                        <a:latin typeface="Cambria Math" panose="02040503050406030204" pitchFamily="18" charset="0"/>
                      </a:rPr>
                      <m:t>,</m:t>
                    </m:r>
                    <m:r>
                      <a:rPr lang="en-US" sz="2200" i="1" dirty="0" smtClean="0">
                        <a:solidFill>
                          <a:schemeClr val="tx1">
                            <a:lumMod val="95000"/>
                            <a:lumOff val="5000"/>
                          </a:schemeClr>
                        </a:solidFill>
                        <a:latin typeface="Cambria Math" panose="02040503050406030204" pitchFamily="18" charset="0"/>
                      </a:rPr>
                      <m:t>𝑧</m:t>
                    </m:r>
                  </m:oMath>
                </a14:m>
                <a:r>
                  <a:rPr lang="en-US" sz="2200" dirty="0">
                    <a:solidFill>
                      <a:schemeClr val="tx1">
                        <a:lumMod val="95000"/>
                        <a:lumOff val="5000"/>
                      </a:schemeClr>
                    </a:solidFill>
                    <a:latin typeface="Candara" panose="020E0502030303020204" pitchFamily="34" charset="0"/>
                  </a:rPr>
                  <a:t> to </a:t>
                </a:r>
                <a:r>
                  <a:rPr lang="en-US" sz="2200" dirty="0">
                    <a:solidFill>
                      <a:srgbClr val="C00000"/>
                    </a:solidFill>
                    <a:latin typeface="Candara" panose="020E0502030303020204" pitchFamily="34" charset="0"/>
                  </a:rPr>
                  <a:t>live</a:t>
                </a:r>
                <a:r>
                  <a:rPr lang="en-US" sz="2200" dirty="0">
                    <a:solidFill>
                      <a:schemeClr val="tx1">
                        <a:lumMod val="95000"/>
                        <a:lumOff val="5000"/>
                      </a:schemeClr>
                    </a:solidFill>
                    <a:latin typeface="Candara" panose="020E0502030303020204" pitchFamily="34" charset="0"/>
                  </a:rPr>
                  <a:t> and next use at statement </a:t>
                </a:r>
                <a14:m>
                  <m:oMath xmlns:m="http://schemas.openxmlformats.org/officeDocument/2006/math">
                    <m:r>
                      <a:rPr lang="en-US" sz="2200" i="1" dirty="0" smtClean="0">
                        <a:solidFill>
                          <a:schemeClr val="tx1">
                            <a:lumMod val="95000"/>
                            <a:lumOff val="5000"/>
                          </a:schemeClr>
                        </a:solidFill>
                        <a:latin typeface="Cambria Math" panose="02040503050406030204" pitchFamily="18" charset="0"/>
                      </a:rPr>
                      <m:t>𝑖</m:t>
                    </m:r>
                  </m:oMath>
                </a14:m>
                <a:endParaRPr lang="en-US" sz="2200" dirty="0">
                  <a:solidFill>
                    <a:schemeClr val="tx1">
                      <a:lumMod val="95000"/>
                      <a:lumOff val="5000"/>
                    </a:schemeClr>
                  </a:solidFill>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371600"/>
                <a:ext cx="10515600" cy="5349875"/>
              </a:xfrm>
              <a:blipFill rotWithShape="0">
                <a:blip r:embed="rId2"/>
                <a:stretch>
                  <a:fillRect l="-1043" t="-1822" r="-986"/>
                </a:stretch>
              </a:blipFill>
            </p:spPr>
            <p:txBody>
              <a:bodyPr/>
              <a:lstStyle/>
              <a:p>
                <a:r>
                  <a:rPr lang="en-US">
                    <a:noFill/>
                  </a:rPr>
                  <a:t> </a:t>
                </a:r>
              </a:p>
            </p:txBody>
          </p:sp>
        </mc:Fallback>
      </mc:AlternateContent>
    </p:spTree>
    <p:extLst>
      <p:ext uri="{BB962C8B-B14F-4D97-AF65-F5344CB8AC3E}">
        <p14:creationId xmlns:p14="http://schemas.microsoft.com/office/powerpoint/2010/main" val="38153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down)">
                                      <p:cBhvr>
                                        <p:cTn id="3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Screen Clipping"/>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135125" y="1234601"/>
            <a:ext cx="6723046" cy="4730256"/>
          </a:xfrm>
          <a:ln>
            <a:solidFill>
              <a:schemeClr val="accent4">
                <a:lumMod val="75000"/>
              </a:schemeClr>
            </a:solidFill>
          </a:ln>
        </p:spPr>
      </p:pic>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Liveliness &amp; Next-Use Information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26</a:t>
            </a:fld>
            <a:endParaRPr lang="en-US" dirty="0"/>
          </a:p>
        </p:txBody>
      </p:sp>
      <mc:AlternateContent xmlns:mc="http://schemas.openxmlformats.org/markup-compatibility/2006" xmlns:a14="http://schemas.microsoft.com/office/drawing/2010/main">
        <mc:Choice Requires="a14">
          <p:sp>
            <p:nvSpPr>
              <p:cNvPr id="5" name="Rectangle 4"/>
              <p:cNvSpPr/>
              <p:nvPr/>
            </p:nvSpPr>
            <p:spPr>
              <a:xfrm>
                <a:off x="333829" y="1228990"/>
                <a:ext cx="4426160" cy="4391780"/>
              </a:xfrm>
              <a:prstGeom prst="rect">
                <a:avLst/>
              </a:prstGeom>
              <a:ln>
                <a:solidFill>
                  <a:schemeClr val="accent4">
                    <a:lumMod val="60000"/>
                    <a:lumOff val="40000"/>
                  </a:schemeClr>
                </a:solidFill>
                <a:prstDash val="dash"/>
              </a:ln>
            </p:spPr>
            <p:txBody>
              <a:bodyPr wrap="square">
                <a:spAutoFit/>
              </a:bodyPr>
              <a:lstStyle/>
              <a:p>
                <a:pPr>
                  <a:lnSpc>
                    <a:spcPct val="120000"/>
                  </a:lnSpc>
                </a:pPr>
                <a:r>
                  <a:rPr lang="en-US" sz="2400" dirty="0">
                    <a:latin typeface="Candara" panose="020E0502030303020204" pitchFamily="34" charset="0"/>
                  </a:rPr>
                  <a:t>From the last statement of </a:t>
                </a:r>
                <a:r>
                  <a:rPr lang="en-US" sz="2400" i="1" dirty="0">
                    <a:latin typeface="Candara" panose="020E0502030303020204" pitchFamily="34" charset="0"/>
                  </a:rPr>
                  <a:t>B</a:t>
                </a:r>
                <a:r>
                  <a:rPr lang="en-US" sz="2400" dirty="0">
                    <a:latin typeface="Candara" panose="020E0502030303020204" pitchFamily="34" charset="0"/>
                  </a:rPr>
                  <a:t>, </a:t>
                </a:r>
                <a:r>
                  <a:rPr lang="en-US" sz="2400" dirty="0">
                    <a:solidFill>
                      <a:srgbClr val="7030A0"/>
                    </a:solidFill>
                    <a:latin typeface="Candara" panose="020E0502030303020204" pitchFamily="34" charset="0"/>
                  </a:rPr>
                  <a:t>scan backwards</a:t>
                </a:r>
                <a:r>
                  <a:rPr lang="en-US" sz="2400" dirty="0">
                    <a:latin typeface="Candara" panose="020E0502030303020204" pitchFamily="34" charset="0"/>
                  </a:rPr>
                  <a:t>. At each statement  𝑖: </a:t>
                </a:r>
                <a:r>
                  <a:rPr lang="en-US" sz="2400" dirty="0">
                    <a:solidFill>
                      <a:srgbClr val="00B0F0"/>
                    </a:solidFill>
                    <a:latin typeface="Candara" panose="020E0502030303020204" pitchFamily="34" charset="0"/>
                  </a:rPr>
                  <a:t>𝑥=𝑦+𝑧</a:t>
                </a:r>
                <a:r>
                  <a:rPr lang="en-US" sz="2400" dirty="0">
                    <a:latin typeface="Candara" panose="020E0502030303020204" pitchFamily="34" charset="0"/>
                  </a:rPr>
                  <a:t>  -</a:t>
                </a:r>
              </a:p>
              <a:p>
                <a:pPr marL="457200" indent="-457200">
                  <a:lnSpc>
                    <a:spcPct val="120000"/>
                  </a:lnSpc>
                  <a:spcAft>
                    <a:spcPts val="600"/>
                  </a:spcAft>
                  <a:buFont typeface="+mj-lt"/>
                  <a:buAutoNum type="arabicPeriod"/>
                </a:pPr>
                <a:r>
                  <a:rPr lang="en-US" sz="2200" dirty="0">
                    <a:latin typeface="Candara" panose="020E0502030303020204" pitchFamily="34" charset="0"/>
                  </a:rPr>
                  <a:t>Attach current liveliness &amp; Next-use of </a:t>
                </a:r>
                <a14:m>
                  <m:oMath xmlns:m="http://schemas.openxmlformats.org/officeDocument/2006/math">
                    <m:r>
                      <a:rPr lang="en-US" sz="2200" i="1" dirty="0">
                        <a:latin typeface="Cambria Math" panose="02040503050406030204" pitchFamily="18" charset="0"/>
                      </a:rPr>
                      <m:t>𝑥</m:t>
                    </m:r>
                    <m:r>
                      <a:rPr lang="en-US" sz="2200" i="1" dirty="0">
                        <a:latin typeface="Cambria Math" panose="02040503050406030204" pitchFamily="18" charset="0"/>
                      </a:rPr>
                      <m:t>,</m:t>
                    </m:r>
                    <m:r>
                      <a:rPr lang="en-US" sz="2200" i="1" dirty="0">
                        <a:latin typeface="Cambria Math" panose="02040503050406030204" pitchFamily="18" charset="0"/>
                      </a:rPr>
                      <m:t>𝑦</m:t>
                    </m:r>
                  </m:oMath>
                </a14:m>
                <a:r>
                  <a:rPr lang="en-US" sz="2200" dirty="0">
                    <a:latin typeface="Candara" panose="020E0502030303020204" pitchFamily="34" charset="0"/>
                  </a:rPr>
                  <a:t> and </a:t>
                </a:r>
                <a14:m>
                  <m:oMath xmlns:m="http://schemas.openxmlformats.org/officeDocument/2006/math">
                    <m:r>
                      <a:rPr lang="en-US" sz="2200" i="1" dirty="0">
                        <a:latin typeface="Cambria Math" panose="02040503050406030204" pitchFamily="18" charset="0"/>
                      </a:rPr>
                      <m:t>𝑧</m:t>
                    </m:r>
                  </m:oMath>
                </a14:m>
                <a:r>
                  <a:rPr lang="en-US" sz="2200" dirty="0">
                    <a:latin typeface="Candara" panose="020E0502030303020204" pitchFamily="34" charset="0"/>
                  </a:rPr>
                  <a:t> found in symbol table to statement </a:t>
                </a:r>
                <a14:m>
                  <m:oMath xmlns:m="http://schemas.openxmlformats.org/officeDocument/2006/math">
                    <m:r>
                      <a:rPr lang="en-US" sz="2200" i="1" dirty="0">
                        <a:latin typeface="Cambria Math" panose="02040503050406030204" pitchFamily="18" charset="0"/>
                      </a:rPr>
                      <m:t>𝑖</m:t>
                    </m:r>
                  </m:oMath>
                </a14:m>
                <a:endParaRPr lang="en-US" sz="2200" dirty="0">
                  <a:latin typeface="Candara" panose="020E0502030303020204" pitchFamily="34" charset="0"/>
                </a:endParaRPr>
              </a:p>
              <a:p>
                <a:pPr marL="457200" indent="-457200">
                  <a:lnSpc>
                    <a:spcPct val="120000"/>
                  </a:lnSpc>
                  <a:spcAft>
                    <a:spcPts val="600"/>
                  </a:spcAft>
                  <a:buFont typeface="+mj-lt"/>
                  <a:buAutoNum type="arabicPeriod"/>
                </a:pPr>
                <a:r>
                  <a:rPr lang="en-US" sz="2200" dirty="0">
                    <a:latin typeface="Candara" panose="020E0502030303020204" pitchFamily="34" charset="0"/>
                  </a:rPr>
                  <a:t>In the symbol table, set x to </a:t>
                </a:r>
                <a:r>
                  <a:rPr lang="en-US" sz="2200" dirty="0">
                    <a:solidFill>
                      <a:srgbClr val="C00000"/>
                    </a:solidFill>
                    <a:latin typeface="Candara" panose="020E0502030303020204" pitchFamily="34" charset="0"/>
                  </a:rPr>
                  <a:t>not live</a:t>
                </a:r>
                <a:r>
                  <a:rPr lang="en-US" sz="2200" dirty="0">
                    <a:latin typeface="Candara" panose="020E0502030303020204" pitchFamily="34" charset="0"/>
                  </a:rPr>
                  <a:t> and </a:t>
                </a:r>
                <a:r>
                  <a:rPr lang="en-US" sz="2200" dirty="0">
                    <a:solidFill>
                      <a:srgbClr val="C00000"/>
                    </a:solidFill>
                    <a:latin typeface="Candara" panose="020E0502030303020204" pitchFamily="34" charset="0"/>
                  </a:rPr>
                  <a:t>no next use</a:t>
                </a:r>
              </a:p>
              <a:p>
                <a:pPr marL="457200" indent="-457200">
                  <a:lnSpc>
                    <a:spcPct val="120000"/>
                  </a:lnSpc>
                  <a:spcAft>
                    <a:spcPts val="600"/>
                  </a:spcAft>
                  <a:buFont typeface="+mj-lt"/>
                  <a:buAutoNum type="arabicPeriod"/>
                </a:pPr>
                <a:r>
                  <a:rPr lang="en-US" sz="2200" dirty="0">
                    <a:solidFill>
                      <a:schemeClr val="tx1">
                        <a:lumMod val="95000"/>
                        <a:lumOff val="5000"/>
                      </a:schemeClr>
                    </a:solidFill>
                    <a:latin typeface="Candara" panose="020E0502030303020204" pitchFamily="34" charset="0"/>
                  </a:rPr>
                  <a:t>In the symbol table, set </a:t>
                </a:r>
                <a14:m>
                  <m:oMath xmlns:m="http://schemas.openxmlformats.org/officeDocument/2006/math">
                    <m:r>
                      <a:rPr lang="en-US" sz="2200" i="1" dirty="0">
                        <a:solidFill>
                          <a:schemeClr val="tx1">
                            <a:lumMod val="95000"/>
                            <a:lumOff val="5000"/>
                          </a:schemeClr>
                        </a:solidFill>
                        <a:latin typeface="Cambria Math" panose="02040503050406030204" pitchFamily="18" charset="0"/>
                      </a:rPr>
                      <m:t>𝑦</m:t>
                    </m:r>
                    <m:r>
                      <a:rPr lang="en-US" sz="2200" i="1" dirty="0">
                        <a:solidFill>
                          <a:schemeClr val="tx1">
                            <a:lumMod val="95000"/>
                            <a:lumOff val="5000"/>
                          </a:schemeClr>
                        </a:solidFill>
                        <a:latin typeface="Cambria Math" panose="02040503050406030204" pitchFamily="18" charset="0"/>
                      </a:rPr>
                      <m:t>,</m:t>
                    </m:r>
                    <m:r>
                      <a:rPr lang="en-US" sz="2200" i="1" dirty="0">
                        <a:solidFill>
                          <a:schemeClr val="tx1">
                            <a:lumMod val="95000"/>
                            <a:lumOff val="5000"/>
                          </a:schemeClr>
                        </a:solidFill>
                        <a:latin typeface="Cambria Math" panose="02040503050406030204" pitchFamily="18" charset="0"/>
                      </a:rPr>
                      <m:t>𝑧</m:t>
                    </m:r>
                  </m:oMath>
                </a14:m>
                <a:r>
                  <a:rPr lang="en-US" sz="2200" dirty="0">
                    <a:solidFill>
                      <a:schemeClr val="tx1">
                        <a:lumMod val="95000"/>
                        <a:lumOff val="5000"/>
                      </a:schemeClr>
                    </a:solidFill>
                    <a:latin typeface="Candara" panose="020E0502030303020204" pitchFamily="34" charset="0"/>
                  </a:rPr>
                  <a:t> to </a:t>
                </a:r>
                <a:r>
                  <a:rPr lang="en-US" sz="2200" dirty="0">
                    <a:solidFill>
                      <a:srgbClr val="C00000"/>
                    </a:solidFill>
                    <a:latin typeface="Candara" panose="020E0502030303020204" pitchFamily="34" charset="0"/>
                  </a:rPr>
                  <a:t>live</a:t>
                </a:r>
                <a:r>
                  <a:rPr lang="en-US" sz="2200" dirty="0">
                    <a:solidFill>
                      <a:schemeClr val="tx1">
                        <a:lumMod val="95000"/>
                        <a:lumOff val="5000"/>
                      </a:schemeClr>
                    </a:solidFill>
                    <a:latin typeface="Candara" panose="020E0502030303020204" pitchFamily="34" charset="0"/>
                  </a:rPr>
                  <a:t> and next use at statement </a:t>
                </a:r>
                <a14:m>
                  <m:oMath xmlns:m="http://schemas.openxmlformats.org/officeDocument/2006/math">
                    <m:r>
                      <a:rPr lang="en-US" sz="2200" i="1" dirty="0">
                        <a:solidFill>
                          <a:schemeClr val="tx1">
                            <a:lumMod val="95000"/>
                            <a:lumOff val="5000"/>
                          </a:schemeClr>
                        </a:solidFill>
                        <a:latin typeface="Cambria Math" panose="02040503050406030204" pitchFamily="18" charset="0"/>
                      </a:rPr>
                      <m:t>𝑖</m:t>
                    </m:r>
                  </m:oMath>
                </a14:m>
                <a:endParaRPr lang="en-US" sz="2200" dirty="0">
                  <a:solidFill>
                    <a:schemeClr val="tx1">
                      <a:lumMod val="95000"/>
                      <a:lumOff val="5000"/>
                    </a:schemeClr>
                  </a:solidFill>
                  <a:latin typeface="Candara" panose="020E0502030303020204" pitchFamily="34"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33829" y="1228990"/>
                <a:ext cx="4426160" cy="4391780"/>
              </a:xfrm>
              <a:prstGeom prst="rect">
                <a:avLst/>
              </a:prstGeom>
              <a:blipFill>
                <a:blip r:embed="rId4"/>
                <a:stretch>
                  <a:fillRect l="-2060" r="-1648" b="-1801"/>
                </a:stretch>
              </a:blipFill>
              <a:ln>
                <a:solidFill>
                  <a:schemeClr val="accent4">
                    <a:lumMod val="60000"/>
                    <a:lumOff val="40000"/>
                  </a:schemeClr>
                </a:solidFill>
                <a:prstDash val="dash"/>
              </a:ln>
            </p:spPr>
            <p:txBody>
              <a:bodyPr/>
              <a:lstStyle/>
              <a:p>
                <a:r>
                  <a:rPr lang="en-US">
                    <a:noFill/>
                  </a:rPr>
                  <a:t> </a:t>
                </a:r>
              </a:p>
            </p:txBody>
          </p:sp>
        </mc:Fallback>
      </mc:AlternateContent>
      <p:grpSp>
        <p:nvGrpSpPr>
          <p:cNvPr id="11" name="Group 10"/>
          <p:cNvGrpSpPr/>
          <p:nvPr/>
        </p:nvGrpSpPr>
        <p:grpSpPr>
          <a:xfrm>
            <a:off x="7525658" y="1896324"/>
            <a:ext cx="3969660" cy="457199"/>
            <a:chOff x="7547429" y="1632858"/>
            <a:chExt cx="3969660" cy="457199"/>
          </a:xfrm>
        </p:grpSpPr>
        <p:sp>
          <p:nvSpPr>
            <p:cNvPr id="6" name="Rectangle 5"/>
            <p:cNvSpPr/>
            <p:nvPr/>
          </p:nvSpPr>
          <p:spPr>
            <a:xfrm>
              <a:off x="7547429" y="1640114"/>
              <a:ext cx="2235200"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906002" y="1632858"/>
              <a:ext cx="1611087"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7525658" y="2527696"/>
            <a:ext cx="3969660" cy="457199"/>
            <a:chOff x="7547429" y="1632858"/>
            <a:chExt cx="3969660" cy="457199"/>
          </a:xfrm>
        </p:grpSpPr>
        <p:sp>
          <p:nvSpPr>
            <p:cNvPr id="13" name="Rectangle 12"/>
            <p:cNvSpPr/>
            <p:nvPr/>
          </p:nvSpPr>
          <p:spPr>
            <a:xfrm>
              <a:off x="7547429" y="1640114"/>
              <a:ext cx="2235200"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9906002" y="1632858"/>
              <a:ext cx="1611087"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7525658" y="3282438"/>
            <a:ext cx="3969660" cy="457199"/>
            <a:chOff x="7547429" y="1632858"/>
            <a:chExt cx="3969660" cy="457199"/>
          </a:xfrm>
        </p:grpSpPr>
        <p:sp>
          <p:nvSpPr>
            <p:cNvPr id="16" name="Rectangle 15"/>
            <p:cNvSpPr/>
            <p:nvPr/>
          </p:nvSpPr>
          <p:spPr>
            <a:xfrm>
              <a:off x="7547429" y="1640114"/>
              <a:ext cx="2235200"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9906002" y="1632858"/>
              <a:ext cx="1611087"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7525658" y="3892037"/>
            <a:ext cx="3969660" cy="457199"/>
            <a:chOff x="7547429" y="1632858"/>
            <a:chExt cx="3969660" cy="457199"/>
          </a:xfrm>
        </p:grpSpPr>
        <p:sp>
          <p:nvSpPr>
            <p:cNvPr id="19" name="Rectangle 18"/>
            <p:cNvSpPr/>
            <p:nvPr/>
          </p:nvSpPr>
          <p:spPr>
            <a:xfrm>
              <a:off x="7547429" y="1640114"/>
              <a:ext cx="2235200"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9906002" y="1632858"/>
              <a:ext cx="1611087"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p:nvGrpSpPr>
        <p:grpSpPr>
          <a:xfrm>
            <a:off x="7525658" y="4690326"/>
            <a:ext cx="3969660" cy="457199"/>
            <a:chOff x="7547429" y="1632858"/>
            <a:chExt cx="3969660" cy="457199"/>
          </a:xfrm>
        </p:grpSpPr>
        <p:sp>
          <p:nvSpPr>
            <p:cNvPr id="22" name="Rectangle 21"/>
            <p:cNvSpPr/>
            <p:nvPr/>
          </p:nvSpPr>
          <p:spPr>
            <a:xfrm>
              <a:off x="7547429" y="1640114"/>
              <a:ext cx="2235200"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9906002" y="1632858"/>
              <a:ext cx="1611087" cy="449943"/>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45BBB657-A2E5-DB08-CEE9-5619A4A1FA14}"/>
              </a:ext>
            </a:extLst>
          </p:cNvPr>
          <p:cNvSpPr txBox="1"/>
          <p:nvPr/>
        </p:nvSpPr>
        <p:spPr>
          <a:xfrm>
            <a:off x="7990605" y="1194736"/>
            <a:ext cx="3648620" cy="369332"/>
          </a:xfrm>
          <a:prstGeom prst="rect">
            <a:avLst/>
          </a:prstGeom>
          <a:noFill/>
        </p:spPr>
        <p:txBody>
          <a:bodyPr wrap="square" rtlCol="0">
            <a:spAutoFit/>
          </a:bodyPr>
          <a:lstStyle/>
          <a:p>
            <a:pPr algn="ctr"/>
            <a:r>
              <a:rPr lang="en-US" b="1" dirty="0">
                <a:solidFill>
                  <a:srgbClr val="00B0F0"/>
                </a:solidFill>
              </a:rPr>
              <a:t>Symbol Table</a:t>
            </a:r>
          </a:p>
        </p:txBody>
      </p:sp>
      <p:sp>
        <p:nvSpPr>
          <p:cNvPr id="9" name="TextBox 8">
            <a:extLst>
              <a:ext uri="{FF2B5EF4-FFF2-40B4-BE49-F238E27FC236}">
                <a16:creationId xmlns:a16="http://schemas.microsoft.com/office/drawing/2014/main" id="{A57FC43C-67B1-3E33-43DC-B82307CFA756}"/>
              </a:ext>
            </a:extLst>
          </p:cNvPr>
          <p:cNvSpPr txBox="1"/>
          <p:nvPr/>
        </p:nvSpPr>
        <p:spPr>
          <a:xfrm>
            <a:off x="4500902" y="1207651"/>
            <a:ext cx="3648620" cy="369332"/>
          </a:xfrm>
          <a:prstGeom prst="rect">
            <a:avLst/>
          </a:prstGeom>
          <a:noFill/>
        </p:spPr>
        <p:txBody>
          <a:bodyPr wrap="square" rtlCol="0">
            <a:spAutoFit/>
          </a:bodyPr>
          <a:lstStyle/>
          <a:p>
            <a:pPr algn="ctr"/>
            <a:r>
              <a:rPr lang="en-US" b="1" dirty="0">
                <a:solidFill>
                  <a:schemeClr val="accent2">
                    <a:lumMod val="75000"/>
                  </a:schemeClr>
                </a:solidFill>
              </a:rPr>
              <a:t>Basic Block</a:t>
            </a:r>
          </a:p>
        </p:txBody>
      </p:sp>
      <p:grpSp>
        <p:nvGrpSpPr>
          <p:cNvPr id="27" name="Group 26">
            <a:extLst>
              <a:ext uri="{FF2B5EF4-FFF2-40B4-BE49-F238E27FC236}">
                <a16:creationId xmlns:a16="http://schemas.microsoft.com/office/drawing/2014/main" id="{C53B7D7D-231C-EE3D-5320-DED5D9EED5DA}"/>
              </a:ext>
            </a:extLst>
          </p:cNvPr>
          <p:cNvGrpSpPr/>
          <p:nvPr/>
        </p:nvGrpSpPr>
        <p:grpSpPr>
          <a:xfrm>
            <a:off x="5902275" y="5075692"/>
            <a:ext cx="1606658" cy="646331"/>
            <a:chOff x="5904855" y="4814810"/>
            <a:chExt cx="1606658" cy="646331"/>
          </a:xfrm>
        </p:grpSpPr>
        <p:sp>
          <p:nvSpPr>
            <p:cNvPr id="24" name="TextBox 23">
              <a:extLst>
                <a:ext uri="{FF2B5EF4-FFF2-40B4-BE49-F238E27FC236}">
                  <a16:creationId xmlns:a16="http://schemas.microsoft.com/office/drawing/2014/main" id="{CF9346B1-FEC2-7220-04C6-B9598860AB02}"/>
                </a:ext>
              </a:extLst>
            </p:cNvPr>
            <p:cNvSpPr txBox="1"/>
            <p:nvPr/>
          </p:nvSpPr>
          <p:spPr>
            <a:xfrm>
              <a:off x="5904855"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L6</a:t>
              </a:r>
            </a:p>
          </p:txBody>
        </p:sp>
        <p:sp>
          <p:nvSpPr>
            <p:cNvPr id="25" name="TextBox 24">
              <a:extLst>
                <a:ext uri="{FF2B5EF4-FFF2-40B4-BE49-F238E27FC236}">
                  <a16:creationId xmlns:a16="http://schemas.microsoft.com/office/drawing/2014/main" id="{D4F8333F-6BC0-06B3-559F-A51E610C53C1}"/>
                </a:ext>
              </a:extLst>
            </p:cNvPr>
            <p:cNvSpPr txBox="1"/>
            <p:nvPr/>
          </p:nvSpPr>
          <p:spPr>
            <a:xfrm>
              <a:off x="6444712"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N</a:t>
              </a:r>
            </a:p>
          </p:txBody>
        </p:sp>
        <p:sp>
          <p:nvSpPr>
            <p:cNvPr id="26" name="TextBox 25">
              <a:extLst>
                <a:ext uri="{FF2B5EF4-FFF2-40B4-BE49-F238E27FC236}">
                  <a16:creationId xmlns:a16="http://schemas.microsoft.com/office/drawing/2014/main" id="{ADDB6DF8-6D26-00FF-28B4-7EAB29972E9D}"/>
                </a:ext>
              </a:extLst>
            </p:cNvPr>
            <p:cNvSpPr txBox="1"/>
            <p:nvPr/>
          </p:nvSpPr>
          <p:spPr>
            <a:xfrm>
              <a:off x="7015567"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N</a:t>
              </a:r>
            </a:p>
          </p:txBody>
        </p:sp>
      </p:grpSp>
      <p:grpSp>
        <p:nvGrpSpPr>
          <p:cNvPr id="28" name="Group 27">
            <a:extLst>
              <a:ext uri="{FF2B5EF4-FFF2-40B4-BE49-F238E27FC236}">
                <a16:creationId xmlns:a16="http://schemas.microsoft.com/office/drawing/2014/main" id="{64DE5A93-560B-5FF3-13E9-6AAA9B6BFBF6}"/>
              </a:ext>
            </a:extLst>
          </p:cNvPr>
          <p:cNvGrpSpPr/>
          <p:nvPr/>
        </p:nvGrpSpPr>
        <p:grpSpPr>
          <a:xfrm>
            <a:off x="5902275" y="4378269"/>
            <a:ext cx="1035803" cy="646331"/>
            <a:chOff x="5904855" y="4814810"/>
            <a:chExt cx="1035803" cy="646331"/>
          </a:xfrm>
        </p:grpSpPr>
        <p:sp>
          <p:nvSpPr>
            <p:cNvPr id="29" name="TextBox 28">
              <a:extLst>
                <a:ext uri="{FF2B5EF4-FFF2-40B4-BE49-F238E27FC236}">
                  <a16:creationId xmlns:a16="http://schemas.microsoft.com/office/drawing/2014/main" id="{FEF8DB65-0928-96F1-2270-581C00C42110}"/>
                </a:ext>
              </a:extLst>
            </p:cNvPr>
            <p:cNvSpPr txBox="1"/>
            <p:nvPr/>
          </p:nvSpPr>
          <p:spPr>
            <a:xfrm>
              <a:off x="5904855"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L6</a:t>
              </a:r>
            </a:p>
          </p:txBody>
        </p:sp>
        <p:sp>
          <p:nvSpPr>
            <p:cNvPr id="30" name="TextBox 29">
              <a:extLst>
                <a:ext uri="{FF2B5EF4-FFF2-40B4-BE49-F238E27FC236}">
                  <a16:creationId xmlns:a16="http://schemas.microsoft.com/office/drawing/2014/main" id="{55C9B8DE-E63F-B9F4-773B-D19B988AF097}"/>
                </a:ext>
              </a:extLst>
            </p:cNvPr>
            <p:cNvSpPr txBox="1"/>
            <p:nvPr/>
          </p:nvSpPr>
          <p:spPr>
            <a:xfrm>
              <a:off x="6444712"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N</a:t>
              </a:r>
            </a:p>
          </p:txBody>
        </p:sp>
      </p:grpSp>
      <p:grpSp>
        <p:nvGrpSpPr>
          <p:cNvPr id="32" name="Group 31">
            <a:extLst>
              <a:ext uri="{FF2B5EF4-FFF2-40B4-BE49-F238E27FC236}">
                <a16:creationId xmlns:a16="http://schemas.microsoft.com/office/drawing/2014/main" id="{BC42AAE6-D6D7-3DA1-5241-DC6DE9FA2073}"/>
              </a:ext>
            </a:extLst>
          </p:cNvPr>
          <p:cNvGrpSpPr/>
          <p:nvPr/>
        </p:nvGrpSpPr>
        <p:grpSpPr>
          <a:xfrm>
            <a:off x="5886776" y="3680844"/>
            <a:ext cx="1606658" cy="646331"/>
            <a:chOff x="5904855" y="4814810"/>
            <a:chExt cx="1606658" cy="646331"/>
          </a:xfrm>
        </p:grpSpPr>
        <p:sp>
          <p:nvSpPr>
            <p:cNvPr id="33" name="TextBox 32">
              <a:extLst>
                <a:ext uri="{FF2B5EF4-FFF2-40B4-BE49-F238E27FC236}">
                  <a16:creationId xmlns:a16="http://schemas.microsoft.com/office/drawing/2014/main" id="{1703A394-BD2C-013C-8BB6-0FEB23DFC41A}"/>
                </a:ext>
              </a:extLst>
            </p:cNvPr>
            <p:cNvSpPr txBox="1"/>
            <p:nvPr/>
          </p:nvSpPr>
          <p:spPr>
            <a:xfrm>
              <a:off x="5904855"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L5</a:t>
              </a:r>
            </a:p>
          </p:txBody>
        </p:sp>
        <p:sp>
          <p:nvSpPr>
            <p:cNvPr id="34" name="TextBox 33">
              <a:extLst>
                <a:ext uri="{FF2B5EF4-FFF2-40B4-BE49-F238E27FC236}">
                  <a16:creationId xmlns:a16="http://schemas.microsoft.com/office/drawing/2014/main" id="{D729893C-E452-B610-8034-CFAE915DF4A8}"/>
                </a:ext>
              </a:extLst>
            </p:cNvPr>
            <p:cNvSpPr txBox="1"/>
            <p:nvPr/>
          </p:nvSpPr>
          <p:spPr>
            <a:xfrm>
              <a:off x="6444712"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N</a:t>
              </a:r>
            </a:p>
          </p:txBody>
        </p:sp>
        <p:sp>
          <p:nvSpPr>
            <p:cNvPr id="35" name="TextBox 34">
              <a:extLst>
                <a:ext uri="{FF2B5EF4-FFF2-40B4-BE49-F238E27FC236}">
                  <a16:creationId xmlns:a16="http://schemas.microsoft.com/office/drawing/2014/main" id="{6557BF0A-41DD-FC25-B627-397ED0F733B0}"/>
                </a:ext>
              </a:extLst>
            </p:cNvPr>
            <p:cNvSpPr txBox="1"/>
            <p:nvPr/>
          </p:nvSpPr>
          <p:spPr>
            <a:xfrm>
              <a:off x="7015567"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L5</a:t>
              </a:r>
            </a:p>
          </p:txBody>
        </p:sp>
      </p:grpSp>
      <p:grpSp>
        <p:nvGrpSpPr>
          <p:cNvPr id="36" name="Group 35">
            <a:extLst>
              <a:ext uri="{FF2B5EF4-FFF2-40B4-BE49-F238E27FC236}">
                <a16:creationId xmlns:a16="http://schemas.microsoft.com/office/drawing/2014/main" id="{9B011513-DD3E-7DAF-6653-BA146AE19B44}"/>
              </a:ext>
            </a:extLst>
          </p:cNvPr>
          <p:cNvGrpSpPr/>
          <p:nvPr/>
        </p:nvGrpSpPr>
        <p:grpSpPr>
          <a:xfrm>
            <a:off x="5917770" y="2983421"/>
            <a:ext cx="1467176" cy="646331"/>
            <a:chOff x="5904855" y="4814810"/>
            <a:chExt cx="1467176" cy="646331"/>
          </a:xfrm>
        </p:grpSpPr>
        <p:sp>
          <p:nvSpPr>
            <p:cNvPr id="37" name="TextBox 36">
              <a:extLst>
                <a:ext uri="{FF2B5EF4-FFF2-40B4-BE49-F238E27FC236}">
                  <a16:creationId xmlns:a16="http://schemas.microsoft.com/office/drawing/2014/main" id="{9FAA1120-5C73-E48F-F29F-4DF24DACB30E}"/>
                </a:ext>
              </a:extLst>
            </p:cNvPr>
            <p:cNvSpPr txBox="1"/>
            <p:nvPr/>
          </p:nvSpPr>
          <p:spPr>
            <a:xfrm>
              <a:off x="5904855"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L3</a:t>
              </a:r>
            </a:p>
          </p:txBody>
        </p:sp>
        <p:sp>
          <p:nvSpPr>
            <p:cNvPr id="38" name="TextBox 37">
              <a:extLst>
                <a:ext uri="{FF2B5EF4-FFF2-40B4-BE49-F238E27FC236}">
                  <a16:creationId xmlns:a16="http://schemas.microsoft.com/office/drawing/2014/main" id="{2613DDAD-0498-D15D-1AA7-91589677AC15}"/>
                </a:ext>
              </a:extLst>
            </p:cNvPr>
            <p:cNvSpPr txBox="1"/>
            <p:nvPr/>
          </p:nvSpPr>
          <p:spPr>
            <a:xfrm>
              <a:off x="6444712"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N</a:t>
              </a:r>
            </a:p>
          </p:txBody>
        </p:sp>
        <p:sp>
          <p:nvSpPr>
            <p:cNvPr id="39" name="TextBox 38">
              <a:extLst>
                <a:ext uri="{FF2B5EF4-FFF2-40B4-BE49-F238E27FC236}">
                  <a16:creationId xmlns:a16="http://schemas.microsoft.com/office/drawing/2014/main" id="{88C57786-8EB0-25E1-8429-F8FDAA061286}"/>
                </a:ext>
              </a:extLst>
            </p:cNvPr>
            <p:cNvSpPr txBox="1"/>
            <p:nvPr/>
          </p:nvSpPr>
          <p:spPr>
            <a:xfrm>
              <a:off x="6876085"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L6</a:t>
              </a:r>
            </a:p>
          </p:txBody>
        </p:sp>
      </p:grpSp>
      <p:grpSp>
        <p:nvGrpSpPr>
          <p:cNvPr id="40" name="Group 39">
            <a:extLst>
              <a:ext uri="{FF2B5EF4-FFF2-40B4-BE49-F238E27FC236}">
                <a16:creationId xmlns:a16="http://schemas.microsoft.com/office/drawing/2014/main" id="{F2B21AB9-D242-0356-F0EC-99BDA30EAD66}"/>
              </a:ext>
            </a:extLst>
          </p:cNvPr>
          <p:cNvGrpSpPr/>
          <p:nvPr/>
        </p:nvGrpSpPr>
        <p:grpSpPr>
          <a:xfrm>
            <a:off x="5902272" y="2285996"/>
            <a:ext cx="1405187" cy="646331"/>
            <a:chOff x="5904855" y="4814810"/>
            <a:chExt cx="1405187" cy="646331"/>
          </a:xfrm>
        </p:grpSpPr>
        <p:sp>
          <p:nvSpPr>
            <p:cNvPr id="41" name="TextBox 40">
              <a:extLst>
                <a:ext uri="{FF2B5EF4-FFF2-40B4-BE49-F238E27FC236}">
                  <a16:creationId xmlns:a16="http://schemas.microsoft.com/office/drawing/2014/main" id="{74651853-5026-3BDE-AE33-AE9EA6840809}"/>
                </a:ext>
              </a:extLst>
            </p:cNvPr>
            <p:cNvSpPr txBox="1"/>
            <p:nvPr/>
          </p:nvSpPr>
          <p:spPr>
            <a:xfrm>
              <a:off x="5904855"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L3</a:t>
              </a:r>
            </a:p>
          </p:txBody>
        </p:sp>
        <p:sp>
          <p:nvSpPr>
            <p:cNvPr id="42" name="TextBox 41">
              <a:extLst>
                <a:ext uri="{FF2B5EF4-FFF2-40B4-BE49-F238E27FC236}">
                  <a16:creationId xmlns:a16="http://schemas.microsoft.com/office/drawing/2014/main" id="{0F89D0CA-BD5D-9BE5-7F2E-93D920E3C09C}"/>
                </a:ext>
              </a:extLst>
            </p:cNvPr>
            <p:cNvSpPr txBox="1"/>
            <p:nvPr/>
          </p:nvSpPr>
          <p:spPr>
            <a:xfrm>
              <a:off x="6398218"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L2</a:t>
              </a:r>
            </a:p>
          </p:txBody>
        </p:sp>
        <p:sp>
          <p:nvSpPr>
            <p:cNvPr id="43" name="TextBox 42">
              <a:extLst>
                <a:ext uri="{FF2B5EF4-FFF2-40B4-BE49-F238E27FC236}">
                  <a16:creationId xmlns:a16="http://schemas.microsoft.com/office/drawing/2014/main" id="{FD55D3AF-E740-94C8-13B4-99376D74E9F8}"/>
                </a:ext>
              </a:extLst>
            </p:cNvPr>
            <p:cNvSpPr txBox="1"/>
            <p:nvPr/>
          </p:nvSpPr>
          <p:spPr>
            <a:xfrm>
              <a:off x="6814096" y="4814810"/>
              <a:ext cx="495946" cy="646331"/>
            </a:xfrm>
            <a:prstGeom prst="rect">
              <a:avLst/>
            </a:prstGeom>
            <a:noFill/>
          </p:spPr>
          <p:txBody>
            <a:bodyPr wrap="square" rtlCol="0">
              <a:spAutoFit/>
            </a:bodyPr>
            <a:lstStyle/>
            <a:p>
              <a:pPr algn="ctr"/>
              <a:r>
                <a:rPr lang="en-US" dirty="0">
                  <a:solidFill>
                    <a:srgbClr val="FF0000"/>
                  </a:solidFill>
                </a:rPr>
                <a:t>__</a:t>
              </a:r>
            </a:p>
            <a:p>
              <a:pPr algn="ctr"/>
              <a:r>
                <a:rPr lang="en-US" dirty="0">
                  <a:solidFill>
                    <a:srgbClr val="FF0000"/>
                  </a:solidFill>
                </a:rPr>
                <a:t>L6</a:t>
              </a:r>
            </a:p>
          </p:txBody>
        </p:sp>
      </p:grpSp>
    </p:spTree>
    <p:extLst>
      <p:ext uri="{BB962C8B-B14F-4D97-AF65-F5344CB8AC3E}">
        <p14:creationId xmlns:p14="http://schemas.microsoft.com/office/powerpoint/2010/main" val="341948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nodeType="clickEffect">
                                  <p:stCondLst>
                                    <p:cond delay="0"/>
                                  </p:stCondLst>
                                  <p:childTnLst>
                                    <p:animEffect transition="out" filter="randombar(horizontal)">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nodeType="clickEffect">
                                  <p:stCondLst>
                                    <p:cond delay="0"/>
                                  </p:stCondLst>
                                  <p:childTnLst>
                                    <p:animEffect transition="out" filter="randombar(horizontal)">
                                      <p:cBhvr>
                                        <p:cTn id="21" dur="500"/>
                                        <p:tgtEl>
                                          <p:spTgt spid="18"/>
                                        </p:tgtEl>
                                      </p:cBhvr>
                                    </p:animEffect>
                                    <p:set>
                                      <p:cBhvr>
                                        <p:cTn id="22" dur="1" fill="hold">
                                          <p:stCondLst>
                                            <p:cond delay="499"/>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down)">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nodeType="clickEffect">
                                  <p:stCondLst>
                                    <p:cond delay="0"/>
                                  </p:stCondLst>
                                  <p:childTnLst>
                                    <p:animEffect transition="out" filter="randombar(horizontal)">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down)">
                                      <p:cBhvr>
                                        <p:cTn id="37" dur="5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nodeType="clickEffect">
                                  <p:stCondLst>
                                    <p:cond delay="0"/>
                                  </p:stCondLst>
                                  <p:childTnLst>
                                    <p:animEffect transition="out" filter="randombar(horizontal)">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down)">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xit" presetSubtype="10" fill="hold" nodeType="clickEffect">
                                  <p:stCondLst>
                                    <p:cond delay="0"/>
                                  </p:stCondLst>
                                  <p:childTnLst>
                                    <p:animEffect transition="out" filter="randombar(horizontal)">
                                      <p:cBhvr>
                                        <p:cTn id="51" dur="500"/>
                                        <p:tgtEl>
                                          <p:spTgt spid="11"/>
                                        </p:tgtEl>
                                      </p:cBhvr>
                                    </p:animEffect>
                                    <p:set>
                                      <p:cBhvr>
                                        <p:cTn id="5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Optimization of Basic Blocks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27</a:t>
            </a:fld>
            <a:endParaRPr lang="en-US" dirty="0"/>
          </a:p>
        </p:txBody>
      </p:sp>
      <p:sp>
        <p:nvSpPr>
          <p:cNvPr id="6" name="Content Placeholder 5"/>
          <p:cNvSpPr>
            <a:spLocks noGrp="1"/>
          </p:cNvSpPr>
          <p:nvPr>
            <p:ph idx="1"/>
          </p:nvPr>
        </p:nvSpPr>
        <p:spPr>
          <a:xfrm>
            <a:off x="497236" y="1371600"/>
            <a:ext cx="11296974" cy="4805363"/>
          </a:xfrm>
        </p:spPr>
        <p:txBody>
          <a:bodyPr>
            <a:normAutofit/>
          </a:bodyPr>
          <a:lstStyle/>
          <a:p>
            <a:r>
              <a:rPr lang="en-US" dirty="0">
                <a:latin typeface="Candara" panose="020E0502030303020204" pitchFamily="34" charset="0"/>
              </a:rPr>
              <a:t>Optimization within each basic block is also called </a:t>
            </a:r>
            <a:r>
              <a:rPr lang="en-US" dirty="0">
                <a:solidFill>
                  <a:schemeClr val="accent4">
                    <a:lumMod val="75000"/>
                  </a:schemeClr>
                </a:solidFill>
                <a:latin typeface="Candara" panose="020E0502030303020204" pitchFamily="34" charset="0"/>
              </a:rPr>
              <a:t>local optimization</a:t>
            </a:r>
            <a:endParaRPr lang="en-US" sz="1500" dirty="0">
              <a:latin typeface="Candara" panose="020E0502030303020204" pitchFamily="34" charset="0"/>
            </a:endParaRPr>
          </a:p>
          <a:p>
            <a:r>
              <a:rPr lang="en-US" dirty="0">
                <a:latin typeface="Candara" panose="020E0502030303020204" pitchFamily="34" charset="0"/>
              </a:rPr>
              <a:t>Some code improving transformations  are - </a:t>
            </a:r>
          </a:p>
          <a:p>
            <a:pPr lvl="1"/>
            <a:r>
              <a:rPr lang="en-US" dirty="0">
                <a:solidFill>
                  <a:srgbClr val="00B0F0"/>
                </a:solidFill>
                <a:latin typeface="Candara" panose="020E0502030303020204" pitchFamily="34" charset="0"/>
              </a:rPr>
              <a:t>Common Subexpression Elimination</a:t>
            </a:r>
          </a:p>
          <a:p>
            <a:pPr lvl="1"/>
            <a:r>
              <a:rPr lang="en-US" dirty="0">
                <a:solidFill>
                  <a:srgbClr val="00B050"/>
                </a:solidFill>
                <a:latin typeface="Candara" panose="020E0502030303020204" pitchFamily="34" charset="0"/>
              </a:rPr>
              <a:t>Dead Code Elimination</a:t>
            </a:r>
          </a:p>
          <a:p>
            <a:pPr lvl="1"/>
            <a:r>
              <a:rPr lang="en-US" dirty="0">
                <a:solidFill>
                  <a:schemeClr val="accent4">
                    <a:lumMod val="75000"/>
                  </a:schemeClr>
                </a:solidFill>
                <a:latin typeface="Candara" panose="020E0502030303020204" pitchFamily="34" charset="0"/>
              </a:rPr>
              <a:t>Reordering of statements to reduce the time of a temporary variable in a register</a:t>
            </a:r>
          </a:p>
          <a:p>
            <a:pPr lvl="1"/>
            <a:r>
              <a:rPr lang="en-US" dirty="0">
                <a:solidFill>
                  <a:srgbClr val="7030A0"/>
                </a:solidFill>
                <a:latin typeface="Candara" panose="020E0502030303020204" pitchFamily="34" charset="0"/>
              </a:rPr>
              <a:t>Simplify Algebraic Computation </a:t>
            </a:r>
          </a:p>
        </p:txBody>
      </p:sp>
    </p:spTree>
    <p:extLst>
      <p:ext uri="{BB962C8B-B14F-4D97-AF65-F5344CB8AC3E}">
        <p14:creationId xmlns:p14="http://schemas.microsoft.com/office/powerpoint/2010/main" val="65173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DAG representation of Basic Blocks</a:t>
            </a:r>
          </a:p>
        </p:txBody>
      </p:sp>
      <p:sp>
        <p:nvSpPr>
          <p:cNvPr id="4" name="Slide Number Placeholder 3"/>
          <p:cNvSpPr>
            <a:spLocks noGrp="1"/>
          </p:cNvSpPr>
          <p:nvPr>
            <p:ph type="sldNum" sz="quarter" idx="12"/>
          </p:nvPr>
        </p:nvSpPr>
        <p:spPr>
          <a:xfrm>
            <a:off x="9277535" y="6355778"/>
            <a:ext cx="2743200" cy="365125"/>
          </a:xfrm>
        </p:spPr>
        <p:txBody>
          <a:bodyPr/>
          <a:lstStyle/>
          <a:p>
            <a:fld id="{48F63A3B-78C7-47BE-AE5E-E10140E04643}" type="slidenum">
              <a:rPr lang="en-US" smtClean="0"/>
              <a:pPr/>
              <a:t>28</a:t>
            </a:fld>
            <a:endParaRPr lang="en-US" dirty="0"/>
          </a:p>
        </p:txBody>
      </p:sp>
      <p:sp>
        <p:nvSpPr>
          <p:cNvPr id="6" name="Content Placeholder 5"/>
          <p:cNvSpPr>
            <a:spLocks noGrp="1"/>
          </p:cNvSpPr>
          <p:nvPr>
            <p:ph idx="1"/>
          </p:nvPr>
        </p:nvSpPr>
        <p:spPr>
          <a:xfrm>
            <a:off x="249263" y="1132113"/>
            <a:ext cx="6182534" cy="5589361"/>
          </a:xfrm>
          <a:ln>
            <a:solidFill>
              <a:srgbClr val="7030A0"/>
            </a:solidFill>
            <a:prstDash val="dash"/>
          </a:ln>
        </p:spPr>
        <p:txBody>
          <a:bodyPr>
            <a:noAutofit/>
          </a:bodyPr>
          <a:lstStyle/>
          <a:p>
            <a:pPr algn="just"/>
            <a:r>
              <a:rPr lang="en-US" sz="2000" dirty="0">
                <a:latin typeface="Candara" panose="020E0502030303020204" pitchFamily="34" charset="0"/>
                <a:cs typeface="Andalus" panose="02020603050405020304" pitchFamily="18" charset="-78"/>
              </a:rPr>
              <a:t>Many important techniques for local optimization begin by transforming a basic block into a DAG</a:t>
            </a:r>
          </a:p>
          <a:p>
            <a:pPr algn="just"/>
            <a:r>
              <a:rPr lang="en-US" sz="2000" dirty="0">
                <a:latin typeface="Candara" panose="020E0502030303020204" pitchFamily="34" charset="0"/>
                <a:cs typeface="Andalus" panose="02020603050405020304" pitchFamily="18" charset="-78"/>
              </a:rPr>
              <a:t>We can construct DAG for a basic block as follows</a:t>
            </a:r>
          </a:p>
          <a:p>
            <a:pPr lvl="1" algn="just"/>
            <a:r>
              <a:rPr lang="en-US" sz="2000" dirty="0">
                <a:solidFill>
                  <a:schemeClr val="accent1">
                    <a:lumMod val="75000"/>
                  </a:schemeClr>
                </a:solidFill>
                <a:latin typeface="Candara" panose="020E0502030303020204" pitchFamily="34" charset="0"/>
                <a:cs typeface="Andalus" panose="02020603050405020304" pitchFamily="18" charset="-78"/>
              </a:rPr>
              <a:t>There is a node in the DAG for each of the initial values of the variables appearing in the basic block</a:t>
            </a:r>
            <a:endParaRPr lang="en-US" sz="2000" dirty="0">
              <a:latin typeface="Candara" panose="020E0502030303020204" pitchFamily="34" charset="0"/>
              <a:cs typeface="Andalus" panose="02020603050405020304" pitchFamily="18" charset="-78"/>
            </a:endParaRPr>
          </a:p>
          <a:p>
            <a:pPr lvl="1" algn="just">
              <a:lnSpc>
                <a:spcPct val="100000"/>
              </a:lnSpc>
            </a:pPr>
            <a:r>
              <a:rPr lang="en-US" sz="2000" dirty="0">
                <a:solidFill>
                  <a:schemeClr val="accent6">
                    <a:lumMod val="50000"/>
                  </a:schemeClr>
                </a:solidFill>
                <a:latin typeface="Candara" panose="020E0502030303020204" pitchFamily="34" charset="0"/>
                <a:cs typeface="Andalus" panose="02020603050405020304" pitchFamily="18" charset="-78"/>
              </a:rPr>
              <a:t>There is a node </a:t>
            </a:r>
            <a:r>
              <a:rPr lang="en-US" sz="2000" i="1" dirty="0">
                <a:solidFill>
                  <a:schemeClr val="accent6">
                    <a:lumMod val="50000"/>
                  </a:schemeClr>
                </a:solidFill>
                <a:latin typeface="Candara" panose="020E0502030303020204" pitchFamily="34" charset="0"/>
                <a:cs typeface="Andalus" panose="02020603050405020304" pitchFamily="18" charset="-78"/>
              </a:rPr>
              <a:t>N</a:t>
            </a:r>
            <a:r>
              <a:rPr lang="en-US" sz="2000" dirty="0">
                <a:solidFill>
                  <a:schemeClr val="accent6">
                    <a:lumMod val="50000"/>
                  </a:schemeClr>
                </a:solidFill>
                <a:latin typeface="Candara" panose="020E0502030303020204" pitchFamily="34" charset="0"/>
                <a:cs typeface="Andalus" panose="02020603050405020304" pitchFamily="18" charset="-78"/>
              </a:rPr>
              <a:t> associated with each statement </a:t>
            </a:r>
            <a:r>
              <a:rPr lang="en-US" sz="2000" i="1" dirty="0">
                <a:solidFill>
                  <a:schemeClr val="accent6">
                    <a:lumMod val="50000"/>
                  </a:schemeClr>
                </a:solidFill>
                <a:latin typeface="Candara" panose="020E0502030303020204" pitchFamily="34" charset="0"/>
                <a:cs typeface="Andalus" panose="02020603050405020304" pitchFamily="18" charset="-78"/>
              </a:rPr>
              <a:t>s</a:t>
            </a:r>
            <a:r>
              <a:rPr lang="en-US" sz="2000" dirty="0">
                <a:solidFill>
                  <a:schemeClr val="accent6">
                    <a:lumMod val="50000"/>
                  </a:schemeClr>
                </a:solidFill>
                <a:latin typeface="Candara" panose="020E0502030303020204" pitchFamily="34" charset="0"/>
                <a:cs typeface="Andalus" panose="02020603050405020304" pitchFamily="18" charset="-78"/>
              </a:rPr>
              <a:t> within the block. The children of N are those nodes corresponding to statements that are the last definitions, prior to </a:t>
            </a:r>
            <a:r>
              <a:rPr lang="en-US" sz="2000" i="1" dirty="0">
                <a:solidFill>
                  <a:schemeClr val="accent6">
                    <a:lumMod val="50000"/>
                  </a:schemeClr>
                </a:solidFill>
                <a:latin typeface="Candara" panose="020E0502030303020204" pitchFamily="34" charset="0"/>
                <a:cs typeface="Andalus" panose="02020603050405020304" pitchFamily="18" charset="-78"/>
              </a:rPr>
              <a:t>s</a:t>
            </a:r>
            <a:r>
              <a:rPr lang="en-US" sz="2000" dirty="0">
                <a:solidFill>
                  <a:schemeClr val="accent6">
                    <a:lumMod val="50000"/>
                  </a:schemeClr>
                </a:solidFill>
                <a:latin typeface="Candara" panose="020E0502030303020204" pitchFamily="34" charset="0"/>
                <a:cs typeface="Andalus" panose="02020603050405020304" pitchFamily="18" charset="-78"/>
              </a:rPr>
              <a:t>, of the operands used by </a:t>
            </a:r>
            <a:r>
              <a:rPr lang="en-US" sz="2000" i="1" dirty="0">
                <a:solidFill>
                  <a:schemeClr val="accent6">
                    <a:lumMod val="50000"/>
                  </a:schemeClr>
                </a:solidFill>
                <a:latin typeface="Candara" panose="020E0502030303020204" pitchFamily="34" charset="0"/>
                <a:cs typeface="Andalus" panose="02020603050405020304" pitchFamily="18" charset="-78"/>
              </a:rPr>
              <a:t>s</a:t>
            </a:r>
            <a:endParaRPr lang="en-US" sz="2000" dirty="0">
              <a:latin typeface="Candara" panose="020E0502030303020204" pitchFamily="34" charset="0"/>
              <a:cs typeface="Andalus" panose="02020603050405020304" pitchFamily="18" charset="-78"/>
            </a:endParaRPr>
          </a:p>
          <a:p>
            <a:pPr lvl="1" algn="just">
              <a:lnSpc>
                <a:spcPct val="100000"/>
              </a:lnSpc>
            </a:pPr>
            <a:r>
              <a:rPr lang="en-US" sz="2000" dirty="0">
                <a:solidFill>
                  <a:schemeClr val="accent1">
                    <a:lumMod val="75000"/>
                  </a:schemeClr>
                </a:solidFill>
                <a:latin typeface="Candara" panose="020E0502030303020204" pitchFamily="34" charset="0"/>
                <a:cs typeface="Andalus" panose="02020603050405020304" pitchFamily="18" charset="-78"/>
              </a:rPr>
              <a:t>Node </a:t>
            </a:r>
            <a:r>
              <a:rPr lang="en-US" sz="2000" i="1" dirty="0">
                <a:solidFill>
                  <a:schemeClr val="accent1">
                    <a:lumMod val="75000"/>
                  </a:schemeClr>
                </a:solidFill>
                <a:latin typeface="Candara" panose="020E0502030303020204" pitchFamily="34" charset="0"/>
                <a:cs typeface="Andalus" panose="02020603050405020304" pitchFamily="18" charset="-78"/>
              </a:rPr>
              <a:t>N</a:t>
            </a:r>
            <a:r>
              <a:rPr lang="en-US" sz="2000" dirty="0">
                <a:solidFill>
                  <a:schemeClr val="accent1">
                    <a:lumMod val="75000"/>
                  </a:schemeClr>
                </a:solidFill>
                <a:latin typeface="Candara" panose="020E0502030303020204" pitchFamily="34" charset="0"/>
                <a:cs typeface="Andalus" panose="02020603050405020304" pitchFamily="18" charset="-78"/>
              </a:rPr>
              <a:t> is labeled by the operator applied at </a:t>
            </a:r>
            <a:r>
              <a:rPr lang="en-US" sz="2000" i="1" dirty="0">
                <a:solidFill>
                  <a:schemeClr val="accent1">
                    <a:lumMod val="75000"/>
                  </a:schemeClr>
                </a:solidFill>
                <a:latin typeface="Candara" panose="020E0502030303020204" pitchFamily="34" charset="0"/>
                <a:cs typeface="Andalus" panose="02020603050405020304" pitchFamily="18" charset="-78"/>
              </a:rPr>
              <a:t>s</a:t>
            </a:r>
            <a:r>
              <a:rPr lang="en-US" sz="2000" dirty="0">
                <a:solidFill>
                  <a:schemeClr val="accent1">
                    <a:lumMod val="75000"/>
                  </a:schemeClr>
                </a:solidFill>
                <a:latin typeface="Candara" panose="020E0502030303020204" pitchFamily="34" charset="0"/>
                <a:cs typeface="Andalus" panose="02020603050405020304" pitchFamily="18" charset="-78"/>
              </a:rPr>
              <a:t>, and also attached to </a:t>
            </a:r>
            <a:r>
              <a:rPr lang="en-US" sz="2000" i="1" dirty="0">
                <a:solidFill>
                  <a:schemeClr val="accent1">
                    <a:lumMod val="75000"/>
                  </a:schemeClr>
                </a:solidFill>
                <a:latin typeface="Candara" panose="020E0502030303020204" pitchFamily="34" charset="0"/>
                <a:cs typeface="Andalus" panose="02020603050405020304" pitchFamily="18" charset="-78"/>
              </a:rPr>
              <a:t>N</a:t>
            </a:r>
            <a:r>
              <a:rPr lang="en-US" sz="2000" dirty="0">
                <a:solidFill>
                  <a:schemeClr val="accent1">
                    <a:lumMod val="75000"/>
                  </a:schemeClr>
                </a:solidFill>
                <a:latin typeface="Candara" panose="020E0502030303020204" pitchFamily="34" charset="0"/>
                <a:cs typeface="Andalus" panose="02020603050405020304" pitchFamily="18" charset="-78"/>
              </a:rPr>
              <a:t> is the list of variables for which it is the last definition within the block</a:t>
            </a:r>
            <a:endParaRPr lang="en-US" sz="2000" dirty="0">
              <a:latin typeface="Candara" panose="020E0502030303020204" pitchFamily="34" charset="0"/>
              <a:cs typeface="Andalus" panose="02020603050405020304" pitchFamily="18" charset="-78"/>
            </a:endParaRPr>
          </a:p>
          <a:p>
            <a:pPr lvl="1" algn="just">
              <a:lnSpc>
                <a:spcPct val="110000"/>
              </a:lnSpc>
            </a:pPr>
            <a:r>
              <a:rPr lang="en-US" sz="2000" dirty="0">
                <a:solidFill>
                  <a:schemeClr val="accent6">
                    <a:lumMod val="50000"/>
                  </a:schemeClr>
                </a:solidFill>
                <a:latin typeface="Candara" panose="020E0502030303020204" pitchFamily="34" charset="0"/>
                <a:cs typeface="Andalus" panose="02020603050405020304" pitchFamily="18" charset="-78"/>
              </a:rPr>
              <a:t>Certain nodes are designated </a:t>
            </a:r>
            <a:r>
              <a:rPr lang="en-US" sz="2000" i="1" dirty="0">
                <a:solidFill>
                  <a:schemeClr val="accent6">
                    <a:lumMod val="50000"/>
                  </a:schemeClr>
                </a:solidFill>
                <a:latin typeface="Candara" panose="020E0502030303020204" pitchFamily="34" charset="0"/>
                <a:cs typeface="Andalus" panose="02020603050405020304" pitchFamily="18" charset="-78"/>
              </a:rPr>
              <a:t>output nodes</a:t>
            </a:r>
            <a:r>
              <a:rPr lang="en-US" sz="2000" dirty="0">
                <a:solidFill>
                  <a:schemeClr val="accent6">
                    <a:lumMod val="50000"/>
                  </a:schemeClr>
                </a:solidFill>
                <a:latin typeface="Candara" panose="020E0502030303020204" pitchFamily="34" charset="0"/>
                <a:cs typeface="Andalus" panose="02020603050405020304" pitchFamily="18" charset="-78"/>
              </a:rPr>
              <a:t>. These are the nodes whose variables that are </a:t>
            </a:r>
            <a:r>
              <a:rPr lang="en-US" sz="2000" i="1" dirty="0">
                <a:solidFill>
                  <a:srgbClr val="FF0000"/>
                </a:solidFill>
                <a:latin typeface="Candara" panose="020E0502030303020204" pitchFamily="34" charset="0"/>
                <a:cs typeface="Andalus" panose="02020603050405020304" pitchFamily="18" charset="-78"/>
              </a:rPr>
              <a:t>live on exit</a:t>
            </a:r>
            <a:r>
              <a:rPr lang="en-US" sz="2000" dirty="0">
                <a:solidFill>
                  <a:schemeClr val="accent6">
                    <a:lumMod val="50000"/>
                  </a:schemeClr>
                </a:solidFill>
                <a:latin typeface="Candara" panose="020E0502030303020204" pitchFamily="34" charset="0"/>
                <a:cs typeface="Andalus" panose="02020603050405020304" pitchFamily="18" charset="-78"/>
              </a:rPr>
              <a:t> from the block</a:t>
            </a:r>
          </a:p>
        </p:txBody>
      </p:sp>
      <p:pic>
        <p:nvPicPr>
          <p:cNvPr id="5" name="Picture 4" descr="Screen Clipping">
            <a:extLst>
              <a:ext uri="{FF2B5EF4-FFF2-40B4-BE49-F238E27FC236}">
                <a16:creationId xmlns:a16="http://schemas.microsoft.com/office/drawing/2014/main" id="{3BD3E3AD-1EFC-FBC1-CB1C-1A0A4D4CE6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4385" y="1315990"/>
            <a:ext cx="2114786" cy="1684950"/>
          </a:xfrm>
          <a:prstGeom prst="rect">
            <a:avLst/>
          </a:prstGeom>
          <a:ln>
            <a:solidFill>
              <a:schemeClr val="accent5">
                <a:lumMod val="75000"/>
              </a:schemeClr>
            </a:solidFill>
            <a:prstDash val="dash"/>
          </a:ln>
        </p:spPr>
      </p:pic>
      <p:sp>
        <p:nvSpPr>
          <p:cNvPr id="8" name="Arrow: Down 7">
            <a:extLst>
              <a:ext uri="{FF2B5EF4-FFF2-40B4-BE49-F238E27FC236}">
                <a16:creationId xmlns:a16="http://schemas.microsoft.com/office/drawing/2014/main" id="{28048992-FB5A-EF19-83E0-5F7755F2B0DB}"/>
              </a:ext>
            </a:extLst>
          </p:cNvPr>
          <p:cNvSpPr/>
          <p:nvPr/>
        </p:nvSpPr>
        <p:spPr>
          <a:xfrm>
            <a:off x="9109074" y="3150745"/>
            <a:ext cx="567653" cy="664659"/>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DF9E490-8E2B-CD2D-E96F-2A85F06E99AB}"/>
              </a:ext>
            </a:extLst>
          </p:cNvPr>
          <p:cNvSpPr/>
          <p:nvPr/>
        </p:nvSpPr>
        <p:spPr>
          <a:xfrm>
            <a:off x="8767603" y="5299158"/>
            <a:ext cx="584496"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aseline="-25000" dirty="0">
              <a:solidFill>
                <a:schemeClr val="tx1"/>
              </a:solidFill>
            </a:endParaRPr>
          </a:p>
        </p:txBody>
      </p:sp>
      <p:cxnSp>
        <p:nvCxnSpPr>
          <p:cNvPr id="10" name="Straight Connector 9">
            <a:extLst>
              <a:ext uri="{FF2B5EF4-FFF2-40B4-BE49-F238E27FC236}">
                <a16:creationId xmlns:a16="http://schemas.microsoft.com/office/drawing/2014/main" id="{5E24BC0E-E06E-1F2F-144D-359A7F7F2870}"/>
              </a:ext>
            </a:extLst>
          </p:cNvPr>
          <p:cNvCxnSpPr>
            <a:cxnSpLocks/>
            <a:stCxn id="14" idx="4"/>
          </p:cNvCxnSpPr>
          <p:nvPr/>
        </p:nvCxnSpPr>
        <p:spPr>
          <a:xfrm flipH="1">
            <a:off x="7988758" y="5612674"/>
            <a:ext cx="662784" cy="469005"/>
          </a:xfrm>
          <a:prstGeom prst="line">
            <a:avLst/>
          </a:prstGeom>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B29176BE-FB5A-EC62-F303-30BA0EF7E66B}"/>
              </a:ext>
            </a:extLst>
          </p:cNvPr>
          <p:cNvSpPr/>
          <p:nvPr/>
        </p:nvSpPr>
        <p:spPr>
          <a:xfrm>
            <a:off x="7642293" y="6081679"/>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a:t>
            </a:r>
            <a:r>
              <a:rPr lang="en-US" sz="2000" baseline="-25000" dirty="0">
                <a:solidFill>
                  <a:schemeClr val="tx1"/>
                </a:solidFill>
              </a:rPr>
              <a:t>0</a:t>
            </a:r>
          </a:p>
        </p:txBody>
      </p:sp>
      <p:sp>
        <p:nvSpPr>
          <p:cNvPr id="12" name="Oval 11">
            <a:extLst>
              <a:ext uri="{FF2B5EF4-FFF2-40B4-BE49-F238E27FC236}">
                <a16:creationId xmlns:a16="http://schemas.microsoft.com/office/drawing/2014/main" id="{AE11854B-A3BD-9172-D0D9-E27EE97B61D3}"/>
              </a:ext>
            </a:extLst>
          </p:cNvPr>
          <p:cNvSpPr/>
          <p:nvPr/>
        </p:nvSpPr>
        <p:spPr>
          <a:xfrm>
            <a:off x="8935392" y="6081679"/>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a:t>
            </a:r>
            <a:r>
              <a:rPr lang="en-US" sz="2000" baseline="-25000" dirty="0">
                <a:solidFill>
                  <a:schemeClr val="tx1"/>
                </a:solidFill>
              </a:rPr>
              <a:t>0</a:t>
            </a:r>
          </a:p>
        </p:txBody>
      </p:sp>
      <p:cxnSp>
        <p:nvCxnSpPr>
          <p:cNvPr id="13" name="Straight Connector 12">
            <a:extLst>
              <a:ext uri="{FF2B5EF4-FFF2-40B4-BE49-F238E27FC236}">
                <a16:creationId xmlns:a16="http://schemas.microsoft.com/office/drawing/2014/main" id="{E6221563-AD5E-0F9E-5C9E-B056733E172A}"/>
              </a:ext>
            </a:extLst>
          </p:cNvPr>
          <p:cNvCxnSpPr>
            <a:cxnSpLocks/>
            <a:stCxn id="14" idx="4"/>
          </p:cNvCxnSpPr>
          <p:nvPr/>
        </p:nvCxnSpPr>
        <p:spPr>
          <a:xfrm>
            <a:off x="8651542" y="5612674"/>
            <a:ext cx="630315" cy="469005"/>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52EF8ED3-154E-ABD6-2BFB-78156B46728A}"/>
              </a:ext>
            </a:extLst>
          </p:cNvPr>
          <p:cNvSpPr/>
          <p:nvPr/>
        </p:nvSpPr>
        <p:spPr>
          <a:xfrm>
            <a:off x="8447637" y="5204167"/>
            <a:ext cx="407809" cy="4085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15" name="TextBox 14">
            <a:extLst>
              <a:ext uri="{FF2B5EF4-FFF2-40B4-BE49-F238E27FC236}">
                <a16:creationId xmlns:a16="http://schemas.microsoft.com/office/drawing/2014/main" id="{2A25818E-F694-3522-ADEF-74F464A9F6EB}"/>
              </a:ext>
            </a:extLst>
          </p:cNvPr>
          <p:cNvSpPr txBox="1"/>
          <p:nvPr/>
        </p:nvSpPr>
        <p:spPr>
          <a:xfrm>
            <a:off x="8894675" y="5203392"/>
            <a:ext cx="584496" cy="400110"/>
          </a:xfrm>
          <a:prstGeom prst="rect">
            <a:avLst/>
          </a:prstGeom>
          <a:noFill/>
        </p:spPr>
        <p:txBody>
          <a:bodyPr wrap="square" rtlCol="0">
            <a:spAutoFit/>
          </a:bodyPr>
          <a:lstStyle/>
          <a:p>
            <a:r>
              <a:rPr lang="en-US" sz="2000" dirty="0"/>
              <a:t>a</a:t>
            </a:r>
          </a:p>
        </p:txBody>
      </p:sp>
      <p:sp>
        <p:nvSpPr>
          <p:cNvPr id="16" name="Oval 15">
            <a:extLst>
              <a:ext uri="{FF2B5EF4-FFF2-40B4-BE49-F238E27FC236}">
                <a16:creationId xmlns:a16="http://schemas.microsoft.com/office/drawing/2014/main" id="{5B69F3D6-9F34-54F8-5D44-CC9FB8C36034}"/>
              </a:ext>
            </a:extLst>
          </p:cNvPr>
          <p:cNvSpPr/>
          <p:nvPr/>
        </p:nvSpPr>
        <p:spPr>
          <a:xfrm>
            <a:off x="9797610" y="5286434"/>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a:t>
            </a:r>
            <a:r>
              <a:rPr lang="en-US" sz="2000" baseline="-25000" dirty="0">
                <a:solidFill>
                  <a:schemeClr val="tx1"/>
                </a:solidFill>
              </a:rPr>
              <a:t>0</a:t>
            </a:r>
          </a:p>
        </p:txBody>
      </p:sp>
      <p:cxnSp>
        <p:nvCxnSpPr>
          <p:cNvPr id="17" name="Straight Connector 16">
            <a:extLst>
              <a:ext uri="{FF2B5EF4-FFF2-40B4-BE49-F238E27FC236}">
                <a16:creationId xmlns:a16="http://schemas.microsoft.com/office/drawing/2014/main" id="{BB1CCF36-0F85-3E67-7F61-FA3B5EF1AEC0}"/>
              </a:ext>
            </a:extLst>
          </p:cNvPr>
          <p:cNvCxnSpPr>
            <a:cxnSpLocks/>
            <a:stCxn id="18" idx="4"/>
            <a:endCxn id="16" idx="0"/>
          </p:cNvCxnSpPr>
          <p:nvPr/>
        </p:nvCxnSpPr>
        <p:spPr>
          <a:xfrm>
            <a:off x="9479171" y="4918983"/>
            <a:ext cx="663844" cy="367451"/>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84BFE6F7-BE7C-A339-C609-1FB83B1EDC0E}"/>
              </a:ext>
            </a:extLst>
          </p:cNvPr>
          <p:cNvSpPr/>
          <p:nvPr/>
        </p:nvSpPr>
        <p:spPr>
          <a:xfrm>
            <a:off x="9275266" y="4510476"/>
            <a:ext cx="407809" cy="4085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cxnSp>
        <p:nvCxnSpPr>
          <p:cNvPr id="19" name="Straight Connector 18">
            <a:extLst>
              <a:ext uri="{FF2B5EF4-FFF2-40B4-BE49-F238E27FC236}">
                <a16:creationId xmlns:a16="http://schemas.microsoft.com/office/drawing/2014/main" id="{BDC1B929-AFA5-2F5C-0CD1-9C8143811422}"/>
              </a:ext>
            </a:extLst>
          </p:cNvPr>
          <p:cNvCxnSpPr>
            <a:cxnSpLocks/>
            <a:stCxn id="18" idx="4"/>
            <a:endCxn id="14" idx="7"/>
          </p:cNvCxnSpPr>
          <p:nvPr/>
        </p:nvCxnSpPr>
        <p:spPr>
          <a:xfrm flipH="1">
            <a:off x="8795724" y="4918983"/>
            <a:ext cx="683447" cy="345008"/>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E1B99F4-A1AE-CC7A-A4D1-211007723762}"/>
              </a:ext>
            </a:extLst>
          </p:cNvPr>
          <p:cNvSpPr txBox="1"/>
          <p:nvPr/>
        </p:nvSpPr>
        <p:spPr>
          <a:xfrm>
            <a:off x="9775495" y="4580873"/>
            <a:ext cx="267761" cy="400110"/>
          </a:xfrm>
          <a:prstGeom prst="rect">
            <a:avLst/>
          </a:prstGeom>
          <a:noFill/>
        </p:spPr>
        <p:txBody>
          <a:bodyPr wrap="square" rtlCol="0">
            <a:spAutoFit/>
          </a:bodyPr>
          <a:lstStyle/>
          <a:p>
            <a:r>
              <a:rPr lang="en-US" sz="2000" dirty="0"/>
              <a:t>b</a:t>
            </a:r>
          </a:p>
        </p:txBody>
      </p:sp>
      <p:sp>
        <p:nvSpPr>
          <p:cNvPr id="21" name="Oval 20">
            <a:extLst>
              <a:ext uri="{FF2B5EF4-FFF2-40B4-BE49-F238E27FC236}">
                <a16:creationId xmlns:a16="http://schemas.microsoft.com/office/drawing/2014/main" id="{D4A50DF0-3C75-6806-CE7A-49B63166A78F}"/>
              </a:ext>
            </a:extLst>
          </p:cNvPr>
          <p:cNvSpPr/>
          <p:nvPr/>
        </p:nvSpPr>
        <p:spPr>
          <a:xfrm>
            <a:off x="10156085" y="3851965"/>
            <a:ext cx="407809" cy="4085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cxnSp>
        <p:nvCxnSpPr>
          <p:cNvPr id="22" name="Straight Connector 21">
            <a:extLst>
              <a:ext uri="{FF2B5EF4-FFF2-40B4-BE49-F238E27FC236}">
                <a16:creationId xmlns:a16="http://schemas.microsoft.com/office/drawing/2014/main" id="{57CD6B20-D4BB-CCD0-1458-A4907A1CF7BF}"/>
              </a:ext>
            </a:extLst>
          </p:cNvPr>
          <p:cNvCxnSpPr>
            <a:cxnSpLocks/>
            <a:endCxn id="21" idx="3"/>
          </p:cNvCxnSpPr>
          <p:nvPr/>
        </p:nvCxnSpPr>
        <p:spPr>
          <a:xfrm flipV="1">
            <a:off x="9479170" y="4200648"/>
            <a:ext cx="736637" cy="309828"/>
          </a:xfrm>
          <a:prstGeom prst="line">
            <a:avLst/>
          </a:prstGeom>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4F4748C5-4290-5647-A977-642895A11BCD}"/>
              </a:ext>
            </a:extLst>
          </p:cNvPr>
          <p:cNvSpPr/>
          <p:nvPr/>
        </p:nvSpPr>
        <p:spPr>
          <a:xfrm>
            <a:off x="9352099" y="4246534"/>
            <a:ext cx="1592636" cy="1835145"/>
          </a:xfrm>
          <a:custGeom>
            <a:avLst/>
            <a:gdLst>
              <a:gd name="connsiteX0" fmla="*/ 960895 w 1366782"/>
              <a:gd name="connsiteY0" fmla="*/ 0 h 1828800"/>
              <a:gd name="connsiteX1" fmla="*/ 1317356 w 1366782"/>
              <a:gd name="connsiteY1" fmla="*/ 991891 h 1828800"/>
              <a:gd name="connsiteX2" fmla="*/ 0 w 1366782"/>
              <a:gd name="connsiteY2" fmla="*/ 1828800 h 1828800"/>
            </a:gdLst>
            <a:ahLst/>
            <a:cxnLst>
              <a:cxn ang="0">
                <a:pos x="connsiteX0" y="connsiteY0"/>
              </a:cxn>
              <a:cxn ang="0">
                <a:pos x="connsiteX1" y="connsiteY1"/>
              </a:cxn>
              <a:cxn ang="0">
                <a:pos x="connsiteX2" y="connsiteY2"/>
              </a:cxn>
            </a:cxnLst>
            <a:rect l="l" t="t" r="r" b="b"/>
            <a:pathLst>
              <a:path w="1366782" h="1828800">
                <a:moveTo>
                  <a:pt x="960895" y="0"/>
                </a:moveTo>
                <a:cubicBezTo>
                  <a:pt x="1219200" y="343545"/>
                  <a:pt x="1477505" y="687091"/>
                  <a:pt x="1317356" y="991891"/>
                </a:cubicBezTo>
                <a:cubicBezTo>
                  <a:pt x="1157207" y="1296691"/>
                  <a:pt x="578603" y="1562745"/>
                  <a:pt x="0" y="18288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C814A31-4A5E-A0A4-524C-7328F4B5B3F3}"/>
              </a:ext>
            </a:extLst>
          </p:cNvPr>
          <p:cNvSpPr txBox="1"/>
          <p:nvPr/>
        </p:nvSpPr>
        <p:spPr>
          <a:xfrm>
            <a:off x="10590495" y="3700923"/>
            <a:ext cx="584496" cy="400110"/>
          </a:xfrm>
          <a:prstGeom prst="rect">
            <a:avLst/>
          </a:prstGeom>
          <a:noFill/>
        </p:spPr>
        <p:txBody>
          <a:bodyPr wrap="square" rtlCol="0">
            <a:spAutoFit/>
          </a:bodyPr>
          <a:lstStyle/>
          <a:p>
            <a:r>
              <a:rPr lang="en-US" sz="2000" dirty="0"/>
              <a:t>c</a:t>
            </a:r>
          </a:p>
        </p:txBody>
      </p:sp>
      <p:cxnSp>
        <p:nvCxnSpPr>
          <p:cNvPr id="30" name="Straight Arrow Connector 29">
            <a:extLst>
              <a:ext uri="{FF2B5EF4-FFF2-40B4-BE49-F238E27FC236}">
                <a16:creationId xmlns:a16="http://schemas.microsoft.com/office/drawing/2014/main" id="{2F67B3F1-943A-7119-76FE-F630F66EDDEC}"/>
              </a:ext>
            </a:extLst>
          </p:cNvPr>
          <p:cNvCxnSpPr>
            <a:cxnSpLocks/>
          </p:cNvCxnSpPr>
          <p:nvPr/>
        </p:nvCxnSpPr>
        <p:spPr>
          <a:xfrm flipH="1">
            <a:off x="10043256" y="1658319"/>
            <a:ext cx="597311" cy="0"/>
          </a:xfrm>
          <a:prstGeom prst="straightConnector1">
            <a:avLst/>
          </a:prstGeom>
          <a:ln w="2857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836579DE-0FB3-FEDA-123C-BD158508EC9C}"/>
              </a:ext>
            </a:extLst>
          </p:cNvPr>
          <p:cNvCxnSpPr>
            <a:cxnSpLocks/>
          </p:cNvCxnSpPr>
          <p:nvPr/>
        </p:nvCxnSpPr>
        <p:spPr>
          <a:xfrm flipH="1">
            <a:off x="10043256" y="1981197"/>
            <a:ext cx="597311" cy="0"/>
          </a:xfrm>
          <a:prstGeom prst="straightConnector1">
            <a:avLst/>
          </a:prstGeom>
          <a:ln w="2857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8EECF70F-56F5-EE43-77FA-2FEA5F2D089F}"/>
              </a:ext>
            </a:extLst>
          </p:cNvPr>
          <p:cNvCxnSpPr>
            <a:cxnSpLocks/>
          </p:cNvCxnSpPr>
          <p:nvPr/>
        </p:nvCxnSpPr>
        <p:spPr>
          <a:xfrm flipH="1">
            <a:off x="10043256" y="2322161"/>
            <a:ext cx="597311" cy="0"/>
          </a:xfrm>
          <a:prstGeom prst="straightConnector1">
            <a:avLst/>
          </a:prstGeom>
          <a:ln w="28575">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9F18FA1C-F3D3-1080-50FD-1E41E9BEEC4B}"/>
              </a:ext>
            </a:extLst>
          </p:cNvPr>
          <p:cNvCxnSpPr>
            <a:cxnSpLocks/>
          </p:cNvCxnSpPr>
          <p:nvPr/>
        </p:nvCxnSpPr>
        <p:spPr>
          <a:xfrm flipH="1">
            <a:off x="10043256" y="2616628"/>
            <a:ext cx="597311" cy="0"/>
          </a:xfrm>
          <a:prstGeom prst="straightConnector1">
            <a:avLst/>
          </a:prstGeom>
          <a:ln w="28575">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45" name="TextBox 44">
            <a:extLst>
              <a:ext uri="{FF2B5EF4-FFF2-40B4-BE49-F238E27FC236}">
                <a16:creationId xmlns:a16="http://schemas.microsoft.com/office/drawing/2014/main" id="{54B8953B-1434-5435-4CD0-1CE94D9FBC53}"/>
              </a:ext>
            </a:extLst>
          </p:cNvPr>
          <p:cNvSpPr txBox="1"/>
          <p:nvPr/>
        </p:nvSpPr>
        <p:spPr>
          <a:xfrm>
            <a:off x="9942789" y="4588787"/>
            <a:ext cx="426592" cy="369332"/>
          </a:xfrm>
          <a:prstGeom prst="rect">
            <a:avLst/>
          </a:prstGeom>
          <a:noFill/>
        </p:spPr>
        <p:txBody>
          <a:bodyPr wrap="square">
            <a:spAutoFit/>
          </a:bodyPr>
          <a:lstStyle/>
          <a:p>
            <a:r>
              <a:rPr lang="en-US" sz="1800" dirty="0"/>
              <a:t>,d</a:t>
            </a:r>
            <a:endParaRPr lang="en-US" dirty="0"/>
          </a:p>
        </p:txBody>
      </p:sp>
    </p:spTree>
    <p:extLst>
      <p:ext uri="{BB962C8B-B14F-4D97-AF65-F5344CB8AC3E}">
        <p14:creationId xmlns:p14="http://schemas.microsoft.com/office/powerpoint/2010/main" val="343054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down)">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dow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down)">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down)">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down)">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down)">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1000"/>
                                        <p:tgtEl>
                                          <p:spTgt spid="8"/>
                                        </p:tgtEl>
                                      </p:cBhvr>
                                    </p:animEffect>
                                    <p:anim calcmode="lin" valueType="num">
                                      <p:cBhvr>
                                        <p:cTn id="48" dur="1000" fill="hold"/>
                                        <p:tgtEl>
                                          <p:spTgt spid="8"/>
                                        </p:tgtEl>
                                        <p:attrNameLst>
                                          <p:attrName>ppt_x</p:attrName>
                                        </p:attrNameLst>
                                      </p:cBhvr>
                                      <p:tavLst>
                                        <p:tav tm="0">
                                          <p:val>
                                            <p:strVal val="#ppt_x"/>
                                          </p:val>
                                        </p:tav>
                                        <p:tav tm="100000">
                                          <p:val>
                                            <p:strVal val="#ppt_x"/>
                                          </p:val>
                                        </p:tav>
                                      </p:tavLst>
                                    </p:anim>
                                    <p:anim calcmode="lin" valueType="num">
                                      <p:cBhvr>
                                        <p:cTn id="49" dur="1000" fill="hold"/>
                                        <p:tgtEl>
                                          <p:spTgt spid="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nodePh="1">
                                  <p:stCondLst>
                                    <p:cond delay="0"/>
                                  </p:stCondLst>
                                  <p:endCondLst>
                                    <p:cond evt="begin" delay="0">
                                      <p:tn val="50"/>
                                    </p:cond>
                                  </p:endCondLst>
                                  <p:childTnLst>
                                    <p:set>
                                      <p:cBhvr>
                                        <p:cTn id="51" dur="1" fill="hold">
                                          <p:stCondLst>
                                            <p:cond delay="0"/>
                                          </p:stCondLst>
                                        </p:cTn>
                                        <p:tgtEl>
                                          <p:spTgt spid="9"/>
                                        </p:tgtEl>
                                        <p:attrNameLst>
                                          <p:attrName>style.visibility</p:attrName>
                                        </p:attrNameLst>
                                      </p:cBhvr>
                                      <p:to>
                                        <p:strVal val="visible"/>
                                      </p:to>
                                    </p:set>
                                    <p:animEffect transition="in" filter="fade">
                                      <p:cBhvr>
                                        <p:cTn id="52" dur="1000"/>
                                        <p:tgtEl>
                                          <p:spTgt spid="9"/>
                                        </p:tgtEl>
                                      </p:cBhvr>
                                    </p:animEffect>
                                    <p:anim calcmode="lin" valueType="num">
                                      <p:cBhvr>
                                        <p:cTn id="53" dur="1000" fill="hold"/>
                                        <p:tgtEl>
                                          <p:spTgt spid="9"/>
                                        </p:tgtEl>
                                        <p:attrNameLst>
                                          <p:attrName>ppt_x</p:attrName>
                                        </p:attrNameLst>
                                      </p:cBhvr>
                                      <p:tavLst>
                                        <p:tav tm="0">
                                          <p:val>
                                            <p:strVal val="#ppt_x"/>
                                          </p:val>
                                        </p:tav>
                                        <p:tav tm="100000">
                                          <p:val>
                                            <p:strVal val="#ppt_x"/>
                                          </p:val>
                                        </p:tav>
                                      </p:tavLst>
                                    </p:anim>
                                    <p:anim calcmode="lin" valueType="num">
                                      <p:cBhvr>
                                        <p:cTn id="5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barn(inVertical)">
                                      <p:cBhvr>
                                        <p:cTn id="59" dur="5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1000"/>
                                        <p:tgtEl>
                                          <p:spTgt spid="11"/>
                                        </p:tgtEl>
                                      </p:cBhvr>
                                    </p:animEffect>
                                    <p:anim calcmode="lin" valueType="num">
                                      <p:cBhvr>
                                        <p:cTn id="65" dur="1000" fill="hold"/>
                                        <p:tgtEl>
                                          <p:spTgt spid="11"/>
                                        </p:tgtEl>
                                        <p:attrNameLst>
                                          <p:attrName>ppt_x</p:attrName>
                                        </p:attrNameLst>
                                      </p:cBhvr>
                                      <p:tavLst>
                                        <p:tav tm="0">
                                          <p:val>
                                            <p:strVal val="#ppt_x"/>
                                          </p:val>
                                        </p:tav>
                                        <p:tav tm="100000">
                                          <p:val>
                                            <p:strVal val="#ppt_x"/>
                                          </p:val>
                                        </p:tav>
                                      </p:tavLst>
                                    </p:anim>
                                    <p:anim calcmode="lin" valueType="num">
                                      <p:cBhvr>
                                        <p:cTn id="66" dur="1000" fill="hold"/>
                                        <p:tgtEl>
                                          <p:spTgt spid="11"/>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1000"/>
                                        <p:tgtEl>
                                          <p:spTgt spid="12"/>
                                        </p:tgtEl>
                                      </p:cBhvr>
                                    </p:animEffect>
                                    <p:anim calcmode="lin" valueType="num">
                                      <p:cBhvr>
                                        <p:cTn id="70" dur="1000" fill="hold"/>
                                        <p:tgtEl>
                                          <p:spTgt spid="12"/>
                                        </p:tgtEl>
                                        <p:attrNameLst>
                                          <p:attrName>ppt_x</p:attrName>
                                        </p:attrNameLst>
                                      </p:cBhvr>
                                      <p:tavLst>
                                        <p:tav tm="0">
                                          <p:val>
                                            <p:strVal val="#ppt_x"/>
                                          </p:val>
                                        </p:tav>
                                        <p:tav tm="100000">
                                          <p:val>
                                            <p:strVal val="#ppt_x"/>
                                          </p:val>
                                        </p:tav>
                                      </p:tavLst>
                                    </p:anim>
                                    <p:anim calcmode="lin" valueType="num">
                                      <p:cBhvr>
                                        <p:cTn id="7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1000"/>
                                        <p:tgtEl>
                                          <p:spTgt spid="10"/>
                                        </p:tgtEl>
                                      </p:cBhvr>
                                    </p:animEffect>
                                    <p:anim calcmode="lin" valueType="num">
                                      <p:cBhvr>
                                        <p:cTn id="77" dur="1000" fill="hold"/>
                                        <p:tgtEl>
                                          <p:spTgt spid="10"/>
                                        </p:tgtEl>
                                        <p:attrNameLst>
                                          <p:attrName>ppt_x</p:attrName>
                                        </p:attrNameLst>
                                      </p:cBhvr>
                                      <p:tavLst>
                                        <p:tav tm="0">
                                          <p:val>
                                            <p:strVal val="#ppt_x"/>
                                          </p:val>
                                        </p:tav>
                                        <p:tav tm="100000">
                                          <p:val>
                                            <p:strVal val="#ppt_x"/>
                                          </p:val>
                                        </p:tav>
                                      </p:tavLst>
                                    </p:anim>
                                    <p:anim calcmode="lin" valueType="num">
                                      <p:cBhvr>
                                        <p:cTn id="78" dur="1000" fill="hold"/>
                                        <p:tgtEl>
                                          <p:spTgt spid="10"/>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1000"/>
                                        <p:tgtEl>
                                          <p:spTgt spid="13"/>
                                        </p:tgtEl>
                                      </p:cBhvr>
                                    </p:animEffect>
                                    <p:anim calcmode="lin" valueType="num">
                                      <p:cBhvr>
                                        <p:cTn id="82" dur="1000" fill="hold"/>
                                        <p:tgtEl>
                                          <p:spTgt spid="13"/>
                                        </p:tgtEl>
                                        <p:attrNameLst>
                                          <p:attrName>ppt_x</p:attrName>
                                        </p:attrNameLst>
                                      </p:cBhvr>
                                      <p:tavLst>
                                        <p:tav tm="0">
                                          <p:val>
                                            <p:strVal val="#ppt_x"/>
                                          </p:val>
                                        </p:tav>
                                        <p:tav tm="100000">
                                          <p:val>
                                            <p:strVal val="#ppt_x"/>
                                          </p:val>
                                        </p:tav>
                                      </p:tavLst>
                                    </p:anim>
                                    <p:anim calcmode="lin" valueType="num">
                                      <p:cBhvr>
                                        <p:cTn id="83" dur="1000" fill="hold"/>
                                        <p:tgtEl>
                                          <p:spTgt spid="13"/>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1000"/>
                                        <p:tgtEl>
                                          <p:spTgt spid="14"/>
                                        </p:tgtEl>
                                      </p:cBhvr>
                                    </p:animEffect>
                                    <p:anim calcmode="lin" valueType="num">
                                      <p:cBhvr>
                                        <p:cTn id="87" dur="1000" fill="hold"/>
                                        <p:tgtEl>
                                          <p:spTgt spid="14"/>
                                        </p:tgtEl>
                                        <p:attrNameLst>
                                          <p:attrName>ppt_x</p:attrName>
                                        </p:attrNameLst>
                                      </p:cBhvr>
                                      <p:tavLst>
                                        <p:tav tm="0">
                                          <p:val>
                                            <p:strVal val="#ppt_x"/>
                                          </p:val>
                                        </p:tav>
                                        <p:tav tm="100000">
                                          <p:val>
                                            <p:strVal val="#ppt_x"/>
                                          </p:val>
                                        </p:tav>
                                      </p:tavLst>
                                    </p:anim>
                                    <p:anim calcmode="lin" valueType="num">
                                      <p:cBhvr>
                                        <p:cTn id="8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wipe(down)">
                                      <p:cBhvr>
                                        <p:cTn id="93" dur="500"/>
                                        <p:tgtEl>
                                          <p:spTgt spid="15"/>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xit" presetSubtype="0" fill="hold" nodeType="clickEffect">
                                  <p:stCondLst>
                                    <p:cond delay="0"/>
                                  </p:stCondLst>
                                  <p:childTnLst>
                                    <p:animEffect transition="out" filter="dissolve">
                                      <p:cBhvr>
                                        <p:cTn id="97" dur="500"/>
                                        <p:tgtEl>
                                          <p:spTgt spid="30"/>
                                        </p:tgtEl>
                                      </p:cBhvr>
                                    </p:animEffect>
                                    <p:set>
                                      <p:cBhvr>
                                        <p:cTn id="98" dur="1" fill="hold">
                                          <p:stCondLst>
                                            <p:cond delay="499"/>
                                          </p:stCondLst>
                                        </p:cTn>
                                        <p:tgtEl>
                                          <p:spTgt spid="30"/>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barn(inVertical)">
                                      <p:cBhvr>
                                        <p:cTn id="103" dur="500"/>
                                        <p:tgtEl>
                                          <p:spTgt spid="41"/>
                                        </p:tgtEl>
                                      </p:cBhvr>
                                    </p:animEffect>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16"/>
                                        </p:tgtEl>
                                        <p:attrNameLst>
                                          <p:attrName>style.visibility</p:attrName>
                                        </p:attrNameLst>
                                      </p:cBhvr>
                                      <p:to>
                                        <p:strVal val="visible"/>
                                      </p:to>
                                    </p:set>
                                    <p:animEffect transition="in" filter="fade">
                                      <p:cBhvr>
                                        <p:cTn id="108" dur="1000"/>
                                        <p:tgtEl>
                                          <p:spTgt spid="16"/>
                                        </p:tgtEl>
                                      </p:cBhvr>
                                    </p:animEffect>
                                    <p:anim calcmode="lin" valueType="num">
                                      <p:cBhvr>
                                        <p:cTn id="109" dur="1000" fill="hold"/>
                                        <p:tgtEl>
                                          <p:spTgt spid="16"/>
                                        </p:tgtEl>
                                        <p:attrNameLst>
                                          <p:attrName>ppt_x</p:attrName>
                                        </p:attrNameLst>
                                      </p:cBhvr>
                                      <p:tavLst>
                                        <p:tav tm="0">
                                          <p:val>
                                            <p:strVal val="#ppt_x"/>
                                          </p:val>
                                        </p:tav>
                                        <p:tav tm="100000">
                                          <p:val>
                                            <p:strVal val="#ppt_x"/>
                                          </p:val>
                                        </p:tav>
                                      </p:tavLst>
                                    </p:anim>
                                    <p:anim calcmode="lin" valueType="num">
                                      <p:cBhvr>
                                        <p:cTn id="11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fade">
                                      <p:cBhvr>
                                        <p:cTn id="115" dur="1000"/>
                                        <p:tgtEl>
                                          <p:spTgt spid="17"/>
                                        </p:tgtEl>
                                      </p:cBhvr>
                                    </p:animEffect>
                                    <p:anim calcmode="lin" valueType="num">
                                      <p:cBhvr>
                                        <p:cTn id="116" dur="1000" fill="hold"/>
                                        <p:tgtEl>
                                          <p:spTgt spid="17"/>
                                        </p:tgtEl>
                                        <p:attrNameLst>
                                          <p:attrName>ppt_x</p:attrName>
                                        </p:attrNameLst>
                                      </p:cBhvr>
                                      <p:tavLst>
                                        <p:tav tm="0">
                                          <p:val>
                                            <p:strVal val="#ppt_x"/>
                                          </p:val>
                                        </p:tav>
                                        <p:tav tm="100000">
                                          <p:val>
                                            <p:strVal val="#ppt_x"/>
                                          </p:val>
                                        </p:tav>
                                      </p:tavLst>
                                    </p:anim>
                                    <p:anim calcmode="lin" valueType="num">
                                      <p:cBhvr>
                                        <p:cTn id="117" dur="1000" fill="hold"/>
                                        <p:tgtEl>
                                          <p:spTgt spid="17"/>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19"/>
                                        </p:tgtEl>
                                        <p:attrNameLst>
                                          <p:attrName>style.visibility</p:attrName>
                                        </p:attrNameLst>
                                      </p:cBhvr>
                                      <p:to>
                                        <p:strVal val="visible"/>
                                      </p:to>
                                    </p:set>
                                    <p:animEffect transition="in" filter="fade">
                                      <p:cBhvr>
                                        <p:cTn id="120" dur="1000"/>
                                        <p:tgtEl>
                                          <p:spTgt spid="19"/>
                                        </p:tgtEl>
                                      </p:cBhvr>
                                    </p:animEffect>
                                    <p:anim calcmode="lin" valueType="num">
                                      <p:cBhvr>
                                        <p:cTn id="121" dur="1000" fill="hold"/>
                                        <p:tgtEl>
                                          <p:spTgt spid="19"/>
                                        </p:tgtEl>
                                        <p:attrNameLst>
                                          <p:attrName>ppt_x</p:attrName>
                                        </p:attrNameLst>
                                      </p:cBhvr>
                                      <p:tavLst>
                                        <p:tav tm="0">
                                          <p:val>
                                            <p:strVal val="#ppt_x"/>
                                          </p:val>
                                        </p:tav>
                                        <p:tav tm="100000">
                                          <p:val>
                                            <p:strVal val="#ppt_x"/>
                                          </p:val>
                                        </p:tav>
                                      </p:tavLst>
                                    </p:anim>
                                    <p:anim calcmode="lin" valueType="num">
                                      <p:cBhvr>
                                        <p:cTn id="122" dur="1000" fill="hold"/>
                                        <p:tgtEl>
                                          <p:spTgt spid="19"/>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18"/>
                                        </p:tgtEl>
                                        <p:attrNameLst>
                                          <p:attrName>style.visibility</p:attrName>
                                        </p:attrNameLst>
                                      </p:cBhvr>
                                      <p:to>
                                        <p:strVal val="visible"/>
                                      </p:to>
                                    </p:set>
                                    <p:animEffect transition="in" filter="fade">
                                      <p:cBhvr>
                                        <p:cTn id="125" dur="1000"/>
                                        <p:tgtEl>
                                          <p:spTgt spid="18"/>
                                        </p:tgtEl>
                                      </p:cBhvr>
                                    </p:animEffect>
                                    <p:anim calcmode="lin" valueType="num">
                                      <p:cBhvr>
                                        <p:cTn id="126" dur="1000" fill="hold"/>
                                        <p:tgtEl>
                                          <p:spTgt spid="18"/>
                                        </p:tgtEl>
                                        <p:attrNameLst>
                                          <p:attrName>ppt_x</p:attrName>
                                        </p:attrNameLst>
                                      </p:cBhvr>
                                      <p:tavLst>
                                        <p:tav tm="0">
                                          <p:val>
                                            <p:strVal val="#ppt_x"/>
                                          </p:val>
                                        </p:tav>
                                        <p:tav tm="100000">
                                          <p:val>
                                            <p:strVal val="#ppt_x"/>
                                          </p:val>
                                        </p:tav>
                                      </p:tavLst>
                                    </p:anim>
                                    <p:anim calcmode="lin" valueType="num">
                                      <p:cBhvr>
                                        <p:cTn id="12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20"/>
                                        </p:tgtEl>
                                        <p:attrNameLst>
                                          <p:attrName>style.visibility</p:attrName>
                                        </p:attrNameLst>
                                      </p:cBhvr>
                                      <p:to>
                                        <p:strVal val="visible"/>
                                      </p:to>
                                    </p:set>
                                    <p:animEffect transition="in" filter="wipe(down)">
                                      <p:cBhvr>
                                        <p:cTn id="132" dur="500"/>
                                        <p:tgtEl>
                                          <p:spTgt spid="20"/>
                                        </p:tgtEl>
                                      </p:cBhvr>
                                    </p:animEffect>
                                  </p:childTnLst>
                                </p:cTn>
                              </p:par>
                            </p:childTnLst>
                          </p:cTn>
                        </p:par>
                      </p:childTnLst>
                    </p:cTn>
                  </p:par>
                  <p:par>
                    <p:cTn id="133" fill="hold">
                      <p:stCondLst>
                        <p:cond delay="indefinite"/>
                      </p:stCondLst>
                      <p:childTnLst>
                        <p:par>
                          <p:cTn id="134" fill="hold">
                            <p:stCondLst>
                              <p:cond delay="0"/>
                            </p:stCondLst>
                            <p:childTnLst>
                              <p:par>
                                <p:cTn id="135" presetID="16" presetClass="entr" presetSubtype="21" fill="hold" nodeType="clickEffect">
                                  <p:stCondLst>
                                    <p:cond delay="0"/>
                                  </p:stCondLst>
                                  <p:childTnLst>
                                    <p:set>
                                      <p:cBhvr>
                                        <p:cTn id="136" dur="1" fill="hold">
                                          <p:stCondLst>
                                            <p:cond delay="0"/>
                                          </p:stCondLst>
                                        </p:cTn>
                                        <p:tgtEl>
                                          <p:spTgt spid="42"/>
                                        </p:tgtEl>
                                        <p:attrNameLst>
                                          <p:attrName>style.visibility</p:attrName>
                                        </p:attrNameLst>
                                      </p:cBhvr>
                                      <p:to>
                                        <p:strVal val="visible"/>
                                      </p:to>
                                    </p:set>
                                    <p:animEffect transition="in" filter="barn(inVertical)">
                                      <p:cBhvr>
                                        <p:cTn id="137" dur="500"/>
                                        <p:tgtEl>
                                          <p:spTgt spid="42"/>
                                        </p:tgtEl>
                                      </p:cBhvr>
                                    </p:animEffect>
                                  </p:childTnLst>
                                </p:cTn>
                              </p:par>
                              <p:par>
                                <p:cTn id="138" presetID="9" presetClass="exit" presetSubtype="0" fill="hold" nodeType="withEffect">
                                  <p:stCondLst>
                                    <p:cond delay="0"/>
                                  </p:stCondLst>
                                  <p:childTnLst>
                                    <p:animEffect transition="out" filter="dissolve">
                                      <p:cBhvr>
                                        <p:cTn id="139" dur="500"/>
                                        <p:tgtEl>
                                          <p:spTgt spid="41"/>
                                        </p:tgtEl>
                                      </p:cBhvr>
                                    </p:animEffect>
                                    <p:set>
                                      <p:cBhvr>
                                        <p:cTn id="140" dur="1" fill="hold">
                                          <p:stCondLst>
                                            <p:cond delay="499"/>
                                          </p:stCondLst>
                                        </p:cTn>
                                        <p:tgtEl>
                                          <p:spTgt spid="41"/>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42" presetClass="entr" presetSubtype="0" fill="hold" nodeType="clickEffect">
                                  <p:stCondLst>
                                    <p:cond delay="0"/>
                                  </p:stCondLst>
                                  <p:childTnLst>
                                    <p:set>
                                      <p:cBhvr>
                                        <p:cTn id="144" dur="1" fill="hold">
                                          <p:stCondLst>
                                            <p:cond delay="0"/>
                                          </p:stCondLst>
                                        </p:cTn>
                                        <p:tgtEl>
                                          <p:spTgt spid="22"/>
                                        </p:tgtEl>
                                        <p:attrNameLst>
                                          <p:attrName>style.visibility</p:attrName>
                                        </p:attrNameLst>
                                      </p:cBhvr>
                                      <p:to>
                                        <p:strVal val="visible"/>
                                      </p:to>
                                    </p:set>
                                    <p:animEffect transition="in" filter="fade">
                                      <p:cBhvr>
                                        <p:cTn id="145" dur="1000"/>
                                        <p:tgtEl>
                                          <p:spTgt spid="22"/>
                                        </p:tgtEl>
                                      </p:cBhvr>
                                    </p:animEffect>
                                    <p:anim calcmode="lin" valueType="num">
                                      <p:cBhvr>
                                        <p:cTn id="146" dur="1000" fill="hold"/>
                                        <p:tgtEl>
                                          <p:spTgt spid="22"/>
                                        </p:tgtEl>
                                        <p:attrNameLst>
                                          <p:attrName>ppt_x</p:attrName>
                                        </p:attrNameLst>
                                      </p:cBhvr>
                                      <p:tavLst>
                                        <p:tav tm="0">
                                          <p:val>
                                            <p:strVal val="#ppt_x"/>
                                          </p:val>
                                        </p:tav>
                                        <p:tav tm="100000">
                                          <p:val>
                                            <p:strVal val="#ppt_x"/>
                                          </p:val>
                                        </p:tav>
                                      </p:tavLst>
                                    </p:anim>
                                    <p:anim calcmode="lin" valueType="num">
                                      <p:cBhvr>
                                        <p:cTn id="147" dur="1000" fill="hold"/>
                                        <p:tgtEl>
                                          <p:spTgt spid="22"/>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21"/>
                                        </p:tgtEl>
                                        <p:attrNameLst>
                                          <p:attrName>style.visibility</p:attrName>
                                        </p:attrNameLst>
                                      </p:cBhvr>
                                      <p:to>
                                        <p:strVal val="visible"/>
                                      </p:to>
                                    </p:set>
                                    <p:animEffect transition="in" filter="fade">
                                      <p:cBhvr>
                                        <p:cTn id="150" dur="1000"/>
                                        <p:tgtEl>
                                          <p:spTgt spid="21"/>
                                        </p:tgtEl>
                                      </p:cBhvr>
                                    </p:animEffect>
                                    <p:anim calcmode="lin" valueType="num">
                                      <p:cBhvr>
                                        <p:cTn id="151" dur="1000" fill="hold"/>
                                        <p:tgtEl>
                                          <p:spTgt spid="21"/>
                                        </p:tgtEl>
                                        <p:attrNameLst>
                                          <p:attrName>ppt_x</p:attrName>
                                        </p:attrNameLst>
                                      </p:cBhvr>
                                      <p:tavLst>
                                        <p:tav tm="0">
                                          <p:val>
                                            <p:strVal val="#ppt_x"/>
                                          </p:val>
                                        </p:tav>
                                        <p:tav tm="100000">
                                          <p:val>
                                            <p:strVal val="#ppt_x"/>
                                          </p:val>
                                        </p:tav>
                                      </p:tavLst>
                                    </p:anim>
                                    <p:anim calcmode="lin" valueType="num">
                                      <p:cBhvr>
                                        <p:cTn id="152" dur="1000" fill="hold"/>
                                        <p:tgtEl>
                                          <p:spTgt spid="21"/>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23"/>
                                        </p:tgtEl>
                                        <p:attrNameLst>
                                          <p:attrName>style.visibility</p:attrName>
                                        </p:attrNameLst>
                                      </p:cBhvr>
                                      <p:to>
                                        <p:strVal val="visible"/>
                                      </p:to>
                                    </p:set>
                                    <p:animEffect transition="in" filter="fade">
                                      <p:cBhvr>
                                        <p:cTn id="155" dur="1000"/>
                                        <p:tgtEl>
                                          <p:spTgt spid="23"/>
                                        </p:tgtEl>
                                      </p:cBhvr>
                                    </p:animEffect>
                                    <p:anim calcmode="lin" valueType="num">
                                      <p:cBhvr>
                                        <p:cTn id="156" dur="1000" fill="hold"/>
                                        <p:tgtEl>
                                          <p:spTgt spid="23"/>
                                        </p:tgtEl>
                                        <p:attrNameLst>
                                          <p:attrName>ppt_x</p:attrName>
                                        </p:attrNameLst>
                                      </p:cBhvr>
                                      <p:tavLst>
                                        <p:tav tm="0">
                                          <p:val>
                                            <p:strVal val="#ppt_x"/>
                                          </p:val>
                                        </p:tav>
                                        <p:tav tm="100000">
                                          <p:val>
                                            <p:strVal val="#ppt_x"/>
                                          </p:val>
                                        </p:tav>
                                      </p:tavLst>
                                    </p:anim>
                                    <p:anim calcmode="lin" valueType="num">
                                      <p:cBhvr>
                                        <p:cTn id="15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22" presetClass="entr" presetSubtype="4" fill="hold" grpId="0" nodeType="clickEffect">
                                  <p:stCondLst>
                                    <p:cond delay="0"/>
                                  </p:stCondLst>
                                  <p:childTnLst>
                                    <p:set>
                                      <p:cBhvr>
                                        <p:cTn id="161" dur="1" fill="hold">
                                          <p:stCondLst>
                                            <p:cond delay="0"/>
                                          </p:stCondLst>
                                        </p:cTn>
                                        <p:tgtEl>
                                          <p:spTgt spid="28"/>
                                        </p:tgtEl>
                                        <p:attrNameLst>
                                          <p:attrName>style.visibility</p:attrName>
                                        </p:attrNameLst>
                                      </p:cBhvr>
                                      <p:to>
                                        <p:strVal val="visible"/>
                                      </p:to>
                                    </p:set>
                                    <p:animEffect transition="in" filter="wipe(down)">
                                      <p:cBhvr>
                                        <p:cTn id="162" dur="500"/>
                                        <p:tgtEl>
                                          <p:spTgt spid="28"/>
                                        </p:tgtEl>
                                      </p:cBhvr>
                                    </p:animEffect>
                                  </p:childTnLst>
                                </p:cTn>
                              </p:par>
                            </p:childTnLst>
                          </p:cTn>
                        </p:par>
                      </p:childTnLst>
                    </p:cTn>
                  </p:par>
                  <p:par>
                    <p:cTn id="163" fill="hold">
                      <p:stCondLst>
                        <p:cond delay="indefinite"/>
                      </p:stCondLst>
                      <p:childTnLst>
                        <p:par>
                          <p:cTn id="164" fill="hold">
                            <p:stCondLst>
                              <p:cond delay="0"/>
                            </p:stCondLst>
                            <p:childTnLst>
                              <p:par>
                                <p:cTn id="165" presetID="9" presetClass="exit" presetSubtype="0" fill="hold" nodeType="clickEffect">
                                  <p:stCondLst>
                                    <p:cond delay="0"/>
                                  </p:stCondLst>
                                  <p:childTnLst>
                                    <p:animEffect transition="out" filter="dissolve">
                                      <p:cBhvr>
                                        <p:cTn id="166" dur="500"/>
                                        <p:tgtEl>
                                          <p:spTgt spid="42"/>
                                        </p:tgtEl>
                                      </p:cBhvr>
                                    </p:animEffect>
                                    <p:set>
                                      <p:cBhvr>
                                        <p:cTn id="167" dur="1" fill="hold">
                                          <p:stCondLst>
                                            <p:cond delay="499"/>
                                          </p:stCondLst>
                                        </p:cTn>
                                        <p:tgtEl>
                                          <p:spTgt spid="42"/>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16" presetClass="entr" presetSubtype="21" fill="hold" nodeType="click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barn(inVertical)">
                                      <p:cBhvr>
                                        <p:cTn id="172" dur="500"/>
                                        <p:tgtEl>
                                          <p:spTgt spid="43"/>
                                        </p:tgtEl>
                                      </p:cBhvr>
                                    </p:animEffect>
                                  </p:childTnLst>
                                </p:cTn>
                              </p:par>
                            </p:childTnLst>
                          </p:cTn>
                        </p:par>
                      </p:childTnLst>
                    </p:cTn>
                  </p:par>
                  <p:par>
                    <p:cTn id="173" fill="hold">
                      <p:stCondLst>
                        <p:cond delay="indefinite"/>
                      </p:stCondLst>
                      <p:childTnLst>
                        <p:par>
                          <p:cTn id="174" fill="hold">
                            <p:stCondLst>
                              <p:cond delay="0"/>
                            </p:stCondLst>
                            <p:childTnLst>
                              <p:par>
                                <p:cTn id="175" presetID="42" presetClass="entr" presetSubtype="0" fill="hold" grpId="0" nodeType="clickEffect">
                                  <p:stCondLst>
                                    <p:cond delay="0"/>
                                  </p:stCondLst>
                                  <p:childTnLst>
                                    <p:set>
                                      <p:cBhvr>
                                        <p:cTn id="176" dur="1" fill="hold">
                                          <p:stCondLst>
                                            <p:cond delay="0"/>
                                          </p:stCondLst>
                                        </p:cTn>
                                        <p:tgtEl>
                                          <p:spTgt spid="45"/>
                                        </p:tgtEl>
                                        <p:attrNameLst>
                                          <p:attrName>style.visibility</p:attrName>
                                        </p:attrNameLst>
                                      </p:cBhvr>
                                      <p:to>
                                        <p:strVal val="visible"/>
                                      </p:to>
                                    </p:set>
                                    <p:animEffect transition="in" filter="fade">
                                      <p:cBhvr>
                                        <p:cTn id="177" dur="1000"/>
                                        <p:tgtEl>
                                          <p:spTgt spid="45"/>
                                        </p:tgtEl>
                                      </p:cBhvr>
                                    </p:animEffect>
                                    <p:anim calcmode="lin" valueType="num">
                                      <p:cBhvr>
                                        <p:cTn id="178" dur="1000" fill="hold"/>
                                        <p:tgtEl>
                                          <p:spTgt spid="45"/>
                                        </p:tgtEl>
                                        <p:attrNameLst>
                                          <p:attrName>ppt_x</p:attrName>
                                        </p:attrNameLst>
                                      </p:cBhvr>
                                      <p:tavLst>
                                        <p:tav tm="0">
                                          <p:val>
                                            <p:strVal val="#ppt_x"/>
                                          </p:val>
                                        </p:tav>
                                        <p:tav tm="100000">
                                          <p:val>
                                            <p:strVal val="#ppt_x"/>
                                          </p:val>
                                        </p:tav>
                                      </p:tavLst>
                                    </p:anim>
                                    <p:anim calcmode="lin" valueType="num">
                                      <p:cBhvr>
                                        <p:cTn id="17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9" presetClass="exit" presetSubtype="0" fill="hold" nodeType="clickEffect">
                                  <p:stCondLst>
                                    <p:cond delay="0"/>
                                  </p:stCondLst>
                                  <p:childTnLst>
                                    <p:animEffect transition="out" filter="dissolve">
                                      <p:cBhvr>
                                        <p:cTn id="183" dur="500"/>
                                        <p:tgtEl>
                                          <p:spTgt spid="43"/>
                                        </p:tgtEl>
                                      </p:cBhvr>
                                    </p:animEffect>
                                    <p:set>
                                      <p:cBhvr>
                                        <p:cTn id="184"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8" grpId="0" animBg="1"/>
      <p:bldP spid="9" grpId="0"/>
      <p:bldP spid="11" grpId="0"/>
      <p:bldP spid="12" grpId="0"/>
      <p:bldP spid="14" grpId="0" animBg="1"/>
      <p:bldP spid="15" grpId="0"/>
      <p:bldP spid="16" grpId="0"/>
      <p:bldP spid="18" grpId="0" animBg="1"/>
      <p:bldP spid="20" grpId="0"/>
      <p:bldP spid="21" grpId="0" animBg="1"/>
      <p:bldP spid="23" grpId="0" animBg="1"/>
      <p:bldP spid="28" grpId="0"/>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Eliminate Local Common Subexpressions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29</a:t>
            </a:fld>
            <a:endParaRPr lang="en-US" dirty="0"/>
          </a:p>
        </p:txBody>
      </p:sp>
      <p:pic>
        <p:nvPicPr>
          <p:cNvPr id="11" name="Picture 10"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673" y="1383238"/>
            <a:ext cx="2114786" cy="1684950"/>
          </a:xfrm>
          <a:prstGeom prst="rect">
            <a:avLst/>
          </a:prstGeom>
          <a:noFill/>
          <a:ln w="12700">
            <a:solidFill>
              <a:schemeClr val="accent4">
                <a:lumMod val="60000"/>
                <a:lumOff val="40000"/>
              </a:schemeClr>
            </a:solidFill>
            <a:prstDash val="dash"/>
            <a:miter lim="800000"/>
            <a:headEnd/>
            <a:tailEnd/>
          </a:ln>
          <a:effectLst/>
        </p:spPr>
      </p:pic>
      <p:pic>
        <p:nvPicPr>
          <p:cNvPr id="13" name="Picture 12"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3140" y="1231411"/>
            <a:ext cx="3857813" cy="2489794"/>
          </a:xfrm>
          <a:prstGeom prst="rect">
            <a:avLst/>
          </a:prstGeom>
          <a:noFill/>
          <a:ln w="12700">
            <a:solidFill>
              <a:schemeClr val="accent4">
                <a:lumMod val="60000"/>
                <a:lumOff val="40000"/>
              </a:schemeClr>
            </a:solidFill>
            <a:prstDash val="dash"/>
            <a:miter lim="800000"/>
            <a:headEnd/>
            <a:tailEnd/>
          </a:ln>
          <a:effectLst/>
        </p:spPr>
      </p:pic>
      <p:sp>
        <p:nvSpPr>
          <p:cNvPr id="14" name="Right Arrow 13"/>
          <p:cNvSpPr/>
          <p:nvPr/>
        </p:nvSpPr>
        <p:spPr>
          <a:xfrm>
            <a:off x="2925881" y="1953709"/>
            <a:ext cx="1094509"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4" cstate="print"/>
          <a:srcRect/>
          <a:stretch>
            <a:fillRect/>
          </a:stretch>
        </p:blipFill>
        <p:spPr bwMode="auto">
          <a:xfrm>
            <a:off x="9455124" y="1565565"/>
            <a:ext cx="2475618" cy="1492394"/>
          </a:xfrm>
          <a:prstGeom prst="rect">
            <a:avLst/>
          </a:prstGeom>
          <a:noFill/>
          <a:ln w="12700">
            <a:solidFill>
              <a:schemeClr val="accent4">
                <a:lumMod val="60000"/>
                <a:lumOff val="40000"/>
              </a:schemeClr>
            </a:solidFill>
            <a:prstDash val="dash"/>
            <a:miter lim="800000"/>
            <a:headEnd/>
            <a:tailEnd/>
          </a:ln>
          <a:effectLst/>
        </p:spPr>
      </p:pic>
      <p:sp>
        <p:nvSpPr>
          <p:cNvPr id="15" name="Right Arrow 14"/>
          <p:cNvSpPr/>
          <p:nvPr/>
        </p:nvSpPr>
        <p:spPr>
          <a:xfrm>
            <a:off x="8096654" y="2136992"/>
            <a:ext cx="1176651"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i="1" dirty="0">
              <a:solidFill>
                <a:schemeClr val="tx1"/>
              </a:solidFill>
            </a:endParaRPr>
          </a:p>
        </p:txBody>
      </p:sp>
      <p:sp>
        <p:nvSpPr>
          <p:cNvPr id="16" name="Bent Arrow 15"/>
          <p:cNvSpPr/>
          <p:nvPr/>
        </p:nvSpPr>
        <p:spPr>
          <a:xfrm rot="10800000" flipH="1">
            <a:off x="6444343" y="3874895"/>
            <a:ext cx="2828962" cy="1419102"/>
          </a:xfrm>
          <a:prstGeom prst="bentArrow">
            <a:avLst>
              <a:gd name="adj1" fmla="val 25000"/>
              <a:gd name="adj2" fmla="val 24466"/>
              <a:gd name="adj3" fmla="val 25000"/>
              <a:gd name="adj4" fmla="val 43750"/>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47" name="Picture 3"/>
          <p:cNvPicPr>
            <a:picLocks noChangeAspect="1" noChangeArrowheads="1"/>
          </p:cNvPicPr>
          <p:nvPr/>
        </p:nvPicPr>
        <p:blipFill rotWithShape="1">
          <a:blip r:embed="rId5" cstate="print"/>
          <a:srcRect l="8821"/>
          <a:stretch/>
        </p:blipFill>
        <p:spPr bwMode="auto">
          <a:xfrm>
            <a:off x="9463314" y="4230689"/>
            <a:ext cx="2467428" cy="1675966"/>
          </a:xfrm>
          <a:prstGeom prst="rect">
            <a:avLst/>
          </a:prstGeom>
          <a:noFill/>
          <a:ln w="12700">
            <a:solidFill>
              <a:schemeClr val="accent4">
                <a:lumMod val="60000"/>
                <a:lumOff val="40000"/>
              </a:schemeClr>
            </a:solidFill>
            <a:prstDash val="dash"/>
            <a:miter lim="800000"/>
            <a:headEnd/>
            <a:tailEnd/>
          </a:ln>
          <a:effectLst/>
        </p:spPr>
      </p:pic>
      <p:sp>
        <p:nvSpPr>
          <p:cNvPr id="12" name="TextBox 11"/>
          <p:cNvSpPr txBox="1"/>
          <p:nvPr/>
        </p:nvSpPr>
        <p:spPr>
          <a:xfrm>
            <a:off x="7945908" y="2871282"/>
            <a:ext cx="1414481" cy="646331"/>
          </a:xfrm>
          <a:prstGeom prst="rect">
            <a:avLst/>
          </a:prstGeom>
          <a:noFill/>
          <a:ln>
            <a:noFill/>
          </a:ln>
        </p:spPr>
        <p:txBody>
          <a:bodyPr wrap="square" rtlCol="0">
            <a:spAutoFit/>
          </a:bodyPr>
          <a:lstStyle/>
          <a:p>
            <a:pPr algn="ctr"/>
            <a:r>
              <a:rPr lang="en-US" i="1" dirty="0">
                <a:solidFill>
                  <a:schemeClr val="accent5">
                    <a:lumMod val="75000"/>
                  </a:schemeClr>
                </a:solidFill>
              </a:rPr>
              <a:t>b is not live on exit</a:t>
            </a:r>
          </a:p>
        </p:txBody>
      </p:sp>
      <p:sp>
        <p:nvSpPr>
          <p:cNvPr id="17" name="TextBox 16"/>
          <p:cNvSpPr txBox="1"/>
          <p:nvPr/>
        </p:nvSpPr>
        <p:spPr>
          <a:xfrm>
            <a:off x="6818145" y="5160912"/>
            <a:ext cx="2081358" cy="369332"/>
          </a:xfrm>
          <a:prstGeom prst="rect">
            <a:avLst/>
          </a:prstGeom>
          <a:noFill/>
          <a:ln>
            <a:noFill/>
          </a:ln>
        </p:spPr>
        <p:txBody>
          <a:bodyPr wrap="square" rtlCol="0">
            <a:spAutoFit/>
          </a:bodyPr>
          <a:lstStyle/>
          <a:p>
            <a:pPr algn="ctr"/>
            <a:r>
              <a:rPr lang="en-US" i="1" dirty="0">
                <a:solidFill>
                  <a:schemeClr val="accent5">
                    <a:lumMod val="75000"/>
                  </a:schemeClr>
                </a:solidFill>
              </a:rPr>
              <a:t>b is live on exit</a:t>
            </a:r>
          </a:p>
        </p:txBody>
      </p:sp>
    </p:spTree>
    <p:extLst>
      <p:ext uri="{BB962C8B-B14F-4D97-AF65-F5344CB8AC3E}">
        <p14:creationId xmlns:p14="http://schemas.microsoft.com/office/powerpoint/2010/main" val="365896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146"/>
                                        </p:tgtEl>
                                        <p:attrNameLst>
                                          <p:attrName>style.visibility</p:attrName>
                                        </p:attrNameLst>
                                      </p:cBhvr>
                                      <p:to>
                                        <p:strVal val="visible"/>
                                      </p:to>
                                    </p:set>
                                    <p:animEffect transition="in" filter="fade">
                                      <p:cBhvr>
                                        <p:cTn id="17" dur="1000"/>
                                        <p:tgtEl>
                                          <p:spTgt spid="6146"/>
                                        </p:tgtEl>
                                      </p:cBhvr>
                                    </p:animEffect>
                                    <p:anim calcmode="lin" valueType="num">
                                      <p:cBhvr>
                                        <p:cTn id="18" dur="1000" fill="hold"/>
                                        <p:tgtEl>
                                          <p:spTgt spid="6146"/>
                                        </p:tgtEl>
                                        <p:attrNameLst>
                                          <p:attrName>ppt_x</p:attrName>
                                        </p:attrNameLst>
                                      </p:cBhvr>
                                      <p:tavLst>
                                        <p:tav tm="0">
                                          <p:val>
                                            <p:strVal val="#ppt_x"/>
                                          </p:val>
                                        </p:tav>
                                        <p:tav tm="100000">
                                          <p:val>
                                            <p:strVal val="#ppt_x"/>
                                          </p:val>
                                        </p:tav>
                                      </p:tavLst>
                                    </p:anim>
                                    <p:anim calcmode="lin" valueType="num">
                                      <p:cBhvr>
                                        <p:cTn id="19"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147"/>
                                        </p:tgtEl>
                                        <p:attrNameLst>
                                          <p:attrName>style.visibility</p:attrName>
                                        </p:attrNameLst>
                                      </p:cBhvr>
                                      <p:to>
                                        <p:strVal val="visible"/>
                                      </p:to>
                                    </p:set>
                                    <p:animEffect transition="in" filter="fade">
                                      <p:cBhvr>
                                        <p:cTn id="34" dur="1000"/>
                                        <p:tgtEl>
                                          <p:spTgt spid="6147"/>
                                        </p:tgtEl>
                                      </p:cBhvr>
                                    </p:animEffect>
                                    <p:anim calcmode="lin" valueType="num">
                                      <p:cBhvr>
                                        <p:cTn id="35" dur="1000" fill="hold"/>
                                        <p:tgtEl>
                                          <p:spTgt spid="6147"/>
                                        </p:tgtEl>
                                        <p:attrNameLst>
                                          <p:attrName>ppt_x</p:attrName>
                                        </p:attrNameLst>
                                      </p:cBhvr>
                                      <p:tavLst>
                                        <p:tav tm="0">
                                          <p:val>
                                            <p:strVal val="#ppt_x"/>
                                          </p:val>
                                        </p:tav>
                                        <p:tav tm="100000">
                                          <p:val>
                                            <p:strVal val="#ppt_x"/>
                                          </p:val>
                                        </p:tav>
                                      </p:tavLst>
                                    </p:anim>
                                    <p:anim calcmode="lin" valueType="num">
                                      <p:cBhvr>
                                        <p:cTn id="36" dur="1000" fill="hold"/>
                                        <p:tgtEl>
                                          <p:spTgt spid="61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2"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 Finding Local Common Subexpressions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30</a:t>
            </a:fld>
            <a:endParaRPr lang="en-US" dirty="0"/>
          </a:p>
        </p:txBody>
      </p:sp>
      <p:sp>
        <p:nvSpPr>
          <p:cNvPr id="6" name="Content Placeholder 5"/>
          <p:cNvSpPr>
            <a:spLocks noGrp="1"/>
          </p:cNvSpPr>
          <p:nvPr>
            <p:ph idx="1"/>
          </p:nvPr>
        </p:nvSpPr>
        <p:spPr>
          <a:xfrm>
            <a:off x="838200" y="1246909"/>
            <a:ext cx="10515600" cy="4930054"/>
          </a:xfrm>
        </p:spPr>
        <p:txBody>
          <a:bodyPr/>
          <a:lstStyle/>
          <a:p>
            <a:r>
              <a:rPr lang="en-US" dirty="0">
                <a:latin typeface="Candara" panose="020E0502030303020204" pitchFamily="34" charset="0"/>
                <a:cs typeface="Andalus" panose="02020603050405020304" pitchFamily="18" charset="-78"/>
              </a:rPr>
              <a:t>Another Example:</a:t>
            </a: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r>
              <a:rPr lang="en-US" dirty="0">
                <a:latin typeface="Candara" panose="020E0502030303020204" pitchFamily="34" charset="0"/>
                <a:cs typeface="Andalus" panose="02020603050405020304" pitchFamily="18" charset="-78"/>
              </a:rPr>
              <a:t>What will happen in this case?</a:t>
            </a:r>
          </a:p>
          <a:p>
            <a:pPr lvl="1"/>
            <a:r>
              <a:rPr lang="en-US" dirty="0">
                <a:solidFill>
                  <a:srgbClr val="FF0000"/>
                </a:solidFill>
                <a:latin typeface="Candara" panose="020E0502030303020204" pitchFamily="34" charset="0"/>
                <a:cs typeface="Andalus" panose="02020603050405020304" pitchFamily="18" charset="-78"/>
              </a:rPr>
              <a:t>DAG method will fail to recognize detect common subexpression of 1</a:t>
            </a:r>
            <a:r>
              <a:rPr lang="en-US" baseline="30000" dirty="0">
                <a:solidFill>
                  <a:srgbClr val="FF0000"/>
                </a:solidFill>
                <a:latin typeface="Candara" panose="020E0502030303020204" pitchFamily="34" charset="0"/>
                <a:cs typeface="Andalus" panose="02020603050405020304" pitchFamily="18" charset="-78"/>
              </a:rPr>
              <a:t>st</a:t>
            </a:r>
            <a:r>
              <a:rPr lang="en-US" dirty="0">
                <a:solidFill>
                  <a:srgbClr val="FF0000"/>
                </a:solidFill>
                <a:latin typeface="Candara" panose="020E0502030303020204" pitchFamily="34" charset="0"/>
                <a:cs typeface="Andalus" panose="02020603050405020304" pitchFamily="18" charset="-78"/>
              </a:rPr>
              <a:t> and 4</a:t>
            </a:r>
            <a:r>
              <a:rPr lang="en-US" baseline="30000" dirty="0">
                <a:solidFill>
                  <a:srgbClr val="FF0000"/>
                </a:solidFill>
                <a:latin typeface="Candara" panose="020E0502030303020204" pitchFamily="34" charset="0"/>
                <a:cs typeface="Andalus" panose="02020603050405020304" pitchFamily="18" charset="-78"/>
              </a:rPr>
              <a:t>th</a:t>
            </a:r>
            <a:r>
              <a:rPr lang="en-US" dirty="0">
                <a:solidFill>
                  <a:srgbClr val="FF0000"/>
                </a:solidFill>
                <a:latin typeface="Candara" panose="020E0502030303020204" pitchFamily="34" charset="0"/>
                <a:cs typeface="Andalus" panose="02020603050405020304" pitchFamily="18" charset="-78"/>
              </a:rPr>
              <a:t> instruction</a:t>
            </a:r>
          </a:p>
          <a:p>
            <a:endParaRPr lang="en-US" dirty="0">
              <a:latin typeface="Candara" panose="020E0502030303020204" pitchFamily="34" charset="0"/>
              <a:cs typeface="Andalus" panose="02020603050405020304" pitchFamily="18" charset="-78"/>
            </a:endParaRPr>
          </a:p>
        </p:txBody>
      </p:sp>
      <p:pic>
        <p:nvPicPr>
          <p:cNvPr id="7" name="Picture 6"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4341" y="2199585"/>
            <a:ext cx="2379798" cy="1850953"/>
          </a:xfrm>
          <a:prstGeom prst="rect">
            <a:avLst/>
          </a:prstGeom>
          <a:noFill/>
          <a:ln w="12700">
            <a:solidFill>
              <a:schemeClr val="accent4">
                <a:lumMod val="60000"/>
                <a:lumOff val="40000"/>
              </a:schemeClr>
            </a:solidFill>
            <a:prstDash val="dash"/>
            <a:miter lim="800000"/>
            <a:headEnd/>
            <a:tailEnd/>
          </a:ln>
          <a:effectLst/>
        </p:spPr>
      </p:pic>
      <p:pic>
        <p:nvPicPr>
          <p:cNvPr id="10" name="Picture 9"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70145" y="1756896"/>
            <a:ext cx="3742569" cy="2640926"/>
          </a:xfrm>
          <a:prstGeom prst="rect">
            <a:avLst/>
          </a:prstGeom>
          <a:noFill/>
          <a:ln w="12700">
            <a:solidFill>
              <a:schemeClr val="accent4">
                <a:lumMod val="60000"/>
                <a:lumOff val="40000"/>
              </a:schemeClr>
            </a:solidFill>
            <a:prstDash val="dash"/>
            <a:miter lim="800000"/>
            <a:headEnd/>
            <a:tailEnd/>
          </a:ln>
          <a:effectLst/>
        </p:spPr>
      </p:pic>
      <p:sp>
        <p:nvSpPr>
          <p:cNvPr id="8" name="Right Arrow 7"/>
          <p:cNvSpPr/>
          <p:nvPr/>
        </p:nvSpPr>
        <p:spPr>
          <a:xfrm>
            <a:off x="5579766" y="2710214"/>
            <a:ext cx="1094509"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228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animEffect transition="in" filter="wipe(down)">
                                      <p:cBhvr>
                                        <p:cTn id="19"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Dead Code Elimination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31</a:t>
            </a:fld>
            <a:endParaRPr lang="en-US" dirty="0"/>
          </a:p>
        </p:txBody>
      </p:sp>
      <p:sp>
        <p:nvSpPr>
          <p:cNvPr id="6" name="Content Placeholder 5"/>
          <p:cNvSpPr>
            <a:spLocks noGrp="1"/>
          </p:cNvSpPr>
          <p:nvPr>
            <p:ph idx="1"/>
          </p:nvPr>
        </p:nvSpPr>
        <p:spPr>
          <a:xfrm>
            <a:off x="838200" y="1246909"/>
            <a:ext cx="10515600" cy="4930054"/>
          </a:xfrm>
        </p:spPr>
        <p:txBody>
          <a:bodyPr/>
          <a:lstStyle/>
          <a:p>
            <a:r>
              <a:rPr lang="en-US" dirty="0">
                <a:latin typeface="Candara" panose="020E0502030303020204" pitchFamily="34" charset="0"/>
                <a:cs typeface="Andalus" panose="02020603050405020304" pitchFamily="18" charset="-78"/>
              </a:rPr>
              <a:t>Eliminate instructions that compute values that are never used</a:t>
            </a:r>
          </a:p>
          <a:p>
            <a:r>
              <a:rPr lang="en-US" dirty="0">
                <a:latin typeface="Candara" panose="020E0502030303020204" pitchFamily="34" charset="0"/>
                <a:cs typeface="Andalus" panose="02020603050405020304" pitchFamily="18" charset="-78"/>
              </a:rPr>
              <a:t>Delete the nodes with no ancestor and no attached live variables from the DAG</a:t>
            </a:r>
          </a:p>
        </p:txBody>
      </p:sp>
      <p:pic>
        <p:nvPicPr>
          <p:cNvPr id="8" name="Picture 7"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139" y="2830750"/>
            <a:ext cx="2067213" cy="1762371"/>
          </a:xfrm>
          <a:prstGeom prst="rect">
            <a:avLst/>
          </a:prstGeom>
          <a:noFill/>
          <a:ln w="12700">
            <a:solidFill>
              <a:schemeClr val="accent4">
                <a:lumMod val="60000"/>
                <a:lumOff val="40000"/>
              </a:schemeClr>
            </a:solidFill>
            <a:prstDash val="dash"/>
            <a:miter lim="800000"/>
            <a:headEnd/>
            <a:tailEnd/>
          </a:ln>
          <a:effectLst/>
        </p:spPr>
      </p:pic>
      <p:pic>
        <p:nvPicPr>
          <p:cNvPr id="10" name="Picture 9"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0905" y="2349670"/>
            <a:ext cx="4429743" cy="2724530"/>
          </a:xfrm>
          <a:prstGeom prst="rect">
            <a:avLst/>
          </a:prstGeom>
          <a:noFill/>
          <a:ln w="12700">
            <a:solidFill>
              <a:schemeClr val="accent4">
                <a:lumMod val="60000"/>
                <a:lumOff val="40000"/>
              </a:schemeClr>
            </a:solidFill>
            <a:prstDash val="dash"/>
            <a:miter lim="800000"/>
            <a:headEnd/>
            <a:tailEnd/>
          </a:ln>
          <a:effectLst/>
        </p:spPr>
      </p:pic>
      <p:sp>
        <p:nvSpPr>
          <p:cNvPr id="9" name="Right Arrow 8"/>
          <p:cNvSpPr/>
          <p:nvPr/>
        </p:nvSpPr>
        <p:spPr>
          <a:xfrm>
            <a:off x="2664031" y="3146364"/>
            <a:ext cx="1094509"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Screen Clipping"/>
          <p:cNvPicPr>
            <a:picLocks noChangeAspect="1"/>
          </p:cNvPicPr>
          <p:nvPr/>
        </p:nvPicPr>
        <p:blipFill rotWithShape="1">
          <a:blip r:embed="rId2" cstate="print">
            <a:extLst>
              <a:ext uri="{28A0092B-C50C-407E-A947-70E740481C1C}">
                <a14:useLocalDpi xmlns:a14="http://schemas.microsoft.com/office/drawing/2010/main" val="0"/>
              </a:ext>
            </a:extLst>
          </a:blip>
          <a:srcRect b="49789"/>
          <a:stretch/>
        </p:blipFill>
        <p:spPr>
          <a:xfrm>
            <a:off x="10040256" y="3083884"/>
            <a:ext cx="2067213" cy="884908"/>
          </a:xfrm>
          <a:prstGeom prst="rect">
            <a:avLst/>
          </a:prstGeom>
          <a:noFill/>
          <a:ln w="12700">
            <a:solidFill>
              <a:schemeClr val="accent4">
                <a:lumMod val="60000"/>
                <a:lumOff val="40000"/>
              </a:schemeClr>
            </a:solidFill>
            <a:prstDash val="dash"/>
            <a:miter lim="800000"/>
            <a:headEnd/>
            <a:tailEnd/>
          </a:ln>
          <a:effectLst/>
        </p:spPr>
      </p:pic>
      <p:sp>
        <p:nvSpPr>
          <p:cNvPr id="13" name="Right Arrow 12"/>
          <p:cNvSpPr/>
          <p:nvPr/>
        </p:nvSpPr>
        <p:spPr>
          <a:xfrm>
            <a:off x="8654142" y="3146364"/>
            <a:ext cx="1244601"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213705" y="2437553"/>
            <a:ext cx="2071252" cy="646331"/>
          </a:xfrm>
          <a:prstGeom prst="rect">
            <a:avLst/>
          </a:prstGeom>
          <a:noFill/>
          <a:ln>
            <a:noFill/>
          </a:ln>
        </p:spPr>
        <p:txBody>
          <a:bodyPr wrap="square" rtlCol="0">
            <a:spAutoFit/>
          </a:bodyPr>
          <a:lstStyle/>
          <a:p>
            <a:pPr algn="ctr"/>
            <a:r>
              <a:rPr lang="en-US" i="1" dirty="0">
                <a:solidFill>
                  <a:schemeClr val="accent5">
                    <a:lumMod val="75000"/>
                  </a:schemeClr>
                </a:solidFill>
              </a:rPr>
              <a:t>Assuming e and c are not live on exit</a:t>
            </a:r>
          </a:p>
        </p:txBody>
      </p:sp>
    </p:spTree>
    <p:extLst>
      <p:ext uri="{BB962C8B-B14F-4D97-AF65-F5344CB8AC3E}">
        <p14:creationId xmlns:p14="http://schemas.microsoft.com/office/powerpoint/2010/main" val="91528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Use of Algebraic Identities</a:t>
            </a:r>
          </a:p>
        </p:txBody>
      </p:sp>
      <p:sp>
        <p:nvSpPr>
          <p:cNvPr id="3" name="Footer Placeholder 2"/>
          <p:cNvSpPr>
            <a:spLocks noGrp="1"/>
          </p:cNvSpPr>
          <p:nvPr>
            <p:ph type="ftr" sz="quarter" idx="11"/>
          </p:nvPr>
        </p:nvSpPr>
        <p:spPr/>
        <p:txBody>
          <a:bodyPr/>
          <a:lstStyle/>
          <a:p>
            <a:r>
              <a:rPr lang="en-US" dirty="0" err="1"/>
              <a:t>Dept</a:t>
            </a:r>
            <a:r>
              <a:rPr lang="en-US" dirty="0"/>
              <a: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32</a:t>
            </a:fld>
            <a:endParaRPr lang="en-US" dirty="0"/>
          </a:p>
        </p:txBody>
      </p:sp>
      <p:sp>
        <p:nvSpPr>
          <p:cNvPr id="6" name="Content Placeholder 5"/>
          <p:cNvSpPr>
            <a:spLocks noGrp="1"/>
          </p:cNvSpPr>
          <p:nvPr>
            <p:ph idx="1"/>
          </p:nvPr>
        </p:nvSpPr>
        <p:spPr>
          <a:xfrm>
            <a:off x="838200" y="1246909"/>
            <a:ext cx="10912522" cy="4930054"/>
          </a:xfrm>
        </p:spPr>
        <p:txBody>
          <a:bodyPr>
            <a:normAutofit/>
          </a:bodyPr>
          <a:lstStyle/>
          <a:p>
            <a:r>
              <a:rPr lang="en-US" dirty="0">
                <a:latin typeface="Candara" panose="020E0502030303020204" pitchFamily="34" charset="0"/>
                <a:cs typeface="Andalus" panose="02020603050405020304" pitchFamily="18" charset="-78"/>
              </a:rPr>
              <a:t>Apply </a:t>
            </a:r>
            <a:r>
              <a:rPr lang="en-US" dirty="0">
                <a:solidFill>
                  <a:srgbClr val="C00000"/>
                </a:solidFill>
                <a:latin typeface="Candara" panose="020E0502030303020204" pitchFamily="34" charset="0"/>
                <a:cs typeface="Andalus" panose="02020603050405020304" pitchFamily="18" charset="-78"/>
              </a:rPr>
              <a:t>algebraic identities</a:t>
            </a:r>
            <a:r>
              <a:rPr lang="en-US" dirty="0">
                <a:latin typeface="Candara" panose="020E0502030303020204" pitchFamily="34" charset="0"/>
                <a:cs typeface="Andalus" panose="02020603050405020304" pitchFamily="18" charset="-78"/>
              </a:rPr>
              <a:t> to eliminate computation</a:t>
            </a:r>
          </a:p>
          <a:p>
            <a:endParaRPr lang="en-US" dirty="0">
              <a:latin typeface="Candara" panose="020E0502030303020204" pitchFamily="34" charset="0"/>
              <a:cs typeface="Andalus" panose="02020603050405020304" pitchFamily="18" charset="-78"/>
            </a:endParaRPr>
          </a:p>
          <a:p>
            <a:pPr marL="0" indent="0">
              <a:buNone/>
            </a:pPr>
            <a:endParaRPr lang="en-US" dirty="0">
              <a:latin typeface="Candara" panose="020E0502030303020204" pitchFamily="34" charset="0"/>
              <a:cs typeface="Andalus" panose="02020603050405020304" pitchFamily="18" charset="-78"/>
            </a:endParaRPr>
          </a:p>
          <a:p>
            <a:r>
              <a:rPr lang="en-US" dirty="0">
                <a:solidFill>
                  <a:srgbClr val="C00000"/>
                </a:solidFill>
                <a:latin typeface="Candara" panose="020E0502030303020204" pitchFamily="34" charset="0"/>
                <a:cs typeface="Andalus" panose="02020603050405020304" pitchFamily="18" charset="-78"/>
              </a:rPr>
              <a:t>Local reduction in strength</a:t>
            </a: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r>
              <a:rPr lang="en-US" dirty="0">
                <a:solidFill>
                  <a:srgbClr val="C00000"/>
                </a:solidFill>
                <a:latin typeface="Candara" panose="020E0502030303020204" pitchFamily="34" charset="0"/>
                <a:cs typeface="Andalus" panose="02020603050405020304" pitchFamily="18" charset="-78"/>
              </a:rPr>
              <a:t>Constant Folding</a:t>
            </a:r>
            <a:r>
              <a:rPr lang="en-US" dirty="0">
                <a:latin typeface="Candara" panose="020E0502030303020204" pitchFamily="34" charset="0"/>
                <a:cs typeface="Andalus" panose="02020603050405020304" pitchFamily="18" charset="-78"/>
              </a:rPr>
              <a:t> by evaluating constant expressions at compile time</a:t>
            </a:r>
          </a:p>
          <a:p>
            <a:pPr lvl="1"/>
            <a:r>
              <a:rPr lang="en-US" dirty="0">
                <a:solidFill>
                  <a:schemeClr val="accent4">
                    <a:lumMod val="50000"/>
                  </a:schemeClr>
                </a:solidFill>
                <a:latin typeface="Candara" panose="020E0502030303020204" pitchFamily="34" charset="0"/>
                <a:cs typeface="Andalus" panose="02020603050405020304" pitchFamily="18" charset="-78"/>
              </a:rPr>
              <a:t>Example:</a:t>
            </a:r>
            <a:r>
              <a:rPr lang="en-US" dirty="0">
                <a:solidFill>
                  <a:schemeClr val="accent5">
                    <a:lumMod val="75000"/>
                  </a:schemeClr>
                </a:solidFill>
                <a:latin typeface="Candara" panose="020E0502030303020204" pitchFamily="34" charset="0"/>
                <a:cs typeface="Andalus" panose="02020603050405020304" pitchFamily="18" charset="-78"/>
              </a:rPr>
              <a:t> </a:t>
            </a:r>
            <a:r>
              <a:rPr lang="en-US" dirty="0">
                <a:latin typeface="Candara" panose="020E0502030303020204" pitchFamily="34" charset="0"/>
                <a:cs typeface="Andalus" panose="02020603050405020304" pitchFamily="18" charset="-78"/>
              </a:rPr>
              <a:t>replace</a:t>
            </a:r>
            <a:r>
              <a:rPr lang="en-US" dirty="0">
                <a:solidFill>
                  <a:schemeClr val="accent5">
                    <a:lumMod val="75000"/>
                  </a:schemeClr>
                </a:solidFill>
                <a:latin typeface="Candara" panose="020E0502030303020204" pitchFamily="34" charset="0"/>
                <a:cs typeface="Andalus" panose="02020603050405020304" pitchFamily="18" charset="-78"/>
              </a:rPr>
              <a:t> 2*3.14 </a:t>
            </a:r>
            <a:r>
              <a:rPr lang="en-US" dirty="0">
                <a:latin typeface="Candara" panose="020E0502030303020204" pitchFamily="34" charset="0"/>
                <a:cs typeface="Andalus" panose="02020603050405020304" pitchFamily="18" charset="-78"/>
              </a:rPr>
              <a:t>by</a:t>
            </a:r>
            <a:r>
              <a:rPr lang="en-US" dirty="0">
                <a:solidFill>
                  <a:schemeClr val="accent5">
                    <a:lumMod val="75000"/>
                  </a:schemeClr>
                </a:solidFill>
                <a:latin typeface="Candara" panose="020E0502030303020204" pitchFamily="34" charset="0"/>
                <a:cs typeface="Andalus" panose="02020603050405020304" pitchFamily="18" charset="-78"/>
              </a:rPr>
              <a:t> 6.28</a:t>
            </a:r>
          </a:p>
        </p:txBody>
      </p:sp>
      <p:pic>
        <p:nvPicPr>
          <p:cNvPr id="7" name="Picture 6"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7616" y="1791823"/>
            <a:ext cx="5150593" cy="848840"/>
          </a:xfrm>
          <a:prstGeom prst="rect">
            <a:avLst/>
          </a:prstGeom>
          <a:noFill/>
          <a:ln>
            <a:solidFill>
              <a:schemeClr val="accent4">
                <a:lumMod val="60000"/>
                <a:lumOff val="40000"/>
              </a:schemeClr>
            </a:solidFill>
            <a:prstDash val="dash"/>
          </a:ln>
        </p:spPr>
      </p:pic>
      <p:pic>
        <p:nvPicPr>
          <p:cNvPr id="10" name="Picture 9"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4283" y="3303432"/>
            <a:ext cx="3496609" cy="1418303"/>
          </a:xfrm>
          <a:prstGeom prst="rect">
            <a:avLst/>
          </a:prstGeom>
          <a:noFill/>
          <a:ln>
            <a:solidFill>
              <a:schemeClr val="accent4">
                <a:lumMod val="60000"/>
                <a:lumOff val="40000"/>
              </a:schemeClr>
            </a:solidFill>
            <a:prstDash val="dash"/>
          </a:ln>
        </p:spPr>
      </p:pic>
    </p:spTree>
    <p:extLst>
      <p:ext uri="{BB962C8B-B14F-4D97-AF65-F5344CB8AC3E}">
        <p14:creationId xmlns:p14="http://schemas.microsoft.com/office/powerpoint/2010/main" val="307713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arn(inVertic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animEffect transition="in" filter="barn(inVertical)">
                                      <p:cBhvr>
                                        <p:cTn id="29" dur="500"/>
                                        <p:tgtEl>
                                          <p:spTgt spid="6">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animEffect transition="in" filter="fade">
                                      <p:cBhvr>
                                        <p:cTn id="34"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Use of Algebraic Identities</a:t>
            </a:r>
          </a:p>
        </p:txBody>
      </p:sp>
      <p:sp>
        <p:nvSpPr>
          <p:cNvPr id="3" name="Footer Placeholder 2"/>
          <p:cNvSpPr>
            <a:spLocks noGrp="1"/>
          </p:cNvSpPr>
          <p:nvPr>
            <p:ph type="ftr" sz="quarter" idx="11"/>
          </p:nvPr>
        </p:nvSpPr>
        <p:spPr/>
        <p:txBody>
          <a:bodyPr/>
          <a:lstStyle/>
          <a:p>
            <a:r>
              <a:rPr lang="en-US" dirty="0" err="1"/>
              <a:t>Dept</a:t>
            </a:r>
            <a:r>
              <a:rPr lang="en-US" dirty="0"/>
              <a: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33</a:t>
            </a:fld>
            <a:endParaRPr lang="en-US" dirty="0"/>
          </a:p>
        </p:txBody>
      </p:sp>
      <p:sp>
        <p:nvSpPr>
          <p:cNvPr id="6" name="Content Placeholder 5"/>
          <p:cNvSpPr>
            <a:spLocks noGrp="1"/>
          </p:cNvSpPr>
          <p:nvPr>
            <p:ph idx="1"/>
          </p:nvPr>
        </p:nvSpPr>
        <p:spPr>
          <a:xfrm>
            <a:off x="838200" y="1246909"/>
            <a:ext cx="10912522" cy="4930054"/>
          </a:xfrm>
        </p:spPr>
        <p:txBody>
          <a:bodyPr>
            <a:normAutofit/>
          </a:bodyPr>
          <a:lstStyle/>
          <a:p>
            <a:r>
              <a:rPr lang="en-US" dirty="0">
                <a:solidFill>
                  <a:srgbClr val="C00000"/>
                </a:solidFill>
                <a:latin typeface="Candara" panose="020E0502030303020204" pitchFamily="34" charset="0"/>
                <a:cs typeface="Andalus" panose="02020603050405020304" pitchFamily="18" charset="-78"/>
              </a:rPr>
              <a:t>Commutativity</a:t>
            </a:r>
            <a:r>
              <a:rPr lang="en-US" dirty="0">
                <a:latin typeface="Candara" panose="020E0502030303020204" pitchFamily="34" charset="0"/>
                <a:cs typeface="Andalus" panose="02020603050405020304" pitchFamily="18" charset="-78"/>
              </a:rPr>
              <a:t> with local common </a:t>
            </a:r>
            <a:r>
              <a:rPr lang="en-US" dirty="0" err="1">
                <a:latin typeface="Candara" panose="020E0502030303020204" pitchFamily="34" charset="0"/>
                <a:cs typeface="Andalus" panose="02020603050405020304" pitchFamily="18" charset="-78"/>
              </a:rPr>
              <a:t>subexpression</a:t>
            </a:r>
            <a:endParaRPr lang="en-US" dirty="0">
              <a:latin typeface="Candara" panose="020E0502030303020204" pitchFamily="34" charset="0"/>
              <a:cs typeface="Andalus" panose="02020603050405020304" pitchFamily="18" charset="-78"/>
            </a:endParaRPr>
          </a:p>
          <a:p>
            <a:endParaRPr lang="en-US" dirty="0">
              <a:latin typeface="Candara" panose="020E0502030303020204" pitchFamily="34" charset="0"/>
              <a:cs typeface="Andalus" panose="02020603050405020304" pitchFamily="18" charset="-78"/>
            </a:endParaRPr>
          </a:p>
          <a:p>
            <a:endParaRPr lang="en-US" dirty="0">
              <a:solidFill>
                <a:srgbClr val="C00000"/>
              </a:solidFill>
              <a:latin typeface="Candara" panose="020E0502030303020204" pitchFamily="34" charset="0"/>
              <a:cs typeface="Andalus" panose="02020603050405020304" pitchFamily="18" charset="-78"/>
            </a:endParaRPr>
          </a:p>
          <a:p>
            <a:endParaRPr lang="en-US" dirty="0">
              <a:solidFill>
                <a:srgbClr val="C00000"/>
              </a:solidFill>
              <a:latin typeface="Candara" panose="020E0502030303020204" pitchFamily="34" charset="0"/>
              <a:cs typeface="Andalus" panose="02020603050405020304" pitchFamily="18" charset="-78"/>
            </a:endParaRPr>
          </a:p>
          <a:p>
            <a:r>
              <a:rPr lang="en-US" dirty="0">
                <a:solidFill>
                  <a:srgbClr val="C00000"/>
                </a:solidFill>
                <a:latin typeface="Candara" panose="020E0502030303020204" pitchFamily="34" charset="0"/>
                <a:cs typeface="Andalus" panose="02020603050405020304" pitchFamily="18" charset="-78"/>
              </a:rPr>
              <a:t>Associativity</a:t>
            </a:r>
            <a:r>
              <a:rPr lang="en-US" dirty="0">
                <a:latin typeface="Candara" panose="020E0502030303020204" pitchFamily="34" charset="0"/>
                <a:cs typeface="Andalus" panose="02020603050405020304" pitchFamily="18" charset="-78"/>
              </a:rPr>
              <a:t> with composite expression</a:t>
            </a:r>
          </a:p>
        </p:txBody>
      </p:sp>
      <p:sp>
        <p:nvSpPr>
          <p:cNvPr id="5" name="TextBox 4"/>
          <p:cNvSpPr txBox="1"/>
          <p:nvPr/>
        </p:nvSpPr>
        <p:spPr>
          <a:xfrm>
            <a:off x="3474358" y="1946946"/>
            <a:ext cx="1157515" cy="830997"/>
          </a:xfrm>
          <a:prstGeom prst="rect">
            <a:avLst/>
          </a:prstGeom>
          <a:noFill/>
          <a:ln>
            <a:solidFill>
              <a:schemeClr val="accent4">
                <a:lumMod val="60000"/>
                <a:lumOff val="40000"/>
              </a:schemeClr>
            </a:solidFill>
            <a:prstDash val="dash"/>
          </a:ln>
        </p:spPr>
        <p:txBody>
          <a:bodyPr wrap="square" rtlCol="0">
            <a:spAutoFit/>
          </a:bodyPr>
          <a:lstStyle/>
          <a:p>
            <a:pPr algn="ctr"/>
            <a:r>
              <a:rPr lang="en-US" sz="2400" dirty="0"/>
              <a:t>a = x*y</a:t>
            </a:r>
          </a:p>
          <a:p>
            <a:pPr algn="ctr"/>
            <a:r>
              <a:rPr lang="en-US" sz="2400" dirty="0"/>
              <a:t>b = y*x </a:t>
            </a:r>
          </a:p>
        </p:txBody>
      </p:sp>
      <p:sp>
        <p:nvSpPr>
          <p:cNvPr id="9" name="TextBox 8"/>
          <p:cNvSpPr txBox="1"/>
          <p:nvPr/>
        </p:nvSpPr>
        <p:spPr>
          <a:xfrm>
            <a:off x="6096000" y="1946946"/>
            <a:ext cx="1157515" cy="830997"/>
          </a:xfrm>
          <a:prstGeom prst="rect">
            <a:avLst/>
          </a:prstGeom>
          <a:noFill/>
          <a:ln>
            <a:solidFill>
              <a:schemeClr val="accent4">
                <a:lumMod val="60000"/>
                <a:lumOff val="40000"/>
              </a:schemeClr>
            </a:solidFill>
            <a:prstDash val="dash"/>
          </a:ln>
        </p:spPr>
        <p:txBody>
          <a:bodyPr wrap="square" rtlCol="0">
            <a:spAutoFit/>
          </a:bodyPr>
          <a:lstStyle>
            <a:defPPr>
              <a:defRPr lang="en-US"/>
            </a:defPPr>
            <a:lvl1pPr algn="ctr">
              <a:defRPr sz="2000"/>
            </a:lvl1pPr>
          </a:lstStyle>
          <a:p>
            <a:pPr algn="l"/>
            <a:r>
              <a:rPr lang="en-US" sz="2400" dirty="0"/>
              <a:t>a = x*y</a:t>
            </a:r>
          </a:p>
          <a:p>
            <a:pPr algn="l"/>
            <a:r>
              <a:rPr lang="en-US" sz="2400" dirty="0"/>
              <a:t>b = a </a:t>
            </a:r>
          </a:p>
        </p:txBody>
      </p:sp>
      <p:sp>
        <p:nvSpPr>
          <p:cNvPr id="11" name="Right Arrow 10"/>
          <p:cNvSpPr/>
          <p:nvPr/>
        </p:nvSpPr>
        <p:spPr>
          <a:xfrm>
            <a:off x="5023922" y="2022374"/>
            <a:ext cx="680028" cy="68014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757714" y="4303738"/>
            <a:ext cx="1538514" cy="830997"/>
          </a:xfrm>
          <a:prstGeom prst="rect">
            <a:avLst/>
          </a:prstGeom>
          <a:noFill/>
          <a:ln>
            <a:solidFill>
              <a:schemeClr val="accent4">
                <a:lumMod val="60000"/>
                <a:lumOff val="40000"/>
              </a:schemeClr>
            </a:solidFill>
            <a:prstDash val="dash"/>
          </a:ln>
        </p:spPr>
        <p:txBody>
          <a:bodyPr wrap="square" rtlCol="0">
            <a:spAutoFit/>
          </a:bodyPr>
          <a:lstStyle/>
          <a:p>
            <a:r>
              <a:rPr lang="en-US" sz="2400" dirty="0"/>
              <a:t>a = </a:t>
            </a:r>
            <a:r>
              <a:rPr lang="en-US" sz="2400" dirty="0" err="1"/>
              <a:t>b+c</a:t>
            </a:r>
            <a:endParaRPr lang="en-US" sz="2400" dirty="0"/>
          </a:p>
          <a:p>
            <a:r>
              <a:rPr lang="en-US" sz="2400" dirty="0"/>
              <a:t>b = </a:t>
            </a:r>
            <a:r>
              <a:rPr lang="en-US" sz="2400" dirty="0" err="1"/>
              <a:t>c+d+b</a:t>
            </a:r>
            <a:r>
              <a:rPr lang="en-US" sz="2400" dirty="0"/>
              <a:t> </a:t>
            </a:r>
          </a:p>
        </p:txBody>
      </p:sp>
      <p:sp>
        <p:nvSpPr>
          <p:cNvPr id="14" name="TextBox 13"/>
          <p:cNvSpPr txBox="1"/>
          <p:nvPr/>
        </p:nvSpPr>
        <p:spPr>
          <a:xfrm>
            <a:off x="6287862" y="4119072"/>
            <a:ext cx="1157515" cy="1200329"/>
          </a:xfrm>
          <a:prstGeom prst="rect">
            <a:avLst/>
          </a:prstGeom>
          <a:noFill/>
          <a:ln>
            <a:solidFill>
              <a:schemeClr val="accent4">
                <a:lumMod val="60000"/>
                <a:lumOff val="40000"/>
              </a:schemeClr>
            </a:solidFill>
            <a:prstDash val="dash"/>
          </a:ln>
        </p:spPr>
        <p:txBody>
          <a:bodyPr wrap="square" rtlCol="0">
            <a:spAutoFit/>
          </a:bodyPr>
          <a:lstStyle>
            <a:defPPr>
              <a:defRPr lang="en-US"/>
            </a:defPPr>
            <a:lvl1pPr algn="ctr">
              <a:defRPr sz="2000"/>
            </a:lvl1pPr>
          </a:lstStyle>
          <a:p>
            <a:pPr algn="l"/>
            <a:r>
              <a:rPr lang="en-US" sz="2400" dirty="0"/>
              <a:t>a = </a:t>
            </a:r>
            <a:r>
              <a:rPr lang="en-US" sz="2400" dirty="0" err="1"/>
              <a:t>b+c</a:t>
            </a:r>
            <a:endParaRPr lang="en-US" sz="2400" dirty="0"/>
          </a:p>
          <a:p>
            <a:pPr algn="l"/>
            <a:r>
              <a:rPr lang="en-US" sz="2400" dirty="0"/>
              <a:t>t = </a:t>
            </a:r>
            <a:r>
              <a:rPr lang="en-US" sz="2400" dirty="0" err="1"/>
              <a:t>c+d</a:t>
            </a:r>
            <a:endParaRPr lang="en-US" sz="2400" dirty="0"/>
          </a:p>
          <a:p>
            <a:pPr algn="l"/>
            <a:r>
              <a:rPr lang="en-US" sz="2400" dirty="0"/>
              <a:t>b = </a:t>
            </a:r>
            <a:r>
              <a:rPr lang="en-US" sz="2400" dirty="0" err="1"/>
              <a:t>t+b</a:t>
            </a:r>
            <a:r>
              <a:rPr lang="en-US" sz="2400" dirty="0"/>
              <a:t> </a:t>
            </a:r>
          </a:p>
        </p:txBody>
      </p:sp>
      <p:sp>
        <p:nvSpPr>
          <p:cNvPr id="15" name="Right Arrow 14"/>
          <p:cNvSpPr/>
          <p:nvPr/>
        </p:nvSpPr>
        <p:spPr>
          <a:xfrm>
            <a:off x="4952032" y="4379166"/>
            <a:ext cx="680028" cy="68014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437005" y="4303738"/>
            <a:ext cx="1157515" cy="830997"/>
          </a:xfrm>
          <a:prstGeom prst="rect">
            <a:avLst/>
          </a:prstGeom>
          <a:noFill/>
          <a:ln>
            <a:solidFill>
              <a:schemeClr val="accent4">
                <a:lumMod val="60000"/>
                <a:lumOff val="40000"/>
              </a:schemeClr>
            </a:solidFill>
            <a:prstDash val="dash"/>
          </a:ln>
        </p:spPr>
        <p:txBody>
          <a:bodyPr wrap="square" rtlCol="0">
            <a:spAutoFit/>
          </a:bodyPr>
          <a:lstStyle>
            <a:defPPr>
              <a:defRPr lang="en-US"/>
            </a:defPPr>
            <a:lvl1pPr algn="ctr">
              <a:defRPr sz="2000"/>
            </a:lvl1pPr>
          </a:lstStyle>
          <a:p>
            <a:pPr algn="l"/>
            <a:r>
              <a:rPr lang="en-US" sz="2400" dirty="0"/>
              <a:t>a = </a:t>
            </a:r>
            <a:r>
              <a:rPr lang="en-US" sz="2400" dirty="0" err="1"/>
              <a:t>b+c</a:t>
            </a:r>
            <a:endParaRPr lang="en-US" sz="2400" dirty="0"/>
          </a:p>
          <a:p>
            <a:pPr algn="l"/>
            <a:r>
              <a:rPr lang="en-US" sz="2400" dirty="0"/>
              <a:t>b = </a:t>
            </a:r>
            <a:r>
              <a:rPr lang="en-US" sz="2400" dirty="0" err="1"/>
              <a:t>a+d</a:t>
            </a:r>
            <a:r>
              <a:rPr lang="en-US" sz="2400" dirty="0"/>
              <a:t> </a:t>
            </a:r>
          </a:p>
        </p:txBody>
      </p:sp>
      <p:sp>
        <p:nvSpPr>
          <p:cNvPr id="17" name="Right Arrow 16"/>
          <p:cNvSpPr/>
          <p:nvPr/>
        </p:nvSpPr>
        <p:spPr>
          <a:xfrm>
            <a:off x="8148913" y="4379166"/>
            <a:ext cx="680028" cy="68014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574532" y="3711936"/>
            <a:ext cx="1733318" cy="646331"/>
          </a:xfrm>
          <a:prstGeom prst="rect">
            <a:avLst/>
          </a:prstGeom>
          <a:noFill/>
          <a:ln>
            <a:noFill/>
          </a:ln>
        </p:spPr>
        <p:txBody>
          <a:bodyPr wrap="square" rtlCol="0">
            <a:spAutoFit/>
          </a:bodyPr>
          <a:lstStyle/>
          <a:p>
            <a:pPr algn="ctr"/>
            <a:r>
              <a:rPr lang="en-US" i="1" dirty="0">
                <a:solidFill>
                  <a:schemeClr val="accent5">
                    <a:lumMod val="75000"/>
                  </a:schemeClr>
                </a:solidFill>
              </a:rPr>
              <a:t>Assuming t is not live on exit</a:t>
            </a:r>
          </a:p>
        </p:txBody>
      </p:sp>
    </p:spTree>
    <p:extLst>
      <p:ext uri="{BB962C8B-B14F-4D97-AF65-F5344CB8AC3E}">
        <p14:creationId xmlns:p14="http://schemas.microsoft.com/office/powerpoint/2010/main" val="86601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wipe(down)">
                                      <p:cBhvr>
                                        <p:cTn id="31" dur="500"/>
                                        <p:tgtEl>
                                          <p:spTgt spid="6">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anim calcmode="lin" valueType="num">
                                      <p:cBhvr>
                                        <p:cTn id="44" dur="1000" fill="hold"/>
                                        <p:tgtEl>
                                          <p:spTgt spid="15"/>
                                        </p:tgtEl>
                                        <p:attrNameLst>
                                          <p:attrName>ppt_x</p:attrName>
                                        </p:attrNameLst>
                                      </p:cBhvr>
                                      <p:tavLst>
                                        <p:tav tm="0">
                                          <p:val>
                                            <p:strVal val="#ppt_x"/>
                                          </p:val>
                                        </p:tav>
                                        <p:tav tm="100000">
                                          <p:val>
                                            <p:strVal val="#ppt_x"/>
                                          </p:val>
                                        </p:tav>
                                      </p:tavLst>
                                    </p:anim>
                                    <p:anim calcmode="lin" valueType="num">
                                      <p:cBhvr>
                                        <p:cTn id="45" dur="1000" fill="hold"/>
                                        <p:tgtEl>
                                          <p:spTgt spid="15"/>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1000"/>
                                        <p:tgtEl>
                                          <p:spTgt spid="14"/>
                                        </p:tgtEl>
                                      </p:cBhvr>
                                    </p:animEffect>
                                    <p:anim calcmode="lin" valueType="num">
                                      <p:cBhvr>
                                        <p:cTn id="49" dur="1000" fill="hold"/>
                                        <p:tgtEl>
                                          <p:spTgt spid="14"/>
                                        </p:tgtEl>
                                        <p:attrNameLst>
                                          <p:attrName>ppt_x</p:attrName>
                                        </p:attrNameLst>
                                      </p:cBhvr>
                                      <p:tavLst>
                                        <p:tav tm="0">
                                          <p:val>
                                            <p:strVal val="#ppt_x"/>
                                          </p:val>
                                        </p:tav>
                                        <p:tav tm="100000">
                                          <p:val>
                                            <p:strVal val="#ppt_x"/>
                                          </p:val>
                                        </p:tav>
                                      </p:tavLst>
                                    </p:anim>
                                    <p:anim calcmode="lin" valueType="num">
                                      <p:cBhvr>
                                        <p:cTn id="5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000"/>
                                        <p:tgtEl>
                                          <p:spTgt spid="17"/>
                                        </p:tgtEl>
                                      </p:cBhvr>
                                    </p:animEffect>
                                    <p:anim calcmode="lin" valueType="num">
                                      <p:cBhvr>
                                        <p:cTn id="56" dur="1000" fill="hold"/>
                                        <p:tgtEl>
                                          <p:spTgt spid="17"/>
                                        </p:tgtEl>
                                        <p:attrNameLst>
                                          <p:attrName>ppt_x</p:attrName>
                                        </p:attrNameLst>
                                      </p:cBhvr>
                                      <p:tavLst>
                                        <p:tav tm="0">
                                          <p:val>
                                            <p:strVal val="#ppt_x"/>
                                          </p:val>
                                        </p:tav>
                                        <p:tav tm="100000">
                                          <p:val>
                                            <p:strVal val="#ppt_x"/>
                                          </p:val>
                                        </p:tav>
                                      </p:tavLst>
                                    </p:anim>
                                    <p:anim calcmode="lin" valueType="num">
                                      <p:cBhvr>
                                        <p:cTn id="57" dur="1000" fill="hold"/>
                                        <p:tgtEl>
                                          <p:spTgt spid="17"/>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1000"/>
                                        <p:tgtEl>
                                          <p:spTgt spid="19"/>
                                        </p:tgtEl>
                                      </p:cBhvr>
                                    </p:animEffect>
                                    <p:anim calcmode="lin" valueType="num">
                                      <p:cBhvr>
                                        <p:cTn id="61" dur="1000" fill="hold"/>
                                        <p:tgtEl>
                                          <p:spTgt spid="19"/>
                                        </p:tgtEl>
                                        <p:attrNameLst>
                                          <p:attrName>ppt_x</p:attrName>
                                        </p:attrNameLst>
                                      </p:cBhvr>
                                      <p:tavLst>
                                        <p:tav tm="0">
                                          <p:val>
                                            <p:strVal val="#ppt_x"/>
                                          </p:val>
                                        </p:tav>
                                        <p:tav tm="100000">
                                          <p:val>
                                            <p:strVal val="#ppt_x"/>
                                          </p:val>
                                        </p:tav>
                                      </p:tavLst>
                                    </p:anim>
                                    <p:anim calcmode="lin" valueType="num">
                                      <p:cBhvr>
                                        <p:cTn id="62" dur="1000" fill="hold"/>
                                        <p:tgtEl>
                                          <p:spTgt spid="19"/>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1000"/>
                                        <p:tgtEl>
                                          <p:spTgt spid="16"/>
                                        </p:tgtEl>
                                      </p:cBhvr>
                                    </p:animEffect>
                                    <p:anim calcmode="lin" valueType="num">
                                      <p:cBhvr>
                                        <p:cTn id="66" dur="1000" fill="hold"/>
                                        <p:tgtEl>
                                          <p:spTgt spid="16"/>
                                        </p:tgtEl>
                                        <p:attrNameLst>
                                          <p:attrName>ppt_x</p:attrName>
                                        </p:attrNameLst>
                                      </p:cBhvr>
                                      <p:tavLst>
                                        <p:tav tm="0">
                                          <p:val>
                                            <p:strVal val="#ppt_x"/>
                                          </p:val>
                                        </p:tav>
                                        <p:tav tm="100000">
                                          <p:val>
                                            <p:strVal val="#ppt_x"/>
                                          </p:val>
                                        </p:tav>
                                      </p:tavLst>
                                    </p:anim>
                                    <p:anim calcmode="lin" valueType="num">
                                      <p:cBhvr>
                                        <p:cTn id="6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1" grpId="0" animBg="1"/>
      <p:bldP spid="13" grpId="0" animBg="1"/>
      <p:bldP spid="14" grpId="0" animBg="1"/>
      <p:bldP spid="15" grpId="0" animBg="1"/>
      <p:bldP spid="16" grpId="0" animBg="1"/>
      <p:bldP spid="17" grpId="0" animBg="1"/>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Representation of Array References</a:t>
            </a:r>
          </a:p>
        </p:txBody>
      </p:sp>
      <p:sp>
        <p:nvSpPr>
          <p:cNvPr id="4" name="Slide Number Placeholder 3"/>
          <p:cNvSpPr>
            <a:spLocks noGrp="1"/>
          </p:cNvSpPr>
          <p:nvPr>
            <p:ph type="sldNum" sz="quarter" idx="12"/>
          </p:nvPr>
        </p:nvSpPr>
        <p:spPr/>
        <p:txBody>
          <a:bodyPr/>
          <a:lstStyle/>
          <a:p>
            <a:fld id="{48F63A3B-78C7-47BE-AE5E-E10140E04643}" type="slidenum">
              <a:rPr lang="en-US" smtClean="0"/>
              <a:pPr/>
              <a:t>34</a:t>
            </a:fld>
            <a:endParaRPr lang="en-US" dirty="0"/>
          </a:p>
        </p:txBody>
      </p:sp>
      <p:grpSp>
        <p:nvGrpSpPr>
          <p:cNvPr id="8" name="Group 7"/>
          <p:cNvGrpSpPr/>
          <p:nvPr/>
        </p:nvGrpSpPr>
        <p:grpSpPr>
          <a:xfrm>
            <a:off x="1307193" y="1350735"/>
            <a:ext cx="9921708" cy="3816353"/>
            <a:chOff x="1307193" y="1350735"/>
            <a:chExt cx="9921708" cy="3816353"/>
          </a:xfrm>
        </p:grpSpPr>
        <p:pic>
          <p:nvPicPr>
            <p:cNvPr id="6" name="Picture 5"/>
            <p:cNvPicPr>
              <a:picLocks noChangeAspect="1"/>
            </p:cNvPicPr>
            <p:nvPr/>
          </p:nvPicPr>
          <p:blipFill>
            <a:blip r:embed="rId2"/>
            <a:stretch>
              <a:fillRect/>
            </a:stretch>
          </p:blipFill>
          <p:spPr>
            <a:xfrm>
              <a:off x="1307193" y="1350735"/>
              <a:ext cx="9912350" cy="2795791"/>
            </a:xfrm>
            <a:prstGeom prst="rect">
              <a:avLst/>
            </a:prstGeom>
          </p:spPr>
        </p:pic>
        <p:pic>
          <p:nvPicPr>
            <p:cNvPr id="7" name="Picture 6"/>
            <p:cNvPicPr>
              <a:picLocks noChangeAspect="1"/>
            </p:cNvPicPr>
            <p:nvPr/>
          </p:nvPicPr>
          <p:blipFill>
            <a:blip r:embed="rId3"/>
            <a:stretch>
              <a:fillRect/>
            </a:stretch>
          </p:blipFill>
          <p:spPr>
            <a:xfrm>
              <a:off x="1686832" y="4015900"/>
              <a:ext cx="9542069" cy="1151188"/>
            </a:xfrm>
            <a:prstGeom prst="rect">
              <a:avLst/>
            </a:prstGeom>
          </p:spPr>
        </p:pic>
      </p:grpSp>
      <p:sp>
        <p:nvSpPr>
          <p:cNvPr id="5" name="Rectangle 4">
            <a:extLst>
              <a:ext uri="{FF2B5EF4-FFF2-40B4-BE49-F238E27FC236}">
                <a16:creationId xmlns:a16="http://schemas.microsoft.com/office/drawing/2014/main" id="{6AB6D570-AC7B-7E98-A3C0-5FBC488CF059}"/>
              </a:ext>
            </a:extLst>
          </p:cNvPr>
          <p:cNvSpPr/>
          <p:nvPr/>
        </p:nvSpPr>
        <p:spPr>
          <a:xfrm>
            <a:off x="1640338" y="4100032"/>
            <a:ext cx="9666968" cy="1020562"/>
          </a:xfrm>
          <a:prstGeom prst="rect">
            <a:avLst/>
          </a:prstGeom>
          <a:noFill/>
          <a:ln>
            <a:solidFill>
              <a:srgbClr val="FF0000"/>
            </a:solidFill>
            <a:prstDash val="dash"/>
            <a:extLst>
              <a:ext uri="{C807C97D-BFC1-408E-A445-0C87EB9F89A2}">
                <ask:lineSketchStyleProps xmlns:ask="http://schemas.microsoft.com/office/drawing/2018/sketchyshapes" sd="3131117825">
                  <a:custGeom>
                    <a:avLst/>
                    <a:gdLst>
                      <a:gd name="connsiteX0" fmla="*/ 0 w 9666968"/>
                      <a:gd name="connsiteY0" fmla="*/ 0 h 1020562"/>
                      <a:gd name="connsiteX1" fmla="*/ 471975 w 9666968"/>
                      <a:gd name="connsiteY1" fmla="*/ 0 h 1020562"/>
                      <a:gd name="connsiteX2" fmla="*/ 943951 w 9666968"/>
                      <a:gd name="connsiteY2" fmla="*/ 0 h 1020562"/>
                      <a:gd name="connsiteX3" fmla="*/ 1415926 w 9666968"/>
                      <a:gd name="connsiteY3" fmla="*/ 0 h 1020562"/>
                      <a:gd name="connsiteX4" fmla="*/ 1887902 w 9666968"/>
                      <a:gd name="connsiteY4" fmla="*/ 0 h 1020562"/>
                      <a:gd name="connsiteX5" fmla="*/ 2649887 w 9666968"/>
                      <a:gd name="connsiteY5" fmla="*/ 0 h 1020562"/>
                      <a:gd name="connsiteX6" fmla="*/ 3218532 w 9666968"/>
                      <a:gd name="connsiteY6" fmla="*/ 0 h 1020562"/>
                      <a:gd name="connsiteX7" fmla="*/ 3497168 w 9666968"/>
                      <a:gd name="connsiteY7" fmla="*/ 0 h 1020562"/>
                      <a:gd name="connsiteX8" fmla="*/ 4065813 w 9666968"/>
                      <a:gd name="connsiteY8" fmla="*/ 0 h 1020562"/>
                      <a:gd name="connsiteX9" fmla="*/ 4827798 w 9666968"/>
                      <a:gd name="connsiteY9" fmla="*/ 0 h 1020562"/>
                      <a:gd name="connsiteX10" fmla="*/ 5396443 w 9666968"/>
                      <a:gd name="connsiteY10" fmla="*/ 0 h 1020562"/>
                      <a:gd name="connsiteX11" fmla="*/ 5675079 w 9666968"/>
                      <a:gd name="connsiteY11" fmla="*/ 0 h 1020562"/>
                      <a:gd name="connsiteX12" fmla="*/ 6340394 w 9666968"/>
                      <a:gd name="connsiteY12" fmla="*/ 0 h 1020562"/>
                      <a:gd name="connsiteX13" fmla="*/ 6812369 w 9666968"/>
                      <a:gd name="connsiteY13" fmla="*/ 0 h 1020562"/>
                      <a:gd name="connsiteX14" fmla="*/ 7477684 w 9666968"/>
                      <a:gd name="connsiteY14" fmla="*/ 0 h 1020562"/>
                      <a:gd name="connsiteX15" fmla="*/ 8046329 w 9666968"/>
                      <a:gd name="connsiteY15" fmla="*/ 0 h 1020562"/>
                      <a:gd name="connsiteX16" fmla="*/ 8421635 w 9666968"/>
                      <a:gd name="connsiteY16" fmla="*/ 0 h 1020562"/>
                      <a:gd name="connsiteX17" fmla="*/ 8796941 w 9666968"/>
                      <a:gd name="connsiteY17" fmla="*/ 0 h 1020562"/>
                      <a:gd name="connsiteX18" fmla="*/ 9666968 w 9666968"/>
                      <a:gd name="connsiteY18" fmla="*/ 0 h 1020562"/>
                      <a:gd name="connsiteX19" fmla="*/ 9666968 w 9666968"/>
                      <a:gd name="connsiteY19" fmla="*/ 530692 h 1020562"/>
                      <a:gd name="connsiteX20" fmla="*/ 9666968 w 9666968"/>
                      <a:gd name="connsiteY20" fmla="*/ 1020562 h 1020562"/>
                      <a:gd name="connsiteX21" fmla="*/ 9291662 w 9666968"/>
                      <a:gd name="connsiteY21" fmla="*/ 1020562 h 1020562"/>
                      <a:gd name="connsiteX22" fmla="*/ 8723017 w 9666968"/>
                      <a:gd name="connsiteY22" fmla="*/ 1020562 h 1020562"/>
                      <a:gd name="connsiteX23" fmla="*/ 8347711 w 9666968"/>
                      <a:gd name="connsiteY23" fmla="*/ 1020562 h 1020562"/>
                      <a:gd name="connsiteX24" fmla="*/ 7779066 w 9666968"/>
                      <a:gd name="connsiteY24" fmla="*/ 1020562 h 1020562"/>
                      <a:gd name="connsiteX25" fmla="*/ 7017081 w 9666968"/>
                      <a:gd name="connsiteY25" fmla="*/ 1020562 h 1020562"/>
                      <a:gd name="connsiteX26" fmla="*/ 6448436 w 9666968"/>
                      <a:gd name="connsiteY26" fmla="*/ 1020562 h 1020562"/>
                      <a:gd name="connsiteX27" fmla="*/ 6169800 w 9666968"/>
                      <a:gd name="connsiteY27" fmla="*/ 1020562 h 1020562"/>
                      <a:gd name="connsiteX28" fmla="*/ 5697825 w 9666968"/>
                      <a:gd name="connsiteY28" fmla="*/ 1020562 h 1020562"/>
                      <a:gd name="connsiteX29" fmla="*/ 5419189 w 9666968"/>
                      <a:gd name="connsiteY29" fmla="*/ 1020562 h 1020562"/>
                      <a:gd name="connsiteX30" fmla="*/ 5043883 w 9666968"/>
                      <a:gd name="connsiteY30" fmla="*/ 1020562 h 1020562"/>
                      <a:gd name="connsiteX31" fmla="*/ 4668577 w 9666968"/>
                      <a:gd name="connsiteY31" fmla="*/ 1020562 h 1020562"/>
                      <a:gd name="connsiteX32" fmla="*/ 4003262 w 9666968"/>
                      <a:gd name="connsiteY32" fmla="*/ 1020562 h 1020562"/>
                      <a:gd name="connsiteX33" fmla="*/ 3241278 w 9666968"/>
                      <a:gd name="connsiteY33" fmla="*/ 1020562 h 1020562"/>
                      <a:gd name="connsiteX34" fmla="*/ 2575963 w 9666968"/>
                      <a:gd name="connsiteY34" fmla="*/ 1020562 h 1020562"/>
                      <a:gd name="connsiteX35" fmla="*/ 2007317 w 9666968"/>
                      <a:gd name="connsiteY35" fmla="*/ 1020562 h 1020562"/>
                      <a:gd name="connsiteX36" fmla="*/ 1438672 w 9666968"/>
                      <a:gd name="connsiteY36" fmla="*/ 1020562 h 1020562"/>
                      <a:gd name="connsiteX37" fmla="*/ 1160036 w 9666968"/>
                      <a:gd name="connsiteY37" fmla="*/ 1020562 h 1020562"/>
                      <a:gd name="connsiteX38" fmla="*/ 688061 w 9666968"/>
                      <a:gd name="connsiteY38" fmla="*/ 1020562 h 1020562"/>
                      <a:gd name="connsiteX39" fmla="*/ 0 w 9666968"/>
                      <a:gd name="connsiteY39" fmla="*/ 1020562 h 1020562"/>
                      <a:gd name="connsiteX40" fmla="*/ 0 w 9666968"/>
                      <a:gd name="connsiteY40" fmla="*/ 520487 h 1020562"/>
                      <a:gd name="connsiteX41" fmla="*/ 0 w 9666968"/>
                      <a:gd name="connsiteY41" fmla="*/ 0 h 102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6968" h="1020562" extrusionOk="0">
                        <a:moveTo>
                          <a:pt x="0" y="0"/>
                        </a:moveTo>
                        <a:cubicBezTo>
                          <a:pt x="157344" y="-37521"/>
                          <a:pt x="265231" y="5586"/>
                          <a:pt x="471975" y="0"/>
                        </a:cubicBezTo>
                        <a:cubicBezTo>
                          <a:pt x="678720" y="-5586"/>
                          <a:pt x="823025" y="25129"/>
                          <a:pt x="943951" y="0"/>
                        </a:cubicBezTo>
                        <a:cubicBezTo>
                          <a:pt x="1064877" y="-25129"/>
                          <a:pt x="1180229" y="16908"/>
                          <a:pt x="1415926" y="0"/>
                        </a:cubicBezTo>
                        <a:cubicBezTo>
                          <a:pt x="1651624" y="-16908"/>
                          <a:pt x="1686366" y="11486"/>
                          <a:pt x="1887902" y="0"/>
                        </a:cubicBezTo>
                        <a:cubicBezTo>
                          <a:pt x="2089438" y="-11486"/>
                          <a:pt x="2419411" y="49803"/>
                          <a:pt x="2649887" y="0"/>
                        </a:cubicBezTo>
                        <a:cubicBezTo>
                          <a:pt x="2880363" y="-49803"/>
                          <a:pt x="2974293" y="50932"/>
                          <a:pt x="3218532" y="0"/>
                        </a:cubicBezTo>
                        <a:cubicBezTo>
                          <a:pt x="3462772" y="-50932"/>
                          <a:pt x="3408167" y="6962"/>
                          <a:pt x="3497168" y="0"/>
                        </a:cubicBezTo>
                        <a:cubicBezTo>
                          <a:pt x="3586169" y="-6962"/>
                          <a:pt x="3917788" y="42863"/>
                          <a:pt x="4065813" y="0"/>
                        </a:cubicBezTo>
                        <a:cubicBezTo>
                          <a:pt x="4213838" y="-42863"/>
                          <a:pt x="4633032" y="48043"/>
                          <a:pt x="4827798" y="0"/>
                        </a:cubicBezTo>
                        <a:cubicBezTo>
                          <a:pt x="5022564" y="-48043"/>
                          <a:pt x="5174742" y="51256"/>
                          <a:pt x="5396443" y="0"/>
                        </a:cubicBezTo>
                        <a:cubicBezTo>
                          <a:pt x="5618144" y="-51256"/>
                          <a:pt x="5537714" y="24501"/>
                          <a:pt x="5675079" y="0"/>
                        </a:cubicBezTo>
                        <a:cubicBezTo>
                          <a:pt x="5812444" y="-24501"/>
                          <a:pt x="6149154" y="22716"/>
                          <a:pt x="6340394" y="0"/>
                        </a:cubicBezTo>
                        <a:cubicBezTo>
                          <a:pt x="6531634" y="-22716"/>
                          <a:pt x="6680536" y="55655"/>
                          <a:pt x="6812369" y="0"/>
                        </a:cubicBezTo>
                        <a:cubicBezTo>
                          <a:pt x="6944202" y="-55655"/>
                          <a:pt x="7167471" y="60469"/>
                          <a:pt x="7477684" y="0"/>
                        </a:cubicBezTo>
                        <a:cubicBezTo>
                          <a:pt x="7787897" y="-60469"/>
                          <a:pt x="7910993" y="9232"/>
                          <a:pt x="8046329" y="0"/>
                        </a:cubicBezTo>
                        <a:cubicBezTo>
                          <a:pt x="8181665" y="-9232"/>
                          <a:pt x="8290535" y="8116"/>
                          <a:pt x="8421635" y="0"/>
                        </a:cubicBezTo>
                        <a:cubicBezTo>
                          <a:pt x="8552735" y="-8116"/>
                          <a:pt x="8704149" y="8627"/>
                          <a:pt x="8796941" y="0"/>
                        </a:cubicBezTo>
                        <a:cubicBezTo>
                          <a:pt x="8889733" y="-8627"/>
                          <a:pt x="9336630" y="38166"/>
                          <a:pt x="9666968" y="0"/>
                        </a:cubicBezTo>
                        <a:cubicBezTo>
                          <a:pt x="9707827" y="162534"/>
                          <a:pt x="9641272" y="310548"/>
                          <a:pt x="9666968" y="530692"/>
                        </a:cubicBezTo>
                        <a:cubicBezTo>
                          <a:pt x="9692664" y="750836"/>
                          <a:pt x="9637783" y="796048"/>
                          <a:pt x="9666968" y="1020562"/>
                        </a:cubicBezTo>
                        <a:cubicBezTo>
                          <a:pt x="9481398" y="1048731"/>
                          <a:pt x="9380362" y="980297"/>
                          <a:pt x="9291662" y="1020562"/>
                        </a:cubicBezTo>
                        <a:cubicBezTo>
                          <a:pt x="9202962" y="1060827"/>
                          <a:pt x="8849114" y="1011784"/>
                          <a:pt x="8723017" y="1020562"/>
                        </a:cubicBezTo>
                        <a:cubicBezTo>
                          <a:pt x="8596920" y="1029340"/>
                          <a:pt x="8493695" y="995212"/>
                          <a:pt x="8347711" y="1020562"/>
                        </a:cubicBezTo>
                        <a:cubicBezTo>
                          <a:pt x="8201727" y="1045912"/>
                          <a:pt x="8053975" y="993235"/>
                          <a:pt x="7779066" y="1020562"/>
                        </a:cubicBezTo>
                        <a:cubicBezTo>
                          <a:pt x="7504158" y="1047889"/>
                          <a:pt x="7277819" y="947055"/>
                          <a:pt x="7017081" y="1020562"/>
                        </a:cubicBezTo>
                        <a:cubicBezTo>
                          <a:pt x="6756343" y="1094069"/>
                          <a:pt x="6580230" y="1000987"/>
                          <a:pt x="6448436" y="1020562"/>
                        </a:cubicBezTo>
                        <a:cubicBezTo>
                          <a:pt x="6316642" y="1040137"/>
                          <a:pt x="6247364" y="1007594"/>
                          <a:pt x="6169800" y="1020562"/>
                        </a:cubicBezTo>
                        <a:cubicBezTo>
                          <a:pt x="6092236" y="1033530"/>
                          <a:pt x="5816961" y="974997"/>
                          <a:pt x="5697825" y="1020562"/>
                        </a:cubicBezTo>
                        <a:cubicBezTo>
                          <a:pt x="5578690" y="1066127"/>
                          <a:pt x="5551745" y="1014212"/>
                          <a:pt x="5419189" y="1020562"/>
                        </a:cubicBezTo>
                        <a:cubicBezTo>
                          <a:pt x="5286633" y="1026912"/>
                          <a:pt x="5137933" y="1005467"/>
                          <a:pt x="5043883" y="1020562"/>
                        </a:cubicBezTo>
                        <a:cubicBezTo>
                          <a:pt x="4949833" y="1035657"/>
                          <a:pt x="4774437" y="989192"/>
                          <a:pt x="4668577" y="1020562"/>
                        </a:cubicBezTo>
                        <a:cubicBezTo>
                          <a:pt x="4562717" y="1051932"/>
                          <a:pt x="4330928" y="963842"/>
                          <a:pt x="4003262" y="1020562"/>
                        </a:cubicBezTo>
                        <a:cubicBezTo>
                          <a:pt x="3675596" y="1077282"/>
                          <a:pt x="3620816" y="942829"/>
                          <a:pt x="3241278" y="1020562"/>
                        </a:cubicBezTo>
                        <a:cubicBezTo>
                          <a:pt x="2861740" y="1098295"/>
                          <a:pt x="2898580" y="972355"/>
                          <a:pt x="2575963" y="1020562"/>
                        </a:cubicBezTo>
                        <a:cubicBezTo>
                          <a:pt x="2253346" y="1068769"/>
                          <a:pt x="2245072" y="968187"/>
                          <a:pt x="2007317" y="1020562"/>
                        </a:cubicBezTo>
                        <a:cubicBezTo>
                          <a:pt x="1769562" y="1072937"/>
                          <a:pt x="1666334" y="999320"/>
                          <a:pt x="1438672" y="1020562"/>
                        </a:cubicBezTo>
                        <a:cubicBezTo>
                          <a:pt x="1211010" y="1041804"/>
                          <a:pt x="1215999" y="990236"/>
                          <a:pt x="1160036" y="1020562"/>
                        </a:cubicBezTo>
                        <a:cubicBezTo>
                          <a:pt x="1104073" y="1050888"/>
                          <a:pt x="909652" y="984858"/>
                          <a:pt x="688061" y="1020562"/>
                        </a:cubicBezTo>
                        <a:cubicBezTo>
                          <a:pt x="466470" y="1056266"/>
                          <a:pt x="231866" y="997160"/>
                          <a:pt x="0" y="1020562"/>
                        </a:cubicBezTo>
                        <a:cubicBezTo>
                          <a:pt x="-8083" y="868369"/>
                          <a:pt x="16619" y="648352"/>
                          <a:pt x="0" y="520487"/>
                        </a:cubicBezTo>
                        <a:cubicBezTo>
                          <a:pt x="-16619" y="392622"/>
                          <a:pt x="37209" y="105272"/>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1015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Representation of Array References</a:t>
            </a:r>
          </a:p>
        </p:txBody>
      </p:sp>
      <p:sp>
        <p:nvSpPr>
          <p:cNvPr id="4" name="Slide Number Placeholder 3"/>
          <p:cNvSpPr>
            <a:spLocks noGrp="1"/>
          </p:cNvSpPr>
          <p:nvPr>
            <p:ph type="sldNum" sz="quarter" idx="12"/>
          </p:nvPr>
        </p:nvSpPr>
        <p:spPr>
          <a:xfrm>
            <a:off x="9386050" y="6424528"/>
            <a:ext cx="2743200" cy="365125"/>
          </a:xfrm>
        </p:spPr>
        <p:txBody>
          <a:bodyPr/>
          <a:lstStyle/>
          <a:p>
            <a:fld id="{48F63A3B-78C7-47BE-AE5E-E10140E04643}" type="slidenum">
              <a:rPr lang="en-US" smtClean="0"/>
              <a:pPr/>
              <a:t>35</a:t>
            </a:fld>
            <a:endParaRPr lang="en-US" dirty="0"/>
          </a:p>
        </p:txBody>
      </p:sp>
      <p:pic>
        <p:nvPicPr>
          <p:cNvPr id="5122" name="Picture 2"/>
          <p:cNvPicPr>
            <a:picLocks noChangeAspect="1" noChangeArrowheads="1"/>
          </p:cNvPicPr>
          <p:nvPr/>
        </p:nvPicPr>
        <p:blipFill rotWithShape="1">
          <a:blip r:embed="rId2" cstate="print"/>
          <a:srcRect l="11503"/>
          <a:stretch/>
        </p:blipFill>
        <p:spPr bwMode="auto">
          <a:xfrm>
            <a:off x="2075543" y="1773342"/>
            <a:ext cx="2306980" cy="1385455"/>
          </a:xfrm>
          <a:prstGeom prst="rect">
            <a:avLst/>
          </a:prstGeom>
          <a:noFill/>
          <a:ln w="12700">
            <a:solidFill>
              <a:schemeClr val="accent4">
                <a:lumMod val="60000"/>
                <a:lumOff val="40000"/>
              </a:schemeClr>
            </a:solidFill>
            <a:prstDash val="dash"/>
            <a:miter lim="800000"/>
            <a:headEnd/>
            <a:tailEnd/>
          </a:ln>
          <a:effectLst/>
        </p:spPr>
      </p:pic>
      <p:sp>
        <p:nvSpPr>
          <p:cNvPr id="9" name="Right Arrow 8"/>
          <p:cNvSpPr/>
          <p:nvPr/>
        </p:nvSpPr>
        <p:spPr>
          <a:xfrm>
            <a:off x="4987636" y="1981162"/>
            <a:ext cx="1094509"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p:cNvPicPr>
            <a:picLocks noChangeAspect="1" noChangeArrowheads="1"/>
          </p:cNvPicPr>
          <p:nvPr/>
        </p:nvPicPr>
        <p:blipFill rotWithShape="1">
          <a:blip r:embed="rId3" cstate="print"/>
          <a:srcRect l="9772"/>
          <a:stretch/>
        </p:blipFill>
        <p:spPr bwMode="auto">
          <a:xfrm>
            <a:off x="2075543" y="4254500"/>
            <a:ext cx="2316022" cy="1176482"/>
          </a:xfrm>
          <a:prstGeom prst="rect">
            <a:avLst/>
          </a:prstGeom>
          <a:noFill/>
          <a:ln w="12700">
            <a:solidFill>
              <a:schemeClr val="accent4">
                <a:lumMod val="60000"/>
                <a:lumOff val="40000"/>
              </a:schemeClr>
            </a:solidFill>
            <a:prstDash val="dash"/>
            <a:miter lim="800000"/>
            <a:headEnd/>
            <a:tailEnd/>
          </a:ln>
          <a:effectLst/>
        </p:spPr>
      </p:pic>
      <p:sp>
        <p:nvSpPr>
          <p:cNvPr id="12" name="Right Arrow 11"/>
          <p:cNvSpPr/>
          <p:nvPr/>
        </p:nvSpPr>
        <p:spPr>
          <a:xfrm>
            <a:off x="4987635" y="4475596"/>
            <a:ext cx="1094509" cy="734290"/>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6789B2C-473C-75D5-B7F9-B4D6D66A4C63}"/>
              </a:ext>
            </a:extLst>
          </p:cNvPr>
          <p:cNvSpPr/>
          <p:nvPr/>
        </p:nvSpPr>
        <p:spPr>
          <a:xfrm>
            <a:off x="8767603" y="2338982"/>
            <a:ext cx="584496"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aseline="-25000" dirty="0">
              <a:solidFill>
                <a:schemeClr val="tx1"/>
              </a:solidFill>
            </a:endParaRPr>
          </a:p>
        </p:txBody>
      </p:sp>
      <p:cxnSp>
        <p:nvCxnSpPr>
          <p:cNvPr id="6" name="Straight Connector 5">
            <a:extLst>
              <a:ext uri="{FF2B5EF4-FFF2-40B4-BE49-F238E27FC236}">
                <a16:creationId xmlns:a16="http://schemas.microsoft.com/office/drawing/2014/main" id="{9FBC9636-B211-168D-E9BD-E7C519C71785}"/>
              </a:ext>
            </a:extLst>
          </p:cNvPr>
          <p:cNvCxnSpPr>
            <a:cxnSpLocks/>
            <a:stCxn id="11" idx="4"/>
          </p:cNvCxnSpPr>
          <p:nvPr/>
        </p:nvCxnSpPr>
        <p:spPr>
          <a:xfrm flipH="1">
            <a:off x="7988758" y="2651943"/>
            <a:ext cx="485443" cy="469005"/>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DD940319-32B8-F8C4-A499-ADEE3B7E42F7}"/>
              </a:ext>
            </a:extLst>
          </p:cNvPr>
          <p:cNvSpPr/>
          <p:nvPr/>
        </p:nvSpPr>
        <p:spPr>
          <a:xfrm>
            <a:off x="7643353" y="3121503"/>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a:t>
            </a:r>
            <a:r>
              <a:rPr lang="en-US" sz="2000" baseline="-25000" dirty="0">
                <a:solidFill>
                  <a:schemeClr val="tx1"/>
                </a:solidFill>
              </a:rPr>
              <a:t>0</a:t>
            </a:r>
          </a:p>
        </p:txBody>
      </p:sp>
      <p:sp>
        <p:nvSpPr>
          <p:cNvPr id="8" name="Oval 7">
            <a:extLst>
              <a:ext uri="{FF2B5EF4-FFF2-40B4-BE49-F238E27FC236}">
                <a16:creationId xmlns:a16="http://schemas.microsoft.com/office/drawing/2014/main" id="{951DEE98-ABC7-95E2-2D09-5F4BCEDA9953}"/>
              </a:ext>
            </a:extLst>
          </p:cNvPr>
          <p:cNvSpPr/>
          <p:nvPr/>
        </p:nvSpPr>
        <p:spPr>
          <a:xfrm>
            <a:off x="8936452" y="3121503"/>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a:t>
            </a:r>
            <a:r>
              <a:rPr lang="en-US" sz="2000" baseline="-25000" dirty="0">
                <a:solidFill>
                  <a:schemeClr val="tx1"/>
                </a:solidFill>
              </a:rPr>
              <a:t>0</a:t>
            </a:r>
          </a:p>
        </p:txBody>
      </p:sp>
      <p:cxnSp>
        <p:nvCxnSpPr>
          <p:cNvPr id="10" name="Straight Connector 9">
            <a:extLst>
              <a:ext uri="{FF2B5EF4-FFF2-40B4-BE49-F238E27FC236}">
                <a16:creationId xmlns:a16="http://schemas.microsoft.com/office/drawing/2014/main" id="{89F3D559-65A9-EF9D-E039-BDA940539B75}"/>
              </a:ext>
            </a:extLst>
          </p:cNvPr>
          <p:cNvCxnSpPr>
            <a:cxnSpLocks/>
            <a:stCxn id="11" idx="4"/>
          </p:cNvCxnSpPr>
          <p:nvPr/>
        </p:nvCxnSpPr>
        <p:spPr>
          <a:xfrm>
            <a:off x="8474201" y="2651943"/>
            <a:ext cx="807656" cy="469005"/>
          </a:xfrm>
          <a:prstGeom prst="line">
            <a:avLst/>
          </a:prstGeom>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E00A7918-0101-E2D0-9941-D54C49377950}"/>
              </a:ext>
            </a:extLst>
          </p:cNvPr>
          <p:cNvSpPr/>
          <p:nvPr/>
        </p:nvSpPr>
        <p:spPr>
          <a:xfrm>
            <a:off x="8092955" y="2262198"/>
            <a:ext cx="762492" cy="3897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13" name="TextBox 12">
            <a:extLst>
              <a:ext uri="{FF2B5EF4-FFF2-40B4-BE49-F238E27FC236}">
                <a16:creationId xmlns:a16="http://schemas.microsoft.com/office/drawing/2014/main" id="{A383E49C-EAD4-E6EB-8376-6975823A4D1C}"/>
              </a:ext>
            </a:extLst>
          </p:cNvPr>
          <p:cNvSpPr txBox="1"/>
          <p:nvPr/>
        </p:nvSpPr>
        <p:spPr>
          <a:xfrm>
            <a:off x="8894675" y="2243216"/>
            <a:ext cx="584496" cy="400110"/>
          </a:xfrm>
          <a:prstGeom prst="rect">
            <a:avLst/>
          </a:prstGeom>
          <a:noFill/>
        </p:spPr>
        <p:txBody>
          <a:bodyPr wrap="square" rtlCol="0">
            <a:spAutoFit/>
          </a:bodyPr>
          <a:lstStyle/>
          <a:p>
            <a:r>
              <a:rPr lang="en-US" sz="2000" dirty="0"/>
              <a:t>x</a:t>
            </a:r>
          </a:p>
        </p:txBody>
      </p:sp>
      <p:cxnSp>
        <p:nvCxnSpPr>
          <p:cNvPr id="15" name="Straight Connector 14">
            <a:extLst>
              <a:ext uri="{FF2B5EF4-FFF2-40B4-BE49-F238E27FC236}">
                <a16:creationId xmlns:a16="http://schemas.microsoft.com/office/drawing/2014/main" id="{3A8B96AC-BA46-3030-2345-371CFFE9BF31}"/>
              </a:ext>
            </a:extLst>
          </p:cNvPr>
          <p:cNvCxnSpPr>
            <a:cxnSpLocks/>
            <a:stCxn id="7" idx="7"/>
            <a:endCxn id="33" idx="2"/>
          </p:cNvCxnSpPr>
          <p:nvPr/>
        </p:nvCxnSpPr>
        <p:spPr>
          <a:xfrm flipV="1">
            <a:off x="8232996" y="2609471"/>
            <a:ext cx="2306109" cy="571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2666561-484A-92A7-AD3D-31845E3CE5AE}"/>
              </a:ext>
            </a:extLst>
          </p:cNvPr>
          <p:cNvCxnSpPr>
            <a:cxnSpLocks/>
            <a:stCxn id="33" idx="4"/>
            <a:endCxn id="34" idx="0"/>
          </p:cNvCxnSpPr>
          <p:nvPr/>
        </p:nvCxnSpPr>
        <p:spPr>
          <a:xfrm flipH="1">
            <a:off x="10450407" y="2804343"/>
            <a:ext cx="469944" cy="3765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DF578D6-2880-9294-F0D5-B4897F731D10}"/>
              </a:ext>
            </a:extLst>
          </p:cNvPr>
          <p:cNvCxnSpPr>
            <a:cxnSpLocks/>
            <a:stCxn id="33" idx="4"/>
            <a:endCxn id="35" idx="0"/>
          </p:cNvCxnSpPr>
          <p:nvPr/>
        </p:nvCxnSpPr>
        <p:spPr>
          <a:xfrm>
            <a:off x="10920351" y="2804343"/>
            <a:ext cx="823155" cy="376572"/>
          </a:xfrm>
          <a:prstGeom prst="line">
            <a:avLst/>
          </a:prstGeom>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4C0A4C0C-C9D5-457D-40CF-88FAFDA3286F}"/>
              </a:ext>
            </a:extLst>
          </p:cNvPr>
          <p:cNvSpPr/>
          <p:nvPr/>
        </p:nvSpPr>
        <p:spPr>
          <a:xfrm>
            <a:off x="10539105" y="2414598"/>
            <a:ext cx="762492" cy="3897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34" name="Oval 33">
            <a:extLst>
              <a:ext uri="{FF2B5EF4-FFF2-40B4-BE49-F238E27FC236}">
                <a16:creationId xmlns:a16="http://schemas.microsoft.com/office/drawing/2014/main" id="{86086F81-6DA9-CC01-A304-02CD3B7E3CE6}"/>
              </a:ext>
            </a:extLst>
          </p:cNvPr>
          <p:cNvSpPr/>
          <p:nvPr/>
        </p:nvSpPr>
        <p:spPr>
          <a:xfrm>
            <a:off x="10105002" y="3180915"/>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j</a:t>
            </a:r>
            <a:r>
              <a:rPr lang="en-US" sz="2000" baseline="-25000" dirty="0">
                <a:solidFill>
                  <a:schemeClr val="tx1"/>
                </a:solidFill>
              </a:rPr>
              <a:t>0</a:t>
            </a:r>
          </a:p>
        </p:txBody>
      </p:sp>
      <p:sp>
        <p:nvSpPr>
          <p:cNvPr id="35" name="Oval 34">
            <a:extLst>
              <a:ext uri="{FF2B5EF4-FFF2-40B4-BE49-F238E27FC236}">
                <a16:creationId xmlns:a16="http://schemas.microsoft.com/office/drawing/2014/main" id="{7965ECF3-1F84-BFD4-82F2-EB603CE33887}"/>
              </a:ext>
            </a:extLst>
          </p:cNvPr>
          <p:cNvSpPr/>
          <p:nvPr/>
        </p:nvSpPr>
        <p:spPr>
          <a:xfrm>
            <a:off x="11398101" y="3180915"/>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y</a:t>
            </a:r>
            <a:r>
              <a:rPr lang="en-US" sz="2000" baseline="-25000" dirty="0">
                <a:solidFill>
                  <a:schemeClr val="tx1"/>
                </a:solidFill>
              </a:rPr>
              <a:t>0</a:t>
            </a:r>
          </a:p>
        </p:txBody>
      </p:sp>
      <p:sp>
        <p:nvSpPr>
          <p:cNvPr id="43" name="Oval 42">
            <a:extLst>
              <a:ext uri="{FF2B5EF4-FFF2-40B4-BE49-F238E27FC236}">
                <a16:creationId xmlns:a16="http://schemas.microsoft.com/office/drawing/2014/main" id="{1C773EFE-9A99-2512-A5E2-070FC542E906}"/>
              </a:ext>
            </a:extLst>
          </p:cNvPr>
          <p:cNvSpPr/>
          <p:nvPr/>
        </p:nvSpPr>
        <p:spPr>
          <a:xfrm>
            <a:off x="8214358" y="1081742"/>
            <a:ext cx="762492" cy="3897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44" name="TextBox 43">
            <a:extLst>
              <a:ext uri="{FF2B5EF4-FFF2-40B4-BE49-F238E27FC236}">
                <a16:creationId xmlns:a16="http://schemas.microsoft.com/office/drawing/2014/main" id="{7A138686-089D-FEBB-6D93-AB45C1433FFD}"/>
              </a:ext>
            </a:extLst>
          </p:cNvPr>
          <p:cNvSpPr txBox="1"/>
          <p:nvPr/>
        </p:nvSpPr>
        <p:spPr>
          <a:xfrm>
            <a:off x="9047075" y="1016265"/>
            <a:ext cx="584496" cy="400110"/>
          </a:xfrm>
          <a:prstGeom prst="rect">
            <a:avLst/>
          </a:prstGeom>
          <a:noFill/>
        </p:spPr>
        <p:txBody>
          <a:bodyPr wrap="square" rtlCol="0">
            <a:spAutoFit/>
          </a:bodyPr>
          <a:lstStyle/>
          <a:p>
            <a:r>
              <a:rPr lang="en-US" sz="2000" dirty="0"/>
              <a:t>z</a:t>
            </a:r>
          </a:p>
        </p:txBody>
      </p:sp>
      <p:sp>
        <p:nvSpPr>
          <p:cNvPr id="48" name="Freeform: Shape 47">
            <a:extLst>
              <a:ext uri="{FF2B5EF4-FFF2-40B4-BE49-F238E27FC236}">
                <a16:creationId xmlns:a16="http://schemas.microsoft.com/office/drawing/2014/main" id="{A6573BF6-3D95-A536-3D67-31331FABD5DB}"/>
              </a:ext>
            </a:extLst>
          </p:cNvPr>
          <p:cNvSpPr/>
          <p:nvPr/>
        </p:nvSpPr>
        <p:spPr>
          <a:xfrm>
            <a:off x="7324432" y="1301858"/>
            <a:ext cx="877502" cy="1828800"/>
          </a:xfrm>
          <a:custGeom>
            <a:avLst/>
            <a:gdLst>
              <a:gd name="connsiteX0" fmla="*/ 877502 w 877502"/>
              <a:gd name="connsiteY0" fmla="*/ 0 h 1828800"/>
              <a:gd name="connsiteX1" fmla="*/ 9597 w 877502"/>
              <a:gd name="connsiteY1" fmla="*/ 1053884 h 1828800"/>
              <a:gd name="connsiteX2" fmla="*/ 490045 w 877502"/>
              <a:gd name="connsiteY2" fmla="*/ 1828800 h 1828800"/>
            </a:gdLst>
            <a:ahLst/>
            <a:cxnLst>
              <a:cxn ang="0">
                <a:pos x="connsiteX0" y="connsiteY0"/>
              </a:cxn>
              <a:cxn ang="0">
                <a:pos x="connsiteX1" y="connsiteY1"/>
              </a:cxn>
              <a:cxn ang="0">
                <a:pos x="connsiteX2" y="connsiteY2"/>
              </a:cxn>
            </a:cxnLst>
            <a:rect l="l" t="t" r="r" b="b"/>
            <a:pathLst>
              <a:path w="877502" h="1828800">
                <a:moveTo>
                  <a:pt x="877502" y="0"/>
                </a:moveTo>
                <a:cubicBezTo>
                  <a:pt x="475837" y="374542"/>
                  <a:pt x="74173" y="749084"/>
                  <a:pt x="9597" y="1053884"/>
                </a:cubicBezTo>
                <a:cubicBezTo>
                  <a:pt x="-54979" y="1358684"/>
                  <a:pt x="217533" y="1593742"/>
                  <a:pt x="490045" y="18288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7636107C-791A-01A0-028C-0087C7055BDD}"/>
              </a:ext>
            </a:extLst>
          </p:cNvPr>
          <p:cNvSpPr/>
          <p:nvPr/>
        </p:nvSpPr>
        <p:spPr>
          <a:xfrm>
            <a:off x="8976850" y="1348353"/>
            <a:ext cx="779025" cy="1782305"/>
          </a:xfrm>
          <a:custGeom>
            <a:avLst/>
            <a:gdLst>
              <a:gd name="connsiteX0" fmla="*/ 0 w 779025"/>
              <a:gd name="connsiteY0" fmla="*/ 0 h 1782305"/>
              <a:gd name="connsiteX1" fmla="*/ 759417 w 779025"/>
              <a:gd name="connsiteY1" fmla="*/ 759416 h 1782305"/>
              <a:gd name="connsiteX2" fmla="*/ 480447 w 779025"/>
              <a:gd name="connsiteY2" fmla="*/ 1782305 h 1782305"/>
            </a:gdLst>
            <a:ahLst/>
            <a:cxnLst>
              <a:cxn ang="0">
                <a:pos x="connsiteX0" y="connsiteY0"/>
              </a:cxn>
              <a:cxn ang="0">
                <a:pos x="connsiteX1" y="connsiteY1"/>
              </a:cxn>
              <a:cxn ang="0">
                <a:pos x="connsiteX2" y="connsiteY2"/>
              </a:cxn>
            </a:cxnLst>
            <a:rect l="l" t="t" r="r" b="b"/>
            <a:pathLst>
              <a:path w="779025" h="1782305">
                <a:moveTo>
                  <a:pt x="0" y="0"/>
                </a:moveTo>
                <a:cubicBezTo>
                  <a:pt x="339671" y="231182"/>
                  <a:pt x="679343" y="462365"/>
                  <a:pt x="759417" y="759416"/>
                </a:cubicBezTo>
                <a:cubicBezTo>
                  <a:pt x="839492" y="1056467"/>
                  <a:pt x="659969" y="1419386"/>
                  <a:pt x="480447" y="17823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DB11FB8-271F-8318-B90A-6D27D807FE6C}"/>
              </a:ext>
            </a:extLst>
          </p:cNvPr>
          <p:cNvSpPr txBox="1"/>
          <p:nvPr/>
        </p:nvSpPr>
        <p:spPr>
          <a:xfrm>
            <a:off x="7959829" y="1937321"/>
            <a:ext cx="1103396" cy="369332"/>
          </a:xfrm>
          <a:prstGeom prst="rect">
            <a:avLst/>
          </a:prstGeom>
          <a:noFill/>
        </p:spPr>
        <p:txBody>
          <a:bodyPr wrap="square" rtlCol="0">
            <a:spAutoFit/>
          </a:bodyPr>
          <a:lstStyle/>
          <a:p>
            <a:pPr algn="ctr"/>
            <a:r>
              <a:rPr lang="en-US" dirty="0">
                <a:solidFill>
                  <a:srgbClr val="FF0000"/>
                </a:solidFill>
              </a:rPr>
              <a:t>killed</a:t>
            </a:r>
          </a:p>
        </p:txBody>
      </p:sp>
      <p:sp>
        <p:nvSpPr>
          <p:cNvPr id="51" name="Oval 50">
            <a:extLst>
              <a:ext uri="{FF2B5EF4-FFF2-40B4-BE49-F238E27FC236}">
                <a16:creationId xmlns:a16="http://schemas.microsoft.com/office/drawing/2014/main" id="{12FD5A12-40AE-A1CB-34AF-41A1D157333B}"/>
              </a:ext>
            </a:extLst>
          </p:cNvPr>
          <p:cNvSpPr/>
          <p:nvPr/>
        </p:nvSpPr>
        <p:spPr>
          <a:xfrm>
            <a:off x="8114094" y="5420511"/>
            <a:ext cx="584496"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aseline="-25000" dirty="0">
              <a:solidFill>
                <a:schemeClr val="tx1"/>
              </a:solidFill>
            </a:endParaRPr>
          </a:p>
        </p:txBody>
      </p:sp>
      <p:cxnSp>
        <p:nvCxnSpPr>
          <p:cNvPr id="52" name="Straight Connector 51">
            <a:extLst>
              <a:ext uri="{FF2B5EF4-FFF2-40B4-BE49-F238E27FC236}">
                <a16:creationId xmlns:a16="http://schemas.microsoft.com/office/drawing/2014/main" id="{794F028C-B3F8-7E00-55D9-63E8461C52FB}"/>
              </a:ext>
            </a:extLst>
          </p:cNvPr>
          <p:cNvCxnSpPr>
            <a:cxnSpLocks/>
            <a:stCxn id="56" idx="4"/>
            <a:endCxn id="53" idx="0"/>
          </p:cNvCxnSpPr>
          <p:nvPr/>
        </p:nvCxnSpPr>
        <p:spPr>
          <a:xfrm flipH="1">
            <a:off x="7335249" y="5650766"/>
            <a:ext cx="522314" cy="552266"/>
          </a:xfrm>
          <a:prstGeom prst="line">
            <a:avLst/>
          </a:prstGeom>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A4DB9513-70EE-49BE-2BA4-7D80093F5E9E}"/>
              </a:ext>
            </a:extLst>
          </p:cNvPr>
          <p:cNvSpPr/>
          <p:nvPr/>
        </p:nvSpPr>
        <p:spPr>
          <a:xfrm>
            <a:off x="6989844" y="6203032"/>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12</a:t>
            </a:r>
            <a:endParaRPr lang="en-US" sz="2000" baseline="-25000" dirty="0">
              <a:solidFill>
                <a:schemeClr val="tx1"/>
              </a:solidFill>
            </a:endParaRPr>
          </a:p>
        </p:txBody>
      </p:sp>
      <p:sp>
        <p:nvSpPr>
          <p:cNvPr id="54" name="Oval 53">
            <a:extLst>
              <a:ext uri="{FF2B5EF4-FFF2-40B4-BE49-F238E27FC236}">
                <a16:creationId xmlns:a16="http://schemas.microsoft.com/office/drawing/2014/main" id="{B5362F8D-3631-046E-8D06-6656FFCF8E32}"/>
              </a:ext>
            </a:extLst>
          </p:cNvPr>
          <p:cNvSpPr/>
          <p:nvPr/>
        </p:nvSpPr>
        <p:spPr>
          <a:xfrm>
            <a:off x="8282943" y="6203032"/>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a:t>
            </a:r>
            <a:r>
              <a:rPr lang="en-US" sz="2000" baseline="-25000" dirty="0">
                <a:solidFill>
                  <a:schemeClr val="tx1"/>
                </a:solidFill>
              </a:rPr>
              <a:t>0</a:t>
            </a:r>
          </a:p>
        </p:txBody>
      </p:sp>
      <p:cxnSp>
        <p:nvCxnSpPr>
          <p:cNvPr id="55" name="Straight Connector 54">
            <a:extLst>
              <a:ext uri="{FF2B5EF4-FFF2-40B4-BE49-F238E27FC236}">
                <a16:creationId xmlns:a16="http://schemas.microsoft.com/office/drawing/2014/main" id="{55D2C6BD-A6D3-70EC-413C-7399F4CE74CB}"/>
              </a:ext>
            </a:extLst>
          </p:cNvPr>
          <p:cNvCxnSpPr>
            <a:cxnSpLocks/>
            <a:stCxn id="56" idx="4"/>
            <a:endCxn id="54" idx="0"/>
          </p:cNvCxnSpPr>
          <p:nvPr/>
        </p:nvCxnSpPr>
        <p:spPr>
          <a:xfrm>
            <a:off x="7857563" y="5650766"/>
            <a:ext cx="770785" cy="552266"/>
          </a:xfrm>
          <a:prstGeom prst="line">
            <a:avLst/>
          </a:prstGeom>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E17ADA7-1A0A-BC25-98AE-24DDD6052650}"/>
              </a:ext>
            </a:extLst>
          </p:cNvPr>
          <p:cNvSpPr/>
          <p:nvPr/>
        </p:nvSpPr>
        <p:spPr>
          <a:xfrm>
            <a:off x="7619616" y="5212135"/>
            <a:ext cx="475894" cy="43863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57" name="TextBox 56">
            <a:extLst>
              <a:ext uri="{FF2B5EF4-FFF2-40B4-BE49-F238E27FC236}">
                <a16:creationId xmlns:a16="http://schemas.microsoft.com/office/drawing/2014/main" id="{B52EB52E-84C1-A44C-F1AE-754DE80A6934}"/>
              </a:ext>
            </a:extLst>
          </p:cNvPr>
          <p:cNvSpPr txBox="1"/>
          <p:nvPr/>
        </p:nvSpPr>
        <p:spPr>
          <a:xfrm>
            <a:off x="8101318" y="5250656"/>
            <a:ext cx="584496" cy="400110"/>
          </a:xfrm>
          <a:prstGeom prst="rect">
            <a:avLst/>
          </a:prstGeom>
          <a:noFill/>
        </p:spPr>
        <p:txBody>
          <a:bodyPr wrap="square" rtlCol="0">
            <a:spAutoFit/>
          </a:bodyPr>
          <a:lstStyle/>
          <a:p>
            <a:r>
              <a:rPr lang="en-US" sz="2000" dirty="0"/>
              <a:t>b</a:t>
            </a:r>
          </a:p>
        </p:txBody>
      </p:sp>
      <p:cxnSp>
        <p:nvCxnSpPr>
          <p:cNvPr id="58" name="Straight Connector 57">
            <a:extLst>
              <a:ext uri="{FF2B5EF4-FFF2-40B4-BE49-F238E27FC236}">
                <a16:creationId xmlns:a16="http://schemas.microsoft.com/office/drawing/2014/main" id="{ACE9B660-5C24-C2DA-FA74-C28123850551}"/>
              </a:ext>
            </a:extLst>
          </p:cNvPr>
          <p:cNvCxnSpPr>
            <a:cxnSpLocks/>
            <a:stCxn id="56" idx="7"/>
            <a:endCxn id="61" idx="3"/>
          </p:cNvCxnSpPr>
          <p:nvPr/>
        </p:nvCxnSpPr>
        <p:spPr>
          <a:xfrm flipV="1">
            <a:off x="8025817" y="4820391"/>
            <a:ext cx="450707" cy="455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C02F9AE-3B9D-DCB4-72B3-65E64C8C37A5}"/>
              </a:ext>
            </a:extLst>
          </p:cNvPr>
          <p:cNvCxnSpPr>
            <a:cxnSpLocks/>
            <a:stCxn id="61" idx="4"/>
            <a:endCxn id="62" idx="0"/>
          </p:cNvCxnSpPr>
          <p:nvPr/>
        </p:nvCxnSpPr>
        <p:spPr>
          <a:xfrm>
            <a:off x="8746106" y="4877468"/>
            <a:ext cx="1050792" cy="1384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023E5FF-EFA7-B8C3-3AC6-204E4107E873}"/>
              </a:ext>
            </a:extLst>
          </p:cNvPr>
          <p:cNvCxnSpPr>
            <a:cxnSpLocks/>
            <a:stCxn id="5120" idx="5"/>
            <a:endCxn id="63" idx="0"/>
          </p:cNvCxnSpPr>
          <p:nvPr/>
        </p:nvCxnSpPr>
        <p:spPr>
          <a:xfrm>
            <a:off x="9806643" y="4085105"/>
            <a:ext cx="1276775" cy="2177339"/>
          </a:xfrm>
          <a:prstGeom prst="line">
            <a:avLst/>
          </a:prstGeom>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83981E90-14EE-5D96-9970-EA22C01C95BE}"/>
              </a:ext>
            </a:extLst>
          </p:cNvPr>
          <p:cNvSpPr/>
          <p:nvPr/>
        </p:nvSpPr>
        <p:spPr>
          <a:xfrm>
            <a:off x="8364860" y="4487723"/>
            <a:ext cx="762492" cy="3897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62" name="Oval 61">
            <a:extLst>
              <a:ext uri="{FF2B5EF4-FFF2-40B4-BE49-F238E27FC236}">
                <a16:creationId xmlns:a16="http://schemas.microsoft.com/office/drawing/2014/main" id="{67F0EFBE-22A0-F250-2C0E-749C70D7F274}"/>
              </a:ext>
            </a:extLst>
          </p:cNvPr>
          <p:cNvSpPr/>
          <p:nvPr/>
        </p:nvSpPr>
        <p:spPr>
          <a:xfrm>
            <a:off x="9451493" y="6262444"/>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a:t>
            </a:r>
            <a:r>
              <a:rPr lang="en-US" sz="2000" baseline="-25000" dirty="0">
                <a:solidFill>
                  <a:schemeClr val="tx1"/>
                </a:solidFill>
              </a:rPr>
              <a:t>0</a:t>
            </a:r>
          </a:p>
        </p:txBody>
      </p:sp>
      <p:sp>
        <p:nvSpPr>
          <p:cNvPr id="63" name="Oval 62">
            <a:extLst>
              <a:ext uri="{FF2B5EF4-FFF2-40B4-BE49-F238E27FC236}">
                <a16:creationId xmlns:a16="http://schemas.microsoft.com/office/drawing/2014/main" id="{2180BB67-95A7-D106-16AF-2C7C18EB7E5F}"/>
              </a:ext>
            </a:extLst>
          </p:cNvPr>
          <p:cNvSpPr/>
          <p:nvPr/>
        </p:nvSpPr>
        <p:spPr>
          <a:xfrm>
            <a:off x="10738013" y="6262444"/>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y</a:t>
            </a:r>
            <a:r>
              <a:rPr lang="en-US" sz="2000" baseline="-25000" dirty="0">
                <a:solidFill>
                  <a:schemeClr val="tx1"/>
                </a:solidFill>
              </a:rPr>
              <a:t>0</a:t>
            </a:r>
          </a:p>
        </p:txBody>
      </p:sp>
      <p:sp>
        <p:nvSpPr>
          <p:cNvPr id="5120" name="Oval 5119">
            <a:extLst>
              <a:ext uri="{FF2B5EF4-FFF2-40B4-BE49-F238E27FC236}">
                <a16:creationId xmlns:a16="http://schemas.microsoft.com/office/drawing/2014/main" id="{04F4CAAE-2412-8F6B-647C-AF0C4809AAC7}"/>
              </a:ext>
            </a:extLst>
          </p:cNvPr>
          <p:cNvSpPr/>
          <p:nvPr/>
        </p:nvSpPr>
        <p:spPr>
          <a:xfrm>
            <a:off x="9155815" y="3752437"/>
            <a:ext cx="762492" cy="3897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p>
        </p:txBody>
      </p:sp>
      <p:sp>
        <p:nvSpPr>
          <p:cNvPr id="5121" name="TextBox 5120">
            <a:extLst>
              <a:ext uri="{FF2B5EF4-FFF2-40B4-BE49-F238E27FC236}">
                <a16:creationId xmlns:a16="http://schemas.microsoft.com/office/drawing/2014/main" id="{38A819C0-1B08-0DAB-9810-5B52DD39D44F}"/>
              </a:ext>
            </a:extLst>
          </p:cNvPr>
          <p:cNvSpPr txBox="1"/>
          <p:nvPr/>
        </p:nvSpPr>
        <p:spPr>
          <a:xfrm>
            <a:off x="9152574" y="4470183"/>
            <a:ext cx="584496" cy="400110"/>
          </a:xfrm>
          <a:prstGeom prst="rect">
            <a:avLst/>
          </a:prstGeom>
          <a:noFill/>
        </p:spPr>
        <p:txBody>
          <a:bodyPr wrap="square" rtlCol="0">
            <a:spAutoFit/>
          </a:bodyPr>
          <a:lstStyle/>
          <a:p>
            <a:r>
              <a:rPr lang="en-US" sz="2000" dirty="0"/>
              <a:t>x</a:t>
            </a:r>
          </a:p>
        </p:txBody>
      </p:sp>
      <p:sp>
        <p:nvSpPr>
          <p:cNvPr id="5128" name="TextBox 5127">
            <a:extLst>
              <a:ext uri="{FF2B5EF4-FFF2-40B4-BE49-F238E27FC236}">
                <a16:creationId xmlns:a16="http://schemas.microsoft.com/office/drawing/2014/main" id="{113DAAF7-7577-4BA6-35ED-F7ED9B145B18}"/>
              </a:ext>
            </a:extLst>
          </p:cNvPr>
          <p:cNvSpPr txBox="1"/>
          <p:nvPr/>
        </p:nvSpPr>
        <p:spPr>
          <a:xfrm>
            <a:off x="8276180" y="4160907"/>
            <a:ext cx="1103396" cy="369332"/>
          </a:xfrm>
          <a:prstGeom prst="rect">
            <a:avLst/>
          </a:prstGeom>
          <a:noFill/>
        </p:spPr>
        <p:txBody>
          <a:bodyPr wrap="square" rtlCol="0">
            <a:spAutoFit/>
          </a:bodyPr>
          <a:lstStyle/>
          <a:p>
            <a:pPr algn="ctr"/>
            <a:r>
              <a:rPr lang="en-US" dirty="0">
                <a:solidFill>
                  <a:srgbClr val="FF0000"/>
                </a:solidFill>
              </a:rPr>
              <a:t>killed</a:t>
            </a:r>
          </a:p>
        </p:txBody>
      </p:sp>
      <p:cxnSp>
        <p:nvCxnSpPr>
          <p:cNvPr id="5147" name="Straight Connector 5146">
            <a:extLst>
              <a:ext uri="{FF2B5EF4-FFF2-40B4-BE49-F238E27FC236}">
                <a16:creationId xmlns:a16="http://schemas.microsoft.com/office/drawing/2014/main" id="{176E236F-6AA9-AABC-BF78-477324437BE7}"/>
              </a:ext>
            </a:extLst>
          </p:cNvPr>
          <p:cNvCxnSpPr>
            <a:cxnSpLocks/>
            <a:stCxn id="5120" idx="5"/>
            <a:endCxn id="5148" idx="0"/>
          </p:cNvCxnSpPr>
          <p:nvPr/>
        </p:nvCxnSpPr>
        <p:spPr>
          <a:xfrm>
            <a:off x="9806643" y="4085105"/>
            <a:ext cx="716252" cy="2174757"/>
          </a:xfrm>
          <a:prstGeom prst="line">
            <a:avLst/>
          </a:prstGeom>
        </p:spPr>
        <p:style>
          <a:lnRef idx="1">
            <a:schemeClr val="accent1"/>
          </a:lnRef>
          <a:fillRef idx="0">
            <a:schemeClr val="accent1"/>
          </a:fillRef>
          <a:effectRef idx="0">
            <a:schemeClr val="accent1"/>
          </a:effectRef>
          <a:fontRef idx="minor">
            <a:schemeClr val="tx1"/>
          </a:fontRef>
        </p:style>
      </p:cxnSp>
      <p:sp>
        <p:nvSpPr>
          <p:cNvPr id="5148" name="Oval 5147">
            <a:extLst>
              <a:ext uri="{FF2B5EF4-FFF2-40B4-BE49-F238E27FC236}">
                <a16:creationId xmlns:a16="http://schemas.microsoft.com/office/drawing/2014/main" id="{ABECAFB4-BD5A-AC83-347C-62EADDF2E7AB}"/>
              </a:ext>
            </a:extLst>
          </p:cNvPr>
          <p:cNvSpPr/>
          <p:nvPr/>
        </p:nvSpPr>
        <p:spPr>
          <a:xfrm>
            <a:off x="10177490" y="6259862"/>
            <a:ext cx="690810" cy="408507"/>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j</a:t>
            </a:r>
            <a:r>
              <a:rPr lang="en-US" sz="2000" baseline="-25000" dirty="0">
                <a:solidFill>
                  <a:schemeClr val="tx1"/>
                </a:solidFill>
              </a:rPr>
              <a:t>0</a:t>
            </a:r>
          </a:p>
        </p:txBody>
      </p:sp>
      <p:sp>
        <p:nvSpPr>
          <p:cNvPr id="5151" name="Freeform: Shape 5150">
            <a:extLst>
              <a:ext uri="{FF2B5EF4-FFF2-40B4-BE49-F238E27FC236}">
                <a16:creationId xmlns:a16="http://schemas.microsoft.com/office/drawing/2014/main" id="{C21615D0-52A2-FD96-D1D5-C902136EB276}"/>
              </a:ext>
            </a:extLst>
          </p:cNvPr>
          <p:cNvSpPr/>
          <p:nvPr/>
        </p:nvSpPr>
        <p:spPr>
          <a:xfrm>
            <a:off x="7698390" y="3936569"/>
            <a:ext cx="1461107" cy="1286360"/>
          </a:xfrm>
          <a:custGeom>
            <a:avLst/>
            <a:gdLst>
              <a:gd name="connsiteX0" fmla="*/ 1461107 w 1461107"/>
              <a:gd name="connsiteY0" fmla="*/ 0 h 1286360"/>
              <a:gd name="connsiteX1" fmla="*/ 128253 w 1461107"/>
              <a:gd name="connsiteY1" fmla="*/ 635431 h 1286360"/>
              <a:gd name="connsiteX2" fmla="*/ 128253 w 1461107"/>
              <a:gd name="connsiteY2" fmla="*/ 1286360 h 1286360"/>
            </a:gdLst>
            <a:ahLst/>
            <a:cxnLst>
              <a:cxn ang="0">
                <a:pos x="connsiteX0" y="connsiteY0"/>
              </a:cxn>
              <a:cxn ang="0">
                <a:pos x="connsiteX1" y="connsiteY1"/>
              </a:cxn>
              <a:cxn ang="0">
                <a:pos x="connsiteX2" y="connsiteY2"/>
              </a:cxn>
            </a:cxnLst>
            <a:rect l="l" t="t" r="r" b="b"/>
            <a:pathLst>
              <a:path w="1461107" h="1286360">
                <a:moveTo>
                  <a:pt x="1461107" y="0"/>
                </a:moveTo>
                <a:cubicBezTo>
                  <a:pt x="905751" y="210519"/>
                  <a:pt x="350395" y="421038"/>
                  <a:pt x="128253" y="635431"/>
                </a:cubicBezTo>
                <a:cubicBezTo>
                  <a:pt x="-93889" y="849824"/>
                  <a:pt x="17182" y="1068092"/>
                  <a:pt x="128253" y="128636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873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1000"/>
                                        <p:tgtEl>
                                          <p:spTgt spid="5122"/>
                                        </p:tgtEl>
                                      </p:cBhvr>
                                    </p:animEffect>
                                    <p:anim calcmode="lin" valueType="num">
                                      <p:cBhvr>
                                        <p:cTn id="8" dur="1000" fill="hold"/>
                                        <p:tgtEl>
                                          <p:spTgt spid="5122"/>
                                        </p:tgtEl>
                                        <p:attrNameLst>
                                          <p:attrName>ppt_x</p:attrName>
                                        </p:attrNameLst>
                                      </p:cBhvr>
                                      <p:tavLst>
                                        <p:tav tm="0">
                                          <p:val>
                                            <p:strVal val="#ppt_x"/>
                                          </p:val>
                                        </p:tav>
                                        <p:tav tm="100000">
                                          <p:val>
                                            <p:strVal val="#ppt_x"/>
                                          </p:val>
                                        </p:tav>
                                      </p:tavLst>
                                    </p:anim>
                                    <p:anim calcmode="lin" valueType="num">
                                      <p:cBhvr>
                                        <p:cTn id="9" dur="1000" fill="hold"/>
                                        <p:tgtEl>
                                          <p:spTgt spid="51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anim calcmode="lin" valueType="num">
                                      <p:cBhvr>
                                        <p:cTn id="39" dur="1000" fill="hold"/>
                                        <p:tgtEl>
                                          <p:spTgt spid="10"/>
                                        </p:tgtEl>
                                        <p:attrNameLst>
                                          <p:attrName>ppt_x</p:attrName>
                                        </p:attrNameLst>
                                      </p:cBhvr>
                                      <p:tavLst>
                                        <p:tav tm="0">
                                          <p:val>
                                            <p:strVal val="#ppt_x"/>
                                          </p:val>
                                        </p:tav>
                                        <p:tav tm="100000">
                                          <p:val>
                                            <p:strVal val="#ppt_x"/>
                                          </p:val>
                                        </p:tav>
                                      </p:tavLst>
                                    </p:anim>
                                    <p:anim calcmode="lin" valueType="num">
                                      <p:cBhvr>
                                        <p:cTn id="40" dur="10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ppt_x</p:attrName>
                                        </p:attrNameLst>
                                      </p:cBhvr>
                                      <p:tavLst>
                                        <p:tav tm="0">
                                          <p:val>
                                            <p:strVal val="#ppt_x"/>
                                          </p:val>
                                        </p:tav>
                                        <p:tav tm="100000">
                                          <p:val>
                                            <p:strVal val="#ppt_x"/>
                                          </p:val>
                                        </p:tav>
                                      </p:tavLst>
                                    </p:anim>
                                    <p:anim calcmode="lin" valueType="num">
                                      <p:cBhvr>
                                        <p:cTn id="4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down)">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1000"/>
                                        <p:tgtEl>
                                          <p:spTgt spid="31"/>
                                        </p:tgtEl>
                                      </p:cBhvr>
                                    </p:animEffect>
                                    <p:anim calcmode="lin" valueType="num">
                                      <p:cBhvr>
                                        <p:cTn id="56" dur="1000" fill="hold"/>
                                        <p:tgtEl>
                                          <p:spTgt spid="31"/>
                                        </p:tgtEl>
                                        <p:attrNameLst>
                                          <p:attrName>ppt_x</p:attrName>
                                        </p:attrNameLst>
                                      </p:cBhvr>
                                      <p:tavLst>
                                        <p:tav tm="0">
                                          <p:val>
                                            <p:strVal val="#ppt_x"/>
                                          </p:val>
                                        </p:tav>
                                        <p:tav tm="100000">
                                          <p:val>
                                            <p:strVal val="#ppt_x"/>
                                          </p:val>
                                        </p:tav>
                                      </p:tavLst>
                                    </p:anim>
                                    <p:anim calcmode="lin" valueType="num">
                                      <p:cBhvr>
                                        <p:cTn id="57" dur="1000" fill="hold"/>
                                        <p:tgtEl>
                                          <p:spTgt spid="31"/>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1000"/>
                                        <p:tgtEl>
                                          <p:spTgt spid="32"/>
                                        </p:tgtEl>
                                      </p:cBhvr>
                                    </p:animEffect>
                                    <p:anim calcmode="lin" valueType="num">
                                      <p:cBhvr>
                                        <p:cTn id="61" dur="1000" fill="hold"/>
                                        <p:tgtEl>
                                          <p:spTgt spid="32"/>
                                        </p:tgtEl>
                                        <p:attrNameLst>
                                          <p:attrName>ppt_x</p:attrName>
                                        </p:attrNameLst>
                                      </p:cBhvr>
                                      <p:tavLst>
                                        <p:tav tm="0">
                                          <p:val>
                                            <p:strVal val="#ppt_x"/>
                                          </p:val>
                                        </p:tav>
                                        <p:tav tm="100000">
                                          <p:val>
                                            <p:strVal val="#ppt_x"/>
                                          </p:val>
                                        </p:tav>
                                      </p:tavLst>
                                    </p:anim>
                                    <p:anim calcmode="lin" valueType="num">
                                      <p:cBhvr>
                                        <p:cTn id="62" dur="1000" fill="hold"/>
                                        <p:tgtEl>
                                          <p:spTgt spid="3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1000"/>
                                        <p:tgtEl>
                                          <p:spTgt spid="15"/>
                                        </p:tgtEl>
                                      </p:cBhvr>
                                    </p:animEffect>
                                    <p:anim calcmode="lin" valueType="num">
                                      <p:cBhvr>
                                        <p:cTn id="66" dur="1000" fill="hold"/>
                                        <p:tgtEl>
                                          <p:spTgt spid="15"/>
                                        </p:tgtEl>
                                        <p:attrNameLst>
                                          <p:attrName>ppt_x</p:attrName>
                                        </p:attrNameLst>
                                      </p:cBhvr>
                                      <p:tavLst>
                                        <p:tav tm="0">
                                          <p:val>
                                            <p:strVal val="#ppt_x"/>
                                          </p:val>
                                        </p:tav>
                                        <p:tav tm="100000">
                                          <p:val>
                                            <p:strVal val="#ppt_x"/>
                                          </p:val>
                                        </p:tav>
                                      </p:tavLst>
                                    </p:anim>
                                    <p:anim calcmode="lin" valueType="num">
                                      <p:cBhvr>
                                        <p:cTn id="67" dur="1000" fill="hold"/>
                                        <p:tgtEl>
                                          <p:spTgt spid="15"/>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1000"/>
                                        <p:tgtEl>
                                          <p:spTgt spid="33"/>
                                        </p:tgtEl>
                                      </p:cBhvr>
                                    </p:animEffect>
                                    <p:anim calcmode="lin" valueType="num">
                                      <p:cBhvr>
                                        <p:cTn id="71" dur="1000" fill="hold"/>
                                        <p:tgtEl>
                                          <p:spTgt spid="33"/>
                                        </p:tgtEl>
                                        <p:attrNameLst>
                                          <p:attrName>ppt_x</p:attrName>
                                        </p:attrNameLst>
                                      </p:cBhvr>
                                      <p:tavLst>
                                        <p:tav tm="0">
                                          <p:val>
                                            <p:strVal val="#ppt_x"/>
                                          </p:val>
                                        </p:tav>
                                        <p:tav tm="100000">
                                          <p:val>
                                            <p:strVal val="#ppt_x"/>
                                          </p:val>
                                        </p:tav>
                                      </p:tavLst>
                                    </p:anim>
                                    <p:anim calcmode="lin" valueType="num">
                                      <p:cBhvr>
                                        <p:cTn id="72" dur="1000" fill="hold"/>
                                        <p:tgtEl>
                                          <p:spTgt spid="33"/>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1000"/>
                                        <p:tgtEl>
                                          <p:spTgt spid="34"/>
                                        </p:tgtEl>
                                      </p:cBhvr>
                                    </p:animEffect>
                                    <p:anim calcmode="lin" valueType="num">
                                      <p:cBhvr>
                                        <p:cTn id="76" dur="1000" fill="hold"/>
                                        <p:tgtEl>
                                          <p:spTgt spid="34"/>
                                        </p:tgtEl>
                                        <p:attrNameLst>
                                          <p:attrName>ppt_x</p:attrName>
                                        </p:attrNameLst>
                                      </p:cBhvr>
                                      <p:tavLst>
                                        <p:tav tm="0">
                                          <p:val>
                                            <p:strVal val="#ppt_x"/>
                                          </p:val>
                                        </p:tav>
                                        <p:tav tm="100000">
                                          <p:val>
                                            <p:strVal val="#ppt_x"/>
                                          </p:val>
                                        </p:tav>
                                      </p:tavLst>
                                    </p:anim>
                                    <p:anim calcmode="lin" valueType="num">
                                      <p:cBhvr>
                                        <p:cTn id="77" dur="1000" fill="hold"/>
                                        <p:tgtEl>
                                          <p:spTgt spid="34"/>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1000"/>
                                        <p:tgtEl>
                                          <p:spTgt spid="35"/>
                                        </p:tgtEl>
                                      </p:cBhvr>
                                    </p:animEffect>
                                    <p:anim calcmode="lin" valueType="num">
                                      <p:cBhvr>
                                        <p:cTn id="81" dur="1000" fill="hold"/>
                                        <p:tgtEl>
                                          <p:spTgt spid="35"/>
                                        </p:tgtEl>
                                        <p:attrNameLst>
                                          <p:attrName>ppt_x</p:attrName>
                                        </p:attrNameLst>
                                      </p:cBhvr>
                                      <p:tavLst>
                                        <p:tav tm="0">
                                          <p:val>
                                            <p:strVal val="#ppt_x"/>
                                          </p:val>
                                        </p:tav>
                                        <p:tav tm="100000">
                                          <p:val>
                                            <p:strVal val="#ppt_x"/>
                                          </p:val>
                                        </p:tav>
                                      </p:tavLst>
                                    </p:anim>
                                    <p:anim calcmode="lin" valueType="num">
                                      <p:cBhvr>
                                        <p:cTn id="82"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1000"/>
                                        <p:tgtEl>
                                          <p:spTgt spid="50"/>
                                        </p:tgtEl>
                                      </p:cBhvr>
                                    </p:animEffect>
                                    <p:anim calcmode="lin" valueType="num">
                                      <p:cBhvr>
                                        <p:cTn id="88" dur="1000" fill="hold"/>
                                        <p:tgtEl>
                                          <p:spTgt spid="50"/>
                                        </p:tgtEl>
                                        <p:attrNameLst>
                                          <p:attrName>ppt_x</p:attrName>
                                        </p:attrNameLst>
                                      </p:cBhvr>
                                      <p:tavLst>
                                        <p:tav tm="0">
                                          <p:val>
                                            <p:strVal val="#ppt_x"/>
                                          </p:val>
                                        </p:tav>
                                        <p:tav tm="100000">
                                          <p:val>
                                            <p:strVal val="#ppt_x"/>
                                          </p:val>
                                        </p:tav>
                                      </p:tavLst>
                                    </p:anim>
                                    <p:anim calcmode="lin" valueType="num">
                                      <p:cBhvr>
                                        <p:cTn id="8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1000"/>
                                        <p:tgtEl>
                                          <p:spTgt spid="43"/>
                                        </p:tgtEl>
                                      </p:cBhvr>
                                    </p:animEffect>
                                    <p:anim calcmode="lin" valueType="num">
                                      <p:cBhvr>
                                        <p:cTn id="95" dur="1000" fill="hold"/>
                                        <p:tgtEl>
                                          <p:spTgt spid="43"/>
                                        </p:tgtEl>
                                        <p:attrNameLst>
                                          <p:attrName>ppt_x</p:attrName>
                                        </p:attrNameLst>
                                      </p:cBhvr>
                                      <p:tavLst>
                                        <p:tav tm="0">
                                          <p:val>
                                            <p:strVal val="#ppt_x"/>
                                          </p:val>
                                        </p:tav>
                                        <p:tav tm="100000">
                                          <p:val>
                                            <p:strVal val="#ppt_x"/>
                                          </p:val>
                                        </p:tav>
                                      </p:tavLst>
                                    </p:anim>
                                    <p:anim calcmode="lin" valueType="num">
                                      <p:cBhvr>
                                        <p:cTn id="96" dur="1000" fill="hold"/>
                                        <p:tgtEl>
                                          <p:spTgt spid="43"/>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1000"/>
                                        <p:tgtEl>
                                          <p:spTgt spid="48"/>
                                        </p:tgtEl>
                                      </p:cBhvr>
                                    </p:animEffect>
                                    <p:anim calcmode="lin" valueType="num">
                                      <p:cBhvr>
                                        <p:cTn id="100" dur="1000" fill="hold"/>
                                        <p:tgtEl>
                                          <p:spTgt spid="48"/>
                                        </p:tgtEl>
                                        <p:attrNameLst>
                                          <p:attrName>ppt_x</p:attrName>
                                        </p:attrNameLst>
                                      </p:cBhvr>
                                      <p:tavLst>
                                        <p:tav tm="0">
                                          <p:val>
                                            <p:strVal val="#ppt_x"/>
                                          </p:val>
                                        </p:tav>
                                        <p:tav tm="100000">
                                          <p:val>
                                            <p:strVal val="#ppt_x"/>
                                          </p:val>
                                        </p:tav>
                                      </p:tavLst>
                                    </p:anim>
                                    <p:anim calcmode="lin" valueType="num">
                                      <p:cBhvr>
                                        <p:cTn id="101" dur="1000" fill="hold"/>
                                        <p:tgtEl>
                                          <p:spTgt spid="4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1000"/>
                                        <p:tgtEl>
                                          <p:spTgt spid="49"/>
                                        </p:tgtEl>
                                      </p:cBhvr>
                                    </p:animEffect>
                                    <p:anim calcmode="lin" valueType="num">
                                      <p:cBhvr>
                                        <p:cTn id="105" dur="1000" fill="hold"/>
                                        <p:tgtEl>
                                          <p:spTgt spid="49"/>
                                        </p:tgtEl>
                                        <p:attrNameLst>
                                          <p:attrName>ppt_x</p:attrName>
                                        </p:attrNameLst>
                                      </p:cBhvr>
                                      <p:tavLst>
                                        <p:tav tm="0">
                                          <p:val>
                                            <p:strVal val="#ppt_x"/>
                                          </p:val>
                                        </p:tav>
                                        <p:tav tm="100000">
                                          <p:val>
                                            <p:strVal val="#ppt_x"/>
                                          </p:val>
                                        </p:tav>
                                      </p:tavLst>
                                    </p:anim>
                                    <p:anim calcmode="lin" valueType="num">
                                      <p:cBhvr>
                                        <p:cTn id="106"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wipe(down)">
                                      <p:cBhvr>
                                        <p:cTn id="111" dur="500"/>
                                        <p:tgtEl>
                                          <p:spTgt spid="44"/>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5124"/>
                                        </p:tgtEl>
                                        <p:attrNameLst>
                                          <p:attrName>style.visibility</p:attrName>
                                        </p:attrNameLst>
                                      </p:cBhvr>
                                      <p:to>
                                        <p:strVal val="visible"/>
                                      </p:to>
                                    </p:set>
                                    <p:animEffect transition="in" filter="fade">
                                      <p:cBhvr>
                                        <p:cTn id="116" dur="1000"/>
                                        <p:tgtEl>
                                          <p:spTgt spid="5124"/>
                                        </p:tgtEl>
                                      </p:cBhvr>
                                    </p:animEffect>
                                    <p:anim calcmode="lin" valueType="num">
                                      <p:cBhvr>
                                        <p:cTn id="117" dur="1000" fill="hold"/>
                                        <p:tgtEl>
                                          <p:spTgt spid="5124"/>
                                        </p:tgtEl>
                                        <p:attrNameLst>
                                          <p:attrName>ppt_x</p:attrName>
                                        </p:attrNameLst>
                                      </p:cBhvr>
                                      <p:tavLst>
                                        <p:tav tm="0">
                                          <p:val>
                                            <p:strVal val="#ppt_x"/>
                                          </p:val>
                                        </p:tav>
                                        <p:tav tm="100000">
                                          <p:val>
                                            <p:strVal val="#ppt_x"/>
                                          </p:val>
                                        </p:tav>
                                      </p:tavLst>
                                    </p:anim>
                                    <p:anim calcmode="lin" valueType="num">
                                      <p:cBhvr>
                                        <p:cTn id="118" dur="1000" fill="hold"/>
                                        <p:tgtEl>
                                          <p:spTgt spid="5124"/>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12"/>
                                        </p:tgtEl>
                                        <p:attrNameLst>
                                          <p:attrName>style.visibility</p:attrName>
                                        </p:attrNameLst>
                                      </p:cBhvr>
                                      <p:to>
                                        <p:strVal val="visible"/>
                                      </p:to>
                                    </p:set>
                                    <p:animEffect transition="in" filter="fade">
                                      <p:cBhvr>
                                        <p:cTn id="121" dur="1000"/>
                                        <p:tgtEl>
                                          <p:spTgt spid="12"/>
                                        </p:tgtEl>
                                      </p:cBhvr>
                                    </p:animEffect>
                                    <p:anim calcmode="lin" valueType="num">
                                      <p:cBhvr>
                                        <p:cTn id="122" dur="1000" fill="hold"/>
                                        <p:tgtEl>
                                          <p:spTgt spid="12"/>
                                        </p:tgtEl>
                                        <p:attrNameLst>
                                          <p:attrName>ppt_x</p:attrName>
                                        </p:attrNameLst>
                                      </p:cBhvr>
                                      <p:tavLst>
                                        <p:tav tm="0">
                                          <p:val>
                                            <p:strVal val="#ppt_x"/>
                                          </p:val>
                                        </p:tav>
                                        <p:tav tm="100000">
                                          <p:val>
                                            <p:strVal val="#ppt_x"/>
                                          </p:val>
                                        </p:tav>
                                      </p:tavLst>
                                    </p:anim>
                                    <p:anim calcmode="lin" valueType="num">
                                      <p:cBhvr>
                                        <p:cTn id="1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42" presetClass="entr" presetSubtype="0" fill="hold" grpId="0" nodeType="clickEffect">
                                  <p:stCondLst>
                                    <p:cond delay="0"/>
                                  </p:stCondLst>
                                  <p:childTnLst>
                                    <p:set>
                                      <p:cBhvr>
                                        <p:cTn id="127" dur="1" fill="hold">
                                          <p:stCondLst>
                                            <p:cond delay="0"/>
                                          </p:stCondLst>
                                        </p:cTn>
                                        <p:tgtEl>
                                          <p:spTgt spid="53"/>
                                        </p:tgtEl>
                                        <p:attrNameLst>
                                          <p:attrName>style.visibility</p:attrName>
                                        </p:attrNameLst>
                                      </p:cBhvr>
                                      <p:to>
                                        <p:strVal val="visible"/>
                                      </p:to>
                                    </p:set>
                                    <p:animEffect transition="in" filter="fade">
                                      <p:cBhvr>
                                        <p:cTn id="128" dur="1000"/>
                                        <p:tgtEl>
                                          <p:spTgt spid="53"/>
                                        </p:tgtEl>
                                      </p:cBhvr>
                                    </p:animEffect>
                                    <p:anim calcmode="lin" valueType="num">
                                      <p:cBhvr>
                                        <p:cTn id="129" dur="1000" fill="hold"/>
                                        <p:tgtEl>
                                          <p:spTgt spid="53"/>
                                        </p:tgtEl>
                                        <p:attrNameLst>
                                          <p:attrName>ppt_x</p:attrName>
                                        </p:attrNameLst>
                                      </p:cBhvr>
                                      <p:tavLst>
                                        <p:tav tm="0">
                                          <p:val>
                                            <p:strVal val="#ppt_x"/>
                                          </p:val>
                                        </p:tav>
                                        <p:tav tm="100000">
                                          <p:val>
                                            <p:strVal val="#ppt_x"/>
                                          </p:val>
                                        </p:tav>
                                      </p:tavLst>
                                    </p:anim>
                                    <p:anim calcmode="lin" valueType="num">
                                      <p:cBhvr>
                                        <p:cTn id="130" dur="1000" fill="hold"/>
                                        <p:tgtEl>
                                          <p:spTgt spid="53"/>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fade">
                                      <p:cBhvr>
                                        <p:cTn id="133" dur="1000"/>
                                        <p:tgtEl>
                                          <p:spTgt spid="54"/>
                                        </p:tgtEl>
                                      </p:cBhvr>
                                    </p:animEffect>
                                    <p:anim calcmode="lin" valueType="num">
                                      <p:cBhvr>
                                        <p:cTn id="134" dur="1000" fill="hold"/>
                                        <p:tgtEl>
                                          <p:spTgt spid="54"/>
                                        </p:tgtEl>
                                        <p:attrNameLst>
                                          <p:attrName>ppt_x</p:attrName>
                                        </p:attrNameLst>
                                      </p:cBhvr>
                                      <p:tavLst>
                                        <p:tav tm="0">
                                          <p:val>
                                            <p:strVal val="#ppt_x"/>
                                          </p:val>
                                        </p:tav>
                                        <p:tav tm="100000">
                                          <p:val>
                                            <p:strVal val="#ppt_x"/>
                                          </p:val>
                                        </p:tav>
                                      </p:tavLst>
                                    </p:anim>
                                    <p:anim calcmode="lin" valueType="num">
                                      <p:cBhvr>
                                        <p:cTn id="135"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nodeType="clickEffect">
                                  <p:stCondLst>
                                    <p:cond delay="0"/>
                                  </p:stCondLst>
                                  <p:childTnLst>
                                    <p:set>
                                      <p:cBhvr>
                                        <p:cTn id="139" dur="1" fill="hold">
                                          <p:stCondLst>
                                            <p:cond delay="0"/>
                                          </p:stCondLst>
                                        </p:cTn>
                                        <p:tgtEl>
                                          <p:spTgt spid="52"/>
                                        </p:tgtEl>
                                        <p:attrNameLst>
                                          <p:attrName>style.visibility</p:attrName>
                                        </p:attrNameLst>
                                      </p:cBhvr>
                                      <p:to>
                                        <p:strVal val="visible"/>
                                      </p:to>
                                    </p:set>
                                    <p:animEffect transition="in" filter="fade">
                                      <p:cBhvr>
                                        <p:cTn id="140" dur="1000"/>
                                        <p:tgtEl>
                                          <p:spTgt spid="52"/>
                                        </p:tgtEl>
                                      </p:cBhvr>
                                    </p:animEffect>
                                    <p:anim calcmode="lin" valueType="num">
                                      <p:cBhvr>
                                        <p:cTn id="141" dur="1000" fill="hold"/>
                                        <p:tgtEl>
                                          <p:spTgt spid="52"/>
                                        </p:tgtEl>
                                        <p:attrNameLst>
                                          <p:attrName>ppt_x</p:attrName>
                                        </p:attrNameLst>
                                      </p:cBhvr>
                                      <p:tavLst>
                                        <p:tav tm="0">
                                          <p:val>
                                            <p:strVal val="#ppt_x"/>
                                          </p:val>
                                        </p:tav>
                                        <p:tav tm="100000">
                                          <p:val>
                                            <p:strVal val="#ppt_x"/>
                                          </p:val>
                                        </p:tav>
                                      </p:tavLst>
                                    </p:anim>
                                    <p:anim calcmode="lin" valueType="num">
                                      <p:cBhvr>
                                        <p:cTn id="142" dur="1000" fill="hold"/>
                                        <p:tgtEl>
                                          <p:spTgt spid="52"/>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44" dur="1" fill="hold">
                                          <p:stCondLst>
                                            <p:cond delay="0"/>
                                          </p:stCondLst>
                                        </p:cTn>
                                        <p:tgtEl>
                                          <p:spTgt spid="55"/>
                                        </p:tgtEl>
                                        <p:attrNameLst>
                                          <p:attrName>style.visibility</p:attrName>
                                        </p:attrNameLst>
                                      </p:cBhvr>
                                      <p:to>
                                        <p:strVal val="visible"/>
                                      </p:to>
                                    </p:set>
                                    <p:animEffect transition="in" filter="fade">
                                      <p:cBhvr>
                                        <p:cTn id="145" dur="1000"/>
                                        <p:tgtEl>
                                          <p:spTgt spid="55"/>
                                        </p:tgtEl>
                                      </p:cBhvr>
                                    </p:animEffect>
                                    <p:anim calcmode="lin" valueType="num">
                                      <p:cBhvr>
                                        <p:cTn id="146" dur="1000" fill="hold"/>
                                        <p:tgtEl>
                                          <p:spTgt spid="55"/>
                                        </p:tgtEl>
                                        <p:attrNameLst>
                                          <p:attrName>ppt_x</p:attrName>
                                        </p:attrNameLst>
                                      </p:cBhvr>
                                      <p:tavLst>
                                        <p:tav tm="0">
                                          <p:val>
                                            <p:strVal val="#ppt_x"/>
                                          </p:val>
                                        </p:tav>
                                        <p:tav tm="100000">
                                          <p:val>
                                            <p:strVal val="#ppt_x"/>
                                          </p:val>
                                        </p:tav>
                                      </p:tavLst>
                                    </p:anim>
                                    <p:anim calcmode="lin" valueType="num">
                                      <p:cBhvr>
                                        <p:cTn id="147" dur="1000" fill="hold"/>
                                        <p:tgtEl>
                                          <p:spTgt spid="55"/>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50" dur="1000"/>
                                        <p:tgtEl>
                                          <p:spTgt spid="56"/>
                                        </p:tgtEl>
                                      </p:cBhvr>
                                    </p:animEffect>
                                    <p:anim calcmode="lin" valueType="num">
                                      <p:cBhvr>
                                        <p:cTn id="151" dur="1000" fill="hold"/>
                                        <p:tgtEl>
                                          <p:spTgt spid="56"/>
                                        </p:tgtEl>
                                        <p:attrNameLst>
                                          <p:attrName>ppt_x</p:attrName>
                                        </p:attrNameLst>
                                      </p:cBhvr>
                                      <p:tavLst>
                                        <p:tav tm="0">
                                          <p:val>
                                            <p:strVal val="#ppt_x"/>
                                          </p:val>
                                        </p:tav>
                                        <p:tav tm="100000">
                                          <p:val>
                                            <p:strVal val="#ppt_x"/>
                                          </p:val>
                                        </p:tav>
                                      </p:tavLst>
                                    </p:anim>
                                    <p:anim calcmode="lin" valueType="num">
                                      <p:cBhvr>
                                        <p:cTn id="152"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2" presetClass="entr" presetSubtype="4" fill="hold" grpId="0" nodeType="clickEffect">
                                  <p:stCondLst>
                                    <p:cond delay="0"/>
                                  </p:stCondLst>
                                  <p:childTnLst>
                                    <p:set>
                                      <p:cBhvr>
                                        <p:cTn id="156" dur="1" fill="hold">
                                          <p:stCondLst>
                                            <p:cond delay="0"/>
                                          </p:stCondLst>
                                        </p:cTn>
                                        <p:tgtEl>
                                          <p:spTgt spid="57"/>
                                        </p:tgtEl>
                                        <p:attrNameLst>
                                          <p:attrName>style.visibility</p:attrName>
                                        </p:attrNameLst>
                                      </p:cBhvr>
                                      <p:to>
                                        <p:strVal val="visible"/>
                                      </p:to>
                                    </p:set>
                                    <p:animEffect transition="in" filter="wipe(down)">
                                      <p:cBhvr>
                                        <p:cTn id="157" dur="500"/>
                                        <p:tgtEl>
                                          <p:spTgt spid="57"/>
                                        </p:tgtEl>
                                      </p:cBhvr>
                                    </p:animEffect>
                                  </p:childTnLst>
                                </p:cTn>
                              </p:par>
                            </p:childTnLst>
                          </p:cTn>
                        </p:par>
                      </p:childTnLst>
                    </p:cTn>
                  </p:par>
                  <p:par>
                    <p:cTn id="158" fill="hold">
                      <p:stCondLst>
                        <p:cond delay="indefinite"/>
                      </p:stCondLst>
                      <p:childTnLst>
                        <p:par>
                          <p:cTn id="159" fill="hold">
                            <p:stCondLst>
                              <p:cond delay="0"/>
                            </p:stCondLst>
                            <p:childTnLst>
                              <p:par>
                                <p:cTn id="160" presetID="42" presetClass="entr" presetSubtype="0" fill="hold" nodeType="clickEffect">
                                  <p:stCondLst>
                                    <p:cond delay="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2" dur="1000"/>
                                        <p:tgtEl>
                                          <p:spTgt spid="59"/>
                                        </p:tgtEl>
                                      </p:cBhvr>
                                    </p:animEffect>
                                    <p:anim calcmode="lin" valueType="num">
                                      <p:cBhvr>
                                        <p:cTn id="163" dur="1000" fill="hold"/>
                                        <p:tgtEl>
                                          <p:spTgt spid="59"/>
                                        </p:tgtEl>
                                        <p:attrNameLst>
                                          <p:attrName>ppt_x</p:attrName>
                                        </p:attrNameLst>
                                      </p:cBhvr>
                                      <p:tavLst>
                                        <p:tav tm="0">
                                          <p:val>
                                            <p:strVal val="#ppt_x"/>
                                          </p:val>
                                        </p:tav>
                                        <p:tav tm="100000">
                                          <p:val>
                                            <p:strVal val="#ppt_x"/>
                                          </p:val>
                                        </p:tav>
                                      </p:tavLst>
                                    </p:anim>
                                    <p:anim calcmode="lin" valueType="num">
                                      <p:cBhvr>
                                        <p:cTn id="164" dur="1000" fill="hold"/>
                                        <p:tgtEl>
                                          <p:spTgt spid="59"/>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1000"/>
                                        <p:tgtEl>
                                          <p:spTgt spid="58"/>
                                        </p:tgtEl>
                                      </p:cBhvr>
                                    </p:animEffect>
                                    <p:anim calcmode="lin" valueType="num">
                                      <p:cBhvr>
                                        <p:cTn id="168" dur="1000" fill="hold"/>
                                        <p:tgtEl>
                                          <p:spTgt spid="58"/>
                                        </p:tgtEl>
                                        <p:attrNameLst>
                                          <p:attrName>ppt_x</p:attrName>
                                        </p:attrNameLst>
                                      </p:cBhvr>
                                      <p:tavLst>
                                        <p:tav tm="0">
                                          <p:val>
                                            <p:strVal val="#ppt_x"/>
                                          </p:val>
                                        </p:tav>
                                        <p:tav tm="100000">
                                          <p:val>
                                            <p:strVal val="#ppt_x"/>
                                          </p:val>
                                        </p:tav>
                                      </p:tavLst>
                                    </p:anim>
                                    <p:anim calcmode="lin" valueType="num">
                                      <p:cBhvr>
                                        <p:cTn id="169" dur="1000" fill="hold"/>
                                        <p:tgtEl>
                                          <p:spTgt spid="58"/>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62"/>
                                        </p:tgtEl>
                                        <p:attrNameLst>
                                          <p:attrName>style.visibility</p:attrName>
                                        </p:attrNameLst>
                                      </p:cBhvr>
                                      <p:to>
                                        <p:strVal val="visible"/>
                                      </p:to>
                                    </p:set>
                                    <p:animEffect transition="in" filter="fade">
                                      <p:cBhvr>
                                        <p:cTn id="172" dur="1000"/>
                                        <p:tgtEl>
                                          <p:spTgt spid="62"/>
                                        </p:tgtEl>
                                      </p:cBhvr>
                                    </p:animEffect>
                                    <p:anim calcmode="lin" valueType="num">
                                      <p:cBhvr>
                                        <p:cTn id="173" dur="1000" fill="hold"/>
                                        <p:tgtEl>
                                          <p:spTgt spid="62"/>
                                        </p:tgtEl>
                                        <p:attrNameLst>
                                          <p:attrName>ppt_x</p:attrName>
                                        </p:attrNameLst>
                                      </p:cBhvr>
                                      <p:tavLst>
                                        <p:tav tm="0">
                                          <p:val>
                                            <p:strVal val="#ppt_x"/>
                                          </p:val>
                                        </p:tav>
                                        <p:tav tm="100000">
                                          <p:val>
                                            <p:strVal val="#ppt_x"/>
                                          </p:val>
                                        </p:tav>
                                      </p:tavLst>
                                    </p:anim>
                                    <p:anim calcmode="lin" valueType="num">
                                      <p:cBhvr>
                                        <p:cTn id="174" dur="1000" fill="hold"/>
                                        <p:tgtEl>
                                          <p:spTgt spid="62"/>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61"/>
                                        </p:tgtEl>
                                        <p:attrNameLst>
                                          <p:attrName>style.visibility</p:attrName>
                                        </p:attrNameLst>
                                      </p:cBhvr>
                                      <p:to>
                                        <p:strVal val="visible"/>
                                      </p:to>
                                    </p:set>
                                    <p:animEffect transition="in" filter="fade">
                                      <p:cBhvr>
                                        <p:cTn id="177" dur="1000"/>
                                        <p:tgtEl>
                                          <p:spTgt spid="61"/>
                                        </p:tgtEl>
                                      </p:cBhvr>
                                    </p:animEffect>
                                    <p:anim calcmode="lin" valueType="num">
                                      <p:cBhvr>
                                        <p:cTn id="178" dur="1000" fill="hold"/>
                                        <p:tgtEl>
                                          <p:spTgt spid="61"/>
                                        </p:tgtEl>
                                        <p:attrNameLst>
                                          <p:attrName>ppt_x</p:attrName>
                                        </p:attrNameLst>
                                      </p:cBhvr>
                                      <p:tavLst>
                                        <p:tav tm="0">
                                          <p:val>
                                            <p:strVal val="#ppt_x"/>
                                          </p:val>
                                        </p:tav>
                                        <p:tav tm="100000">
                                          <p:val>
                                            <p:strVal val="#ppt_x"/>
                                          </p:val>
                                        </p:tav>
                                      </p:tavLst>
                                    </p:anim>
                                    <p:anim calcmode="lin" valueType="num">
                                      <p:cBhvr>
                                        <p:cTn id="17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22" presetClass="entr" presetSubtype="4" fill="hold" grpId="0" nodeType="clickEffect">
                                  <p:stCondLst>
                                    <p:cond delay="0"/>
                                  </p:stCondLst>
                                  <p:childTnLst>
                                    <p:set>
                                      <p:cBhvr>
                                        <p:cTn id="183" dur="1" fill="hold">
                                          <p:stCondLst>
                                            <p:cond delay="0"/>
                                          </p:stCondLst>
                                        </p:cTn>
                                        <p:tgtEl>
                                          <p:spTgt spid="5121"/>
                                        </p:tgtEl>
                                        <p:attrNameLst>
                                          <p:attrName>style.visibility</p:attrName>
                                        </p:attrNameLst>
                                      </p:cBhvr>
                                      <p:to>
                                        <p:strVal val="visible"/>
                                      </p:to>
                                    </p:set>
                                    <p:animEffect transition="in" filter="wipe(down)">
                                      <p:cBhvr>
                                        <p:cTn id="184" dur="500"/>
                                        <p:tgtEl>
                                          <p:spTgt spid="5121"/>
                                        </p:tgtEl>
                                      </p:cBhvr>
                                    </p:animEffect>
                                  </p:childTnLst>
                                </p:cTn>
                              </p:par>
                            </p:childTnLst>
                          </p:cTn>
                        </p:par>
                      </p:childTnLst>
                    </p:cTn>
                  </p:par>
                  <p:par>
                    <p:cTn id="185" fill="hold">
                      <p:stCondLst>
                        <p:cond delay="indefinite"/>
                      </p:stCondLst>
                      <p:childTnLst>
                        <p:par>
                          <p:cTn id="186" fill="hold">
                            <p:stCondLst>
                              <p:cond delay="0"/>
                            </p:stCondLst>
                            <p:childTnLst>
                              <p:par>
                                <p:cTn id="187" presetID="42" presetClass="entr" presetSubtype="0" fill="hold" nodeType="clickEffect">
                                  <p:stCondLst>
                                    <p:cond delay="0"/>
                                  </p:stCondLst>
                                  <p:childTnLst>
                                    <p:set>
                                      <p:cBhvr>
                                        <p:cTn id="188" dur="1" fill="hold">
                                          <p:stCondLst>
                                            <p:cond delay="0"/>
                                          </p:stCondLst>
                                        </p:cTn>
                                        <p:tgtEl>
                                          <p:spTgt spid="60"/>
                                        </p:tgtEl>
                                        <p:attrNameLst>
                                          <p:attrName>style.visibility</p:attrName>
                                        </p:attrNameLst>
                                      </p:cBhvr>
                                      <p:to>
                                        <p:strVal val="visible"/>
                                      </p:to>
                                    </p:set>
                                    <p:animEffect transition="in" filter="fade">
                                      <p:cBhvr>
                                        <p:cTn id="189" dur="1000"/>
                                        <p:tgtEl>
                                          <p:spTgt spid="60"/>
                                        </p:tgtEl>
                                      </p:cBhvr>
                                    </p:animEffect>
                                    <p:anim calcmode="lin" valueType="num">
                                      <p:cBhvr>
                                        <p:cTn id="190" dur="1000" fill="hold"/>
                                        <p:tgtEl>
                                          <p:spTgt spid="60"/>
                                        </p:tgtEl>
                                        <p:attrNameLst>
                                          <p:attrName>ppt_x</p:attrName>
                                        </p:attrNameLst>
                                      </p:cBhvr>
                                      <p:tavLst>
                                        <p:tav tm="0">
                                          <p:val>
                                            <p:strVal val="#ppt_x"/>
                                          </p:val>
                                        </p:tav>
                                        <p:tav tm="100000">
                                          <p:val>
                                            <p:strVal val="#ppt_x"/>
                                          </p:val>
                                        </p:tav>
                                      </p:tavLst>
                                    </p:anim>
                                    <p:anim calcmode="lin" valueType="num">
                                      <p:cBhvr>
                                        <p:cTn id="191" dur="1000" fill="hold"/>
                                        <p:tgtEl>
                                          <p:spTgt spid="60"/>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63"/>
                                        </p:tgtEl>
                                        <p:attrNameLst>
                                          <p:attrName>style.visibility</p:attrName>
                                        </p:attrNameLst>
                                      </p:cBhvr>
                                      <p:to>
                                        <p:strVal val="visible"/>
                                      </p:to>
                                    </p:set>
                                    <p:animEffect transition="in" filter="fade">
                                      <p:cBhvr>
                                        <p:cTn id="194" dur="1000"/>
                                        <p:tgtEl>
                                          <p:spTgt spid="63"/>
                                        </p:tgtEl>
                                      </p:cBhvr>
                                    </p:animEffect>
                                    <p:anim calcmode="lin" valueType="num">
                                      <p:cBhvr>
                                        <p:cTn id="195" dur="1000" fill="hold"/>
                                        <p:tgtEl>
                                          <p:spTgt spid="63"/>
                                        </p:tgtEl>
                                        <p:attrNameLst>
                                          <p:attrName>ppt_x</p:attrName>
                                        </p:attrNameLst>
                                      </p:cBhvr>
                                      <p:tavLst>
                                        <p:tav tm="0">
                                          <p:val>
                                            <p:strVal val="#ppt_x"/>
                                          </p:val>
                                        </p:tav>
                                        <p:tav tm="100000">
                                          <p:val>
                                            <p:strVal val="#ppt_x"/>
                                          </p:val>
                                        </p:tav>
                                      </p:tavLst>
                                    </p:anim>
                                    <p:anim calcmode="lin" valueType="num">
                                      <p:cBhvr>
                                        <p:cTn id="196" dur="1000" fill="hold"/>
                                        <p:tgtEl>
                                          <p:spTgt spid="63"/>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5120"/>
                                        </p:tgtEl>
                                        <p:attrNameLst>
                                          <p:attrName>style.visibility</p:attrName>
                                        </p:attrNameLst>
                                      </p:cBhvr>
                                      <p:to>
                                        <p:strVal val="visible"/>
                                      </p:to>
                                    </p:set>
                                    <p:animEffect transition="in" filter="fade">
                                      <p:cBhvr>
                                        <p:cTn id="199" dur="1000"/>
                                        <p:tgtEl>
                                          <p:spTgt spid="5120"/>
                                        </p:tgtEl>
                                      </p:cBhvr>
                                    </p:animEffect>
                                    <p:anim calcmode="lin" valueType="num">
                                      <p:cBhvr>
                                        <p:cTn id="200" dur="1000" fill="hold"/>
                                        <p:tgtEl>
                                          <p:spTgt spid="5120"/>
                                        </p:tgtEl>
                                        <p:attrNameLst>
                                          <p:attrName>ppt_x</p:attrName>
                                        </p:attrNameLst>
                                      </p:cBhvr>
                                      <p:tavLst>
                                        <p:tav tm="0">
                                          <p:val>
                                            <p:strVal val="#ppt_x"/>
                                          </p:val>
                                        </p:tav>
                                        <p:tav tm="100000">
                                          <p:val>
                                            <p:strVal val="#ppt_x"/>
                                          </p:val>
                                        </p:tav>
                                      </p:tavLst>
                                    </p:anim>
                                    <p:anim calcmode="lin" valueType="num">
                                      <p:cBhvr>
                                        <p:cTn id="201" dur="1000" fill="hold"/>
                                        <p:tgtEl>
                                          <p:spTgt spid="5120"/>
                                        </p:tgtEl>
                                        <p:attrNameLst>
                                          <p:attrName>ppt_y</p:attrName>
                                        </p:attrNameLst>
                                      </p:cBhvr>
                                      <p:tavLst>
                                        <p:tav tm="0">
                                          <p:val>
                                            <p:strVal val="#ppt_y+.1"/>
                                          </p:val>
                                        </p:tav>
                                        <p:tav tm="100000">
                                          <p:val>
                                            <p:strVal val="#ppt_y"/>
                                          </p:val>
                                        </p:tav>
                                      </p:tavLst>
                                    </p:anim>
                                  </p:childTnLst>
                                </p:cTn>
                              </p:par>
                              <p:par>
                                <p:cTn id="202" presetID="42" presetClass="entr" presetSubtype="0" fill="hold" nodeType="withEffect">
                                  <p:stCondLst>
                                    <p:cond delay="0"/>
                                  </p:stCondLst>
                                  <p:childTnLst>
                                    <p:set>
                                      <p:cBhvr>
                                        <p:cTn id="203" dur="1" fill="hold">
                                          <p:stCondLst>
                                            <p:cond delay="0"/>
                                          </p:stCondLst>
                                        </p:cTn>
                                        <p:tgtEl>
                                          <p:spTgt spid="5147"/>
                                        </p:tgtEl>
                                        <p:attrNameLst>
                                          <p:attrName>style.visibility</p:attrName>
                                        </p:attrNameLst>
                                      </p:cBhvr>
                                      <p:to>
                                        <p:strVal val="visible"/>
                                      </p:to>
                                    </p:set>
                                    <p:animEffect transition="in" filter="fade">
                                      <p:cBhvr>
                                        <p:cTn id="204" dur="1000"/>
                                        <p:tgtEl>
                                          <p:spTgt spid="5147"/>
                                        </p:tgtEl>
                                      </p:cBhvr>
                                    </p:animEffect>
                                    <p:anim calcmode="lin" valueType="num">
                                      <p:cBhvr>
                                        <p:cTn id="205" dur="1000" fill="hold"/>
                                        <p:tgtEl>
                                          <p:spTgt spid="5147"/>
                                        </p:tgtEl>
                                        <p:attrNameLst>
                                          <p:attrName>ppt_x</p:attrName>
                                        </p:attrNameLst>
                                      </p:cBhvr>
                                      <p:tavLst>
                                        <p:tav tm="0">
                                          <p:val>
                                            <p:strVal val="#ppt_x"/>
                                          </p:val>
                                        </p:tav>
                                        <p:tav tm="100000">
                                          <p:val>
                                            <p:strVal val="#ppt_x"/>
                                          </p:val>
                                        </p:tav>
                                      </p:tavLst>
                                    </p:anim>
                                    <p:anim calcmode="lin" valueType="num">
                                      <p:cBhvr>
                                        <p:cTn id="206" dur="1000" fill="hold"/>
                                        <p:tgtEl>
                                          <p:spTgt spid="5147"/>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5148"/>
                                        </p:tgtEl>
                                        <p:attrNameLst>
                                          <p:attrName>style.visibility</p:attrName>
                                        </p:attrNameLst>
                                      </p:cBhvr>
                                      <p:to>
                                        <p:strVal val="visible"/>
                                      </p:to>
                                    </p:set>
                                    <p:animEffect transition="in" filter="fade">
                                      <p:cBhvr>
                                        <p:cTn id="209" dur="1000"/>
                                        <p:tgtEl>
                                          <p:spTgt spid="5148"/>
                                        </p:tgtEl>
                                      </p:cBhvr>
                                    </p:animEffect>
                                    <p:anim calcmode="lin" valueType="num">
                                      <p:cBhvr>
                                        <p:cTn id="210" dur="1000" fill="hold"/>
                                        <p:tgtEl>
                                          <p:spTgt spid="5148"/>
                                        </p:tgtEl>
                                        <p:attrNameLst>
                                          <p:attrName>ppt_x</p:attrName>
                                        </p:attrNameLst>
                                      </p:cBhvr>
                                      <p:tavLst>
                                        <p:tav tm="0">
                                          <p:val>
                                            <p:strVal val="#ppt_x"/>
                                          </p:val>
                                        </p:tav>
                                        <p:tav tm="100000">
                                          <p:val>
                                            <p:strVal val="#ppt_x"/>
                                          </p:val>
                                        </p:tav>
                                      </p:tavLst>
                                    </p:anim>
                                    <p:anim calcmode="lin" valueType="num">
                                      <p:cBhvr>
                                        <p:cTn id="211" dur="1000" fill="hold"/>
                                        <p:tgtEl>
                                          <p:spTgt spid="5148"/>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5151"/>
                                        </p:tgtEl>
                                        <p:attrNameLst>
                                          <p:attrName>style.visibility</p:attrName>
                                        </p:attrNameLst>
                                      </p:cBhvr>
                                      <p:to>
                                        <p:strVal val="visible"/>
                                      </p:to>
                                    </p:set>
                                    <p:animEffect transition="in" filter="fade">
                                      <p:cBhvr>
                                        <p:cTn id="214" dur="1000"/>
                                        <p:tgtEl>
                                          <p:spTgt spid="5151"/>
                                        </p:tgtEl>
                                      </p:cBhvr>
                                    </p:animEffect>
                                    <p:anim calcmode="lin" valueType="num">
                                      <p:cBhvr>
                                        <p:cTn id="215" dur="1000" fill="hold"/>
                                        <p:tgtEl>
                                          <p:spTgt spid="5151"/>
                                        </p:tgtEl>
                                        <p:attrNameLst>
                                          <p:attrName>ppt_x</p:attrName>
                                        </p:attrNameLst>
                                      </p:cBhvr>
                                      <p:tavLst>
                                        <p:tav tm="0">
                                          <p:val>
                                            <p:strVal val="#ppt_x"/>
                                          </p:val>
                                        </p:tav>
                                        <p:tav tm="100000">
                                          <p:val>
                                            <p:strVal val="#ppt_x"/>
                                          </p:val>
                                        </p:tav>
                                      </p:tavLst>
                                    </p:anim>
                                    <p:anim calcmode="lin" valueType="num">
                                      <p:cBhvr>
                                        <p:cTn id="216" dur="1000" fill="hold"/>
                                        <p:tgtEl>
                                          <p:spTgt spid="5151"/>
                                        </p:tgtEl>
                                        <p:attrNameLst>
                                          <p:attrName>ppt_y</p:attrName>
                                        </p:attrNameLst>
                                      </p:cBhvr>
                                      <p:tavLst>
                                        <p:tav tm="0">
                                          <p:val>
                                            <p:strVal val="#ppt_y+.1"/>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219" presetID="42" presetClass="entr" presetSubtype="0" fill="hold" grpId="0" nodeType="clickEffect">
                                  <p:stCondLst>
                                    <p:cond delay="0"/>
                                  </p:stCondLst>
                                  <p:childTnLst>
                                    <p:set>
                                      <p:cBhvr>
                                        <p:cTn id="220" dur="1" fill="hold">
                                          <p:stCondLst>
                                            <p:cond delay="0"/>
                                          </p:stCondLst>
                                        </p:cTn>
                                        <p:tgtEl>
                                          <p:spTgt spid="5128"/>
                                        </p:tgtEl>
                                        <p:attrNameLst>
                                          <p:attrName>style.visibility</p:attrName>
                                        </p:attrNameLst>
                                      </p:cBhvr>
                                      <p:to>
                                        <p:strVal val="visible"/>
                                      </p:to>
                                    </p:set>
                                    <p:animEffect transition="in" filter="fade">
                                      <p:cBhvr>
                                        <p:cTn id="221" dur="1000"/>
                                        <p:tgtEl>
                                          <p:spTgt spid="5128"/>
                                        </p:tgtEl>
                                      </p:cBhvr>
                                    </p:animEffect>
                                    <p:anim calcmode="lin" valueType="num">
                                      <p:cBhvr>
                                        <p:cTn id="222" dur="1000" fill="hold"/>
                                        <p:tgtEl>
                                          <p:spTgt spid="5128"/>
                                        </p:tgtEl>
                                        <p:attrNameLst>
                                          <p:attrName>ppt_x</p:attrName>
                                        </p:attrNameLst>
                                      </p:cBhvr>
                                      <p:tavLst>
                                        <p:tav tm="0">
                                          <p:val>
                                            <p:strVal val="#ppt_x"/>
                                          </p:val>
                                        </p:tav>
                                        <p:tav tm="100000">
                                          <p:val>
                                            <p:strVal val="#ppt_x"/>
                                          </p:val>
                                        </p:tav>
                                      </p:tavLst>
                                    </p:anim>
                                    <p:anim calcmode="lin" valueType="num">
                                      <p:cBhvr>
                                        <p:cTn id="223" dur="1000" fill="hold"/>
                                        <p:tgtEl>
                                          <p:spTgt spid="51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7" grpId="0"/>
      <p:bldP spid="8" grpId="0"/>
      <p:bldP spid="11" grpId="0" animBg="1"/>
      <p:bldP spid="13" grpId="0"/>
      <p:bldP spid="33" grpId="0" animBg="1"/>
      <p:bldP spid="34" grpId="0"/>
      <p:bldP spid="35" grpId="0"/>
      <p:bldP spid="43" grpId="0" animBg="1"/>
      <p:bldP spid="44" grpId="0"/>
      <p:bldP spid="48" grpId="0" animBg="1"/>
      <p:bldP spid="49" grpId="0" animBg="1"/>
      <p:bldP spid="50" grpId="0"/>
      <p:bldP spid="53" grpId="0"/>
      <p:bldP spid="54" grpId="0"/>
      <p:bldP spid="56" grpId="0" animBg="1"/>
      <p:bldP spid="57" grpId="0"/>
      <p:bldP spid="61" grpId="0" animBg="1"/>
      <p:bldP spid="62" grpId="0"/>
      <p:bldP spid="63" grpId="0"/>
      <p:bldP spid="5120" grpId="0" animBg="1"/>
      <p:bldP spid="5121" grpId="0"/>
      <p:bldP spid="5128" grpId="0"/>
      <p:bldP spid="5148" grpId="0"/>
      <p:bldP spid="515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Reassembling Basic Blocks From DAGs</a:t>
            </a:r>
          </a:p>
        </p:txBody>
      </p:sp>
      <p:sp>
        <p:nvSpPr>
          <p:cNvPr id="7" name="Content Placeholder 6"/>
          <p:cNvSpPr>
            <a:spLocks noGrp="1"/>
          </p:cNvSpPr>
          <p:nvPr>
            <p:ph idx="1"/>
          </p:nvPr>
        </p:nvSpPr>
        <p:spPr>
          <a:xfrm>
            <a:off x="838199" y="1246909"/>
            <a:ext cx="10785529" cy="4930054"/>
          </a:xfrm>
        </p:spPr>
        <p:txBody>
          <a:bodyPr>
            <a:normAutofit/>
          </a:bodyPr>
          <a:lstStyle/>
          <a:p>
            <a:r>
              <a:rPr lang="en-US" altLang="en-US" dirty="0">
                <a:latin typeface="Candara" panose="020E0502030303020204" pitchFamily="34" charset="0"/>
              </a:rPr>
              <a:t>After performing optimizations on DAG, we need to reconstitute the three-address code for the basic block from which the DAG was built</a:t>
            </a:r>
          </a:p>
          <a:p>
            <a:r>
              <a:rPr lang="en-US" altLang="en-US" dirty="0">
                <a:latin typeface="Candara" panose="020E0502030303020204" pitchFamily="34" charset="0"/>
              </a:rPr>
              <a:t>For each node, that has one or more attached variables, a three-address statement is constructed that computes the value of one of those variables</a:t>
            </a:r>
          </a:p>
          <a:p>
            <a:pPr lvl="1"/>
            <a:r>
              <a:rPr lang="en-US" altLang="en-US" dirty="0">
                <a:latin typeface="Candara" panose="020E0502030303020204" pitchFamily="34" charset="0"/>
              </a:rPr>
              <a:t>Select the variable that is live on exit from the block</a:t>
            </a:r>
          </a:p>
          <a:p>
            <a:pPr lvl="1"/>
            <a:r>
              <a:rPr lang="en-US" altLang="en-US" dirty="0">
                <a:latin typeface="Candara" panose="020E0502030303020204" pitchFamily="34" charset="0"/>
              </a:rPr>
              <a:t>However, if global-live variable information is not available, all variables except the temporaries are to be computed</a:t>
            </a:r>
          </a:p>
          <a:p>
            <a:r>
              <a:rPr lang="en-US" altLang="en-US" dirty="0">
                <a:latin typeface="Candara" panose="020E0502030303020204" pitchFamily="34" charset="0"/>
              </a:rPr>
              <a:t>If a node has more than one live variable attached, then introduce copy statement to give the correct values to each of these variables.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36</a:t>
            </a:fld>
            <a:endParaRPr lang="en-US" dirty="0"/>
          </a:p>
        </p:txBody>
      </p:sp>
    </p:spTree>
    <p:extLst>
      <p:ext uri="{BB962C8B-B14F-4D97-AF65-F5344CB8AC3E}">
        <p14:creationId xmlns:p14="http://schemas.microsoft.com/office/powerpoint/2010/main" val="235661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down)">
                                      <p:cBhvr>
                                        <p:cTn id="15" dur="500"/>
                                        <p:tgtEl>
                                          <p:spTgt spid="7">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ipe(down)">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wipe(down)">
                                      <p:cBhvr>
                                        <p:cTn id="23"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Reassembling Basic Blocks From DAGs(2)</a:t>
            </a:r>
          </a:p>
        </p:txBody>
      </p:sp>
      <p:sp>
        <p:nvSpPr>
          <p:cNvPr id="7" name="Content Placeholder 6"/>
          <p:cNvSpPr>
            <a:spLocks noGrp="1"/>
          </p:cNvSpPr>
          <p:nvPr>
            <p:ph idx="1"/>
          </p:nvPr>
        </p:nvSpPr>
        <p:spPr>
          <a:xfrm>
            <a:off x="838200" y="1094339"/>
            <a:ext cx="10785529" cy="5355369"/>
          </a:xfrm>
        </p:spPr>
        <p:txBody>
          <a:bodyPr>
            <a:normAutofit lnSpcReduction="10000"/>
          </a:bodyPr>
          <a:lstStyle/>
          <a:p>
            <a:pPr algn="just"/>
            <a:r>
              <a:rPr lang="en-US" altLang="en-US" dirty="0">
                <a:latin typeface="Candara" panose="020E0502030303020204" pitchFamily="34" charset="0"/>
              </a:rPr>
              <a:t>While reconstructing a basic block from the DAG, the order of instructions should also be correctly maintained conforming to the following rules - </a:t>
            </a:r>
          </a:p>
          <a:p>
            <a:pPr lvl="1" algn="just"/>
            <a:r>
              <a:rPr lang="en-US" altLang="en-US" dirty="0">
                <a:latin typeface="Candara" panose="020E0502030303020204" pitchFamily="34" charset="0"/>
              </a:rPr>
              <a:t>A node’s values cannot be computed until the value for each of its children has been computed</a:t>
            </a:r>
          </a:p>
          <a:p>
            <a:pPr lvl="1" algn="just"/>
            <a:r>
              <a:rPr lang="en-US" altLang="en-US" dirty="0">
                <a:latin typeface="Candara" panose="020E0502030303020204" pitchFamily="34" charset="0"/>
              </a:rPr>
              <a:t>Assignments to an array must follow all previous assignments to, or evaluations from, the same array, according to the order of these instructions in the original basic block</a:t>
            </a:r>
          </a:p>
          <a:p>
            <a:pPr lvl="1" algn="just"/>
            <a:r>
              <a:rPr lang="en-US" altLang="en-US" dirty="0">
                <a:latin typeface="Candara" panose="020E0502030303020204" pitchFamily="34" charset="0"/>
              </a:rPr>
              <a:t>Evaluations of array elements must follow any previous (according to the original block) assignments to the same array. The only permutation allowed is that two evaluations from the same array may be done in either order, as long as neither crosses over an assignment to that array</a:t>
            </a:r>
          </a:p>
          <a:p>
            <a:pPr lvl="1" algn="just"/>
            <a:r>
              <a:rPr lang="en-US" altLang="en-US" dirty="0">
                <a:latin typeface="Candara" panose="020E0502030303020204" pitchFamily="34" charset="0"/>
              </a:rPr>
              <a:t>Any use of variable must follow all previous (according to the original block) procedure calls or indirect assignments through  a pointer</a:t>
            </a:r>
          </a:p>
          <a:p>
            <a:pPr lvl="1" algn="just"/>
            <a:r>
              <a:rPr lang="en-US" altLang="en-US" dirty="0">
                <a:latin typeface="Candara" panose="020E0502030303020204" pitchFamily="34" charset="0"/>
              </a:rPr>
              <a:t>Any procedure call or indirect assignments through a pointer must follow all previous (according to the original block) evaluation of any variable</a:t>
            </a:r>
          </a:p>
          <a:p>
            <a:pPr algn="just"/>
            <a:endParaRPr lang="en-US" altLang="en-US" sz="1000" dirty="0">
              <a:latin typeface="Candara" panose="020E0502030303020204" pitchFamily="34" charset="0"/>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pPr/>
              <a:t>37</a:t>
            </a:fld>
            <a:endParaRPr lang="en-US" dirty="0"/>
          </a:p>
        </p:txBody>
      </p:sp>
    </p:spTree>
    <p:extLst>
      <p:ext uri="{BB962C8B-B14F-4D97-AF65-F5344CB8AC3E}">
        <p14:creationId xmlns:p14="http://schemas.microsoft.com/office/powerpoint/2010/main" val="30726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Vertic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arn(inVertical)">
                                      <p:cBhvr>
                                        <p:cTn id="12" dur="500"/>
                                        <p:tgtEl>
                                          <p:spTgt spid="7">
                                            <p:txEl>
                                              <p:pRg st="2" end="2"/>
                                            </p:txEl>
                                          </p:spTgt>
                                        </p:tgtEl>
                                      </p:cBhvr>
                                    </p:animEffect>
                                  </p:childTnLst>
                                </p:cTn>
                              </p:par>
                              <p:par>
                                <p:cTn id="13" presetID="19" presetClass="emph" presetSubtype="0" fill="hold" nodeType="withEffect">
                                  <p:stCondLst>
                                    <p:cond delay="0"/>
                                  </p:stCondLst>
                                  <p:childTnLst>
                                    <p:animClr clrSpc="rgb" dir="cw">
                                      <p:cBhvr override="childStyle">
                                        <p:cTn id="14" dur="500" fill="hold"/>
                                        <p:tgtEl>
                                          <p:spTgt spid="7">
                                            <p:txEl>
                                              <p:pRg st="1" end="1"/>
                                            </p:txEl>
                                          </p:spTgt>
                                        </p:tgtEl>
                                        <p:attrNameLst>
                                          <p:attrName>style.color</p:attrName>
                                        </p:attrNameLst>
                                      </p:cBhvr>
                                      <p:to>
                                        <a:srgbClr val="BFBFBF"/>
                                      </p:to>
                                    </p:animClr>
                                    <p:animClr clrSpc="rgb" dir="cw">
                                      <p:cBhvr>
                                        <p:cTn id="15" dur="500" fill="hold"/>
                                        <p:tgtEl>
                                          <p:spTgt spid="7">
                                            <p:txEl>
                                              <p:pRg st="1" end="1"/>
                                            </p:txEl>
                                          </p:spTgt>
                                        </p:tgtEl>
                                        <p:attrNameLst>
                                          <p:attrName>fillcolor</p:attrName>
                                        </p:attrNameLst>
                                      </p:cBhvr>
                                      <p:to>
                                        <a:srgbClr val="BFBFBF"/>
                                      </p:to>
                                    </p:animClr>
                                    <p:set>
                                      <p:cBhvr>
                                        <p:cTn id="16" dur="500" fill="hold"/>
                                        <p:tgtEl>
                                          <p:spTgt spid="7">
                                            <p:txEl>
                                              <p:pRg st="1" end="1"/>
                                            </p:txEl>
                                          </p:spTgt>
                                        </p:tgtEl>
                                        <p:attrNameLst>
                                          <p:attrName>fill.type</p:attrName>
                                        </p:attrNameLst>
                                      </p:cBhvr>
                                      <p:to>
                                        <p:strVal val="solid"/>
                                      </p:to>
                                    </p:set>
                                    <p:set>
                                      <p:cBhvr>
                                        <p:cTn id="17" dur="500" fill="hold"/>
                                        <p:tgtEl>
                                          <p:spTgt spid="7">
                                            <p:txEl>
                                              <p:pRg st="1" end="1"/>
                                            </p:txEl>
                                          </p:spTgt>
                                        </p:tgtEl>
                                        <p:attrNameLst>
                                          <p:attrName>fill.on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19" presetClass="emph" presetSubtype="0" fill="hold" nodeType="clickEffect">
                                  <p:stCondLst>
                                    <p:cond delay="0"/>
                                  </p:stCondLst>
                                  <p:childTnLst>
                                    <p:animClr clrSpc="rgb" dir="cw">
                                      <p:cBhvr override="childStyle">
                                        <p:cTn id="21" dur="500" fill="hold"/>
                                        <p:tgtEl>
                                          <p:spTgt spid="7">
                                            <p:txEl>
                                              <p:pRg st="2" end="2"/>
                                            </p:txEl>
                                          </p:spTgt>
                                        </p:tgtEl>
                                        <p:attrNameLst>
                                          <p:attrName>style.color</p:attrName>
                                        </p:attrNameLst>
                                      </p:cBhvr>
                                      <p:to>
                                        <a:srgbClr val="BFBFBF"/>
                                      </p:to>
                                    </p:animClr>
                                    <p:animClr clrSpc="rgb" dir="cw">
                                      <p:cBhvr>
                                        <p:cTn id="22" dur="500" fill="hold"/>
                                        <p:tgtEl>
                                          <p:spTgt spid="7">
                                            <p:txEl>
                                              <p:pRg st="2" end="2"/>
                                            </p:txEl>
                                          </p:spTgt>
                                        </p:tgtEl>
                                        <p:attrNameLst>
                                          <p:attrName>fillcolor</p:attrName>
                                        </p:attrNameLst>
                                      </p:cBhvr>
                                      <p:to>
                                        <a:srgbClr val="BFBFBF"/>
                                      </p:to>
                                    </p:animClr>
                                    <p:set>
                                      <p:cBhvr>
                                        <p:cTn id="23" dur="500" fill="hold"/>
                                        <p:tgtEl>
                                          <p:spTgt spid="7">
                                            <p:txEl>
                                              <p:pRg st="2" end="2"/>
                                            </p:txEl>
                                          </p:spTgt>
                                        </p:tgtEl>
                                        <p:attrNameLst>
                                          <p:attrName>fill.type</p:attrName>
                                        </p:attrNameLst>
                                      </p:cBhvr>
                                      <p:to>
                                        <p:strVal val="solid"/>
                                      </p:to>
                                    </p:set>
                                    <p:set>
                                      <p:cBhvr>
                                        <p:cTn id="24" dur="500" fill="hold"/>
                                        <p:tgtEl>
                                          <p:spTgt spid="7">
                                            <p:txEl>
                                              <p:pRg st="2" end="2"/>
                                            </p:txEl>
                                          </p:spTgt>
                                        </p:tgtEl>
                                        <p:attrNameLst>
                                          <p:attrName>fill.on</p:attrName>
                                        </p:attrNameLst>
                                      </p:cBhvr>
                                      <p:to>
                                        <p:strVal val="true"/>
                                      </p:to>
                                    </p:set>
                                  </p:childTnLst>
                                </p:cTn>
                              </p:par>
                              <p:par>
                                <p:cTn id="25" presetID="16" presetClass="entr" presetSubtype="21" fill="hold"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barn(inVertical)">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9" presetClass="emph" presetSubtype="0" fill="hold" nodeType="clickEffect">
                                  <p:stCondLst>
                                    <p:cond delay="0"/>
                                  </p:stCondLst>
                                  <p:childTnLst>
                                    <p:animClr clrSpc="rgb" dir="cw">
                                      <p:cBhvr override="childStyle">
                                        <p:cTn id="31" dur="500" fill="hold"/>
                                        <p:tgtEl>
                                          <p:spTgt spid="7">
                                            <p:txEl>
                                              <p:pRg st="3" end="3"/>
                                            </p:txEl>
                                          </p:spTgt>
                                        </p:tgtEl>
                                        <p:attrNameLst>
                                          <p:attrName>style.color</p:attrName>
                                        </p:attrNameLst>
                                      </p:cBhvr>
                                      <p:to>
                                        <a:srgbClr val="BFBFBF"/>
                                      </p:to>
                                    </p:animClr>
                                    <p:animClr clrSpc="rgb" dir="cw">
                                      <p:cBhvr>
                                        <p:cTn id="32" dur="500" fill="hold"/>
                                        <p:tgtEl>
                                          <p:spTgt spid="7">
                                            <p:txEl>
                                              <p:pRg st="3" end="3"/>
                                            </p:txEl>
                                          </p:spTgt>
                                        </p:tgtEl>
                                        <p:attrNameLst>
                                          <p:attrName>fillcolor</p:attrName>
                                        </p:attrNameLst>
                                      </p:cBhvr>
                                      <p:to>
                                        <a:srgbClr val="BFBFBF"/>
                                      </p:to>
                                    </p:animClr>
                                    <p:set>
                                      <p:cBhvr>
                                        <p:cTn id="33" dur="500" fill="hold"/>
                                        <p:tgtEl>
                                          <p:spTgt spid="7">
                                            <p:txEl>
                                              <p:pRg st="3" end="3"/>
                                            </p:txEl>
                                          </p:spTgt>
                                        </p:tgtEl>
                                        <p:attrNameLst>
                                          <p:attrName>fill.type</p:attrName>
                                        </p:attrNameLst>
                                      </p:cBhvr>
                                      <p:to>
                                        <p:strVal val="solid"/>
                                      </p:to>
                                    </p:set>
                                    <p:set>
                                      <p:cBhvr>
                                        <p:cTn id="34" dur="500" fill="hold"/>
                                        <p:tgtEl>
                                          <p:spTgt spid="7">
                                            <p:txEl>
                                              <p:pRg st="3" end="3"/>
                                            </p:txEl>
                                          </p:spTgt>
                                        </p:tgtEl>
                                        <p:attrNameLst>
                                          <p:attrName>fill.on</p:attrName>
                                        </p:attrNameLst>
                                      </p:cBhvr>
                                      <p:to>
                                        <p:strVal val="true"/>
                                      </p:to>
                                    </p:set>
                                  </p:childTnLst>
                                </p:cTn>
                              </p:par>
                              <p:par>
                                <p:cTn id="35" presetID="14" presetClass="entr" presetSubtype="10" fill="hold" nodeType="with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randombar(horizontal)">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7">
                                            <p:txEl>
                                              <p:pRg st="4" end="4"/>
                                            </p:txEl>
                                          </p:spTgt>
                                        </p:tgtEl>
                                        <p:attrNameLst>
                                          <p:attrName>style.color</p:attrName>
                                        </p:attrNameLst>
                                      </p:cBhvr>
                                      <p:to>
                                        <a:srgbClr val="BFBFBF"/>
                                      </p:to>
                                    </p:animClr>
                                    <p:animClr clrSpc="rgb" dir="cw">
                                      <p:cBhvr>
                                        <p:cTn id="42" dur="500" fill="hold"/>
                                        <p:tgtEl>
                                          <p:spTgt spid="7">
                                            <p:txEl>
                                              <p:pRg st="4" end="4"/>
                                            </p:txEl>
                                          </p:spTgt>
                                        </p:tgtEl>
                                        <p:attrNameLst>
                                          <p:attrName>fillcolor</p:attrName>
                                        </p:attrNameLst>
                                      </p:cBhvr>
                                      <p:to>
                                        <a:srgbClr val="BFBFBF"/>
                                      </p:to>
                                    </p:animClr>
                                    <p:set>
                                      <p:cBhvr>
                                        <p:cTn id="43" dur="500" fill="hold"/>
                                        <p:tgtEl>
                                          <p:spTgt spid="7">
                                            <p:txEl>
                                              <p:pRg st="4" end="4"/>
                                            </p:txEl>
                                          </p:spTgt>
                                        </p:tgtEl>
                                        <p:attrNameLst>
                                          <p:attrName>fill.type</p:attrName>
                                        </p:attrNameLst>
                                      </p:cBhvr>
                                      <p:to>
                                        <p:strVal val="solid"/>
                                      </p:to>
                                    </p:set>
                                    <p:set>
                                      <p:cBhvr>
                                        <p:cTn id="44" dur="500" fill="hold"/>
                                        <p:tgtEl>
                                          <p:spTgt spid="7">
                                            <p:txEl>
                                              <p:pRg st="4" end="4"/>
                                            </p:txEl>
                                          </p:spTgt>
                                        </p:tgtEl>
                                        <p:attrNameLst>
                                          <p:attrName>fill.on</p:attrName>
                                        </p:attrNameLst>
                                      </p:cBhvr>
                                      <p:to>
                                        <p:strVal val="true"/>
                                      </p:to>
                                    </p:set>
                                  </p:childTnLst>
                                </p:cTn>
                              </p:par>
                              <p:par>
                                <p:cTn id="45" presetID="22" presetClass="entr" presetSubtype="4" fill="hold" nodeType="with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wipe(down)">
                                      <p:cBhvr>
                                        <p:cTn id="47" dur="500"/>
                                        <p:tgtEl>
                                          <p:spTgt spid="7">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9" presetClass="emph" presetSubtype="0" fill="hold" nodeType="clickEffect">
                                  <p:stCondLst>
                                    <p:cond delay="0"/>
                                  </p:stCondLst>
                                  <p:childTnLst>
                                    <p:animClr clrSpc="rgb" dir="cw">
                                      <p:cBhvr override="childStyle">
                                        <p:cTn id="51" dur="500" fill="hold"/>
                                        <p:tgtEl>
                                          <p:spTgt spid="7">
                                            <p:txEl>
                                              <p:pRg st="1" end="1"/>
                                            </p:txEl>
                                          </p:spTgt>
                                        </p:tgtEl>
                                        <p:attrNameLst>
                                          <p:attrName>style.color</p:attrName>
                                        </p:attrNameLst>
                                      </p:cBhvr>
                                      <p:to>
                                        <a:srgbClr val="000000"/>
                                      </p:to>
                                    </p:animClr>
                                    <p:animClr clrSpc="rgb" dir="cw">
                                      <p:cBhvr>
                                        <p:cTn id="52" dur="500" fill="hold"/>
                                        <p:tgtEl>
                                          <p:spTgt spid="7">
                                            <p:txEl>
                                              <p:pRg st="1" end="1"/>
                                            </p:txEl>
                                          </p:spTgt>
                                        </p:tgtEl>
                                        <p:attrNameLst>
                                          <p:attrName>fillcolor</p:attrName>
                                        </p:attrNameLst>
                                      </p:cBhvr>
                                      <p:to>
                                        <a:srgbClr val="000000"/>
                                      </p:to>
                                    </p:animClr>
                                    <p:set>
                                      <p:cBhvr>
                                        <p:cTn id="53" dur="500" fill="hold"/>
                                        <p:tgtEl>
                                          <p:spTgt spid="7">
                                            <p:txEl>
                                              <p:pRg st="1" end="1"/>
                                            </p:txEl>
                                          </p:spTgt>
                                        </p:tgtEl>
                                        <p:attrNameLst>
                                          <p:attrName>fill.type</p:attrName>
                                        </p:attrNameLst>
                                      </p:cBhvr>
                                      <p:to>
                                        <p:strVal val="solid"/>
                                      </p:to>
                                    </p:set>
                                    <p:set>
                                      <p:cBhvr>
                                        <p:cTn id="54" dur="500" fill="hold"/>
                                        <p:tgtEl>
                                          <p:spTgt spid="7">
                                            <p:txEl>
                                              <p:pRg st="1" end="1"/>
                                            </p:txEl>
                                          </p:spTgt>
                                        </p:tgtEl>
                                        <p:attrNameLst>
                                          <p:attrName>fill.on</p:attrName>
                                        </p:attrNameLst>
                                      </p:cBhvr>
                                      <p:to>
                                        <p:strVal val="true"/>
                                      </p:to>
                                    </p:set>
                                  </p:childTnLst>
                                </p:cTn>
                              </p:par>
                              <p:par>
                                <p:cTn id="55" presetID="19" presetClass="emph" presetSubtype="0" fill="hold" nodeType="withEffect">
                                  <p:stCondLst>
                                    <p:cond delay="0"/>
                                  </p:stCondLst>
                                  <p:childTnLst>
                                    <p:animClr clrSpc="rgb" dir="cw">
                                      <p:cBhvr override="childStyle">
                                        <p:cTn id="56" dur="500" fill="hold"/>
                                        <p:tgtEl>
                                          <p:spTgt spid="7">
                                            <p:txEl>
                                              <p:pRg st="2" end="2"/>
                                            </p:txEl>
                                          </p:spTgt>
                                        </p:tgtEl>
                                        <p:attrNameLst>
                                          <p:attrName>style.color</p:attrName>
                                        </p:attrNameLst>
                                      </p:cBhvr>
                                      <p:to>
                                        <a:srgbClr val="000000"/>
                                      </p:to>
                                    </p:animClr>
                                    <p:animClr clrSpc="rgb" dir="cw">
                                      <p:cBhvr>
                                        <p:cTn id="57" dur="500" fill="hold"/>
                                        <p:tgtEl>
                                          <p:spTgt spid="7">
                                            <p:txEl>
                                              <p:pRg st="2" end="2"/>
                                            </p:txEl>
                                          </p:spTgt>
                                        </p:tgtEl>
                                        <p:attrNameLst>
                                          <p:attrName>fillcolor</p:attrName>
                                        </p:attrNameLst>
                                      </p:cBhvr>
                                      <p:to>
                                        <a:srgbClr val="000000"/>
                                      </p:to>
                                    </p:animClr>
                                    <p:set>
                                      <p:cBhvr>
                                        <p:cTn id="58" dur="500" fill="hold"/>
                                        <p:tgtEl>
                                          <p:spTgt spid="7">
                                            <p:txEl>
                                              <p:pRg st="2" end="2"/>
                                            </p:txEl>
                                          </p:spTgt>
                                        </p:tgtEl>
                                        <p:attrNameLst>
                                          <p:attrName>fill.type</p:attrName>
                                        </p:attrNameLst>
                                      </p:cBhvr>
                                      <p:to>
                                        <p:strVal val="solid"/>
                                      </p:to>
                                    </p:set>
                                    <p:set>
                                      <p:cBhvr>
                                        <p:cTn id="59" dur="500" fill="hold"/>
                                        <p:tgtEl>
                                          <p:spTgt spid="7">
                                            <p:txEl>
                                              <p:pRg st="2" end="2"/>
                                            </p:txEl>
                                          </p:spTgt>
                                        </p:tgtEl>
                                        <p:attrNameLst>
                                          <p:attrName>fill.on</p:attrName>
                                        </p:attrNameLst>
                                      </p:cBhvr>
                                      <p:to>
                                        <p:strVal val="true"/>
                                      </p:to>
                                    </p:set>
                                  </p:childTnLst>
                                </p:cTn>
                              </p:par>
                              <p:par>
                                <p:cTn id="60" presetID="19" presetClass="emph" presetSubtype="0" fill="hold" nodeType="withEffect">
                                  <p:stCondLst>
                                    <p:cond delay="0"/>
                                  </p:stCondLst>
                                  <p:childTnLst>
                                    <p:animClr clrSpc="rgb" dir="cw">
                                      <p:cBhvr override="childStyle">
                                        <p:cTn id="61" dur="500" fill="hold"/>
                                        <p:tgtEl>
                                          <p:spTgt spid="7">
                                            <p:txEl>
                                              <p:pRg st="3" end="3"/>
                                            </p:txEl>
                                          </p:spTgt>
                                        </p:tgtEl>
                                        <p:attrNameLst>
                                          <p:attrName>style.color</p:attrName>
                                        </p:attrNameLst>
                                      </p:cBhvr>
                                      <p:to>
                                        <a:srgbClr val="000000"/>
                                      </p:to>
                                    </p:animClr>
                                    <p:animClr clrSpc="rgb" dir="cw">
                                      <p:cBhvr>
                                        <p:cTn id="62" dur="500" fill="hold"/>
                                        <p:tgtEl>
                                          <p:spTgt spid="7">
                                            <p:txEl>
                                              <p:pRg st="3" end="3"/>
                                            </p:txEl>
                                          </p:spTgt>
                                        </p:tgtEl>
                                        <p:attrNameLst>
                                          <p:attrName>fillcolor</p:attrName>
                                        </p:attrNameLst>
                                      </p:cBhvr>
                                      <p:to>
                                        <a:srgbClr val="000000"/>
                                      </p:to>
                                    </p:animClr>
                                    <p:set>
                                      <p:cBhvr>
                                        <p:cTn id="63" dur="500" fill="hold"/>
                                        <p:tgtEl>
                                          <p:spTgt spid="7">
                                            <p:txEl>
                                              <p:pRg st="3" end="3"/>
                                            </p:txEl>
                                          </p:spTgt>
                                        </p:tgtEl>
                                        <p:attrNameLst>
                                          <p:attrName>fill.type</p:attrName>
                                        </p:attrNameLst>
                                      </p:cBhvr>
                                      <p:to>
                                        <p:strVal val="solid"/>
                                      </p:to>
                                    </p:set>
                                    <p:set>
                                      <p:cBhvr>
                                        <p:cTn id="64" dur="500" fill="hold"/>
                                        <p:tgtEl>
                                          <p:spTgt spid="7">
                                            <p:txEl>
                                              <p:pRg st="3" end="3"/>
                                            </p:txEl>
                                          </p:spTgt>
                                        </p:tgtEl>
                                        <p:attrNameLst>
                                          <p:attrName>fill.on</p:attrName>
                                        </p:attrNameLst>
                                      </p:cBhvr>
                                      <p:to>
                                        <p:strVal val="true"/>
                                      </p:to>
                                    </p:set>
                                  </p:childTnLst>
                                </p:cTn>
                              </p:par>
                              <p:par>
                                <p:cTn id="65" presetID="19" presetClass="emph" presetSubtype="0" fill="hold" nodeType="withEffect">
                                  <p:stCondLst>
                                    <p:cond delay="0"/>
                                  </p:stCondLst>
                                  <p:childTnLst>
                                    <p:animClr clrSpc="rgb" dir="cw">
                                      <p:cBhvr override="childStyle">
                                        <p:cTn id="66" dur="500" fill="hold"/>
                                        <p:tgtEl>
                                          <p:spTgt spid="7">
                                            <p:txEl>
                                              <p:pRg st="4" end="4"/>
                                            </p:txEl>
                                          </p:spTgt>
                                        </p:tgtEl>
                                        <p:attrNameLst>
                                          <p:attrName>style.color</p:attrName>
                                        </p:attrNameLst>
                                      </p:cBhvr>
                                      <p:to>
                                        <a:srgbClr val="000000"/>
                                      </p:to>
                                    </p:animClr>
                                    <p:animClr clrSpc="rgb" dir="cw">
                                      <p:cBhvr>
                                        <p:cTn id="67" dur="500" fill="hold"/>
                                        <p:tgtEl>
                                          <p:spTgt spid="7">
                                            <p:txEl>
                                              <p:pRg st="4" end="4"/>
                                            </p:txEl>
                                          </p:spTgt>
                                        </p:tgtEl>
                                        <p:attrNameLst>
                                          <p:attrName>fillcolor</p:attrName>
                                        </p:attrNameLst>
                                      </p:cBhvr>
                                      <p:to>
                                        <a:srgbClr val="000000"/>
                                      </p:to>
                                    </p:animClr>
                                    <p:set>
                                      <p:cBhvr>
                                        <p:cTn id="68" dur="500" fill="hold"/>
                                        <p:tgtEl>
                                          <p:spTgt spid="7">
                                            <p:txEl>
                                              <p:pRg st="4" end="4"/>
                                            </p:txEl>
                                          </p:spTgt>
                                        </p:tgtEl>
                                        <p:attrNameLst>
                                          <p:attrName>fill.type</p:attrName>
                                        </p:attrNameLst>
                                      </p:cBhvr>
                                      <p:to>
                                        <p:strVal val="solid"/>
                                      </p:to>
                                    </p:set>
                                    <p:set>
                                      <p:cBhvr>
                                        <p:cTn id="69" dur="500" fill="hold"/>
                                        <p:tgtEl>
                                          <p:spTgt spid="7">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7F5FD-4CD5-FFEC-B158-56A61D458154}"/>
              </a:ext>
            </a:extLst>
          </p:cNvPr>
          <p:cNvSpPr>
            <a:spLocks noGrp="1"/>
          </p:cNvSpPr>
          <p:nvPr>
            <p:ph type="title"/>
          </p:nvPr>
        </p:nvSpPr>
        <p:spPr>
          <a:xfrm>
            <a:off x="1938581" y="1899457"/>
            <a:ext cx="8910233" cy="2533058"/>
          </a:xfrm>
        </p:spPr>
        <p:txBody>
          <a:bodyPr/>
          <a:lstStyle/>
          <a:p>
            <a:pPr algn="ctr"/>
            <a:r>
              <a:rPr lang="en-US" i="1" dirty="0">
                <a:solidFill>
                  <a:srgbClr val="00B0F0"/>
                </a:solidFill>
              </a:rPr>
              <a:t>Switch to </a:t>
            </a:r>
            <a:br>
              <a:rPr lang="en-US" i="1" dirty="0">
                <a:solidFill>
                  <a:srgbClr val="00B0F0"/>
                </a:solidFill>
              </a:rPr>
            </a:br>
            <a:r>
              <a:rPr lang="en-US" dirty="0">
                <a:solidFill>
                  <a:srgbClr val="FF0000"/>
                </a:solidFill>
              </a:rPr>
              <a:t>Machine Independent Optimizations (Chapter 9)</a:t>
            </a:r>
          </a:p>
        </p:txBody>
      </p:sp>
    </p:spTree>
    <p:extLst>
      <p:ext uri="{BB962C8B-B14F-4D97-AF65-F5344CB8AC3E}">
        <p14:creationId xmlns:p14="http://schemas.microsoft.com/office/powerpoint/2010/main" val="296994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7F5FD-4CD5-FFEC-B158-56A61D458154}"/>
              </a:ext>
            </a:extLst>
          </p:cNvPr>
          <p:cNvSpPr>
            <a:spLocks noGrp="1"/>
          </p:cNvSpPr>
          <p:nvPr>
            <p:ph type="title"/>
          </p:nvPr>
        </p:nvSpPr>
        <p:spPr>
          <a:xfrm>
            <a:off x="1938581" y="1899457"/>
            <a:ext cx="8910233" cy="2533058"/>
          </a:xfrm>
        </p:spPr>
        <p:txBody>
          <a:bodyPr/>
          <a:lstStyle/>
          <a:p>
            <a:pPr algn="ctr"/>
            <a:r>
              <a:rPr lang="en-US" i="1" dirty="0">
                <a:solidFill>
                  <a:srgbClr val="00B0F0"/>
                </a:solidFill>
              </a:rPr>
              <a:t>Back to </a:t>
            </a:r>
            <a:br>
              <a:rPr lang="en-US" i="1" dirty="0">
                <a:solidFill>
                  <a:srgbClr val="00B0F0"/>
                </a:solidFill>
              </a:rPr>
            </a:br>
            <a:r>
              <a:rPr lang="en-US" i="1" dirty="0">
                <a:solidFill>
                  <a:srgbClr val="FF0000"/>
                </a:solidFill>
              </a:rPr>
              <a:t>Code Generation</a:t>
            </a:r>
            <a:endParaRPr lang="en-US" dirty="0">
              <a:solidFill>
                <a:srgbClr val="FF0000"/>
              </a:solidFill>
            </a:endParaRPr>
          </a:p>
        </p:txBody>
      </p:sp>
    </p:spTree>
    <p:extLst>
      <p:ext uri="{BB962C8B-B14F-4D97-AF65-F5344CB8AC3E}">
        <p14:creationId xmlns:p14="http://schemas.microsoft.com/office/powerpoint/2010/main" val="3780827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 Simple Target Machine Model</a:t>
            </a:r>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838200" y="1246909"/>
                <a:ext cx="10515600" cy="4930054"/>
              </a:xfrm>
            </p:spPr>
            <p:txBody>
              <a:bodyPr>
                <a:normAutofit lnSpcReduction="10000"/>
              </a:bodyPr>
              <a:lstStyle/>
              <a:p>
                <a:r>
                  <a:rPr lang="en-US" altLang="en-US" dirty="0">
                    <a:latin typeface="Candara" panose="020E0502030303020204" pitchFamily="34" charset="0"/>
                  </a:rPr>
                  <a:t>Target Language</a:t>
                </a:r>
              </a:p>
              <a:p>
                <a:pPr lvl="1"/>
                <a:r>
                  <a:rPr lang="en-US" altLang="en-US" dirty="0">
                    <a:solidFill>
                      <a:srgbClr val="FF0000"/>
                    </a:solidFill>
                    <a:latin typeface="Candara" panose="020E0502030303020204" pitchFamily="34" charset="0"/>
                  </a:rPr>
                  <a:t>Assembly code</a:t>
                </a:r>
                <a:r>
                  <a:rPr lang="en-US" altLang="en-US" dirty="0">
                    <a:latin typeface="Candara" panose="020E0502030303020204" pitchFamily="34" charset="0"/>
                  </a:rPr>
                  <a:t> for a simple computer representative of many register machines</a:t>
                </a:r>
              </a:p>
              <a:p>
                <a:r>
                  <a:rPr lang="en-US" altLang="en-US" dirty="0">
                    <a:latin typeface="Candara" panose="020E0502030303020204" pitchFamily="34" charset="0"/>
                  </a:rPr>
                  <a:t>Our target computer models – </a:t>
                </a:r>
              </a:p>
              <a:p>
                <a:pPr lvl="1"/>
                <a:endParaRPr lang="en-US" altLang="en-US" sz="800" dirty="0">
                  <a:latin typeface="Candara" panose="020E0502030303020204" pitchFamily="34" charset="0"/>
                </a:endParaRPr>
              </a:p>
              <a:p>
                <a:pPr lvl="1">
                  <a:buFont typeface="Wingdings" panose="05000000000000000000" pitchFamily="2" charset="2"/>
                  <a:buChar char="Ø"/>
                </a:pPr>
                <a:r>
                  <a:rPr lang="en-US" altLang="en-US" dirty="0">
                    <a:latin typeface="Candara" panose="020E0502030303020204" pitchFamily="34" charset="0"/>
                  </a:rPr>
                  <a:t>A three - address machine</a:t>
                </a:r>
              </a:p>
              <a:p>
                <a:pPr lvl="2"/>
                <a:r>
                  <a:rPr lang="en-US" altLang="en-US" sz="2200" dirty="0">
                    <a:latin typeface="Candara" panose="020E0502030303020204" pitchFamily="34" charset="0"/>
                  </a:rPr>
                  <a:t>load/store operations</a:t>
                </a:r>
              </a:p>
              <a:p>
                <a:pPr lvl="2"/>
                <a:r>
                  <a:rPr lang="en-US" altLang="en-US" sz="2200" dirty="0">
                    <a:latin typeface="Candara" panose="020E0502030303020204" pitchFamily="34" charset="0"/>
                  </a:rPr>
                  <a:t>computational operations</a:t>
                </a:r>
              </a:p>
              <a:p>
                <a:pPr lvl="2"/>
                <a:r>
                  <a:rPr lang="en-US" altLang="en-US" sz="2200" dirty="0">
                    <a:latin typeface="Candara" panose="020E0502030303020204" pitchFamily="34" charset="0"/>
                  </a:rPr>
                  <a:t>jump/conditional jump operations</a:t>
                </a:r>
              </a:p>
              <a:p>
                <a:pPr lvl="1"/>
                <a:endParaRPr lang="en-US" altLang="en-US" sz="800" dirty="0">
                  <a:latin typeface="Candara" panose="020E0502030303020204" pitchFamily="34" charset="0"/>
                </a:endParaRPr>
              </a:p>
              <a:p>
                <a:pPr lvl="1">
                  <a:buFont typeface="Wingdings" panose="05000000000000000000" pitchFamily="2" charset="2"/>
                  <a:buChar char="Ø"/>
                </a:pPr>
                <a:r>
                  <a:rPr lang="en-US" altLang="en-US" dirty="0">
                    <a:latin typeface="Candara" panose="020E0502030303020204" pitchFamily="34" charset="0"/>
                  </a:rPr>
                  <a:t>A byte addressable machine</a:t>
                </a:r>
              </a:p>
              <a:p>
                <a:pPr lvl="2"/>
                <a:r>
                  <a:rPr lang="en-US" altLang="en-US" sz="2200" dirty="0">
                    <a:latin typeface="Candara" panose="020E0502030303020204" pitchFamily="34" charset="0"/>
                  </a:rPr>
                  <a:t>Having </a:t>
                </a:r>
                <a14:m>
                  <m:oMath xmlns:m="http://schemas.openxmlformats.org/officeDocument/2006/math">
                    <m:r>
                      <a:rPr lang="en-US" altLang="en-US" sz="2200" i="1" dirty="0" smtClean="0">
                        <a:latin typeface="Cambria Math" panose="02040503050406030204" pitchFamily="18" charset="0"/>
                      </a:rPr>
                      <m:t>𝑛</m:t>
                    </m:r>
                  </m:oMath>
                </a14:m>
                <a:r>
                  <a:rPr lang="en-US" altLang="en-US" sz="2200" dirty="0">
                    <a:latin typeface="Candara" panose="020E0502030303020204" pitchFamily="34" charset="0"/>
                  </a:rPr>
                  <a:t> general purpose register</a:t>
                </a:r>
              </a:p>
              <a:p>
                <a:pPr lvl="2"/>
                <a14:m>
                  <m:oMath xmlns:m="http://schemas.openxmlformats.org/officeDocument/2006/math">
                    <m:r>
                      <a:rPr lang="en-US" altLang="en-US" sz="2200" i="1" dirty="0" smtClean="0">
                        <a:latin typeface="Cambria Math" panose="02040503050406030204" pitchFamily="18" charset="0"/>
                      </a:rPr>
                      <m:t>𝑅</m:t>
                    </m:r>
                    <m:r>
                      <a:rPr lang="en-US" altLang="en-US" sz="2200" i="1" dirty="0" smtClean="0">
                        <a:latin typeface="Cambria Math" panose="02040503050406030204" pitchFamily="18" charset="0"/>
                      </a:rPr>
                      <m:t>0, </m:t>
                    </m:r>
                    <m:r>
                      <a:rPr lang="en-US" altLang="en-US" sz="2200" i="1" dirty="0" smtClean="0">
                        <a:latin typeface="Cambria Math" panose="02040503050406030204" pitchFamily="18" charset="0"/>
                      </a:rPr>
                      <m:t>𝑅</m:t>
                    </m:r>
                    <m:r>
                      <a:rPr lang="en-US" altLang="en-US" sz="2200" i="1" dirty="0" smtClean="0">
                        <a:latin typeface="Cambria Math" panose="02040503050406030204" pitchFamily="18" charset="0"/>
                      </a:rPr>
                      <m:t>1, …, </m:t>
                    </m:r>
                    <m:r>
                      <a:rPr lang="en-US" altLang="en-US" sz="2200" i="1" dirty="0" smtClean="0">
                        <a:latin typeface="Cambria Math" panose="02040503050406030204" pitchFamily="18" charset="0"/>
                      </a:rPr>
                      <m:t>𝑅𝑛</m:t>
                    </m:r>
                    <m:r>
                      <a:rPr lang="en-US" altLang="en-US" sz="2200" i="1" dirty="0" smtClean="0">
                        <a:latin typeface="Cambria Math" panose="02040503050406030204" pitchFamily="18" charset="0"/>
                      </a:rPr>
                      <m:t>−1</m:t>
                    </m:r>
                  </m:oMath>
                </a14:m>
                <a:endParaRPr lang="en-US" altLang="en-US" sz="2200" dirty="0">
                  <a:latin typeface="Candara" panose="020E0502030303020204" pitchFamily="34" charset="0"/>
                </a:endParaRPr>
              </a:p>
              <a:p>
                <a:pPr lvl="1"/>
                <a:endParaRPr lang="en-US" altLang="en-US" sz="800" dirty="0">
                  <a:latin typeface="Candara" panose="020E0502030303020204" pitchFamily="34" charset="0"/>
                </a:endParaRPr>
              </a:p>
              <a:p>
                <a:pPr lvl="1">
                  <a:buFont typeface="Wingdings" panose="05000000000000000000" pitchFamily="2" charset="2"/>
                  <a:buChar char="Ø"/>
                </a:pPr>
                <a:r>
                  <a:rPr lang="en-US" altLang="en-US" dirty="0">
                    <a:latin typeface="Candara" panose="020E0502030303020204" pitchFamily="34" charset="0"/>
                  </a:rPr>
                  <a:t>All operands are integer</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838200" y="1246909"/>
                <a:ext cx="10515600" cy="4930054"/>
              </a:xfrm>
              <a:blipFill>
                <a:blip r:embed="rId2"/>
                <a:stretch>
                  <a:fillRect l="-1043" t="-2847" b="-248"/>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40</a:t>
            </a:fld>
            <a:endParaRPr lang="en-US" dirty="0"/>
          </a:p>
        </p:txBody>
      </p:sp>
    </p:spTree>
    <p:extLst>
      <p:ext uri="{BB962C8B-B14F-4D97-AF65-F5344CB8AC3E}">
        <p14:creationId xmlns:p14="http://schemas.microsoft.com/office/powerpoint/2010/main" val="370815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arn(inVertic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arn(inVertic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barn(inVertical)">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barn(inVertical)">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barn(inVertical)">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barn(inVertical)">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barn(inVertical)">
                                      <p:cBhvr>
                                        <p:cTn id="42" dur="500"/>
                                        <p:tgtEl>
                                          <p:spTgt spid="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Effect transition="in" filter="barn(inVertical)">
                                      <p:cBhvr>
                                        <p:cTn id="47" dur="500"/>
                                        <p:tgtEl>
                                          <p:spTgt spid="7">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7">
                                            <p:txEl>
                                              <p:pRg st="11" end="11"/>
                                            </p:txEl>
                                          </p:spTgt>
                                        </p:tgtEl>
                                        <p:attrNameLst>
                                          <p:attrName>style.visibility</p:attrName>
                                        </p:attrNameLst>
                                      </p:cBhvr>
                                      <p:to>
                                        <p:strVal val="visible"/>
                                      </p:to>
                                    </p:set>
                                    <p:animEffect transition="in" filter="barn(inVertical)">
                                      <p:cBhvr>
                                        <p:cTn id="52" dur="500"/>
                                        <p:tgtEl>
                                          <p:spTgt spid="7">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7">
                                            <p:txEl>
                                              <p:pRg st="13" end="13"/>
                                            </p:txEl>
                                          </p:spTgt>
                                        </p:tgtEl>
                                        <p:attrNameLst>
                                          <p:attrName>style.visibility</p:attrName>
                                        </p:attrNameLst>
                                      </p:cBhvr>
                                      <p:to>
                                        <p:strVal val="visible"/>
                                      </p:to>
                                    </p:set>
                                    <p:animEffect transition="in" filter="barn(inVertical)">
                                      <p:cBhvr>
                                        <p:cTn id="57"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 Simple Target Machine Model(2)</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41</a:t>
            </a:fld>
            <a:endParaRPr lang="en-US"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838200" y="1246909"/>
                <a:ext cx="10515600" cy="4930054"/>
              </a:xfrm>
            </p:spPr>
            <p:txBody>
              <a:bodyPr/>
              <a:lstStyle/>
              <a:p>
                <a:r>
                  <a:rPr lang="en-US" dirty="0">
                    <a:latin typeface="Candara" panose="020E0502030303020204" pitchFamily="34" charset="0"/>
                  </a:rPr>
                  <a:t>Available Instructions:</a:t>
                </a:r>
              </a:p>
              <a:p>
                <a:pPr lvl="1">
                  <a:buFont typeface="Wingdings" panose="05000000000000000000" pitchFamily="2" charset="2"/>
                  <a:buChar char="Ø"/>
                </a:pPr>
                <a:r>
                  <a:rPr lang="en-US" altLang="en-US" dirty="0">
                    <a:solidFill>
                      <a:srgbClr val="C00000"/>
                    </a:solidFill>
                    <a:latin typeface="Candara" panose="020E0502030303020204" pitchFamily="34" charset="0"/>
                  </a:rPr>
                  <a:t>Load operations</a:t>
                </a:r>
                <a:r>
                  <a:rPr lang="en-US" altLang="en-US" dirty="0">
                    <a:latin typeface="Candara" panose="020E0502030303020204" pitchFamily="34" charset="0"/>
                  </a:rPr>
                  <a:t>: </a:t>
                </a:r>
              </a:p>
              <a:p>
                <a:pPr lvl="2"/>
                <a:r>
                  <a:rPr lang="en-US" altLang="en-US" sz="2200" b="1" dirty="0">
                    <a:latin typeface="Candara" panose="020E0502030303020204" pitchFamily="34" charset="0"/>
                  </a:rPr>
                  <a:t>LD </a:t>
                </a:r>
                <a14:m>
                  <m:oMath xmlns:m="http://schemas.openxmlformats.org/officeDocument/2006/math">
                    <m:r>
                      <a:rPr lang="en-US" altLang="en-US" sz="2200" b="1" i="1" dirty="0" smtClean="0">
                        <a:latin typeface="Cambria Math" panose="02040503050406030204" pitchFamily="18" charset="0"/>
                      </a:rPr>
                      <m:t>𝒅𝒔𝒕</m:t>
                    </m:r>
                    <m:r>
                      <a:rPr lang="en-US" altLang="en-US" sz="2200" b="1" i="1" dirty="0">
                        <a:latin typeface="Cambria Math" panose="02040503050406030204" pitchFamily="18" charset="0"/>
                      </a:rPr>
                      <m:t>, </m:t>
                    </m:r>
                    <m:r>
                      <a:rPr lang="en-US" altLang="en-US" sz="2200" b="1" i="1" dirty="0" err="1">
                        <a:latin typeface="Cambria Math" panose="02040503050406030204" pitchFamily="18" charset="0"/>
                      </a:rPr>
                      <m:t>𝒂𝒅𝒅𝒓</m:t>
                    </m:r>
                  </m:oMath>
                </a14:m>
                <a:endParaRPr lang="en-US" altLang="en-US" sz="2200" b="1" i="1" dirty="0">
                  <a:latin typeface="Candara" panose="020E0502030303020204" pitchFamily="34" charset="0"/>
                </a:endParaRPr>
              </a:p>
              <a:p>
                <a:pPr lvl="2"/>
                <a:r>
                  <a:rPr lang="en-US" altLang="en-US" sz="2200" dirty="0">
                    <a:latin typeface="Candara" panose="020E0502030303020204" pitchFamily="34" charset="0"/>
                  </a:rPr>
                  <a:t>Loads the value in location </a:t>
                </a:r>
                <a14:m>
                  <m:oMath xmlns:m="http://schemas.openxmlformats.org/officeDocument/2006/math">
                    <m:r>
                      <a:rPr lang="en-US" altLang="en-US" sz="2200" i="1" dirty="0" smtClean="0">
                        <a:latin typeface="Cambria Math" panose="02040503050406030204" pitchFamily="18" charset="0"/>
                      </a:rPr>
                      <m:t>𝑎𝑑𝑑𝑟</m:t>
                    </m:r>
                  </m:oMath>
                </a14:m>
                <a:r>
                  <a:rPr lang="en-US" altLang="en-US" sz="2200" dirty="0">
                    <a:latin typeface="Candara" panose="020E0502030303020204" pitchFamily="34" charset="0"/>
                  </a:rPr>
                  <a:t> into location </a:t>
                </a:r>
                <a14:m>
                  <m:oMath xmlns:m="http://schemas.openxmlformats.org/officeDocument/2006/math">
                    <m:r>
                      <a:rPr lang="en-US" altLang="en-US" sz="2200" i="1" dirty="0" smtClean="0">
                        <a:latin typeface="Cambria Math" panose="02040503050406030204" pitchFamily="18" charset="0"/>
                      </a:rPr>
                      <m:t>𝑑𝑠𝑡</m:t>
                    </m:r>
                  </m:oMath>
                </a14:m>
                <a:endParaRPr lang="en-US" altLang="en-US" sz="2200" i="1" dirty="0">
                  <a:latin typeface="Candara" panose="020E0502030303020204" pitchFamily="34" charset="0"/>
                </a:endParaRPr>
              </a:p>
              <a:p>
                <a:pPr lvl="2"/>
                <a:r>
                  <a:rPr lang="en-US" altLang="en-US" sz="2200" dirty="0">
                    <a:latin typeface="Candara" panose="020E0502030303020204" pitchFamily="34" charset="0"/>
                  </a:rPr>
                  <a:t>It denotes the assignment </a:t>
                </a:r>
                <a14:m>
                  <m:oMath xmlns:m="http://schemas.openxmlformats.org/officeDocument/2006/math">
                    <m:r>
                      <a:rPr lang="en-US" altLang="en-US" sz="2200" i="1" dirty="0" smtClean="0">
                        <a:latin typeface="Cambria Math" panose="02040503050406030204" pitchFamily="18" charset="0"/>
                      </a:rPr>
                      <m:t>𝑑𝑠𝑡</m:t>
                    </m:r>
                    <m:r>
                      <a:rPr lang="en-US" altLang="en-US" sz="2200" i="1" dirty="0">
                        <a:latin typeface="Cambria Math" panose="02040503050406030204" pitchFamily="18" charset="0"/>
                      </a:rPr>
                      <m:t> = </m:t>
                    </m:r>
                    <m:r>
                      <a:rPr lang="en-US" altLang="en-US" sz="2200" i="1" dirty="0" err="1">
                        <a:latin typeface="Cambria Math" panose="02040503050406030204" pitchFamily="18" charset="0"/>
                      </a:rPr>
                      <m:t>𝑎𝑑𝑑𝑟</m:t>
                    </m:r>
                  </m:oMath>
                </a14:m>
                <a:endParaRPr lang="en-US" altLang="en-US" sz="2200" i="1" dirty="0">
                  <a:latin typeface="Candara" panose="020E0502030303020204" pitchFamily="34" charset="0"/>
                </a:endParaRPr>
              </a:p>
              <a:p>
                <a:pPr lvl="2"/>
                <a:r>
                  <a:rPr lang="en-US" altLang="en-US" sz="2200" dirty="0">
                    <a:latin typeface="Candara" panose="020E0502030303020204" pitchFamily="34" charset="0"/>
                  </a:rPr>
                  <a:t>Examples –</a:t>
                </a:r>
              </a:p>
              <a:p>
                <a:pPr lvl="3"/>
                <a:r>
                  <a:rPr lang="en-US" altLang="en-US" sz="2000" b="1" dirty="0">
                    <a:latin typeface="Candara" panose="020E0502030303020204" pitchFamily="34" charset="0"/>
                  </a:rPr>
                  <a:t>LD </a:t>
                </a:r>
                <a14:m>
                  <m:oMath xmlns:m="http://schemas.openxmlformats.org/officeDocument/2006/math">
                    <m:r>
                      <a:rPr lang="en-US" altLang="en-US" sz="2000" b="1" i="1" dirty="0" smtClean="0">
                        <a:latin typeface="Cambria Math" panose="02040503050406030204" pitchFamily="18" charset="0"/>
                      </a:rPr>
                      <m:t>𝒓</m:t>
                    </m:r>
                    <m:r>
                      <a:rPr lang="en-US" altLang="en-US" sz="2000" b="1" i="1" dirty="0" smtClean="0">
                        <a:latin typeface="Cambria Math" panose="02040503050406030204" pitchFamily="18" charset="0"/>
                      </a:rPr>
                      <m:t>, </m:t>
                    </m:r>
                    <m:r>
                      <a:rPr lang="en-US" altLang="en-US" sz="2000" b="1" i="1" dirty="0" smtClean="0">
                        <a:latin typeface="Cambria Math" panose="02040503050406030204" pitchFamily="18" charset="0"/>
                      </a:rPr>
                      <m:t>𝒙</m:t>
                    </m:r>
                  </m:oMath>
                </a14:m>
                <a:r>
                  <a:rPr lang="en-US" altLang="en-US" sz="2000" dirty="0">
                    <a:latin typeface="Candara" panose="020E0502030303020204" pitchFamily="34" charset="0"/>
                  </a:rPr>
                  <a:t> 	// loads value in location x into register r</a:t>
                </a:r>
              </a:p>
              <a:p>
                <a:pPr lvl="3"/>
                <a:r>
                  <a:rPr lang="en-US" altLang="en-US" sz="2000" b="1" dirty="0">
                    <a:latin typeface="Candara" panose="020E0502030303020204" pitchFamily="34" charset="0"/>
                  </a:rPr>
                  <a:t>LD </a:t>
                </a:r>
                <a14:m>
                  <m:oMath xmlns:m="http://schemas.openxmlformats.org/officeDocument/2006/math">
                    <m:r>
                      <a:rPr lang="en-US" altLang="en-US" sz="2000" b="1" i="1" dirty="0" smtClean="0">
                        <a:latin typeface="Cambria Math" panose="02040503050406030204" pitchFamily="18" charset="0"/>
                      </a:rPr>
                      <m:t>𝒓</m:t>
                    </m:r>
                    <m:r>
                      <a:rPr lang="en-US" altLang="en-US" sz="2000" b="1" i="1" baseline="-25000" dirty="0">
                        <a:latin typeface="Cambria Math" panose="02040503050406030204" pitchFamily="18" charset="0"/>
                      </a:rPr>
                      <m:t>𝟏</m:t>
                    </m:r>
                    <m:r>
                      <a:rPr lang="en-US" altLang="en-US" sz="2000" b="1" i="1" dirty="0" smtClean="0">
                        <a:latin typeface="Cambria Math" panose="02040503050406030204" pitchFamily="18" charset="0"/>
                      </a:rPr>
                      <m:t>, </m:t>
                    </m:r>
                    <m:r>
                      <a:rPr lang="en-US" altLang="en-US" sz="2000" b="1" i="1" dirty="0" smtClean="0">
                        <a:latin typeface="Cambria Math" panose="02040503050406030204" pitchFamily="18" charset="0"/>
                      </a:rPr>
                      <m:t>𝒓</m:t>
                    </m:r>
                    <m:r>
                      <a:rPr lang="en-US" altLang="en-US" sz="2000" b="1" i="1" baseline="-25000" dirty="0" smtClean="0">
                        <a:latin typeface="Cambria Math" panose="02040503050406030204" pitchFamily="18" charset="0"/>
                      </a:rPr>
                      <m:t>𝟐</m:t>
                    </m:r>
                  </m:oMath>
                </a14:m>
                <a:r>
                  <a:rPr lang="en-US" altLang="en-US" sz="2000" dirty="0">
                    <a:latin typeface="Candara" panose="020E0502030303020204" pitchFamily="34" charset="0"/>
                  </a:rPr>
                  <a:t> 	// register – to – register copy</a:t>
                </a:r>
              </a:p>
              <a:p>
                <a:pPr lvl="1"/>
                <a:endParaRPr lang="en-US" altLang="en-US" dirty="0">
                  <a:latin typeface="Candara" panose="020E0502030303020204" pitchFamily="34" charset="0"/>
                </a:endParaRPr>
              </a:p>
              <a:p>
                <a:pPr lvl="1">
                  <a:buFont typeface="Wingdings" panose="05000000000000000000" pitchFamily="2" charset="2"/>
                  <a:buChar char="Ø"/>
                </a:pPr>
                <a:r>
                  <a:rPr lang="en-US" altLang="en-US" dirty="0">
                    <a:solidFill>
                      <a:srgbClr val="C00000"/>
                    </a:solidFill>
                    <a:latin typeface="Candara" panose="020E0502030303020204" pitchFamily="34" charset="0"/>
                  </a:rPr>
                  <a:t>Store operations</a:t>
                </a:r>
                <a:r>
                  <a:rPr lang="en-US" altLang="en-US" dirty="0">
                    <a:latin typeface="Candara" panose="020E0502030303020204" pitchFamily="34" charset="0"/>
                  </a:rPr>
                  <a:t>:</a:t>
                </a:r>
              </a:p>
              <a:p>
                <a:pPr lvl="2"/>
                <a:r>
                  <a:rPr lang="en-US" altLang="en-US" sz="2200" b="1" dirty="0">
                    <a:latin typeface="Candara" panose="020E0502030303020204" pitchFamily="34" charset="0"/>
                  </a:rPr>
                  <a:t>ST </a:t>
                </a:r>
                <a14:m>
                  <m:oMath xmlns:m="http://schemas.openxmlformats.org/officeDocument/2006/math">
                    <m:r>
                      <a:rPr lang="en-US" altLang="en-US" sz="2200" b="1" i="1" dirty="0" smtClean="0">
                        <a:latin typeface="Cambria Math" panose="02040503050406030204" pitchFamily="18" charset="0"/>
                      </a:rPr>
                      <m:t>𝒙</m:t>
                    </m:r>
                    <m:r>
                      <a:rPr lang="en-US" altLang="en-US" sz="2200" b="1" i="1" dirty="0" smtClean="0">
                        <a:latin typeface="Cambria Math" panose="02040503050406030204" pitchFamily="18" charset="0"/>
                      </a:rPr>
                      <m:t>, </m:t>
                    </m:r>
                    <m:r>
                      <a:rPr lang="en-US" altLang="en-US" sz="2200" b="1" i="1" dirty="0" smtClean="0">
                        <a:latin typeface="Cambria Math" panose="02040503050406030204" pitchFamily="18" charset="0"/>
                      </a:rPr>
                      <m:t>𝒓</m:t>
                    </m:r>
                  </m:oMath>
                </a14:m>
                <a:endParaRPr lang="en-US" altLang="en-US" sz="2200" b="1" i="1" dirty="0">
                  <a:latin typeface="Candara" panose="020E0502030303020204" pitchFamily="34" charset="0"/>
                </a:endParaRPr>
              </a:p>
              <a:p>
                <a:pPr lvl="2"/>
                <a:r>
                  <a:rPr lang="en-US" altLang="en-US" sz="2200" dirty="0">
                    <a:latin typeface="Candara" panose="020E0502030303020204" pitchFamily="34" charset="0"/>
                  </a:rPr>
                  <a:t>Stores the value in register </a:t>
                </a:r>
                <a:r>
                  <a:rPr lang="en-US" altLang="en-US" sz="2200" i="1" dirty="0">
                    <a:latin typeface="Candara" panose="020E0502030303020204" pitchFamily="34" charset="0"/>
                  </a:rPr>
                  <a:t>r</a:t>
                </a:r>
                <a:r>
                  <a:rPr lang="en-US" altLang="en-US" sz="2200" dirty="0">
                    <a:latin typeface="Candara" panose="020E0502030303020204" pitchFamily="34" charset="0"/>
                  </a:rPr>
                  <a:t> into the location </a:t>
                </a:r>
                <a14:m>
                  <m:oMath xmlns:m="http://schemas.openxmlformats.org/officeDocument/2006/math">
                    <m:r>
                      <a:rPr lang="en-US" altLang="en-US" sz="2200" i="1" dirty="0" smtClean="0">
                        <a:latin typeface="Cambria Math" panose="02040503050406030204" pitchFamily="18" charset="0"/>
                      </a:rPr>
                      <m:t>𝑥</m:t>
                    </m:r>
                  </m:oMath>
                </a14:m>
                <a:endParaRPr lang="en-US" altLang="en-US" sz="2200" i="1" dirty="0">
                  <a:latin typeface="Candara" panose="020E0502030303020204" pitchFamily="34" charset="0"/>
                </a:endParaRPr>
              </a:p>
              <a:p>
                <a:pPr lvl="2"/>
                <a:r>
                  <a:rPr lang="en-US" altLang="en-US" sz="2200" dirty="0">
                    <a:latin typeface="Candara" panose="020E0502030303020204" pitchFamily="34" charset="0"/>
                  </a:rPr>
                  <a:t>It denotes the assignment </a:t>
                </a:r>
                <a14:m>
                  <m:oMath xmlns:m="http://schemas.openxmlformats.org/officeDocument/2006/math">
                    <m:r>
                      <a:rPr lang="en-US" altLang="en-US" sz="2200" i="1" dirty="0" smtClean="0">
                        <a:latin typeface="Cambria Math" panose="02040503050406030204" pitchFamily="18" charset="0"/>
                      </a:rPr>
                      <m:t>𝑥</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𝑟</m:t>
                    </m:r>
                  </m:oMath>
                </a14:m>
                <a:endParaRPr lang="en-US" altLang="en-US" sz="2200" i="1" dirty="0">
                  <a:latin typeface="Candara" panose="020E0502030303020204" pitchFamily="34"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838200" y="1246909"/>
                <a:ext cx="10515600" cy="4930054"/>
              </a:xfrm>
              <a:blipFill>
                <a:blip r:embed="rId2" cstate="print"/>
                <a:stretch>
                  <a:fillRect l="-1043" t="-2104" b="-1733"/>
                </a:stretch>
              </a:blipFill>
            </p:spPr>
            <p:txBody>
              <a:bodyPr/>
              <a:lstStyle/>
              <a:p>
                <a:r>
                  <a:rPr lang="en-US">
                    <a:noFill/>
                  </a:rPr>
                  <a:t> </a:t>
                </a:r>
              </a:p>
            </p:txBody>
          </p:sp>
        </mc:Fallback>
      </mc:AlternateContent>
    </p:spTree>
    <p:extLst>
      <p:ext uri="{BB962C8B-B14F-4D97-AF65-F5344CB8AC3E}">
        <p14:creationId xmlns:p14="http://schemas.microsoft.com/office/powerpoint/2010/main" val="63644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down)">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down)">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down)">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down)">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wipe(down)">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wipe(down)">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wipe(down)">
                                      <p:cBhvr>
                                        <p:cTn id="42" dur="500"/>
                                        <p:tgtEl>
                                          <p:spTgt spid="5">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animEffect transition="in" filter="wipe(down)">
                                      <p:cBhvr>
                                        <p:cTn id="47" dur="500"/>
                                        <p:tgtEl>
                                          <p:spTgt spid="5">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
                                            <p:txEl>
                                              <p:pRg st="11" end="11"/>
                                            </p:txEl>
                                          </p:spTgt>
                                        </p:tgtEl>
                                        <p:attrNameLst>
                                          <p:attrName>style.visibility</p:attrName>
                                        </p:attrNameLst>
                                      </p:cBhvr>
                                      <p:to>
                                        <p:strVal val="visible"/>
                                      </p:to>
                                    </p:set>
                                    <p:animEffect transition="in" filter="wipe(down)">
                                      <p:cBhvr>
                                        <p:cTn id="52" dur="500"/>
                                        <p:tgtEl>
                                          <p:spTgt spid="5">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5">
                                            <p:txEl>
                                              <p:pRg st="12" end="12"/>
                                            </p:txEl>
                                          </p:spTgt>
                                        </p:tgtEl>
                                        <p:attrNameLst>
                                          <p:attrName>style.visibility</p:attrName>
                                        </p:attrNameLst>
                                      </p:cBhvr>
                                      <p:to>
                                        <p:strVal val="visible"/>
                                      </p:to>
                                    </p:set>
                                    <p:animEffect transition="in" filter="wipe(down)">
                                      <p:cBhvr>
                                        <p:cTn id="5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 Simple Target Machine Model</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42</a:t>
            </a:fld>
            <a:endParaRPr lang="en-US" dirty="0"/>
          </a:p>
        </p:txBody>
      </p:sp>
      <mc:AlternateContent xmlns:mc="http://schemas.openxmlformats.org/markup-compatibility/2006" xmlns:a14="http://schemas.microsoft.com/office/drawing/2010/main">
        <mc:Choice Requires="a14">
          <p:sp>
            <p:nvSpPr>
              <p:cNvPr id="8" name="Content Placeholder 4"/>
              <p:cNvSpPr>
                <a:spLocks noGrp="1"/>
              </p:cNvSpPr>
              <p:nvPr>
                <p:ph idx="1"/>
              </p:nvPr>
            </p:nvSpPr>
            <p:spPr>
              <a:xfrm>
                <a:off x="838200" y="1246909"/>
                <a:ext cx="10515600" cy="4930054"/>
              </a:xfrm>
            </p:spPr>
            <p:txBody>
              <a:bodyPr>
                <a:normAutofit/>
              </a:bodyPr>
              <a:lstStyle/>
              <a:p>
                <a:r>
                  <a:rPr lang="en-US" dirty="0">
                    <a:latin typeface="Candara" panose="020E0502030303020204" pitchFamily="34" charset="0"/>
                  </a:rPr>
                  <a:t>Available Instructions:</a:t>
                </a:r>
              </a:p>
              <a:p>
                <a:pPr lvl="1">
                  <a:buFont typeface="Wingdings" panose="05000000000000000000" pitchFamily="2" charset="2"/>
                  <a:buChar char="Ø"/>
                </a:pPr>
                <a:endParaRPr lang="en-US" altLang="en-US" dirty="0">
                  <a:solidFill>
                    <a:srgbClr val="C00000"/>
                  </a:solidFill>
                  <a:latin typeface="Candara" panose="020E0502030303020204" pitchFamily="34" charset="0"/>
                </a:endParaRPr>
              </a:p>
              <a:p>
                <a:pPr lvl="1">
                  <a:buFont typeface="Wingdings" panose="05000000000000000000" pitchFamily="2" charset="2"/>
                  <a:buChar char="Ø"/>
                </a:pPr>
                <a:r>
                  <a:rPr lang="en-US" altLang="en-US" sz="2800" dirty="0">
                    <a:solidFill>
                      <a:srgbClr val="C00000"/>
                    </a:solidFill>
                    <a:latin typeface="Candara" panose="020E0502030303020204" pitchFamily="34" charset="0"/>
                  </a:rPr>
                  <a:t>Computational operations</a:t>
                </a:r>
                <a:r>
                  <a:rPr lang="en-US" altLang="en-US" sz="2800" dirty="0">
                    <a:latin typeface="Candara" panose="020E0502030303020204" pitchFamily="34" charset="0"/>
                  </a:rPr>
                  <a:t>: </a:t>
                </a:r>
              </a:p>
              <a:p>
                <a:pPr lvl="2"/>
                <a:r>
                  <a:rPr lang="en-US" altLang="en-US" sz="2400" b="1" dirty="0">
                    <a:latin typeface="Candara" panose="020E0502030303020204" pitchFamily="34" charset="0"/>
                  </a:rPr>
                  <a:t>OP </a:t>
                </a:r>
                <a14:m>
                  <m:oMath xmlns:m="http://schemas.openxmlformats.org/officeDocument/2006/math">
                    <m:r>
                      <a:rPr lang="en-US" altLang="en-US" sz="2400" b="1" i="1" dirty="0" smtClean="0">
                        <a:latin typeface="Cambria Math" panose="02040503050406030204" pitchFamily="18" charset="0"/>
                      </a:rPr>
                      <m:t>𝒅𝒔𝒕</m:t>
                    </m:r>
                    <m:r>
                      <a:rPr lang="en-US" altLang="en-US" sz="2400" b="1" i="1" dirty="0">
                        <a:latin typeface="Cambria Math" panose="02040503050406030204" pitchFamily="18" charset="0"/>
                      </a:rPr>
                      <m:t>, </m:t>
                    </m:r>
                    <m:r>
                      <a:rPr lang="en-US" altLang="en-US" sz="2400" b="1" i="1" dirty="0">
                        <a:latin typeface="Cambria Math" panose="02040503050406030204" pitchFamily="18" charset="0"/>
                      </a:rPr>
                      <m:t>𝒔𝒓𝒄</m:t>
                    </m:r>
                    <m:r>
                      <a:rPr lang="en-US" altLang="en-US" sz="2400" b="1" i="1" baseline="-25000" dirty="0">
                        <a:latin typeface="Cambria Math" panose="02040503050406030204" pitchFamily="18" charset="0"/>
                      </a:rPr>
                      <m:t>𝟏</m:t>
                    </m:r>
                    <m:r>
                      <a:rPr lang="en-US" altLang="en-US" sz="2400" b="1" i="1" dirty="0">
                        <a:latin typeface="Cambria Math" panose="02040503050406030204" pitchFamily="18" charset="0"/>
                      </a:rPr>
                      <m:t>, </m:t>
                    </m:r>
                    <m:r>
                      <a:rPr lang="en-US" altLang="en-US" sz="2400" b="1" i="1" dirty="0">
                        <a:latin typeface="Cambria Math" panose="02040503050406030204" pitchFamily="18" charset="0"/>
                      </a:rPr>
                      <m:t>𝒔𝒓𝒄</m:t>
                    </m:r>
                    <m:r>
                      <a:rPr lang="en-US" altLang="en-US" sz="2400" b="1" i="1" baseline="-25000" dirty="0">
                        <a:latin typeface="Cambria Math" panose="02040503050406030204" pitchFamily="18" charset="0"/>
                      </a:rPr>
                      <m:t>𝟐</m:t>
                    </m:r>
                  </m:oMath>
                </a14:m>
                <a:endParaRPr lang="en-US" altLang="en-US" sz="2400" b="1" i="1" baseline="-25000" dirty="0">
                  <a:latin typeface="Candara" panose="020E0502030303020204" pitchFamily="34" charset="0"/>
                </a:endParaRPr>
              </a:p>
              <a:p>
                <a:pPr lvl="2"/>
                <a:r>
                  <a:rPr lang="en-US" altLang="en-US" sz="2400" dirty="0">
                    <a:latin typeface="Candara" panose="020E0502030303020204" pitchFamily="34" charset="0"/>
                  </a:rPr>
                  <a:t>OP is like ADD, SUB</a:t>
                </a:r>
              </a:p>
              <a:p>
                <a:pPr lvl="2"/>
                <a:r>
                  <a:rPr lang="en-US" altLang="en-US" sz="2400" dirty="0">
                    <a:latin typeface="Candara" panose="020E0502030303020204" pitchFamily="34" charset="0"/>
                  </a:rPr>
                  <a:t>SUB </a:t>
                </a:r>
                <a14:m>
                  <m:oMath xmlns:m="http://schemas.openxmlformats.org/officeDocument/2006/math">
                    <m:r>
                      <a:rPr lang="en-US" altLang="en-US" sz="2400" i="1" dirty="0" smtClean="0">
                        <a:latin typeface="Cambria Math" panose="02040503050406030204" pitchFamily="18" charset="0"/>
                      </a:rPr>
                      <m:t>𝑟</m:t>
                    </m:r>
                    <m:r>
                      <a:rPr lang="en-US" altLang="en-US" sz="2400" i="1" baseline="-25000" dirty="0">
                        <a:latin typeface="Cambria Math" panose="02040503050406030204" pitchFamily="18" charset="0"/>
                      </a:rPr>
                      <m:t>1</m:t>
                    </m:r>
                    <m:r>
                      <a:rPr lang="en-US" altLang="en-US" sz="2400" i="1" dirty="0">
                        <a:latin typeface="Cambria Math" panose="02040503050406030204" pitchFamily="18" charset="0"/>
                      </a:rPr>
                      <m:t>, </m:t>
                    </m:r>
                    <m:r>
                      <a:rPr lang="en-US" altLang="en-US" sz="2400" i="1" dirty="0">
                        <a:latin typeface="Cambria Math" panose="02040503050406030204" pitchFamily="18" charset="0"/>
                      </a:rPr>
                      <m:t>𝑟</m:t>
                    </m:r>
                    <m:r>
                      <a:rPr lang="en-US" altLang="en-US" sz="2400" i="1" baseline="-25000" dirty="0">
                        <a:latin typeface="Cambria Math" panose="02040503050406030204" pitchFamily="18" charset="0"/>
                      </a:rPr>
                      <m:t>2</m:t>
                    </m:r>
                    <m:r>
                      <a:rPr lang="en-US" altLang="en-US" sz="2400" i="1" dirty="0">
                        <a:latin typeface="Cambria Math" panose="02040503050406030204" pitchFamily="18" charset="0"/>
                      </a:rPr>
                      <m:t>, </m:t>
                    </m:r>
                    <m:r>
                      <a:rPr lang="en-US" altLang="en-US" sz="2400" i="1" dirty="0">
                        <a:latin typeface="Cambria Math" panose="02040503050406030204" pitchFamily="18" charset="0"/>
                      </a:rPr>
                      <m:t>𝑟</m:t>
                    </m:r>
                    <m:r>
                      <a:rPr lang="en-US" altLang="en-US" sz="2400" i="1" baseline="-25000" dirty="0">
                        <a:latin typeface="Cambria Math" panose="02040503050406030204" pitchFamily="18" charset="0"/>
                      </a:rPr>
                      <m:t>3</m:t>
                    </m:r>
                  </m:oMath>
                </a14:m>
                <a:r>
                  <a:rPr lang="en-US" altLang="en-US" sz="2400" dirty="0">
                    <a:latin typeface="Candara" panose="020E0502030303020204" pitchFamily="34" charset="0"/>
                  </a:rPr>
                  <a:t> denotes </a:t>
                </a:r>
                <a14:m>
                  <m:oMath xmlns:m="http://schemas.openxmlformats.org/officeDocument/2006/math">
                    <m:r>
                      <a:rPr lang="en-US" altLang="en-US" sz="2400" i="1" dirty="0" smtClean="0">
                        <a:latin typeface="Cambria Math" panose="02040503050406030204" pitchFamily="18" charset="0"/>
                      </a:rPr>
                      <m:t>𝑟</m:t>
                    </m:r>
                    <m:r>
                      <a:rPr lang="en-US" altLang="en-US" sz="2400" i="1" baseline="-25000" dirty="0">
                        <a:latin typeface="Cambria Math" panose="02040503050406030204" pitchFamily="18" charset="0"/>
                      </a:rPr>
                      <m:t>1</m:t>
                    </m:r>
                    <m:r>
                      <a:rPr lang="en-US" altLang="en-US" sz="2400" i="1" dirty="0">
                        <a:latin typeface="Cambria Math" panose="02040503050406030204" pitchFamily="18" charset="0"/>
                      </a:rPr>
                      <m:t> = </m:t>
                    </m:r>
                    <m:r>
                      <a:rPr lang="en-US" altLang="en-US" sz="2400" i="1" dirty="0">
                        <a:latin typeface="Cambria Math" panose="02040503050406030204" pitchFamily="18" charset="0"/>
                      </a:rPr>
                      <m:t>𝑟</m:t>
                    </m:r>
                    <m:r>
                      <a:rPr lang="en-US" altLang="en-US" sz="2400" i="1" baseline="-25000" dirty="0">
                        <a:latin typeface="Cambria Math" panose="02040503050406030204" pitchFamily="18" charset="0"/>
                      </a:rPr>
                      <m:t>2</m:t>
                    </m:r>
                    <m:r>
                      <a:rPr lang="en-US" altLang="en-US" sz="2400" i="1" dirty="0">
                        <a:latin typeface="Cambria Math" panose="02040503050406030204" pitchFamily="18" charset="0"/>
                      </a:rPr>
                      <m:t> – </m:t>
                    </m:r>
                    <m:r>
                      <a:rPr lang="en-US" altLang="en-US" sz="2400" i="1" dirty="0">
                        <a:latin typeface="Cambria Math" panose="02040503050406030204" pitchFamily="18" charset="0"/>
                      </a:rPr>
                      <m:t>𝑟</m:t>
                    </m:r>
                    <m:r>
                      <a:rPr lang="en-US" altLang="en-US" sz="2400" i="1" baseline="-25000" dirty="0">
                        <a:latin typeface="Cambria Math" panose="02040503050406030204" pitchFamily="18" charset="0"/>
                      </a:rPr>
                      <m:t>3</m:t>
                    </m:r>
                  </m:oMath>
                </a14:m>
                <a:endParaRPr lang="en-US" altLang="en-US" sz="2400" dirty="0">
                  <a:latin typeface="Candara" panose="020E0502030303020204" pitchFamily="34" charset="0"/>
                </a:endParaRPr>
              </a:p>
              <a:p>
                <a:pPr marL="457200" lvl="1" indent="0">
                  <a:buNone/>
                </a:pPr>
                <a:endParaRPr lang="en-US" altLang="en-US" sz="2800" dirty="0">
                  <a:latin typeface="Candara" panose="020E0502030303020204" pitchFamily="34" charset="0"/>
                </a:endParaRPr>
              </a:p>
              <a:p>
                <a:pPr lvl="1">
                  <a:buFont typeface="Wingdings" panose="05000000000000000000" pitchFamily="2" charset="2"/>
                  <a:buChar char="Ø"/>
                </a:pPr>
                <a:r>
                  <a:rPr lang="en-US" altLang="en-US" sz="2800" dirty="0">
                    <a:solidFill>
                      <a:srgbClr val="C00000"/>
                    </a:solidFill>
                    <a:latin typeface="Candara" panose="020E0502030303020204" pitchFamily="34" charset="0"/>
                  </a:rPr>
                  <a:t>Unconditional jumps</a:t>
                </a:r>
                <a:r>
                  <a:rPr lang="en-US" altLang="en-US" sz="2800" dirty="0">
                    <a:latin typeface="Candara" panose="020E0502030303020204" pitchFamily="34" charset="0"/>
                  </a:rPr>
                  <a:t>:</a:t>
                </a:r>
              </a:p>
              <a:p>
                <a:pPr lvl="2"/>
                <a:r>
                  <a:rPr lang="en-US" altLang="en-US" sz="2400" b="1" dirty="0">
                    <a:latin typeface="Candara" panose="020E0502030303020204" pitchFamily="34" charset="0"/>
                  </a:rPr>
                  <a:t>BR </a:t>
                </a:r>
                <a14:m>
                  <m:oMath xmlns:m="http://schemas.openxmlformats.org/officeDocument/2006/math">
                    <m:r>
                      <a:rPr lang="en-US" altLang="en-US" sz="2400" b="1" i="1" dirty="0" smtClean="0">
                        <a:latin typeface="Cambria Math" panose="02040503050406030204" pitchFamily="18" charset="0"/>
                      </a:rPr>
                      <m:t>𝑳</m:t>
                    </m:r>
                  </m:oMath>
                </a14:m>
                <a:endParaRPr lang="en-US" altLang="en-US" sz="2400" b="1" dirty="0">
                  <a:latin typeface="Candara" panose="020E0502030303020204" pitchFamily="34" charset="0"/>
                </a:endParaRPr>
              </a:p>
              <a:p>
                <a:pPr lvl="2"/>
                <a:r>
                  <a:rPr lang="en-US" altLang="en-US" sz="2400" dirty="0">
                    <a:latin typeface="Candara" panose="020E0502030303020204" pitchFamily="34" charset="0"/>
                  </a:rPr>
                  <a:t>Causes control to branch to the machine instruction with label </a:t>
                </a:r>
                <a14:m>
                  <m:oMath xmlns:m="http://schemas.openxmlformats.org/officeDocument/2006/math">
                    <m:r>
                      <a:rPr lang="en-US" altLang="en-US" sz="2400" i="1" dirty="0" smtClean="0">
                        <a:latin typeface="Cambria Math" panose="02040503050406030204" pitchFamily="18" charset="0"/>
                      </a:rPr>
                      <m:t>𝐿</m:t>
                    </m:r>
                  </m:oMath>
                </a14:m>
                <a:endParaRPr lang="en-US" altLang="en-US" sz="2400" dirty="0">
                  <a:latin typeface="Candara" panose="020E0502030303020204" pitchFamily="34" charset="0"/>
                </a:endParaRPr>
              </a:p>
              <a:p>
                <a:pPr lvl="2"/>
                <a:endParaRPr lang="en-US" altLang="en-US" dirty="0">
                  <a:latin typeface="Candara" panose="020E0502030303020204" pitchFamily="34" charset="0"/>
                </a:endParaRPr>
              </a:p>
            </p:txBody>
          </p:sp>
        </mc:Choice>
        <mc:Fallback xmlns="">
          <p:sp>
            <p:nvSpPr>
              <p:cNvPr id="8" name="Content Placeholder 4"/>
              <p:cNvSpPr>
                <a:spLocks noGrp="1" noRot="1" noChangeAspect="1" noMove="1" noResize="1" noEditPoints="1" noAdjustHandles="1" noChangeArrowheads="1" noChangeShapeType="1" noTextEdit="1"/>
              </p:cNvSpPr>
              <p:nvPr>
                <p:ph idx="1"/>
              </p:nvPr>
            </p:nvSpPr>
            <p:spPr>
              <a:xfrm>
                <a:off x="838200" y="1246909"/>
                <a:ext cx="10515600" cy="4930054"/>
              </a:xfrm>
              <a:blipFill>
                <a:blip r:embed="rId2"/>
                <a:stretch>
                  <a:fillRect l="-1043" t="-2104"/>
                </a:stretch>
              </a:blipFill>
            </p:spPr>
            <p:txBody>
              <a:bodyPr/>
              <a:lstStyle/>
              <a:p>
                <a:r>
                  <a:rPr lang="en-US">
                    <a:noFill/>
                  </a:rPr>
                  <a:t> </a:t>
                </a:r>
              </a:p>
            </p:txBody>
          </p:sp>
        </mc:Fallback>
      </mc:AlternateContent>
    </p:spTree>
    <p:extLst>
      <p:ext uri="{BB962C8B-B14F-4D97-AF65-F5344CB8AC3E}">
        <p14:creationId xmlns:p14="http://schemas.microsoft.com/office/powerpoint/2010/main" val="291025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wipe(down)">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wipe(down)">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wipe(down)">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wipe(down)">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wipe(down)">
                                      <p:cBhvr>
                                        <p:cTn id="27" dur="500"/>
                                        <p:tgtEl>
                                          <p:spTgt spid="8">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wipe(down)">
                                      <p:cBhvr>
                                        <p:cTn id="32" dur="500"/>
                                        <p:tgtEl>
                                          <p:spTgt spid="8">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
                                            <p:txEl>
                                              <p:pRg st="9" end="9"/>
                                            </p:txEl>
                                          </p:spTgt>
                                        </p:tgtEl>
                                        <p:attrNameLst>
                                          <p:attrName>style.visibility</p:attrName>
                                        </p:attrNameLst>
                                      </p:cBhvr>
                                      <p:to>
                                        <p:strVal val="visible"/>
                                      </p:to>
                                    </p:set>
                                    <p:animEffect transition="in" filter="wipe(down)">
                                      <p:cBhvr>
                                        <p:cTn id="37"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 Simple Target Machine Model</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43</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420586"/>
                <a:ext cx="10515600" cy="4756377"/>
              </a:xfrm>
            </p:spPr>
            <p:txBody>
              <a:bodyPr>
                <a:normAutofit/>
              </a:bodyPr>
              <a:lstStyle/>
              <a:p>
                <a:pPr>
                  <a:spcAft>
                    <a:spcPts val="600"/>
                  </a:spcAft>
                </a:pPr>
                <a:r>
                  <a:rPr lang="en-US" dirty="0">
                    <a:latin typeface="Candara" panose="020E0502030303020204" pitchFamily="34" charset="0"/>
                  </a:rPr>
                  <a:t>Available Instructions:</a:t>
                </a:r>
                <a:endParaRPr lang="en-US" altLang="en-US" dirty="0">
                  <a:latin typeface="Candara" panose="020E0502030303020204" pitchFamily="34" charset="0"/>
                </a:endParaRPr>
              </a:p>
              <a:p>
                <a:pPr lvl="1">
                  <a:buFont typeface="Wingdings" panose="05000000000000000000" pitchFamily="2" charset="2"/>
                  <a:buChar char="Ø"/>
                </a:pPr>
                <a:r>
                  <a:rPr lang="en-US" altLang="en-US" sz="2800" dirty="0">
                    <a:solidFill>
                      <a:srgbClr val="C00000"/>
                    </a:solidFill>
                    <a:latin typeface="Candara" panose="020E0502030303020204" pitchFamily="34" charset="0"/>
                  </a:rPr>
                  <a:t>Conditional jumps</a:t>
                </a:r>
                <a:r>
                  <a:rPr lang="en-US" altLang="en-US" sz="2800" dirty="0">
                    <a:latin typeface="Candara" panose="020E0502030303020204" pitchFamily="34" charset="0"/>
                  </a:rPr>
                  <a:t>:</a:t>
                </a:r>
              </a:p>
              <a:p>
                <a:pPr lvl="2"/>
                <a:r>
                  <a:rPr lang="en-US" altLang="en-US" sz="2400" b="1" dirty="0" err="1">
                    <a:latin typeface="Candara" panose="020E0502030303020204" pitchFamily="34" charset="0"/>
                  </a:rPr>
                  <a:t>B</a:t>
                </a:r>
                <a:r>
                  <a:rPr lang="en-US" altLang="en-US" sz="2400" b="1" i="1" dirty="0" err="1">
                    <a:solidFill>
                      <a:schemeClr val="accent2">
                        <a:lumMod val="75000"/>
                      </a:schemeClr>
                    </a:solidFill>
                    <a:latin typeface="Candara" panose="020E0502030303020204" pitchFamily="34" charset="0"/>
                  </a:rPr>
                  <a:t>cond</a:t>
                </a:r>
                <a:r>
                  <a:rPr lang="en-US" altLang="en-US" sz="2400" b="1" dirty="0">
                    <a:latin typeface="Candara" panose="020E0502030303020204" pitchFamily="34" charset="0"/>
                  </a:rPr>
                  <a:t> </a:t>
                </a:r>
                <a14:m>
                  <m:oMath xmlns:m="http://schemas.openxmlformats.org/officeDocument/2006/math">
                    <m:r>
                      <a:rPr lang="en-US" altLang="en-US" sz="2400" b="1" i="1" dirty="0" smtClean="0">
                        <a:latin typeface="Cambria Math" panose="02040503050406030204" pitchFamily="18" charset="0"/>
                      </a:rPr>
                      <m:t>𝒓</m:t>
                    </m:r>
                    <m:r>
                      <a:rPr lang="en-US" altLang="en-US" sz="2400" b="1" i="1" dirty="0" smtClean="0">
                        <a:latin typeface="Cambria Math" panose="02040503050406030204" pitchFamily="18" charset="0"/>
                      </a:rPr>
                      <m:t>, </m:t>
                    </m:r>
                    <m:r>
                      <a:rPr lang="en-US" altLang="en-US" sz="2400" b="1" i="1" dirty="0" smtClean="0">
                        <a:latin typeface="Cambria Math" panose="02040503050406030204" pitchFamily="18" charset="0"/>
                      </a:rPr>
                      <m:t>𝑳</m:t>
                    </m:r>
                  </m:oMath>
                </a14:m>
                <a:endParaRPr lang="en-US" altLang="en-US" sz="2400" b="1" i="1" dirty="0">
                  <a:latin typeface="Candara" panose="020E0502030303020204" pitchFamily="34" charset="0"/>
                </a:endParaRPr>
              </a:p>
              <a:p>
                <a:pPr lvl="2"/>
                <a:r>
                  <a:rPr lang="en-US" altLang="en-US" sz="2400" dirty="0">
                    <a:latin typeface="Candara" panose="020E0502030303020204" pitchFamily="34" charset="0"/>
                  </a:rPr>
                  <a:t>Here </a:t>
                </a:r>
                <a14:m>
                  <m:oMath xmlns:m="http://schemas.openxmlformats.org/officeDocument/2006/math">
                    <m:r>
                      <a:rPr lang="en-US" altLang="en-US" sz="2400" b="1" i="1" dirty="0" smtClean="0">
                        <a:latin typeface="Cambria Math" panose="02040503050406030204" pitchFamily="18" charset="0"/>
                      </a:rPr>
                      <m:t>𝒓</m:t>
                    </m:r>
                  </m:oMath>
                </a14:m>
                <a:r>
                  <a:rPr lang="en-US" altLang="en-US" sz="2400" dirty="0">
                    <a:latin typeface="Candara" panose="020E0502030303020204" pitchFamily="34" charset="0"/>
                  </a:rPr>
                  <a:t> is a register</a:t>
                </a:r>
              </a:p>
              <a:p>
                <a:pPr lvl="2"/>
                <a:r>
                  <a:rPr lang="en-US" altLang="en-US" sz="2400" b="1" i="1" dirty="0" err="1">
                    <a:solidFill>
                      <a:schemeClr val="accent2">
                        <a:lumMod val="75000"/>
                      </a:schemeClr>
                    </a:solidFill>
                    <a:latin typeface="Candara" panose="020E0502030303020204" pitchFamily="34" charset="0"/>
                  </a:rPr>
                  <a:t>cond</a:t>
                </a:r>
                <a:r>
                  <a:rPr lang="en-US" altLang="en-US" sz="2400" b="1" i="1" dirty="0">
                    <a:solidFill>
                      <a:schemeClr val="accent2">
                        <a:lumMod val="75000"/>
                      </a:schemeClr>
                    </a:solidFill>
                    <a:latin typeface="Candara" panose="020E0502030303020204" pitchFamily="34" charset="0"/>
                  </a:rPr>
                  <a:t> </a:t>
                </a:r>
                <a:r>
                  <a:rPr lang="en-US" altLang="en-US" sz="2400" dirty="0">
                    <a:latin typeface="Candara" panose="020E0502030303020204" pitchFamily="34" charset="0"/>
                  </a:rPr>
                  <a:t>stands for a common tests on value in register </a:t>
                </a:r>
                <a14:m>
                  <m:oMath xmlns:m="http://schemas.openxmlformats.org/officeDocument/2006/math">
                    <m:r>
                      <a:rPr lang="en-US" altLang="en-US" sz="2400" i="1" dirty="0" smtClean="0">
                        <a:latin typeface="Cambria Math" panose="02040503050406030204" pitchFamily="18" charset="0"/>
                      </a:rPr>
                      <m:t>𝑟</m:t>
                    </m:r>
                  </m:oMath>
                </a14:m>
                <a:endParaRPr lang="en-US" altLang="en-US" sz="2400" i="1" dirty="0">
                  <a:latin typeface="Candara" panose="020E0502030303020204" pitchFamily="34" charset="0"/>
                </a:endParaRPr>
              </a:p>
              <a:p>
                <a:pPr lvl="2"/>
                <a:r>
                  <a:rPr lang="en-US" altLang="en-US" sz="2400" dirty="0">
                    <a:latin typeface="Candara" panose="020E0502030303020204" pitchFamily="34" charset="0"/>
                  </a:rPr>
                  <a:t>Example:</a:t>
                </a:r>
              </a:p>
              <a:p>
                <a:pPr lvl="3"/>
                <a:r>
                  <a:rPr lang="en-US" altLang="en-US" sz="2400" b="1" dirty="0">
                    <a:latin typeface="Candara" panose="020E0502030303020204" pitchFamily="34" charset="0"/>
                  </a:rPr>
                  <a:t>B</a:t>
                </a:r>
                <a:r>
                  <a:rPr lang="en-US" altLang="en-US" sz="2400" b="1" dirty="0">
                    <a:solidFill>
                      <a:schemeClr val="accent2">
                        <a:lumMod val="75000"/>
                      </a:schemeClr>
                    </a:solidFill>
                    <a:latin typeface="Candara" panose="020E0502030303020204" pitchFamily="34" charset="0"/>
                  </a:rPr>
                  <a:t>LTZ</a:t>
                </a:r>
                <a:r>
                  <a:rPr lang="en-US" altLang="en-US" sz="2400" b="1" dirty="0">
                    <a:latin typeface="Candara" panose="020E0502030303020204" pitchFamily="34" charset="0"/>
                  </a:rPr>
                  <a:t> </a:t>
                </a:r>
                <a14:m>
                  <m:oMath xmlns:m="http://schemas.openxmlformats.org/officeDocument/2006/math">
                    <m:r>
                      <a:rPr lang="en-US" altLang="en-US" sz="2400" b="1" i="1" dirty="0" smtClean="0">
                        <a:latin typeface="Cambria Math" panose="02040503050406030204" pitchFamily="18" charset="0"/>
                      </a:rPr>
                      <m:t>𝒓</m:t>
                    </m:r>
                    <m:r>
                      <a:rPr lang="en-US" altLang="en-US" sz="2400" b="1" i="1" dirty="0" smtClean="0">
                        <a:latin typeface="Cambria Math" panose="02040503050406030204" pitchFamily="18" charset="0"/>
                      </a:rPr>
                      <m:t>,</m:t>
                    </m:r>
                    <m:r>
                      <a:rPr lang="en-US" altLang="en-US" sz="2400" b="1" i="1" dirty="0" smtClean="0">
                        <a:latin typeface="Cambria Math" panose="02040503050406030204" pitchFamily="18" charset="0"/>
                      </a:rPr>
                      <m:t>𝑳</m:t>
                    </m:r>
                  </m:oMath>
                </a14:m>
                <a:endParaRPr lang="en-US" altLang="en-US" sz="2400" b="1" i="1" dirty="0">
                  <a:latin typeface="Candara" panose="020E0502030303020204" pitchFamily="34" charset="0"/>
                </a:endParaRPr>
              </a:p>
              <a:p>
                <a:pPr lvl="3"/>
                <a:r>
                  <a:rPr lang="en-US" altLang="en-US" sz="2400" dirty="0">
                    <a:latin typeface="Candara" panose="020E0502030303020204" pitchFamily="34" charset="0"/>
                  </a:rPr>
                  <a:t>Jump to </a:t>
                </a:r>
                <a:r>
                  <a:rPr lang="en-US" altLang="en-US" sz="2400" dirty="0" err="1">
                    <a:latin typeface="Candara" panose="020E0502030303020204" pitchFamily="34" charset="0"/>
                  </a:rPr>
                  <a:t>lable</a:t>
                </a:r>
                <a14:m>
                  <m:oMath xmlns:m="http://schemas.openxmlformats.org/officeDocument/2006/math">
                    <m:r>
                      <a:rPr lang="en-US" altLang="en-US" sz="2400" b="0" i="0" dirty="0" smtClean="0">
                        <a:latin typeface="Cambria Math" panose="02040503050406030204" pitchFamily="18" charset="0"/>
                      </a:rPr>
                      <m:t> </m:t>
                    </m:r>
                    <m:r>
                      <a:rPr lang="en-US" altLang="en-US" sz="2400" i="1" dirty="0" smtClean="0">
                        <a:latin typeface="Cambria Math" panose="02040503050406030204" pitchFamily="18" charset="0"/>
                      </a:rPr>
                      <m:t>𝐿</m:t>
                    </m:r>
                  </m:oMath>
                </a14:m>
                <a:r>
                  <a:rPr lang="en-US" altLang="en-US" sz="2400" dirty="0">
                    <a:latin typeface="Candara" panose="020E0502030303020204" pitchFamily="34" charset="0"/>
                  </a:rPr>
                  <a:t> if the value of </a:t>
                </a:r>
                <a14:m>
                  <m:oMath xmlns:m="http://schemas.openxmlformats.org/officeDocument/2006/math">
                    <m:r>
                      <a:rPr lang="en-US" altLang="en-US" sz="2400" i="1" dirty="0" smtClean="0">
                        <a:latin typeface="Cambria Math" panose="02040503050406030204" pitchFamily="18" charset="0"/>
                      </a:rPr>
                      <m:t>𝑟</m:t>
                    </m:r>
                  </m:oMath>
                </a14:m>
                <a:r>
                  <a:rPr lang="en-US" altLang="en-US" sz="2400" dirty="0">
                    <a:latin typeface="Candara" panose="020E0502030303020204" pitchFamily="34" charset="0"/>
                  </a:rPr>
                  <a:t> is less than </a:t>
                </a:r>
                <a14:m>
                  <m:oMath xmlns:m="http://schemas.openxmlformats.org/officeDocument/2006/math">
                    <m:r>
                      <a:rPr lang="en-US" altLang="en-US" sz="2400" i="1" dirty="0" smtClean="0">
                        <a:latin typeface="Cambria Math" panose="02040503050406030204" pitchFamily="18" charset="0"/>
                      </a:rPr>
                      <m:t>0</m:t>
                    </m:r>
                  </m:oMath>
                </a14:m>
                <a:endParaRPr lang="en-US" altLang="en-US" sz="2400"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420586"/>
                <a:ext cx="10515600" cy="4756377"/>
              </a:xfrm>
              <a:blipFill>
                <a:blip r:embed="rId2"/>
                <a:stretch>
                  <a:fillRect l="-1043" t="-2051"/>
                </a:stretch>
              </a:blipFill>
            </p:spPr>
            <p:txBody>
              <a:bodyPr/>
              <a:lstStyle/>
              <a:p>
                <a:r>
                  <a:rPr lang="en-US">
                    <a:noFill/>
                  </a:rPr>
                  <a:t> </a:t>
                </a:r>
              </a:p>
            </p:txBody>
          </p:sp>
        </mc:Fallback>
      </mc:AlternateContent>
    </p:spTree>
    <p:extLst>
      <p:ext uri="{BB962C8B-B14F-4D97-AF65-F5344CB8AC3E}">
        <p14:creationId xmlns:p14="http://schemas.microsoft.com/office/powerpoint/2010/main" val="37148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arn(inVertic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arn(inVertic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arn(inVertic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arn(inVertical)">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arn(inVertical)">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barn(inVertical)">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barn(inVertical)">
                                      <p:cBhvr>
                                        <p:cTn id="3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Addressing Modes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44</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420586"/>
                <a:ext cx="10515600" cy="4756377"/>
              </a:xfrm>
            </p:spPr>
            <p:txBody>
              <a:bodyPr/>
              <a:lstStyle/>
              <a:p>
                <a:r>
                  <a:rPr lang="en-US" altLang="en-US" dirty="0">
                    <a:latin typeface="Candara" panose="020E0502030303020204" pitchFamily="34" charset="0"/>
                  </a:rPr>
                  <a:t>Addressing Modes: from which location you can find the value for an operand</a:t>
                </a:r>
              </a:p>
              <a:p>
                <a:pPr lvl="1"/>
                <a:endParaRPr lang="en-US" altLang="en-US" sz="1000" dirty="0">
                  <a:latin typeface="Candara" panose="020E0502030303020204" pitchFamily="34" charset="0"/>
                </a:endParaRPr>
              </a:p>
              <a:p>
                <a:pPr lvl="1">
                  <a:buFont typeface="Wingdings" panose="05000000000000000000" pitchFamily="2" charset="2"/>
                  <a:buChar char="Ø"/>
                </a:pPr>
                <a:r>
                  <a:rPr lang="en-US" altLang="en-US" dirty="0">
                    <a:solidFill>
                      <a:srgbClr val="C00000"/>
                    </a:solidFill>
                    <a:latin typeface="Candara" panose="020E0502030303020204" pitchFamily="34" charset="0"/>
                  </a:rPr>
                  <a:t>Absolute Mode</a:t>
                </a:r>
              </a:p>
              <a:p>
                <a:pPr lvl="2"/>
                <a:r>
                  <a:rPr lang="en-US" altLang="en-US" sz="2200" dirty="0">
                    <a:latin typeface="Candara" panose="020E0502030303020204" pitchFamily="34" charset="0"/>
                  </a:rPr>
                  <a:t>A location can be a variable name referring to the memory </a:t>
                </a:r>
              </a:p>
              <a:p>
                <a:pPr lvl="2"/>
                <a:r>
                  <a:rPr lang="en-US" altLang="en-US" sz="2200" b="1" dirty="0">
                    <a:latin typeface="Candara" panose="020E0502030303020204" pitchFamily="34" charset="0"/>
                  </a:rPr>
                  <a:t>LD </a:t>
                </a:r>
                <a14:m>
                  <m:oMath xmlns:m="http://schemas.openxmlformats.org/officeDocument/2006/math">
                    <m:r>
                      <a:rPr lang="en-US" altLang="en-US" sz="2200" b="1" i="1" dirty="0" smtClean="0">
                        <a:latin typeface="Cambria Math" panose="02040503050406030204" pitchFamily="18" charset="0"/>
                      </a:rPr>
                      <m:t>𝒓</m:t>
                    </m:r>
                    <m:r>
                      <a:rPr lang="en-US" altLang="en-US" sz="2200" b="1" i="1" baseline="-25000" dirty="0">
                        <a:latin typeface="Cambria Math" panose="02040503050406030204" pitchFamily="18" charset="0"/>
                      </a:rPr>
                      <m:t>𝟏</m:t>
                    </m:r>
                    <m:r>
                      <a:rPr lang="en-US" altLang="en-US" sz="2200" b="1" i="1" dirty="0">
                        <a:latin typeface="Cambria Math" panose="02040503050406030204" pitchFamily="18" charset="0"/>
                      </a:rPr>
                      <m:t>, </m:t>
                    </m:r>
                    <m:r>
                      <a:rPr lang="en-US" altLang="en-US" sz="2200" b="1" i="1" dirty="0">
                        <a:latin typeface="Cambria Math" panose="02040503050406030204" pitchFamily="18" charset="0"/>
                      </a:rPr>
                      <m:t>𝒙</m:t>
                    </m:r>
                  </m:oMath>
                </a14:m>
                <a:endParaRPr lang="en-US" altLang="en-US" sz="2200" b="1" dirty="0">
                  <a:latin typeface="Candara" panose="020E0502030303020204" pitchFamily="34" charset="0"/>
                </a:endParaRPr>
              </a:p>
              <a:p>
                <a:pPr lvl="1"/>
                <a:endParaRPr lang="en-US" altLang="en-US" sz="1000" dirty="0">
                  <a:latin typeface="Candara" panose="020E0502030303020204" pitchFamily="34" charset="0"/>
                </a:endParaRPr>
              </a:p>
              <a:p>
                <a:pPr lvl="1">
                  <a:buFont typeface="Wingdings" panose="05000000000000000000" pitchFamily="2" charset="2"/>
                  <a:buChar char="Ø"/>
                </a:pPr>
                <a:r>
                  <a:rPr lang="en-US" altLang="en-US" dirty="0">
                    <a:solidFill>
                      <a:srgbClr val="C00000"/>
                    </a:solidFill>
                    <a:latin typeface="Candara" panose="020E0502030303020204" pitchFamily="34" charset="0"/>
                  </a:rPr>
                  <a:t>Register mode</a:t>
                </a:r>
              </a:p>
              <a:p>
                <a:pPr lvl="2"/>
                <a:r>
                  <a:rPr lang="en-US" altLang="en-US" sz="2200" dirty="0">
                    <a:latin typeface="Candara" panose="020E0502030303020204" pitchFamily="34" charset="0"/>
                  </a:rPr>
                  <a:t>A location can be a register</a:t>
                </a:r>
              </a:p>
              <a:p>
                <a:pPr lvl="2"/>
                <a:r>
                  <a:rPr lang="en-US" altLang="en-US" sz="2200" b="1" dirty="0">
                    <a:latin typeface="Candara" panose="020E0502030303020204" pitchFamily="34" charset="0"/>
                  </a:rPr>
                  <a:t>ST </a:t>
                </a:r>
                <a14:m>
                  <m:oMath xmlns:m="http://schemas.openxmlformats.org/officeDocument/2006/math">
                    <m:r>
                      <a:rPr lang="en-US" altLang="en-US" sz="2200" b="1" i="1" dirty="0" smtClean="0">
                        <a:latin typeface="Cambria Math" panose="02040503050406030204" pitchFamily="18" charset="0"/>
                      </a:rPr>
                      <m:t>𝒙</m:t>
                    </m:r>
                    <m:r>
                      <a:rPr lang="en-US" altLang="en-US" sz="2200" b="1" i="1" dirty="0" smtClean="0">
                        <a:latin typeface="Cambria Math" panose="02040503050406030204" pitchFamily="18" charset="0"/>
                      </a:rPr>
                      <m:t>, </m:t>
                    </m:r>
                    <m:r>
                      <a:rPr lang="en-US" altLang="en-US" sz="2200" b="1" i="1" dirty="0" smtClean="0">
                        <a:latin typeface="Cambria Math" panose="02040503050406030204" pitchFamily="18" charset="0"/>
                      </a:rPr>
                      <m:t>𝒓</m:t>
                    </m:r>
                    <m:r>
                      <a:rPr lang="en-US" altLang="en-US" sz="2200" b="1" i="1" baseline="-25000" dirty="0">
                        <a:latin typeface="Cambria Math" panose="02040503050406030204" pitchFamily="18" charset="0"/>
                      </a:rPr>
                      <m:t>𝟎</m:t>
                    </m:r>
                  </m:oMath>
                </a14:m>
                <a:endParaRPr lang="en-US" altLang="en-US" sz="2200" b="1" baseline="-25000"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420586"/>
                <a:ext cx="10515600" cy="4756377"/>
              </a:xfrm>
              <a:blipFill>
                <a:blip r:embed="rId2"/>
                <a:stretch>
                  <a:fillRect l="-1043" t="-2051"/>
                </a:stretch>
              </a:blipFill>
            </p:spPr>
            <p:txBody>
              <a:bodyPr/>
              <a:lstStyle/>
              <a:p>
                <a:r>
                  <a:rPr lang="en-US">
                    <a:noFill/>
                  </a:rPr>
                  <a:t> </a:t>
                </a:r>
              </a:p>
            </p:txBody>
          </p:sp>
        </mc:Fallback>
      </mc:AlternateContent>
    </p:spTree>
    <p:extLst>
      <p:ext uri="{BB962C8B-B14F-4D97-AF65-F5344CB8AC3E}">
        <p14:creationId xmlns:p14="http://schemas.microsoft.com/office/powerpoint/2010/main" val="230766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arn(inVertic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arn(inVertical)">
                                      <p:cBhvr>
                                        <p:cTn id="12" dur="50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arn(inVertic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barn(inVertical)">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barn(inVertical)">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barn(inVertical)">
                                      <p:cBhvr>
                                        <p:cTn id="32"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Addressing Modes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45</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420586"/>
                <a:ext cx="10515600" cy="4756377"/>
              </a:xfrm>
            </p:spPr>
            <p:txBody>
              <a:bodyPr>
                <a:normAutofit lnSpcReduction="10000"/>
              </a:bodyPr>
              <a:lstStyle/>
              <a:p>
                <a:r>
                  <a:rPr lang="en-US" altLang="en-US" dirty="0">
                    <a:latin typeface="Candara" panose="020E0502030303020204" pitchFamily="34" charset="0"/>
                  </a:rPr>
                  <a:t>Addressing Modes: from which location you can find the value for an operand</a:t>
                </a:r>
              </a:p>
              <a:p>
                <a:endParaRPr lang="en-US" altLang="en-US" sz="1000" dirty="0">
                  <a:latin typeface="Candara" panose="020E0502030303020204" pitchFamily="34" charset="0"/>
                </a:endParaRPr>
              </a:p>
              <a:p>
                <a:pPr lvl="1">
                  <a:buFont typeface="Wingdings" panose="05000000000000000000" pitchFamily="2" charset="2"/>
                  <a:buChar char="Ø"/>
                </a:pPr>
                <a:r>
                  <a:rPr lang="en-US" altLang="en-US" sz="2800" dirty="0">
                    <a:solidFill>
                      <a:srgbClr val="C00000"/>
                    </a:solidFill>
                    <a:latin typeface="Candara" panose="020E0502030303020204" pitchFamily="34" charset="0"/>
                  </a:rPr>
                  <a:t>Indexed Mode</a:t>
                </a:r>
              </a:p>
              <a:p>
                <a:pPr lvl="2"/>
                <a:r>
                  <a:rPr lang="en-US" altLang="en-US" sz="2400" dirty="0">
                    <a:latin typeface="Candara" panose="020E0502030303020204" pitchFamily="34" charset="0"/>
                  </a:rPr>
                  <a:t>A location can be an indexed address </a:t>
                </a:r>
              </a:p>
              <a:p>
                <a:pPr lvl="2"/>
                <a14:m>
                  <m:oMath xmlns:m="http://schemas.openxmlformats.org/officeDocument/2006/math">
                    <m:r>
                      <a:rPr lang="en-US" altLang="en-US" sz="2400" b="1" i="1" dirty="0" smtClean="0">
                        <a:latin typeface="Cambria Math" panose="02040503050406030204" pitchFamily="18" charset="0"/>
                      </a:rPr>
                      <m:t>𝒂</m:t>
                    </m:r>
                    <m:r>
                      <a:rPr lang="en-US" altLang="en-US" sz="2400" b="1" i="1" dirty="0" smtClean="0">
                        <a:latin typeface="Cambria Math" panose="02040503050406030204" pitchFamily="18" charset="0"/>
                      </a:rPr>
                      <m:t>(</m:t>
                    </m:r>
                    <m:r>
                      <a:rPr lang="en-US" altLang="en-US" sz="2400" b="1" i="1" dirty="0" smtClean="0">
                        <a:latin typeface="Cambria Math" panose="02040503050406030204" pitchFamily="18" charset="0"/>
                      </a:rPr>
                      <m:t>𝒓</m:t>
                    </m:r>
                    <m:r>
                      <a:rPr lang="en-US" altLang="en-US" sz="2400" b="1" i="1" dirty="0" smtClean="0">
                        <a:latin typeface="Cambria Math" panose="02040503050406030204" pitchFamily="18" charset="0"/>
                      </a:rPr>
                      <m:t>)</m:t>
                    </m:r>
                  </m:oMath>
                </a14:m>
                <a:r>
                  <a:rPr lang="en-US" altLang="en-US" sz="2400" dirty="0">
                    <a:latin typeface="Candara" panose="020E0502030303020204" pitchFamily="34" charset="0"/>
                  </a:rPr>
                  <a:t>: </a:t>
                </a:r>
                <a14:m>
                  <m:oMath xmlns:m="http://schemas.openxmlformats.org/officeDocument/2006/math">
                    <m:r>
                      <a:rPr lang="en-US" altLang="en-US" sz="2400" i="1" dirty="0" smtClean="0">
                        <a:latin typeface="Cambria Math" panose="02040503050406030204" pitchFamily="18" charset="0"/>
                      </a:rPr>
                      <m:t>𝑎</m:t>
                    </m:r>
                  </m:oMath>
                </a14:m>
                <a:r>
                  <a:rPr lang="en-US" altLang="en-US" sz="2400" dirty="0">
                    <a:latin typeface="Candara" panose="020E0502030303020204" pitchFamily="34" charset="0"/>
                  </a:rPr>
                  <a:t> is a variable and </a:t>
                </a:r>
                <a14:m>
                  <m:oMath xmlns:m="http://schemas.openxmlformats.org/officeDocument/2006/math">
                    <m:r>
                      <a:rPr lang="en-US" altLang="en-US" sz="2400" i="1" dirty="0" smtClean="0">
                        <a:latin typeface="Cambria Math" panose="02040503050406030204" pitchFamily="18" charset="0"/>
                      </a:rPr>
                      <m:t>𝑟</m:t>
                    </m:r>
                  </m:oMath>
                </a14:m>
                <a:r>
                  <a:rPr lang="en-US" altLang="en-US" sz="2400" dirty="0">
                    <a:latin typeface="Candara" panose="020E0502030303020204" pitchFamily="34" charset="0"/>
                  </a:rPr>
                  <a:t> is a register.</a:t>
                </a:r>
              </a:p>
              <a:p>
                <a:pPr lvl="3"/>
                <a:r>
                  <a:rPr lang="en-US" altLang="en-US" sz="2400" dirty="0">
                    <a:latin typeface="Candara" panose="020E0502030303020204" pitchFamily="34" charset="0"/>
                  </a:rPr>
                  <a:t>Location is computed by adding the l – value of a to the value in register in r.</a:t>
                </a:r>
              </a:p>
              <a:p>
                <a:pPr lvl="3"/>
                <a:r>
                  <a:rPr lang="en-US" altLang="en-US" sz="2400" b="1" dirty="0">
                    <a:latin typeface="Candara" panose="020E0502030303020204" pitchFamily="34" charset="0"/>
                  </a:rPr>
                  <a:t>LD </a:t>
                </a:r>
                <a14:m>
                  <m:oMath xmlns:m="http://schemas.openxmlformats.org/officeDocument/2006/math">
                    <m:r>
                      <a:rPr lang="en-US" altLang="en-US" sz="2400" b="1" i="0" dirty="0" smtClean="0">
                        <a:latin typeface="Cambria Math" panose="02040503050406030204" pitchFamily="18" charset="0"/>
                      </a:rPr>
                      <m:t>𝐑𝟏</m:t>
                    </m:r>
                    <m:r>
                      <a:rPr lang="en-US" altLang="en-US" sz="2400" b="1" i="0" dirty="0" smtClean="0">
                        <a:latin typeface="Cambria Math" panose="02040503050406030204" pitchFamily="18" charset="0"/>
                      </a:rPr>
                      <m:t>, </m:t>
                    </m:r>
                    <m:r>
                      <a:rPr lang="en-US" altLang="en-US" sz="2400" b="1" i="0" dirty="0" smtClean="0">
                        <a:latin typeface="Cambria Math" panose="02040503050406030204" pitchFamily="18" charset="0"/>
                      </a:rPr>
                      <m:t>𝐚</m:t>
                    </m:r>
                    <m:r>
                      <a:rPr lang="en-US" altLang="en-US" sz="2400" b="1" i="0" dirty="0" smtClean="0">
                        <a:latin typeface="Cambria Math" panose="02040503050406030204" pitchFamily="18" charset="0"/>
                      </a:rPr>
                      <m:t>(</m:t>
                    </m:r>
                    <m:r>
                      <a:rPr lang="en-US" altLang="en-US" sz="2400" b="1" i="0" dirty="0" smtClean="0">
                        <a:latin typeface="Cambria Math" panose="02040503050406030204" pitchFamily="18" charset="0"/>
                      </a:rPr>
                      <m:t>𝐑𝟐</m:t>
                    </m:r>
                    <m:r>
                      <a:rPr lang="en-US" altLang="en-US" sz="2400" b="1" i="0" dirty="0" smtClean="0">
                        <a:latin typeface="Cambria Math" panose="02040503050406030204" pitchFamily="18" charset="0"/>
                      </a:rPr>
                      <m:t>)</m:t>
                    </m:r>
                  </m:oMath>
                </a14:m>
                <a:endParaRPr lang="en-US" altLang="en-US" sz="2400" b="1" dirty="0">
                  <a:latin typeface="Candara" panose="020E0502030303020204" pitchFamily="34" charset="0"/>
                </a:endParaRPr>
              </a:p>
              <a:p>
                <a:pPr lvl="3"/>
                <a14:m>
                  <m:oMath xmlns:m="http://schemas.openxmlformats.org/officeDocument/2006/math">
                    <m:r>
                      <m:rPr>
                        <m:sty m:val="p"/>
                      </m:rPr>
                      <a:rPr lang="en-US" altLang="en-US" sz="2400" i="0" dirty="0" smtClean="0">
                        <a:latin typeface="Cambria Math" panose="02040503050406030204" pitchFamily="18" charset="0"/>
                      </a:rPr>
                      <m:t>R</m:t>
                    </m:r>
                    <m:r>
                      <a:rPr lang="en-US" altLang="en-US" sz="2400" b="0" i="0" dirty="0" smtClean="0">
                        <a:latin typeface="Cambria Math" panose="02040503050406030204" pitchFamily="18" charset="0"/>
                      </a:rPr>
                      <m:t>1</m:t>
                    </m:r>
                    <m:r>
                      <a:rPr lang="en-US" altLang="en-US" sz="2400" i="1" dirty="0" smtClean="0">
                        <a:latin typeface="Cambria Math" panose="02040503050406030204" pitchFamily="18" charset="0"/>
                      </a:rPr>
                      <m:t> = </m:t>
                    </m:r>
                    <m:r>
                      <a:rPr lang="en-US" altLang="en-US" sz="2400" i="1" dirty="0" smtClean="0">
                        <a:latin typeface="Cambria Math" panose="02040503050406030204" pitchFamily="18" charset="0"/>
                      </a:rPr>
                      <m:t>𝑐𝑜𝑛𝑡𝑒𝑛𝑡𝑠</m:t>
                    </m:r>
                    <m:r>
                      <a:rPr lang="en-US" altLang="en-US" sz="2400" i="0" dirty="0" smtClean="0">
                        <a:latin typeface="Cambria Math" panose="02040503050406030204" pitchFamily="18" charset="0"/>
                      </a:rPr>
                      <m:t> </m:t>
                    </m:r>
                    <m:r>
                      <a:rPr lang="en-US" altLang="en-US" sz="2400" i="1" dirty="0" smtClean="0">
                        <a:latin typeface="Cambria Math" panose="02040503050406030204" pitchFamily="18" charset="0"/>
                      </a:rPr>
                      <m:t>(</m:t>
                    </m:r>
                    <m:r>
                      <m:rPr>
                        <m:sty m:val="p"/>
                      </m:rPr>
                      <a:rPr lang="en-US" altLang="en-US" sz="2400" i="0" dirty="0" smtClean="0">
                        <a:latin typeface="Cambria Math" panose="02040503050406030204" pitchFamily="18" charset="0"/>
                      </a:rPr>
                      <m:t>a</m:t>
                    </m:r>
                    <m:r>
                      <a:rPr lang="en-US" altLang="en-US" sz="2400" i="1" dirty="0" smtClean="0">
                        <a:latin typeface="Cambria Math" panose="02040503050406030204" pitchFamily="18" charset="0"/>
                      </a:rPr>
                      <m:t> + </m:t>
                    </m:r>
                    <m:r>
                      <m:rPr>
                        <m:sty m:val="p"/>
                      </m:rPr>
                      <a:rPr lang="en-US" altLang="en-US" sz="2400" i="0" dirty="0" smtClean="0">
                        <a:latin typeface="Cambria Math" panose="02040503050406030204" pitchFamily="18" charset="0"/>
                      </a:rPr>
                      <m:t>contents</m:t>
                    </m:r>
                    <m:r>
                      <a:rPr lang="en-US" altLang="en-US" sz="2400" i="1" dirty="0" smtClean="0">
                        <a:latin typeface="Cambria Math" panose="02040503050406030204" pitchFamily="18" charset="0"/>
                      </a:rPr>
                      <m:t> (</m:t>
                    </m:r>
                    <m:r>
                      <m:rPr>
                        <m:sty m:val="p"/>
                      </m:rPr>
                      <a:rPr lang="en-US" altLang="en-US" sz="2400" i="0" dirty="0" smtClean="0">
                        <a:latin typeface="Cambria Math" panose="02040503050406030204" pitchFamily="18" charset="0"/>
                      </a:rPr>
                      <m:t>R</m:t>
                    </m:r>
                    <m:r>
                      <a:rPr lang="en-US" altLang="en-US" sz="2400" b="0" i="0" dirty="0" smtClean="0">
                        <a:latin typeface="Cambria Math" panose="02040503050406030204" pitchFamily="18" charset="0"/>
                      </a:rPr>
                      <m:t>2</m:t>
                    </m:r>
                    <m:r>
                      <a:rPr lang="en-US" altLang="en-US" sz="2400" i="1" dirty="0" smtClean="0">
                        <a:latin typeface="Cambria Math" panose="02040503050406030204" pitchFamily="18" charset="0"/>
                      </a:rPr>
                      <m:t>))</m:t>
                    </m:r>
                  </m:oMath>
                </a14:m>
                <a:endParaRPr lang="en-US" altLang="en-US" sz="2400" dirty="0">
                  <a:latin typeface="Candara" panose="020E0502030303020204" pitchFamily="34" charset="0"/>
                </a:endParaRPr>
              </a:p>
              <a:p>
                <a:pPr lvl="2"/>
                <a14:m>
                  <m:oMath xmlns:m="http://schemas.openxmlformats.org/officeDocument/2006/math">
                    <m:r>
                      <a:rPr lang="en-US" altLang="en-US" sz="2400" b="1" i="1" dirty="0" smtClean="0">
                        <a:latin typeface="Cambria Math" panose="02040503050406030204" pitchFamily="18" charset="0"/>
                      </a:rPr>
                      <m:t>𝒄</m:t>
                    </m:r>
                    <m:r>
                      <a:rPr lang="en-US" altLang="en-US" sz="2400" b="1" i="1" dirty="0" smtClean="0">
                        <a:latin typeface="Cambria Math" panose="02040503050406030204" pitchFamily="18" charset="0"/>
                      </a:rPr>
                      <m:t>(</m:t>
                    </m:r>
                    <m:r>
                      <a:rPr lang="en-US" altLang="en-US" sz="2400" b="1" i="1" dirty="0" smtClean="0">
                        <a:latin typeface="Cambria Math" panose="02040503050406030204" pitchFamily="18" charset="0"/>
                      </a:rPr>
                      <m:t>𝒓</m:t>
                    </m:r>
                    <m:r>
                      <a:rPr lang="en-US" altLang="en-US" sz="2400" b="1" i="1" dirty="0" smtClean="0">
                        <a:latin typeface="Cambria Math" panose="02040503050406030204" pitchFamily="18" charset="0"/>
                      </a:rPr>
                      <m:t>)</m:t>
                    </m:r>
                  </m:oMath>
                </a14:m>
                <a:r>
                  <a:rPr lang="en-US" altLang="en-US" sz="2400" dirty="0">
                    <a:latin typeface="Candara" panose="020E0502030303020204" pitchFamily="34" charset="0"/>
                  </a:rPr>
                  <a:t>: here </a:t>
                </a:r>
                <a14:m>
                  <m:oMath xmlns:m="http://schemas.openxmlformats.org/officeDocument/2006/math">
                    <m:r>
                      <a:rPr lang="en-US" altLang="en-US" sz="2400" i="1" dirty="0" smtClean="0">
                        <a:latin typeface="Cambria Math" panose="02040503050406030204" pitchFamily="18" charset="0"/>
                      </a:rPr>
                      <m:t>𝑐</m:t>
                    </m:r>
                  </m:oMath>
                </a14:m>
                <a:r>
                  <a:rPr lang="en-US" altLang="en-US" sz="2400" dirty="0">
                    <a:latin typeface="Candara" panose="020E0502030303020204" pitchFamily="34" charset="0"/>
                  </a:rPr>
                  <a:t> is a constant and </a:t>
                </a:r>
                <a14:m>
                  <m:oMath xmlns:m="http://schemas.openxmlformats.org/officeDocument/2006/math">
                    <m:r>
                      <a:rPr lang="en-US" altLang="en-US" sz="2400" i="1" dirty="0" smtClean="0">
                        <a:latin typeface="Cambria Math" panose="02040503050406030204" pitchFamily="18" charset="0"/>
                      </a:rPr>
                      <m:t>𝑟</m:t>
                    </m:r>
                  </m:oMath>
                </a14:m>
                <a:r>
                  <a:rPr lang="en-US" altLang="en-US" sz="2400" dirty="0">
                    <a:latin typeface="Candara" panose="020E0502030303020204" pitchFamily="34" charset="0"/>
                  </a:rPr>
                  <a:t> is a register</a:t>
                </a:r>
              </a:p>
              <a:p>
                <a:pPr lvl="3"/>
                <a:r>
                  <a:rPr lang="en-US" altLang="en-US" sz="2400" b="1" dirty="0">
                    <a:latin typeface="Candara" panose="020E0502030303020204" pitchFamily="34" charset="0"/>
                  </a:rPr>
                  <a:t>LD </a:t>
                </a:r>
                <a14:m>
                  <m:oMath xmlns:m="http://schemas.openxmlformats.org/officeDocument/2006/math">
                    <m:r>
                      <a:rPr lang="en-US" altLang="en-US" sz="2400" b="1" i="0" dirty="0" smtClean="0">
                        <a:latin typeface="Cambria Math" panose="02040503050406030204" pitchFamily="18" charset="0"/>
                      </a:rPr>
                      <m:t>𝐑𝟏</m:t>
                    </m:r>
                    <m:r>
                      <a:rPr lang="en-US" altLang="en-US" sz="2400" b="1" i="0" dirty="0" smtClean="0">
                        <a:latin typeface="Cambria Math" panose="02040503050406030204" pitchFamily="18" charset="0"/>
                      </a:rPr>
                      <m:t>, </m:t>
                    </m:r>
                    <m:r>
                      <a:rPr lang="en-US" altLang="en-US" sz="2400" b="1" i="0" dirty="0" smtClean="0">
                        <a:latin typeface="Cambria Math" panose="02040503050406030204" pitchFamily="18" charset="0"/>
                      </a:rPr>
                      <m:t>𝟏𝟎𝟎</m:t>
                    </m:r>
                    <m:r>
                      <a:rPr lang="en-US" altLang="en-US" sz="2400" b="1" i="0" dirty="0" smtClean="0">
                        <a:latin typeface="Cambria Math" panose="02040503050406030204" pitchFamily="18" charset="0"/>
                      </a:rPr>
                      <m:t>(</m:t>
                    </m:r>
                    <m:r>
                      <a:rPr lang="en-US" altLang="en-US" sz="2400" b="1" i="0" dirty="0" smtClean="0">
                        <a:latin typeface="Cambria Math" panose="02040503050406030204" pitchFamily="18" charset="0"/>
                      </a:rPr>
                      <m:t>𝐑𝟐</m:t>
                    </m:r>
                    <m:r>
                      <a:rPr lang="en-US" altLang="en-US" sz="2400" b="1" i="0" dirty="0" smtClean="0">
                        <a:latin typeface="Cambria Math" panose="02040503050406030204" pitchFamily="18" charset="0"/>
                      </a:rPr>
                      <m:t>)</m:t>
                    </m:r>
                  </m:oMath>
                </a14:m>
                <a:endParaRPr lang="en-US" altLang="en-US" sz="2400" b="1" dirty="0">
                  <a:latin typeface="Candara" panose="020E0502030303020204" pitchFamily="34" charset="0"/>
                </a:endParaRPr>
              </a:p>
              <a:p>
                <a:pPr lvl="3"/>
                <a14:m>
                  <m:oMath xmlns:m="http://schemas.openxmlformats.org/officeDocument/2006/math">
                    <m:r>
                      <m:rPr>
                        <m:sty m:val="p"/>
                      </m:rPr>
                      <a:rPr lang="en-US" altLang="en-US" sz="2400" i="0" dirty="0" smtClean="0">
                        <a:latin typeface="Cambria Math" panose="02040503050406030204" pitchFamily="18" charset="0"/>
                      </a:rPr>
                      <m:t>R</m:t>
                    </m:r>
                    <m:r>
                      <a:rPr lang="en-US" altLang="en-US" sz="2400" b="0" i="0" dirty="0" smtClean="0">
                        <a:latin typeface="Cambria Math" panose="02040503050406030204" pitchFamily="18" charset="0"/>
                      </a:rPr>
                      <m:t>1</m:t>
                    </m:r>
                    <m:r>
                      <a:rPr lang="en-US" altLang="en-US" sz="2400" i="1" dirty="0" smtClean="0">
                        <a:latin typeface="Cambria Math" panose="02040503050406030204" pitchFamily="18" charset="0"/>
                      </a:rPr>
                      <m:t> = </m:t>
                    </m:r>
                    <m:r>
                      <a:rPr lang="en-US" altLang="en-US" sz="2400" i="1" dirty="0" smtClean="0">
                        <a:latin typeface="Cambria Math" panose="02040503050406030204" pitchFamily="18" charset="0"/>
                      </a:rPr>
                      <m:t>𝑐𝑜𝑛𝑡𝑒𝑛𝑡𝑠</m:t>
                    </m:r>
                    <m:r>
                      <a:rPr lang="en-US" altLang="en-US" sz="2400" i="1" dirty="0" smtClean="0">
                        <a:latin typeface="Cambria Math" panose="02040503050406030204" pitchFamily="18" charset="0"/>
                      </a:rPr>
                      <m:t>(100 + </m:t>
                    </m:r>
                    <m:r>
                      <a:rPr lang="en-US" altLang="en-US" sz="2400" i="1" dirty="0" smtClean="0">
                        <a:latin typeface="Cambria Math" panose="02040503050406030204" pitchFamily="18" charset="0"/>
                      </a:rPr>
                      <m:t>𝑐𝑜𝑛𝑡𝑒𝑛𝑡𝑠</m:t>
                    </m:r>
                    <m:r>
                      <a:rPr lang="en-US" altLang="en-US" sz="2400" i="1" dirty="0" smtClean="0">
                        <a:latin typeface="Cambria Math" panose="02040503050406030204" pitchFamily="18" charset="0"/>
                      </a:rPr>
                      <m:t>(</m:t>
                    </m:r>
                    <m:r>
                      <m:rPr>
                        <m:sty m:val="p"/>
                      </m:rPr>
                      <a:rPr lang="en-US" altLang="en-US" sz="2400" i="0" dirty="0" smtClean="0">
                        <a:latin typeface="Cambria Math" panose="02040503050406030204" pitchFamily="18" charset="0"/>
                      </a:rPr>
                      <m:t>R</m:t>
                    </m:r>
                    <m:r>
                      <a:rPr lang="en-US" altLang="en-US" sz="2400" b="0" i="0" dirty="0" smtClean="0">
                        <a:latin typeface="Cambria Math" panose="02040503050406030204" pitchFamily="18" charset="0"/>
                      </a:rPr>
                      <m:t>2</m:t>
                    </m:r>
                    <m:r>
                      <a:rPr lang="en-US" altLang="en-US" sz="2400" i="1" dirty="0" smtClean="0">
                        <a:latin typeface="Cambria Math" panose="02040503050406030204" pitchFamily="18" charset="0"/>
                      </a:rPr>
                      <m:t>))</m:t>
                    </m:r>
                  </m:oMath>
                </a14:m>
                <a:endParaRPr lang="en-US" altLang="en-US" sz="2400"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420586"/>
                <a:ext cx="10515600" cy="4756377"/>
              </a:xfrm>
              <a:blipFill>
                <a:blip r:embed="rId2"/>
                <a:stretch>
                  <a:fillRect l="-1043" t="-2821" b="-128"/>
                </a:stretch>
              </a:blipFill>
            </p:spPr>
            <p:txBody>
              <a:bodyPr/>
              <a:lstStyle/>
              <a:p>
                <a:r>
                  <a:rPr lang="en-US">
                    <a:noFill/>
                  </a:rPr>
                  <a:t> </a:t>
                </a:r>
              </a:p>
            </p:txBody>
          </p:sp>
        </mc:Fallback>
      </mc:AlternateContent>
    </p:spTree>
    <p:extLst>
      <p:ext uri="{BB962C8B-B14F-4D97-AF65-F5344CB8AC3E}">
        <p14:creationId xmlns:p14="http://schemas.microsoft.com/office/powerpoint/2010/main" val="383877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arn(inVertic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arn(inVertical)">
                                      <p:cBhvr>
                                        <p:cTn id="12" dur="50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arn(inVertic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arn(inVertical)">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arn(inVertical)">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barn(inVertical)">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barn(inVertical)">
                                      <p:cBhvr>
                                        <p:cTn id="37" dur="500"/>
                                        <p:tgtEl>
                                          <p:spTgt spid="6">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barn(inVertical)">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barn(inVertical)">
                                      <p:cBhvr>
                                        <p:cTn id="4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Addressing Modes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46</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420586"/>
                <a:ext cx="10515600" cy="4756377"/>
              </a:xfrm>
            </p:spPr>
            <p:txBody>
              <a:bodyPr>
                <a:normAutofit/>
              </a:bodyPr>
              <a:lstStyle/>
              <a:p>
                <a:r>
                  <a:rPr lang="en-US" altLang="en-US" dirty="0">
                    <a:latin typeface="Candara" panose="020E0502030303020204" pitchFamily="34" charset="0"/>
                  </a:rPr>
                  <a:t>Addressing Modes: from which location you can find the value for an operand</a:t>
                </a:r>
              </a:p>
              <a:p>
                <a:endParaRPr lang="en-US" altLang="en-US" sz="1000" dirty="0">
                  <a:latin typeface="Candara" panose="020E0502030303020204" pitchFamily="34" charset="0"/>
                </a:endParaRPr>
              </a:p>
              <a:p>
                <a:pPr lvl="1">
                  <a:lnSpc>
                    <a:spcPct val="80000"/>
                  </a:lnSpc>
                  <a:buFont typeface="Wingdings" panose="05000000000000000000" pitchFamily="2" charset="2"/>
                  <a:buChar char="Ø"/>
                </a:pPr>
                <a:r>
                  <a:rPr lang="en-US" altLang="en-US" dirty="0">
                    <a:solidFill>
                      <a:srgbClr val="C00000"/>
                    </a:solidFill>
                    <a:latin typeface="Candara" panose="020E0502030303020204" pitchFamily="34" charset="0"/>
                  </a:rPr>
                  <a:t>Indirect modes</a:t>
                </a:r>
                <a:r>
                  <a:rPr lang="en-US" altLang="en-US" dirty="0">
                    <a:latin typeface="Candara" panose="020E0502030303020204" pitchFamily="34" charset="0"/>
                  </a:rPr>
                  <a:t>: </a:t>
                </a:r>
              </a:p>
              <a:p>
                <a:pPr lvl="2">
                  <a:lnSpc>
                    <a:spcPct val="80000"/>
                  </a:lnSpc>
                </a:pPr>
                <a:r>
                  <a:rPr lang="en-US" altLang="en-US" sz="2200" dirty="0">
                    <a:latin typeface="Candara" panose="020E0502030303020204" pitchFamily="34" charset="0"/>
                  </a:rPr>
                  <a:t>*</a:t>
                </a:r>
                <a14:m>
                  <m:oMath xmlns:m="http://schemas.openxmlformats.org/officeDocument/2006/math">
                    <m:r>
                      <a:rPr lang="en-US" altLang="en-US" sz="2200" i="1" dirty="0" smtClean="0">
                        <a:latin typeface="Cambria Math" panose="02040503050406030204" pitchFamily="18" charset="0"/>
                      </a:rPr>
                      <m:t>𝑟</m:t>
                    </m:r>
                  </m:oMath>
                </a14:m>
                <a:endParaRPr lang="en-US" altLang="en-US" sz="2200" dirty="0">
                  <a:latin typeface="Candara" panose="020E0502030303020204" pitchFamily="34" charset="0"/>
                </a:endParaRPr>
              </a:p>
              <a:p>
                <a:pPr lvl="3">
                  <a:lnSpc>
                    <a:spcPct val="80000"/>
                  </a:lnSpc>
                </a:pPr>
                <a14:m>
                  <m:oMath xmlns:m="http://schemas.openxmlformats.org/officeDocument/2006/math">
                    <m:r>
                      <m:rPr>
                        <m:sty m:val="p"/>
                      </m:rPr>
                      <a:rPr lang="en-US" altLang="en-US" sz="2200" i="0" dirty="0" smtClean="0">
                        <a:latin typeface="Cambria Math" panose="02040503050406030204" pitchFamily="18" charset="0"/>
                      </a:rPr>
                      <m:t>LD</m:t>
                    </m:r>
                    <m:r>
                      <a:rPr lang="en-US" altLang="en-US" sz="2200" i="0" dirty="0" smtClean="0">
                        <a:latin typeface="Cambria Math" panose="02040503050406030204" pitchFamily="18" charset="0"/>
                      </a:rPr>
                      <m:t> </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m:t>
                    </m:r>
                    <m:r>
                      <m:rPr>
                        <m:nor/>
                      </m:rPr>
                      <a:rPr lang="en-US" altLang="en-US" sz="2200" dirty="0">
                        <a:latin typeface="Candara" panose="020E0502030303020204" pitchFamily="34" charset="0"/>
                      </a:rPr>
                      <m:t>∗</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2</m:t>
                    </m:r>
                  </m:oMath>
                </a14:m>
                <a:endParaRPr lang="en-US" altLang="en-US" sz="2200" dirty="0">
                  <a:latin typeface="Candara" panose="020E0502030303020204" pitchFamily="34" charset="0"/>
                </a:endParaRPr>
              </a:p>
              <a:p>
                <a:pPr lvl="4">
                  <a:lnSpc>
                    <a:spcPct val="80000"/>
                  </a:lnSpc>
                </a:pPr>
                <a14:m>
                  <m:oMath xmlns:m="http://schemas.openxmlformats.org/officeDocument/2006/math">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2</m:t>
                    </m:r>
                    <m:r>
                      <a:rPr lang="en-US" altLang="en-US" sz="2200" i="1" dirty="0" smtClean="0">
                        <a:latin typeface="Cambria Math" panose="02040503050406030204" pitchFamily="18" charset="0"/>
                      </a:rPr>
                      <m:t>))</m:t>
                    </m:r>
                  </m:oMath>
                </a14:m>
                <a:endParaRPr lang="en-US" altLang="en-US" sz="2200" dirty="0">
                  <a:latin typeface="Candara" panose="020E0502030303020204" pitchFamily="34" charset="0"/>
                </a:endParaRPr>
              </a:p>
              <a:p>
                <a:pPr lvl="2">
                  <a:lnSpc>
                    <a:spcPct val="80000"/>
                  </a:lnSpc>
                </a:pPr>
                <a:r>
                  <a:rPr lang="en-US" altLang="en-US" sz="2200" dirty="0">
                    <a:latin typeface="Candara" panose="020E0502030303020204" pitchFamily="34" charset="0"/>
                  </a:rPr>
                  <a:t>*</a:t>
                </a:r>
                <a14:m>
                  <m:oMath xmlns:m="http://schemas.openxmlformats.org/officeDocument/2006/math">
                    <m:r>
                      <a:rPr lang="en-US" altLang="en-US" sz="2200" i="1" dirty="0" smtClean="0">
                        <a:latin typeface="Cambria Math" panose="02040503050406030204" pitchFamily="18" charset="0"/>
                      </a:rPr>
                      <m:t>𝑎</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𝑟</m:t>
                    </m:r>
                    <m:r>
                      <a:rPr lang="en-US" altLang="en-US" sz="2200" i="1" dirty="0" smtClean="0">
                        <a:latin typeface="Cambria Math" panose="02040503050406030204" pitchFamily="18" charset="0"/>
                      </a:rPr>
                      <m:t>)</m:t>
                    </m:r>
                  </m:oMath>
                </a14:m>
                <a:endParaRPr lang="en-US" altLang="en-US" sz="2200" dirty="0">
                  <a:latin typeface="Candara" panose="020E0502030303020204" pitchFamily="34" charset="0"/>
                </a:endParaRPr>
              </a:p>
              <a:p>
                <a:pPr lvl="3">
                  <a:lnSpc>
                    <a:spcPct val="80000"/>
                  </a:lnSpc>
                </a:pPr>
                <a14:m>
                  <m:oMath xmlns:m="http://schemas.openxmlformats.org/officeDocument/2006/math">
                    <m:r>
                      <m:rPr>
                        <m:sty m:val="p"/>
                      </m:rPr>
                      <a:rPr lang="en-US" altLang="en-US" sz="2200" i="0" dirty="0" smtClean="0">
                        <a:latin typeface="Cambria Math" panose="02040503050406030204" pitchFamily="18" charset="0"/>
                      </a:rPr>
                      <m:t>LD</m:t>
                    </m:r>
                    <m:r>
                      <a:rPr lang="en-US" altLang="en-US" sz="2200" i="0" dirty="0" smtClean="0">
                        <a:latin typeface="Cambria Math" panose="02040503050406030204" pitchFamily="18" charset="0"/>
                      </a:rPr>
                      <m:t> </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0,</m:t>
                    </m:r>
                    <m:r>
                      <m:rPr>
                        <m:nor/>
                      </m:rPr>
                      <a:rPr lang="en-US" altLang="en-US" sz="2200" dirty="0">
                        <a:latin typeface="Candara" panose="020E0502030303020204" pitchFamily="34" charset="0"/>
                      </a:rPr>
                      <m:t>∗</m:t>
                    </m:r>
                    <m:r>
                      <m:rPr>
                        <m:sty m:val="p"/>
                      </m:rPr>
                      <a:rPr lang="en-US" altLang="en-US" sz="2200" i="0" dirty="0" smtClean="0">
                        <a:latin typeface="Cambria Math" panose="02040503050406030204" pitchFamily="18" charset="0"/>
                      </a:rPr>
                      <m:t>x</m:t>
                    </m:r>
                    <m:r>
                      <a:rPr lang="en-US" altLang="en-US" sz="2200" i="0" dirty="0" smtClean="0">
                        <a:latin typeface="Cambria Math" panose="02040503050406030204" pitchFamily="18" charset="0"/>
                      </a:rPr>
                      <m:t>(</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m:t>
                    </m:r>
                  </m:oMath>
                </a14:m>
                <a:endParaRPr lang="en-US" altLang="en-US" sz="2200" dirty="0">
                  <a:latin typeface="Candara" panose="020E0502030303020204" pitchFamily="34" charset="0"/>
                </a:endParaRPr>
              </a:p>
              <a:p>
                <a:pPr lvl="4">
                  <a:lnSpc>
                    <a:spcPct val="80000"/>
                  </a:lnSpc>
                </a:pPr>
                <a14:m>
                  <m:oMath xmlns:m="http://schemas.openxmlformats.org/officeDocument/2006/math">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0</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m:t>
                    </m:r>
                    <m:r>
                      <m:rPr>
                        <m:sty m:val="p"/>
                      </m:rPr>
                      <a:rPr lang="en-US" altLang="en-US" sz="2200" i="0" dirty="0" smtClean="0">
                        <a:latin typeface="Cambria Math" panose="02040503050406030204" pitchFamily="18" charset="0"/>
                      </a:rPr>
                      <m:t>x</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m:t>
                    </m:r>
                    <m:r>
                      <a:rPr lang="en-US" altLang="en-US" sz="2200" i="1" dirty="0" smtClean="0">
                        <a:latin typeface="Cambria Math" panose="02040503050406030204" pitchFamily="18" charset="0"/>
                      </a:rPr>
                      <m:t>)))</m:t>
                    </m:r>
                  </m:oMath>
                </a14:m>
                <a:endParaRPr lang="en-US" altLang="en-US" sz="2200" dirty="0">
                  <a:latin typeface="Candara" panose="020E0502030303020204" pitchFamily="34" charset="0"/>
                </a:endParaRPr>
              </a:p>
              <a:p>
                <a:pPr lvl="2">
                  <a:lnSpc>
                    <a:spcPct val="80000"/>
                  </a:lnSpc>
                </a:pPr>
                <a:r>
                  <a:rPr lang="en-US" altLang="en-US" sz="2200" dirty="0">
                    <a:latin typeface="Candara" panose="020E0502030303020204" pitchFamily="34" charset="0"/>
                  </a:rPr>
                  <a:t>*</a:t>
                </a:r>
                <a14:m>
                  <m:oMath xmlns:m="http://schemas.openxmlformats.org/officeDocument/2006/math">
                    <m:r>
                      <a:rPr lang="en-US" altLang="en-US" sz="2200" i="1" dirty="0" smtClean="0">
                        <a:latin typeface="Cambria Math" panose="02040503050406030204" pitchFamily="18" charset="0"/>
                      </a:rPr>
                      <m:t>𝑐</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𝑟</m:t>
                    </m:r>
                    <m:r>
                      <a:rPr lang="en-US" altLang="en-US" sz="2200" i="1" dirty="0" smtClean="0">
                        <a:latin typeface="Cambria Math" panose="02040503050406030204" pitchFamily="18" charset="0"/>
                      </a:rPr>
                      <m:t>)</m:t>
                    </m:r>
                  </m:oMath>
                </a14:m>
                <a:endParaRPr lang="en-US" altLang="en-US" sz="2200" dirty="0">
                  <a:latin typeface="Candara" panose="020E0502030303020204" pitchFamily="34" charset="0"/>
                </a:endParaRPr>
              </a:p>
              <a:p>
                <a:pPr lvl="3">
                  <a:lnSpc>
                    <a:spcPct val="80000"/>
                  </a:lnSpc>
                </a:pPr>
                <a14:m>
                  <m:oMath xmlns:m="http://schemas.openxmlformats.org/officeDocument/2006/math">
                    <m:r>
                      <m:rPr>
                        <m:sty m:val="p"/>
                      </m:rPr>
                      <a:rPr lang="en-US" altLang="en-US" sz="2200" i="0" dirty="0" smtClean="0">
                        <a:latin typeface="Cambria Math" panose="02040503050406030204" pitchFamily="18" charset="0"/>
                      </a:rPr>
                      <m:t>LD</m:t>
                    </m:r>
                    <m:r>
                      <a:rPr lang="en-US" altLang="en-US" sz="2200" i="0" dirty="0" smtClean="0">
                        <a:latin typeface="Cambria Math" panose="02040503050406030204" pitchFamily="18" charset="0"/>
                      </a:rPr>
                      <m:t> </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0,</m:t>
                    </m:r>
                    <m:r>
                      <m:rPr>
                        <m:nor/>
                      </m:rPr>
                      <a:rPr lang="en-US" altLang="en-US" sz="2200" dirty="0">
                        <a:latin typeface="Candara" panose="020E0502030303020204" pitchFamily="34" charset="0"/>
                      </a:rPr>
                      <m:t>∗</m:t>
                    </m:r>
                    <m:r>
                      <a:rPr lang="en-US" altLang="en-US" sz="2200" i="0" dirty="0" smtClean="0">
                        <a:latin typeface="Cambria Math" panose="02040503050406030204" pitchFamily="18" charset="0"/>
                      </a:rPr>
                      <m:t>100(</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m:t>
                    </m:r>
                  </m:oMath>
                </a14:m>
                <a:endParaRPr lang="en-US" altLang="en-US" sz="2200" dirty="0">
                  <a:latin typeface="Candara" panose="020E0502030303020204" pitchFamily="34" charset="0"/>
                </a:endParaRPr>
              </a:p>
              <a:p>
                <a:pPr lvl="4">
                  <a:lnSpc>
                    <a:spcPct val="80000"/>
                  </a:lnSpc>
                </a:pPr>
                <a14:m>
                  <m:oMath xmlns:m="http://schemas.openxmlformats.org/officeDocument/2006/math">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0</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(100 + </m:t>
                    </m:r>
                    <m:r>
                      <a:rPr lang="en-US" altLang="en-US" sz="2200" i="1" dirty="0" smtClean="0">
                        <a:latin typeface="Cambria Math" panose="02040503050406030204" pitchFamily="18" charset="0"/>
                      </a:rPr>
                      <m:t>𝑐𝑜𝑛𝑡𝑒𝑛𝑡𝑠</m:t>
                    </m:r>
                    <m:r>
                      <a:rPr lang="en-US" altLang="en-US" sz="2200" i="1" dirty="0" smtClean="0">
                        <a:latin typeface="Cambria Math" panose="02040503050406030204" pitchFamily="18" charset="0"/>
                      </a:rPr>
                      <m:t> (</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m:t>
                    </m:r>
                    <m:r>
                      <a:rPr lang="en-US" altLang="en-US" sz="2200" i="1" dirty="0" smtClean="0">
                        <a:latin typeface="Cambria Math" panose="02040503050406030204" pitchFamily="18" charset="0"/>
                      </a:rPr>
                      <m:t>)))</m:t>
                    </m:r>
                  </m:oMath>
                </a14:m>
                <a:endParaRPr lang="en-US" altLang="en-US" sz="2200"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420586"/>
                <a:ext cx="10515600" cy="4756377"/>
              </a:xfrm>
              <a:blipFill rotWithShape="0">
                <a:blip r:embed="rId2"/>
                <a:stretch>
                  <a:fillRect l="-1043" t="-2051"/>
                </a:stretch>
              </a:blipFill>
            </p:spPr>
            <p:txBody>
              <a:bodyPr/>
              <a:lstStyle/>
              <a:p>
                <a:r>
                  <a:rPr lang="en-US">
                    <a:noFill/>
                  </a:rPr>
                  <a:t> </a:t>
                </a:r>
              </a:p>
            </p:txBody>
          </p:sp>
        </mc:Fallback>
      </mc:AlternateContent>
    </p:spTree>
    <p:extLst>
      <p:ext uri="{BB962C8B-B14F-4D97-AF65-F5344CB8AC3E}">
        <p14:creationId xmlns:p14="http://schemas.microsoft.com/office/powerpoint/2010/main" val="342262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arn(inVertic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arn(inVertical)">
                                      <p:cBhvr>
                                        <p:cTn id="12" dur="50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arn(inVertic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arn(inVertical)">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arn(inVertical)">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barn(inVertical)">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barn(inVertical)">
                                      <p:cBhvr>
                                        <p:cTn id="37" dur="500"/>
                                        <p:tgtEl>
                                          <p:spTgt spid="6">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barn(inVertical)">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barn(inVertical)">
                                      <p:cBhvr>
                                        <p:cTn id="47" dur="5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6">
                                            <p:txEl>
                                              <p:pRg st="11" end="11"/>
                                            </p:txEl>
                                          </p:spTgt>
                                        </p:tgtEl>
                                        <p:attrNameLst>
                                          <p:attrName>style.visibility</p:attrName>
                                        </p:attrNameLst>
                                      </p:cBhvr>
                                      <p:to>
                                        <p:strVal val="visible"/>
                                      </p:to>
                                    </p:set>
                                    <p:animEffect transition="in" filter="barn(inVertical)">
                                      <p:cBhvr>
                                        <p:cTn id="52"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Addressing Modes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47</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420586"/>
                <a:ext cx="10515600" cy="4756377"/>
              </a:xfrm>
            </p:spPr>
            <p:txBody>
              <a:bodyPr>
                <a:normAutofit/>
              </a:bodyPr>
              <a:lstStyle/>
              <a:p>
                <a:r>
                  <a:rPr lang="en-US" altLang="en-US" dirty="0">
                    <a:latin typeface="Candara" panose="020E0502030303020204" pitchFamily="34" charset="0"/>
                  </a:rPr>
                  <a:t>Addressing Modes: from which location you can find the value for an operand</a:t>
                </a:r>
              </a:p>
              <a:p>
                <a:pPr lvl="1">
                  <a:lnSpc>
                    <a:spcPct val="80000"/>
                  </a:lnSpc>
                  <a:buFont typeface="Wingdings" panose="05000000000000000000" pitchFamily="2" charset="2"/>
                  <a:buChar char="Ø"/>
                </a:pPr>
                <a:endParaRPr lang="en-US" altLang="en-US" dirty="0">
                  <a:solidFill>
                    <a:srgbClr val="C00000"/>
                  </a:solidFill>
                  <a:latin typeface="Candara" panose="020E0502030303020204" pitchFamily="34" charset="0"/>
                </a:endParaRPr>
              </a:p>
              <a:p>
                <a:pPr lvl="1">
                  <a:lnSpc>
                    <a:spcPct val="80000"/>
                  </a:lnSpc>
                  <a:buFont typeface="Wingdings" panose="05000000000000000000" pitchFamily="2" charset="2"/>
                  <a:buChar char="Ø"/>
                </a:pPr>
                <a:r>
                  <a:rPr lang="en-US" altLang="en-US" dirty="0">
                    <a:solidFill>
                      <a:srgbClr val="C00000"/>
                    </a:solidFill>
                    <a:latin typeface="Candara" panose="020E0502030303020204" pitchFamily="34" charset="0"/>
                  </a:rPr>
                  <a:t>Immediate Constant Addressing Modes</a:t>
                </a:r>
                <a:r>
                  <a:rPr lang="en-US" altLang="en-US" dirty="0">
                    <a:latin typeface="Candara" panose="020E0502030303020204" pitchFamily="34" charset="0"/>
                  </a:rPr>
                  <a:t>:</a:t>
                </a:r>
              </a:p>
              <a:p>
                <a:pPr lvl="1">
                  <a:lnSpc>
                    <a:spcPct val="80000"/>
                  </a:lnSpc>
                  <a:buFont typeface="Wingdings" panose="05000000000000000000" pitchFamily="2" charset="2"/>
                  <a:buChar char="Ø"/>
                </a:pPr>
                <a:endParaRPr lang="en-US" altLang="en-US" sz="800" dirty="0">
                  <a:latin typeface="Candara" panose="020E0502030303020204" pitchFamily="34" charset="0"/>
                </a:endParaRPr>
              </a:p>
              <a:p>
                <a:pPr lvl="2">
                  <a:lnSpc>
                    <a:spcPct val="80000"/>
                  </a:lnSpc>
                </a:pPr>
                <a:r>
                  <a:rPr lang="en-US" altLang="en-US" sz="2200" dirty="0">
                    <a:latin typeface="Candara" panose="020E0502030303020204" pitchFamily="34" charset="0"/>
                  </a:rPr>
                  <a:t>Allow source to be a constant</a:t>
                </a:r>
              </a:p>
              <a:p>
                <a:pPr lvl="2">
                  <a:lnSpc>
                    <a:spcPct val="80000"/>
                  </a:lnSpc>
                </a:pPr>
                <a:r>
                  <a:rPr lang="en-US" altLang="en-US" sz="2200" dirty="0">
                    <a:latin typeface="Candara" panose="020E0502030303020204" pitchFamily="34" charset="0"/>
                  </a:rPr>
                  <a:t>Constant prefixed by #</a:t>
                </a:r>
              </a:p>
              <a:p>
                <a:pPr lvl="2">
                  <a:lnSpc>
                    <a:spcPct val="80000"/>
                  </a:lnSpc>
                </a:pPr>
                <a14:m>
                  <m:oMath xmlns:m="http://schemas.openxmlformats.org/officeDocument/2006/math">
                    <m:r>
                      <m:rPr>
                        <m:sty m:val="p"/>
                      </m:rPr>
                      <a:rPr lang="en-US" altLang="en-US" sz="2200" i="0" dirty="0" smtClean="0">
                        <a:latin typeface="Cambria Math" panose="02040503050406030204" pitchFamily="18" charset="0"/>
                      </a:rPr>
                      <m:t>LD</m:t>
                    </m:r>
                    <m:r>
                      <a:rPr lang="en-US" altLang="en-US" sz="2200" i="0" dirty="0" smtClean="0">
                        <a:latin typeface="Cambria Math" panose="02040503050406030204" pitchFamily="18" charset="0"/>
                      </a:rPr>
                      <m:t> </m:t>
                    </m:r>
                    <m:r>
                      <m:rPr>
                        <m:sty m:val="p"/>
                      </m:rPr>
                      <a:rPr lang="en-US" altLang="en-US" sz="2200" i="0" dirty="0" smtClean="0">
                        <a:latin typeface="Cambria Math" panose="02040503050406030204" pitchFamily="18" charset="0"/>
                      </a:rPr>
                      <m:t>R</m:t>
                    </m:r>
                    <m:r>
                      <a:rPr lang="en-US" altLang="en-US" sz="2200" b="0" i="0" dirty="0" smtClean="0">
                        <a:latin typeface="Cambria Math" panose="02040503050406030204" pitchFamily="18" charset="0"/>
                      </a:rPr>
                      <m:t>1</m:t>
                    </m:r>
                    <m:r>
                      <a:rPr lang="en-US" altLang="en-US" sz="2200" i="0" dirty="0" smtClean="0">
                        <a:latin typeface="Cambria Math" panose="02040503050406030204" pitchFamily="18" charset="0"/>
                      </a:rPr>
                      <m:t>, #100</m:t>
                    </m:r>
                  </m:oMath>
                </a14:m>
                <a:endParaRPr lang="en-US" altLang="en-US" sz="2200" dirty="0">
                  <a:latin typeface="Candara" panose="020E0502030303020204" pitchFamily="34" charset="0"/>
                </a:endParaRPr>
              </a:p>
              <a:p>
                <a:pPr lvl="3">
                  <a:lnSpc>
                    <a:spcPct val="80000"/>
                  </a:lnSpc>
                </a:pPr>
                <a14:m>
                  <m:oMath xmlns:m="http://schemas.openxmlformats.org/officeDocument/2006/math">
                    <m:r>
                      <m:rPr>
                        <m:sty m:val="p"/>
                      </m:rPr>
                      <a:rPr lang="en-US" altLang="en-US" sz="2200" i="0" dirty="0" smtClean="0">
                        <a:latin typeface="Cambria Math" panose="02040503050406030204" pitchFamily="18" charset="0"/>
                      </a:rPr>
                      <m:t>R</m:t>
                    </m:r>
                    <m:r>
                      <a:rPr lang="en-US" altLang="en-US" sz="2200" b="0" i="0" dirty="0" smtClean="0">
                        <a:latin typeface="Cambria Math" panose="02040503050406030204" pitchFamily="18" charset="0"/>
                      </a:rPr>
                      <m:t>1</m:t>
                    </m:r>
                    <m:r>
                      <a:rPr lang="en-US" altLang="en-US" sz="2200" i="0" dirty="0" smtClean="0">
                        <a:latin typeface="Cambria Math" panose="02040503050406030204" pitchFamily="18" charset="0"/>
                      </a:rPr>
                      <m:t> = 100</m:t>
                    </m:r>
                  </m:oMath>
                </a14:m>
                <a:endParaRPr lang="en-US" altLang="en-US" sz="2200" dirty="0">
                  <a:latin typeface="Candara" panose="020E0502030303020204" pitchFamily="34" charset="0"/>
                </a:endParaRPr>
              </a:p>
              <a:p>
                <a:pPr lvl="2">
                  <a:lnSpc>
                    <a:spcPct val="80000"/>
                  </a:lnSpc>
                </a:pPr>
                <a14:m>
                  <m:oMath xmlns:m="http://schemas.openxmlformats.org/officeDocument/2006/math">
                    <m:r>
                      <m:rPr>
                        <m:sty m:val="p"/>
                      </m:rPr>
                      <a:rPr lang="en-US" altLang="en-US" sz="2400" i="0" dirty="0" smtClean="0">
                        <a:latin typeface="Cambria Math" panose="02040503050406030204" pitchFamily="18" charset="0"/>
                      </a:rPr>
                      <m:t>ADD</m:t>
                    </m:r>
                    <m:r>
                      <a:rPr lang="en-US" altLang="en-US" sz="2400" i="0" dirty="0">
                        <a:latin typeface="Cambria Math" panose="02040503050406030204" pitchFamily="18" charset="0"/>
                      </a:rPr>
                      <m:t> </m:t>
                    </m:r>
                    <m:r>
                      <m:rPr>
                        <m:sty m:val="p"/>
                      </m:rPr>
                      <a:rPr lang="en-US" altLang="en-US" sz="2400" i="0" dirty="0" smtClean="0">
                        <a:latin typeface="Cambria Math" panose="02040503050406030204" pitchFamily="18" charset="0"/>
                      </a:rPr>
                      <m:t>R</m:t>
                    </m:r>
                    <m:r>
                      <a:rPr lang="en-US" altLang="en-US" sz="2400" i="0" dirty="0" smtClean="0">
                        <a:latin typeface="Cambria Math" panose="02040503050406030204" pitchFamily="18" charset="0"/>
                      </a:rPr>
                      <m:t>1, </m:t>
                    </m:r>
                    <m:r>
                      <m:rPr>
                        <m:sty m:val="p"/>
                      </m:rPr>
                      <a:rPr lang="en-US" altLang="en-US" sz="2400" i="0" dirty="0" smtClean="0">
                        <a:latin typeface="Cambria Math" panose="02040503050406030204" pitchFamily="18" charset="0"/>
                      </a:rPr>
                      <m:t>R</m:t>
                    </m:r>
                    <m:r>
                      <a:rPr lang="en-US" altLang="en-US" sz="2400" i="0" dirty="0" smtClean="0">
                        <a:latin typeface="Cambria Math" panose="02040503050406030204" pitchFamily="18" charset="0"/>
                      </a:rPr>
                      <m:t>1, #100</m:t>
                    </m:r>
                  </m:oMath>
                </a14:m>
                <a:endParaRPr lang="en-US" altLang="en-US" sz="2400" dirty="0">
                  <a:latin typeface="Candara" panose="020E0502030303020204" pitchFamily="34" charset="0"/>
                </a:endParaRPr>
              </a:p>
              <a:p>
                <a:pPr lvl="3">
                  <a:lnSpc>
                    <a:spcPct val="80000"/>
                  </a:lnSpc>
                </a:pPr>
                <a14:m>
                  <m:oMath xmlns:m="http://schemas.openxmlformats.org/officeDocument/2006/math">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 = </m:t>
                    </m:r>
                    <m:r>
                      <m:rPr>
                        <m:sty m:val="p"/>
                      </m:rPr>
                      <a:rPr lang="en-US" altLang="en-US" sz="2200" i="0" dirty="0" smtClean="0">
                        <a:latin typeface="Cambria Math" panose="02040503050406030204" pitchFamily="18" charset="0"/>
                      </a:rPr>
                      <m:t>R</m:t>
                    </m:r>
                    <m:r>
                      <a:rPr lang="en-US" altLang="en-US" sz="2200" i="0" dirty="0" smtClean="0">
                        <a:latin typeface="Cambria Math" panose="02040503050406030204" pitchFamily="18" charset="0"/>
                      </a:rPr>
                      <m:t>1 +100</m:t>
                    </m:r>
                  </m:oMath>
                </a14:m>
                <a:endParaRPr lang="en-US" altLang="en-US" sz="2200"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420586"/>
                <a:ext cx="10515600" cy="4756377"/>
              </a:xfrm>
              <a:blipFill>
                <a:blip r:embed="rId2" cstate="print"/>
                <a:stretch>
                  <a:fillRect l="-1043" t="-2051"/>
                </a:stretch>
              </a:blipFill>
            </p:spPr>
            <p:txBody>
              <a:bodyPr/>
              <a:lstStyle/>
              <a:p>
                <a:r>
                  <a:rPr lang="en-US">
                    <a:noFill/>
                  </a:rPr>
                  <a:t> </a:t>
                </a:r>
              </a:p>
            </p:txBody>
          </p:sp>
        </mc:Fallback>
      </mc:AlternateContent>
    </p:spTree>
    <p:extLst>
      <p:ext uri="{BB962C8B-B14F-4D97-AF65-F5344CB8AC3E}">
        <p14:creationId xmlns:p14="http://schemas.microsoft.com/office/powerpoint/2010/main" val="381908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wipe(down)">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wipe(down)">
                                      <p:cBhvr>
                                        <p:cTn id="12" dur="500"/>
                                        <p:tgtEl>
                                          <p:spTgt spid="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wipe(down)">
                                      <p:cBhvr>
                                        <p:cTn id="17" dur="500"/>
                                        <p:tgtEl>
                                          <p:spTgt spid="6">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wipe(down)">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wipe(down)">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wipe(down)">
                                      <p:cBhvr>
                                        <p:cTn id="32" dur="500"/>
                                        <p:tgtEl>
                                          <p:spTgt spid="6">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animEffect transition="in" filter="wipe(down)">
                                      <p:cBhvr>
                                        <p:cTn id="37"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Statement-wise Code Generation</a:t>
            </a:r>
          </a:p>
        </p:txBody>
      </p:sp>
      <p:sp>
        <p:nvSpPr>
          <p:cNvPr id="3" name="Footer Placeholder 2"/>
          <p:cNvSpPr>
            <a:spLocks noGrp="1"/>
          </p:cNvSpPr>
          <p:nvPr>
            <p:ph type="ftr" sz="quarter" idx="11"/>
          </p:nvPr>
        </p:nvSpPr>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48</a:t>
            </a:fld>
            <a:endParaRPr lang="en-US" dirty="0"/>
          </a:p>
        </p:txBody>
      </p:sp>
      <p:sp>
        <p:nvSpPr>
          <p:cNvPr id="8" name="TextBox 7"/>
          <p:cNvSpPr txBox="1"/>
          <p:nvPr/>
        </p:nvSpPr>
        <p:spPr>
          <a:xfrm>
            <a:off x="1610446" y="1132761"/>
            <a:ext cx="2183642" cy="584775"/>
          </a:xfrm>
          <a:prstGeom prst="rect">
            <a:avLst/>
          </a:prstGeom>
          <a:noFill/>
        </p:spPr>
        <p:txBody>
          <a:bodyPr wrap="square" rtlCol="0">
            <a:spAutoFit/>
          </a:bodyPr>
          <a:lstStyle/>
          <a:p>
            <a:pPr algn="ctr"/>
            <a:r>
              <a:rPr lang="en-US" sz="3200" b="1" u="sng" dirty="0">
                <a:solidFill>
                  <a:srgbClr val="FF0000"/>
                </a:solidFill>
              </a:rPr>
              <a:t>IR (TAC)</a:t>
            </a:r>
          </a:p>
        </p:txBody>
      </p:sp>
      <p:sp>
        <p:nvSpPr>
          <p:cNvPr id="9" name="TextBox 8"/>
          <p:cNvSpPr txBox="1"/>
          <p:nvPr/>
        </p:nvSpPr>
        <p:spPr>
          <a:xfrm>
            <a:off x="6919415" y="1132761"/>
            <a:ext cx="2183642" cy="584775"/>
          </a:xfrm>
          <a:prstGeom prst="rect">
            <a:avLst/>
          </a:prstGeom>
          <a:noFill/>
        </p:spPr>
        <p:txBody>
          <a:bodyPr wrap="square" rtlCol="0">
            <a:spAutoFit/>
          </a:bodyPr>
          <a:lstStyle/>
          <a:p>
            <a:pPr algn="ctr"/>
            <a:r>
              <a:rPr lang="en-US" sz="3200" b="1" u="sng" dirty="0">
                <a:solidFill>
                  <a:srgbClr val="FF0000"/>
                </a:solidFill>
              </a:rPr>
              <a:t>Target Code</a:t>
            </a:r>
          </a:p>
        </p:txBody>
      </p:sp>
      <p:pic>
        <p:nvPicPr>
          <p:cNvPr id="1026" name="Picture 2"/>
          <p:cNvPicPr>
            <a:picLocks noChangeAspect="1" noChangeArrowheads="1"/>
          </p:cNvPicPr>
          <p:nvPr/>
        </p:nvPicPr>
        <p:blipFill>
          <a:blip r:embed="rId3" cstate="print"/>
          <a:srcRect/>
          <a:stretch>
            <a:fillRect/>
          </a:stretch>
        </p:blipFill>
        <p:spPr bwMode="auto">
          <a:xfrm>
            <a:off x="1983940" y="2106603"/>
            <a:ext cx="1288379" cy="6810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5405793" y="1727930"/>
            <a:ext cx="4712296" cy="1438346"/>
          </a:xfrm>
          <a:prstGeom prst="rect">
            <a:avLst/>
          </a:prstGeom>
          <a:noFill/>
          <a:ln w="9525">
            <a:noFill/>
            <a:miter lim="800000"/>
            <a:headEnd/>
            <a:tailEnd/>
          </a:ln>
        </p:spPr>
      </p:pic>
      <p:pic>
        <p:nvPicPr>
          <p:cNvPr id="1028" name="Picture 4"/>
          <p:cNvPicPr>
            <a:picLocks noChangeAspect="1" noChangeArrowheads="1"/>
          </p:cNvPicPr>
          <p:nvPr/>
        </p:nvPicPr>
        <p:blipFill>
          <a:blip r:embed="rId5" cstate="print"/>
          <a:srcRect/>
          <a:stretch>
            <a:fillRect/>
          </a:stretch>
        </p:blipFill>
        <p:spPr bwMode="auto">
          <a:xfrm>
            <a:off x="1869744" y="3700953"/>
            <a:ext cx="1402575" cy="461607"/>
          </a:xfrm>
          <a:prstGeom prst="rect">
            <a:avLst/>
          </a:prstGeom>
          <a:noFill/>
          <a:ln w="9525">
            <a:noFill/>
            <a:miter lim="800000"/>
            <a:headEnd/>
            <a:tailEnd/>
          </a:ln>
        </p:spPr>
      </p:pic>
      <p:pic>
        <p:nvPicPr>
          <p:cNvPr id="1029" name="Picture 5"/>
          <p:cNvPicPr>
            <a:picLocks noChangeAspect="1" noChangeArrowheads="1"/>
          </p:cNvPicPr>
          <p:nvPr/>
        </p:nvPicPr>
        <p:blipFill>
          <a:blip r:embed="rId6" cstate="print"/>
          <a:srcRect/>
          <a:stretch>
            <a:fillRect/>
          </a:stretch>
        </p:blipFill>
        <p:spPr bwMode="auto">
          <a:xfrm>
            <a:off x="5405793" y="3302792"/>
            <a:ext cx="6631911" cy="1323761"/>
          </a:xfrm>
          <a:prstGeom prst="rect">
            <a:avLst/>
          </a:prstGeom>
          <a:noFill/>
          <a:ln w="9525">
            <a:noFill/>
            <a:miter lim="800000"/>
            <a:headEnd/>
            <a:tailEnd/>
          </a:ln>
        </p:spPr>
      </p:pic>
      <p:pic>
        <p:nvPicPr>
          <p:cNvPr id="1030" name="Picture 6"/>
          <p:cNvPicPr>
            <a:picLocks noChangeAspect="1" noChangeArrowheads="1"/>
          </p:cNvPicPr>
          <p:nvPr/>
        </p:nvPicPr>
        <p:blipFill>
          <a:blip r:embed="rId7" cstate="print"/>
          <a:srcRect/>
          <a:stretch>
            <a:fillRect/>
          </a:stretch>
        </p:blipFill>
        <p:spPr bwMode="auto">
          <a:xfrm>
            <a:off x="2012335" y="5166886"/>
            <a:ext cx="1384824" cy="461608"/>
          </a:xfrm>
          <a:prstGeom prst="rect">
            <a:avLst/>
          </a:prstGeom>
          <a:noFill/>
          <a:ln w="9525">
            <a:noFill/>
            <a:miter lim="800000"/>
            <a:headEnd/>
            <a:tailEnd/>
          </a:ln>
        </p:spPr>
      </p:pic>
      <p:pic>
        <p:nvPicPr>
          <p:cNvPr id="1031" name="Picture 7"/>
          <p:cNvPicPr>
            <a:picLocks noChangeAspect="1" noChangeArrowheads="1"/>
          </p:cNvPicPr>
          <p:nvPr/>
        </p:nvPicPr>
        <p:blipFill>
          <a:blip r:embed="rId8" cstate="print"/>
          <a:srcRect/>
          <a:stretch>
            <a:fillRect/>
          </a:stretch>
        </p:blipFill>
        <p:spPr bwMode="auto">
          <a:xfrm>
            <a:off x="5405793" y="4763069"/>
            <a:ext cx="6457110" cy="1269241"/>
          </a:xfrm>
          <a:prstGeom prst="rect">
            <a:avLst/>
          </a:prstGeom>
          <a:noFill/>
          <a:ln w="9525">
            <a:noFill/>
            <a:miter lim="800000"/>
            <a:headEnd/>
            <a:tailEnd/>
          </a:ln>
        </p:spPr>
      </p:pic>
    </p:spTree>
    <p:extLst>
      <p:ext uri="{BB962C8B-B14F-4D97-AF65-F5344CB8AC3E}">
        <p14:creationId xmlns:p14="http://schemas.microsoft.com/office/powerpoint/2010/main" val="427025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fade">
                                      <p:cBhvr>
                                        <p:cTn id="12" dur="1000"/>
                                        <p:tgtEl>
                                          <p:spTgt spid="1027"/>
                                        </p:tgtEl>
                                      </p:cBhvr>
                                    </p:animEffect>
                                    <p:anim calcmode="lin" valueType="num">
                                      <p:cBhvr>
                                        <p:cTn id="13" dur="1000" fill="hold"/>
                                        <p:tgtEl>
                                          <p:spTgt spid="1027"/>
                                        </p:tgtEl>
                                        <p:attrNameLst>
                                          <p:attrName>ppt_x</p:attrName>
                                        </p:attrNameLst>
                                      </p:cBhvr>
                                      <p:tavLst>
                                        <p:tav tm="0">
                                          <p:val>
                                            <p:strVal val="#ppt_x"/>
                                          </p:val>
                                        </p:tav>
                                        <p:tav tm="100000">
                                          <p:val>
                                            <p:strVal val="#ppt_x"/>
                                          </p:val>
                                        </p:tav>
                                      </p:tavLst>
                                    </p:anim>
                                    <p:anim calcmode="lin" valueType="num">
                                      <p:cBhvr>
                                        <p:cTn id="14"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animEffect transition="in" filter="barn(inVertical)">
                                      <p:cBhvr>
                                        <p:cTn id="19" dur="500"/>
                                        <p:tgtEl>
                                          <p:spTgt spid="1028"/>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029"/>
                                        </p:tgtEl>
                                        <p:attrNameLst>
                                          <p:attrName>style.visibility</p:attrName>
                                        </p:attrNameLst>
                                      </p:cBhvr>
                                      <p:to>
                                        <p:strVal val="visible"/>
                                      </p:to>
                                    </p:set>
                                    <p:animEffect transition="in" filter="fade">
                                      <p:cBhvr>
                                        <p:cTn id="24" dur="1000"/>
                                        <p:tgtEl>
                                          <p:spTgt spid="1029"/>
                                        </p:tgtEl>
                                      </p:cBhvr>
                                    </p:animEffect>
                                    <p:anim calcmode="lin" valueType="num">
                                      <p:cBhvr>
                                        <p:cTn id="25" dur="1000" fill="hold"/>
                                        <p:tgtEl>
                                          <p:spTgt spid="1029"/>
                                        </p:tgtEl>
                                        <p:attrNameLst>
                                          <p:attrName>ppt_x</p:attrName>
                                        </p:attrNameLst>
                                      </p:cBhvr>
                                      <p:tavLst>
                                        <p:tav tm="0">
                                          <p:val>
                                            <p:strVal val="#ppt_x"/>
                                          </p:val>
                                        </p:tav>
                                        <p:tav tm="100000">
                                          <p:val>
                                            <p:strVal val="#ppt_x"/>
                                          </p:val>
                                        </p:tav>
                                      </p:tavLst>
                                    </p:anim>
                                    <p:anim calcmode="lin" valueType="num">
                                      <p:cBhvr>
                                        <p:cTn id="26"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030"/>
                                        </p:tgtEl>
                                        <p:attrNameLst>
                                          <p:attrName>style.visibility</p:attrName>
                                        </p:attrNameLst>
                                      </p:cBhvr>
                                      <p:to>
                                        <p:strVal val="visible"/>
                                      </p:to>
                                    </p:set>
                                    <p:animEffect transition="in" filter="barn(inVertical)">
                                      <p:cBhvr>
                                        <p:cTn id="31" dur="500"/>
                                        <p:tgtEl>
                                          <p:spTgt spid="1030"/>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31"/>
                                        </p:tgtEl>
                                        <p:attrNameLst>
                                          <p:attrName>style.visibility</p:attrName>
                                        </p:attrNameLst>
                                      </p:cBhvr>
                                      <p:to>
                                        <p:strVal val="visible"/>
                                      </p:to>
                                    </p:set>
                                    <p:animEffect transition="in" filter="fade">
                                      <p:cBhvr>
                                        <p:cTn id="36" dur="1000"/>
                                        <p:tgtEl>
                                          <p:spTgt spid="1031"/>
                                        </p:tgtEl>
                                      </p:cBhvr>
                                    </p:animEffect>
                                    <p:anim calcmode="lin" valueType="num">
                                      <p:cBhvr>
                                        <p:cTn id="37" dur="1000" fill="hold"/>
                                        <p:tgtEl>
                                          <p:spTgt spid="1031"/>
                                        </p:tgtEl>
                                        <p:attrNameLst>
                                          <p:attrName>ppt_x</p:attrName>
                                        </p:attrNameLst>
                                      </p:cBhvr>
                                      <p:tavLst>
                                        <p:tav tm="0">
                                          <p:val>
                                            <p:strVal val="#ppt_x"/>
                                          </p:val>
                                        </p:tav>
                                        <p:tav tm="100000">
                                          <p:val>
                                            <p:strVal val="#ppt_x"/>
                                          </p:val>
                                        </p:tav>
                                      </p:tavLst>
                                    </p:anim>
                                    <p:anim calcmode="lin" valueType="num">
                                      <p:cBhvr>
                                        <p:cTn id="38" dur="1000" fill="hold"/>
                                        <p:tgtEl>
                                          <p:spTgt spid="10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Statement-wise Code Generation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49</a:t>
            </a:fld>
            <a:endParaRPr lang="en-US" dirty="0"/>
          </a:p>
        </p:txBody>
      </p:sp>
      <p:sp>
        <p:nvSpPr>
          <p:cNvPr id="8" name="TextBox 7"/>
          <p:cNvSpPr txBox="1"/>
          <p:nvPr/>
        </p:nvSpPr>
        <p:spPr>
          <a:xfrm>
            <a:off x="1610446" y="1132761"/>
            <a:ext cx="2183642" cy="584775"/>
          </a:xfrm>
          <a:prstGeom prst="rect">
            <a:avLst/>
          </a:prstGeom>
          <a:noFill/>
        </p:spPr>
        <p:txBody>
          <a:bodyPr wrap="square" rtlCol="0">
            <a:spAutoFit/>
          </a:bodyPr>
          <a:lstStyle/>
          <a:p>
            <a:pPr algn="ctr"/>
            <a:r>
              <a:rPr lang="en-US" sz="3200" b="1" u="sng" dirty="0">
                <a:solidFill>
                  <a:srgbClr val="FF0000"/>
                </a:solidFill>
              </a:rPr>
              <a:t>IR (TAC)</a:t>
            </a:r>
          </a:p>
        </p:txBody>
      </p:sp>
      <p:sp>
        <p:nvSpPr>
          <p:cNvPr id="9" name="TextBox 8"/>
          <p:cNvSpPr txBox="1"/>
          <p:nvPr/>
        </p:nvSpPr>
        <p:spPr>
          <a:xfrm>
            <a:off x="6919415" y="1132761"/>
            <a:ext cx="2183642" cy="584775"/>
          </a:xfrm>
          <a:prstGeom prst="rect">
            <a:avLst/>
          </a:prstGeom>
          <a:noFill/>
        </p:spPr>
        <p:txBody>
          <a:bodyPr wrap="square" rtlCol="0">
            <a:spAutoFit/>
          </a:bodyPr>
          <a:lstStyle/>
          <a:p>
            <a:pPr algn="ctr"/>
            <a:r>
              <a:rPr lang="en-US" sz="3200" b="1" u="sng" dirty="0">
                <a:solidFill>
                  <a:srgbClr val="FF0000"/>
                </a:solidFill>
              </a:rPr>
              <a:t>Target Code</a:t>
            </a:r>
          </a:p>
        </p:txBody>
      </p:sp>
      <p:pic>
        <p:nvPicPr>
          <p:cNvPr id="2050" name="Picture 2"/>
          <p:cNvPicPr>
            <a:picLocks noChangeAspect="1" noChangeArrowheads="1"/>
          </p:cNvPicPr>
          <p:nvPr/>
        </p:nvPicPr>
        <p:blipFill>
          <a:blip r:embed="rId3" cstate="print"/>
          <a:srcRect/>
          <a:stretch>
            <a:fillRect/>
          </a:stretch>
        </p:blipFill>
        <p:spPr bwMode="auto">
          <a:xfrm>
            <a:off x="2205234" y="2410358"/>
            <a:ext cx="1089122" cy="447318"/>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5407079" y="2129051"/>
            <a:ext cx="6631007" cy="1009933"/>
          </a:xfrm>
          <a:prstGeom prst="rect">
            <a:avLst/>
          </a:prstGeom>
          <a:noFill/>
          <a:ln w="9525">
            <a:noFill/>
            <a:miter lim="800000"/>
            <a:headEnd/>
            <a:tailEnd/>
          </a:ln>
        </p:spPr>
      </p:pic>
      <p:pic>
        <p:nvPicPr>
          <p:cNvPr id="2052" name="Picture 4"/>
          <p:cNvPicPr>
            <a:picLocks noChangeAspect="1" noChangeArrowheads="1"/>
          </p:cNvPicPr>
          <p:nvPr/>
        </p:nvPicPr>
        <p:blipFill>
          <a:blip r:embed="rId5" cstate="print"/>
          <a:srcRect/>
          <a:stretch>
            <a:fillRect/>
          </a:stretch>
        </p:blipFill>
        <p:spPr bwMode="auto">
          <a:xfrm>
            <a:off x="2266595" y="3625044"/>
            <a:ext cx="1027761" cy="540010"/>
          </a:xfrm>
          <a:prstGeom prst="rect">
            <a:avLst/>
          </a:prstGeom>
          <a:noFill/>
          <a:ln w="9525">
            <a:noFill/>
            <a:miter lim="800000"/>
            <a:headEnd/>
            <a:tailEnd/>
          </a:ln>
        </p:spPr>
      </p:pic>
      <p:pic>
        <p:nvPicPr>
          <p:cNvPr id="2053" name="Picture 5"/>
          <p:cNvPicPr>
            <a:picLocks noChangeAspect="1" noChangeArrowheads="1"/>
          </p:cNvPicPr>
          <p:nvPr/>
        </p:nvPicPr>
        <p:blipFill>
          <a:blip r:embed="rId6" cstate="print"/>
          <a:srcRect/>
          <a:stretch>
            <a:fillRect/>
          </a:stretch>
        </p:blipFill>
        <p:spPr bwMode="auto">
          <a:xfrm>
            <a:off x="5407079" y="3376328"/>
            <a:ext cx="6403969" cy="1037443"/>
          </a:xfrm>
          <a:prstGeom prst="rect">
            <a:avLst/>
          </a:prstGeom>
          <a:noFill/>
          <a:ln w="9525">
            <a:noFill/>
            <a:miter lim="800000"/>
            <a:headEnd/>
            <a:tailEnd/>
          </a:ln>
        </p:spPr>
      </p:pic>
      <p:pic>
        <p:nvPicPr>
          <p:cNvPr id="2054" name="Picture 6"/>
          <p:cNvPicPr>
            <a:picLocks noChangeAspect="1" noChangeArrowheads="1"/>
          </p:cNvPicPr>
          <p:nvPr/>
        </p:nvPicPr>
        <p:blipFill>
          <a:blip r:embed="rId7" cstate="print"/>
          <a:srcRect/>
          <a:stretch>
            <a:fillRect/>
          </a:stretch>
        </p:blipFill>
        <p:spPr bwMode="auto">
          <a:xfrm>
            <a:off x="1807475" y="4999027"/>
            <a:ext cx="3075235" cy="562543"/>
          </a:xfrm>
          <a:prstGeom prst="rect">
            <a:avLst/>
          </a:prstGeom>
          <a:noFill/>
          <a:ln w="9525">
            <a:noFill/>
            <a:miter lim="800000"/>
            <a:headEnd/>
            <a:tailEnd/>
          </a:ln>
        </p:spPr>
      </p:pic>
      <p:pic>
        <p:nvPicPr>
          <p:cNvPr id="2055" name="Picture 7"/>
          <p:cNvPicPr>
            <a:picLocks noChangeAspect="1" noChangeArrowheads="1"/>
          </p:cNvPicPr>
          <p:nvPr/>
        </p:nvPicPr>
        <p:blipFill>
          <a:blip r:embed="rId8" cstate="print"/>
          <a:srcRect/>
          <a:stretch>
            <a:fillRect/>
          </a:stretch>
        </p:blipFill>
        <p:spPr bwMode="auto">
          <a:xfrm>
            <a:off x="5407079" y="4651115"/>
            <a:ext cx="5249957" cy="1258366"/>
          </a:xfrm>
          <a:prstGeom prst="rect">
            <a:avLst/>
          </a:prstGeom>
          <a:noFill/>
          <a:ln w="9525">
            <a:noFill/>
            <a:miter lim="800000"/>
            <a:headEnd/>
            <a:tailEnd/>
          </a:ln>
        </p:spPr>
      </p:pic>
    </p:spTree>
    <p:extLst>
      <p:ext uri="{BB962C8B-B14F-4D97-AF65-F5344CB8AC3E}">
        <p14:creationId xmlns:p14="http://schemas.microsoft.com/office/powerpoint/2010/main" val="147399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fade">
                                      <p:cBhvr>
                                        <p:cTn id="12" dur="1000"/>
                                        <p:tgtEl>
                                          <p:spTgt spid="2051"/>
                                        </p:tgtEl>
                                      </p:cBhvr>
                                    </p:animEffect>
                                    <p:anim calcmode="lin" valueType="num">
                                      <p:cBhvr>
                                        <p:cTn id="13" dur="1000" fill="hold"/>
                                        <p:tgtEl>
                                          <p:spTgt spid="2051"/>
                                        </p:tgtEl>
                                        <p:attrNameLst>
                                          <p:attrName>ppt_x</p:attrName>
                                        </p:attrNameLst>
                                      </p:cBhvr>
                                      <p:tavLst>
                                        <p:tav tm="0">
                                          <p:val>
                                            <p:strVal val="#ppt_x"/>
                                          </p:val>
                                        </p:tav>
                                        <p:tav tm="100000">
                                          <p:val>
                                            <p:strVal val="#ppt_x"/>
                                          </p:val>
                                        </p:tav>
                                      </p:tavLst>
                                    </p:anim>
                                    <p:anim calcmode="lin" valueType="num">
                                      <p:cBhvr>
                                        <p:cTn id="14" dur="1000" fill="hold"/>
                                        <p:tgtEl>
                                          <p:spTgt spid="205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animEffect transition="in" filter="barn(inVertical)">
                                      <p:cBhvr>
                                        <p:cTn id="19" dur="500"/>
                                        <p:tgtEl>
                                          <p:spTgt spid="205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053"/>
                                        </p:tgtEl>
                                        <p:attrNameLst>
                                          <p:attrName>style.visibility</p:attrName>
                                        </p:attrNameLst>
                                      </p:cBhvr>
                                      <p:to>
                                        <p:strVal val="visible"/>
                                      </p:to>
                                    </p:set>
                                    <p:animEffect transition="in" filter="fade">
                                      <p:cBhvr>
                                        <p:cTn id="24" dur="1000"/>
                                        <p:tgtEl>
                                          <p:spTgt spid="2053"/>
                                        </p:tgtEl>
                                      </p:cBhvr>
                                    </p:animEffect>
                                    <p:anim calcmode="lin" valueType="num">
                                      <p:cBhvr>
                                        <p:cTn id="25" dur="1000" fill="hold"/>
                                        <p:tgtEl>
                                          <p:spTgt spid="2053"/>
                                        </p:tgtEl>
                                        <p:attrNameLst>
                                          <p:attrName>ppt_x</p:attrName>
                                        </p:attrNameLst>
                                      </p:cBhvr>
                                      <p:tavLst>
                                        <p:tav tm="0">
                                          <p:val>
                                            <p:strVal val="#ppt_x"/>
                                          </p:val>
                                        </p:tav>
                                        <p:tav tm="100000">
                                          <p:val>
                                            <p:strVal val="#ppt_x"/>
                                          </p:val>
                                        </p:tav>
                                      </p:tavLst>
                                    </p:anim>
                                    <p:anim calcmode="lin" valueType="num">
                                      <p:cBhvr>
                                        <p:cTn id="26" dur="1000" fill="hold"/>
                                        <p:tgtEl>
                                          <p:spTgt spid="205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054"/>
                                        </p:tgtEl>
                                        <p:attrNameLst>
                                          <p:attrName>style.visibility</p:attrName>
                                        </p:attrNameLst>
                                      </p:cBhvr>
                                      <p:to>
                                        <p:strVal val="visible"/>
                                      </p:to>
                                    </p:set>
                                    <p:animEffect transition="in" filter="barn(inVertical)">
                                      <p:cBhvr>
                                        <p:cTn id="31" dur="500"/>
                                        <p:tgtEl>
                                          <p:spTgt spid="2054"/>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055"/>
                                        </p:tgtEl>
                                        <p:attrNameLst>
                                          <p:attrName>style.visibility</p:attrName>
                                        </p:attrNameLst>
                                      </p:cBhvr>
                                      <p:to>
                                        <p:strVal val="visible"/>
                                      </p:to>
                                    </p:set>
                                    <p:animEffect transition="in" filter="fade">
                                      <p:cBhvr>
                                        <p:cTn id="36" dur="1000"/>
                                        <p:tgtEl>
                                          <p:spTgt spid="2055"/>
                                        </p:tgtEl>
                                      </p:cBhvr>
                                    </p:animEffect>
                                    <p:anim calcmode="lin" valueType="num">
                                      <p:cBhvr>
                                        <p:cTn id="37" dur="1000" fill="hold"/>
                                        <p:tgtEl>
                                          <p:spTgt spid="2055"/>
                                        </p:tgtEl>
                                        <p:attrNameLst>
                                          <p:attrName>ppt_x</p:attrName>
                                        </p:attrNameLst>
                                      </p:cBhvr>
                                      <p:tavLst>
                                        <p:tav tm="0">
                                          <p:val>
                                            <p:strVal val="#ppt_x"/>
                                          </p:val>
                                        </p:tav>
                                        <p:tav tm="100000">
                                          <p:val>
                                            <p:strVal val="#ppt_x"/>
                                          </p:val>
                                        </p:tav>
                                      </p:tavLst>
                                    </p:anim>
                                    <p:anim calcmode="lin" valueType="num">
                                      <p:cBhvr>
                                        <p:cTn id="38" dur="1000" fill="hold"/>
                                        <p:tgtEl>
                                          <p:spTgt spid="20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Program Cost</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50</a:t>
            </a:fld>
            <a:endParaRPr lang="en-US" dirty="0"/>
          </a:p>
        </p:txBody>
      </p:sp>
      <p:sp>
        <p:nvSpPr>
          <p:cNvPr id="6" name="Content Placeholder 5"/>
          <p:cNvSpPr>
            <a:spLocks noGrp="1"/>
          </p:cNvSpPr>
          <p:nvPr>
            <p:ph idx="1"/>
          </p:nvPr>
        </p:nvSpPr>
        <p:spPr>
          <a:xfrm>
            <a:off x="838200" y="1420586"/>
            <a:ext cx="10515600" cy="4756377"/>
          </a:xfrm>
        </p:spPr>
        <p:txBody>
          <a:bodyPr/>
          <a:lstStyle/>
          <a:p>
            <a:pPr lvl="1"/>
            <a:endParaRPr lang="en-US" dirty="0">
              <a:latin typeface="Candara" panose="020E0502030303020204" pitchFamily="34" charset="0"/>
            </a:endParaRPr>
          </a:p>
          <a:p>
            <a:pPr lvl="1"/>
            <a:endParaRPr lang="en-US" dirty="0">
              <a:latin typeface="Candara" panose="020E0502030303020204" pitchFamily="34" charset="0"/>
            </a:endParaRPr>
          </a:p>
        </p:txBody>
      </p:sp>
      <p:sp>
        <p:nvSpPr>
          <p:cNvPr id="10" name="Content Placeholder 5"/>
          <p:cNvSpPr txBox="1">
            <a:spLocks/>
          </p:cNvSpPr>
          <p:nvPr/>
        </p:nvSpPr>
        <p:spPr>
          <a:xfrm>
            <a:off x="990600" y="1233960"/>
            <a:ext cx="10515600" cy="47563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en-US" dirty="0">
                <a:latin typeface="Candara" panose="020E0502030303020204" pitchFamily="34" charset="0"/>
              </a:rPr>
              <a:t>A cost is often associated with compiling and running program</a:t>
            </a:r>
          </a:p>
          <a:p>
            <a:pPr>
              <a:lnSpc>
                <a:spcPct val="110000"/>
              </a:lnSpc>
            </a:pPr>
            <a:r>
              <a:rPr lang="en-US" altLang="en-US" dirty="0">
                <a:latin typeface="Candara" panose="020E0502030303020204" pitchFamily="34" charset="0"/>
              </a:rPr>
              <a:t>Common cost measure may be-</a:t>
            </a:r>
          </a:p>
          <a:p>
            <a:pPr lvl="1">
              <a:lnSpc>
                <a:spcPct val="110000"/>
              </a:lnSpc>
            </a:pPr>
            <a:r>
              <a:rPr lang="en-US" altLang="en-US" dirty="0">
                <a:latin typeface="Candara" panose="020E0502030303020204" pitchFamily="34" charset="0"/>
              </a:rPr>
              <a:t>Compilation time</a:t>
            </a:r>
          </a:p>
          <a:p>
            <a:pPr lvl="1">
              <a:lnSpc>
                <a:spcPct val="110000"/>
              </a:lnSpc>
            </a:pPr>
            <a:r>
              <a:rPr lang="en-US" altLang="en-US" dirty="0">
                <a:latin typeface="Candara" panose="020E0502030303020204" pitchFamily="34" charset="0"/>
              </a:rPr>
              <a:t>Size of the target program</a:t>
            </a:r>
          </a:p>
          <a:p>
            <a:pPr lvl="1">
              <a:lnSpc>
                <a:spcPct val="110000"/>
              </a:lnSpc>
            </a:pPr>
            <a:r>
              <a:rPr lang="en-US" altLang="en-US" dirty="0">
                <a:latin typeface="Candara" panose="020E0502030303020204" pitchFamily="34" charset="0"/>
              </a:rPr>
              <a:t>Running-time of the target program</a:t>
            </a:r>
          </a:p>
          <a:p>
            <a:pPr lvl="1">
              <a:lnSpc>
                <a:spcPct val="110000"/>
              </a:lnSpc>
            </a:pPr>
            <a:r>
              <a:rPr lang="en-US" altLang="en-US" dirty="0">
                <a:latin typeface="Candara" panose="020E0502030303020204" pitchFamily="34" charset="0"/>
              </a:rPr>
              <a:t>Power consumption of the target program </a:t>
            </a:r>
          </a:p>
          <a:p>
            <a:pPr>
              <a:lnSpc>
                <a:spcPct val="110000"/>
              </a:lnSpc>
            </a:pPr>
            <a:r>
              <a:rPr lang="en-US" altLang="en-US" dirty="0">
                <a:latin typeface="Candara" panose="020E0502030303020204" pitchFamily="34" charset="0"/>
              </a:rPr>
              <a:t>We assume, the cost of a target-language program on a given input is the sum of the costs of the individual instructions executed when the program is run on that input.</a:t>
            </a:r>
          </a:p>
        </p:txBody>
      </p:sp>
    </p:spTree>
    <p:extLst>
      <p:ext uri="{BB962C8B-B14F-4D97-AF65-F5344CB8AC3E}">
        <p14:creationId xmlns:p14="http://schemas.microsoft.com/office/powerpoint/2010/main" val="358493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arn(inVertic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barn(inVertical)">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barn(inVertical)">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barn(inVertical)">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barn(inVertical)">
                                      <p:cBhvr>
                                        <p:cTn id="32" dur="500"/>
                                        <p:tgtEl>
                                          <p:spTgt spid="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barn(inVertical)">
                                      <p:cBhvr>
                                        <p:cTn id="3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Instruction Cost</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51</a:t>
            </a:fld>
            <a:endParaRPr lang="en-US" dirty="0"/>
          </a:p>
        </p:txBody>
      </p:sp>
      <p:sp>
        <p:nvSpPr>
          <p:cNvPr id="6" name="Content Placeholder 5"/>
          <p:cNvSpPr>
            <a:spLocks noGrp="1"/>
          </p:cNvSpPr>
          <p:nvPr>
            <p:ph idx="1"/>
          </p:nvPr>
        </p:nvSpPr>
        <p:spPr>
          <a:xfrm>
            <a:off x="838200" y="1420586"/>
            <a:ext cx="10515600" cy="4756377"/>
          </a:xfrm>
        </p:spPr>
        <p:txBody>
          <a:bodyPr/>
          <a:lstStyle/>
          <a:p>
            <a:r>
              <a:rPr lang="en-US" altLang="en-US" dirty="0">
                <a:solidFill>
                  <a:schemeClr val="accent6">
                    <a:lumMod val="75000"/>
                  </a:schemeClr>
                </a:solidFill>
                <a:latin typeface="Candara" panose="020E0502030303020204" pitchFamily="34" charset="0"/>
              </a:rPr>
              <a:t>Simple model for instruction cost</a:t>
            </a:r>
          </a:p>
          <a:p>
            <a:pPr lvl="1"/>
            <a:r>
              <a:rPr lang="en-US" altLang="en-US" dirty="0">
                <a:latin typeface="Candara" panose="020E0502030303020204" pitchFamily="34" charset="0"/>
              </a:rPr>
              <a:t>Cost of an instruction = One plus cost for the addressing modes.</a:t>
            </a:r>
          </a:p>
          <a:p>
            <a:endParaRPr lang="en-US" altLang="en-US" dirty="0">
              <a:latin typeface="Candara" panose="020E0502030303020204" pitchFamily="34" charset="0"/>
            </a:endParaRPr>
          </a:p>
          <a:p>
            <a:r>
              <a:rPr lang="en-US" altLang="en-US" dirty="0">
                <a:solidFill>
                  <a:schemeClr val="accent5">
                    <a:lumMod val="75000"/>
                  </a:schemeClr>
                </a:solidFill>
                <a:latin typeface="Candara" panose="020E0502030303020204" pitchFamily="34" charset="0"/>
              </a:rPr>
              <a:t>Addressing modes</a:t>
            </a:r>
            <a:r>
              <a:rPr lang="en-US" altLang="en-US" dirty="0">
                <a:latin typeface="Candara" panose="020E0502030303020204" pitchFamily="34" charset="0"/>
              </a:rPr>
              <a:t> – </a:t>
            </a:r>
          </a:p>
          <a:p>
            <a:pPr lvl="1"/>
            <a:r>
              <a:rPr lang="en-US" altLang="en-US" dirty="0">
                <a:latin typeface="Candara" panose="020E0502030303020204" pitchFamily="34" charset="0"/>
              </a:rPr>
              <a:t>involving registers have zero additional cost</a:t>
            </a:r>
          </a:p>
          <a:p>
            <a:pPr lvl="1"/>
            <a:r>
              <a:rPr lang="en-US" altLang="en-US" dirty="0">
                <a:latin typeface="Candara" panose="020E0502030303020204" pitchFamily="34" charset="0"/>
              </a:rPr>
              <a:t>involving a memory location / constant have an additional cost</a:t>
            </a:r>
          </a:p>
          <a:p>
            <a:pPr lvl="2"/>
            <a:r>
              <a:rPr lang="en-US" altLang="en-US" dirty="0">
                <a:latin typeface="Candara" panose="020E0502030303020204" pitchFamily="34" charset="0"/>
              </a:rPr>
              <a:t>Since such operands have to be stored in the words following the instruction</a:t>
            </a:r>
          </a:p>
          <a:p>
            <a:endParaRPr lang="en-US" dirty="0">
              <a:latin typeface="Candara" panose="020E0502030303020204" pitchFamily="34" charset="0"/>
            </a:endParaRPr>
          </a:p>
        </p:txBody>
      </p:sp>
    </p:spTree>
    <p:extLst>
      <p:ext uri="{BB962C8B-B14F-4D97-AF65-F5344CB8AC3E}">
        <p14:creationId xmlns:p14="http://schemas.microsoft.com/office/powerpoint/2010/main" val="162397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wipe(down)">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wipe(down)">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wipe(down)">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wipe(down)">
                                      <p:cBhvr>
                                        <p:cTn id="3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Instruction Cost</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52</a:t>
            </a:fld>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838200" y="1420586"/>
                <a:ext cx="10515600" cy="4756377"/>
              </a:xfrm>
            </p:spPr>
            <p:txBody>
              <a:bodyPr/>
              <a:lstStyle/>
              <a:p>
                <a:r>
                  <a:rPr lang="en-US" dirty="0">
                    <a:latin typeface="Candara" panose="020E0502030303020204" pitchFamily="34" charset="0"/>
                  </a:rPr>
                  <a:t>Examples:</a:t>
                </a:r>
              </a:p>
              <a:p>
                <a:pPr marL="914400" lvl="1" indent="-457200">
                  <a:buFont typeface="+mj-lt"/>
                  <a:buAutoNum type="arabicPeriod"/>
                </a:pPr>
                <a14:m>
                  <m:oMath xmlns:m="http://schemas.openxmlformats.org/officeDocument/2006/math">
                    <m:r>
                      <a:rPr lang="en-US" b="1" i="0" dirty="0" smtClean="0">
                        <a:latin typeface="Cambria Math" panose="02040503050406030204" pitchFamily="18" charset="0"/>
                      </a:rPr>
                      <m:t>𝐋𝐃</m:t>
                    </m:r>
                    <m:r>
                      <a:rPr lang="en-US" b="1" i="0" dirty="0" smtClean="0">
                        <a:latin typeface="Cambria Math" panose="02040503050406030204" pitchFamily="18" charset="0"/>
                      </a:rPr>
                      <m:t> </m:t>
                    </m:r>
                    <m:r>
                      <a:rPr lang="en-US" b="1" i="0" dirty="0" smtClean="0">
                        <a:latin typeface="Cambria Math" panose="02040503050406030204" pitchFamily="18" charset="0"/>
                      </a:rPr>
                      <m:t>𝐑𝟎</m:t>
                    </m:r>
                    <m:r>
                      <a:rPr lang="en-US" b="1" i="0" dirty="0" smtClean="0">
                        <a:latin typeface="Cambria Math" panose="02040503050406030204" pitchFamily="18" charset="0"/>
                      </a:rPr>
                      <m:t>, </m:t>
                    </m:r>
                    <m:r>
                      <a:rPr lang="en-US" b="1" i="0" dirty="0" smtClean="0">
                        <a:latin typeface="Cambria Math" panose="02040503050406030204" pitchFamily="18" charset="0"/>
                      </a:rPr>
                      <m:t>𝐑𝟏</m:t>
                    </m:r>
                  </m:oMath>
                </a14:m>
                <a:endParaRPr lang="en-US" b="1" dirty="0">
                  <a:latin typeface="Candara" panose="020E0502030303020204" pitchFamily="34" charset="0"/>
                </a:endParaRPr>
              </a:p>
              <a:p>
                <a:pPr lvl="2"/>
                <a:r>
                  <a:rPr lang="en-US" dirty="0">
                    <a:latin typeface="Candara" panose="020E0502030303020204" pitchFamily="34" charset="0"/>
                  </a:rPr>
                  <a:t>Meaning: </a:t>
                </a:r>
                <a14:m>
                  <m:oMath xmlns:m="http://schemas.openxmlformats.org/officeDocument/2006/math">
                    <m:r>
                      <m:rPr>
                        <m:sty m:val="p"/>
                      </m:rPr>
                      <a:rPr lang="en-US" i="0" dirty="0" smtClean="0">
                        <a:latin typeface="Cambria Math" panose="02040503050406030204" pitchFamily="18" charset="0"/>
                      </a:rPr>
                      <m:t>R</m:t>
                    </m:r>
                    <m:r>
                      <a:rPr lang="en-US" i="0" dirty="0" smtClean="0">
                        <a:latin typeface="Cambria Math" panose="02040503050406030204" pitchFamily="18" charset="0"/>
                      </a:rPr>
                      <m:t>0</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smtClean="0">
                        <a:latin typeface="Cambria Math" panose="02040503050406030204" pitchFamily="18" charset="0"/>
                      </a:rPr>
                      <m:t>𝑐𝑜𝑛𝑡𝑒𝑛𝑡𝑠</m:t>
                    </m:r>
                    <m:r>
                      <a:rPr lang="en-US" i="1" dirty="0" smtClean="0">
                        <a:latin typeface="Cambria Math" panose="02040503050406030204" pitchFamily="18" charset="0"/>
                      </a:rPr>
                      <m:t>(</m:t>
                    </m:r>
                    <m:r>
                      <m:rPr>
                        <m:sty m:val="p"/>
                      </m:rPr>
                      <a:rPr lang="en-US" i="0" dirty="0" smtClean="0">
                        <a:latin typeface="Cambria Math" panose="02040503050406030204" pitchFamily="18" charset="0"/>
                      </a:rPr>
                      <m:t>R</m:t>
                    </m:r>
                    <m:r>
                      <a:rPr lang="en-US" i="0" dirty="0" smtClean="0">
                        <a:latin typeface="Cambria Math" panose="02040503050406030204" pitchFamily="18" charset="0"/>
                      </a:rPr>
                      <m:t>1</m:t>
                    </m:r>
                    <m:r>
                      <a:rPr lang="en-US" i="1" dirty="0" smtClean="0">
                        <a:latin typeface="Cambria Math" panose="02040503050406030204" pitchFamily="18" charset="0"/>
                      </a:rPr>
                      <m:t>)</m:t>
                    </m:r>
                  </m:oMath>
                </a14:m>
                <a:endParaRPr lang="en-US" dirty="0">
                  <a:latin typeface="Candara" panose="020E0502030303020204" pitchFamily="34" charset="0"/>
                </a:endParaRPr>
              </a:p>
              <a:p>
                <a:pPr lvl="2"/>
                <a:r>
                  <a:rPr lang="en-US" dirty="0">
                    <a:latin typeface="Candara" panose="020E0502030303020204" pitchFamily="34" charset="0"/>
                  </a:rPr>
                  <a:t>Cost </a:t>
                </a:r>
                <a14:m>
                  <m:oMath xmlns:m="http://schemas.openxmlformats.org/officeDocument/2006/math">
                    <m:r>
                      <a:rPr lang="en-US" i="1" dirty="0" smtClean="0">
                        <a:latin typeface="Cambria Math" panose="02040503050406030204" pitchFamily="18" charset="0"/>
                      </a:rPr>
                      <m:t>= 1+0 =1</m:t>
                    </m:r>
                  </m:oMath>
                </a14:m>
                <a:endParaRPr lang="en-US" dirty="0">
                  <a:latin typeface="Candara" panose="020E0502030303020204" pitchFamily="34" charset="0"/>
                </a:endParaRPr>
              </a:p>
              <a:p>
                <a:pPr marL="914400" lvl="1" indent="-457200">
                  <a:buFont typeface="+mj-lt"/>
                  <a:buAutoNum type="arabicPeriod"/>
                </a:pPr>
                <a14:m>
                  <m:oMath xmlns:m="http://schemas.openxmlformats.org/officeDocument/2006/math">
                    <m:r>
                      <a:rPr lang="en-US" b="1" i="0" dirty="0" smtClean="0">
                        <a:latin typeface="Cambria Math" panose="02040503050406030204" pitchFamily="18" charset="0"/>
                      </a:rPr>
                      <m:t>𝐋𝐃</m:t>
                    </m:r>
                    <m:r>
                      <a:rPr lang="en-US" b="1" i="0" dirty="0">
                        <a:latin typeface="Cambria Math" panose="02040503050406030204" pitchFamily="18" charset="0"/>
                      </a:rPr>
                      <m:t> </m:t>
                    </m:r>
                    <m:r>
                      <a:rPr lang="en-US" b="1" i="0" dirty="0" smtClean="0">
                        <a:latin typeface="Cambria Math" panose="02040503050406030204" pitchFamily="18" charset="0"/>
                      </a:rPr>
                      <m:t>𝐑𝟎</m:t>
                    </m:r>
                    <m:r>
                      <a:rPr lang="en-US" b="1" i="0" dirty="0" smtClean="0">
                        <a:latin typeface="Cambria Math" panose="02040503050406030204" pitchFamily="18" charset="0"/>
                      </a:rPr>
                      <m:t>, </m:t>
                    </m:r>
                    <m:r>
                      <a:rPr lang="en-US" b="1" i="0" dirty="0" smtClean="0">
                        <a:latin typeface="Cambria Math" panose="02040503050406030204" pitchFamily="18" charset="0"/>
                      </a:rPr>
                      <m:t>𝐌</m:t>
                    </m:r>
                  </m:oMath>
                </a14:m>
                <a:endParaRPr lang="en-US" b="1" dirty="0">
                  <a:latin typeface="Candara" panose="020E0502030303020204" pitchFamily="34" charset="0"/>
                </a:endParaRPr>
              </a:p>
              <a:p>
                <a:pPr lvl="2"/>
                <a:r>
                  <a:rPr lang="en-US" dirty="0">
                    <a:latin typeface="Candara" panose="020E0502030303020204" pitchFamily="34" charset="0"/>
                  </a:rPr>
                  <a:t>Meaning: </a:t>
                </a:r>
                <a14:m>
                  <m:oMath xmlns:m="http://schemas.openxmlformats.org/officeDocument/2006/math">
                    <m:r>
                      <m:rPr>
                        <m:sty m:val="p"/>
                      </m:rPr>
                      <a:rPr lang="en-US" dirty="0">
                        <a:latin typeface="Cambria Math" panose="02040503050406030204" pitchFamily="18" charset="0"/>
                      </a:rPr>
                      <m:t>R</m:t>
                    </m:r>
                    <m:r>
                      <a:rPr lang="en-US" dirty="0">
                        <a:latin typeface="Cambria Math" panose="02040503050406030204" pitchFamily="18" charset="0"/>
                      </a:rPr>
                      <m:t>0</m:t>
                    </m:r>
                    <m:r>
                      <a:rPr lang="en-US" i="1" dirty="0">
                        <a:latin typeface="Cambria Math" panose="02040503050406030204" pitchFamily="18" charset="0"/>
                      </a:rPr>
                      <m:t>= </m:t>
                    </m:r>
                    <m:r>
                      <a:rPr lang="en-US" i="1" dirty="0">
                        <a:latin typeface="Cambria Math" panose="02040503050406030204" pitchFamily="18" charset="0"/>
                      </a:rPr>
                      <m:t>𝑐𝑜𝑛𝑡𝑒𝑛𝑡𝑠</m:t>
                    </m:r>
                    <m:r>
                      <a:rPr lang="en-US" i="1" dirty="0">
                        <a:latin typeface="Cambria Math" panose="02040503050406030204" pitchFamily="18" charset="0"/>
                      </a:rPr>
                      <m:t>(</m:t>
                    </m:r>
                    <m:r>
                      <m:rPr>
                        <m:sty m:val="p"/>
                      </m:rPr>
                      <a:rPr lang="en-US" b="0" i="0" dirty="0" smtClean="0">
                        <a:latin typeface="Cambria Math" panose="02040503050406030204" pitchFamily="18" charset="0"/>
                      </a:rPr>
                      <m:t>M</m:t>
                    </m:r>
                    <m:r>
                      <a:rPr lang="en-US" i="1" dirty="0">
                        <a:latin typeface="Cambria Math" panose="02040503050406030204" pitchFamily="18" charset="0"/>
                      </a:rPr>
                      <m:t>)</m:t>
                    </m:r>
                  </m:oMath>
                </a14:m>
                <a:endParaRPr lang="en-US" dirty="0">
                  <a:latin typeface="Candara" panose="020E0502030303020204" pitchFamily="34" charset="0"/>
                </a:endParaRPr>
              </a:p>
              <a:p>
                <a:pPr lvl="2"/>
                <a:r>
                  <a:rPr lang="en-US" dirty="0">
                    <a:latin typeface="Candara" panose="020E0502030303020204" pitchFamily="34" charset="0"/>
                  </a:rPr>
                  <a:t>Cost </a:t>
                </a:r>
                <a14:m>
                  <m:oMath xmlns:m="http://schemas.openxmlformats.org/officeDocument/2006/math">
                    <m:r>
                      <a:rPr lang="en-US" i="1" dirty="0">
                        <a:latin typeface="Cambria Math" panose="02040503050406030204" pitchFamily="18" charset="0"/>
                      </a:rPr>
                      <m:t>= 1+</m:t>
                    </m:r>
                    <m:r>
                      <a:rPr lang="en-US" b="0" i="1" dirty="0" smtClean="0">
                        <a:latin typeface="Cambria Math" panose="02040503050406030204" pitchFamily="18" charset="0"/>
                      </a:rPr>
                      <m:t>1</m:t>
                    </m:r>
                    <m:r>
                      <a:rPr lang="en-US" i="1" dirty="0">
                        <a:latin typeface="Cambria Math" panose="02040503050406030204" pitchFamily="18" charset="0"/>
                      </a:rPr>
                      <m:t> =1</m:t>
                    </m:r>
                  </m:oMath>
                </a14:m>
                <a:endParaRPr lang="en-US" dirty="0">
                  <a:latin typeface="Candara" panose="020E0502030303020204" pitchFamily="34" charset="0"/>
                </a:endParaRPr>
              </a:p>
              <a:p>
                <a:pPr marL="914400" lvl="1" indent="-457200">
                  <a:buFont typeface="+mj-lt"/>
                  <a:buAutoNum type="arabicPeriod"/>
                </a:pPr>
                <a14:m>
                  <m:oMath xmlns:m="http://schemas.openxmlformats.org/officeDocument/2006/math">
                    <m:r>
                      <a:rPr lang="en-US" b="1" i="0" dirty="0" smtClean="0">
                        <a:latin typeface="Cambria Math" panose="02040503050406030204" pitchFamily="18" charset="0"/>
                      </a:rPr>
                      <m:t>𝐋𝐃</m:t>
                    </m:r>
                    <m:r>
                      <a:rPr lang="en-US" b="1" i="0" dirty="0" smtClean="0">
                        <a:latin typeface="Cambria Math" panose="02040503050406030204" pitchFamily="18" charset="0"/>
                      </a:rPr>
                      <m:t> </m:t>
                    </m:r>
                    <m:r>
                      <a:rPr lang="en-US" b="1" i="0" dirty="0" smtClean="0">
                        <a:latin typeface="Cambria Math" panose="02040503050406030204" pitchFamily="18" charset="0"/>
                      </a:rPr>
                      <m:t>𝐑𝟏</m:t>
                    </m:r>
                    <m:r>
                      <a:rPr lang="en-US" b="1" i="0" dirty="0" smtClean="0">
                        <a:latin typeface="Cambria Math" panose="02040503050406030204" pitchFamily="18" charset="0"/>
                      </a:rPr>
                      <m:t>,  ∗</m:t>
                    </m:r>
                    <m:r>
                      <a:rPr lang="en-US" b="1" i="0" dirty="0" smtClean="0">
                        <a:latin typeface="Cambria Math" panose="02040503050406030204" pitchFamily="18" charset="0"/>
                      </a:rPr>
                      <m:t>𝟏𝟎𝟎</m:t>
                    </m:r>
                    <m:r>
                      <a:rPr lang="en-US" b="1" i="0" dirty="0" smtClean="0">
                        <a:latin typeface="Cambria Math" panose="02040503050406030204" pitchFamily="18" charset="0"/>
                      </a:rPr>
                      <m:t>(</m:t>
                    </m:r>
                    <m:r>
                      <a:rPr lang="en-US" b="1" i="0" dirty="0" smtClean="0">
                        <a:latin typeface="Cambria Math" panose="02040503050406030204" pitchFamily="18" charset="0"/>
                      </a:rPr>
                      <m:t>𝐑𝟐</m:t>
                    </m:r>
                    <m:r>
                      <a:rPr lang="en-US" b="1" i="0" dirty="0" smtClean="0">
                        <a:latin typeface="Cambria Math" panose="02040503050406030204" pitchFamily="18" charset="0"/>
                      </a:rPr>
                      <m:t>)</m:t>
                    </m:r>
                  </m:oMath>
                </a14:m>
                <a:endParaRPr lang="en-US" b="1" dirty="0">
                  <a:latin typeface="Candara" panose="020E0502030303020204" pitchFamily="34" charset="0"/>
                </a:endParaRPr>
              </a:p>
              <a:p>
                <a:pPr lvl="2"/>
                <a:r>
                  <a:rPr lang="en-US" dirty="0">
                    <a:latin typeface="Candara" panose="020E0502030303020204" pitchFamily="34" charset="0"/>
                  </a:rPr>
                  <a:t>Meaning: </a:t>
                </a:r>
                <a14:m>
                  <m:oMath xmlns:m="http://schemas.openxmlformats.org/officeDocument/2006/math">
                    <m:r>
                      <m:rPr>
                        <m:sty m:val="p"/>
                      </m:rPr>
                      <a:rPr lang="en-US" dirty="0">
                        <a:latin typeface="Cambria Math" panose="02040503050406030204" pitchFamily="18" charset="0"/>
                      </a:rPr>
                      <m:t>R</m:t>
                    </m:r>
                    <m:r>
                      <a:rPr lang="en-US" b="0" i="0" dirty="0" smtClean="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𝑐𝑜𝑛𝑡𝑒𝑛𝑡𝑠</m:t>
                    </m:r>
                    <m:r>
                      <a:rPr lang="en-US" i="1" dirty="0">
                        <a:latin typeface="Cambria Math" panose="02040503050406030204" pitchFamily="18" charset="0"/>
                      </a:rPr>
                      <m:t>(</m:t>
                    </m:r>
                    <m:r>
                      <a:rPr lang="en-US" b="0" i="1" dirty="0" smtClean="0">
                        <a:latin typeface="Cambria Math" panose="02040503050406030204" pitchFamily="18" charset="0"/>
                      </a:rPr>
                      <m:t>𝑐𝑜𝑛𝑡𝑒𝑛𝑡𝑠</m:t>
                    </m:r>
                    <m:r>
                      <a:rPr lang="en-US" b="0" i="0" dirty="0" smtClean="0">
                        <a:latin typeface="Cambria Math" panose="02040503050406030204" pitchFamily="18" charset="0"/>
                      </a:rPr>
                      <m:t>(100+</m:t>
                    </m:r>
                    <m:r>
                      <a:rPr lang="en-US" b="0" i="1" dirty="0" smtClean="0">
                        <a:latin typeface="Cambria Math" panose="02040503050406030204" pitchFamily="18" charset="0"/>
                      </a:rPr>
                      <m:t>𝑐𝑜𝑛𝑡𝑒𝑛𝑡𝑠</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R</m:t>
                    </m:r>
                    <m:r>
                      <a:rPr lang="en-US" b="0" i="0" dirty="0" smtClean="0">
                        <a:latin typeface="Cambria Math" panose="02040503050406030204" pitchFamily="18" charset="0"/>
                      </a:rPr>
                      <m:t>2))</m:t>
                    </m:r>
                    <m:r>
                      <a:rPr lang="en-US" i="1" dirty="0">
                        <a:latin typeface="Cambria Math" panose="02040503050406030204" pitchFamily="18" charset="0"/>
                      </a:rPr>
                      <m:t>)</m:t>
                    </m:r>
                  </m:oMath>
                </a14:m>
                <a:endParaRPr lang="en-US" dirty="0">
                  <a:latin typeface="Candara" panose="020E0502030303020204" pitchFamily="34" charset="0"/>
                </a:endParaRPr>
              </a:p>
              <a:p>
                <a:pPr lvl="2"/>
                <a:r>
                  <a:rPr lang="en-US" dirty="0">
                    <a:latin typeface="Candara" panose="020E0502030303020204" pitchFamily="34" charset="0"/>
                  </a:rPr>
                  <a:t>Cost </a:t>
                </a:r>
                <a14:m>
                  <m:oMath xmlns:m="http://schemas.openxmlformats.org/officeDocument/2006/math">
                    <m:r>
                      <a:rPr lang="en-US" i="1" dirty="0">
                        <a:latin typeface="Cambria Math" panose="02040503050406030204" pitchFamily="18" charset="0"/>
                      </a:rPr>
                      <m:t>= 1+</m:t>
                    </m:r>
                    <m:r>
                      <a:rPr lang="en-US" b="0" i="1" dirty="0" smtClean="0">
                        <a:latin typeface="Cambria Math" panose="02040503050406030204" pitchFamily="18" charset="0"/>
                      </a:rPr>
                      <m:t>2</m:t>
                    </m:r>
                    <m:r>
                      <a:rPr lang="en-US" i="1" dirty="0">
                        <a:latin typeface="Cambria Math" panose="02040503050406030204" pitchFamily="18" charset="0"/>
                      </a:rPr>
                      <m:t> =</m:t>
                    </m:r>
                    <m:r>
                      <a:rPr lang="en-US" b="0" i="1" dirty="0" smtClean="0">
                        <a:latin typeface="Cambria Math" panose="02040503050406030204" pitchFamily="18" charset="0"/>
                      </a:rPr>
                      <m:t>3</m:t>
                    </m:r>
                  </m:oMath>
                </a14:m>
                <a:endParaRPr lang="en-US" b="1" dirty="0">
                  <a:latin typeface="Candara" panose="020E0502030303020204" pitchFamily="34" charset="0"/>
                </a:endParaRPr>
              </a:p>
              <a:p>
                <a:pPr marL="914400" lvl="1" indent="-457200">
                  <a:buFont typeface="+mj-lt"/>
                  <a:buAutoNum type="arabicPeriod"/>
                </a:pPr>
                <a14:m>
                  <m:oMath xmlns:m="http://schemas.openxmlformats.org/officeDocument/2006/math">
                    <m:r>
                      <a:rPr lang="en-US" b="1" i="0" dirty="0" smtClean="0">
                        <a:latin typeface="Cambria Math" panose="02040503050406030204" pitchFamily="18" charset="0"/>
                      </a:rPr>
                      <m:t>𝐀𝐃</m:t>
                    </m:r>
                    <m:r>
                      <a:rPr lang="en-US" b="1" dirty="0">
                        <a:latin typeface="Cambria Math" panose="02040503050406030204" pitchFamily="18" charset="0"/>
                      </a:rPr>
                      <m:t>𝐃</m:t>
                    </m:r>
                    <m:r>
                      <a:rPr lang="en-US" b="1" dirty="0">
                        <a:latin typeface="Cambria Math" panose="02040503050406030204" pitchFamily="18" charset="0"/>
                      </a:rPr>
                      <m:t> </m:t>
                    </m:r>
                    <m:r>
                      <a:rPr lang="en-US" b="1" dirty="0">
                        <a:latin typeface="Cambria Math" panose="02040503050406030204" pitchFamily="18" charset="0"/>
                      </a:rPr>
                      <m:t>𝐑𝟏</m:t>
                    </m:r>
                    <m:r>
                      <a:rPr lang="en-US" b="1" dirty="0">
                        <a:latin typeface="Cambria Math" panose="02040503050406030204" pitchFamily="18" charset="0"/>
                      </a:rPr>
                      <m:t>,  #</m:t>
                    </m:r>
                    <m:r>
                      <a:rPr lang="en-US" b="1" i="0" dirty="0" smtClean="0">
                        <a:latin typeface="Cambria Math" panose="02040503050406030204" pitchFamily="18" charset="0"/>
                      </a:rPr>
                      <m:t>𝟑</m:t>
                    </m:r>
                    <m:r>
                      <a:rPr lang="en-US" b="1" i="0" dirty="0" smtClean="0">
                        <a:latin typeface="Cambria Math" panose="02040503050406030204" pitchFamily="18" charset="0"/>
                      </a:rPr>
                      <m:t>,  #</m:t>
                    </m:r>
                    <m:r>
                      <a:rPr lang="en-US" b="1" i="0" dirty="0" smtClean="0">
                        <a:latin typeface="Cambria Math" panose="02040503050406030204" pitchFamily="18" charset="0"/>
                      </a:rPr>
                      <m:t>𝟒</m:t>
                    </m:r>
                  </m:oMath>
                </a14:m>
                <a:endParaRPr lang="en-US" b="1" dirty="0">
                  <a:latin typeface="Candara" panose="020E0502030303020204" pitchFamily="34" charset="0"/>
                </a:endParaRPr>
              </a:p>
              <a:p>
                <a:pPr lvl="2"/>
                <a:r>
                  <a:rPr lang="en-US" dirty="0">
                    <a:latin typeface="Candara" panose="020E0502030303020204" pitchFamily="34" charset="0"/>
                  </a:rPr>
                  <a:t>Meaning: </a:t>
                </a:r>
                <a14:m>
                  <m:oMath xmlns:m="http://schemas.openxmlformats.org/officeDocument/2006/math">
                    <m:r>
                      <m:rPr>
                        <m:sty m:val="p"/>
                      </m:rPr>
                      <a:rPr lang="en-US" dirty="0">
                        <a:latin typeface="Cambria Math" panose="02040503050406030204" pitchFamily="18" charset="0"/>
                      </a:rPr>
                      <m:t>R</m:t>
                    </m:r>
                    <m:r>
                      <a:rPr lang="en-US" dirty="0">
                        <a:latin typeface="Cambria Math" panose="02040503050406030204" pitchFamily="18" charset="0"/>
                      </a:rPr>
                      <m:t>1</m:t>
                    </m:r>
                    <m:r>
                      <a:rPr lang="en-US" i="1" dirty="0">
                        <a:latin typeface="Cambria Math" panose="02040503050406030204" pitchFamily="18" charset="0"/>
                      </a:rPr>
                      <m:t>=</m:t>
                    </m:r>
                    <m:r>
                      <a:rPr lang="en-US" b="0" i="1" dirty="0" smtClean="0">
                        <a:latin typeface="Cambria Math" panose="02040503050406030204" pitchFamily="18" charset="0"/>
                      </a:rPr>
                      <m:t>3+4</m:t>
                    </m:r>
                  </m:oMath>
                </a14:m>
                <a:endParaRPr lang="en-US" dirty="0">
                  <a:latin typeface="Candara" panose="020E0502030303020204" pitchFamily="34" charset="0"/>
                </a:endParaRPr>
              </a:p>
              <a:p>
                <a:pPr lvl="2"/>
                <a:r>
                  <a:rPr lang="en-US" dirty="0">
                    <a:latin typeface="Candara" panose="020E0502030303020204" pitchFamily="34" charset="0"/>
                  </a:rPr>
                  <a:t>Cost </a:t>
                </a:r>
                <a14:m>
                  <m:oMath xmlns:m="http://schemas.openxmlformats.org/officeDocument/2006/math">
                    <m:r>
                      <a:rPr lang="en-US" i="1" dirty="0">
                        <a:latin typeface="Cambria Math" panose="02040503050406030204" pitchFamily="18" charset="0"/>
                      </a:rPr>
                      <m:t>= 1+2 =3</m:t>
                    </m:r>
                  </m:oMath>
                </a14:m>
                <a:endParaRPr lang="en-US" dirty="0">
                  <a:latin typeface="Candara" panose="020E0502030303020204" pitchFamily="34" charset="0"/>
                </a:endParaRPr>
              </a:p>
              <a:p>
                <a:endParaRPr lang="en-US" dirty="0">
                  <a:latin typeface="Candara" panose="020E0502030303020204" pitchFamily="34" charset="0"/>
                </a:endParaRPr>
              </a:p>
              <a:p>
                <a:pPr lvl="1"/>
                <a:endParaRPr lang="en-US" dirty="0">
                  <a:latin typeface="Candara" panose="020E0502030303020204" pitchFamily="34" charset="0"/>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838200" y="1420586"/>
                <a:ext cx="10515600" cy="4756377"/>
              </a:xfrm>
              <a:blipFill rotWithShape="0">
                <a:blip r:embed="rId3"/>
                <a:stretch>
                  <a:fillRect l="-1043" t="-2051" b="-2179"/>
                </a:stretch>
              </a:blipFill>
            </p:spPr>
            <p:txBody>
              <a:bodyPr/>
              <a:lstStyle/>
              <a:p>
                <a:r>
                  <a:rPr lang="en-US">
                    <a:noFill/>
                  </a:rPr>
                  <a:t> </a:t>
                </a:r>
              </a:p>
            </p:txBody>
          </p:sp>
        </mc:Fallback>
      </mc:AlternateContent>
    </p:spTree>
    <p:extLst>
      <p:ext uri="{BB962C8B-B14F-4D97-AF65-F5344CB8AC3E}">
        <p14:creationId xmlns:p14="http://schemas.microsoft.com/office/powerpoint/2010/main" val="175047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arn(inVertical)">
                                      <p:cBhvr>
                                        <p:cTn id="7" dur="500"/>
                                        <p:tgtEl>
                                          <p:spTgt spid="6">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barn(inVertical)">
                                      <p:cBhvr>
                                        <p:cTn id="10" dur="500"/>
                                        <p:tgtEl>
                                          <p:spTgt spid="6">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barn(inVertical)">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wipe(down)">
                                      <p:cBhvr>
                                        <p:cTn id="18" dur="500"/>
                                        <p:tgtEl>
                                          <p:spTgt spid="6">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wipe(down)">
                                      <p:cBhvr>
                                        <p:cTn id="21" dur="500"/>
                                        <p:tgtEl>
                                          <p:spTgt spid="6">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wipe(down)">
                                      <p:cBhvr>
                                        <p:cTn id="24" dur="500"/>
                                        <p:tgtEl>
                                          <p:spTgt spid="6">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animEffect transition="in" filter="barn(inVertical)">
                                      <p:cBhvr>
                                        <p:cTn id="29" dur="500"/>
                                        <p:tgtEl>
                                          <p:spTgt spid="6">
                                            <p:txEl>
                                              <p:pRg st="7" end="7"/>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barn(inVertical)">
                                      <p:cBhvr>
                                        <p:cTn id="32" dur="500"/>
                                        <p:tgtEl>
                                          <p:spTgt spid="6">
                                            <p:txEl>
                                              <p:pRg st="8" end="8"/>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animEffect transition="in" filter="barn(inVertical)">
                                      <p:cBhvr>
                                        <p:cTn id="35" dur="500"/>
                                        <p:tgtEl>
                                          <p:spTgt spid="6">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6">
                                            <p:txEl>
                                              <p:pRg st="10" end="10"/>
                                            </p:txEl>
                                          </p:spTgt>
                                        </p:tgtEl>
                                        <p:attrNameLst>
                                          <p:attrName>style.visibility</p:attrName>
                                        </p:attrNameLst>
                                      </p:cBhvr>
                                      <p:to>
                                        <p:strVal val="visible"/>
                                      </p:to>
                                    </p:set>
                                    <p:animEffect transition="in" filter="barn(inVertical)">
                                      <p:cBhvr>
                                        <p:cTn id="40" dur="500"/>
                                        <p:tgtEl>
                                          <p:spTgt spid="6">
                                            <p:txEl>
                                              <p:pRg st="10" end="10"/>
                                            </p:txEl>
                                          </p:spTgt>
                                        </p:tgtEl>
                                      </p:cBhvr>
                                    </p:animEffect>
                                  </p:childTnLst>
                                </p:cTn>
                              </p:par>
                              <p:par>
                                <p:cTn id="41" presetID="16" presetClass="entr" presetSubtype="21" fill="hold" nodeType="with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animEffect transition="in" filter="barn(inVertical)">
                                      <p:cBhvr>
                                        <p:cTn id="43" dur="500"/>
                                        <p:tgtEl>
                                          <p:spTgt spid="6">
                                            <p:txEl>
                                              <p:pRg st="11" end="11"/>
                                            </p:txEl>
                                          </p:spTgt>
                                        </p:tgtEl>
                                      </p:cBhvr>
                                    </p:animEffect>
                                  </p:childTnLst>
                                </p:cTn>
                              </p:par>
                              <p:par>
                                <p:cTn id="44" presetID="16" presetClass="entr" presetSubtype="21" fill="hold" nodeType="withEffect">
                                  <p:stCondLst>
                                    <p:cond delay="0"/>
                                  </p:stCondLst>
                                  <p:childTnLst>
                                    <p:set>
                                      <p:cBhvr>
                                        <p:cTn id="45" dur="1" fill="hold">
                                          <p:stCondLst>
                                            <p:cond delay="0"/>
                                          </p:stCondLst>
                                        </p:cTn>
                                        <p:tgtEl>
                                          <p:spTgt spid="6">
                                            <p:txEl>
                                              <p:pRg st="12" end="12"/>
                                            </p:txEl>
                                          </p:spTgt>
                                        </p:tgtEl>
                                        <p:attrNameLst>
                                          <p:attrName>style.visibility</p:attrName>
                                        </p:attrNameLst>
                                      </p:cBhvr>
                                      <p:to>
                                        <p:strVal val="visible"/>
                                      </p:to>
                                    </p:set>
                                    <p:animEffect transition="in" filter="barn(inVertical)">
                                      <p:cBhvr>
                                        <p:cTn id="46"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743"/>
            <a:ext cx="10515600" cy="939186"/>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Uses of Registers</a:t>
            </a:r>
          </a:p>
        </p:txBody>
      </p:sp>
      <p:sp>
        <p:nvSpPr>
          <p:cNvPr id="3" name="Footer Placeholder 2"/>
          <p:cNvSpPr>
            <a:spLocks noGrp="1"/>
          </p:cNvSpPr>
          <p:nvPr>
            <p:ph type="ftr" sz="quarter" idx="11"/>
          </p:nvPr>
        </p:nvSpPr>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53</a:t>
            </a:fld>
            <a:endParaRPr lang="en-US" dirty="0"/>
          </a:p>
        </p:txBody>
      </p:sp>
      <p:sp>
        <p:nvSpPr>
          <p:cNvPr id="15" name="Content Placeholder 5"/>
          <p:cNvSpPr>
            <a:spLocks noGrp="1"/>
          </p:cNvSpPr>
          <p:nvPr>
            <p:ph idx="1"/>
          </p:nvPr>
        </p:nvSpPr>
        <p:spPr>
          <a:xfrm>
            <a:off x="838200" y="1299928"/>
            <a:ext cx="10903857" cy="5056421"/>
          </a:xfrm>
        </p:spPr>
        <p:txBody>
          <a:bodyPr>
            <a:normAutofit/>
          </a:bodyPr>
          <a:lstStyle/>
          <a:p>
            <a:r>
              <a:rPr lang="en-US" dirty="0">
                <a:latin typeface="Candara" panose="020E0502030303020204" pitchFamily="34" charset="0"/>
              </a:rPr>
              <a:t>One of the primary issues during code generation is deciding how to use registers to best advantage</a:t>
            </a:r>
            <a:endParaRPr lang="en-US" altLang="en-US" sz="1200" dirty="0">
              <a:solidFill>
                <a:srgbClr val="000000"/>
              </a:solidFill>
              <a:latin typeface="Candara" panose="020E0502030303020204" pitchFamily="34" charset="0"/>
            </a:endParaRPr>
          </a:p>
          <a:p>
            <a:r>
              <a:rPr lang="en-US" dirty="0">
                <a:latin typeface="Candara" panose="020E0502030303020204" pitchFamily="34" charset="0"/>
              </a:rPr>
              <a:t>There are four principal uses of registers</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In most machine architectures, some or all of the operands of an operation must be in registers</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Registers make good temporaries – </a:t>
            </a:r>
          </a:p>
          <a:p>
            <a:pPr lvl="2">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Hold the result of a subexpression while evaluating a larger expression</a:t>
            </a:r>
          </a:p>
          <a:p>
            <a:pPr lvl="2">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Hold a variable that is used only within a single basic block</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Registers are used to hold (</a:t>
            </a:r>
            <a:r>
              <a:rPr lang="en-US" altLang="en-US" i="1" dirty="0">
                <a:solidFill>
                  <a:srgbClr val="000000"/>
                </a:solidFill>
                <a:latin typeface="Candara" panose="020E0502030303020204" pitchFamily="34" charset="0"/>
              </a:rPr>
              <a:t>global</a:t>
            </a:r>
            <a:r>
              <a:rPr lang="en-US" altLang="en-US" dirty="0">
                <a:solidFill>
                  <a:srgbClr val="000000"/>
                </a:solidFill>
                <a:latin typeface="Candara" panose="020E0502030303020204" pitchFamily="34" charset="0"/>
              </a:rPr>
              <a:t>) values that are computed in one basic block and used in other blocks, for example a </a:t>
            </a:r>
            <a:r>
              <a:rPr lang="en-US" altLang="en-US" dirty="0">
                <a:solidFill>
                  <a:srgbClr val="0070C0"/>
                </a:solidFill>
                <a:latin typeface="Candara" panose="020E0502030303020204" pitchFamily="34" charset="0"/>
              </a:rPr>
              <a:t>loop index</a:t>
            </a:r>
          </a:p>
          <a:p>
            <a:pPr lvl="1">
              <a:spcBef>
                <a:spcPts val="800"/>
              </a:spcBef>
              <a:buFont typeface="Times New Roman" panose="02020603050405020304" pitchFamily="18" charset="0"/>
              <a:buChar char="•"/>
            </a:pPr>
            <a:r>
              <a:rPr lang="en-US" altLang="en-US" dirty="0">
                <a:latin typeface="Candara" panose="020E0502030303020204" pitchFamily="34" charset="0"/>
              </a:rPr>
              <a:t>Registers are often used to help with run-time storage management, for example maintaining </a:t>
            </a:r>
            <a:r>
              <a:rPr lang="en-US" altLang="en-US" dirty="0">
                <a:solidFill>
                  <a:srgbClr val="7030A0"/>
                </a:solidFill>
                <a:latin typeface="Candara" panose="020E0502030303020204" pitchFamily="34" charset="0"/>
              </a:rPr>
              <a:t>stack pointers</a:t>
            </a:r>
            <a:r>
              <a:rPr lang="en-US" altLang="en-US" dirty="0">
                <a:latin typeface="Candara" panose="020E0502030303020204" pitchFamily="34" charset="0"/>
              </a:rPr>
              <a:t> and  </a:t>
            </a:r>
            <a:r>
              <a:rPr lang="en-US" altLang="en-US" dirty="0">
                <a:solidFill>
                  <a:srgbClr val="00B050"/>
                </a:solidFill>
                <a:latin typeface="Candara" panose="020E0502030303020204" pitchFamily="34" charset="0"/>
              </a:rPr>
              <a:t>top of the stack</a:t>
            </a:r>
          </a:p>
        </p:txBody>
      </p:sp>
    </p:spTree>
    <p:extLst>
      <p:ext uri="{BB962C8B-B14F-4D97-AF65-F5344CB8AC3E}">
        <p14:creationId xmlns:p14="http://schemas.microsoft.com/office/powerpoint/2010/main" val="376639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down)">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wipe(down)">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wipe(down)">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wipe(down)">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wipe(down)">
                                      <p:cBhvr>
                                        <p:cTn id="27" dur="500"/>
                                        <p:tgtEl>
                                          <p:spTgt spid="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wipe(down)">
                                      <p:cBhvr>
                                        <p:cTn id="32" dur="500"/>
                                        <p:tgtEl>
                                          <p:spTgt spid="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animEffect transition="in" filter="wipe(down)">
                                      <p:cBhvr>
                                        <p:cTn id="37" dur="500"/>
                                        <p:tgtEl>
                                          <p:spTgt spid="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5">
                                            <p:txEl>
                                              <p:pRg st="7" end="7"/>
                                            </p:txEl>
                                          </p:spTgt>
                                        </p:tgtEl>
                                        <p:attrNameLst>
                                          <p:attrName>style.visibility</p:attrName>
                                        </p:attrNameLst>
                                      </p:cBhvr>
                                      <p:to>
                                        <p:strVal val="visible"/>
                                      </p:to>
                                    </p:set>
                                    <p:animEffect transition="in" filter="wipe(down)">
                                      <p:cBhvr>
                                        <p:cTn id="42"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743"/>
            <a:ext cx="10515600" cy="939186"/>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Simple Code-Generation Algorithm</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54</a:t>
            </a:fld>
            <a:endParaRPr lang="en-US" dirty="0"/>
          </a:p>
        </p:txBody>
      </p:sp>
      <p:sp>
        <p:nvSpPr>
          <p:cNvPr id="15" name="Content Placeholder 5"/>
          <p:cNvSpPr>
            <a:spLocks noGrp="1"/>
          </p:cNvSpPr>
          <p:nvPr>
            <p:ph idx="1"/>
          </p:nvPr>
        </p:nvSpPr>
        <p:spPr>
          <a:xfrm>
            <a:off x="838200" y="1299929"/>
            <a:ext cx="10903857" cy="4714436"/>
          </a:xfrm>
        </p:spPr>
        <p:txBody>
          <a:bodyPr>
            <a:normAutofit/>
          </a:bodyPr>
          <a:lstStyle/>
          <a:p>
            <a:r>
              <a:rPr lang="en-US" dirty="0">
                <a:latin typeface="Candara" panose="020E0502030303020204" pitchFamily="34" charset="0"/>
              </a:rPr>
              <a:t>Generates code for a single basic block</a:t>
            </a:r>
            <a:endParaRPr lang="en-US" altLang="en-US" sz="1200" dirty="0">
              <a:solidFill>
                <a:srgbClr val="000000"/>
              </a:solidFill>
              <a:latin typeface="Candara" panose="020E0502030303020204" pitchFamily="34" charset="0"/>
            </a:endParaRPr>
          </a:p>
          <a:p>
            <a:pPr>
              <a:spcBef>
                <a:spcPts val="800"/>
              </a:spcBef>
              <a:buFont typeface="Times New Roman" panose="02020603050405020304" pitchFamily="18" charset="0"/>
              <a:buChar char="•"/>
            </a:pPr>
            <a:r>
              <a:rPr lang="en-US" altLang="en-US" dirty="0">
                <a:solidFill>
                  <a:srgbClr val="0070C0"/>
                </a:solidFill>
                <a:latin typeface="Candara" panose="020E0502030303020204" pitchFamily="34" charset="0"/>
              </a:rPr>
              <a:t>Assumes</a:t>
            </a:r>
            <a:r>
              <a:rPr lang="en-US" altLang="en-US" dirty="0">
                <a:solidFill>
                  <a:srgbClr val="000000"/>
                </a:solidFill>
                <a:latin typeface="Candara" panose="020E0502030303020204" pitchFamily="34" charset="0"/>
              </a:rPr>
              <a:t> -</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the basic block has already been optimized</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some set of registers are available to hold values within blocks</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there is exactly one machine instruction for each </a:t>
            </a:r>
            <a:r>
              <a:rPr lang="en-US" altLang="en-US" dirty="0">
                <a:solidFill>
                  <a:srgbClr val="FF0000"/>
                </a:solidFill>
                <a:latin typeface="Candara" panose="020E0502030303020204" pitchFamily="34" charset="0"/>
              </a:rPr>
              <a:t>operator</a:t>
            </a:r>
            <a:r>
              <a:rPr lang="en-US" altLang="en-US" dirty="0">
                <a:solidFill>
                  <a:srgbClr val="000000"/>
                </a:solidFill>
                <a:latin typeface="Candara" panose="020E0502030303020204" pitchFamily="34" charset="0"/>
              </a:rPr>
              <a:t> that accepts the operands from registers and stores the result in a registers</a:t>
            </a:r>
          </a:p>
          <a:p>
            <a:r>
              <a:rPr lang="en-US" dirty="0">
                <a:latin typeface="Candara" panose="020E0502030303020204" pitchFamily="34" charset="0"/>
              </a:rPr>
              <a:t>Consider each three-address instruction in turn</a:t>
            </a:r>
            <a:endParaRPr lang="en-US" altLang="en-US" sz="1200" dirty="0">
              <a:solidFill>
                <a:srgbClr val="000000"/>
              </a:solidFill>
              <a:latin typeface="Candara" panose="020E0502030303020204" pitchFamily="34" charset="0"/>
            </a:endParaRPr>
          </a:p>
          <a:p>
            <a:pPr>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Keep track of what values are in what registers</a:t>
            </a:r>
          </a:p>
          <a:p>
            <a:pPr lvl="1">
              <a:spcBef>
                <a:spcPts val="800"/>
              </a:spcBef>
              <a:buFont typeface="Times New Roman" panose="02020603050405020304" pitchFamily="18" charset="0"/>
              <a:buChar char="•"/>
            </a:pPr>
            <a:r>
              <a:rPr lang="en-US" altLang="en-US" dirty="0">
                <a:solidFill>
                  <a:srgbClr val="000000"/>
                </a:solidFill>
                <a:latin typeface="Candara" panose="020E0502030303020204" pitchFamily="34" charset="0"/>
              </a:rPr>
              <a:t>Avoid generating unnecessary loads and stores</a:t>
            </a:r>
          </a:p>
        </p:txBody>
      </p:sp>
    </p:spTree>
    <p:extLst>
      <p:ext uri="{BB962C8B-B14F-4D97-AF65-F5344CB8AC3E}">
        <p14:creationId xmlns:p14="http://schemas.microsoft.com/office/powerpoint/2010/main" val="417128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down)">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wipe(down)">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wipe(down)">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wipe(down)">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wipe(down)">
                                      <p:cBhvr>
                                        <p:cTn id="27" dur="500"/>
                                        <p:tgtEl>
                                          <p:spTgt spid="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wipe(down)">
                                      <p:cBhvr>
                                        <p:cTn id="32" dur="500"/>
                                        <p:tgtEl>
                                          <p:spTgt spid="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animEffect transition="in" filter="wipe(down)">
                                      <p:cBhvr>
                                        <p:cTn id="37" dur="500"/>
                                        <p:tgtEl>
                                          <p:spTgt spid="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5">
                                            <p:txEl>
                                              <p:pRg st="7" end="7"/>
                                            </p:txEl>
                                          </p:spTgt>
                                        </p:tgtEl>
                                        <p:attrNameLst>
                                          <p:attrName>style.visibility</p:attrName>
                                        </p:attrNameLst>
                                      </p:cBhvr>
                                      <p:to>
                                        <p:strVal val="visible"/>
                                      </p:to>
                                    </p:set>
                                    <p:animEffect transition="in" filter="wipe(down)">
                                      <p:cBhvr>
                                        <p:cTn id="42"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Register and Address Descriptors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55</a:t>
            </a:fld>
            <a:endParaRPr lang="en-US" dirty="0"/>
          </a:p>
        </p:txBody>
      </p:sp>
      <p:sp>
        <p:nvSpPr>
          <p:cNvPr id="15" name="Content Placeholder 5"/>
          <p:cNvSpPr>
            <a:spLocks noGrp="1"/>
          </p:cNvSpPr>
          <p:nvPr>
            <p:ph idx="1"/>
          </p:nvPr>
        </p:nvSpPr>
        <p:spPr>
          <a:xfrm>
            <a:off x="838200" y="1214652"/>
            <a:ext cx="10515600" cy="4962312"/>
          </a:xfrm>
        </p:spPr>
        <p:txBody>
          <a:bodyPr>
            <a:normAutofit/>
          </a:bodyPr>
          <a:lstStyle/>
          <a:p>
            <a:r>
              <a:rPr lang="en-US" dirty="0">
                <a:solidFill>
                  <a:srgbClr val="FF0000"/>
                </a:solidFill>
                <a:latin typeface="Candara" panose="020E0502030303020204" pitchFamily="34" charset="0"/>
              </a:rPr>
              <a:t>Register Descriptor</a:t>
            </a:r>
          </a:p>
          <a:p>
            <a:pPr lvl="1"/>
            <a:r>
              <a:rPr lang="en-US" dirty="0">
                <a:latin typeface="Candara" panose="020E0502030303020204" pitchFamily="34" charset="0"/>
              </a:rPr>
              <a:t>One for each register</a:t>
            </a:r>
          </a:p>
          <a:p>
            <a:pPr lvl="1"/>
            <a:r>
              <a:rPr lang="en-US" dirty="0">
                <a:latin typeface="Candara" panose="020E0502030303020204" pitchFamily="34" charset="0"/>
              </a:rPr>
              <a:t>Keeps track of the variable names whose current value is in the register</a:t>
            </a:r>
          </a:p>
          <a:p>
            <a:pPr lvl="1"/>
            <a:r>
              <a:rPr lang="en-US" dirty="0">
                <a:latin typeface="Candara" panose="020E0502030303020204" pitchFamily="34" charset="0"/>
              </a:rPr>
              <a:t>Initially all are set to empty</a:t>
            </a:r>
          </a:p>
          <a:p>
            <a:r>
              <a:rPr lang="en-US" dirty="0">
                <a:solidFill>
                  <a:srgbClr val="FF0000"/>
                </a:solidFill>
                <a:latin typeface="Candara" panose="020E0502030303020204" pitchFamily="34" charset="0"/>
              </a:rPr>
              <a:t>Address Descriptor</a:t>
            </a:r>
          </a:p>
          <a:p>
            <a:pPr lvl="1"/>
            <a:r>
              <a:rPr lang="en-US" dirty="0">
                <a:solidFill>
                  <a:prstClr val="black"/>
                </a:solidFill>
                <a:latin typeface="Candara" panose="020E0502030303020204" pitchFamily="34" charset="0"/>
              </a:rPr>
              <a:t>One for each program variable</a:t>
            </a:r>
          </a:p>
          <a:p>
            <a:pPr lvl="1"/>
            <a:r>
              <a:rPr lang="en-US" dirty="0">
                <a:solidFill>
                  <a:prstClr val="black"/>
                </a:solidFill>
                <a:latin typeface="Candara" panose="020E0502030303020204" pitchFamily="34" charset="0"/>
              </a:rPr>
              <a:t>Keeps track of the location or locations where the current value of that variable can be found</a:t>
            </a:r>
          </a:p>
          <a:p>
            <a:pPr lvl="2"/>
            <a:r>
              <a:rPr lang="en-US" dirty="0">
                <a:solidFill>
                  <a:prstClr val="black"/>
                </a:solidFill>
                <a:latin typeface="Candara" panose="020E0502030303020204" pitchFamily="34" charset="0"/>
              </a:rPr>
              <a:t>Locations can be a register, a memory address, a stack location</a:t>
            </a:r>
          </a:p>
          <a:p>
            <a:pPr lvl="2"/>
            <a:r>
              <a:rPr lang="en-US" dirty="0">
                <a:solidFill>
                  <a:prstClr val="black"/>
                </a:solidFill>
                <a:latin typeface="Candara" panose="020E0502030303020204" pitchFamily="34" charset="0"/>
              </a:rPr>
              <a:t>Can be a set of more than one of the above</a:t>
            </a:r>
          </a:p>
          <a:p>
            <a:pPr lvl="2"/>
            <a:r>
              <a:rPr lang="en-US" dirty="0">
                <a:solidFill>
                  <a:prstClr val="black"/>
                </a:solidFill>
                <a:latin typeface="Candara" panose="020E0502030303020204" pitchFamily="34" charset="0"/>
              </a:rPr>
              <a:t>Can be stored in the symbol table entry of the variable</a:t>
            </a:r>
          </a:p>
          <a:p>
            <a:pPr lvl="1"/>
            <a:endParaRPr lang="en-US" dirty="0">
              <a:solidFill>
                <a:prstClr val="black"/>
              </a:solidFill>
              <a:latin typeface="Candara" panose="020E0502030303020204" pitchFamily="34" charset="0"/>
            </a:endParaRPr>
          </a:p>
          <a:p>
            <a:pPr lvl="1"/>
            <a:endParaRPr lang="en-US" altLang="en-US" sz="800" dirty="0">
              <a:solidFill>
                <a:srgbClr val="000000"/>
              </a:solidFill>
              <a:latin typeface="Candara" panose="020E0502030303020204" pitchFamily="34" charset="0"/>
            </a:endParaRPr>
          </a:p>
          <a:p>
            <a:pPr lvl="1">
              <a:spcBef>
                <a:spcPts val="800"/>
              </a:spcBef>
              <a:buFont typeface="Times New Roman" panose="02020603050405020304" pitchFamily="18" charset="0"/>
              <a:buChar char="•"/>
            </a:pPr>
            <a:endParaRPr lang="en-US" altLang="en-US" dirty="0">
              <a:solidFill>
                <a:srgbClr val="000000"/>
              </a:solidFill>
              <a:latin typeface="Candara" panose="020E0502030303020204" pitchFamily="34" charset="0"/>
            </a:endParaRPr>
          </a:p>
          <a:p>
            <a:pPr lvl="1">
              <a:spcBef>
                <a:spcPts val="800"/>
              </a:spcBef>
              <a:buFont typeface="Times New Roman" panose="02020603050405020304" pitchFamily="18" charset="0"/>
              <a:buChar char="•"/>
            </a:pPr>
            <a:endParaRPr lang="en-US" altLang="en-US" dirty="0">
              <a:solidFill>
                <a:srgbClr val="000000"/>
              </a:solidFill>
              <a:latin typeface="Candara" panose="020E0502030303020204" pitchFamily="34" charset="0"/>
            </a:endParaRPr>
          </a:p>
          <a:p>
            <a:pPr>
              <a:spcBef>
                <a:spcPts val="800"/>
              </a:spcBef>
              <a:buFont typeface="Times New Roman" panose="02020603050405020304" pitchFamily="18" charset="0"/>
              <a:buChar char="•"/>
            </a:pPr>
            <a:endParaRPr lang="en-US" altLang="en-US" sz="1200" dirty="0">
              <a:solidFill>
                <a:srgbClr val="000000"/>
              </a:solidFill>
              <a:latin typeface="Candara" panose="020E0502030303020204" pitchFamily="34" charset="0"/>
            </a:endParaRPr>
          </a:p>
          <a:p>
            <a:endParaRPr lang="en-US" dirty="0">
              <a:latin typeface="Candara" panose="020E0502030303020204" pitchFamily="34" charset="0"/>
            </a:endParaRPr>
          </a:p>
        </p:txBody>
      </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fade">
                                      <p:cBhvr>
                                        <p:cTn id="10" dur="500"/>
                                        <p:tgtEl>
                                          <p:spTgt spid="1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Effect transition="in" filter="fade">
                                      <p:cBhvr>
                                        <p:cTn id="13" dur="500"/>
                                        <p:tgtEl>
                                          <p:spTgt spid="1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xEl>
                                              <p:pRg st="3" end="3"/>
                                            </p:txEl>
                                          </p:spTgt>
                                        </p:tgtEl>
                                        <p:attrNameLst>
                                          <p:attrName>style.visibility</p:attrName>
                                        </p:attrNameLst>
                                      </p:cBhvr>
                                      <p:to>
                                        <p:strVal val="visible"/>
                                      </p:to>
                                    </p:set>
                                    <p:animEffect transition="in" filter="fade">
                                      <p:cBhvr>
                                        <p:cTn id="16" dur="500"/>
                                        <p:tgtEl>
                                          <p:spTgt spid="1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xEl>
                                              <p:pRg st="4" end="4"/>
                                            </p:txEl>
                                          </p:spTgt>
                                        </p:tgtEl>
                                        <p:attrNameLst>
                                          <p:attrName>style.visibility</p:attrName>
                                        </p:attrNameLst>
                                      </p:cBhvr>
                                      <p:to>
                                        <p:strVal val="visible"/>
                                      </p:to>
                                    </p:set>
                                    <p:animEffect transition="in" filter="fade">
                                      <p:cBhvr>
                                        <p:cTn id="21" dur="500"/>
                                        <p:tgtEl>
                                          <p:spTgt spid="1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xEl>
                                              <p:pRg st="5" end="5"/>
                                            </p:txEl>
                                          </p:spTgt>
                                        </p:tgtEl>
                                        <p:attrNameLst>
                                          <p:attrName>style.visibility</p:attrName>
                                        </p:attrNameLst>
                                      </p:cBhvr>
                                      <p:to>
                                        <p:strVal val="visible"/>
                                      </p:to>
                                    </p:set>
                                    <p:animEffect transition="in" filter="fade">
                                      <p:cBhvr>
                                        <p:cTn id="24" dur="500"/>
                                        <p:tgtEl>
                                          <p:spTgt spid="1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xEl>
                                              <p:pRg st="6" end="6"/>
                                            </p:txEl>
                                          </p:spTgt>
                                        </p:tgtEl>
                                        <p:attrNameLst>
                                          <p:attrName>style.visibility</p:attrName>
                                        </p:attrNameLst>
                                      </p:cBhvr>
                                      <p:to>
                                        <p:strVal val="visible"/>
                                      </p:to>
                                    </p:set>
                                    <p:animEffect transition="in" filter="fade">
                                      <p:cBhvr>
                                        <p:cTn id="27" dur="500"/>
                                        <p:tgtEl>
                                          <p:spTgt spid="1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xEl>
                                              <p:pRg st="7" end="7"/>
                                            </p:txEl>
                                          </p:spTgt>
                                        </p:tgtEl>
                                        <p:attrNameLst>
                                          <p:attrName>style.visibility</p:attrName>
                                        </p:attrNameLst>
                                      </p:cBhvr>
                                      <p:to>
                                        <p:strVal val="visible"/>
                                      </p:to>
                                    </p:set>
                                    <p:animEffect transition="in" filter="fade">
                                      <p:cBhvr>
                                        <p:cTn id="30" dur="500"/>
                                        <p:tgtEl>
                                          <p:spTgt spid="1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xEl>
                                              <p:pRg st="8" end="8"/>
                                            </p:txEl>
                                          </p:spTgt>
                                        </p:tgtEl>
                                        <p:attrNameLst>
                                          <p:attrName>style.visibility</p:attrName>
                                        </p:attrNameLst>
                                      </p:cBhvr>
                                      <p:to>
                                        <p:strVal val="visible"/>
                                      </p:to>
                                    </p:set>
                                    <p:animEffect transition="in" filter="fade">
                                      <p:cBhvr>
                                        <p:cTn id="33" dur="500"/>
                                        <p:tgtEl>
                                          <p:spTgt spid="1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xEl>
                                              <p:pRg st="9" end="9"/>
                                            </p:txEl>
                                          </p:spTgt>
                                        </p:tgtEl>
                                        <p:attrNameLst>
                                          <p:attrName>style.visibility</p:attrName>
                                        </p:attrNameLst>
                                      </p:cBhvr>
                                      <p:to>
                                        <p:strVal val="visible"/>
                                      </p:to>
                                    </p:set>
                                    <p:animEffect transition="in" filter="fade">
                                      <p:cBhvr>
                                        <p:cTn id="36" dur="5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532291" y="2532023"/>
            <a:ext cx="1911464" cy="1805271"/>
          </a:xfrm>
          <a:prstGeom prst="rect">
            <a:avLst/>
          </a:prstGeom>
          <a:noFill/>
          <a:ln w="9525">
            <a:noFill/>
            <a:miter lim="800000"/>
            <a:headEnd/>
            <a:tailEnd/>
          </a:ln>
        </p:spPr>
      </p:pic>
      <p:pic>
        <p:nvPicPr>
          <p:cNvPr id="18" name="Picture 2"/>
          <p:cNvPicPr>
            <a:picLocks noChangeAspect="1" noChangeArrowheads="1"/>
          </p:cNvPicPr>
          <p:nvPr/>
        </p:nvPicPr>
        <p:blipFill rotWithShape="1">
          <a:blip r:embed="rId3" cstate="print"/>
          <a:srcRect l="7467" t="31524" r="70020" b="59452"/>
          <a:stretch/>
        </p:blipFill>
        <p:spPr bwMode="auto">
          <a:xfrm>
            <a:off x="2833877" y="4117630"/>
            <a:ext cx="1802737" cy="624115"/>
          </a:xfrm>
          <a:prstGeom prst="rect">
            <a:avLst/>
          </a:prstGeom>
          <a:noFill/>
          <a:ln w="9525">
            <a:noFill/>
            <a:miter lim="800000"/>
            <a:headEnd/>
            <a:tailEnd/>
          </a:ln>
        </p:spPr>
      </p:pic>
      <p:sp>
        <p:nvSpPr>
          <p:cNvPr id="2" name="Title 1"/>
          <p:cNvSpPr>
            <a:spLocks noGrp="1"/>
          </p:cNvSpPr>
          <p:nvPr>
            <p:ph type="title"/>
          </p:nvPr>
        </p:nvSpPr>
        <p:spPr>
          <a:xfrm>
            <a:off x="838200" y="18758"/>
            <a:ext cx="10844284"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An Example of Code-Generation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56</a:t>
            </a:fld>
            <a:endParaRPr lang="en-US" dirty="0"/>
          </a:p>
        </p:txBody>
      </p:sp>
      <p:pic>
        <p:nvPicPr>
          <p:cNvPr id="6146" name="Picture 2"/>
          <p:cNvPicPr>
            <a:picLocks noChangeAspect="1" noChangeArrowheads="1"/>
          </p:cNvPicPr>
          <p:nvPr/>
        </p:nvPicPr>
        <p:blipFill rotWithShape="1">
          <a:blip r:embed="rId3" cstate="print"/>
          <a:srcRect l="30153" r="48417" b="81769"/>
          <a:stretch/>
        </p:blipFill>
        <p:spPr bwMode="auto">
          <a:xfrm>
            <a:off x="6441044" y="1845202"/>
            <a:ext cx="1715984" cy="1260856"/>
          </a:xfrm>
          <a:prstGeom prst="rect">
            <a:avLst/>
          </a:prstGeom>
          <a:noFill/>
          <a:ln w="9525">
            <a:noFill/>
            <a:miter lim="800000"/>
            <a:headEnd/>
            <a:tailEnd/>
          </a:ln>
        </p:spPr>
      </p:pic>
      <p:sp>
        <p:nvSpPr>
          <p:cNvPr id="9" name="TextBox 8"/>
          <p:cNvSpPr txBox="1"/>
          <p:nvPr/>
        </p:nvSpPr>
        <p:spPr>
          <a:xfrm>
            <a:off x="546332" y="1367870"/>
            <a:ext cx="1883382" cy="400110"/>
          </a:xfrm>
          <a:prstGeom prst="rect">
            <a:avLst/>
          </a:prstGeom>
          <a:noFill/>
        </p:spPr>
        <p:txBody>
          <a:bodyPr wrap="square" rtlCol="0">
            <a:spAutoFit/>
          </a:bodyPr>
          <a:lstStyle/>
          <a:p>
            <a:pPr algn="ctr"/>
            <a:r>
              <a:rPr lang="en-US" sz="2000" u="sng" dirty="0">
                <a:solidFill>
                  <a:srgbClr val="FF0000"/>
                </a:solidFill>
                <a:latin typeface="Candara" panose="020E0502030303020204" pitchFamily="34" charset="0"/>
              </a:rPr>
              <a:t>IR (TAC)</a:t>
            </a:r>
          </a:p>
        </p:txBody>
      </p:sp>
      <p:pic>
        <p:nvPicPr>
          <p:cNvPr id="11" name="Picture 2"/>
          <p:cNvPicPr>
            <a:picLocks noChangeAspect="1" noChangeArrowheads="1"/>
          </p:cNvPicPr>
          <p:nvPr/>
        </p:nvPicPr>
        <p:blipFill rotWithShape="1">
          <a:blip r:embed="rId3" cstate="print"/>
          <a:srcRect t="12383" r="70020" b="75024"/>
          <a:stretch/>
        </p:blipFill>
        <p:spPr bwMode="auto">
          <a:xfrm>
            <a:off x="2154020" y="2648808"/>
            <a:ext cx="2400630" cy="870857"/>
          </a:xfrm>
          <a:prstGeom prst="rect">
            <a:avLst/>
          </a:prstGeom>
          <a:noFill/>
          <a:ln w="9525">
            <a:noFill/>
            <a:miter lim="800000"/>
            <a:headEnd/>
            <a:tailEnd/>
          </a:ln>
        </p:spPr>
      </p:pic>
      <p:sp>
        <p:nvSpPr>
          <p:cNvPr id="12" name="TextBox 11"/>
          <p:cNvSpPr txBox="1"/>
          <p:nvPr/>
        </p:nvSpPr>
        <p:spPr>
          <a:xfrm>
            <a:off x="4340502" y="1367870"/>
            <a:ext cx="1883382" cy="400110"/>
          </a:xfrm>
          <a:prstGeom prst="rect">
            <a:avLst/>
          </a:prstGeom>
          <a:noFill/>
        </p:spPr>
        <p:txBody>
          <a:bodyPr wrap="square" rtlCol="0">
            <a:spAutoFit/>
          </a:bodyPr>
          <a:lstStyle/>
          <a:p>
            <a:pPr algn="ctr"/>
            <a:r>
              <a:rPr lang="en-US" sz="2000" i="1" u="sng" dirty="0">
                <a:solidFill>
                  <a:srgbClr val="FF0000"/>
                </a:solidFill>
                <a:latin typeface="Candara" panose="020E0502030303020204" pitchFamily="34" charset="0"/>
                <a:cs typeface="Courier New" pitchFamily="49" charset="0"/>
              </a:rPr>
              <a:t>getReg(I)</a:t>
            </a:r>
          </a:p>
        </p:txBody>
      </p:sp>
      <p:sp>
        <p:nvSpPr>
          <p:cNvPr id="14" name="TextBox 13"/>
          <p:cNvSpPr txBox="1"/>
          <p:nvPr/>
        </p:nvSpPr>
        <p:spPr>
          <a:xfrm>
            <a:off x="4600151" y="2576238"/>
            <a:ext cx="1347962" cy="338554"/>
          </a:xfrm>
          <a:prstGeom prst="rect">
            <a:avLst/>
          </a:prstGeom>
          <a:noFill/>
          <a:ln>
            <a:solidFill>
              <a:schemeClr val="accent4">
                <a:lumMod val="75000"/>
              </a:schemeClr>
            </a:solidFill>
            <a:prstDash val="dash"/>
          </a:ln>
        </p:spPr>
        <p:txBody>
          <a:bodyPr wrap="square" rtlCol="0">
            <a:spAutoFit/>
          </a:bodyPr>
          <a:lstStyle/>
          <a:p>
            <a:pPr algn="ctr"/>
            <a:r>
              <a:rPr lang="en-US" sz="1600" dirty="0">
                <a:solidFill>
                  <a:schemeClr val="accent5">
                    <a:lumMod val="75000"/>
                  </a:schemeClr>
                </a:solidFill>
                <a:latin typeface="Cambria Math" pitchFamily="18" charset="0"/>
                <a:ea typeface="Cambria Math" pitchFamily="18" charset="0"/>
                <a:cs typeface="Courier New" pitchFamily="49" charset="0"/>
              </a:rPr>
              <a:t>{R2, R1, R2}</a:t>
            </a:r>
          </a:p>
        </p:txBody>
      </p:sp>
      <p:sp>
        <p:nvSpPr>
          <p:cNvPr id="15" name="TextBox 14"/>
          <p:cNvSpPr txBox="1"/>
          <p:nvPr/>
        </p:nvSpPr>
        <p:spPr>
          <a:xfrm>
            <a:off x="4694271" y="4077425"/>
            <a:ext cx="1313650" cy="338554"/>
          </a:xfrm>
          <a:prstGeom prst="rect">
            <a:avLst/>
          </a:prstGeom>
          <a:noFill/>
          <a:ln>
            <a:solidFill>
              <a:schemeClr val="accent4">
                <a:lumMod val="75000"/>
              </a:schemeClr>
            </a:solidFill>
            <a:prstDash val="dash"/>
          </a:ln>
        </p:spPr>
        <p:txBody>
          <a:bodyPr wrap="square" rtlCol="0">
            <a:spAutoFit/>
          </a:bodyPr>
          <a:lstStyle>
            <a:defPPr>
              <a:defRPr lang="en-US"/>
            </a:defPPr>
            <a:lvl1pPr>
              <a:defRPr sz="1600">
                <a:solidFill>
                  <a:schemeClr val="accent5">
                    <a:lumMod val="75000"/>
                  </a:schemeClr>
                </a:solidFill>
                <a:latin typeface="Cambria Math" pitchFamily="18" charset="0"/>
                <a:ea typeface="Cambria Math" pitchFamily="18" charset="0"/>
                <a:cs typeface="Courier New" pitchFamily="49" charset="0"/>
              </a:defRPr>
            </a:lvl1pPr>
          </a:lstStyle>
          <a:p>
            <a:pPr algn="ctr"/>
            <a:r>
              <a:rPr lang="en-US" dirty="0"/>
              <a:t>{R1, R1, R3}</a:t>
            </a:r>
          </a:p>
        </p:txBody>
      </p:sp>
      <p:cxnSp>
        <p:nvCxnSpPr>
          <p:cNvPr id="10" name="Straight Arrow Connector 9"/>
          <p:cNvCxnSpPr/>
          <p:nvPr/>
        </p:nvCxnSpPr>
        <p:spPr>
          <a:xfrm>
            <a:off x="2223303" y="2773433"/>
            <a:ext cx="610574" cy="1326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223716" y="3176724"/>
            <a:ext cx="689727" cy="101044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12777" y="1367870"/>
            <a:ext cx="2428870" cy="400110"/>
          </a:xfrm>
          <a:prstGeom prst="rect">
            <a:avLst/>
          </a:prstGeom>
        </p:spPr>
        <p:txBody>
          <a:bodyPr wrap="none">
            <a:spAutoFit/>
          </a:bodyPr>
          <a:lstStyle/>
          <a:p>
            <a:r>
              <a:rPr lang="en-US" sz="2000" u="sng" dirty="0">
                <a:solidFill>
                  <a:srgbClr val="FF0000"/>
                </a:solidFill>
                <a:latin typeface="Candara" panose="020E0502030303020204" pitchFamily="34" charset="0"/>
              </a:rPr>
              <a:t>Register Descriptors</a:t>
            </a:r>
            <a:endParaRPr lang="en-US" sz="2000" u="sng" dirty="0">
              <a:solidFill>
                <a:srgbClr val="FF0000"/>
              </a:solidFill>
            </a:endParaRPr>
          </a:p>
        </p:txBody>
      </p:sp>
      <p:sp>
        <p:nvSpPr>
          <p:cNvPr id="17" name="Rectangle 16"/>
          <p:cNvSpPr/>
          <p:nvPr/>
        </p:nvSpPr>
        <p:spPr>
          <a:xfrm>
            <a:off x="8462568" y="1367870"/>
            <a:ext cx="2934267" cy="400110"/>
          </a:xfrm>
          <a:prstGeom prst="rect">
            <a:avLst/>
          </a:prstGeom>
        </p:spPr>
        <p:txBody>
          <a:bodyPr wrap="square">
            <a:spAutoFit/>
          </a:bodyPr>
          <a:lstStyle/>
          <a:p>
            <a:pPr algn="ctr"/>
            <a:r>
              <a:rPr lang="en-US" sz="2000" u="sng" dirty="0">
                <a:solidFill>
                  <a:srgbClr val="FF0000"/>
                </a:solidFill>
                <a:latin typeface="Candara" panose="020E0502030303020204" pitchFamily="34" charset="0"/>
              </a:rPr>
              <a:t>Address Descriptors</a:t>
            </a:r>
            <a:endParaRPr lang="en-US" sz="2000" u="sng" dirty="0">
              <a:solidFill>
                <a:srgbClr val="FF0000"/>
              </a:solidFill>
            </a:endParaRPr>
          </a:p>
        </p:txBody>
      </p:sp>
      <p:pic>
        <p:nvPicPr>
          <p:cNvPr id="23" name="Picture 2"/>
          <p:cNvPicPr>
            <a:picLocks noChangeAspect="1" noChangeArrowheads="1"/>
          </p:cNvPicPr>
          <p:nvPr/>
        </p:nvPicPr>
        <p:blipFill rotWithShape="1">
          <a:blip r:embed="rId3" cstate="print"/>
          <a:srcRect l="51855" b="84305"/>
          <a:stretch/>
        </p:blipFill>
        <p:spPr bwMode="auto">
          <a:xfrm>
            <a:off x="8336918" y="1817373"/>
            <a:ext cx="3855082" cy="1085484"/>
          </a:xfrm>
          <a:prstGeom prst="rect">
            <a:avLst/>
          </a:prstGeom>
          <a:noFill/>
          <a:ln w="9525">
            <a:noFill/>
            <a:miter lim="800000"/>
            <a:headEnd/>
            <a:tailEnd/>
          </a:ln>
        </p:spPr>
      </p:pic>
      <p:sp>
        <p:nvSpPr>
          <p:cNvPr id="22" name="TextBox 21"/>
          <p:cNvSpPr txBox="1"/>
          <p:nvPr/>
        </p:nvSpPr>
        <p:spPr>
          <a:xfrm>
            <a:off x="2300227" y="1367870"/>
            <a:ext cx="1883382" cy="400110"/>
          </a:xfrm>
          <a:prstGeom prst="rect">
            <a:avLst/>
          </a:prstGeom>
          <a:noFill/>
        </p:spPr>
        <p:txBody>
          <a:bodyPr wrap="square" rtlCol="0">
            <a:spAutoFit/>
          </a:bodyPr>
          <a:lstStyle/>
          <a:p>
            <a:pPr algn="ctr"/>
            <a:r>
              <a:rPr lang="en-US" sz="2000" u="sng" dirty="0">
                <a:solidFill>
                  <a:srgbClr val="FF0000"/>
                </a:solidFill>
                <a:latin typeface="Candara" panose="020E0502030303020204" pitchFamily="34" charset="0"/>
              </a:rPr>
              <a:t>Gen. Code</a:t>
            </a:r>
          </a:p>
        </p:txBody>
      </p:sp>
      <p:pic>
        <p:nvPicPr>
          <p:cNvPr id="26" name="Picture 2"/>
          <p:cNvPicPr>
            <a:picLocks noChangeAspect="1" noChangeArrowheads="1"/>
          </p:cNvPicPr>
          <p:nvPr/>
        </p:nvPicPr>
        <p:blipFill rotWithShape="1">
          <a:blip r:embed="rId3" cstate="print"/>
          <a:srcRect l="30153" t="21904" r="48417" b="67603"/>
          <a:stretch/>
        </p:blipFill>
        <p:spPr bwMode="auto">
          <a:xfrm>
            <a:off x="6441044" y="3410860"/>
            <a:ext cx="1715984" cy="725714"/>
          </a:xfrm>
          <a:prstGeom prst="rect">
            <a:avLst/>
          </a:prstGeom>
          <a:noFill/>
          <a:ln w="9525">
            <a:noFill/>
            <a:miter lim="800000"/>
            <a:headEnd/>
            <a:tailEnd/>
          </a:ln>
        </p:spPr>
      </p:pic>
      <p:pic>
        <p:nvPicPr>
          <p:cNvPr id="27" name="Picture 2"/>
          <p:cNvPicPr>
            <a:picLocks noChangeAspect="1" noChangeArrowheads="1"/>
          </p:cNvPicPr>
          <p:nvPr/>
        </p:nvPicPr>
        <p:blipFill rotWithShape="1">
          <a:blip r:embed="rId3" cstate="print"/>
          <a:srcRect l="30153" t="37088" r="48417" b="51789"/>
          <a:stretch/>
        </p:blipFill>
        <p:spPr bwMode="auto">
          <a:xfrm>
            <a:off x="6490308" y="4665888"/>
            <a:ext cx="1715984" cy="769257"/>
          </a:xfrm>
          <a:prstGeom prst="rect">
            <a:avLst/>
          </a:prstGeom>
          <a:noFill/>
          <a:ln w="9525">
            <a:noFill/>
            <a:miter lim="800000"/>
            <a:headEnd/>
            <a:tailEnd/>
          </a:ln>
        </p:spPr>
      </p:pic>
      <p:pic>
        <p:nvPicPr>
          <p:cNvPr id="28" name="Picture 2"/>
          <p:cNvPicPr>
            <a:picLocks noChangeAspect="1" noChangeArrowheads="1"/>
          </p:cNvPicPr>
          <p:nvPr/>
        </p:nvPicPr>
        <p:blipFill rotWithShape="1">
          <a:blip r:embed="rId3" cstate="print"/>
          <a:srcRect l="51855" t="21257" r="2693" b="66571"/>
          <a:stretch/>
        </p:blipFill>
        <p:spPr bwMode="auto">
          <a:xfrm>
            <a:off x="8407370" y="3381375"/>
            <a:ext cx="3639487" cy="841828"/>
          </a:xfrm>
          <a:prstGeom prst="rect">
            <a:avLst/>
          </a:prstGeom>
          <a:noFill/>
          <a:ln w="9525">
            <a:noFill/>
            <a:miter lim="800000"/>
            <a:headEnd/>
            <a:tailEnd/>
          </a:ln>
        </p:spPr>
      </p:pic>
      <p:pic>
        <p:nvPicPr>
          <p:cNvPr id="29" name="Picture 2"/>
          <p:cNvPicPr>
            <a:picLocks noChangeAspect="1" noChangeArrowheads="1"/>
          </p:cNvPicPr>
          <p:nvPr/>
        </p:nvPicPr>
        <p:blipFill rotWithShape="1">
          <a:blip r:embed="rId3" cstate="print"/>
          <a:srcRect l="51855" t="38151" r="3625" b="53874"/>
          <a:stretch/>
        </p:blipFill>
        <p:spPr bwMode="auto">
          <a:xfrm>
            <a:off x="8401912" y="4731202"/>
            <a:ext cx="3564796" cy="551544"/>
          </a:xfrm>
          <a:prstGeom prst="rect">
            <a:avLst/>
          </a:prstGeom>
          <a:noFill/>
          <a:ln w="9525">
            <a:noFill/>
            <a:miter lim="800000"/>
            <a:headEnd/>
            <a:tailEnd/>
          </a:ln>
        </p:spPr>
      </p:pic>
      <p:sp>
        <p:nvSpPr>
          <p:cNvPr id="30" name="Rectangle 29"/>
          <p:cNvSpPr/>
          <p:nvPr/>
        </p:nvSpPr>
        <p:spPr>
          <a:xfrm>
            <a:off x="827315" y="2605266"/>
            <a:ext cx="1385103" cy="362855"/>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827315" y="2960865"/>
            <a:ext cx="1385103" cy="307848"/>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1000"/>
                                        <p:tgtEl>
                                          <p:spTgt spid="28"/>
                                        </p:tgtEl>
                                      </p:cBhvr>
                                    </p:animEffect>
                                    <p:anim calcmode="lin" valueType="num">
                                      <p:cBhvr>
                                        <p:cTn id="35" dur="1000" fill="hold"/>
                                        <p:tgtEl>
                                          <p:spTgt spid="28"/>
                                        </p:tgtEl>
                                        <p:attrNameLst>
                                          <p:attrName>ppt_x</p:attrName>
                                        </p:attrNameLst>
                                      </p:cBhvr>
                                      <p:tavLst>
                                        <p:tav tm="0">
                                          <p:val>
                                            <p:strVal val="#ppt_x"/>
                                          </p:val>
                                        </p:tav>
                                        <p:tav tm="100000">
                                          <p:val>
                                            <p:strVal val="#ppt_x"/>
                                          </p:val>
                                        </p:tav>
                                      </p:tavLst>
                                    </p:anim>
                                    <p:anim calcmode="lin" valueType="num">
                                      <p:cBhvr>
                                        <p:cTn id="3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hidden"/>
                                      </p:to>
                                    </p:set>
                                  </p:childTnLst>
                                </p:cTn>
                              </p:par>
                              <p:par>
                                <p:cTn id="41" presetID="14" presetClass="entr" presetSubtype="1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randombar(horizontal)">
                                      <p:cBhvr>
                                        <p:cTn id="43" dur="5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ppt_x"/>
                                          </p:val>
                                        </p:tav>
                                        <p:tav tm="100000">
                                          <p:val>
                                            <p:strVal val="#ppt_x"/>
                                          </p:val>
                                        </p:tav>
                                      </p:tavLst>
                                    </p:anim>
                                    <p:anim calcmode="lin" valueType="num">
                                      <p:cBhvr additive="base">
                                        <p:cTn id="4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1000"/>
                                        <p:tgtEl>
                                          <p:spTgt spid="18"/>
                                        </p:tgtEl>
                                      </p:cBhvr>
                                    </p:animEffect>
                                    <p:anim calcmode="lin" valueType="num">
                                      <p:cBhvr>
                                        <p:cTn id="60" dur="1000" fill="hold"/>
                                        <p:tgtEl>
                                          <p:spTgt spid="18"/>
                                        </p:tgtEl>
                                        <p:attrNameLst>
                                          <p:attrName>ppt_x</p:attrName>
                                        </p:attrNameLst>
                                      </p:cBhvr>
                                      <p:tavLst>
                                        <p:tav tm="0">
                                          <p:val>
                                            <p:strVal val="#ppt_x"/>
                                          </p:val>
                                        </p:tav>
                                        <p:tav tm="100000">
                                          <p:val>
                                            <p:strVal val="#ppt_x"/>
                                          </p:val>
                                        </p:tav>
                                      </p:tavLst>
                                    </p:anim>
                                    <p:anim calcmode="lin" valueType="num">
                                      <p:cBhvr>
                                        <p:cTn id="6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1000"/>
                                        <p:tgtEl>
                                          <p:spTgt spid="29"/>
                                        </p:tgtEl>
                                      </p:cBhvr>
                                    </p:animEffect>
                                    <p:anim calcmode="lin" valueType="num">
                                      <p:cBhvr>
                                        <p:cTn id="72" dur="1000" fill="hold"/>
                                        <p:tgtEl>
                                          <p:spTgt spid="29"/>
                                        </p:tgtEl>
                                        <p:attrNameLst>
                                          <p:attrName>ppt_x</p:attrName>
                                        </p:attrNameLst>
                                      </p:cBhvr>
                                      <p:tavLst>
                                        <p:tav tm="0">
                                          <p:val>
                                            <p:strVal val="#ppt_x"/>
                                          </p:val>
                                        </p:tav>
                                        <p:tav tm="100000">
                                          <p:val>
                                            <p:strVal val="#ppt_x"/>
                                          </p:val>
                                        </p:tav>
                                      </p:tavLst>
                                    </p:anim>
                                    <p:anim calcmode="lin" valueType="num">
                                      <p:cBhvr>
                                        <p:cTn id="7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30" grpId="0" animBg="1"/>
      <p:bldP spid="30" grpId="1" animBg="1"/>
      <p:bldP spid="3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p:cNvPicPr>
            <a:picLocks noChangeAspect="1" noChangeArrowheads="1"/>
          </p:cNvPicPr>
          <p:nvPr/>
        </p:nvPicPr>
        <p:blipFill>
          <a:blip r:embed="rId2" cstate="print"/>
          <a:srcRect/>
          <a:stretch>
            <a:fillRect/>
          </a:stretch>
        </p:blipFill>
        <p:spPr bwMode="auto">
          <a:xfrm>
            <a:off x="154575" y="1766766"/>
            <a:ext cx="1911464" cy="1805271"/>
          </a:xfrm>
          <a:prstGeom prst="rect">
            <a:avLst/>
          </a:prstGeom>
          <a:noFill/>
          <a:ln w="9525">
            <a:noFill/>
            <a:miter lim="800000"/>
            <a:headEnd/>
            <a:tailEnd/>
          </a:ln>
        </p:spPr>
      </p:pic>
      <p:pic>
        <p:nvPicPr>
          <p:cNvPr id="32" name="Picture 2"/>
          <p:cNvPicPr>
            <a:picLocks noChangeAspect="1" noChangeArrowheads="1"/>
          </p:cNvPicPr>
          <p:nvPr/>
        </p:nvPicPr>
        <p:blipFill rotWithShape="1">
          <a:blip r:embed="rId3" cstate="print"/>
          <a:srcRect l="6164" t="71119" r="70557" b="23083"/>
          <a:stretch/>
        </p:blipFill>
        <p:spPr bwMode="auto">
          <a:xfrm>
            <a:off x="2491336" y="4342420"/>
            <a:ext cx="1894266" cy="407461"/>
          </a:xfrm>
          <a:prstGeom prst="rect">
            <a:avLst/>
          </a:prstGeom>
          <a:noFill/>
          <a:ln w="9525">
            <a:noFill/>
            <a:miter lim="800000"/>
            <a:headEnd/>
            <a:tailEnd/>
          </a:ln>
        </p:spPr>
      </p:pic>
      <p:pic>
        <p:nvPicPr>
          <p:cNvPr id="31" name="Picture 2"/>
          <p:cNvPicPr>
            <a:picLocks noChangeAspect="1" noChangeArrowheads="1"/>
          </p:cNvPicPr>
          <p:nvPr/>
        </p:nvPicPr>
        <p:blipFill rotWithShape="1">
          <a:blip r:embed="rId3" cstate="print"/>
          <a:srcRect l="4863" t="58945" r="75107" b="35954"/>
          <a:stretch/>
        </p:blipFill>
        <p:spPr bwMode="auto">
          <a:xfrm>
            <a:off x="2375983" y="3394515"/>
            <a:ext cx="1789618" cy="393717"/>
          </a:xfrm>
          <a:prstGeom prst="rect">
            <a:avLst/>
          </a:prstGeom>
          <a:noFill/>
          <a:ln w="9525">
            <a:noFill/>
            <a:miter lim="800000"/>
            <a:headEnd/>
            <a:tailEnd/>
          </a:ln>
        </p:spPr>
      </p:pic>
      <p:pic>
        <p:nvPicPr>
          <p:cNvPr id="24" name="Picture 2"/>
          <p:cNvPicPr>
            <a:picLocks noChangeAspect="1" noChangeArrowheads="1"/>
          </p:cNvPicPr>
          <p:nvPr/>
        </p:nvPicPr>
        <p:blipFill rotWithShape="1">
          <a:blip r:embed="rId3" cstate="print"/>
          <a:srcRect l="27587" t="787" r="49235" b="95225"/>
          <a:stretch/>
        </p:blipFill>
        <p:spPr bwMode="auto">
          <a:xfrm>
            <a:off x="6574970" y="1741713"/>
            <a:ext cx="1756230" cy="275771"/>
          </a:xfrm>
          <a:prstGeom prst="rect">
            <a:avLst/>
          </a:prstGeom>
          <a:noFill/>
          <a:ln w="9525">
            <a:noFill/>
            <a:miter lim="800000"/>
            <a:headEnd/>
            <a:tailEnd/>
          </a:ln>
        </p:spPr>
      </p:pic>
      <p:sp>
        <p:nvSpPr>
          <p:cNvPr id="2" name="Title 1"/>
          <p:cNvSpPr>
            <a:spLocks noGrp="1"/>
          </p:cNvSpPr>
          <p:nvPr>
            <p:ph type="title"/>
          </p:nvPr>
        </p:nvSpPr>
        <p:spPr>
          <a:xfrm>
            <a:off x="838200" y="18758"/>
            <a:ext cx="10844284"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An Example of Code-Generation</a:t>
            </a:r>
          </a:p>
        </p:txBody>
      </p:sp>
      <p:sp>
        <p:nvSpPr>
          <p:cNvPr id="3" name="Footer Placeholder 2"/>
          <p:cNvSpPr>
            <a:spLocks noGrp="1"/>
          </p:cNvSpPr>
          <p:nvPr>
            <p:ph type="ftr" sz="quarter" idx="11"/>
          </p:nvPr>
        </p:nvSpPr>
        <p:spPr>
          <a:xfrm>
            <a:off x="4038600" y="6424590"/>
            <a:ext cx="4114800" cy="365125"/>
          </a:xfrm>
        </p:spPr>
        <p:txBody>
          <a:bodyPr/>
          <a:lstStyle/>
          <a:p>
            <a:r>
              <a:rPr lang="en-US" dirty="0"/>
              <a:t>Dept of CSE, BUET</a:t>
            </a:r>
          </a:p>
        </p:txBody>
      </p:sp>
      <p:sp>
        <p:nvSpPr>
          <p:cNvPr id="4" name="Slide Number Placeholder 3"/>
          <p:cNvSpPr>
            <a:spLocks noGrp="1"/>
          </p:cNvSpPr>
          <p:nvPr>
            <p:ph type="sldNum" sz="quarter" idx="12"/>
          </p:nvPr>
        </p:nvSpPr>
        <p:spPr>
          <a:xfrm>
            <a:off x="8610600" y="6424590"/>
            <a:ext cx="2743200" cy="365125"/>
          </a:xfrm>
        </p:spPr>
        <p:txBody>
          <a:bodyPr/>
          <a:lstStyle/>
          <a:p>
            <a:fld id="{48F63A3B-78C7-47BE-AE5E-E10140E04643}" type="slidenum">
              <a:rPr lang="en-US" smtClean="0"/>
              <a:pPr/>
              <a:t>57</a:t>
            </a:fld>
            <a:endParaRPr lang="en-US" dirty="0"/>
          </a:p>
        </p:txBody>
      </p:sp>
      <p:sp>
        <p:nvSpPr>
          <p:cNvPr id="6" name="Content Placeholder 5"/>
          <p:cNvSpPr>
            <a:spLocks noGrp="1"/>
          </p:cNvSpPr>
          <p:nvPr>
            <p:ph idx="1"/>
          </p:nvPr>
        </p:nvSpPr>
        <p:spPr>
          <a:xfrm>
            <a:off x="838200" y="1501257"/>
            <a:ext cx="10515600" cy="4880426"/>
          </a:xfrm>
        </p:spPr>
        <p:txBody>
          <a:bodyPr/>
          <a:lstStyle/>
          <a:p>
            <a:endParaRPr lang="en-US" dirty="0">
              <a:solidFill>
                <a:srgbClr val="FF0000"/>
              </a:solidFill>
            </a:endParaRPr>
          </a:p>
          <a:p>
            <a:pPr lvl="1"/>
            <a:endParaRPr lang="en-US" dirty="0"/>
          </a:p>
        </p:txBody>
      </p:sp>
      <p:pic>
        <p:nvPicPr>
          <p:cNvPr id="7170" name="Picture 2"/>
          <p:cNvPicPr>
            <a:picLocks noChangeAspect="1" noChangeArrowheads="1"/>
          </p:cNvPicPr>
          <p:nvPr/>
        </p:nvPicPr>
        <p:blipFill rotWithShape="1">
          <a:blip r:embed="rId3" cstate="print"/>
          <a:srcRect l="29062" t="38908" b="50925"/>
          <a:stretch/>
        </p:blipFill>
        <p:spPr bwMode="auto">
          <a:xfrm>
            <a:off x="6756096" y="2005235"/>
            <a:ext cx="5140523" cy="636365"/>
          </a:xfrm>
          <a:prstGeom prst="rect">
            <a:avLst/>
          </a:prstGeom>
          <a:noFill/>
          <a:ln w="9525">
            <a:noFill/>
            <a:miter lim="800000"/>
            <a:headEnd/>
            <a:tailEnd/>
          </a:ln>
        </p:spPr>
      </p:pic>
      <p:pic>
        <p:nvPicPr>
          <p:cNvPr id="13" name="Picture 2"/>
          <p:cNvPicPr>
            <a:picLocks noChangeAspect="1" noChangeArrowheads="1"/>
          </p:cNvPicPr>
          <p:nvPr/>
        </p:nvPicPr>
        <p:blipFill rotWithShape="1">
          <a:blip r:embed="rId3" cstate="print"/>
          <a:srcRect l="6794" t="46751" r="70556" b="47433"/>
          <a:stretch/>
        </p:blipFill>
        <p:spPr bwMode="auto">
          <a:xfrm>
            <a:off x="2510972" y="2467427"/>
            <a:ext cx="1900096" cy="421427"/>
          </a:xfrm>
          <a:prstGeom prst="rect">
            <a:avLst/>
          </a:prstGeom>
          <a:noFill/>
          <a:ln w="9525">
            <a:noFill/>
            <a:miter lim="800000"/>
            <a:headEnd/>
            <a:tailEnd/>
          </a:ln>
        </p:spPr>
      </p:pic>
      <p:cxnSp>
        <p:nvCxnSpPr>
          <p:cNvPr id="10" name="Straight Arrow Connector 9"/>
          <p:cNvCxnSpPr>
            <a:endCxn id="13" idx="1"/>
          </p:cNvCxnSpPr>
          <p:nvPr/>
        </p:nvCxnSpPr>
        <p:spPr>
          <a:xfrm>
            <a:off x="1828802" y="2670629"/>
            <a:ext cx="682170" cy="7512"/>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3" idx="3"/>
          </p:cNvCxnSpPr>
          <p:nvPr/>
        </p:nvCxnSpPr>
        <p:spPr>
          <a:xfrm>
            <a:off x="1835048" y="2969647"/>
            <a:ext cx="656288" cy="485673"/>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828802" y="3351608"/>
            <a:ext cx="728085" cy="1047111"/>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656449" y="2466961"/>
            <a:ext cx="1828800" cy="338554"/>
          </a:xfrm>
          <a:prstGeom prst="rect">
            <a:avLst/>
          </a:prstGeom>
          <a:noFill/>
          <a:ln>
            <a:solidFill>
              <a:schemeClr val="accent4">
                <a:lumMod val="75000"/>
              </a:schemeClr>
            </a:solidFill>
            <a:prstDash val="dash"/>
          </a:ln>
        </p:spPr>
        <p:txBody>
          <a:bodyPr wrap="square" rtlCol="0">
            <a:spAutoFit/>
          </a:bodyPr>
          <a:lstStyle>
            <a:defPPr>
              <a:defRPr lang="en-US"/>
            </a:defPPr>
            <a:lvl1pPr algn="ctr">
              <a:defRPr sz="1600">
                <a:solidFill>
                  <a:schemeClr val="accent5">
                    <a:lumMod val="75000"/>
                  </a:schemeClr>
                </a:solidFill>
                <a:latin typeface="Cambria Math" pitchFamily="18" charset="0"/>
                <a:ea typeface="Cambria Math" pitchFamily="18" charset="0"/>
                <a:cs typeface="Courier New" pitchFamily="49" charset="0"/>
              </a:defRPr>
            </a:lvl1pPr>
          </a:lstStyle>
          <a:p>
            <a:r>
              <a:rPr lang="en-US" dirty="0"/>
              <a:t>{R3, R2, R1}</a:t>
            </a:r>
          </a:p>
        </p:txBody>
      </p:sp>
      <p:sp>
        <p:nvSpPr>
          <p:cNvPr id="23" name="TextBox 22"/>
          <p:cNvSpPr txBox="1"/>
          <p:nvPr/>
        </p:nvSpPr>
        <p:spPr>
          <a:xfrm>
            <a:off x="4656449" y="3459232"/>
            <a:ext cx="1828800" cy="338554"/>
          </a:xfrm>
          <a:prstGeom prst="rect">
            <a:avLst/>
          </a:prstGeom>
          <a:noFill/>
          <a:ln>
            <a:solidFill>
              <a:schemeClr val="accent4">
                <a:lumMod val="75000"/>
              </a:schemeClr>
            </a:solidFill>
            <a:prstDash val="dash"/>
          </a:ln>
        </p:spPr>
        <p:txBody>
          <a:bodyPr wrap="square" rtlCol="0">
            <a:spAutoFit/>
          </a:bodyPr>
          <a:lstStyle>
            <a:defPPr>
              <a:defRPr lang="en-US"/>
            </a:defPPr>
            <a:lvl1pPr algn="ctr">
              <a:defRPr sz="1600">
                <a:solidFill>
                  <a:schemeClr val="accent5">
                    <a:lumMod val="75000"/>
                  </a:schemeClr>
                </a:solidFill>
                <a:latin typeface="Cambria Math" pitchFamily="18" charset="0"/>
                <a:ea typeface="Cambria Math" pitchFamily="18" charset="0"/>
                <a:cs typeface="Courier New" pitchFamily="49" charset="0"/>
              </a:defRPr>
            </a:lvl1pPr>
          </a:lstStyle>
          <a:p>
            <a:r>
              <a:rPr lang="en-US" dirty="0"/>
              <a:t>{R2, R2}</a:t>
            </a:r>
          </a:p>
        </p:txBody>
      </p:sp>
      <p:sp>
        <p:nvSpPr>
          <p:cNvPr id="25" name="TextBox 24"/>
          <p:cNvSpPr txBox="1"/>
          <p:nvPr/>
        </p:nvSpPr>
        <p:spPr>
          <a:xfrm>
            <a:off x="4656449" y="4398719"/>
            <a:ext cx="1828800" cy="338554"/>
          </a:xfrm>
          <a:prstGeom prst="rect">
            <a:avLst/>
          </a:prstGeom>
          <a:noFill/>
          <a:ln>
            <a:solidFill>
              <a:schemeClr val="accent4">
                <a:lumMod val="75000"/>
              </a:schemeClr>
            </a:solidFill>
            <a:prstDash val="dash"/>
          </a:ln>
        </p:spPr>
        <p:txBody>
          <a:bodyPr wrap="square" rtlCol="0">
            <a:spAutoFit/>
          </a:bodyPr>
          <a:lstStyle>
            <a:defPPr>
              <a:defRPr lang="en-US"/>
            </a:defPPr>
            <a:lvl1pPr algn="ctr">
              <a:defRPr sz="1600">
                <a:solidFill>
                  <a:schemeClr val="accent5">
                    <a:lumMod val="75000"/>
                  </a:schemeClr>
                </a:solidFill>
                <a:latin typeface="Cambria Math" pitchFamily="18" charset="0"/>
                <a:ea typeface="Cambria Math" pitchFamily="18" charset="0"/>
                <a:cs typeface="Courier New" pitchFamily="49" charset="0"/>
              </a:defRPr>
            </a:lvl1pPr>
          </a:lstStyle>
          <a:p>
            <a:r>
              <a:rPr lang="en-US" dirty="0"/>
              <a:t>{R1, R3, R1}</a:t>
            </a:r>
          </a:p>
        </p:txBody>
      </p:sp>
      <p:sp>
        <p:nvSpPr>
          <p:cNvPr id="26" name="TextBox 25"/>
          <p:cNvSpPr txBox="1"/>
          <p:nvPr/>
        </p:nvSpPr>
        <p:spPr>
          <a:xfrm>
            <a:off x="256048" y="1338842"/>
            <a:ext cx="1883382" cy="400110"/>
          </a:xfrm>
          <a:prstGeom prst="rect">
            <a:avLst/>
          </a:prstGeom>
          <a:noFill/>
        </p:spPr>
        <p:txBody>
          <a:bodyPr wrap="square" rtlCol="0">
            <a:spAutoFit/>
          </a:bodyPr>
          <a:lstStyle/>
          <a:p>
            <a:pPr algn="ctr"/>
            <a:r>
              <a:rPr lang="en-US" sz="2000" u="sng" dirty="0">
                <a:solidFill>
                  <a:srgbClr val="FF0000"/>
                </a:solidFill>
                <a:latin typeface="Candara" panose="020E0502030303020204" pitchFamily="34" charset="0"/>
              </a:rPr>
              <a:t>IR (TAC)</a:t>
            </a:r>
          </a:p>
        </p:txBody>
      </p:sp>
      <p:sp>
        <p:nvSpPr>
          <p:cNvPr id="27" name="TextBox 26"/>
          <p:cNvSpPr txBox="1"/>
          <p:nvPr/>
        </p:nvSpPr>
        <p:spPr>
          <a:xfrm>
            <a:off x="4471128" y="1338842"/>
            <a:ext cx="1883382" cy="400110"/>
          </a:xfrm>
          <a:prstGeom prst="rect">
            <a:avLst/>
          </a:prstGeom>
          <a:noFill/>
        </p:spPr>
        <p:txBody>
          <a:bodyPr wrap="square" rtlCol="0">
            <a:spAutoFit/>
          </a:bodyPr>
          <a:lstStyle/>
          <a:p>
            <a:pPr algn="ctr"/>
            <a:r>
              <a:rPr lang="en-US" sz="2000" i="1" u="sng" dirty="0">
                <a:solidFill>
                  <a:srgbClr val="FF0000"/>
                </a:solidFill>
                <a:latin typeface="Candara" panose="020E0502030303020204" pitchFamily="34" charset="0"/>
                <a:cs typeface="Courier New" pitchFamily="49" charset="0"/>
              </a:rPr>
              <a:t>getReg(I)</a:t>
            </a:r>
          </a:p>
        </p:txBody>
      </p:sp>
      <p:sp>
        <p:nvSpPr>
          <p:cNvPr id="28" name="Rectangle 27"/>
          <p:cNvSpPr/>
          <p:nvPr/>
        </p:nvSpPr>
        <p:spPr>
          <a:xfrm>
            <a:off x="6286951" y="1338842"/>
            <a:ext cx="2428870" cy="400110"/>
          </a:xfrm>
          <a:prstGeom prst="rect">
            <a:avLst/>
          </a:prstGeom>
        </p:spPr>
        <p:txBody>
          <a:bodyPr wrap="none">
            <a:spAutoFit/>
          </a:bodyPr>
          <a:lstStyle/>
          <a:p>
            <a:r>
              <a:rPr lang="en-US" sz="2000" u="sng" dirty="0">
                <a:solidFill>
                  <a:srgbClr val="FF0000"/>
                </a:solidFill>
                <a:latin typeface="Candara" panose="020E0502030303020204" pitchFamily="34" charset="0"/>
              </a:rPr>
              <a:t>Register Descriptors</a:t>
            </a:r>
            <a:endParaRPr lang="en-US" sz="2000" u="sng" dirty="0">
              <a:solidFill>
                <a:srgbClr val="FF0000"/>
              </a:solidFill>
            </a:endParaRPr>
          </a:p>
        </p:txBody>
      </p:sp>
      <p:sp>
        <p:nvSpPr>
          <p:cNvPr id="29" name="Rectangle 28"/>
          <p:cNvSpPr/>
          <p:nvPr/>
        </p:nvSpPr>
        <p:spPr>
          <a:xfrm>
            <a:off x="8462568" y="1338842"/>
            <a:ext cx="2934267" cy="400110"/>
          </a:xfrm>
          <a:prstGeom prst="rect">
            <a:avLst/>
          </a:prstGeom>
        </p:spPr>
        <p:txBody>
          <a:bodyPr wrap="square">
            <a:spAutoFit/>
          </a:bodyPr>
          <a:lstStyle/>
          <a:p>
            <a:pPr algn="ctr"/>
            <a:r>
              <a:rPr lang="en-US" sz="2000" u="sng" dirty="0">
                <a:solidFill>
                  <a:srgbClr val="FF0000"/>
                </a:solidFill>
                <a:latin typeface="Candara" panose="020E0502030303020204" pitchFamily="34" charset="0"/>
              </a:rPr>
              <a:t>Address Descriptors</a:t>
            </a:r>
            <a:endParaRPr lang="en-US" sz="2000" u="sng" dirty="0">
              <a:solidFill>
                <a:srgbClr val="FF0000"/>
              </a:solidFill>
            </a:endParaRPr>
          </a:p>
        </p:txBody>
      </p:sp>
      <p:sp>
        <p:nvSpPr>
          <p:cNvPr id="30" name="TextBox 29"/>
          <p:cNvSpPr txBox="1"/>
          <p:nvPr/>
        </p:nvSpPr>
        <p:spPr>
          <a:xfrm>
            <a:off x="2401825" y="1338842"/>
            <a:ext cx="1883382" cy="400110"/>
          </a:xfrm>
          <a:prstGeom prst="rect">
            <a:avLst/>
          </a:prstGeom>
          <a:noFill/>
        </p:spPr>
        <p:txBody>
          <a:bodyPr wrap="square" rtlCol="0">
            <a:spAutoFit/>
          </a:bodyPr>
          <a:lstStyle/>
          <a:p>
            <a:pPr algn="ctr"/>
            <a:r>
              <a:rPr lang="en-US" sz="2000" u="sng" dirty="0">
                <a:solidFill>
                  <a:srgbClr val="FF0000"/>
                </a:solidFill>
                <a:latin typeface="Candara" panose="020E0502030303020204" pitchFamily="34" charset="0"/>
              </a:rPr>
              <a:t>Gen. Code</a:t>
            </a:r>
          </a:p>
        </p:txBody>
      </p:sp>
      <p:pic>
        <p:nvPicPr>
          <p:cNvPr id="33" name="Picture 2"/>
          <p:cNvPicPr>
            <a:picLocks noChangeAspect="1" noChangeArrowheads="1"/>
          </p:cNvPicPr>
          <p:nvPr/>
        </p:nvPicPr>
        <p:blipFill rotWithShape="1">
          <a:blip r:embed="rId3" cstate="print"/>
          <a:srcRect t="79119" r="70556" b="6735"/>
          <a:stretch/>
        </p:blipFill>
        <p:spPr bwMode="auto">
          <a:xfrm>
            <a:off x="1912736" y="4706383"/>
            <a:ext cx="2658364" cy="1103086"/>
          </a:xfrm>
          <a:prstGeom prst="rect">
            <a:avLst/>
          </a:prstGeom>
          <a:noFill/>
          <a:ln w="9525">
            <a:noFill/>
            <a:miter lim="800000"/>
            <a:headEnd/>
            <a:tailEnd/>
          </a:ln>
        </p:spPr>
      </p:pic>
      <p:pic>
        <p:nvPicPr>
          <p:cNvPr id="34" name="Picture 2"/>
          <p:cNvPicPr>
            <a:picLocks noChangeAspect="1" noChangeArrowheads="1"/>
          </p:cNvPicPr>
          <p:nvPr/>
        </p:nvPicPr>
        <p:blipFill rotWithShape="1">
          <a:blip r:embed="rId3" cstate="print"/>
          <a:srcRect l="29062" t="50814" b="39446"/>
          <a:stretch/>
        </p:blipFill>
        <p:spPr bwMode="auto">
          <a:xfrm>
            <a:off x="6756096" y="2902857"/>
            <a:ext cx="5140523" cy="609600"/>
          </a:xfrm>
          <a:prstGeom prst="rect">
            <a:avLst/>
          </a:prstGeom>
          <a:noFill/>
          <a:ln w="9525">
            <a:noFill/>
            <a:miter lim="800000"/>
            <a:headEnd/>
            <a:tailEnd/>
          </a:ln>
        </p:spPr>
      </p:pic>
      <p:pic>
        <p:nvPicPr>
          <p:cNvPr id="35" name="Picture 2"/>
          <p:cNvPicPr>
            <a:picLocks noChangeAspect="1" noChangeArrowheads="1"/>
          </p:cNvPicPr>
          <p:nvPr/>
        </p:nvPicPr>
        <p:blipFill rotWithShape="1">
          <a:blip r:embed="rId3" cstate="print"/>
          <a:srcRect l="29062" t="62062" b="27271"/>
          <a:stretch/>
        </p:blipFill>
        <p:spPr bwMode="auto">
          <a:xfrm>
            <a:off x="6756096" y="3759199"/>
            <a:ext cx="5140523" cy="667657"/>
          </a:xfrm>
          <a:prstGeom prst="rect">
            <a:avLst/>
          </a:prstGeom>
          <a:noFill/>
          <a:ln w="9525">
            <a:noFill/>
            <a:miter lim="800000"/>
            <a:headEnd/>
            <a:tailEnd/>
          </a:ln>
        </p:spPr>
      </p:pic>
      <p:pic>
        <p:nvPicPr>
          <p:cNvPr id="36" name="Picture 2"/>
          <p:cNvPicPr>
            <a:picLocks noChangeAspect="1" noChangeArrowheads="1"/>
          </p:cNvPicPr>
          <p:nvPr/>
        </p:nvPicPr>
        <p:blipFill rotWithShape="1">
          <a:blip r:embed="rId3" cstate="print"/>
          <a:srcRect l="29062" t="73541" b="13705"/>
          <a:stretch/>
        </p:blipFill>
        <p:spPr bwMode="auto">
          <a:xfrm>
            <a:off x="6756096" y="4630057"/>
            <a:ext cx="5140523" cy="798286"/>
          </a:xfrm>
          <a:prstGeom prst="rect">
            <a:avLst/>
          </a:prstGeom>
          <a:noFill/>
          <a:ln w="9525">
            <a:noFill/>
            <a:miter lim="800000"/>
            <a:headEnd/>
            <a:tailEnd/>
          </a:ln>
        </p:spPr>
      </p:pic>
      <p:pic>
        <p:nvPicPr>
          <p:cNvPr id="37" name="Picture 2"/>
          <p:cNvPicPr>
            <a:picLocks noChangeAspect="1" noChangeArrowheads="1"/>
          </p:cNvPicPr>
          <p:nvPr/>
        </p:nvPicPr>
        <p:blipFill rotWithShape="1">
          <a:blip r:embed="rId3" cstate="print"/>
          <a:srcRect l="29062" t="90121"/>
          <a:stretch/>
        </p:blipFill>
        <p:spPr bwMode="auto">
          <a:xfrm>
            <a:off x="6756096" y="5660572"/>
            <a:ext cx="5140523" cy="618326"/>
          </a:xfrm>
          <a:prstGeom prst="rect">
            <a:avLst/>
          </a:prstGeom>
          <a:noFill/>
          <a:ln w="9525">
            <a:noFill/>
            <a:miter lim="800000"/>
            <a:headEnd/>
            <a:tailEnd/>
          </a:ln>
        </p:spPr>
      </p:pic>
      <p:pic>
        <p:nvPicPr>
          <p:cNvPr id="38" name="Picture 2"/>
          <p:cNvPicPr>
            <a:picLocks noChangeAspect="1" noChangeArrowheads="1"/>
          </p:cNvPicPr>
          <p:nvPr/>
        </p:nvPicPr>
        <p:blipFill rotWithShape="1">
          <a:blip r:embed="rId3" cstate="print"/>
          <a:srcRect l="50477" t="1101" r="4315" b="94911"/>
          <a:stretch/>
        </p:blipFill>
        <p:spPr bwMode="auto">
          <a:xfrm>
            <a:off x="8215090" y="1741713"/>
            <a:ext cx="3425372" cy="275771"/>
          </a:xfrm>
          <a:prstGeom prst="rect">
            <a:avLst/>
          </a:prstGeom>
          <a:noFill/>
          <a:ln w="9525">
            <a:noFill/>
            <a:miter lim="800000"/>
            <a:headEnd/>
            <a:tailEnd/>
          </a:ln>
        </p:spPr>
      </p:pic>
      <p:sp>
        <p:nvSpPr>
          <p:cNvPr id="42" name="Rectangle 41"/>
          <p:cNvSpPr/>
          <p:nvPr/>
        </p:nvSpPr>
        <p:spPr>
          <a:xfrm>
            <a:off x="449945" y="2489152"/>
            <a:ext cx="1385103" cy="362855"/>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449945" y="2815723"/>
            <a:ext cx="1385103" cy="307848"/>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442688" y="3127783"/>
            <a:ext cx="1385103" cy="307848"/>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1000"/>
                                        <p:tgtEl>
                                          <p:spTgt spid="34"/>
                                        </p:tgtEl>
                                      </p:cBhvr>
                                    </p:animEffect>
                                    <p:anim calcmode="lin" valueType="num">
                                      <p:cBhvr>
                                        <p:cTn id="27" dur="1000" fill="hold"/>
                                        <p:tgtEl>
                                          <p:spTgt spid="34"/>
                                        </p:tgtEl>
                                        <p:attrNameLst>
                                          <p:attrName>ppt_x</p:attrName>
                                        </p:attrNameLst>
                                      </p:cBhvr>
                                      <p:tavLst>
                                        <p:tav tm="0">
                                          <p:val>
                                            <p:strVal val="#ppt_x"/>
                                          </p:val>
                                        </p:tav>
                                        <p:tav tm="100000">
                                          <p:val>
                                            <p:strVal val="#ppt_x"/>
                                          </p:val>
                                        </p:tav>
                                      </p:tavLst>
                                    </p:anim>
                                    <p:anim calcmode="lin" valueType="num">
                                      <p:cBhvr>
                                        <p:cTn id="28"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42"/>
                                        </p:tgtEl>
                                        <p:attrNameLst>
                                          <p:attrName>style.visibility</p:attrName>
                                        </p:attrNameLst>
                                      </p:cBhvr>
                                      <p:to>
                                        <p:strVal val="hidden"/>
                                      </p:to>
                                    </p:set>
                                  </p:childTnLst>
                                </p:cTn>
                              </p:par>
                              <p:par>
                                <p:cTn id="33" presetID="14" presetClass="entr" presetSubtype="1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randombar(horizontal)">
                                      <p:cBhvr>
                                        <p:cTn id="35" dur="500"/>
                                        <p:tgtEl>
                                          <p:spTgt spid="4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down)">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par>
                                <p:cTn id="46" presetID="10" presetClass="entr" presetSubtype="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randombar(horizontal)">
                                      <p:cBhvr>
                                        <p:cTn id="53" dur="5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1" nodeType="clickEffect">
                                  <p:stCondLst>
                                    <p:cond delay="0"/>
                                  </p:stCondLst>
                                  <p:childTnLst>
                                    <p:set>
                                      <p:cBhvr>
                                        <p:cTn id="57" dur="1" fill="hold">
                                          <p:stCondLst>
                                            <p:cond delay="0"/>
                                          </p:stCondLst>
                                        </p:cTn>
                                        <p:tgtEl>
                                          <p:spTgt spid="43"/>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500"/>
                                        <p:tgtEl>
                                          <p:spTgt spid="4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down)">
                                      <p:cBhvr>
                                        <p:cTn id="65" dur="5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barn(inVertical)">
                                      <p:cBhvr>
                                        <p:cTn id="70" dur="500"/>
                                        <p:tgtEl>
                                          <p:spTgt spid="32"/>
                                        </p:tgtEl>
                                      </p:cBhvr>
                                    </p:animEffect>
                                  </p:childTnLst>
                                </p:cTn>
                              </p:par>
                              <p:par>
                                <p:cTn id="71" presetID="16" presetClass="entr" presetSubtype="21"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barn(inVertical)">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ntr" presetSubtype="10" fill="hold" nodeType="click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randombar(horizontal)">
                                      <p:cBhvr>
                                        <p:cTn id="78" dur="500"/>
                                        <p:tgtEl>
                                          <p:spTgt spid="36"/>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barn(inVertical)">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42" grpId="0" animBg="1"/>
      <p:bldP spid="42" grpId="1" animBg="1"/>
      <p:bldP spid="43" grpId="0" animBg="1"/>
      <p:bldP spid="43" grpId="1" animBg="1"/>
      <p:bldP spid="4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The Code-Generation Algorithm</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58</a:t>
            </a:fld>
            <a:endParaRPr lang="en-US" dirty="0"/>
          </a:p>
        </p:txBody>
      </p:sp>
      <p:sp>
        <p:nvSpPr>
          <p:cNvPr id="6" name="Content Placeholder 5"/>
          <p:cNvSpPr>
            <a:spLocks noGrp="1"/>
          </p:cNvSpPr>
          <p:nvPr>
            <p:ph idx="1"/>
          </p:nvPr>
        </p:nvSpPr>
        <p:spPr>
          <a:xfrm>
            <a:off x="838200" y="1296537"/>
            <a:ext cx="10515600" cy="4880426"/>
          </a:xfrm>
        </p:spPr>
        <p:txBody>
          <a:bodyPr/>
          <a:lstStyle/>
          <a:p>
            <a:r>
              <a:rPr lang="en-US" dirty="0"/>
              <a:t>Machine instructions for </a:t>
            </a:r>
            <a:r>
              <a:rPr lang="en-US" dirty="0">
                <a:solidFill>
                  <a:schemeClr val="accent5">
                    <a:lumMod val="75000"/>
                  </a:schemeClr>
                </a:solidFill>
              </a:rPr>
              <a:t>operations</a:t>
            </a:r>
          </a:p>
        </p:txBody>
      </p:sp>
      <p:pic>
        <p:nvPicPr>
          <p:cNvPr id="3074" name="Picture 2"/>
          <p:cNvPicPr>
            <a:picLocks noChangeAspect="1" noChangeArrowheads="1"/>
          </p:cNvPicPr>
          <p:nvPr/>
        </p:nvPicPr>
        <p:blipFill>
          <a:blip r:embed="rId2" cstate="print"/>
          <a:srcRect t="8517"/>
          <a:stretch>
            <a:fillRect/>
          </a:stretch>
        </p:blipFill>
        <p:spPr bwMode="auto">
          <a:xfrm>
            <a:off x="1516800" y="1843144"/>
            <a:ext cx="8828204" cy="4204261"/>
          </a:xfrm>
          <a:prstGeom prst="rect">
            <a:avLst/>
          </a:prstGeom>
          <a:noFill/>
          <a:ln w="9525">
            <a:noFill/>
            <a:miter lim="800000"/>
            <a:headEnd/>
            <a:tailEnd/>
          </a:ln>
        </p:spPr>
      </p:pic>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The Code-Generation Algorithm</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59</a:t>
            </a:fld>
            <a:endParaRPr lang="en-US" dirty="0"/>
          </a:p>
        </p:txBody>
      </p:sp>
      <p:sp>
        <p:nvSpPr>
          <p:cNvPr id="6" name="Content Placeholder 5"/>
          <p:cNvSpPr>
            <a:spLocks noGrp="1"/>
          </p:cNvSpPr>
          <p:nvPr>
            <p:ph idx="1"/>
          </p:nvPr>
        </p:nvSpPr>
        <p:spPr>
          <a:xfrm>
            <a:off x="838200" y="1296537"/>
            <a:ext cx="10515600" cy="4880426"/>
          </a:xfrm>
        </p:spPr>
        <p:txBody>
          <a:bodyPr/>
          <a:lstStyle/>
          <a:p>
            <a:r>
              <a:rPr lang="en-US" dirty="0"/>
              <a:t>Machine instructions for </a:t>
            </a:r>
            <a:r>
              <a:rPr lang="en-US" dirty="0">
                <a:solidFill>
                  <a:schemeClr val="accent5">
                    <a:lumMod val="75000"/>
                  </a:schemeClr>
                </a:solidFill>
              </a:rPr>
              <a:t>Copy Statements </a:t>
            </a:r>
            <a:r>
              <a:rPr lang="en-US" dirty="0">
                <a:solidFill>
                  <a:schemeClr val="accent2">
                    <a:lumMod val="75000"/>
                  </a:schemeClr>
                </a:solidFill>
              </a:rPr>
              <a:t>(of the form </a:t>
            </a:r>
            <a:r>
              <a:rPr lang="en-US" i="1" dirty="0">
                <a:solidFill>
                  <a:schemeClr val="accent2">
                    <a:lumMod val="75000"/>
                  </a:schemeClr>
                </a:solidFill>
              </a:rPr>
              <a:t>x</a:t>
            </a:r>
            <a:r>
              <a:rPr lang="en-US" dirty="0">
                <a:solidFill>
                  <a:schemeClr val="accent2">
                    <a:lumMod val="75000"/>
                  </a:schemeClr>
                </a:solidFill>
              </a:rPr>
              <a:t>=</a:t>
            </a:r>
            <a:r>
              <a:rPr lang="en-US" i="1" dirty="0">
                <a:solidFill>
                  <a:schemeClr val="accent2">
                    <a:lumMod val="75000"/>
                  </a:schemeClr>
                </a:solidFill>
              </a:rPr>
              <a:t>y)</a:t>
            </a:r>
          </a:p>
          <a:p>
            <a:pPr lvl="1"/>
            <a:r>
              <a:rPr lang="en-US" dirty="0"/>
              <a:t>Assumes </a:t>
            </a:r>
            <a:r>
              <a:rPr lang="en-US" i="1" dirty="0" err="1">
                <a:solidFill>
                  <a:srgbClr val="FF0000"/>
                </a:solidFill>
                <a:latin typeface="Courier New" pitchFamily="49" charset="0"/>
                <a:cs typeface="Courier New" pitchFamily="49" charset="0"/>
              </a:rPr>
              <a:t>getReg</a:t>
            </a:r>
            <a:r>
              <a:rPr lang="en-US" i="1" dirty="0">
                <a:solidFill>
                  <a:srgbClr val="FF0000"/>
                </a:solidFill>
                <a:latin typeface="Courier New" pitchFamily="49" charset="0"/>
                <a:cs typeface="Courier New" pitchFamily="49" charset="0"/>
              </a:rPr>
              <a:t>(I)</a:t>
            </a:r>
            <a:r>
              <a:rPr lang="en-US" i="1" dirty="0"/>
              <a:t> </a:t>
            </a:r>
            <a:r>
              <a:rPr lang="en-US" dirty="0"/>
              <a:t>will always generate the same register for </a:t>
            </a:r>
            <a:r>
              <a:rPr lang="en-US" i="1" dirty="0">
                <a:solidFill>
                  <a:srgbClr val="FF0000"/>
                </a:solidFill>
              </a:rPr>
              <a:t>x</a:t>
            </a:r>
            <a:r>
              <a:rPr lang="en-US" dirty="0"/>
              <a:t> and </a:t>
            </a:r>
            <a:r>
              <a:rPr lang="en-US" i="1" dirty="0">
                <a:solidFill>
                  <a:srgbClr val="FF0000"/>
                </a:solidFill>
              </a:rPr>
              <a:t>y</a:t>
            </a:r>
          </a:p>
          <a:p>
            <a:pPr lvl="1"/>
            <a:r>
              <a:rPr lang="en-US" dirty="0"/>
              <a:t>If y is not already in </a:t>
            </a:r>
            <a:r>
              <a:rPr lang="en-US" i="1" dirty="0" err="1">
                <a:solidFill>
                  <a:srgbClr val="FF0000"/>
                </a:solidFill>
              </a:rPr>
              <a:t>R</a:t>
            </a:r>
            <a:r>
              <a:rPr lang="en-US" sz="2000" i="1" dirty="0" err="1">
                <a:solidFill>
                  <a:srgbClr val="FF0000"/>
                </a:solidFill>
              </a:rPr>
              <a:t>y</a:t>
            </a:r>
            <a:r>
              <a:rPr lang="en-US" dirty="0"/>
              <a:t>, then generate instruction </a:t>
            </a:r>
            <a:r>
              <a:rPr lang="en-US" dirty="0">
                <a:solidFill>
                  <a:srgbClr val="FF0000"/>
                </a:solidFill>
              </a:rPr>
              <a:t>LD </a:t>
            </a:r>
            <a:r>
              <a:rPr lang="en-US" i="1" dirty="0" err="1">
                <a:solidFill>
                  <a:srgbClr val="FF0000"/>
                </a:solidFill>
              </a:rPr>
              <a:t>R</a:t>
            </a:r>
            <a:r>
              <a:rPr lang="en-US" sz="2000" i="1" dirty="0" err="1">
                <a:solidFill>
                  <a:srgbClr val="FF0000"/>
                </a:solidFill>
              </a:rPr>
              <a:t>y</a:t>
            </a:r>
            <a:r>
              <a:rPr lang="en-US" i="1" dirty="0">
                <a:solidFill>
                  <a:srgbClr val="FF0000"/>
                </a:solidFill>
              </a:rPr>
              <a:t>, y</a:t>
            </a:r>
          </a:p>
          <a:p>
            <a:pPr lvl="1"/>
            <a:r>
              <a:rPr lang="en-US" dirty="0"/>
              <a:t>Else do nothing</a:t>
            </a:r>
          </a:p>
          <a:p>
            <a:pPr lvl="1">
              <a:buNone/>
            </a:pPr>
            <a:endParaRPr lang="en-US" dirty="0"/>
          </a:p>
          <a:p>
            <a:r>
              <a:rPr lang="en-US" dirty="0"/>
              <a:t>Ending the basic block</a:t>
            </a:r>
          </a:p>
          <a:p>
            <a:pPr lvl="1"/>
            <a:r>
              <a:rPr lang="en-US" dirty="0"/>
              <a:t>Variables used in a block may wind up with their only location being a register</a:t>
            </a:r>
          </a:p>
          <a:p>
            <a:pPr lvl="1"/>
            <a:r>
              <a:rPr lang="en-US" dirty="0"/>
              <a:t>For temporary variables within a block, do nothing</a:t>
            </a:r>
          </a:p>
          <a:p>
            <a:pPr lvl="1"/>
            <a:r>
              <a:rPr lang="en-US" dirty="0"/>
              <a:t>For each variable </a:t>
            </a:r>
            <a:r>
              <a:rPr lang="en-US" i="1" dirty="0"/>
              <a:t>x</a:t>
            </a:r>
            <a:r>
              <a:rPr lang="en-US" dirty="0"/>
              <a:t> that is live on exit from the block, generate instruction </a:t>
            </a:r>
          </a:p>
          <a:p>
            <a:pPr lvl="1">
              <a:buNone/>
            </a:pPr>
            <a:r>
              <a:rPr lang="en-US" dirty="0"/>
              <a:t>   </a:t>
            </a:r>
            <a:r>
              <a:rPr lang="en-US" dirty="0">
                <a:solidFill>
                  <a:srgbClr val="FF0000"/>
                </a:solidFill>
              </a:rPr>
              <a:t> </a:t>
            </a:r>
            <a:r>
              <a:rPr lang="en-US" i="1" dirty="0">
                <a:solidFill>
                  <a:srgbClr val="FF0000"/>
                </a:solidFill>
              </a:rPr>
              <a:t>ST x, R </a:t>
            </a:r>
            <a:r>
              <a:rPr lang="en-US" dirty="0"/>
              <a:t>where R is the register that stores </a:t>
            </a:r>
            <a:r>
              <a:rPr lang="en-US" dirty="0" err="1">
                <a:solidFill>
                  <a:srgbClr val="FF0000"/>
                </a:solidFill>
              </a:rPr>
              <a:t>x</a:t>
            </a:r>
            <a:r>
              <a:rPr lang="en-US" dirty="0" err="1"/>
              <a:t>’s</a:t>
            </a:r>
            <a:r>
              <a:rPr lang="en-US" dirty="0"/>
              <a:t> value</a:t>
            </a:r>
            <a:endParaRPr lang="en-US" dirty="0">
              <a:solidFill>
                <a:srgbClr val="FF0000"/>
              </a:solidFill>
            </a:endParaRPr>
          </a:p>
          <a:p>
            <a:pPr lvl="1"/>
            <a:endParaRPr lang="en-US" dirty="0"/>
          </a:p>
        </p:txBody>
      </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fade">
                                      <p:cBhvr>
                                        <p:cTn id="21" dur="1000"/>
                                        <p:tgtEl>
                                          <p:spTgt spid="6">
                                            <p:txEl>
                                              <p:pRg st="5" end="5"/>
                                            </p:txEl>
                                          </p:spTgt>
                                        </p:tgtEl>
                                      </p:cBhvr>
                                    </p:animEffect>
                                    <p:anim calcmode="lin" valueType="num">
                                      <p:cBhvr>
                                        <p:cTn id="22"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5" end="5"/>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6">
                                            <p:txEl>
                                              <p:pRg st="6" end="6"/>
                                            </p:txEl>
                                          </p:spTgt>
                                        </p:tgtEl>
                                        <p:attrNameLst>
                                          <p:attrName>style.visibility</p:attrName>
                                        </p:attrNameLst>
                                      </p:cBhvr>
                                      <p:to>
                                        <p:strVal val="visible"/>
                                      </p:to>
                                    </p:set>
                                    <p:animEffect transition="in" filter="fade">
                                      <p:cBhvr>
                                        <p:cTn id="26" dur="1000"/>
                                        <p:tgtEl>
                                          <p:spTgt spid="6">
                                            <p:txEl>
                                              <p:pRg st="6" end="6"/>
                                            </p:txEl>
                                          </p:spTgt>
                                        </p:tgtEl>
                                      </p:cBhvr>
                                    </p:animEffect>
                                    <p:anim calcmode="lin" valueType="num">
                                      <p:cBhvr>
                                        <p:cTn id="2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1000"/>
                                        <p:tgtEl>
                                          <p:spTgt spid="6">
                                            <p:txEl>
                                              <p:pRg st="7" end="7"/>
                                            </p:txEl>
                                          </p:spTgt>
                                        </p:tgtEl>
                                      </p:cBhvr>
                                    </p:animEffect>
                                    <p:anim calcmode="lin" valueType="num">
                                      <p:cBhvr>
                                        <p:cTn id="32"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7" end="7"/>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
                                            <p:txEl>
                                              <p:pRg st="8" end="8"/>
                                            </p:txEl>
                                          </p:spTgt>
                                        </p:tgtEl>
                                        <p:attrNameLst>
                                          <p:attrName>style.visibility</p:attrName>
                                        </p:attrNameLst>
                                      </p:cBhvr>
                                      <p:to>
                                        <p:strVal val="visible"/>
                                      </p:to>
                                    </p:set>
                                    <p:animEffect transition="in" filter="fade">
                                      <p:cBhvr>
                                        <p:cTn id="36" dur="1000"/>
                                        <p:tgtEl>
                                          <p:spTgt spid="6">
                                            <p:txEl>
                                              <p:pRg st="8" end="8"/>
                                            </p:txEl>
                                          </p:spTgt>
                                        </p:tgtEl>
                                      </p:cBhvr>
                                    </p:animEffect>
                                    <p:anim calcmode="lin" valueType="num">
                                      <p:cBhvr>
                                        <p:cTn id="3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8" end="8"/>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6">
                                            <p:txEl>
                                              <p:pRg st="9" end="9"/>
                                            </p:txEl>
                                          </p:spTgt>
                                        </p:tgtEl>
                                        <p:attrNameLst>
                                          <p:attrName>style.visibility</p:attrName>
                                        </p:attrNameLst>
                                      </p:cBhvr>
                                      <p:to>
                                        <p:strVal val="visible"/>
                                      </p:to>
                                    </p:set>
                                    <p:animEffect transition="in" filter="fade">
                                      <p:cBhvr>
                                        <p:cTn id="41" dur="1000"/>
                                        <p:tgtEl>
                                          <p:spTgt spid="6">
                                            <p:txEl>
                                              <p:pRg st="9" end="9"/>
                                            </p:txEl>
                                          </p:spTgt>
                                        </p:tgtEl>
                                      </p:cBhvr>
                                    </p:animEffect>
                                    <p:anim calcmode="lin" valueType="num">
                                      <p:cBhvr>
                                        <p:cTn id="42"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844284"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Managing Register and Address Descriptors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60</a:t>
            </a:fld>
            <a:endParaRPr lang="en-US" dirty="0"/>
          </a:p>
        </p:txBody>
      </p:sp>
      <p:sp>
        <p:nvSpPr>
          <p:cNvPr id="6" name="Content Placeholder 5"/>
          <p:cNvSpPr>
            <a:spLocks noGrp="1"/>
          </p:cNvSpPr>
          <p:nvPr>
            <p:ph idx="1"/>
          </p:nvPr>
        </p:nvSpPr>
        <p:spPr>
          <a:xfrm>
            <a:off x="838200" y="1296537"/>
            <a:ext cx="10515600" cy="4880426"/>
          </a:xfrm>
        </p:spPr>
        <p:txBody>
          <a:bodyPr/>
          <a:lstStyle/>
          <a:p>
            <a:endParaRPr lang="en-US" dirty="0">
              <a:solidFill>
                <a:srgbClr val="FF0000"/>
              </a:solidFill>
            </a:endParaRPr>
          </a:p>
          <a:p>
            <a:pPr lvl="1"/>
            <a:endParaRPr lang="en-US" dirty="0"/>
          </a:p>
        </p:txBody>
      </p:sp>
      <p:pic>
        <p:nvPicPr>
          <p:cNvPr id="4098" name="Picture 2"/>
          <p:cNvPicPr>
            <a:picLocks noChangeAspect="1" noChangeArrowheads="1"/>
          </p:cNvPicPr>
          <p:nvPr/>
        </p:nvPicPr>
        <p:blipFill>
          <a:blip r:embed="rId2" cstate="print"/>
          <a:srcRect b="65496"/>
          <a:stretch>
            <a:fillRect/>
          </a:stretch>
        </p:blipFill>
        <p:spPr bwMode="auto">
          <a:xfrm>
            <a:off x="1238101" y="1516537"/>
            <a:ext cx="9715797" cy="2864394"/>
          </a:xfrm>
          <a:prstGeom prst="rect">
            <a:avLst/>
          </a:prstGeom>
          <a:noFill/>
          <a:ln w="9525">
            <a:noFill/>
            <a:miter lim="800000"/>
            <a:headEnd/>
            <a:tailEnd/>
          </a:ln>
        </p:spPr>
      </p:pic>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844284"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Managing Register and Address Descriptors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61</a:t>
            </a:fld>
            <a:endParaRPr lang="en-US" dirty="0"/>
          </a:p>
        </p:txBody>
      </p:sp>
      <p:sp>
        <p:nvSpPr>
          <p:cNvPr id="6" name="Content Placeholder 5"/>
          <p:cNvSpPr>
            <a:spLocks noGrp="1"/>
          </p:cNvSpPr>
          <p:nvPr>
            <p:ph idx="1"/>
          </p:nvPr>
        </p:nvSpPr>
        <p:spPr>
          <a:xfrm>
            <a:off x="838200" y="1296537"/>
            <a:ext cx="10515600" cy="4880426"/>
          </a:xfrm>
        </p:spPr>
        <p:txBody>
          <a:bodyPr/>
          <a:lstStyle/>
          <a:p>
            <a:endParaRPr lang="en-US" dirty="0">
              <a:solidFill>
                <a:srgbClr val="FF0000"/>
              </a:solidFill>
            </a:endParaRPr>
          </a:p>
          <a:p>
            <a:pPr lvl="1"/>
            <a:endParaRPr lang="en-US" dirty="0"/>
          </a:p>
        </p:txBody>
      </p:sp>
      <p:pic>
        <p:nvPicPr>
          <p:cNvPr id="5122" name="Picture 2"/>
          <p:cNvPicPr>
            <a:picLocks noChangeAspect="1" noChangeArrowheads="1"/>
          </p:cNvPicPr>
          <p:nvPr/>
        </p:nvPicPr>
        <p:blipFill>
          <a:blip r:embed="rId2" cstate="print"/>
          <a:srcRect t="32987"/>
          <a:stretch>
            <a:fillRect/>
          </a:stretch>
        </p:blipFill>
        <p:spPr bwMode="auto">
          <a:xfrm>
            <a:off x="1241945" y="1061067"/>
            <a:ext cx="8871045" cy="5079518"/>
          </a:xfrm>
          <a:prstGeom prst="rect">
            <a:avLst/>
          </a:prstGeom>
          <a:noFill/>
          <a:ln w="9525">
            <a:noFill/>
            <a:miter lim="800000"/>
            <a:headEnd/>
            <a:tailEnd/>
          </a:ln>
        </p:spPr>
      </p:pic>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1000"/>
                                        <p:tgtEl>
                                          <p:spTgt spid="5122"/>
                                        </p:tgtEl>
                                      </p:cBhvr>
                                    </p:animEffect>
                                    <p:anim calcmode="lin" valueType="num">
                                      <p:cBhvr>
                                        <p:cTn id="8" dur="1000" fill="hold"/>
                                        <p:tgtEl>
                                          <p:spTgt spid="5122"/>
                                        </p:tgtEl>
                                        <p:attrNameLst>
                                          <p:attrName>ppt_x</p:attrName>
                                        </p:attrNameLst>
                                      </p:cBhvr>
                                      <p:tavLst>
                                        <p:tav tm="0">
                                          <p:val>
                                            <p:strVal val="#ppt_x"/>
                                          </p:val>
                                        </p:tav>
                                        <p:tav tm="100000">
                                          <p:val>
                                            <p:strVal val="#ppt_x"/>
                                          </p:val>
                                        </p:tav>
                                      </p:tavLst>
                                    </p:anim>
                                    <p:anim calcmode="lin" valueType="num">
                                      <p:cBhvr>
                                        <p:cTn id="9" dur="1000" fill="hold"/>
                                        <p:tgtEl>
                                          <p:spTgt spid="5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95362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Design of Function </a:t>
            </a:r>
            <a:r>
              <a:rPr lang="en-US" sz="5000" dirty="0" err="1">
                <a:solidFill>
                  <a:schemeClr val="tx2">
                    <a:lumMod val="50000"/>
                  </a:schemeClr>
                </a:solidFill>
                <a:latin typeface="Candara" panose="020E0502030303020204" pitchFamily="34" charset="0"/>
              </a:rPr>
              <a:t>getReg</a:t>
            </a:r>
            <a:r>
              <a:rPr lang="en-US" sz="5000" dirty="0">
                <a:solidFill>
                  <a:schemeClr val="tx2">
                    <a:lumMod val="50000"/>
                  </a:schemeClr>
                </a:solidFill>
                <a:latin typeface="Candara" panose="020E0502030303020204" pitchFamily="34" charset="0"/>
              </a:rPr>
              <a:t>(</a:t>
            </a:r>
            <a:r>
              <a:rPr lang="en-US" sz="5000" i="1" dirty="0">
                <a:solidFill>
                  <a:schemeClr val="tx2">
                    <a:lumMod val="50000"/>
                  </a:schemeClr>
                </a:solidFill>
                <a:latin typeface="Candara" panose="020E0502030303020204" pitchFamily="34" charset="0"/>
              </a:rPr>
              <a:t>I</a:t>
            </a:r>
            <a:r>
              <a:rPr lang="en-US" sz="5000" dirty="0">
                <a:solidFill>
                  <a:schemeClr val="tx2">
                    <a:lumMod val="50000"/>
                  </a:schemeClr>
                </a:solidFill>
                <a:latin typeface="Candara" panose="020E0502030303020204" pitchFamily="34" charset="0"/>
              </a:rPr>
              <a:t>)</a:t>
            </a:r>
          </a:p>
        </p:txBody>
      </p:sp>
      <p:sp>
        <p:nvSpPr>
          <p:cNvPr id="3" name="Footer Placeholder 2"/>
          <p:cNvSpPr>
            <a:spLocks noGrp="1"/>
          </p:cNvSpPr>
          <p:nvPr>
            <p:ph type="ftr" sz="quarter" idx="11"/>
          </p:nvPr>
        </p:nvSpPr>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62</a:t>
            </a:fld>
            <a:endParaRPr lang="en-US" dirty="0"/>
          </a:p>
        </p:txBody>
      </p:sp>
      <p:sp>
        <p:nvSpPr>
          <p:cNvPr id="6" name="Content Placeholder 5"/>
          <p:cNvSpPr>
            <a:spLocks noGrp="1"/>
          </p:cNvSpPr>
          <p:nvPr>
            <p:ph idx="1"/>
          </p:nvPr>
        </p:nvSpPr>
        <p:spPr>
          <a:xfrm>
            <a:off x="572728" y="972175"/>
            <a:ext cx="11078497" cy="5749300"/>
          </a:xfrm>
        </p:spPr>
        <p:txBody>
          <a:bodyPr>
            <a:noAutofit/>
          </a:bodyPr>
          <a:lstStyle/>
          <a:p>
            <a:r>
              <a:rPr lang="en-US" dirty="0"/>
              <a:t>For  variable </a:t>
            </a:r>
            <a:r>
              <a:rPr lang="en-US" dirty="0">
                <a:solidFill>
                  <a:srgbClr val="FF0000"/>
                </a:solidFill>
              </a:rPr>
              <a:t>y</a:t>
            </a:r>
            <a:r>
              <a:rPr lang="en-US" dirty="0"/>
              <a:t> ( and </a:t>
            </a:r>
            <a:r>
              <a:rPr lang="en-US" dirty="0">
                <a:solidFill>
                  <a:srgbClr val="FF0000"/>
                </a:solidFill>
              </a:rPr>
              <a:t>z</a:t>
            </a:r>
            <a:r>
              <a:rPr lang="en-US" dirty="0"/>
              <a:t> as well)  in the expression </a:t>
            </a:r>
            <a:r>
              <a:rPr lang="en-US" dirty="0">
                <a:solidFill>
                  <a:srgbClr val="FF0000"/>
                </a:solidFill>
                <a:latin typeface="Courier New" pitchFamily="49" charset="0"/>
                <a:cs typeface="Courier New" pitchFamily="49" charset="0"/>
              </a:rPr>
              <a:t>x=</a:t>
            </a:r>
            <a:r>
              <a:rPr lang="en-US" dirty="0" err="1">
                <a:solidFill>
                  <a:srgbClr val="FF0000"/>
                </a:solidFill>
                <a:latin typeface="Courier New" pitchFamily="49" charset="0"/>
                <a:cs typeface="Courier New" pitchFamily="49" charset="0"/>
              </a:rPr>
              <a:t>y+z</a:t>
            </a:r>
            <a:endParaRPr lang="en-US" dirty="0">
              <a:solidFill>
                <a:srgbClr val="FF0000"/>
              </a:solidFill>
              <a:latin typeface="Courier New" pitchFamily="49" charset="0"/>
              <a:cs typeface="Courier New" pitchFamily="49" charset="0"/>
            </a:endParaRPr>
          </a:p>
          <a:p>
            <a:pPr lvl="1">
              <a:buFontTx/>
              <a:buChar char="-"/>
            </a:pPr>
            <a:r>
              <a:rPr lang="en-US" dirty="0"/>
              <a:t>If  y is currently in a register, pick that register as </a:t>
            </a:r>
            <a:r>
              <a:rPr lang="en-US" dirty="0" err="1">
                <a:solidFill>
                  <a:srgbClr val="FF0000"/>
                </a:solidFill>
              </a:rPr>
              <a:t>R</a:t>
            </a:r>
            <a:r>
              <a:rPr lang="en-US" sz="1800" dirty="0" err="1">
                <a:solidFill>
                  <a:srgbClr val="FF0000"/>
                </a:solidFill>
              </a:rPr>
              <a:t>y</a:t>
            </a:r>
            <a:endParaRPr lang="en-US" sz="2000" dirty="0">
              <a:solidFill>
                <a:srgbClr val="FF0000"/>
              </a:solidFill>
            </a:endParaRPr>
          </a:p>
          <a:p>
            <a:pPr lvl="1">
              <a:buFontTx/>
              <a:buChar char="-"/>
            </a:pPr>
            <a:r>
              <a:rPr lang="en-US" dirty="0"/>
              <a:t>Else if  y is not in a register and there are </a:t>
            </a:r>
            <a:r>
              <a:rPr lang="en-US" dirty="0">
                <a:solidFill>
                  <a:srgbClr val="FF0000"/>
                </a:solidFill>
              </a:rPr>
              <a:t>empty registers</a:t>
            </a:r>
            <a:r>
              <a:rPr lang="en-US" dirty="0"/>
              <a:t>, pick an empty register as </a:t>
            </a:r>
            <a:r>
              <a:rPr lang="en-US" dirty="0" err="1">
                <a:solidFill>
                  <a:srgbClr val="FF0000"/>
                </a:solidFill>
              </a:rPr>
              <a:t>R</a:t>
            </a:r>
            <a:r>
              <a:rPr lang="en-US" sz="1600" dirty="0" err="1">
                <a:solidFill>
                  <a:srgbClr val="FF0000"/>
                </a:solidFill>
              </a:rPr>
              <a:t>y</a:t>
            </a:r>
            <a:endParaRPr lang="en-US" sz="2000" dirty="0">
              <a:solidFill>
                <a:srgbClr val="FF0000"/>
              </a:solidFill>
            </a:endParaRPr>
          </a:p>
          <a:p>
            <a:pPr lvl="1">
              <a:buFontTx/>
              <a:buChar char="-"/>
            </a:pPr>
            <a:r>
              <a:rPr lang="en-US" dirty="0">
                <a:solidFill>
                  <a:prstClr val="black"/>
                </a:solidFill>
              </a:rPr>
              <a:t>Else if  y is not in a register and there are  </a:t>
            </a:r>
            <a:r>
              <a:rPr lang="en-US" dirty="0">
                <a:solidFill>
                  <a:srgbClr val="FF0000"/>
                </a:solidFill>
              </a:rPr>
              <a:t>no empty registers</a:t>
            </a:r>
            <a:r>
              <a:rPr lang="en-US" dirty="0">
                <a:solidFill>
                  <a:prstClr val="black"/>
                </a:solidFill>
              </a:rPr>
              <a:t>, then </a:t>
            </a:r>
          </a:p>
          <a:p>
            <a:pPr lvl="2">
              <a:buNone/>
            </a:pPr>
            <a:r>
              <a:rPr lang="en-US" sz="2400" dirty="0">
                <a:solidFill>
                  <a:prstClr val="black"/>
                </a:solidFill>
              </a:rPr>
              <a:t>- for each register </a:t>
            </a:r>
            <a:r>
              <a:rPr lang="en-US" sz="2400" dirty="0">
                <a:solidFill>
                  <a:srgbClr val="FF0000"/>
                </a:solidFill>
              </a:rPr>
              <a:t>R</a:t>
            </a:r>
          </a:p>
          <a:p>
            <a:pPr marL="1652588" lvl="2" indent="-163513">
              <a:buNone/>
            </a:pPr>
            <a:r>
              <a:rPr lang="en-US" sz="2400" dirty="0">
                <a:solidFill>
                  <a:prstClr val="black"/>
                </a:solidFill>
              </a:rPr>
              <a:t>- </a:t>
            </a:r>
            <a:r>
              <a:rPr lang="en-US" sz="2400" dirty="0"/>
              <a:t>For each variable </a:t>
            </a:r>
            <a:r>
              <a:rPr lang="en-US" sz="2400" dirty="0">
                <a:solidFill>
                  <a:srgbClr val="FF0000"/>
                </a:solidFill>
              </a:rPr>
              <a:t>v</a:t>
            </a:r>
            <a:r>
              <a:rPr lang="en-US" sz="2400" dirty="0"/>
              <a:t> that are in </a:t>
            </a:r>
            <a:r>
              <a:rPr lang="en-US" sz="2400" dirty="0">
                <a:solidFill>
                  <a:srgbClr val="FF0000"/>
                </a:solidFill>
              </a:rPr>
              <a:t>R</a:t>
            </a:r>
          </a:p>
          <a:p>
            <a:pPr marL="2522538" lvl="3" indent="-633413">
              <a:buNone/>
            </a:pPr>
            <a:r>
              <a:rPr lang="en-US" sz="2400" dirty="0"/>
              <a:t>- If </a:t>
            </a:r>
            <a:r>
              <a:rPr lang="en-US" sz="2400" dirty="0">
                <a:solidFill>
                  <a:srgbClr val="FF0000"/>
                </a:solidFill>
              </a:rPr>
              <a:t>v</a:t>
            </a:r>
            <a:r>
              <a:rPr lang="en-US" sz="2400" dirty="0"/>
              <a:t> is somewhere besides </a:t>
            </a:r>
            <a:r>
              <a:rPr lang="en-US" sz="2400" dirty="0">
                <a:solidFill>
                  <a:srgbClr val="FF0000"/>
                </a:solidFill>
              </a:rPr>
              <a:t>R </a:t>
            </a:r>
            <a:r>
              <a:rPr lang="en-US" sz="2400" dirty="0"/>
              <a:t>(check from address descriptor), pick </a:t>
            </a:r>
            <a:r>
              <a:rPr lang="en-US" sz="2400" dirty="0">
                <a:solidFill>
                  <a:srgbClr val="FF0000"/>
                </a:solidFill>
              </a:rPr>
              <a:t>R</a:t>
            </a:r>
          </a:p>
          <a:p>
            <a:pPr marL="2522538" lvl="3" indent="-633413">
              <a:buNone/>
            </a:pPr>
            <a:r>
              <a:rPr lang="en-US" sz="2400" dirty="0"/>
              <a:t>- Else if </a:t>
            </a:r>
            <a:r>
              <a:rPr lang="en-US" sz="2400" dirty="0">
                <a:solidFill>
                  <a:srgbClr val="FF0000"/>
                </a:solidFill>
              </a:rPr>
              <a:t>v</a:t>
            </a:r>
            <a:r>
              <a:rPr lang="en-US" sz="2400" dirty="0"/>
              <a:t> is </a:t>
            </a:r>
            <a:r>
              <a:rPr lang="en-US" sz="2400" dirty="0">
                <a:solidFill>
                  <a:srgbClr val="FF0000"/>
                </a:solidFill>
              </a:rPr>
              <a:t>x</a:t>
            </a:r>
            <a:r>
              <a:rPr lang="en-US" sz="2400" dirty="0"/>
              <a:t>, and </a:t>
            </a:r>
            <a:r>
              <a:rPr lang="en-US" sz="2400" dirty="0">
                <a:solidFill>
                  <a:srgbClr val="FF0000"/>
                </a:solidFill>
              </a:rPr>
              <a:t>x</a:t>
            </a:r>
            <a:r>
              <a:rPr lang="en-US" sz="2400" dirty="0"/>
              <a:t> is not one of the other operands (</a:t>
            </a:r>
            <a:r>
              <a:rPr lang="en-US" sz="2400" dirty="0">
                <a:solidFill>
                  <a:srgbClr val="FF0000"/>
                </a:solidFill>
              </a:rPr>
              <a:t>z</a:t>
            </a:r>
            <a:r>
              <a:rPr lang="en-US" sz="2400" dirty="0"/>
              <a:t>), pick </a:t>
            </a:r>
            <a:r>
              <a:rPr lang="en-US" sz="2400" dirty="0">
                <a:solidFill>
                  <a:srgbClr val="FF0000"/>
                </a:solidFill>
              </a:rPr>
              <a:t>R</a:t>
            </a:r>
          </a:p>
          <a:p>
            <a:pPr marL="2522538" lvl="3" indent="-633413">
              <a:buNone/>
            </a:pPr>
            <a:r>
              <a:rPr lang="en-US" sz="2400" dirty="0"/>
              <a:t>- Else if </a:t>
            </a:r>
            <a:r>
              <a:rPr lang="en-US" sz="2400" dirty="0">
                <a:solidFill>
                  <a:srgbClr val="FF0000"/>
                </a:solidFill>
              </a:rPr>
              <a:t>v</a:t>
            </a:r>
            <a:r>
              <a:rPr lang="en-US" sz="2400" dirty="0"/>
              <a:t> is not used later, pick </a:t>
            </a:r>
            <a:r>
              <a:rPr lang="en-US" sz="2400" dirty="0">
                <a:solidFill>
                  <a:srgbClr val="FF0000"/>
                </a:solidFill>
              </a:rPr>
              <a:t>R</a:t>
            </a:r>
          </a:p>
          <a:p>
            <a:pPr marL="2522538" lvl="3" indent="-633413">
              <a:buNone/>
            </a:pPr>
            <a:r>
              <a:rPr lang="en-US" sz="2400" dirty="0"/>
              <a:t>- Else generate a store instruction </a:t>
            </a:r>
            <a:r>
              <a:rPr lang="en-US" sz="2400" dirty="0">
                <a:solidFill>
                  <a:srgbClr val="FF0000"/>
                </a:solidFill>
              </a:rPr>
              <a:t>ST v, R</a:t>
            </a:r>
            <a:r>
              <a:rPr lang="en-US" sz="2400" dirty="0"/>
              <a:t>; called a </a:t>
            </a:r>
            <a:r>
              <a:rPr lang="en-US" sz="2400" i="1" dirty="0">
                <a:solidFill>
                  <a:srgbClr val="7030A0"/>
                </a:solidFill>
              </a:rPr>
              <a:t>spill</a:t>
            </a:r>
          </a:p>
          <a:p>
            <a:pPr marL="2065338" lvl="2" indent="-576263">
              <a:buFontTx/>
              <a:buChar char="-"/>
            </a:pPr>
            <a:r>
              <a:rPr lang="en-US" sz="2400" dirty="0"/>
              <a:t>Since R may hold several variables at the moment, calculate </a:t>
            </a:r>
            <a:r>
              <a:rPr lang="en-US" sz="2400" dirty="0">
                <a:solidFill>
                  <a:srgbClr val="FF0000"/>
                </a:solidFill>
              </a:rPr>
              <a:t>R</a:t>
            </a:r>
            <a:r>
              <a:rPr lang="en-US" sz="2400" dirty="0"/>
              <a:t>’s score as total number of spills required for all its variables</a:t>
            </a:r>
          </a:p>
          <a:p>
            <a:pPr marL="1090613" lvl="2" indent="-234950">
              <a:buNone/>
            </a:pPr>
            <a:r>
              <a:rPr lang="en-US" sz="2400" dirty="0">
                <a:solidFill>
                  <a:prstClr val="black"/>
                </a:solidFill>
              </a:rPr>
              <a:t>- pick the register </a:t>
            </a:r>
            <a:r>
              <a:rPr lang="en-US" sz="2400" dirty="0">
                <a:solidFill>
                  <a:srgbClr val="FF0000"/>
                </a:solidFill>
              </a:rPr>
              <a:t>R</a:t>
            </a:r>
            <a:r>
              <a:rPr lang="en-US" sz="2400" dirty="0">
                <a:solidFill>
                  <a:prstClr val="black"/>
                </a:solidFill>
              </a:rPr>
              <a:t> with lowest score as </a:t>
            </a:r>
            <a:r>
              <a:rPr lang="en-US" sz="2400" dirty="0" err="1">
                <a:solidFill>
                  <a:srgbClr val="FF0000"/>
                </a:solidFill>
              </a:rPr>
              <a:t>R</a:t>
            </a:r>
            <a:r>
              <a:rPr lang="en-US" sz="1400" dirty="0" err="1">
                <a:solidFill>
                  <a:srgbClr val="FF0000"/>
                </a:solidFill>
              </a:rPr>
              <a:t>y</a:t>
            </a:r>
            <a:endParaRPr lang="en-US" sz="2400" dirty="0"/>
          </a:p>
          <a:p>
            <a:pPr marL="2065338" lvl="2" indent="-576263">
              <a:buFontTx/>
              <a:buChar char="-"/>
            </a:pPr>
            <a:endParaRPr lang="en-US" sz="2400" dirty="0"/>
          </a:p>
          <a:p>
            <a:pPr lvl="3">
              <a:buFontTx/>
              <a:buChar char="-"/>
            </a:pPr>
            <a:endParaRPr lang="en-US" sz="2200" dirty="0">
              <a:solidFill>
                <a:srgbClr val="FF0000"/>
              </a:solidFill>
            </a:endParaRPr>
          </a:p>
          <a:p>
            <a:pPr lvl="3">
              <a:buFontTx/>
              <a:buChar char="-"/>
            </a:pPr>
            <a:endParaRPr lang="en-US" sz="2200" dirty="0">
              <a:solidFill>
                <a:srgbClr val="FF0000"/>
              </a:solidFill>
            </a:endParaRPr>
          </a:p>
          <a:p>
            <a:pPr lvl="3">
              <a:buFontTx/>
              <a:buChar char="-"/>
            </a:pPr>
            <a:endParaRPr lang="en-US" sz="2200" dirty="0">
              <a:solidFill>
                <a:srgbClr val="FF0000"/>
              </a:solidFill>
            </a:endParaRPr>
          </a:p>
          <a:p>
            <a:pPr lvl="2">
              <a:buFontTx/>
              <a:buChar char="-"/>
            </a:pPr>
            <a:endParaRPr lang="en-US" sz="1600" dirty="0">
              <a:solidFill>
                <a:srgbClr val="FF0000"/>
              </a:solidFill>
            </a:endParaRPr>
          </a:p>
          <a:p>
            <a:pPr lvl="1">
              <a:buNone/>
            </a:pPr>
            <a:endParaRPr lang="en-US" sz="2000" dirty="0">
              <a:solidFill>
                <a:srgbClr val="FF0000"/>
              </a:solidFill>
            </a:endParaRPr>
          </a:p>
          <a:p>
            <a:pPr lvl="1">
              <a:buFontTx/>
              <a:buChar char="-"/>
            </a:pPr>
            <a:endParaRPr lang="en-US" sz="2000" dirty="0"/>
          </a:p>
          <a:p>
            <a:pPr lvl="1">
              <a:buFontTx/>
              <a:buChar char="-"/>
            </a:pPr>
            <a:endParaRPr lang="en-US" sz="2000" dirty="0"/>
          </a:p>
          <a:p>
            <a:pPr lvl="1">
              <a:buFontTx/>
              <a:buChar char="-"/>
            </a:pPr>
            <a:endParaRPr lang="en-US" dirty="0"/>
          </a:p>
          <a:p>
            <a:pPr lvl="1"/>
            <a:endParaRPr lang="en-US" dirty="0"/>
          </a:p>
        </p:txBody>
      </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7" end="7"/>
                                            </p:txEl>
                                          </p:spTgt>
                                        </p:tgtEl>
                                        <p:attrNameLst>
                                          <p:attrName>style.visibility</p:attrName>
                                        </p:attrNameLst>
                                      </p:cBhvr>
                                      <p:to>
                                        <p:strVal val="visible"/>
                                      </p:to>
                                    </p:set>
                                    <p:animEffect transition="in" filter="fade">
                                      <p:cBhvr>
                                        <p:cTn id="56" dur="1000"/>
                                        <p:tgtEl>
                                          <p:spTgt spid="6">
                                            <p:txEl>
                                              <p:pRg st="7" end="7"/>
                                            </p:txEl>
                                          </p:spTgt>
                                        </p:tgtEl>
                                      </p:cBhvr>
                                    </p:animEffect>
                                    <p:anim calcmode="lin" valueType="num">
                                      <p:cBhvr>
                                        <p:cTn id="57"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8" end="8"/>
                                            </p:txEl>
                                          </p:spTgt>
                                        </p:tgtEl>
                                        <p:attrNameLst>
                                          <p:attrName>style.visibility</p:attrName>
                                        </p:attrNameLst>
                                      </p:cBhvr>
                                      <p:to>
                                        <p:strVal val="visible"/>
                                      </p:to>
                                    </p:set>
                                    <p:animEffect transition="in" filter="fade">
                                      <p:cBhvr>
                                        <p:cTn id="63" dur="1000"/>
                                        <p:tgtEl>
                                          <p:spTgt spid="6">
                                            <p:txEl>
                                              <p:pRg st="8" end="8"/>
                                            </p:txEl>
                                          </p:spTgt>
                                        </p:tgtEl>
                                      </p:cBhvr>
                                    </p:animEffect>
                                    <p:anim calcmode="lin" valueType="num">
                                      <p:cBhvr>
                                        <p:cTn id="64"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9" end="9"/>
                                            </p:txEl>
                                          </p:spTgt>
                                        </p:tgtEl>
                                        <p:attrNameLst>
                                          <p:attrName>style.visibility</p:attrName>
                                        </p:attrNameLst>
                                      </p:cBhvr>
                                      <p:to>
                                        <p:strVal val="visible"/>
                                      </p:to>
                                    </p:set>
                                    <p:animEffect transition="in" filter="fade">
                                      <p:cBhvr>
                                        <p:cTn id="70" dur="1000"/>
                                        <p:tgtEl>
                                          <p:spTgt spid="6">
                                            <p:txEl>
                                              <p:pRg st="9" end="9"/>
                                            </p:txEl>
                                          </p:spTgt>
                                        </p:tgtEl>
                                      </p:cBhvr>
                                    </p:animEffect>
                                    <p:anim calcmode="lin" valueType="num">
                                      <p:cBhvr>
                                        <p:cTn id="71"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10" end="10"/>
                                            </p:txEl>
                                          </p:spTgt>
                                        </p:tgtEl>
                                        <p:attrNameLst>
                                          <p:attrName>style.visibility</p:attrName>
                                        </p:attrNameLst>
                                      </p:cBhvr>
                                      <p:to>
                                        <p:strVal val="visible"/>
                                      </p:to>
                                    </p:set>
                                    <p:animEffect transition="in" filter="fade">
                                      <p:cBhvr>
                                        <p:cTn id="77" dur="1000"/>
                                        <p:tgtEl>
                                          <p:spTgt spid="6">
                                            <p:txEl>
                                              <p:pRg st="10" end="10"/>
                                            </p:txEl>
                                          </p:spTgt>
                                        </p:tgtEl>
                                      </p:cBhvr>
                                    </p:animEffect>
                                    <p:anim calcmode="lin" valueType="num">
                                      <p:cBhvr>
                                        <p:cTn id="78"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1" end="11"/>
                                            </p:txEl>
                                          </p:spTgt>
                                        </p:tgtEl>
                                        <p:attrNameLst>
                                          <p:attrName>style.visibility</p:attrName>
                                        </p:attrNameLst>
                                      </p:cBhvr>
                                      <p:to>
                                        <p:strVal val="visible"/>
                                      </p:to>
                                    </p:set>
                                    <p:animEffect transition="in" filter="fade">
                                      <p:cBhvr>
                                        <p:cTn id="84" dur="1000"/>
                                        <p:tgtEl>
                                          <p:spTgt spid="6">
                                            <p:txEl>
                                              <p:pRg st="11" end="11"/>
                                            </p:txEl>
                                          </p:spTgt>
                                        </p:tgtEl>
                                      </p:cBhvr>
                                    </p:animEffect>
                                    <p:anim calcmode="lin" valueType="num">
                                      <p:cBhvr>
                                        <p:cTn id="85"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Design of Function </a:t>
            </a:r>
            <a:r>
              <a:rPr lang="en-US" sz="5000" dirty="0" err="1">
                <a:solidFill>
                  <a:schemeClr val="tx2">
                    <a:lumMod val="50000"/>
                  </a:schemeClr>
                </a:solidFill>
                <a:latin typeface="Candara" panose="020E0502030303020204" pitchFamily="34" charset="0"/>
              </a:rPr>
              <a:t>getReg</a:t>
            </a:r>
            <a:r>
              <a:rPr lang="en-US" sz="5000" dirty="0">
                <a:solidFill>
                  <a:schemeClr val="tx2">
                    <a:lumMod val="50000"/>
                  </a:schemeClr>
                </a:solidFill>
                <a:latin typeface="Candara" panose="020E0502030303020204" pitchFamily="34" charset="0"/>
              </a:rPr>
              <a:t>(</a:t>
            </a:r>
            <a:r>
              <a:rPr lang="en-US" sz="5000" i="1" dirty="0">
                <a:solidFill>
                  <a:schemeClr val="tx2">
                    <a:lumMod val="50000"/>
                  </a:schemeClr>
                </a:solidFill>
                <a:latin typeface="Candara" panose="020E0502030303020204" pitchFamily="34" charset="0"/>
              </a:rPr>
              <a:t>I</a:t>
            </a:r>
            <a:r>
              <a:rPr lang="en-US" sz="5000" dirty="0">
                <a:solidFill>
                  <a:schemeClr val="tx2">
                    <a:lumMod val="50000"/>
                  </a:schemeClr>
                </a:solidFill>
                <a:latin typeface="Candara" panose="020E0502030303020204" pitchFamily="34" charset="0"/>
              </a:rPr>
              <a:t>)</a:t>
            </a:r>
          </a:p>
        </p:txBody>
      </p:sp>
      <p:sp>
        <p:nvSpPr>
          <p:cNvPr id="3" name="Footer Placeholder 2"/>
          <p:cNvSpPr>
            <a:spLocks noGrp="1"/>
          </p:cNvSpPr>
          <p:nvPr>
            <p:ph type="ftr" sz="quarter" idx="11"/>
          </p:nvPr>
        </p:nvSpPr>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63</a:t>
            </a:fld>
            <a:endParaRPr lang="en-US" dirty="0"/>
          </a:p>
        </p:txBody>
      </p:sp>
      <p:sp>
        <p:nvSpPr>
          <p:cNvPr id="6" name="Content Placeholder 5"/>
          <p:cNvSpPr>
            <a:spLocks noGrp="1"/>
          </p:cNvSpPr>
          <p:nvPr>
            <p:ph idx="1"/>
          </p:nvPr>
        </p:nvSpPr>
        <p:spPr>
          <a:xfrm>
            <a:off x="793954" y="1214206"/>
            <a:ext cx="10515600" cy="4880426"/>
          </a:xfrm>
        </p:spPr>
        <p:txBody>
          <a:bodyPr>
            <a:normAutofit/>
          </a:bodyPr>
          <a:lstStyle/>
          <a:p>
            <a:r>
              <a:rPr lang="en-US" sz="2400" dirty="0"/>
              <a:t>For  variable </a:t>
            </a:r>
            <a:r>
              <a:rPr lang="en-US" sz="2400" i="1" dirty="0">
                <a:solidFill>
                  <a:srgbClr val="FF0000"/>
                </a:solidFill>
              </a:rPr>
              <a:t>x</a:t>
            </a:r>
            <a:r>
              <a:rPr lang="en-US" sz="2400" dirty="0"/>
              <a:t> in the expression </a:t>
            </a:r>
            <a:r>
              <a:rPr lang="en-US" sz="2400" i="1" dirty="0">
                <a:solidFill>
                  <a:srgbClr val="FF0000"/>
                </a:solidFill>
                <a:latin typeface="Courier New" pitchFamily="49" charset="0"/>
                <a:cs typeface="Courier New" pitchFamily="49" charset="0"/>
              </a:rPr>
              <a:t>x</a:t>
            </a:r>
            <a:r>
              <a:rPr lang="en-US" sz="2400" i="1" dirty="0">
                <a:latin typeface="Courier New" pitchFamily="49" charset="0"/>
                <a:cs typeface="Courier New" pitchFamily="49" charset="0"/>
              </a:rPr>
              <a:t>=</a:t>
            </a:r>
            <a:r>
              <a:rPr lang="en-US" sz="2400" i="1" dirty="0" err="1">
                <a:solidFill>
                  <a:srgbClr val="FF0000"/>
                </a:solidFill>
                <a:latin typeface="Courier New" pitchFamily="49" charset="0"/>
                <a:cs typeface="Courier New" pitchFamily="49" charset="0"/>
              </a:rPr>
              <a:t>y</a:t>
            </a:r>
            <a:r>
              <a:rPr lang="en-US" sz="2400" i="1" dirty="0" err="1">
                <a:latin typeface="Courier New" pitchFamily="49" charset="0"/>
                <a:cs typeface="Courier New" pitchFamily="49" charset="0"/>
              </a:rPr>
              <a:t>+</a:t>
            </a:r>
            <a:r>
              <a:rPr lang="en-US" sz="2400" i="1" dirty="0" err="1">
                <a:solidFill>
                  <a:srgbClr val="FF0000"/>
                </a:solidFill>
                <a:latin typeface="Courier New" pitchFamily="49" charset="0"/>
                <a:cs typeface="Courier New" pitchFamily="49" charset="0"/>
              </a:rPr>
              <a:t>z</a:t>
            </a:r>
            <a:r>
              <a:rPr lang="en-US" sz="2400" i="1" dirty="0"/>
              <a:t> </a:t>
            </a:r>
          </a:p>
          <a:p>
            <a:pPr lvl="1">
              <a:lnSpc>
                <a:spcPct val="150000"/>
              </a:lnSpc>
              <a:buNone/>
            </a:pPr>
            <a:r>
              <a:rPr lang="en-US" dirty="0"/>
              <a:t>- The issues and options are almost as for y, except for the following differences</a:t>
            </a:r>
          </a:p>
          <a:p>
            <a:pPr marL="855663" lvl="1">
              <a:lnSpc>
                <a:spcPct val="150000"/>
              </a:lnSpc>
              <a:buNone/>
            </a:pPr>
            <a:r>
              <a:rPr lang="en-US" dirty="0"/>
              <a:t>- A register that holds only </a:t>
            </a:r>
            <a:r>
              <a:rPr lang="en-US" i="1" dirty="0">
                <a:solidFill>
                  <a:srgbClr val="FF0000"/>
                </a:solidFill>
              </a:rPr>
              <a:t>x</a:t>
            </a:r>
            <a:r>
              <a:rPr lang="en-US" dirty="0"/>
              <a:t> is always an acceptable choice for </a:t>
            </a:r>
            <a:r>
              <a:rPr lang="en-US" i="1" dirty="0">
                <a:solidFill>
                  <a:srgbClr val="FF0000"/>
                </a:solidFill>
              </a:rPr>
              <a:t>R</a:t>
            </a:r>
            <a:r>
              <a:rPr lang="en-US" i="1" baseline="-25000" dirty="0">
                <a:solidFill>
                  <a:srgbClr val="FF0000"/>
                </a:solidFill>
              </a:rPr>
              <a:t>x</a:t>
            </a:r>
          </a:p>
          <a:p>
            <a:pPr marL="855663" lvl="1">
              <a:spcBef>
                <a:spcPts val="0"/>
              </a:spcBef>
              <a:spcAft>
                <a:spcPts val="1200"/>
              </a:spcAft>
              <a:buNone/>
            </a:pPr>
            <a:r>
              <a:rPr lang="en-US" dirty="0"/>
              <a:t>	- holds true even if </a:t>
            </a:r>
            <a:r>
              <a:rPr lang="en-US" i="1" dirty="0">
                <a:solidFill>
                  <a:srgbClr val="FF0000"/>
                </a:solidFill>
              </a:rPr>
              <a:t>x</a:t>
            </a:r>
            <a:r>
              <a:rPr lang="en-US" dirty="0"/>
              <a:t> is one of </a:t>
            </a:r>
            <a:r>
              <a:rPr lang="en-US" i="1" dirty="0">
                <a:solidFill>
                  <a:srgbClr val="FF0000"/>
                </a:solidFill>
              </a:rPr>
              <a:t>y</a:t>
            </a:r>
            <a:r>
              <a:rPr lang="en-US" dirty="0"/>
              <a:t> and </a:t>
            </a:r>
            <a:r>
              <a:rPr lang="en-US" i="1" dirty="0">
                <a:solidFill>
                  <a:srgbClr val="FF0000"/>
                </a:solidFill>
              </a:rPr>
              <a:t>z</a:t>
            </a:r>
          </a:p>
          <a:p>
            <a:pPr marL="855663" lvl="1">
              <a:lnSpc>
                <a:spcPct val="100000"/>
              </a:lnSpc>
              <a:spcBef>
                <a:spcPts val="0"/>
              </a:spcBef>
              <a:spcAft>
                <a:spcPts val="600"/>
              </a:spcAft>
              <a:buNone/>
            </a:pPr>
            <a:r>
              <a:rPr lang="en-US" dirty="0"/>
              <a:t>- If </a:t>
            </a:r>
            <a:r>
              <a:rPr lang="en-US" i="1" dirty="0">
                <a:solidFill>
                  <a:srgbClr val="FF0000"/>
                </a:solidFill>
              </a:rPr>
              <a:t>y</a:t>
            </a:r>
            <a:r>
              <a:rPr lang="en-US" dirty="0"/>
              <a:t> is not used after instruction </a:t>
            </a:r>
            <a:r>
              <a:rPr lang="en-US" i="1" dirty="0">
                <a:solidFill>
                  <a:srgbClr val="FF0000"/>
                </a:solidFill>
              </a:rPr>
              <a:t>I</a:t>
            </a:r>
            <a:r>
              <a:rPr lang="en-US" dirty="0"/>
              <a:t> and </a:t>
            </a:r>
            <a:r>
              <a:rPr lang="en-US" i="1" dirty="0" err="1">
                <a:solidFill>
                  <a:srgbClr val="FF0000"/>
                </a:solidFill>
              </a:rPr>
              <a:t>R</a:t>
            </a:r>
            <a:r>
              <a:rPr lang="en-US" i="1" baseline="-25000" dirty="0" err="1">
                <a:solidFill>
                  <a:srgbClr val="FF0000"/>
                </a:solidFill>
              </a:rPr>
              <a:t>y</a:t>
            </a:r>
            <a:r>
              <a:rPr lang="en-US" dirty="0"/>
              <a:t> holds only </a:t>
            </a:r>
            <a:r>
              <a:rPr lang="en-US" i="1" dirty="0">
                <a:solidFill>
                  <a:srgbClr val="FF0000"/>
                </a:solidFill>
              </a:rPr>
              <a:t>y</a:t>
            </a:r>
            <a:r>
              <a:rPr lang="en-US" dirty="0"/>
              <a:t> after being loaded, if necessary then pick </a:t>
            </a:r>
            <a:r>
              <a:rPr lang="en-US" i="1" dirty="0" err="1">
                <a:solidFill>
                  <a:srgbClr val="FF0000"/>
                </a:solidFill>
              </a:rPr>
              <a:t>R</a:t>
            </a:r>
            <a:r>
              <a:rPr lang="en-US" i="1" baseline="-25000" dirty="0" err="1">
                <a:solidFill>
                  <a:srgbClr val="FF0000"/>
                </a:solidFill>
              </a:rPr>
              <a:t>y</a:t>
            </a:r>
            <a:r>
              <a:rPr lang="en-US" dirty="0"/>
              <a:t> as </a:t>
            </a:r>
            <a:r>
              <a:rPr lang="en-US" i="1" dirty="0">
                <a:solidFill>
                  <a:srgbClr val="FF0000"/>
                </a:solidFill>
              </a:rPr>
              <a:t>R</a:t>
            </a:r>
            <a:r>
              <a:rPr lang="en-US" i="1" baseline="-25000" dirty="0">
                <a:solidFill>
                  <a:srgbClr val="FF0000"/>
                </a:solidFill>
              </a:rPr>
              <a:t>x</a:t>
            </a:r>
          </a:p>
          <a:p>
            <a:pPr marL="855663" lvl="1">
              <a:spcBef>
                <a:spcPts val="0"/>
              </a:spcBef>
              <a:spcAft>
                <a:spcPts val="1200"/>
              </a:spcAft>
              <a:buNone/>
            </a:pPr>
            <a:r>
              <a:rPr lang="en-US" dirty="0"/>
              <a:t>	- similar option holds regarding </a:t>
            </a:r>
            <a:r>
              <a:rPr lang="en-US" i="1" dirty="0">
                <a:solidFill>
                  <a:srgbClr val="FF0000"/>
                </a:solidFill>
              </a:rPr>
              <a:t>z</a:t>
            </a:r>
            <a:r>
              <a:rPr lang="en-US" dirty="0"/>
              <a:t> and </a:t>
            </a:r>
            <a:r>
              <a:rPr lang="en-US" i="1" dirty="0" err="1">
                <a:solidFill>
                  <a:srgbClr val="FF0000"/>
                </a:solidFill>
              </a:rPr>
              <a:t>R</a:t>
            </a:r>
            <a:r>
              <a:rPr lang="en-US" i="1" baseline="-25000" dirty="0" err="1">
                <a:solidFill>
                  <a:srgbClr val="FF0000"/>
                </a:solidFill>
              </a:rPr>
              <a:t>z</a:t>
            </a:r>
            <a:endParaRPr lang="en-US" i="1" baseline="-25000" dirty="0">
              <a:solidFill>
                <a:srgbClr val="FF0000"/>
              </a:solidFill>
            </a:endParaRPr>
          </a:p>
          <a:p>
            <a:pPr marL="855663" lvl="1">
              <a:buNone/>
            </a:pPr>
            <a:r>
              <a:rPr lang="en-US" dirty="0"/>
              <a:t>- If  </a:t>
            </a:r>
            <a:r>
              <a:rPr lang="en-US" i="1" dirty="0">
                <a:solidFill>
                  <a:srgbClr val="FF0000"/>
                </a:solidFill>
              </a:rPr>
              <a:t>I</a:t>
            </a:r>
            <a:r>
              <a:rPr lang="en-US" dirty="0"/>
              <a:t> is a copy instruction (</a:t>
            </a:r>
            <a:r>
              <a:rPr lang="en-US" i="1" dirty="0">
                <a:solidFill>
                  <a:srgbClr val="FF0000"/>
                </a:solidFill>
              </a:rPr>
              <a:t>x</a:t>
            </a:r>
            <a:r>
              <a:rPr lang="en-US" i="1" dirty="0"/>
              <a:t>=</a:t>
            </a:r>
            <a:r>
              <a:rPr lang="en-US" i="1" dirty="0">
                <a:solidFill>
                  <a:srgbClr val="FF0000"/>
                </a:solidFill>
              </a:rPr>
              <a:t>y</a:t>
            </a:r>
            <a:r>
              <a:rPr lang="en-US" dirty="0"/>
              <a:t>), always choose </a:t>
            </a:r>
            <a:r>
              <a:rPr lang="en-US" i="1" dirty="0" err="1">
                <a:solidFill>
                  <a:srgbClr val="FF0000"/>
                </a:solidFill>
              </a:rPr>
              <a:t>R</a:t>
            </a:r>
            <a:r>
              <a:rPr lang="en-US" i="1" baseline="-25000" dirty="0" err="1">
                <a:solidFill>
                  <a:srgbClr val="FF0000"/>
                </a:solidFill>
              </a:rPr>
              <a:t>y</a:t>
            </a:r>
            <a:r>
              <a:rPr lang="en-US" dirty="0"/>
              <a:t> as </a:t>
            </a:r>
            <a:r>
              <a:rPr lang="en-US" i="1" dirty="0">
                <a:solidFill>
                  <a:srgbClr val="FF0000"/>
                </a:solidFill>
              </a:rPr>
              <a:t>R</a:t>
            </a:r>
            <a:r>
              <a:rPr lang="en-US" i="1" baseline="-25000" dirty="0">
                <a:solidFill>
                  <a:srgbClr val="FF0000"/>
                </a:solidFill>
              </a:rPr>
              <a:t>x</a:t>
            </a:r>
          </a:p>
          <a:p>
            <a:pPr lvl="1">
              <a:buNone/>
            </a:pPr>
            <a:endParaRPr lang="en-US" dirty="0"/>
          </a:p>
          <a:p>
            <a:pPr lvl="1"/>
            <a:endParaRPr lang="en-US" dirty="0"/>
          </a:p>
        </p:txBody>
      </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ADEE90-2B4C-9180-CB7B-B21F9EE7BAA9}"/>
              </a:ext>
            </a:extLst>
          </p:cNvPr>
          <p:cNvSpPr>
            <a:spLocks noGrp="1"/>
          </p:cNvSpPr>
          <p:nvPr>
            <p:ph type="title"/>
          </p:nvPr>
        </p:nvSpPr>
        <p:spPr>
          <a:xfrm>
            <a:off x="838200" y="2413955"/>
            <a:ext cx="10515600" cy="1593358"/>
          </a:xfrm>
          <a:effectLst>
            <a:outerShdw blurRad="50800" dist="38100" dir="2700000" algn="tl" rotWithShape="0">
              <a:prstClr val="black">
                <a:alpha val="40000"/>
              </a:prstClr>
            </a:outerShdw>
          </a:effectLst>
        </p:spPr>
        <p:txBody>
          <a:bodyPr>
            <a:normAutofit fontScale="90000"/>
          </a:bodyPr>
          <a:lstStyle/>
          <a:p>
            <a:pPr algn="ctr">
              <a:lnSpc>
                <a:spcPct val="150000"/>
              </a:lnSpc>
            </a:pPr>
            <a:r>
              <a:rPr lang="en-US" sz="5000" dirty="0">
                <a:solidFill>
                  <a:schemeClr val="tx2">
                    <a:lumMod val="50000"/>
                  </a:schemeClr>
                </a:solidFill>
                <a:latin typeface="Candara" panose="020E0502030303020204" pitchFamily="34" charset="0"/>
              </a:rPr>
              <a:t>Global Register Allocation</a:t>
            </a:r>
            <a:br>
              <a:rPr lang="en-US" sz="5000" dirty="0">
                <a:solidFill>
                  <a:schemeClr val="tx2">
                    <a:lumMod val="50000"/>
                  </a:schemeClr>
                </a:solidFill>
                <a:latin typeface="Candara" panose="020E0502030303020204" pitchFamily="34" charset="0"/>
              </a:rPr>
            </a:br>
            <a:r>
              <a:rPr lang="en-US" sz="2800" dirty="0">
                <a:solidFill>
                  <a:srgbClr val="FF0000"/>
                </a:solidFill>
                <a:latin typeface="Candara" panose="020E0502030303020204" pitchFamily="34" charset="0"/>
              </a:rPr>
              <a:t>(See the pdf titled Global Register Allocation)</a:t>
            </a:r>
            <a:endParaRPr lang="en-US" sz="5000" dirty="0">
              <a:solidFill>
                <a:srgbClr val="FF0000"/>
              </a:solidFill>
              <a:latin typeface="Candara" panose="020E0502030303020204" pitchFamily="34" charset="0"/>
            </a:endParaRPr>
          </a:p>
        </p:txBody>
      </p:sp>
    </p:spTree>
    <p:extLst>
      <p:ext uri="{BB962C8B-B14F-4D97-AF65-F5344CB8AC3E}">
        <p14:creationId xmlns:p14="http://schemas.microsoft.com/office/powerpoint/2010/main" val="4874947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Related References </a:t>
            </a:r>
          </a:p>
        </p:txBody>
      </p:sp>
      <p:sp>
        <p:nvSpPr>
          <p:cNvPr id="3" name="Footer Placeholder 2"/>
          <p:cNvSpPr>
            <a:spLocks noGrp="1"/>
          </p:cNvSpPr>
          <p:nvPr>
            <p:ph type="ftr" sz="quarter" idx="11"/>
          </p:nvPr>
        </p:nvSpPr>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65</a:t>
            </a:fld>
            <a:endParaRPr lang="en-US" dirty="0"/>
          </a:p>
        </p:txBody>
      </p:sp>
      <p:sp>
        <p:nvSpPr>
          <p:cNvPr id="6" name="Content Placeholder 5"/>
          <p:cNvSpPr>
            <a:spLocks noGrp="1"/>
          </p:cNvSpPr>
          <p:nvPr>
            <p:ph idx="1"/>
          </p:nvPr>
        </p:nvSpPr>
        <p:spPr>
          <a:xfrm>
            <a:off x="793954" y="1214206"/>
            <a:ext cx="10515600" cy="4880426"/>
          </a:xfrm>
        </p:spPr>
        <p:txBody>
          <a:bodyPr>
            <a:normAutofit/>
          </a:bodyPr>
          <a:lstStyle/>
          <a:p>
            <a:pPr lvl="1"/>
            <a:r>
              <a:rPr lang="en-US" dirty="0">
                <a:hlinkClick r:id="rId2"/>
              </a:rPr>
              <a:t>https://web.stanford.edu/class/cs143/lectures/lecture17.pdf</a:t>
            </a:r>
          </a:p>
          <a:p>
            <a:pPr lvl="1"/>
            <a:r>
              <a:rPr lang="en-US" dirty="0">
                <a:hlinkClick r:id="rId2"/>
              </a:rPr>
              <a:t>http://web.cs.ucla.edu/~palsberg/course/cs132/linearscan.pdf</a:t>
            </a:r>
            <a:endParaRPr lang="en-US" dirty="0"/>
          </a:p>
          <a:p>
            <a:pPr lvl="1"/>
            <a:r>
              <a:rPr lang="en-US" dirty="0">
                <a:hlinkClick r:id="rId3"/>
              </a:rPr>
              <a:t>https://user.it.uu.se/~kostis/Teaching/KT1-11/Slides/lecture16.pdf</a:t>
            </a:r>
            <a:endParaRPr lang="en-US" dirty="0"/>
          </a:p>
          <a:p>
            <a:pPr lvl="1"/>
            <a:r>
              <a:rPr lang="en-US" dirty="0"/>
              <a:t>https://en.wikipedia.org/wiki/Register_allocation</a:t>
            </a:r>
          </a:p>
        </p:txBody>
      </p:sp>
    </p:spTree>
    <p:extLst>
      <p:ext uri="{BB962C8B-B14F-4D97-AF65-F5344CB8AC3E}">
        <p14:creationId xmlns:p14="http://schemas.microsoft.com/office/powerpoint/2010/main" val="244949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An Example From GCC</a:t>
            </a:r>
          </a:p>
        </p:txBody>
      </p:sp>
      <p:sp>
        <p:nvSpPr>
          <p:cNvPr id="3" name="Footer Placeholder 2"/>
          <p:cNvSpPr>
            <a:spLocks noGrp="1"/>
          </p:cNvSpPr>
          <p:nvPr>
            <p:ph type="ftr" sz="quarter" idx="11"/>
          </p:nvPr>
        </p:nvSpPr>
        <p:spPr/>
        <p:txBody>
          <a:bodyPr/>
          <a:lstStyle/>
          <a:p>
            <a:r>
              <a:rPr lang="en-US" dirty="0"/>
              <a:t>Dept of CSE, BUET</a:t>
            </a:r>
          </a:p>
        </p:txBody>
      </p:sp>
      <p:sp>
        <p:nvSpPr>
          <p:cNvPr id="4" name="Slide Number Placeholder 3"/>
          <p:cNvSpPr>
            <a:spLocks noGrp="1"/>
          </p:cNvSpPr>
          <p:nvPr>
            <p:ph type="sldNum" sz="quarter" idx="12"/>
          </p:nvPr>
        </p:nvSpPr>
        <p:spPr/>
        <p:txBody>
          <a:bodyPr/>
          <a:lstStyle/>
          <a:p>
            <a:fld id="{48F63A3B-78C7-47BE-AE5E-E10140E04643}" type="slidenum">
              <a:rPr lang="en-US" smtClean="0"/>
              <a:pPr/>
              <a:t>66</a:t>
            </a:fld>
            <a:endParaRPr lang="en-US" dirty="0"/>
          </a:p>
        </p:txBody>
      </p:sp>
      <p:sp>
        <p:nvSpPr>
          <p:cNvPr id="13" name="TextBox 12"/>
          <p:cNvSpPr txBox="1"/>
          <p:nvPr/>
        </p:nvSpPr>
        <p:spPr>
          <a:xfrm>
            <a:off x="163773" y="1501260"/>
            <a:ext cx="2606733" cy="369332"/>
          </a:xfrm>
          <a:prstGeom prst="rect">
            <a:avLst/>
          </a:prstGeom>
          <a:noFill/>
        </p:spPr>
        <p:txBody>
          <a:bodyPr wrap="square" rtlCol="0">
            <a:spAutoFit/>
          </a:bodyPr>
          <a:lstStyle/>
          <a:p>
            <a:pPr algn="ctr"/>
            <a:r>
              <a:rPr lang="en-US" dirty="0">
                <a:solidFill>
                  <a:srgbClr val="FF0000"/>
                </a:solidFill>
              </a:rPr>
              <a:t>Source Code</a:t>
            </a:r>
          </a:p>
        </p:txBody>
      </p:sp>
      <p:grpSp>
        <p:nvGrpSpPr>
          <p:cNvPr id="6" name="Group 5"/>
          <p:cNvGrpSpPr/>
          <p:nvPr/>
        </p:nvGrpSpPr>
        <p:grpSpPr>
          <a:xfrm>
            <a:off x="2961552" y="1326553"/>
            <a:ext cx="4792547" cy="4450793"/>
            <a:chOff x="2961552" y="1326553"/>
            <a:chExt cx="4792547" cy="4450793"/>
          </a:xfrm>
        </p:grpSpPr>
        <p:sp>
          <p:nvSpPr>
            <p:cNvPr id="15" name="Rectangle 14"/>
            <p:cNvSpPr/>
            <p:nvPr/>
          </p:nvSpPr>
          <p:spPr>
            <a:xfrm>
              <a:off x="3200310" y="2084027"/>
              <a:ext cx="4349087" cy="3693319"/>
            </a:xfrm>
            <a:prstGeom prst="rect">
              <a:avLst/>
            </a:prstGeom>
            <a:solidFill>
              <a:schemeClr val="accent6">
                <a:lumMod val="20000"/>
                <a:lumOff val="80000"/>
              </a:schemeClr>
            </a:solidFill>
          </p:spPr>
          <p:txBody>
            <a:bodyPr wrap="square">
              <a:spAutoFit/>
            </a:bodyPr>
            <a:lstStyle/>
            <a:p>
              <a:r>
                <a:rPr lang="en-US" dirty="0">
                  <a:latin typeface="Courier New" pitchFamily="49" charset="0"/>
                  <a:cs typeface="Courier New" pitchFamily="49" charset="0"/>
                </a:rPr>
                <a:t>… … … </a:t>
              </a: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b</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lw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c</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lw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mult</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$2</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mflo</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a</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sw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b</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li</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1</a:t>
              </a:r>
              <a:r>
                <a:rPr lang="en-US" dirty="0">
                  <a:solidFill>
                    <a:srgbClr val="000000"/>
                  </a:solidFill>
                  <a:latin typeface="Courier New" pitchFamily="49" charset="0"/>
                  <a:cs typeface="Courier New" pitchFamily="49" charset="0"/>
                </a:rPr>
                <a:t> </a:t>
              </a:r>
              <a:r>
                <a:rPr lang="en-US" dirty="0">
                  <a:solidFill>
                    <a:srgbClr val="008000"/>
                  </a:solidFill>
                  <a:latin typeface="Courier New" pitchFamily="49" charset="0"/>
                  <a:cs typeface="Courier New" pitchFamily="49" charset="0"/>
                </a:rPr>
                <a:t># 0x1</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sw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latin typeface="Courier New" pitchFamily="49" charset="0"/>
                  <a:cs typeface="Courier New" pitchFamily="49" charset="0"/>
                </a:rPr>
                <a:t>… … …</a:t>
              </a:r>
            </a:p>
          </p:txBody>
        </p:sp>
        <p:sp>
          <p:nvSpPr>
            <p:cNvPr id="16" name="TextBox 15"/>
            <p:cNvSpPr txBox="1"/>
            <p:nvPr/>
          </p:nvSpPr>
          <p:spPr>
            <a:xfrm>
              <a:off x="2961552" y="1326553"/>
              <a:ext cx="4792547" cy="646331"/>
            </a:xfrm>
            <a:prstGeom prst="rect">
              <a:avLst/>
            </a:prstGeom>
            <a:noFill/>
          </p:spPr>
          <p:txBody>
            <a:bodyPr wrap="square" rtlCol="0">
              <a:spAutoFit/>
            </a:bodyPr>
            <a:lstStyle/>
            <a:p>
              <a:pPr algn="ctr"/>
              <a:r>
                <a:rPr lang="en-US" dirty="0">
                  <a:solidFill>
                    <a:srgbClr val="FF0000"/>
                  </a:solidFill>
                </a:rPr>
                <a:t>Target Code </a:t>
              </a:r>
            </a:p>
            <a:p>
              <a:pPr algn="ctr"/>
              <a:r>
                <a:rPr lang="en-US" dirty="0">
                  <a:solidFill>
                    <a:srgbClr val="FF0000"/>
                  </a:solidFill>
                </a:rPr>
                <a:t>(MIPS64 </a:t>
              </a:r>
              <a:r>
                <a:rPr lang="en-US" dirty="0" err="1">
                  <a:solidFill>
                    <a:srgbClr val="FF0000"/>
                  </a:solidFill>
                </a:rPr>
                <a:t>gcc</a:t>
              </a:r>
              <a:r>
                <a:rPr lang="en-US" dirty="0">
                  <a:solidFill>
                    <a:srgbClr val="FF0000"/>
                  </a:solidFill>
                </a:rPr>
                <a:t> 5.4 without O1 switch)</a:t>
              </a:r>
            </a:p>
          </p:txBody>
        </p:sp>
      </p:grpSp>
      <p:sp>
        <p:nvSpPr>
          <p:cNvPr id="17" name="Rectangle 16"/>
          <p:cNvSpPr/>
          <p:nvPr/>
        </p:nvSpPr>
        <p:spPr>
          <a:xfrm>
            <a:off x="441278" y="2101468"/>
            <a:ext cx="2465696" cy="2031325"/>
          </a:xfrm>
          <a:prstGeom prst="rect">
            <a:avLst/>
          </a:prstGeom>
          <a:solidFill>
            <a:schemeClr val="bg1">
              <a:lumMod val="95000"/>
            </a:schemeClr>
          </a:solidFill>
        </p:spPr>
        <p:txBody>
          <a:bodyPr wrap="square">
            <a:spAutoFit/>
          </a:bodyPr>
          <a:lstStyle/>
          <a:p>
            <a:r>
              <a:rPr lang="en-US" dirty="0">
                <a:solidFill>
                  <a:srgbClr val="0000FF"/>
                </a:solidFill>
                <a:latin typeface="Courier New" pitchFamily="49" charset="0"/>
                <a:cs typeface="Courier New" pitchFamily="49" charset="0"/>
              </a:rPr>
              <a:t>int</a:t>
            </a:r>
            <a:r>
              <a:rPr lang="en-US" dirty="0">
                <a:solidFill>
                  <a:srgbClr val="000000"/>
                </a:solidFill>
                <a:latin typeface="Courier New" pitchFamily="49" charset="0"/>
                <a:cs typeface="Courier New" pitchFamily="49" charset="0"/>
              </a:rPr>
              <a:t> a, b, c, d, e, f, g;</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int</a:t>
            </a:r>
            <a:r>
              <a:rPr lang="en-US" dirty="0">
                <a:solidFill>
                  <a:srgbClr val="000000"/>
                </a:solidFill>
                <a:latin typeface="Courier New" pitchFamily="49" charset="0"/>
                <a:cs typeface="Courier New" pitchFamily="49" charset="0"/>
              </a:rPr>
              <a:t> main(){ </a:t>
            </a:r>
            <a:endParaRPr lang="en-US" dirty="0">
              <a:latin typeface="Courier New" pitchFamily="49" charset="0"/>
              <a:cs typeface="Courier New" pitchFamily="49" charset="0"/>
            </a:endParaRPr>
          </a:p>
          <a:p>
            <a:r>
              <a:rPr lang="en-US" dirty="0">
                <a:solidFill>
                  <a:srgbClr val="000000"/>
                </a:solidFill>
                <a:latin typeface="Courier New" pitchFamily="49" charset="0"/>
                <a:cs typeface="Courier New" pitchFamily="49" charset="0"/>
              </a:rPr>
              <a:t> a=b*c;</a:t>
            </a:r>
            <a:endParaRPr lang="en-US" dirty="0">
              <a:latin typeface="Courier New" pitchFamily="49" charset="0"/>
              <a:cs typeface="Courier New" pitchFamily="49" charset="0"/>
            </a:endParaRPr>
          </a:p>
          <a:p>
            <a:r>
              <a:rPr lang="en-US" dirty="0">
                <a:solidFill>
                  <a:srgbClr val="000000"/>
                </a:solidFill>
                <a:latin typeface="Courier New" pitchFamily="49" charset="0"/>
                <a:cs typeface="Courier New" pitchFamily="49" charset="0"/>
              </a:rPr>
              <a:t> b=</a:t>
            </a:r>
            <a:r>
              <a:rPr lang="en-US" dirty="0">
                <a:solidFill>
                  <a:srgbClr val="09885A"/>
                </a:solidFill>
                <a:latin typeface="Courier New" pitchFamily="49" charset="0"/>
                <a:cs typeface="Courier New" pitchFamily="49" charset="0"/>
              </a:rPr>
              <a:t>1</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 return</a:t>
            </a:r>
            <a:r>
              <a:rPr lang="en-US" dirty="0">
                <a:solidFill>
                  <a:srgbClr val="000000"/>
                </a:solidFill>
                <a:latin typeface="Courier New" pitchFamily="49" charset="0"/>
                <a:cs typeface="Courier New" pitchFamily="49" charset="0"/>
              </a:rPr>
              <a:t> </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p:txBody>
      </p:sp>
      <p:grpSp>
        <p:nvGrpSpPr>
          <p:cNvPr id="5" name="Group 4"/>
          <p:cNvGrpSpPr/>
          <p:nvPr/>
        </p:nvGrpSpPr>
        <p:grpSpPr>
          <a:xfrm>
            <a:off x="259307" y="2579427"/>
            <a:ext cx="2988860" cy="3362235"/>
            <a:chOff x="259307" y="2579427"/>
            <a:chExt cx="2988860" cy="3362235"/>
          </a:xfrm>
        </p:grpSpPr>
        <p:sp>
          <p:nvSpPr>
            <p:cNvPr id="18" name="TextBox 17"/>
            <p:cNvSpPr txBox="1"/>
            <p:nvPr/>
          </p:nvSpPr>
          <p:spPr>
            <a:xfrm>
              <a:off x="259307" y="5295331"/>
              <a:ext cx="1910687" cy="646331"/>
            </a:xfrm>
            <a:prstGeom prst="rect">
              <a:avLst/>
            </a:prstGeom>
            <a:noFill/>
            <a:ln>
              <a:noFill/>
            </a:ln>
          </p:spPr>
          <p:txBody>
            <a:bodyPr wrap="square" rtlCol="0">
              <a:spAutoFit/>
            </a:bodyPr>
            <a:lstStyle/>
            <a:p>
              <a:pPr algn="ctr"/>
              <a:r>
                <a:rPr lang="en-US" dirty="0">
                  <a:solidFill>
                    <a:srgbClr val="FF0000"/>
                  </a:solidFill>
                </a:rPr>
                <a:t>Multiple loads of variable b</a:t>
              </a:r>
            </a:p>
          </p:txBody>
        </p:sp>
        <p:cxnSp>
          <p:nvCxnSpPr>
            <p:cNvPr id="20" name="Straight Arrow Connector 19"/>
            <p:cNvCxnSpPr>
              <a:stCxn id="18" idx="0"/>
            </p:cNvCxnSpPr>
            <p:nvPr/>
          </p:nvCxnSpPr>
          <p:spPr>
            <a:xfrm flipV="1">
              <a:off x="1214651" y="2579427"/>
              <a:ext cx="2033516" cy="2715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0"/>
            </p:cNvCxnSpPr>
            <p:nvPr/>
          </p:nvCxnSpPr>
          <p:spPr>
            <a:xfrm flipV="1">
              <a:off x="1214651" y="4763069"/>
              <a:ext cx="2019868" cy="5322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7751927" y="1326553"/>
            <a:ext cx="4148921" cy="4767509"/>
            <a:chOff x="7751927" y="1326553"/>
            <a:chExt cx="4148921" cy="4767509"/>
          </a:xfrm>
        </p:grpSpPr>
        <p:sp>
          <p:nvSpPr>
            <p:cNvPr id="11" name="Rectangle 10"/>
            <p:cNvSpPr/>
            <p:nvPr/>
          </p:nvSpPr>
          <p:spPr>
            <a:xfrm>
              <a:off x="7765576" y="2115409"/>
              <a:ext cx="4135272" cy="3139321"/>
            </a:xfrm>
            <a:prstGeom prst="rect">
              <a:avLst/>
            </a:prstGeom>
            <a:solidFill>
              <a:schemeClr val="accent5">
                <a:lumMod val="40000"/>
                <a:lumOff val="60000"/>
              </a:schemeClr>
            </a:solidFill>
          </p:spPr>
          <p:txBody>
            <a:bodyPr wrap="square">
              <a:spAutoFit/>
            </a:bodyPr>
            <a:lstStyle/>
            <a:p>
              <a:r>
                <a:rPr lang="en-US" dirty="0">
                  <a:latin typeface="Courier New" pitchFamily="49" charset="0"/>
                  <a:cs typeface="Courier New" pitchFamily="49" charset="0"/>
                </a:rPr>
                <a:t>… … … </a:t>
              </a: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b</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$5</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lw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c</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$5</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lw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mul</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endParaRPr lang="en-US" dirty="0">
                <a:latin typeface="Courier New" pitchFamily="49" charset="0"/>
                <a:cs typeface="Courier New" pitchFamily="49" charset="0"/>
              </a:endParaRPr>
            </a:p>
            <a:p>
              <a:r>
                <a:rPr lang="en-US" dirty="0">
                  <a:solidFill>
                    <a:srgbClr val="0000FF"/>
                  </a:solidFill>
                  <a:latin typeface="Courier New" pitchFamily="49" charset="0"/>
                  <a:cs typeface="Courier New" pitchFamily="49" charset="0"/>
                </a:rPr>
                <a:t>ld</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%got_disp</a:t>
              </a:r>
              <a:r>
                <a:rPr lang="en-US" dirty="0">
                  <a:solidFill>
                    <a:srgbClr val="000000"/>
                  </a:solidFill>
                  <a:latin typeface="Courier New" pitchFamily="49" charset="0"/>
                  <a:cs typeface="Courier New" pitchFamily="49" charset="0"/>
                </a:rPr>
                <a:t>(</a:t>
              </a:r>
              <a:r>
                <a:rPr lang="en-US" dirty="0">
                  <a:solidFill>
                    <a:srgbClr val="008080"/>
                  </a:solidFill>
                  <a:latin typeface="Courier New" pitchFamily="49" charset="0"/>
                  <a:cs typeface="Courier New" pitchFamily="49" charset="0"/>
                </a:rPr>
                <a:t>a</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$5</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sw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$4</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li</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1</a:t>
              </a:r>
              <a:r>
                <a:rPr lang="en-US" dirty="0">
                  <a:solidFill>
                    <a:srgbClr val="000000"/>
                  </a:solidFill>
                  <a:latin typeface="Courier New" pitchFamily="49" charset="0"/>
                  <a:cs typeface="Courier New" pitchFamily="49" charset="0"/>
                </a:rPr>
                <a:t> </a:t>
              </a:r>
              <a:r>
                <a:rPr lang="en-US" dirty="0">
                  <a:solidFill>
                    <a:srgbClr val="008000"/>
                  </a:solidFill>
                  <a:latin typeface="Courier New" pitchFamily="49" charset="0"/>
                  <a:cs typeface="Courier New" pitchFamily="49" charset="0"/>
                </a:rPr>
                <a:t># 0x1</a:t>
              </a:r>
              <a:endParaRPr lang="en-US" dirty="0">
                <a:latin typeface="Courier New" pitchFamily="49" charset="0"/>
                <a:cs typeface="Courier New" pitchFamily="49" charset="0"/>
              </a:endParaRPr>
            </a:p>
            <a:p>
              <a:r>
                <a:rPr lang="en-US" dirty="0" err="1">
                  <a:solidFill>
                    <a:srgbClr val="0000FF"/>
                  </a:solidFill>
                  <a:latin typeface="Courier New" pitchFamily="49" charset="0"/>
                  <a:cs typeface="Courier New" pitchFamily="49" charset="0"/>
                </a:rPr>
                <a:t>sw</a:t>
              </a:r>
              <a:r>
                <a:rPr lang="en-US" dirty="0">
                  <a:solidFill>
                    <a:srgbClr val="000000"/>
                  </a:solidFill>
                  <a:latin typeface="Courier New" pitchFamily="49" charset="0"/>
                  <a:cs typeface="Courier New" pitchFamily="49" charset="0"/>
                </a:rPr>
                <a:t> </a:t>
              </a:r>
              <a:r>
                <a:rPr lang="en-US" dirty="0">
                  <a:solidFill>
                    <a:srgbClr val="3030C0"/>
                  </a:solidFill>
                  <a:latin typeface="Courier New" pitchFamily="49" charset="0"/>
                  <a:cs typeface="Courier New" pitchFamily="49" charset="0"/>
                </a:rPr>
                <a:t>$2</a:t>
              </a:r>
              <a:r>
                <a:rPr lang="en-US" dirty="0">
                  <a:solidFill>
                    <a:srgbClr val="000000"/>
                  </a:solidFill>
                  <a:latin typeface="Courier New" pitchFamily="49" charset="0"/>
                  <a:cs typeface="Courier New" pitchFamily="49" charset="0"/>
                </a:rPr>
                <a:t>,</a:t>
              </a:r>
              <a:r>
                <a:rPr lang="en-US" dirty="0">
                  <a:solidFill>
                    <a:srgbClr val="09885A"/>
                  </a:solidFill>
                  <a:latin typeface="Courier New" pitchFamily="49" charset="0"/>
                  <a:cs typeface="Courier New" pitchFamily="49" charset="0"/>
                </a:rPr>
                <a:t>0</a:t>
              </a:r>
              <a:r>
                <a:rPr lang="en-US" dirty="0">
                  <a:solidFill>
                    <a:srgbClr val="000000"/>
                  </a:solidFill>
                  <a:latin typeface="Courier New" pitchFamily="49" charset="0"/>
                  <a:cs typeface="Courier New" pitchFamily="49" charset="0"/>
                </a:rPr>
                <a:t>(</a:t>
              </a:r>
              <a:r>
                <a:rPr lang="en-US" dirty="0">
                  <a:solidFill>
                    <a:srgbClr val="3030C0"/>
                  </a:solidFill>
                  <a:latin typeface="Courier New" pitchFamily="49" charset="0"/>
                  <a:cs typeface="Courier New" pitchFamily="49" charset="0"/>
                </a:rPr>
                <a:t>$3</a:t>
              </a:r>
              <a:r>
                <a:rPr lang="en-US" dirty="0">
                  <a:solidFill>
                    <a:srgbClr val="000000"/>
                  </a:solidFill>
                  <a:latin typeface="Courier New" pitchFamily="49" charset="0"/>
                  <a:cs typeface="Courier New" pitchFamily="49" charset="0"/>
                </a:rPr>
                <a:t>)</a:t>
              </a:r>
              <a:endParaRPr lang="en-US" dirty="0">
                <a:latin typeface="Courier New" pitchFamily="49" charset="0"/>
                <a:cs typeface="Courier New" pitchFamily="49" charset="0"/>
              </a:endParaRPr>
            </a:p>
            <a:p>
              <a:r>
                <a:rPr lang="en-US" dirty="0">
                  <a:latin typeface="Courier New" pitchFamily="49" charset="0"/>
                  <a:cs typeface="Courier New" pitchFamily="49" charset="0"/>
                </a:rPr>
                <a:t>… … …</a:t>
              </a:r>
            </a:p>
          </p:txBody>
        </p:sp>
        <p:sp>
          <p:nvSpPr>
            <p:cNvPr id="14" name="TextBox 13"/>
            <p:cNvSpPr txBox="1"/>
            <p:nvPr/>
          </p:nvSpPr>
          <p:spPr>
            <a:xfrm>
              <a:off x="7751927" y="1326553"/>
              <a:ext cx="4135271" cy="646331"/>
            </a:xfrm>
            <a:prstGeom prst="rect">
              <a:avLst/>
            </a:prstGeom>
            <a:noFill/>
          </p:spPr>
          <p:txBody>
            <a:bodyPr wrap="square" rtlCol="0">
              <a:spAutoFit/>
            </a:bodyPr>
            <a:lstStyle/>
            <a:p>
              <a:pPr algn="ctr"/>
              <a:r>
                <a:rPr lang="en-US" dirty="0">
                  <a:solidFill>
                    <a:srgbClr val="FF0000"/>
                  </a:solidFill>
                </a:rPr>
                <a:t>Target Code </a:t>
              </a:r>
            </a:p>
            <a:p>
              <a:pPr algn="ctr"/>
              <a:r>
                <a:rPr lang="en-US" dirty="0">
                  <a:solidFill>
                    <a:srgbClr val="FF0000"/>
                  </a:solidFill>
                </a:rPr>
                <a:t>(MIPS64 </a:t>
              </a:r>
              <a:r>
                <a:rPr lang="en-US" dirty="0" err="1">
                  <a:solidFill>
                    <a:srgbClr val="FF0000"/>
                  </a:solidFill>
                </a:rPr>
                <a:t>gcc</a:t>
              </a:r>
              <a:r>
                <a:rPr lang="en-US" dirty="0">
                  <a:solidFill>
                    <a:srgbClr val="FF0000"/>
                  </a:solidFill>
                </a:rPr>
                <a:t> 5.4 with O1 switch)</a:t>
              </a:r>
            </a:p>
          </p:txBody>
        </p:sp>
        <p:sp>
          <p:nvSpPr>
            <p:cNvPr id="23" name="TextBox 22"/>
            <p:cNvSpPr txBox="1"/>
            <p:nvPr/>
          </p:nvSpPr>
          <p:spPr>
            <a:xfrm>
              <a:off x="8368352" y="5447731"/>
              <a:ext cx="2263254" cy="646331"/>
            </a:xfrm>
            <a:prstGeom prst="rect">
              <a:avLst/>
            </a:prstGeom>
            <a:noFill/>
            <a:ln>
              <a:noFill/>
            </a:ln>
          </p:spPr>
          <p:txBody>
            <a:bodyPr wrap="square" rtlCol="0">
              <a:spAutoFit/>
            </a:bodyPr>
            <a:lstStyle/>
            <a:p>
              <a:pPr algn="ctr"/>
              <a:r>
                <a:rPr lang="en-US" dirty="0">
                  <a:solidFill>
                    <a:srgbClr val="FF0000"/>
                  </a:solidFill>
                </a:rPr>
                <a:t>All variables are loaded only once</a:t>
              </a:r>
            </a:p>
          </p:txBody>
        </p:sp>
      </p:grpSp>
    </p:spTree>
    <p:extLst>
      <p:ext uri="{BB962C8B-B14F-4D97-AF65-F5344CB8AC3E}">
        <p14:creationId xmlns:p14="http://schemas.microsoft.com/office/powerpoint/2010/main" val="229210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Peephole Optimization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67</a:t>
            </a:fld>
            <a:endParaRPr lang="en-US" dirty="0"/>
          </a:p>
        </p:txBody>
      </p:sp>
      <p:sp>
        <p:nvSpPr>
          <p:cNvPr id="6" name="Content Placeholder 5"/>
          <p:cNvSpPr>
            <a:spLocks noGrp="1"/>
          </p:cNvSpPr>
          <p:nvPr>
            <p:ph idx="1"/>
          </p:nvPr>
        </p:nvSpPr>
        <p:spPr>
          <a:xfrm>
            <a:off x="838200" y="1246909"/>
            <a:ext cx="10515600" cy="4930054"/>
          </a:xfrm>
        </p:spPr>
        <p:txBody>
          <a:bodyPr>
            <a:normAutofit/>
          </a:bodyPr>
          <a:lstStyle/>
          <a:p>
            <a:r>
              <a:rPr lang="en-US" sz="2400" dirty="0">
                <a:solidFill>
                  <a:srgbClr val="FF0000"/>
                </a:solidFill>
                <a:latin typeface="Candara" panose="020E0502030303020204" pitchFamily="34" charset="0"/>
                <a:cs typeface="Andalus" panose="02020603050405020304" pitchFamily="18" charset="-78"/>
              </a:rPr>
              <a:t>Peephole</a:t>
            </a:r>
          </a:p>
          <a:p>
            <a:pPr lvl="1">
              <a:buNone/>
            </a:pPr>
            <a:r>
              <a:rPr lang="en-US" dirty="0">
                <a:latin typeface="Candara" panose="020E0502030303020204" pitchFamily="34" charset="0"/>
                <a:cs typeface="Andalus" panose="02020603050405020304" pitchFamily="18" charset="-78"/>
              </a:rPr>
              <a:t>- a small sliding window of target instructions</a:t>
            </a:r>
          </a:p>
          <a:p>
            <a:r>
              <a:rPr lang="en-US" sz="2400" dirty="0">
                <a:latin typeface="Candara" panose="020E0502030303020204" pitchFamily="34" charset="0"/>
                <a:cs typeface="Andalus" panose="02020603050405020304" pitchFamily="18" charset="-78"/>
              </a:rPr>
              <a:t>Replace instructions in peephole with shorter and faster sequence</a:t>
            </a:r>
          </a:p>
          <a:p>
            <a:r>
              <a:rPr lang="en-US" sz="2400" dirty="0">
                <a:latin typeface="Candara" panose="020E0502030303020204" pitchFamily="34" charset="0"/>
                <a:cs typeface="Andalus" panose="02020603050405020304" pitchFamily="18" charset="-78"/>
              </a:rPr>
              <a:t>Can be applied on Intermediate code or assembly code</a:t>
            </a:r>
          </a:p>
          <a:p>
            <a:r>
              <a:rPr lang="en-US" sz="2400" dirty="0">
                <a:latin typeface="Candara" panose="020E0502030303020204" pitchFamily="34" charset="0"/>
                <a:cs typeface="Andalus" panose="02020603050405020304" pitchFamily="18" charset="-78"/>
              </a:rPr>
              <a:t>Repeated passes result in better optimization</a:t>
            </a:r>
          </a:p>
          <a:p>
            <a:pPr>
              <a:buNone/>
            </a:pPr>
            <a:endParaRPr lang="en-US" sz="2400" dirty="0">
              <a:latin typeface="Candara" panose="020E0502030303020204" pitchFamily="34" charset="0"/>
              <a:cs typeface="Andalus" panose="02020603050405020304" pitchFamily="18" charset="-78"/>
            </a:endParaRPr>
          </a:p>
        </p:txBody>
      </p:sp>
    </p:spTree>
    <p:extLst>
      <p:ext uri="{BB962C8B-B14F-4D97-AF65-F5344CB8AC3E}">
        <p14:creationId xmlns:p14="http://schemas.microsoft.com/office/powerpoint/2010/main" val="23970565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Peephole Optimization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68</a:t>
            </a:fld>
            <a:endParaRPr lang="en-US" dirty="0"/>
          </a:p>
        </p:txBody>
      </p:sp>
      <p:sp>
        <p:nvSpPr>
          <p:cNvPr id="6" name="Content Placeholder 5"/>
          <p:cNvSpPr>
            <a:spLocks noGrp="1"/>
          </p:cNvSpPr>
          <p:nvPr>
            <p:ph idx="1"/>
          </p:nvPr>
        </p:nvSpPr>
        <p:spPr>
          <a:xfrm>
            <a:off x="838200" y="1246909"/>
            <a:ext cx="10515600" cy="4930054"/>
          </a:xfrm>
        </p:spPr>
        <p:txBody>
          <a:bodyPr>
            <a:normAutofit/>
          </a:bodyPr>
          <a:lstStyle/>
          <a:p>
            <a:r>
              <a:rPr lang="en-US" sz="3600" dirty="0">
                <a:solidFill>
                  <a:srgbClr val="FF0000"/>
                </a:solidFill>
                <a:latin typeface="Candara" panose="020E0502030303020204" pitchFamily="34" charset="0"/>
                <a:cs typeface="Andalus" panose="02020603050405020304" pitchFamily="18" charset="-78"/>
              </a:rPr>
              <a:t>Redundant-instruction elimination</a:t>
            </a:r>
          </a:p>
          <a:p>
            <a:pPr lvl="1">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p:txBody>
      </p:sp>
      <p:pic>
        <p:nvPicPr>
          <p:cNvPr id="1027" name="Picture 3"/>
          <p:cNvPicPr>
            <a:picLocks noChangeAspect="1" noChangeArrowheads="1"/>
          </p:cNvPicPr>
          <p:nvPr/>
        </p:nvPicPr>
        <p:blipFill>
          <a:blip r:embed="rId2" cstate="print"/>
          <a:srcRect/>
          <a:stretch>
            <a:fillRect/>
          </a:stretch>
        </p:blipFill>
        <p:spPr bwMode="auto">
          <a:xfrm>
            <a:off x="1730827" y="2729346"/>
            <a:ext cx="2490047" cy="1235220"/>
          </a:xfrm>
          <a:prstGeom prst="rect">
            <a:avLst/>
          </a:prstGeom>
          <a:noFill/>
          <a:ln w="12700">
            <a:solidFill>
              <a:schemeClr val="accent4">
                <a:lumMod val="60000"/>
                <a:lumOff val="40000"/>
              </a:schemeClr>
            </a:solidFill>
            <a:prstDash val="dash"/>
            <a:miter lim="800000"/>
            <a:headEnd/>
            <a:tailEnd/>
          </a:ln>
          <a:effectLst/>
        </p:spPr>
      </p:pic>
      <p:sp>
        <p:nvSpPr>
          <p:cNvPr id="8" name="Right Arrow 7"/>
          <p:cNvSpPr/>
          <p:nvPr/>
        </p:nvSpPr>
        <p:spPr>
          <a:xfrm>
            <a:off x="5126182" y="2978728"/>
            <a:ext cx="1537854" cy="803564"/>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p:cNvPicPr>
            <a:picLocks noChangeAspect="1" noChangeArrowheads="1"/>
          </p:cNvPicPr>
          <p:nvPr/>
        </p:nvPicPr>
        <p:blipFill>
          <a:blip r:embed="rId2" cstate="print"/>
          <a:srcRect b="42953"/>
          <a:stretch>
            <a:fillRect/>
          </a:stretch>
        </p:blipFill>
        <p:spPr bwMode="auto">
          <a:xfrm>
            <a:off x="7278399" y="2966004"/>
            <a:ext cx="2210756" cy="736457"/>
          </a:xfrm>
          <a:prstGeom prst="rect">
            <a:avLst/>
          </a:prstGeom>
          <a:noFill/>
          <a:ln w="12700">
            <a:solidFill>
              <a:schemeClr val="accent4">
                <a:lumMod val="60000"/>
                <a:lumOff val="40000"/>
              </a:schemeClr>
            </a:solidFill>
            <a:prstDash val="dash"/>
            <a:miter lim="800000"/>
            <a:headEnd/>
            <a:tailEnd/>
          </a:ln>
          <a:effectLst/>
        </p:spPr>
      </p:pic>
    </p:spTree>
    <p:extLst>
      <p:ext uri="{BB962C8B-B14F-4D97-AF65-F5344CB8AC3E}">
        <p14:creationId xmlns:p14="http://schemas.microsoft.com/office/powerpoint/2010/main" val="427447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anim calcmode="lin" valueType="num">
                                      <p:cBhvr additive="base">
                                        <p:cTn id="11" dur="500" fill="hold"/>
                                        <p:tgtEl>
                                          <p:spTgt spid="1028"/>
                                        </p:tgtEl>
                                        <p:attrNameLst>
                                          <p:attrName>ppt_x</p:attrName>
                                        </p:attrNameLst>
                                      </p:cBhvr>
                                      <p:tavLst>
                                        <p:tav tm="0">
                                          <p:val>
                                            <p:strVal val="#ppt_x"/>
                                          </p:val>
                                        </p:tav>
                                        <p:tav tm="100000">
                                          <p:val>
                                            <p:strVal val="#ppt_x"/>
                                          </p:val>
                                        </p:tav>
                                      </p:tavLst>
                                    </p:anim>
                                    <p:anim calcmode="lin" valueType="num">
                                      <p:cBhvr additive="base">
                                        <p:cTn id="12"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Peephole Optimization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69</a:t>
            </a:fld>
            <a:endParaRPr lang="en-US" dirty="0"/>
          </a:p>
        </p:txBody>
      </p:sp>
      <p:sp>
        <p:nvSpPr>
          <p:cNvPr id="6" name="Content Placeholder 5"/>
          <p:cNvSpPr>
            <a:spLocks noGrp="1"/>
          </p:cNvSpPr>
          <p:nvPr>
            <p:ph idx="1"/>
          </p:nvPr>
        </p:nvSpPr>
        <p:spPr>
          <a:xfrm>
            <a:off x="838200" y="1246909"/>
            <a:ext cx="10515600" cy="4930054"/>
          </a:xfrm>
        </p:spPr>
        <p:txBody>
          <a:bodyPr>
            <a:normAutofit/>
          </a:bodyPr>
          <a:lstStyle/>
          <a:p>
            <a:r>
              <a:rPr lang="en-US" sz="3600" dirty="0">
                <a:solidFill>
                  <a:srgbClr val="FF0000"/>
                </a:solidFill>
                <a:latin typeface="Candara" panose="020E0502030303020204" pitchFamily="34" charset="0"/>
                <a:cs typeface="Andalus" panose="02020603050405020304" pitchFamily="18" charset="-78"/>
              </a:rPr>
              <a:t>Eliminating unreachable code</a:t>
            </a:r>
          </a:p>
          <a:p>
            <a:pPr lvl="1">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p:txBody>
      </p:sp>
      <p:pic>
        <p:nvPicPr>
          <p:cNvPr id="2050" name="Picture 2"/>
          <p:cNvPicPr>
            <a:picLocks noChangeAspect="1" noChangeArrowheads="1"/>
          </p:cNvPicPr>
          <p:nvPr/>
        </p:nvPicPr>
        <p:blipFill>
          <a:blip r:embed="rId2" cstate="print"/>
          <a:srcRect/>
          <a:stretch>
            <a:fillRect/>
          </a:stretch>
        </p:blipFill>
        <p:spPr bwMode="auto">
          <a:xfrm>
            <a:off x="511733" y="2022764"/>
            <a:ext cx="4119149" cy="1382857"/>
          </a:xfrm>
          <a:prstGeom prst="rect">
            <a:avLst/>
          </a:prstGeom>
          <a:noFill/>
          <a:ln w="12700">
            <a:solidFill>
              <a:schemeClr val="accent4">
                <a:lumMod val="60000"/>
                <a:lumOff val="40000"/>
              </a:schemeClr>
            </a:solidFill>
            <a:prstDash val="dash"/>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6870547" y="2119746"/>
            <a:ext cx="4489073" cy="1094509"/>
          </a:xfrm>
          <a:prstGeom prst="rect">
            <a:avLst/>
          </a:prstGeom>
          <a:noFill/>
          <a:ln w="12700">
            <a:solidFill>
              <a:schemeClr val="accent4">
                <a:lumMod val="60000"/>
                <a:lumOff val="40000"/>
              </a:schemeClr>
            </a:solidFill>
            <a:prstDash val="dash"/>
            <a:miter lim="800000"/>
            <a:headEnd/>
            <a:tailEnd/>
          </a:ln>
          <a:effectLst/>
        </p:spPr>
      </p:pic>
      <p:pic>
        <p:nvPicPr>
          <p:cNvPr id="2052" name="Picture 4"/>
          <p:cNvPicPr>
            <a:picLocks noChangeAspect="1" noChangeArrowheads="1"/>
          </p:cNvPicPr>
          <p:nvPr/>
        </p:nvPicPr>
        <p:blipFill>
          <a:blip r:embed="rId4" cstate="print"/>
          <a:srcRect/>
          <a:stretch>
            <a:fillRect/>
          </a:stretch>
        </p:blipFill>
        <p:spPr bwMode="auto">
          <a:xfrm>
            <a:off x="6709848" y="4571278"/>
            <a:ext cx="5165766" cy="1246909"/>
          </a:xfrm>
          <a:prstGeom prst="rect">
            <a:avLst/>
          </a:prstGeom>
          <a:noFill/>
          <a:ln w="12700">
            <a:solidFill>
              <a:schemeClr val="accent4">
                <a:lumMod val="60000"/>
                <a:lumOff val="40000"/>
              </a:schemeClr>
            </a:solidFill>
            <a:prstDash val="dash"/>
            <a:miter lim="800000"/>
            <a:headEnd/>
            <a:tailEnd/>
          </a:ln>
          <a:effectLst/>
        </p:spPr>
      </p:pic>
      <p:pic>
        <p:nvPicPr>
          <p:cNvPr id="14" name="Picture 4"/>
          <p:cNvPicPr>
            <a:picLocks noChangeAspect="1" noChangeArrowheads="1"/>
          </p:cNvPicPr>
          <p:nvPr/>
        </p:nvPicPr>
        <p:blipFill rotWithShape="1">
          <a:blip r:embed="rId4" cstate="print"/>
          <a:srcRect l="48608" t="-1164" r="24700" b="58701"/>
          <a:stretch/>
        </p:blipFill>
        <p:spPr bwMode="auto">
          <a:xfrm>
            <a:off x="3251897" y="4929993"/>
            <a:ext cx="1378858" cy="529478"/>
          </a:xfrm>
          <a:prstGeom prst="rect">
            <a:avLst/>
          </a:prstGeom>
          <a:noFill/>
          <a:ln w="12700">
            <a:solidFill>
              <a:schemeClr val="accent4">
                <a:lumMod val="60000"/>
                <a:lumOff val="40000"/>
              </a:schemeClr>
            </a:solidFill>
            <a:prstDash val="dash"/>
            <a:miter lim="800000"/>
            <a:headEnd/>
            <a:tailEnd/>
          </a:ln>
          <a:effectLst/>
        </p:spPr>
      </p:pic>
      <p:grpSp>
        <p:nvGrpSpPr>
          <p:cNvPr id="9" name="Group 8"/>
          <p:cNvGrpSpPr/>
          <p:nvPr/>
        </p:nvGrpSpPr>
        <p:grpSpPr>
          <a:xfrm>
            <a:off x="8713301" y="3373913"/>
            <a:ext cx="3415945" cy="1009405"/>
            <a:chOff x="8713301" y="3373913"/>
            <a:chExt cx="3415945" cy="1009405"/>
          </a:xfrm>
        </p:grpSpPr>
        <p:sp>
          <p:nvSpPr>
            <p:cNvPr id="11" name="Right Arrow 10"/>
            <p:cNvSpPr/>
            <p:nvPr/>
          </p:nvSpPr>
          <p:spPr>
            <a:xfrm rot="5400000">
              <a:off x="8611731" y="3478184"/>
              <a:ext cx="1006704" cy="803564"/>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9516865" y="3373913"/>
              <a:ext cx="2612381" cy="923330"/>
            </a:xfrm>
            <a:prstGeom prst="rect">
              <a:avLst/>
            </a:prstGeom>
            <a:noFill/>
            <a:ln>
              <a:noFill/>
            </a:ln>
          </p:spPr>
          <p:txBody>
            <a:bodyPr wrap="square" rtlCol="0">
              <a:spAutoFit/>
            </a:bodyPr>
            <a:lstStyle/>
            <a:p>
              <a:pPr algn="ctr"/>
              <a:r>
                <a:rPr lang="en-US" i="1" dirty="0">
                  <a:solidFill>
                    <a:schemeClr val="accent5">
                      <a:lumMod val="75000"/>
                    </a:schemeClr>
                  </a:solidFill>
                </a:rPr>
                <a:t>If debug is initialized to zero, then using constant propagation</a:t>
              </a:r>
            </a:p>
          </p:txBody>
        </p:sp>
      </p:grpSp>
      <p:grpSp>
        <p:nvGrpSpPr>
          <p:cNvPr id="7" name="Group 6"/>
          <p:cNvGrpSpPr/>
          <p:nvPr/>
        </p:nvGrpSpPr>
        <p:grpSpPr>
          <a:xfrm>
            <a:off x="4400577" y="4092367"/>
            <a:ext cx="2309271" cy="1504147"/>
            <a:chOff x="4400577" y="4092367"/>
            <a:chExt cx="2309271" cy="1504147"/>
          </a:xfrm>
        </p:grpSpPr>
        <p:sp>
          <p:nvSpPr>
            <p:cNvPr id="13" name="Right Arrow 12"/>
            <p:cNvSpPr/>
            <p:nvPr/>
          </p:nvSpPr>
          <p:spPr>
            <a:xfrm flipH="1">
              <a:off x="5152569" y="4792950"/>
              <a:ext cx="1303647" cy="803564"/>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400577" y="4092367"/>
              <a:ext cx="2309271" cy="646331"/>
            </a:xfrm>
            <a:prstGeom prst="rect">
              <a:avLst/>
            </a:prstGeom>
            <a:noFill/>
            <a:ln>
              <a:noFill/>
            </a:ln>
          </p:spPr>
          <p:txBody>
            <a:bodyPr wrap="square" rtlCol="0">
              <a:spAutoFit/>
            </a:bodyPr>
            <a:lstStyle/>
            <a:p>
              <a:pPr algn="ctr"/>
              <a:r>
                <a:rPr lang="en-US" i="1" dirty="0">
                  <a:solidFill>
                    <a:schemeClr val="accent5">
                      <a:lumMod val="75000"/>
                    </a:schemeClr>
                  </a:solidFill>
                </a:rPr>
                <a:t>Eliminating unreachable code</a:t>
              </a:r>
            </a:p>
          </p:txBody>
        </p:sp>
      </p:grpSp>
      <p:grpSp>
        <p:nvGrpSpPr>
          <p:cNvPr id="5" name="Group 4"/>
          <p:cNvGrpSpPr/>
          <p:nvPr/>
        </p:nvGrpSpPr>
        <p:grpSpPr>
          <a:xfrm>
            <a:off x="4552978" y="2202874"/>
            <a:ext cx="2081358" cy="1483538"/>
            <a:chOff x="4552978" y="2202874"/>
            <a:chExt cx="2081358" cy="1483538"/>
          </a:xfrm>
        </p:grpSpPr>
        <p:sp>
          <p:nvSpPr>
            <p:cNvPr id="8" name="Right Arrow 7"/>
            <p:cNvSpPr/>
            <p:nvPr/>
          </p:nvSpPr>
          <p:spPr>
            <a:xfrm>
              <a:off x="5152570" y="2202874"/>
              <a:ext cx="1303647" cy="803564"/>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552978" y="3040081"/>
              <a:ext cx="2081358" cy="646331"/>
            </a:xfrm>
            <a:prstGeom prst="rect">
              <a:avLst/>
            </a:prstGeom>
            <a:noFill/>
            <a:ln>
              <a:noFill/>
            </a:ln>
          </p:spPr>
          <p:txBody>
            <a:bodyPr wrap="square" rtlCol="0">
              <a:spAutoFit/>
            </a:bodyPr>
            <a:lstStyle/>
            <a:p>
              <a:pPr algn="ctr"/>
              <a:r>
                <a:rPr lang="en-US" i="1" dirty="0">
                  <a:solidFill>
                    <a:schemeClr val="accent5">
                      <a:lumMod val="75000"/>
                    </a:schemeClr>
                  </a:solidFill>
                </a:rPr>
                <a:t>Eliminating jump over jumps</a:t>
              </a:r>
            </a:p>
          </p:txBody>
        </p:sp>
      </p:grpSp>
    </p:spTree>
    <p:extLst>
      <p:ext uri="{BB962C8B-B14F-4D97-AF65-F5344CB8AC3E}">
        <p14:creationId xmlns:p14="http://schemas.microsoft.com/office/powerpoint/2010/main" val="298873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nodeType="withEffect">
                                  <p:stCondLst>
                                    <p:cond delay="0"/>
                                  </p:stCondLst>
                                  <p:childTnLst>
                                    <p:set>
                                      <p:cBhvr>
                                        <p:cTn id="9" dur="1" fill="hold">
                                          <p:stCondLst>
                                            <p:cond delay="0"/>
                                          </p:stCondLst>
                                        </p:cTn>
                                        <p:tgtEl>
                                          <p:spTgt spid="2051"/>
                                        </p:tgtEl>
                                        <p:attrNameLst>
                                          <p:attrName>style.visibility</p:attrName>
                                        </p:attrNameLst>
                                      </p:cBhvr>
                                      <p:to>
                                        <p:strVal val="visible"/>
                                      </p:to>
                                    </p:set>
                                    <p:animEffect transition="in" filter="barn(inVertical)">
                                      <p:cBhvr>
                                        <p:cTn id="10" dur="500"/>
                                        <p:tgtEl>
                                          <p:spTgt spid="205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nodeType="with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wipe(down)">
                                      <p:cBhvr>
                                        <p:cTn id="18" dur="500"/>
                                        <p:tgtEl>
                                          <p:spTgt spid="205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randombar(horizontal)">
                                      <p:cBhvr>
                                        <p:cTn id="23" dur="500"/>
                                        <p:tgtEl>
                                          <p:spTgt spid="7"/>
                                        </p:tgtEl>
                                      </p:cBhvr>
                                    </p:animEffect>
                                  </p:childTnLst>
                                </p:cTn>
                              </p:par>
                              <p:par>
                                <p:cTn id="24" presetID="14" presetClass="entr" presetSubtype="1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randombar(horizontal)">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Peephole Optimization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70</a:t>
            </a:fld>
            <a:endParaRPr lang="en-US" dirty="0"/>
          </a:p>
        </p:txBody>
      </p:sp>
      <p:sp>
        <p:nvSpPr>
          <p:cNvPr id="6" name="Content Placeholder 5"/>
          <p:cNvSpPr>
            <a:spLocks noGrp="1"/>
          </p:cNvSpPr>
          <p:nvPr>
            <p:ph idx="1"/>
          </p:nvPr>
        </p:nvSpPr>
        <p:spPr>
          <a:xfrm>
            <a:off x="838200" y="1246909"/>
            <a:ext cx="10515600" cy="4930054"/>
          </a:xfrm>
          <a:noFill/>
          <a:ln w="12700">
            <a:noFill/>
            <a:prstDash val="dash"/>
            <a:miter lim="800000"/>
            <a:headEnd/>
            <a:tailEnd/>
          </a:ln>
          <a:effectLst/>
        </p:spPr>
        <p:txBody>
          <a:bodyPr>
            <a:normAutofit/>
          </a:bodyPr>
          <a:lstStyle/>
          <a:p>
            <a:r>
              <a:rPr lang="en-US" sz="3600" dirty="0">
                <a:solidFill>
                  <a:srgbClr val="FF0000"/>
                </a:solidFill>
                <a:latin typeface="Candara" panose="020E0502030303020204" pitchFamily="34" charset="0"/>
                <a:cs typeface="Andalus" panose="02020603050405020304" pitchFamily="18" charset="-78"/>
              </a:rPr>
              <a:t>Flow-of-control optimization</a:t>
            </a:r>
          </a:p>
          <a:p>
            <a:pPr lvl="1">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p:txBody>
      </p:sp>
      <p:sp>
        <p:nvSpPr>
          <p:cNvPr id="8" name="Right Arrow 7"/>
          <p:cNvSpPr/>
          <p:nvPr/>
        </p:nvSpPr>
        <p:spPr>
          <a:xfrm>
            <a:off x="4978398" y="2202874"/>
            <a:ext cx="1216561" cy="651162"/>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p:cNvPicPr>
            <a:picLocks noChangeAspect="1" noChangeArrowheads="1"/>
          </p:cNvPicPr>
          <p:nvPr/>
        </p:nvPicPr>
        <p:blipFill>
          <a:blip r:embed="rId3" cstate="print"/>
          <a:srcRect/>
          <a:stretch>
            <a:fillRect/>
          </a:stretch>
        </p:blipFill>
        <p:spPr bwMode="auto">
          <a:xfrm>
            <a:off x="2354537" y="2078903"/>
            <a:ext cx="2294098" cy="1177637"/>
          </a:xfrm>
          <a:prstGeom prst="rect">
            <a:avLst/>
          </a:prstGeom>
          <a:noFill/>
          <a:ln w="12700">
            <a:solidFill>
              <a:schemeClr val="accent4">
                <a:lumMod val="60000"/>
                <a:lumOff val="40000"/>
              </a:schemeClr>
            </a:solidFill>
            <a:prstDash val="dash"/>
            <a:miter lim="800000"/>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7237170" y="2119744"/>
            <a:ext cx="2548969" cy="1234407"/>
          </a:xfrm>
          <a:prstGeom prst="rect">
            <a:avLst/>
          </a:prstGeom>
          <a:noFill/>
          <a:ln w="12700">
            <a:solidFill>
              <a:schemeClr val="accent4">
                <a:lumMod val="60000"/>
                <a:lumOff val="40000"/>
              </a:schemeClr>
            </a:solidFill>
            <a:prstDash val="dash"/>
            <a:miter lim="800000"/>
            <a:headEnd/>
            <a:tailEnd/>
          </a:ln>
          <a:effectLst/>
        </p:spPr>
      </p:pic>
      <p:pic>
        <p:nvPicPr>
          <p:cNvPr id="3076" name="Picture 4"/>
          <p:cNvPicPr>
            <a:picLocks noChangeAspect="1" noChangeArrowheads="1"/>
          </p:cNvPicPr>
          <p:nvPr/>
        </p:nvPicPr>
        <p:blipFill>
          <a:blip r:embed="rId5" cstate="print"/>
          <a:srcRect/>
          <a:stretch>
            <a:fillRect/>
          </a:stretch>
        </p:blipFill>
        <p:spPr bwMode="auto">
          <a:xfrm>
            <a:off x="1174739" y="3395158"/>
            <a:ext cx="3473896" cy="1218333"/>
          </a:xfrm>
          <a:prstGeom prst="rect">
            <a:avLst/>
          </a:prstGeom>
          <a:noFill/>
          <a:ln w="12700">
            <a:solidFill>
              <a:schemeClr val="accent4">
                <a:lumMod val="60000"/>
                <a:lumOff val="40000"/>
              </a:schemeClr>
            </a:solidFill>
            <a:prstDash val="dash"/>
            <a:miter lim="800000"/>
            <a:headEnd/>
            <a:tailEnd/>
          </a:ln>
          <a:effectLst/>
        </p:spPr>
      </p:pic>
      <p:sp>
        <p:nvSpPr>
          <p:cNvPr id="14" name="Right Arrow 13"/>
          <p:cNvSpPr/>
          <p:nvPr/>
        </p:nvSpPr>
        <p:spPr>
          <a:xfrm>
            <a:off x="4978398" y="3713020"/>
            <a:ext cx="1258114" cy="637307"/>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7" name="Picture 5"/>
          <p:cNvPicPr>
            <a:picLocks noChangeAspect="1" noChangeArrowheads="1"/>
          </p:cNvPicPr>
          <p:nvPr/>
        </p:nvPicPr>
        <p:blipFill>
          <a:blip r:embed="rId6" cstate="print"/>
          <a:srcRect/>
          <a:stretch>
            <a:fillRect/>
          </a:stretch>
        </p:blipFill>
        <p:spPr bwMode="auto">
          <a:xfrm>
            <a:off x="6762702" y="3557321"/>
            <a:ext cx="3497905" cy="1136072"/>
          </a:xfrm>
          <a:prstGeom prst="rect">
            <a:avLst/>
          </a:prstGeom>
          <a:noFill/>
          <a:ln w="12700">
            <a:solidFill>
              <a:schemeClr val="accent4">
                <a:lumMod val="60000"/>
                <a:lumOff val="40000"/>
              </a:schemeClr>
            </a:solidFill>
            <a:prstDash val="dash"/>
            <a:miter lim="800000"/>
            <a:headEnd/>
            <a:tailEnd/>
          </a:ln>
          <a:effectLst/>
        </p:spPr>
      </p:pic>
      <p:pic>
        <p:nvPicPr>
          <p:cNvPr id="3078" name="Picture 6"/>
          <p:cNvPicPr>
            <a:picLocks noChangeAspect="1" noChangeArrowheads="1"/>
          </p:cNvPicPr>
          <p:nvPr/>
        </p:nvPicPr>
        <p:blipFill>
          <a:blip r:embed="rId7" cstate="print"/>
          <a:srcRect/>
          <a:stretch>
            <a:fillRect/>
          </a:stretch>
        </p:blipFill>
        <p:spPr bwMode="auto">
          <a:xfrm>
            <a:off x="1444968" y="4752109"/>
            <a:ext cx="3203667" cy="1448233"/>
          </a:xfrm>
          <a:prstGeom prst="rect">
            <a:avLst/>
          </a:prstGeom>
          <a:noFill/>
          <a:ln w="12700">
            <a:solidFill>
              <a:schemeClr val="accent4">
                <a:lumMod val="60000"/>
                <a:lumOff val="40000"/>
              </a:schemeClr>
            </a:solidFill>
            <a:prstDash val="dash"/>
            <a:miter lim="800000"/>
            <a:headEnd/>
            <a:tailEnd/>
          </a:ln>
          <a:effectLst/>
        </p:spPr>
      </p:pic>
      <p:sp>
        <p:nvSpPr>
          <p:cNvPr id="17" name="Right Arrow 16"/>
          <p:cNvSpPr/>
          <p:nvPr/>
        </p:nvSpPr>
        <p:spPr>
          <a:xfrm>
            <a:off x="4978398" y="5126225"/>
            <a:ext cx="1271964" cy="637307"/>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9" name="Picture 7"/>
          <p:cNvPicPr>
            <a:picLocks noChangeAspect="1" noChangeArrowheads="1"/>
          </p:cNvPicPr>
          <p:nvPr/>
        </p:nvPicPr>
        <p:blipFill>
          <a:blip r:embed="rId8" cstate="print"/>
          <a:srcRect/>
          <a:stretch>
            <a:fillRect/>
          </a:stretch>
        </p:blipFill>
        <p:spPr bwMode="auto">
          <a:xfrm>
            <a:off x="6624762" y="4821383"/>
            <a:ext cx="3773784" cy="1413162"/>
          </a:xfrm>
          <a:prstGeom prst="rect">
            <a:avLst/>
          </a:prstGeom>
          <a:noFill/>
          <a:ln w="12700">
            <a:solidFill>
              <a:schemeClr val="accent4">
                <a:lumMod val="60000"/>
                <a:lumOff val="40000"/>
              </a:schemeClr>
            </a:solidFill>
            <a:prstDash val="dash"/>
            <a:miter lim="800000"/>
            <a:headEnd/>
            <a:tailEnd/>
          </a:ln>
          <a:effectLst/>
        </p:spPr>
      </p:pic>
    </p:spTree>
    <p:extLst>
      <p:ext uri="{BB962C8B-B14F-4D97-AF65-F5344CB8AC3E}">
        <p14:creationId xmlns:p14="http://schemas.microsoft.com/office/powerpoint/2010/main" val="213092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3075"/>
                                        </p:tgtEl>
                                        <p:attrNameLst>
                                          <p:attrName>style.visibility</p:attrName>
                                        </p:attrNameLst>
                                      </p:cBhvr>
                                      <p:to>
                                        <p:strVal val="visible"/>
                                      </p:to>
                                    </p:set>
                                    <p:animEffect transition="in" filter="fade">
                                      <p:cBhvr>
                                        <p:cTn id="10" dur="500"/>
                                        <p:tgtEl>
                                          <p:spTgt spid="307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anim calcmode="lin" valueType="num">
                                      <p:cBhvr additive="base">
                                        <p:cTn id="15" dur="500" fill="hold"/>
                                        <p:tgtEl>
                                          <p:spTgt spid="3076"/>
                                        </p:tgtEl>
                                        <p:attrNameLst>
                                          <p:attrName>ppt_x</p:attrName>
                                        </p:attrNameLst>
                                      </p:cBhvr>
                                      <p:tavLst>
                                        <p:tav tm="0">
                                          <p:val>
                                            <p:strVal val="#ppt_x"/>
                                          </p:val>
                                        </p:tav>
                                        <p:tav tm="100000">
                                          <p:val>
                                            <p:strVal val="#ppt_x"/>
                                          </p:val>
                                        </p:tav>
                                      </p:tavLst>
                                    </p:anim>
                                    <p:anim calcmode="lin" valueType="num">
                                      <p:cBhvr additive="base">
                                        <p:cTn id="16"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par>
                                <p:cTn id="22" presetID="22" presetClass="entr" presetSubtype="4" fill="hold" nodeType="withEffect">
                                  <p:stCondLst>
                                    <p:cond delay="0"/>
                                  </p:stCondLst>
                                  <p:childTnLst>
                                    <p:set>
                                      <p:cBhvr>
                                        <p:cTn id="23" dur="1" fill="hold">
                                          <p:stCondLst>
                                            <p:cond delay="0"/>
                                          </p:stCondLst>
                                        </p:cTn>
                                        <p:tgtEl>
                                          <p:spTgt spid="3077"/>
                                        </p:tgtEl>
                                        <p:attrNameLst>
                                          <p:attrName>style.visibility</p:attrName>
                                        </p:attrNameLst>
                                      </p:cBhvr>
                                      <p:to>
                                        <p:strVal val="visible"/>
                                      </p:to>
                                    </p:set>
                                    <p:animEffect transition="in" filter="wipe(down)">
                                      <p:cBhvr>
                                        <p:cTn id="24" dur="500"/>
                                        <p:tgtEl>
                                          <p:spTgt spid="307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078"/>
                                        </p:tgtEl>
                                        <p:attrNameLst>
                                          <p:attrName>style.visibility</p:attrName>
                                        </p:attrNameLst>
                                      </p:cBhvr>
                                      <p:to>
                                        <p:strVal val="visible"/>
                                      </p:to>
                                    </p:set>
                                    <p:anim calcmode="lin" valueType="num">
                                      <p:cBhvr additive="base">
                                        <p:cTn id="29" dur="500" fill="hold"/>
                                        <p:tgtEl>
                                          <p:spTgt spid="3078"/>
                                        </p:tgtEl>
                                        <p:attrNameLst>
                                          <p:attrName>ppt_x</p:attrName>
                                        </p:attrNameLst>
                                      </p:cBhvr>
                                      <p:tavLst>
                                        <p:tav tm="0">
                                          <p:val>
                                            <p:strVal val="#ppt_x"/>
                                          </p:val>
                                        </p:tav>
                                        <p:tav tm="100000">
                                          <p:val>
                                            <p:strVal val="#ppt_x"/>
                                          </p:val>
                                        </p:tav>
                                      </p:tavLst>
                                    </p:anim>
                                    <p:anim calcmode="lin" valueType="num">
                                      <p:cBhvr additive="base">
                                        <p:cTn id="30"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arn(inVertical)">
                                      <p:cBhvr>
                                        <p:cTn id="35" dur="500"/>
                                        <p:tgtEl>
                                          <p:spTgt spid="17"/>
                                        </p:tgtEl>
                                      </p:cBhvr>
                                    </p:animEffect>
                                  </p:childTnLst>
                                </p:cTn>
                              </p:par>
                              <p:par>
                                <p:cTn id="36" presetID="16" presetClass="entr" presetSubtype="21" fill="hold" nodeType="withEffect">
                                  <p:stCondLst>
                                    <p:cond delay="0"/>
                                  </p:stCondLst>
                                  <p:childTnLst>
                                    <p:set>
                                      <p:cBhvr>
                                        <p:cTn id="37" dur="1" fill="hold">
                                          <p:stCondLst>
                                            <p:cond delay="0"/>
                                          </p:stCondLst>
                                        </p:cTn>
                                        <p:tgtEl>
                                          <p:spTgt spid="3079"/>
                                        </p:tgtEl>
                                        <p:attrNameLst>
                                          <p:attrName>style.visibility</p:attrName>
                                        </p:attrNameLst>
                                      </p:cBhvr>
                                      <p:to>
                                        <p:strVal val="visible"/>
                                      </p:to>
                                    </p:set>
                                    <p:animEffect transition="in" filter="barn(inVertical)">
                                      <p:cBhvr>
                                        <p:cTn id="38"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1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Peephole Optimization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71</a:t>
            </a:fld>
            <a:endParaRPr lang="en-US" dirty="0"/>
          </a:p>
        </p:txBody>
      </p:sp>
      <p:sp>
        <p:nvSpPr>
          <p:cNvPr id="6" name="Content Placeholder 5"/>
          <p:cNvSpPr>
            <a:spLocks noGrp="1"/>
          </p:cNvSpPr>
          <p:nvPr>
            <p:ph idx="1"/>
          </p:nvPr>
        </p:nvSpPr>
        <p:spPr>
          <a:xfrm>
            <a:off x="838200" y="1246909"/>
            <a:ext cx="10515600" cy="4930054"/>
          </a:xfrm>
        </p:spPr>
        <p:txBody>
          <a:bodyPr>
            <a:normAutofit/>
          </a:bodyPr>
          <a:lstStyle/>
          <a:p>
            <a:r>
              <a:rPr lang="en-US" sz="3600" dirty="0">
                <a:solidFill>
                  <a:srgbClr val="FF0000"/>
                </a:solidFill>
                <a:latin typeface="Candara" panose="020E0502030303020204" pitchFamily="34" charset="0"/>
                <a:cs typeface="Andalus" panose="02020603050405020304" pitchFamily="18" charset="-78"/>
              </a:rPr>
              <a:t>Algebraic Simplification</a:t>
            </a:r>
          </a:p>
          <a:p>
            <a:pPr lvl="1">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a:p>
            <a:r>
              <a:rPr lang="en-US" sz="3600" dirty="0">
                <a:solidFill>
                  <a:srgbClr val="FF0000"/>
                </a:solidFill>
                <a:latin typeface="Candara" panose="020E0502030303020204" pitchFamily="34" charset="0"/>
                <a:cs typeface="Andalus" panose="02020603050405020304" pitchFamily="18" charset="-78"/>
              </a:rPr>
              <a:t>Reduction in strength</a:t>
            </a:r>
          </a:p>
          <a:p>
            <a:pPr>
              <a:buNone/>
            </a:pPr>
            <a:endParaRPr lang="en-US" sz="3600" dirty="0">
              <a:latin typeface="Candara" panose="020E0502030303020204" pitchFamily="34" charset="0"/>
              <a:cs typeface="Andalus" panose="02020603050405020304" pitchFamily="18" charset="-78"/>
            </a:endParaRPr>
          </a:p>
        </p:txBody>
      </p:sp>
      <p:pic>
        <p:nvPicPr>
          <p:cNvPr id="4098" name="Picture 2"/>
          <p:cNvPicPr>
            <a:picLocks noChangeAspect="1" noChangeArrowheads="1"/>
          </p:cNvPicPr>
          <p:nvPr/>
        </p:nvPicPr>
        <p:blipFill>
          <a:blip r:embed="rId2" cstate="print"/>
          <a:srcRect/>
          <a:stretch>
            <a:fillRect/>
          </a:stretch>
        </p:blipFill>
        <p:spPr bwMode="auto">
          <a:xfrm>
            <a:off x="2988734" y="2216728"/>
            <a:ext cx="6335809" cy="1124383"/>
          </a:xfrm>
          <a:prstGeom prst="rect">
            <a:avLst/>
          </a:prstGeom>
          <a:noFill/>
          <a:ln w="12700">
            <a:solidFill>
              <a:schemeClr val="accent4">
                <a:lumMod val="60000"/>
                <a:lumOff val="40000"/>
              </a:schemeClr>
            </a:solidFill>
            <a:prstDash val="dash"/>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3961102" y="4421332"/>
            <a:ext cx="4548015" cy="1716232"/>
          </a:xfrm>
          <a:prstGeom prst="rect">
            <a:avLst/>
          </a:prstGeom>
          <a:noFill/>
          <a:ln w="12700">
            <a:solidFill>
              <a:schemeClr val="accent4">
                <a:lumMod val="60000"/>
                <a:lumOff val="40000"/>
              </a:schemeClr>
            </a:solidFill>
            <a:prstDash val="dash"/>
            <a:miter lim="800000"/>
            <a:headEnd/>
            <a:tailEnd/>
          </a:ln>
          <a:effectLst/>
        </p:spPr>
      </p:pic>
    </p:spTree>
    <p:extLst>
      <p:ext uri="{BB962C8B-B14F-4D97-AF65-F5344CB8AC3E}">
        <p14:creationId xmlns:p14="http://schemas.microsoft.com/office/powerpoint/2010/main" val="370646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099"/>
                                        </p:tgtEl>
                                        <p:attrNameLst>
                                          <p:attrName>style.visibility</p:attrName>
                                        </p:attrNameLst>
                                      </p:cBhvr>
                                      <p:to>
                                        <p:strVal val="visible"/>
                                      </p:to>
                                    </p:set>
                                    <p:animEffect transition="in" filter="fade">
                                      <p:cBhvr>
                                        <p:cTn id="13" dur="1000"/>
                                        <p:tgtEl>
                                          <p:spTgt spid="4099"/>
                                        </p:tgtEl>
                                      </p:cBhvr>
                                    </p:animEffect>
                                    <p:anim calcmode="lin" valueType="num">
                                      <p:cBhvr>
                                        <p:cTn id="14" dur="1000" fill="hold"/>
                                        <p:tgtEl>
                                          <p:spTgt spid="4099"/>
                                        </p:tgtEl>
                                        <p:attrNameLst>
                                          <p:attrName>ppt_x</p:attrName>
                                        </p:attrNameLst>
                                      </p:cBhvr>
                                      <p:tavLst>
                                        <p:tav tm="0">
                                          <p:val>
                                            <p:strVal val="#ppt_x"/>
                                          </p:val>
                                        </p:tav>
                                        <p:tav tm="100000">
                                          <p:val>
                                            <p:strVal val="#ppt_x"/>
                                          </p:val>
                                        </p:tav>
                                      </p:tavLst>
                                    </p:anim>
                                    <p:anim calcmode="lin" valueType="num">
                                      <p:cBhvr>
                                        <p:cTn id="15" dur="1000" fill="hold"/>
                                        <p:tgtEl>
                                          <p:spTgt spid="40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Peephole Optimization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72</a:t>
            </a:fld>
            <a:endParaRPr lang="en-US" dirty="0"/>
          </a:p>
        </p:txBody>
      </p:sp>
      <p:sp>
        <p:nvSpPr>
          <p:cNvPr id="6" name="Content Placeholder 5"/>
          <p:cNvSpPr>
            <a:spLocks noGrp="1"/>
          </p:cNvSpPr>
          <p:nvPr>
            <p:ph idx="1"/>
          </p:nvPr>
        </p:nvSpPr>
        <p:spPr>
          <a:xfrm>
            <a:off x="838200" y="1246909"/>
            <a:ext cx="10515600" cy="4930054"/>
          </a:xfrm>
        </p:spPr>
        <p:txBody>
          <a:bodyPr>
            <a:normAutofit/>
          </a:bodyPr>
          <a:lstStyle/>
          <a:p>
            <a:r>
              <a:rPr lang="en-US" sz="3600" dirty="0">
                <a:solidFill>
                  <a:srgbClr val="FF0000"/>
                </a:solidFill>
                <a:latin typeface="Candara" panose="020E0502030303020204" pitchFamily="34" charset="0"/>
                <a:cs typeface="Andalus" panose="02020603050405020304" pitchFamily="18" charset="-78"/>
              </a:rPr>
              <a:t>Use of machine idioms</a:t>
            </a:r>
          </a:p>
          <a:p>
            <a:pPr lvl="1">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a:p>
            <a:pPr>
              <a:buNone/>
            </a:pPr>
            <a:endParaRPr lang="en-US" sz="3600" dirty="0">
              <a:latin typeface="Candara" panose="020E0502030303020204" pitchFamily="34" charset="0"/>
              <a:cs typeface="Andalus" panose="02020603050405020304" pitchFamily="18" charset="-78"/>
            </a:endParaRPr>
          </a:p>
        </p:txBody>
      </p:sp>
      <p:sp>
        <p:nvSpPr>
          <p:cNvPr id="8" name="TextBox 7"/>
          <p:cNvSpPr txBox="1"/>
          <p:nvPr/>
        </p:nvSpPr>
        <p:spPr>
          <a:xfrm>
            <a:off x="1842654" y="2396836"/>
            <a:ext cx="2195946" cy="707886"/>
          </a:xfrm>
          <a:prstGeom prst="rect">
            <a:avLst/>
          </a:prstGeom>
          <a:noFill/>
          <a:ln w="12700">
            <a:solidFill>
              <a:schemeClr val="accent4">
                <a:lumMod val="60000"/>
                <a:lumOff val="40000"/>
              </a:schemeClr>
            </a:solidFill>
            <a:prstDash val="dash"/>
            <a:miter lim="800000"/>
            <a:headEnd/>
            <a:tailEnd/>
          </a:ln>
          <a:effectLst/>
        </p:spPr>
        <p:txBody>
          <a:bodyPr wrap="square" rtlCol="0">
            <a:spAutoFit/>
          </a:bodyPr>
          <a:lstStyle/>
          <a:p>
            <a:pPr algn="ctr"/>
            <a:r>
              <a:rPr lang="en-US" sz="4000" dirty="0"/>
              <a:t>x= x + 1</a:t>
            </a:r>
          </a:p>
        </p:txBody>
      </p:sp>
      <p:sp>
        <p:nvSpPr>
          <p:cNvPr id="9" name="Right Arrow 8"/>
          <p:cNvSpPr/>
          <p:nvPr/>
        </p:nvSpPr>
        <p:spPr>
          <a:xfrm>
            <a:off x="4818743" y="2438398"/>
            <a:ext cx="1204686" cy="651162"/>
          </a:xfrm>
          <a:prstGeom prst="rightArrow">
            <a:avLst/>
          </a:prstGeom>
          <a:solidFill>
            <a:schemeClr val="accent4">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664036" y="2452253"/>
            <a:ext cx="1946564" cy="707886"/>
          </a:xfrm>
          <a:prstGeom prst="rect">
            <a:avLst/>
          </a:prstGeom>
          <a:noFill/>
          <a:ln w="12700">
            <a:solidFill>
              <a:schemeClr val="accent4">
                <a:lumMod val="60000"/>
                <a:lumOff val="40000"/>
              </a:schemeClr>
            </a:solidFill>
            <a:prstDash val="dash"/>
            <a:miter lim="800000"/>
            <a:headEnd/>
            <a:tailEnd/>
          </a:ln>
          <a:effectLst/>
        </p:spPr>
        <p:txBody>
          <a:bodyPr wrap="square" rtlCol="0">
            <a:spAutoFit/>
          </a:bodyPr>
          <a:lstStyle/>
          <a:p>
            <a:pPr algn="ctr"/>
            <a:r>
              <a:rPr lang="en-US" sz="4000" dirty="0"/>
              <a:t>x++</a:t>
            </a:r>
          </a:p>
        </p:txBody>
      </p:sp>
    </p:spTree>
    <p:extLst>
      <p:ext uri="{BB962C8B-B14F-4D97-AF65-F5344CB8AC3E}">
        <p14:creationId xmlns:p14="http://schemas.microsoft.com/office/powerpoint/2010/main" val="29217845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Reference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73</a:t>
            </a:fld>
            <a:endParaRPr lang="en-US" dirty="0"/>
          </a:p>
        </p:txBody>
      </p:sp>
      <p:sp>
        <p:nvSpPr>
          <p:cNvPr id="6" name="Content Placeholder 5"/>
          <p:cNvSpPr>
            <a:spLocks noGrp="1"/>
          </p:cNvSpPr>
          <p:nvPr>
            <p:ph idx="1"/>
          </p:nvPr>
        </p:nvSpPr>
        <p:spPr>
          <a:xfrm>
            <a:off x="838200" y="1386348"/>
            <a:ext cx="10515600" cy="4790615"/>
          </a:xfrm>
        </p:spPr>
        <p:txBody>
          <a:bodyPr>
            <a:normAutofit/>
          </a:bodyPr>
          <a:lstStyle/>
          <a:p>
            <a:r>
              <a:rPr lang="en-US" dirty="0">
                <a:latin typeface="Candara" pitchFamily="34" charset="0"/>
              </a:rPr>
              <a:t>Compilers: Principles, Techniques, &amp; Tools, by</a:t>
            </a:r>
          </a:p>
          <a:p>
            <a:pPr marL="457200" lvl="1" indent="0">
              <a:buNone/>
            </a:pPr>
            <a:r>
              <a:rPr lang="en-US" dirty="0">
                <a:latin typeface="Candara" pitchFamily="34" charset="0"/>
              </a:rPr>
              <a:t>Alfred B. </a:t>
            </a:r>
            <a:r>
              <a:rPr lang="en-US" dirty="0" err="1">
                <a:latin typeface="Candara" pitchFamily="34" charset="0"/>
              </a:rPr>
              <a:t>Aho</a:t>
            </a:r>
            <a:r>
              <a:rPr lang="en-US" dirty="0">
                <a:latin typeface="Candara" pitchFamily="34" charset="0"/>
              </a:rPr>
              <a:t>, Monica S. Lam, Ravi </a:t>
            </a:r>
            <a:r>
              <a:rPr lang="en-US" dirty="0" err="1">
                <a:latin typeface="Candara" pitchFamily="34" charset="0"/>
              </a:rPr>
              <a:t>Sethi</a:t>
            </a:r>
            <a:r>
              <a:rPr lang="en-US" dirty="0">
                <a:latin typeface="Candara" pitchFamily="34" charset="0"/>
              </a:rPr>
              <a:t>, Jeffrey D. Ullman</a:t>
            </a:r>
          </a:p>
          <a:p>
            <a:pPr lvl="1"/>
            <a:endParaRPr lang="en-US" dirty="0">
              <a:latin typeface="Candara" panose="020E0502030303020204" pitchFamily="34" charset="0"/>
              <a:cs typeface="Andalus" panose="02020603050405020304" pitchFamily="18" charset="-78"/>
            </a:endParaRPr>
          </a:p>
          <a:p>
            <a:pPr lvl="1"/>
            <a:r>
              <a:rPr lang="en-US" dirty="0">
                <a:latin typeface="Candara" panose="020E0502030303020204" pitchFamily="34" charset="0"/>
                <a:cs typeface="Andalus" panose="02020603050405020304" pitchFamily="18" charset="-78"/>
              </a:rPr>
              <a:t>Chapter 8</a:t>
            </a:r>
          </a:p>
          <a:p>
            <a:pPr lvl="2"/>
            <a:r>
              <a:rPr lang="en-US" dirty="0">
                <a:latin typeface="Candara" panose="020E0502030303020204" pitchFamily="34" charset="0"/>
                <a:cs typeface="Andalus" panose="02020603050405020304" pitchFamily="18" charset="-78"/>
              </a:rPr>
              <a:t>8.1</a:t>
            </a:r>
          </a:p>
          <a:p>
            <a:pPr lvl="2"/>
            <a:r>
              <a:rPr lang="en-US" dirty="0">
                <a:latin typeface="Candara" panose="020E0502030303020204" pitchFamily="34" charset="0"/>
                <a:cs typeface="Andalus" panose="02020603050405020304" pitchFamily="18" charset="-78"/>
              </a:rPr>
              <a:t>8.2</a:t>
            </a:r>
          </a:p>
          <a:p>
            <a:pPr lvl="2"/>
            <a:r>
              <a:rPr lang="en-US" dirty="0">
                <a:latin typeface="Candara" panose="020E0502030303020204" pitchFamily="34" charset="0"/>
                <a:cs typeface="Andalus" panose="02020603050405020304" pitchFamily="18" charset="-78"/>
              </a:rPr>
              <a:t>8.3</a:t>
            </a:r>
          </a:p>
          <a:p>
            <a:pPr lvl="2"/>
            <a:r>
              <a:rPr lang="en-US" dirty="0">
                <a:latin typeface="Candara" panose="020E0502030303020204" pitchFamily="34" charset="0"/>
                <a:cs typeface="Andalus" panose="02020603050405020304" pitchFamily="18" charset="-78"/>
              </a:rPr>
              <a:t>8.4</a:t>
            </a:r>
          </a:p>
          <a:p>
            <a:pPr lvl="2"/>
            <a:r>
              <a:rPr lang="en-US" dirty="0">
                <a:latin typeface="Candara" panose="020E0502030303020204" pitchFamily="34" charset="0"/>
                <a:cs typeface="Andalus" panose="02020603050405020304" pitchFamily="18" charset="-78"/>
              </a:rPr>
              <a:t>8.5</a:t>
            </a:r>
          </a:p>
          <a:p>
            <a:pPr lvl="2"/>
            <a:r>
              <a:rPr lang="en-US" dirty="0">
                <a:latin typeface="Candara" panose="020E0502030303020204" pitchFamily="34" charset="0"/>
                <a:cs typeface="Andalus" panose="02020603050405020304" pitchFamily="18" charset="-78"/>
              </a:rPr>
              <a:t>8.6</a:t>
            </a:r>
          </a:p>
          <a:p>
            <a:pPr lvl="2"/>
            <a:r>
              <a:rPr lang="en-US" dirty="0">
                <a:latin typeface="Candara" panose="020E0502030303020204" pitchFamily="34" charset="0"/>
                <a:cs typeface="Andalus" panose="02020603050405020304" pitchFamily="18" charset="-78"/>
              </a:rPr>
              <a:t>8.7</a:t>
            </a:r>
          </a:p>
        </p:txBody>
      </p:sp>
    </p:spTree>
    <p:extLst>
      <p:ext uri="{BB962C8B-B14F-4D97-AF65-F5344CB8AC3E}">
        <p14:creationId xmlns:p14="http://schemas.microsoft.com/office/powerpoint/2010/main" val="38694342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0605"/>
            <a:ext cx="10515600" cy="1228151"/>
          </a:xfrm>
          <a:effectLst>
            <a:outerShdw blurRad="50800" dist="38100" dir="2700000" algn="tl" rotWithShape="0">
              <a:prstClr val="black">
                <a:alpha val="40000"/>
              </a:prstClr>
            </a:outerShdw>
          </a:effectLst>
        </p:spPr>
        <p:txBody>
          <a:bodyPr>
            <a:normAutofit/>
          </a:bodyPr>
          <a:lstStyle/>
          <a:p>
            <a:pPr algn="ctr"/>
            <a:r>
              <a:rPr lang="en-US" sz="8000" dirty="0">
                <a:solidFill>
                  <a:schemeClr val="tx2">
                    <a:lumMod val="50000"/>
                  </a:schemeClr>
                </a:solidFill>
                <a:latin typeface="Candara" panose="020E0502030303020204" pitchFamily="34" charset="0"/>
              </a:rPr>
              <a:t>Thank You!</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74</a:t>
            </a:fld>
            <a:endParaRPr lang="en-US" dirty="0"/>
          </a:p>
        </p:txBody>
      </p:sp>
    </p:spTree>
    <p:extLst>
      <p:ext uri="{BB962C8B-B14F-4D97-AF65-F5344CB8AC3E}">
        <p14:creationId xmlns:p14="http://schemas.microsoft.com/office/powerpoint/2010/main" val="1615338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23383</TotalTime>
  <Words>4854</Words>
  <Application>Microsoft Office PowerPoint</Application>
  <PresentationFormat>Widescreen</PresentationFormat>
  <Paragraphs>827</Paragraphs>
  <Slides>74</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74</vt:i4>
      </vt:variant>
    </vt:vector>
  </HeadingPairs>
  <TitlesOfParts>
    <vt:vector size="83" baseType="lpstr">
      <vt:lpstr>Arial</vt:lpstr>
      <vt:lpstr>Calibri</vt:lpstr>
      <vt:lpstr>Calibri Light</vt:lpstr>
      <vt:lpstr>Cambria Math</vt:lpstr>
      <vt:lpstr>Candara</vt:lpstr>
      <vt:lpstr>Courier New</vt:lpstr>
      <vt:lpstr>Times New Roman</vt:lpstr>
      <vt:lpstr>Wingdings</vt:lpstr>
      <vt:lpstr>Office Theme</vt:lpstr>
      <vt:lpstr>Code Generation</vt:lpstr>
      <vt:lpstr>Code Generation</vt:lpstr>
      <vt:lpstr>Important Issues of Code Generation</vt:lpstr>
      <vt:lpstr>Code Generation &amp; Optimization</vt:lpstr>
      <vt:lpstr>Issue 1: Input to Code Generator</vt:lpstr>
      <vt:lpstr>Issue 1: Input to Code Generator</vt:lpstr>
      <vt:lpstr>Issue 2: Target Machine and Program</vt:lpstr>
      <vt:lpstr>Issue 2: Target Machine and Program (2)</vt:lpstr>
      <vt:lpstr>Issue 3: Instruction Selection</vt:lpstr>
      <vt:lpstr>Issue 3: Instruction Selection</vt:lpstr>
      <vt:lpstr>Issue 3: Instruction Selection</vt:lpstr>
      <vt:lpstr>Issue 4: Register Allocation</vt:lpstr>
      <vt:lpstr>Issue 5: Evaluation Order</vt:lpstr>
      <vt:lpstr>Basic Blocks &amp; Flow Graphs</vt:lpstr>
      <vt:lpstr>Basic Blocks &amp; Flow Graphs</vt:lpstr>
      <vt:lpstr>PowerPoint Presentation</vt:lpstr>
      <vt:lpstr>Constructing Basic Blocks</vt:lpstr>
      <vt:lpstr>Constructing Basic Blocks</vt:lpstr>
      <vt:lpstr>Flow Graphs</vt:lpstr>
      <vt:lpstr>Flow Graphs</vt:lpstr>
      <vt:lpstr>Representation of Flow Graphs</vt:lpstr>
      <vt:lpstr>Loops</vt:lpstr>
      <vt:lpstr>Loops</vt:lpstr>
      <vt:lpstr>Liveliness &amp; Next-Use Information</vt:lpstr>
      <vt:lpstr>Liveliness &amp; Next-Use Information</vt:lpstr>
      <vt:lpstr>Liveliness &amp; Next-Use Information</vt:lpstr>
      <vt:lpstr>Optimization of Basic Blocks</vt:lpstr>
      <vt:lpstr>DAG representation of Basic Blocks</vt:lpstr>
      <vt:lpstr>Eliminate Local Common Subexpressions</vt:lpstr>
      <vt:lpstr> Finding Local Common Subexpressions</vt:lpstr>
      <vt:lpstr>Dead Code Elimination</vt:lpstr>
      <vt:lpstr>Use of Algebraic Identities</vt:lpstr>
      <vt:lpstr>Use of Algebraic Identities</vt:lpstr>
      <vt:lpstr>Representation of Array References</vt:lpstr>
      <vt:lpstr>Representation of Array References</vt:lpstr>
      <vt:lpstr>Reassembling Basic Blocks From DAGs</vt:lpstr>
      <vt:lpstr>Reassembling Basic Blocks From DAGs(2)</vt:lpstr>
      <vt:lpstr>Switch to  Machine Independent Optimizations (Chapter 9)</vt:lpstr>
      <vt:lpstr>Back to  Code Generation</vt:lpstr>
      <vt:lpstr>A Simple Target Machine Model</vt:lpstr>
      <vt:lpstr>A Simple Target Machine Model(2)</vt:lpstr>
      <vt:lpstr>A Simple Target Machine Model</vt:lpstr>
      <vt:lpstr>A Simple Target Machine Model</vt:lpstr>
      <vt:lpstr>Addressing Modes</vt:lpstr>
      <vt:lpstr>Addressing Modes</vt:lpstr>
      <vt:lpstr>Addressing Modes</vt:lpstr>
      <vt:lpstr>Addressing Modes</vt:lpstr>
      <vt:lpstr>Statement-wise Code Generation</vt:lpstr>
      <vt:lpstr>Statement-wise Code Generation</vt:lpstr>
      <vt:lpstr>Program Cost</vt:lpstr>
      <vt:lpstr>Instruction Cost</vt:lpstr>
      <vt:lpstr>Instruction Cost</vt:lpstr>
      <vt:lpstr>Uses of Registers</vt:lpstr>
      <vt:lpstr>Simple Code-Generation Algorithm</vt:lpstr>
      <vt:lpstr>Register and Address Descriptors</vt:lpstr>
      <vt:lpstr>An Example of Code-Generation</vt:lpstr>
      <vt:lpstr>An Example of Code-Generation</vt:lpstr>
      <vt:lpstr>The Code-Generation Algorithm</vt:lpstr>
      <vt:lpstr>The Code-Generation Algorithm</vt:lpstr>
      <vt:lpstr>Managing Register and Address Descriptors</vt:lpstr>
      <vt:lpstr>Managing Register and Address Descriptors</vt:lpstr>
      <vt:lpstr>Design of Function getReg(I)</vt:lpstr>
      <vt:lpstr>Design of Function getReg(I)</vt:lpstr>
      <vt:lpstr>Global Register Allocation (See the pdf titled Global Register Allocation)</vt:lpstr>
      <vt:lpstr>Related References </vt:lpstr>
      <vt:lpstr>An Example From GCC</vt:lpstr>
      <vt:lpstr>Peephole Optimization</vt:lpstr>
      <vt:lpstr>Peephole Optimization</vt:lpstr>
      <vt:lpstr>Peephole Optimization</vt:lpstr>
      <vt:lpstr>Peephole Optimization</vt:lpstr>
      <vt:lpstr>Peephole Optimization</vt:lpstr>
      <vt:lpstr>Peephole Optimization</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Code Generation</dc:title>
  <dc:creator>TAMAL</dc:creator>
  <cp:lastModifiedBy>khaled mahmud</cp:lastModifiedBy>
  <cp:revision>515</cp:revision>
  <dcterms:created xsi:type="dcterms:W3CDTF">2017-05-18T11:01:34Z</dcterms:created>
  <dcterms:modified xsi:type="dcterms:W3CDTF">2023-03-03T14:05:39Z</dcterms:modified>
</cp:coreProperties>
</file>