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80"/>
  </p:notesMasterIdLst>
  <p:handoutMasterIdLst>
    <p:handoutMasterId r:id="rId81"/>
  </p:handoutMasterIdLst>
  <p:sldIdLst>
    <p:sldId id="325" r:id="rId2"/>
    <p:sldId id="326" r:id="rId3"/>
    <p:sldId id="328" r:id="rId4"/>
    <p:sldId id="329" r:id="rId5"/>
    <p:sldId id="327" r:id="rId6"/>
    <p:sldId id="256" r:id="rId7"/>
    <p:sldId id="334" r:id="rId8"/>
    <p:sldId id="335" r:id="rId9"/>
    <p:sldId id="258" r:id="rId10"/>
    <p:sldId id="260" r:id="rId11"/>
    <p:sldId id="261" r:id="rId12"/>
    <p:sldId id="262" r:id="rId13"/>
    <p:sldId id="263" r:id="rId14"/>
    <p:sldId id="267" r:id="rId15"/>
    <p:sldId id="266" r:id="rId16"/>
    <p:sldId id="268" r:id="rId17"/>
    <p:sldId id="269" r:id="rId18"/>
    <p:sldId id="270" r:id="rId19"/>
    <p:sldId id="336" r:id="rId20"/>
    <p:sldId id="276" r:id="rId21"/>
    <p:sldId id="338" r:id="rId22"/>
    <p:sldId id="337" r:id="rId23"/>
    <p:sldId id="278" r:id="rId24"/>
    <p:sldId id="279" r:id="rId25"/>
    <p:sldId id="280" r:id="rId26"/>
    <p:sldId id="281" r:id="rId27"/>
    <p:sldId id="282" r:id="rId28"/>
    <p:sldId id="283" r:id="rId29"/>
    <p:sldId id="271" r:id="rId30"/>
    <p:sldId id="284" r:id="rId31"/>
    <p:sldId id="285" r:id="rId32"/>
    <p:sldId id="286" r:id="rId33"/>
    <p:sldId id="288" r:id="rId34"/>
    <p:sldId id="287" r:id="rId35"/>
    <p:sldId id="289" r:id="rId36"/>
    <p:sldId id="290" r:id="rId37"/>
    <p:sldId id="291" r:id="rId38"/>
    <p:sldId id="292" r:id="rId39"/>
    <p:sldId id="293" r:id="rId40"/>
    <p:sldId id="294" r:id="rId41"/>
    <p:sldId id="299" r:id="rId42"/>
    <p:sldId id="341" r:id="rId43"/>
    <p:sldId id="339" r:id="rId44"/>
    <p:sldId id="300" r:id="rId45"/>
    <p:sldId id="302" r:id="rId46"/>
    <p:sldId id="344" r:id="rId47"/>
    <p:sldId id="343" r:id="rId48"/>
    <p:sldId id="330" r:id="rId49"/>
    <p:sldId id="352" r:id="rId50"/>
    <p:sldId id="303" r:id="rId51"/>
    <p:sldId id="322" r:id="rId52"/>
    <p:sldId id="323" r:id="rId53"/>
    <p:sldId id="353" r:id="rId54"/>
    <p:sldId id="331" r:id="rId55"/>
    <p:sldId id="332" r:id="rId56"/>
    <p:sldId id="333" r:id="rId57"/>
    <p:sldId id="309" r:id="rId58"/>
    <p:sldId id="310" r:id="rId59"/>
    <p:sldId id="311" r:id="rId60"/>
    <p:sldId id="312" r:id="rId61"/>
    <p:sldId id="354" r:id="rId62"/>
    <p:sldId id="313" r:id="rId63"/>
    <p:sldId id="314" r:id="rId64"/>
    <p:sldId id="315" r:id="rId65"/>
    <p:sldId id="316" r:id="rId66"/>
    <p:sldId id="317" r:id="rId67"/>
    <p:sldId id="319" r:id="rId68"/>
    <p:sldId id="321" r:id="rId69"/>
    <p:sldId id="349" r:id="rId70"/>
    <p:sldId id="345" r:id="rId71"/>
    <p:sldId id="350" r:id="rId72"/>
    <p:sldId id="351" r:id="rId73"/>
    <p:sldId id="355" r:id="rId74"/>
    <p:sldId id="356" r:id="rId75"/>
    <p:sldId id="357" r:id="rId76"/>
    <p:sldId id="358" r:id="rId77"/>
    <p:sldId id="359" r:id="rId78"/>
    <p:sldId id="324" r:id="rId7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99"/>
    <a:srgbClr val="99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88506" autoAdjust="0"/>
  </p:normalViewPr>
  <p:slideViewPr>
    <p:cSldViewPr>
      <p:cViewPr varScale="1">
        <p:scale>
          <a:sx n="66" d="100"/>
          <a:sy n="66" d="100"/>
        </p:scale>
        <p:origin x="888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2792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6560"/>
    </p:cViewPr>
  </p:sorterViewPr>
  <p:notesViewPr>
    <p:cSldViewPr>
      <p:cViewPr varScale="1">
        <p:scale>
          <a:sx n="50" d="100"/>
          <a:sy n="50" d="100"/>
        </p:scale>
        <p:origin x="2886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76B578-48FD-72F4-547E-1499200B646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1CB2DD-C4D5-841E-960E-8CB4D17AB84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5E20DB-D19F-489B-9299-35868FAE8B5B}" type="datetimeFigureOut">
              <a:rPr lang="en-US" smtClean="0"/>
              <a:t>1/24/2023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DEF15A-FB9D-FB7B-F0AD-4A00D5F6922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AE599D-9492-E86C-220E-3401346633A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1CB4B1-5622-4D88-9093-E0D50176E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6585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07C7FA-5E66-4554-B76B-FE6EDC7661D4}" type="datetimeFigureOut">
              <a:rPr lang="en-US" smtClean="0"/>
              <a:pPr/>
              <a:t>1/24/2023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4F2E2E-D23B-4367-BDBE-C3D060F6632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4352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4F2E2E-D23B-4367-BDBE-C3D060F6632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69254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4F2E2E-D23B-4367-BDBE-C3D060F6632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84344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4F2E2E-D23B-4367-BDBE-C3D060F66325}" type="slidenum">
              <a:rPr lang="en-US" smtClean="0"/>
              <a:pPr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3680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Adding marker terminals we can convert it to postfix SDT </a:t>
            </a:r>
            <a:r>
              <a:rPr lang="en-US"/>
              <a:t>but the grammar is not LR-parsable.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4F2E2E-D23B-4367-BDBE-C3D060F66325}" type="slidenum">
              <a:rPr lang="en-US" smtClean="0"/>
              <a:pPr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3018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4F2E2E-D23B-4367-BDBE-C3D060F66325}" type="slidenum">
              <a:rPr lang="en-US" smtClean="0"/>
              <a:pPr/>
              <a:t>60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1405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55C4-58D4-4237-9DAB-55434C3F484D}" type="datetime1">
              <a:rPr lang="en-US" smtClean="0"/>
              <a:pPr/>
              <a:t>1/24/2023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 of CSE, BUET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5182F-19A1-4100-BEFA-822C09ADEF88}" type="datetime1">
              <a:rPr lang="en-US" smtClean="0"/>
              <a:pPr/>
              <a:t>1/24/2023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 of CSE, BUET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10160-EA4B-438C-92E9-B66269FC466E}" type="datetime1">
              <a:rPr lang="en-US" smtClean="0"/>
              <a:pPr/>
              <a:t>1/24/2023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 of CSE, BUET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A9F5C-3559-444A-9B7A-CF8757EFF4AB}" type="datetime1">
              <a:rPr lang="en-US" smtClean="0"/>
              <a:pPr/>
              <a:t>1/24/2023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 of CSE, BUET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57ED-E5F5-432E-9DC0-C9BC11124137}" type="datetime1">
              <a:rPr lang="en-US" smtClean="0"/>
              <a:pPr/>
              <a:t>1/24/2023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 of CSE, BUET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31CBA-9B77-4C20-B486-0B664100F117}" type="datetime1">
              <a:rPr lang="en-US" smtClean="0"/>
              <a:pPr/>
              <a:t>1/24/2023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 of CSE, BUET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80B74-6B1E-476E-8C6B-42C806AA9F09}" type="datetime1">
              <a:rPr lang="en-US" smtClean="0"/>
              <a:pPr/>
              <a:t>1/24/2023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 of CSE, BUET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2877B-4E7A-4BA1-8FBA-52E7FB5EACB9}" type="datetime1">
              <a:rPr lang="en-US" smtClean="0"/>
              <a:pPr/>
              <a:t>1/24/2023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 of CSE, BUET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CADDD-4FB0-45E5-9ED9-74DBBA4B2767}" type="datetime1">
              <a:rPr lang="en-US" smtClean="0"/>
              <a:pPr/>
              <a:t>1/24/2023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 of CSE, BUET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0960-E7C8-49DB-AFEF-580C861BC9DE}" type="datetime1">
              <a:rPr lang="en-US" smtClean="0"/>
              <a:pPr/>
              <a:t>1/24/2023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 of CSE, BUET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97EC4-2FC5-47F3-B570-7401B2B1397B}" type="datetime1">
              <a:rPr lang="en-US" smtClean="0"/>
              <a:pPr/>
              <a:t>1/24/2023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 of CSE, BUET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62C5F3-FF73-4E9D-AE42-7B1329647EEC}" type="datetime1">
              <a:rPr lang="en-US" smtClean="0"/>
              <a:pPr/>
              <a:t>1/24/2023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Dept of CSE, BUET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10CB97-BFCA-4D72-8FC9-539B415ADAC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s.princeton.edu/courses/archive/spring20/cos320/LL1/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8.jpe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jpe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598" y="457200"/>
            <a:ext cx="8001000" cy="1295400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CSE 309 (Compilers)</a:t>
            </a:r>
            <a:endParaRPr lang="en-US" sz="60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198" y="5151360"/>
            <a:ext cx="6781800" cy="1253858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accent4">
                    <a:lumMod val="75000"/>
                  </a:schemeClr>
                </a:solidFill>
              </a:rPr>
              <a:t>Khaled Mahmud Shahriar</a:t>
            </a:r>
          </a:p>
          <a:p>
            <a:pPr>
              <a:spcBef>
                <a:spcPts val="0"/>
              </a:spcBef>
            </a:pPr>
            <a:r>
              <a:rPr lang="en-US" sz="1800" dirty="0">
                <a:solidFill>
                  <a:schemeClr val="bg1">
                    <a:lumMod val="65000"/>
                  </a:schemeClr>
                </a:solidFill>
              </a:rPr>
              <a:t>Assistant Professor</a:t>
            </a:r>
          </a:p>
          <a:p>
            <a:pPr>
              <a:spcBef>
                <a:spcPts val="0"/>
              </a:spcBef>
            </a:pPr>
            <a:r>
              <a:rPr lang="en-US" sz="1800" dirty="0">
                <a:solidFill>
                  <a:schemeClr val="bg1">
                    <a:lumMod val="65000"/>
                  </a:schemeClr>
                </a:solidFill>
              </a:rPr>
              <a:t>Department of CSE, BUET</a:t>
            </a:r>
            <a:endParaRPr lang="en-US" sz="1200" dirty="0">
              <a:solidFill>
                <a:schemeClr val="tx1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5633" y="4034694"/>
            <a:ext cx="1063567" cy="107070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356033" y="2430959"/>
            <a:ext cx="250813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dirty="0">
                <a:solidFill>
                  <a:schemeClr val="accent6">
                    <a:lumMod val="75000"/>
                  </a:schemeClr>
                </a:solidFill>
              </a:rPr>
              <a:t>Part II</a:t>
            </a:r>
          </a:p>
        </p:txBody>
      </p:sp>
      <p:sp>
        <p:nvSpPr>
          <p:cNvPr id="9" name="Rectangle 8"/>
          <p:cNvSpPr/>
          <p:nvPr/>
        </p:nvSpPr>
        <p:spPr>
          <a:xfrm>
            <a:off x="3430867" y="1600200"/>
            <a:ext cx="235846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dirty="0">
                <a:solidFill>
                  <a:srgbClr val="002060"/>
                </a:solidFill>
              </a:rPr>
              <a:t>July 2022 Term</a:t>
            </a:r>
            <a:endParaRPr lang="en-US" sz="2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8028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1143000"/>
          </a:xfrm>
        </p:spPr>
        <p:txBody>
          <a:bodyPr/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Text Book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1406588"/>
            <a:ext cx="2286000" cy="3460132"/>
          </a:xfrm>
          <a:ln w="12700">
            <a:solidFill>
              <a:schemeClr val="tx1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304800" y="1905000"/>
            <a:ext cx="5498592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800" b="1" dirty="0">
                <a:solidFill>
                  <a:schemeClr val="accent4">
                    <a:lumMod val="75000"/>
                  </a:schemeClr>
                </a:solidFill>
              </a:rPr>
              <a:t>Compilers: Principles, Techniques, and Tools (2nd Edition)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by Alfred </a:t>
            </a:r>
            <a:r>
              <a:rPr lang="en-US" sz="2400" dirty="0" err="1">
                <a:solidFill>
                  <a:schemeClr val="accent2">
                    <a:lumMod val="50000"/>
                  </a:schemeClr>
                </a:solidFill>
              </a:rPr>
              <a:t>Aho</a:t>
            </a: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, Monica Lam, Ravi </a:t>
            </a:r>
            <a:r>
              <a:rPr lang="en-US" sz="2400" dirty="0" err="1">
                <a:solidFill>
                  <a:schemeClr val="accent2">
                    <a:lumMod val="50000"/>
                  </a:schemeClr>
                </a:solidFill>
              </a:rPr>
              <a:t>Sethi</a:t>
            </a: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, Jeffrey Ullman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Pearson/Addison Wesley, 2007</a:t>
            </a:r>
          </a:p>
        </p:txBody>
      </p:sp>
    </p:spTree>
    <p:extLst>
      <p:ext uri="{BB962C8B-B14F-4D97-AF65-F5344CB8AC3E}">
        <p14:creationId xmlns:p14="http://schemas.microsoft.com/office/powerpoint/2010/main" val="393938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95885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A Language Processing System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1143000"/>
            <a:ext cx="4633913" cy="4889326"/>
          </a:xfrm>
          <a:prstGeom prst="rect">
            <a:avLst/>
          </a:prstGeom>
        </p:spPr>
      </p:pic>
      <p:sp>
        <p:nvSpPr>
          <p:cNvPr id="13" name="Striped Right Arrow 12"/>
          <p:cNvSpPr/>
          <p:nvPr/>
        </p:nvSpPr>
        <p:spPr>
          <a:xfrm flipH="1">
            <a:off x="5257800" y="2731810"/>
            <a:ext cx="1295400" cy="697190"/>
          </a:xfrm>
          <a:prstGeom prst="striped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6705600" y="2788018"/>
            <a:ext cx="152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6">
                    <a:lumMod val="75000"/>
                  </a:schemeClr>
                </a:solidFill>
              </a:rPr>
              <a:t>CSE 309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07AB99-6B30-2566-AF0E-205D53F7A620}"/>
              </a:ext>
            </a:extLst>
          </p:cNvPr>
          <p:cNvSpPr txBox="1"/>
          <p:nvPr/>
        </p:nvSpPr>
        <p:spPr>
          <a:xfrm>
            <a:off x="0" y="6488668"/>
            <a:ext cx="1219200" cy="4001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solidFill>
                  <a:schemeClr val="accent6">
                    <a:lumMod val="75000"/>
                  </a:schemeClr>
                </a:solidFill>
              </a:rPr>
              <a:t>Recap</a:t>
            </a:r>
          </a:p>
        </p:txBody>
      </p:sp>
    </p:spTree>
    <p:extLst>
      <p:ext uri="{BB962C8B-B14F-4D97-AF65-F5344CB8AC3E}">
        <p14:creationId xmlns:p14="http://schemas.microsoft.com/office/powerpoint/2010/main" val="3230062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/>
          <a:srcRect l="15789"/>
          <a:stretch/>
        </p:blipFill>
        <p:spPr>
          <a:xfrm>
            <a:off x="0" y="1035050"/>
            <a:ext cx="4267200" cy="530066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/>
          <a:srcRect l="7621"/>
          <a:stretch/>
        </p:blipFill>
        <p:spPr>
          <a:xfrm>
            <a:off x="4447572" y="304586"/>
            <a:ext cx="4467828" cy="65534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31750"/>
            <a:ext cx="8229600" cy="958850"/>
          </a:xfrm>
        </p:spPr>
        <p:txBody>
          <a:bodyPr/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  Phases of A Compiler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717407" y="1219200"/>
            <a:ext cx="13329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Part I</a:t>
            </a:r>
          </a:p>
          <a:p>
            <a:pPr algn="ctr"/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(by MMA)</a:t>
            </a:r>
          </a:p>
        </p:txBody>
      </p:sp>
      <p:sp>
        <p:nvSpPr>
          <p:cNvPr id="9" name="Right Brace 8"/>
          <p:cNvSpPr/>
          <p:nvPr/>
        </p:nvSpPr>
        <p:spPr>
          <a:xfrm flipH="1">
            <a:off x="6019800" y="2584556"/>
            <a:ext cx="457200" cy="4136919"/>
          </a:xfrm>
          <a:prstGeom prst="rightBrac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Brace 6"/>
          <p:cNvSpPr/>
          <p:nvPr/>
        </p:nvSpPr>
        <p:spPr>
          <a:xfrm flipH="1">
            <a:off x="5943600" y="723900"/>
            <a:ext cx="533400" cy="1790700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28575">
                <a:solidFill>
                  <a:schemeClr val="tx1"/>
                </a:solidFill>
              </a:ln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0" y="4343400"/>
            <a:ext cx="16237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Part II</a:t>
            </a:r>
          </a:p>
          <a:p>
            <a:pPr algn="ctr"/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(by KMS)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10000" y="1289956"/>
            <a:ext cx="647701" cy="209459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Analysis </a:t>
            </a:r>
          </a:p>
          <a:p>
            <a:pPr algn="ctr"/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(Front End)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10000" y="3429000"/>
            <a:ext cx="647700" cy="2438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Synthesis</a:t>
            </a:r>
          </a:p>
          <a:p>
            <a:pPr algn="ctr"/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(Back End)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E13CD5-317E-4B2D-5852-7962C1C55187}"/>
              </a:ext>
            </a:extLst>
          </p:cNvPr>
          <p:cNvSpPr txBox="1"/>
          <p:nvPr/>
        </p:nvSpPr>
        <p:spPr>
          <a:xfrm>
            <a:off x="0" y="6488668"/>
            <a:ext cx="1219200" cy="4001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solidFill>
                  <a:schemeClr val="accent6">
                    <a:lumMod val="75000"/>
                  </a:schemeClr>
                </a:solidFill>
              </a:rPr>
              <a:t>Recap</a:t>
            </a:r>
          </a:p>
        </p:txBody>
      </p:sp>
    </p:spTree>
    <p:extLst>
      <p:ext uri="{BB962C8B-B14F-4D97-AF65-F5344CB8AC3E}">
        <p14:creationId xmlns:p14="http://schemas.microsoft.com/office/powerpoint/2010/main" val="2258716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7" grpId="0" animBg="1"/>
      <p:bldP spid="10" grpId="0"/>
      <p:bldP spid="14" grpId="0" animBg="1"/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Topics To be Covered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610600" cy="4525963"/>
          </a:xfrm>
        </p:spPr>
        <p:txBody>
          <a:bodyPr/>
          <a:lstStyle/>
          <a:p>
            <a:r>
              <a:rPr lang="en-US" dirty="0"/>
              <a:t>Syntax-Directed Translation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(Chapter 5)</a:t>
            </a:r>
          </a:p>
          <a:p>
            <a:r>
              <a:rPr lang="en-US" dirty="0"/>
              <a:t>Intermediate-Code Generation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(Chapter 6)</a:t>
            </a:r>
          </a:p>
          <a:p>
            <a:r>
              <a:rPr lang="en-US" dirty="0"/>
              <a:t>Runtime Environments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(Chapter 7)</a:t>
            </a:r>
          </a:p>
          <a:p>
            <a:r>
              <a:rPr lang="en-US" dirty="0"/>
              <a:t>Code Generation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(Chapter 8)</a:t>
            </a:r>
          </a:p>
          <a:p>
            <a:r>
              <a:rPr lang="en-US" dirty="0"/>
              <a:t>Machine-Independent Optimizations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(Chapter 9)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058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36701"/>
            <a:ext cx="7772400" cy="147002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Candara" pitchFamily="34" charset="0"/>
              </a:rPr>
              <a:t>Syntax Directed Translations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B543C2-C325-D70F-BA7F-A666562EE3F8}"/>
              </a:ext>
            </a:extLst>
          </p:cNvPr>
          <p:cNvSpPr/>
          <p:nvPr/>
        </p:nvSpPr>
        <p:spPr>
          <a:xfrm>
            <a:off x="2667000" y="1828800"/>
            <a:ext cx="3365025" cy="92333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</a:pPr>
            <a:r>
              <a:rPr lang="en-US" sz="5400" dirty="0">
                <a:solidFill>
                  <a:srgbClr val="FF0000"/>
                </a:solidFill>
                <a:latin typeface="Candara" panose="020E0502030303020204" pitchFamily="34" charset="0"/>
                <a:ea typeface="+mj-ea"/>
                <a:cs typeface="+mj-cs"/>
              </a:rPr>
              <a:t>Chapter 5</a:t>
            </a:r>
            <a:endParaRPr lang="en-US" sz="6000" dirty="0">
              <a:solidFill>
                <a:srgbClr val="FF0000"/>
              </a:solidFill>
              <a:latin typeface="Candara" panose="020E0502030303020204" pitchFamily="34" charset="0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roup 85">
            <a:extLst>
              <a:ext uri="{FF2B5EF4-FFF2-40B4-BE49-F238E27FC236}">
                <a16:creationId xmlns:a16="http://schemas.microsoft.com/office/drawing/2014/main" id="{B4E96384-5DF0-437F-8BE3-EB5B9DDD43FD}"/>
              </a:ext>
            </a:extLst>
          </p:cNvPr>
          <p:cNvGrpSpPr/>
          <p:nvPr/>
        </p:nvGrpSpPr>
        <p:grpSpPr>
          <a:xfrm>
            <a:off x="5407841" y="838043"/>
            <a:ext cx="2669359" cy="381000"/>
            <a:chOff x="5334000" y="1981200"/>
            <a:chExt cx="2669359" cy="38100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9BC03A32-FE1C-4604-B607-9EE12E427B16}"/>
                </a:ext>
              </a:extLst>
            </p:cNvPr>
            <p:cNvSpPr/>
            <p:nvPr/>
          </p:nvSpPr>
          <p:spPr>
            <a:xfrm>
              <a:off x="5334000" y="1981200"/>
              <a:ext cx="381000" cy="38100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3F6233CD-8323-425C-0682-112BDE5CC73A}"/>
                </a:ext>
              </a:extLst>
            </p:cNvPr>
            <p:cNvSpPr/>
            <p:nvPr/>
          </p:nvSpPr>
          <p:spPr>
            <a:xfrm>
              <a:off x="6479359" y="1981200"/>
              <a:ext cx="381000" cy="38100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+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FCDC052-2E24-0CD7-4169-79A3F6AF4152}"/>
                </a:ext>
              </a:extLst>
            </p:cNvPr>
            <p:cNvSpPr/>
            <p:nvPr/>
          </p:nvSpPr>
          <p:spPr>
            <a:xfrm>
              <a:off x="7622359" y="1981200"/>
              <a:ext cx="381000" cy="38100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T</a:t>
              </a: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80177CE1-84DC-FA7F-3F2B-9465DE5516E6}"/>
              </a:ext>
            </a:extLst>
          </p:cNvPr>
          <p:cNvGrpSpPr/>
          <p:nvPr/>
        </p:nvGrpSpPr>
        <p:grpSpPr>
          <a:xfrm>
            <a:off x="4419377" y="2133495"/>
            <a:ext cx="2379896" cy="381000"/>
            <a:chOff x="4419600" y="3886200"/>
            <a:chExt cx="2379896" cy="381000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EEE70982-B9D5-7956-9E18-12A186F380B7}"/>
                </a:ext>
              </a:extLst>
            </p:cNvPr>
            <p:cNvSpPr/>
            <p:nvPr/>
          </p:nvSpPr>
          <p:spPr>
            <a:xfrm>
              <a:off x="4419600" y="3886200"/>
              <a:ext cx="381000" cy="38100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T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A2B23F0C-6318-CE44-A1A9-6BBD744A82DA}"/>
                </a:ext>
              </a:extLst>
            </p:cNvPr>
            <p:cNvSpPr/>
            <p:nvPr/>
          </p:nvSpPr>
          <p:spPr>
            <a:xfrm>
              <a:off x="5334223" y="3886200"/>
              <a:ext cx="381000" cy="38100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DADEA01-0F25-9736-08DA-1AAA8E2555C2}"/>
                </a:ext>
              </a:extLst>
            </p:cNvPr>
            <p:cNvSpPr/>
            <p:nvPr/>
          </p:nvSpPr>
          <p:spPr>
            <a:xfrm>
              <a:off x="6418496" y="3886200"/>
              <a:ext cx="381000" cy="38100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F</a:t>
              </a:r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390180B9-2F7C-AED1-D3DD-1E784D370600}"/>
              </a:ext>
            </a:extLst>
          </p:cNvPr>
          <p:cNvSpPr/>
          <p:nvPr/>
        </p:nvSpPr>
        <p:spPr>
          <a:xfrm>
            <a:off x="6553200" y="122666"/>
            <a:ext cx="3810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414A0CF-1ADB-D282-9771-A49671582BE5}"/>
              </a:ext>
            </a:extLst>
          </p:cNvPr>
          <p:cNvCxnSpPr>
            <a:cxnSpLocks/>
          </p:cNvCxnSpPr>
          <p:nvPr/>
        </p:nvCxnSpPr>
        <p:spPr>
          <a:xfrm flipH="1">
            <a:off x="5727155" y="495040"/>
            <a:ext cx="875951" cy="3989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837ABA7-432F-64AD-708C-63D36CFE5D04}"/>
              </a:ext>
            </a:extLst>
          </p:cNvPr>
          <p:cNvCxnSpPr>
            <a:cxnSpLocks/>
          </p:cNvCxnSpPr>
          <p:nvPr/>
        </p:nvCxnSpPr>
        <p:spPr>
          <a:xfrm flipV="1">
            <a:off x="6738033" y="550836"/>
            <a:ext cx="0" cy="2873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E8080B0-A873-912D-7491-37A8D516EBA3}"/>
              </a:ext>
            </a:extLst>
          </p:cNvPr>
          <p:cNvCxnSpPr>
            <a:cxnSpLocks/>
          </p:cNvCxnSpPr>
          <p:nvPr/>
        </p:nvCxnSpPr>
        <p:spPr>
          <a:xfrm>
            <a:off x="6872737" y="495041"/>
            <a:ext cx="873592" cy="3989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CF6B393B-AF55-DC55-1832-97468AB8EA37}"/>
              </a:ext>
            </a:extLst>
          </p:cNvPr>
          <p:cNvSpPr/>
          <p:nvPr/>
        </p:nvSpPr>
        <p:spPr>
          <a:xfrm>
            <a:off x="5399440" y="1524000"/>
            <a:ext cx="3810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472BE87E-D969-8367-6FFF-0FC07A9A735D}"/>
              </a:ext>
            </a:extLst>
          </p:cNvPr>
          <p:cNvCxnSpPr>
            <a:cxnSpLocks/>
            <a:stCxn id="27" idx="4"/>
            <a:endCxn id="48" idx="0"/>
          </p:cNvCxnSpPr>
          <p:nvPr/>
        </p:nvCxnSpPr>
        <p:spPr>
          <a:xfrm flipH="1">
            <a:off x="5589940" y="1219043"/>
            <a:ext cx="8401" cy="304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583B936-B2A6-DDD6-5F19-20FD662FB023}"/>
              </a:ext>
            </a:extLst>
          </p:cNvPr>
          <p:cNvCxnSpPr>
            <a:cxnSpLocks/>
            <a:stCxn id="48" idx="3"/>
            <a:endCxn id="30" idx="0"/>
          </p:cNvCxnSpPr>
          <p:nvPr/>
        </p:nvCxnSpPr>
        <p:spPr>
          <a:xfrm flipH="1">
            <a:off x="4609877" y="1849204"/>
            <a:ext cx="845359" cy="2842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0AFB704-FC87-5CCB-757D-47B58100B9E1}"/>
              </a:ext>
            </a:extLst>
          </p:cNvPr>
          <p:cNvCxnSpPr>
            <a:cxnSpLocks/>
            <a:stCxn id="31" idx="0"/>
            <a:endCxn id="48" idx="4"/>
          </p:cNvCxnSpPr>
          <p:nvPr/>
        </p:nvCxnSpPr>
        <p:spPr>
          <a:xfrm flipV="1">
            <a:off x="5524500" y="1905000"/>
            <a:ext cx="65440" cy="2284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ADB7A9A1-5175-65C2-0B6C-392FF1013F25}"/>
              </a:ext>
            </a:extLst>
          </p:cNvPr>
          <p:cNvCxnSpPr>
            <a:cxnSpLocks/>
            <a:stCxn id="32" idx="1"/>
            <a:endCxn id="48" idx="5"/>
          </p:cNvCxnSpPr>
          <p:nvPr/>
        </p:nvCxnSpPr>
        <p:spPr>
          <a:xfrm flipH="1" flipV="1">
            <a:off x="5724644" y="1849204"/>
            <a:ext cx="749425" cy="3400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9" name="Group 88">
            <a:extLst>
              <a:ext uri="{FF2B5EF4-FFF2-40B4-BE49-F238E27FC236}">
                <a16:creationId xmlns:a16="http://schemas.microsoft.com/office/drawing/2014/main" id="{170C064E-5BE1-385B-151A-8CD479D9A15C}"/>
              </a:ext>
            </a:extLst>
          </p:cNvPr>
          <p:cNvGrpSpPr/>
          <p:nvPr/>
        </p:nvGrpSpPr>
        <p:grpSpPr>
          <a:xfrm>
            <a:off x="3390900" y="3962296"/>
            <a:ext cx="2476500" cy="381000"/>
            <a:chOff x="304800" y="5638800"/>
            <a:chExt cx="2476500" cy="381000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C48DBF65-F1A4-CB3A-2D94-00520D5E0A8F}"/>
                </a:ext>
              </a:extLst>
            </p:cNvPr>
            <p:cNvSpPr/>
            <p:nvPr/>
          </p:nvSpPr>
          <p:spPr>
            <a:xfrm>
              <a:off x="304800" y="5638800"/>
              <a:ext cx="381000" cy="38100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854ED834-D0DF-1F68-FE40-124F7B0F06DD}"/>
                </a:ext>
              </a:extLst>
            </p:cNvPr>
            <p:cNvSpPr/>
            <p:nvPr/>
          </p:nvSpPr>
          <p:spPr>
            <a:xfrm>
              <a:off x="1304248" y="5638800"/>
              <a:ext cx="381000" cy="38100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+</a:t>
              </a: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E9FFDB92-6DA9-3D92-16BE-9D0A4BB734B1}"/>
                </a:ext>
              </a:extLst>
            </p:cNvPr>
            <p:cNvSpPr/>
            <p:nvPr/>
          </p:nvSpPr>
          <p:spPr>
            <a:xfrm>
              <a:off x="2400300" y="5638800"/>
              <a:ext cx="381000" cy="38100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T</a:t>
              </a:r>
            </a:p>
          </p:txBody>
        </p:sp>
      </p:grp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B252B008-800F-EA55-E675-990131CDE6B9}"/>
              </a:ext>
            </a:extLst>
          </p:cNvPr>
          <p:cNvCxnSpPr>
            <a:cxnSpLocks/>
            <a:endCxn id="61" idx="0"/>
          </p:cNvCxnSpPr>
          <p:nvPr/>
        </p:nvCxnSpPr>
        <p:spPr>
          <a:xfrm flipH="1">
            <a:off x="3581400" y="3677900"/>
            <a:ext cx="864744" cy="2843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CB3099AC-48E0-3C11-709D-125E76700AE5}"/>
              </a:ext>
            </a:extLst>
          </p:cNvPr>
          <p:cNvCxnSpPr>
            <a:cxnSpLocks/>
            <a:stCxn id="62" idx="0"/>
            <a:endCxn id="64" idx="4"/>
          </p:cNvCxnSpPr>
          <p:nvPr/>
        </p:nvCxnSpPr>
        <p:spPr>
          <a:xfrm flipV="1">
            <a:off x="4580848" y="3733800"/>
            <a:ext cx="0" cy="2284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B643995D-E1DC-43E2-6508-B2BFCE172CE0}"/>
              </a:ext>
            </a:extLst>
          </p:cNvPr>
          <p:cNvCxnSpPr>
            <a:cxnSpLocks/>
            <a:stCxn id="63" idx="1"/>
          </p:cNvCxnSpPr>
          <p:nvPr/>
        </p:nvCxnSpPr>
        <p:spPr>
          <a:xfrm flipH="1" flipV="1">
            <a:off x="4812156" y="3677900"/>
            <a:ext cx="730040" cy="3401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Group 87">
            <a:extLst>
              <a:ext uri="{FF2B5EF4-FFF2-40B4-BE49-F238E27FC236}">
                <a16:creationId xmlns:a16="http://schemas.microsoft.com/office/drawing/2014/main" id="{EB08406A-6D27-0E5A-891B-0F7687B2C242}"/>
              </a:ext>
            </a:extLst>
          </p:cNvPr>
          <p:cNvGrpSpPr/>
          <p:nvPr/>
        </p:nvGrpSpPr>
        <p:grpSpPr>
          <a:xfrm>
            <a:off x="3390900" y="3352800"/>
            <a:ext cx="2379896" cy="381000"/>
            <a:chOff x="228600" y="3924300"/>
            <a:chExt cx="2379896" cy="381000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09A5ED45-5059-F28F-A82F-6500215E6B1B}"/>
                </a:ext>
              </a:extLst>
            </p:cNvPr>
            <p:cNvSpPr/>
            <p:nvPr/>
          </p:nvSpPr>
          <p:spPr>
            <a:xfrm>
              <a:off x="1228048" y="3924300"/>
              <a:ext cx="381000" cy="38100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A68EB76E-DBEC-59DF-192C-6664D6E890D4}"/>
                </a:ext>
              </a:extLst>
            </p:cNvPr>
            <p:cNvSpPr/>
            <p:nvPr/>
          </p:nvSpPr>
          <p:spPr>
            <a:xfrm>
              <a:off x="228600" y="3924300"/>
              <a:ext cx="381000" cy="38100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(</a:t>
              </a: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BC55F407-29EE-26A7-743F-427D21FCBC53}"/>
                </a:ext>
              </a:extLst>
            </p:cNvPr>
            <p:cNvSpPr/>
            <p:nvPr/>
          </p:nvSpPr>
          <p:spPr>
            <a:xfrm>
              <a:off x="2227496" y="3924300"/>
              <a:ext cx="381000" cy="38100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)</a:t>
              </a:r>
            </a:p>
          </p:txBody>
        </p:sp>
      </p:grpSp>
      <p:sp>
        <p:nvSpPr>
          <p:cNvPr id="71" name="Oval 70">
            <a:extLst>
              <a:ext uri="{FF2B5EF4-FFF2-40B4-BE49-F238E27FC236}">
                <a16:creationId xmlns:a16="http://schemas.microsoft.com/office/drawing/2014/main" id="{F50146AD-91FC-D867-9500-9F9E83CEA3A3}"/>
              </a:ext>
            </a:extLst>
          </p:cNvPr>
          <p:cNvSpPr/>
          <p:nvPr/>
        </p:nvSpPr>
        <p:spPr>
          <a:xfrm>
            <a:off x="4390348" y="2743410"/>
            <a:ext cx="3810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FAC5DB5F-D1EC-DD4D-153E-C0B11CC83571}"/>
              </a:ext>
            </a:extLst>
          </p:cNvPr>
          <p:cNvCxnSpPr>
            <a:cxnSpLocks/>
          </p:cNvCxnSpPr>
          <p:nvPr/>
        </p:nvCxnSpPr>
        <p:spPr>
          <a:xfrm flipH="1">
            <a:off x="3581400" y="3068562"/>
            <a:ext cx="864744" cy="2841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8DE22B43-A903-E808-FB7F-993D3D3D7697}"/>
              </a:ext>
            </a:extLst>
          </p:cNvPr>
          <p:cNvCxnSpPr>
            <a:cxnSpLocks/>
            <a:stCxn id="64" idx="0"/>
            <a:endCxn id="71" idx="4"/>
          </p:cNvCxnSpPr>
          <p:nvPr/>
        </p:nvCxnSpPr>
        <p:spPr>
          <a:xfrm flipV="1">
            <a:off x="4580848" y="3124410"/>
            <a:ext cx="0" cy="2283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752FFE04-2877-5087-E6CB-2819D1ECD3C8}"/>
              </a:ext>
            </a:extLst>
          </p:cNvPr>
          <p:cNvCxnSpPr>
            <a:cxnSpLocks/>
            <a:stCxn id="70" idx="1"/>
            <a:endCxn id="71" idx="5"/>
          </p:cNvCxnSpPr>
          <p:nvPr/>
        </p:nvCxnSpPr>
        <p:spPr>
          <a:xfrm flipH="1" flipV="1">
            <a:off x="4715552" y="3068614"/>
            <a:ext cx="730040" cy="3399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E69E3E08-933F-C52C-F88A-F6D41F4168CB}"/>
              </a:ext>
            </a:extLst>
          </p:cNvPr>
          <p:cNvCxnSpPr>
            <a:cxnSpLocks/>
            <a:stCxn id="30" idx="4"/>
            <a:endCxn id="71" idx="0"/>
          </p:cNvCxnSpPr>
          <p:nvPr/>
        </p:nvCxnSpPr>
        <p:spPr>
          <a:xfrm flipH="1">
            <a:off x="4580848" y="2514495"/>
            <a:ext cx="29029" cy="2289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Oval 99">
            <a:extLst>
              <a:ext uri="{FF2B5EF4-FFF2-40B4-BE49-F238E27FC236}">
                <a16:creationId xmlns:a16="http://schemas.microsoft.com/office/drawing/2014/main" id="{7AB2DD55-DB39-ECCC-E73A-C5167E3B2516}"/>
              </a:ext>
            </a:extLst>
          </p:cNvPr>
          <p:cNvSpPr/>
          <p:nvPr/>
        </p:nvSpPr>
        <p:spPr>
          <a:xfrm>
            <a:off x="3390900" y="4572000"/>
            <a:ext cx="3810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</a:t>
            </a: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A947543D-BD38-7542-9D92-45849CC821FB}"/>
              </a:ext>
            </a:extLst>
          </p:cNvPr>
          <p:cNvSpPr/>
          <p:nvPr/>
        </p:nvSpPr>
        <p:spPr>
          <a:xfrm>
            <a:off x="3456674" y="5231485"/>
            <a:ext cx="3810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F6004308-6EEF-C0FE-5AFA-6B44C466C560}"/>
              </a:ext>
            </a:extLst>
          </p:cNvPr>
          <p:cNvSpPr/>
          <p:nvPr/>
        </p:nvSpPr>
        <p:spPr>
          <a:xfrm>
            <a:off x="3130500" y="5943705"/>
            <a:ext cx="1033348" cy="48351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digit</a:t>
            </a:r>
          </a:p>
        </p:txBody>
      </p: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541D80AF-A585-1841-0E4C-C31C9C43A605}"/>
              </a:ext>
            </a:extLst>
          </p:cNvPr>
          <p:cNvCxnSpPr>
            <a:cxnSpLocks/>
            <a:stCxn id="61" idx="4"/>
            <a:endCxn id="100" idx="0"/>
          </p:cNvCxnSpPr>
          <p:nvPr/>
        </p:nvCxnSpPr>
        <p:spPr>
          <a:xfrm>
            <a:off x="3581400" y="4343296"/>
            <a:ext cx="0" cy="2287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C0EFE0E9-C6D6-5995-3957-7A782B257C0D}"/>
              </a:ext>
            </a:extLst>
          </p:cNvPr>
          <p:cNvCxnSpPr>
            <a:cxnSpLocks/>
            <a:stCxn id="100" idx="4"/>
          </p:cNvCxnSpPr>
          <p:nvPr/>
        </p:nvCxnSpPr>
        <p:spPr>
          <a:xfrm>
            <a:off x="3581400" y="4953000"/>
            <a:ext cx="3976" cy="2784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264BCD36-6FB4-9F84-58D9-E2EE8B11D4AF}"/>
              </a:ext>
            </a:extLst>
          </p:cNvPr>
          <p:cNvCxnSpPr>
            <a:cxnSpLocks/>
            <a:stCxn id="102" idx="0"/>
            <a:endCxn id="101" idx="4"/>
          </p:cNvCxnSpPr>
          <p:nvPr/>
        </p:nvCxnSpPr>
        <p:spPr>
          <a:xfrm flipV="1">
            <a:off x="3647174" y="5612485"/>
            <a:ext cx="0" cy="3312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EAE6C5AD-5ADC-3B7A-F988-5EF597E7A3C0}"/>
              </a:ext>
            </a:extLst>
          </p:cNvPr>
          <p:cNvSpPr txBox="1"/>
          <p:nvPr/>
        </p:nvSpPr>
        <p:spPr>
          <a:xfrm>
            <a:off x="295952" y="951514"/>
            <a:ext cx="1228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 </a:t>
            </a:r>
            <a:r>
              <a:rPr lang="en-US" dirty="0">
                <a:sym typeface="Wingdings" panose="05000000000000000000" pitchFamily="2" charset="2"/>
              </a:rPr>
              <a:t> E + T</a:t>
            </a:r>
            <a:endParaRPr lang="en-US" dirty="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9033C0B4-5182-4F9F-BA3E-7E5B792F8BE0}"/>
              </a:ext>
            </a:extLst>
          </p:cNvPr>
          <p:cNvSpPr txBox="1"/>
          <p:nvPr/>
        </p:nvSpPr>
        <p:spPr>
          <a:xfrm>
            <a:off x="295952" y="1988239"/>
            <a:ext cx="1228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 </a:t>
            </a:r>
            <a:r>
              <a:rPr lang="en-US" dirty="0">
                <a:sym typeface="Wingdings" panose="05000000000000000000" pitchFamily="2" charset="2"/>
              </a:rPr>
              <a:t> F</a:t>
            </a:r>
            <a:endParaRPr lang="en-US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B66CA0D5-3DB9-22D1-E7BF-52743154290A}"/>
              </a:ext>
            </a:extLst>
          </p:cNvPr>
          <p:cNvSpPr txBox="1"/>
          <p:nvPr/>
        </p:nvSpPr>
        <p:spPr>
          <a:xfrm>
            <a:off x="295952" y="2332647"/>
            <a:ext cx="1228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 </a:t>
            </a:r>
            <a:r>
              <a:rPr lang="en-US" dirty="0">
                <a:sym typeface="Wingdings" panose="05000000000000000000" pitchFamily="2" charset="2"/>
              </a:rPr>
              <a:t> ( E )</a:t>
            </a:r>
            <a:endParaRPr lang="en-US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CC1E5A29-27F9-660E-F988-33B3CD374B24}"/>
              </a:ext>
            </a:extLst>
          </p:cNvPr>
          <p:cNvSpPr txBox="1"/>
          <p:nvPr/>
        </p:nvSpPr>
        <p:spPr>
          <a:xfrm>
            <a:off x="295952" y="2681486"/>
            <a:ext cx="1228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 </a:t>
            </a:r>
            <a:r>
              <a:rPr lang="en-US" dirty="0">
                <a:sym typeface="Wingdings" panose="05000000000000000000" pitchFamily="2" charset="2"/>
              </a:rPr>
              <a:t> digit</a:t>
            </a:r>
            <a:endParaRPr lang="en-US" dirty="0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B002204E-5036-676E-8432-D0E25D12C466}"/>
              </a:ext>
            </a:extLst>
          </p:cNvPr>
          <p:cNvSpPr txBox="1"/>
          <p:nvPr/>
        </p:nvSpPr>
        <p:spPr>
          <a:xfrm>
            <a:off x="295952" y="1291974"/>
            <a:ext cx="1228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 </a:t>
            </a:r>
            <a:r>
              <a:rPr lang="en-US" dirty="0">
                <a:sym typeface="Wingdings" panose="05000000000000000000" pitchFamily="2" charset="2"/>
              </a:rPr>
              <a:t> T</a:t>
            </a:r>
            <a:endParaRPr lang="en-US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48990C20-425B-A2A7-ED25-B631FB969DCB}"/>
              </a:ext>
            </a:extLst>
          </p:cNvPr>
          <p:cNvSpPr txBox="1"/>
          <p:nvPr/>
        </p:nvSpPr>
        <p:spPr>
          <a:xfrm>
            <a:off x="295952" y="1640792"/>
            <a:ext cx="1228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 </a:t>
            </a:r>
            <a:r>
              <a:rPr lang="en-US" dirty="0">
                <a:sym typeface="Wingdings" panose="05000000000000000000" pitchFamily="2" charset="2"/>
              </a:rPr>
              <a:t> T * F</a:t>
            </a:r>
            <a:endParaRPr lang="en-US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CA87C1F6-DEF0-E4A4-16F9-E29EDD7472AE}"/>
              </a:ext>
            </a:extLst>
          </p:cNvPr>
          <p:cNvSpPr txBox="1"/>
          <p:nvPr/>
        </p:nvSpPr>
        <p:spPr>
          <a:xfrm>
            <a:off x="295952" y="593068"/>
            <a:ext cx="122804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Production</a:t>
            </a:r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C19270A4-0DF7-D16D-E89E-47BC6D70E0F5}"/>
              </a:ext>
            </a:extLst>
          </p:cNvPr>
          <p:cNvSpPr/>
          <p:nvPr/>
        </p:nvSpPr>
        <p:spPr>
          <a:xfrm>
            <a:off x="5545564" y="4572000"/>
            <a:ext cx="3810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D2A084BC-1780-1950-7FA5-1A7102AA42C0}"/>
              </a:ext>
            </a:extLst>
          </p:cNvPr>
          <p:cNvSpPr/>
          <p:nvPr/>
        </p:nvSpPr>
        <p:spPr>
          <a:xfrm>
            <a:off x="5127644" y="5246120"/>
            <a:ext cx="1216841" cy="48351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digit</a:t>
            </a:r>
          </a:p>
        </p:txBody>
      </p: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F0EF48EE-6430-7507-B8BD-0A3CD1EEDC9F}"/>
              </a:ext>
            </a:extLst>
          </p:cNvPr>
          <p:cNvCxnSpPr>
            <a:cxnSpLocks/>
            <a:stCxn id="63" idx="4"/>
            <a:endCxn id="133" idx="0"/>
          </p:cNvCxnSpPr>
          <p:nvPr/>
        </p:nvCxnSpPr>
        <p:spPr>
          <a:xfrm>
            <a:off x="5676900" y="4343296"/>
            <a:ext cx="59164" cy="2287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168D05B5-8B09-1B80-8003-FB16F99F1211}"/>
              </a:ext>
            </a:extLst>
          </p:cNvPr>
          <p:cNvCxnSpPr>
            <a:cxnSpLocks/>
            <a:stCxn id="133" idx="4"/>
            <a:endCxn id="134" idx="0"/>
          </p:cNvCxnSpPr>
          <p:nvPr/>
        </p:nvCxnSpPr>
        <p:spPr>
          <a:xfrm>
            <a:off x="5736064" y="4953000"/>
            <a:ext cx="1" cy="2931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Oval 145">
            <a:extLst>
              <a:ext uri="{FF2B5EF4-FFF2-40B4-BE49-F238E27FC236}">
                <a16:creationId xmlns:a16="http://schemas.microsoft.com/office/drawing/2014/main" id="{E984406F-43A8-344E-3269-58F1B13899DA}"/>
              </a:ext>
            </a:extLst>
          </p:cNvPr>
          <p:cNvSpPr/>
          <p:nvPr/>
        </p:nvSpPr>
        <p:spPr>
          <a:xfrm>
            <a:off x="6022159" y="2743410"/>
            <a:ext cx="1216841" cy="48351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digit</a:t>
            </a:r>
          </a:p>
        </p:txBody>
      </p: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176326ED-9633-B18E-E070-A78D51B88C11}"/>
              </a:ext>
            </a:extLst>
          </p:cNvPr>
          <p:cNvCxnSpPr>
            <a:cxnSpLocks/>
            <a:stCxn id="32" idx="4"/>
            <a:endCxn id="146" idx="0"/>
          </p:cNvCxnSpPr>
          <p:nvPr/>
        </p:nvCxnSpPr>
        <p:spPr>
          <a:xfrm>
            <a:off x="6608773" y="2514495"/>
            <a:ext cx="21807" cy="2289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Oval 149">
            <a:extLst>
              <a:ext uri="{FF2B5EF4-FFF2-40B4-BE49-F238E27FC236}">
                <a16:creationId xmlns:a16="http://schemas.microsoft.com/office/drawing/2014/main" id="{5A6E3242-DED6-BAC3-BFD7-B739BF86C915}"/>
              </a:ext>
            </a:extLst>
          </p:cNvPr>
          <p:cNvSpPr>
            <a:spLocks/>
          </p:cNvSpPr>
          <p:nvPr/>
        </p:nvSpPr>
        <p:spPr>
          <a:xfrm>
            <a:off x="7696200" y="1524000"/>
            <a:ext cx="3810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26201A1D-E4DE-C326-B5D6-EAB5C3697821}"/>
              </a:ext>
            </a:extLst>
          </p:cNvPr>
          <p:cNvSpPr>
            <a:spLocks/>
          </p:cNvSpPr>
          <p:nvPr/>
        </p:nvSpPr>
        <p:spPr>
          <a:xfrm>
            <a:off x="7375769" y="2133600"/>
            <a:ext cx="1006231" cy="48351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digit</a:t>
            </a:r>
          </a:p>
        </p:txBody>
      </p: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A91BBC00-0F2C-AC0B-E844-65B1B5B14184}"/>
              </a:ext>
            </a:extLst>
          </p:cNvPr>
          <p:cNvCxnSpPr>
            <a:cxnSpLocks/>
            <a:stCxn id="29" idx="4"/>
            <a:endCxn id="150" idx="0"/>
          </p:cNvCxnSpPr>
          <p:nvPr/>
        </p:nvCxnSpPr>
        <p:spPr>
          <a:xfrm>
            <a:off x="7886700" y="1219043"/>
            <a:ext cx="0" cy="304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16AF8843-8E97-E923-D70E-A4FDD418F054}"/>
              </a:ext>
            </a:extLst>
          </p:cNvPr>
          <p:cNvCxnSpPr>
            <a:cxnSpLocks/>
            <a:stCxn id="150" idx="4"/>
          </p:cNvCxnSpPr>
          <p:nvPr/>
        </p:nvCxnSpPr>
        <p:spPr>
          <a:xfrm flipH="1">
            <a:off x="7878884" y="1905000"/>
            <a:ext cx="7816" cy="22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7" name="TextBox 326">
            <a:extLst>
              <a:ext uri="{FF2B5EF4-FFF2-40B4-BE49-F238E27FC236}">
                <a16:creationId xmlns:a16="http://schemas.microsoft.com/office/drawing/2014/main" id="{866FE186-3053-B072-255F-473610BED774}"/>
              </a:ext>
            </a:extLst>
          </p:cNvPr>
          <p:cNvSpPr txBox="1"/>
          <p:nvPr/>
        </p:nvSpPr>
        <p:spPr>
          <a:xfrm>
            <a:off x="4852838" y="457200"/>
            <a:ext cx="1166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(2+3)*4</a:t>
            </a:r>
          </a:p>
        </p:txBody>
      </p:sp>
      <p:sp>
        <p:nvSpPr>
          <p:cNvPr id="328" name="TextBox 327">
            <a:extLst>
              <a:ext uri="{FF2B5EF4-FFF2-40B4-BE49-F238E27FC236}">
                <a16:creationId xmlns:a16="http://schemas.microsoft.com/office/drawing/2014/main" id="{72D18179-019B-9BE4-52DC-332DBDEA4107}"/>
              </a:ext>
            </a:extLst>
          </p:cNvPr>
          <p:cNvSpPr txBox="1"/>
          <p:nvPr/>
        </p:nvSpPr>
        <p:spPr>
          <a:xfrm>
            <a:off x="7239000" y="468868"/>
            <a:ext cx="761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329" name="TextBox 328">
            <a:extLst>
              <a:ext uri="{FF2B5EF4-FFF2-40B4-BE49-F238E27FC236}">
                <a16:creationId xmlns:a16="http://schemas.microsoft.com/office/drawing/2014/main" id="{3060BB9E-EBF0-153D-816A-FE5AAE9E2C9F}"/>
              </a:ext>
            </a:extLst>
          </p:cNvPr>
          <p:cNvSpPr txBox="1"/>
          <p:nvPr/>
        </p:nvSpPr>
        <p:spPr>
          <a:xfrm>
            <a:off x="4548038" y="1154668"/>
            <a:ext cx="1166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(2+3)*4</a:t>
            </a:r>
          </a:p>
        </p:txBody>
      </p:sp>
      <p:sp>
        <p:nvSpPr>
          <p:cNvPr id="330" name="TextBox 329">
            <a:extLst>
              <a:ext uri="{FF2B5EF4-FFF2-40B4-BE49-F238E27FC236}">
                <a16:creationId xmlns:a16="http://schemas.microsoft.com/office/drawing/2014/main" id="{1A0A7257-3DCA-F961-D19C-FB13B7DEBA5C}"/>
              </a:ext>
            </a:extLst>
          </p:cNvPr>
          <p:cNvSpPr txBox="1"/>
          <p:nvPr/>
        </p:nvSpPr>
        <p:spPr>
          <a:xfrm>
            <a:off x="4167038" y="1611868"/>
            <a:ext cx="1166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(2+3)</a:t>
            </a:r>
          </a:p>
        </p:txBody>
      </p:sp>
      <p:sp>
        <p:nvSpPr>
          <p:cNvPr id="331" name="TextBox 330">
            <a:extLst>
              <a:ext uri="{FF2B5EF4-FFF2-40B4-BE49-F238E27FC236}">
                <a16:creationId xmlns:a16="http://schemas.microsoft.com/office/drawing/2014/main" id="{653EC16A-63D8-8B71-2B79-43539AC54D54}"/>
              </a:ext>
            </a:extLst>
          </p:cNvPr>
          <p:cNvSpPr txBox="1"/>
          <p:nvPr/>
        </p:nvSpPr>
        <p:spPr>
          <a:xfrm>
            <a:off x="5943600" y="1676400"/>
            <a:ext cx="749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332" name="TextBox 331">
            <a:extLst>
              <a:ext uri="{FF2B5EF4-FFF2-40B4-BE49-F238E27FC236}">
                <a16:creationId xmlns:a16="http://schemas.microsoft.com/office/drawing/2014/main" id="{2AB96496-B246-B826-118E-56C39EE857FD}"/>
              </a:ext>
            </a:extLst>
          </p:cNvPr>
          <p:cNvSpPr txBox="1"/>
          <p:nvPr/>
        </p:nvSpPr>
        <p:spPr>
          <a:xfrm>
            <a:off x="7696204" y="1143000"/>
            <a:ext cx="761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333" name="TextBox 332">
            <a:extLst>
              <a:ext uri="{FF2B5EF4-FFF2-40B4-BE49-F238E27FC236}">
                <a16:creationId xmlns:a16="http://schemas.microsoft.com/office/drawing/2014/main" id="{BF4C15F4-EEC8-7B4F-0151-84D1E8901B49}"/>
              </a:ext>
            </a:extLst>
          </p:cNvPr>
          <p:cNvSpPr txBox="1"/>
          <p:nvPr/>
        </p:nvSpPr>
        <p:spPr>
          <a:xfrm>
            <a:off x="7772404" y="1840468"/>
            <a:ext cx="761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334" name="TextBox 333">
            <a:extLst>
              <a:ext uri="{FF2B5EF4-FFF2-40B4-BE49-F238E27FC236}">
                <a16:creationId xmlns:a16="http://schemas.microsoft.com/office/drawing/2014/main" id="{6EEC69FC-C6C9-0E29-74B7-287E346B7FDD}"/>
              </a:ext>
            </a:extLst>
          </p:cNvPr>
          <p:cNvSpPr txBox="1"/>
          <p:nvPr/>
        </p:nvSpPr>
        <p:spPr>
          <a:xfrm>
            <a:off x="3633638" y="2450068"/>
            <a:ext cx="1166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(2+3)</a:t>
            </a:r>
          </a:p>
        </p:txBody>
      </p:sp>
      <p:sp>
        <p:nvSpPr>
          <p:cNvPr id="335" name="TextBox 334">
            <a:extLst>
              <a:ext uri="{FF2B5EF4-FFF2-40B4-BE49-F238E27FC236}">
                <a16:creationId xmlns:a16="http://schemas.microsoft.com/office/drawing/2014/main" id="{31E44FB8-45A0-9F2B-4728-1D2D895E448C}"/>
              </a:ext>
            </a:extLst>
          </p:cNvPr>
          <p:cNvSpPr txBox="1"/>
          <p:nvPr/>
        </p:nvSpPr>
        <p:spPr>
          <a:xfrm>
            <a:off x="3733800" y="3135868"/>
            <a:ext cx="1166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2+3</a:t>
            </a:r>
          </a:p>
        </p:txBody>
      </p:sp>
      <p:sp>
        <p:nvSpPr>
          <p:cNvPr id="336" name="TextBox 335">
            <a:extLst>
              <a:ext uri="{FF2B5EF4-FFF2-40B4-BE49-F238E27FC236}">
                <a16:creationId xmlns:a16="http://schemas.microsoft.com/office/drawing/2014/main" id="{0E83838D-B1F4-19A6-2C32-B35FB44E2E8F}"/>
              </a:ext>
            </a:extLst>
          </p:cNvPr>
          <p:cNvSpPr txBox="1"/>
          <p:nvPr/>
        </p:nvSpPr>
        <p:spPr>
          <a:xfrm>
            <a:off x="3481238" y="3429000"/>
            <a:ext cx="1166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337" name="TextBox 336">
            <a:extLst>
              <a:ext uri="{FF2B5EF4-FFF2-40B4-BE49-F238E27FC236}">
                <a16:creationId xmlns:a16="http://schemas.microsoft.com/office/drawing/2014/main" id="{E5A64432-821A-CD06-32C8-01EF9408B9FF}"/>
              </a:ext>
            </a:extLst>
          </p:cNvPr>
          <p:cNvSpPr txBox="1"/>
          <p:nvPr/>
        </p:nvSpPr>
        <p:spPr>
          <a:xfrm>
            <a:off x="4624238" y="3516868"/>
            <a:ext cx="1166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338" name="TextBox 337">
            <a:extLst>
              <a:ext uri="{FF2B5EF4-FFF2-40B4-BE49-F238E27FC236}">
                <a16:creationId xmlns:a16="http://schemas.microsoft.com/office/drawing/2014/main" id="{50295536-1912-3F5A-99E2-76C69FABFE49}"/>
              </a:ext>
            </a:extLst>
          </p:cNvPr>
          <p:cNvSpPr txBox="1"/>
          <p:nvPr/>
        </p:nvSpPr>
        <p:spPr>
          <a:xfrm>
            <a:off x="2743201" y="4278868"/>
            <a:ext cx="1166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339" name="TextBox 338">
            <a:extLst>
              <a:ext uri="{FF2B5EF4-FFF2-40B4-BE49-F238E27FC236}">
                <a16:creationId xmlns:a16="http://schemas.microsoft.com/office/drawing/2014/main" id="{359A46F1-85E7-94C1-F336-91B0CBACBD3E}"/>
              </a:ext>
            </a:extLst>
          </p:cNvPr>
          <p:cNvSpPr txBox="1"/>
          <p:nvPr/>
        </p:nvSpPr>
        <p:spPr>
          <a:xfrm>
            <a:off x="2719238" y="4888468"/>
            <a:ext cx="1166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340" name="TextBox 339">
            <a:extLst>
              <a:ext uri="{FF2B5EF4-FFF2-40B4-BE49-F238E27FC236}">
                <a16:creationId xmlns:a16="http://schemas.microsoft.com/office/drawing/2014/main" id="{D5B00C5E-CB2F-F577-AD95-2BC68C326416}"/>
              </a:ext>
            </a:extLst>
          </p:cNvPr>
          <p:cNvSpPr txBox="1"/>
          <p:nvPr/>
        </p:nvSpPr>
        <p:spPr>
          <a:xfrm>
            <a:off x="2719238" y="5574373"/>
            <a:ext cx="1166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341" name="TextBox 340">
            <a:extLst>
              <a:ext uri="{FF2B5EF4-FFF2-40B4-BE49-F238E27FC236}">
                <a16:creationId xmlns:a16="http://schemas.microsoft.com/office/drawing/2014/main" id="{0EB883E7-A183-BC9F-A2EA-1F37A0C59E1A}"/>
              </a:ext>
            </a:extLst>
          </p:cNvPr>
          <p:cNvSpPr txBox="1"/>
          <p:nvPr/>
        </p:nvSpPr>
        <p:spPr>
          <a:xfrm>
            <a:off x="5334000" y="4278868"/>
            <a:ext cx="1166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342" name="TextBox 341">
            <a:extLst>
              <a:ext uri="{FF2B5EF4-FFF2-40B4-BE49-F238E27FC236}">
                <a16:creationId xmlns:a16="http://schemas.microsoft.com/office/drawing/2014/main" id="{A41B3D9E-AF16-9AC4-DE11-685B117A8E2A}"/>
              </a:ext>
            </a:extLst>
          </p:cNvPr>
          <p:cNvSpPr txBox="1"/>
          <p:nvPr/>
        </p:nvSpPr>
        <p:spPr>
          <a:xfrm>
            <a:off x="5334000" y="4800600"/>
            <a:ext cx="1166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343" name="TextBox 342">
            <a:extLst>
              <a:ext uri="{FF2B5EF4-FFF2-40B4-BE49-F238E27FC236}">
                <a16:creationId xmlns:a16="http://schemas.microsoft.com/office/drawing/2014/main" id="{487E46C7-642C-3DF7-6409-A879F5C46FEA}"/>
              </a:ext>
            </a:extLst>
          </p:cNvPr>
          <p:cNvSpPr txBox="1"/>
          <p:nvPr/>
        </p:nvSpPr>
        <p:spPr>
          <a:xfrm>
            <a:off x="6413375" y="2450068"/>
            <a:ext cx="749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344" name="TextBox 343">
            <a:extLst>
              <a:ext uri="{FF2B5EF4-FFF2-40B4-BE49-F238E27FC236}">
                <a16:creationId xmlns:a16="http://schemas.microsoft.com/office/drawing/2014/main" id="{47FD3720-4B70-7E07-36A3-688DD7B0074F}"/>
              </a:ext>
            </a:extLst>
          </p:cNvPr>
          <p:cNvSpPr txBox="1"/>
          <p:nvPr/>
        </p:nvSpPr>
        <p:spPr>
          <a:xfrm>
            <a:off x="228600" y="71735"/>
            <a:ext cx="3390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Evaluate: (2+3)*4+7</a:t>
            </a:r>
          </a:p>
        </p:txBody>
      </p:sp>
      <p:sp>
        <p:nvSpPr>
          <p:cNvPr id="345" name="TextBox 344">
            <a:extLst>
              <a:ext uri="{FF2B5EF4-FFF2-40B4-BE49-F238E27FC236}">
                <a16:creationId xmlns:a16="http://schemas.microsoft.com/office/drawing/2014/main" id="{1BCD9F4C-1922-46B2-4507-6A4DCE6FC134}"/>
              </a:ext>
            </a:extLst>
          </p:cNvPr>
          <p:cNvSpPr txBox="1"/>
          <p:nvPr/>
        </p:nvSpPr>
        <p:spPr>
          <a:xfrm>
            <a:off x="6400800" y="5786735"/>
            <a:ext cx="2286000" cy="461665"/>
          </a:xfrm>
          <a:prstGeom prst="rect">
            <a:avLst/>
          </a:prstGeom>
          <a:noFill/>
          <a:ln>
            <a:solidFill>
              <a:srgbClr val="FF0000"/>
            </a:solidFill>
            <a:prstDash val="dashDot"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70C0"/>
                </a:solidFill>
              </a:rPr>
              <a:t>Parse Tree</a:t>
            </a:r>
          </a:p>
        </p:txBody>
      </p:sp>
    </p:spTree>
    <p:extLst>
      <p:ext uri="{BB962C8B-B14F-4D97-AF65-F5344CB8AC3E}">
        <p14:creationId xmlns:p14="http://schemas.microsoft.com/office/powerpoint/2010/main" val="2448330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3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3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3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3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3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3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10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3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3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10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6" dur="1000" fill="hold"/>
                                        <p:tgtEl>
                                          <p:spTgt spid="3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3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8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10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3" dur="1000" fill="hold"/>
                                        <p:tgtEl>
                                          <p:spTgt spid="3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1000" fill="hold"/>
                                        <p:tgtEl>
                                          <p:spTgt spid="3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10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8" dur="1000" fill="hold"/>
                                        <p:tgtEl>
                                          <p:spTgt spid="3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1000" fill="hold"/>
                                        <p:tgtEl>
                                          <p:spTgt spid="3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5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6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0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10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5" dur="1000" fill="hold"/>
                                        <p:tgtEl>
                                          <p:spTgt spid="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6" dur="1000" fill="hold"/>
                                        <p:tgtEl>
                                          <p:spTgt spid="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2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3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7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8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10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2" dur="1000" fill="hold"/>
                                        <p:tgtEl>
                                          <p:spTgt spid="3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3" dur="1000" fill="hold"/>
                                        <p:tgtEl>
                                          <p:spTgt spid="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9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0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4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10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9" dur="1000" fill="hold"/>
                                        <p:tgtEl>
                                          <p:spTgt spid="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1000" fill="hold"/>
                                        <p:tgtEl>
                                          <p:spTgt spid="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6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7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1" dur="1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2" dur="1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5" dur="10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6" dur="1000" fill="hold"/>
                                        <p:tgtEl>
                                          <p:spTgt spid="3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7" dur="1000" fill="hold"/>
                                        <p:tgtEl>
                                          <p:spTgt spid="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indefinite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3" dur="1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4" dur="1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8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9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10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3" dur="1000" fill="hold"/>
                                        <p:tgtEl>
                                          <p:spTgt spid="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4" dur="1000" fill="hold"/>
                                        <p:tgtEl>
                                          <p:spTgt spid="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9"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0" dur="10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1" dur="10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4"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5" dur="10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6" dur="10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9" dur="10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0" dur="1000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1" dur="1000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" fill="hold">
                      <p:stCondLst>
                        <p:cond delay="indefinite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id="3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6"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7" dur="10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8" dur="10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1"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2" dur="10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3" dur="10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6" dur="10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7" dur="1000" fill="hold"/>
                                        <p:tgtEl>
                                          <p:spTgt spid="3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8" dur="1000" fill="hold"/>
                                        <p:tgtEl>
                                          <p:spTgt spid="3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9" fill="hold">
                      <p:stCondLst>
                        <p:cond delay="indefinite"/>
                      </p:stCondLst>
                      <p:childTnLst>
                        <p:par>
                          <p:cTn id="330" fill="hold">
                            <p:stCondLst>
                              <p:cond delay="0"/>
                            </p:stCondLst>
                            <p:childTnLst>
                              <p:par>
                                <p:cTn id="3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3"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4" dur="10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5" dur="10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8" dur="1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9" dur="10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0" dur="10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3" dur="10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4" dur="1000" fill="hold"/>
                                        <p:tgtEl>
                                          <p:spTgt spid="3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5" dur="1000" fill="hold"/>
                                        <p:tgtEl>
                                          <p:spTgt spid="3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6" fill="hold">
                      <p:stCondLst>
                        <p:cond delay="indefinite"/>
                      </p:stCondLst>
                      <p:childTnLst>
                        <p:par>
                          <p:cTn id="347" fill="hold">
                            <p:stCondLst>
                              <p:cond delay="0"/>
                            </p:stCondLst>
                            <p:childTnLst>
                              <p:par>
                                <p:cTn id="3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0" dur="10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1" dur="1000" fill="hold"/>
                                        <p:tgtEl>
                                          <p:spTgt spid="3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2" dur="1000" fill="hold"/>
                                        <p:tgtEl>
                                          <p:spTgt spid="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48" grpId="0"/>
      <p:bldP spid="71" grpId="0"/>
      <p:bldP spid="100" grpId="0"/>
      <p:bldP spid="101" grpId="0"/>
      <p:bldP spid="102" grpId="0"/>
      <p:bldP spid="121" grpId="0"/>
      <p:bldP spid="123" grpId="0"/>
      <p:bldP spid="124" grpId="0"/>
      <p:bldP spid="125" grpId="0"/>
      <p:bldP spid="126" grpId="0"/>
      <p:bldP spid="127" grpId="0"/>
      <p:bldP spid="128" grpId="0" animBg="1"/>
      <p:bldP spid="133" grpId="0"/>
      <p:bldP spid="134" grpId="0"/>
      <p:bldP spid="146" grpId="0"/>
      <p:bldP spid="150" grpId="0"/>
      <p:bldP spid="151" grpId="0"/>
      <p:bldP spid="327" grpId="0"/>
      <p:bldP spid="328" grpId="0"/>
      <p:bldP spid="329" grpId="0"/>
      <p:bldP spid="330" grpId="0"/>
      <p:bldP spid="331" grpId="0"/>
      <p:bldP spid="332" grpId="0"/>
      <p:bldP spid="333" grpId="0"/>
      <p:bldP spid="334" grpId="0"/>
      <p:bldP spid="335" grpId="0"/>
      <p:bldP spid="336" grpId="0"/>
      <p:bldP spid="337" grpId="0"/>
      <p:bldP spid="338" grpId="0"/>
      <p:bldP spid="339" grpId="0"/>
      <p:bldP spid="340" grpId="0"/>
      <p:bldP spid="341" grpId="0"/>
      <p:bldP spid="342" grpId="0"/>
      <p:bldP spid="343" grpId="0"/>
      <p:bldP spid="34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roup 85">
            <a:extLst>
              <a:ext uri="{FF2B5EF4-FFF2-40B4-BE49-F238E27FC236}">
                <a16:creationId xmlns:a16="http://schemas.microsoft.com/office/drawing/2014/main" id="{B4E96384-5DF0-437F-8BE3-EB5B9DDD43FD}"/>
              </a:ext>
            </a:extLst>
          </p:cNvPr>
          <p:cNvGrpSpPr/>
          <p:nvPr/>
        </p:nvGrpSpPr>
        <p:grpSpPr>
          <a:xfrm>
            <a:off x="5407841" y="838043"/>
            <a:ext cx="2669359" cy="381000"/>
            <a:chOff x="5334000" y="1981200"/>
            <a:chExt cx="2669359" cy="38100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9BC03A32-FE1C-4604-B607-9EE12E427B16}"/>
                </a:ext>
              </a:extLst>
            </p:cNvPr>
            <p:cNvSpPr/>
            <p:nvPr/>
          </p:nvSpPr>
          <p:spPr>
            <a:xfrm>
              <a:off x="5334000" y="1981200"/>
              <a:ext cx="381000" cy="38100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3F6233CD-8323-425C-0682-112BDE5CC73A}"/>
                </a:ext>
              </a:extLst>
            </p:cNvPr>
            <p:cNvSpPr/>
            <p:nvPr/>
          </p:nvSpPr>
          <p:spPr>
            <a:xfrm>
              <a:off x="6479359" y="1981200"/>
              <a:ext cx="381000" cy="38100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+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FCDC052-2E24-0CD7-4169-79A3F6AF4152}"/>
                </a:ext>
              </a:extLst>
            </p:cNvPr>
            <p:cNvSpPr/>
            <p:nvPr/>
          </p:nvSpPr>
          <p:spPr>
            <a:xfrm>
              <a:off x="7622359" y="1981200"/>
              <a:ext cx="381000" cy="38100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T</a:t>
              </a: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80177CE1-84DC-FA7F-3F2B-9465DE5516E6}"/>
              </a:ext>
            </a:extLst>
          </p:cNvPr>
          <p:cNvGrpSpPr/>
          <p:nvPr/>
        </p:nvGrpSpPr>
        <p:grpSpPr>
          <a:xfrm>
            <a:off x="4419377" y="2133495"/>
            <a:ext cx="2379896" cy="381000"/>
            <a:chOff x="4419600" y="3886200"/>
            <a:chExt cx="2379896" cy="381000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EEE70982-B9D5-7956-9E18-12A186F380B7}"/>
                </a:ext>
              </a:extLst>
            </p:cNvPr>
            <p:cNvSpPr/>
            <p:nvPr/>
          </p:nvSpPr>
          <p:spPr>
            <a:xfrm>
              <a:off x="4419600" y="3886200"/>
              <a:ext cx="381000" cy="38100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T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A2B23F0C-6318-CE44-A1A9-6BBD744A82DA}"/>
                </a:ext>
              </a:extLst>
            </p:cNvPr>
            <p:cNvSpPr/>
            <p:nvPr/>
          </p:nvSpPr>
          <p:spPr>
            <a:xfrm>
              <a:off x="5334223" y="3886200"/>
              <a:ext cx="381000" cy="38100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DADEA01-0F25-9736-08DA-1AAA8E2555C2}"/>
                </a:ext>
              </a:extLst>
            </p:cNvPr>
            <p:cNvSpPr/>
            <p:nvPr/>
          </p:nvSpPr>
          <p:spPr>
            <a:xfrm>
              <a:off x="6418496" y="3886200"/>
              <a:ext cx="381000" cy="38100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F</a:t>
              </a:r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390180B9-2F7C-AED1-D3DD-1E784D370600}"/>
              </a:ext>
            </a:extLst>
          </p:cNvPr>
          <p:cNvSpPr/>
          <p:nvPr/>
        </p:nvSpPr>
        <p:spPr>
          <a:xfrm>
            <a:off x="6553200" y="169837"/>
            <a:ext cx="3810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414A0CF-1ADB-D282-9771-A49671582BE5}"/>
              </a:ext>
            </a:extLst>
          </p:cNvPr>
          <p:cNvCxnSpPr>
            <a:cxnSpLocks/>
          </p:cNvCxnSpPr>
          <p:nvPr/>
        </p:nvCxnSpPr>
        <p:spPr>
          <a:xfrm flipH="1">
            <a:off x="5727155" y="495040"/>
            <a:ext cx="875951" cy="3989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837ABA7-432F-64AD-708C-63D36CFE5D04}"/>
              </a:ext>
            </a:extLst>
          </p:cNvPr>
          <p:cNvCxnSpPr>
            <a:cxnSpLocks/>
          </p:cNvCxnSpPr>
          <p:nvPr/>
        </p:nvCxnSpPr>
        <p:spPr>
          <a:xfrm flipV="1">
            <a:off x="6738033" y="550836"/>
            <a:ext cx="0" cy="2873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E8080B0-A873-912D-7491-37A8D516EBA3}"/>
              </a:ext>
            </a:extLst>
          </p:cNvPr>
          <p:cNvCxnSpPr>
            <a:cxnSpLocks/>
          </p:cNvCxnSpPr>
          <p:nvPr/>
        </p:nvCxnSpPr>
        <p:spPr>
          <a:xfrm>
            <a:off x="6872737" y="495041"/>
            <a:ext cx="873592" cy="3989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CF6B393B-AF55-DC55-1832-97468AB8EA37}"/>
              </a:ext>
            </a:extLst>
          </p:cNvPr>
          <p:cNvSpPr/>
          <p:nvPr/>
        </p:nvSpPr>
        <p:spPr>
          <a:xfrm>
            <a:off x="5399440" y="1524000"/>
            <a:ext cx="3810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472BE87E-D969-8367-6FFF-0FC07A9A735D}"/>
              </a:ext>
            </a:extLst>
          </p:cNvPr>
          <p:cNvCxnSpPr>
            <a:cxnSpLocks/>
            <a:stCxn id="27" idx="4"/>
            <a:endCxn id="48" idx="0"/>
          </p:cNvCxnSpPr>
          <p:nvPr/>
        </p:nvCxnSpPr>
        <p:spPr>
          <a:xfrm flipH="1">
            <a:off x="5589940" y="1219043"/>
            <a:ext cx="8401" cy="304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583B936-B2A6-DDD6-5F19-20FD662FB023}"/>
              </a:ext>
            </a:extLst>
          </p:cNvPr>
          <p:cNvCxnSpPr>
            <a:cxnSpLocks/>
            <a:stCxn id="48" idx="3"/>
            <a:endCxn id="30" idx="0"/>
          </p:cNvCxnSpPr>
          <p:nvPr/>
        </p:nvCxnSpPr>
        <p:spPr>
          <a:xfrm flipH="1">
            <a:off x="4609877" y="1849204"/>
            <a:ext cx="845359" cy="2842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0AFB704-FC87-5CCB-757D-47B58100B9E1}"/>
              </a:ext>
            </a:extLst>
          </p:cNvPr>
          <p:cNvCxnSpPr>
            <a:cxnSpLocks/>
            <a:stCxn id="31" idx="0"/>
            <a:endCxn id="48" idx="4"/>
          </p:cNvCxnSpPr>
          <p:nvPr/>
        </p:nvCxnSpPr>
        <p:spPr>
          <a:xfrm flipV="1">
            <a:off x="5524500" y="1905000"/>
            <a:ext cx="65440" cy="2284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ADB7A9A1-5175-65C2-0B6C-392FF1013F25}"/>
              </a:ext>
            </a:extLst>
          </p:cNvPr>
          <p:cNvCxnSpPr>
            <a:cxnSpLocks/>
            <a:stCxn id="32" idx="1"/>
            <a:endCxn id="48" idx="5"/>
          </p:cNvCxnSpPr>
          <p:nvPr/>
        </p:nvCxnSpPr>
        <p:spPr>
          <a:xfrm flipH="1" flipV="1">
            <a:off x="5724644" y="1849204"/>
            <a:ext cx="749425" cy="3400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9" name="Group 88">
            <a:extLst>
              <a:ext uri="{FF2B5EF4-FFF2-40B4-BE49-F238E27FC236}">
                <a16:creationId xmlns:a16="http://schemas.microsoft.com/office/drawing/2014/main" id="{170C064E-5BE1-385B-151A-8CD479D9A15C}"/>
              </a:ext>
            </a:extLst>
          </p:cNvPr>
          <p:cNvGrpSpPr/>
          <p:nvPr/>
        </p:nvGrpSpPr>
        <p:grpSpPr>
          <a:xfrm>
            <a:off x="3390900" y="3962296"/>
            <a:ext cx="2379896" cy="381000"/>
            <a:chOff x="304800" y="5638800"/>
            <a:chExt cx="2379896" cy="381000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C48DBF65-F1A4-CB3A-2D94-00520D5E0A8F}"/>
                </a:ext>
              </a:extLst>
            </p:cNvPr>
            <p:cNvSpPr/>
            <p:nvPr/>
          </p:nvSpPr>
          <p:spPr>
            <a:xfrm>
              <a:off x="304800" y="5638800"/>
              <a:ext cx="381000" cy="38100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854ED834-D0DF-1F68-FE40-124F7B0F06DD}"/>
                </a:ext>
              </a:extLst>
            </p:cNvPr>
            <p:cNvSpPr/>
            <p:nvPr/>
          </p:nvSpPr>
          <p:spPr>
            <a:xfrm>
              <a:off x="1304248" y="5638800"/>
              <a:ext cx="381000" cy="38100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+</a:t>
              </a: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E9FFDB92-6DA9-3D92-16BE-9D0A4BB734B1}"/>
                </a:ext>
              </a:extLst>
            </p:cNvPr>
            <p:cNvSpPr/>
            <p:nvPr/>
          </p:nvSpPr>
          <p:spPr>
            <a:xfrm>
              <a:off x="2303696" y="5638800"/>
              <a:ext cx="381000" cy="38100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T</a:t>
              </a:r>
            </a:p>
          </p:txBody>
        </p:sp>
      </p:grp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B252B008-800F-EA55-E675-990131CDE6B9}"/>
              </a:ext>
            </a:extLst>
          </p:cNvPr>
          <p:cNvCxnSpPr>
            <a:cxnSpLocks/>
            <a:endCxn id="61" idx="0"/>
          </p:cNvCxnSpPr>
          <p:nvPr/>
        </p:nvCxnSpPr>
        <p:spPr>
          <a:xfrm flipH="1">
            <a:off x="3581400" y="3677900"/>
            <a:ext cx="864744" cy="2843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CB3099AC-48E0-3C11-709D-125E76700AE5}"/>
              </a:ext>
            </a:extLst>
          </p:cNvPr>
          <p:cNvCxnSpPr>
            <a:cxnSpLocks/>
            <a:stCxn id="62" idx="0"/>
            <a:endCxn id="64" idx="4"/>
          </p:cNvCxnSpPr>
          <p:nvPr/>
        </p:nvCxnSpPr>
        <p:spPr>
          <a:xfrm flipV="1">
            <a:off x="4580848" y="3733800"/>
            <a:ext cx="0" cy="2284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B643995D-E1DC-43E2-6508-B2BFCE172CE0}"/>
              </a:ext>
            </a:extLst>
          </p:cNvPr>
          <p:cNvCxnSpPr>
            <a:cxnSpLocks/>
            <a:stCxn id="63" idx="1"/>
          </p:cNvCxnSpPr>
          <p:nvPr/>
        </p:nvCxnSpPr>
        <p:spPr>
          <a:xfrm flipH="1" flipV="1">
            <a:off x="4715552" y="3677900"/>
            <a:ext cx="730040" cy="3401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Group 87">
            <a:extLst>
              <a:ext uri="{FF2B5EF4-FFF2-40B4-BE49-F238E27FC236}">
                <a16:creationId xmlns:a16="http://schemas.microsoft.com/office/drawing/2014/main" id="{EB08406A-6D27-0E5A-891B-0F7687B2C242}"/>
              </a:ext>
            </a:extLst>
          </p:cNvPr>
          <p:cNvGrpSpPr/>
          <p:nvPr/>
        </p:nvGrpSpPr>
        <p:grpSpPr>
          <a:xfrm>
            <a:off x="3390900" y="3352800"/>
            <a:ext cx="2379896" cy="381000"/>
            <a:chOff x="228600" y="3924300"/>
            <a:chExt cx="2379896" cy="381000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09A5ED45-5059-F28F-A82F-6500215E6B1B}"/>
                </a:ext>
              </a:extLst>
            </p:cNvPr>
            <p:cNvSpPr/>
            <p:nvPr/>
          </p:nvSpPr>
          <p:spPr>
            <a:xfrm>
              <a:off x="1228048" y="3924300"/>
              <a:ext cx="381000" cy="38100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A68EB76E-DBEC-59DF-192C-6664D6E890D4}"/>
                </a:ext>
              </a:extLst>
            </p:cNvPr>
            <p:cNvSpPr/>
            <p:nvPr/>
          </p:nvSpPr>
          <p:spPr>
            <a:xfrm>
              <a:off x="228600" y="3924300"/>
              <a:ext cx="381000" cy="38100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(</a:t>
              </a: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BC55F407-29EE-26A7-743F-427D21FCBC53}"/>
                </a:ext>
              </a:extLst>
            </p:cNvPr>
            <p:cNvSpPr/>
            <p:nvPr/>
          </p:nvSpPr>
          <p:spPr>
            <a:xfrm>
              <a:off x="2227496" y="3924300"/>
              <a:ext cx="381000" cy="38100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)</a:t>
              </a:r>
            </a:p>
          </p:txBody>
        </p:sp>
      </p:grpSp>
      <p:sp>
        <p:nvSpPr>
          <p:cNvPr id="71" name="Oval 70">
            <a:extLst>
              <a:ext uri="{FF2B5EF4-FFF2-40B4-BE49-F238E27FC236}">
                <a16:creationId xmlns:a16="http://schemas.microsoft.com/office/drawing/2014/main" id="{F50146AD-91FC-D867-9500-9F9E83CEA3A3}"/>
              </a:ext>
            </a:extLst>
          </p:cNvPr>
          <p:cNvSpPr/>
          <p:nvPr/>
        </p:nvSpPr>
        <p:spPr>
          <a:xfrm>
            <a:off x="4390348" y="2743410"/>
            <a:ext cx="3810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FAC5DB5F-D1EC-DD4D-153E-C0B11CC83571}"/>
              </a:ext>
            </a:extLst>
          </p:cNvPr>
          <p:cNvCxnSpPr>
            <a:cxnSpLocks/>
          </p:cNvCxnSpPr>
          <p:nvPr/>
        </p:nvCxnSpPr>
        <p:spPr>
          <a:xfrm flipH="1">
            <a:off x="3581400" y="3068562"/>
            <a:ext cx="864744" cy="2841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8DE22B43-A903-E808-FB7F-993D3D3D7697}"/>
              </a:ext>
            </a:extLst>
          </p:cNvPr>
          <p:cNvCxnSpPr>
            <a:cxnSpLocks/>
            <a:stCxn id="64" idx="0"/>
            <a:endCxn id="71" idx="4"/>
          </p:cNvCxnSpPr>
          <p:nvPr/>
        </p:nvCxnSpPr>
        <p:spPr>
          <a:xfrm flipV="1">
            <a:off x="4580848" y="3124410"/>
            <a:ext cx="0" cy="2283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752FFE04-2877-5087-E6CB-2819D1ECD3C8}"/>
              </a:ext>
            </a:extLst>
          </p:cNvPr>
          <p:cNvCxnSpPr>
            <a:cxnSpLocks/>
            <a:stCxn id="70" idx="1"/>
            <a:endCxn id="71" idx="5"/>
          </p:cNvCxnSpPr>
          <p:nvPr/>
        </p:nvCxnSpPr>
        <p:spPr>
          <a:xfrm flipH="1" flipV="1">
            <a:off x="4715552" y="3068614"/>
            <a:ext cx="730040" cy="3399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E69E3E08-933F-C52C-F88A-F6D41F4168CB}"/>
              </a:ext>
            </a:extLst>
          </p:cNvPr>
          <p:cNvCxnSpPr>
            <a:cxnSpLocks/>
            <a:stCxn id="30" idx="4"/>
            <a:endCxn id="71" idx="0"/>
          </p:cNvCxnSpPr>
          <p:nvPr/>
        </p:nvCxnSpPr>
        <p:spPr>
          <a:xfrm flipH="1">
            <a:off x="4580848" y="2514495"/>
            <a:ext cx="29029" cy="2289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Oval 99">
            <a:extLst>
              <a:ext uri="{FF2B5EF4-FFF2-40B4-BE49-F238E27FC236}">
                <a16:creationId xmlns:a16="http://schemas.microsoft.com/office/drawing/2014/main" id="{7AB2DD55-DB39-ECCC-E73A-C5167E3B2516}"/>
              </a:ext>
            </a:extLst>
          </p:cNvPr>
          <p:cNvSpPr/>
          <p:nvPr/>
        </p:nvSpPr>
        <p:spPr>
          <a:xfrm>
            <a:off x="3390900" y="4572000"/>
            <a:ext cx="3810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</a:t>
            </a: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A947543D-BD38-7542-9D92-45849CC821FB}"/>
              </a:ext>
            </a:extLst>
          </p:cNvPr>
          <p:cNvSpPr/>
          <p:nvPr/>
        </p:nvSpPr>
        <p:spPr>
          <a:xfrm>
            <a:off x="3456674" y="5231485"/>
            <a:ext cx="3810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F6004308-6EEF-C0FE-5AFA-6B44C466C560}"/>
              </a:ext>
            </a:extLst>
          </p:cNvPr>
          <p:cNvSpPr/>
          <p:nvPr/>
        </p:nvSpPr>
        <p:spPr>
          <a:xfrm>
            <a:off x="3130500" y="5943705"/>
            <a:ext cx="1033348" cy="48351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digit</a:t>
            </a:r>
          </a:p>
        </p:txBody>
      </p: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541D80AF-A585-1841-0E4C-C31C9C43A605}"/>
              </a:ext>
            </a:extLst>
          </p:cNvPr>
          <p:cNvCxnSpPr>
            <a:cxnSpLocks/>
            <a:stCxn id="61" idx="4"/>
            <a:endCxn id="100" idx="0"/>
          </p:cNvCxnSpPr>
          <p:nvPr/>
        </p:nvCxnSpPr>
        <p:spPr>
          <a:xfrm>
            <a:off x="3581400" y="4343296"/>
            <a:ext cx="0" cy="2287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C0EFE0E9-C6D6-5995-3957-7A782B257C0D}"/>
              </a:ext>
            </a:extLst>
          </p:cNvPr>
          <p:cNvCxnSpPr>
            <a:cxnSpLocks/>
            <a:stCxn id="100" idx="4"/>
          </p:cNvCxnSpPr>
          <p:nvPr/>
        </p:nvCxnSpPr>
        <p:spPr>
          <a:xfrm>
            <a:off x="3581400" y="4953000"/>
            <a:ext cx="3976" cy="2784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264BCD36-6FB4-9F84-58D9-E2EE8B11D4AF}"/>
              </a:ext>
            </a:extLst>
          </p:cNvPr>
          <p:cNvCxnSpPr>
            <a:cxnSpLocks/>
            <a:stCxn id="102" idx="0"/>
            <a:endCxn id="101" idx="4"/>
          </p:cNvCxnSpPr>
          <p:nvPr/>
        </p:nvCxnSpPr>
        <p:spPr>
          <a:xfrm flipV="1">
            <a:off x="3647174" y="5612485"/>
            <a:ext cx="0" cy="3312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3F6C4457-3766-ADB8-E035-300483DE28F0}"/>
              </a:ext>
            </a:extLst>
          </p:cNvPr>
          <p:cNvSpPr txBox="1"/>
          <p:nvPr/>
        </p:nvSpPr>
        <p:spPr>
          <a:xfrm>
            <a:off x="1857824" y="6054259"/>
            <a:ext cx="1532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digit.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lexval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=2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EAE6C5AD-5ADC-3B7A-F988-5EF597E7A3C0}"/>
              </a:ext>
            </a:extLst>
          </p:cNvPr>
          <p:cNvSpPr txBox="1"/>
          <p:nvPr/>
        </p:nvSpPr>
        <p:spPr>
          <a:xfrm>
            <a:off x="143552" y="937292"/>
            <a:ext cx="1228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 </a:t>
            </a:r>
            <a:r>
              <a:rPr lang="en-US" dirty="0">
                <a:sym typeface="Wingdings" panose="05000000000000000000" pitchFamily="2" charset="2"/>
              </a:rPr>
              <a:t> E + T</a:t>
            </a:r>
            <a:endParaRPr lang="en-US" dirty="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9033C0B4-5182-4F9F-BA3E-7E5B792F8BE0}"/>
              </a:ext>
            </a:extLst>
          </p:cNvPr>
          <p:cNvSpPr txBox="1"/>
          <p:nvPr/>
        </p:nvSpPr>
        <p:spPr>
          <a:xfrm>
            <a:off x="143552" y="1980474"/>
            <a:ext cx="1228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 </a:t>
            </a:r>
            <a:r>
              <a:rPr lang="en-US" dirty="0">
                <a:sym typeface="Wingdings" panose="05000000000000000000" pitchFamily="2" charset="2"/>
              </a:rPr>
              <a:t> F</a:t>
            </a:r>
            <a:endParaRPr lang="en-US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B66CA0D5-3DB9-22D1-E7BF-52743154290A}"/>
              </a:ext>
            </a:extLst>
          </p:cNvPr>
          <p:cNvSpPr txBox="1"/>
          <p:nvPr/>
        </p:nvSpPr>
        <p:spPr>
          <a:xfrm>
            <a:off x="143552" y="2327088"/>
            <a:ext cx="1228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 </a:t>
            </a:r>
            <a:r>
              <a:rPr lang="en-US" dirty="0">
                <a:sym typeface="Wingdings" panose="05000000000000000000" pitchFamily="2" charset="2"/>
              </a:rPr>
              <a:t> ( E )</a:t>
            </a:r>
            <a:endParaRPr lang="en-US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CC1E5A29-27F9-660E-F988-33B3CD374B24}"/>
              </a:ext>
            </a:extLst>
          </p:cNvPr>
          <p:cNvSpPr txBox="1"/>
          <p:nvPr/>
        </p:nvSpPr>
        <p:spPr>
          <a:xfrm>
            <a:off x="143552" y="2678668"/>
            <a:ext cx="1228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 </a:t>
            </a:r>
            <a:r>
              <a:rPr lang="en-US" dirty="0">
                <a:sym typeface="Wingdings" panose="05000000000000000000" pitchFamily="2" charset="2"/>
              </a:rPr>
              <a:t> digit</a:t>
            </a:r>
            <a:endParaRPr lang="en-US" dirty="0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B002204E-5036-676E-8432-D0E25D12C466}"/>
              </a:ext>
            </a:extLst>
          </p:cNvPr>
          <p:cNvSpPr txBox="1"/>
          <p:nvPr/>
        </p:nvSpPr>
        <p:spPr>
          <a:xfrm>
            <a:off x="143552" y="1283904"/>
            <a:ext cx="1228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 </a:t>
            </a:r>
            <a:r>
              <a:rPr lang="en-US" dirty="0">
                <a:sym typeface="Wingdings" panose="05000000000000000000" pitchFamily="2" charset="2"/>
              </a:rPr>
              <a:t> T</a:t>
            </a:r>
            <a:endParaRPr lang="en-US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48990C20-425B-A2A7-ED25-B631FB969DCB}"/>
              </a:ext>
            </a:extLst>
          </p:cNvPr>
          <p:cNvSpPr txBox="1"/>
          <p:nvPr/>
        </p:nvSpPr>
        <p:spPr>
          <a:xfrm>
            <a:off x="143552" y="1630516"/>
            <a:ext cx="1228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 </a:t>
            </a:r>
            <a:r>
              <a:rPr lang="en-US" dirty="0">
                <a:sym typeface="Wingdings" panose="05000000000000000000" pitchFamily="2" charset="2"/>
              </a:rPr>
              <a:t> T * F</a:t>
            </a:r>
            <a:endParaRPr lang="en-US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CA87C1F6-DEF0-E4A4-16F9-E29EDD7472AE}"/>
              </a:ext>
            </a:extLst>
          </p:cNvPr>
          <p:cNvSpPr txBox="1"/>
          <p:nvPr/>
        </p:nvSpPr>
        <p:spPr>
          <a:xfrm>
            <a:off x="143552" y="545068"/>
            <a:ext cx="122804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Production</a:t>
            </a:r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C19270A4-0DF7-D16D-E89E-47BC6D70E0F5}"/>
              </a:ext>
            </a:extLst>
          </p:cNvPr>
          <p:cNvSpPr/>
          <p:nvPr/>
        </p:nvSpPr>
        <p:spPr>
          <a:xfrm>
            <a:off x="5398644" y="4572000"/>
            <a:ext cx="3810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D2A084BC-1780-1950-7FA5-1A7102AA42C0}"/>
              </a:ext>
            </a:extLst>
          </p:cNvPr>
          <p:cNvSpPr/>
          <p:nvPr/>
        </p:nvSpPr>
        <p:spPr>
          <a:xfrm>
            <a:off x="5127644" y="5246120"/>
            <a:ext cx="1216841" cy="48351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digit</a:t>
            </a:r>
          </a:p>
        </p:txBody>
      </p: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F0EF48EE-6430-7507-B8BD-0A3CD1EEDC9F}"/>
              </a:ext>
            </a:extLst>
          </p:cNvPr>
          <p:cNvCxnSpPr>
            <a:cxnSpLocks/>
            <a:stCxn id="63" idx="4"/>
            <a:endCxn id="133" idx="0"/>
          </p:cNvCxnSpPr>
          <p:nvPr/>
        </p:nvCxnSpPr>
        <p:spPr>
          <a:xfrm>
            <a:off x="5580296" y="4343296"/>
            <a:ext cx="8848" cy="2287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168D05B5-8B09-1B80-8003-FB16F99F1211}"/>
              </a:ext>
            </a:extLst>
          </p:cNvPr>
          <p:cNvCxnSpPr>
            <a:cxnSpLocks/>
            <a:stCxn id="133" idx="4"/>
            <a:endCxn id="134" idx="0"/>
          </p:cNvCxnSpPr>
          <p:nvPr/>
        </p:nvCxnSpPr>
        <p:spPr>
          <a:xfrm>
            <a:off x="5589144" y="4953000"/>
            <a:ext cx="146921" cy="2931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Oval 145">
            <a:extLst>
              <a:ext uri="{FF2B5EF4-FFF2-40B4-BE49-F238E27FC236}">
                <a16:creationId xmlns:a16="http://schemas.microsoft.com/office/drawing/2014/main" id="{E984406F-43A8-344E-3269-58F1B13899DA}"/>
              </a:ext>
            </a:extLst>
          </p:cNvPr>
          <p:cNvSpPr/>
          <p:nvPr/>
        </p:nvSpPr>
        <p:spPr>
          <a:xfrm>
            <a:off x="6022159" y="2743410"/>
            <a:ext cx="1216841" cy="48351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digit</a:t>
            </a:r>
          </a:p>
        </p:txBody>
      </p: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176326ED-9633-B18E-E070-A78D51B88C11}"/>
              </a:ext>
            </a:extLst>
          </p:cNvPr>
          <p:cNvCxnSpPr>
            <a:cxnSpLocks/>
            <a:stCxn id="32" idx="4"/>
            <a:endCxn id="146" idx="0"/>
          </p:cNvCxnSpPr>
          <p:nvPr/>
        </p:nvCxnSpPr>
        <p:spPr>
          <a:xfrm>
            <a:off x="6608773" y="2514495"/>
            <a:ext cx="21807" cy="2289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Oval 149">
            <a:extLst>
              <a:ext uri="{FF2B5EF4-FFF2-40B4-BE49-F238E27FC236}">
                <a16:creationId xmlns:a16="http://schemas.microsoft.com/office/drawing/2014/main" id="{5A6E3242-DED6-BAC3-BFD7-B739BF86C915}"/>
              </a:ext>
            </a:extLst>
          </p:cNvPr>
          <p:cNvSpPr>
            <a:spLocks/>
          </p:cNvSpPr>
          <p:nvPr/>
        </p:nvSpPr>
        <p:spPr>
          <a:xfrm>
            <a:off x="7696200" y="1524000"/>
            <a:ext cx="3810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26201A1D-E4DE-C326-B5D6-EAB5C3697821}"/>
              </a:ext>
            </a:extLst>
          </p:cNvPr>
          <p:cNvSpPr>
            <a:spLocks/>
          </p:cNvSpPr>
          <p:nvPr/>
        </p:nvSpPr>
        <p:spPr>
          <a:xfrm>
            <a:off x="7375769" y="2133600"/>
            <a:ext cx="1006231" cy="48351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digit</a:t>
            </a:r>
          </a:p>
        </p:txBody>
      </p: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A91BBC00-0F2C-AC0B-E844-65B1B5B14184}"/>
              </a:ext>
            </a:extLst>
          </p:cNvPr>
          <p:cNvCxnSpPr>
            <a:cxnSpLocks/>
            <a:stCxn id="29" idx="4"/>
            <a:endCxn id="150" idx="0"/>
          </p:cNvCxnSpPr>
          <p:nvPr/>
        </p:nvCxnSpPr>
        <p:spPr>
          <a:xfrm>
            <a:off x="7886700" y="1219043"/>
            <a:ext cx="0" cy="304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16AF8843-8E97-E923-D70E-A4FDD418F054}"/>
              </a:ext>
            </a:extLst>
          </p:cNvPr>
          <p:cNvCxnSpPr>
            <a:cxnSpLocks/>
            <a:stCxn id="150" idx="4"/>
          </p:cNvCxnSpPr>
          <p:nvPr/>
        </p:nvCxnSpPr>
        <p:spPr>
          <a:xfrm flipH="1">
            <a:off x="7878884" y="1905000"/>
            <a:ext cx="7816" cy="22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3" name="TextBox 332">
            <a:extLst>
              <a:ext uri="{FF2B5EF4-FFF2-40B4-BE49-F238E27FC236}">
                <a16:creationId xmlns:a16="http://schemas.microsoft.com/office/drawing/2014/main" id="{BF4C15F4-EEC8-7B4F-0151-84D1E8901B49}"/>
              </a:ext>
            </a:extLst>
          </p:cNvPr>
          <p:cNvSpPr txBox="1"/>
          <p:nvPr/>
        </p:nvSpPr>
        <p:spPr>
          <a:xfrm>
            <a:off x="7772404" y="1840468"/>
            <a:ext cx="761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340" name="TextBox 339">
            <a:extLst>
              <a:ext uri="{FF2B5EF4-FFF2-40B4-BE49-F238E27FC236}">
                <a16:creationId xmlns:a16="http://schemas.microsoft.com/office/drawing/2014/main" id="{D5B00C5E-CB2F-F577-AD95-2BC68C326416}"/>
              </a:ext>
            </a:extLst>
          </p:cNvPr>
          <p:cNvSpPr txBox="1"/>
          <p:nvPr/>
        </p:nvSpPr>
        <p:spPr>
          <a:xfrm>
            <a:off x="2871638" y="5650468"/>
            <a:ext cx="1166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342" name="TextBox 341">
            <a:extLst>
              <a:ext uri="{FF2B5EF4-FFF2-40B4-BE49-F238E27FC236}">
                <a16:creationId xmlns:a16="http://schemas.microsoft.com/office/drawing/2014/main" id="{A41B3D9E-AF16-9AC4-DE11-685B117A8E2A}"/>
              </a:ext>
            </a:extLst>
          </p:cNvPr>
          <p:cNvSpPr txBox="1"/>
          <p:nvPr/>
        </p:nvSpPr>
        <p:spPr>
          <a:xfrm>
            <a:off x="5233838" y="4876800"/>
            <a:ext cx="1166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343" name="TextBox 342">
            <a:extLst>
              <a:ext uri="{FF2B5EF4-FFF2-40B4-BE49-F238E27FC236}">
                <a16:creationId xmlns:a16="http://schemas.microsoft.com/office/drawing/2014/main" id="{487E46C7-642C-3DF7-6409-A879F5C46FEA}"/>
              </a:ext>
            </a:extLst>
          </p:cNvPr>
          <p:cNvSpPr txBox="1"/>
          <p:nvPr/>
        </p:nvSpPr>
        <p:spPr>
          <a:xfrm>
            <a:off x="6413375" y="2450068"/>
            <a:ext cx="749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7F833B6-9850-ADA8-DB7D-0B8B2551AAD1}"/>
              </a:ext>
            </a:extLst>
          </p:cNvPr>
          <p:cNvSpPr txBox="1"/>
          <p:nvPr/>
        </p:nvSpPr>
        <p:spPr>
          <a:xfrm>
            <a:off x="1659218" y="5257295"/>
            <a:ext cx="1731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F.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val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=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digit.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lexval</a:t>
            </a:r>
            <a:endParaRPr lang="en-US" i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9560BDF-47DD-F7B5-A9E7-8EB62A633002}"/>
              </a:ext>
            </a:extLst>
          </p:cNvPr>
          <p:cNvSpPr txBox="1"/>
          <p:nvPr/>
        </p:nvSpPr>
        <p:spPr>
          <a:xfrm>
            <a:off x="1659218" y="4583668"/>
            <a:ext cx="1731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T.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val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=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F.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val</a:t>
            </a:r>
            <a:endParaRPr lang="en-US" i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D2BDA72-90F4-74F9-F2D9-F8D9A4B17B44}"/>
              </a:ext>
            </a:extLst>
          </p:cNvPr>
          <p:cNvSpPr txBox="1"/>
          <p:nvPr/>
        </p:nvSpPr>
        <p:spPr>
          <a:xfrm>
            <a:off x="1687344" y="3962400"/>
            <a:ext cx="1731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E.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val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=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T.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val</a:t>
            </a:r>
            <a:endParaRPr lang="en-US" i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FA59EEC-2D16-648E-E139-357B7208F277}"/>
              </a:ext>
            </a:extLst>
          </p:cNvPr>
          <p:cNvSpPr txBox="1"/>
          <p:nvPr/>
        </p:nvSpPr>
        <p:spPr>
          <a:xfrm>
            <a:off x="6040946" y="5269468"/>
            <a:ext cx="1532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digit.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lexval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=3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7C54ABA-3B92-404B-FB8E-440FE352E0B8}"/>
              </a:ext>
            </a:extLst>
          </p:cNvPr>
          <p:cNvSpPr txBox="1"/>
          <p:nvPr/>
        </p:nvSpPr>
        <p:spPr>
          <a:xfrm>
            <a:off x="6040946" y="4583668"/>
            <a:ext cx="1731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F.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val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=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digit.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lexval</a:t>
            </a:r>
            <a:endParaRPr lang="en-US" i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3FAFCAA-0510-4A09-969E-F2D5883847AA}"/>
              </a:ext>
            </a:extLst>
          </p:cNvPr>
          <p:cNvSpPr txBox="1"/>
          <p:nvPr/>
        </p:nvSpPr>
        <p:spPr>
          <a:xfrm>
            <a:off x="6019800" y="3962400"/>
            <a:ext cx="1731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T.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val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=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F.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val</a:t>
            </a:r>
            <a:endParaRPr lang="en-US" i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2E1518-C5B0-3BD4-9E76-C27755D925F7}"/>
              </a:ext>
            </a:extLst>
          </p:cNvPr>
          <p:cNvSpPr txBox="1"/>
          <p:nvPr/>
        </p:nvSpPr>
        <p:spPr>
          <a:xfrm>
            <a:off x="3581400" y="4038600"/>
            <a:ext cx="265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63726B4-2CD7-754A-F552-B257F86932E6}"/>
              </a:ext>
            </a:extLst>
          </p:cNvPr>
          <p:cNvSpPr txBox="1"/>
          <p:nvPr/>
        </p:nvSpPr>
        <p:spPr>
          <a:xfrm>
            <a:off x="4800600" y="3355684"/>
            <a:ext cx="2133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E.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val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=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E.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val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 +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T.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val</a:t>
            </a:r>
            <a:endParaRPr lang="en-US" i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0FE50F6-B9A2-FC82-E55F-0C2FD4D6BDC6}"/>
              </a:ext>
            </a:extLst>
          </p:cNvPr>
          <p:cNvSpPr txBox="1"/>
          <p:nvPr/>
        </p:nvSpPr>
        <p:spPr>
          <a:xfrm>
            <a:off x="4876800" y="3354138"/>
            <a:ext cx="2133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E.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val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= E</a:t>
            </a:r>
            <a:r>
              <a:rPr lang="en-US" baseline="-25000" dirty="0">
                <a:solidFill>
                  <a:schemeClr val="accent6">
                    <a:lumMod val="75000"/>
                  </a:schemeClr>
                </a:solidFill>
              </a:rPr>
              <a:t>1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.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val +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T.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val</a:t>
            </a:r>
            <a:endParaRPr lang="en-US" i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7052521-62D3-020C-A898-AC0A6F7D7FE3}"/>
              </a:ext>
            </a:extLst>
          </p:cNvPr>
          <p:cNvSpPr txBox="1"/>
          <p:nvPr/>
        </p:nvSpPr>
        <p:spPr>
          <a:xfrm>
            <a:off x="2688146" y="2743200"/>
            <a:ext cx="1731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F.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val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=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E.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val</a:t>
            </a:r>
            <a:endParaRPr lang="en-US" i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7490965E-4B8E-F59C-076E-832783E3930D}"/>
              </a:ext>
            </a:extLst>
          </p:cNvPr>
          <p:cNvSpPr txBox="1"/>
          <p:nvPr/>
        </p:nvSpPr>
        <p:spPr>
          <a:xfrm>
            <a:off x="2688146" y="2133495"/>
            <a:ext cx="1731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T.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val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=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F.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val</a:t>
            </a:r>
            <a:endParaRPr lang="en-US" i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030B464-89E0-A8AD-9500-A099965B54CB}"/>
              </a:ext>
            </a:extLst>
          </p:cNvPr>
          <p:cNvSpPr txBox="1"/>
          <p:nvPr/>
        </p:nvSpPr>
        <p:spPr>
          <a:xfrm>
            <a:off x="4944152" y="2831068"/>
            <a:ext cx="1532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digit.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lexval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=4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AF5DC01-4D6D-CF93-7740-A5424E01B6D8}"/>
              </a:ext>
            </a:extLst>
          </p:cNvPr>
          <p:cNvSpPr txBox="1"/>
          <p:nvPr/>
        </p:nvSpPr>
        <p:spPr>
          <a:xfrm>
            <a:off x="4800600" y="2297668"/>
            <a:ext cx="1731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F.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val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=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digit.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lexval</a:t>
            </a:r>
            <a:endParaRPr lang="en-US" i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4D2B839-5BC9-C46E-B7ED-49FD5744D699}"/>
              </a:ext>
            </a:extLst>
          </p:cNvPr>
          <p:cNvSpPr txBox="1"/>
          <p:nvPr/>
        </p:nvSpPr>
        <p:spPr>
          <a:xfrm>
            <a:off x="3200400" y="1524061"/>
            <a:ext cx="2133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T.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val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=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T.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val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 *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F.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val</a:t>
            </a:r>
            <a:endParaRPr lang="en-US" i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B8CD2392-255D-D779-30CB-DE7D383E9274}"/>
              </a:ext>
            </a:extLst>
          </p:cNvPr>
          <p:cNvSpPr txBox="1"/>
          <p:nvPr/>
        </p:nvSpPr>
        <p:spPr>
          <a:xfrm>
            <a:off x="4572000" y="2209800"/>
            <a:ext cx="265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EA6728E4-DAE1-DD9D-F0C5-805F7A5F254E}"/>
              </a:ext>
            </a:extLst>
          </p:cNvPr>
          <p:cNvSpPr txBox="1"/>
          <p:nvPr/>
        </p:nvSpPr>
        <p:spPr>
          <a:xfrm>
            <a:off x="3276600" y="1535668"/>
            <a:ext cx="2133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T.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val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= T</a:t>
            </a:r>
            <a:r>
              <a:rPr lang="en-US" baseline="-25000" dirty="0">
                <a:solidFill>
                  <a:schemeClr val="accent6">
                    <a:lumMod val="75000"/>
                  </a:schemeClr>
                </a:solidFill>
              </a:rPr>
              <a:t>1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.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val *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F.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val</a:t>
            </a:r>
            <a:endParaRPr lang="en-US" i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6DE602C4-AE69-B7FD-ED0F-70F49E854CDC}"/>
              </a:ext>
            </a:extLst>
          </p:cNvPr>
          <p:cNvSpPr txBox="1"/>
          <p:nvPr/>
        </p:nvSpPr>
        <p:spPr>
          <a:xfrm>
            <a:off x="3602546" y="838200"/>
            <a:ext cx="1731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E.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val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=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T.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val</a:t>
            </a:r>
            <a:endParaRPr lang="en-US" i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E38D4E69-DF85-89C5-30B5-A6A302DCFD2B}"/>
              </a:ext>
            </a:extLst>
          </p:cNvPr>
          <p:cNvSpPr txBox="1"/>
          <p:nvPr/>
        </p:nvSpPr>
        <p:spPr>
          <a:xfrm>
            <a:off x="7467600" y="2450068"/>
            <a:ext cx="1532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digit.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lexval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=7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CF399977-7DA2-A0ED-81D3-7A4DD48FB297}"/>
              </a:ext>
            </a:extLst>
          </p:cNvPr>
          <p:cNvSpPr txBox="1"/>
          <p:nvPr/>
        </p:nvSpPr>
        <p:spPr>
          <a:xfrm>
            <a:off x="6019800" y="1524000"/>
            <a:ext cx="1731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F.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val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=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digit.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lexval</a:t>
            </a:r>
            <a:endParaRPr lang="en-US" i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6A9E9E8D-15B2-00C3-F0C4-E0EC0D3F215E}"/>
              </a:ext>
            </a:extLst>
          </p:cNvPr>
          <p:cNvSpPr txBox="1"/>
          <p:nvPr/>
        </p:nvSpPr>
        <p:spPr>
          <a:xfrm>
            <a:off x="7412546" y="762000"/>
            <a:ext cx="1731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T.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val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=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F.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val</a:t>
            </a:r>
            <a:endParaRPr lang="en-US" i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48818D1-C0A4-1F6C-A0CC-E169352A1CD3}"/>
              </a:ext>
            </a:extLst>
          </p:cNvPr>
          <p:cNvSpPr txBox="1"/>
          <p:nvPr/>
        </p:nvSpPr>
        <p:spPr>
          <a:xfrm>
            <a:off x="7010400" y="152400"/>
            <a:ext cx="2133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E.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val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=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E.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val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 +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T.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val</a:t>
            </a:r>
            <a:endParaRPr lang="en-US" i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C0C6C4FD-5C81-F2F4-5037-461E6D6DAD3A}"/>
              </a:ext>
            </a:extLst>
          </p:cNvPr>
          <p:cNvSpPr txBox="1"/>
          <p:nvPr/>
        </p:nvSpPr>
        <p:spPr>
          <a:xfrm>
            <a:off x="5602058" y="914400"/>
            <a:ext cx="265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2CDB0450-CC0C-8CFA-CD31-DB54AE962469}"/>
              </a:ext>
            </a:extLst>
          </p:cNvPr>
          <p:cNvSpPr txBox="1"/>
          <p:nvPr/>
        </p:nvSpPr>
        <p:spPr>
          <a:xfrm>
            <a:off x="7010400" y="152400"/>
            <a:ext cx="2133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E.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val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= E</a:t>
            </a:r>
            <a:r>
              <a:rPr lang="en-US" baseline="-25000" dirty="0">
                <a:solidFill>
                  <a:schemeClr val="accent6">
                    <a:lumMod val="75000"/>
                  </a:schemeClr>
                </a:solidFill>
              </a:rPr>
              <a:t>1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.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val +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T.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val</a:t>
            </a:r>
            <a:endParaRPr lang="en-US" i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081DA1AF-02C6-D10E-A03E-EA165E89F8CD}"/>
              </a:ext>
            </a:extLst>
          </p:cNvPr>
          <p:cNvSpPr txBox="1"/>
          <p:nvPr/>
        </p:nvSpPr>
        <p:spPr>
          <a:xfrm>
            <a:off x="1372672" y="922778"/>
            <a:ext cx="2364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70C0"/>
                </a:solidFill>
              </a:rPr>
              <a:t>E.</a:t>
            </a:r>
            <a:r>
              <a:rPr lang="en-US" i="1" dirty="0" err="1">
                <a:solidFill>
                  <a:srgbClr val="0070C0"/>
                </a:solidFill>
              </a:rPr>
              <a:t>val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  <a:sym typeface="Wingdings" panose="05000000000000000000" pitchFamily="2" charset="2"/>
              </a:rPr>
              <a:t>= E</a:t>
            </a:r>
            <a:r>
              <a:rPr lang="en-US" baseline="-25000" dirty="0">
                <a:solidFill>
                  <a:srgbClr val="0070C0"/>
                </a:solidFill>
                <a:sym typeface="Wingdings" panose="05000000000000000000" pitchFamily="2" charset="2"/>
              </a:rPr>
              <a:t>1</a:t>
            </a:r>
            <a:r>
              <a:rPr lang="en-US" dirty="0">
                <a:solidFill>
                  <a:srgbClr val="0070C0"/>
                </a:solidFill>
                <a:sym typeface="Wingdings" panose="05000000000000000000" pitchFamily="2" charset="2"/>
              </a:rPr>
              <a:t>.</a:t>
            </a:r>
            <a:r>
              <a:rPr lang="en-US" i="1" dirty="0">
                <a:solidFill>
                  <a:srgbClr val="0070C0"/>
                </a:solidFill>
                <a:sym typeface="Wingdings" panose="05000000000000000000" pitchFamily="2" charset="2"/>
              </a:rPr>
              <a:t>val</a:t>
            </a:r>
            <a:r>
              <a:rPr lang="en-US" dirty="0">
                <a:solidFill>
                  <a:srgbClr val="0070C0"/>
                </a:solidFill>
                <a:sym typeface="Wingdings" panose="05000000000000000000" pitchFamily="2" charset="2"/>
              </a:rPr>
              <a:t> + </a:t>
            </a:r>
            <a:r>
              <a:rPr lang="en-US" dirty="0" err="1">
                <a:solidFill>
                  <a:srgbClr val="0070C0"/>
                </a:solidFill>
                <a:sym typeface="Wingdings" panose="05000000000000000000" pitchFamily="2" charset="2"/>
              </a:rPr>
              <a:t>T.</a:t>
            </a:r>
            <a:r>
              <a:rPr lang="en-US" i="1" dirty="0" err="1">
                <a:solidFill>
                  <a:srgbClr val="0070C0"/>
                </a:solidFill>
                <a:sym typeface="Wingdings" panose="05000000000000000000" pitchFamily="2" charset="2"/>
              </a:rPr>
              <a:t>val</a:t>
            </a:r>
            <a:endParaRPr lang="en-US" i="1" dirty="0">
              <a:solidFill>
                <a:srgbClr val="0070C0"/>
              </a:solidFill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C184C3FD-F0C5-A18A-CEDC-580072570F4C}"/>
              </a:ext>
            </a:extLst>
          </p:cNvPr>
          <p:cNvSpPr txBox="1"/>
          <p:nvPr/>
        </p:nvSpPr>
        <p:spPr>
          <a:xfrm>
            <a:off x="1372672" y="1965960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70C0"/>
                </a:solidFill>
              </a:rPr>
              <a:t>T.</a:t>
            </a:r>
            <a:r>
              <a:rPr lang="en-US" i="1" dirty="0" err="1">
                <a:solidFill>
                  <a:srgbClr val="0070C0"/>
                </a:solidFill>
              </a:rPr>
              <a:t>Val</a:t>
            </a:r>
            <a:r>
              <a:rPr lang="en-US" i="1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  <a:sym typeface="Wingdings" panose="05000000000000000000" pitchFamily="2" charset="2"/>
              </a:rPr>
              <a:t>= </a:t>
            </a:r>
            <a:r>
              <a:rPr lang="en-US" dirty="0" err="1">
                <a:solidFill>
                  <a:srgbClr val="0070C0"/>
                </a:solidFill>
                <a:sym typeface="Wingdings" panose="05000000000000000000" pitchFamily="2" charset="2"/>
              </a:rPr>
              <a:t>F.</a:t>
            </a:r>
            <a:r>
              <a:rPr lang="en-US" i="1" dirty="0" err="1">
                <a:solidFill>
                  <a:srgbClr val="0070C0"/>
                </a:solidFill>
                <a:sym typeface="Wingdings" panose="05000000000000000000" pitchFamily="2" charset="2"/>
              </a:rPr>
              <a:t>val</a:t>
            </a:r>
            <a:endParaRPr lang="en-US" i="1" dirty="0">
              <a:solidFill>
                <a:srgbClr val="0070C0"/>
              </a:solidFill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8924FBBE-0B65-69C5-A463-36741EEEAC6B}"/>
              </a:ext>
            </a:extLst>
          </p:cNvPr>
          <p:cNvSpPr txBox="1"/>
          <p:nvPr/>
        </p:nvSpPr>
        <p:spPr>
          <a:xfrm>
            <a:off x="1372671" y="2312574"/>
            <a:ext cx="1635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70C0"/>
                </a:solidFill>
              </a:rPr>
              <a:t>F.</a:t>
            </a:r>
            <a:r>
              <a:rPr lang="en-US" i="1" dirty="0" err="1">
                <a:solidFill>
                  <a:srgbClr val="0070C0"/>
                </a:solidFill>
              </a:rPr>
              <a:t>val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  <a:sym typeface="Wingdings" panose="05000000000000000000" pitchFamily="2" charset="2"/>
              </a:rPr>
              <a:t>= </a:t>
            </a:r>
            <a:r>
              <a:rPr lang="en-US" dirty="0" err="1">
                <a:solidFill>
                  <a:srgbClr val="0070C0"/>
                </a:solidFill>
                <a:sym typeface="Wingdings" panose="05000000000000000000" pitchFamily="2" charset="2"/>
              </a:rPr>
              <a:t>E.</a:t>
            </a:r>
            <a:r>
              <a:rPr lang="en-US" i="1" dirty="0" err="1">
                <a:solidFill>
                  <a:srgbClr val="0070C0"/>
                </a:solidFill>
                <a:sym typeface="Wingdings" panose="05000000000000000000" pitchFamily="2" charset="2"/>
              </a:rPr>
              <a:t>val</a:t>
            </a:r>
            <a:endParaRPr lang="en-US" i="1" dirty="0">
              <a:solidFill>
                <a:srgbClr val="0070C0"/>
              </a:solidFill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DEFD4CA8-AB50-DD2B-BB55-D42E9AF34301}"/>
              </a:ext>
            </a:extLst>
          </p:cNvPr>
          <p:cNvSpPr txBox="1"/>
          <p:nvPr/>
        </p:nvSpPr>
        <p:spPr>
          <a:xfrm>
            <a:off x="1371600" y="2664154"/>
            <a:ext cx="1934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70C0"/>
                </a:solidFill>
              </a:rPr>
              <a:t>F.</a:t>
            </a:r>
            <a:r>
              <a:rPr lang="en-US" i="1" dirty="0" err="1">
                <a:solidFill>
                  <a:srgbClr val="0070C0"/>
                </a:solidFill>
              </a:rPr>
              <a:t>val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  <a:sym typeface="Wingdings" panose="05000000000000000000" pitchFamily="2" charset="2"/>
              </a:rPr>
              <a:t>= </a:t>
            </a:r>
            <a:r>
              <a:rPr lang="en-US" dirty="0" err="1">
                <a:solidFill>
                  <a:srgbClr val="0070C0"/>
                </a:solidFill>
                <a:sym typeface="Wingdings" panose="05000000000000000000" pitchFamily="2" charset="2"/>
              </a:rPr>
              <a:t>digit.</a:t>
            </a:r>
            <a:r>
              <a:rPr lang="en-US" i="1" dirty="0" err="1">
                <a:solidFill>
                  <a:srgbClr val="0070C0"/>
                </a:solidFill>
                <a:sym typeface="Wingdings" panose="05000000000000000000" pitchFamily="2" charset="2"/>
              </a:rPr>
              <a:t>lexval</a:t>
            </a:r>
            <a:endParaRPr lang="en-US" i="1" dirty="0">
              <a:solidFill>
                <a:srgbClr val="0070C0"/>
              </a:solidFill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713FC2D1-771D-879E-C71C-3024F0A7E4F3}"/>
              </a:ext>
            </a:extLst>
          </p:cNvPr>
          <p:cNvSpPr txBox="1"/>
          <p:nvPr/>
        </p:nvSpPr>
        <p:spPr>
          <a:xfrm>
            <a:off x="1372672" y="1269390"/>
            <a:ext cx="2095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70C0"/>
                </a:solidFill>
              </a:rPr>
              <a:t>E.</a:t>
            </a:r>
            <a:r>
              <a:rPr lang="en-US" i="1" dirty="0" err="1">
                <a:solidFill>
                  <a:srgbClr val="0070C0"/>
                </a:solidFill>
              </a:rPr>
              <a:t>val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  <a:sym typeface="Wingdings" panose="05000000000000000000" pitchFamily="2" charset="2"/>
              </a:rPr>
              <a:t>= </a:t>
            </a:r>
            <a:r>
              <a:rPr lang="en-US" dirty="0" err="1">
                <a:solidFill>
                  <a:srgbClr val="0070C0"/>
                </a:solidFill>
                <a:sym typeface="Wingdings" panose="05000000000000000000" pitchFamily="2" charset="2"/>
              </a:rPr>
              <a:t>T.</a:t>
            </a:r>
            <a:r>
              <a:rPr lang="en-US" i="1" dirty="0" err="1">
                <a:solidFill>
                  <a:srgbClr val="0070C0"/>
                </a:solidFill>
                <a:sym typeface="Wingdings" panose="05000000000000000000" pitchFamily="2" charset="2"/>
              </a:rPr>
              <a:t>val</a:t>
            </a:r>
            <a:endParaRPr lang="en-US" i="1" dirty="0">
              <a:solidFill>
                <a:srgbClr val="0070C0"/>
              </a:solidFill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5F16AA3C-E116-D9DD-3F07-439B1727659B}"/>
              </a:ext>
            </a:extLst>
          </p:cNvPr>
          <p:cNvSpPr txBox="1"/>
          <p:nvPr/>
        </p:nvSpPr>
        <p:spPr>
          <a:xfrm>
            <a:off x="1372672" y="1616002"/>
            <a:ext cx="2265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70C0"/>
                </a:solidFill>
              </a:rPr>
              <a:t>T.</a:t>
            </a:r>
            <a:r>
              <a:rPr lang="en-US" i="1" dirty="0" err="1">
                <a:solidFill>
                  <a:srgbClr val="0070C0"/>
                </a:solidFill>
              </a:rPr>
              <a:t>val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  <a:sym typeface="Wingdings" panose="05000000000000000000" pitchFamily="2" charset="2"/>
              </a:rPr>
              <a:t>= T</a:t>
            </a:r>
            <a:r>
              <a:rPr lang="en-US" baseline="-25000" dirty="0">
                <a:solidFill>
                  <a:srgbClr val="0070C0"/>
                </a:solidFill>
                <a:sym typeface="Wingdings" panose="05000000000000000000" pitchFamily="2" charset="2"/>
              </a:rPr>
              <a:t>1</a:t>
            </a:r>
            <a:r>
              <a:rPr lang="en-US" dirty="0">
                <a:solidFill>
                  <a:srgbClr val="0070C0"/>
                </a:solidFill>
                <a:sym typeface="Wingdings" panose="05000000000000000000" pitchFamily="2" charset="2"/>
              </a:rPr>
              <a:t>.</a:t>
            </a:r>
            <a:r>
              <a:rPr lang="en-US" i="1" dirty="0">
                <a:solidFill>
                  <a:srgbClr val="0070C0"/>
                </a:solidFill>
                <a:sym typeface="Wingdings" panose="05000000000000000000" pitchFamily="2" charset="2"/>
              </a:rPr>
              <a:t>val</a:t>
            </a:r>
            <a:r>
              <a:rPr lang="en-US" dirty="0">
                <a:solidFill>
                  <a:srgbClr val="0070C0"/>
                </a:solidFill>
                <a:sym typeface="Wingdings" panose="05000000000000000000" pitchFamily="2" charset="2"/>
              </a:rPr>
              <a:t> * </a:t>
            </a:r>
            <a:r>
              <a:rPr lang="en-US" dirty="0" err="1">
                <a:solidFill>
                  <a:srgbClr val="0070C0"/>
                </a:solidFill>
                <a:sym typeface="Wingdings" panose="05000000000000000000" pitchFamily="2" charset="2"/>
              </a:rPr>
              <a:t>F.</a:t>
            </a:r>
            <a:r>
              <a:rPr lang="en-US" i="1" dirty="0" err="1">
                <a:solidFill>
                  <a:srgbClr val="0070C0"/>
                </a:solidFill>
                <a:sym typeface="Wingdings" panose="05000000000000000000" pitchFamily="2" charset="2"/>
              </a:rPr>
              <a:t>val</a:t>
            </a:r>
            <a:endParaRPr lang="en-US" i="1" dirty="0">
              <a:solidFill>
                <a:srgbClr val="0070C0"/>
              </a:solidFill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696B7F5D-8FA7-70BE-C886-D4A820F04B68}"/>
              </a:ext>
            </a:extLst>
          </p:cNvPr>
          <p:cNvSpPr txBox="1"/>
          <p:nvPr/>
        </p:nvSpPr>
        <p:spPr>
          <a:xfrm>
            <a:off x="1362752" y="545068"/>
            <a:ext cx="21717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Semantic Rules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9CE6A2EE-91D8-5261-65F6-57FA7C8AAE37}"/>
              </a:ext>
            </a:extLst>
          </p:cNvPr>
          <p:cNvSpPr txBox="1"/>
          <p:nvPr/>
        </p:nvSpPr>
        <p:spPr>
          <a:xfrm>
            <a:off x="149170" y="-14508"/>
            <a:ext cx="2728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chemeClr val="bg1">
                    <a:lumMod val="75000"/>
                  </a:schemeClr>
                </a:solidFill>
              </a:rPr>
              <a:t>Evaluate:</a:t>
            </a:r>
            <a:r>
              <a:rPr lang="en-US" sz="2400" dirty="0">
                <a:solidFill>
                  <a:srgbClr val="0070C0"/>
                </a:solidFill>
              </a:rPr>
              <a:t> (2+3)*4+7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D4687499-63A0-5EEC-56F4-990034528338}"/>
              </a:ext>
            </a:extLst>
          </p:cNvPr>
          <p:cNvSpPr txBox="1"/>
          <p:nvPr/>
        </p:nvSpPr>
        <p:spPr>
          <a:xfrm>
            <a:off x="685800" y="1066800"/>
            <a:ext cx="2653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EFC3F325-B875-BD44-18FA-D61199F3A817}"/>
              </a:ext>
            </a:extLst>
          </p:cNvPr>
          <p:cNvSpPr txBox="1"/>
          <p:nvPr/>
        </p:nvSpPr>
        <p:spPr>
          <a:xfrm>
            <a:off x="685800" y="1749623"/>
            <a:ext cx="2653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5" name="Callout: Up Arrow 4">
            <a:extLst>
              <a:ext uri="{FF2B5EF4-FFF2-40B4-BE49-F238E27FC236}">
                <a16:creationId xmlns:a16="http://schemas.microsoft.com/office/drawing/2014/main" id="{C9F06C87-54B4-69DA-D687-6B2344105331}"/>
              </a:ext>
            </a:extLst>
          </p:cNvPr>
          <p:cNvSpPr/>
          <p:nvPr/>
        </p:nvSpPr>
        <p:spPr>
          <a:xfrm>
            <a:off x="247654" y="3959061"/>
            <a:ext cx="1962146" cy="841539"/>
          </a:xfrm>
          <a:prstGeom prst="upArrowCallout">
            <a:avLst/>
          </a:prstGeom>
          <a:noFill/>
          <a:ln w="317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Syntax Directed Definition (SDD)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66C9DDA2-2FDC-24CE-BBD6-3A6CC6FF5571}"/>
              </a:ext>
            </a:extLst>
          </p:cNvPr>
          <p:cNvSpPr txBox="1"/>
          <p:nvPr/>
        </p:nvSpPr>
        <p:spPr>
          <a:xfrm>
            <a:off x="2787267" y="-14508"/>
            <a:ext cx="8759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= 27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13E609-7675-DC92-7792-56C56E136B73}"/>
              </a:ext>
            </a:extLst>
          </p:cNvPr>
          <p:cNvSpPr txBox="1"/>
          <p:nvPr/>
        </p:nvSpPr>
        <p:spPr>
          <a:xfrm>
            <a:off x="52240" y="3200400"/>
            <a:ext cx="3338432" cy="58477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>
                <a:solidFill>
                  <a:schemeClr val="accent4">
                    <a:lumMod val="75000"/>
                  </a:schemeClr>
                </a:solidFill>
              </a:rPr>
              <a:t>Add attributes to grammar symbols</a:t>
            </a:r>
          </a:p>
          <a:p>
            <a:pPr algn="ctr"/>
            <a:r>
              <a:rPr lang="en-US" sz="1600" i="1" dirty="0">
                <a:solidFill>
                  <a:schemeClr val="accent4">
                    <a:lumMod val="75000"/>
                  </a:schemeClr>
                </a:solidFill>
              </a:rPr>
              <a:t>Add calculation rules to productions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3A936C40-6533-77F7-061E-73ED1933E91D}"/>
              </a:ext>
            </a:extLst>
          </p:cNvPr>
          <p:cNvSpPr txBox="1"/>
          <p:nvPr/>
        </p:nvSpPr>
        <p:spPr>
          <a:xfrm>
            <a:off x="5455236" y="6114143"/>
            <a:ext cx="2329312" cy="369332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solidFill>
                  <a:schemeClr val="accent1">
                    <a:lumMod val="75000"/>
                  </a:schemeClr>
                </a:solidFill>
              </a:rPr>
              <a:t>Annotated Parse Tree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4BC3EAC-2B1F-0B8F-6BB3-CF6355DDCCCC}"/>
              </a:ext>
            </a:extLst>
          </p:cNvPr>
          <p:cNvGrpSpPr/>
          <p:nvPr/>
        </p:nvGrpSpPr>
        <p:grpSpPr>
          <a:xfrm>
            <a:off x="2438400" y="5650468"/>
            <a:ext cx="422884" cy="483515"/>
            <a:chOff x="339116" y="5650468"/>
            <a:chExt cx="422884" cy="597932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4D569B52-E4BD-DC06-73D4-49570E4BA1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5800" y="5650468"/>
              <a:ext cx="0" cy="597932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7176A5A-5543-FBB9-9B90-9896AD880FAE}"/>
                </a:ext>
              </a:extLst>
            </p:cNvPr>
            <p:cNvSpPr txBox="1"/>
            <p:nvPr/>
          </p:nvSpPr>
          <p:spPr>
            <a:xfrm>
              <a:off x="339116" y="5791200"/>
              <a:ext cx="422884" cy="3692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2</a:t>
              </a:r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CF4F8C2B-7BA3-E50B-0021-3ED98B312055}"/>
              </a:ext>
            </a:extLst>
          </p:cNvPr>
          <p:cNvGrpSpPr/>
          <p:nvPr/>
        </p:nvGrpSpPr>
        <p:grpSpPr>
          <a:xfrm>
            <a:off x="2438400" y="4927262"/>
            <a:ext cx="422884" cy="405077"/>
            <a:chOff x="339116" y="5650468"/>
            <a:chExt cx="422884" cy="597932"/>
          </a:xfrm>
        </p:grpSpPr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E5410633-6CD2-4E1F-D915-77715433E2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5800" y="5650468"/>
              <a:ext cx="0" cy="597932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52DFBF3F-3D61-A504-5671-1374557FF790}"/>
                </a:ext>
              </a:extLst>
            </p:cNvPr>
            <p:cNvSpPr txBox="1"/>
            <p:nvPr/>
          </p:nvSpPr>
          <p:spPr>
            <a:xfrm>
              <a:off x="339116" y="5791200"/>
              <a:ext cx="422884" cy="3692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2</a:t>
              </a:r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350536D9-8DE0-61AE-845D-C859C154F5D2}"/>
              </a:ext>
            </a:extLst>
          </p:cNvPr>
          <p:cNvGrpSpPr/>
          <p:nvPr/>
        </p:nvGrpSpPr>
        <p:grpSpPr>
          <a:xfrm>
            <a:off x="2514600" y="4290803"/>
            <a:ext cx="422884" cy="330490"/>
            <a:chOff x="339116" y="5650468"/>
            <a:chExt cx="422884" cy="597932"/>
          </a:xfrm>
        </p:grpSpPr>
        <p:cxnSp>
          <p:nvCxnSpPr>
            <p:cNvPr id="139" name="Straight Arrow Connector 138">
              <a:extLst>
                <a:ext uri="{FF2B5EF4-FFF2-40B4-BE49-F238E27FC236}">
                  <a16:creationId xmlns:a16="http://schemas.microsoft.com/office/drawing/2014/main" id="{463C106F-A5BA-D1E8-BBD4-C02FE1781C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5800" y="5650468"/>
              <a:ext cx="0" cy="597932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B63D2390-D27D-BFB6-B8D4-8070F136E8FA}"/>
                </a:ext>
              </a:extLst>
            </p:cNvPr>
            <p:cNvSpPr txBox="1"/>
            <p:nvPr/>
          </p:nvSpPr>
          <p:spPr>
            <a:xfrm>
              <a:off x="339116" y="5791200"/>
              <a:ext cx="422884" cy="3692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2</a:t>
              </a:r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17CD37E5-9734-75DA-D1C7-70C6FCD0191E}"/>
              </a:ext>
            </a:extLst>
          </p:cNvPr>
          <p:cNvGrpSpPr/>
          <p:nvPr/>
        </p:nvGrpSpPr>
        <p:grpSpPr>
          <a:xfrm>
            <a:off x="6511316" y="4927260"/>
            <a:ext cx="422884" cy="471386"/>
            <a:chOff x="339116" y="5650468"/>
            <a:chExt cx="422884" cy="650042"/>
          </a:xfrm>
        </p:grpSpPr>
        <p:cxnSp>
          <p:nvCxnSpPr>
            <p:cNvPr id="142" name="Straight Arrow Connector 141">
              <a:extLst>
                <a:ext uri="{FF2B5EF4-FFF2-40B4-BE49-F238E27FC236}">
                  <a16:creationId xmlns:a16="http://schemas.microsoft.com/office/drawing/2014/main" id="{B3156094-9535-3E9C-6D0F-AE97112B64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5800" y="5650468"/>
              <a:ext cx="0" cy="597932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4302A6B5-4B02-AAAA-8908-07F92BDCFEE5}"/>
                </a:ext>
              </a:extLst>
            </p:cNvPr>
            <p:cNvSpPr txBox="1"/>
            <p:nvPr/>
          </p:nvSpPr>
          <p:spPr>
            <a:xfrm>
              <a:off x="339116" y="5791201"/>
              <a:ext cx="422884" cy="5093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3</a:t>
              </a:r>
            </a:p>
          </p:txBody>
        </p: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6658C4AB-2B33-0DB0-0107-BC45A85EA175}"/>
              </a:ext>
            </a:extLst>
          </p:cNvPr>
          <p:cNvGrpSpPr/>
          <p:nvPr/>
        </p:nvGrpSpPr>
        <p:grpSpPr>
          <a:xfrm>
            <a:off x="6458856" y="4337177"/>
            <a:ext cx="348513" cy="375553"/>
            <a:chOff x="413486" y="5650468"/>
            <a:chExt cx="348513" cy="721994"/>
          </a:xfrm>
        </p:grpSpPr>
        <p:cxnSp>
          <p:nvCxnSpPr>
            <p:cNvPr id="145" name="Straight Arrow Connector 144">
              <a:extLst>
                <a:ext uri="{FF2B5EF4-FFF2-40B4-BE49-F238E27FC236}">
                  <a16:creationId xmlns:a16="http://schemas.microsoft.com/office/drawing/2014/main" id="{15BDE52B-2D29-52A4-6627-FA375ED8E9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5800" y="5650468"/>
              <a:ext cx="0" cy="597932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1943DA7B-57B0-24AB-1487-52AE16A047E5}"/>
                </a:ext>
              </a:extLst>
            </p:cNvPr>
            <p:cNvSpPr txBox="1"/>
            <p:nvPr/>
          </p:nvSpPr>
          <p:spPr>
            <a:xfrm>
              <a:off x="413486" y="5662428"/>
              <a:ext cx="348513" cy="7100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3</a:t>
              </a:r>
            </a:p>
          </p:txBody>
        </p: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5139064-DE60-09D5-166E-E360BE9AF6A4}"/>
              </a:ext>
            </a:extLst>
          </p:cNvPr>
          <p:cNvCxnSpPr/>
          <p:nvPr/>
        </p:nvCxnSpPr>
        <p:spPr>
          <a:xfrm flipV="1">
            <a:off x="3200400" y="3657600"/>
            <a:ext cx="838200" cy="294622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1AE45789-4E0E-DD3C-B51F-985C8346791C}"/>
              </a:ext>
            </a:extLst>
          </p:cNvPr>
          <p:cNvCxnSpPr>
            <a:cxnSpLocks/>
          </p:cNvCxnSpPr>
          <p:nvPr/>
        </p:nvCxnSpPr>
        <p:spPr>
          <a:xfrm flipH="1" flipV="1">
            <a:off x="6566958" y="3733800"/>
            <a:ext cx="62442" cy="344507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4088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2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9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6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7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3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4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0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1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7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8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4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1" dur="1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2" dur="1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8" dur="1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9" dur="1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4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5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indefinite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" grpId="0"/>
      <p:bldP spid="76" grpId="0"/>
      <p:bldP spid="77" grpId="0"/>
      <p:bldP spid="78" grpId="0"/>
      <p:bldP spid="80" grpId="0"/>
      <p:bldP spid="81" grpId="0"/>
      <p:bldP spid="83" grpId="0"/>
      <p:bldP spid="4" grpId="0"/>
      <p:bldP spid="84" grpId="0" animBg="1"/>
      <p:bldP spid="90" grpId="0" animBg="1"/>
      <p:bldP spid="91" grpId="0"/>
      <p:bldP spid="92" grpId="0"/>
      <p:bldP spid="93" grpId="0"/>
      <p:bldP spid="94" grpId="0"/>
      <p:bldP spid="95" grpId="0" animBg="1"/>
      <p:bldP spid="96" grpId="0"/>
      <p:bldP spid="97" grpId="0" animBg="1"/>
      <p:bldP spid="98" grpId="0"/>
      <p:bldP spid="99" grpId="0"/>
      <p:bldP spid="104" grpId="0"/>
      <p:bldP spid="105" grpId="0"/>
      <p:bldP spid="107" grpId="0" animBg="1"/>
      <p:bldP spid="109" grpId="0"/>
      <p:bldP spid="111" grpId="0" animBg="1"/>
      <p:bldP spid="113" grpId="0"/>
      <p:bldP spid="114" grpId="0"/>
      <p:bldP spid="115" grpId="0"/>
      <p:bldP spid="116" grpId="0"/>
      <p:bldP spid="117" grpId="0"/>
      <p:bldP spid="118" grpId="0"/>
      <p:bldP spid="119" grpId="0" animBg="1"/>
      <p:bldP spid="129" grpId="0"/>
      <p:bldP spid="130" grpId="0"/>
      <p:bldP spid="5" grpId="0" animBg="1"/>
      <p:bldP spid="131" grpId="0"/>
      <p:bldP spid="7" grpId="0" animBg="1"/>
      <p:bldP spid="13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Candara" pitchFamily="34" charset="0"/>
              </a:rPr>
              <a:t>Syntax-Directed 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A </a:t>
            </a:r>
            <a:r>
              <a:rPr lang="en-US" sz="2800" dirty="0">
                <a:solidFill>
                  <a:srgbClr val="C00000"/>
                </a:solidFill>
                <a:latin typeface="Candara" pitchFamily="34" charset="0"/>
              </a:rPr>
              <a:t>context </a:t>
            </a:r>
            <a:r>
              <a:rPr lang="en-US" sz="2800" spc="100" dirty="0">
                <a:solidFill>
                  <a:srgbClr val="C00000"/>
                </a:solidFill>
                <a:latin typeface="Candara" pitchFamily="34" charset="0"/>
              </a:rPr>
              <a:t>free</a:t>
            </a:r>
            <a:r>
              <a:rPr lang="en-US" sz="2800" dirty="0">
                <a:solidFill>
                  <a:srgbClr val="C00000"/>
                </a:solidFill>
                <a:latin typeface="Candara" pitchFamily="34" charset="0"/>
              </a:rPr>
              <a:t> grammar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 together with </a:t>
            </a: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Candara" pitchFamily="34" charset="0"/>
              </a:rPr>
              <a:t>attributes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 and </a:t>
            </a: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Candara" pitchFamily="34" charset="0"/>
              </a:rPr>
              <a:t>rules</a:t>
            </a:r>
          </a:p>
          <a:p>
            <a:pPr lvl="1"/>
            <a:r>
              <a:rPr lang="en-US" sz="2600" dirty="0">
                <a:solidFill>
                  <a:schemeClr val="bg2">
                    <a:lumMod val="10000"/>
                  </a:schemeClr>
                </a:solidFill>
                <a:latin typeface="Candara" pitchFamily="34" charset="0"/>
              </a:rPr>
              <a:t>Attributes associated with grammar symbols</a:t>
            </a:r>
          </a:p>
          <a:p>
            <a:pPr lvl="1"/>
            <a:r>
              <a:rPr lang="en-US" sz="2600" dirty="0">
                <a:solidFill>
                  <a:schemeClr val="bg2">
                    <a:lumMod val="10000"/>
                  </a:schemeClr>
                </a:solidFill>
                <a:latin typeface="Candara" pitchFamily="34" charset="0"/>
              </a:rPr>
              <a:t>Rules associated with productions</a:t>
            </a:r>
          </a:p>
          <a:p>
            <a:pPr lvl="2"/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Candara" pitchFamily="34" charset="0"/>
              </a:rPr>
              <a:t>Rules calculate attributes</a:t>
            </a:r>
          </a:p>
          <a:p>
            <a:pPr lvl="2">
              <a:buNone/>
            </a:pPr>
            <a:endParaRPr lang="en-US" sz="2200" dirty="0">
              <a:solidFill>
                <a:schemeClr val="bg2">
                  <a:lumMod val="25000"/>
                </a:schemeClr>
              </a:solidFill>
              <a:latin typeface="Candara" pitchFamily="34" charset="0"/>
            </a:endParaRPr>
          </a:p>
          <a:p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Candara" pitchFamily="34" charset="0"/>
              </a:rPr>
              <a:t>If </a:t>
            </a:r>
            <a:r>
              <a:rPr lang="en-US" sz="2800" i="1" dirty="0">
                <a:solidFill>
                  <a:srgbClr val="C00000"/>
                </a:solidFill>
                <a:latin typeface="Candara" pitchFamily="34" charset="0"/>
                <a:cs typeface="Courier New" pitchFamily="49" charset="0"/>
              </a:rPr>
              <a:t>a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Candara" pitchFamily="34" charset="0"/>
              </a:rPr>
              <a:t> is an attribute of grammar symbol </a:t>
            </a:r>
            <a:r>
              <a:rPr lang="en-US" sz="2800" i="1" dirty="0">
                <a:solidFill>
                  <a:srgbClr val="C00000"/>
                </a:solidFill>
                <a:latin typeface="Candara" pitchFamily="34" charset="0"/>
              </a:rPr>
              <a:t>X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Candara" pitchFamily="34" charset="0"/>
              </a:rPr>
              <a:t>, then </a:t>
            </a:r>
            <a:r>
              <a:rPr lang="en-US" sz="2800" i="1" dirty="0" err="1">
                <a:solidFill>
                  <a:srgbClr val="C00000"/>
                </a:solidFill>
                <a:latin typeface="Candara" pitchFamily="34" charset="0"/>
              </a:rPr>
              <a:t>X.a</a:t>
            </a:r>
            <a:r>
              <a:rPr lang="en-US" sz="2800" i="1" dirty="0">
                <a:solidFill>
                  <a:schemeClr val="bg2">
                    <a:lumMod val="10000"/>
                  </a:schemeClr>
                </a:solidFill>
                <a:latin typeface="Candara" pitchFamily="34" charset="0"/>
              </a:rPr>
              <a:t> 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Candara" pitchFamily="34" charset="0"/>
              </a:rPr>
              <a:t>denotes the value of </a:t>
            </a:r>
            <a:r>
              <a:rPr lang="en-US" sz="2800" i="1" dirty="0">
                <a:solidFill>
                  <a:srgbClr val="C00000"/>
                </a:solidFill>
                <a:latin typeface="Candara" pitchFamily="34" charset="0"/>
              </a:rPr>
              <a:t>a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Candara" pitchFamily="34" charset="0"/>
              </a:rPr>
              <a:t> at a particular parse tree node labeled as </a:t>
            </a:r>
            <a:r>
              <a:rPr lang="en-US" sz="2800" i="1" dirty="0">
                <a:solidFill>
                  <a:srgbClr val="C00000"/>
                </a:solidFill>
                <a:latin typeface="Candara" pitchFamily="34" charset="0"/>
              </a:rPr>
              <a:t>X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Candara" pitchFamily="34" charset="0"/>
              </a:rPr>
              <a:t>.</a:t>
            </a:r>
            <a:endParaRPr lang="en-US" sz="2800" i="1" dirty="0">
              <a:solidFill>
                <a:schemeClr val="bg2">
                  <a:lumMod val="10000"/>
                </a:schemeClr>
              </a:solidFill>
              <a:latin typeface="Candara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ndara" pitchFamily="34" charset="0"/>
              </a:rPr>
              <a:t>Dept of CSE, BUET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>
                <a:latin typeface="Candara" pitchFamily="34" charset="0"/>
              </a:rPr>
              <a:pPr/>
              <a:t>9</a:t>
            </a:fld>
            <a:endParaRPr lang="en-US">
              <a:latin typeface="Candara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ndara" pitchFamily="34" charset="0"/>
              </a:rPr>
              <a:t>Dept of CSE, BUET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>
                <a:latin typeface="Candara" pitchFamily="34" charset="0"/>
              </a:rPr>
              <a:pPr/>
              <a:t>10</a:t>
            </a:fld>
            <a:endParaRPr lang="en-US">
              <a:latin typeface="Candara" pitchFamily="34" charset="0"/>
            </a:endParaRPr>
          </a:p>
        </p:txBody>
      </p:sp>
      <p:pic>
        <p:nvPicPr>
          <p:cNvPr id="7" name="Content Placeholder 6" descr="annotatedpt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343400" y="1333500"/>
            <a:ext cx="4572000" cy="4152900"/>
          </a:xfrm>
        </p:spPr>
      </p:pic>
      <p:pic>
        <p:nvPicPr>
          <p:cNvPr id="9" name="Picture 8" descr="sddex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4799" y="1567388"/>
            <a:ext cx="3955144" cy="31136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66677" y="5638800"/>
            <a:ext cx="3691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Annotated parse tree for 3 * 5 + 4 $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754868"/>
            <a:ext cx="30168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$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F702C7-548C-93F4-37D3-37C5EC04A04B}"/>
              </a:ext>
            </a:extLst>
          </p:cNvPr>
          <p:cNvSpPr txBox="1"/>
          <p:nvPr/>
        </p:nvSpPr>
        <p:spPr>
          <a:xfrm>
            <a:off x="-152400" y="283295"/>
            <a:ext cx="8599714" cy="78350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>
              <a:spcBef>
                <a:spcPct val="0"/>
              </a:spcBef>
              <a:buNone/>
              <a:defRPr sz="4400">
                <a:solidFill>
                  <a:schemeClr val="tx2">
                    <a:lumMod val="50000"/>
                  </a:schemeClr>
                </a:solidFill>
                <a:latin typeface="Candara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 Example: SDD for desk calculator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0688D0-62BC-FA9B-1478-B5CEC9468136}"/>
              </a:ext>
            </a:extLst>
          </p:cNvPr>
          <p:cNvSpPr txBox="1"/>
          <p:nvPr/>
        </p:nvSpPr>
        <p:spPr>
          <a:xfrm>
            <a:off x="322942" y="4581537"/>
            <a:ext cx="4572000" cy="904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itchFamily="34" charset="0"/>
                <a:ea typeface="+mn-ea"/>
                <a:cs typeface="+mn-cs"/>
              </a:rPr>
              <a:t>What are the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ndara" pitchFamily="34" charset="0"/>
                <a:ea typeface="+mn-ea"/>
                <a:cs typeface="+mn-cs"/>
              </a:rPr>
              <a:t>attributes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itchFamily="34" charset="0"/>
                <a:ea typeface="+mn-ea"/>
                <a:cs typeface="+mn-cs"/>
              </a:rPr>
              <a:t>?</a:t>
            </a: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ndara" pitchFamily="34" charset="0"/>
                <a:ea typeface="+mn-ea"/>
                <a:cs typeface="+mn-cs"/>
              </a:rPr>
              <a:t>val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itchFamily="34" charset="0"/>
                <a:ea typeface="+mn-ea"/>
                <a:cs typeface="+mn-cs"/>
              </a:rPr>
              <a:t> and 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ndara" pitchFamily="34" charset="0"/>
                <a:ea typeface="+mn-ea"/>
                <a:cs typeface="+mn-cs"/>
              </a:rPr>
              <a:t>lexval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Candara" pitchFamily="34" charset="0"/>
              </a:rPr>
              <a:t>Types of 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Need to deal with </a:t>
            </a:r>
            <a:r>
              <a:rPr lang="en-US" sz="2800" dirty="0">
                <a:solidFill>
                  <a:srgbClr val="C00000"/>
                </a:solidFill>
                <a:latin typeface="Candara" pitchFamily="34" charset="0"/>
              </a:rPr>
              <a:t>two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 kinds of attributes for </a:t>
            </a:r>
            <a:r>
              <a:rPr lang="en-US" sz="2800" dirty="0">
                <a:solidFill>
                  <a:srgbClr val="FF0000"/>
                </a:solidFill>
                <a:latin typeface="Candara" pitchFamily="34" charset="0"/>
              </a:rPr>
              <a:t>nonterminals</a:t>
            </a:r>
          </a:p>
          <a:p>
            <a:pPr>
              <a:buNone/>
            </a:pPr>
            <a:endParaRPr lang="en-US" sz="1200" dirty="0">
              <a:solidFill>
                <a:srgbClr val="FF0000"/>
              </a:solidFill>
              <a:latin typeface="Candara" pitchFamily="34" charset="0"/>
            </a:endParaRPr>
          </a:p>
          <a:p>
            <a:pPr lvl="1"/>
            <a:r>
              <a:rPr lang="en-US" sz="2600" dirty="0">
                <a:solidFill>
                  <a:schemeClr val="bg2">
                    <a:lumMod val="10000"/>
                  </a:schemeClr>
                </a:solidFill>
                <a:latin typeface="Candara" pitchFamily="34" charset="0"/>
              </a:rPr>
              <a:t>Synthesized Attributes</a:t>
            </a:r>
          </a:p>
          <a:p>
            <a:pPr lvl="1"/>
            <a:r>
              <a:rPr lang="en-US" sz="2600" dirty="0">
                <a:solidFill>
                  <a:schemeClr val="bg2">
                    <a:lumMod val="10000"/>
                  </a:schemeClr>
                </a:solidFill>
                <a:latin typeface="Candara" pitchFamily="34" charset="0"/>
              </a:rPr>
              <a:t>Inherited Attributes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ndara" pitchFamily="34" charset="0"/>
              </a:rPr>
              <a:t>Dept of CSE, BUET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>
                <a:latin typeface="Candara" pitchFamily="34" charset="0"/>
              </a:rPr>
              <a:pPr/>
              <a:t>11</a:t>
            </a:fld>
            <a:endParaRPr lang="en-US">
              <a:latin typeface="Candar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1677"/>
            <a:ext cx="8229600" cy="1143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Candara" pitchFamily="34" charset="0"/>
              </a:rPr>
              <a:t>Synthesized 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14678"/>
            <a:ext cx="8229600" cy="4811486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Candara" pitchFamily="34" charset="0"/>
              </a:rPr>
              <a:t>Synthesized attributes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 at node </a:t>
            </a:r>
            <a:r>
              <a:rPr lang="en-US" sz="28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N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 are defined only in terms of the attribute value of the children of </a:t>
            </a:r>
            <a:r>
              <a:rPr lang="en-US" sz="28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N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, and </a:t>
            </a:r>
            <a:r>
              <a:rPr lang="en-US" sz="28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N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 itself </a:t>
            </a:r>
          </a:p>
          <a:p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  <a:latin typeface="Candara" pitchFamily="34" charset="0"/>
            </a:endParaRPr>
          </a:p>
          <a:p>
            <a:pPr lvl="1"/>
            <a:endParaRPr lang="en-US" sz="2600" dirty="0">
              <a:solidFill>
                <a:schemeClr val="bg2">
                  <a:lumMod val="10000"/>
                </a:schemeClr>
              </a:solidFill>
              <a:latin typeface="Candara" pitchFamily="34" charset="0"/>
            </a:endParaRPr>
          </a:p>
          <a:p>
            <a:pPr lvl="1"/>
            <a:r>
              <a:rPr lang="en-US" sz="2600" dirty="0">
                <a:solidFill>
                  <a:schemeClr val="bg2">
                    <a:lumMod val="10000"/>
                  </a:schemeClr>
                </a:solidFill>
                <a:latin typeface="Candara" pitchFamily="34" charset="0"/>
              </a:rPr>
              <a:t>Defined at rule of </a:t>
            </a:r>
            <a:r>
              <a:rPr lang="en-US" sz="2600" i="1" dirty="0">
                <a:solidFill>
                  <a:schemeClr val="bg2">
                    <a:lumMod val="10000"/>
                  </a:schemeClr>
                </a:solidFill>
                <a:latin typeface="Candara" pitchFamily="34" charset="0"/>
              </a:rPr>
              <a:t>N</a:t>
            </a:r>
            <a:r>
              <a:rPr lang="en-US" sz="2600" dirty="0">
                <a:solidFill>
                  <a:schemeClr val="bg2">
                    <a:lumMod val="10000"/>
                  </a:schemeClr>
                </a:solidFill>
                <a:latin typeface="Candara" pitchFamily="34" charset="0"/>
              </a:rPr>
              <a:t> node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ndara" pitchFamily="34" charset="0"/>
              </a:rPr>
              <a:t>Dept of CSE, BUET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>
                <a:latin typeface="Candara" pitchFamily="34" charset="0"/>
              </a:rPr>
              <a:pPr/>
              <a:t>12</a:t>
            </a:fld>
            <a:endParaRPr lang="en-US">
              <a:latin typeface="Candara" pitchFamily="34" charset="0"/>
            </a:endParaRPr>
          </a:p>
        </p:txBody>
      </p:sp>
      <p:pic>
        <p:nvPicPr>
          <p:cNvPr id="6" name="Picture 5" descr="synthesizedatt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00212" y="2828925"/>
            <a:ext cx="5743575" cy="600075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013C6A2B-FEE3-6303-E480-E554E4042DBC}"/>
              </a:ext>
            </a:extLst>
          </p:cNvPr>
          <p:cNvGrpSpPr/>
          <p:nvPr/>
        </p:nvGrpSpPr>
        <p:grpSpPr>
          <a:xfrm>
            <a:off x="3886200" y="3810000"/>
            <a:ext cx="3505200" cy="1905000"/>
            <a:chOff x="4495800" y="3886200"/>
            <a:chExt cx="3505200" cy="190500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4CC720D-D970-F766-5C07-E4C6BFAF5D5E}"/>
                </a:ext>
              </a:extLst>
            </p:cNvPr>
            <p:cNvSpPr/>
            <p:nvPr/>
          </p:nvSpPr>
          <p:spPr>
            <a:xfrm>
              <a:off x="6096000" y="3886200"/>
              <a:ext cx="381000" cy="381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7656285-265E-C6F6-E143-58F339DABFFB}"/>
                </a:ext>
              </a:extLst>
            </p:cNvPr>
            <p:cNvSpPr/>
            <p:nvPr/>
          </p:nvSpPr>
          <p:spPr>
            <a:xfrm>
              <a:off x="5257800" y="4648200"/>
              <a:ext cx="381000" cy="381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F2C1401-33AF-A2DD-7ABD-EBC03685FE45}"/>
                </a:ext>
              </a:extLst>
            </p:cNvPr>
            <p:cNvSpPr/>
            <p:nvPr/>
          </p:nvSpPr>
          <p:spPr>
            <a:xfrm>
              <a:off x="6096000" y="4648200"/>
              <a:ext cx="381000" cy="381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C0051F7-F3C5-A050-E2D7-A2BE4482A74C}"/>
                </a:ext>
              </a:extLst>
            </p:cNvPr>
            <p:cNvSpPr/>
            <p:nvPr/>
          </p:nvSpPr>
          <p:spPr>
            <a:xfrm>
              <a:off x="7010400" y="4648200"/>
              <a:ext cx="381000" cy="3810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B0F166B-FEAD-CABB-3510-B6F5176255A1}"/>
                </a:ext>
              </a:extLst>
            </p:cNvPr>
            <p:cNvSpPr/>
            <p:nvPr/>
          </p:nvSpPr>
          <p:spPr>
            <a:xfrm>
              <a:off x="6781800" y="5410200"/>
              <a:ext cx="381000" cy="3810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3AF0477-C3D7-6F5B-7FB6-384BC836569A}"/>
                </a:ext>
              </a:extLst>
            </p:cNvPr>
            <p:cNvSpPr/>
            <p:nvPr/>
          </p:nvSpPr>
          <p:spPr>
            <a:xfrm>
              <a:off x="7620000" y="5410200"/>
              <a:ext cx="381000" cy="3810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52942CA-FCD7-D225-8838-92B3DFC4B633}"/>
                </a:ext>
              </a:extLst>
            </p:cNvPr>
            <p:cNvSpPr/>
            <p:nvPr/>
          </p:nvSpPr>
          <p:spPr>
            <a:xfrm>
              <a:off x="4495800" y="5410200"/>
              <a:ext cx="381000" cy="381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41B074E-7D6A-00B5-3B40-44E4101CEF50}"/>
                </a:ext>
              </a:extLst>
            </p:cNvPr>
            <p:cNvSpPr/>
            <p:nvPr/>
          </p:nvSpPr>
          <p:spPr>
            <a:xfrm>
              <a:off x="5181600" y="5410200"/>
              <a:ext cx="381000" cy="381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B54439C-D180-3CA1-CFA1-6B96AB305E0E}"/>
                </a:ext>
              </a:extLst>
            </p:cNvPr>
            <p:cNvSpPr/>
            <p:nvPr/>
          </p:nvSpPr>
          <p:spPr>
            <a:xfrm>
              <a:off x="5867400" y="5410200"/>
              <a:ext cx="381000" cy="381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813D743-5FEE-CFE6-D5B0-69ED1BBF2A30}"/>
                </a:ext>
              </a:extLst>
            </p:cNvPr>
            <p:cNvCxnSpPr>
              <a:stCxn id="7" idx="3"/>
              <a:endCxn id="8" idx="7"/>
            </p:cNvCxnSpPr>
            <p:nvPr/>
          </p:nvCxnSpPr>
          <p:spPr>
            <a:xfrm rot="5400000">
              <a:off x="5621104" y="4173304"/>
              <a:ext cx="492592" cy="56879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ECE8D22-A4B9-C61A-C36F-56A92D83BC0D}"/>
                </a:ext>
              </a:extLst>
            </p:cNvPr>
            <p:cNvCxnSpPr>
              <a:stCxn id="7" idx="4"/>
              <a:endCxn id="9" idx="0"/>
            </p:cNvCxnSpPr>
            <p:nvPr/>
          </p:nvCxnSpPr>
          <p:spPr>
            <a:xfrm rot="5400000">
              <a:off x="6096000" y="4457700"/>
              <a:ext cx="381000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C848EB6-5CB4-87DC-A743-F4E64D5F0891}"/>
                </a:ext>
              </a:extLst>
            </p:cNvPr>
            <p:cNvCxnSpPr>
              <a:stCxn id="7" idx="5"/>
              <a:endCxn id="10" idx="1"/>
            </p:cNvCxnSpPr>
            <p:nvPr/>
          </p:nvCxnSpPr>
          <p:spPr>
            <a:xfrm rot="16200000" flipH="1">
              <a:off x="6497404" y="4135204"/>
              <a:ext cx="492592" cy="64499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380430F-2AE2-1CC5-F50B-F4F5A71A9D35}"/>
                </a:ext>
              </a:extLst>
            </p:cNvPr>
            <p:cNvCxnSpPr>
              <a:stCxn id="8" idx="3"/>
              <a:endCxn id="13" idx="7"/>
            </p:cNvCxnSpPr>
            <p:nvPr/>
          </p:nvCxnSpPr>
          <p:spPr>
            <a:xfrm rot="5400000">
              <a:off x="4821004" y="4973404"/>
              <a:ext cx="492592" cy="49259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3DAC31B-8334-AAA0-9557-586AB4CD6E27}"/>
                </a:ext>
              </a:extLst>
            </p:cNvPr>
            <p:cNvCxnSpPr>
              <a:stCxn id="8" idx="4"/>
              <a:endCxn id="14" idx="0"/>
            </p:cNvCxnSpPr>
            <p:nvPr/>
          </p:nvCxnSpPr>
          <p:spPr>
            <a:xfrm rot="5400000">
              <a:off x="5219700" y="5181600"/>
              <a:ext cx="381000" cy="762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FA6D93A-22AD-9C8D-7F72-D6547B144CBC}"/>
                </a:ext>
              </a:extLst>
            </p:cNvPr>
            <p:cNvCxnSpPr>
              <a:stCxn id="8" idx="5"/>
              <a:endCxn id="15" idx="1"/>
            </p:cNvCxnSpPr>
            <p:nvPr/>
          </p:nvCxnSpPr>
          <p:spPr>
            <a:xfrm rot="16200000" flipH="1">
              <a:off x="5506804" y="5049604"/>
              <a:ext cx="492592" cy="34019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1F565D4-64A7-582E-2296-A7A611EE54EE}"/>
                </a:ext>
              </a:extLst>
            </p:cNvPr>
            <p:cNvCxnSpPr>
              <a:stCxn id="10" idx="4"/>
              <a:endCxn id="11" idx="0"/>
            </p:cNvCxnSpPr>
            <p:nvPr/>
          </p:nvCxnSpPr>
          <p:spPr>
            <a:xfrm rot="5400000">
              <a:off x="6896100" y="5105400"/>
              <a:ext cx="381000" cy="2286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7B30A97-1A37-9AA8-2ECA-0C1127FCDCC2}"/>
                </a:ext>
              </a:extLst>
            </p:cNvPr>
            <p:cNvCxnSpPr>
              <a:stCxn id="10" idx="5"/>
              <a:endCxn id="12" idx="1"/>
            </p:cNvCxnSpPr>
            <p:nvPr/>
          </p:nvCxnSpPr>
          <p:spPr>
            <a:xfrm rot="16200000" flipH="1">
              <a:off x="7259404" y="5049604"/>
              <a:ext cx="492592" cy="34019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8B3F5A7-C050-AC98-5997-F11200E1C226}"/>
                </a:ext>
              </a:extLst>
            </p:cNvPr>
            <p:cNvSpPr txBox="1"/>
            <p:nvPr/>
          </p:nvSpPr>
          <p:spPr>
            <a:xfrm>
              <a:off x="7010400" y="4625598"/>
              <a:ext cx="3497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i="1" dirty="0">
                  <a:solidFill>
                    <a:schemeClr val="bg1"/>
                  </a:solidFill>
                </a:rPr>
                <a:t>N</a:t>
              </a:r>
              <a:endParaRPr lang="en-US" b="1" i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54E6FF5E-4B2D-0140-BBB6-36657955B5C3}"/>
              </a:ext>
            </a:extLst>
          </p:cNvPr>
          <p:cNvSpPr txBox="1"/>
          <p:nvPr/>
        </p:nvSpPr>
        <p:spPr>
          <a:xfrm>
            <a:off x="6858000" y="4551358"/>
            <a:ext cx="2258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0070C0"/>
                </a:solidFill>
              </a:rPr>
              <a:t>Define </a:t>
            </a:r>
            <a:r>
              <a:rPr lang="en-US" i="1" dirty="0" err="1">
                <a:solidFill>
                  <a:srgbClr val="0070C0"/>
                </a:solidFill>
              </a:rPr>
              <a:t>N.syn</a:t>
            </a:r>
            <a:r>
              <a:rPr lang="en-US" i="1" dirty="0">
                <a:solidFill>
                  <a:srgbClr val="0070C0"/>
                </a:solidFill>
              </a:rPr>
              <a:t> here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Candara" pitchFamily="34" charset="0"/>
              </a:rPr>
              <a:t>Inherited 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Candara" pitchFamily="34" charset="0"/>
              </a:rPr>
              <a:t>Inherited attributes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 at node </a:t>
            </a:r>
            <a:r>
              <a:rPr lang="en-US" sz="28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N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 are defined only in terms of the attribute value </a:t>
            </a:r>
            <a:r>
              <a:rPr lang="en-US" sz="28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N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’s parent, </a:t>
            </a:r>
            <a:r>
              <a:rPr lang="en-US" sz="28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N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 itself and </a:t>
            </a:r>
            <a:r>
              <a:rPr lang="en-US" sz="28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N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’s siblings</a:t>
            </a:r>
          </a:p>
          <a:p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  <a:latin typeface="Candara" pitchFamily="34" charset="0"/>
            </a:endParaRPr>
          </a:p>
          <a:p>
            <a:endParaRPr lang="en-US" sz="1800" dirty="0">
              <a:solidFill>
                <a:schemeClr val="tx1">
                  <a:lumMod val="95000"/>
                  <a:lumOff val="5000"/>
                </a:schemeClr>
              </a:solidFill>
              <a:latin typeface="Candara" pitchFamily="34" charset="0"/>
            </a:endParaRPr>
          </a:p>
          <a:p>
            <a:pPr lvl="1"/>
            <a:r>
              <a:rPr lang="en-US" sz="26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Defined at rule of </a:t>
            </a:r>
            <a:r>
              <a:rPr lang="en-US" sz="2600" dirty="0">
                <a:solidFill>
                  <a:srgbClr val="C00000"/>
                </a:solidFill>
                <a:latin typeface="Candara" pitchFamily="34" charset="0"/>
              </a:rPr>
              <a:t>parent</a:t>
            </a:r>
            <a:r>
              <a:rPr lang="en-US" sz="26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 node of </a:t>
            </a:r>
            <a:r>
              <a:rPr lang="en-US" sz="26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N</a:t>
            </a:r>
            <a:r>
              <a:rPr lang="en-US" sz="26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 node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ndara" pitchFamily="34" charset="0"/>
              </a:rPr>
              <a:t>Dept of CSE, BUET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>
                <a:latin typeface="Candara" pitchFamily="34" charset="0"/>
              </a:rPr>
              <a:pPr/>
              <a:t>13</a:t>
            </a:fld>
            <a:endParaRPr lang="en-US">
              <a:latin typeface="Candara" pitchFamily="34" charset="0"/>
            </a:endParaRPr>
          </a:p>
        </p:txBody>
      </p:sp>
      <p:pic>
        <p:nvPicPr>
          <p:cNvPr id="7" name="Picture 6" descr="inherited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443037" y="2895600"/>
            <a:ext cx="6257925" cy="57150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BEFF6766-4C57-D17B-5434-6E9B778B943E}"/>
              </a:ext>
            </a:extLst>
          </p:cNvPr>
          <p:cNvSpPr txBox="1"/>
          <p:nvPr/>
        </p:nvSpPr>
        <p:spPr>
          <a:xfrm>
            <a:off x="4343512" y="4145909"/>
            <a:ext cx="2258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0070C0"/>
                </a:solidFill>
              </a:rPr>
              <a:t>Define </a:t>
            </a:r>
            <a:r>
              <a:rPr lang="en-US" i="1" dirty="0" err="1">
                <a:solidFill>
                  <a:srgbClr val="0070C0"/>
                </a:solidFill>
              </a:rPr>
              <a:t>N</a:t>
            </a:r>
            <a:r>
              <a:rPr lang="en-US" i="1" baseline="-25000" dirty="0" err="1">
                <a:solidFill>
                  <a:srgbClr val="0070C0"/>
                </a:solidFill>
              </a:rPr>
              <a:t>i</a:t>
            </a:r>
            <a:r>
              <a:rPr lang="en-US" i="1" dirty="0" err="1">
                <a:solidFill>
                  <a:srgbClr val="0070C0"/>
                </a:solidFill>
              </a:rPr>
              <a:t>.inh</a:t>
            </a:r>
            <a:r>
              <a:rPr lang="en-US" i="1" dirty="0">
                <a:solidFill>
                  <a:srgbClr val="0070C0"/>
                </a:solidFill>
              </a:rPr>
              <a:t> here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A8A4C7A-349B-97FE-08F9-6B7C7937D479}"/>
              </a:ext>
            </a:extLst>
          </p:cNvPr>
          <p:cNvGrpSpPr/>
          <p:nvPr/>
        </p:nvGrpSpPr>
        <p:grpSpPr>
          <a:xfrm>
            <a:off x="2286000" y="4267200"/>
            <a:ext cx="3512076" cy="1905000"/>
            <a:chOff x="2286000" y="4267200"/>
            <a:chExt cx="3512076" cy="190500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CE4EEA2-178A-0455-3678-9E65412C5030}"/>
                </a:ext>
              </a:extLst>
            </p:cNvPr>
            <p:cNvGrpSpPr/>
            <p:nvPr/>
          </p:nvGrpSpPr>
          <p:grpSpPr>
            <a:xfrm>
              <a:off x="2286000" y="4267200"/>
              <a:ext cx="3512076" cy="1905000"/>
              <a:chOff x="2590800" y="3886200"/>
              <a:chExt cx="3512076" cy="1905000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466F4707-38A6-1EA8-7D85-1CC1BDCA569B}"/>
                  </a:ext>
                </a:extLst>
              </p:cNvPr>
              <p:cNvSpPr/>
              <p:nvPr/>
            </p:nvSpPr>
            <p:spPr>
              <a:xfrm>
                <a:off x="4191000" y="3886200"/>
                <a:ext cx="381000" cy="381000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A810A73E-8AFF-5318-6C63-9B6F27FD7E49}"/>
                  </a:ext>
                </a:extLst>
              </p:cNvPr>
              <p:cNvSpPr/>
              <p:nvPr/>
            </p:nvSpPr>
            <p:spPr>
              <a:xfrm>
                <a:off x="3352800" y="4648200"/>
                <a:ext cx="381000" cy="381000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4819097E-115F-8ED1-8357-4B1CB8E7F01F}"/>
                  </a:ext>
                </a:extLst>
              </p:cNvPr>
              <p:cNvSpPr/>
              <p:nvPr/>
            </p:nvSpPr>
            <p:spPr>
              <a:xfrm>
                <a:off x="4191000" y="4648200"/>
                <a:ext cx="381000" cy="381000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283F0892-400C-1E76-3D55-BE1C09F50610}"/>
                  </a:ext>
                </a:extLst>
              </p:cNvPr>
              <p:cNvSpPr/>
              <p:nvPr/>
            </p:nvSpPr>
            <p:spPr>
              <a:xfrm>
                <a:off x="5105400" y="4648200"/>
                <a:ext cx="381000" cy="381000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FCD9E2DA-D86F-1B78-8646-7339084FFC82}"/>
                  </a:ext>
                </a:extLst>
              </p:cNvPr>
              <p:cNvSpPr/>
              <p:nvPr/>
            </p:nvSpPr>
            <p:spPr>
              <a:xfrm>
                <a:off x="4876800" y="5410200"/>
                <a:ext cx="381000" cy="381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05156CB6-8604-949E-A792-3B8202C5FFFA}"/>
                  </a:ext>
                </a:extLst>
              </p:cNvPr>
              <p:cNvSpPr/>
              <p:nvPr/>
            </p:nvSpPr>
            <p:spPr>
              <a:xfrm>
                <a:off x="5721876" y="5410200"/>
                <a:ext cx="381000" cy="381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9B7777A6-9956-034F-1B65-A6B40084DF54}"/>
                  </a:ext>
                </a:extLst>
              </p:cNvPr>
              <p:cNvSpPr/>
              <p:nvPr/>
            </p:nvSpPr>
            <p:spPr>
              <a:xfrm>
                <a:off x="2590800" y="5410200"/>
                <a:ext cx="381000" cy="381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0BD7C49D-5572-02AF-120E-7B984D597A35}"/>
                  </a:ext>
                </a:extLst>
              </p:cNvPr>
              <p:cNvSpPr/>
              <p:nvPr/>
            </p:nvSpPr>
            <p:spPr>
              <a:xfrm>
                <a:off x="3276600" y="5410200"/>
                <a:ext cx="381000" cy="381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72F2291F-E1B6-3607-DAFD-C7E4D9BB06CE}"/>
                  </a:ext>
                </a:extLst>
              </p:cNvPr>
              <p:cNvSpPr/>
              <p:nvPr/>
            </p:nvSpPr>
            <p:spPr>
              <a:xfrm>
                <a:off x="3962400" y="5410200"/>
                <a:ext cx="381000" cy="381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894CCC4A-6833-D4D8-25C6-12B8651C1DB8}"/>
                  </a:ext>
                </a:extLst>
              </p:cNvPr>
              <p:cNvCxnSpPr>
                <a:stCxn id="9" idx="3"/>
                <a:endCxn id="10" idx="7"/>
              </p:cNvCxnSpPr>
              <p:nvPr/>
            </p:nvCxnSpPr>
            <p:spPr>
              <a:xfrm rot="5400000">
                <a:off x="3716104" y="4173304"/>
                <a:ext cx="492592" cy="56879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07B9C61A-7BC4-6A84-C98A-E276FA51037A}"/>
                  </a:ext>
                </a:extLst>
              </p:cNvPr>
              <p:cNvCxnSpPr>
                <a:stCxn id="9" idx="4"/>
                <a:endCxn id="11" idx="0"/>
              </p:cNvCxnSpPr>
              <p:nvPr/>
            </p:nvCxnSpPr>
            <p:spPr>
              <a:xfrm rot="5400000">
                <a:off x="4191000" y="4457700"/>
                <a:ext cx="381000" cy="158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3236A08F-1196-9DFE-F11B-2809C947B3E7}"/>
                  </a:ext>
                </a:extLst>
              </p:cNvPr>
              <p:cNvCxnSpPr>
                <a:stCxn id="9" idx="5"/>
                <a:endCxn id="12" idx="1"/>
              </p:cNvCxnSpPr>
              <p:nvPr/>
            </p:nvCxnSpPr>
            <p:spPr>
              <a:xfrm rot="16200000" flipH="1">
                <a:off x="4592404" y="4135204"/>
                <a:ext cx="492592" cy="64499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A5027EF9-19F6-ED8A-38E6-13897AA903A4}"/>
                  </a:ext>
                </a:extLst>
              </p:cNvPr>
              <p:cNvCxnSpPr>
                <a:stCxn id="10" idx="3"/>
                <a:endCxn id="15" idx="7"/>
              </p:cNvCxnSpPr>
              <p:nvPr/>
            </p:nvCxnSpPr>
            <p:spPr>
              <a:xfrm rot="5400000">
                <a:off x="2916004" y="4973404"/>
                <a:ext cx="492592" cy="49259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B380798F-7C6E-720B-DF7F-F8A3B8D31205}"/>
                  </a:ext>
                </a:extLst>
              </p:cNvPr>
              <p:cNvCxnSpPr>
                <a:stCxn id="10" idx="4"/>
                <a:endCxn id="16" idx="0"/>
              </p:cNvCxnSpPr>
              <p:nvPr/>
            </p:nvCxnSpPr>
            <p:spPr>
              <a:xfrm rot="5400000">
                <a:off x="3314700" y="5181600"/>
                <a:ext cx="381000" cy="7620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47EA4354-C429-AED6-B3CB-5D06B0AD09B8}"/>
                  </a:ext>
                </a:extLst>
              </p:cNvPr>
              <p:cNvCxnSpPr>
                <a:stCxn id="10" idx="5"/>
                <a:endCxn id="17" idx="1"/>
              </p:cNvCxnSpPr>
              <p:nvPr/>
            </p:nvCxnSpPr>
            <p:spPr>
              <a:xfrm rot="16200000" flipH="1">
                <a:off x="3601804" y="5049604"/>
                <a:ext cx="492592" cy="34019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B068C10D-BFE4-FE51-86DB-3897540114D6}"/>
                  </a:ext>
                </a:extLst>
              </p:cNvPr>
              <p:cNvCxnSpPr>
                <a:stCxn id="12" idx="4"/>
                <a:endCxn id="13" idx="0"/>
              </p:cNvCxnSpPr>
              <p:nvPr/>
            </p:nvCxnSpPr>
            <p:spPr>
              <a:xfrm rot="5400000">
                <a:off x="4991100" y="5105400"/>
                <a:ext cx="381000" cy="22860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F3911784-5405-5B63-45DB-F875E3F83800}"/>
                  </a:ext>
                </a:extLst>
              </p:cNvPr>
              <p:cNvCxnSpPr>
                <a:stCxn id="12" idx="5"/>
                <a:endCxn id="14" idx="1"/>
              </p:cNvCxnSpPr>
              <p:nvPr/>
            </p:nvCxnSpPr>
            <p:spPr>
              <a:xfrm>
                <a:off x="5430604" y="4973404"/>
                <a:ext cx="347068" cy="49259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D5AC27A-C50F-1302-399F-3AFED4CD6368}"/>
                  </a:ext>
                </a:extLst>
              </p:cNvPr>
              <p:cNvSpPr txBox="1"/>
              <p:nvPr/>
            </p:nvSpPr>
            <p:spPr>
              <a:xfrm>
                <a:off x="5105400" y="4648200"/>
                <a:ext cx="38824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i="1" dirty="0">
                    <a:solidFill>
                      <a:schemeClr val="bg1"/>
                    </a:solidFill>
                  </a:rPr>
                  <a:t>N</a:t>
                </a:r>
                <a:r>
                  <a:rPr lang="en-US" sz="2000" i="1" baseline="-25000" dirty="0">
                    <a:solidFill>
                      <a:schemeClr val="bg1"/>
                    </a:solidFill>
                  </a:rPr>
                  <a:t>i</a:t>
                </a:r>
                <a:endParaRPr lang="en-US" i="1" baseline="-25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4F583EA-BE90-9165-E846-4376E81D66B3}"/>
                </a:ext>
              </a:extLst>
            </p:cNvPr>
            <p:cNvSpPr txBox="1"/>
            <p:nvPr/>
          </p:nvSpPr>
          <p:spPr>
            <a:xfrm>
              <a:off x="3886200" y="4267200"/>
              <a:ext cx="3497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i="1" dirty="0">
                  <a:solidFill>
                    <a:schemeClr val="bg1"/>
                  </a:solidFill>
                </a:rPr>
                <a:t>N</a:t>
              </a:r>
              <a:endParaRPr lang="en-US" i="1" baseline="-25000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Candara" pitchFamily="34" charset="0"/>
              </a:rPr>
              <a:t>Synthesized and Inherited 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Synthesized attribute at node </a:t>
            </a:r>
            <a:r>
              <a:rPr lang="en-US" sz="28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N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 </a:t>
            </a:r>
            <a:r>
              <a:rPr lang="en-US" sz="2800" dirty="0">
                <a:solidFill>
                  <a:srgbClr val="C00000"/>
                </a:solidFill>
                <a:latin typeface="Candara" pitchFamily="34" charset="0"/>
              </a:rPr>
              <a:t>can be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 defined in terms of inherited values of </a:t>
            </a:r>
            <a:r>
              <a:rPr lang="en-US" sz="28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N</a:t>
            </a:r>
          </a:p>
          <a:p>
            <a:endParaRPr lang="en-US" sz="2800" i="1" dirty="0">
              <a:solidFill>
                <a:schemeClr val="tx1">
                  <a:lumMod val="95000"/>
                  <a:lumOff val="5000"/>
                </a:schemeClr>
              </a:solidFill>
              <a:latin typeface="Candara" pitchFamily="34" charset="0"/>
            </a:endParaRPr>
          </a:p>
          <a:p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Inherited attributes at node </a:t>
            </a:r>
            <a:r>
              <a:rPr lang="en-US" sz="28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N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 </a:t>
            </a:r>
            <a:r>
              <a:rPr lang="en-US" sz="2800" dirty="0">
                <a:solidFill>
                  <a:srgbClr val="C00000"/>
                </a:solidFill>
                <a:latin typeface="Candara" pitchFamily="34" charset="0"/>
              </a:rPr>
              <a:t>cannot be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 defined in terms of attribute values of children on </a:t>
            </a:r>
            <a:r>
              <a:rPr lang="en-US" sz="28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N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 node</a:t>
            </a:r>
          </a:p>
          <a:p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  <a:latin typeface="Candara" pitchFamily="34" charset="0"/>
            </a:endParaRPr>
          </a:p>
          <a:p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Terminals can have synthesized attributes only</a:t>
            </a:r>
            <a:endParaRPr lang="en-US" sz="2600" dirty="0">
              <a:solidFill>
                <a:schemeClr val="tx1">
                  <a:lumMod val="95000"/>
                  <a:lumOff val="5000"/>
                </a:schemeClr>
              </a:solidFill>
              <a:latin typeface="Candara" pitchFamily="34" charset="0"/>
            </a:endParaRPr>
          </a:p>
          <a:p>
            <a:pPr lvl="1"/>
            <a:r>
              <a:rPr lang="en-US" sz="2600" dirty="0">
                <a:solidFill>
                  <a:schemeClr val="bg2">
                    <a:lumMod val="10000"/>
                  </a:schemeClr>
                </a:solidFill>
                <a:latin typeface="Candara" pitchFamily="34" charset="0"/>
              </a:rPr>
              <a:t>Supplied by Scanner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ndara" pitchFamily="34" charset="0"/>
              </a:rPr>
              <a:t>Dept of CSE, BUET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>
                <a:latin typeface="Candara" pitchFamily="34" charset="0"/>
              </a:rPr>
              <a:pPr/>
              <a:t>14</a:t>
            </a:fld>
            <a:endParaRPr lang="en-US">
              <a:latin typeface="Candara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Candara" pitchFamily="34" charset="0"/>
              </a:rPr>
              <a:t>Synthesized and Inherited 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Are the attributes synthesized or inherited?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Candara" pitchFamily="34" charset="0"/>
            </a:endParaRPr>
          </a:p>
          <a:p>
            <a:endParaRPr lang="en-US" sz="2400" dirty="0">
              <a:solidFill>
                <a:schemeClr val="bg2">
                  <a:lumMod val="10000"/>
                </a:schemeClr>
              </a:solidFill>
              <a:latin typeface="Candara" pitchFamily="34" charset="0"/>
            </a:endParaRPr>
          </a:p>
          <a:p>
            <a:endParaRPr lang="en-US" sz="2400" dirty="0">
              <a:solidFill>
                <a:schemeClr val="bg2">
                  <a:lumMod val="10000"/>
                </a:schemeClr>
              </a:solidFill>
              <a:latin typeface="Candara" pitchFamily="34" charset="0"/>
            </a:endParaRPr>
          </a:p>
          <a:p>
            <a:endParaRPr lang="en-US" sz="2400" dirty="0">
              <a:solidFill>
                <a:schemeClr val="bg2">
                  <a:lumMod val="10000"/>
                </a:schemeClr>
              </a:solidFill>
              <a:latin typeface="Candara" pitchFamily="34" charset="0"/>
            </a:endParaRPr>
          </a:p>
          <a:p>
            <a:endParaRPr lang="en-US" sz="2400" dirty="0">
              <a:solidFill>
                <a:schemeClr val="bg2">
                  <a:lumMod val="10000"/>
                </a:schemeClr>
              </a:solidFill>
              <a:latin typeface="Candara" pitchFamily="34" charset="0"/>
            </a:endParaRPr>
          </a:p>
          <a:p>
            <a:endParaRPr lang="en-US" sz="2400" dirty="0">
              <a:solidFill>
                <a:schemeClr val="bg2">
                  <a:lumMod val="10000"/>
                </a:schemeClr>
              </a:solidFill>
              <a:latin typeface="Candara" pitchFamily="34" charset="0"/>
            </a:endParaRPr>
          </a:p>
          <a:p>
            <a:endParaRPr lang="en-US" sz="2400" dirty="0">
              <a:solidFill>
                <a:schemeClr val="bg2">
                  <a:lumMod val="10000"/>
                </a:schemeClr>
              </a:solidFill>
              <a:latin typeface="Candara" pitchFamily="34" charset="0"/>
            </a:endParaRPr>
          </a:p>
          <a:p>
            <a:pPr>
              <a:buNone/>
            </a:pPr>
            <a:endParaRPr lang="en-US" sz="2400" dirty="0">
              <a:solidFill>
                <a:schemeClr val="bg2">
                  <a:lumMod val="10000"/>
                </a:schemeClr>
              </a:solidFill>
              <a:latin typeface="Candara" pitchFamily="34" charset="0"/>
            </a:endParaRPr>
          </a:p>
          <a:p>
            <a:pPr>
              <a:buNone/>
            </a:pPr>
            <a:endParaRPr lang="en-US" sz="2400" dirty="0">
              <a:solidFill>
                <a:schemeClr val="bg2">
                  <a:lumMod val="10000"/>
                </a:schemeClr>
              </a:solidFill>
              <a:latin typeface="Candara" pitchFamily="34" charset="0"/>
            </a:endParaRPr>
          </a:p>
          <a:p>
            <a:pPr>
              <a:buNone/>
            </a:pPr>
            <a:endParaRPr lang="en-US" sz="2400" dirty="0">
              <a:solidFill>
                <a:schemeClr val="bg2">
                  <a:lumMod val="10000"/>
                </a:schemeClr>
              </a:solidFill>
              <a:latin typeface="Candara" pitchFamily="34" charset="0"/>
            </a:endParaRPr>
          </a:p>
          <a:p>
            <a:r>
              <a:rPr lang="en-US" sz="2800" i="1" dirty="0" err="1">
                <a:solidFill>
                  <a:srgbClr val="FF0000"/>
                </a:solidFill>
                <a:latin typeface="Candara" pitchFamily="34" charset="0"/>
              </a:rPr>
              <a:t>val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Candara" pitchFamily="34" charset="0"/>
              </a:rPr>
              <a:t> and </a:t>
            </a:r>
            <a:r>
              <a:rPr lang="en-US" sz="2800" i="1" dirty="0" err="1">
                <a:solidFill>
                  <a:srgbClr val="FF0000"/>
                </a:solidFill>
                <a:latin typeface="Candara" pitchFamily="34" charset="0"/>
              </a:rPr>
              <a:t>lexval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Candara" pitchFamily="34" charset="0"/>
              </a:rPr>
              <a:t> are both synthesized</a:t>
            </a:r>
            <a:endParaRPr lang="en-US" sz="2200" dirty="0">
              <a:solidFill>
                <a:schemeClr val="bg2">
                  <a:lumMod val="10000"/>
                </a:schemeClr>
              </a:solidFill>
              <a:latin typeface="Candara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ndara" pitchFamily="34" charset="0"/>
              </a:rPr>
              <a:t>Dept of CSE, BUET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>
                <a:latin typeface="Candara" pitchFamily="34" charset="0"/>
              </a:rPr>
              <a:pPr/>
              <a:t>15</a:t>
            </a:fld>
            <a:endParaRPr lang="en-US">
              <a:latin typeface="Candara" pitchFamily="34" charset="0"/>
            </a:endParaRPr>
          </a:p>
        </p:txBody>
      </p:sp>
      <p:pic>
        <p:nvPicPr>
          <p:cNvPr id="6" name="Picture 5" descr="sddex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52600" y="2026966"/>
            <a:ext cx="5943600" cy="330703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Candara" pitchFamily="34" charset="0"/>
              </a:rPr>
              <a:t>Some 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525963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Candara" pitchFamily="34" charset="0"/>
              </a:rPr>
              <a:t>Attribute Grammar:</a:t>
            </a:r>
          </a:p>
          <a:p>
            <a:pPr lvl="1"/>
            <a:r>
              <a:rPr lang="en-US" sz="2600" dirty="0">
                <a:solidFill>
                  <a:schemeClr val="bg2">
                    <a:lumMod val="10000"/>
                  </a:schemeClr>
                </a:solidFill>
                <a:latin typeface="Candara" pitchFamily="34" charset="0"/>
              </a:rPr>
              <a:t>SDD with no side effects i.e. no print, symbol table insertion</a:t>
            </a:r>
          </a:p>
          <a:p>
            <a:pPr lvl="1"/>
            <a:r>
              <a:rPr lang="en-US" sz="2600" dirty="0">
                <a:solidFill>
                  <a:schemeClr val="bg2">
                    <a:lumMod val="10000"/>
                  </a:schemeClr>
                </a:solidFill>
                <a:latin typeface="Candara" pitchFamily="34" charset="0"/>
              </a:rPr>
              <a:t>Define value of an attribute purely on other attributes and constants</a:t>
            </a:r>
          </a:p>
          <a:p>
            <a:r>
              <a:rPr lang="en-US" sz="2800" dirty="0">
                <a:solidFill>
                  <a:srgbClr val="C00000"/>
                </a:solidFill>
                <a:latin typeface="Candara" pitchFamily="34" charset="0"/>
              </a:rPr>
              <a:t>S-attributed SDD:</a:t>
            </a:r>
          </a:p>
          <a:p>
            <a:pPr lvl="1"/>
            <a:r>
              <a:rPr lang="en-US" sz="2600" dirty="0">
                <a:solidFill>
                  <a:schemeClr val="bg2">
                    <a:lumMod val="10000"/>
                  </a:schemeClr>
                </a:solidFill>
                <a:latin typeface="Candara" pitchFamily="34" charset="0"/>
              </a:rPr>
              <a:t>All attributes are synthesized</a:t>
            </a:r>
          </a:p>
          <a:p>
            <a:pPr lvl="1"/>
            <a:r>
              <a:rPr lang="en-US" sz="2600" dirty="0">
                <a:solidFill>
                  <a:schemeClr val="bg2">
                    <a:lumMod val="10000"/>
                  </a:schemeClr>
                </a:solidFill>
                <a:latin typeface="Candara" pitchFamily="34" charset="0"/>
              </a:rPr>
              <a:t>Each rule computes attribute for head in terms of attributes of nonterminals from body</a:t>
            </a:r>
          </a:p>
          <a:p>
            <a:endParaRPr lang="en-US" sz="3000" dirty="0">
              <a:solidFill>
                <a:schemeClr val="bg2">
                  <a:lumMod val="10000"/>
                </a:schemeClr>
              </a:solidFill>
              <a:latin typeface="Candara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ndara" pitchFamily="34" charset="0"/>
              </a:rPr>
              <a:t>Dept of CSE, BUET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>
                <a:latin typeface="Candara" pitchFamily="34" charset="0"/>
              </a:rPr>
              <a:pPr/>
              <a:t>16</a:t>
            </a:fld>
            <a:endParaRPr lang="en-US">
              <a:latin typeface="Candar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1095"/>
            <a:ext cx="8229600" cy="1143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Candara" pitchFamily="34" charset="0"/>
              </a:rPr>
              <a:t>Some 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endParaRPr lang="en-US" sz="2800" dirty="0">
              <a:solidFill>
                <a:schemeClr val="bg2">
                  <a:lumMod val="10000"/>
                </a:schemeClr>
              </a:solidFill>
              <a:latin typeface="Candara" pitchFamily="34" charset="0"/>
            </a:endParaRPr>
          </a:p>
          <a:p>
            <a:endParaRPr lang="en-US" sz="2800" dirty="0">
              <a:solidFill>
                <a:schemeClr val="bg2">
                  <a:lumMod val="10000"/>
                </a:schemeClr>
              </a:solidFill>
              <a:latin typeface="Candara" pitchFamily="34" charset="0"/>
            </a:endParaRPr>
          </a:p>
          <a:p>
            <a:endParaRPr lang="en-US" sz="2800" dirty="0">
              <a:solidFill>
                <a:schemeClr val="bg2">
                  <a:lumMod val="10000"/>
                </a:schemeClr>
              </a:solidFill>
              <a:latin typeface="Candara" pitchFamily="34" charset="0"/>
            </a:endParaRPr>
          </a:p>
          <a:p>
            <a:endParaRPr lang="en-US" sz="2800" dirty="0">
              <a:solidFill>
                <a:schemeClr val="bg2">
                  <a:lumMod val="10000"/>
                </a:schemeClr>
              </a:solidFill>
              <a:latin typeface="Candara" pitchFamily="34" charset="0"/>
            </a:endParaRPr>
          </a:p>
          <a:p>
            <a:endParaRPr lang="en-US" sz="2800" dirty="0">
              <a:solidFill>
                <a:schemeClr val="bg2">
                  <a:lumMod val="10000"/>
                </a:schemeClr>
              </a:solidFill>
              <a:latin typeface="Candara" pitchFamily="34" charset="0"/>
            </a:endParaRPr>
          </a:p>
          <a:p>
            <a:pPr>
              <a:buNone/>
            </a:pPr>
            <a:endParaRPr lang="en-US" sz="2800" dirty="0">
              <a:solidFill>
                <a:schemeClr val="bg2">
                  <a:lumMod val="10000"/>
                </a:schemeClr>
              </a:solidFill>
              <a:latin typeface="Candara" pitchFamily="34" charset="0"/>
            </a:endParaRPr>
          </a:p>
          <a:p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Candara" pitchFamily="34" charset="0"/>
              </a:rPr>
              <a:t>This can be also called </a:t>
            </a:r>
            <a:r>
              <a:rPr lang="en-US" sz="2800" dirty="0">
                <a:solidFill>
                  <a:srgbClr val="C00000"/>
                </a:solidFill>
                <a:latin typeface="Candara" pitchFamily="34" charset="0"/>
              </a:rPr>
              <a:t>Attribute Grammar</a:t>
            </a:r>
          </a:p>
          <a:p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Candara" pitchFamily="34" charset="0"/>
              </a:rPr>
              <a:t>And </a:t>
            </a:r>
            <a:r>
              <a:rPr lang="en-US" sz="2800" dirty="0">
                <a:solidFill>
                  <a:srgbClr val="C00000"/>
                </a:solidFill>
                <a:latin typeface="Candara" pitchFamily="34" charset="0"/>
              </a:rPr>
              <a:t>S-attributed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ndara" pitchFamily="34" charset="0"/>
              </a:rPr>
              <a:t>Dept of CSE, BUET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>
                <a:latin typeface="Candara" pitchFamily="34" charset="0"/>
              </a:rPr>
              <a:pPr/>
              <a:t>17</a:t>
            </a:fld>
            <a:endParaRPr lang="en-US">
              <a:latin typeface="Candara" pitchFamily="34" charset="0"/>
            </a:endParaRPr>
          </a:p>
        </p:txBody>
      </p:sp>
      <p:pic>
        <p:nvPicPr>
          <p:cNvPr id="6" name="Picture 5" descr="sddex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52600" y="1417366"/>
            <a:ext cx="5943600" cy="330703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Candara" pitchFamily="34" charset="0"/>
              </a:rPr>
              <a:t>Evaluating an SDD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Suppose we have constructed a parse tree first</a:t>
            </a:r>
          </a:p>
          <a:p>
            <a:pPr lvl="1"/>
            <a:r>
              <a:rPr lang="en-US" sz="2600" dirty="0">
                <a:solidFill>
                  <a:schemeClr val="bg2">
                    <a:lumMod val="10000"/>
                  </a:schemeClr>
                </a:solidFill>
                <a:latin typeface="Candara" pitchFamily="34" charset="0"/>
              </a:rPr>
              <a:t>Attributes will be evaluated at each node</a:t>
            </a:r>
          </a:p>
          <a:p>
            <a:pPr lvl="1"/>
            <a:r>
              <a:rPr lang="en-US" sz="2600" dirty="0">
                <a:solidFill>
                  <a:srgbClr val="FF0000"/>
                </a:solidFill>
                <a:latin typeface="Candara" pitchFamily="34" charset="0"/>
              </a:rPr>
              <a:t>A parse tree may not be needed to be built in practice</a:t>
            </a:r>
          </a:p>
          <a:p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In what order do we evaluate attributes?</a:t>
            </a:r>
          </a:p>
          <a:p>
            <a:pPr lvl="1"/>
            <a:r>
              <a:rPr lang="en-US" sz="2600" dirty="0">
                <a:solidFill>
                  <a:schemeClr val="bg2">
                    <a:lumMod val="10000"/>
                  </a:schemeClr>
                </a:solidFill>
                <a:latin typeface="Candara" pitchFamily="34" charset="0"/>
              </a:rPr>
              <a:t>For an S-attributed SDD we must evaluate in bottom-up order (like post-order traversal)</a:t>
            </a:r>
          </a:p>
          <a:p>
            <a:pPr lvl="1"/>
            <a:r>
              <a:rPr lang="en-US" sz="2600" dirty="0">
                <a:solidFill>
                  <a:srgbClr val="FF0000"/>
                </a:solidFill>
                <a:latin typeface="Candara" pitchFamily="34" charset="0"/>
              </a:rPr>
              <a:t>But what if there are inherited attributes also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ndara" pitchFamily="34" charset="0"/>
              </a:rPr>
              <a:t>Dept of CSE, BUET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>
                <a:latin typeface="Candara" pitchFamily="34" charset="0"/>
              </a:rPr>
              <a:pPr/>
              <a:t>18</a:t>
            </a:fld>
            <a:endParaRPr lang="en-US">
              <a:latin typeface="Candar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Oval 60">
            <a:extLst>
              <a:ext uri="{FF2B5EF4-FFF2-40B4-BE49-F238E27FC236}">
                <a16:creationId xmlns:a16="http://schemas.microsoft.com/office/drawing/2014/main" id="{C48DBF65-F1A4-CB3A-2D94-00520D5E0A8F}"/>
              </a:ext>
            </a:extLst>
          </p:cNvPr>
          <p:cNvSpPr/>
          <p:nvPr/>
        </p:nvSpPr>
        <p:spPr>
          <a:xfrm>
            <a:off x="3380325" y="2987608"/>
            <a:ext cx="3810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</a:t>
            </a: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7AB2DD55-DB39-ECCC-E73A-C5167E3B2516}"/>
              </a:ext>
            </a:extLst>
          </p:cNvPr>
          <p:cNvSpPr/>
          <p:nvPr/>
        </p:nvSpPr>
        <p:spPr>
          <a:xfrm>
            <a:off x="1685753" y="3784661"/>
            <a:ext cx="2794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F6004308-6EEF-C0FE-5AFA-6B44C466C560}"/>
              </a:ext>
            </a:extLst>
          </p:cNvPr>
          <p:cNvSpPr/>
          <p:nvPr/>
        </p:nvSpPr>
        <p:spPr>
          <a:xfrm>
            <a:off x="1295400" y="4546559"/>
            <a:ext cx="1033348" cy="48351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digit</a:t>
            </a:r>
          </a:p>
        </p:txBody>
      </p: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541D80AF-A585-1841-0E4C-C31C9C43A605}"/>
              </a:ext>
            </a:extLst>
          </p:cNvPr>
          <p:cNvCxnSpPr>
            <a:cxnSpLocks/>
            <a:endCxn id="100" idx="7"/>
          </p:cNvCxnSpPr>
          <p:nvPr/>
        </p:nvCxnSpPr>
        <p:spPr>
          <a:xfrm flipH="1">
            <a:off x="1924236" y="3308500"/>
            <a:ext cx="1508227" cy="531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264BCD36-6FB4-9F84-58D9-E2EE8B11D4AF}"/>
              </a:ext>
            </a:extLst>
          </p:cNvPr>
          <p:cNvCxnSpPr>
            <a:cxnSpLocks/>
            <a:stCxn id="102" idx="0"/>
            <a:endCxn id="100" idx="4"/>
          </p:cNvCxnSpPr>
          <p:nvPr/>
        </p:nvCxnSpPr>
        <p:spPr>
          <a:xfrm flipV="1">
            <a:off x="1812074" y="4165661"/>
            <a:ext cx="13379" cy="3808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4" name="TextBox 343">
            <a:extLst>
              <a:ext uri="{FF2B5EF4-FFF2-40B4-BE49-F238E27FC236}">
                <a16:creationId xmlns:a16="http://schemas.microsoft.com/office/drawing/2014/main" id="{47FD3720-4B70-7E07-36A3-688DD7B0074F}"/>
              </a:ext>
            </a:extLst>
          </p:cNvPr>
          <p:cNvSpPr txBox="1"/>
          <p:nvPr/>
        </p:nvSpPr>
        <p:spPr>
          <a:xfrm>
            <a:off x="228600" y="0"/>
            <a:ext cx="38826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chemeClr val="bg1">
                    <a:lumMod val="75000"/>
                  </a:schemeClr>
                </a:solidFill>
              </a:rPr>
              <a:t>Evaluate:</a:t>
            </a:r>
            <a:r>
              <a:rPr lang="en-US" sz="2400" dirty="0">
                <a:solidFill>
                  <a:srgbClr val="0070C0"/>
                </a:solidFill>
              </a:rPr>
              <a:t> 2*3*4</a:t>
            </a:r>
          </a:p>
        </p:txBody>
      </p:sp>
      <p:sp>
        <p:nvSpPr>
          <p:cNvPr id="345" name="TextBox 344">
            <a:extLst>
              <a:ext uri="{FF2B5EF4-FFF2-40B4-BE49-F238E27FC236}">
                <a16:creationId xmlns:a16="http://schemas.microsoft.com/office/drawing/2014/main" id="{1BCD9F4C-1922-46B2-4507-6A4DCE6FC134}"/>
              </a:ext>
            </a:extLst>
          </p:cNvPr>
          <p:cNvSpPr txBox="1"/>
          <p:nvPr/>
        </p:nvSpPr>
        <p:spPr>
          <a:xfrm>
            <a:off x="7124567" y="2571690"/>
            <a:ext cx="1792514" cy="400110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7030A0"/>
                </a:solidFill>
              </a:rPr>
              <a:t>Parse Tree</a:t>
            </a:r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9A541F55-425E-90D1-A015-8681C3CB47BF}"/>
              </a:ext>
            </a:extLst>
          </p:cNvPr>
          <p:cNvSpPr/>
          <p:nvPr/>
        </p:nvSpPr>
        <p:spPr>
          <a:xfrm>
            <a:off x="4603970" y="3702889"/>
            <a:ext cx="630664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</a:t>
            </a:r>
            <a:r>
              <a:rPr lang="en-US" sz="2000" baseline="30000" dirty="0">
                <a:solidFill>
                  <a:schemeClr val="tx1"/>
                </a:solidFill>
              </a:rPr>
              <a:t>/</a:t>
            </a:r>
            <a:endParaRPr lang="en-US" sz="2000" dirty="0">
              <a:solidFill>
                <a:schemeClr val="tx1"/>
              </a:solidFill>
            </a:endParaRPr>
          </a:p>
        </p:txBody>
      </p: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7496F18B-2468-2782-ADF5-9B27E4FAB4F5}"/>
              </a:ext>
            </a:extLst>
          </p:cNvPr>
          <p:cNvCxnSpPr>
            <a:cxnSpLocks/>
          </p:cNvCxnSpPr>
          <p:nvPr/>
        </p:nvCxnSpPr>
        <p:spPr>
          <a:xfrm>
            <a:off x="3715210" y="3298080"/>
            <a:ext cx="982238" cy="4812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Oval 128">
            <a:extLst>
              <a:ext uri="{FF2B5EF4-FFF2-40B4-BE49-F238E27FC236}">
                <a16:creationId xmlns:a16="http://schemas.microsoft.com/office/drawing/2014/main" id="{B38325B0-A854-682A-3F90-51E826D1F9B8}"/>
              </a:ext>
            </a:extLst>
          </p:cNvPr>
          <p:cNvSpPr/>
          <p:nvPr/>
        </p:nvSpPr>
        <p:spPr>
          <a:xfrm>
            <a:off x="4191000" y="4578546"/>
            <a:ext cx="3810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5630887B-9FE6-85FC-E35D-E1F9418F251C}"/>
              </a:ext>
            </a:extLst>
          </p:cNvPr>
          <p:cNvSpPr/>
          <p:nvPr/>
        </p:nvSpPr>
        <p:spPr>
          <a:xfrm>
            <a:off x="2209800" y="4578546"/>
            <a:ext cx="3810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*</a:t>
            </a:r>
          </a:p>
        </p:txBody>
      </p: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9178EB7B-DA7F-1DF9-4358-8346E9A5CA77}"/>
              </a:ext>
            </a:extLst>
          </p:cNvPr>
          <p:cNvCxnSpPr>
            <a:cxnSpLocks/>
            <a:stCxn id="119" idx="3"/>
            <a:endCxn id="130" idx="7"/>
          </p:cNvCxnSpPr>
          <p:nvPr/>
        </p:nvCxnSpPr>
        <p:spPr>
          <a:xfrm flipH="1">
            <a:off x="2535004" y="4148205"/>
            <a:ext cx="2161325" cy="4861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D02A860E-3CB8-7D56-43F1-ED4EA199F865}"/>
              </a:ext>
            </a:extLst>
          </p:cNvPr>
          <p:cNvCxnSpPr>
            <a:cxnSpLocks/>
            <a:stCxn id="119" idx="4"/>
            <a:endCxn id="129" idx="0"/>
          </p:cNvCxnSpPr>
          <p:nvPr/>
        </p:nvCxnSpPr>
        <p:spPr>
          <a:xfrm flipH="1">
            <a:off x="4381500" y="4224609"/>
            <a:ext cx="537802" cy="3539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Oval 168">
            <a:extLst>
              <a:ext uri="{FF2B5EF4-FFF2-40B4-BE49-F238E27FC236}">
                <a16:creationId xmlns:a16="http://schemas.microsoft.com/office/drawing/2014/main" id="{6FDF8228-A600-F56A-EB09-8F7863ADD97D}"/>
              </a:ext>
            </a:extLst>
          </p:cNvPr>
          <p:cNvSpPr/>
          <p:nvPr/>
        </p:nvSpPr>
        <p:spPr>
          <a:xfrm>
            <a:off x="7543801" y="6222085"/>
            <a:ext cx="470274" cy="40731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Ɛ</a:t>
            </a:r>
          </a:p>
        </p:txBody>
      </p:sp>
      <p:sp>
        <p:nvSpPr>
          <p:cNvPr id="453" name="TextBox 452">
            <a:extLst>
              <a:ext uri="{FF2B5EF4-FFF2-40B4-BE49-F238E27FC236}">
                <a16:creationId xmlns:a16="http://schemas.microsoft.com/office/drawing/2014/main" id="{C1F0B4D3-9463-A7DA-3C85-F44315579481}"/>
              </a:ext>
            </a:extLst>
          </p:cNvPr>
          <p:cNvSpPr txBox="1"/>
          <p:nvPr/>
        </p:nvSpPr>
        <p:spPr>
          <a:xfrm>
            <a:off x="1447800" y="4121346"/>
            <a:ext cx="478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DF846C60-73B3-E929-1676-96535B212882}"/>
              </a:ext>
            </a:extLst>
          </p:cNvPr>
          <p:cNvCxnSpPr>
            <a:cxnSpLocks/>
            <a:endCxn id="169" idx="0"/>
          </p:cNvCxnSpPr>
          <p:nvPr/>
        </p:nvCxnSpPr>
        <p:spPr>
          <a:xfrm>
            <a:off x="7772401" y="5809684"/>
            <a:ext cx="6537" cy="4124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B01DA9A4-17A8-95BE-5B44-E4DCF5803D3B}"/>
              </a:ext>
            </a:extLst>
          </p:cNvPr>
          <p:cNvGrpSpPr/>
          <p:nvPr/>
        </p:nvGrpSpPr>
        <p:grpSpPr>
          <a:xfrm>
            <a:off x="295952" y="516346"/>
            <a:ext cx="1228048" cy="1418959"/>
            <a:chOff x="295952" y="615105"/>
            <a:chExt cx="1228048" cy="1418959"/>
          </a:xfrm>
        </p:grpSpPr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CA87C1F6-DEF0-E4A4-16F9-E29EDD7472AE}"/>
                </a:ext>
              </a:extLst>
            </p:cNvPr>
            <p:cNvSpPr txBox="1"/>
            <p:nvPr/>
          </p:nvSpPr>
          <p:spPr>
            <a:xfrm>
              <a:off x="295952" y="615105"/>
              <a:ext cx="1228048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Production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1360E127-A176-22E6-B6B2-3D05D90364F6}"/>
                </a:ext>
              </a:extLst>
            </p:cNvPr>
            <p:cNvSpPr txBox="1"/>
            <p:nvPr/>
          </p:nvSpPr>
          <p:spPr>
            <a:xfrm>
              <a:off x="295952" y="1322275"/>
              <a:ext cx="1228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 </a:t>
              </a:r>
              <a:r>
                <a:rPr lang="en-US" dirty="0">
                  <a:sym typeface="Wingdings" panose="05000000000000000000" pitchFamily="2" charset="2"/>
                </a:rPr>
                <a:t> F</a:t>
              </a:r>
              <a:endParaRPr lang="en-US" dirty="0"/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CCF4A58F-323B-EA66-CADE-EC956E9DD324}"/>
                </a:ext>
              </a:extLst>
            </p:cNvPr>
            <p:cNvSpPr txBox="1"/>
            <p:nvPr/>
          </p:nvSpPr>
          <p:spPr>
            <a:xfrm>
              <a:off x="295952" y="1664732"/>
              <a:ext cx="1228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 </a:t>
              </a:r>
              <a:r>
                <a:rPr lang="en-US" dirty="0">
                  <a:sym typeface="Wingdings" panose="05000000000000000000" pitchFamily="2" charset="2"/>
                </a:rPr>
                <a:t> digit</a:t>
              </a:r>
              <a:endParaRPr lang="en-US" dirty="0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9AF6D8DD-8098-F28D-25C0-2A40EC9777A6}"/>
                </a:ext>
              </a:extLst>
            </p:cNvPr>
            <p:cNvSpPr txBox="1"/>
            <p:nvPr/>
          </p:nvSpPr>
          <p:spPr>
            <a:xfrm>
              <a:off x="295952" y="970751"/>
              <a:ext cx="1228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 </a:t>
              </a:r>
              <a:r>
                <a:rPr lang="en-US" dirty="0">
                  <a:sym typeface="Wingdings" panose="05000000000000000000" pitchFamily="2" charset="2"/>
                </a:rPr>
                <a:t> T * F</a:t>
              </a:r>
              <a:endParaRPr lang="en-US" dirty="0"/>
            </a:p>
          </p:txBody>
        </p:sp>
      </p:grpSp>
      <p:sp>
        <p:nvSpPr>
          <p:cNvPr id="2" name="Arrow: Right 1">
            <a:extLst>
              <a:ext uri="{FF2B5EF4-FFF2-40B4-BE49-F238E27FC236}">
                <a16:creationId xmlns:a16="http://schemas.microsoft.com/office/drawing/2014/main" id="{94088711-0152-041D-0D07-BFA701E8B97A}"/>
              </a:ext>
            </a:extLst>
          </p:cNvPr>
          <p:cNvSpPr/>
          <p:nvPr/>
        </p:nvSpPr>
        <p:spPr>
          <a:xfrm>
            <a:off x="1828800" y="1219200"/>
            <a:ext cx="780946" cy="533400"/>
          </a:xfrm>
          <a:prstGeom prst="rightArrow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03" name="Group 502">
            <a:extLst>
              <a:ext uri="{FF2B5EF4-FFF2-40B4-BE49-F238E27FC236}">
                <a16:creationId xmlns:a16="http://schemas.microsoft.com/office/drawing/2014/main" id="{D4C40125-B2F7-E6FE-5074-69410B2B31DF}"/>
              </a:ext>
            </a:extLst>
          </p:cNvPr>
          <p:cNvGrpSpPr/>
          <p:nvPr/>
        </p:nvGrpSpPr>
        <p:grpSpPr>
          <a:xfrm>
            <a:off x="2891219" y="487317"/>
            <a:ext cx="1452181" cy="1797789"/>
            <a:chOff x="2891219" y="516346"/>
            <a:chExt cx="1452181" cy="1797789"/>
          </a:xfrm>
        </p:grpSpPr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9033C0B4-5182-4F9F-BA3E-7E5B792F8BE0}"/>
                </a:ext>
              </a:extLst>
            </p:cNvPr>
            <p:cNvSpPr txBox="1"/>
            <p:nvPr/>
          </p:nvSpPr>
          <p:spPr>
            <a:xfrm>
              <a:off x="2959502" y="1258868"/>
              <a:ext cx="13838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</a:t>
              </a:r>
              <a:r>
                <a:rPr lang="en-US" baseline="30000" dirty="0">
                  <a:sym typeface="Wingdings" panose="05000000000000000000" pitchFamily="2" charset="2"/>
                </a:rPr>
                <a:t> /</a:t>
              </a:r>
              <a:r>
                <a:rPr lang="en-US" dirty="0"/>
                <a:t> </a:t>
              </a:r>
              <a:r>
                <a:rPr lang="en-US" dirty="0">
                  <a:sym typeface="Wingdings" panose="05000000000000000000" pitchFamily="2" charset="2"/>
                </a:rPr>
                <a:t> * F T</a:t>
              </a:r>
              <a:r>
                <a:rPr lang="en-US" baseline="-25000" dirty="0">
                  <a:sym typeface="Wingdings" panose="05000000000000000000" pitchFamily="2" charset="2"/>
                </a:rPr>
                <a:t>1</a:t>
              </a:r>
              <a:r>
                <a:rPr lang="en-US" baseline="30000" dirty="0">
                  <a:sym typeface="Wingdings" panose="05000000000000000000" pitchFamily="2" charset="2"/>
                </a:rPr>
                <a:t>/</a:t>
              </a:r>
              <a:endParaRPr lang="en-US" dirty="0"/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CC1E5A29-27F9-660E-F988-33B3CD374B24}"/>
                </a:ext>
              </a:extLst>
            </p:cNvPr>
            <p:cNvSpPr txBox="1"/>
            <p:nvPr/>
          </p:nvSpPr>
          <p:spPr>
            <a:xfrm>
              <a:off x="2959502" y="1944803"/>
              <a:ext cx="1228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 </a:t>
              </a:r>
              <a:r>
                <a:rPr lang="en-US" dirty="0">
                  <a:sym typeface="Wingdings" panose="05000000000000000000" pitchFamily="2" charset="2"/>
                </a:rPr>
                <a:t> digit</a:t>
              </a:r>
              <a:endParaRPr lang="en-US" dirty="0"/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48990C20-425B-A2A7-ED25-B631FB969DCB}"/>
                </a:ext>
              </a:extLst>
            </p:cNvPr>
            <p:cNvSpPr txBox="1"/>
            <p:nvPr/>
          </p:nvSpPr>
          <p:spPr>
            <a:xfrm>
              <a:off x="2959502" y="915901"/>
              <a:ext cx="1228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 </a:t>
              </a:r>
              <a:r>
                <a:rPr lang="en-US" dirty="0">
                  <a:sym typeface="Wingdings" panose="05000000000000000000" pitchFamily="2" charset="2"/>
                </a:rPr>
                <a:t> F T</a:t>
              </a:r>
              <a:r>
                <a:rPr lang="en-US" baseline="30000" dirty="0">
                  <a:sym typeface="Wingdings" panose="05000000000000000000" pitchFamily="2" charset="2"/>
                </a:rPr>
                <a:t>/</a:t>
              </a:r>
              <a:endParaRPr lang="en-US" baseline="30000" dirty="0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51EBF6AA-5ADE-9B9F-7E5D-C292DDC201F6}"/>
                </a:ext>
              </a:extLst>
            </p:cNvPr>
            <p:cNvSpPr txBox="1"/>
            <p:nvPr/>
          </p:nvSpPr>
          <p:spPr>
            <a:xfrm>
              <a:off x="2968350" y="1601836"/>
              <a:ext cx="1228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</a:t>
              </a:r>
              <a:r>
                <a:rPr lang="en-US" baseline="30000" dirty="0">
                  <a:sym typeface="Wingdings" panose="05000000000000000000" pitchFamily="2" charset="2"/>
                </a:rPr>
                <a:t> /</a:t>
              </a:r>
              <a:r>
                <a:rPr lang="en-US" dirty="0"/>
                <a:t> </a:t>
              </a:r>
              <a:r>
                <a:rPr lang="en-US" dirty="0">
                  <a:sym typeface="Wingdings" panose="05000000000000000000" pitchFamily="2" charset="2"/>
                </a:rPr>
                <a:t> Ɛ</a:t>
              </a:r>
              <a:endParaRPr lang="en-US" dirty="0"/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CB3A3BAA-4E45-3569-586A-0AAE12A29247}"/>
                </a:ext>
              </a:extLst>
            </p:cNvPr>
            <p:cNvSpPr txBox="1"/>
            <p:nvPr/>
          </p:nvSpPr>
          <p:spPr>
            <a:xfrm>
              <a:off x="2891219" y="516346"/>
              <a:ext cx="1359211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Production</a:t>
              </a:r>
            </a:p>
          </p:txBody>
        </p:sp>
      </p:grpSp>
      <p:sp>
        <p:nvSpPr>
          <p:cNvPr id="107" name="TextBox 106">
            <a:extLst>
              <a:ext uri="{FF2B5EF4-FFF2-40B4-BE49-F238E27FC236}">
                <a16:creationId xmlns:a16="http://schemas.microsoft.com/office/drawing/2014/main" id="{969A2C10-929A-B5F3-685B-A6141543B4C8}"/>
              </a:ext>
            </a:extLst>
          </p:cNvPr>
          <p:cNvSpPr txBox="1"/>
          <p:nvPr/>
        </p:nvSpPr>
        <p:spPr>
          <a:xfrm>
            <a:off x="1151395" y="1828800"/>
            <a:ext cx="1971604" cy="584775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>
                <a:solidFill>
                  <a:schemeClr val="accent4">
                    <a:lumMod val="75000"/>
                  </a:schemeClr>
                </a:solidFill>
              </a:rPr>
              <a:t>Eliminating Left Recursion </a:t>
            </a:r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56E3A839-77AC-4E3D-B6FF-7E115E086233}"/>
              </a:ext>
            </a:extLst>
          </p:cNvPr>
          <p:cNvSpPr/>
          <p:nvPr/>
        </p:nvSpPr>
        <p:spPr>
          <a:xfrm>
            <a:off x="6114102" y="4514026"/>
            <a:ext cx="652329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</a:t>
            </a:r>
            <a:r>
              <a:rPr lang="en-US" sz="2000" baseline="-25000" dirty="0">
                <a:solidFill>
                  <a:schemeClr val="tx1"/>
                </a:solidFill>
              </a:rPr>
              <a:t>1</a:t>
            </a:r>
            <a:r>
              <a:rPr lang="en-US" sz="2000" baseline="30000" dirty="0">
                <a:solidFill>
                  <a:schemeClr val="tx1"/>
                </a:solidFill>
              </a:rPr>
              <a:t>/</a:t>
            </a:r>
            <a:endParaRPr lang="en-US" sz="2000" dirty="0">
              <a:solidFill>
                <a:schemeClr val="tx1"/>
              </a:solidFill>
            </a:endParaRPr>
          </a:p>
        </p:txBody>
      </p: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478B5EB3-CACA-3944-B03C-3D5460EAE0E8}"/>
              </a:ext>
            </a:extLst>
          </p:cNvPr>
          <p:cNvCxnSpPr>
            <a:cxnSpLocks/>
            <a:stCxn id="119" idx="5"/>
            <a:endCxn id="132" idx="0"/>
          </p:cNvCxnSpPr>
          <p:nvPr/>
        </p:nvCxnSpPr>
        <p:spPr>
          <a:xfrm>
            <a:off x="5142275" y="4148205"/>
            <a:ext cx="1297992" cy="3658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Oval 136">
            <a:extLst>
              <a:ext uri="{FF2B5EF4-FFF2-40B4-BE49-F238E27FC236}">
                <a16:creationId xmlns:a16="http://schemas.microsoft.com/office/drawing/2014/main" id="{6B85E0CE-D5B0-CA8E-F121-DBDFC83DE02D}"/>
              </a:ext>
            </a:extLst>
          </p:cNvPr>
          <p:cNvSpPr/>
          <p:nvPr/>
        </p:nvSpPr>
        <p:spPr>
          <a:xfrm>
            <a:off x="6505588" y="5329850"/>
            <a:ext cx="3810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20D170D6-718C-E05F-2F37-E65E8BF31984}"/>
              </a:ext>
            </a:extLst>
          </p:cNvPr>
          <p:cNvSpPr/>
          <p:nvPr/>
        </p:nvSpPr>
        <p:spPr>
          <a:xfrm>
            <a:off x="4775496" y="5301296"/>
            <a:ext cx="3810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3AFA5182-06A5-19FE-A5F6-A4626E326D63}"/>
              </a:ext>
            </a:extLst>
          </p:cNvPr>
          <p:cNvSpPr/>
          <p:nvPr/>
        </p:nvSpPr>
        <p:spPr>
          <a:xfrm>
            <a:off x="7467600" y="5282627"/>
            <a:ext cx="755463" cy="48351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</a:t>
            </a:r>
            <a:r>
              <a:rPr lang="en-US" sz="2000" baseline="-25000" dirty="0">
                <a:solidFill>
                  <a:schemeClr val="tx1"/>
                </a:solidFill>
              </a:rPr>
              <a:t>2</a:t>
            </a:r>
            <a:r>
              <a:rPr lang="en-US" sz="2000" baseline="30000" dirty="0">
                <a:solidFill>
                  <a:schemeClr val="tx1"/>
                </a:solidFill>
              </a:rPr>
              <a:t>/</a:t>
            </a:r>
            <a:endParaRPr lang="en-US" sz="2000" dirty="0">
              <a:solidFill>
                <a:schemeClr val="tx1"/>
              </a:solidFill>
            </a:endParaRPr>
          </a:p>
        </p:txBody>
      </p: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84A0523E-D6F1-34B2-78F2-A07054D5F714}"/>
              </a:ext>
            </a:extLst>
          </p:cNvPr>
          <p:cNvCxnSpPr>
            <a:cxnSpLocks/>
            <a:stCxn id="132" idx="3"/>
            <a:endCxn id="140" idx="7"/>
          </p:cNvCxnSpPr>
          <p:nvPr/>
        </p:nvCxnSpPr>
        <p:spPr>
          <a:xfrm flipH="1">
            <a:off x="5100700" y="4959342"/>
            <a:ext cx="1108933" cy="3977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67F2D487-BCD9-63BB-A305-ACB4D184FA2C}"/>
              </a:ext>
            </a:extLst>
          </p:cNvPr>
          <p:cNvCxnSpPr>
            <a:cxnSpLocks/>
            <a:endCxn id="137" idx="0"/>
          </p:cNvCxnSpPr>
          <p:nvPr/>
        </p:nvCxnSpPr>
        <p:spPr>
          <a:xfrm>
            <a:off x="6418856" y="5035746"/>
            <a:ext cx="277232" cy="2941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C647D06F-5D61-D310-16D5-1AE2F4172706}"/>
              </a:ext>
            </a:extLst>
          </p:cNvPr>
          <p:cNvCxnSpPr>
            <a:cxnSpLocks/>
            <a:stCxn id="132" idx="5"/>
            <a:endCxn id="141" idx="1"/>
          </p:cNvCxnSpPr>
          <p:nvPr/>
        </p:nvCxnSpPr>
        <p:spPr>
          <a:xfrm>
            <a:off x="6670900" y="4959342"/>
            <a:ext cx="907335" cy="3940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Oval 149">
            <a:extLst>
              <a:ext uri="{FF2B5EF4-FFF2-40B4-BE49-F238E27FC236}">
                <a16:creationId xmlns:a16="http://schemas.microsoft.com/office/drawing/2014/main" id="{DC5B38B0-433C-45D9-1D27-FE2F7A9F18DA}"/>
              </a:ext>
            </a:extLst>
          </p:cNvPr>
          <p:cNvSpPr/>
          <p:nvPr/>
        </p:nvSpPr>
        <p:spPr>
          <a:xfrm>
            <a:off x="3894035" y="5410252"/>
            <a:ext cx="1033348" cy="48351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digit</a:t>
            </a:r>
          </a:p>
        </p:txBody>
      </p: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EA83A575-F54D-7435-929C-D63E264A8A8A}"/>
              </a:ext>
            </a:extLst>
          </p:cNvPr>
          <p:cNvCxnSpPr>
            <a:cxnSpLocks/>
            <a:stCxn id="150" idx="0"/>
            <a:endCxn id="129" idx="4"/>
          </p:cNvCxnSpPr>
          <p:nvPr/>
        </p:nvCxnSpPr>
        <p:spPr>
          <a:xfrm flipH="1" flipV="1">
            <a:off x="4381500" y="4959546"/>
            <a:ext cx="29209" cy="4507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Oval 151">
            <a:extLst>
              <a:ext uri="{FF2B5EF4-FFF2-40B4-BE49-F238E27FC236}">
                <a16:creationId xmlns:a16="http://schemas.microsoft.com/office/drawing/2014/main" id="{8D0D6405-D752-67E9-AC8E-34CAC3DAB1EF}"/>
              </a:ext>
            </a:extLst>
          </p:cNvPr>
          <p:cNvSpPr/>
          <p:nvPr/>
        </p:nvSpPr>
        <p:spPr>
          <a:xfrm>
            <a:off x="6212114" y="6102342"/>
            <a:ext cx="1033348" cy="48351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digit</a:t>
            </a:r>
          </a:p>
        </p:txBody>
      </p: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A3C7C2A2-C17C-4272-55E3-A8BAECBD7544}"/>
              </a:ext>
            </a:extLst>
          </p:cNvPr>
          <p:cNvCxnSpPr>
            <a:cxnSpLocks/>
            <a:stCxn id="152" idx="0"/>
            <a:endCxn id="137" idx="4"/>
          </p:cNvCxnSpPr>
          <p:nvPr/>
        </p:nvCxnSpPr>
        <p:spPr>
          <a:xfrm flipH="1" flipV="1">
            <a:off x="6696088" y="5710850"/>
            <a:ext cx="32700" cy="3914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TextBox 161">
            <a:extLst>
              <a:ext uri="{FF2B5EF4-FFF2-40B4-BE49-F238E27FC236}">
                <a16:creationId xmlns:a16="http://schemas.microsoft.com/office/drawing/2014/main" id="{D7486195-2585-C074-B854-F97B78B07259}"/>
              </a:ext>
            </a:extLst>
          </p:cNvPr>
          <p:cNvSpPr txBox="1"/>
          <p:nvPr/>
        </p:nvSpPr>
        <p:spPr>
          <a:xfrm>
            <a:off x="4017682" y="4971822"/>
            <a:ext cx="478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B97B6FB4-1FE9-FF9D-68CE-02C7D39B9A8A}"/>
              </a:ext>
            </a:extLst>
          </p:cNvPr>
          <p:cNvSpPr txBox="1"/>
          <p:nvPr/>
        </p:nvSpPr>
        <p:spPr>
          <a:xfrm>
            <a:off x="6324600" y="5809414"/>
            <a:ext cx="478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1B25D43C-54F4-8D7E-602A-3EEE279A7FDA}"/>
              </a:ext>
            </a:extLst>
          </p:cNvPr>
          <p:cNvSpPr txBox="1"/>
          <p:nvPr/>
        </p:nvSpPr>
        <p:spPr>
          <a:xfrm>
            <a:off x="-8848" y="4578546"/>
            <a:ext cx="1532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err="1">
                <a:solidFill>
                  <a:srgbClr val="0070C0"/>
                </a:solidFill>
              </a:rPr>
              <a:t>digit.</a:t>
            </a:r>
            <a:r>
              <a:rPr lang="en-US" i="1" dirty="0" err="1">
                <a:solidFill>
                  <a:srgbClr val="0070C0"/>
                </a:solidFill>
              </a:rPr>
              <a:t>lexval</a:t>
            </a:r>
            <a:r>
              <a:rPr lang="en-US" dirty="0">
                <a:solidFill>
                  <a:srgbClr val="0070C0"/>
                </a:solidFill>
              </a:rPr>
              <a:t>=2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17093162-3AAC-F56C-7593-FC3156B0EACE}"/>
              </a:ext>
            </a:extLst>
          </p:cNvPr>
          <p:cNvSpPr txBox="1"/>
          <p:nvPr/>
        </p:nvSpPr>
        <p:spPr>
          <a:xfrm>
            <a:off x="-77241" y="3828214"/>
            <a:ext cx="1731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err="1">
                <a:solidFill>
                  <a:srgbClr val="0070C0"/>
                </a:solidFill>
              </a:rPr>
              <a:t>F.</a:t>
            </a:r>
            <a:r>
              <a:rPr lang="en-US" i="1" dirty="0" err="1">
                <a:solidFill>
                  <a:srgbClr val="0070C0"/>
                </a:solidFill>
              </a:rPr>
              <a:t>val</a:t>
            </a:r>
            <a:r>
              <a:rPr lang="en-US" dirty="0">
                <a:solidFill>
                  <a:srgbClr val="0070C0"/>
                </a:solidFill>
              </a:rPr>
              <a:t>=</a:t>
            </a:r>
            <a:r>
              <a:rPr lang="en-US" dirty="0" err="1">
                <a:solidFill>
                  <a:srgbClr val="0070C0"/>
                </a:solidFill>
              </a:rPr>
              <a:t>digit.</a:t>
            </a:r>
            <a:r>
              <a:rPr lang="en-US" i="1" dirty="0" err="1">
                <a:solidFill>
                  <a:srgbClr val="0070C0"/>
                </a:solidFill>
              </a:rPr>
              <a:t>lexval</a:t>
            </a:r>
            <a:endParaRPr lang="en-US" i="1" dirty="0">
              <a:solidFill>
                <a:srgbClr val="0070C0"/>
              </a:solidFill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11042DCB-9649-9258-63C3-EEC0ABF5D10B}"/>
              </a:ext>
            </a:extLst>
          </p:cNvPr>
          <p:cNvSpPr txBox="1"/>
          <p:nvPr/>
        </p:nvSpPr>
        <p:spPr>
          <a:xfrm>
            <a:off x="3871060" y="2990014"/>
            <a:ext cx="2112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</a:t>
            </a:r>
            <a:r>
              <a:rPr lang="en-US" baseline="30000" dirty="0">
                <a:solidFill>
                  <a:schemeClr val="accent6">
                    <a:lumMod val="75000"/>
                  </a:schemeClr>
                </a:solidFill>
              </a:rPr>
              <a:t>/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.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inh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=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F.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val</a:t>
            </a:r>
            <a:endParaRPr lang="en-US" i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F3E2F74E-2BA7-0AB3-9575-51BE506535ED}"/>
              </a:ext>
            </a:extLst>
          </p:cNvPr>
          <p:cNvSpPr txBox="1"/>
          <p:nvPr/>
        </p:nvSpPr>
        <p:spPr>
          <a:xfrm>
            <a:off x="2590800" y="4578546"/>
            <a:ext cx="1731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err="1">
                <a:solidFill>
                  <a:srgbClr val="0070C0"/>
                </a:solidFill>
              </a:rPr>
              <a:t>F.</a:t>
            </a:r>
            <a:r>
              <a:rPr lang="en-US" i="1" dirty="0" err="1">
                <a:solidFill>
                  <a:srgbClr val="0070C0"/>
                </a:solidFill>
              </a:rPr>
              <a:t>val</a:t>
            </a:r>
            <a:r>
              <a:rPr lang="en-US" dirty="0">
                <a:solidFill>
                  <a:srgbClr val="0070C0"/>
                </a:solidFill>
              </a:rPr>
              <a:t>=</a:t>
            </a:r>
            <a:r>
              <a:rPr lang="en-US" dirty="0" err="1">
                <a:solidFill>
                  <a:srgbClr val="0070C0"/>
                </a:solidFill>
              </a:rPr>
              <a:t>digit.</a:t>
            </a:r>
            <a:r>
              <a:rPr lang="en-US" i="1" dirty="0" err="1">
                <a:solidFill>
                  <a:srgbClr val="0070C0"/>
                </a:solidFill>
              </a:rPr>
              <a:t>lexval</a:t>
            </a:r>
            <a:endParaRPr lang="en-US" i="1" dirty="0">
              <a:solidFill>
                <a:srgbClr val="0070C0"/>
              </a:solidFill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7B09DDB8-6B60-57E7-4F62-1FD291E17F91}"/>
              </a:ext>
            </a:extLst>
          </p:cNvPr>
          <p:cNvSpPr txBox="1"/>
          <p:nvPr/>
        </p:nvSpPr>
        <p:spPr>
          <a:xfrm>
            <a:off x="2514600" y="5421697"/>
            <a:ext cx="1532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err="1">
                <a:solidFill>
                  <a:srgbClr val="0070C0"/>
                </a:solidFill>
              </a:rPr>
              <a:t>digit.</a:t>
            </a:r>
            <a:r>
              <a:rPr lang="en-US" i="1" dirty="0" err="1">
                <a:solidFill>
                  <a:srgbClr val="0070C0"/>
                </a:solidFill>
              </a:rPr>
              <a:t>lexval</a:t>
            </a:r>
            <a:r>
              <a:rPr lang="en-US" dirty="0">
                <a:solidFill>
                  <a:srgbClr val="0070C0"/>
                </a:solidFill>
              </a:rPr>
              <a:t>=3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CDA5A000-3B6A-D2B1-AE10-44AB4E254954}"/>
              </a:ext>
            </a:extLst>
          </p:cNvPr>
          <p:cNvSpPr txBox="1"/>
          <p:nvPr/>
        </p:nvSpPr>
        <p:spPr>
          <a:xfrm>
            <a:off x="5993093" y="3740346"/>
            <a:ext cx="1287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</a:t>
            </a:r>
            <a:r>
              <a:rPr lang="en-US" baseline="30000" dirty="0">
                <a:solidFill>
                  <a:schemeClr val="accent6">
                    <a:lumMod val="75000"/>
                  </a:schemeClr>
                </a:solidFill>
              </a:rPr>
              <a:t>/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.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inh *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F.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val</a:t>
            </a:r>
            <a:endParaRPr lang="en-US" i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8841D142-394A-F844-47DC-860F8CD1F695}"/>
              </a:ext>
            </a:extLst>
          </p:cNvPr>
          <p:cNvSpPr txBox="1"/>
          <p:nvPr/>
        </p:nvSpPr>
        <p:spPr>
          <a:xfrm>
            <a:off x="5297714" y="3752014"/>
            <a:ext cx="9157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</a:t>
            </a:r>
            <a:r>
              <a:rPr lang="en-US" baseline="-25000" dirty="0">
                <a:solidFill>
                  <a:schemeClr val="accent6">
                    <a:lumMod val="75000"/>
                  </a:schemeClr>
                </a:solidFill>
              </a:rPr>
              <a:t>1</a:t>
            </a:r>
            <a:r>
              <a:rPr lang="en-US" baseline="30000" dirty="0">
                <a:solidFill>
                  <a:schemeClr val="accent6">
                    <a:lumMod val="75000"/>
                  </a:schemeClr>
                </a:solidFill>
              </a:rPr>
              <a:t>/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.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inh=</a:t>
            </a:r>
            <a:endParaRPr lang="en-US" dirty="0"/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7033AC70-DCB4-D612-9E77-722E46ED0156}"/>
              </a:ext>
            </a:extLst>
          </p:cNvPr>
          <p:cNvSpPr txBox="1"/>
          <p:nvPr/>
        </p:nvSpPr>
        <p:spPr>
          <a:xfrm>
            <a:off x="7289900" y="4578546"/>
            <a:ext cx="1473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</a:t>
            </a:r>
            <a:r>
              <a:rPr lang="en-US" baseline="-25000" dirty="0">
                <a:solidFill>
                  <a:schemeClr val="accent6">
                    <a:lumMod val="75000"/>
                  </a:schemeClr>
                </a:solidFill>
              </a:rPr>
              <a:t>1</a:t>
            </a:r>
            <a:r>
              <a:rPr lang="en-US" baseline="30000" dirty="0">
                <a:solidFill>
                  <a:schemeClr val="accent6">
                    <a:lumMod val="75000"/>
                  </a:schemeClr>
                </a:solidFill>
              </a:rPr>
              <a:t>/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.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inh *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F.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val</a:t>
            </a:r>
            <a:endParaRPr lang="en-US" i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0E6167FC-A92A-E7FD-D876-B3C5787EEB13}"/>
              </a:ext>
            </a:extLst>
          </p:cNvPr>
          <p:cNvSpPr txBox="1"/>
          <p:nvPr/>
        </p:nvSpPr>
        <p:spPr>
          <a:xfrm>
            <a:off x="6680547" y="4590117"/>
            <a:ext cx="9157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</a:t>
            </a:r>
            <a:r>
              <a:rPr lang="en-US" baseline="-25000" dirty="0">
                <a:solidFill>
                  <a:schemeClr val="accent6">
                    <a:lumMod val="75000"/>
                  </a:schemeClr>
                </a:solidFill>
              </a:rPr>
              <a:t>2</a:t>
            </a:r>
            <a:r>
              <a:rPr lang="en-US" baseline="30000" dirty="0">
                <a:solidFill>
                  <a:schemeClr val="accent6">
                    <a:lumMod val="75000"/>
                  </a:schemeClr>
                </a:solidFill>
              </a:rPr>
              <a:t>/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.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inh=</a:t>
            </a:r>
            <a:endParaRPr lang="en-US" dirty="0"/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D04CC3A4-A3CF-F374-BC47-2DBD5C9850FF}"/>
              </a:ext>
            </a:extLst>
          </p:cNvPr>
          <p:cNvSpPr txBox="1"/>
          <p:nvPr/>
        </p:nvSpPr>
        <p:spPr>
          <a:xfrm>
            <a:off x="8077369" y="5262088"/>
            <a:ext cx="9936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T</a:t>
            </a:r>
            <a:r>
              <a:rPr lang="en-US" baseline="-25000" dirty="0">
                <a:solidFill>
                  <a:srgbClr val="0070C0"/>
                </a:solidFill>
              </a:rPr>
              <a:t>2</a:t>
            </a:r>
            <a:r>
              <a:rPr lang="en-US" baseline="30000" dirty="0">
                <a:solidFill>
                  <a:srgbClr val="0070C0"/>
                </a:solidFill>
              </a:rPr>
              <a:t>/</a:t>
            </a:r>
            <a:r>
              <a:rPr lang="en-US" dirty="0">
                <a:solidFill>
                  <a:srgbClr val="0070C0"/>
                </a:solidFill>
              </a:rPr>
              <a:t>.</a:t>
            </a:r>
            <a:r>
              <a:rPr lang="en-US" i="1" dirty="0">
                <a:solidFill>
                  <a:srgbClr val="0070C0"/>
                </a:solidFill>
              </a:rPr>
              <a:t>syn=</a:t>
            </a:r>
          </a:p>
          <a:p>
            <a:r>
              <a:rPr lang="en-US" i="1" dirty="0">
                <a:solidFill>
                  <a:srgbClr val="0070C0"/>
                </a:solidFill>
              </a:rPr>
              <a:t>    </a:t>
            </a:r>
            <a:r>
              <a:rPr lang="en-US" dirty="0">
                <a:solidFill>
                  <a:srgbClr val="0070C0"/>
                </a:solidFill>
              </a:rPr>
              <a:t>T</a:t>
            </a:r>
            <a:r>
              <a:rPr lang="en-US" baseline="-25000" dirty="0">
                <a:solidFill>
                  <a:srgbClr val="0070C0"/>
                </a:solidFill>
              </a:rPr>
              <a:t>2</a:t>
            </a:r>
            <a:r>
              <a:rPr lang="en-US" baseline="30000" dirty="0">
                <a:solidFill>
                  <a:srgbClr val="0070C0"/>
                </a:solidFill>
              </a:rPr>
              <a:t>/</a:t>
            </a:r>
            <a:r>
              <a:rPr lang="en-US" dirty="0">
                <a:solidFill>
                  <a:srgbClr val="0070C0"/>
                </a:solidFill>
              </a:rPr>
              <a:t>.</a:t>
            </a:r>
            <a:r>
              <a:rPr lang="en-US" i="1" dirty="0">
                <a:solidFill>
                  <a:srgbClr val="0070C0"/>
                </a:solidFill>
              </a:rPr>
              <a:t>inh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08061A57-0C69-85C5-5DD2-01457A146B38}"/>
              </a:ext>
            </a:extLst>
          </p:cNvPr>
          <p:cNvSpPr txBox="1"/>
          <p:nvPr/>
        </p:nvSpPr>
        <p:spPr>
          <a:xfrm>
            <a:off x="4801386" y="6178746"/>
            <a:ext cx="1532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err="1">
                <a:solidFill>
                  <a:srgbClr val="0070C0"/>
                </a:solidFill>
              </a:rPr>
              <a:t>digit.</a:t>
            </a:r>
            <a:r>
              <a:rPr lang="en-US" i="1" dirty="0" err="1">
                <a:solidFill>
                  <a:srgbClr val="0070C0"/>
                </a:solidFill>
              </a:rPr>
              <a:t>lexval</a:t>
            </a:r>
            <a:r>
              <a:rPr lang="en-US" dirty="0">
                <a:solidFill>
                  <a:srgbClr val="0070C0"/>
                </a:solidFill>
              </a:rPr>
              <a:t>=4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63B4B22F-56F4-A3D2-3B98-01919C098943}"/>
              </a:ext>
            </a:extLst>
          </p:cNvPr>
          <p:cNvSpPr txBox="1"/>
          <p:nvPr/>
        </p:nvSpPr>
        <p:spPr>
          <a:xfrm>
            <a:off x="4876800" y="5428414"/>
            <a:ext cx="1731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err="1">
                <a:solidFill>
                  <a:srgbClr val="0070C0"/>
                </a:solidFill>
              </a:rPr>
              <a:t>F.</a:t>
            </a:r>
            <a:r>
              <a:rPr lang="en-US" i="1" dirty="0" err="1">
                <a:solidFill>
                  <a:srgbClr val="0070C0"/>
                </a:solidFill>
              </a:rPr>
              <a:t>val</a:t>
            </a:r>
            <a:r>
              <a:rPr lang="en-US" dirty="0">
                <a:solidFill>
                  <a:srgbClr val="0070C0"/>
                </a:solidFill>
              </a:rPr>
              <a:t>=</a:t>
            </a:r>
            <a:r>
              <a:rPr lang="en-US" dirty="0" err="1">
                <a:solidFill>
                  <a:srgbClr val="0070C0"/>
                </a:solidFill>
              </a:rPr>
              <a:t>digit.</a:t>
            </a:r>
            <a:r>
              <a:rPr lang="en-US" i="1" dirty="0" err="1">
                <a:solidFill>
                  <a:srgbClr val="0070C0"/>
                </a:solidFill>
              </a:rPr>
              <a:t>lexval</a:t>
            </a:r>
            <a:endParaRPr lang="en-US" i="1" dirty="0">
              <a:solidFill>
                <a:srgbClr val="0070C0"/>
              </a:solidFill>
            </a:endParaRPr>
          </a:p>
        </p:txBody>
      </p: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41A14CB7-29AD-2BCA-B4A1-E52A7BA0B72B}"/>
              </a:ext>
            </a:extLst>
          </p:cNvPr>
          <p:cNvCxnSpPr>
            <a:cxnSpLocks/>
          </p:cNvCxnSpPr>
          <p:nvPr/>
        </p:nvCxnSpPr>
        <p:spPr>
          <a:xfrm>
            <a:off x="5755583" y="4120360"/>
            <a:ext cx="1178618" cy="33342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8" name="Straight Arrow Connector 217">
            <a:extLst>
              <a:ext uri="{FF2B5EF4-FFF2-40B4-BE49-F238E27FC236}">
                <a16:creationId xmlns:a16="http://schemas.microsoft.com/office/drawing/2014/main" id="{B7945E00-0914-117D-3712-1D8C507370AF}"/>
              </a:ext>
            </a:extLst>
          </p:cNvPr>
          <p:cNvCxnSpPr>
            <a:cxnSpLocks/>
          </p:cNvCxnSpPr>
          <p:nvPr/>
        </p:nvCxnSpPr>
        <p:spPr>
          <a:xfrm>
            <a:off x="7239000" y="4950264"/>
            <a:ext cx="905680" cy="33236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9" name="TextBox 218">
            <a:extLst>
              <a:ext uri="{FF2B5EF4-FFF2-40B4-BE49-F238E27FC236}">
                <a16:creationId xmlns:a16="http://schemas.microsoft.com/office/drawing/2014/main" id="{9A0A81BA-5F47-2DC9-4B53-91AAECD97187}"/>
              </a:ext>
            </a:extLst>
          </p:cNvPr>
          <p:cNvSpPr txBox="1"/>
          <p:nvPr/>
        </p:nvSpPr>
        <p:spPr>
          <a:xfrm>
            <a:off x="7086599" y="4197546"/>
            <a:ext cx="16764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T</a:t>
            </a:r>
            <a:r>
              <a:rPr lang="en-US" baseline="-25000" dirty="0">
                <a:solidFill>
                  <a:srgbClr val="0070C0"/>
                </a:solidFill>
              </a:rPr>
              <a:t>1</a:t>
            </a:r>
            <a:r>
              <a:rPr lang="en-US" baseline="30000" dirty="0">
                <a:solidFill>
                  <a:srgbClr val="0070C0"/>
                </a:solidFill>
              </a:rPr>
              <a:t>/</a:t>
            </a:r>
            <a:r>
              <a:rPr lang="en-US" dirty="0">
                <a:solidFill>
                  <a:srgbClr val="0070C0"/>
                </a:solidFill>
              </a:rPr>
              <a:t>.</a:t>
            </a:r>
            <a:r>
              <a:rPr lang="en-US" i="1" dirty="0">
                <a:solidFill>
                  <a:srgbClr val="0070C0"/>
                </a:solidFill>
              </a:rPr>
              <a:t>syn=</a:t>
            </a:r>
            <a:r>
              <a:rPr lang="en-US" dirty="0">
                <a:solidFill>
                  <a:srgbClr val="0070C0"/>
                </a:solidFill>
              </a:rPr>
              <a:t>T</a:t>
            </a:r>
            <a:r>
              <a:rPr lang="en-US" baseline="-25000" dirty="0">
                <a:solidFill>
                  <a:srgbClr val="0070C0"/>
                </a:solidFill>
              </a:rPr>
              <a:t>2</a:t>
            </a:r>
            <a:r>
              <a:rPr lang="en-US" baseline="30000" dirty="0">
                <a:solidFill>
                  <a:srgbClr val="0070C0"/>
                </a:solidFill>
              </a:rPr>
              <a:t>/</a:t>
            </a:r>
            <a:r>
              <a:rPr lang="en-US" dirty="0">
                <a:solidFill>
                  <a:srgbClr val="0070C0"/>
                </a:solidFill>
              </a:rPr>
              <a:t>.</a:t>
            </a:r>
            <a:r>
              <a:rPr lang="en-US" i="1" dirty="0">
                <a:solidFill>
                  <a:srgbClr val="0070C0"/>
                </a:solidFill>
              </a:rPr>
              <a:t>syn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98" name="Freeform: Shape 497">
            <a:extLst>
              <a:ext uri="{FF2B5EF4-FFF2-40B4-BE49-F238E27FC236}">
                <a16:creationId xmlns:a16="http://schemas.microsoft.com/office/drawing/2014/main" id="{D49B9BE3-B076-AC58-E7A7-A1DCB4BC2A4D}"/>
              </a:ext>
            </a:extLst>
          </p:cNvPr>
          <p:cNvSpPr/>
          <p:nvPr/>
        </p:nvSpPr>
        <p:spPr>
          <a:xfrm>
            <a:off x="8639238" y="4473435"/>
            <a:ext cx="305629" cy="827314"/>
          </a:xfrm>
          <a:custGeom>
            <a:avLst/>
            <a:gdLst>
              <a:gd name="connsiteX0" fmla="*/ 72571 w 305629"/>
              <a:gd name="connsiteY0" fmla="*/ 827314 h 827314"/>
              <a:gd name="connsiteX1" fmla="*/ 304800 w 305629"/>
              <a:gd name="connsiteY1" fmla="*/ 348343 h 827314"/>
              <a:gd name="connsiteX2" fmla="*/ 0 w 305629"/>
              <a:gd name="connsiteY2" fmla="*/ 0 h 827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5629" h="827314">
                <a:moveTo>
                  <a:pt x="72571" y="827314"/>
                </a:moveTo>
                <a:cubicBezTo>
                  <a:pt x="194733" y="656771"/>
                  <a:pt x="316895" y="486228"/>
                  <a:pt x="304800" y="348343"/>
                </a:cubicBezTo>
                <a:cubicBezTo>
                  <a:pt x="292705" y="210458"/>
                  <a:pt x="146352" y="105229"/>
                  <a:pt x="0" y="0"/>
                </a:cubicBezTo>
              </a:path>
            </a:pathLst>
          </a:custGeom>
          <a:noFill/>
          <a:ln w="9525">
            <a:solidFill>
              <a:srgbClr val="92D050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02E368D3-27B8-9086-DBC5-1CAE938794DB}"/>
              </a:ext>
            </a:extLst>
          </p:cNvPr>
          <p:cNvSpPr txBox="1"/>
          <p:nvPr/>
        </p:nvSpPr>
        <p:spPr>
          <a:xfrm>
            <a:off x="5257800" y="3446432"/>
            <a:ext cx="16764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T</a:t>
            </a:r>
            <a:r>
              <a:rPr lang="en-US" baseline="30000" dirty="0">
                <a:solidFill>
                  <a:srgbClr val="0070C0"/>
                </a:solidFill>
              </a:rPr>
              <a:t>/</a:t>
            </a:r>
            <a:r>
              <a:rPr lang="en-US" dirty="0">
                <a:solidFill>
                  <a:srgbClr val="0070C0"/>
                </a:solidFill>
              </a:rPr>
              <a:t>.</a:t>
            </a:r>
            <a:r>
              <a:rPr lang="en-US" i="1" dirty="0">
                <a:solidFill>
                  <a:srgbClr val="0070C0"/>
                </a:solidFill>
              </a:rPr>
              <a:t>syn=</a:t>
            </a:r>
            <a:r>
              <a:rPr lang="en-US" dirty="0">
                <a:solidFill>
                  <a:srgbClr val="0070C0"/>
                </a:solidFill>
              </a:rPr>
              <a:t>T</a:t>
            </a:r>
            <a:r>
              <a:rPr lang="en-US" baseline="-25000" dirty="0">
                <a:solidFill>
                  <a:srgbClr val="0070C0"/>
                </a:solidFill>
              </a:rPr>
              <a:t>1</a:t>
            </a:r>
            <a:r>
              <a:rPr lang="en-US" baseline="30000" dirty="0">
                <a:solidFill>
                  <a:srgbClr val="0070C0"/>
                </a:solidFill>
              </a:rPr>
              <a:t>/</a:t>
            </a:r>
            <a:r>
              <a:rPr lang="en-US" dirty="0">
                <a:solidFill>
                  <a:srgbClr val="0070C0"/>
                </a:solidFill>
              </a:rPr>
              <a:t>.</a:t>
            </a:r>
            <a:r>
              <a:rPr lang="en-US" i="1" dirty="0">
                <a:solidFill>
                  <a:srgbClr val="0070C0"/>
                </a:solidFill>
              </a:rPr>
              <a:t>syn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99" name="Freeform: Shape 498">
            <a:extLst>
              <a:ext uri="{FF2B5EF4-FFF2-40B4-BE49-F238E27FC236}">
                <a16:creationId xmlns:a16="http://schemas.microsoft.com/office/drawing/2014/main" id="{409C0CFB-2947-5B6D-EDA2-44CE2A29D586}"/>
              </a:ext>
            </a:extLst>
          </p:cNvPr>
          <p:cNvSpPr/>
          <p:nvPr/>
        </p:nvSpPr>
        <p:spPr>
          <a:xfrm>
            <a:off x="6872396" y="3613872"/>
            <a:ext cx="1036554" cy="566057"/>
          </a:xfrm>
          <a:custGeom>
            <a:avLst/>
            <a:gdLst>
              <a:gd name="connsiteX0" fmla="*/ 1001486 w 1036554"/>
              <a:gd name="connsiteY0" fmla="*/ 566057 h 566057"/>
              <a:gd name="connsiteX1" fmla="*/ 914400 w 1036554"/>
              <a:gd name="connsiteY1" fmla="*/ 116114 h 566057"/>
              <a:gd name="connsiteX2" fmla="*/ 0 w 1036554"/>
              <a:gd name="connsiteY2" fmla="*/ 0 h 566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36554" h="566057">
                <a:moveTo>
                  <a:pt x="1001486" y="566057"/>
                </a:moveTo>
                <a:cubicBezTo>
                  <a:pt x="1041400" y="388257"/>
                  <a:pt x="1081314" y="210457"/>
                  <a:pt x="914400" y="116114"/>
                </a:cubicBezTo>
                <a:cubicBezTo>
                  <a:pt x="747486" y="21771"/>
                  <a:pt x="373743" y="10885"/>
                  <a:pt x="0" y="0"/>
                </a:cubicBezTo>
              </a:path>
            </a:pathLst>
          </a:custGeom>
          <a:noFill/>
          <a:ln w="9525">
            <a:solidFill>
              <a:srgbClr val="92D050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36EE5807-EDA4-AB92-970E-3A0081F3B974}"/>
              </a:ext>
            </a:extLst>
          </p:cNvPr>
          <p:cNvSpPr txBox="1"/>
          <p:nvPr/>
        </p:nvSpPr>
        <p:spPr>
          <a:xfrm>
            <a:off x="3886200" y="2685214"/>
            <a:ext cx="16764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70C0"/>
                </a:solidFill>
              </a:rPr>
              <a:t>T.</a:t>
            </a:r>
            <a:r>
              <a:rPr lang="en-US" i="1" dirty="0" err="1">
                <a:solidFill>
                  <a:srgbClr val="0070C0"/>
                </a:solidFill>
              </a:rPr>
              <a:t>val</a:t>
            </a:r>
            <a:r>
              <a:rPr lang="en-US" i="1" dirty="0">
                <a:solidFill>
                  <a:srgbClr val="0070C0"/>
                </a:solidFill>
              </a:rPr>
              <a:t>=</a:t>
            </a:r>
            <a:r>
              <a:rPr lang="en-US" dirty="0">
                <a:solidFill>
                  <a:srgbClr val="0070C0"/>
                </a:solidFill>
              </a:rPr>
              <a:t>T</a:t>
            </a:r>
            <a:r>
              <a:rPr lang="en-US" baseline="30000" dirty="0">
                <a:solidFill>
                  <a:srgbClr val="0070C0"/>
                </a:solidFill>
              </a:rPr>
              <a:t>/</a:t>
            </a:r>
            <a:r>
              <a:rPr lang="en-US" dirty="0">
                <a:solidFill>
                  <a:srgbClr val="0070C0"/>
                </a:solidFill>
              </a:rPr>
              <a:t>.</a:t>
            </a:r>
            <a:r>
              <a:rPr lang="en-US" i="1" dirty="0">
                <a:solidFill>
                  <a:srgbClr val="0070C0"/>
                </a:solidFill>
              </a:rPr>
              <a:t>syn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500" name="Freeform: Shape 499">
            <a:extLst>
              <a:ext uri="{FF2B5EF4-FFF2-40B4-BE49-F238E27FC236}">
                <a16:creationId xmlns:a16="http://schemas.microsoft.com/office/drawing/2014/main" id="{91390C17-9503-3BF1-6964-867499737706}"/>
              </a:ext>
            </a:extLst>
          </p:cNvPr>
          <p:cNvSpPr/>
          <p:nvPr/>
        </p:nvSpPr>
        <p:spPr>
          <a:xfrm>
            <a:off x="5370286" y="2902146"/>
            <a:ext cx="800456" cy="551543"/>
          </a:xfrm>
          <a:custGeom>
            <a:avLst/>
            <a:gdLst>
              <a:gd name="connsiteX0" fmla="*/ 740228 w 800456"/>
              <a:gd name="connsiteY0" fmla="*/ 551543 h 551543"/>
              <a:gd name="connsiteX1" fmla="*/ 725714 w 800456"/>
              <a:gd name="connsiteY1" fmla="*/ 145143 h 551543"/>
              <a:gd name="connsiteX2" fmla="*/ 0 w 800456"/>
              <a:gd name="connsiteY2" fmla="*/ 0 h 551543"/>
              <a:gd name="connsiteX3" fmla="*/ 0 w 800456"/>
              <a:gd name="connsiteY3" fmla="*/ 0 h 551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0456" h="551543">
                <a:moveTo>
                  <a:pt x="740228" y="551543"/>
                </a:moveTo>
                <a:cubicBezTo>
                  <a:pt x="794656" y="394305"/>
                  <a:pt x="849085" y="237067"/>
                  <a:pt x="725714" y="145143"/>
                </a:cubicBezTo>
                <a:cubicBezTo>
                  <a:pt x="602343" y="53219"/>
                  <a:pt x="0" y="0"/>
                  <a:pt x="0" y="0"/>
                </a:cubicBezTo>
                <a:lnTo>
                  <a:pt x="0" y="0"/>
                </a:lnTo>
              </a:path>
            </a:pathLst>
          </a:custGeom>
          <a:noFill/>
          <a:ln w="9525">
            <a:solidFill>
              <a:srgbClr val="92D050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5D3EADDE-8BF0-CEE0-147E-21F30AC93228}"/>
              </a:ext>
            </a:extLst>
          </p:cNvPr>
          <p:cNvSpPr txBox="1"/>
          <p:nvPr/>
        </p:nvSpPr>
        <p:spPr>
          <a:xfrm>
            <a:off x="4264840" y="910927"/>
            <a:ext cx="4269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</a:t>
            </a:r>
            <a:r>
              <a:rPr lang="en-US" baseline="30000" dirty="0">
                <a:solidFill>
                  <a:schemeClr val="accent6">
                    <a:lumMod val="75000"/>
                  </a:schemeClr>
                </a:solidFill>
              </a:rPr>
              <a:t>/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.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inh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=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F.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val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,  </a:t>
            </a:r>
            <a:r>
              <a:rPr lang="en-US" dirty="0">
                <a:solidFill>
                  <a:srgbClr val="0070C0"/>
                </a:solidFill>
              </a:rPr>
              <a:t>T.</a:t>
            </a:r>
            <a:r>
              <a:rPr lang="en-US" i="1" dirty="0">
                <a:solidFill>
                  <a:srgbClr val="0070C0"/>
                </a:solidFill>
              </a:rPr>
              <a:t>val=</a:t>
            </a:r>
            <a:r>
              <a:rPr lang="en-US" dirty="0">
                <a:solidFill>
                  <a:srgbClr val="0070C0"/>
                </a:solidFill>
              </a:rPr>
              <a:t>T</a:t>
            </a:r>
            <a:r>
              <a:rPr lang="en-US" baseline="30000" dirty="0">
                <a:solidFill>
                  <a:srgbClr val="0070C0"/>
                </a:solidFill>
              </a:rPr>
              <a:t>/</a:t>
            </a:r>
            <a:r>
              <a:rPr lang="en-US" dirty="0">
                <a:solidFill>
                  <a:srgbClr val="0070C0"/>
                </a:solidFill>
              </a:rPr>
              <a:t>.</a:t>
            </a:r>
            <a:r>
              <a:rPr lang="en-US" i="1" dirty="0">
                <a:solidFill>
                  <a:srgbClr val="0070C0"/>
                </a:solidFill>
              </a:rPr>
              <a:t>syn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3463B86F-AAFB-E2B3-0C89-A0FAABF6F2C0}"/>
              </a:ext>
            </a:extLst>
          </p:cNvPr>
          <p:cNvSpPr txBox="1"/>
          <p:nvPr/>
        </p:nvSpPr>
        <p:spPr>
          <a:xfrm>
            <a:off x="4264839" y="1954292"/>
            <a:ext cx="21754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70C0"/>
                </a:solidFill>
              </a:rPr>
              <a:t>F.</a:t>
            </a:r>
            <a:r>
              <a:rPr lang="en-US" i="1" dirty="0" err="1">
                <a:solidFill>
                  <a:srgbClr val="0070C0"/>
                </a:solidFill>
              </a:rPr>
              <a:t>val</a:t>
            </a:r>
            <a:r>
              <a:rPr lang="en-US" dirty="0">
                <a:solidFill>
                  <a:srgbClr val="0070C0"/>
                </a:solidFill>
              </a:rPr>
              <a:t>=</a:t>
            </a:r>
            <a:r>
              <a:rPr lang="en-US" dirty="0" err="1">
                <a:solidFill>
                  <a:srgbClr val="0070C0"/>
                </a:solidFill>
              </a:rPr>
              <a:t>digit.</a:t>
            </a:r>
            <a:r>
              <a:rPr lang="en-US" i="1" dirty="0" err="1">
                <a:solidFill>
                  <a:srgbClr val="0070C0"/>
                </a:solidFill>
              </a:rPr>
              <a:t>lexval</a:t>
            </a:r>
            <a:endParaRPr lang="en-US" i="1" dirty="0">
              <a:solidFill>
                <a:srgbClr val="0070C0"/>
              </a:solidFill>
            </a:endParaRP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6D8AD23D-E460-E772-072A-D1C9D604958B}"/>
              </a:ext>
            </a:extLst>
          </p:cNvPr>
          <p:cNvSpPr txBox="1"/>
          <p:nvPr/>
        </p:nvSpPr>
        <p:spPr>
          <a:xfrm>
            <a:off x="4264840" y="1257539"/>
            <a:ext cx="3879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</a:t>
            </a:r>
            <a:r>
              <a:rPr lang="en-US" baseline="-25000" dirty="0">
                <a:solidFill>
                  <a:schemeClr val="accent6">
                    <a:lumMod val="75000"/>
                  </a:schemeClr>
                </a:solidFill>
              </a:rPr>
              <a:t>1</a:t>
            </a:r>
            <a:r>
              <a:rPr lang="en-US" baseline="30000" dirty="0">
                <a:solidFill>
                  <a:schemeClr val="accent6">
                    <a:lumMod val="75000"/>
                  </a:schemeClr>
                </a:solidFill>
              </a:rPr>
              <a:t>/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.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inh =</a:t>
            </a:r>
            <a:r>
              <a:rPr lang="en-US" dirty="0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</a:t>
            </a:r>
            <a:r>
              <a:rPr lang="en-US" baseline="30000" dirty="0">
                <a:solidFill>
                  <a:schemeClr val="accent6">
                    <a:lumMod val="75000"/>
                  </a:schemeClr>
                </a:solidFill>
              </a:rPr>
              <a:t>/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.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inh *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F.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val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, </a:t>
            </a:r>
            <a:r>
              <a:rPr lang="en-US" dirty="0">
                <a:solidFill>
                  <a:srgbClr val="0070C0"/>
                </a:solidFill>
              </a:rPr>
              <a:t>T</a:t>
            </a:r>
            <a:r>
              <a:rPr lang="en-US" baseline="30000" dirty="0">
                <a:solidFill>
                  <a:srgbClr val="0070C0"/>
                </a:solidFill>
              </a:rPr>
              <a:t>/</a:t>
            </a:r>
            <a:r>
              <a:rPr lang="en-US" dirty="0">
                <a:solidFill>
                  <a:srgbClr val="0070C0"/>
                </a:solidFill>
              </a:rPr>
              <a:t>.</a:t>
            </a:r>
            <a:r>
              <a:rPr lang="en-US" i="1" dirty="0">
                <a:solidFill>
                  <a:srgbClr val="0070C0"/>
                </a:solidFill>
              </a:rPr>
              <a:t>syn = </a:t>
            </a:r>
            <a:r>
              <a:rPr lang="en-US" dirty="0">
                <a:solidFill>
                  <a:srgbClr val="0070C0"/>
                </a:solidFill>
              </a:rPr>
              <a:t>T</a:t>
            </a:r>
            <a:r>
              <a:rPr lang="en-US" baseline="-25000" dirty="0">
                <a:solidFill>
                  <a:srgbClr val="0070C0"/>
                </a:solidFill>
              </a:rPr>
              <a:t>1</a:t>
            </a:r>
            <a:r>
              <a:rPr lang="en-US" baseline="30000" dirty="0">
                <a:solidFill>
                  <a:srgbClr val="0070C0"/>
                </a:solidFill>
              </a:rPr>
              <a:t>/</a:t>
            </a:r>
            <a:r>
              <a:rPr lang="en-US" dirty="0">
                <a:solidFill>
                  <a:srgbClr val="0070C0"/>
                </a:solidFill>
              </a:rPr>
              <a:t>.</a:t>
            </a:r>
            <a:r>
              <a:rPr lang="en-US" i="1" dirty="0">
                <a:solidFill>
                  <a:srgbClr val="0070C0"/>
                </a:solidFill>
              </a:rPr>
              <a:t>syn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8A3913B3-7D09-A876-01A3-6AFD041F7EC2}"/>
              </a:ext>
            </a:extLst>
          </p:cNvPr>
          <p:cNvSpPr txBox="1"/>
          <p:nvPr/>
        </p:nvSpPr>
        <p:spPr>
          <a:xfrm>
            <a:off x="4264839" y="1604334"/>
            <a:ext cx="3957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T</a:t>
            </a:r>
            <a:r>
              <a:rPr lang="en-US" baseline="30000" dirty="0">
                <a:solidFill>
                  <a:srgbClr val="0070C0"/>
                </a:solidFill>
              </a:rPr>
              <a:t>/</a:t>
            </a:r>
            <a:r>
              <a:rPr lang="en-US" dirty="0">
                <a:solidFill>
                  <a:srgbClr val="0070C0"/>
                </a:solidFill>
              </a:rPr>
              <a:t>.</a:t>
            </a:r>
            <a:r>
              <a:rPr lang="en-US" i="1" dirty="0">
                <a:solidFill>
                  <a:srgbClr val="0070C0"/>
                </a:solidFill>
              </a:rPr>
              <a:t>syn = </a:t>
            </a:r>
            <a:r>
              <a:rPr lang="en-US" dirty="0">
                <a:solidFill>
                  <a:srgbClr val="0070C0"/>
                </a:solidFill>
              </a:rPr>
              <a:t>T</a:t>
            </a:r>
            <a:r>
              <a:rPr lang="en-US" baseline="30000" dirty="0">
                <a:solidFill>
                  <a:srgbClr val="0070C0"/>
                </a:solidFill>
              </a:rPr>
              <a:t>/</a:t>
            </a:r>
            <a:r>
              <a:rPr lang="en-US" dirty="0">
                <a:solidFill>
                  <a:srgbClr val="0070C0"/>
                </a:solidFill>
              </a:rPr>
              <a:t>.</a:t>
            </a:r>
            <a:r>
              <a:rPr lang="en-US" i="1" dirty="0">
                <a:solidFill>
                  <a:srgbClr val="0070C0"/>
                </a:solidFill>
              </a:rPr>
              <a:t>inh</a:t>
            </a: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3908E80E-2332-A4BB-AD71-E92270F72B17}"/>
              </a:ext>
            </a:extLst>
          </p:cNvPr>
          <p:cNvSpPr txBox="1"/>
          <p:nvPr/>
        </p:nvSpPr>
        <p:spPr>
          <a:xfrm>
            <a:off x="4254919" y="487134"/>
            <a:ext cx="352401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Semantic Rules</a:t>
            </a:r>
          </a:p>
        </p:txBody>
      </p:sp>
      <p:sp>
        <p:nvSpPr>
          <p:cNvPr id="501" name="Freeform: Shape 500">
            <a:extLst>
              <a:ext uri="{FF2B5EF4-FFF2-40B4-BE49-F238E27FC236}">
                <a16:creationId xmlns:a16="http://schemas.microsoft.com/office/drawing/2014/main" id="{208C7592-7128-3DF0-B2FE-24B1318F9B4F}"/>
              </a:ext>
            </a:extLst>
          </p:cNvPr>
          <p:cNvSpPr/>
          <p:nvPr/>
        </p:nvSpPr>
        <p:spPr>
          <a:xfrm>
            <a:off x="2112339" y="3452955"/>
            <a:ext cx="2583543" cy="537469"/>
          </a:xfrm>
          <a:custGeom>
            <a:avLst/>
            <a:gdLst>
              <a:gd name="connsiteX0" fmla="*/ 0 w 2583543"/>
              <a:gd name="connsiteY0" fmla="*/ 537469 h 537469"/>
              <a:gd name="connsiteX1" fmla="*/ 1407886 w 2583543"/>
              <a:gd name="connsiteY1" fmla="*/ 441 h 537469"/>
              <a:gd name="connsiteX2" fmla="*/ 2583543 w 2583543"/>
              <a:gd name="connsiteY2" fmla="*/ 464898 h 537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83543" h="537469">
                <a:moveTo>
                  <a:pt x="0" y="537469"/>
                </a:moveTo>
                <a:cubicBezTo>
                  <a:pt x="488648" y="275002"/>
                  <a:pt x="977296" y="12536"/>
                  <a:pt x="1407886" y="441"/>
                </a:cubicBezTo>
                <a:cubicBezTo>
                  <a:pt x="1838476" y="-11654"/>
                  <a:pt x="2211009" y="226622"/>
                  <a:pt x="2583543" y="464898"/>
                </a:cubicBezTo>
              </a:path>
            </a:pathLst>
          </a:custGeom>
          <a:ln>
            <a:solidFill>
              <a:schemeClr val="bg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5" name="Straight Arrow Connector 244">
            <a:extLst>
              <a:ext uri="{FF2B5EF4-FFF2-40B4-BE49-F238E27FC236}">
                <a16:creationId xmlns:a16="http://schemas.microsoft.com/office/drawing/2014/main" id="{C0DA71E7-31AC-3DEA-4D04-AC79309AF805}"/>
              </a:ext>
            </a:extLst>
          </p:cNvPr>
          <p:cNvCxnSpPr>
            <a:cxnSpLocks/>
          </p:cNvCxnSpPr>
          <p:nvPr/>
        </p:nvCxnSpPr>
        <p:spPr>
          <a:xfrm>
            <a:off x="4419600" y="3359346"/>
            <a:ext cx="825811" cy="442064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06" name="Straight Connector 505">
            <a:extLst>
              <a:ext uri="{FF2B5EF4-FFF2-40B4-BE49-F238E27FC236}">
                <a16:creationId xmlns:a16="http://schemas.microsoft.com/office/drawing/2014/main" id="{E6B46746-FB3F-7551-7736-C90AB343150C}"/>
              </a:ext>
            </a:extLst>
          </p:cNvPr>
          <p:cNvCxnSpPr>
            <a:cxnSpLocks/>
          </p:cNvCxnSpPr>
          <p:nvPr/>
        </p:nvCxnSpPr>
        <p:spPr>
          <a:xfrm flipV="1">
            <a:off x="122933" y="2557797"/>
            <a:ext cx="8821934" cy="33003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TextBox 245">
            <a:extLst>
              <a:ext uri="{FF2B5EF4-FFF2-40B4-BE49-F238E27FC236}">
                <a16:creationId xmlns:a16="http://schemas.microsoft.com/office/drawing/2014/main" id="{F24A1828-F8D2-EC72-3748-9321D621507D}"/>
              </a:ext>
            </a:extLst>
          </p:cNvPr>
          <p:cNvSpPr txBox="1"/>
          <p:nvPr/>
        </p:nvSpPr>
        <p:spPr>
          <a:xfrm>
            <a:off x="2891219" y="76200"/>
            <a:ext cx="4881182" cy="400110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92D050"/>
                </a:solidFill>
              </a:rPr>
              <a:t>Syntax Directed Definition (SDD)</a:t>
            </a:r>
          </a:p>
        </p:txBody>
      </p:sp>
    </p:spTree>
    <p:extLst>
      <p:ext uri="{BB962C8B-B14F-4D97-AF65-F5344CB8AC3E}">
        <p14:creationId xmlns:p14="http://schemas.microsoft.com/office/powerpoint/2010/main" val="2930836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10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1" dur="1000" fill="hold"/>
                                        <p:tgtEl>
                                          <p:spTgt spid="4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1000" fill="hold"/>
                                        <p:tgtEl>
                                          <p:spTgt spid="4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10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10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5" dur="10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10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1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2" dur="10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10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1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9" dur="10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10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10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6" dur="10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7" dur="10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10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3" dur="10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10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100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0" dur="1000" fill="hold"/>
                                        <p:tgtEl>
                                          <p:spTgt spid="5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1000" fill="hold"/>
                                        <p:tgtEl>
                                          <p:spTgt spid="5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1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7" dur="10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8" dur="10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9" dur="10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0" dur="10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6" dur="10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7" dur="10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10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3" dur="10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4" dur="10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10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0" dur="10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1" dur="10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indefinite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6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10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2" dur="10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3" dur="10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indefinite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8" dur="10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9" dur="10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0" dur="10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6" fill="hold">
                      <p:stCondLst>
                        <p:cond delay="indefinite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id="29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0" dur="10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1" dur="10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2" dur="10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7" dur="500"/>
                                        <p:tgtEl>
                                          <p:spTgt spid="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8" fill="hold">
                      <p:stCondLst>
                        <p:cond delay="indefinite"/>
                      </p:stCondLst>
                      <p:childTnLst>
                        <p:par>
                          <p:cTn id="309" fill="hold">
                            <p:stCondLst>
                              <p:cond delay="0"/>
                            </p:stCondLst>
                            <p:childTnLst>
                              <p:par>
                                <p:cTn id="3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2" dur="10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3" dur="10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4" dur="10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9" dur="500"/>
                                        <p:tgtEl>
                                          <p:spTgt spid="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0" fill="hold">
                      <p:stCondLst>
                        <p:cond delay="indefinite"/>
                      </p:stCondLst>
                      <p:childTnLst>
                        <p:par>
                          <p:cTn id="321" fill="hold">
                            <p:stCondLst>
                              <p:cond delay="0"/>
                            </p:stCondLst>
                            <p:childTnLst>
                              <p:par>
                                <p:cTn id="3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4" dur="10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5" dur="10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6" dur="10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" fill="hold">
                      <p:stCondLst>
                        <p:cond delay="indefinite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1" dur="500"/>
                                        <p:tgtEl>
                                          <p:spTgt spid="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2" fill="hold">
                      <p:stCondLst>
                        <p:cond delay="indefinite"/>
                      </p:stCondLst>
                      <p:childTnLst>
                        <p:par>
                          <p:cTn id="333" fill="hold">
                            <p:stCondLst>
                              <p:cond delay="0"/>
                            </p:stCondLst>
                            <p:childTnLst>
                              <p:par>
                                <p:cTn id="3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6" dur="10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7" dur="10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8" dur="10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3" dur="10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4" dur="10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5" dur="10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6" fill="hold">
                      <p:stCondLst>
                        <p:cond delay="indefinite"/>
                      </p:stCondLst>
                      <p:childTnLst>
                        <p:par>
                          <p:cTn id="347" fill="hold">
                            <p:stCondLst>
                              <p:cond delay="0"/>
                            </p:stCondLst>
                            <p:childTnLst>
                              <p:par>
                                <p:cTn id="3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0" dur="10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1" dur="10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2" dur="10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3" fill="hold">
                      <p:stCondLst>
                        <p:cond delay="indefinite"/>
                      </p:stCondLst>
                      <p:childTnLst>
                        <p:par>
                          <p:cTn id="354" fill="hold">
                            <p:stCondLst>
                              <p:cond delay="0"/>
                            </p:stCondLst>
                            <p:childTnLst>
                              <p:par>
                                <p:cTn id="3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7" dur="10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8" dur="10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9" dur="10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0" fill="hold">
                      <p:stCondLst>
                        <p:cond delay="indefinite"/>
                      </p:stCondLst>
                      <p:childTnLst>
                        <p:par>
                          <p:cTn id="361" fill="hold">
                            <p:stCondLst>
                              <p:cond delay="0"/>
                            </p:stCondLst>
                            <p:childTnLst>
                              <p:par>
                                <p:cTn id="3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4" dur="10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5" dur="10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6" dur="10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7" fill="hold">
                      <p:stCondLst>
                        <p:cond delay="indefinite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1" dur="10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2" dur="10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3" dur="10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4" fill="hold">
                      <p:stCondLst>
                        <p:cond delay="indefinite"/>
                      </p:stCondLst>
                      <p:childTnLst>
                        <p:par>
                          <p:cTn id="375" fill="hold">
                            <p:stCondLst>
                              <p:cond delay="0"/>
                            </p:stCondLst>
                            <p:childTnLst>
                              <p:par>
                                <p:cTn id="37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8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100" grpId="0"/>
      <p:bldP spid="102" grpId="0"/>
      <p:bldP spid="345" grpId="0" animBg="1"/>
      <p:bldP spid="119" grpId="0"/>
      <p:bldP spid="129" grpId="0"/>
      <p:bldP spid="130" grpId="0"/>
      <p:bldP spid="169" grpId="0"/>
      <p:bldP spid="453" grpId="0"/>
      <p:bldP spid="2" grpId="0" animBg="1"/>
      <p:bldP spid="107" grpId="0"/>
      <p:bldP spid="132" grpId="0"/>
      <p:bldP spid="137" grpId="0"/>
      <p:bldP spid="140" grpId="0"/>
      <p:bldP spid="141" grpId="0"/>
      <p:bldP spid="150" grpId="0"/>
      <p:bldP spid="152" grpId="0"/>
      <p:bldP spid="162" grpId="0"/>
      <p:bldP spid="163" grpId="0"/>
      <p:bldP spid="164" grpId="0"/>
      <p:bldP spid="165" grpId="0"/>
      <p:bldP spid="168" grpId="0"/>
      <p:bldP spid="172" grpId="0"/>
      <p:bldP spid="171" grpId="0"/>
      <p:bldP spid="174" grpId="0"/>
      <p:bldP spid="176" grpId="0"/>
      <p:bldP spid="182" grpId="0"/>
      <p:bldP spid="183" grpId="0"/>
      <p:bldP spid="186" grpId="0"/>
      <p:bldP spid="187" grpId="0"/>
      <p:bldP spid="190" grpId="0"/>
      <p:bldP spid="219" grpId="0"/>
      <p:bldP spid="498" grpId="0" animBg="1"/>
      <p:bldP spid="224" grpId="0"/>
      <p:bldP spid="499" grpId="0" animBg="1"/>
      <p:bldP spid="227" grpId="0"/>
      <p:bldP spid="500" grpId="0" animBg="1"/>
      <p:bldP spid="238" grpId="0"/>
      <p:bldP spid="239" grpId="0"/>
      <p:bldP spid="242" grpId="0"/>
      <p:bldP spid="243" grpId="0"/>
      <p:bldP spid="244" grpId="0" animBg="1"/>
      <p:bldP spid="501" grpId="0" animBg="1"/>
      <p:bldP spid="24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Candara" pitchFamily="34" charset="0"/>
              </a:rPr>
              <a:t>Evaluating Inherited Attributes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ndara" pitchFamily="34" charset="0"/>
              </a:rPr>
              <a:t>Dept of CSE, BUET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>
                <a:latin typeface="Candara" pitchFamily="34" charset="0"/>
              </a:rPr>
              <a:pPr/>
              <a:t>20</a:t>
            </a:fld>
            <a:endParaRPr lang="en-US">
              <a:latin typeface="Candara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02555" y="5345668"/>
            <a:ext cx="3055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Annotated parse tree for 3 * 5</a:t>
            </a:r>
          </a:p>
        </p:txBody>
      </p:sp>
      <p:pic>
        <p:nvPicPr>
          <p:cNvPr id="10" name="Picture 9" descr="Screen Clippi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701" y="2286000"/>
            <a:ext cx="4115099" cy="2546388"/>
          </a:xfrm>
          <a:prstGeom prst="rect">
            <a:avLst/>
          </a:prstGeom>
        </p:spPr>
      </p:pic>
      <p:pic>
        <p:nvPicPr>
          <p:cNvPr id="11" name="Picture 10" descr="Screen Clippi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6450" y="2133600"/>
            <a:ext cx="4591350" cy="305331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Oval 27">
            <a:extLst>
              <a:ext uri="{FF2B5EF4-FFF2-40B4-BE49-F238E27FC236}">
                <a16:creationId xmlns:a16="http://schemas.microsoft.com/office/drawing/2014/main" id="{3F6233CD-8323-425C-0682-112BDE5CC73A}"/>
              </a:ext>
            </a:extLst>
          </p:cNvPr>
          <p:cNvSpPr/>
          <p:nvPr/>
        </p:nvSpPr>
        <p:spPr>
          <a:xfrm>
            <a:off x="4358138" y="1327459"/>
            <a:ext cx="3810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FCDC052-2E24-0CD7-4169-79A3F6AF4152}"/>
              </a:ext>
            </a:extLst>
          </p:cNvPr>
          <p:cNvSpPr/>
          <p:nvPr/>
        </p:nvSpPr>
        <p:spPr>
          <a:xfrm>
            <a:off x="6415538" y="1327459"/>
            <a:ext cx="609596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</a:t>
            </a:r>
            <a:r>
              <a:rPr lang="en-US" sz="2000" baseline="30000" dirty="0">
                <a:solidFill>
                  <a:schemeClr val="tx1"/>
                </a:solidFill>
              </a:rPr>
              <a:t>/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DADEA01-0F25-9736-08DA-1AAA8E2555C2}"/>
              </a:ext>
            </a:extLst>
          </p:cNvPr>
          <p:cNvSpPr/>
          <p:nvPr/>
        </p:nvSpPr>
        <p:spPr>
          <a:xfrm>
            <a:off x="5031350" y="1934734"/>
            <a:ext cx="545988" cy="48351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</a:t>
            </a:r>
            <a:r>
              <a:rPr lang="en-US" sz="2000" baseline="30000" dirty="0">
                <a:solidFill>
                  <a:schemeClr val="tx1"/>
                </a:solidFill>
              </a:rPr>
              <a:t>/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90180B9-2F7C-AED1-D3DD-1E784D370600}"/>
              </a:ext>
            </a:extLst>
          </p:cNvPr>
          <p:cNvSpPr/>
          <p:nvPr/>
        </p:nvSpPr>
        <p:spPr>
          <a:xfrm>
            <a:off x="5272538" y="609600"/>
            <a:ext cx="3810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837ABA7-432F-64AD-708C-63D36CFE5D04}"/>
              </a:ext>
            </a:extLst>
          </p:cNvPr>
          <p:cNvCxnSpPr>
            <a:cxnSpLocks/>
          </p:cNvCxnSpPr>
          <p:nvPr/>
        </p:nvCxnSpPr>
        <p:spPr>
          <a:xfrm flipV="1">
            <a:off x="4548638" y="905141"/>
            <a:ext cx="779696" cy="3901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E8080B0-A873-912D-7491-37A8D516EBA3}"/>
              </a:ext>
            </a:extLst>
          </p:cNvPr>
          <p:cNvCxnSpPr>
            <a:cxnSpLocks/>
            <a:stCxn id="24" idx="5"/>
          </p:cNvCxnSpPr>
          <p:nvPr/>
        </p:nvCxnSpPr>
        <p:spPr>
          <a:xfrm>
            <a:off x="5597742" y="934804"/>
            <a:ext cx="867925" cy="4461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0AFB704-FC87-5CCB-757D-47B58100B9E1}"/>
              </a:ext>
            </a:extLst>
          </p:cNvPr>
          <p:cNvCxnSpPr>
            <a:cxnSpLocks/>
            <a:stCxn id="71" idx="0"/>
          </p:cNvCxnSpPr>
          <p:nvPr/>
        </p:nvCxnSpPr>
        <p:spPr>
          <a:xfrm flipV="1">
            <a:off x="3860556" y="1652663"/>
            <a:ext cx="551096" cy="2820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ADB7A9A1-5175-65C2-0B6C-392FF1013F25}"/>
              </a:ext>
            </a:extLst>
          </p:cNvPr>
          <p:cNvCxnSpPr>
            <a:cxnSpLocks/>
            <a:stCxn id="32" idx="1"/>
            <a:endCxn id="28" idx="5"/>
          </p:cNvCxnSpPr>
          <p:nvPr/>
        </p:nvCxnSpPr>
        <p:spPr>
          <a:xfrm flipH="1" flipV="1">
            <a:off x="4683342" y="1652663"/>
            <a:ext cx="427966" cy="3528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>
            <a:extLst>
              <a:ext uri="{FF2B5EF4-FFF2-40B4-BE49-F238E27FC236}">
                <a16:creationId xmlns:a16="http://schemas.microsoft.com/office/drawing/2014/main" id="{C48DBF65-F1A4-CB3A-2D94-00520D5E0A8F}"/>
              </a:ext>
            </a:extLst>
          </p:cNvPr>
          <p:cNvSpPr/>
          <p:nvPr/>
        </p:nvSpPr>
        <p:spPr>
          <a:xfrm>
            <a:off x="3070217" y="3464406"/>
            <a:ext cx="3810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E9FFDB92-6DA9-3D92-16BE-9D0A4BB734B1}"/>
              </a:ext>
            </a:extLst>
          </p:cNvPr>
          <p:cNvSpPr/>
          <p:nvPr/>
        </p:nvSpPr>
        <p:spPr>
          <a:xfrm>
            <a:off x="4441817" y="3464406"/>
            <a:ext cx="609600" cy="53045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</a:t>
            </a:r>
            <a:r>
              <a:rPr lang="en-US" sz="2000" baseline="30000" dirty="0">
                <a:solidFill>
                  <a:schemeClr val="tx1"/>
                </a:solidFill>
              </a:rPr>
              <a:t>/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B252B008-800F-EA55-E675-990131CDE6B9}"/>
              </a:ext>
            </a:extLst>
          </p:cNvPr>
          <p:cNvCxnSpPr>
            <a:cxnSpLocks/>
            <a:stCxn id="64" idx="3"/>
            <a:endCxn id="61" idx="0"/>
          </p:cNvCxnSpPr>
          <p:nvPr/>
        </p:nvCxnSpPr>
        <p:spPr>
          <a:xfrm flipH="1">
            <a:off x="3260717" y="3021938"/>
            <a:ext cx="451457" cy="4424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B643995D-E1DC-43E2-6508-B2BFCE172CE0}"/>
              </a:ext>
            </a:extLst>
          </p:cNvPr>
          <p:cNvCxnSpPr>
            <a:cxnSpLocks/>
            <a:stCxn id="63" idx="1"/>
            <a:endCxn id="64" idx="5"/>
          </p:cNvCxnSpPr>
          <p:nvPr/>
        </p:nvCxnSpPr>
        <p:spPr>
          <a:xfrm flipH="1" flipV="1">
            <a:off x="3981582" y="3021938"/>
            <a:ext cx="549509" cy="5201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63">
            <a:extLst>
              <a:ext uri="{FF2B5EF4-FFF2-40B4-BE49-F238E27FC236}">
                <a16:creationId xmlns:a16="http://schemas.microsoft.com/office/drawing/2014/main" id="{09A5ED45-5059-F28F-A82F-6500215E6B1B}"/>
              </a:ext>
            </a:extLst>
          </p:cNvPr>
          <p:cNvSpPr/>
          <p:nvPr/>
        </p:nvSpPr>
        <p:spPr>
          <a:xfrm>
            <a:off x="3656378" y="2696734"/>
            <a:ext cx="3810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A68EB76E-DBEC-59DF-192C-6664D6E890D4}"/>
              </a:ext>
            </a:extLst>
          </p:cNvPr>
          <p:cNvSpPr/>
          <p:nvPr/>
        </p:nvSpPr>
        <p:spPr>
          <a:xfrm>
            <a:off x="2656930" y="2696734"/>
            <a:ext cx="3810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(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BC55F407-29EE-26A7-743F-427D21FCBC53}"/>
              </a:ext>
            </a:extLst>
          </p:cNvPr>
          <p:cNvSpPr/>
          <p:nvPr/>
        </p:nvSpPr>
        <p:spPr>
          <a:xfrm>
            <a:off x="4657359" y="2696734"/>
            <a:ext cx="3810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F50146AD-91FC-D867-9500-9F9E83CEA3A3}"/>
              </a:ext>
            </a:extLst>
          </p:cNvPr>
          <p:cNvSpPr/>
          <p:nvPr/>
        </p:nvSpPr>
        <p:spPr>
          <a:xfrm>
            <a:off x="3670056" y="1934734"/>
            <a:ext cx="3810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FAC5DB5F-D1EC-DD4D-153E-C0B11CC83571}"/>
              </a:ext>
            </a:extLst>
          </p:cNvPr>
          <p:cNvCxnSpPr>
            <a:cxnSpLocks/>
            <a:endCxn id="68" idx="0"/>
          </p:cNvCxnSpPr>
          <p:nvPr/>
        </p:nvCxnSpPr>
        <p:spPr>
          <a:xfrm flipH="1">
            <a:off x="2847430" y="2259938"/>
            <a:ext cx="876889" cy="4367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8DE22B43-A903-E808-FB7F-993D3D3D7697}"/>
              </a:ext>
            </a:extLst>
          </p:cNvPr>
          <p:cNvCxnSpPr>
            <a:cxnSpLocks/>
            <a:stCxn id="64" idx="0"/>
          </p:cNvCxnSpPr>
          <p:nvPr/>
        </p:nvCxnSpPr>
        <p:spPr>
          <a:xfrm flipV="1">
            <a:off x="3846878" y="2315734"/>
            <a:ext cx="12145" cy="381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752FFE04-2877-5087-E6CB-2819D1ECD3C8}"/>
              </a:ext>
            </a:extLst>
          </p:cNvPr>
          <p:cNvCxnSpPr>
            <a:cxnSpLocks/>
          </p:cNvCxnSpPr>
          <p:nvPr/>
        </p:nvCxnSpPr>
        <p:spPr>
          <a:xfrm flipH="1" flipV="1">
            <a:off x="3993727" y="2259938"/>
            <a:ext cx="717895" cy="4925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Oval 99">
            <a:extLst>
              <a:ext uri="{FF2B5EF4-FFF2-40B4-BE49-F238E27FC236}">
                <a16:creationId xmlns:a16="http://schemas.microsoft.com/office/drawing/2014/main" id="{7AB2DD55-DB39-ECCC-E73A-C5167E3B2516}"/>
              </a:ext>
            </a:extLst>
          </p:cNvPr>
          <p:cNvSpPr/>
          <p:nvPr/>
        </p:nvSpPr>
        <p:spPr>
          <a:xfrm>
            <a:off x="2781150" y="4270619"/>
            <a:ext cx="2794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F6004308-6EEF-C0FE-5AFA-6B44C466C560}"/>
              </a:ext>
            </a:extLst>
          </p:cNvPr>
          <p:cNvSpPr/>
          <p:nvPr/>
        </p:nvSpPr>
        <p:spPr>
          <a:xfrm>
            <a:off x="2425326" y="5032619"/>
            <a:ext cx="1033348" cy="48351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digit</a:t>
            </a:r>
          </a:p>
        </p:txBody>
      </p: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541D80AF-A585-1841-0E4C-C31C9C43A605}"/>
              </a:ext>
            </a:extLst>
          </p:cNvPr>
          <p:cNvCxnSpPr>
            <a:cxnSpLocks/>
            <a:stCxn id="61" idx="3"/>
            <a:endCxn id="100" idx="0"/>
          </p:cNvCxnSpPr>
          <p:nvPr/>
        </p:nvCxnSpPr>
        <p:spPr>
          <a:xfrm flipH="1">
            <a:off x="2920850" y="3789610"/>
            <a:ext cx="205163" cy="4810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264BCD36-6FB4-9F84-58D9-E2EE8B11D4AF}"/>
              </a:ext>
            </a:extLst>
          </p:cNvPr>
          <p:cNvCxnSpPr>
            <a:cxnSpLocks/>
            <a:stCxn id="102" idx="0"/>
            <a:endCxn id="100" idx="4"/>
          </p:cNvCxnSpPr>
          <p:nvPr/>
        </p:nvCxnSpPr>
        <p:spPr>
          <a:xfrm flipH="1" flipV="1">
            <a:off x="2920850" y="4651619"/>
            <a:ext cx="21150" cy="381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EAE6C5AD-5ADC-3B7A-F988-5EF597E7A3C0}"/>
              </a:ext>
            </a:extLst>
          </p:cNvPr>
          <p:cNvSpPr txBox="1"/>
          <p:nvPr/>
        </p:nvSpPr>
        <p:spPr>
          <a:xfrm>
            <a:off x="295952" y="951514"/>
            <a:ext cx="1228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 </a:t>
            </a:r>
            <a:r>
              <a:rPr lang="en-US" dirty="0">
                <a:sym typeface="Wingdings" panose="05000000000000000000" pitchFamily="2" charset="2"/>
              </a:rPr>
              <a:t> T E</a:t>
            </a:r>
            <a:r>
              <a:rPr lang="en-US" baseline="30000" dirty="0">
                <a:sym typeface="Wingdings" panose="05000000000000000000" pitchFamily="2" charset="2"/>
              </a:rPr>
              <a:t>/</a:t>
            </a:r>
            <a:endParaRPr lang="en-US" baseline="30000" dirty="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9033C0B4-5182-4F9F-BA3E-7E5B792F8BE0}"/>
              </a:ext>
            </a:extLst>
          </p:cNvPr>
          <p:cNvSpPr txBox="1"/>
          <p:nvPr/>
        </p:nvSpPr>
        <p:spPr>
          <a:xfrm>
            <a:off x="295952" y="2440415"/>
            <a:ext cx="1228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  <a:r>
              <a:rPr lang="en-US" baseline="30000" dirty="0">
                <a:sym typeface="Wingdings" panose="05000000000000000000" pitchFamily="2" charset="2"/>
              </a:rPr>
              <a:t> /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* F T</a:t>
            </a:r>
            <a:r>
              <a:rPr lang="en-US" baseline="30000" dirty="0">
                <a:sym typeface="Wingdings" panose="05000000000000000000" pitchFamily="2" charset="2"/>
              </a:rPr>
              <a:t>/</a:t>
            </a:r>
            <a:endParaRPr lang="en-US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B66CA0D5-3DB9-22D1-E7BF-52743154290A}"/>
              </a:ext>
            </a:extLst>
          </p:cNvPr>
          <p:cNvSpPr txBox="1"/>
          <p:nvPr/>
        </p:nvSpPr>
        <p:spPr>
          <a:xfrm>
            <a:off x="295952" y="3168029"/>
            <a:ext cx="1228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 </a:t>
            </a:r>
            <a:r>
              <a:rPr lang="en-US" dirty="0">
                <a:sym typeface="Wingdings" panose="05000000000000000000" pitchFamily="2" charset="2"/>
              </a:rPr>
              <a:t> ( E )</a:t>
            </a:r>
            <a:endParaRPr lang="en-US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CC1E5A29-27F9-660E-F988-33B3CD374B24}"/>
              </a:ext>
            </a:extLst>
          </p:cNvPr>
          <p:cNvSpPr txBox="1"/>
          <p:nvPr/>
        </p:nvSpPr>
        <p:spPr>
          <a:xfrm>
            <a:off x="295952" y="3516868"/>
            <a:ext cx="1228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 </a:t>
            </a:r>
            <a:r>
              <a:rPr lang="en-US" dirty="0">
                <a:sym typeface="Wingdings" panose="05000000000000000000" pitchFamily="2" charset="2"/>
              </a:rPr>
              <a:t> digit</a:t>
            </a:r>
            <a:endParaRPr lang="en-US" dirty="0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B002204E-5036-676E-8432-D0E25D12C466}"/>
              </a:ext>
            </a:extLst>
          </p:cNvPr>
          <p:cNvSpPr txBox="1"/>
          <p:nvPr/>
        </p:nvSpPr>
        <p:spPr>
          <a:xfrm>
            <a:off x="295952" y="1291974"/>
            <a:ext cx="1456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</a:t>
            </a:r>
            <a:r>
              <a:rPr lang="en-US" baseline="30000" dirty="0">
                <a:sym typeface="Wingdings" panose="05000000000000000000" pitchFamily="2" charset="2"/>
              </a:rPr>
              <a:t> /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+ T</a:t>
            </a:r>
            <a:r>
              <a:rPr lang="en-US" dirty="0"/>
              <a:t> E</a:t>
            </a:r>
            <a:r>
              <a:rPr lang="en-US" baseline="30000" dirty="0">
                <a:sym typeface="Wingdings" panose="05000000000000000000" pitchFamily="2" charset="2"/>
              </a:rPr>
              <a:t> /</a:t>
            </a:r>
            <a:endParaRPr lang="en-US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48990C20-425B-A2A7-ED25-B631FB969DCB}"/>
              </a:ext>
            </a:extLst>
          </p:cNvPr>
          <p:cNvSpPr txBox="1"/>
          <p:nvPr/>
        </p:nvSpPr>
        <p:spPr>
          <a:xfrm>
            <a:off x="295952" y="2092968"/>
            <a:ext cx="1228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 </a:t>
            </a:r>
            <a:r>
              <a:rPr lang="en-US" dirty="0">
                <a:sym typeface="Wingdings" panose="05000000000000000000" pitchFamily="2" charset="2"/>
              </a:rPr>
              <a:t> F T</a:t>
            </a:r>
            <a:r>
              <a:rPr lang="en-US" baseline="30000" dirty="0">
                <a:sym typeface="Wingdings" panose="05000000000000000000" pitchFamily="2" charset="2"/>
              </a:rPr>
              <a:t>/</a:t>
            </a:r>
            <a:endParaRPr lang="en-US" baseline="30000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CA87C1F6-DEF0-E4A4-16F9-E29EDD7472AE}"/>
              </a:ext>
            </a:extLst>
          </p:cNvPr>
          <p:cNvSpPr txBox="1"/>
          <p:nvPr/>
        </p:nvSpPr>
        <p:spPr>
          <a:xfrm>
            <a:off x="295952" y="593068"/>
            <a:ext cx="122804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Production</a:t>
            </a:r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C19270A4-0DF7-D16D-E89E-47BC6D70E0F5}"/>
              </a:ext>
            </a:extLst>
          </p:cNvPr>
          <p:cNvSpPr/>
          <p:nvPr/>
        </p:nvSpPr>
        <p:spPr>
          <a:xfrm>
            <a:off x="5512490" y="5715000"/>
            <a:ext cx="470274" cy="40731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Ɛ</a:t>
            </a:r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D2A084BC-1780-1950-7FA5-1A7102AA42C0}"/>
              </a:ext>
            </a:extLst>
          </p:cNvPr>
          <p:cNvSpPr/>
          <p:nvPr/>
        </p:nvSpPr>
        <p:spPr>
          <a:xfrm>
            <a:off x="4077764" y="5638800"/>
            <a:ext cx="1216841" cy="48351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digit</a:t>
            </a:r>
          </a:p>
        </p:txBody>
      </p: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168D05B5-8B09-1B80-8003-FB16F99F1211}"/>
              </a:ext>
            </a:extLst>
          </p:cNvPr>
          <p:cNvCxnSpPr>
            <a:cxnSpLocks/>
            <a:stCxn id="148" idx="4"/>
          </p:cNvCxnSpPr>
          <p:nvPr/>
        </p:nvCxnSpPr>
        <p:spPr>
          <a:xfrm flipH="1">
            <a:off x="4686185" y="5384110"/>
            <a:ext cx="39279" cy="3047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176326ED-9633-B18E-E070-A78D51B88C11}"/>
              </a:ext>
            </a:extLst>
          </p:cNvPr>
          <p:cNvCxnSpPr>
            <a:cxnSpLocks/>
            <a:stCxn id="32" idx="4"/>
            <a:endCxn id="178" idx="0"/>
          </p:cNvCxnSpPr>
          <p:nvPr/>
        </p:nvCxnSpPr>
        <p:spPr>
          <a:xfrm flipH="1">
            <a:off x="5158238" y="2418249"/>
            <a:ext cx="146106" cy="2784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7" name="TextBox 326">
            <a:extLst>
              <a:ext uri="{FF2B5EF4-FFF2-40B4-BE49-F238E27FC236}">
                <a16:creationId xmlns:a16="http://schemas.microsoft.com/office/drawing/2014/main" id="{866FE186-3053-B072-255F-473610BED774}"/>
              </a:ext>
            </a:extLst>
          </p:cNvPr>
          <p:cNvSpPr txBox="1"/>
          <p:nvPr/>
        </p:nvSpPr>
        <p:spPr>
          <a:xfrm>
            <a:off x="3849164" y="803402"/>
            <a:ext cx="1166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(2+3)*4</a:t>
            </a:r>
          </a:p>
        </p:txBody>
      </p:sp>
      <p:sp>
        <p:nvSpPr>
          <p:cNvPr id="344" name="TextBox 343">
            <a:extLst>
              <a:ext uri="{FF2B5EF4-FFF2-40B4-BE49-F238E27FC236}">
                <a16:creationId xmlns:a16="http://schemas.microsoft.com/office/drawing/2014/main" id="{47FD3720-4B70-7E07-36A3-688DD7B0074F}"/>
              </a:ext>
            </a:extLst>
          </p:cNvPr>
          <p:cNvSpPr txBox="1"/>
          <p:nvPr/>
        </p:nvSpPr>
        <p:spPr>
          <a:xfrm>
            <a:off x="228600" y="55203"/>
            <a:ext cx="3390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chemeClr val="bg1">
                    <a:lumMod val="75000"/>
                  </a:schemeClr>
                </a:solidFill>
              </a:rPr>
              <a:t>Evaluate:</a:t>
            </a:r>
            <a:r>
              <a:rPr lang="en-US" sz="2400" dirty="0">
                <a:solidFill>
                  <a:srgbClr val="0070C0"/>
                </a:solidFill>
              </a:rPr>
              <a:t> (2+3)*4+7</a:t>
            </a:r>
          </a:p>
        </p:txBody>
      </p:sp>
      <p:sp>
        <p:nvSpPr>
          <p:cNvPr id="345" name="TextBox 344">
            <a:extLst>
              <a:ext uri="{FF2B5EF4-FFF2-40B4-BE49-F238E27FC236}">
                <a16:creationId xmlns:a16="http://schemas.microsoft.com/office/drawing/2014/main" id="{1BCD9F4C-1922-46B2-4507-6A4DCE6FC134}"/>
              </a:ext>
            </a:extLst>
          </p:cNvPr>
          <p:cNvSpPr txBox="1"/>
          <p:nvPr/>
        </p:nvSpPr>
        <p:spPr>
          <a:xfrm>
            <a:off x="6686529" y="159110"/>
            <a:ext cx="2286000" cy="461665"/>
          </a:xfrm>
          <a:prstGeom prst="rect">
            <a:avLst/>
          </a:prstGeom>
          <a:noFill/>
          <a:ln>
            <a:noFill/>
            <a:prstDash val="dashDot"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7030A0"/>
                </a:solidFill>
              </a:rPr>
              <a:t>Parse Tree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FEEDF72-2B50-6FE3-B9D7-C74037B55F96}"/>
              </a:ext>
            </a:extLst>
          </p:cNvPr>
          <p:cNvSpPr txBox="1"/>
          <p:nvPr/>
        </p:nvSpPr>
        <p:spPr>
          <a:xfrm>
            <a:off x="304800" y="1676400"/>
            <a:ext cx="1228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</a:t>
            </a:r>
            <a:r>
              <a:rPr lang="en-US" baseline="30000" dirty="0">
                <a:sym typeface="Wingdings" panose="05000000000000000000" pitchFamily="2" charset="2"/>
              </a:rPr>
              <a:t> /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Ɛ</a:t>
            </a:r>
            <a:endParaRPr lang="en-US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1EBF6AA-5ADE-9B9F-7E5D-C292DDC201F6}"/>
              </a:ext>
            </a:extLst>
          </p:cNvPr>
          <p:cNvSpPr txBox="1"/>
          <p:nvPr/>
        </p:nvSpPr>
        <p:spPr>
          <a:xfrm>
            <a:off x="304800" y="2831068"/>
            <a:ext cx="1228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  <a:r>
              <a:rPr lang="en-US" baseline="30000" dirty="0">
                <a:sym typeface="Wingdings" panose="05000000000000000000" pitchFamily="2" charset="2"/>
              </a:rPr>
              <a:t> /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Ɛ</a:t>
            </a:r>
            <a:endParaRPr lang="en-US" dirty="0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9A541F55-425E-90D1-A015-8681C3CB47BF}"/>
              </a:ext>
            </a:extLst>
          </p:cNvPr>
          <p:cNvSpPr/>
          <p:nvPr/>
        </p:nvSpPr>
        <p:spPr>
          <a:xfrm>
            <a:off x="3488949" y="4193481"/>
            <a:ext cx="630664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</a:t>
            </a:r>
            <a:r>
              <a:rPr lang="en-US" sz="2000" baseline="30000" dirty="0">
                <a:solidFill>
                  <a:schemeClr val="tx1"/>
                </a:solidFill>
              </a:rPr>
              <a:t>/</a:t>
            </a:r>
            <a:endParaRPr lang="en-US" sz="2000" dirty="0">
              <a:solidFill>
                <a:schemeClr val="tx1"/>
              </a:solidFill>
            </a:endParaRPr>
          </a:p>
        </p:txBody>
      </p: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7496F18B-2468-2782-ADF5-9B27E4FAB4F5}"/>
              </a:ext>
            </a:extLst>
          </p:cNvPr>
          <p:cNvCxnSpPr>
            <a:cxnSpLocks/>
            <a:stCxn id="61" idx="5"/>
            <a:endCxn id="119" idx="1"/>
          </p:cNvCxnSpPr>
          <p:nvPr/>
        </p:nvCxnSpPr>
        <p:spPr>
          <a:xfrm>
            <a:off x="3395421" y="3789610"/>
            <a:ext cx="185887" cy="4802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Oval 128">
            <a:extLst>
              <a:ext uri="{FF2B5EF4-FFF2-40B4-BE49-F238E27FC236}">
                <a16:creationId xmlns:a16="http://schemas.microsoft.com/office/drawing/2014/main" id="{B38325B0-A854-682A-3F90-51E826D1F9B8}"/>
              </a:ext>
            </a:extLst>
          </p:cNvPr>
          <p:cNvSpPr/>
          <p:nvPr/>
        </p:nvSpPr>
        <p:spPr>
          <a:xfrm>
            <a:off x="4904444" y="4279239"/>
            <a:ext cx="3810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</a:t>
            </a:r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5630887B-9FE6-85FC-E35D-E1F9418F251C}"/>
              </a:ext>
            </a:extLst>
          </p:cNvPr>
          <p:cNvSpPr/>
          <p:nvPr/>
        </p:nvSpPr>
        <p:spPr>
          <a:xfrm>
            <a:off x="4243809" y="4284350"/>
            <a:ext cx="3810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A3333249-C3FC-7B8A-59C7-D55825FD36F5}"/>
              </a:ext>
            </a:extLst>
          </p:cNvPr>
          <p:cNvSpPr/>
          <p:nvPr/>
        </p:nvSpPr>
        <p:spPr>
          <a:xfrm>
            <a:off x="5830364" y="4231657"/>
            <a:ext cx="609600" cy="48351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</a:t>
            </a:r>
            <a:r>
              <a:rPr lang="en-US" sz="2000" baseline="30000" dirty="0">
                <a:solidFill>
                  <a:schemeClr val="tx1"/>
                </a:solidFill>
              </a:rPr>
              <a:t>/</a:t>
            </a:r>
          </a:p>
        </p:txBody>
      </p: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9178EB7B-DA7F-1DF9-4358-8346E9A5CA77}"/>
              </a:ext>
            </a:extLst>
          </p:cNvPr>
          <p:cNvCxnSpPr>
            <a:cxnSpLocks/>
            <a:endCxn id="130" idx="0"/>
          </p:cNvCxnSpPr>
          <p:nvPr/>
        </p:nvCxnSpPr>
        <p:spPr>
          <a:xfrm flipH="1">
            <a:off x="4434309" y="3962400"/>
            <a:ext cx="312199" cy="3219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D02A860E-3CB8-7D56-43F1-ED4EA199F865}"/>
              </a:ext>
            </a:extLst>
          </p:cNvPr>
          <p:cNvCxnSpPr>
            <a:cxnSpLocks/>
            <a:endCxn id="129" idx="0"/>
          </p:cNvCxnSpPr>
          <p:nvPr/>
        </p:nvCxnSpPr>
        <p:spPr>
          <a:xfrm>
            <a:off x="4746508" y="3962400"/>
            <a:ext cx="348436" cy="3168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D2F42380-D0E9-905C-C13D-7266E1E8735E}"/>
              </a:ext>
            </a:extLst>
          </p:cNvPr>
          <p:cNvCxnSpPr>
            <a:cxnSpLocks/>
            <a:endCxn id="131" idx="1"/>
          </p:cNvCxnSpPr>
          <p:nvPr/>
        </p:nvCxnSpPr>
        <p:spPr>
          <a:xfrm>
            <a:off x="4746508" y="3962400"/>
            <a:ext cx="1173130" cy="3400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Oval 147">
            <a:extLst>
              <a:ext uri="{FF2B5EF4-FFF2-40B4-BE49-F238E27FC236}">
                <a16:creationId xmlns:a16="http://schemas.microsoft.com/office/drawing/2014/main" id="{4C14E1EE-A1CC-8F60-42C8-29F74CAA5A33}"/>
              </a:ext>
            </a:extLst>
          </p:cNvPr>
          <p:cNvSpPr/>
          <p:nvPr/>
        </p:nvSpPr>
        <p:spPr>
          <a:xfrm>
            <a:off x="4534964" y="5003110"/>
            <a:ext cx="3810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5B135A09-7324-0D10-9F4B-CE344F5F1FE4}"/>
              </a:ext>
            </a:extLst>
          </p:cNvPr>
          <p:cNvSpPr/>
          <p:nvPr/>
        </p:nvSpPr>
        <p:spPr>
          <a:xfrm>
            <a:off x="5296964" y="4998907"/>
            <a:ext cx="609600" cy="45872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</a:t>
            </a:r>
            <a:r>
              <a:rPr lang="en-US" sz="2000" baseline="30000" dirty="0">
                <a:solidFill>
                  <a:schemeClr val="tx1"/>
                </a:solidFill>
              </a:rPr>
              <a:t>/</a:t>
            </a:r>
            <a:endParaRPr lang="en-US" sz="2000" dirty="0">
              <a:solidFill>
                <a:schemeClr val="tx1"/>
              </a:solidFill>
            </a:endParaRPr>
          </a:p>
        </p:txBody>
      </p: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D217896A-3ABA-B0D0-6EA5-7D2504F61CEE}"/>
              </a:ext>
            </a:extLst>
          </p:cNvPr>
          <p:cNvCxnSpPr>
            <a:cxnSpLocks/>
            <a:endCxn id="129" idx="4"/>
          </p:cNvCxnSpPr>
          <p:nvPr/>
        </p:nvCxnSpPr>
        <p:spPr>
          <a:xfrm flipV="1">
            <a:off x="4725464" y="4660239"/>
            <a:ext cx="369480" cy="2720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3CB06980-89EB-29EE-3E98-87E8F2F89DDE}"/>
              </a:ext>
            </a:extLst>
          </p:cNvPr>
          <p:cNvCxnSpPr>
            <a:cxnSpLocks/>
            <a:stCxn id="129" idx="4"/>
            <a:endCxn id="149" idx="0"/>
          </p:cNvCxnSpPr>
          <p:nvPr/>
        </p:nvCxnSpPr>
        <p:spPr>
          <a:xfrm>
            <a:off x="5094944" y="4660239"/>
            <a:ext cx="506820" cy="3386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3DDE9126-48C0-E574-2826-103E4131AC6B}"/>
              </a:ext>
            </a:extLst>
          </p:cNvPr>
          <p:cNvCxnSpPr>
            <a:cxnSpLocks/>
            <a:stCxn id="149" idx="4"/>
          </p:cNvCxnSpPr>
          <p:nvPr/>
        </p:nvCxnSpPr>
        <p:spPr>
          <a:xfrm>
            <a:off x="5601764" y="5457632"/>
            <a:ext cx="82737" cy="3323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Oval 168">
            <a:extLst>
              <a:ext uri="{FF2B5EF4-FFF2-40B4-BE49-F238E27FC236}">
                <a16:creationId xmlns:a16="http://schemas.microsoft.com/office/drawing/2014/main" id="{6FDF8228-A600-F56A-EB09-8F7863ADD97D}"/>
              </a:ext>
            </a:extLst>
          </p:cNvPr>
          <p:cNvSpPr/>
          <p:nvPr/>
        </p:nvSpPr>
        <p:spPr>
          <a:xfrm>
            <a:off x="5906564" y="5014076"/>
            <a:ext cx="470274" cy="40731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Ɛ</a:t>
            </a:r>
          </a:p>
        </p:txBody>
      </p: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DF846C60-73B3-E929-1676-96535B212882}"/>
              </a:ext>
            </a:extLst>
          </p:cNvPr>
          <p:cNvCxnSpPr>
            <a:cxnSpLocks/>
            <a:stCxn id="131" idx="4"/>
            <a:endCxn id="169" idx="0"/>
          </p:cNvCxnSpPr>
          <p:nvPr/>
        </p:nvCxnSpPr>
        <p:spPr>
          <a:xfrm>
            <a:off x="6135164" y="4715171"/>
            <a:ext cx="6537" cy="2989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Oval 177">
            <a:extLst>
              <a:ext uri="{FF2B5EF4-FFF2-40B4-BE49-F238E27FC236}">
                <a16:creationId xmlns:a16="http://schemas.microsoft.com/office/drawing/2014/main" id="{9833355D-D5A1-3109-FC0E-A380BB10AA98}"/>
              </a:ext>
            </a:extLst>
          </p:cNvPr>
          <p:cNvSpPr/>
          <p:nvPr/>
        </p:nvSpPr>
        <p:spPr>
          <a:xfrm>
            <a:off x="4967738" y="2696734"/>
            <a:ext cx="3810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180" name="Oval 179">
            <a:extLst>
              <a:ext uri="{FF2B5EF4-FFF2-40B4-BE49-F238E27FC236}">
                <a16:creationId xmlns:a16="http://schemas.microsoft.com/office/drawing/2014/main" id="{9DBD943F-CE56-2C67-A69A-AC5231A53D17}"/>
              </a:ext>
            </a:extLst>
          </p:cNvPr>
          <p:cNvSpPr/>
          <p:nvPr/>
        </p:nvSpPr>
        <p:spPr>
          <a:xfrm>
            <a:off x="5501138" y="2696734"/>
            <a:ext cx="2794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2E281724-AABC-642B-7BD9-778D601E0489}"/>
              </a:ext>
            </a:extLst>
          </p:cNvPr>
          <p:cNvCxnSpPr>
            <a:cxnSpLocks/>
            <a:stCxn id="32" idx="4"/>
            <a:endCxn id="180" idx="1"/>
          </p:cNvCxnSpPr>
          <p:nvPr/>
        </p:nvCxnSpPr>
        <p:spPr>
          <a:xfrm>
            <a:off x="5304344" y="2418249"/>
            <a:ext cx="237711" cy="3342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Oval 183">
            <a:extLst>
              <a:ext uri="{FF2B5EF4-FFF2-40B4-BE49-F238E27FC236}">
                <a16:creationId xmlns:a16="http://schemas.microsoft.com/office/drawing/2014/main" id="{96404E21-6623-B932-FEBC-A99550B99D27}"/>
              </a:ext>
            </a:extLst>
          </p:cNvPr>
          <p:cNvSpPr/>
          <p:nvPr/>
        </p:nvSpPr>
        <p:spPr>
          <a:xfrm>
            <a:off x="5861074" y="2696734"/>
            <a:ext cx="630664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</a:t>
            </a:r>
            <a:r>
              <a:rPr lang="en-US" sz="2000" baseline="30000" dirty="0">
                <a:solidFill>
                  <a:schemeClr val="tx1"/>
                </a:solidFill>
              </a:rPr>
              <a:t>/</a:t>
            </a:r>
            <a:endParaRPr lang="en-US" sz="2000" dirty="0">
              <a:solidFill>
                <a:schemeClr val="tx1"/>
              </a:solidFill>
            </a:endParaRPr>
          </a:p>
        </p:txBody>
      </p: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D954CFCD-947C-813E-92CE-B50274173CEA}"/>
              </a:ext>
            </a:extLst>
          </p:cNvPr>
          <p:cNvCxnSpPr>
            <a:cxnSpLocks/>
            <a:stCxn id="32" idx="4"/>
            <a:endCxn id="184" idx="0"/>
          </p:cNvCxnSpPr>
          <p:nvPr/>
        </p:nvCxnSpPr>
        <p:spPr>
          <a:xfrm>
            <a:off x="5304344" y="2418249"/>
            <a:ext cx="872062" cy="2784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Oval 187">
            <a:extLst>
              <a:ext uri="{FF2B5EF4-FFF2-40B4-BE49-F238E27FC236}">
                <a16:creationId xmlns:a16="http://schemas.microsoft.com/office/drawing/2014/main" id="{8917421F-F252-D60E-D5BC-2FD26DAFDC44}"/>
              </a:ext>
            </a:extLst>
          </p:cNvPr>
          <p:cNvSpPr/>
          <p:nvPr/>
        </p:nvSpPr>
        <p:spPr>
          <a:xfrm>
            <a:off x="5051417" y="3464406"/>
            <a:ext cx="1216841" cy="48351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digit</a:t>
            </a:r>
          </a:p>
        </p:txBody>
      </p: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551272C4-A8F2-0DCF-287E-08B19D20C3EF}"/>
              </a:ext>
            </a:extLst>
          </p:cNvPr>
          <p:cNvCxnSpPr>
            <a:cxnSpLocks/>
            <a:stCxn id="180" idx="4"/>
            <a:endCxn id="188" idx="0"/>
          </p:cNvCxnSpPr>
          <p:nvPr/>
        </p:nvCxnSpPr>
        <p:spPr>
          <a:xfrm>
            <a:off x="5640838" y="3077734"/>
            <a:ext cx="19000" cy="3866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Oval 190">
            <a:extLst>
              <a:ext uri="{FF2B5EF4-FFF2-40B4-BE49-F238E27FC236}">
                <a16:creationId xmlns:a16="http://schemas.microsoft.com/office/drawing/2014/main" id="{71FE3CF5-719E-8B59-9624-DDD22159C653}"/>
              </a:ext>
            </a:extLst>
          </p:cNvPr>
          <p:cNvSpPr/>
          <p:nvPr/>
        </p:nvSpPr>
        <p:spPr>
          <a:xfrm>
            <a:off x="6042017" y="3464406"/>
            <a:ext cx="3810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Ɛ</a:t>
            </a:r>
          </a:p>
        </p:txBody>
      </p: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1121C683-6C46-36E1-EA68-F743B666CC75}"/>
              </a:ext>
            </a:extLst>
          </p:cNvPr>
          <p:cNvCxnSpPr>
            <a:cxnSpLocks/>
            <a:stCxn id="191" idx="0"/>
            <a:endCxn id="184" idx="4"/>
          </p:cNvCxnSpPr>
          <p:nvPr/>
        </p:nvCxnSpPr>
        <p:spPr>
          <a:xfrm flipH="1" flipV="1">
            <a:off x="6176406" y="3218454"/>
            <a:ext cx="56111" cy="2459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Oval 212">
            <a:extLst>
              <a:ext uri="{FF2B5EF4-FFF2-40B4-BE49-F238E27FC236}">
                <a16:creationId xmlns:a16="http://schemas.microsoft.com/office/drawing/2014/main" id="{567F3BEA-A383-9D04-E51E-F591C2D42DD3}"/>
              </a:ext>
            </a:extLst>
          </p:cNvPr>
          <p:cNvSpPr/>
          <p:nvPr/>
        </p:nvSpPr>
        <p:spPr>
          <a:xfrm>
            <a:off x="6919005" y="1934734"/>
            <a:ext cx="3810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</a:t>
            </a:r>
          </a:p>
        </p:txBody>
      </p:sp>
      <p:sp>
        <p:nvSpPr>
          <p:cNvPr id="214" name="Oval 213">
            <a:extLst>
              <a:ext uri="{FF2B5EF4-FFF2-40B4-BE49-F238E27FC236}">
                <a16:creationId xmlns:a16="http://schemas.microsoft.com/office/drawing/2014/main" id="{535ABD6C-D777-93CA-26A6-72FFBFACAAE8}"/>
              </a:ext>
            </a:extLst>
          </p:cNvPr>
          <p:cNvSpPr/>
          <p:nvPr/>
        </p:nvSpPr>
        <p:spPr>
          <a:xfrm>
            <a:off x="6258370" y="1934734"/>
            <a:ext cx="3810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215" name="Oval 214">
            <a:extLst>
              <a:ext uri="{FF2B5EF4-FFF2-40B4-BE49-F238E27FC236}">
                <a16:creationId xmlns:a16="http://schemas.microsoft.com/office/drawing/2014/main" id="{BEDE7E9E-6357-9124-3485-23639ABECBDF}"/>
              </a:ext>
            </a:extLst>
          </p:cNvPr>
          <p:cNvSpPr/>
          <p:nvPr/>
        </p:nvSpPr>
        <p:spPr>
          <a:xfrm>
            <a:off x="7329938" y="1934734"/>
            <a:ext cx="609600" cy="48351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</a:t>
            </a:r>
            <a:r>
              <a:rPr lang="en-US" sz="2000" baseline="30000" dirty="0">
                <a:solidFill>
                  <a:schemeClr val="tx1"/>
                </a:solidFill>
              </a:rPr>
              <a:t>/</a:t>
            </a:r>
          </a:p>
        </p:txBody>
      </p: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274774E5-859F-D8B1-B71A-65665B9883E4}"/>
              </a:ext>
            </a:extLst>
          </p:cNvPr>
          <p:cNvCxnSpPr>
            <a:cxnSpLocks/>
            <a:stCxn id="29" idx="4"/>
            <a:endCxn id="214" idx="0"/>
          </p:cNvCxnSpPr>
          <p:nvPr/>
        </p:nvCxnSpPr>
        <p:spPr>
          <a:xfrm flipH="1">
            <a:off x="6448870" y="1708459"/>
            <a:ext cx="271466" cy="2262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24A3F345-CDE0-E0E6-4624-165550134EF7}"/>
              </a:ext>
            </a:extLst>
          </p:cNvPr>
          <p:cNvCxnSpPr>
            <a:cxnSpLocks/>
            <a:stCxn id="29" idx="4"/>
            <a:endCxn id="215" idx="1"/>
          </p:cNvCxnSpPr>
          <p:nvPr/>
        </p:nvCxnSpPr>
        <p:spPr>
          <a:xfrm>
            <a:off x="6720336" y="1708459"/>
            <a:ext cx="698876" cy="2970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5A00CD24-50DC-20E3-376A-C0DCE21D8A01}"/>
              </a:ext>
            </a:extLst>
          </p:cNvPr>
          <p:cNvCxnSpPr>
            <a:cxnSpLocks/>
            <a:stCxn id="29" idx="4"/>
            <a:endCxn id="213" idx="1"/>
          </p:cNvCxnSpPr>
          <p:nvPr/>
        </p:nvCxnSpPr>
        <p:spPr>
          <a:xfrm>
            <a:off x="6720336" y="1708459"/>
            <a:ext cx="254465" cy="2820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Oval 227">
            <a:extLst>
              <a:ext uri="{FF2B5EF4-FFF2-40B4-BE49-F238E27FC236}">
                <a16:creationId xmlns:a16="http://schemas.microsoft.com/office/drawing/2014/main" id="{AC1BB6BF-24DF-9328-55C1-C53571B5A18D}"/>
              </a:ext>
            </a:extLst>
          </p:cNvPr>
          <p:cNvSpPr/>
          <p:nvPr/>
        </p:nvSpPr>
        <p:spPr>
          <a:xfrm>
            <a:off x="7225926" y="3464406"/>
            <a:ext cx="470274" cy="40731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Ɛ</a:t>
            </a:r>
          </a:p>
        </p:txBody>
      </p:sp>
      <p:sp>
        <p:nvSpPr>
          <p:cNvPr id="229" name="Oval 228">
            <a:extLst>
              <a:ext uri="{FF2B5EF4-FFF2-40B4-BE49-F238E27FC236}">
                <a16:creationId xmlns:a16="http://schemas.microsoft.com/office/drawing/2014/main" id="{5F0A3A0D-EC78-17B8-D276-2FEA4E4857A7}"/>
              </a:ext>
            </a:extLst>
          </p:cNvPr>
          <p:cNvSpPr/>
          <p:nvPr/>
        </p:nvSpPr>
        <p:spPr>
          <a:xfrm>
            <a:off x="6241503" y="3464406"/>
            <a:ext cx="1216841" cy="48351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digit</a:t>
            </a:r>
          </a:p>
        </p:txBody>
      </p: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E1B77573-4379-D1E8-5118-A12B7F689AD5}"/>
              </a:ext>
            </a:extLst>
          </p:cNvPr>
          <p:cNvCxnSpPr>
            <a:cxnSpLocks/>
            <a:stCxn id="231" idx="4"/>
            <a:endCxn id="229" idx="0"/>
          </p:cNvCxnSpPr>
          <p:nvPr/>
        </p:nvCxnSpPr>
        <p:spPr>
          <a:xfrm flipH="1">
            <a:off x="6849924" y="3077734"/>
            <a:ext cx="33102" cy="3866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Oval 230">
            <a:extLst>
              <a:ext uri="{FF2B5EF4-FFF2-40B4-BE49-F238E27FC236}">
                <a16:creationId xmlns:a16="http://schemas.microsoft.com/office/drawing/2014/main" id="{E3D9C50E-5C91-6FF7-25AB-C9025A87176D}"/>
              </a:ext>
            </a:extLst>
          </p:cNvPr>
          <p:cNvSpPr/>
          <p:nvPr/>
        </p:nvSpPr>
        <p:spPr>
          <a:xfrm>
            <a:off x="6692526" y="2696734"/>
            <a:ext cx="3810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232" name="Oval 231">
            <a:extLst>
              <a:ext uri="{FF2B5EF4-FFF2-40B4-BE49-F238E27FC236}">
                <a16:creationId xmlns:a16="http://schemas.microsoft.com/office/drawing/2014/main" id="{8AD42064-DA59-3F34-E92D-2B676C152179}"/>
              </a:ext>
            </a:extLst>
          </p:cNvPr>
          <p:cNvSpPr/>
          <p:nvPr/>
        </p:nvSpPr>
        <p:spPr>
          <a:xfrm>
            <a:off x="7086600" y="2696734"/>
            <a:ext cx="609600" cy="45872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</a:t>
            </a:r>
            <a:r>
              <a:rPr lang="en-US" sz="2000" baseline="30000" dirty="0">
                <a:solidFill>
                  <a:schemeClr val="tx1"/>
                </a:solidFill>
              </a:rPr>
              <a:t>/</a:t>
            </a:r>
            <a:endParaRPr lang="en-US" sz="2000" dirty="0">
              <a:solidFill>
                <a:schemeClr val="tx1"/>
              </a:solidFill>
            </a:endParaRPr>
          </a:p>
        </p:txBody>
      </p: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E9FDF44F-2D0E-86F2-B1C4-4402ECA2B352}"/>
              </a:ext>
            </a:extLst>
          </p:cNvPr>
          <p:cNvCxnSpPr>
            <a:cxnSpLocks/>
            <a:stCxn id="231" idx="0"/>
            <a:endCxn id="213" idx="4"/>
          </p:cNvCxnSpPr>
          <p:nvPr/>
        </p:nvCxnSpPr>
        <p:spPr>
          <a:xfrm flipV="1">
            <a:off x="6883026" y="2315734"/>
            <a:ext cx="226479" cy="381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0D1F933A-7F7B-1A2E-D07E-FFDF4CAC583A}"/>
              </a:ext>
            </a:extLst>
          </p:cNvPr>
          <p:cNvCxnSpPr>
            <a:cxnSpLocks/>
            <a:stCxn id="213" idx="4"/>
            <a:endCxn id="232" idx="0"/>
          </p:cNvCxnSpPr>
          <p:nvPr/>
        </p:nvCxnSpPr>
        <p:spPr>
          <a:xfrm>
            <a:off x="7109505" y="2315734"/>
            <a:ext cx="281895" cy="381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698B3A18-8BE8-B4E4-198E-FE867123B14B}"/>
              </a:ext>
            </a:extLst>
          </p:cNvPr>
          <p:cNvCxnSpPr>
            <a:cxnSpLocks/>
          </p:cNvCxnSpPr>
          <p:nvPr/>
        </p:nvCxnSpPr>
        <p:spPr>
          <a:xfrm>
            <a:off x="7391400" y="3153934"/>
            <a:ext cx="69663" cy="3089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Oval 235">
            <a:extLst>
              <a:ext uri="{FF2B5EF4-FFF2-40B4-BE49-F238E27FC236}">
                <a16:creationId xmlns:a16="http://schemas.microsoft.com/office/drawing/2014/main" id="{A9ACFBFE-4DAD-18D0-3EB3-8426524A58A6}"/>
              </a:ext>
            </a:extLst>
          </p:cNvPr>
          <p:cNvSpPr/>
          <p:nvPr/>
        </p:nvSpPr>
        <p:spPr>
          <a:xfrm>
            <a:off x="7606926" y="2812795"/>
            <a:ext cx="470274" cy="40731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Ɛ</a:t>
            </a:r>
          </a:p>
        </p:txBody>
      </p: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4050FFFD-BC55-AE27-4995-C6FFCE2A79A8}"/>
              </a:ext>
            </a:extLst>
          </p:cNvPr>
          <p:cNvCxnSpPr>
            <a:cxnSpLocks/>
            <a:stCxn id="215" idx="4"/>
            <a:endCxn id="236" idx="0"/>
          </p:cNvCxnSpPr>
          <p:nvPr/>
        </p:nvCxnSpPr>
        <p:spPr>
          <a:xfrm>
            <a:off x="7634738" y="2418248"/>
            <a:ext cx="207325" cy="3945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7" name="TextBox 446">
            <a:extLst>
              <a:ext uri="{FF2B5EF4-FFF2-40B4-BE49-F238E27FC236}">
                <a16:creationId xmlns:a16="http://schemas.microsoft.com/office/drawing/2014/main" id="{7E3BF01C-D2D9-7485-7AFF-61BE71E2E685}"/>
              </a:ext>
            </a:extLst>
          </p:cNvPr>
          <p:cNvSpPr txBox="1"/>
          <p:nvPr/>
        </p:nvSpPr>
        <p:spPr>
          <a:xfrm>
            <a:off x="5830364" y="791734"/>
            <a:ext cx="1166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+7</a:t>
            </a:r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8FF169E6-6A16-E100-F99E-53005777524A}"/>
              </a:ext>
            </a:extLst>
          </p:cNvPr>
          <p:cNvSpPr txBox="1"/>
          <p:nvPr/>
        </p:nvSpPr>
        <p:spPr>
          <a:xfrm>
            <a:off x="3111126" y="1477534"/>
            <a:ext cx="1166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(2+3)</a:t>
            </a:r>
          </a:p>
        </p:txBody>
      </p:sp>
      <p:sp>
        <p:nvSpPr>
          <p:cNvPr id="449" name="TextBox 448">
            <a:extLst>
              <a:ext uri="{FF2B5EF4-FFF2-40B4-BE49-F238E27FC236}">
                <a16:creationId xmlns:a16="http://schemas.microsoft.com/office/drawing/2014/main" id="{9989B7CA-BF28-828E-9AD9-8DE8ED22DA5A}"/>
              </a:ext>
            </a:extLst>
          </p:cNvPr>
          <p:cNvSpPr txBox="1"/>
          <p:nvPr/>
        </p:nvSpPr>
        <p:spPr>
          <a:xfrm>
            <a:off x="4635126" y="1565402"/>
            <a:ext cx="1166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*4</a:t>
            </a: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2B94CC4D-FFF5-C657-254E-7AC83E8FB981}"/>
              </a:ext>
            </a:extLst>
          </p:cNvPr>
          <p:cNvSpPr txBox="1"/>
          <p:nvPr/>
        </p:nvSpPr>
        <p:spPr>
          <a:xfrm>
            <a:off x="3034926" y="2391934"/>
            <a:ext cx="1166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2+3</a:t>
            </a:r>
          </a:p>
        </p:txBody>
      </p:sp>
      <p:sp>
        <p:nvSpPr>
          <p:cNvPr id="451" name="TextBox 450">
            <a:extLst>
              <a:ext uri="{FF2B5EF4-FFF2-40B4-BE49-F238E27FC236}">
                <a16:creationId xmlns:a16="http://schemas.microsoft.com/office/drawing/2014/main" id="{050CB196-BDEB-C46D-A30A-D9E68C380CAD}"/>
              </a:ext>
            </a:extLst>
          </p:cNvPr>
          <p:cNvSpPr txBox="1"/>
          <p:nvPr/>
        </p:nvSpPr>
        <p:spPr>
          <a:xfrm>
            <a:off x="2629964" y="3001534"/>
            <a:ext cx="1166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452" name="TextBox 451">
            <a:extLst>
              <a:ext uri="{FF2B5EF4-FFF2-40B4-BE49-F238E27FC236}">
                <a16:creationId xmlns:a16="http://schemas.microsoft.com/office/drawing/2014/main" id="{371527BF-E1C7-8FC0-0A50-A7E976404F79}"/>
              </a:ext>
            </a:extLst>
          </p:cNvPr>
          <p:cNvSpPr txBox="1"/>
          <p:nvPr/>
        </p:nvSpPr>
        <p:spPr>
          <a:xfrm>
            <a:off x="2196726" y="3851402"/>
            <a:ext cx="1166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453" name="TextBox 452">
            <a:extLst>
              <a:ext uri="{FF2B5EF4-FFF2-40B4-BE49-F238E27FC236}">
                <a16:creationId xmlns:a16="http://schemas.microsoft.com/office/drawing/2014/main" id="{C1F0B4D3-9463-A7DA-3C85-F44315579481}"/>
              </a:ext>
            </a:extLst>
          </p:cNvPr>
          <p:cNvSpPr txBox="1"/>
          <p:nvPr/>
        </p:nvSpPr>
        <p:spPr>
          <a:xfrm>
            <a:off x="2172764" y="4689602"/>
            <a:ext cx="1166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16E45C42-5DDF-C98F-3E56-10B9FBA8413D}"/>
              </a:ext>
            </a:extLst>
          </p:cNvPr>
          <p:cNvSpPr txBox="1"/>
          <p:nvPr/>
        </p:nvSpPr>
        <p:spPr>
          <a:xfrm>
            <a:off x="3825202" y="2971800"/>
            <a:ext cx="1166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+3</a:t>
            </a:r>
          </a:p>
        </p:txBody>
      </p:sp>
      <p:sp>
        <p:nvSpPr>
          <p:cNvPr id="455" name="TextBox 454">
            <a:extLst>
              <a:ext uri="{FF2B5EF4-FFF2-40B4-BE49-F238E27FC236}">
                <a16:creationId xmlns:a16="http://schemas.microsoft.com/office/drawing/2014/main" id="{76066C39-12EB-4830-FDEE-7EA2342C1E5C}"/>
              </a:ext>
            </a:extLst>
          </p:cNvPr>
          <p:cNvSpPr txBox="1"/>
          <p:nvPr/>
        </p:nvSpPr>
        <p:spPr>
          <a:xfrm>
            <a:off x="4254590" y="4000395"/>
            <a:ext cx="1166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456" name="TextBox 455">
            <a:extLst>
              <a:ext uri="{FF2B5EF4-FFF2-40B4-BE49-F238E27FC236}">
                <a16:creationId xmlns:a16="http://schemas.microsoft.com/office/drawing/2014/main" id="{B6483314-F286-89AC-5CD7-36EEC62763EA}"/>
              </a:ext>
            </a:extLst>
          </p:cNvPr>
          <p:cNvSpPr txBox="1"/>
          <p:nvPr/>
        </p:nvSpPr>
        <p:spPr>
          <a:xfrm>
            <a:off x="4178390" y="4533795"/>
            <a:ext cx="1166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457" name="TextBox 456">
            <a:extLst>
              <a:ext uri="{FF2B5EF4-FFF2-40B4-BE49-F238E27FC236}">
                <a16:creationId xmlns:a16="http://schemas.microsoft.com/office/drawing/2014/main" id="{9E3FFD38-715D-F7E3-3865-7E37B3C39984}"/>
              </a:ext>
            </a:extLst>
          </p:cNvPr>
          <p:cNvSpPr txBox="1"/>
          <p:nvPr/>
        </p:nvSpPr>
        <p:spPr>
          <a:xfrm>
            <a:off x="3973752" y="5345668"/>
            <a:ext cx="1166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458" name="TextBox 457">
            <a:extLst>
              <a:ext uri="{FF2B5EF4-FFF2-40B4-BE49-F238E27FC236}">
                <a16:creationId xmlns:a16="http://schemas.microsoft.com/office/drawing/2014/main" id="{D57E037C-CCD5-A35A-0487-079D83F67F3A}"/>
              </a:ext>
            </a:extLst>
          </p:cNvPr>
          <p:cNvSpPr txBox="1"/>
          <p:nvPr/>
        </p:nvSpPr>
        <p:spPr>
          <a:xfrm>
            <a:off x="4763564" y="2544334"/>
            <a:ext cx="1166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459" name="TextBox 458">
            <a:extLst>
              <a:ext uri="{FF2B5EF4-FFF2-40B4-BE49-F238E27FC236}">
                <a16:creationId xmlns:a16="http://schemas.microsoft.com/office/drawing/2014/main" id="{31F95F1C-5B17-D921-4C07-19DB25DD054C}"/>
              </a:ext>
            </a:extLst>
          </p:cNvPr>
          <p:cNvSpPr txBox="1"/>
          <p:nvPr/>
        </p:nvSpPr>
        <p:spPr>
          <a:xfrm>
            <a:off x="4915964" y="3153934"/>
            <a:ext cx="1166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460" name="TextBox 459">
            <a:extLst>
              <a:ext uri="{FF2B5EF4-FFF2-40B4-BE49-F238E27FC236}">
                <a16:creationId xmlns:a16="http://schemas.microsoft.com/office/drawing/2014/main" id="{FAB22192-F01B-ECCB-7BAE-A31D023934A0}"/>
              </a:ext>
            </a:extLst>
          </p:cNvPr>
          <p:cNvSpPr txBox="1"/>
          <p:nvPr/>
        </p:nvSpPr>
        <p:spPr>
          <a:xfrm>
            <a:off x="6159126" y="1782334"/>
            <a:ext cx="1166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461" name="TextBox 460">
            <a:extLst>
              <a:ext uri="{FF2B5EF4-FFF2-40B4-BE49-F238E27FC236}">
                <a16:creationId xmlns:a16="http://schemas.microsoft.com/office/drawing/2014/main" id="{AE4FD882-C224-EFE8-5C23-B871D2D6EBF9}"/>
              </a:ext>
            </a:extLst>
          </p:cNvPr>
          <p:cNvSpPr txBox="1"/>
          <p:nvPr/>
        </p:nvSpPr>
        <p:spPr>
          <a:xfrm>
            <a:off x="6311526" y="2251202"/>
            <a:ext cx="1166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462" name="TextBox 461">
            <a:extLst>
              <a:ext uri="{FF2B5EF4-FFF2-40B4-BE49-F238E27FC236}">
                <a16:creationId xmlns:a16="http://schemas.microsoft.com/office/drawing/2014/main" id="{63C6D719-2A5F-692B-46A3-779BBD8621B7}"/>
              </a:ext>
            </a:extLst>
          </p:cNvPr>
          <p:cNvSpPr txBox="1"/>
          <p:nvPr/>
        </p:nvSpPr>
        <p:spPr>
          <a:xfrm>
            <a:off x="6135164" y="3088122"/>
            <a:ext cx="1166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EF631767-7A82-E080-1F27-65C6BF23125F}"/>
              </a:ext>
            </a:extLst>
          </p:cNvPr>
          <p:cNvSpPr/>
          <p:nvPr/>
        </p:nvSpPr>
        <p:spPr>
          <a:xfrm>
            <a:off x="3620564" y="5034872"/>
            <a:ext cx="470274" cy="40731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Ɛ</a:t>
            </a: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FB68219A-2387-E231-E9F6-5AEEA532B9BF}"/>
              </a:ext>
            </a:extLst>
          </p:cNvPr>
          <p:cNvCxnSpPr>
            <a:cxnSpLocks/>
            <a:stCxn id="119" idx="4"/>
          </p:cNvCxnSpPr>
          <p:nvPr/>
        </p:nvCxnSpPr>
        <p:spPr>
          <a:xfrm>
            <a:off x="3804281" y="4715201"/>
            <a:ext cx="48019" cy="3172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64D9F3E7-DB84-2D9C-2432-344E13ED5EDD}"/>
              </a:ext>
            </a:extLst>
          </p:cNvPr>
          <p:cNvSpPr txBox="1"/>
          <p:nvPr/>
        </p:nvSpPr>
        <p:spPr>
          <a:xfrm>
            <a:off x="58776" y="6334780"/>
            <a:ext cx="79259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chemeClr val="bg2">
                    <a:lumMod val="75000"/>
                  </a:schemeClr>
                </a:solidFill>
              </a:rPr>
              <a:t>For automated parse tree generation, see: </a:t>
            </a:r>
            <a:r>
              <a:rPr lang="en-US" sz="1400" dirty="0">
                <a:hlinkClick r:id="rId2"/>
              </a:rPr>
              <a:t>https://www.cs.princeton.edu/courses/archive/spring20/cos320/LL1/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388766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1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1" dur="10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10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6" dur="10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10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1" dur="10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10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10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10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1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1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8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5" dur="10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6" dur="10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0" dur="1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1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7" dur="10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8" dur="10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2" dur="10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3" dur="10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9" dur="10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0" dur="10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4" dur="10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10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10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9" dur="10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10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4" dur="10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5" dur="10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8" dur="1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9" dur="10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0" dur="10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10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4" dur="10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5" dur="10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indefinite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0" dur="10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1" dur="100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2" dur="100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10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6" dur="10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7" dur="10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1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3" dur="10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4" dur="10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10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8" dur="10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9" dur="10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0" fill="hold">
                      <p:stCondLst>
                        <p:cond delay="indefinite"/>
                      </p:stCondLst>
                      <p:childTnLst>
                        <p:par>
                          <p:cTn id="301" fill="hold">
                            <p:stCondLst>
                              <p:cond delay="0"/>
                            </p:stCondLst>
                            <p:childTnLst>
                              <p:par>
                                <p:cTn id="30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4"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5" dur="10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6" dur="10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9" dur="1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0" dur="10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1" dur="10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4" dur="10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5" dur="10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6" dur="10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9" dur="10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0" dur="10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1" dur="10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4" dur="10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5" dur="10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6" dur="10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9" dur="10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0" dur="10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1" dur="10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2" fill="hold">
                      <p:stCondLst>
                        <p:cond delay="indefinite"/>
                      </p:stCondLst>
                      <p:childTnLst>
                        <p:par>
                          <p:cTn id="333" fill="hold">
                            <p:stCondLst>
                              <p:cond delay="0"/>
                            </p:stCondLst>
                            <p:childTnLst>
                              <p:par>
                                <p:cTn id="3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6" dur="10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7" dur="100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8" dur="100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1" dur="10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2" dur="100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3" dur="100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6" dur="10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7" dur="10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8" dur="10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1" dur="10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2" dur="10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3" dur="10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4" fill="hold">
                      <p:stCondLst>
                        <p:cond delay="indefinite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8" dur="10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9" dur="10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0" dur="10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3" dur="10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4" dur="10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5" dur="10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6" fill="hold">
                      <p:stCondLst>
                        <p:cond delay="indefinite"/>
                      </p:stCondLst>
                      <p:childTnLst>
                        <p:par>
                          <p:cTn id="367" fill="hold">
                            <p:stCondLst>
                              <p:cond delay="0"/>
                            </p:stCondLst>
                            <p:childTnLst>
                              <p:par>
                                <p:cTn id="3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0" dur="10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1" dur="10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2" dur="10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5" dur="10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6" dur="1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7" dur="1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8" fill="hold">
                      <p:stCondLst>
                        <p:cond delay="indefinite"/>
                      </p:stCondLst>
                      <p:childTnLst>
                        <p:par>
                          <p:cTn id="379" fill="hold">
                            <p:stCondLst>
                              <p:cond delay="0"/>
                            </p:stCondLst>
                            <p:childTnLst>
                              <p:par>
                                <p:cTn id="38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2" dur="10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3" dur="100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4" dur="100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7" dur="10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8" dur="10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9" dur="10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0" fill="hold">
                      <p:stCondLst>
                        <p:cond delay="indefinite"/>
                      </p:stCondLst>
                      <p:childTnLst>
                        <p:par>
                          <p:cTn id="391" fill="hold">
                            <p:stCondLst>
                              <p:cond delay="0"/>
                            </p:stCondLst>
                            <p:childTnLst>
                              <p:par>
                                <p:cTn id="39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4" dur="10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5" dur="1000" fill="hold"/>
                                        <p:tgtEl>
                                          <p:spTgt spid="3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6" dur="1000" fill="hold"/>
                                        <p:tgtEl>
                                          <p:spTgt spid="3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7" fill="hold">
                      <p:stCondLst>
                        <p:cond delay="indefinite"/>
                      </p:stCondLst>
                      <p:childTnLst>
                        <p:par>
                          <p:cTn id="398" fill="hold">
                            <p:stCondLst>
                              <p:cond delay="0"/>
                            </p:stCondLst>
                            <p:childTnLst>
                              <p:par>
                                <p:cTn id="39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1" dur="10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2" dur="1000" fill="hold"/>
                                        <p:tgtEl>
                                          <p:spTgt spid="4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3" dur="1000" fill="hold"/>
                                        <p:tgtEl>
                                          <p:spTgt spid="4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4" fill="hold">
                      <p:stCondLst>
                        <p:cond delay="indefinite"/>
                      </p:stCondLst>
                      <p:childTnLst>
                        <p:par>
                          <p:cTn id="405" fill="hold">
                            <p:stCondLst>
                              <p:cond delay="0"/>
                            </p:stCondLst>
                            <p:childTnLst>
                              <p:par>
                                <p:cTn id="40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8" dur="10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9" dur="1000" fill="hold"/>
                                        <p:tgtEl>
                                          <p:spTgt spid="4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0" dur="1000" fill="hold"/>
                                        <p:tgtEl>
                                          <p:spTgt spid="4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1" fill="hold">
                      <p:stCondLst>
                        <p:cond delay="indefinite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5" dur="10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6" dur="1000" fill="hold"/>
                                        <p:tgtEl>
                                          <p:spTgt spid="4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7" dur="1000" fill="hold"/>
                                        <p:tgtEl>
                                          <p:spTgt spid="4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8" fill="hold">
                      <p:stCondLst>
                        <p:cond delay="indefinite"/>
                      </p:stCondLst>
                      <p:childTnLst>
                        <p:par>
                          <p:cTn id="419" fill="hold">
                            <p:stCondLst>
                              <p:cond delay="0"/>
                            </p:stCondLst>
                            <p:childTnLst>
                              <p:par>
                                <p:cTn id="4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2" dur="10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3" dur="1000" fill="hold"/>
                                        <p:tgtEl>
                                          <p:spTgt spid="4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4" dur="1000" fill="hold"/>
                                        <p:tgtEl>
                                          <p:spTgt spid="4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5" fill="hold">
                      <p:stCondLst>
                        <p:cond delay="indefinite"/>
                      </p:stCondLst>
                      <p:childTnLst>
                        <p:par>
                          <p:cTn id="426" fill="hold">
                            <p:stCondLst>
                              <p:cond delay="0"/>
                            </p:stCondLst>
                            <p:childTnLst>
                              <p:par>
                                <p:cTn id="4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9" dur="10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0" dur="1000" fill="hold"/>
                                        <p:tgtEl>
                                          <p:spTgt spid="4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1" dur="1000" fill="hold"/>
                                        <p:tgtEl>
                                          <p:spTgt spid="4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2" fill="hold">
                      <p:stCondLst>
                        <p:cond delay="indefinite"/>
                      </p:stCondLst>
                      <p:childTnLst>
                        <p:par>
                          <p:cTn id="433" fill="hold">
                            <p:stCondLst>
                              <p:cond delay="0"/>
                            </p:stCondLst>
                            <p:childTnLst>
                              <p:par>
                                <p:cTn id="4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6" dur="10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7" dur="1000" fill="hold"/>
                                        <p:tgtEl>
                                          <p:spTgt spid="4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8" dur="1000" fill="hold"/>
                                        <p:tgtEl>
                                          <p:spTgt spid="4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9" fill="hold">
                      <p:stCondLst>
                        <p:cond delay="indefinite"/>
                      </p:stCondLst>
                      <p:childTnLst>
                        <p:par>
                          <p:cTn id="440" fill="hold">
                            <p:stCondLst>
                              <p:cond delay="0"/>
                            </p:stCondLst>
                            <p:childTnLst>
                              <p:par>
                                <p:cTn id="4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3" dur="1000"/>
                                        <p:tgtEl>
                                          <p:spTgt spid="4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4" dur="1000" fill="hold"/>
                                        <p:tgtEl>
                                          <p:spTgt spid="4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5" dur="1000" fill="hold"/>
                                        <p:tgtEl>
                                          <p:spTgt spid="4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6" fill="hold">
                      <p:stCondLst>
                        <p:cond delay="indefinite"/>
                      </p:stCondLst>
                      <p:childTnLst>
                        <p:par>
                          <p:cTn id="447" fill="hold">
                            <p:stCondLst>
                              <p:cond delay="0"/>
                            </p:stCondLst>
                            <p:childTnLst>
                              <p:par>
                                <p:cTn id="4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0" dur="10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1" dur="1000" fill="hold"/>
                                        <p:tgtEl>
                                          <p:spTgt spid="4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2" dur="1000" fill="hold"/>
                                        <p:tgtEl>
                                          <p:spTgt spid="4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3" fill="hold">
                      <p:stCondLst>
                        <p:cond delay="indefinite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id="4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7" dur="1000"/>
                                        <p:tgtEl>
                                          <p:spTgt spid="4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8" dur="1000" fill="hold"/>
                                        <p:tgtEl>
                                          <p:spTgt spid="4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9" dur="1000" fill="hold"/>
                                        <p:tgtEl>
                                          <p:spTgt spid="4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0" fill="hold">
                      <p:stCondLst>
                        <p:cond delay="indefinite"/>
                      </p:stCondLst>
                      <p:childTnLst>
                        <p:par>
                          <p:cTn id="461" fill="hold">
                            <p:stCondLst>
                              <p:cond delay="0"/>
                            </p:stCondLst>
                            <p:childTnLst>
                              <p:par>
                                <p:cTn id="4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4" dur="1000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5" dur="1000" fill="hold"/>
                                        <p:tgtEl>
                                          <p:spTgt spid="4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6" dur="1000" fill="hold"/>
                                        <p:tgtEl>
                                          <p:spTgt spid="4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7" fill="hold">
                      <p:stCondLst>
                        <p:cond delay="indefinite"/>
                      </p:stCondLst>
                      <p:childTnLst>
                        <p:par>
                          <p:cTn id="468" fill="hold">
                            <p:stCondLst>
                              <p:cond delay="0"/>
                            </p:stCondLst>
                            <p:childTnLst>
                              <p:par>
                                <p:cTn id="4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1" dur="1000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2" dur="1000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3" dur="1000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4" fill="hold">
                      <p:stCondLst>
                        <p:cond delay="indefinite"/>
                      </p:stCondLst>
                      <p:childTnLst>
                        <p:par>
                          <p:cTn id="475" fill="hold">
                            <p:stCondLst>
                              <p:cond delay="0"/>
                            </p:stCondLst>
                            <p:childTnLst>
                              <p:par>
                                <p:cTn id="47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8" dur="100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9" dur="1000" fill="hold"/>
                                        <p:tgtEl>
                                          <p:spTgt spid="4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0" dur="1000" fill="hold"/>
                                        <p:tgtEl>
                                          <p:spTgt spid="4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1" fill="hold">
                      <p:stCondLst>
                        <p:cond delay="indefinite"/>
                      </p:stCondLst>
                      <p:childTnLst>
                        <p:par>
                          <p:cTn id="482" fill="hold">
                            <p:stCondLst>
                              <p:cond delay="0"/>
                            </p:stCondLst>
                            <p:childTnLst>
                              <p:par>
                                <p:cTn id="48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5" dur="1000"/>
                                        <p:tgtEl>
                                          <p:spTgt spid="4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6" dur="1000" fill="hold"/>
                                        <p:tgtEl>
                                          <p:spTgt spid="4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7" dur="1000" fill="hold"/>
                                        <p:tgtEl>
                                          <p:spTgt spid="4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8" fill="hold">
                      <p:stCondLst>
                        <p:cond delay="indefinite"/>
                      </p:stCondLst>
                      <p:childTnLst>
                        <p:par>
                          <p:cTn id="489" fill="hold">
                            <p:stCondLst>
                              <p:cond delay="0"/>
                            </p:stCondLst>
                            <p:childTnLst>
                              <p:par>
                                <p:cTn id="49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2" dur="1000"/>
                                        <p:tgtEl>
                                          <p:spTgt spid="4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3" dur="1000" fill="hold"/>
                                        <p:tgtEl>
                                          <p:spTgt spid="4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4" dur="1000" fill="hold"/>
                                        <p:tgtEl>
                                          <p:spTgt spid="4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5" fill="hold">
                      <p:stCondLst>
                        <p:cond delay="indefinite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9" dur="10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0" dur="1000" fill="hold"/>
                                        <p:tgtEl>
                                          <p:spTgt spid="4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1" dur="1000" fill="hold"/>
                                        <p:tgtEl>
                                          <p:spTgt spid="4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2" fill="hold">
                      <p:stCondLst>
                        <p:cond delay="indefinite"/>
                      </p:stCondLst>
                      <p:childTnLst>
                        <p:par>
                          <p:cTn id="503" fill="hold">
                            <p:stCondLst>
                              <p:cond delay="0"/>
                            </p:stCondLst>
                            <p:childTnLst>
                              <p:par>
                                <p:cTn id="50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6" dur="10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7" dur="1000" fill="hold"/>
                                        <p:tgtEl>
                                          <p:spTgt spid="4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8" dur="1000" fill="hold"/>
                                        <p:tgtEl>
                                          <p:spTgt spid="4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2" grpId="0"/>
      <p:bldP spid="24" grpId="0"/>
      <p:bldP spid="61" grpId="0"/>
      <p:bldP spid="63" grpId="0"/>
      <p:bldP spid="64" grpId="0"/>
      <p:bldP spid="68" grpId="0"/>
      <p:bldP spid="70" grpId="0"/>
      <p:bldP spid="71" grpId="0"/>
      <p:bldP spid="100" grpId="0"/>
      <p:bldP spid="102" grpId="0"/>
      <p:bldP spid="133" grpId="0"/>
      <p:bldP spid="134" grpId="0"/>
      <p:bldP spid="327" grpId="0"/>
      <p:bldP spid="119" grpId="0"/>
      <p:bldP spid="129" grpId="0"/>
      <p:bldP spid="130" grpId="0"/>
      <p:bldP spid="131" grpId="0"/>
      <p:bldP spid="148" grpId="0"/>
      <p:bldP spid="149" grpId="0"/>
      <p:bldP spid="169" grpId="0"/>
      <p:bldP spid="178" grpId="0"/>
      <p:bldP spid="180" grpId="0"/>
      <p:bldP spid="184" grpId="0"/>
      <p:bldP spid="188" grpId="0"/>
      <p:bldP spid="191" grpId="0"/>
      <p:bldP spid="213" grpId="0"/>
      <p:bldP spid="214" grpId="0"/>
      <p:bldP spid="215" grpId="0"/>
      <p:bldP spid="228" grpId="0"/>
      <p:bldP spid="229" grpId="0"/>
      <p:bldP spid="231" grpId="0"/>
      <p:bldP spid="232" grpId="0"/>
      <p:bldP spid="236" grpId="0"/>
      <p:bldP spid="447" grpId="0"/>
      <p:bldP spid="448" grpId="0"/>
      <p:bldP spid="449" grpId="0"/>
      <p:bldP spid="450" grpId="0"/>
      <p:bldP spid="451" grpId="0"/>
      <p:bldP spid="452" grpId="0"/>
      <p:bldP spid="453" grpId="0"/>
      <p:bldP spid="454" grpId="0"/>
      <p:bldP spid="455" grpId="0"/>
      <p:bldP spid="456" grpId="0"/>
      <p:bldP spid="457" grpId="0"/>
      <p:bldP spid="458" grpId="0"/>
      <p:bldP spid="459" grpId="0"/>
      <p:bldP spid="460" grpId="0"/>
      <p:bldP spid="461" grpId="0"/>
      <p:bldP spid="462" grpId="0"/>
      <p:bldP spid="10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Oval 27">
            <a:extLst>
              <a:ext uri="{FF2B5EF4-FFF2-40B4-BE49-F238E27FC236}">
                <a16:creationId xmlns:a16="http://schemas.microsoft.com/office/drawing/2014/main" id="{3F6233CD-8323-425C-0682-112BDE5CC73A}"/>
              </a:ext>
            </a:extLst>
          </p:cNvPr>
          <p:cNvSpPr/>
          <p:nvPr/>
        </p:nvSpPr>
        <p:spPr>
          <a:xfrm>
            <a:off x="5361812" y="1547181"/>
            <a:ext cx="3810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FCDC052-2E24-0CD7-4169-79A3F6AF4152}"/>
              </a:ext>
            </a:extLst>
          </p:cNvPr>
          <p:cNvSpPr/>
          <p:nvPr/>
        </p:nvSpPr>
        <p:spPr>
          <a:xfrm>
            <a:off x="7419212" y="1547181"/>
            <a:ext cx="609596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</a:t>
            </a:r>
            <a:r>
              <a:rPr lang="en-US" sz="2000" baseline="30000" dirty="0">
                <a:solidFill>
                  <a:schemeClr val="tx1"/>
                </a:solidFill>
              </a:rPr>
              <a:t>/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DADEA01-0F25-9736-08DA-1AAA8E2555C2}"/>
              </a:ext>
            </a:extLst>
          </p:cNvPr>
          <p:cNvSpPr/>
          <p:nvPr/>
        </p:nvSpPr>
        <p:spPr>
          <a:xfrm>
            <a:off x="6035024" y="2154456"/>
            <a:ext cx="545988" cy="48351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</a:t>
            </a:r>
            <a:r>
              <a:rPr lang="en-US" sz="2000" baseline="30000" dirty="0">
                <a:solidFill>
                  <a:schemeClr val="tx1"/>
                </a:solidFill>
              </a:rPr>
              <a:t>/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90180B9-2F7C-AED1-D3DD-1E784D370600}"/>
              </a:ext>
            </a:extLst>
          </p:cNvPr>
          <p:cNvSpPr/>
          <p:nvPr/>
        </p:nvSpPr>
        <p:spPr>
          <a:xfrm>
            <a:off x="6276212" y="829322"/>
            <a:ext cx="3810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837ABA7-432F-64AD-708C-63D36CFE5D04}"/>
              </a:ext>
            </a:extLst>
          </p:cNvPr>
          <p:cNvCxnSpPr>
            <a:cxnSpLocks/>
          </p:cNvCxnSpPr>
          <p:nvPr/>
        </p:nvCxnSpPr>
        <p:spPr>
          <a:xfrm flipV="1">
            <a:off x="5552312" y="1124863"/>
            <a:ext cx="779696" cy="3901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E8080B0-A873-912D-7491-37A8D516EBA3}"/>
              </a:ext>
            </a:extLst>
          </p:cNvPr>
          <p:cNvCxnSpPr>
            <a:cxnSpLocks/>
            <a:stCxn id="24" idx="5"/>
          </p:cNvCxnSpPr>
          <p:nvPr/>
        </p:nvCxnSpPr>
        <p:spPr>
          <a:xfrm>
            <a:off x="6601416" y="1154526"/>
            <a:ext cx="867925" cy="4461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0AFB704-FC87-5CCB-757D-47B58100B9E1}"/>
              </a:ext>
            </a:extLst>
          </p:cNvPr>
          <p:cNvCxnSpPr>
            <a:cxnSpLocks/>
            <a:stCxn id="71" idx="0"/>
          </p:cNvCxnSpPr>
          <p:nvPr/>
        </p:nvCxnSpPr>
        <p:spPr>
          <a:xfrm flipV="1">
            <a:off x="4864230" y="1872385"/>
            <a:ext cx="551096" cy="2820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ADB7A9A1-5175-65C2-0B6C-392FF1013F25}"/>
              </a:ext>
            </a:extLst>
          </p:cNvPr>
          <p:cNvCxnSpPr>
            <a:cxnSpLocks/>
            <a:stCxn id="32" idx="1"/>
            <a:endCxn id="28" idx="5"/>
          </p:cNvCxnSpPr>
          <p:nvPr/>
        </p:nvCxnSpPr>
        <p:spPr>
          <a:xfrm flipH="1" flipV="1">
            <a:off x="5687016" y="1872385"/>
            <a:ext cx="427966" cy="3528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>
            <a:extLst>
              <a:ext uri="{FF2B5EF4-FFF2-40B4-BE49-F238E27FC236}">
                <a16:creationId xmlns:a16="http://schemas.microsoft.com/office/drawing/2014/main" id="{C48DBF65-F1A4-CB3A-2D94-00520D5E0A8F}"/>
              </a:ext>
            </a:extLst>
          </p:cNvPr>
          <p:cNvSpPr/>
          <p:nvPr/>
        </p:nvSpPr>
        <p:spPr>
          <a:xfrm>
            <a:off x="4073891" y="3684128"/>
            <a:ext cx="3810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E9FFDB92-6DA9-3D92-16BE-9D0A4BB734B1}"/>
              </a:ext>
            </a:extLst>
          </p:cNvPr>
          <p:cNvSpPr/>
          <p:nvPr/>
        </p:nvSpPr>
        <p:spPr>
          <a:xfrm>
            <a:off x="5445491" y="3684128"/>
            <a:ext cx="609600" cy="53045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</a:t>
            </a:r>
            <a:r>
              <a:rPr lang="en-US" sz="2000" baseline="30000" dirty="0">
                <a:solidFill>
                  <a:schemeClr val="tx1"/>
                </a:solidFill>
              </a:rPr>
              <a:t>/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B252B008-800F-EA55-E675-990131CDE6B9}"/>
              </a:ext>
            </a:extLst>
          </p:cNvPr>
          <p:cNvCxnSpPr>
            <a:cxnSpLocks/>
            <a:stCxn id="64" idx="3"/>
            <a:endCxn id="61" idx="0"/>
          </p:cNvCxnSpPr>
          <p:nvPr/>
        </p:nvCxnSpPr>
        <p:spPr>
          <a:xfrm flipH="1">
            <a:off x="4264391" y="3241660"/>
            <a:ext cx="451457" cy="4424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B643995D-E1DC-43E2-6508-B2BFCE172CE0}"/>
              </a:ext>
            </a:extLst>
          </p:cNvPr>
          <p:cNvCxnSpPr>
            <a:cxnSpLocks/>
            <a:stCxn id="63" idx="1"/>
            <a:endCxn id="64" idx="5"/>
          </p:cNvCxnSpPr>
          <p:nvPr/>
        </p:nvCxnSpPr>
        <p:spPr>
          <a:xfrm flipH="1" flipV="1">
            <a:off x="4985256" y="3241660"/>
            <a:ext cx="549509" cy="5201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63">
            <a:extLst>
              <a:ext uri="{FF2B5EF4-FFF2-40B4-BE49-F238E27FC236}">
                <a16:creationId xmlns:a16="http://schemas.microsoft.com/office/drawing/2014/main" id="{09A5ED45-5059-F28F-A82F-6500215E6B1B}"/>
              </a:ext>
            </a:extLst>
          </p:cNvPr>
          <p:cNvSpPr/>
          <p:nvPr/>
        </p:nvSpPr>
        <p:spPr>
          <a:xfrm>
            <a:off x="4660052" y="2916456"/>
            <a:ext cx="3810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A68EB76E-DBEC-59DF-192C-6664D6E890D4}"/>
              </a:ext>
            </a:extLst>
          </p:cNvPr>
          <p:cNvSpPr/>
          <p:nvPr/>
        </p:nvSpPr>
        <p:spPr>
          <a:xfrm>
            <a:off x="3660604" y="2916456"/>
            <a:ext cx="3810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(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BC55F407-29EE-26A7-743F-427D21FCBC53}"/>
              </a:ext>
            </a:extLst>
          </p:cNvPr>
          <p:cNvSpPr/>
          <p:nvPr/>
        </p:nvSpPr>
        <p:spPr>
          <a:xfrm>
            <a:off x="5661033" y="2916456"/>
            <a:ext cx="3810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F50146AD-91FC-D867-9500-9F9E83CEA3A3}"/>
              </a:ext>
            </a:extLst>
          </p:cNvPr>
          <p:cNvSpPr/>
          <p:nvPr/>
        </p:nvSpPr>
        <p:spPr>
          <a:xfrm>
            <a:off x="4673730" y="2154456"/>
            <a:ext cx="3810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FAC5DB5F-D1EC-DD4D-153E-C0B11CC83571}"/>
              </a:ext>
            </a:extLst>
          </p:cNvPr>
          <p:cNvCxnSpPr>
            <a:cxnSpLocks/>
            <a:endCxn id="68" idx="0"/>
          </p:cNvCxnSpPr>
          <p:nvPr/>
        </p:nvCxnSpPr>
        <p:spPr>
          <a:xfrm flipH="1">
            <a:off x="3851104" y="2479660"/>
            <a:ext cx="876889" cy="4367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8DE22B43-A903-E808-FB7F-993D3D3D7697}"/>
              </a:ext>
            </a:extLst>
          </p:cNvPr>
          <p:cNvCxnSpPr>
            <a:cxnSpLocks/>
            <a:stCxn id="64" idx="0"/>
          </p:cNvCxnSpPr>
          <p:nvPr/>
        </p:nvCxnSpPr>
        <p:spPr>
          <a:xfrm flipV="1">
            <a:off x="4850552" y="2535456"/>
            <a:ext cx="12145" cy="381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752FFE04-2877-5087-E6CB-2819D1ECD3C8}"/>
              </a:ext>
            </a:extLst>
          </p:cNvPr>
          <p:cNvCxnSpPr>
            <a:cxnSpLocks/>
          </p:cNvCxnSpPr>
          <p:nvPr/>
        </p:nvCxnSpPr>
        <p:spPr>
          <a:xfrm flipH="1" flipV="1">
            <a:off x="4997401" y="2479660"/>
            <a:ext cx="717895" cy="4925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Oval 99">
            <a:extLst>
              <a:ext uri="{FF2B5EF4-FFF2-40B4-BE49-F238E27FC236}">
                <a16:creationId xmlns:a16="http://schemas.microsoft.com/office/drawing/2014/main" id="{7AB2DD55-DB39-ECCC-E73A-C5167E3B2516}"/>
              </a:ext>
            </a:extLst>
          </p:cNvPr>
          <p:cNvSpPr/>
          <p:nvPr/>
        </p:nvSpPr>
        <p:spPr>
          <a:xfrm>
            <a:off x="3784824" y="4490341"/>
            <a:ext cx="2794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F6004308-6EEF-C0FE-5AFA-6B44C466C560}"/>
              </a:ext>
            </a:extLst>
          </p:cNvPr>
          <p:cNvSpPr/>
          <p:nvPr/>
        </p:nvSpPr>
        <p:spPr>
          <a:xfrm>
            <a:off x="3429000" y="5252341"/>
            <a:ext cx="1033348" cy="48351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digit</a:t>
            </a:r>
          </a:p>
        </p:txBody>
      </p: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541D80AF-A585-1841-0E4C-C31C9C43A605}"/>
              </a:ext>
            </a:extLst>
          </p:cNvPr>
          <p:cNvCxnSpPr>
            <a:cxnSpLocks/>
            <a:stCxn id="61" idx="3"/>
            <a:endCxn id="100" idx="0"/>
          </p:cNvCxnSpPr>
          <p:nvPr/>
        </p:nvCxnSpPr>
        <p:spPr>
          <a:xfrm flipH="1">
            <a:off x="3924524" y="4009332"/>
            <a:ext cx="205163" cy="4810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264BCD36-6FB4-9F84-58D9-E2EE8B11D4AF}"/>
              </a:ext>
            </a:extLst>
          </p:cNvPr>
          <p:cNvCxnSpPr>
            <a:cxnSpLocks/>
            <a:stCxn id="102" idx="0"/>
            <a:endCxn id="100" idx="4"/>
          </p:cNvCxnSpPr>
          <p:nvPr/>
        </p:nvCxnSpPr>
        <p:spPr>
          <a:xfrm flipH="1" flipV="1">
            <a:off x="3924524" y="4871341"/>
            <a:ext cx="21150" cy="381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EAE6C5AD-5ADC-3B7A-F988-5EF597E7A3C0}"/>
              </a:ext>
            </a:extLst>
          </p:cNvPr>
          <p:cNvSpPr txBox="1"/>
          <p:nvPr/>
        </p:nvSpPr>
        <p:spPr>
          <a:xfrm>
            <a:off x="295952" y="951514"/>
            <a:ext cx="1228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 </a:t>
            </a:r>
            <a:r>
              <a:rPr lang="en-US" dirty="0">
                <a:sym typeface="Wingdings" panose="05000000000000000000" pitchFamily="2" charset="2"/>
              </a:rPr>
              <a:t> T E</a:t>
            </a:r>
            <a:r>
              <a:rPr lang="en-US" baseline="30000" dirty="0">
                <a:sym typeface="Wingdings" panose="05000000000000000000" pitchFamily="2" charset="2"/>
              </a:rPr>
              <a:t>/</a:t>
            </a:r>
            <a:endParaRPr lang="en-US" baseline="30000" dirty="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9033C0B4-5182-4F9F-BA3E-7E5B792F8BE0}"/>
              </a:ext>
            </a:extLst>
          </p:cNvPr>
          <p:cNvSpPr txBox="1"/>
          <p:nvPr/>
        </p:nvSpPr>
        <p:spPr>
          <a:xfrm>
            <a:off x="295952" y="2440415"/>
            <a:ext cx="1228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  <a:r>
              <a:rPr lang="en-US" baseline="30000" dirty="0">
                <a:sym typeface="Wingdings" panose="05000000000000000000" pitchFamily="2" charset="2"/>
              </a:rPr>
              <a:t> /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* F T</a:t>
            </a:r>
            <a:r>
              <a:rPr lang="en-US" baseline="30000" dirty="0">
                <a:sym typeface="Wingdings" panose="05000000000000000000" pitchFamily="2" charset="2"/>
              </a:rPr>
              <a:t>/</a:t>
            </a:r>
            <a:endParaRPr lang="en-US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B66CA0D5-3DB9-22D1-E7BF-52743154290A}"/>
              </a:ext>
            </a:extLst>
          </p:cNvPr>
          <p:cNvSpPr txBox="1"/>
          <p:nvPr/>
        </p:nvSpPr>
        <p:spPr>
          <a:xfrm>
            <a:off x="295952" y="3168029"/>
            <a:ext cx="1228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 </a:t>
            </a:r>
            <a:r>
              <a:rPr lang="en-US" dirty="0">
                <a:sym typeface="Wingdings" panose="05000000000000000000" pitchFamily="2" charset="2"/>
              </a:rPr>
              <a:t> ( E )</a:t>
            </a:r>
            <a:endParaRPr lang="en-US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CC1E5A29-27F9-660E-F988-33B3CD374B24}"/>
              </a:ext>
            </a:extLst>
          </p:cNvPr>
          <p:cNvSpPr txBox="1"/>
          <p:nvPr/>
        </p:nvSpPr>
        <p:spPr>
          <a:xfrm>
            <a:off x="295952" y="3516868"/>
            <a:ext cx="1228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 </a:t>
            </a:r>
            <a:r>
              <a:rPr lang="en-US" dirty="0">
                <a:sym typeface="Wingdings" panose="05000000000000000000" pitchFamily="2" charset="2"/>
              </a:rPr>
              <a:t> digit</a:t>
            </a:r>
            <a:endParaRPr lang="en-US" dirty="0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B002204E-5036-676E-8432-D0E25D12C466}"/>
              </a:ext>
            </a:extLst>
          </p:cNvPr>
          <p:cNvSpPr txBox="1"/>
          <p:nvPr/>
        </p:nvSpPr>
        <p:spPr>
          <a:xfrm>
            <a:off x="295952" y="1291974"/>
            <a:ext cx="1456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</a:t>
            </a:r>
            <a:r>
              <a:rPr lang="en-US" baseline="30000" dirty="0">
                <a:sym typeface="Wingdings" panose="05000000000000000000" pitchFamily="2" charset="2"/>
              </a:rPr>
              <a:t> /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+ T</a:t>
            </a:r>
            <a:r>
              <a:rPr lang="en-US" dirty="0"/>
              <a:t> E</a:t>
            </a:r>
            <a:r>
              <a:rPr lang="en-US" baseline="30000" dirty="0">
                <a:sym typeface="Wingdings" panose="05000000000000000000" pitchFamily="2" charset="2"/>
              </a:rPr>
              <a:t> /</a:t>
            </a:r>
            <a:endParaRPr lang="en-US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48990C20-425B-A2A7-ED25-B631FB969DCB}"/>
              </a:ext>
            </a:extLst>
          </p:cNvPr>
          <p:cNvSpPr txBox="1"/>
          <p:nvPr/>
        </p:nvSpPr>
        <p:spPr>
          <a:xfrm>
            <a:off x="295952" y="2092968"/>
            <a:ext cx="1228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 </a:t>
            </a:r>
            <a:r>
              <a:rPr lang="en-US" dirty="0">
                <a:sym typeface="Wingdings" panose="05000000000000000000" pitchFamily="2" charset="2"/>
              </a:rPr>
              <a:t> F T</a:t>
            </a:r>
            <a:r>
              <a:rPr lang="en-US" baseline="30000" dirty="0">
                <a:sym typeface="Wingdings" panose="05000000000000000000" pitchFamily="2" charset="2"/>
              </a:rPr>
              <a:t>/</a:t>
            </a:r>
            <a:endParaRPr lang="en-US" baseline="30000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CA87C1F6-DEF0-E4A4-16F9-E29EDD7472AE}"/>
              </a:ext>
            </a:extLst>
          </p:cNvPr>
          <p:cNvSpPr txBox="1"/>
          <p:nvPr/>
        </p:nvSpPr>
        <p:spPr>
          <a:xfrm>
            <a:off x="295952" y="607582"/>
            <a:ext cx="122804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Production</a:t>
            </a:r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C19270A4-0DF7-D16D-E89E-47BC6D70E0F5}"/>
              </a:ext>
            </a:extLst>
          </p:cNvPr>
          <p:cNvSpPr/>
          <p:nvPr/>
        </p:nvSpPr>
        <p:spPr>
          <a:xfrm>
            <a:off x="6337674" y="6069685"/>
            <a:ext cx="470274" cy="40731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Ɛ</a:t>
            </a:r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D2A084BC-1780-1950-7FA5-1A7102AA42C0}"/>
              </a:ext>
            </a:extLst>
          </p:cNvPr>
          <p:cNvSpPr/>
          <p:nvPr/>
        </p:nvSpPr>
        <p:spPr>
          <a:xfrm>
            <a:off x="4966074" y="5993485"/>
            <a:ext cx="1216841" cy="48351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digit</a:t>
            </a:r>
          </a:p>
        </p:txBody>
      </p: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168D05B5-8B09-1B80-8003-FB16F99F1211}"/>
              </a:ext>
            </a:extLst>
          </p:cNvPr>
          <p:cNvCxnSpPr>
            <a:cxnSpLocks/>
            <a:stCxn id="148" idx="4"/>
            <a:endCxn id="134" idx="0"/>
          </p:cNvCxnSpPr>
          <p:nvPr/>
        </p:nvCxnSpPr>
        <p:spPr>
          <a:xfrm flipH="1">
            <a:off x="5574495" y="5662595"/>
            <a:ext cx="39279" cy="3308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176326ED-9633-B18E-E070-A78D51B88C11}"/>
              </a:ext>
            </a:extLst>
          </p:cNvPr>
          <p:cNvCxnSpPr>
            <a:cxnSpLocks/>
            <a:stCxn id="32" idx="4"/>
            <a:endCxn id="178" idx="0"/>
          </p:cNvCxnSpPr>
          <p:nvPr/>
        </p:nvCxnSpPr>
        <p:spPr>
          <a:xfrm flipH="1">
            <a:off x="6161912" y="2637971"/>
            <a:ext cx="146106" cy="2784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2FEEDF72-2B50-6FE3-B9D7-C74037B55F96}"/>
              </a:ext>
            </a:extLst>
          </p:cNvPr>
          <p:cNvSpPr txBox="1"/>
          <p:nvPr/>
        </p:nvSpPr>
        <p:spPr>
          <a:xfrm>
            <a:off x="304800" y="1676400"/>
            <a:ext cx="1228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</a:t>
            </a:r>
            <a:r>
              <a:rPr lang="en-US" baseline="30000" dirty="0">
                <a:sym typeface="Wingdings" panose="05000000000000000000" pitchFamily="2" charset="2"/>
              </a:rPr>
              <a:t> /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Ɛ</a:t>
            </a:r>
            <a:endParaRPr lang="en-US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1EBF6AA-5ADE-9B9F-7E5D-C292DDC201F6}"/>
              </a:ext>
            </a:extLst>
          </p:cNvPr>
          <p:cNvSpPr txBox="1"/>
          <p:nvPr/>
        </p:nvSpPr>
        <p:spPr>
          <a:xfrm>
            <a:off x="304800" y="2831068"/>
            <a:ext cx="1228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  <a:r>
              <a:rPr lang="en-US" baseline="30000" dirty="0">
                <a:sym typeface="Wingdings" panose="05000000000000000000" pitchFamily="2" charset="2"/>
              </a:rPr>
              <a:t> /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Ɛ</a:t>
            </a:r>
            <a:endParaRPr lang="en-US" dirty="0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9A541F55-425E-90D1-A015-8681C3CB47BF}"/>
              </a:ext>
            </a:extLst>
          </p:cNvPr>
          <p:cNvSpPr/>
          <p:nvPr/>
        </p:nvSpPr>
        <p:spPr>
          <a:xfrm>
            <a:off x="4508874" y="4343400"/>
            <a:ext cx="630664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</a:t>
            </a:r>
            <a:r>
              <a:rPr lang="en-US" sz="2000" baseline="30000" dirty="0">
                <a:solidFill>
                  <a:schemeClr val="tx1"/>
                </a:solidFill>
              </a:rPr>
              <a:t>/</a:t>
            </a:r>
            <a:endParaRPr lang="en-US" sz="2000" dirty="0">
              <a:solidFill>
                <a:schemeClr val="tx1"/>
              </a:solidFill>
            </a:endParaRPr>
          </a:p>
        </p:txBody>
      </p: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7496F18B-2468-2782-ADF5-9B27E4FAB4F5}"/>
              </a:ext>
            </a:extLst>
          </p:cNvPr>
          <p:cNvCxnSpPr>
            <a:cxnSpLocks/>
            <a:stCxn id="61" idx="5"/>
            <a:endCxn id="119" idx="1"/>
          </p:cNvCxnSpPr>
          <p:nvPr/>
        </p:nvCxnSpPr>
        <p:spPr>
          <a:xfrm>
            <a:off x="4399095" y="4009332"/>
            <a:ext cx="202138" cy="4104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Oval 128">
            <a:extLst>
              <a:ext uri="{FF2B5EF4-FFF2-40B4-BE49-F238E27FC236}">
                <a16:creationId xmlns:a16="http://schemas.microsoft.com/office/drawing/2014/main" id="{B38325B0-A854-682A-3F90-51E826D1F9B8}"/>
              </a:ext>
            </a:extLst>
          </p:cNvPr>
          <p:cNvSpPr/>
          <p:nvPr/>
        </p:nvSpPr>
        <p:spPr>
          <a:xfrm>
            <a:off x="5792754" y="4467182"/>
            <a:ext cx="3810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</a:t>
            </a:r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5630887B-9FE6-85FC-E35D-E1F9418F251C}"/>
              </a:ext>
            </a:extLst>
          </p:cNvPr>
          <p:cNvSpPr/>
          <p:nvPr/>
        </p:nvSpPr>
        <p:spPr>
          <a:xfrm>
            <a:off x="5132119" y="4472293"/>
            <a:ext cx="3810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A3333249-C3FC-7B8A-59C7-D55825FD36F5}"/>
              </a:ext>
            </a:extLst>
          </p:cNvPr>
          <p:cNvSpPr/>
          <p:nvPr/>
        </p:nvSpPr>
        <p:spPr>
          <a:xfrm>
            <a:off x="6718674" y="4419600"/>
            <a:ext cx="609600" cy="48351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</a:t>
            </a:r>
            <a:r>
              <a:rPr lang="en-US" sz="2000" baseline="30000" dirty="0">
                <a:solidFill>
                  <a:schemeClr val="tx1"/>
                </a:solidFill>
              </a:rPr>
              <a:t>/</a:t>
            </a:r>
          </a:p>
        </p:txBody>
      </p: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9178EB7B-DA7F-1DF9-4358-8346E9A5CA77}"/>
              </a:ext>
            </a:extLst>
          </p:cNvPr>
          <p:cNvCxnSpPr>
            <a:cxnSpLocks/>
            <a:stCxn id="63" idx="3"/>
          </p:cNvCxnSpPr>
          <p:nvPr/>
        </p:nvCxnSpPr>
        <p:spPr>
          <a:xfrm flipH="1">
            <a:off x="5322619" y="4136901"/>
            <a:ext cx="212146" cy="3355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D02A860E-3CB8-7D56-43F1-ED4EA199F865}"/>
              </a:ext>
            </a:extLst>
          </p:cNvPr>
          <p:cNvCxnSpPr>
            <a:cxnSpLocks/>
          </p:cNvCxnSpPr>
          <p:nvPr/>
        </p:nvCxnSpPr>
        <p:spPr>
          <a:xfrm>
            <a:off x="5750291" y="4214370"/>
            <a:ext cx="232963" cy="2525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D2F42380-D0E9-905C-C13D-7266E1E8735E}"/>
              </a:ext>
            </a:extLst>
          </p:cNvPr>
          <p:cNvCxnSpPr>
            <a:cxnSpLocks/>
            <a:stCxn id="63" idx="5"/>
          </p:cNvCxnSpPr>
          <p:nvPr/>
        </p:nvCxnSpPr>
        <p:spPr>
          <a:xfrm>
            <a:off x="5965817" y="4136901"/>
            <a:ext cx="842131" cy="3505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Oval 147">
            <a:extLst>
              <a:ext uri="{FF2B5EF4-FFF2-40B4-BE49-F238E27FC236}">
                <a16:creationId xmlns:a16="http://schemas.microsoft.com/office/drawing/2014/main" id="{4C14E1EE-A1CC-8F60-42C8-29F74CAA5A33}"/>
              </a:ext>
            </a:extLst>
          </p:cNvPr>
          <p:cNvSpPr/>
          <p:nvPr/>
        </p:nvSpPr>
        <p:spPr>
          <a:xfrm>
            <a:off x="5423274" y="5281595"/>
            <a:ext cx="3810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5B135A09-7324-0D10-9F4B-CE344F5F1FE4}"/>
              </a:ext>
            </a:extLst>
          </p:cNvPr>
          <p:cNvSpPr/>
          <p:nvPr/>
        </p:nvSpPr>
        <p:spPr>
          <a:xfrm>
            <a:off x="6185274" y="5278656"/>
            <a:ext cx="609600" cy="45872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</a:t>
            </a:r>
            <a:r>
              <a:rPr lang="en-US" sz="2000" baseline="30000" dirty="0">
                <a:solidFill>
                  <a:schemeClr val="tx1"/>
                </a:solidFill>
              </a:rPr>
              <a:t>/</a:t>
            </a:r>
            <a:endParaRPr lang="en-US" sz="2000" dirty="0">
              <a:solidFill>
                <a:schemeClr val="tx1"/>
              </a:solidFill>
            </a:endParaRPr>
          </a:p>
        </p:txBody>
      </p: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D217896A-3ABA-B0D0-6EA5-7D2504F61CEE}"/>
              </a:ext>
            </a:extLst>
          </p:cNvPr>
          <p:cNvCxnSpPr>
            <a:cxnSpLocks/>
          </p:cNvCxnSpPr>
          <p:nvPr/>
        </p:nvCxnSpPr>
        <p:spPr>
          <a:xfrm flipV="1">
            <a:off x="5613774" y="5024100"/>
            <a:ext cx="369480" cy="2720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3CB06980-89EB-29EE-3E98-87E8F2F89DDE}"/>
              </a:ext>
            </a:extLst>
          </p:cNvPr>
          <p:cNvCxnSpPr>
            <a:cxnSpLocks/>
            <a:endCxn id="149" idx="0"/>
          </p:cNvCxnSpPr>
          <p:nvPr/>
        </p:nvCxnSpPr>
        <p:spPr>
          <a:xfrm>
            <a:off x="5983254" y="5024100"/>
            <a:ext cx="506820" cy="254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3DDE9126-48C0-E574-2826-103E4131AC6B}"/>
              </a:ext>
            </a:extLst>
          </p:cNvPr>
          <p:cNvCxnSpPr>
            <a:cxnSpLocks/>
            <a:stCxn id="149" idx="4"/>
            <a:endCxn id="133" idx="0"/>
          </p:cNvCxnSpPr>
          <p:nvPr/>
        </p:nvCxnSpPr>
        <p:spPr>
          <a:xfrm>
            <a:off x="6490074" y="5737381"/>
            <a:ext cx="82737" cy="3323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Oval 168">
            <a:extLst>
              <a:ext uri="{FF2B5EF4-FFF2-40B4-BE49-F238E27FC236}">
                <a16:creationId xmlns:a16="http://schemas.microsoft.com/office/drawing/2014/main" id="{6FDF8228-A600-F56A-EB09-8F7863ADD97D}"/>
              </a:ext>
            </a:extLst>
          </p:cNvPr>
          <p:cNvSpPr/>
          <p:nvPr/>
        </p:nvSpPr>
        <p:spPr>
          <a:xfrm>
            <a:off x="6794874" y="5292561"/>
            <a:ext cx="470274" cy="40731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Ɛ</a:t>
            </a:r>
          </a:p>
        </p:txBody>
      </p: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DF846C60-73B3-E929-1676-96535B212882}"/>
              </a:ext>
            </a:extLst>
          </p:cNvPr>
          <p:cNvCxnSpPr>
            <a:cxnSpLocks/>
            <a:stCxn id="131" idx="4"/>
            <a:endCxn id="169" idx="0"/>
          </p:cNvCxnSpPr>
          <p:nvPr/>
        </p:nvCxnSpPr>
        <p:spPr>
          <a:xfrm>
            <a:off x="7023474" y="4903114"/>
            <a:ext cx="6537" cy="3894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Oval 177">
            <a:extLst>
              <a:ext uri="{FF2B5EF4-FFF2-40B4-BE49-F238E27FC236}">
                <a16:creationId xmlns:a16="http://schemas.microsoft.com/office/drawing/2014/main" id="{9833355D-D5A1-3109-FC0E-A380BB10AA98}"/>
              </a:ext>
            </a:extLst>
          </p:cNvPr>
          <p:cNvSpPr/>
          <p:nvPr/>
        </p:nvSpPr>
        <p:spPr>
          <a:xfrm>
            <a:off x="5971412" y="2916456"/>
            <a:ext cx="3810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180" name="Oval 179">
            <a:extLst>
              <a:ext uri="{FF2B5EF4-FFF2-40B4-BE49-F238E27FC236}">
                <a16:creationId xmlns:a16="http://schemas.microsoft.com/office/drawing/2014/main" id="{9DBD943F-CE56-2C67-A69A-AC5231A53D17}"/>
              </a:ext>
            </a:extLst>
          </p:cNvPr>
          <p:cNvSpPr/>
          <p:nvPr/>
        </p:nvSpPr>
        <p:spPr>
          <a:xfrm>
            <a:off x="6504812" y="2916456"/>
            <a:ext cx="2794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2E281724-AABC-642B-7BD9-778D601E0489}"/>
              </a:ext>
            </a:extLst>
          </p:cNvPr>
          <p:cNvCxnSpPr>
            <a:cxnSpLocks/>
            <a:stCxn id="32" idx="4"/>
            <a:endCxn id="180" idx="1"/>
          </p:cNvCxnSpPr>
          <p:nvPr/>
        </p:nvCxnSpPr>
        <p:spPr>
          <a:xfrm>
            <a:off x="6308018" y="2637971"/>
            <a:ext cx="237711" cy="3342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Oval 183">
            <a:extLst>
              <a:ext uri="{FF2B5EF4-FFF2-40B4-BE49-F238E27FC236}">
                <a16:creationId xmlns:a16="http://schemas.microsoft.com/office/drawing/2014/main" id="{96404E21-6623-B932-FEBC-A99550B99D27}"/>
              </a:ext>
            </a:extLst>
          </p:cNvPr>
          <p:cNvSpPr/>
          <p:nvPr/>
        </p:nvSpPr>
        <p:spPr>
          <a:xfrm>
            <a:off x="6864748" y="2916456"/>
            <a:ext cx="630664" cy="521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</a:t>
            </a:r>
            <a:r>
              <a:rPr lang="en-US" sz="2000" baseline="30000" dirty="0">
                <a:solidFill>
                  <a:schemeClr val="tx1"/>
                </a:solidFill>
              </a:rPr>
              <a:t>/</a:t>
            </a:r>
            <a:endParaRPr lang="en-US" sz="2000" dirty="0">
              <a:solidFill>
                <a:schemeClr val="tx1"/>
              </a:solidFill>
            </a:endParaRPr>
          </a:p>
        </p:txBody>
      </p: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D954CFCD-947C-813E-92CE-B50274173CEA}"/>
              </a:ext>
            </a:extLst>
          </p:cNvPr>
          <p:cNvCxnSpPr>
            <a:cxnSpLocks/>
            <a:stCxn id="32" idx="4"/>
            <a:endCxn id="184" idx="0"/>
          </p:cNvCxnSpPr>
          <p:nvPr/>
        </p:nvCxnSpPr>
        <p:spPr>
          <a:xfrm>
            <a:off x="6308018" y="2637971"/>
            <a:ext cx="872062" cy="2784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Oval 187">
            <a:extLst>
              <a:ext uri="{FF2B5EF4-FFF2-40B4-BE49-F238E27FC236}">
                <a16:creationId xmlns:a16="http://schemas.microsoft.com/office/drawing/2014/main" id="{8917421F-F252-D60E-D5BC-2FD26DAFDC44}"/>
              </a:ext>
            </a:extLst>
          </p:cNvPr>
          <p:cNvSpPr/>
          <p:nvPr/>
        </p:nvSpPr>
        <p:spPr>
          <a:xfrm>
            <a:off x="6055091" y="3684128"/>
            <a:ext cx="1216841" cy="48351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digit</a:t>
            </a:r>
          </a:p>
        </p:txBody>
      </p: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551272C4-A8F2-0DCF-287E-08B19D20C3EF}"/>
              </a:ext>
            </a:extLst>
          </p:cNvPr>
          <p:cNvCxnSpPr>
            <a:cxnSpLocks/>
            <a:stCxn id="180" idx="4"/>
            <a:endCxn id="188" idx="0"/>
          </p:cNvCxnSpPr>
          <p:nvPr/>
        </p:nvCxnSpPr>
        <p:spPr>
          <a:xfrm>
            <a:off x="6644512" y="3297456"/>
            <a:ext cx="19000" cy="3866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Oval 190">
            <a:extLst>
              <a:ext uri="{FF2B5EF4-FFF2-40B4-BE49-F238E27FC236}">
                <a16:creationId xmlns:a16="http://schemas.microsoft.com/office/drawing/2014/main" id="{71FE3CF5-719E-8B59-9624-DDD22159C653}"/>
              </a:ext>
            </a:extLst>
          </p:cNvPr>
          <p:cNvSpPr/>
          <p:nvPr/>
        </p:nvSpPr>
        <p:spPr>
          <a:xfrm>
            <a:off x="7045691" y="3684128"/>
            <a:ext cx="3810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Ɛ</a:t>
            </a:r>
          </a:p>
        </p:txBody>
      </p: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1121C683-6C46-36E1-EA68-F743B666CC75}"/>
              </a:ext>
            </a:extLst>
          </p:cNvPr>
          <p:cNvCxnSpPr>
            <a:cxnSpLocks/>
            <a:stCxn id="191" idx="0"/>
            <a:endCxn id="184" idx="4"/>
          </p:cNvCxnSpPr>
          <p:nvPr/>
        </p:nvCxnSpPr>
        <p:spPr>
          <a:xfrm flipH="1" flipV="1">
            <a:off x="7180080" y="3438176"/>
            <a:ext cx="56111" cy="2459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Oval 212">
            <a:extLst>
              <a:ext uri="{FF2B5EF4-FFF2-40B4-BE49-F238E27FC236}">
                <a16:creationId xmlns:a16="http://schemas.microsoft.com/office/drawing/2014/main" id="{567F3BEA-A383-9D04-E51E-F591C2D42DD3}"/>
              </a:ext>
            </a:extLst>
          </p:cNvPr>
          <p:cNvSpPr/>
          <p:nvPr/>
        </p:nvSpPr>
        <p:spPr>
          <a:xfrm>
            <a:off x="7922679" y="2154456"/>
            <a:ext cx="3810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</a:t>
            </a:r>
          </a:p>
        </p:txBody>
      </p:sp>
      <p:sp>
        <p:nvSpPr>
          <p:cNvPr id="214" name="Oval 213">
            <a:extLst>
              <a:ext uri="{FF2B5EF4-FFF2-40B4-BE49-F238E27FC236}">
                <a16:creationId xmlns:a16="http://schemas.microsoft.com/office/drawing/2014/main" id="{535ABD6C-D777-93CA-26A6-72FFBFACAAE8}"/>
              </a:ext>
            </a:extLst>
          </p:cNvPr>
          <p:cNvSpPr/>
          <p:nvPr/>
        </p:nvSpPr>
        <p:spPr>
          <a:xfrm>
            <a:off x="7262044" y="2154456"/>
            <a:ext cx="3810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215" name="Oval 214">
            <a:extLst>
              <a:ext uri="{FF2B5EF4-FFF2-40B4-BE49-F238E27FC236}">
                <a16:creationId xmlns:a16="http://schemas.microsoft.com/office/drawing/2014/main" id="{BEDE7E9E-6357-9124-3485-23639ABECBDF}"/>
              </a:ext>
            </a:extLst>
          </p:cNvPr>
          <p:cNvSpPr/>
          <p:nvPr/>
        </p:nvSpPr>
        <p:spPr>
          <a:xfrm>
            <a:off x="8333612" y="2154456"/>
            <a:ext cx="609600" cy="48351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</a:t>
            </a:r>
            <a:r>
              <a:rPr lang="en-US" sz="2000" baseline="30000" dirty="0">
                <a:solidFill>
                  <a:schemeClr val="tx1"/>
                </a:solidFill>
              </a:rPr>
              <a:t>/</a:t>
            </a:r>
          </a:p>
        </p:txBody>
      </p: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274774E5-859F-D8B1-B71A-65665B9883E4}"/>
              </a:ext>
            </a:extLst>
          </p:cNvPr>
          <p:cNvCxnSpPr>
            <a:cxnSpLocks/>
            <a:stCxn id="29" idx="4"/>
            <a:endCxn id="214" idx="0"/>
          </p:cNvCxnSpPr>
          <p:nvPr/>
        </p:nvCxnSpPr>
        <p:spPr>
          <a:xfrm flipH="1">
            <a:off x="7452544" y="1928181"/>
            <a:ext cx="271466" cy="2262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24A3F345-CDE0-E0E6-4624-165550134EF7}"/>
              </a:ext>
            </a:extLst>
          </p:cNvPr>
          <p:cNvCxnSpPr>
            <a:cxnSpLocks/>
            <a:stCxn id="29" idx="4"/>
            <a:endCxn id="215" idx="1"/>
          </p:cNvCxnSpPr>
          <p:nvPr/>
        </p:nvCxnSpPr>
        <p:spPr>
          <a:xfrm>
            <a:off x="7724010" y="1928181"/>
            <a:ext cx="698876" cy="2970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5A00CD24-50DC-20E3-376A-C0DCE21D8A01}"/>
              </a:ext>
            </a:extLst>
          </p:cNvPr>
          <p:cNvCxnSpPr>
            <a:cxnSpLocks/>
            <a:stCxn id="29" idx="4"/>
            <a:endCxn id="213" idx="1"/>
          </p:cNvCxnSpPr>
          <p:nvPr/>
        </p:nvCxnSpPr>
        <p:spPr>
          <a:xfrm>
            <a:off x="7724010" y="1928181"/>
            <a:ext cx="254465" cy="2820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Oval 227">
            <a:extLst>
              <a:ext uri="{FF2B5EF4-FFF2-40B4-BE49-F238E27FC236}">
                <a16:creationId xmlns:a16="http://schemas.microsoft.com/office/drawing/2014/main" id="{AC1BB6BF-24DF-9328-55C1-C53571B5A18D}"/>
              </a:ext>
            </a:extLst>
          </p:cNvPr>
          <p:cNvSpPr/>
          <p:nvPr/>
        </p:nvSpPr>
        <p:spPr>
          <a:xfrm>
            <a:off x="8229600" y="3684418"/>
            <a:ext cx="470274" cy="40731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Ɛ</a:t>
            </a:r>
          </a:p>
        </p:txBody>
      </p:sp>
      <p:sp>
        <p:nvSpPr>
          <p:cNvPr id="229" name="Oval 228">
            <a:extLst>
              <a:ext uri="{FF2B5EF4-FFF2-40B4-BE49-F238E27FC236}">
                <a16:creationId xmlns:a16="http://schemas.microsoft.com/office/drawing/2014/main" id="{5F0A3A0D-EC78-17B8-D276-2FEA4E4857A7}"/>
              </a:ext>
            </a:extLst>
          </p:cNvPr>
          <p:cNvSpPr/>
          <p:nvPr/>
        </p:nvSpPr>
        <p:spPr>
          <a:xfrm>
            <a:off x="7246479" y="3684128"/>
            <a:ext cx="1216841" cy="48351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digit</a:t>
            </a:r>
          </a:p>
        </p:txBody>
      </p: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E1B77573-4379-D1E8-5118-A12B7F689AD5}"/>
              </a:ext>
            </a:extLst>
          </p:cNvPr>
          <p:cNvCxnSpPr>
            <a:cxnSpLocks/>
            <a:stCxn id="231" idx="4"/>
            <a:endCxn id="229" idx="0"/>
          </p:cNvCxnSpPr>
          <p:nvPr/>
        </p:nvCxnSpPr>
        <p:spPr>
          <a:xfrm flipH="1">
            <a:off x="7854900" y="3297456"/>
            <a:ext cx="31800" cy="3866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Oval 230">
            <a:extLst>
              <a:ext uri="{FF2B5EF4-FFF2-40B4-BE49-F238E27FC236}">
                <a16:creationId xmlns:a16="http://schemas.microsoft.com/office/drawing/2014/main" id="{E3D9C50E-5C91-6FF7-25AB-C9025A87176D}"/>
              </a:ext>
            </a:extLst>
          </p:cNvPr>
          <p:cNvSpPr/>
          <p:nvPr/>
        </p:nvSpPr>
        <p:spPr>
          <a:xfrm>
            <a:off x="7696200" y="2916456"/>
            <a:ext cx="3810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232" name="Oval 231">
            <a:extLst>
              <a:ext uri="{FF2B5EF4-FFF2-40B4-BE49-F238E27FC236}">
                <a16:creationId xmlns:a16="http://schemas.microsoft.com/office/drawing/2014/main" id="{8AD42064-DA59-3F34-E92D-2B676C152179}"/>
              </a:ext>
            </a:extLst>
          </p:cNvPr>
          <p:cNvSpPr/>
          <p:nvPr/>
        </p:nvSpPr>
        <p:spPr>
          <a:xfrm>
            <a:off x="8090274" y="2916456"/>
            <a:ext cx="609600" cy="45872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</a:t>
            </a:r>
            <a:r>
              <a:rPr lang="en-US" sz="2000" baseline="30000" dirty="0">
                <a:solidFill>
                  <a:schemeClr val="tx1"/>
                </a:solidFill>
              </a:rPr>
              <a:t>/</a:t>
            </a:r>
            <a:endParaRPr lang="en-US" sz="2000" dirty="0">
              <a:solidFill>
                <a:schemeClr val="tx1"/>
              </a:solidFill>
            </a:endParaRPr>
          </a:p>
        </p:txBody>
      </p: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E9FDF44F-2D0E-86F2-B1C4-4402ECA2B352}"/>
              </a:ext>
            </a:extLst>
          </p:cNvPr>
          <p:cNvCxnSpPr>
            <a:cxnSpLocks/>
            <a:stCxn id="231" idx="0"/>
            <a:endCxn id="213" idx="4"/>
          </p:cNvCxnSpPr>
          <p:nvPr/>
        </p:nvCxnSpPr>
        <p:spPr>
          <a:xfrm flipV="1">
            <a:off x="7886700" y="2535456"/>
            <a:ext cx="226479" cy="381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0D1F933A-7F7B-1A2E-D07E-FFDF4CAC583A}"/>
              </a:ext>
            </a:extLst>
          </p:cNvPr>
          <p:cNvCxnSpPr>
            <a:cxnSpLocks/>
            <a:stCxn id="213" idx="4"/>
            <a:endCxn id="232" idx="0"/>
          </p:cNvCxnSpPr>
          <p:nvPr/>
        </p:nvCxnSpPr>
        <p:spPr>
          <a:xfrm>
            <a:off x="8113179" y="2535456"/>
            <a:ext cx="281895" cy="381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698B3A18-8BE8-B4E4-198E-FE867123B14B}"/>
              </a:ext>
            </a:extLst>
          </p:cNvPr>
          <p:cNvCxnSpPr>
            <a:cxnSpLocks/>
            <a:endCxn id="228" idx="0"/>
          </p:cNvCxnSpPr>
          <p:nvPr/>
        </p:nvCxnSpPr>
        <p:spPr>
          <a:xfrm>
            <a:off x="8395074" y="3375471"/>
            <a:ext cx="69663" cy="3089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Oval 235">
            <a:extLst>
              <a:ext uri="{FF2B5EF4-FFF2-40B4-BE49-F238E27FC236}">
                <a16:creationId xmlns:a16="http://schemas.microsoft.com/office/drawing/2014/main" id="{A9ACFBFE-4DAD-18D0-3EB3-8426524A58A6}"/>
              </a:ext>
            </a:extLst>
          </p:cNvPr>
          <p:cNvSpPr/>
          <p:nvPr/>
        </p:nvSpPr>
        <p:spPr>
          <a:xfrm>
            <a:off x="8610600" y="3032517"/>
            <a:ext cx="470274" cy="40731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Ɛ</a:t>
            </a:r>
          </a:p>
        </p:txBody>
      </p: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4050FFFD-BC55-AE27-4995-C6FFCE2A79A8}"/>
              </a:ext>
            </a:extLst>
          </p:cNvPr>
          <p:cNvCxnSpPr>
            <a:cxnSpLocks/>
            <a:stCxn id="215" idx="4"/>
            <a:endCxn id="236" idx="0"/>
          </p:cNvCxnSpPr>
          <p:nvPr/>
        </p:nvCxnSpPr>
        <p:spPr>
          <a:xfrm>
            <a:off x="8638412" y="2637970"/>
            <a:ext cx="207325" cy="3945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3" name="TextBox 452">
            <a:extLst>
              <a:ext uri="{FF2B5EF4-FFF2-40B4-BE49-F238E27FC236}">
                <a16:creationId xmlns:a16="http://schemas.microsoft.com/office/drawing/2014/main" id="{C1F0B4D3-9463-A7DA-3C85-F44315579481}"/>
              </a:ext>
            </a:extLst>
          </p:cNvPr>
          <p:cNvSpPr txBox="1"/>
          <p:nvPr/>
        </p:nvSpPr>
        <p:spPr>
          <a:xfrm>
            <a:off x="3176438" y="4888468"/>
            <a:ext cx="1166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457" name="TextBox 456">
            <a:extLst>
              <a:ext uri="{FF2B5EF4-FFF2-40B4-BE49-F238E27FC236}">
                <a16:creationId xmlns:a16="http://schemas.microsoft.com/office/drawing/2014/main" id="{9E3FFD38-715D-F7E3-3865-7E37B3C39984}"/>
              </a:ext>
            </a:extLst>
          </p:cNvPr>
          <p:cNvSpPr txBox="1"/>
          <p:nvPr/>
        </p:nvSpPr>
        <p:spPr>
          <a:xfrm>
            <a:off x="5118474" y="5652194"/>
            <a:ext cx="651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459" name="TextBox 458">
            <a:extLst>
              <a:ext uri="{FF2B5EF4-FFF2-40B4-BE49-F238E27FC236}">
                <a16:creationId xmlns:a16="http://schemas.microsoft.com/office/drawing/2014/main" id="{31F95F1C-5B17-D921-4C07-19DB25DD054C}"/>
              </a:ext>
            </a:extLst>
          </p:cNvPr>
          <p:cNvSpPr txBox="1"/>
          <p:nvPr/>
        </p:nvSpPr>
        <p:spPr>
          <a:xfrm>
            <a:off x="5919638" y="3373656"/>
            <a:ext cx="1166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462" name="TextBox 461">
            <a:extLst>
              <a:ext uri="{FF2B5EF4-FFF2-40B4-BE49-F238E27FC236}">
                <a16:creationId xmlns:a16="http://schemas.microsoft.com/office/drawing/2014/main" id="{63C6D719-2A5F-692B-46A3-779BBD8621B7}"/>
              </a:ext>
            </a:extLst>
          </p:cNvPr>
          <p:cNvSpPr txBox="1"/>
          <p:nvPr/>
        </p:nvSpPr>
        <p:spPr>
          <a:xfrm>
            <a:off x="7138838" y="3309124"/>
            <a:ext cx="1166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8A6F710-0179-916F-3488-2B569E4D994E}"/>
              </a:ext>
            </a:extLst>
          </p:cNvPr>
          <p:cNvSpPr txBox="1"/>
          <p:nvPr/>
        </p:nvSpPr>
        <p:spPr>
          <a:xfrm>
            <a:off x="228600" y="55203"/>
            <a:ext cx="3390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chemeClr val="bg1">
                    <a:lumMod val="75000"/>
                  </a:schemeClr>
                </a:solidFill>
              </a:rPr>
              <a:t>Evaluate:</a:t>
            </a:r>
            <a:r>
              <a:rPr lang="en-US" sz="2400" dirty="0">
                <a:solidFill>
                  <a:srgbClr val="0070C0"/>
                </a:solidFill>
              </a:rPr>
              <a:t> (2+3)*4+7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9238190-F747-15C0-6CD1-9622A9358266}"/>
              </a:ext>
            </a:extLst>
          </p:cNvPr>
          <p:cNvSpPr txBox="1"/>
          <p:nvPr/>
        </p:nvSpPr>
        <p:spPr>
          <a:xfrm>
            <a:off x="5780538" y="76200"/>
            <a:ext cx="3439662" cy="461665"/>
          </a:xfrm>
          <a:prstGeom prst="rect">
            <a:avLst/>
          </a:prstGeom>
          <a:noFill/>
          <a:ln>
            <a:noFill/>
            <a:prstDash val="dashDot"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7030A0"/>
                </a:solidFill>
              </a:rPr>
              <a:t>Annotated Parse Tree</a:t>
            </a: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B002C423-F2C5-5140-68D3-B647BD2A6BA8}"/>
              </a:ext>
            </a:extLst>
          </p:cNvPr>
          <p:cNvSpPr/>
          <p:nvPr/>
        </p:nvSpPr>
        <p:spPr>
          <a:xfrm>
            <a:off x="4584456" y="5307685"/>
            <a:ext cx="470274" cy="40731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Ɛ</a:t>
            </a: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BC0EFDCD-B3B2-5610-28A9-5B35B90B94B8}"/>
              </a:ext>
            </a:extLst>
          </p:cNvPr>
          <p:cNvCxnSpPr>
            <a:cxnSpLocks/>
            <a:stCxn id="119" idx="4"/>
            <a:endCxn id="104" idx="0"/>
          </p:cNvCxnSpPr>
          <p:nvPr/>
        </p:nvCxnSpPr>
        <p:spPr>
          <a:xfrm flipH="1">
            <a:off x="4819593" y="4865120"/>
            <a:ext cx="4613" cy="4425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98341035-0819-78FE-DC14-FCACFAF5B1C0}"/>
              </a:ext>
            </a:extLst>
          </p:cNvPr>
          <p:cNvSpPr txBox="1"/>
          <p:nvPr/>
        </p:nvSpPr>
        <p:spPr>
          <a:xfrm>
            <a:off x="1517033" y="607582"/>
            <a:ext cx="352401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Semantic Rules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729EF4-A0E8-7B68-CE6D-BC417F41EB06}"/>
              </a:ext>
            </a:extLst>
          </p:cNvPr>
          <p:cNvSpPr txBox="1"/>
          <p:nvPr/>
        </p:nvSpPr>
        <p:spPr>
          <a:xfrm>
            <a:off x="1981199" y="1210322"/>
            <a:ext cx="215759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dirty="0">
                <a:solidFill>
                  <a:srgbClr val="FF0000"/>
                </a:solidFill>
              </a:rPr>
              <a:t>?</a:t>
            </a:r>
          </a:p>
        </p:txBody>
      </p:sp>
      <p:pic>
        <p:nvPicPr>
          <p:cNvPr id="1032" name="Picture 8" descr="Do Yourself Stock Illustrations – 2,577 Do Yourself Stock Illustrations,  Vectors &amp; Clipart - Dreamstime">
            <a:extLst>
              <a:ext uri="{FF2B5EF4-FFF2-40B4-BE49-F238E27FC236}">
                <a16:creationId xmlns:a16="http://schemas.microsoft.com/office/drawing/2014/main" id="{6D6B2C59-5DEE-0788-464B-239A8ACFE8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295400"/>
            <a:ext cx="2917382" cy="2023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0401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/>
      <p:bldP spid="108" grpId="0" animBg="1"/>
      <p:bldP spid="1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Candara" pitchFamily="34" charset="0"/>
              </a:rPr>
              <a:t>Evaluation Order of SDD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What is the evaluation order for the attribute instance in a given parse tree?</a:t>
            </a:r>
          </a:p>
          <a:p>
            <a:pPr marL="0" indent="0">
              <a:buNone/>
            </a:pPr>
            <a:endParaRPr lang="en-US" sz="2800" dirty="0">
              <a:solidFill>
                <a:srgbClr val="FF0000"/>
              </a:solidFill>
              <a:latin typeface="Candara" pitchFamily="34" charset="0"/>
            </a:endParaRPr>
          </a:p>
          <a:p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Useful tool:</a:t>
            </a:r>
          </a:p>
          <a:p>
            <a:pPr lvl="1"/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Dependency Graph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ndara" pitchFamily="34" charset="0"/>
              </a:rPr>
              <a:t>Dept of CSE, BUET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>
                <a:latin typeface="Candara" pitchFamily="34" charset="0"/>
              </a:rPr>
              <a:pPr/>
              <a:t>23</a:t>
            </a:fld>
            <a:endParaRPr lang="en-US">
              <a:latin typeface="Candar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Candara" pitchFamily="34" charset="0"/>
              </a:rPr>
              <a:t>Dependency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Depicts </a:t>
            </a:r>
            <a:r>
              <a:rPr lang="en-US" sz="2800" dirty="0">
                <a:solidFill>
                  <a:srgbClr val="C00000"/>
                </a:solidFill>
                <a:latin typeface="Candara" pitchFamily="34" charset="0"/>
              </a:rPr>
              <a:t>flow of information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 among attribute instances in a particular parse tree</a:t>
            </a:r>
          </a:p>
          <a:p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Nodes represent attribute instances</a:t>
            </a:r>
          </a:p>
          <a:p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Nodes for all attributes at a given parse tree nodes</a:t>
            </a:r>
          </a:p>
          <a:p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An edge from one attribute to another means that the first attribute is needed to compute the second</a:t>
            </a:r>
          </a:p>
          <a:p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Edge represent constraint implied by semantic rule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Candara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ndara" pitchFamily="34" charset="0"/>
              </a:rPr>
              <a:t>Dept of CSE, BUET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>
                <a:latin typeface="Candara" pitchFamily="34" charset="0"/>
              </a:rPr>
              <a:pPr/>
              <a:t>24</a:t>
            </a:fld>
            <a:endParaRPr lang="en-US">
              <a:latin typeface="Candar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Candara" pitchFamily="34" charset="0"/>
              </a:rPr>
              <a:t>Dependency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Example 1:</a:t>
            </a:r>
          </a:p>
          <a:p>
            <a:pPr>
              <a:buNone/>
            </a:pP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  <a:latin typeface="Candara" pitchFamily="34" charset="0"/>
            </a:endParaRPr>
          </a:p>
          <a:p>
            <a:pPr>
              <a:buNone/>
            </a:pP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  <a:latin typeface="Candara" pitchFamily="34" charset="0"/>
            </a:endParaRPr>
          </a:p>
          <a:p>
            <a:pPr>
              <a:buNone/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cs typeface="Courier New" pitchFamily="49" charset="0"/>
              </a:rPr>
              <a:t>Production  Semantic Rule</a:t>
            </a:r>
          </a:p>
          <a:p>
            <a:pPr>
              <a:buNone/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cs typeface="Courier New" pitchFamily="49" charset="0"/>
              </a:rPr>
              <a:t>E -&gt; TF     </a:t>
            </a:r>
            <a:r>
              <a:rPr lang="en-US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cs typeface="Courier New" pitchFamily="49" charset="0"/>
              </a:rPr>
              <a:t>F.a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en-US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cs typeface="Courier New" pitchFamily="49" charset="0"/>
              </a:rPr>
              <a:t>E.a+T.b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ndara" pitchFamily="34" charset="0"/>
              </a:rPr>
              <a:t>Dept of CSE, BUET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>
                <a:latin typeface="Candara" pitchFamily="34" charset="0"/>
              </a:rPr>
              <a:pPr/>
              <a:t>25</a:t>
            </a:fld>
            <a:endParaRPr lang="en-US">
              <a:latin typeface="Candara" pitchFamily="34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6842760" y="2971800"/>
            <a:ext cx="365760" cy="36576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6172200" y="4038600"/>
            <a:ext cx="365760" cy="36576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7620000" y="4130040"/>
            <a:ext cx="365760" cy="36576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F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0" name="Straight Connector 9"/>
          <p:cNvCxnSpPr>
            <a:stCxn id="7" idx="0"/>
            <a:endCxn id="6" idx="3"/>
          </p:cNvCxnSpPr>
          <p:nvPr/>
        </p:nvCxnSpPr>
        <p:spPr>
          <a:xfrm rot="5400000" flipH="1" flipV="1">
            <a:off x="6248400" y="3390676"/>
            <a:ext cx="754604" cy="541244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8" idx="1"/>
            <a:endCxn id="6" idx="5"/>
          </p:cNvCxnSpPr>
          <p:nvPr/>
        </p:nvCxnSpPr>
        <p:spPr>
          <a:xfrm rot="16200000" flipV="1">
            <a:off x="6964456" y="3474496"/>
            <a:ext cx="899608" cy="518608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223760" y="3063240"/>
            <a:ext cx="365760" cy="3657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a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6477000" y="4053840"/>
            <a:ext cx="365760" cy="36576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b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7848600" y="3886200"/>
            <a:ext cx="365760" cy="3657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a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Arrow Connector 17"/>
          <p:cNvCxnSpPr>
            <a:stCxn id="15" idx="6"/>
            <a:endCxn id="16" idx="2"/>
          </p:cNvCxnSpPr>
          <p:nvPr/>
        </p:nvCxnSpPr>
        <p:spPr>
          <a:xfrm flipV="1">
            <a:off x="6842760" y="4069080"/>
            <a:ext cx="1005840" cy="16764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4" idx="5"/>
            <a:endCxn id="16" idx="1"/>
          </p:cNvCxnSpPr>
          <p:nvPr/>
        </p:nvCxnSpPr>
        <p:spPr>
          <a:xfrm rot="16200000" flipH="1">
            <a:off x="7436896" y="3474496"/>
            <a:ext cx="564328" cy="36620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Candara" pitchFamily="34" charset="0"/>
              </a:rPr>
              <a:t>Dependency Graph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ndara" pitchFamily="34" charset="0"/>
              </a:rPr>
              <a:t>Dept of CSE, BUET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>
                <a:latin typeface="Candara" pitchFamily="34" charset="0"/>
              </a:rPr>
              <a:pPr/>
              <a:t>26</a:t>
            </a:fld>
            <a:endParaRPr lang="en-US">
              <a:latin typeface="Candara" pitchFamily="34" charset="0"/>
            </a:endParaRPr>
          </a:p>
        </p:txBody>
      </p:sp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563" y="3429000"/>
            <a:ext cx="5056984" cy="2133600"/>
          </a:xfrm>
          <a:prstGeom prst="rect">
            <a:avLst/>
          </a:prstGeom>
        </p:spPr>
      </p:pic>
      <p:pic>
        <p:nvPicPr>
          <p:cNvPr id="10" name="Picture 9" descr="Screen Clippi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2391940"/>
            <a:ext cx="5353362" cy="9608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90600" y="1524000"/>
            <a:ext cx="18213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andara" panose="020E0502030303020204" pitchFamily="34" charset="0"/>
              </a:rPr>
              <a:t>Example 2: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Candara" pitchFamily="34" charset="0"/>
              </a:rPr>
              <a:t>Dependency Graph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ndara" pitchFamily="34" charset="0"/>
              </a:rPr>
              <a:t>Dept of CSE, BUET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>
                <a:latin typeface="Candara" pitchFamily="34" charset="0"/>
              </a:rPr>
              <a:pPr/>
              <a:t>27</a:t>
            </a:fld>
            <a:endParaRPr lang="en-US">
              <a:latin typeface="Candara" pitchFamily="34" charset="0"/>
            </a:endParaRPr>
          </a:p>
        </p:txBody>
      </p:sp>
      <p:pic>
        <p:nvPicPr>
          <p:cNvPr id="11" name="Picture 10" descr="inheritedex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8600" y="2438400"/>
            <a:ext cx="3505200" cy="2743200"/>
          </a:xfrm>
          <a:prstGeom prst="rect">
            <a:avLst/>
          </a:prstGeom>
        </p:spPr>
      </p:pic>
      <p:pic>
        <p:nvPicPr>
          <p:cNvPr id="8" name="Picture 7" descr="Screen Clippi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2683" y="2286000"/>
            <a:ext cx="5261318" cy="2971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10200" y="5410200"/>
            <a:ext cx="2714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ndara" panose="020E0502030303020204" pitchFamily="34" charset="0"/>
              </a:rPr>
              <a:t>Dependency Graph for 1*2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600" y="1524000"/>
            <a:ext cx="18309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andara" panose="020E0502030303020204" pitchFamily="34" charset="0"/>
              </a:rPr>
              <a:t>Example 3: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Candara" pitchFamily="34" charset="0"/>
              </a:rPr>
              <a:t>Dependency Graph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ndara" pitchFamily="34" charset="0"/>
              </a:rPr>
              <a:t>Dept of CSE, BUET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>
                <a:latin typeface="Candara" pitchFamily="34" charset="0"/>
              </a:rPr>
              <a:pPr/>
              <a:t>28</a:t>
            </a:fld>
            <a:endParaRPr lang="en-US">
              <a:latin typeface="Candara" pitchFamily="34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Candara" pitchFamily="34" charset="0"/>
              </a:rPr>
              <a:t>Allowable Order : </a:t>
            </a:r>
            <a:r>
              <a:rPr lang="en-US" sz="2800" i="1" dirty="0">
                <a:latin typeface="Candara" pitchFamily="34" charset="0"/>
              </a:rPr>
              <a:t>N</a:t>
            </a:r>
            <a:r>
              <a:rPr lang="en-US" sz="2800" baseline="-25000" dirty="0">
                <a:latin typeface="Candara" pitchFamily="34" charset="0"/>
              </a:rPr>
              <a:t>1</a:t>
            </a:r>
            <a:r>
              <a:rPr lang="en-US" sz="2800" dirty="0">
                <a:latin typeface="Candara" pitchFamily="34" charset="0"/>
              </a:rPr>
              <a:t>, </a:t>
            </a:r>
            <a:r>
              <a:rPr lang="en-US" sz="2800" i="1" dirty="0">
                <a:latin typeface="Candara" pitchFamily="34" charset="0"/>
              </a:rPr>
              <a:t>N</a:t>
            </a:r>
            <a:r>
              <a:rPr lang="en-US" sz="2800" baseline="-25000" dirty="0">
                <a:latin typeface="Candara" pitchFamily="34" charset="0"/>
              </a:rPr>
              <a:t>2</a:t>
            </a:r>
            <a:r>
              <a:rPr lang="en-US" sz="2800" dirty="0">
                <a:latin typeface="Candara" pitchFamily="34" charset="0"/>
              </a:rPr>
              <a:t>, </a:t>
            </a:r>
            <a:r>
              <a:rPr lang="en-US" sz="2800" i="1" dirty="0">
                <a:latin typeface="Candara" pitchFamily="34" charset="0"/>
              </a:rPr>
              <a:t>N</a:t>
            </a:r>
            <a:r>
              <a:rPr lang="en-US" sz="2800" baseline="-25000" dirty="0">
                <a:latin typeface="Candara" pitchFamily="34" charset="0"/>
              </a:rPr>
              <a:t>3</a:t>
            </a:r>
            <a:r>
              <a:rPr lang="en-US" sz="2800" dirty="0">
                <a:latin typeface="Candara" pitchFamily="34" charset="0"/>
              </a:rPr>
              <a:t>,…, </a:t>
            </a:r>
            <a:r>
              <a:rPr lang="en-US" sz="2800" i="1" dirty="0" err="1">
                <a:latin typeface="Candara" pitchFamily="34" charset="0"/>
              </a:rPr>
              <a:t>N</a:t>
            </a:r>
            <a:r>
              <a:rPr lang="en-US" sz="2800" i="1" baseline="-25000" dirty="0" err="1">
                <a:latin typeface="Candara" pitchFamily="34" charset="0"/>
              </a:rPr>
              <a:t>k</a:t>
            </a:r>
            <a:r>
              <a:rPr lang="en-US" sz="2800" i="1" dirty="0">
                <a:latin typeface="Candara" pitchFamily="34" charset="0"/>
              </a:rPr>
              <a:t> </a:t>
            </a:r>
            <a:r>
              <a:rPr lang="en-US" sz="2800" dirty="0">
                <a:latin typeface="Candara" pitchFamily="34" charset="0"/>
              </a:rPr>
              <a:t>such that, if there is an edge from </a:t>
            </a:r>
            <a:r>
              <a:rPr lang="en-US" sz="2800" i="1" dirty="0">
                <a:latin typeface="Candara" pitchFamily="34" charset="0"/>
              </a:rPr>
              <a:t>N</a:t>
            </a:r>
            <a:r>
              <a:rPr lang="en-US" sz="2800" i="1" baseline="-25000" dirty="0">
                <a:latin typeface="Candara" pitchFamily="34" charset="0"/>
              </a:rPr>
              <a:t>i</a:t>
            </a:r>
            <a:r>
              <a:rPr lang="en-US" sz="2800" dirty="0">
                <a:latin typeface="Candara" pitchFamily="34" charset="0"/>
              </a:rPr>
              <a:t> to </a:t>
            </a:r>
            <a:r>
              <a:rPr lang="en-US" sz="2800" i="1" dirty="0" err="1">
                <a:latin typeface="Candara" pitchFamily="34" charset="0"/>
              </a:rPr>
              <a:t>N</a:t>
            </a:r>
            <a:r>
              <a:rPr lang="en-US" sz="2800" i="1" baseline="-25000" dirty="0" err="1">
                <a:latin typeface="Candara" pitchFamily="34" charset="0"/>
              </a:rPr>
              <a:t>j</a:t>
            </a:r>
            <a:r>
              <a:rPr lang="en-US" sz="2800" dirty="0">
                <a:latin typeface="Candara" pitchFamily="34" charset="0"/>
              </a:rPr>
              <a:t> then </a:t>
            </a:r>
            <a:r>
              <a:rPr lang="en-US" sz="2800" i="1" dirty="0" err="1">
                <a:latin typeface="Candara" pitchFamily="34" charset="0"/>
              </a:rPr>
              <a:t>i</a:t>
            </a:r>
            <a:r>
              <a:rPr lang="en-US" sz="2800" dirty="0">
                <a:latin typeface="Candara" pitchFamily="34" charset="0"/>
              </a:rPr>
              <a:t>&lt;</a:t>
            </a:r>
            <a:r>
              <a:rPr lang="en-US" sz="2800" i="1" dirty="0">
                <a:latin typeface="Candara" pitchFamily="34" charset="0"/>
              </a:rPr>
              <a:t>j</a:t>
            </a:r>
            <a:r>
              <a:rPr lang="en-US" sz="2800" dirty="0">
                <a:latin typeface="Candara" pitchFamily="34" charset="0"/>
              </a:rPr>
              <a:t> </a:t>
            </a:r>
          </a:p>
          <a:p>
            <a:endParaRPr lang="en-US" sz="2800" dirty="0">
              <a:latin typeface="Candara" pitchFamily="34" charset="0"/>
            </a:endParaRPr>
          </a:p>
          <a:p>
            <a:r>
              <a:rPr lang="en-US" sz="2800" dirty="0">
                <a:latin typeface="Candara" pitchFamily="34" charset="0"/>
              </a:rPr>
              <a:t>Called </a:t>
            </a:r>
            <a:r>
              <a:rPr lang="en-US" sz="2800" dirty="0">
                <a:solidFill>
                  <a:srgbClr val="FF0000"/>
                </a:solidFill>
                <a:latin typeface="Candara" pitchFamily="34" charset="0"/>
              </a:rPr>
              <a:t>Topological sort</a:t>
            </a:r>
          </a:p>
          <a:p>
            <a:endParaRPr lang="en-US" sz="2800" dirty="0">
              <a:latin typeface="Candara" pitchFamily="34" charset="0"/>
            </a:endParaRPr>
          </a:p>
          <a:p>
            <a:r>
              <a:rPr lang="en-US" sz="2800" dirty="0">
                <a:latin typeface="Candara" pitchFamily="34" charset="0"/>
              </a:rPr>
              <a:t>If a directed graph is acyclic, then there is always at least one topological sort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Candara" pitchFamily="34" charset="0"/>
              </a:rPr>
              <a:t>Evaluating an SDD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Not every time we will find an evaluation order</a:t>
            </a:r>
          </a:p>
          <a:p>
            <a:pPr lvl="1"/>
            <a:r>
              <a:rPr lang="en-US" sz="26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Circular dependency</a:t>
            </a:r>
          </a:p>
          <a:p>
            <a:pPr lvl="1"/>
            <a:endParaRPr lang="en-US" sz="2200" dirty="0">
              <a:solidFill>
                <a:srgbClr val="C00000"/>
              </a:solidFill>
              <a:latin typeface="Candara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ndara" pitchFamily="34" charset="0"/>
              </a:rPr>
              <a:t>Dept of CSE, BUET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>
                <a:latin typeface="Candara" pitchFamily="34" charset="0"/>
              </a:rPr>
              <a:pPr/>
              <a:t>29</a:t>
            </a:fld>
            <a:endParaRPr lang="en-US">
              <a:latin typeface="Candara" pitchFamily="34" charset="0"/>
            </a:endParaRPr>
          </a:p>
        </p:txBody>
      </p:sp>
      <p:pic>
        <p:nvPicPr>
          <p:cNvPr id="9" name="Picture 8" descr="Screen Clippi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7155" y="2667000"/>
            <a:ext cx="4229690" cy="990738"/>
          </a:xfrm>
          <a:prstGeom prst="rect">
            <a:avLst/>
          </a:prstGeom>
        </p:spPr>
      </p:pic>
      <p:pic>
        <p:nvPicPr>
          <p:cNvPr id="11" name="Picture 10" descr="Screen Clippi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8414" y="3733800"/>
            <a:ext cx="2287172" cy="23509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Candara" pitchFamily="34" charset="0"/>
              </a:rPr>
              <a:t>Well Behaved SDD classes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ndara" pitchFamily="34" charset="0"/>
              </a:rPr>
              <a:t>Dept of CSE, BUET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>
                <a:latin typeface="Candara" pitchFamily="34" charset="0"/>
              </a:rPr>
              <a:pPr/>
              <a:t>30</a:t>
            </a:fld>
            <a:endParaRPr lang="en-US">
              <a:latin typeface="Candara" pitchFamily="34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Candara" pitchFamily="34" charset="0"/>
              </a:rPr>
              <a:t>Difficult to tell whether there exist any dependency graph with cycle</a:t>
            </a:r>
          </a:p>
          <a:p>
            <a:pPr>
              <a:buNone/>
            </a:pPr>
            <a:endParaRPr lang="en-US" sz="2800" dirty="0">
              <a:latin typeface="Candara" pitchFamily="34" charset="0"/>
            </a:endParaRPr>
          </a:p>
          <a:p>
            <a:r>
              <a:rPr lang="en-US" sz="2800" dirty="0">
                <a:latin typeface="Candara" pitchFamily="34" charset="0"/>
              </a:rPr>
              <a:t>Safe way: Use classes of SDD that guarantees evaluation order</a:t>
            </a:r>
          </a:p>
          <a:p>
            <a:pPr lvl="1"/>
            <a:r>
              <a:rPr lang="en-US" sz="2400" dirty="0">
                <a:latin typeface="Candara" pitchFamily="34" charset="0"/>
              </a:rPr>
              <a:t>S-attributed SDD</a:t>
            </a:r>
          </a:p>
          <a:p>
            <a:pPr lvl="1"/>
            <a:r>
              <a:rPr lang="en-US" sz="2400" dirty="0">
                <a:latin typeface="Candara" pitchFamily="34" charset="0"/>
              </a:rPr>
              <a:t>L-attributed SDD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Candara" pitchFamily="34" charset="0"/>
              </a:rPr>
              <a:t>S-attributed SDD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ndara" pitchFamily="34" charset="0"/>
              </a:rPr>
              <a:t>Dept of CSE, BUET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>
                <a:latin typeface="Candara" pitchFamily="34" charset="0"/>
              </a:rPr>
              <a:pPr/>
              <a:t>31</a:t>
            </a:fld>
            <a:endParaRPr lang="en-US">
              <a:latin typeface="Candara" pitchFamily="34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Candara" pitchFamily="34" charset="0"/>
              </a:rPr>
              <a:t>We already know!</a:t>
            </a:r>
          </a:p>
          <a:p>
            <a:pPr lvl="1"/>
            <a:r>
              <a:rPr lang="en-US" sz="2400" dirty="0">
                <a:latin typeface="Candara" pitchFamily="34" charset="0"/>
              </a:rPr>
              <a:t>All attributes are synthesized</a:t>
            </a:r>
          </a:p>
          <a:p>
            <a:pPr lvl="1"/>
            <a:endParaRPr lang="en-US" sz="2400" dirty="0">
              <a:latin typeface="Candara" pitchFamily="34" charset="0"/>
            </a:endParaRPr>
          </a:p>
          <a:p>
            <a:pPr lvl="1"/>
            <a:r>
              <a:rPr lang="en-US" sz="2400" dirty="0">
                <a:latin typeface="Candara" pitchFamily="34" charset="0"/>
              </a:rPr>
              <a:t>Can be calculated in bottom up order</a:t>
            </a:r>
          </a:p>
          <a:p>
            <a:pPr lvl="2"/>
            <a:r>
              <a:rPr lang="en-US" sz="2000" dirty="0">
                <a:latin typeface="Candara" pitchFamily="34" charset="0"/>
              </a:rPr>
              <a:t>Post Order Traversal on Parse Tree</a:t>
            </a:r>
          </a:p>
          <a:p>
            <a:pPr lvl="2"/>
            <a:endParaRPr lang="en-US" sz="2000" dirty="0">
              <a:latin typeface="Candara" pitchFamily="34" charset="0"/>
            </a:endParaRPr>
          </a:p>
          <a:p>
            <a:pPr lvl="1"/>
            <a:r>
              <a:rPr lang="en-US" sz="2400" dirty="0">
                <a:latin typeface="Candara" pitchFamily="34" charset="0"/>
              </a:rPr>
              <a:t>Can be implemented during bottom-up parsing, without creating tree nodes explicitly</a:t>
            </a:r>
            <a:endParaRPr lang="en-US" dirty="0">
              <a:latin typeface="Candara" pitchFamily="34" charset="0"/>
            </a:endParaRPr>
          </a:p>
          <a:p>
            <a:pPr lvl="1"/>
            <a:endParaRPr lang="en-US" sz="2400" dirty="0">
              <a:latin typeface="Candara" pitchFamily="34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Candara" pitchFamily="34" charset="0"/>
              </a:rPr>
              <a:t>L-attributed SDD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ndara" pitchFamily="34" charset="0"/>
              </a:rPr>
              <a:t>Dept of CSE, BUET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>
                <a:latin typeface="Candara" pitchFamily="34" charset="0"/>
              </a:rPr>
              <a:pPr/>
              <a:t>32</a:t>
            </a:fld>
            <a:endParaRPr lang="en-US">
              <a:latin typeface="Candara" pitchFamily="34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Candara" pitchFamily="34" charset="0"/>
              </a:rPr>
              <a:t>Between attributes of a production body, dependency graph edges can go from </a:t>
            </a:r>
            <a:r>
              <a:rPr lang="en-US" sz="2800" dirty="0">
                <a:solidFill>
                  <a:srgbClr val="C00000"/>
                </a:solidFill>
                <a:latin typeface="Candara" pitchFamily="34" charset="0"/>
              </a:rPr>
              <a:t>left to right</a:t>
            </a:r>
          </a:p>
          <a:p>
            <a:endParaRPr lang="en-US" sz="2800" dirty="0">
              <a:latin typeface="Candara" pitchFamily="34" charset="0"/>
            </a:endParaRPr>
          </a:p>
          <a:p>
            <a:r>
              <a:rPr lang="en-US" sz="2800" dirty="0">
                <a:latin typeface="Candara" pitchFamily="34" charset="0"/>
              </a:rPr>
              <a:t>Attributes can be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Candara" pitchFamily="34" charset="0"/>
              </a:rPr>
              <a:t>Synthesized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Candara" pitchFamily="34" charset="0"/>
              </a:rPr>
              <a:t>Inherited with some restrictions</a:t>
            </a:r>
          </a:p>
          <a:p>
            <a:endParaRPr lang="en-US" dirty="0">
              <a:latin typeface="Candara" pitchFamily="34" charset="0"/>
            </a:endParaRPr>
          </a:p>
          <a:p>
            <a:pPr lvl="1"/>
            <a:endParaRPr lang="en-US" sz="2400" dirty="0">
              <a:latin typeface="Candar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Candara" pitchFamily="34" charset="0"/>
              </a:rPr>
              <a:t>L-attributed SDD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ndara" pitchFamily="34" charset="0"/>
              </a:rPr>
              <a:t>Dept of CSE, BUET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>
                <a:latin typeface="Candara" pitchFamily="34" charset="0"/>
              </a:rPr>
              <a:pPr/>
              <a:t>33</a:t>
            </a:fld>
            <a:endParaRPr lang="en-US">
              <a:latin typeface="Candara" pitchFamily="34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Candara" pitchFamily="34" charset="0"/>
              </a:rPr>
              <a:t>For </a:t>
            </a:r>
            <a:r>
              <a:rPr lang="en-US" sz="2800" i="1" dirty="0">
                <a:latin typeface="Courier New" pitchFamily="49" charset="0"/>
                <a:cs typeface="Courier New" pitchFamily="49" charset="0"/>
              </a:rPr>
              <a:t>A</a:t>
            </a:r>
            <a:r>
              <a:rPr lang="en-US" sz="2800" i="1" dirty="0">
                <a:cs typeface="Courier New" pitchFamily="49" charset="0"/>
              </a:rPr>
              <a:t> 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-&gt;</a:t>
            </a:r>
            <a:r>
              <a:rPr lang="en-US" sz="2800" dirty="0">
                <a:cs typeface="Courier New" pitchFamily="49" charset="0"/>
              </a:rPr>
              <a:t> </a:t>
            </a:r>
            <a:r>
              <a:rPr lang="en-US" sz="2800" i="1" dirty="0">
                <a:latin typeface="Courier New" pitchFamily="49" charset="0"/>
                <a:cs typeface="Courier New" pitchFamily="49" charset="0"/>
              </a:rPr>
              <a:t>X</a:t>
            </a:r>
            <a:r>
              <a:rPr lang="en-US" sz="2800" baseline="-25000" dirty="0"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800" i="1" dirty="0">
                <a:latin typeface="Courier New" pitchFamily="49" charset="0"/>
                <a:cs typeface="Courier New" pitchFamily="49" charset="0"/>
              </a:rPr>
              <a:t>X</a:t>
            </a:r>
            <a:r>
              <a:rPr lang="en-US" sz="2800" baseline="-25000" dirty="0"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2800" i="1" dirty="0">
                <a:latin typeface="Courier New" pitchFamily="49" charset="0"/>
                <a:cs typeface="Courier New" pitchFamily="49" charset="0"/>
              </a:rPr>
              <a:t>X</a:t>
            </a:r>
            <a:r>
              <a:rPr lang="en-US" sz="2800" baseline="-25000" dirty="0">
                <a:latin typeface="Courier New" pitchFamily="49" charset="0"/>
                <a:cs typeface="Courier New" pitchFamily="49" charset="0"/>
              </a:rPr>
              <a:t>3</a:t>
            </a:r>
            <a:r>
              <a:rPr lang="en-US" sz="2800" baseline="-25000" dirty="0">
                <a:cs typeface="Courier New" pitchFamily="49" charset="0"/>
              </a:rPr>
              <a:t> 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…</a:t>
            </a:r>
            <a:r>
              <a:rPr lang="en-US" sz="2800" dirty="0">
                <a:cs typeface="Courier New" pitchFamily="49" charset="0"/>
              </a:rPr>
              <a:t> </a:t>
            </a:r>
            <a:r>
              <a:rPr lang="en-US" sz="2800" i="1" dirty="0" err="1">
                <a:latin typeface="Courier New" pitchFamily="49" charset="0"/>
                <a:cs typeface="Courier New" pitchFamily="49" charset="0"/>
              </a:rPr>
              <a:t>X</a:t>
            </a:r>
            <a:r>
              <a:rPr lang="en-US" sz="2800" i="1" baseline="-25000" dirty="0" err="1">
                <a:latin typeface="Courier New" pitchFamily="49" charset="0"/>
                <a:cs typeface="Courier New" pitchFamily="49" charset="0"/>
              </a:rPr>
              <a:t>n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800" i="1" dirty="0" err="1">
                <a:latin typeface="Candara" pitchFamily="34" charset="0"/>
                <a:cs typeface="Courier New" pitchFamily="49" charset="0"/>
              </a:rPr>
              <a:t>X</a:t>
            </a:r>
            <a:r>
              <a:rPr lang="en-US" sz="2800" baseline="-25000" dirty="0" err="1">
                <a:latin typeface="Candara" pitchFamily="34" charset="0"/>
                <a:cs typeface="Courier New" pitchFamily="49" charset="0"/>
              </a:rPr>
              <a:t>i</a:t>
            </a:r>
            <a:r>
              <a:rPr lang="en-US" sz="2800" dirty="0" err="1">
                <a:latin typeface="Candara" pitchFamily="34" charset="0"/>
                <a:cs typeface="Courier New" pitchFamily="49" charset="0"/>
              </a:rPr>
              <a:t>.</a:t>
            </a:r>
            <a:r>
              <a:rPr lang="en-US" sz="2800" i="1" dirty="0" err="1">
                <a:latin typeface="Candara" pitchFamily="34" charset="0"/>
                <a:cs typeface="Courier New" pitchFamily="49" charset="0"/>
              </a:rPr>
              <a:t>a</a:t>
            </a:r>
            <a:r>
              <a:rPr lang="en-US" sz="2800" dirty="0">
                <a:latin typeface="Candara" pitchFamily="34" charset="0"/>
                <a:cs typeface="Courier New" pitchFamily="49" charset="0"/>
              </a:rPr>
              <a:t> is an inherited attribute computed by a rule associated with this production</a:t>
            </a:r>
          </a:p>
          <a:p>
            <a:pPr lvl="1">
              <a:buNone/>
            </a:pPr>
            <a:endParaRPr lang="en-US" sz="2000" dirty="0">
              <a:latin typeface="Candara" pitchFamily="34" charset="0"/>
              <a:cs typeface="Courier New" pitchFamily="49" charset="0"/>
            </a:endParaRPr>
          </a:p>
          <a:p>
            <a:pPr lvl="1"/>
            <a:r>
              <a:rPr lang="en-US" sz="2400" dirty="0">
                <a:latin typeface="Candara" pitchFamily="34" charset="0"/>
                <a:cs typeface="Courier New" pitchFamily="49" charset="0"/>
              </a:rPr>
              <a:t>The rule may use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US" sz="2400" dirty="0">
                <a:solidFill>
                  <a:srgbClr val="C00000"/>
                </a:solidFill>
                <a:latin typeface="Candara" pitchFamily="34" charset="0"/>
                <a:cs typeface="Courier New" pitchFamily="49" charset="0"/>
              </a:rPr>
              <a:t>Inherited attribute associated with head</a:t>
            </a:r>
          </a:p>
          <a:p>
            <a:pPr>
              <a:buNone/>
            </a:pPr>
            <a:endParaRPr lang="en-US" dirty="0">
              <a:latin typeface="Candara" pitchFamily="34" charset="0"/>
            </a:endParaRPr>
          </a:p>
          <a:p>
            <a:pPr>
              <a:buNone/>
            </a:pPr>
            <a:r>
              <a:rPr lang="en-US" sz="2800" dirty="0">
                <a:latin typeface="Candara" pitchFamily="34" charset="0"/>
              </a:rPr>
              <a:t>	</a:t>
            </a:r>
            <a:r>
              <a:rPr lang="en-US" sz="2800" i="1" dirty="0" err="1">
                <a:latin typeface="Candara" pitchFamily="34" charset="0"/>
              </a:rPr>
              <a:t>X</a:t>
            </a:r>
            <a:r>
              <a:rPr lang="en-US" sz="2800" i="1" baseline="-25000" dirty="0" err="1">
                <a:latin typeface="Candara" pitchFamily="34" charset="0"/>
              </a:rPr>
              <a:t>i</a:t>
            </a:r>
            <a:r>
              <a:rPr lang="en-US" sz="2800" dirty="0" err="1">
                <a:latin typeface="Candara" pitchFamily="34" charset="0"/>
              </a:rPr>
              <a:t>.</a:t>
            </a:r>
            <a:r>
              <a:rPr lang="en-US" sz="2800" i="1" dirty="0" err="1">
                <a:latin typeface="Candara" pitchFamily="34" charset="0"/>
              </a:rPr>
              <a:t>a</a:t>
            </a:r>
            <a:r>
              <a:rPr lang="en-US" sz="2800" dirty="0">
                <a:latin typeface="Candara" pitchFamily="34" charset="0"/>
              </a:rPr>
              <a:t>= </a:t>
            </a:r>
            <a:r>
              <a:rPr lang="en-US" sz="2800" i="1" dirty="0">
                <a:latin typeface="Candara" pitchFamily="34" charset="0"/>
              </a:rPr>
              <a:t>f</a:t>
            </a:r>
            <a:r>
              <a:rPr lang="en-US" sz="2800" dirty="0">
                <a:latin typeface="Candara" pitchFamily="34" charset="0"/>
              </a:rPr>
              <a:t>(</a:t>
            </a:r>
            <a:r>
              <a:rPr lang="en-US" sz="2800" i="1" dirty="0" err="1">
                <a:latin typeface="Candara" pitchFamily="34" charset="0"/>
              </a:rPr>
              <a:t>A</a:t>
            </a:r>
            <a:r>
              <a:rPr lang="en-US" sz="2800" dirty="0" err="1">
                <a:latin typeface="Candara" pitchFamily="34" charset="0"/>
              </a:rPr>
              <a:t>.</a:t>
            </a:r>
            <a:r>
              <a:rPr lang="en-US" sz="2800" i="1" dirty="0" err="1">
                <a:latin typeface="Candara" pitchFamily="34" charset="0"/>
              </a:rPr>
              <a:t>inh</a:t>
            </a:r>
            <a:r>
              <a:rPr lang="en-US" sz="2800" i="1" dirty="0">
                <a:latin typeface="Candara" pitchFamily="34" charset="0"/>
              </a:rPr>
              <a:t>, …</a:t>
            </a:r>
            <a:r>
              <a:rPr lang="en-US" sz="2800" dirty="0">
                <a:latin typeface="Candara" pitchFamily="34" charset="0"/>
              </a:rPr>
              <a:t>), where </a:t>
            </a:r>
            <a:r>
              <a:rPr lang="en-US" sz="2800" i="1" dirty="0">
                <a:latin typeface="Candara" pitchFamily="34" charset="0"/>
              </a:rPr>
              <a:t>inh</a:t>
            </a:r>
            <a:r>
              <a:rPr lang="en-US" sz="2800" dirty="0">
                <a:latin typeface="Candara" pitchFamily="34" charset="0"/>
              </a:rPr>
              <a:t> is an inherited attribute of </a:t>
            </a:r>
            <a:r>
              <a:rPr lang="en-US" sz="2800" i="1" dirty="0">
                <a:latin typeface="Candara" pitchFamily="34" charset="0"/>
              </a:rPr>
              <a:t>A</a:t>
            </a:r>
            <a:endParaRPr lang="en-US" sz="3600" i="1" dirty="0">
              <a:latin typeface="Candara" pitchFamily="34" charset="0"/>
            </a:endParaRPr>
          </a:p>
          <a:p>
            <a:pPr lvl="1"/>
            <a:endParaRPr lang="en-US" sz="2400" dirty="0">
              <a:latin typeface="Candara" pitchFamily="34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Candara" pitchFamily="34" charset="0"/>
              </a:rPr>
              <a:t>L-attributed SDD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ndara" pitchFamily="34" charset="0"/>
              </a:rPr>
              <a:t>Dept of CSE, BUET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>
                <a:latin typeface="Candara" pitchFamily="34" charset="0"/>
              </a:rPr>
              <a:pPr/>
              <a:t>34</a:t>
            </a:fld>
            <a:endParaRPr lang="en-US">
              <a:latin typeface="Candara" pitchFamily="34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Candara" pitchFamily="34" charset="0"/>
              </a:rPr>
              <a:t>For </a:t>
            </a:r>
            <a:r>
              <a:rPr lang="en-US" sz="2800" i="1" dirty="0">
                <a:latin typeface="Courier New" pitchFamily="49" charset="0"/>
                <a:cs typeface="Courier New" pitchFamily="49" charset="0"/>
              </a:rPr>
              <a:t>A</a:t>
            </a:r>
            <a:r>
              <a:rPr lang="en-US" sz="2800" i="1" dirty="0">
                <a:cs typeface="Courier New" pitchFamily="49" charset="0"/>
              </a:rPr>
              <a:t> 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-&gt;</a:t>
            </a:r>
            <a:r>
              <a:rPr lang="en-US" sz="2800" dirty="0">
                <a:cs typeface="Courier New" pitchFamily="49" charset="0"/>
              </a:rPr>
              <a:t> </a:t>
            </a:r>
            <a:r>
              <a:rPr lang="en-US" sz="2800" i="1" dirty="0">
                <a:latin typeface="Courier New" pitchFamily="49" charset="0"/>
                <a:cs typeface="Courier New" pitchFamily="49" charset="0"/>
              </a:rPr>
              <a:t>X</a:t>
            </a:r>
            <a:r>
              <a:rPr lang="en-US" sz="2800" baseline="-25000" dirty="0"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800" i="1" dirty="0">
                <a:latin typeface="Courier New" pitchFamily="49" charset="0"/>
                <a:cs typeface="Courier New" pitchFamily="49" charset="0"/>
              </a:rPr>
              <a:t>X</a:t>
            </a:r>
            <a:r>
              <a:rPr lang="en-US" sz="2800" baseline="-25000" dirty="0"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2800" i="1" dirty="0">
                <a:latin typeface="Courier New" pitchFamily="49" charset="0"/>
                <a:cs typeface="Courier New" pitchFamily="49" charset="0"/>
              </a:rPr>
              <a:t>X</a:t>
            </a:r>
            <a:r>
              <a:rPr lang="en-US" sz="2800" baseline="-25000" dirty="0">
                <a:latin typeface="Courier New" pitchFamily="49" charset="0"/>
                <a:cs typeface="Courier New" pitchFamily="49" charset="0"/>
              </a:rPr>
              <a:t>3</a:t>
            </a:r>
            <a:r>
              <a:rPr lang="en-US" sz="2800" baseline="-25000" dirty="0">
                <a:cs typeface="Courier New" pitchFamily="49" charset="0"/>
              </a:rPr>
              <a:t> 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…</a:t>
            </a:r>
            <a:r>
              <a:rPr lang="en-US" sz="2800" dirty="0">
                <a:cs typeface="Courier New" pitchFamily="49" charset="0"/>
              </a:rPr>
              <a:t> </a:t>
            </a:r>
            <a:r>
              <a:rPr lang="en-US" sz="2800" i="1" dirty="0" err="1">
                <a:latin typeface="Courier New" pitchFamily="49" charset="0"/>
                <a:cs typeface="Courier New" pitchFamily="49" charset="0"/>
              </a:rPr>
              <a:t>X</a:t>
            </a:r>
            <a:r>
              <a:rPr lang="en-US" sz="2800" i="1" baseline="-25000" dirty="0" err="1">
                <a:latin typeface="Courier New" pitchFamily="49" charset="0"/>
                <a:cs typeface="Courier New" pitchFamily="49" charset="0"/>
              </a:rPr>
              <a:t>n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800" i="1" dirty="0" err="1">
                <a:latin typeface="Candara" pitchFamily="34" charset="0"/>
                <a:cs typeface="Courier New" pitchFamily="49" charset="0"/>
              </a:rPr>
              <a:t>X</a:t>
            </a:r>
            <a:r>
              <a:rPr lang="en-US" sz="2800" baseline="-25000" dirty="0" err="1">
                <a:latin typeface="Candara" pitchFamily="34" charset="0"/>
                <a:cs typeface="Courier New" pitchFamily="49" charset="0"/>
              </a:rPr>
              <a:t>i</a:t>
            </a:r>
            <a:r>
              <a:rPr lang="en-US" sz="2800" dirty="0" err="1">
                <a:latin typeface="Candara" pitchFamily="34" charset="0"/>
                <a:cs typeface="Courier New" pitchFamily="49" charset="0"/>
              </a:rPr>
              <a:t>.</a:t>
            </a:r>
            <a:r>
              <a:rPr lang="en-US" sz="2800" i="1" dirty="0" err="1">
                <a:latin typeface="Candara" pitchFamily="34" charset="0"/>
                <a:cs typeface="Courier New" pitchFamily="49" charset="0"/>
              </a:rPr>
              <a:t>a</a:t>
            </a:r>
            <a:r>
              <a:rPr lang="en-US" sz="2800" dirty="0">
                <a:latin typeface="Candara" pitchFamily="34" charset="0"/>
                <a:cs typeface="Courier New" pitchFamily="49" charset="0"/>
              </a:rPr>
              <a:t> is an inherited attribute computed by a rule associated with this production</a:t>
            </a:r>
          </a:p>
          <a:p>
            <a:pPr lvl="1">
              <a:buNone/>
            </a:pPr>
            <a:endParaRPr lang="en-US" sz="2000" dirty="0">
              <a:latin typeface="Candara" pitchFamily="34" charset="0"/>
              <a:cs typeface="Courier New" pitchFamily="49" charset="0"/>
            </a:endParaRPr>
          </a:p>
          <a:p>
            <a:pPr lvl="1"/>
            <a:r>
              <a:rPr lang="en-US" sz="2400" dirty="0">
                <a:latin typeface="Candara" pitchFamily="34" charset="0"/>
                <a:cs typeface="Courier New" pitchFamily="49" charset="0"/>
              </a:rPr>
              <a:t>The rule may use</a:t>
            </a:r>
          </a:p>
          <a:p>
            <a:pPr marL="971550" lvl="1" indent="-514350">
              <a:buFont typeface="+mj-lt"/>
              <a:buAutoNum type="romanLcPeriod" startAt="2"/>
            </a:pPr>
            <a:r>
              <a:rPr lang="en-US" sz="2400" dirty="0">
                <a:solidFill>
                  <a:srgbClr val="C00000"/>
                </a:solidFill>
                <a:latin typeface="Candara" pitchFamily="34" charset="0"/>
                <a:cs typeface="Courier New" pitchFamily="49" charset="0"/>
              </a:rPr>
              <a:t>Either inherited or synthesized attribute associated with occurrence of </a:t>
            </a:r>
            <a:r>
              <a:rPr lang="en-US" sz="2400" i="1" dirty="0">
                <a:solidFill>
                  <a:srgbClr val="C00000"/>
                </a:solidFill>
                <a:latin typeface="Candara" pitchFamily="34" charset="0"/>
                <a:cs typeface="Courier New" pitchFamily="49" charset="0"/>
              </a:rPr>
              <a:t>X</a:t>
            </a:r>
            <a:r>
              <a:rPr lang="en-US" sz="2400" baseline="-25000" dirty="0">
                <a:solidFill>
                  <a:srgbClr val="C00000"/>
                </a:solidFill>
                <a:latin typeface="Candara" pitchFamily="34" charset="0"/>
                <a:cs typeface="Courier New" pitchFamily="49" charset="0"/>
              </a:rPr>
              <a:t>1</a:t>
            </a:r>
            <a:r>
              <a:rPr lang="en-US" sz="2400" dirty="0">
                <a:solidFill>
                  <a:srgbClr val="C00000"/>
                </a:solidFill>
                <a:latin typeface="Candara" pitchFamily="34" charset="0"/>
                <a:cs typeface="Courier New" pitchFamily="49" charset="0"/>
              </a:rPr>
              <a:t>, </a:t>
            </a:r>
            <a:r>
              <a:rPr lang="en-US" sz="2400" i="1" dirty="0">
                <a:solidFill>
                  <a:srgbClr val="C00000"/>
                </a:solidFill>
                <a:latin typeface="Candara" pitchFamily="34" charset="0"/>
                <a:cs typeface="Courier New" pitchFamily="49" charset="0"/>
              </a:rPr>
              <a:t>X</a:t>
            </a:r>
            <a:r>
              <a:rPr lang="en-US" sz="2400" baseline="-25000" dirty="0">
                <a:solidFill>
                  <a:srgbClr val="C00000"/>
                </a:solidFill>
                <a:latin typeface="Candara" pitchFamily="34" charset="0"/>
                <a:cs typeface="Courier New" pitchFamily="49" charset="0"/>
              </a:rPr>
              <a:t>2</a:t>
            </a:r>
            <a:r>
              <a:rPr lang="en-US" sz="2400" dirty="0">
                <a:solidFill>
                  <a:srgbClr val="C00000"/>
                </a:solidFill>
                <a:latin typeface="Candara" pitchFamily="34" charset="0"/>
                <a:cs typeface="Courier New" pitchFamily="49" charset="0"/>
              </a:rPr>
              <a:t>, </a:t>
            </a:r>
            <a:r>
              <a:rPr lang="en-US" sz="2400" i="1" dirty="0">
                <a:solidFill>
                  <a:srgbClr val="C00000"/>
                </a:solidFill>
                <a:latin typeface="Candara" pitchFamily="34" charset="0"/>
                <a:cs typeface="Courier New" pitchFamily="49" charset="0"/>
              </a:rPr>
              <a:t>X</a:t>
            </a:r>
            <a:r>
              <a:rPr lang="en-US" sz="2400" baseline="-25000" dirty="0">
                <a:solidFill>
                  <a:srgbClr val="C00000"/>
                </a:solidFill>
                <a:latin typeface="Candara" pitchFamily="34" charset="0"/>
                <a:cs typeface="Courier New" pitchFamily="49" charset="0"/>
              </a:rPr>
              <a:t>3</a:t>
            </a:r>
            <a:r>
              <a:rPr lang="en-US" sz="2400" dirty="0">
                <a:solidFill>
                  <a:srgbClr val="C00000"/>
                </a:solidFill>
                <a:latin typeface="Candara" pitchFamily="34" charset="0"/>
                <a:cs typeface="Courier New" pitchFamily="49" charset="0"/>
              </a:rPr>
              <a:t>, … , </a:t>
            </a:r>
            <a:r>
              <a:rPr lang="en-US" sz="2400" i="1" dirty="0">
                <a:solidFill>
                  <a:srgbClr val="C00000"/>
                </a:solidFill>
                <a:latin typeface="Candara" pitchFamily="34" charset="0"/>
                <a:cs typeface="Courier New" pitchFamily="49" charset="0"/>
              </a:rPr>
              <a:t>X</a:t>
            </a:r>
            <a:r>
              <a:rPr lang="en-US" sz="2400" i="1" baseline="-25000" dirty="0">
                <a:solidFill>
                  <a:srgbClr val="C00000"/>
                </a:solidFill>
                <a:latin typeface="Candara" pitchFamily="34" charset="0"/>
                <a:cs typeface="Courier New" pitchFamily="49" charset="0"/>
              </a:rPr>
              <a:t>i</a:t>
            </a:r>
            <a:r>
              <a:rPr lang="en-US" sz="2400" baseline="-25000" dirty="0">
                <a:solidFill>
                  <a:srgbClr val="C00000"/>
                </a:solidFill>
                <a:latin typeface="Candara" pitchFamily="34" charset="0"/>
                <a:cs typeface="Courier New" pitchFamily="49" charset="0"/>
              </a:rPr>
              <a:t>-1</a:t>
            </a:r>
          </a:p>
          <a:p>
            <a:pPr>
              <a:buNone/>
            </a:pPr>
            <a:endParaRPr lang="en-US" dirty="0">
              <a:latin typeface="Candara" pitchFamily="34" charset="0"/>
            </a:endParaRPr>
          </a:p>
          <a:p>
            <a:pPr>
              <a:buNone/>
            </a:pPr>
            <a:r>
              <a:rPr lang="en-US" sz="2800" dirty="0">
                <a:latin typeface="Candara" pitchFamily="34" charset="0"/>
              </a:rPr>
              <a:t>				</a:t>
            </a:r>
            <a:r>
              <a:rPr lang="en-US" sz="2800" i="1" dirty="0">
                <a:latin typeface="Candara" pitchFamily="34" charset="0"/>
              </a:rPr>
              <a:t>X</a:t>
            </a:r>
            <a:r>
              <a:rPr lang="en-US" sz="2800" i="1" baseline="-25000" dirty="0">
                <a:latin typeface="Candara" pitchFamily="34" charset="0"/>
              </a:rPr>
              <a:t>5</a:t>
            </a:r>
            <a:r>
              <a:rPr lang="en-US" sz="2800" dirty="0">
                <a:latin typeface="Candara" pitchFamily="34" charset="0"/>
              </a:rPr>
              <a:t>.</a:t>
            </a:r>
            <a:r>
              <a:rPr lang="en-US" sz="2800" i="1" dirty="0">
                <a:latin typeface="Candara" pitchFamily="34" charset="0"/>
              </a:rPr>
              <a:t>a</a:t>
            </a:r>
            <a:r>
              <a:rPr lang="en-US" sz="2800" dirty="0">
                <a:latin typeface="Candara" pitchFamily="34" charset="0"/>
              </a:rPr>
              <a:t>= </a:t>
            </a:r>
            <a:r>
              <a:rPr lang="en-US" sz="2800" i="1" dirty="0">
                <a:latin typeface="Candara" pitchFamily="34" charset="0"/>
              </a:rPr>
              <a:t>f</a:t>
            </a:r>
            <a:r>
              <a:rPr lang="en-US" sz="2800" dirty="0">
                <a:latin typeface="Candara" pitchFamily="34" charset="0"/>
              </a:rPr>
              <a:t>(</a:t>
            </a:r>
            <a:r>
              <a:rPr lang="en-US" sz="2800" i="1" dirty="0">
                <a:latin typeface="Candara" pitchFamily="34" charset="0"/>
              </a:rPr>
              <a:t>X</a:t>
            </a:r>
            <a:r>
              <a:rPr lang="en-US" sz="2800" i="1" baseline="-25000" dirty="0">
                <a:latin typeface="Candara" pitchFamily="34" charset="0"/>
              </a:rPr>
              <a:t>2</a:t>
            </a:r>
            <a:r>
              <a:rPr lang="en-US" sz="2800" dirty="0">
                <a:latin typeface="Candara" pitchFamily="34" charset="0"/>
              </a:rPr>
              <a:t>.</a:t>
            </a:r>
            <a:r>
              <a:rPr lang="en-US" sz="2800" i="1" dirty="0">
                <a:latin typeface="Candara" pitchFamily="34" charset="0"/>
              </a:rPr>
              <a:t>a, X</a:t>
            </a:r>
            <a:r>
              <a:rPr lang="en-US" sz="2800" i="1" baseline="-25000" dirty="0">
                <a:latin typeface="Candara" pitchFamily="34" charset="0"/>
              </a:rPr>
              <a:t>3</a:t>
            </a:r>
            <a:r>
              <a:rPr lang="en-US" sz="2800" i="1" dirty="0">
                <a:latin typeface="Candara" pitchFamily="34" charset="0"/>
              </a:rPr>
              <a:t>.b,…</a:t>
            </a:r>
            <a:r>
              <a:rPr lang="en-US" sz="2800" dirty="0">
                <a:latin typeface="Candara" pitchFamily="34" charset="0"/>
              </a:rPr>
              <a:t>)</a:t>
            </a:r>
            <a:endParaRPr lang="en-US" sz="3600" i="1" dirty="0">
              <a:latin typeface="Candara" pitchFamily="34" charset="0"/>
            </a:endParaRPr>
          </a:p>
          <a:p>
            <a:pPr lvl="1"/>
            <a:endParaRPr lang="en-US" sz="2400" dirty="0">
              <a:latin typeface="Candara" pitchFamily="34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Candara" pitchFamily="34" charset="0"/>
              </a:rPr>
              <a:t>L-attributed SDD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ndara" pitchFamily="34" charset="0"/>
              </a:rPr>
              <a:t>Dept of CSE, BUET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>
                <a:latin typeface="Candara" pitchFamily="34" charset="0"/>
              </a:rPr>
              <a:pPr/>
              <a:t>35</a:t>
            </a:fld>
            <a:endParaRPr lang="en-US">
              <a:latin typeface="Candara" pitchFamily="34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Candara" pitchFamily="34" charset="0"/>
              </a:rPr>
              <a:t>For </a:t>
            </a:r>
            <a:r>
              <a:rPr lang="en-US" sz="2800" i="1" dirty="0">
                <a:latin typeface="Courier New" pitchFamily="49" charset="0"/>
                <a:cs typeface="Courier New" pitchFamily="49" charset="0"/>
              </a:rPr>
              <a:t>A</a:t>
            </a:r>
            <a:r>
              <a:rPr lang="en-US" sz="2800" i="1" dirty="0">
                <a:cs typeface="Courier New" pitchFamily="49" charset="0"/>
              </a:rPr>
              <a:t> 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-&gt;</a:t>
            </a:r>
            <a:r>
              <a:rPr lang="en-US" sz="2800" dirty="0">
                <a:cs typeface="Courier New" pitchFamily="49" charset="0"/>
              </a:rPr>
              <a:t> </a:t>
            </a:r>
            <a:r>
              <a:rPr lang="en-US" sz="2800" i="1" dirty="0">
                <a:latin typeface="Courier New" pitchFamily="49" charset="0"/>
                <a:cs typeface="Courier New" pitchFamily="49" charset="0"/>
              </a:rPr>
              <a:t>X</a:t>
            </a:r>
            <a:r>
              <a:rPr lang="en-US" sz="2800" baseline="-25000" dirty="0"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800" i="1" dirty="0">
                <a:latin typeface="Courier New" pitchFamily="49" charset="0"/>
                <a:cs typeface="Courier New" pitchFamily="49" charset="0"/>
              </a:rPr>
              <a:t>X</a:t>
            </a:r>
            <a:r>
              <a:rPr lang="en-US" sz="2800" baseline="-25000" dirty="0"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2800" i="1" dirty="0">
                <a:latin typeface="Courier New" pitchFamily="49" charset="0"/>
                <a:cs typeface="Courier New" pitchFamily="49" charset="0"/>
              </a:rPr>
              <a:t>X</a:t>
            </a:r>
            <a:r>
              <a:rPr lang="en-US" sz="2800" baseline="-25000" dirty="0">
                <a:latin typeface="Courier New" pitchFamily="49" charset="0"/>
                <a:cs typeface="Courier New" pitchFamily="49" charset="0"/>
              </a:rPr>
              <a:t>3</a:t>
            </a:r>
            <a:r>
              <a:rPr lang="en-US" sz="2800" baseline="-25000" dirty="0">
                <a:cs typeface="Courier New" pitchFamily="49" charset="0"/>
              </a:rPr>
              <a:t> 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…</a:t>
            </a:r>
            <a:r>
              <a:rPr lang="en-US" sz="2800" dirty="0">
                <a:cs typeface="Courier New" pitchFamily="49" charset="0"/>
              </a:rPr>
              <a:t> </a:t>
            </a:r>
            <a:r>
              <a:rPr lang="en-US" sz="2800" i="1" dirty="0" err="1">
                <a:latin typeface="Courier New" pitchFamily="49" charset="0"/>
                <a:cs typeface="Courier New" pitchFamily="49" charset="0"/>
              </a:rPr>
              <a:t>X</a:t>
            </a:r>
            <a:r>
              <a:rPr lang="en-US" sz="2800" i="1" baseline="-25000" dirty="0" err="1">
                <a:latin typeface="Courier New" pitchFamily="49" charset="0"/>
                <a:cs typeface="Courier New" pitchFamily="49" charset="0"/>
              </a:rPr>
              <a:t>n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800" i="1" dirty="0" err="1">
                <a:latin typeface="Candara" pitchFamily="34" charset="0"/>
                <a:cs typeface="Courier New" pitchFamily="49" charset="0"/>
              </a:rPr>
              <a:t>X</a:t>
            </a:r>
            <a:r>
              <a:rPr lang="en-US" sz="2800" baseline="-25000" dirty="0" err="1">
                <a:latin typeface="Candara" pitchFamily="34" charset="0"/>
                <a:cs typeface="Courier New" pitchFamily="49" charset="0"/>
              </a:rPr>
              <a:t>i</a:t>
            </a:r>
            <a:r>
              <a:rPr lang="en-US" sz="2800" dirty="0" err="1">
                <a:latin typeface="Candara" pitchFamily="34" charset="0"/>
                <a:cs typeface="Courier New" pitchFamily="49" charset="0"/>
              </a:rPr>
              <a:t>.</a:t>
            </a:r>
            <a:r>
              <a:rPr lang="en-US" sz="2800" i="1" dirty="0" err="1">
                <a:latin typeface="Candara" pitchFamily="34" charset="0"/>
                <a:cs typeface="Courier New" pitchFamily="49" charset="0"/>
              </a:rPr>
              <a:t>a</a:t>
            </a:r>
            <a:r>
              <a:rPr lang="en-US" sz="2800" dirty="0">
                <a:latin typeface="Candara" pitchFamily="34" charset="0"/>
                <a:cs typeface="Courier New" pitchFamily="49" charset="0"/>
              </a:rPr>
              <a:t> is an inherited attribute computed by a rule associated with this production</a:t>
            </a:r>
          </a:p>
          <a:p>
            <a:pPr lvl="1">
              <a:buNone/>
            </a:pPr>
            <a:endParaRPr lang="en-US" sz="2000" dirty="0">
              <a:latin typeface="Candara" pitchFamily="34" charset="0"/>
              <a:cs typeface="Courier New" pitchFamily="49" charset="0"/>
            </a:endParaRPr>
          </a:p>
          <a:p>
            <a:pPr lvl="1"/>
            <a:r>
              <a:rPr lang="en-US" sz="2400" dirty="0">
                <a:latin typeface="Candara" pitchFamily="34" charset="0"/>
                <a:cs typeface="Courier New" pitchFamily="49" charset="0"/>
              </a:rPr>
              <a:t>The rule may use</a:t>
            </a:r>
          </a:p>
          <a:p>
            <a:pPr marL="971550" lvl="1" indent="-514350">
              <a:buFont typeface="+mj-lt"/>
              <a:buAutoNum type="romanLcPeriod" startAt="3"/>
            </a:pPr>
            <a:r>
              <a:rPr lang="en-US" sz="2400" dirty="0">
                <a:solidFill>
                  <a:srgbClr val="C00000"/>
                </a:solidFill>
                <a:latin typeface="Candara" pitchFamily="34" charset="0"/>
                <a:cs typeface="Courier New" pitchFamily="49" charset="0"/>
              </a:rPr>
              <a:t>Either inherited or synthesized attribute associated with this occurrence of </a:t>
            </a:r>
            <a:r>
              <a:rPr lang="en-US" sz="2400" i="1" dirty="0">
                <a:solidFill>
                  <a:srgbClr val="C00000"/>
                </a:solidFill>
                <a:latin typeface="Candara" pitchFamily="34" charset="0"/>
                <a:cs typeface="Courier New" pitchFamily="49" charset="0"/>
              </a:rPr>
              <a:t>X</a:t>
            </a:r>
            <a:r>
              <a:rPr lang="en-US" sz="2400" i="1" baseline="-25000" dirty="0">
                <a:solidFill>
                  <a:srgbClr val="C00000"/>
                </a:solidFill>
                <a:latin typeface="Candara" pitchFamily="34" charset="0"/>
                <a:cs typeface="Courier New" pitchFamily="49" charset="0"/>
              </a:rPr>
              <a:t>i</a:t>
            </a:r>
            <a:r>
              <a:rPr lang="en-US" sz="2400" dirty="0">
                <a:solidFill>
                  <a:srgbClr val="C00000"/>
                </a:solidFill>
                <a:latin typeface="Candara" pitchFamily="34" charset="0"/>
                <a:cs typeface="Courier New" pitchFamily="49" charset="0"/>
              </a:rPr>
              <a:t>, without creating cycle</a:t>
            </a:r>
            <a:endParaRPr lang="en-US" sz="2400" baseline="-25000" dirty="0">
              <a:solidFill>
                <a:srgbClr val="C00000"/>
              </a:solidFill>
              <a:latin typeface="Candara" pitchFamily="34" charset="0"/>
              <a:cs typeface="Courier New" pitchFamily="49" charset="0"/>
            </a:endParaRPr>
          </a:p>
          <a:p>
            <a:pPr>
              <a:buNone/>
            </a:pPr>
            <a:endParaRPr lang="en-US" dirty="0">
              <a:latin typeface="Candara" pitchFamily="34" charset="0"/>
            </a:endParaRPr>
          </a:p>
          <a:p>
            <a:pPr>
              <a:buNone/>
            </a:pPr>
            <a:r>
              <a:rPr lang="en-US" sz="2800" dirty="0">
                <a:latin typeface="Candara" pitchFamily="34" charset="0"/>
              </a:rPr>
              <a:t>				</a:t>
            </a:r>
            <a:r>
              <a:rPr lang="en-US" sz="2800" i="1" dirty="0">
                <a:latin typeface="Candara" pitchFamily="34" charset="0"/>
              </a:rPr>
              <a:t>X</a:t>
            </a:r>
            <a:r>
              <a:rPr lang="en-US" sz="2800" i="1" baseline="-25000" dirty="0">
                <a:latin typeface="Candara" pitchFamily="34" charset="0"/>
              </a:rPr>
              <a:t>5</a:t>
            </a:r>
            <a:r>
              <a:rPr lang="en-US" sz="2800" dirty="0">
                <a:latin typeface="Candara" pitchFamily="34" charset="0"/>
              </a:rPr>
              <a:t>.</a:t>
            </a:r>
            <a:r>
              <a:rPr lang="en-US" sz="2800" i="1" dirty="0">
                <a:latin typeface="Candara" pitchFamily="34" charset="0"/>
              </a:rPr>
              <a:t>a</a:t>
            </a:r>
            <a:r>
              <a:rPr lang="en-US" sz="2800" dirty="0">
                <a:latin typeface="Candara" pitchFamily="34" charset="0"/>
              </a:rPr>
              <a:t>= </a:t>
            </a:r>
            <a:r>
              <a:rPr lang="en-US" sz="2800" i="1" dirty="0">
                <a:latin typeface="Candara" pitchFamily="34" charset="0"/>
              </a:rPr>
              <a:t>f</a:t>
            </a:r>
            <a:r>
              <a:rPr lang="en-US" sz="2800" dirty="0">
                <a:latin typeface="Candara" pitchFamily="34" charset="0"/>
              </a:rPr>
              <a:t>(</a:t>
            </a:r>
            <a:r>
              <a:rPr lang="en-US" sz="2800" i="1" dirty="0">
                <a:latin typeface="Candara" pitchFamily="34" charset="0"/>
              </a:rPr>
              <a:t>X</a:t>
            </a:r>
            <a:r>
              <a:rPr lang="en-US" sz="2800" i="1" baseline="-25000" dirty="0">
                <a:latin typeface="Candara" pitchFamily="34" charset="0"/>
              </a:rPr>
              <a:t>5</a:t>
            </a:r>
            <a:r>
              <a:rPr lang="en-US" sz="2800" dirty="0">
                <a:latin typeface="Candara" pitchFamily="34" charset="0"/>
              </a:rPr>
              <a:t>.</a:t>
            </a:r>
            <a:r>
              <a:rPr lang="en-US" sz="2800" i="1" dirty="0">
                <a:latin typeface="Candara" pitchFamily="34" charset="0"/>
              </a:rPr>
              <a:t>b, …</a:t>
            </a:r>
            <a:r>
              <a:rPr lang="en-US" sz="2800" dirty="0">
                <a:latin typeface="Candara" pitchFamily="34" charset="0"/>
              </a:rPr>
              <a:t>)</a:t>
            </a:r>
            <a:endParaRPr lang="en-US" sz="3600" i="1" dirty="0">
              <a:latin typeface="Candara" pitchFamily="34" charset="0"/>
            </a:endParaRPr>
          </a:p>
          <a:p>
            <a:pPr lvl="1"/>
            <a:endParaRPr lang="en-US" sz="2400" dirty="0">
              <a:latin typeface="Candara" pitchFamily="34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Candara" pitchFamily="34" charset="0"/>
              </a:rPr>
              <a:t>L-attributed SDD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ndara" pitchFamily="34" charset="0"/>
              </a:rPr>
              <a:t>Dept of CSE, BUET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>
                <a:latin typeface="Candara" pitchFamily="34" charset="0"/>
              </a:rPr>
              <a:pPr/>
              <a:t>36</a:t>
            </a:fld>
            <a:endParaRPr lang="en-US">
              <a:latin typeface="Candara" pitchFamily="34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Candara" pitchFamily="34" charset="0"/>
              </a:rPr>
              <a:t>Example of L-attributed SDD</a:t>
            </a:r>
          </a:p>
        </p:txBody>
      </p:sp>
      <p:pic>
        <p:nvPicPr>
          <p:cNvPr id="6" name="Picture 5" descr="LSDDex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828800" y="2133601"/>
            <a:ext cx="5562599" cy="3581399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Candara" pitchFamily="34" charset="0"/>
              </a:rPr>
              <a:t>L-attributed SDD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ndara" pitchFamily="34" charset="0"/>
              </a:rPr>
              <a:t>Dept of CSE, BUET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>
                <a:latin typeface="Candara" pitchFamily="34" charset="0"/>
              </a:rPr>
              <a:pPr/>
              <a:t>37</a:t>
            </a:fld>
            <a:endParaRPr lang="en-US">
              <a:latin typeface="Candara" pitchFamily="34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i="1" dirty="0" err="1">
                <a:solidFill>
                  <a:srgbClr val="C00000"/>
                </a:solidFill>
                <a:latin typeface="Candara" pitchFamily="34" charset="0"/>
              </a:rPr>
              <a:t>val</a:t>
            </a:r>
            <a:r>
              <a:rPr lang="en-US" sz="2800" dirty="0">
                <a:latin typeface="Candara" pitchFamily="34" charset="0"/>
              </a:rPr>
              <a:t> (of both </a:t>
            </a:r>
            <a:r>
              <a:rPr lang="en-US" sz="2800" i="1" dirty="0">
                <a:latin typeface="Candara" pitchFamily="34" charset="0"/>
              </a:rPr>
              <a:t>T</a:t>
            </a:r>
            <a:r>
              <a:rPr lang="en-US" sz="2800" dirty="0">
                <a:latin typeface="Candara" pitchFamily="34" charset="0"/>
              </a:rPr>
              <a:t> and </a:t>
            </a:r>
            <a:r>
              <a:rPr lang="en-US" sz="2800" i="1" dirty="0">
                <a:latin typeface="Candara" pitchFamily="34" charset="0"/>
              </a:rPr>
              <a:t>F</a:t>
            </a:r>
            <a:r>
              <a:rPr lang="en-US" sz="2800" dirty="0">
                <a:latin typeface="Candara" pitchFamily="34" charset="0"/>
              </a:rPr>
              <a:t>),  </a:t>
            </a:r>
            <a:r>
              <a:rPr lang="en-US" sz="2800" i="1" dirty="0" err="1">
                <a:solidFill>
                  <a:srgbClr val="C00000"/>
                </a:solidFill>
                <a:latin typeface="Candara" pitchFamily="34" charset="0"/>
              </a:rPr>
              <a:t>syn</a:t>
            </a:r>
            <a:r>
              <a:rPr lang="en-US" sz="2800" dirty="0">
                <a:latin typeface="Candara" pitchFamily="34" charset="0"/>
              </a:rPr>
              <a:t> and </a:t>
            </a:r>
            <a:r>
              <a:rPr lang="en-US" sz="2800" i="1" dirty="0" err="1">
                <a:solidFill>
                  <a:srgbClr val="C00000"/>
                </a:solidFill>
                <a:latin typeface="Candara" pitchFamily="34" charset="0"/>
              </a:rPr>
              <a:t>lexval</a:t>
            </a:r>
            <a:r>
              <a:rPr lang="en-US" sz="2800" dirty="0">
                <a:latin typeface="Candara" pitchFamily="34" charset="0"/>
              </a:rPr>
              <a:t> are synthesized</a:t>
            </a:r>
          </a:p>
        </p:txBody>
      </p:sp>
      <p:pic>
        <p:nvPicPr>
          <p:cNvPr id="6" name="Picture 5" descr="LSDDex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828800" y="2362200"/>
            <a:ext cx="5562599" cy="3581399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6019800" y="5334000"/>
            <a:ext cx="838200" cy="4572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572000" y="5334000"/>
            <a:ext cx="685800" cy="4572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4495800" y="3429000"/>
            <a:ext cx="838200" cy="4572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4540348" y="4267200"/>
            <a:ext cx="838200" cy="4572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4523350" y="4800600"/>
            <a:ext cx="838200" cy="4572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Candara" pitchFamily="34" charset="0"/>
              </a:rPr>
              <a:t>L-attributed SDD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ndara" pitchFamily="34" charset="0"/>
              </a:rPr>
              <a:t>Dept of CSE, BUET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>
                <a:latin typeface="Candara" pitchFamily="34" charset="0"/>
              </a:rPr>
              <a:pPr/>
              <a:t>38</a:t>
            </a:fld>
            <a:endParaRPr lang="en-US">
              <a:latin typeface="Candara" pitchFamily="34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i="1" dirty="0">
                <a:solidFill>
                  <a:srgbClr val="C00000"/>
                </a:solidFill>
                <a:latin typeface="Candara" pitchFamily="34" charset="0"/>
              </a:rPr>
              <a:t>inh </a:t>
            </a:r>
            <a:r>
              <a:rPr lang="en-US" sz="2800" dirty="0">
                <a:latin typeface="Candara" pitchFamily="34" charset="0"/>
              </a:rPr>
              <a:t>is inherited</a:t>
            </a:r>
          </a:p>
        </p:txBody>
      </p:sp>
      <p:pic>
        <p:nvPicPr>
          <p:cNvPr id="6" name="Picture 5" descr="LSDDex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828800" y="2362200"/>
            <a:ext cx="5562599" cy="3581399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4495800" y="3048000"/>
            <a:ext cx="838200" cy="4572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Candara" pitchFamily="34" charset="0"/>
              </a:rPr>
              <a:t>L-attributed SDD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ndara" pitchFamily="34" charset="0"/>
              </a:rPr>
              <a:t>Dept of CSE, BUET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>
                <a:latin typeface="Candara" pitchFamily="34" charset="0"/>
              </a:rPr>
              <a:pPr/>
              <a:t>39</a:t>
            </a:fld>
            <a:endParaRPr lang="en-US">
              <a:latin typeface="Candara" pitchFamily="34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i="1" dirty="0">
                <a:solidFill>
                  <a:srgbClr val="C00000"/>
                </a:solidFill>
                <a:latin typeface="Candara" pitchFamily="34" charset="0"/>
              </a:rPr>
              <a:t>inh </a:t>
            </a:r>
            <a:r>
              <a:rPr lang="en-US" sz="2800" dirty="0">
                <a:latin typeface="Candara" pitchFamily="34" charset="0"/>
              </a:rPr>
              <a:t>is inherited</a:t>
            </a:r>
          </a:p>
        </p:txBody>
      </p:sp>
      <p:pic>
        <p:nvPicPr>
          <p:cNvPr id="6" name="Picture 5" descr="LSDDex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828800" y="2362200"/>
            <a:ext cx="5562599" cy="3581399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4495800" y="3048000"/>
            <a:ext cx="1828800" cy="4572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495800" y="3886200"/>
            <a:ext cx="2895600" cy="533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696200" y="2983468"/>
            <a:ext cx="9749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ndara" pitchFamily="34" charset="0"/>
              </a:rPr>
              <a:t>Rule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6200" y="3576935"/>
            <a:ext cx="14654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ndara" pitchFamily="34" charset="0"/>
              </a:rPr>
              <a:t>Rule 1 &amp; 2</a:t>
            </a:r>
          </a:p>
        </p:txBody>
      </p:sp>
      <p:cxnSp>
        <p:nvCxnSpPr>
          <p:cNvPr id="14" name="Straight Arrow Connector 13"/>
          <p:cNvCxnSpPr>
            <a:stCxn id="11" idx="1"/>
            <a:endCxn id="10" idx="6"/>
          </p:cNvCxnSpPr>
          <p:nvPr/>
        </p:nvCxnSpPr>
        <p:spPr>
          <a:xfrm flipH="1">
            <a:off x="6324600" y="3214301"/>
            <a:ext cx="1371600" cy="62299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rot="10800000" flipV="1">
            <a:off x="7010401" y="3823900"/>
            <a:ext cx="685801" cy="138499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Candara" pitchFamily="34" charset="0"/>
              </a:rPr>
              <a:t>L-attributed SDD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ndara" pitchFamily="34" charset="0"/>
              </a:rPr>
              <a:t>Dept of CSE, BUET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>
                <a:latin typeface="Candara" pitchFamily="34" charset="0"/>
              </a:rPr>
              <a:pPr/>
              <a:t>40</a:t>
            </a:fld>
            <a:endParaRPr lang="en-US">
              <a:latin typeface="Candara" pitchFamily="34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Candara" pitchFamily="34" charset="0"/>
              </a:rPr>
              <a:t>Is the following SDD </a:t>
            </a:r>
            <a:r>
              <a:rPr lang="en-US" sz="2800" dirty="0">
                <a:solidFill>
                  <a:srgbClr val="C00000"/>
                </a:solidFill>
                <a:latin typeface="Candara" pitchFamily="34" charset="0"/>
              </a:rPr>
              <a:t>S-attributed</a:t>
            </a:r>
            <a:r>
              <a:rPr lang="en-US" sz="2800" dirty="0">
                <a:latin typeface="Candara" pitchFamily="34" charset="0"/>
              </a:rPr>
              <a:t> or </a:t>
            </a:r>
            <a:r>
              <a:rPr lang="en-US" sz="2800" dirty="0">
                <a:solidFill>
                  <a:srgbClr val="C00000"/>
                </a:solidFill>
                <a:latin typeface="Candara" pitchFamily="34" charset="0"/>
              </a:rPr>
              <a:t>L-attributed</a:t>
            </a:r>
            <a:r>
              <a:rPr lang="en-US" sz="2800" dirty="0">
                <a:latin typeface="Candara" pitchFamily="34" charset="0"/>
              </a:rPr>
              <a:t>? </a:t>
            </a:r>
          </a:p>
          <a:p>
            <a:endParaRPr lang="en-US" sz="2800" dirty="0">
              <a:latin typeface="Candara" pitchFamily="34" charset="0"/>
            </a:endParaRPr>
          </a:p>
          <a:p>
            <a:endParaRPr lang="en-US" sz="2800" dirty="0">
              <a:latin typeface="Candara" pitchFamily="34" charset="0"/>
            </a:endParaRPr>
          </a:p>
          <a:p>
            <a:endParaRPr lang="en-US" sz="2800" dirty="0">
              <a:latin typeface="Candara" pitchFamily="34" charset="0"/>
            </a:endParaRPr>
          </a:p>
          <a:p>
            <a:endParaRPr lang="en-US" sz="2800" dirty="0">
              <a:latin typeface="Candara" pitchFamily="34" charset="0"/>
            </a:endParaRPr>
          </a:p>
          <a:p>
            <a:endParaRPr lang="en-US" sz="2800" dirty="0">
              <a:latin typeface="Candara" pitchFamily="34" charset="0"/>
            </a:endParaRPr>
          </a:p>
          <a:p>
            <a:r>
              <a:rPr lang="en-US" sz="2800" dirty="0">
                <a:latin typeface="Candara" pitchFamily="34" charset="0"/>
              </a:rPr>
              <a:t>NO! Why?</a:t>
            </a:r>
          </a:p>
        </p:txBody>
      </p:sp>
      <p:pic>
        <p:nvPicPr>
          <p:cNvPr id="9" name="Picture 8" descr="LSDDex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38350" y="3152775"/>
            <a:ext cx="5067300" cy="14954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8229600" cy="1143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Candara" pitchFamily="34" charset="0"/>
              </a:rPr>
              <a:t>SDT Application: Construction of AST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477000"/>
            <a:ext cx="2895600" cy="365125"/>
          </a:xfrm>
        </p:spPr>
        <p:txBody>
          <a:bodyPr/>
          <a:lstStyle/>
          <a:p>
            <a:r>
              <a:rPr lang="en-US" dirty="0">
                <a:latin typeface="Candara" pitchFamily="34" charset="0"/>
              </a:rPr>
              <a:t>Dept of CSE, BUET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269704" y="6356350"/>
            <a:ext cx="2133600" cy="365125"/>
          </a:xfrm>
        </p:spPr>
        <p:txBody>
          <a:bodyPr/>
          <a:lstStyle/>
          <a:p>
            <a:fld id="{9610CB97-BFCA-4D72-8FC9-539B415ADACC}" type="slidenum">
              <a:rPr lang="en-US" smtClean="0">
                <a:latin typeface="Candara" pitchFamily="34" charset="0"/>
              </a:rPr>
              <a:pPr/>
              <a:t>41</a:t>
            </a:fld>
            <a:endParaRPr lang="en-US" dirty="0">
              <a:latin typeface="Candara" pitchFamily="34" charset="0"/>
            </a:endParaRPr>
          </a:p>
        </p:txBody>
      </p:sp>
      <p:graphicFrame>
        <p:nvGraphicFramePr>
          <p:cNvPr id="10" name="Content Placeholder 9"/>
          <p:cNvGraphicFramePr>
            <a:graphicFrameLocks noGrp="1"/>
          </p:cNvGraphicFramePr>
          <p:nvPr>
            <p:ph idx="1"/>
          </p:nvPr>
        </p:nvGraphicFramePr>
        <p:xfrm>
          <a:off x="1295400" y="1447800"/>
          <a:ext cx="6400800" cy="1427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308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Tree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Internal Nodes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Syntax Tree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Language Construct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Parse Tree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Non-terminals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2" name="Picture 11" descr="astgram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971800" y="3048000"/>
            <a:ext cx="3695700" cy="590550"/>
          </a:xfrm>
          <a:prstGeom prst="rect">
            <a:avLst/>
          </a:prstGeom>
        </p:spPr>
      </p:pic>
      <p:pic>
        <p:nvPicPr>
          <p:cNvPr id="13" name="Picture 12" descr="astex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736304" y="4000500"/>
            <a:ext cx="2590800" cy="17526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0A952389-E473-F66B-74A6-B998B9E2904F}"/>
              </a:ext>
            </a:extLst>
          </p:cNvPr>
          <p:cNvGrpSpPr/>
          <p:nvPr/>
        </p:nvGrpSpPr>
        <p:grpSpPr>
          <a:xfrm>
            <a:off x="990600" y="3869923"/>
            <a:ext cx="2636520" cy="2026920"/>
            <a:chOff x="5212080" y="3733800"/>
            <a:chExt cx="2636520" cy="2026920"/>
          </a:xfrm>
        </p:grpSpPr>
        <p:sp>
          <p:nvSpPr>
            <p:cNvPr id="14" name="Oval 13"/>
            <p:cNvSpPr/>
            <p:nvPr/>
          </p:nvSpPr>
          <p:spPr>
            <a:xfrm>
              <a:off x="6705600" y="3733800"/>
              <a:ext cx="274320" cy="27432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i="1" dirty="0">
                  <a:solidFill>
                    <a:schemeClr val="tx1"/>
                  </a:solidFill>
                </a:rPr>
                <a:t>E</a:t>
              </a:r>
              <a:endParaRPr lang="en-US" i="1" dirty="0">
                <a:solidFill>
                  <a:schemeClr val="tx1"/>
                </a:solidFill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5867400" y="4343400"/>
              <a:ext cx="274320" cy="27432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i="1" dirty="0">
                  <a:solidFill>
                    <a:schemeClr val="tx1"/>
                  </a:solidFill>
                </a:rPr>
                <a:t>E</a:t>
              </a:r>
              <a:endParaRPr lang="en-US" i="1" dirty="0">
                <a:solidFill>
                  <a:schemeClr val="tx1"/>
                </a:solidFill>
              </a:endParaRPr>
            </a:p>
          </p:txBody>
        </p:sp>
        <p:sp>
          <p:nvSpPr>
            <p:cNvPr id="16" name="Oval 15"/>
            <p:cNvSpPr/>
            <p:nvPr/>
          </p:nvSpPr>
          <p:spPr>
            <a:xfrm>
              <a:off x="7574280" y="4343400"/>
              <a:ext cx="274320" cy="27432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i="1" dirty="0">
                  <a:solidFill>
                    <a:schemeClr val="tx1"/>
                  </a:solidFill>
                </a:rPr>
                <a:t>E</a:t>
              </a:r>
              <a:endParaRPr lang="en-US" i="1" dirty="0">
                <a:solidFill>
                  <a:schemeClr val="tx1"/>
                </a:solidFill>
              </a:endParaRPr>
            </a:p>
          </p:txBody>
        </p:sp>
        <p:sp>
          <p:nvSpPr>
            <p:cNvPr id="17" name="Oval 16"/>
            <p:cNvSpPr/>
            <p:nvPr/>
          </p:nvSpPr>
          <p:spPr>
            <a:xfrm>
              <a:off x="7574280" y="4983480"/>
              <a:ext cx="274320" cy="27432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2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5212080" y="4907280"/>
              <a:ext cx="274320" cy="27432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i="1" dirty="0">
                  <a:solidFill>
                    <a:schemeClr val="tx1"/>
                  </a:solidFill>
                </a:rPr>
                <a:t>E</a:t>
              </a:r>
              <a:endParaRPr lang="en-US" i="1" dirty="0">
                <a:solidFill>
                  <a:schemeClr val="tx1"/>
                </a:solidFill>
              </a:endParaRPr>
            </a:p>
          </p:txBody>
        </p:sp>
        <p:sp>
          <p:nvSpPr>
            <p:cNvPr id="19" name="Oval 18"/>
            <p:cNvSpPr/>
            <p:nvPr/>
          </p:nvSpPr>
          <p:spPr>
            <a:xfrm>
              <a:off x="6736080" y="4373880"/>
              <a:ext cx="274320" cy="27432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+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0" name="Oval 19"/>
            <p:cNvSpPr/>
            <p:nvPr/>
          </p:nvSpPr>
          <p:spPr>
            <a:xfrm>
              <a:off x="6431280" y="4953000"/>
              <a:ext cx="274320" cy="27432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i="1" dirty="0">
                  <a:solidFill>
                    <a:schemeClr val="tx1"/>
                  </a:solidFill>
                </a:rPr>
                <a:t>E</a:t>
              </a:r>
              <a:endParaRPr lang="en-US" i="1" dirty="0">
                <a:solidFill>
                  <a:schemeClr val="tx1"/>
                </a:solidFill>
              </a:endParaRPr>
            </a:p>
          </p:txBody>
        </p:sp>
        <p:sp>
          <p:nvSpPr>
            <p:cNvPr id="21" name="Oval 20"/>
            <p:cNvSpPr/>
            <p:nvPr/>
          </p:nvSpPr>
          <p:spPr>
            <a:xfrm>
              <a:off x="5212080" y="5486400"/>
              <a:ext cx="274320" cy="27432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9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Oval 21"/>
            <p:cNvSpPr/>
            <p:nvPr/>
          </p:nvSpPr>
          <p:spPr>
            <a:xfrm>
              <a:off x="6431280" y="5486400"/>
              <a:ext cx="274320" cy="27432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5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4" name="Oval 23"/>
            <p:cNvSpPr/>
            <p:nvPr/>
          </p:nvSpPr>
          <p:spPr>
            <a:xfrm>
              <a:off x="5867400" y="4907280"/>
              <a:ext cx="274320" cy="27432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-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26" name="Straight Connector 25"/>
            <p:cNvCxnSpPr>
              <a:stCxn id="14" idx="3"/>
              <a:endCxn id="15" idx="7"/>
            </p:cNvCxnSpPr>
            <p:nvPr/>
          </p:nvCxnSpPr>
          <p:spPr>
            <a:xfrm rot="5400000">
              <a:off x="6215847" y="3853647"/>
              <a:ext cx="415626" cy="64422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>
              <a:stCxn id="14" idx="4"/>
              <a:endCxn id="19" idx="0"/>
            </p:cNvCxnSpPr>
            <p:nvPr/>
          </p:nvCxnSpPr>
          <p:spPr>
            <a:xfrm rot="16200000" flipH="1">
              <a:off x="6675120" y="4175760"/>
              <a:ext cx="365760" cy="3048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>
              <a:stCxn id="14" idx="5"/>
              <a:endCxn id="16" idx="1"/>
            </p:cNvCxnSpPr>
            <p:nvPr/>
          </p:nvCxnSpPr>
          <p:spPr>
            <a:xfrm rot="16200000" flipH="1">
              <a:off x="7069287" y="3838407"/>
              <a:ext cx="415626" cy="67470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>
              <a:stCxn id="18" idx="7"/>
              <a:endCxn id="15" idx="3"/>
            </p:cNvCxnSpPr>
            <p:nvPr/>
          </p:nvCxnSpPr>
          <p:spPr>
            <a:xfrm rot="5400000" flipH="1" flipV="1">
              <a:off x="5491947" y="4531827"/>
              <a:ext cx="369906" cy="46134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>
              <a:stCxn id="24" idx="0"/>
              <a:endCxn id="15" idx="4"/>
            </p:cNvCxnSpPr>
            <p:nvPr/>
          </p:nvCxnSpPr>
          <p:spPr>
            <a:xfrm rot="5400000" flipH="1" flipV="1">
              <a:off x="5859780" y="4762500"/>
              <a:ext cx="28956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>
              <a:stCxn id="20" idx="1"/>
              <a:endCxn id="15" idx="5"/>
            </p:cNvCxnSpPr>
            <p:nvPr/>
          </p:nvCxnSpPr>
          <p:spPr>
            <a:xfrm rot="16200000" flipV="1">
              <a:off x="6078687" y="4600407"/>
              <a:ext cx="415626" cy="36990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>
              <a:stCxn id="17" idx="0"/>
              <a:endCxn id="16" idx="4"/>
            </p:cNvCxnSpPr>
            <p:nvPr/>
          </p:nvCxnSpPr>
          <p:spPr>
            <a:xfrm rot="5400000" flipH="1" flipV="1">
              <a:off x="7528560" y="4800600"/>
              <a:ext cx="36576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>
              <a:stCxn id="21" idx="0"/>
              <a:endCxn id="18" idx="4"/>
            </p:cNvCxnSpPr>
            <p:nvPr/>
          </p:nvCxnSpPr>
          <p:spPr>
            <a:xfrm rot="5400000" flipH="1" flipV="1">
              <a:off x="5196840" y="5334000"/>
              <a:ext cx="3048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>
              <a:stCxn id="22" idx="0"/>
              <a:endCxn id="20" idx="4"/>
            </p:cNvCxnSpPr>
            <p:nvPr/>
          </p:nvCxnSpPr>
          <p:spPr>
            <a:xfrm rot="5400000" flipH="1" flipV="1">
              <a:off x="6438900" y="5356860"/>
              <a:ext cx="25908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TextBox 50"/>
          <p:cNvSpPr txBox="1"/>
          <p:nvPr/>
        </p:nvSpPr>
        <p:spPr>
          <a:xfrm>
            <a:off x="5830491" y="5965907"/>
            <a:ext cx="24048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ndara" pitchFamily="34" charset="0"/>
              </a:rPr>
              <a:t>Abstract Syntax tree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55744" y="5965907"/>
            <a:ext cx="22974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ndara" pitchFamily="34" charset="0"/>
              </a:rPr>
              <a:t>Parse tree for 9-5+2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81213BDD-9341-5CF0-3608-AD69E129D91E}"/>
              </a:ext>
            </a:extLst>
          </p:cNvPr>
          <p:cNvSpPr/>
          <p:nvPr/>
        </p:nvSpPr>
        <p:spPr>
          <a:xfrm>
            <a:off x="4288504" y="4876800"/>
            <a:ext cx="963315" cy="745723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52" grpId="0"/>
      <p:bldP spid="6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Candara" pitchFamily="34" charset="0"/>
              </a:rPr>
              <a:t>Construction of AST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Candara" pitchFamily="34" charset="0"/>
              </a:rPr>
              <a:t>Dept of CSE, BUET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>
                <a:latin typeface="Candara" pitchFamily="34" charset="0"/>
              </a:rPr>
              <a:pPr/>
              <a:t>42</a:t>
            </a:fld>
            <a:endParaRPr lang="en-US" dirty="0">
              <a:latin typeface="Candara" pitchFamily="34" charset="0"/>
            </a:endParaRPr>
          </a:p>
        </p:txBody>
      </p:sp>
      <p:pic>
        <p:nvPicPr>
          <p:cNvPr id="31" name="Content Placeholder 30" descr="astsdd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57200" y="2133601"/>
            <a:ext cx="8229600" cy="3505199"/>
          </a:xfrm>
        </p:spPr>
      </p:pic>
      <p:sp>
        <p:nvSpPr>
          <p:cNvPr id="32" name="TextBox 31"/>
          <p:cNvSpPr txBox="1"/>
          <p:nvPr/>
        </p:nvSpPr>
        <p:spPr>
          <a:xfrm>
            <a:off x="457200" y="1600200"/>
            <a:ext cx="63850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ndara" pitchFamily="34" charset="0"/>
              </a:rPr>
              <a:t>Example 1: AST construction in </a:t>
            </a:r>
            <a:r>
              <a:rPr lang="en-US" sz="2400" dirty="0">
                <a:solidFill>
                  <a:srgbClr val="C00000"/>
                </a:solidFill>
                <a:latin typeface="Candara" pitchFamily="34" charset="0"/>
              </a:rPr>
              <a:t>S-attributed SDD</a:t>
            </a:r>
          </a:p>
        </p:txBody>
      </p:sp>
      <p:sp>
        <p:nvSpPr>
          <p:cNvPr id="3" name="Rectangle 2"/>
          <p:cNvSpPr/>
          <p:nvPr/>
        </p:nvSpPr>
        <p:spPr>
          <a:xfrm>
            <a:off x="2590800" y="2971800"/>
            <a:ext cx="182880" cy="274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2590800" y="3429000"/>
            <a:ext cx="206326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 flipH="1">
            <a:off x="7543799" y="3002280"/>
            <a:ext cx="137160" cy="3036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 flipH="1">
            <a:off x="7559040" y="3430172"/>
            <a:ext cx="137160" cy="3036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754E1A-92AC-C30C-36F0-1A1AC24552F2}"/>
              </a:ext>
            </a:extLst>
          </p:cNvPr>
          <p:cNvSpPr/>
          <p:nvPr/>
        </p:nvSpPr>
        <p:spPr>
          <a:xfrm>
            <a:off x="3048000" y="2819400"/>
            <a:ext cx="5486400" cy="2590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800" dirty="0">
                <a:solidFill>
                  <a:srgbClr val="FF0000"/>
                </a:solidFill>
              </a:rPr>
              <a:t>?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438934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roup 85">
            <a:extLst>
              <a:ext uri="{FF2B5EF4-FFF2-40B4-BE49-F238E27FC236}">
                <a16:creationId xmlns:a16="http://schemas.microsoft.com/office/drawing/2014/main" id="{B4E96384-5DF0-437F-8BE3-EB5B9DDD43FD}"/>
              </a:ext>
            </a:extLst>
          </p:cNvPr>
          <p:cNvGrpSpPr/>
          <p:nvPr/>
        </p:nvGrpSpPr>
        <p:grpSpPr>
          <a:xfrm>
            <a:off x="3526517" y="867777"/>
            <a:ext cx="2669359" cy="381000"/>
            <a:chOff x="5334000" y="1981200"/>
            <a:chExt cx="2669359" cy="38100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9BC03A32-FE1C-4604-B607-9EE12E427B16}"/>
                </a:ext>
              </a:extLst>
            </p:cNvPr>
            <p:cNvSpPr/>
            <p:nvPr/>
          </p:nvSpPr>
          <p:spPr>
            <a:xfrm>
              <a:off x="5334000" y="1981200"/>
              <a:ext cx="381000" cy="38100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3F6233CD-8323-425C-0682-112BDE5CC73A}"/>
                </a:ext>
              </a:extLst>
            </p:cNvPr>
            <p:cNvSpPr/>
            <p:nvPr/>
          </p:nvSpPr>
          <p:spPr>
            <a:xfrm>
              <a:off x="6479359" y="1981200"/>
              <a:ext cx="381000" cy="38100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+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FCDC052-2E24-0CD7-4169-79A3F6AF4152}"/>
                </a:ext>
              </a:extLst>
            </p:cNvPr>
            <p:cNvSpPr/>
            <p:nvPr/>
          </p:nvSpPr>
          <p:spPr>
            <a:xfrm>
              <a:off x="7622359" y="1981200"/>
              <a:ext cx="381000" cy="38100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T</a:t>
              </a:r>
            </a:p>
          </p:txBody>
        </p:sp>
      </p:grpSp>
      <p:sp>
        <p:nvSpPr>
          <p:cNvPr id="30" name="Oval 29">
            <a:extLst>
              <a:ext uri="{FF2B5EF4-FFF2-40B4-BE49-F238E27FC236}">
                <a16:creationId xmlns:a16="http://schemas.microsoft.com/office/drawing/2014/main" id="{EEE70982-B9D5-7956-9E18-12A186F380B7}"/>
              </a:ext>
            </a:extLst>
          </p:cNvPr>
          <p:cNvSpPr/>
          <p:nvPr/>
        </p:nvSpPr>
        <p:spPr>
          <a:xfrm>
            <a:off x="2892765" y="2199360"/>
            <a:ext cx="3810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2B23F0C-6318-CE44-A1A9-6BBD744A82DA}"/>
              </a:ext>
            </a:extLst>
          </p:cNvPr>
          <p:cNvSpPr/>
          <p:nvPr/>
        </p:nvSpPr>
        <p:spPr>
          <a:xfrm>
            <a:off x="3450748" y="2162562"/>
            <a:ext cx="3810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-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DADEA01-0F25-9736-08DA-1AAA8E2555C2}"/>
              </a:ext>
            </a:extLst>
          </p:cNvPr>
          <p:cNvSpPr/>
          <p:nvPr/>
        </p:nvSpPr>
        <p:spPr>
          <a:xfrm>
            <a:off x="4534114" y="2163229"/>
            <a:ext cx="3810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90180B9-2F7C-AED1-D3DD-1E784D370600}"/>
              </a:ext>
            </a:extLst>
          </p:cNvPr>
          <p:cNvSpPr/>
          <p:nvPr/>
        </p:nvSpPr>
        <p:spPr>
          <a:xfrm>
            <a:off x="4671876" y="152400"/>
            <a:ext cx="3810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414A0CF-1ADB-D282-9771-A49671582BE5}"/>
              </a:ext>
            </a:extLst>
          </p:cNvPr>
          <p:cNvCxnSpPr>
            <a:cxnSpLocks/>
          </p:cNvCxnSpPr>
          <p:nvPr/>
        </p:nvCxnSpPr>
        <p:spPr>
          <a:xfrm flipH="1">
            <a:off x="3845831" y="524774"/>
            <a:ext cx="875951" cy="3989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837ABA7-432F-64AD-708C-63D36CFE5D04}"/>
              </a:ext>
            </a:extLst>
          </p:cNvPr>
          <p:cNvCxnSpPr>
            <a:cxnSpLocks/>
          </p:cNvCxnSpPr>
          <p:nvPr/>
        </p:nvCxnSpPr>
        <p:spPr>
          <a:xfrm flipV="1">
            <a:off x="4856709" y="580570"/>
            <a:ext cx="0" cy="2873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E8080B0-A873-912D-7491-37A8D516EBA3}"/>
              </a:ext>
            </a:extLst>
          </p:cNvPr>
          <p:cNvCxnSpPr>
            <a:cxnSpLocks/>
          </p:cNvCxnSpPr>
          <p:nvPr/>
        </p:nvCxnSpPr>
        <p:spPr>
          <a:xfrm>
            <a:off x="4991413" y="524775"/>
            <a:ext cx="873592" cy="3989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583B936-B2A6-DDD6-5F19-20FD662FB023}"/>
              </a:ext>
            </a:extLst>
          </p:cNvPr>
          <p:cNvCxnSpPr>
            <a:cxnSpLocks/>
            <a:endCxn id="30" idx="0"/>
          </p:cNvCxnSpPr>
          <p:nvPr/>
        </p:nvCxnSpPr>
        <p:spPr>
          <a:xfrm flipH="1">
            <a:off x="3083265" y="1194314"/>
            <a:ext cx="496213" cy="10050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0AFB704-FC87-5CCB-757D-47B58100B9E1}"/>
              </a:ext>
            </a:extLst>
          </p:cNvPr>
          <p:cNvCxnSpPr>
            <a:cxnSpLocks/>
          </p:cNvCxnSpPr>
          <p:nvPr/>
        </p:nvCxnSpPr>
        <p:spPr>
          <a:xfrm flipV="1">
            <a:off x="3640340" y="1250110"/>
            <a:ext cx="73841" cy="9144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ADB7A9A1-5175-65C2-0B6C-392FF1013F25}"/>
              </a:ext>
            </a:extLst>
          </p:cNvPr>
          <p:cNvCxnSpPr>
            <a:cxnSpLocks/>
            <a:stCxn id="32" idx="1"/>
          </p:cNvCxnSpPr>
          <p:nvPr/>
        </p:nvCxnSpPr>
        <p:spPr>
          <a:xfrm flipH="1" flipV="1">
            <a:off x="3848886" y="1192981"/>
            <a:ext cx="741024" cy="10260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63">
            <a:extLst>
              <a:ext uri="{FF2B5EF4-FFF2-40B4-BE49-F238E27FC236}">
                <a16:creationId xmlns:a16="http://schemas.microsoft.com/office/drawing/2014/main" id="{09A5ED45-5059-F28F-A82F-6500215E6B1B}"/>
              </a:ext>
            </a:extLst>
          </p:cNvPr>
          <p:cNvSpPr/>
          <p:nvPr/>
        </p:nvSpPr>
        <p:spPr>
          <a:xfrm>
            <a:off x="2824690" y="3472934"/>
            <a:ext cx="604310" cy="36933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id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F50146AD-91FC-D867-9500-9F9E83CEA3A3}"/>
              </a:ext>
            </a:extLst>
          </p:cNvPr>
          <p:cNvSpPr/>
          <p:nvPr/>
        </p:nvSpPr>
        <p:spPr>
          <a:xfrm>
            <a:off x="2895600" y="2807942"/>
            <a:ext cx="3810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8DE22B43-A903-E808-FB7F-993D3D3D7697}"/>
              </a:ext>
            </a:extLst>
          </p:cNvPr>
          <p:cNvCxnSpPr>
            <a:cxnSpLocks/>
            <a:stCxn id="64" idx="0"/>
          </p:cNvCxnSpPr>
          <p:nvPr/>
        </p:nvCxnSpPr>
        <p:spPr>
          <a:xfrm flipH="1" flipV="1">
            <a:off x="3086100" y="3191474"/>
            <a:ext cx="40745" cy="2814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E69E3E08-933F-C52C-F88A-F6D41F4168CB}"/>
              </a:ext>
            </a:extLst>
          </p:cNvPr>
          <p:cNvCxnSpPr>
            <a:cxnSpLocks/>
            <a:stCxn id="30" idx="4"/>
            <a:endCxn id="71" idx="0"/>
          </p:cNvCxnSpPr>
          <p:nvPr/>
        </p:nvCxnSpPr>
        <p:spPr>
          <a:xfrm>
            <a:off x="3083265" y="2580360"/>
            <a:ext cx="2835" cy="2275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Oval 145">
            <a:extLst>
              <a:ext uri="{FF2B5EF4-FFF2-40B4-BE49-F238E27FC236}">
                <a16:creationId xmlns:a16="http://schemas.microsoft.com/office/drawing/2014/main" id="{E984406F-43A8-344E-3269-58F1B13899DA}"/>
              </a:ext>
            </a:extLst>
          </p:cNvPr>
          <p:cNvSpPr/>
          <p:nvPr/>
        </p:nvSpPr>
        <p:spPr>
          <a:xfrm>
            <a:off x="4140835" y="2773144"/>
            <a:ext cx="1216841" cy="48351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num</a:t>
            </a:r>
          </a:p>
        </p:txBody>
      </p: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176326ED-9633-B18E-E070-A78D51B88C11}"/>
              </a:ext>
            </a:extLst>
          </p:cNvPr>
          <p:cNvCxnSpPr>
            <a:cxnSpLocks/>
          </p:cNvCxnSpPr>
          <p:nvPr/>
        </p:nvCxnSpPr>
        <p:spPr>
          <a:xfrm>
            <a:off x="4731281" y="2544229"/>
            <a:ext cx="24642" cy="2289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Oval 149">
            <a:extLst>
              <a:ext uri="{FF2B5EF4-FFF2-40B4-BE49-F238E27FC236}">
                <a16:creationId xmlns:a16="http://schemas.microsoft.com/office/drawing/2014/main" id="{5A6E3242-DED6-BAC3-BFD7-B739BF86C915}"/>
              </a:ext>
            </a:extLst>
          </p:cNvPr>
          <p:cNvSpPr>
            <a:spLocks/>
          </p:cNvSpPr>
          <p:nvPr/>
        </p:nvSpPr>
        <p:spPr>
          <a:xfrm>
            <a:off x="6553200" y="1535668"/>
            <a:ext cx="685800" cy="36933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A91BBC00-0F2C-AC0B-E844-65B1B5B14184}"/>
              </a:ext>
            </a:extLst>
          </p:cNvPr>
          <p:cNvCxnSpPr>
            <a:cxnSpLocks/>
            <a:stCxn id="29" idx="4"/>
            <a:endCxn id="150" idx="0"/>
          </p:cNvCxnSpPr>
          <p:nvPr/>
        </p:nvCxnSpPr>
        <p:spPr>
          <a:xfrm>
            <a:off x="6005376" y="1248777"/>
            <a:ext cx="890724" cy="2868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3" name="TextBox 332">
            <a:extLst>
              <a:ext uri="{FF2B5EF4-FFF2-40B4-BE49-F238E27FC236}">
                <a16:creationId xmlns:a16="http://schemas.microsoft.com/office/drawing/2014/main" id="{BF4C15F4-EEC8-7B4F-0151-84D1E8901B49}"/>
              </a:ext>
            </a:extLst>
          </p:cNvPr>
          <p:cNvSpPr txBox="1"/>
          <p:nvPr/>
        </p:nvSpPr>
        <p:spPr>
          <a:xfrm>
            <a:off x="6400800" y="1066800"/>
            <a:ext cx="761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343" name="TextBox 342">
            <a:extLst>
              <a:ext uri="{FF2B5EF4-FFF2-40B4-BE49-F238E27FC236}">
                <a16:creationId xmlns:a16="http://schemas.microsoft.com/office/drawing/2014/main" id="{487E46C7-642C-3DF7-6409-A879F5C46FEA}"/>
              </a:ext>
            </a:extLst>
          </p:cNvPr>
          <p:cNvSpPr txBox="1"/>
          <p:nvPr/>
        </p:nvSpPr>
        <p:spPr>
          <a:xfrm>
            <a:off x="4572000" y="2479802"/>
            <a:ext cx="749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344" name="TextBox 343">
            <a:extLst>
              <a:ext uri="{FF2B5EF4-FFF2-40B4-BE49-F238E27FC236}">
                <a16:creationId xmlns:a16="http://schemas.microsoft.com/office/drawing/2014/main" id="{47FD3720-4B70-7E07-36A3-688DD7B0074F}"/>
              </a:ext>
            </a:extLst>
          </p:cNvPr>
          <p:cNvSpPr txBox="1"/>
          <p:nvPr/>
        </p:nvSpPr>
        <p:spPr>
          <a:xfrm>
            <a:off x="0" y="0"/>
            <a:ext cx="41935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Construct syntax tree for: a-4+c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E96B131-51A4-070D-1F03-AEE8BC9CCEB1}"/>
              </a:ext>
            </a:extLst>
          </p:cNvPr>
          <p:cNvGrpSpPr/>
          <p:nvPr/>
        </p:nvGrpSpPr>
        <p:grpSpPr>
          <a:xfrm>
            <a:off x="2081424" y="6019800"/>
            <a:ext cx="1602783" cy="871954"/>
            <a:chOff x="3957458" y="5410200"/>
            <a:chExt cx="1602783" cy="871954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FE7E161E-0BE1-7F7C-C8E4-E8518E995A08}"/>
                </a:ext>
              </a:extLst>
            </p:cNvPr>
            <p:cNvSpPr txBox="1"/>
            <p:nvPr/>
          </p:nvSpPr>
          <p:spPr>
            <a:xfrm>
              <a:off x="4120090" y="5410200"/>
              <a:ext cx="451687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id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F8D5330-F0CA-3AD0-050C-8700DA2D206C}"/>
                </a:ext>
              </a:extLst>
            </p:cNvPr>
            <p:cNvSpPr txBox="1"/>
            <p:nvPr/>
          </p:nvSpPr>
          <p:spPr>
            <a:xfrm>
              <a:off x="4572000" y="5410200"/>
              <a:ext cx="451687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5C82756-18EF-785D-8C59-F9E5E322F8D9}"/>
                </a:ext>
              </a:extLst>
            </p:cNvPr>
            <p:cNvSpPr txBox="1"/>
            <p:nvPr/>
          </p:nvSpPr>
          <p:spPr>
            <a:xfrm>
              <a:off x="3957458" y="5943600"/>
              <a:ext cx="16027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to entry for a</a:t>
              </a: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1A1CE239-0222-D538-15B3-F6DB7F9AEB98}"/>
                </a:ext>
              </a:extLst>
            </p:cNvPr>
            <p:cNvCxnSpPr>
              <a:cxnSpLocks/>
            </p:cNvCxnSpPr>
            <p:nvPr/>
          </p:nvCxnSpPr>
          <p:spPr>
            <a:xfrm>
              <a:off x="4800599" y="5524500"/>
              <a:ext cx="1" cy="419100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5D16E1F-5100-27B3-12D2-C6AC09D21615}"/>
              </a:ext>
            </a:extLst>
          </p:cNvPr>
          <p:cNvGrpSpPr/>
          <p:nvPr/>
        </p:nvGrpSpPr>
        <p:grpSpPr>
          <a:xfrm>
            <a:off x="4524766" y="5802868"/>
            <a:ext cx="1067372" cy="369332"/>
            <a:chOff x="5866828" y="5412575"/>
            <a:chExt cx="1067372" cy="369332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E1D824E-EC29-AD26-A2BB-BABF7C167A79}"/>
                </a:ext>
              </a:extLst>
            </p:cNvPr>
            <p:cNvSpPr txBox="1"/>
            <p:nvPr/>
          </p:nvSpPr>
          <p:spPr>
            <a:xfrm>
              <a:off x="5866828" y="5412575"/>
              <a:ext cx="614892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num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B0F88E0-91E6-EE5F-1F95-BED7606ECA26}"/>
                </a:ext>
              </a:extLst>
            </p:cNvPr>
            <p:cNvSpPr txBox="1"/>
            <p:nvPr/>
          </p:nvSpPr>
          <p:spPr>
            <a:xfrm>
              <a:off x="6474310" y="5412575"/>
              <a:ext cx="459890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4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EA5DAB5-8D06-B284-9A8C-14E59D9A7283}"/>
              </a:ext>
            </a:extLst>
          </p:cNvPr>
          <p:cNvGrpSpPr/>
          <p:nvPr/>
        </p:nvGrpSpPr>
        <p:grpSpPr>
          <a:xfrm>
            <a:off x="5820166" y="4843046"/>
            <a:ext cx="1602783" cy="871954"/>
            <a:chOff x="3957458" y="5410200"/>
            <a:chExt cx="1602783" cy="871954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C28F1F9C-297B-7633-11CE-5306F6447F86}"/>
                </a:ext>
              </a:extLst>
            </p:cNvPr>
            <p:cNvSpPr txBox="1"/>
            <p:nvPr/>
          </p:nvSpPr>
          <p:spPr>
            <a:xfrm>
              <a:off x="4120090" y="5410200"/>
              <a:ext cx="451687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id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27A306F4-5A98-C93C-01E0-90E374D9CC74}"/>
                </a:ext>
              </a:extLst>
            </p:cNvPr>
            <p:cNvSpPr txBox="1"/>
            <p:nvPr/>
          </p:nvSpPr>
          <p:spPr>
            <a:xfrm>
              <a:off x="4572000" y="5410200"/>
              <a:ext cx="451687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B1829B2B-1C55-63C3-CC5F-89D4B1EC0F1E}"/>
                </a:ext>
              </a:extLst>
            </p:cNvPr>
            <p:cNvSpPr txBox="1"/>
            <p:nvPr/>
          </p:nvSpPr>
          <p:spPr>
            <a:xfrm>
              <a:off x="3957458" y="5943600"/>
              <a:ext cx="16027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to entry for c</a:t>
              </a:r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B2502522-86AD-D328-5F1D-831DFC258A7D}"/>
                </a:ext>
              </a:extLst>
            </p:cNvPr>
            <p:cNvCxnSpPr>
              <a:cxnSpLocks/>
            </p:cNvCxnSpPr>
            <p:nvPr/>
          </p:nvCxnSpPr>
          <p:spPr>
            <a:xfrm>
              <a:off x="4800599" y="5524500"/>
              <a:ext cx="1" cy="419100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E6E64AC-2384-CD71-2C7E-E3CD4A5DB0C9}"/>
              </a:ext>
            </a:extLst>
          </p:cNvPr>
          <p:cNvGrpSpPr/>
          <p:nvPr/>
        </p:nvGrpSpPr>
        <p:grpSpPr>
          <a:xfrm>
            <a:off x="2772166" y="4964668"/>
            <a:ext cx="1352000" cy="369332"/>
            <a:chOff x="776083" y="4724400"/>
            <a:chExt cx="1352000" cy="36933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A2301F2-9F88-6263-B9DF-2ACCF33E3978}"/>
                </a:ext>
              </a:extLst>
            </p:cNvPr>
            <p:cNvSpPr txBox="1"/>
            <p:nvPr/>
          </p:nvSpPr>
          <p:spPr>
            <a:xfrm>
              <a:off x="776083" y="4724400"/>
              <a:ext cx="451683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-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3402B577-C6C9-1225-0F43-4904462E00F3}"/>
                </a:ext>
              </a:extLst>
            </p:cNvPr>
            <p:cNvSpPr txBox="1"/>
            <p:nvPr/>
          </p:nvSpPr>
          <p:spPr>
            <a:xfrm>
              <a:off x="1676400" y="4724400"/>
              <a:ext cx="451683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CFF495E2-FC59-50C1-4451-086A546491A8}"/>
                </a:ext>
              </a:extLst>
            </p:cNvPr>
            <p:cNvSpPr txBox="1"/>
            <p:nvPr/>
          </p:nvSpPr>
          <p:spPr>
            <a:xfrm>
              <a:off x="1219200" y="4724400"/>
              <a:ext cx="451683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dirty="0"/>
            </a:p>
          </p:txBody>
        </p: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BE6209D-3345-8E76-8EBC-E3BF6D76108A}"/>
              </a:ext>
            </a:extLst>
          </p:cNvPr>
          <p:cNvCxnSpPr/>
          <p:nvPr/>
        </p:nvCxnSpPr>
        <p:spPr>
          <a:xfrm flipH="1">
            <a:off x="2725511" y="5149334"/>
            <a:ext cx="715613" cy="870466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39673A0A-228D-C68C-1027-E2C505DD107B}"/>
              </a:ext>
            </a:extLst>
          </p:cNvPr>
          <p:cNvCxnSpPr>
            <a:cxnSpLocks/>
          </p:cNvCxnSpPr>
          <p:nvPr/>
        </p:nvCxnSpPr>
        <p:spPr>
          <a:xfrm>
            <a:off x="3917525" y="5161659"/>
            <a:ext cx="1214723" cy="633887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" name="Group 69">
            <a:extLst>
              <a:ext uri="{FF2B5EF4-FFF2-40B4-BE49-F238E27FC236}">
                <a16:creationId xmlns:a16="http://schemas.microsoft.com/office/drawing/2014/main" id="{D95A2940-2577-777E-6A1C-E318CA3A0C76}"/>
              </a:ext>
            </a:extLst>
          </p:cNvPr>
          <p:cNvGrpSpPr/>
          <p:nvPr/>
        </p:nvGrpSpPr>
        <p:grpSpPr>
          <a:xfrm>
            <a:off x="4315766" y="3974068"/>
            <a:ext cx="1352000" cy="369332"/>
            <a:chOff x="776083" y="4724400"/>
            <a:chExt cx="1352000" cy="369332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19CC617D-84D8-5E95-D3BA-CFFE14DBB09D}"/>
                </a:ext>
              </a:extLst>
            </p:cNvPr>
            <p:cNvSpPr txBox="1"/>
            <p:nvPr/>
          </p:nvSpPr>
          <p:spPr>
            <a:xfrm>
              <a:off x="776083" y="4724400"/>
              <a:ext cx="451683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+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F6A768C3-70AD-B7DE-0AE2-BC1A54486E9B}"/>
                </a:ext>
              </a:extLst>
            </p:cNvPr>
            <p:cNvSpPr txBox="1"/>
            <p:nvPr/>
          </p:nvSpPr>
          <p:spPr>
            <a:xfrm>
              <a:off x="1676400" y="4724400"/>
              <a:ext cx="451683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A71A429B-16EE-C880-4CB3-B6BA062B619D}"/>
                </a:ext>
              </a:extLst>
            </p:cNvPr>
            <p:cNvSpPr txBox="1"/>
            <p:nvPr/>
          </p:nvSpPr>
          <p:spPr>
            <a:xfrm>
              <a:off x="1219200" y="4724400"/>
              <a:ext cx="451683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dirty="0"/>
            </a:p>
          </p:txBody>
        </p:sp>
      </p:grp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FCA750B4-26EF-88B5-0A40-086F6BCED355}"/>
              </a:ext>
            </a:extLst>
          </p:cNvPr>
          <p:cNvCxnSpPr>
            <a:cxnSpLocks/>
            <a:endCxn id="63" idx="0"/>
          </p:cNvCxnSpPr>
          <p:nvPr/>
        </p:nvCxnSpPr>
        <p:spPr>
          <a:xfrm flipH="1">
            <a:off x="3441125" y="4147066"/>
            <a:ext cx="1494454" cy="817602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C5CF627D-F4F6-DD1A-D6F8-7BEE6C2BE7CF}"/>
              </a:ext>
            </a:extLst>
          </p:cNvPr>
          <p:cNvCxnSpPr>
            <a:cxnSpLocks/>
          </p:cNvCxnSpPr>
          <p:nvPr/>
        </p:nvCxnSpPr>
        <p:spPr>
          <a:xfrm>
            <a:off x="5411980" y="4159391"/>
            <a:ext cx="1017786" cy="683655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E7B95088-1843-995E-793B-4CAC6DC178BD}"/>
              </a:ext>
            </a:extLst>
          </p:cNvPr>
          <p:cNvSpPr txBox="1"/>
          <p:nvPr/>
        </p:nvSpPr>
        <p:spPr>
          <a:xfrm>
            <a:off x="0" y="2819114"/>
            <a:ext cx="3229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70C0"/>
                </a:solidFill>
              </a:rPr>
              <a:t>T.</a:t>
            </a:r>
            <a:r>
              <a:rPr lang="en-US" i="1" dirty="0" err="1">
                <a:solidFill>
                  <a:srgbClr val="0070C0"/>
                </a:solidFill>
              </a:rPr>
              <a:t>node</a:t>
            </a:r>
            <a:r>
              <a:rPr lang="en-US" i="1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= </a:t>
            </a:r>
            <a:r>
              <a:rPr lang="en-US" b="1" dirty="0">
                <a:solidFill>
                  <a:srgbClr val="0070C0"/>
                </a:solidFill>
              </a:rPr>
              <a:t>new </a:t>
            </a:r>
            <a:r>
              <a:rPr lang="en-US" i="1" dirty="0">
                <a:solidFill>
                  <a:srgbClr val="0070C0"/>
                </a:solidFill>
              </a:rPr>
              <a:t>Leaf</a:t>
            </a:r>
            <a:r>
              <a:rPr lang="en-US" b="1" dirty="0">
                <a:solidFill>
                  <a:srgbClr val="0070C0"/>
                </a:solidFill>
              </a:rPr>
              <a:t> (id, </a:t>
            </a:r>
            <a:r>
              <a:rPr lang="en-US" b="1" dirty="0" err="1">
                <a:solidFill>
                  <a:srgbClr val="0070C0"/>
                </a:solidFill>
              </a:rPr>
              <a:t>id.</a:t>
            </a:r>
            <a:r>
              <a:rPr lang="en-US" i="1" dirty="0" err="1">
                <a:solidFill>
                  <a:srgbClr val="0070C0"/>
                </a:solidFill>
              </a:rPr>
              <a:t>entry</a:t>
            </a:r>
            <a:r>
              <a:rPr lang="en-US" b="1" dirty="0">
                <a:solidFill>
                  <a:srgbClr val="0070C0"/>
                </a:solidFill>
              </a:rPr>
              <a:t>)</a:t>
            </a:r>
            <a:endParaRPr lang="en-US" i="1" dirty="0">
              <a:solidFill>
                <a:srgbClr val="0070C0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8C939D5-777F-14C5-197B-912FBC8ADD72}"/>
              </a:ext>
            </a:extLst>
          </p:cNvPr>
          <p:cNvSpPr txBox="1"/>
          <p:nvPr/>
        </p:nvSpPr>
        <p:spPr>
          <a:xfrm>
            <a:off x="1201950" y="2221468"/>
            <a:ext cx="169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70C0"/>
                </a:solidFill>
              </a:rPr>
              <a:t>E.</a:t>
            </a:r>
            <a:r>
              <a:rPr lang="en-US" i="1" dirty="0" err="1">
                <a:solidFill>
                  <a:srgbClr val="0070C0"/>
                </a:solidFill>
              </a:rPr>
              <a:t>node</a:t>
            </a:r>
            <a:r>
              <a:rPr lang="en-US" i="1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= </a:t>
            </a:r>
            <a:r>
              <a:rPr lang="en-US" dirty="0" err="1">
                <a:solidFill>
                  <a:srgbClr val="0070C0"/>
                </a:solidFill>
              </a:rPr>
              <a:t>T.</a:t>
            </a:r>
            <a:r>
              <a:rPr lang="en-US" i="1" dirty="0" err="1">
                <a:solidFill>
                  <a:srgbClr val="0070C0"/>
                </a:solidFill>
              </a:rPr>
              <a:t>node</a:t>
            </a:r>
            <a:endParaRPr lang="en-US" i="1" dirty="0">
              <a:solidFill>
                <a:srgbClr val="0070C0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3251524B-F807-C84D-5B45-CA1BDB14B6A5}"/>
              </a:ext>
            </a:extLst>
          </p:cNvPr>
          <p:cNvSpPr txBox="1"/>
          <p:nvPr/>
        </p:nvSpPr>
        <p:spPr>
          <a:xfrm>
            <a:off x="5270" y="609600"/>
            <a:ext cx="3957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70C0"/>
                </a:solidFill>
              </a:rPr>
              <a:t>E.</a:t>
            </a:r>
            <a:r>
              <a:rPr lang="en-US" i="1" dirty="0" err="1">
                <a:solidFill>
                  <a:srgbClr val="0070C0"/>
                </a:solidFill>
              </a:rPr>
              <a:t>node</a:t>
            </a:r>
            <a:r>
              <a:rPr lang="en-US" i="1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= new </a:t>
            </a:r>
            <a:r>
              <a:rPr lang="en-US" i="1" dirty="0">
                <a:solidFill>
                  <a:srgbClr val="0070C0"/>
                </a:solidFill>
              </a:rPr>
              <a:t>Node</a:t>
            </a:r>
            <a:r>
              <a:rPr lang="en-US" dirty="0">
                <a:solidFill>
                  <a:srgbClr val="0070C0"/>
                </a:solidFill>
              </a:rPr>
              <a:t> (‘-’, E</a:t>
            </a:r>
            <a:r>
              <a:rPr lang="en-US" baseline="-25000" dirty="0">
                <a:solidFill>
                  <a:srgbClr val="0070C0"/>
                </a:solidFill>
              </a:rPr>
              <a:t>1</a:t>
            </a:r>
            <a:r>
              <a:rPr lang="en-US" dirty="0">
                <a:solidFill>
                  <a:srgbClr val="0070C0"/>
                </a:solidFill>
              </a:rPr>
              <a:t>.</a:t>
            </a:r>
            <a:r>
              <a:rPr lang="en-US" i="1" dirty="0">
                <a:solidFill>
                  <a:srgbClr val="0070C0"/>
                </a:solidFill>
              </a:rPr>
              <a:t>node</a:t>
            </a:r>
            <a:r>
              <a:rPr lang="en-US" dirty="0">
                <a:solidFill>
                  <a:srgbClr val="0070C0"/>
                </a:solidFill>
              </a:rPr>
              <a:t>, </a:t>
            </a:r>
            <a:r>
              <a:rPr lang="en-US" dirty="0" err="1">
                <a:solidFill>
                  <a:srgbClr val="0070C0"/>
                </a:solidFill>
              </a:rPr>
              <a:t>T.</a:t>
            </a:r>
            <a:r>
              <a:rPr lang="en-US" i="1" dirty="0" err="1">
                <a:solidFill>
                  <a:srgbClr val="0070C0"/>
                </a:solidFill>
              </a:rPr>
              <a:t>node</a:t>
            </a:r>
            <a:r>
              <a:rPr lang="en-US" dirty="0">
                <a:solidFill>
                  <a:srgbClr val="0070C0"/>
                </a:solidFill>
              </a:rPr>
              <a:t>)</a:t>
            </a:r>
            <a:r>
              <a:rPr lang="en-US" i="1" dirty="0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DF0925A5-6A94-802F-7BDF-9EE04819EAAE}"/>
              </a:ext>
            </a:extLst>
          </p:cNvPr>
          <p:cNvSpPr txBox="1"/>
          <p:nvPr/>
        </p:nvSpPr>
        <p:spPr>
          <a:xfrm>
            <a:off x="6051350" y="773668"/>
            <a:ext cx="3229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70C0"/>
                </a:solidFill>
              </a:rPr>
              <a:t>T.</a:t>
            </a:r>
            <a:r>
              <a:rPr lang="en-US" i="1" dirty="0" err="1">
                <a:solidFill>
                  <a:srgbClr val="0070C0"/>
                </a:solidFill>
              </a:rPr>
              <a:t>node</a:t>
            </a:r>
            <a:r>
              <a:rPr lang="en-US" i="1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= </a:t>
            </a:r>
            <a:r>
              <a:rPr lang="en-US" b="1" dirty="0">
                <a:solidFill>
                  <a:srgbClr val="0070C0"/>
                </a:solidFill>
              </a:rPr>
              <a:t>new </a:t>
            </a:r>
            <a:r>
              <a:rPr lang="en-US" i="1" dirty="0">
                <a:solidFill>
                  <a:srgbClr val="0070C0"/>
                </a:solidFill>
              </a:rPr>
              <a:t>Leaf</a:t>
            </a:r>
            <a:r>
              <a:rPr lang="en-US" b="1" dirty="0">
                <a:solidFill>
                  <a:srgbClr val="0070C0"/>
                </a:solidFill>
              </a:rPr>
              <a:t> (id, </a:t>
            </a:r>
            <a:r>
              <a:rPr lang="en-US" b="1" dirty="0" err="1">
                <a:solidFill>
                  <a:srgbClr val="0070C0"/>
                </a:solidFill>
              </a:rPr>
              <a:t>id.</a:t>
            </a:r>
            <a:r>
              <a:rPr lang="en-US" i="1" dirty="0" err="1">
                <a:solidFill>
                  <a:srgbClr val="0070C0"/>
                </a:solidFill>
              </a:rPr>
              <a:t>entry</a:t>
            </a:r>
            <a:r>
              <a:rPr lang="en-US" b="1" dirty="0">
                <a:solidFill>
                  <a:srgbClr val="0070C0"/>
                </a:solidFill>
              </a:rPr>
              <a:t>)</a:t>
            </a:r>
            <a:endParaRPr lang="en-US" i="1" dirty="0">
              <a:solidFill>
                <a:srgbClr val="0070C0"/>
              </a:solidFill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D473B0BF-1F30-E5F0-12AC-9929962B4226}"/>
              </a:ext>
            </a:extLst>
          </p:cNvPr>
          <p:cNvSpPr txBox="1"/>
          <p:nvPr/>
        </p:nvSpPr>
        <p:spPr>
          <a:xfrm>
            <a:off x="2338238" y="3135868"/>
            <a:ext cx="1166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65B2D702-660F-DCA5-02C3-AEB43E51E3DC}"/>
              </a:ext>
            </a:extLst>
          </p:cNvPr>
          <p:cNvSpPr txBox="1"/>
          <p:nvPr/>
        </p:nvSpPr>
        <p:spPr>
          <a:xfrm>
            <a:off x="5110670" y="164068"/>
            <a:ext cx="3957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70C0"/>
                </a:solidFill>
              </a:rPr>
              <a:t>E.</a:t>
            </a:r>
            <a:r>
              <a:rPr lang="en-US" i="1" dirty="0" err="1">
                <a:solidFill>
                  <a:srgbClr val="0070C0"/>
                </a:solidFill>
              </a:rPr>
              <a:t>node</a:t>
            </a:r>
            <a:r>
              <a:rPr lang="en-US" i="1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= new </a:t>
            </a:r>
            <a:r>
              <a:rPr lang="en-US" i="1" dirty="0">
                <a:solidFill>
                  <a:srgbClr val="0070C0"/>
                </a:solidFill>
              </a:rPr>
              <a:t>Node</a:t>
            </a:r>
            <a:r>
              <a:rPr lang="en-US" dirty="0">
                <a:solidFill>
                  <a:srgbClr val="0070C0"/>
                </a:solidFill>
              </a:rPr>
              <a:t> (‘+’, E</a:t>
            </a:r>
            <a:r>
              <a:rPr lang="en-US" baseline="-25000" dirty="0">
                <a:solidFill>
                  <a:srgbClr val="0070C0"/>
                </a:solidFill>
              </a:rPr>
              <a:t>1</a:t>
            </a:r>
            <a:r>
              <a:rPr lang="en-US" dirty="0">
                <a:solidFill>
                  <a:srgbClr val="0070C0"/>
                </a:solidFill>
              </a:rPr>
              <a:t>.</a:t>
            </a:r>
            <a:r>
              <a:rPr lang="en-US" i="1" dirty="0">
                <a:solidFill>
                  <a:srgbClr val="0070C0"/>
                </a:solidFill>
              </a:rPr>
              <a:t>node</a:t>
            </a:r>
            <a:r>
              <a:rPr lang="en-US" dirty="0">
                <a:solidFill>
                  <a:srgbClr val="0070C0"/>
                </a:solidFill>
              </a:rPr>
              <a:t>, </a:t>
            </a:r>
            <a:r>
              <a:rPr lang="en-US" dirty="0" err="1">
                <a:solidFill>
                  <a:srgbClr val="0070C0"/>
                </a:solidFill>
              </a:rPr>
              <a:t>T.</a:t>
            </a:r>
            <a:r>
              <a:rPr lang="en-US" i="1" dirty="0" err="1">
                <a:solidFill>
                  <a:srgbClr val="0070C0"/>
                </a:solidFill>
              </a:rPr>
              <a:t>node</a:t>
            </a:r>
            <a:r>
              <a:rPr lang="en-US" dirty="0">
                <a:solidFill>
                  <a:srgbClr val="0070C0"/>
                </a:solidFill>
              </a:rPr>
              <a:t>)</a:t>
            </a:r>
            <a:r>
              <a:rPr lang="en-US" i="1" dirty="0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5D2565FF-9C50-D6C9-9695-3E4077AFAD1C}"/>
              </a:ext>
            </a:extLst>
          </p:cNvPr>
          <p:cNvSpPr/>
          <p:nvPr/>
        </p:nvSpPr>
        <p:spPr>
          <a:xfrm>
            <a:off x="508610" y="3275353"/>
            <a:ext cx="1723773" cy="2789695"/>
          </a:xfrm>
          <a:custGeom>
            <a:avLst/>
            <a:gdLst>
              <a:gd name="connsiteX0" fmla="*/ 266932 w 1723773"/>
              <a:gd name="connsiteY0" fmla="*/ 0 h 2789695"/>
              <a:gd name="connsiteX1" fmla="*/ 111949 w 1723773"/>
              <a:gd name="connsiteY1" fmla="*/ 1379350 h 2789695"/>
              <a:gd name="connsiteX2" fmla="*/ 1723773 w 1723773"/>
              <a:gd name="connsiteY2" fmla="*/ 2789695 h 2789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23773" h="2789695">
                <a:moveTo>
                  <a:pt x="266932" y="0"/>
                </a:moveTo>
                <a:cubicBezTo>
                  <a:pt x="68037" y="457200"/>
                  <a:pt x="-130858" y="914401"/>
                  <a:pt x="111949" y="1379350"/>
                </a:cubicBezTo>
                <a:cubicBezTo>
                  <a:pt x="354756" y="1844299"/>
                  <a:pt x="1039264" y="2316997"/>
                  <a:pt x="1723773" y="2789695"/>
                </a:cubicBezTo>
              </a:path>
            </a:pathLst>
          </a:custGeom>
          <a:ln>
            <a:prstDash val="dash"/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02D0EEF7-6F8F-3533-0A96-96C694EAE1FF}"/>
              </a:ext>
            </a:extLst>
          </p:cNvPr>
          <p:cNvSpPr/>
          <p:nvPr/>
        </p:nvSpPr>
        <p:spPr>
          <a:xfrm>
            <a:off x="1469706" y="2605452"/>
            <a:ext cx="900799" cy="3394129"/>
          </a:xfrm>
          <a:custGeom>
            <a:avLst/>
            <a:gdLst>
              <a:gd name="connsiteX0" fmla="*/ 265368 w 900799"/>
              <a:gd name="connsiteY0" fmla="*/ 0 h 3394129"/>
              <a:gd name="connsiteX1" fmla="*/ 32894 w 900799"/>
              <a:gd name="connsiteY1" fmla="*/ 1410346 h 3394129"/>
              <a:gd name="connsiteX2" fmla="*/ 900799 w 900799"/>
              <a:gd name="connsiteY2" fmla="*/ 3394129 h 3394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0799" h="3394129">
                <a:moveTo>
                  <a:pt x="265368" y="0"/>
                </a:moveTo>
                <a:cubicBezTo>
                  <a:pt x="96178" y="422329"/>
                  <a:pt x="-73011" y="844658"/>
                  <a:pt x="32894" y="1410346"/>
                </a:cubicBezTo>
                <a:cubicBezTo>
                  <a:pt x="138799" y="1976034"/>
                  <a:pt x="519799" y="2685081"/>
                  <a:pt x="900799" y="3394129"/>
                </a:cubicBezTo>
              </a:path>
            </a:pathLst>
          </a:custGeom>
          <a:ln>
            <a:prstDash val="dash"/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3E683325-B743-7A4D-89F8-91BCAE9F41BE}"/>
              </a:ext>
            </a:extLst>
          </p:cNvPr>
          <p:cNvSpPr/>
          <p:nvPr/>
        </p:nvSpPr>
        <p:spPr>
          <a:xfrm>
            <a:off x="2073909" y="1039054"/>
            <a:ext cx="1072565" cy="3843580"/>
          </a:xfrm>
          <a:custGeom>
            <a:avLst/>
            <a:gdLst>
              <a:gd name="connsiteX0" fmla="*/ 499128 w 1072565"/>
              <a:gd name="connsiteY0" fmla="*/ 0 h 3843580"/>
              <a:gd name="connsiteX1" fmla="*/ 18680 w 1072565"/>
              <a:gd name="connsiteY1" fmla="*/ 805912 h 3843580"/>
              <a:gd name="connsiteX2" fmla="*/ 1072565 w 1072565"/>
              <a:gd name="connsiteY2" fmla="*/ 3843580 h 3843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72565" h="3843580">
                <a:moveTo>
                  <a:pt x="499128" y="0"/>
                </a:moveTo>
                <a:cubicBezTo>
                  <a:pt x="211117" y="82657"/>
                  <a:pt x="-76893" y="165315"/>
                  <a:pt x="18680" y="805912"/>
                </a:cubicBezTo>
                <a:cubicBezTo>
                  <a:pt x="114253" y="1446509"/>
                  <a:pt x="593409" y="2645044"/>
                  <a:pt x="1072565" y="3843580"/>
                </a:cubicBezTo>
              </a:path>
            </a:pathLst>
          </a:custGeom>
          <a:ln>
            <a:prstDash val="dash"/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CAA1DDFB-0612-56B6-0AF6-31D332F82427}"/>
              </a:ext>
            </a:extLst>
          </p:cNvPr>
          <p:cNvSpPr/>
          <p:nvPr/>
        </p:nvSpPr>
        <p:spPr>
          <a:xfrm>
            <a:off x="3849251" y="2402237"/>
            <a:ext cx="1544159" cy="3347634"/>
          </a:xfrm>
          <a:custGeom>
            <a:avLst/>
            <a:gdLst>
              <a:gd name="connsiteX0" fmla="*/ 738247 w 1544159"/>
              <a:gd name="connsiteY0" fmla="*/ 0 h 3347634"/>
              <a:gd name="connsiteX1" fmla="*/ 25325 w 1544159"/>
              <a:gd name="connsiteY1" fmla="*/ 1286360 h 3347634"/>
              <a:gd name="connsiteX2" fmla="*/ 1544159 w 1544159"/>
              <a:gd name="connsiteY2" fmla="*/ 3347634 h 3347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44159" h="3347634">
                <a:moveTo>
                  <a:pt x="738247" y="0"/>
                </a:moveTo>
                <a:cubicBezTo>
                  <a:pt x="314626" y="364210"/>
                  <a:pt x="-108994" y="728421"/>
                  <a:pt x="25325" y="1286360"/>
                </a:cubicBezTo>
                <a:cubicBezTo>
                  <a:pt x="159644" y="1844299"/>
                  <a:pt x="851901" y="2595966"/>
                  <a:pt x="1544159" y="3347634"/>
                </a:cubicBezTo>
              </a:path>
            </a:pathLst>
          </a:custGeom>
          <a:ln>
            <a:prstDash val="dash"/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9B21F6DF-4F22-6CDE-7352-F6CA047399AD}"/>
              </a:ext>
            </a:extLst>
          </p:cNvPr>
          <p:cNvSpPr/>
          <p:nvPr/>
        </p:nvSpPr>
        <p:spPr>
          <a:xfrm>
            <a:off x="4974956" y="650929"/>
            <a:ext cx="577104" cy="3301139"/>
          </a:xfrm>
          <a:custGeom>
            <a:avLst/>
            <a:gdLst>
              <a:gd name="connsiteX0" fmla="*/ 0 w 577104"/>
              <a:gd name="connsiteY0" fmla="*/ 0 h 3301139"/>
              <a:gd name="connsiteX1" fmla="*/ 573437 w 577104"/>
              <a:gd name="connsiteY1" fmla="*/ 728420 h 3301139"/>
              <a:gd name="connsiteX2" fmla="*/ 201478 w 577104"/>
              <a:gd name="connsiteY2" fmla="*/ 3301139 h 33011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7104" h="3301139">
                <a:moveTo>
                  <a:pt x="0" y="0"/>
                </a:moveTo>
                <a:cubicBezTo>
                  <a:pt x="269928" y="89115"/>
                  <a:pt x="539857" y="178230"/>
                  <a:pt x="573437" y="728420"/>
                </a:cubicBezTo>
                <a:cubicBezTo>
                  <a:pt x="607017" y="1278610"/>
                  <a:pt x="404247" y="2289874"/>
                  <a:pt x="201478" y="3301139"/>
                </a:cubicBezTo>
              </a:path>
            </a:pathLst>
          </a:custGeom>
          <a:ln>
            <a:prstDash val="dash"/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C066A1BA-BA27-9AAA-CFE5-A3C125DF8C1D}"/>
              </a:ext>
            </a:extLst>
          </p:cNvPr>
          <p:cNvSpPr/>
          <p:nvPr/>
        </p:nvSpPr>
        <p:spPr>
          <a:xfrm>
            <a:off x="6602278" y="1177871"/>
            <a:ext cx="1306748" cy="3673098"/>
          </a:xfrm>
          <a:custGeom>
            <a:avLst/>
            <a:gdLst>
              <a:gd name="connsiteX0" fmla="*/ 945397 w 1306748"/>
              <a:gd name="connsiteY0" fmla="*/ 0 h 3673098"/>
              <a:gd name="connsiteX1" fmla="*/ 1255363 w 1306748"/>
              <a:gd name="connsiteY1" fmla="*/ 1441343 h 3673098"/>
              <a:gd name="connsiteX2" fmla="*/ 0 w 1306748"/>
              <a:gd name="connsiteY2" fmla="*/ 3673098 h 3673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06748" h="3673098">
                <a:moveTo>
                  <a:pt x="945397" y="0"/>
                </a:moveTo>
                <a:cubicBezTo>
                  <a:pt x="1179163" y="414580"/>
                  <a:pt x="1412929" y="829160"/>
                  <a:pt x="1255363" y="1441343"/>
                </a:cubicBezTo>
                <a:cubicBezTo>
                  <a:pt x="1097797" y="2053526"/>
                  <a:pt x="548898" y="2863312"/>
                  <a:pt x="0" y="3673098"/>
                </a:cubicBezTo>
              </a:path>
            </a:pathLst>
          </a:custGeom>
          <a:ln>
            <a:prstDash val="dash"/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51CF8581-E071-4373-4727-7F27A2D362A6}"/>
              </a:ext>
            </a:extLst>
          </p:cNvPr>
          <p:cNvSpPr txBox="1"/>
          <p:nvPr/>
        </p:nvSpPr>
        <p:spPr>
          <a:xfrm>
            <a:off x="4841059" y="2209800"/>
            <a:ext cx="3845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70C0"/>
                </a:solidFill>
              </a:rPr>
              <a:t>T.</a:t>
            </a:r>
            <a:r>
              <a:rPr lang="en-US" i="1" dirty="0" err="1">
                <a:solidFill>
                  <a:srgbClr val="0070C0"/>
                </a:solidFill>
              </a:rPr>
              <a:t>node</a:t>
            </a:r>
            <a:r>
              <a:rPr lang="en-US" i="1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= </a:t>
            </a:r>
            <a:r>
              <a:rPr lang="en-US" b="1" dirty="0">
                <a:solidFill>
                  <a:srgbClr val="0070C0"/>
                </a:solidFill>
              </a:rPr>
              <a:t>new </a:t>
            </a:r>
            <a:r>
              <a:rPr lang="en-US" i="1" dirty="0">
                <a:solidFill>
                  <a:srgbClr val="0070C0"/>
                </a:solidFill>
              </a:rPr>
              <a:t>Leaf</a:t>
            </a:r>
            <a:r>
              <a:rPr lang="en-US" b="1" dirty="0">
                <a:solidFill>
                  <a:srgbClr val="0070C0"/>
                </a:solidFill>
              </a:rPr>
              <a:t> (num, </a:t>
            </a:r>
            <a:r>
              <a:rPr lang="en-US" b="1" dirty="0" err="1">
                <a:solidFill>
                  <a:srgbClr val="0070C0"/>
                </a:solidFill>
              </a:rPr>
              <a:t>num.</a:t>
            </a:r>
            <a:r>
              <a:rPr lang="en-US" i="1" dirty="0" err="1">
                <a:solidFill>
                  <a:srgbClr val="0070C0"/>
                </a:solidFill>
              </a:rPr>
              <a:t>val</a:t>
            </a:r>
            <a:r>
              <a:rPr lang="en-US" b="1" dirty="0">
                <a:solidFill>
                  <a:srgbClr val="0070C0"/>
                </a:solidFill>
              </a:rPr>
              <a:t>)</a:t>
            </a:r>
            <a:endParaRPr lang="en-US" i="1" dirty="0">
              <a:solidFill>
                <a:srgbClr val="0070C0"/>
              </a:solidFill>
            </a:endParaRP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C02711C2-F78C-00B0-6362-113B0CFE84A6}"/>
              </a:ext>
            </a:extLst>
          </p:cNvPr>
          <p:cNvGrpSpPr/>
          <p:nvPr/>
        </p:nvGrpSpPr>
        <p:grpSpPr>
          <a:xfrm>
            <a:off x="7631351" y="4224174"/>
            <a:ext cx="1228048" cy="2458090"/>
            <a:chOff x="1828800" y="1416916"/>
            <a:chExt cx="1228048" cy="2458090"/>
          </a:xfrm>
        </p:grpSpPr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A1EA5E6D-2A19-7712-367B-BD4C6026457E}"/>
                </a:ext>
              </a:extLst>
            </p:cNvPr>
            <p:cNvSpPr txBox="1"/>
            <p:nvPr/>
          </p:nvSpPr>
          <p:spPr>
            <a:xfrm>
              <a:off x="1828800" y="1771438"/>
              <a:ext cx="1228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 </a:t>
              </a:r>
              <a:r>
                <a:rPr lang="en-US" dirty="0">
                  <a:sym typeface="Wingdings" panose="05000000000000000000" pitchFamily="2" charset="2"/>
                </a:rPr>
                <a:t> E</a:t>
              </a:r>
              <a:r>
                <a:rPr lang="en-US" baseline="-25000" dirty="0">
                  <a:sym typeface="Wingdings" panose="05000000000000000000" pitchFamily="2" charset="2"/>
                </a:rPr>
                <a:t>1</a:t>
              </a:r>
              <a:r>
                <a:rPr lang="en-US" dirty="0">
                  <a:sym typeface="Wingdings" panose="05000000000000000000" pitchFamily="2" charset="2"/>
                </a:rPr>
                <a:t> + T</a:t>
              </a:r>
              <a:endParaRPr lang="en-US" dirty="0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7401619E-249D-DCC3-FC4E-CC5229D3F5B1}"/>
                </a:ext>
              </a:extLst>
            </p:cNvPr>
            <p:cNvSpPr txBox="1"/>
            <p:nvPr/>
          </p:nvSpPr>
          <p:spPr>
            <a:xfrm>
              <a:off x="1828800" y="2812427"/>
              <a:ext cx="1228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 </a:t>
              </a:r>
              <a:r>
                <a:rPr lang="en-US" dirty="0">
                  <a:sym typeface="Wingdings" panose="05000000000000000000" pitchFamily="2" charset="2"/>
                </a:rPr>
                <a:t> ( E )</a:t>
              </a:r>
              <a:endParaRPr lang="en-US" dirty="0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734ED03F-5E72-98A4-F2EC-14E921685FE7}"/>
                </a:ext>
              </a:extLst>
            </p:cNvPr>
            <p:cNvSpPr txBox="1"/>
            <p:nvPr/>
          </p:nvSpPr>
          <p:spPr>
            <a:xfrm>
              <a:off x="1828800" y="3156835"/>
              <a:ext cx="1228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 </a:t>
              </a:r>
              <a:r>
                <a:rPr lang="en-US" dirty="0">
                  <a:sym typeface="Wingdings" panose="05000000000000000000" pitchFamily="2" charset="2"/>
                </a:rPr>
                <a:t> </a:t>
              </a:r>
              <a:r>
                <a:rPr lang="en-US" b="1" dirty="0">
                  <a:sym typeface="Wingdings" panose="05000000000000000000" pitchFamily="2" charset="2"/>
                </a:rPr>
                <a:t>id</a:t>
              </a:r>
              <a:endParaRPr lang="en-US" b="1" dirty="0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88400531-2C21-588C-CC9A-857D24E8A401}"/>
                </a:ext>
              </a:extLst>
            </p:cNvPr>
            <p:cNvSpPr txBox="1"/>
            <p:nvPr/>
          </p:nvSpPr>
          <p:spPr>
            <a:xfrm>
              <a:off x="1828800" y="3505674"/>
              <a:ext cx="1228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 </a:t>
              </a:r>
              <a:r>
                <a:rPr lang="en-US" dirty="0">
                  <a:sym typeface="Wingdings" panose="05000000000000000000" pitchFamily="2" charset="2"/>
                </a:rPr>
                <a:t> num</a:t>
              </a:r>
              <a:endParaRPr lang="en-US" dirty="0"/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FA5D95E8-56C7-80FB-4050-F5F38E2F597B}"/>
                </a:ext>
              </a:extLst>
            </p:cNvPr>
            <p:cNvSpPr txBox="1"/>
            <p:nvPr/>
          </p:nvSpPr>
          <p:spPr>
            <a:xfrm>
              <a:off x="1828800" y="2116162"/>
              <a:ext cx="1228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 </a:t>
              </a:r>
              <a:r>
                <a:rPr lang="en-US" dirty="0">
                  <a:sym typeface="Wingdings" panose="05000000000000000000" pitchFamily="2" charset="2"/>
                </a:rPr>
                <a:t> E</a:t>
              </a:r>
              <a:r>
                <a:rPr lang="en-US" baseline="-25000" dirty="0">
                  <a:sym typeface="Wingdings" panose="05000000000000000000" pitchFamily="2" charset="2"/>
                </a:rPr>
                <a:t>1</a:t>
              </a:r>
              <a:r>
                <a:rPr lang="en-US" dirty="0">
                  <a:sym typeface="Wingdings" panose="05000000000000000000" pitchFamily="2" charset="2"/>
                </a:rPr>
                <a:t> - T</a:t>
              </a:r>
              <a:endParaRPr lang="en-US" dirty="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F65A9559-2033-2C26-3F33-FD16AF85F34F}"/>
                </a:ext>
              </a:extLst>
            </p:cNvPr>
            <p:cNvSpPr txBox="1"/>
            <p:nvPr/>
          </p:nvSpPr>
          <p:spPr>
            <a:xfrm>
              <a:off x="1828800" y="2464980"/>
              <a:ext cx="1228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 </a:t>
              </a:r>
              <a:r>
                <a:rPr lang="en-US" dirty="0">
                  <a:sym typeface="Wingdings" panose="05000000000000000000" pitchFamily="2" charset="2"/>
                </a:rPr>
                <a:t> T</a:t>
              </a:r>
              <a:endParaRPr lang="en-US" dirty="0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A9812AF4-FB93-36B8-B6E7-19B7A6F4F74C}"/>
                </a:ext>
              </a:extLst>
            </p:cNvPr>
            <p:cNvSpPr txBox="1"/>
            <p:nvPr/>
          </p:nvSpPr>
          <p:spPr>
            <a:xfrm>
              <a:off x="1828800" y="1416916"/>
              <a:ext cx="1228048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Production</a:t>
              </a:r>
            </a:p>
          </p:txBody>
        </p:sp>
      </p:grpSp>
      <p:sp>
        <p:nvSpPr>
          <p:cNvPr id="88" name="Rectangle 87">
            <a:extLst>
              <a:ext uri="{FF2B5EF4-FFF2-40B4-BE49-F238E27FC236}">
                <a16:creationId xmlns:a16="http://schemas.microsoft.com/office/drawing/2014/main" id="{C5CD1DAC-F24B-04D7-EAD0-24EEB5971C5C}"/>
              </a:ext>
            </a:extLst>
          </p:cNvPr>
          <p:cNvSpPr/>
          <p:nvPr/>
        </p:nvSpPr>
        <p:spPr>
          <a:xfrm>
            <a:off x="7422951" y="4038600"/>
            <a:ext cx="1644849" cy="2719864"/>
          </a:xfrm>
          <a:prstGeom prst="rect">
            <a:avLst/>
          </a:prstGeom>
          <a:noFill/>
          <a:ln w="12700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380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3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3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10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6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8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5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6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2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7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10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10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1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8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3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4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8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9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/>
      <p:bldP spid="24" grpId="0"/>
      <p:bldP spid="64" grpId="0"/>
      <p:bldP spid="71" grpId="0"/>
      <p:bldP spid="146" grpId="0"/>
      <p:bldP spid="150" grpId="0"/>
      <p:bldP spid="333" grpId="0"/>
      <p:bldP spid="343" grpId="0"/>
      <p:bldP spid="94" grpId="0"/>
      <p:bldP spid="95" grpId="0"/>
      <p:bldP spid="96" grpId="0"/>
      <p:bldP spid="97" grpId="0"/>
      <p:bldP spid="98" grpId="0"/>
      <p:bldP spid="169" grpId="0"/>
      <p:bldP spid="42" grpId="0" animBg="1"/>
      <p:bldP spid="43" grpId="0" animBg="1"/>
      <p:bldP spid="45" grpId="0" animBg="1"/>
      <p:bldP spid="66" grpId="0" animBg="1"/>
      <p:bldP spid="68" grpId="0" animBg="1"/>
      <p:bldP spid="69" grpId="0" animBg="1"/>
      <p:bldP spid="17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Candara" pitchFamily="34" charset="0"/>
              </a:rPr>
              <a:t>Construction of AST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Candara" pitchFamily="34" charset="0"/>
              </a:rPr>
              <a:t>Dept of CSE, BUET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>
                <a:latin typeface="Candara" pitchFamily="34" charset="0"/>
              </a:rPr>
              <a:pPr/>
              <a:t>44</a:t>
            </a:fld>
            <a:endParaRPr lang="en-US" dirty="0">
              <a:latin typeface="Candara" pitchFamily="34" charset="0"/>
            </a:endParaRPr>
          </a:p>
        </p:txBody>
      </p:sp>
      <p:pic>
        <p:nvPicPr>
          <p:cNvPr id="31" name="Content Placeholder 30" descr="astsdd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57200" y="2133601"/>
            <a:ext cx="8229600" cy="3505199"/>
          </a:xfrm>
        </p:spPr>
      </p:pic>
      <p:sp>
        <p:nvSpPr>
          <p:cNvPr id="32" name="TextBox 31"/>
          <p:cNvSpPr txBox="1"/>
          <p:nvPr/>
        </p:nvSpPr>
        <p:spPr>
          <a:xfrm>
            <a:off x="457200" y="1600200"/>
            <a:ext cx="63850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ndara" pitchFamily="34" charset="0"/>
              </a:rPr>
              <a:t>Example 1: AST construction in </a:t>
            </a:r>
            <a:r>
              <a:rPr lang="en-US" sz="2400" dirty="0">
                <a:solidFill>
                  <a:srgbClr val="C00000"/>
                </a:solidFill>
                <a:latin typeface="Candara" pitchFamily="34" charset="0"/>
              </a:rPr>
              <a:t>S-attributed SDD</a:t>
            </a:r>
          </a:p>
        </p:txBody>
      </p:sp>
      <p:sp>
        <p:nvSpPr>
          <p:cNvPr id="3" name="Rectangle 2"/>
          <p:cNvSpPr/>
          <p:nvPr/>
        </p:nvSpPr>
        <p:spPr>
          <a:xfrm>
            <a:off x="2590800" y="2971800"/>
            <a:ext cx="182880" cy="274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2590800" y="3429000"/>
            <a:ext cx="206326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 flipH="1">
            <a:off x="7543799" y="3002280"/>
            <a:ext cx="137160" cy="3036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 flipH="1">
            <a:off x="7559040" y="3430172"/>
            <a:ext cx="137160" cy="3036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Candara" pitchFamily="34" charset="0"/>
              </a:rPr>
              <a:t>Construction of AST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Candara" pitchFamily="34" charset="0"/>
              </a:rPr>
              <a:t>Dept of CSE, BUET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>
                <a:latin typeface="Candara" pitchFamily="34" charset="0"/>
              </a:rPr>
              <a:pPr/>
              <a:t>45</a:t>
            </a:fld>
            <a:endParaRPr lang="en-US" dirty="0">
              <a:latin typeface="Candara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57200" y="1600200"/>
            <a:ext cx="63850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ndara" pitchFamily="34" charset="0"/>
              </a:rPr>
              <a:t>Example 2: AST construction in </a:t>
            </a:r>
            <a:r>
              <a:rPr lang="en-US" sz="2400" dirty="0">
                <a:solidFill>
                  <a:srgbClr val="C00000"/>
                </a:solidFill>
                <a:latin typeface="Candara" pitchFamily="34" charset="0"/>
              </a:rPr>
              <a:t>L-attributed SDD</a:t>
            </a:r>
          </a:p>
        </p:txBody>
      </p:sp>
      <p:pic>
        <p:nvPicPr>
          <p:cNvPr id="8" name="Content Placeholder 7" descr="astlsdd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928687" y="2209800"/>
            <a:ext cx="7286625" cy="3429000"/>
          </a:xfr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723A5E4-74FB-F075-E332-08DFC2594EEC}"/>
              </a:ext>
            </a:extLst>
          </p:cNvPr>
          <p:cNvSpPr/>
          <p:nvPr/>
        </p:nvSpPr>
        <p:spPr>
          <a:xfrm>
            <a:off x="3367088" y="2743200"/>
            <a:ext cx="4710112" cy="27069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800" dirty="0">
                <a:solidFill>
                  <a:srgbClr val="FF0000"/>
                </a:solidFill>
              </a:rPr>
              <a:t>?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val 26">
            <a:extLst>
              <a:ext uri="{FF2B5EF4-FFF2-40B4-BE49-F238E27FC236}">
                <a16:creationId xmlns:a16="http://schemas.microsoft.com/office/drawing/2014/main" id="{9BC03A32-FE1C-4604-B607-9EE12E427B16}"/>
              </a:ext>
            </a:extLst>
          </p:cNvPr>
          <p:cNvSpPr/>
          <p:nvPr/>
        </p:nvSpPr>
        <p:spPr>
          <a:xfrm>
            <a:off x="2361535" y="1146270"/>
            <a:ext cx="379471" cy="37947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FCDC052-2E24-0CD7-4169-79A3F6AF4152}"/>
              </a:ext>
            </a:extLst>
          </p:cNvPr>
          <p:cNvSpPr/>
          <p:nvPr/>
        </p:nvSpPr>
        <p:spPr>
          <a:xfrm>
            <a:off x="3814302" y="1096494"/>
            <a:ext cx="627359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sym typeface="Wingdings" panose="05000000000000000000" pitchFamily="2" charset="2"/>
              </a:rPr>
              <a:t>E</a:t>
            </a:r>
            <a:r>
              <a:rPr lang="en-US" sz="1600" baseline="40000" dirty="0">
                <a:solidFill>
                  <a:schemeClr val="tx1"/>
                </a:solidFill>
                <a:sym typeface="Wingdings" panose="05000000000000000000" pitchFamily="2" charset="2"/>
              </a:rPr>
              <a:t>/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EE70982-B9D5-7956-9E18-12A186F380B7}"/>
              </a:ext>
            </a:extLst>
          </p:cNvPr>
          <p:cNvSpPr/>
          <p:nvPr/>
        </p:nvSpPr>
        <p:spPr>
          <a:xfrm>
            <a:off x="2895600" y="2057400"/>
            <a:ext cx="3810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-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2B23F0C-6318-CE44-A1A9-6BBD744A82DA}"/>
              </a:ext>
            </a:extLst>
          </p:cNvPr>
          <p:cNvSpPr/>
          <p:nvPr/>
        </p:nvSpPr>
        <p:spPr>
          <a:xfrm>
            <a:off x="3886200" y="2133600"/>
            <a:ext cx="3810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DADEA01-0F25-9736-08DA-1AAA8E2555C2}"/>
              </a:ext>
            </a:extLst>
          </p:cNvPr>
          <p:cNvSpPr/>
          <p:nvPr/>
        </p:nvSpPr>
        <p:spPr>
          <a:xfrm>
            <a:off x="4800600" y="1981200"/>
            <a:ext cx="669218" cy="42344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sym typeface="Wingdings" panose="05000000000000000000" pitchFamily="2" charset="2"/>
              </a:rPr>
              <a:t>E</a:t>
            </a:r>
            <a:r>
              <a:rPr lang="en-US" sz="2000" baseline="-40000" dirty="0">
                <a:solidFill>
                  <a:schemeClr val="tx1"/>
                </a:solidFill>
                <a:sym typeface="Wingdings" panose="05000000000000000000" pitchFamily="2" charset="2"/>
              </a:rPr>
              <a:t>1</a:t>
            </a:r>
            <a:r>
              <a:rPr lang="en-US" sz="2000" baseline="40000" dirty="0">
                <a:solidFill>
                  <a:schemeClr val="tx1"/>
                </a:solidFill>
                <a:sym typeface="Wingdings" panose="05000000000000000000" pitchFamily="2" charset="2"/>
              </a:rPr>
              <a:t>/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90180B9-2F7C-AED1-D3DD-1E784D370600}"/>
              </a:ext>
            </a:extLst>
          </p:cNvPr>
          <p:cNvSpPr/>
          <p:nvPr/>
        </p:nvSpPr>
        <p:spPr>
          <a:xfrm>
            <a:off x="2919722" y="383078"/>
            <a:ext cx="3810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414A0CF-1ADB-D282-9771-A49671582BE5}"/>
              </a:ext>
            </a:extLst>
          </p:cNvPr>
          <p:cNvCxnSpPr>
            <a:cxnSpLocks/>
          </p:cNvCxnSpPr>
          <p:nvPr/>
        </p:nvCxnSpPr>
        <p:spPr>
          <a:xfrm flipH="1">
            <a:off x="2683346" y="765257"/>
            <a:ext cx="424508" cy="4365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E8080B0-A873-912D-7491-37A8D516EBA3}"/>
              </a:ext>
            </a:extLst>
          </p:cNvPr>
          <p:cNvCxnSpPr>
            <a:cxnSpLocks/>
          </p:cNvCxnSpPr>
          <p:nvPr/>
        </p:nvCxnSpPr>
        <p:spPr>
          <a:xfrm>
            <a:off x="3238922" y="755744"/>
            <a:ext cx="873592" cy="3989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583B936-B2A6-DDD6-5F19-20FD662FB023}"/>
              </a:ext>
            </a:extLst>
          </p:cNvPr>
          <p:cNvCxnSpPr>
            <a:cxnSpLocks/>
            <a:stCxn id="29" idx="3"/>
            <a:endCxn id="30" idx="0"/>
          </p:cNvCxnSpPr>
          <p:nvPr/>
        </p:nvCxnSpPr>
        <p:spPr>
          <a:xfrm flipH="1">
            <a:off x="3086100" y="1421698"/>
            <a:ext cx="820077" cy="6357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0AFB704-FC87-5CCB-757D-47B58100B9E1}"/>
              </a:ext>
            </a:extLst>
          </p:cNvPr>
          <p:cNvCxnSpPr>
            <a:cxnSpLocks/>
            <a:stCxn id="31" idx="0"/>
            <a:endCxn id="29" idx="4"/>
          </p:cNvCxnSpPr>
          <p:nvPr/>
        </p:nvCxnSpPr>
        <p:spPr>
          <a:xfrm flipV="1">
            <a:off x="4076700" y="1477494"/>
            <a:ext cx="51282" cy="656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ADB7A9A1-5175-65C2-0B6C-392FF1013F25}"/>
              </a:ext>
            </a:extLst>
          </p:cNvPr>
          <p:cNvCxnSpPr>
            <a:cxnSpLocks/>
            <a:stCxn id="32" idx="1"/>
            <a:endCxn id="29" idx="5"/>
          </p:cNvCxnSpPr>
          <p:nvPr/>
        </p:nvCxnSpPr>
        <p:spPr>
          <a:xfrm flipH="1" flipV="1">
            <a:off x="4349786" y="1421698"/>
            <a:ext cx="548819" cy="6215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63">
            <a:extLst>
              <a:ext uri="{FF2B5EF4-FFF2-40B4-BE49-F238E27FC236}">
                <a16:creationId xmlns:a16="http://schemas.microsoft.com/office/drawing/2014/main" id="{09A5ED45-5059-F28F-A82F-6500215E6B1B}"/>
              </a:ext>
            </a:extLst>
          </p:cNvPr>
          <p:cNvSpPr/>
          <p:nvPr/>
        </p:nvSpPr>
        <p:spPr>
          <a:xfrm>
            <a:off x="1910290" y="1933745"/>
            <a:ext cx="604310" cy="36933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8DE22B43-A903-E808-FB7F-993D3D3D7697}"/>
              </a:ext>
            </a:extLst>
          </p:cNvPr>
          <p:cNvCxnSpPr>
            <a:cxnSpLocks/>
          </p:cNvCxnSpPr>
          <p:nvPr/>
        </p:nvCxnSpPr>
        <p:spPr>
          <a:xfrm flipV="1">
            <a:off x="2212077" y="1520142"/>
            <a:ext cx="338826" cy="4136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Oval 145">
            <a:extLst>
              <a:ext uri="{FF2B5EF4-FFF2-40B4-BE49-F238E27FC236}">
                <a16:creationId xmlns:a16="http://schemas.microsoft.com/office/drawing/2014/main" id="{E984406F-43A8-344E-3269-58F1B13899DA}"/>
              </a:ext>
            </a:extLst>
          </p:cNvPr>
          <p:cNvSpPr/>
          <p:nvPr/>
        </p:nvSpPr>
        <p:spPr>
          <a:xfrm>
            <a:off x="3507559" y="2977751"/>
            <a:ext cx="1216841" cy="48351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num</a:t>
            </a:r>
          </a:p>
        </p:txBody>
      </p:sp>
      <p:sp>
        <p:nvSpPr>
          <p:cNvPr id="343" name="TextBox 342">
            <a:extLst>
              <a:ext uri="{FF2B5EF4-FFF2-40B4-BE49-F238E27FC236}">
                <a16:creationId xmlns:a16="http://schemas.microsoft.com/office/drawing/2014/main" id="{487E46C7-642C-3DF7-6409-A879F5C46FEA}"/>
              </a:ext>
            </a:extLst>
          </p:cNvPr>
          <p:cNvSpPr txBox="1"/>
          <p:nvPr/>
        </p:nvSpPr>
        <p:spPr>
          <a:xfrm>
            <a:off x="3963819" y="2523663"/>
            <a:ext cx="749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4</a:t>
            </a:r>
          </a:p>
        </p:txBody>
      </p: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176326ED-9633-B18E-E070-A78D51B88C11}"/>
              </a:ext>
            </a:extLst>
          </p:cNvPr>
          <p:cNvCxnSpPr>
            <a:cxnSpLocks/>
          </p:cNvCxnSpPr>
          <p:nvPr/>
        </p:nvCxnSpPr>
        <p:spPr>
          <a:xfrm>
            <a:off x="4077238" y="2514600"/>
            <a:ext cx="39280" cy="4631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4" name="TextBox 343">
            <a:extLst>
              <a:ext uri="{FF2B5EF4-FFF2-40B4-BE49-F238E27FC236}">
                <a16:creationId xmlns:a16="http://schemas.microsoft.com/office/drawing/2014/main" id="{47FD3720-4B70-7E07-36A3-688DD7B0074F}"/>
              </a:ext>
            </a:extLst>
          </p:cNvPr>
          <p:cNvSpPr txBox="1"/>
          <p:nvPr/>
        </p:nvSpPr>
        <p:spPr>
          <a:xfrm>
            <a:off x="48606" y="10924"/>
            <a:ext cx="3075594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dirty="0">
                <a:solidFill>
                  <a:srgbClr val="FF0000"/>
                </a:solidFill>
              </a:rPr>
              <a:t>Construct AST for: a-4+c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E96B131-51A4-070D-1F03-AEE8BC9CCEB1}"/>
              </a:ext>
            </a:extLst>
          </p:cNvPr>
          <p:cNvGrpSpPr/>
          <p:nvPr/>
        </p:nvGrpSpPr>
        <p:grpSpPr>
          <a:xfrm>
            <a:off x="609600" y="6019800"/>
            <a:ext cx="1602783" cy="871954"/>
            <a:chOff x="3957458" y="5410200"/>
            <a:chExt cx="1602783" cy="871954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FE7E161E-0BE1-7F7C-C8E4-E8518E995A08}"/>
                </a:ext>
              </a:extLst>
            </p:cNvPr>
            <p:cNvSpPr txBox="1"/>
            <p:nvPr/>
          </p:nvSpPr>
          <p:spPr>
            <a:xfrm>
              <a:off x="4120090" y="5410200"/>
              <a:ext cx="451687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id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F8D5330-F0CA-3AD0-050C-8700DA2D206C}"/>
                </a:ext>
              </a:extLst>
            </p:cNvPr>
            <p:cNvSpPr txBox="1"/>
            <p:nvPr/>
          </p:nvSpPr>
          <p:spPr>
            <a:xfrm>
              <a:off x="4572000" y="5410200"/>
              <a:ext cx="451687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5C82756-18EF-785D-8C59-F9E5E322F8D9}"/>
                </a:ext>
              </a:extLst>
            </p:cNvPr>
            <p:cNvSpPr txBox="1"/>
            <p:nvPr/>
          </p:nvSpPr>
          <p:spPr>
            <a:xfrm>
              <a:off x="3957458" y="5943600"/>
              <a:ext cx="16027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to entry for a</a:t>
              </a: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1A1CE239-0222-D538-15B3-F6DB7F9AEB98}"/>
                </a:ext>
              </a:extLst>
            </p:cNvPr>
            <p:cNvCxnSpPr>
              <a:cxnSpLocks/>
            </p:cNvCxnSpPr>
            <p:nvPr/>
          </p:nvCxnSpPr>
          <p:spPr>
            <a:xfrm>
              <a:off x="4800599" y="5524500"/>
              <a:ext cx="1" cy="419100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5D16E1F-5100-27B3-12D2-C6AC09D21615}"/>
              </a:ext>
            </a:extLst>
          </p:cNvPr>
          <p:cNvGrpSpPr/>
          <p:nvPr/>
        </p:nvGrpSpPr>
        <p:grpSpPr>
          <a:xfrm>
            <a:off x="3053964" y="5788016"/>
            <a:ext cx="1067372" cy="369332"/>
            <a:chOff x="5866828" y="5412575"/>
            <a:chExt cx="1067372" cy="369332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E1D824E-EC29-AD26-A2BB-BABF7C167A79}"/>
                </a:ext>
              </a:extLst>
            </p:cNvPr>
            <p:cNvSpPr txBox="1"/>
            <p:nvPr/>
          </p:nvSpPr>
          <p:spPr>
            <a:xfrm>
              <a:off x="5866828" y="5412575"/>
              <a:ext cx="614892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num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B0F88E0-91E6-EE5F-1F95-BED7606ECA26}"/>
                </a:ext>
              </a:extLst>
            </p:cNvPr>
            <p:cNvSpPr txBox="1"/>
            <p:nvPr/>
          </p:nvSpPr>
          <p:spPr>
            <a:xfrm>
              <a:off x="6474310" y="5412575"/>
              <a:ext cx="459890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4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EA5DAB5-8D06-B284-9A8C-14E59D9A7283}"/>
              </a:ext>
            </a:extLst>
          </p:cNvPr>
          <p:cNvGrpSpPr/>
          <p:nvPr/>
        </p:nvGrpSpPr>
        <p:grpSpPr>
          <a:xfrm>
            <a:off x="4349364" y="4828194"/>
            <a:ext cx="1602783" cy="871954"/>
            <a:chOff x="3957458" y="5410200"/>
            <a:chExt cx="1602783" cy="871954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C28F1F9C-297B-7633-11CE-5306F6447F86}"/>
                </a:ext>
              </a:extLst>
            </p:cNvPr>
            <p:cNvSpPr txBox="1"/>
            <p:nvPr/>
          </p:nvSpPr>
          <p:spPr>
            <a:xfrm>
              <a:off x="4120090" y="5410200"/>
              <a:ext cx="451687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id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27A306F4-5A98-C93C-01E0-90E374D9CC74}"/>
                </a:ext>
              </a:extLst>
            </p:cNvPr>
            <p:cNvSpPr txBox="1"/>
            <p:nvPr/>
          </p:nvSpPr>
          <p:spPr>
            <a:xfrm>
              <a:off x="4572000" y="5410200"/>
              <a:ext cx="451687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B1829B2B-1C55-63C3-CC5F-89D4B1EC0F1E}"/>
                </a:ext>
              </a:extLst>
            </p:cNvPr>
            <p:cNvSpPr txBox="1"/>
            <p:nvPr/>
          </p:nvSpPr>
          <p:spPr>
            <a:xfrm>
              <a:off x="3957458" y="5943600"/>
              <a:ext cx="16027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to entry for c</a:t>
              </a:r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B2502522-86AD-D328-5F1D-831DFC258A7D}"/>
                </a:ext>
              </a:extLst>
            </p:cNvPr>
            <p:cNvCxnSpPr>
              <a:cxnSpLocks/>
            </p:cNvCxnSpPr>
            <p:nvPr/>
          </p:nvCxnSpPr>
          <p:spPr>
            <a:xfrm>
              <a:off x="4800599" y="5524500"/>
              <a:ext cx="1" cy="419100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E6E64AC-2384-CD71-2C7E-E3CD4A5DB0C9}"/>
              </a:ext>
            </a:extLst>
          </p:cNvPr>
          <p:cNvGrpSpPr/>
          <p:nvPr/>
        </p:nvGrpSpPr>
        <p:grpSpPr>
          <a:xfrm>
            <a:off x="1301364" y="4949816"/>
            <a:ext cx="1352000" cy="369332"/>
            <a:chOff x="776083" y="4724400"/>
            <a:chExt cx="1352000" cy="36933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A2301F2-9F88-6263-B9DF-2ACCF33E3978}"/>
                </a:ext>
              </a:extLst>
            </p:cNvPr>
            <p:cNvSpPr txBox="1"/>
            <p:nvPr/>
          </p:nvSpPr>
          <p:spPr>
            <a:xfrm>
              <a:off x="776083" y="4724400"/>
              <a:ext cx="451683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-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3402B577-C6C9-1225-0F43-4904462E00F3}"/>
                </a:ext>
              </a:extLst>
            </p:cNvPr>
            <p:cNvSpPr txBox="1"/>
            <p:nvPr/>
          </p:nvSpPr>
          <p:spPr>
            <a:xfrm>
              <a:off x="1676400" y="4724400"/>
              <a:ext cx="451683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CFF495E2-FC59-50C1-4451-086A546491A8}"/>
                </a:ext>
              </a:extLst>
            </p:cNvPr>
            <p:cNvSpPr txBox="1"/>
            <p:nvPr/>
          </p:nvSpPr>
          <p:spPr>
            <a:xfrm>
              <a:off x="1219200" y="4724400"/>
              <a:ext cx="451683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dirty="0"/>
            </a:p>
          </p:txBody>
        </p: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BE6209D-3345-8E76-8EBC-E3BF6D76108A}"/>
              </a:ext>
            </a:extLst>
          </p:cNvPr>
          <p:cNvCxnSpPr/>
          <p:nvPr/>
        </p:nvCxnSpPr>
        <p:spPr>
          <a:xfrm flipH="1">
            <a:off x="1254709" y="5134482"/>
            <a:ext cx="715613" cy="870466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39673A0A-228D-C68C-1027-E2C505DD107B}"/>
              </a:ext>
            </a:extLst>
          </p:cNvPr>
          <p:cNvCxnSpPr>
            <a:cxnSpLocks/>
          </p:cNvCxnSpPr>
          <p:nvPr/>
        </p:nvCxnSpPr>
        <p:spPr>
          <a:xfrm>
            <a:off x="2446723" y="5146807"/>
            <a:ext cx="1214723" cy="633887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" name="Group 69">
            <a:extLst>
              <a:ext uri="{FF2B5EF4-FFF2-40B4-BE49-F238E27FC236}">
                <a16:creationId xmlns:a16="http://schemas.microsoft.com/office/drawing/2014/main" id="{D95A2940-2577-777E-6A1C-E318CA3A0C76}"/>
              </a:ext>
            </a:extLst>
          </p:cNvPr>
          <p:cNvGrpSpPr/>
          <p:nvPr/>
        </p:nvGrpSpPr>
        <p:grpSpPr>
          <a:xfrm>
            <a:off x="2844964" y="3959216"/>
            <a:ext cx="1352000" cy="369332"/>
            <a:chOff x="776083" y="4724400"/>
            <a:chExt cx="1352000" cy="369332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19CC617D-84D8-5E95-D3BA-CFFE14DBB09D}"/>
                </a:ext>
              </a:extLst>
            </p:cNvPr>
            <p:cNvSpPr txBox="1"/>
            <p:nvPr/>
          </p:nvSpPr>
          <p:spPr>
            <a:xfrm>
              <a:off x="776083" y="4724400"/>
              <a:ext cx="451683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+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F6A768C3-70AD-B7DE-0AE2-BC1A54486E9B}"/>
                </a:ext>
              </a:extLst>
            </p:cNvPr>
            <p:cNvSpPr txBox="1"/>
            <p:nvPr/>
          </p:nvSpPr>
          <p:spPr>
            <a:xfrm>
              <a:off x="1676400" y="4724400"/>
              <a:ext cx="451683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A71A429B-16EE-C880-4CB3-B6BA062B619D}"/>
                </a:ext>
              </a:extLst>
            </p:cNvPr>
            <p:cNvSpPr txBox="1"/>
            <p:nvPr/>
          </p:nvSpPr>
          <p:spPr>
            <a:xfrm>
              <a:off x="1219200" y="4724400"/>
              <a:ext cx="451683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dirty="0"/>
            </a:p>
          </p:txBody>
        </p:sp>
      </p:grp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FCA750B4-26EF-88B5-0A40-086F6BCED355}"/>
              </a:ext>
            </a:extLst>
          </p:cNvPr>
          <p:cNvCxnSpPr>
            <a:cxnSpLocks/>
            <a:endCxn id="63" idx="0"/>
          </p:cNvCxnSpPr>
          <p:nvPr/>
        </p:nvCxnSpPr>
        <p:spPr>
          <a:xfrm flipH="1">
            <a:off x="1970323" y="4132214"/>
            <a:ext cx="1494454" cy="817602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C5CF627D-F4F6-DD1A-D6F8-7BEE6C2BE7CF}"/>
              </a:ext>
            </a:extLst>
          </p:cNvPr>
          <p:cNvCxnSpPr>
            <a:cxnSpLocks/>
          </p:cNvCxnSpPr>
          <p:nvPr/>
        </p:nvCxnSpPr>
        <p:spPr>
          <a:xfrm>
            <a:off x="3941178" y="4144539"/>
            <a:ext cx="1017786" cy="683655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18C939D5-777F-14C5-197B-912FBC8ADD72}"/>
              </a:ext>
            </a:extLst>
          </p:cNvPr>
          <p:cNvSpPr txBox="1"/>
          <p:nvPr/>
        </p:nvSpPr>
        <p:spPr>
          <a:xfrm>
            <a:off x="3414259" y="458491"/>
            <a:ext cx="1924373" cy="367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E</a:t>
            </a:r>
            <a:r>
              <a:rPr lang="en-US" baseline="40000" dirty="0">
                <a:solidFill>
                  <a:schemeClr val="accent6">
                    <a:lumMod val="75000"/>
                  </a:schemeClr>
                </a:solidFill>
              </a:rPr>
              <a:t>/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.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inh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=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T.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node</a:t>
            </a:r>
            <a:endParaRPr lang="en-US" i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3251524B-F807-C84D-5B45-CA1BDB14B6A5}"/>
              </a:ext>
            </a:extLst>
          </p:cNvPr>
          <p:cNvSpPr txBox="1"/>
          <p:nvPr/>
        </p:nvSpPr>
        <p:spPr>
          <a:xfrm>
            <a:off x="4424594" y="1154668"/>
            <a:ext cx="3957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E</a:t>
            </a:r>
            <a:r>
              <a:rPr lang="en-US" baseline="-40000" dirty="0">
                <a:solidFill>
                  <a:schemeClr val="accent6">
                    <a:lumMod val="75000"/>
                  </a:schemeClr>
                </a:solidFill>
              </a:rPr>
              <a:t>1</a:t>
            </a:r>
            <a:r>
              <a:rPr lang="en-US" baseline="40000" dirty="0">
                <a:solidFill>
                  <a:schemeClr val="accent6">
                    <a:lumMod val="75000"/>
                  </a:schemeClr>
                </a:solidFill>
              </a:rPr>
              <a:t>/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.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inh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= new 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Node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(‘-’, E</a:t>
            </a:r>
            <a:r>
              <a:rPr lang="en-US" baseline="40000" dirty="0">
                <a:solidFill>
                  <a:schemeClr val="accent6">
                    <a:lumMod val="75000"/>
                  </a:schemeClr>
                </a:solidFill>
              </a:rPr>
              <a:t>/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.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inh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,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T.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node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)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D473B0BF-1F30-E5F0-12AC-9929962B4226}"/>
              </a:ext>
            </a:extLst>
          </p:cNvPr>
          <p:cNvSpPr txBox="1"/>
          <p:nvPr/>
        </p:nvSpPr>
        <p:spPr>
          <a:xfrm>
            <a:off x="1827074" y="1444616"/>
            <a:ext cx="646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4EBE6D-1E38-A732-E02E-14561873D905}"/>
              </a:ext>
            </a:extLst>
          </p:cNvPr>
          <p:cNvSpPr/>
          <p:nvPr/>
        </p:nvSpPr>
        <p:spPr>
          <a:xfrm>
            <a:off x="7422951" y="4061936"/>
            <a:ext cx="1644849" cy="2719864"/>
          </a:xfrm>
          <a:prstGeom prst="rect">
            <a:avLst/>
          </a:prstGeom>
          <a:noFill/>
          <a:ln w="12700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C02711C2-F78C-00B0-6362-113B0CFE84A6}"/>
              </a:ext>
            </a:extLst>
          </p:cNvPr>
          <p:cNvGrpSpPr/>
          <p:nvPr/>
        </p:nvGrpSpPr>
        <p:grpSpPr>
          <a:xfrm>
            <a:off x="7664126" y="4267200"/>
            <a:ext cx="1228048" cy="2458090"/>
            <a:chOff x="1828800" y="1416916"/>
            <a:chExt cx="1228048" cy="2458090"/>
          </a:xfrm>
        </p:grpSpPr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A1EA5E6D-2A19-7712-367B-BD4C6026457E}"/>
                </a:ext>
              </a:extLst>
            </p:cNvPr>
            <p:cNvSpPr txBox="1"/>
            <p:nvPr/>
          </p:nvSpPr>
          <p:spPr>
            <a:xfrm>
              <a:off x="1828800" y="1771438"/>
              <a:ext cx="1228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 </a:t>
              </a:r>
              <a:r>
                <a:rPr lang="en-US" dirty="0">
                  <a:sym typeface="Wingdings" panose="05000000000000000000" pitchFamily="2" charset="2"/>
                </a:rPr>
                <a:t> TE</a:t>
              </a:r>
              <a:r>
                <a:rPr lang="en-US" baseline="40000" dirty="0">
                  <a:sym typeface="Wingdings" panose="05000000000000000000" pitchFamily="2" charset="2"/>
                </a:rPr>
                <a:t>/</a:t>
              </a:r>
              <a:endParaRPr lang="en-US" baseline="40000" dirty="0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7401619E-249D-DCC3-FC4E-CC5229D3F5B1}"/>
                </a:ext>
              </a:extLst>
            </p:cNvPr>
            <p:cNvSpPr txBox="1"/>
            <p:nvPr/>
          </p:nvSpPr>
          <p:spPr>
            <a:xfrm>
              <a:off x="1828800" y="2812427"/>
              <a:ext cx="1228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ym typeface="Wingdings" panose="05000000000000000000" pitchFamily="2" charset="2"/>
                </a:rPr>
                <a:t>E</a:t>
              </a:r>
              <a:r>
                <a:rPr lang="en-US" baseline="40000" dirty="0">
                  <a:sym typeface="Wingdings" panose="05000000000000000000" pitchFamily="2" charset="2"/>
                </a:rPr>
                <a:t>/</a:t>
              </a:r>
              <a:r>
                <a:rPr lang="en-US" dirty="0"/>
                <a:t> </a:t>
              </a:r>
              <a:r>
                <a:rPr lang="en-US" dirty="0">
                  <a:sym typeface="Wingdings" panose="05000000000000000000" pitchFamily="2" charset="2"/>
                </a:rPr>
                <a:t> Ɛ</a:t>
              </a:r>
              <a:endParaRPr lang="en-US" dirty="0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734ED03F-5E72-98A4-F2EC-14E921685FE7}"/>
                </a:ext>
              </a:extLst>
            </p:cNvPr>
            <p:cNvSpPr txBox="1"/>
            <p:nvPr/>
          </p:nvSpPr>
          <p:spPr>
            <a:xfrm>
              <a:off x="1828800" y="3156835"/>
              <a:ext cx="1228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 </a:t>
              </a:r>
              <a:r>
                <a:rPr lang="en-US" dirty="0">
                  <a:sym typeface="Wingdings" panose="05000000000000000000" pitchFamily="2" charset="2"/>
                </a:rPr>
                <a:t> </a:t>
              </a:r>
              <a:r>
                <a:rPr lang="en-US" b="1" dirty="0">
                  <a:sym typeface="Wingdings" panose="05000000000000000000" pitchFamily="2" charset="2"/>
                </a:rPr>
                <a:t>id</a:t>
              </a:r>
              <a:endParaRPr lang="en-US" b="1" dirty="0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88400531-2C21-588C-CC9A-857D24E8A401}"/>
                </a:ext>
              </a:extLst>
            </p:cNvPr>
            <p:cNvSpPr txBox="1"/>
            <p:nvPr/>
          </p:nvSpPr>
          <p:spPr>
            <a:xfrm>
              <a:off x="1828800" y="3505674"/>
              <a:ext cx="1228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 </a:t>
              </a:r>
              <a:r>
                <a:rPr lang="en-US" dirty="0">
                  <a:sym typeface="Wingdings" panose="05000000000000000000" pitchFamily="2" charset="2"/>
                </a:rPr>
                <a:t> num</a:t>
              </a:r>
              <a:endParaRPr lang="en-US" dirty="0"/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FA5D95E8-56C7-80FB-4050-F5F38E2F597B}"/>
                </a:ext>
              </a:extLst>
            </p:cNvPr>
            <p:cNvSpPr txBox="1"/>
            <p:nvPr/>
          </p:nvSpPr>
          <p:spPr>
            <a:xfrm>
              <a:off x="1828800" y="2116162"/>
              <a:ext cx="1228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ym typeface="Wingdings" panose="05000000000000000000" pitchFamily="2" charset="2"/>
                </a:rPr>
                <a:t>E</a:t>
              </a:r>
              <a:r>
                <a:rPr lang="en-US" baseline="40000" dirty="0">
                  <a:sym typeface="Wingdings" panose="05000000000000000000" pitchFamily="2" charset="2"/>
                </a:rPr>
                <a:t>/</a:t>
              </a:r>
              <a:r>
                <a:rPr lang="en-US" dirty="0"/>
                <a:t> </a:t>
              </a:r>
              <a:r>
                <a:rPr lang="en-US" dirty="0">
                  <a:sym typeface="Wingdings" panose="05000000000000000000" pitchFamily="2" charset="2"/>
                </a:rPr>
                <a:t> +TE</a:t>
              </a:r>
              <a:r>
                <a:rPr lang="en-US" baseline="-40000" dirty="0">
                  <a:sym typeface="Wingdings" panose="05000000000000000000" pitchFamily="2" charset="2"/>
                </a:rPr>
                <a:t>1</a:t>
              </a:r>
              <a:r>
                <a:rPr lang="en-US" baseline="40000" dirty="0">
                  <a:sym typeface="Wingdings" panose="05000000000000000000" pitchFamily="2" charset="2"/>
                </a:rPr>
                <a:t>/</a:t>
              </a:r>
              <a:endParaRPr lang="en-US" dirty="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F65A9559-2033-2C26-3F33-FD16AF85F34F}"/>
                </a:ext>
              </a:extLst>
            </p:cNvPr>
            <p:cNvSpPr txBox="1"/>
            <p:nvPr/>
          </p:nvSpPr>
          <p:spPr>
            <a:xfrm>
              <a:off x="1828800" y="2464980"/>
              <a:ext cx="1228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ym typeface="Wingdings" panose="05000000000000000000" pitchFamily="2" charset="2"/>
                </a:rPr>
                <a:t>E</a:t>
              </a:r>
              <a:r>
                <a:rPr lang="en-US" baseline="40000" dirty="0">
                  <a:sym typeface="Wingdings" panose="05000000000000000000" pitchFamily="2" charset="2"/>
                </a:rPr>
                <a:t>/</a:t>
              </a:r>
              <a:r>
                <a:rPr lang="en-US" dirty="0"/>
                <a:t> </a:t>
              </a:r>
              <a:r>
                <a:rPr lang="en-US" dirty="0">
                  <a:sym typeface="Wingdings" panose="05000000000000000000" pitchFamily="2" charset="2"/>
                </a:rPr>
                <a:t> -TE</a:t>
              </a:r>
              <a:r>
                <a:rPr lang="en-US" baseline="-40000" dirty="0">
                  <a:sym typeface="Wingdings" panose="05000000000000000000" pitchFamily="2" charset="2"/>
                </a:rPr>
                <a:t>1</a:t>
              </a:r>
              <a:r>
                <a:rPr lang="en-US" baseline="40000" dirty="0">
                  <a:sym typeface="Wingdings" panose="05000000000000000000" pitchFamily="2" charset="2"/>
                </a:rPr>
                <a:t>/</a:t>
              </a:r>
              <a:endParaRPr lang="en-US" dirty="0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A9812AF4-FB93-36B8-B6E7-19B7A6F4F74C}"/>
                </a:ext>
              </a:extLst>
            </p:cNvPr>
            <p:cNvSpPr txBox="1"/>
            <p:nvPr/>
          </p:nvSpPr>
          <p:spPr>
            <a:xfrm>
              <a:off x="1828800" y="1416916"/>
              <a:ext cx="1228048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Production</a:t>
              </a:r>
            </a:p>
          </p:txBody>
        </p:sp>
      </p:grpSp>
      <p:sp>
        <p:nvSpPr>
          <p:cNvPr id="100" name="Oval 99">
            <a:extLst>
              <a:ext uri="{FF2B5EF4-FFF2-40B4-BE49-F238E27FC236}">
                <a16:creationId xmlns:a16="http://schemas.microsoft.com/office/drawing/2014/main" id="{63360821-A499-7D1B-63FF-4E01D03311AA}"/>
              </a:ext>
            </a:extLst>
          </p:cNvPr>
          <p:cNvSpPr/>
          <p:nvPr/>
        </p:nvSpPr>
        <p:spPr>
          <a:xfrm>
            <a:off x="4572000" y="3048000"/>
            <a:ext cx="3810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024A6C51-0149-C352-7196-E65F88C3C1EB}"/>
              </a:ext>
            </a:extLst>
          </p:cNvPr>
          <p:cNvSpPr/>
          <p:nvPr/>
        </p:nvSpPr>
        <p:spPr>
          <a:xfrm>
            <a:off x="5621893" y="3124200"/>
            <a:ext cx="3810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</a:t>
            </a: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01B56949-2D31-6A56-8A0F-0CCDE2BF1583}"/>
              </a:ext>
            </a:extLst>
          </p:cNvPr>
          <p:cNvSpPr/>
          <p:nvPr/>
        </p:nvSpPr>
        <p:spPr>
          <a:xfrm>
            <a:off x="6705275" y="3125688"/>
            <a:ext cx="669218" cy="42344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sym typeface="Wingdings" panose="05000000000000000000" pitchFamily="2" charset="2"/>
              </a:rPr>
              <a:t>E</a:t>
            </a:r>
            <a:r>
              <a:rPr lang="en-US" sz="2000" baseline="-40000" dirty="0">
                <a:solidFill>
                  <a:schemeClr val="tx1"/>
                </a:solidFill>
                <a:sym typeface="Wingdings" panose="05000000000000000000" pitchFamily="2" charset="2"/>
              </a:rPr>
              <a:t>2</a:t>
            </a:r>
            <a:r>
              <a:rPr lang="en-US" sz="2000" baseline="40000" dirty="0">
                <a:solidFill>
                  <a:schemeClr val="tx1"/>
                </a:solidFill>
                <a:sym typeface="Wingdings" panose="05000000000000000000" pitchFamily="2" charset="2"/>
              </a:rPr>
              <a:t>/</a:t>
            </a:r>
            <a:endParaRPr lang="en-US" sz="2000" dirty="0">
              <a:solidFill>
                <a:schemeClr val="tx1"/>
              </a:solidFill>
            </a:endParaRPr>
          </a:p>
        </p:txBody>
      </p: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1979799-C66C-2D7F-1E9D-4EBE043795A7}"/>
              </a:ext>
            </a:extLst>
          </p:cNvPr>
          <p:cNvCxnSpPr>
            <a:cxnSpLocks/>
            <a:stCxn id="32" idx="3"/>
            <a:endCxn id="100" idx="0"/>
          </p:cNvCxnSpPr>
          <p:nvPr/>
        </p:nvCxnSpPr>
        <p:spPr>
          <a:xfrm flipH="1">
            <a:off x="4762500" y="2342634"/>
            <a:ext cx="136105" cy="7053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FC0B92DB-984E-84BF-FF4D-4E3CD94A4355}"/>
              </a:ext>
            </a:extLst>
          </p:cNvPr>
          <p:cNvCxnSpPr>
            <a:cxnSpLocks/>
            <a:stCxn id="101" idx="0"/>
            <a:endCxn id="32" idx="4"/>
          </p:cNvCxnSpPr>
          <p:nvPr/>
        </p:nvCxnSpPr>
        <p:spPr>
          <a:xfrm flipH="1" flipV="1">
            <a:off x="5135209" y="2404646"/>
            <a:ext cx="677184" cy="7195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EE826DFF-163B-11C9-C725-C003E2F7ACB5}"/>
              </a:ext>
            </a:extLst>
          </p:cNvPr>
          <p:cNvCxnSpPr>
            <a:cxnSpLocks/>
            <a:stCxn id="102" idx="1"/>
            <a:endCxn id="32" idx="5"/>
          </p:cNvCxnSpPr>
          <p:nvPr/>
        </p:nvCxnSpPr>
        <p:spPr>
          <a:xfrm flipH="1" flipV="1">
            <a:off x="5371813" y="2342634"/>
            <a:ext cx="1431467" cy="8450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Oval 105">
            <a:extLst>
              <a:ext uri="{FF2B5EF4-FFF2-40B4-BE49-F238E27FC236}">
                <a16:creationId xmlns:a16="http://schemas.microsoft.com/office/drawing/2014/main" id="{50578943-C74A-C0F3-E861-D98176E6ABB5}"/>
              </a:ext>
            </a:extLst>
          </p:cNvPr>
          <p:cNvSpPr/>
          <p:nvPr/>
        </p:nvSpPr>
        <p:spPr>
          <a:xfrm>
            <a:off x="5223242" y="4088485"/>
            <a:ext cx="1216841" cy="48351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id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A521142-2AB3-1CD2-4F23-1601225D26D8}"/>
              </a:ext>
            </a:extLst>
          </p:cNvPr>
          <p:cNvSpPr txBox="1"/>
          <p:nvPr/>
        </p:nvSpPr>
        <p:spPr>
          <a:xfrm>
            <a:off x="5698093" y="3637002"/>
            <a:ext cx="749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c</a:t>
            </a:r>
          </a:p>
        </p:txBody>
      </p: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493B2E10-C088-3CB4-297E-88C09E9EE252}"/>
              </a:ext>
            </a:extLst>
          </p:cNvPr>
          <p:cNvCxnSpPr>
            <a:cxnSpLocks/>
            <a:stCxn id="101" idx="4"/>
            <a:endCxn id="106" idx="0"/>
          </p:cNvCxnSpPr>
          <p:nvPr/>
        </p:nvCxnSpPr>
        <p:spPr>
          <a:xfrm>
            <a:off x="5812393" y="3505200"/>
            <a:ext cx="19270" cy="583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Oval 112">
            <a:extLst>
              <a:ext uri="{FF2B5EF4-FFF2-40B4-BE49-F238E27FC236}">
                <a16:creationId xmlns:a16="http://schemas.microsoft.com/office/drawing/2014/main" id="{BAB1385F-CE13-1313-F0A6-27D3C3339EF9}"/>
              </a:ext>
            </a:extLst>
          </p:cNvPr>
          <p:cNvSpPr/>
          <p:nvPr/>
        </p:nvSpPr>
        <p:spPr>
          <a:xfrm>
            <a:off x="6403159" y="4088485"/>
            <a:ext cx="1216841" cy="48351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Ɛ</a:t>
            </a:r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024C0D20-19C7-8413-46F0-4C717BB21E0D}"/>
              </a:ext>
            </a:extLst>
          </p:cNvPr>
          <p:cNvCxnSpPr>
            <a:cxnSpLocks/>
            <a:stCxn id="102" idx="4"/>
            <a:endCxn id="113" idx="0"/>
          </p:cNvCxnSpPr>
          <p:nvPr/>
        </p:nvCxnSpPr>
        <p:spPr>
          <a:xfrm flipH="1">
            <a:off x="7011580" y="3549134"/>
            <a:ext cx="28304" cy="5393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643643CC-2240-C32D-7C7E-AEC5BAA8E4EC}"/>
              </a:ext>
            </a:extLst>
          </p:cNvPr>
          <p:cNvSpPr txBox="1"/>
          <p:nvPr/>
        </p:nvSpPr>
        <p:spPr>
          <a:xfrm>
            <a:off x="754814" y="2286000"/>
            <a:ext cx="3588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70C0"/>
                </a:solidFill>
              </a:rPr>
              <a:t>T.</a:t>
            </a:r>
            <a:r>
              <a:rPr lang="en-US" i="1" dirty="0" err="1">
                <a:solidFill>
                  <a:srgbClr val="0070C0"/>
                </a:solidFill>
              </a:rPr>
              <a:t>node</a:t>
            </a:r>
            <a:r>
              <a:rPr lang="en-US" i="1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= </a:t>
            </a:r>
            <a:r>
              <a:rPr lang="en-US" b="1" dirty="0">
                <a:solidFill>
                  <a:srgbClr val="0070C0"/>
                </a:solidFill>
              </a:rPr>
              <a:t>new </a:t>
            </a:r>
            <a:r>
              <a:rPr lang="en-US" i="1" dirty="0">
                <a:solidFill>
                  <a:srgbClr val="0070C0"/>
                </a:solidFill>
              </a:rPr>
              <a:t>Leaf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(</a:t>
            </a:r>
            <a:r>
              <a:rPr lang="en-US" b="1" dirty="0">
                <a:solidFill>
                  <a:srgbClr val="0070C0"/>
                </a:solidFill>
              </a:rPr>
              <a:t>num, </a:t>
            </a:r>
            <a:r>
              <a:rPr lang="en-US" b="1" dirty="0" err="1">
                <a:solidFill>
                  <a:srgbClr val="0070C0"/>
                </a:solidFill>
              </a:rPr>
              <a:t>num.</a:t>
            </a:r>
            <a:r>
              <a:rPr lang="en-US" i="1" dirty="0" err="1">
                <a:solidFill>
                  <a:srgbClr val="0070C0"/>
                </a:solidFill>
              </a:rPr>
              <a:t>val</a:t>
            </a:r>
            <a:r>
              <a:rPr lang="en-US" dirty="0">
                <a:solidFill>
                  <a:srgbClr val="0070C0"/>
                </a:solidFill>
              </a:rPr>
              <a:t>)</a:t>
            </a:r>
            <a:endParaRPr lang="en-US" i="1" dirty="0">
              <a:solidFill>
                <a:srgbClr val="0070C0"/>
              </a:solidFill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F01076F4-6EFF-7CBF-72F0-51D55D1DABAA}"/>
              </a:ext>
            </a:extLst>
          </p:cNvPr>
          <p:cNvSpPr txBox="1"/>
          <p:nvPr/>
        </p:nvSpPr>
        <p:spPr>
          <a:xfrm>
            <a:off x="2766184" y="3352800"/>
            <a:ext cx="3177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70C0"/>
                </a:solidFill>
              </a:rPr>
              <a:t>T.</a:t>
            </a:r>
            <a:r>
              <a:rPr lang="en-US" i="1" dirty="0" err="1">
                <a:solidFill>
                  <a:srgbClr val="0070C0"/>
                </a:solidFill>
              </a:rPr>
              <a:t>node</a:t>
            </a:r>
            <a:r>
              <a:rPr lang="en-US" i="1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= </a:t>
            </a:r>
            <a:r>
              <a:rPr lang="en-US" b="1" dirty="0">
                <a:solidFill>
                  <a:srgbClr val="0070C0"/>
                </a:solidFill>
              </a:rPr>
              <a:t>new </a:t>
            </a:r>
            <a:r>
              <a:rPr lang="en-US" i="1" dirty="0">
                <a:solidFill>
                  <a:srgbClr val="0070C0"/>
                </a:solidFill>
              </a:rPr>
              <a:t>Leaf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(</a:t>
            </a:r>
            <a:r>
              <a:rPr lang="en-US" b="1" dirty="0">
                <a:solidFill>
                  <a:srgbClr val="0070C0"/>
                </a:solidFill>
              </a:rPr>
              <a:t>id, </a:t>
            </a:r>
            <a:r>
              <a:rPr lang="en-US" b="1" dirty="0" err="1">
                <a:solidFill>
                  <a:srgbClr val="0070C0"/>
                </a:solidFill>
              </a:rPr>
              <a:t>id.</a:t>
            </a:r>
            <a:r>
              <a:rPr lang="en-US" i="1" dirty="0" err="1">
                <a:solidFill>
                  <a:srgbClr val="0070C0"/>
                </a:solidFill>
              </a:rPr>
              <a:t>entry</a:t>
            </a:r>
            <a:r>
              <a:rPr lang="en-US" dirty="0">
                <a:solidFill>
                  <a:srgbClr val="0070C0"/>
                </a:solidFill>
              </a:rPr>
              <a:t>)</a:t>
            </a:r>
            <a:endParaRPr lang="en-US" i="1" dirty="0">
              <a:solidFill>
                <a:srgbClr val="0070C0"/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0C811A20-3BD7-2F2D-9FAA-A08A845BAC74}"/>
              </a:ext>
            </a:extLst>
          </p:cNvPr>
          <p:cNvSpPr txBox="1"/>
          <p:nvPr/>
        </p:nvSpPr>
        <p:spPr>
          <a:xfrm>
            <a:off x="5400532" y="2068949"/>
            <a:ext cx="3957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E</a:t>
            </a:r>
            <a:r>
              <a:rPr lang="en-US" baseline="-40000" dirty="0">
                <a:solidFill>
                  <a:schemeClr val="accent6">
                    <a:lumMod val="75000"/>
                  </a:schemeClr>
                </a:solidFill>
              </a:rPr>
              <a:t>2</a:t>
            </a:r>
            <a:r>
              <a:rPr lang="en-US" baseline="40000" dirty="0">
                <a:solidFill>
                  <a:schemeClr val="accent6">
                    <a:lumMod val="75000"/>
                  </a:schemeClr>
                </a:solidFill>
              </a:rPr>
              <a:t>/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.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inh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= new 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Node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(‘+’, E</a:t>
            </a:r>
            <a:r>
              <a:rPr lang="en-US" baseline="-40000" dirty="0">
                <a:solidFill>
                  <a:schemeClr val="accent6">
                    <a:lumMod val="75000"/>
                  </a:schemeClr>
                </a:solidFill>
              </a:rPr>
              <a:t>1</a:t>
            </a:r>
            <a:r>
              <a:rPr lang="en-US" baseline="40000" dirty="0">
                <a:solidFill>
                  <a:schemeClr val="accent6">
                    <a:lumMod val="75000"/>
                  </a:schemeClr>
                </a:solidFill>
              </a:rPr>
              <a:t>/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.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inh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,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T.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node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)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BF08076B-5641-6932-B70D-8779389C486E}"/>
              </a:ext>
            </a:extLst>
          </p:cNvPr>
          <p:cNvSpPr txBox="1"/>
          <p:nvPr/>
        </p:nvSpPr>
        <p:spPr>
          <a:xfrm>
            <a:off x="7244270" y="3124200"/>
            <a:ext cx="1603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E</a:t>
            </a:r>
            <a:r>
              <a:rPr lang="en-US" baseline="-40000" dirty="0">
                <a:solidFill>
                  <a:srgbClr val="0070C0"/>
                </a:solidFill>
              </a:rPr>
              <a:t>2</a:t>
            </a:r>
            <a:r>
              <a:rPr lang="en-US" baseline="40000" dirty="0">
                <a:solidFill>
                  <a:srgbClr val="0070C0"/>
                </a:solidFill>
              </a:rPr>
              <a:t>/</a:t>
            </a:r>
            <a:r>
              <a:rPr lang="en-US" dirty="0">
                <a:solidFill>
                  <a:srgbClr val="0070C0"/>
                </a:solidFill>
              </a:rPr>
              <a:t>.</a:t>
            </a:r>
            <a:r>
              <a:rPr lang="en-US" i="1" dirty="0">
                <a:solidFill>
                  <a:srgbClr val="0070C0"/>
                </a:solidFill>
              </a:rPr>
              <a:t>syn </a:t>
            </a:r>
            <a:r>
              <a:rPr lang="en-US" dirty="0">
                <a:solidFill>
                  <a:srgbClr val="0070C0"/>
                </a:solidFill>
              </a:rPr>
              <a:t>= E</a:t>
            </a:r>
            <a:r>
              <a:rPr lang="en-US" baseline="-40000" dirty="0">
                <a:solidFill>
                  <a:srgbClr val="0070C0"/>
                </a:solidFill>
              </a:rPr>
              <a:t>2</a:t>
            </a:r>
            <a:r>
              <a:rPr lang="en-US" baseline="40000" dirty="0">
                <a:solidFill>
                  <a:srgbClr val="0070C0"/>
                </a:solidFill>
              </a:rPr>
              <a:t>/</a:t>
            </a:r>
            <a:r>
              <a:rPr lang="en-US" dirty="0">
                <a:solidFill>
                  <a:srgbClr val="0070C0"/>
                </a:solidFill>
              </a:rPr>
              <a:t>.</a:t>
            </a:r>
            <a:r>
              <a:rPr lang="en-US" i="1" dirty="0">
                <a:solidFill>
                  <a:srgbClr val="0070C0"/>
                </a:solidFill>
              </a:rPr>
              <a:t>inh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DEAA1EDE-D264-609D-558E-E4F3041D4B02}"/>
              </a:ext>
            </a:extLst>
          </p:cNvPr>
          <p:cNvSpPr txBox="1"/>
          <p:nvPr/>
        </p:nvSpPr>
        <p:spPr>
          <a:xfrm>
            <a:off x="5423529" y="1676400"/>
            <a:ext cx="1967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E</a:t>
            </a:r>
            <a:r>
              <a:rPr lang="en-US" baseline="-40000" dirty="0">
                <a:solidFill>
                  <a:srgbClr val="0070C0"/>
                </a:solidFill>
              </a:rPr>
              <a:t>1</a:t>
            </a:r>
            <a:r>
              <a:rPr lang="en-US" baseline="40000" dirty="0">
                <a:solidFill>
                  <a:srgbClr val="0070C0"/>
                </a:solidFill>
              </a:rPr>
              <a:t>/</a:t>
            </a:r>
            <a:r>
              <a:rPr lang="en-US" dirty="0">
                <a:solidFill>
                  <a:srgbClr val="0070C0"/>
                </a:solidFill>
              </a:rPr>
              <a:t>.</a:t>
            </a:r>
            <a:r>
              <a:rPr lang="en-US" i="1" dirty="0">
                <a:solidFill>
                  <a:srgbClr val="0070C0"/>
                </a:solidFill>
              </a:rPr>
              <a:t>syn </a:t>
            </a:r>
            <a:r>
              <a:rPr lang="en-US" dirty="0">
                <a:solidFill>
                  <a:srgbClr val="0070C0"/>
                </a:solidFill>
              </a:rPr>
              <a:t>= E</a:t>
            </a:r>
            <a:r>
              <a:rPr lang="en-US" baseline="-40000" dirty="0">
                <a:solidFill>
                  <a:srgbClr val="0070C0"/>
                </a:solidFill>
              </a:rPr>
              <a:t>2</a:t>
            </a:r>
            <a:r>
              <a:rPr lang="en-US" baseline="40000" dirty="0">
                <a:solidFill>
                  <a:srgbClr val="0070C0"/>
                </a:solidFill>
              </a:rPr>
              <a:t>/</a:t>
            </a:r>
            <a:r>
              <a:rPr lang="en-US" dirty="0">
                <a:solidFill>
                  <a:srgbClr val="0070C0"/>
                </a:solidFill>
              </a:rPr>
              <a:t>.</a:t>
            </a:r>
            <a:r>
              <a:rPr lang="en-US" i="1" dirty="0">
                <a:solidFill>
                  <a:srgbClr val="0070C0"/>
                </a:solidFill>
              </a:rPr>
              <a:t>syn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4702CE42-04B3-BDAD-0955-E891C80A83E5}"/>
              </a:ext>
            </a:extLst>
          </p:cNvPr>
          <p:cNvSpPr txBox="1"/>
          <p:nvPr/>
        </p:nvSpPr>
        <p:spPr>
          <a:xfrm>
            <a:off x="4416022" y="849868"/>
            <a:ext cx="1603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E</a:t>
            </a:r>
            <a:r>
              <a:rPr lang="en-US" baseline="40000" dirty="0">
                <a:solidFill>
                  <a:srgbClr val="0070C0"/>
                </a:solidFill>
              </a:rPr>
              <a:t>/</a:t>
            </a:r>
            <a:r>
              <a:rPr lang="en-US" dirty="0">
                <a:solidFill>
                  <a:srgbClr val="0070C0"/>
                </a:solidFill>
              </a:rPr>
              <a:t>.</a:t>
            </a:r>
            <a:r>
              <a:rPr lang="en-US" i="1" dirty="0">
                <a:solidFill>
                  <a:srgbClr val="0070C0"/>
                </a:solidFill>
              </a:rPr>
              <a:t>syn </a:t>
            </a:r>
            <a:r>
              <a:rPr lang="en-US" dirty="0">
                <a:solidFill>
                  <a:srgbClr val="0070C0"/>
                </a:solidFill>
              </a:rPr>
              <a:t>= E</a:t>
            </a:r>
            <a:r>
              <a:rPr lang="en-US" baseline="-40000" dirty="0">
                <a:solidFill>
                  <a:srgbClr val="0070C0"/>
                </a:solidFill>
              </a:rPr>
              <a:t>1</a:t>
            </a:r>
            <a:r>
              <a:rPr lang="en-US" baseline="40000" dirty="0">
                <a:solidFill>
                  <a:srgbClr val="0070C0"/>
                </a:solidFill>
              </a:rPr>
              <a:t>/</a:t>
            </a:r>
            <a:r>
              <a:rPr lang="en-US" dirty="0">
                <a:solidFill>
                  <a:srgbClr val="0070C0"/>
                </a:solidFill>
              </a:rPr>
              <a:t>.</a:t>
            </a:r>
            <a:r>
              <a:rPr lang="en-US" i="1" dirty="0">
                <a:solidFill>
                  <a:srgbClr val="0070C0"/>
                </a:solidFill>
              </a:rPr>
              <a:t>syn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C6B29246-7BB0-A3C5-F189-A1D3F4953966}"/>
              </a:ext>
            </a:extLst>
          </p:cNvPr>
          <p:cNvSpPr txBox="1"/>
          <p:nvPr/>
        </p:nvSpPr>
        <p:spPr>
          <a:xfrm>
            <a:off x="3425422" y="152400"/>
            <a:ext cx="1603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70C0"/>
                </a:solidFill>
              </a:rPr>
              <a:t>E.</a:t>
            </a:r>
            <a:r>
              <a:rPr lang="en-US" i="1" dirty="0" err="1">
                <a:solidFill>
                  <a:srgbClr val="0070C0"/>
                </a:solidFill>
              </a:rPr>
              <a:t>node</a:t>
            </a:r>
            <a:r>
              <a:rPr lang="en-US" i="1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= E</a:t>
            </a:r>
            <a:r>
              <a:rPr lang="en-US" baseline="40000" dirty="0">
                <a:solidFill>
                  <a:srgbClr val="0070C0"/>
                </a:solidFill>
              </a:rPr>
              <a:t>/</a:t>
            </a:r>
            <a:r>
              <a:rPr lang="en-US" dirty="0">
                <a:solidFill>
                  <a:srgbClr val="0070C0"/>
                </a:solidFill>
              </a:rPr>
              <a:t>.</a:t>
            </a:r>
            <a:r>
              <a:rPr lang="en-US" i="1" dirty="0">
                <a:solidFill>
                  <a:srgbClr val="0070C0"/>
                </a:solidFill>
              </a:rPr>
              <a:t>syn</a:t>
            </a:r>
          </a:p>
        </p:txBody>
      </p:sp>
      <p:sp>
        <p:nvSpPr>
          <p:cNvPr id="112" name="Freeform: Shape 111">
            <a:extLst>
              <a:ext uri="{FF2B5EF4-FFF2-40B4-BE49-F238E27FC236}">
                <a16:creationId xmlns:a16="http://schemas.microsoft.com/office/drawing/2014/main" id="{30AFF110-9B92-867C-2520-F875DCA1A674}"/>
              </a:ext>
            </a:extLst>
          </p:cNvPr>
          <p:cNvSpPr/>
          <p:nvPr/>
        </p:nvSpPr>
        <p:spPr>
          <a:xfrm>
            <a:off x="240304" y="1100380"/>
            <a:ext cx="643099" cy="4819973"/>
          </a:xfrm>
          <a:custGeom>
            <a:avLst/>
            <a:gdLst>
              <a:gd name="connsiteX0" fmla="*/ 348632 w 643099"/>
              <a:gd name="connsiteY0" fmla="*/ 0 h 4819973"/>
              <a:gd name="connsiteX1" fmla="*/ 7669 w 643099"/>
              <a:gd name="connsiteY1" fmla="*/ 1952786 h 4819973"/>
              <a:gd name="connsiteX2" fmla="*/ 643099 w 643099"/>
              <a:gd name="connsiteY2" fmla="*/ 4819973 h 4819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3099" h="4819973">
                <a:moveTo>
                  <a:pt x="348632" y="0"/>
                </a:moveTo>
                <a:cubicBezTo>
                  <a:pt x="153611" y="574728"/>
                  <a:pt x="-41409" y="1149457"/>
                  <a:pt x="7669" y="1952786"/>
                </a:cubicBezTo>
                <a:cubicBezTo>
                  <a:pt x="56747" y="2756115"/>
                  <a:pt x="349923" y="3788044"/>
                  <a:pt x="643099" y="4819973"/>
                </a:cubicBezTo>
              </a:path>
            </a:pathLst>
          </a:custGeom>
          <a:ln>
            <a:prstDash val="dash"/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5" name="Freeform: Shape 114">
            <a:extLst>
              <a:ext uri="{FF2B5EF4-FFF2-40B4-BE49-F238E27FC236}">
                <a16:creationId xmlns:a16="http://schemas.microsoft.com/office/drawing/2014/main" id="{B4C37E22-7970-6BF1-55E0-C2714F9C6265}"/>
              </a:ext>
            </a:extLst>
          </p:cNvPr>
          <p:cNvSpPr/>
          <p:nvPr/>
        </p:nvSpPr>
        <p:spPr>
          <a:xfrm>
            <a:off x="2102245" y="2727702"/>
            <a:ext cx="1694840" cy="2975674"/>
          </a:xfrm>
          <a:custGeom>
            <a:avLst/>
            <a:gdLst>
              <a:gd name="connsiteX0" fmla="*/ 377484 w 1694840"/>
              <a:gd name="connsiteY0" fmla="*/ 0 h 2975674"/>
              <a:gd name="connsiteX1" fmla="*/ 83016 w 1694840"/>
              <a:gd name="connsiteY1" fmla="*/ 914400 h 2975674"/>
              <a:gd name="connsiteX2" fmla="*/ 1694840 w 1694840"/>
              <a:gd name="connsiteY2" fmla="*/ 2975674 h 2975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94840" h="2975674">
                <a:moveTo>
                  <a:pt x="377484" y="0"/>
                </a:moveTo>
                <a:cubicBezTo>
                  <a:pt x="120470" y="209227"/>
                  <a:pt x="-136543" y="418454"/>
                  <a:pt x="83016" y="914400"/>
                </a:cubicBezTo>
                <a:cubicBezTo>
                  <a:pt x="302575" y="1410346"/>
                  <a:pt x="998707" y="2193010"/>
                  <a:pt x="1694840" y="2975674"/>
                </a:cubicBezTo>
              </a:path>
            </a:pathLst>
          </a:custGeom>
          <a:ln>
            <a:prstDash val="dash"/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0" name="Freeform: Shape 119">
            <a:extLst>
              <a:ext uri="{FF2B5EF4-FFF2-40B4-BE49-F238E27FC236}">
                <a16:creationId xmlns:a16="http://schemas.microsoft.com/office/drawing/2014/main" id="{05C8A173-5EBA-52EF-B8AB-7695AE036072}"/>
              </a:ext>
            </a:extLst>
          </p:cNvPr>
          <p:cNvSpPr/>
          <p:nvPr/>
        </p:nvSpPr>
        <p:spPr>
          <a:xfrm>
            <a:off x="5083444" y="3797085"/>
            <a:ext cx="266768" cy="1007390"/>
          </a:xfrm>
          <a:custGeom>
            <a:avLst/>
            <a:gdLst>
              <a:gd name="connsiteX0" fmla="*/ 0 w 266768"/>
              <a:gd name="connsiteY0" fmla="*/ 0 h 1007390"/>
              <a:gd name="connsiteX1" fmla="*/ 263471 w 266768"/>
              <a:gd name="connsiteY1" fmla="*/ 309966 h 1007390"/>
              <a:gd name="connsiteX2" fmla="*/ 123987 w 266768"/>
              <a:gd name="connsiteY2" fmla="*/ 1007390 h 1007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6768" h="1007390">
                <a:moveTo>
                  <a:pt x="0" y="0"/>
                </a:moveTo>
                <a:cubicBezTo>
                  <a:pt x="121403" y="71034"/>
                  <a:pt x="242807" y="142068"/>
                  <a:pt x="263471" y="309966"/>
                </a:cubicBezTo>
                <a:cubicBezTo>
                  <a:pt x="284135" y="477864"/>
                  <a:pt x="204061" y="742627"/>
                  <a:pt x="123987" y="1007390"/>
                </a:cubicBezTo>
              </a:path>
            </a:pathLst>
          </a:custGeom>
          <a:ln>
            <a:prstDash val="dash"/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0" name="Freeform: Shape 129">
            <a:extLst>
              <a:ext uri="{FF2B5EF4-FFF2-40B4-BE49-F238E27FC236}">
                <a16:creationId xmlns:a16="http://schemas.microsoft.com/office/drawing/2014/main" id="{8D98E606-77FF-B137-A9C0-2721675E39D3}"/>
              </a:ext>
            </a:extLst>
          </p:cNvPr>
          <p:cNvSpPr/>
          <p:nvPr/>
        </p:nvSpPr>
        <p:spPr>
          <a:xfrm>
            <a:off x="794735" y="790414"/>
            <a:ext cx="2800872" cy="5160935"/>
          </a:xfrm>
          <a:custGeom>
            <a:avLst/>
            <a:gdLst>
              <a:gd name="connsiteX0" fmla="*/ 2800872 w 2800872"/>
              <a:gd name="connsiteY0" fmla="*/ 0 h 5160935"/>
              <a:gd name="connsiteX1" fmla="*/ 228153 w 2800872"/>
              <a:gd name="connsiteY1" fmla="*/ 3363132 h 5160935"/>
              <a:gd name="connsiteX2" fmla="*/ 290146 w 2800872"/>
              <a:gd name="connsiteY2" fmla="*/ 5160935 h 5160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00872" h="5160935">
                <a:moveTo>
                  <a:pt x="2800872" y="0"/>
                </a:moveTo>
                <a:cubicBezTo>
                  <a:pt x="1723739" y="1251488"/>
                  <a:pt x="646607" y="2502976"/>
                  <a:pt x="228153" y="3363132"/>
                </a:cubicBezTo>
                <a:cubicBezTo>
                  <a:pt x="-190301" y="4223288"/>
                  <a:pt x="49922" y="4692111"/>
                  <a:pt x="290146" y="5160935"/>
                </a:cubicBezTo>
              </a:path>
            </a:pathLst>
          </a:custGeom>
          <a:ln>
            <a:prstDash val="dash"/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1" name="Freeform: Shape 130">
            <a:extLst>
              <a:ext uri="{FF2B5EF4-FFF2-40B4-BE49-F238E27FC236}">
                <a16:creationId xmlns:a16="http://schemas.microsoft.com/office/drawing/2014/main" id="{45BD8B10-017F-7457-9075-9647DBCEB45D}"/>
              </a:ext>
            </a:extLst>
          </p:cNvPr>
          <p:cNvSpPr/>
          <p:nvPr/>
        </p:nvSpPr>
        <p:spPr>
          <a:xfrm>
            <a:off x="3390096" y="2479729"/>
            <a:ext cx="2421768" cy="1441342"/>
          </a:xfrm>
          <a:custGeom>
            <a:avLst/>
            <a:gdLst>
              <a:gd name="connsiteX0" fmla="*/ 2421768 w 2421768"/>
              <a:gd name="connsiteY0" fmla="*/ 0 h 1441342"/>
              <a:gd name="connsiteX1" fmla="*/ 329497 w 2421768"/>
              <a:gd name="connsiteY1" fmla="*/ 666427 h 1441342"/>
              <a:gd name="connsiteX2" fmla="*/ 35029 w 2421768"/>
              <a:gd name="connsiteY2" fmla="*/ 1441342 h 1441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1768" h="1441342">
                <a:moveTo>
                  <a:pt x="2421768" y="0"/>
                </a:moveTo>
                <a:cubicBezTo>
                  <a:pt x="1574527" y="213101"/>
                  <a:pt x="727287" y="426203"/>
                  <a:pt x="329497" y="666427"/>
                </a:cubicBezTo>
                <a:cubicBezTo>
                  <a:pt x="-68293" y="906651"/>
                  <a:pt x="-16632" y="1173996"/>
                  <a:pt x="35029" y="1441342"/>
                </a:cubicBezTo>
              </a:path>
            </a:pathLst>
          </a:custGeom>
          <a:ln>
            <a:prstDash val="dash"/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3B12F795-3DEC-A4DF-CBAB-2B72F88951D3}"/>
              </a:ext>
            </a:extLst>
          </p:cNvPr>
          <p:cNvCxnSpPr>
            <a:cxnSpLocks/>
          </p:cNvCxnSpPr>
          <p:nvPr/>
        </p:nvCxnSpPr>
        <p:spPr>
          <a:xfrm>
            <a:off x="3974789" y="838200"/>
            <a:ext cx="467822" cy="354898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6A8DD3BA-A1A1-E068-688B-5C960927E920}"/>
              </a:ext>
            </a:extLst>
          </p:cNvPr>
          <p:cNvCxnSpPr>
            <a:cxnSpLocks/>
          </p:cNvCxnSpPr>
          <p:nvPr/>
        </p:nvCxnSpPr>
        <p:spPr>
          <a:xfrm>
            <a:off x="4942378" y="1626302"/>
            <a:ext cx="527440" cy="442647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2C9944E3-903A-7EBF-4C26-D2F5DC07C9A3}"/>
              </a:ext>
            </a:extLst>
          </p:cNvPr>
          <p:cNvCxnSpPr>
            <a:cxnSpLocks/>
            <a:endCxn id="102" idx="0"/>
          </p:cNvCxnSpPr>
          <p:nvPr/>
        </p:nvCxnSpPr>
        <p:spPr>
          <a:xfrm>
            <a:off x="6096000" y="2514600"/>
            <a:ext cx="943884" cy="611088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6" name="Freeform: Shape 135">
            <a:extLst>
              <a:ext uri="{FF2B5EF4-FFF2-40B4-BE49-F238E27FC236}">
                <a16:creationId xmlns:a16="http://schemas.microsoft.com/office/drawing/2014/main" id="{0FFFD753-EDE0-8C67-B777-C3D41C317F1C}"/>
              </a:ext>
            </a:extLst>
          </p:cNvPr>
          <p:cNvSpPr/>
          <p:nvPr/>
        </p:nvSpPr>
        <p:spPr>
          <a:xfrm>
            <a:off x="7099715" y="1937266"/>
            <a:ext cx="1070499" cy="1131399"/>
          </a:xfrm>
          <a:custGeom>
            <a:avLst/>
            <a:gdLst>
              <a:gd name="connsiteX0" fmla="*/ 867905 w 963502"/>
              <a:gd name="connsiteY0" fmla="*/ 1100379 h 1100379"/>
              <a:gd name="connsiteX1" fmla="*/ 883403 w 963502"/>
              <a:gd name="connsiteY1" fmla="*/ 495946 h 1100379"/>
              <a:gd name="connsiteX2" fmla="*/ 0 w 963502"/>
              <a:gd name="connsiteY2" fmla="*/ 0 h 1100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63502" h="1100379">
                <a:moveTo>
                  <a:pt x="867905" y="1100379"/>
                </a:moveTo>
                <a:cubicBezTo>
                  <a:pt x="947979" y="889861"/>
                  <a:pt x="1028054" y="679343"/>
                  <a:pt x="883403" y="495946"/>
                </a:cubicBezTo>
                <a:cubicBezTo>
                  <a:pt x="738752" y="312549"/>
                  <a:pt x="369376" y="156274"/>
                  <a:pt x="0" y="0"/>
                </a:cubicBezTo>
              </a:path>
            </a:pathLst>
          </a:custGeom>
          <a:ln>
            <a:solidFill>
              <a:srgbClr val="00B05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7" name="Freeform: Shape 136">
            <a:extLst>
              <a:ext uri="{FF2B5EF4-FFF2-40B4-BE49-F238E27FC236}">
                <a16:creationId xmlns:a16="http://schemas.microsoft.com/office/drawing/2014/main" id="{E43788DD-81D4-BEFC-F0EE-3B0D94E4B84A}"/>
              </a:ext>
            </a:extLst>
          </p:cNvPr>
          <p:cNvSpPr/>
          <p:nvPr/>
        </p:nvSpPr>
        <p:spPr>
          <a:xfrm>
            <a:off x="5920353" y="1069383"/>
            <a:ext cx="402955" cy="619932"/>
          </a:xfrm>
          <a:custGeom>
            <a:avLst/>
            <a:gdLst>
              <a:gd name="connsiteX0" fmla="*/ 402955 w 402955"/>
              <a:gd name="connsiteY0" fmla="*/ 619932 h 619932"/>
              <a:gd name="connsiteX1" fmla="*/ 309966 w 402955"/>
              <a:gd name="connsiteY1" fmla="*/ 123986 h 619932"/>
              <a:gd name="connsiteX2" fmla="*/ 0 w 402955"/>
              <a:gd name="connsiteY2" fmla="*/ 0 h 619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2955" h="619932">
                <a:moveTo>
                  <a:pt x="402955" y="619932"/>
                </a:moveTo>
                <a:cubicBezTo>
                  <a:pt x="390040" y="423620"/>
                  <a:pt x="377125" y="227308"/>
                  <a:pt x="309966" y="123986"/>
                </a:cubicBezTo>
                <a:cubicBezTo>
                  <a:pt x="242807" y="20664"/>
                  <a:pt x="121403" y="10332"/>
                  <a:pt x="0" y="0"/>
                </a:cubicBezTo>
              </a:path>
            </a:pathLst>
          </a:custGeom>
          <a:ln>
            <a:solidFill>
              <a:srgbClr val="00B05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9" name="Freeform: Shape 138">
            <a:extLst>
              <a:ext uri="{FF2B5EF4-FFF2-40B4-BE49-F238E27FC236}">
                <a16:creationId xmlns:a16="http://schemas.microsoft.com/office/drawing/2014/main" id="{38ADE3BD-514F-6CF7-003F-55313A135682}"/>
              </a:ext>
            </a:extLst>
          </p:cNvPr>
          <p:cNvSpPr/>
          <p:nvPr/>
        </p:nvSpPr>
        <p:spPr>
          <a:xfrm>
            <a:off x="4974956" y="355562"/>
            <a:ext cx="373771" cy="496845"/>
          </a:xfrm>
          <a:custGeom>
            <a:avLst/>
            <a:gdLst>
              <a:gd name="connsiteX0" fmla="*/ 340963 w 373771"/>
              <a:gd name="connsiteY0" fmla="*/ 496845 h 496845"/>
              <a:gd name="connsiteX1" fmla="*/ 340963 w 373771"/>
              <a:gd name="connsiteY1" fmla="*/ 78391 h 496845"/>
              <a:gd name="connsiteX2" fmla="*/ 0 w 373771"/>
              <a:gd name="connsiteY2" fmla="*/ 899 h 496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3771" h="496845">
                <a:moveTo>
                  <a:pt x="340963" y="496845"/>
                </a:moveTo>
                <a:cubicBezTo>
                  <a:pt x="369376" y="328947"/>
                  <a:pt x="397790" y="161049"/>
                  <a:pt x="340963" y="78391"/>
                </a:cubicBezTo>
                <a:cubicBezTo>
                  <a:pt x="284136" y="-4267"/>
                  <a:pt x="142068" y="-1684"/>
                  <a:pt x="0" y="899"/>
                </a:cubicBezTo>
              </a:path>
            </a:pathLst>
          </a:custGeom>
          <a:ln>
            <a:solidFill>
              <a:srgbClr val="00B05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7B95088-1843-995E-793B-4CAC6DC178BD}"/>
              </a:ext>
            </a:extLst>
          </p:cNvPr>
          <p:cNvSpPr txBox="1"/>
          <p:nvPr/>
        </p:nvSpPr>
        <p:spPr>
          <a:xfrm>
            <a:off x="-76143" y="685800"/>
            <a:ext cx="3086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70C0"/>
                </a:solidFill>
              </a:rPr>
              <a:t>T.</a:t>
            </a:r>
            <a:r>
              <a:rPr lang="en-US" i="1" dirty="0" err="1">
                <a:solidFill>
                  <a:srgbClr val="0070C0"/>
                </a:solidFill>
              </a:rPr>
              <a:t>node</a:t>
            </a:r>
            <a:r>
              <a:rPr lang="en-US" i="1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= </a:t>
            </a:r>
            <a:r>
              <a:rPr lang="en-US" b="1" dirty="0">
                <a:solidFill>
                  <a:srgbClr val="0070C0"/>
                </a:solidFill>
              </a:rPr>
              <a:t>new </a:t>
            </a:r>
            <a:r>
              <a:rPr lang="en-US" i="1" dirty="0">
                <a:solidFill>
                  <a:srgbClr val="0070C0"/>
                </a:solidFill>
              </a:rPr>
              <a:t>Leaf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(</a:t>
            </a:r>
            <a:r>
              <a:rPr lang="en-US" b="1" dirty="0">
                <a:solidFill>
                  <a:srgbClr val="0070C0"/>
                </a:solidFill>
              </a:rPr>
              <a:t>id, </a:t>
            </a:r>
            <a:r>
              <a:rPr lang="en-US" b="1" dirty="0" err="1">
                <a:solidFill>
                  <a:srgbClr val="0070C0"/>
                </a:solidFill>
              </a:rPr>
              <a:t>id.</a:t>
            </a:r>
            <a:r>
              <a:rPr lang="en-US" i="1" dirty="0" err="1">
                <a:solidFill>
                  <a:srgbClr val="0070C0"/>
                </a:solidFill>
              </a:rPr>
              <a:t>entry</a:t>
            </a:r>
            <a:r>
              <a:rPr lang="en-US" dirty="0">
                <a:solidFill>
                  <a:srgbClr val="0070C0"/>
                </a:solidFill>
              </a:rPr>
              <a:t>)</a:t>
            </a:r>
            <a:endParaRPr lang="en-US" i="1" dirty="0">
              <a:solidFill>
                <a:srgbClr val="0070C0"/>
              </a:solidFill>
            </a:endParaRPr>
          </a:p>
        </p:txBody>
      </p:sp>
      <p:sp>
        <p:nvSpPr>
          <p:cNvPr id="167" name="Freeform: Shape 166">
            <a:extLst>
              <a:ext uri="{FF2B5EF4-FFF2-40B4-BE49-F238E27FC236}">
                <a16:creationId xmlns:a16="http://schemas.microsoft.com/office/drawing/2014/main" id="{30596327-D3BE-3BF9-0E93-0965F36C8096}"/>
              </a:ext>
            </a:extLst>
          </p:cNvPr>
          <p:cNvSpPr/>
          <p:nvPr/>
        </p:nvSpPr>
        <p:spPr>
          <a:xfrm>
            <a:off x="1746114" y="1534332"/>
            <a:ext cx="2841384" cy="3347634"/>
          </a:xfrm>
          <a:custGeom>
            <a:avLst/>
            <a:gdLst>
              <a:gd name="connsiteX0" fmla="*/ 2841384 w 2841384"/>
              <a:gd name="connsiteY0" fmla="*/ 0 h 3347634"/>
              <a:gd name="connsiteX1" fmla="*/ 392652 w 2841384"/>
              <a:gd name="connsiteY1" fmla="*/ 1255363 h 3347634"/>
              <a:gd name="connsiteX2" fmla="*/ 36191 w 2841384"/>
              <a:gd name="connsiteY2" fmla="*/ 3347634 h 3347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41384" h="3347634">
                <a:moveTo>
                  <a:pt x="2841384" y="0"/>
                </a:moveTo>
                <a:cubicBezTo>
                  <a:pt x="1850784" y="348712"/>
                  <a:pt x="860184" y="697424"/>
                  <a:pt x="392652" y="1255363"/>
                </a:cubicBezTo>
                <a:cubicBezTo>
                  <a:pt x="-74880" y="1813302"/>
                  <a:pt x="-19345" y="2580468"/>
                  <a:pt x="36191" y="3347634"/>
                </a:cubicBezTo>
              </a:path>
            </a:pathLst>
          </a:custGeom>
          <a:ln>
            <a:prstDash val="dash"/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2653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1000"/>
                            </p:stCondLst>
                            <p:childTnLst>
                              <p:par>
                                <p:cTn id="17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1000"/>
                            </p:stCondLst>
                            <p:childTnLst>
                              <p:par>
                                <p:cTn id="18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0" dur="1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1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7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4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>
                            <p:stCondLst>
                              <p:cond delay="1000"/>
                            </p:stCondLst>
                            <p:childTnLst>
                              <p:par>
                                <p:cTn id="20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7" dur="10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10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2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9" dur="10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0" dur="10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>
                            <p:stCondLst>
                              <p:cond delay="1000"/>
                            </p:stCondLst>
                            <p:childTnLst>
                              <p:par>
                                <p:cTn id="23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5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2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9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1" fill="hold">
                            <p:stCondLst>
                              <p:cond delay="1000"/>
                            </p:stCondLst>
                            <p:childTnLst>
                              <p:par>
                                <p:cTn id="26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4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5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6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"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2" dur="10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3" dur="10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6"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7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8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3"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4" dur="1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5" dur="1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6" fill="hold">
                            <p:stCondLst>
                              <p:cond delay="1000"/>
                            </p:stCondLst>
                            <p:childTnLst>
                              <p:par>
                                <p:cTn id="28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9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0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1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4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5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6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9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0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1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>
                      <p:stCondLst>
                        <p:cond delay="indefinite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6"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7" dur="10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8" dur="10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9" fill="hold">
                            <p:stCondLst>
                              <p:cond delay="1000"/>
                            </p:stCondLst>
                            <p:childTnLst>
                              <p:par>
                                <p:cTn id="31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2"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3" dur="1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4" dur="1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9"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0" dur="1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1" dur="1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2" fill="hold">
                            <p:stCondLst>
                              <p:cond delay="1000"/>
                            </p:stCondLst>
                            <p:childTnLst>
                              <p:par>
                                <p:cTn id="3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5"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6" dur="1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7" dur="1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8" fill="hold">
                      <p:stCondLst>
                        <p:cond delay="indefinite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2"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3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4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3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8"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9" dur="1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0" dur="1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1" fill="hold">
                      <p:stCondLst>
                        <p:cond delay="indefinite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5"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6" dur="10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7" dur="10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8" fill="hold">
                            <p:stCondLst>
                              <p:cond delay="1000"/>
                            </p:stCondLst>
                            <p:childTnLst>
                              <p:par>
                                <p:cTn id="34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1"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2" dur="1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3" dur="1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9" grpId="0"/>
      <p:bldP spid="30" grpId="0"/>
      <p:bldP spid="31" grpId="0"/>
      <p:bldP spid="32" grpId="0"/>
      <p:bldP spid="24" grpId="0"/>
      <p:bldP spid="64" grpId="0"/>
      <p:bldP spid="146" grpId="0"/>
      <p:bldP spid="343" grpId="0"/>
      <p:bldP spid="95" grpId="0"/>
      <p:bldP spid="96" grpId="0"/>
      <p:bldP spid="98" grpId="0"/>
      <p:bldP spid="100" grpId="0"/>
      <p:bldP spid="101" grpId="0"/>
      <p:bldP spid="102" grpId="0"/>
      <p:bldP spid="106" grpId="0"/>
      <p:bldP spid="108" grpId="0"/>
      <p:bldP spid="113" grpId="0"/>
      <p:bldP spid="116" grpId="0"/>
      <p:bldP spid="119" grpId="0"/>
      <p:bldP spid="121" grpId="0"/>
      <p:bldP spid="126" grpId="0"/>
      <p:bldP spid="127" grpId="0"/>
      <p:bldP spid="128" grpId="0"/>
      <p:bldP spid="129" grpId="0"/>
      <p:bldP spid="112" grpId="0" animBg="1"/>
      <p:bldP spid="115" grpId="0" animBg="1"/>
      <p:bldP spid="120" grpId="0" animBg="1"/>
      <p:bldP spid="130" grpId="0" animBg="1"/>
      <p:bldP spid="131" grpId="0" animBg="1"/>
      <p:bldP spid="136" grpId="0" animBg="1"/>
      <p:bldP spid="137" grpId="0" animBg="1"/>
      <p:bldP spid="139" grpId="0" animBg="1"/>
      <p:bldP spid="94" grpId="0"/>
      <p:bldP spid="167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Candara" pitchFamily="34" charset="0"/>
              </a:rPr>
              <a:t>Construction of AST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Candara" pitchFamily="34" charset="0"/>
              </a:rPr>
              <a:t>Dept of CSE, BUET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>
                <a:latin typeface="Candara" pitchFamily="34" charset="0"/>
              </a:rPr>
              <a:pPr/>
              <a:t>47</a:t>
            </a:fld>
            <a:endParaRPr lang="en-US" dirty="0">
              <a:latin typeface="Candara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57200" y="1600200"/>
            <a:ext cx="63850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ndara" pitchFamily="34" charset="0"/>
              </a:rPr>
              <a:t>Example 2: AST construction in </a:t>
            </a:r>
            <a:r>
              <a:rPr lang="en-US" sz="2400" dirty="0">
                <a:solidFill>
                  <a:srgbClr val="C00000"/>
                </a:solidFill>
                <a:latin typeface="Candara" pitchFamily="34" charset="0"/>
              </a:rPr>
              <a:t>L-attributed SDD</a:t>
            </a:r>
          </a:p>
        </p:txBody>
      </p:sp>
      <p:pic>
        <p:nvPicPr>
          <p:cNvPr id="8" name="Content Placeholder 7" descr="astlsdd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928687" y="2209800"/>
            <a:ext cx="7286625" cy="3429000"/>
          </a:xfrm>
        </p:spPr>
      </p:pic>
      <p:cxnSp>
        <p:nvCxnSpPr>
          <p:cNvPr id="11" name="Straight Connector 10"/>
          <p:cNvCxnSpPr/>
          <p:nvPr/>
        </p:nvCxnSpPr>
        <p:spPr>
          <a:xfrm>
            <a:off x="5410200" y="2971800"/>
            <a:ext cx="1752600" cy="15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3352800" y="3276600"/>
            <a:ext cx="4572000" cy="15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3429000" y="3886200"/>
            <a:ext cx="4572000" cy="15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3429000" y="4495800"/>
            <a:ext cx="1676400" cy="15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5109" y="5558135"/>
            <a:ext cx="53222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ndara" pitchFamily="34" charset="0"/>
              </a:rPr>
              <a:t>Just like we calculated value previously!</a:t>
            </a:r>
            <a:endParaRPr lang="en-US" sz="2400" dirty="0">
              <a:solidFill>
                <a:srgbClr val="C00000"/>
              </a:solidFill>
              <a:latin typeface="Candar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1028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ndara" pitchFamily="34" charset="0"/>
              </a:rPr>
              <a:t>Dept of CSE, BUET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>
                <a:latin typeface="Candara" pitchFamily="34" charset="0"/>
              </a:rPr>
              <a:pPr/>
              <a:t>48</a:t>
            </a:fld>
            <a:endParaRPr lang="en-US">
              <a:latin typeface="Candara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123950"/>
            <a:ext cx="4524375" cy="29146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6271" y="4263886"/>
            <a:ext cx="4533900" cy="20288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905375" y="2046496"/>
            <a:ext cx="152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6">
                    <a:lumMod val="75000"/>
                  </a:schemeClr>
                </a:solidFill>
              </a:rPr>
              <a:t>SDD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62800" y="3581400"/>
            <a:ext cx="152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4000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SDT</a:t>
            </a:r>
          </a:p>
        </p:txBody>
      </p:sp>
      <p:sp>
        <p:nvSpPr>
          <p:cNvPr id="3" name="Arrow: Curved Right 2">
            <a:extLst>
              <a:ext uri="{FF2B5EF4-FFF2-40B4-BE49-F238E27FC236}">
                <a16:creationId xmlns:a16="http://schemas.microsoft.com/office/drawing/2014/main" id="{7BB7A19E-1C95-D8A1-1ECC-DC71493EB44B}"/>
              </a:ext>
            </a:extLst>
          </p:cNvPr>
          <p:cNvSpPr/>
          <p:nvPr/>
        </p:nvSpPr>
        <p:spPr>
          <a:xfrm rot="20097855">
            <a:off x="2505653" y="4198678"/>
            <a:ext cx="838200" cy="1584325"/>
          </a:xfrm>
          <a:prstGeom prst="curvedRightArrow">
            <a:avLst/>
          </a:prstGeom>
          <a:solidFill>
            <a:srgbClr val="CC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AFD619C-F677-2C72-AAEB-699B3CDBF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152400"/>
            <a:ext cx="8229600" cy="1143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r>
              <a:rPr lang="en-US" sz="3200" dirty="0">
                <a:solidFill>
                  <a:schemeClr val="tx2">
                    <a:lumMod val="50000"/>
                  </a:schemeClr>
                </a:solidFill>
                <a:latin typeface="Candara" pitchFamily="34" charset="0"/>
              </a:rPr>
              <a:t>Syntax-Directed Translation Schemes (SDT)</a:t>
            </a:r>
          </a:p>
        </p:txBody>
      </p:sp>
      <p:sp>
        <p:nvSpPr>
          <p:cNvPr id="15" name="Speech Bubble: Oval 14">
            <a:extLst>
              <a:ext uri="{FF2B5EF4-FFF2-40B4-BE49-F238E27FC236}">
                <a16:creationId xmlns:a16="http://schemas.microsoft.com/office/drawing/2014/main" id="{7A1B2D8B-604E-36F2-ED9C-3DE835F97CE3}"/>
              </a:ext>
            </a:extLst>
          </p:cNvPr>
          <p:cNvSpPr/>
          <p:nvPr/>
        </p:nvSpPr>
        <p:spPr>
          <a:xfrm>
            <a:off x="4572000" y="2982982"/>
            <a:ext cx="1676400" cy="827296"/>
          </a:xfrm>
          <a:prstGeom prst="wedgeEllipseCallout">
            <a:avLst>
              <a:gd name="adj1" fmla="val 64284"/>
              <a:gd name="adj2" fmla="val 114440"/>
            </a:avLst>
          </a:prstGeom>
          <a:noFill/>
          <a:ln w="952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Semantic Action</a:t>
            </a:r>
          </a:p>
        </p:txBody>
      </p:sp>
    </p:spTree>
    <p:extLst>
      <p:ext uri="{BB962C8B-B14F-4D97-AF65-F5344CB8AC3E}">
        <p14:creationId xmlns:p14="http://schemas.microsoft.com/office/powerpoint/2010/main" val="295408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3" grpId="0" animBg="1"/>
      <p:bldP spid="1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ndara" pitchFamily="34" charset="0"/>
              </a:rPr>
              <a:t>Dept of CSE, BUET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>
                <a:latin typeface="Candara" pitchFamily="34" charset="0"/>
              </a:rPr>
              <a:pPr/>
              <a:t>49</a:t>
            </a:fld>
            <a:endParaRPr lang="en-US">
              <a:latin typeface="Candara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0" y="2949714"/>
            <a:ext cx="152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6">
                    <a:lumMod val="75000"/>
                  </a:schemeClr>
                </a:solidFill>
              </a:rPr>
              <a:t>SDD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657600"/>
            <a:ext cx="152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4000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SDT</a:t>
            </a:r>
          </a:p>
        </p:txBody>
      </p:sp>
      <p:sp>
        <p:nvSpPr>
          <p:cNvPr id="3" name="Arrow: Curved Right 2">
            <a:extLst>
              <a:ext uri="{FF2B5EF4-FFF2-40B4-BE49-F238E27FC236}">
                <a16:creationId xmlns:a16="http://schemas.microsoft.com/office/drawing/2014/main" id="{7BB7A19E-1C95-D8A1-1ECC-DC71493EB44B}"/>
              </a:ext>
            </a:extLst>
          </p:cNvPr>
          <p:cNvSpPr/>
          <p:nvPr/>
        </p:nvSpPr>
        <p:spPr>
          <a:xfrm rot="20097855">
            <a:off x="2218746" y="3912928"/>
            <a:ext cx="838200" cy="1584325"/>
          </a:xfrm>
          <a:prstGeom prst="curvedRightArrow">
            <a:avLst/>
          </a:prstGeom>
          <a:solidFill>
            <a:srgbClr val="CC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AFD619C-F677-2C72-AAEB-699B3CDBF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152400"/>
            <a:ext cx="8229600" cy="1143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r>
              <a:rPr lang="en-US" sz="3200" dirty="0">
                <a:solidFill>
                  <a:schemeClr val="tx2">
                    <a:lumMod val="50000"/>
                  </a:schemeClr>
                </a:solidFill>
                <a:latin typeface="Candara" pitchFamily="34" charset="0"/>
              </a:rPr>
              <a:t>Syntax-Directed Translation Schemes (SDT)</a:t>
            </a:r>
          </a:p>
        </p:txBody>
      </p:sp>
      <p:graphicFrame>
        <p:nvGraphicFramePr>
          <p:cNvPr id="2" name="Table 6">
            <a:extLst>
              <a:ext uri="{FF2B5EF4-FFF2-40B4-BE49-F238E27FC236}">
                <a16:creationId xmlns:a16="http://schemas.microsoft.com/office/drawing/2014/main" id="{0E3E29DC-D9CF-B9B4-804C-612E7F97C4F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20912413"/>
              </p:ext>
            </p:extLst>
          </p:nvPr>
        </p:nvGraphicFramePr>
        <p:xfrm>
          <a:off x="228600" y="914400"/>
          <a:ext cx="3505200" cy="259080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918647018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8607629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Prod.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kern="120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Semantic</a:t>
                      </a:r>
                      <a:r>
                        <a:rPr lang="en-US" sz="120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 </a:t>
                      </a:r>
                      <a:r>
                        <a:rPr lang="en-US" sz="2000" b="0" kern="120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Actions</a:t>
                      </a:r>
                      <a:endParaRPr lang="en-US" sz="2000" b="0" kern="120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40473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000" b="0" dirty="0">
                          <a:sym typeface="Wingdings" panose="05000000000000000000" pitchFamily="2" charset="2"/>
                        </a:rPr>
                        <a:t>T  </a:t>
                      </a:r>
                      <a:r>
                        <a:rPr lang="en-US" sz="1800" b="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2000" b="0" dirty="0">
                          <a:sym typeface="Wingdings" panose="05000000000000000000" pitchFamily="2" charset="2"/>
                        </a:rPr>
                        <a:t> FT</a:t>
                      </a:r>
                      <a:r>
                        <a:rPr lang="en-US" sz="1800" b="0" baseline="50000" dirty="0">
                          <a:sym typeface="Wingdings" panose="05000000000000000000" pitchFamily="2" charset="2"/>
                        </a:rPr>
                        <a:t>/</a:t>
                      </a:r>
                      <a:endParaRPr lang="en-US" sz="2000" b="0" i="1" baseline="5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0" dirty="0">
                          <a:solidFill>
                            <a:schemeClr val="accent6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T</a:t>
                      </a:r>
                      <a:r>
                        <a:rPr lang="en-US" sz="1800" b="0" baseline="50000" dirty="0">
                          <a:solidFill>
                            <a:schemeClr val="accent6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/</a:t>
                      </a:r>
                      <a:r>
                        <a:rPr lang="en-US" sz="1800" b="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2000" b="0" i="1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inh</a:t>
                      </a:r>
                      <a:r>
                        <a:rPr lang="en-US" sz="2000" b="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=F.</a:t>
                      </a:r>
                      <a:r>
                        <a:rPr lang="en-US" sz="2000" b="0" i="1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val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baseline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T.</a:t>
                      </a:r>
                      <a:r>
                        <a:rPr lang="en-US" sz="2000" b="0" i="1" kern="1200" baseline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val</a:t>
                      </a:r>
                      <a:r>
                        <a:rPr lang="en-US" sz="2000" b="0" kern="1200" baseline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20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T</a:t>
                      </a:r>
                      <a:r>
                        <a:rPr lang="en-US" sz="1800" b="0" baseline="500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/</a:t>
                      </a:r>
                      <a:r>
                        <a:rPr lang="en-US" sz="1800" b="0" baseline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2000" b="0" i="1" baseline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syn</a:t>
                      </a:r>
                      <a:endParaRPr lang="en-US" sz="2000" b="0" i="1" kern="1200" baseline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062531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000" b="0" dirty="0">
                          <a:sym typeface="Wingdings" panose="05000000000000000000" pitchFamily="2" charset="2"/>
                        </a:rPr>
                        <a:t>T</a:t>
                      </a:r>
                      <a:r>
                        <a:rPr lang="en-US" sz="1800" b="0" baseline="50000" dirty="0">
                          <a:sym typeface="Wingdings" panose="05000000000000000000" pitchFamily="2" charset="2"/>
                        </a:rPr>
                        <a:t>/</a:t>
                      </a:r>
                      <a:r>
                        <a:rPr lang="en-US" sz="2000" b="0" baseline="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b="0" baseline="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2000" b="0" baseline="0" dirty="0">
                          <a:sym typeface="Wingdings" panose="05000000000000000000" pitchFamily="2" charset="2"/>
                        </a:rPr>
                        <a:t> *F</a:t>
                      </a:r>
                      <a:r>
                        <a:rPr lang="en-US" sz="2000" b="0" dirty="0">
                          <a:sym typeface="Wingdings" panose="05000000000000000000" pitchFamily="2" charset="2"/>
                        </a:rPr>
                        <a:t>T</a:t>
                      </a:r>
                      <a:r>
                        <a:rPr lang="en-US" sz="1800" b="0" baseline="-30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b="0" baseline="50000" dirty="0">
                          <a:sym typeface="Wingdings" panose="05000000000000000000" pitchFamily="2" charset="2"/>
                        </a:rPr>
                        <a:t>/</a:t>
                      </a:r>
                      <a:endParaRPr lang="en-US" sz="2400" b="0" i="1" baseline="5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T</a:t>
                      </a:r>
                      <a:r>
                        <a:rPr kumimoji="0" lang="en-US" sz="1800" b="0" u="none" strike="noStrike" kern="1200" cap="none" spc="0" normalizeH="0" baseline="-30000" noProof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1</a:t>
                      </a:r>
                      <a:r>
                        <a:rPr kumimoji="0" lang="en-US" sz="1800" b="0" u="none" strike="noStrike" kern="1200" cap="none" spc="0" normalizeH="0" baseline="50000" noProof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/</a:t>
                      </a:r>
                      <a:r>
                        <a:rPr lang="en-US" sz="1800" b="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2000" b="0" i="1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inh</a:t>
                      </a:r>
                      <a:r>
                        <a:rPr lang="en-US" sz="2000" b="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2000" b="0" dirty="0">
                          <a:solidFill>
                            <a:schemeClr val="accent6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T</a:t>
                      </a:r>
                      <a:r>
                        <a:rPr lang="en-US" sz="1800" b="0" baseline="50000" dirty="0">
                          <a:solidFill>
                            <a:schemeClr val="accent6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/</a:t>
                      </a:r>
                      <a:r>
                        <a:rPr lang="en-US" sz="1800" b="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2000" b="0" i="1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inh</a:t>
                      </a:r>
                      <a:r>
                        <a:rPr lang="en-US" sz="2000" b="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 x F.</a:t>
                      </a:r>
                      <a:r>
                        <a:rPr lang="en-US" sz="2000" b="0" i="1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val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T</a:t>
                      </a:r>
                      <a:r>
                        <a:rPr lang="en-US" sz="1800" b="0" baseline="500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/</a:t>
                      </a:r>
                      <a:r>
                        <a:rPr lang="en-US" sz="1800" b="0" baseline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2000" b="0" i="1" baseline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syn</a:t>
                      </a:r>
                      <a:r>
                        <a:rPr lang="en-US" sz="2000" b="0" kern="1200" baseline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=</a:t>
                      </a:r>
                      <a:r>
                        <a:rPr kumimoji="0" 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T</a:t>
                      </a:r>
                      <a:r>
                        <a:rPr kumimoji="0" lang="en-US" sz="1800" b="0" u="none" strike="noStrike" kern="1200" cap="none" spc="0" normalizeH="0" baseline="-30000" noProof="0" dirty="0">
                          <a:ln>
                            <a:noFill/>
                          </a:ln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1</a:t>
                      </a:r>
                      <a:r>
                        <a:rPr kumimoji="0" lang="en-US" sz="1800" b="0" u="none" strike="noStrike" kern="1200" cap="none" spc="0" normalizeH="0" baseline="50000" noProof="0" dirty="0">
                          <a:ln>
                            <a:noFill/>
                          </a:ln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/</a:t>
                      </a:r>
                      <a:r>
                        <a:rPr lang="en-US" sz="1800" b="0" baseline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2000" b="0" i="1" baseline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syn</a:t>
                      </a:r>
                      <a:endParaRPr lang="en-US" sz="2000" b="0" i="1" kern="1200" baseline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503394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T</a:t>
                      </a:r>
                      <a:r>
                        <a:rPr kumimoji="0" lang="en-US" sz="1800" b="0" u="none" strike="noStrike" kern="1200" cap="none" spc="0" normalizeH="0" baseline="5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/</a:t>
                      </a:r>
                      <a:r>
                        <a:rPr kumimoji="0" 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0" lang="en-US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</a:t>
                      </a:r>
                      <a:r>
                        <a:rPr kumimoji="0" 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  Ɛ</a:t>
                      </a:r>
                      <a:endParaRPr kumimoji="0" lang="en-US" sz="2400" b="0" i="1" u="none" strike="noStrike" kern="1200" cap="none" spc="0" normalizeH="0" baseline="5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T</a:t>
                      </a:r>
                      <a:r>
                        <a:rPr lang="en-US" sz="1800" b="0" baseline="500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/</a:t>
                      </a:r>
                      <a:r>
                        <a:rPr lang="en-US" sz="1800" b="0" baseline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2000" b="0" i="1" baseline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syn=</a:t>
                      </a:r>
                      <a:r>
                        <a:rPr kumimoji="0" 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T</a:t>
                      </a:r>
                      <a:r>
                        <a:rPr kumimoji="0" lang="en-US" sz="1800" b="0" u="none" strike="noStrike" kern="1200" cap="none" spc="0" normalizeH="0" baseline="50000" noProof="0" dirty="0">
                          <a:ln>
                            <a:noFill/>
                          </a:ln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/</a:t>
                      </a:r>
                      <a:r>
                        <a:rPr lang="en-US" sz="1800" b="0" baseline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2000" b="0" i="1" baseline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inh</a:t>
                      </a:r>
                      <a:endParaRPr lang="en-US" sz="2000" b="0" i="1" kern="1200" baseline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77593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F  </a:t>
                      </a:r>
                      <a:r>
                        <a:rPr kumimoji="0" lang="en-US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</a:t>
                      </a:r>
                      <a:r>
                        <a:rPr kumimoji="0" 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digit</a:t>
                      </a:r>
                      <a:endParaRPr kumimoji="0" lang="en-US" sz="2400" b="1" i="1" u="none" strike="noStrike" kern="1200" cap="none" spc="0" normalizeH="0" baseline="5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baseline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F.</a:t>
                      </a:r>
                      <a:r>
                        <a:rPr lang="en-US" sz="2000" b="0" i="1" baseline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val</a:t>
                      </a:r>
                      <a:r>
                        <a:rPr lang="en-US" sz="2000" b="0" kern="1200" baseline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2000" b="1" kern="1200" baseline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digit</a:t>
                      </a:r>
                      <a:r>
                        <a:rPr lang="en-US" sz="2000" b="0" kern="1200" baseline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2000" b="0" i="1" kern="1200" baseline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lexval</a:t>
                      </a:r>
                      <a:endParaRPr lang="en-US" sz="2000" b="0" i="1" baseline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sym typeface="Wingdings" panose="05000000000000000000" pitchFamily="2" charset="2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71529052"/>
                  </a:ext>
                </a:extLst>
              </a:tr>
            </a:tbl>
          </a:graphicData>
        </a:graphic>
      </p:graphicFrame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8AF42CAF-5E55-938F-F619-C68F8A5A0A6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39375550"/>
              </p:ext>
            </p:extLst>
          </p:nvPr>
        </p:nvGraphicFramePr>
        <p:xfrm>
          <a:off x="3810000" y="4343400"/>
          <a:ext cx="5181600" cy="158496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5181600">
                  <a:extLst>
                    <a:ext uri="{9D8B030D-6E8A-4147-A177-3AD203B41FA5}">
                      <a16:colId xmlns:a16="http://schemas.microsoft.com/office/drawing/2014/main" val="35997885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ym typeface="Wingdings" panose="05000000000000000000" pitchFamily="2" charset="2"/>
                        </a:rPr>
                        <a:t>T  </a:t>
                      </a:r>
                      <a:r>
                        <a:rPr lang="en-US" sz="1800" b="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2000" b="0" dirty="0">
                          <a:sym typeface="Wingdings" panose="05000000000000000000" pitchFamily="2" charset="2"/>
                        </a:rPr>
                        <a:t> F {</a:t>
                      </a:r>
                      <a:r>
                        <a:rPr lang="en-US" sz="2000" b="0" dirty="0">
                          <a:solidFill>
                            <a:schemeClr val="accent6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T</a:t>
                      </a:r>
                      <a:r>
                        <a:rPr lang="en-US" sz="1800" b="0" baseline="50000" dirty="0">
                          <a:solidFill>
                            <a:schemeClr val="accent6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/</a:t>
                      </a:r>
                      <a:r>
                        <a:rPr lang="en-US" sz="1800" b="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2000" b="0" i="1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inh</a:t>
                      </a:r>
                      <a:r>
                        <a:rPr lang="en-US" sz="2000" b="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 = </a:t>
                      </a:r>
                      <a:r>
                        <a:rPr lang="en-US" sz="2000" b="0" baseline="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F.</a:t>
                      </a:r>
                      <a:r>
                        <a:rPr lang="en-US" sz="2000" b="0" i="1" baseline="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val</a:t>
                      </a:r>
                      <a:r>
                        <a:rPr lang="en-US" sz="2000" b="0" dirty="0">
                          <a:sym typeface="Wingdings" panose="05000000000000000000" pitchFamily="2" charset="2"/>
                        </a:rPr>
                        <a:t>} T</a:t>
                      </a:r>
                      <a:r>
                        <a:rPr lang="en-US" sz="1800" b="0" baseline="50000" dirty="0">
                          <a:sym typeface="Wingdings" panose="05000000000000000000" pitchFamily="2" charset="2"/>
                        </a:rPr>
                        <a:t>/</a:t>
                      </a:r>
                      <a:r>
                        <a:rPr lang="en-US" sz="1800" b="0" baseline="0" dirty="0">
                          <a:sym typeface="Wingdings" panose="05000000000000000000" pitchFamily="2" charset="2"/>
                        </a:rPr>
                        <a:t>{</a:t>
                      </a:r>
                      <a:r>
                        <a:rPr lang="en-US" sz="2000" b="0" kern="1200" baseline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T.</a:t>
                      </a:r>
                      <a:r>
                        <a:rPr lang="en-US" sz="2000" b="0" i="1" kern="1200" baseline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val</a:t>
                      </a:r>
                      <a:r>
                        <a:rPr lang="en-US" sz="2000" b="0" kern="1200" baseline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 = </a:t>
                      </a:r>
                      <a:r>
                        <a:rPr lang="en-US" sz="20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T</a:t>
                      </a:r>
                      <a:r>
                        <a:rPr lang="en-US" sz="1800" b="0" baseline="500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/</a:t>
                      </a:r>
                      <a:r>
                        <a:rPr lang="en-US" sz="1800" b="0" baseline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2000" b="0" i="1" baseline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syn</a:t>
                      </a:r>
                      <a:r>
                        <a:rPr lang="en-US" sz="2000" b="0" baseline="0" dirty="0">
                          <a:sym typeface="Wingdings" panose="05000000000000000000" pitchFamily="2" charset="2"/>
                        </a:rPr>
                        <a:t>}</a:t>
                      </a:r>
                      <a:endParaRPr lang="en-US" sz="2000" b="0" kern="12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4062531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ym typeface="Wingdings" panose="05000000000000000000" pitchFamily="2" charset="2"/>
                        </a:rPr>
                        <a:t>T</a:t>
                      </a:r>
                      <a:r>
                        <a:rPr lang="en-US" sz="1800" b="0" baseline="50000" dirty="0">
                          <a:sym typeface="Wingdings" panose="05000000000000000000" pitchFamily="2" charset="2"/>
                        </a:rPr>
                        <a:t>/</a:t>
                      </a:r>
                      <a:r>
                        <a:rPr lang="en-US" sz="2000" b="0" baseline="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b="0" baseline="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2000" b="0" baseline="0" dirty="0">
                          <a:sym typeface="Wingdings" panose="05000000000000000000" pitchFamily="2" charset="2"/>
                        </a:rPr>
                        <a:t> *F </a:t>
                      </a:r>
                      <a:r>
                        <a:rPr kumimoji="0" 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{</a:t>
                      </a:r>
                      <a:r>
                        <a:rPr kumimoji="0" 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T</a:t>
                      </a:r>
                      <a:r>
                        <a:rPr kumimoji="0" lang="en-US" sz="1800" b="0" u="none" strike="noStrike" kern="1200" cap="none" spc="0" normalizeH="0" baseline="-30000" noProof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1</a:t>
                      </a:r>
                      <a:r>
                        <a:rPr kumimoji="0" lang="en-US" sz="1800" b="0" u="none" strike="noStrike" kern="1200" cap="none" spc="0" normalizeH="0" baseline="50000" noProof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/</a:t>
                      </a:r>
                      <a:r>
                        <a:rPr lang="en-US" sz="1800" b="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2000" b="0" i="1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inh</a:t>
                      </a:r>
                      <a:r>
                        <a:rPr lang="en-US" sz="2000" b="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2000" b="0" dirty="0">
                          <a:solidFill>
                            <a:schemeClr val="accent6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T</a:t>
                      </a:r>
                      <a:r>
                        <a:rPr lang="en-US" sz="1800" b="0" baseline="50000" dirty="0">
                          <a:solidFill>
                            <a:schemeClr val="accent6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/</a:t>
                      </a:r>
                      <a:r>
                        <a:rPr lang="en-US" sz="1800" b="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2000" b="0" i="1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inh</a:t>
                      </a:r>
                      <a:r>
                        <a:rPr lang="en-US" sz="2000" b="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 x </a:t>
                      </a:r>
                      <a:r>
                        <a:rPr lang="en-US" sz="2000" b="0" baseline="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F.</a:t>
                      </a:r>
                      <a:r>
                        <a:rPr lang="en-US" sz="2000" b="0" i="1" baseline="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val</a:t>
                      </a:r>
                      <a:r>
                        <a:rPr lang="en-US" sz="2000" b="0" baseline="0" dirty="0">
                          <a:sym typeface="Wingdings" panose="05000000000000000000" pitchFamily="2" charset="2"/>
                        </a:rPr>
                        <a:t>} </a:t>
                      </a:r>
                      <a:r>
                        <a:rPr lang="en-US" sz="2000" b="0" dirty="0">
                          <a:sym typeface="Wingdings" panose="05000000000000000000" pitchFamily="2" charset="2"/>
                        </a:rPr>
                        <a:t>T</a:t>
                      </a:r>
                      <a:r>
                        <a:rPr lang="en-US" sz="1800" b="0" baseline="-30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b="0" baseline="50000" dirty="0">
                          <a:sym typeface="Wingdings" panose="05000000000000000000" pitchFamily="2" charset="2"/>
                        </a:rPr>
                        <a:t>/ </a:t>
                      </a:r>
                      <a:r>
                        <a:rPr lang="en-US" sz="2000" b="0" dirty="0">
                          <a:sym typeface="Wingdings" panose="05000000000000000000" pitchFamily="2" charset="2"/>
                        </a:rPr>
                        <a:t>{</a:t>
                      </a:r>
                      <a:r>
                        <a:rPr lang="en-US" sz="20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T</a:t>
                      </a:r>
                      <a:r>
                        <a:rPr lang="en-US" sz="2000" b="0" baseline="500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/</a:t>
                      </a:r>
                      <a:r>
                        <a:rPr lang="en-US" sz="2000" b="0" baseline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2000" b="0" i="1" baseline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syn</a:t>
                      </a:r>
                      <a:r>
                        <a:rPr lang="en-US" sz="2000" b="0" kern="1200" baseline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=</a:t>
                      </a:r>
                      <a:r>
                        <a:rPr kumimoji="0" 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T</a:t>
                      </a:r>
                      <a:r>
                        <a:rPr kumimoji="0" lang="en-US" sz="2000" b="0" u="none" strike="noStrike" kern="1200" cap="none" spc="0" normalizeH="0" baseline="-30000" noProof="0" dirty="0">
                          <a:ln>
                            <a:noFill/>
                          </a:ln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1</a:t>
                      </a:r>
                      <a:r>
                        <a:rPr kumimoji="0" lang="en-US" sz="2000" b="0" u="none" strike="noStrike" kern="1200" cap="none" spc="0" normalizeH="0" baseline="50000" noProof="0" dirty="0">
                          <a:ln>
                            <a:noFill/>
                          </a:ln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/</a:t>
                      </a:r>
                      <a:r>
                        <a:rPr lang="en-US" sz="2000" b="0" baseline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2000" b="0" i="1" baseline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syn</a:t>
                      </a:r>
                      <a:r>
                        <a:rPr lang="en-US" sz="2000" b="0" i="1" baseline="0" dirty="0">
                          <a:sym typeface="Wingdings" panose="05000000000000000000" pitchFamily="2" charset="2"/>
                        </a:rPr>
                        <a:t>}</a:t>
                      </a:r>
                      <a:endParaRPr lang="en-US" sz="2000" b="0" i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503394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T</a:t>
                      </a:r>
                      <a:r>
                        <a:rPr kumimoji="0" lang="en-US" sz="1800" b="0" u="none" strike="noStrike" kern="1200" cap="none" spc="0" normalizeH="0" baseline="5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/</a:t>
                      </a:r>
                      <a:r>
                        <a:rPr kumimoji="0" 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0" lang="en-US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</a:t>
                      </a:r>
                      <a:r>
                        <a:rPr kumimoji="0" 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  Ɛ </a:t>
                      </a:r>
                      <a:r>
                        <a:rPr lang="en-US" sz="2000" b="0" dirty="0">
                          <a:sym typeface="Wingdings" panose="05000000000000000000" pitchFamily="2" charset="2"/>
                        </a:rPr>
                        <a:t>{</a:t>
                      </a:r>
                      <a:r>
                        <a:rPr lang="en-US" sz="20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T</a:t>
                      </a:r>
                      <a:r>
                        <a:rPr lang="en-US" sz="2000" b="0" baseline="500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/</a:t>
                      </a:r>
                      <a:r>
                        <a:rPr lang="en-US" sz="2000" b="0" baseline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2000" b="0" i="1" baseline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syn</a:t>
                      </a:r>
                      <a:r>
                        <a:rPr lang="en-US" sz="2000" b="0" kern="1200" baseline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 = </a:t>
                      </a:r>
                      <a:r>
                        <a:rPr kumimoji="0" 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T</a:t>
                      </a:r>
                      <a:r>
                        <a:rPr kumimoji="0" lang="en-US" sz="2000" b="0" u="none" strike="noStrike" kern="1200" cap="none" spc="0" normalizeH="0" baseline="-30000" noProof="0" dirty="0">
                          <a:ln>
                            <a:noFill/>
                          </a:ln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1</a:t>
                      </a:r>
                      <a:r>
                        <a:rPr kumimoji="0" lang="en-US" sz="2000" b="0" u="none" strike="noStrike" kern="1200" cap="none" spc="0" normalizeH="0" baseline="50000" noProof="0" dirty="0">
                          <a:ln>
                            <a:noFill/>
                          </a:ln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/</a:t>
                      </a:r>
                      <a:r>
                        <a:rPr lang="en-US" sz="2000" b="0" baseline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2000" b="0" i="1" baseline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syn</a:t>
                      </a:r>
                      <a:r>
                        <a:rPr lang="en-US" sz="2000" b="0" baseline="0" dirty="0">
                          <a:sym typeface="Wingdings" panose="05000000000000000000" pitchFamily="2" charset="2"/>
                        </a:rPr>
                        <a:t>}</a:t>
                      </a:r>
                      <a:endParaRPr lang="en-US" sz="2000" b="0" i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77593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F  </a:t>
                      </a:r>
                      <a:r>
                        <a:rPr kumimoji="0" lang="en-US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</a:t>
                      </a:r>
                      <a:r>
                        <a:rPr kumimoji="0" 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digit </a:t>
                      </a:r>
                      <a:r>
                        <a:rPr lang="en-US" sz="2000" b="0" baseline="0" dirty="0">
                          <a:sym typeface="Wingdings" panose="05000000000000000000" pitchFamily="2" charset="2"/>
                        </a:rPr>
                        <a:t>{</a:t>
                      </a:r>
                      <a:r>
                        <a:rPr lang="en-US" sz="2000" b="0" baseline="0" dirty="0" err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F.</a:t>
                      </a:r>
                      <a:r>
                        <a:rPr lang="en-US" sz="2000" b="0" i="1" baseline="0" dirty="0" err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val</a:t>
                      </a:r>
                      <a:r>
                        <a:rPr lang="en-US" sz="2000" b="0" kern="1200" baseline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 = </a:t>
                      </a:r>
                      <a:r>
                        <a:rPr lang="en-US" sz="2000" b="1" kern="1200" baseline="0" dirty="0" err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digit</a:t>
                      </a:r>
                      <a:r>
                        <a:rPr lang="en-US" sz="2000" b="0" kern="1200" baseline="0" dirty="0" err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2000" b="0" i="1" kern="1200" baseline="0" dirty="0" err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lexval</a:t>
                      </a:r>
                      <a:r>
                        <a:rPr lang="en-US" sz="2000" b="0" kern="1200" baseline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}</a:t>
                      </a:r>
                      <a:endParaRPr lang="en-US" sz="2000" b="0" i="1" baseline="0" dirty="0">
                        <a:sym typeface="Wingdings" panose="05000000000000000000" pitchFamily="2" charset="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6715290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9837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Candara" pitchFamily="34" charset="0"/>
              </a:rPr>
              <a:t>Syntax-Directed Translation Schemes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525963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SDT is complementary notation of SDD</a:t>
            </a:r>
          </a:p>
          <a:p>
            <a:pPr lvl="1"/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SDD easier to read</a:t>
            </a:r>
          </a:p>
          <a:p>
            <a:pPr lvl="1"/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SDT easier to implement</a:t>
            </a:r>
          </a:p>
          <a:p>
            <a:pPr lvl="1"/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All SDD we encountered so far can be implemented using SDT</a:t>
            </a:r>
            <a:endParaRPr lang="en-US" sz="2400" dirty="0">
              <a:solidFill>
                <a:schemeClr val="bg2">
                  <a:lumMod val="10000"/>
                </a:schemeClr>
              </a:solidFill>
              <a:latin typeface="Candara" pitchFamily="34" charset="0"/>
            </a:endParaRPr>
          </a:p>
          <a:p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Candara" pitchFamily="34" charset="0"/>
              </a:rPr>
              <a:t>SDT is a context free grammar with program fragments  (</a:t>
            </a:r>
            <a:r>
              <a:rPr lang="en-US" sz="2800" dirty="0">
                <a:solidFill>
                  <a:srgbClr val="C00000"/>
                </a:solidFill>
                <a:latin typeface="Candara" pitchFamily="34" charset="0"/>
              </a:rPr>
              <a:t>Semantic Actions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Candara" pitchFamily="34" charset="0"/>
              </a:rPr>
              <a:t>) embedded in production body</a:t>
            </a:r>
          </a:p>
          <a:p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Candara" pitchFamily="34" charset="0"/>
              </a:rPr>
              <a:t>Semantic Action can appear any place of production body</a:t>
            </a:r>
          </a:p>
          <a:p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Candara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ndara" pitchFamily="34" charset="0"/>
              </a:rPr>
              <a:t>Dept of CSE, BUET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>
                <a:latin typeface="Candara" pitchFamily="34" charset="0"/>
              </a:rPr>
              <a:pPr/>
              <a:t>50</a:t>
            </a:fld>
            <a:endParaRPr lang="en-US">
              <a:latin typeface="Candara" pitchFamily="34" charset="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Candara" pitchFamily="34" charset="0"/>
              </a:rPr>
              <a:t>Another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Consider the following SDD</a:t>
            </a:r>
          </a:p>
          <a:p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  <a:latin typeface="Candara" pitchFamily="34" charset="0"/>
            </a:endParaRPr>
          </a:p>
          <a:p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  <a:latin typeface="Candara" pitchFamily="34" charset="0"/>
            </a:endParaRPr>
          </a:p>
          <a:p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  <a:latin typeface="Candara" pitchFamily="34" charset="0"/>
            </a:endParaRPr>
          </a:p>
          <a:p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  <a:latin typeface="Candara" pitchFamily="34" charset="0"/>
            </a:endParaRPr>
          </a:p>
          <a:p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  <a:latin typeface="Candara" pitchFamily="34" charset="0"/>
            </a:endParaRPr>
          </a:p>
          <a:p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  <a:latin typeface="Candara" pitchFamily="34" charset="0"/>
            </a:endParaRPr>
          </a:p>
          <a:p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What this SDD do?</a:t>
            </a:r>
          </a:p>
          <a:p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Convert infix expression to postfix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ndara" pitchFamily="34" charset="0"/>
              </a:rPr>
              <a:t>Dept of CSE, BUET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>
                <a:latin typeface="Candara" pitchFamily="34" charset="0"/>
              </a:rPr>
              <a:pPr/>
              <a:t>51</a:t>
            </a:fld>
            <a:endParaRPr lang="en-US">
              <a:latin typeface="Candara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700" y="2133600"/>
            <a:ext cx="4800599" cy="2505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03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6200"/>
            <a:ext cx="8229600" cy="84116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Candara" pitchFamily="34" charset="0"/>
              </a:rPr>
              <a:t>Another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72559" y="3094988"/>
            <a:ext cx="3581400" cy="686326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ndara" pitchFamily="34" charset="0"/>
              </a:rPr>
              <a:t>SDT for infix to postfix conversion</a:t>
            </a:r>
          </a:p>
          <a:p>
            <a:pPr algn="ctr"/>
            <a:endParaRPr lang="en-US" sz="2400" dirty="0">
              <a:solidFill>
                <a:schemeClr val="accent6">
                  <a:lumMod val="75000"/>
                </a:schemeClr>
              </a:solidFill>
              <a:latin typeface="Candara" pitchFamily="34" charset="0"/>
            </a:endParaRPr>
          </a:p>
          <a:p>
            <a:pPr algn="ctr"/>
            <a:endParaRPr lang="en-US" sz="2400" dirty="0">
              <a:solidFill>
                <a:schemeClr val="accent6">
                  <a:lumMod val="75000"/>
                </a:schemeClr>
              </a:solidFill>
              <a:latin typeface="Candara" pitchFamily="34" charset="0"/>
            </a:endParaRPr>
          </a:p>
          <a:p>
            <a:pPr algn="ctr"/>
            <a:endParaRPr lang="en-US" sz="2400" dirty="0">
              <a:solidFill>
                <a:schemeClr val="accent6">
                  <a:lumMod val="75000"/>
                </a:schemeClr>
              </a:solidFill>
              <a:latin typeface="Candara" pitchFamily="34" charset="0"/>
            </a:endParaRPr>
          </a:p>
          <a:p>
            <a:pPr algn="ctr"/>
            <a:endParaRPr lang="en-US" sz="2400" dirty="0">
              <a:solidFill>
                <a:schemeClr val="accent6">
                  <a:lumMod val="75000"/>
                </a:schemeClr>
              </a:solidFill>
              <a:latin typeface="Candara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ndara" pitchFamily="34" charset="0"/>
              </a:rPr>
              <a:t>Dept of CSE, BUET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>
                <a:latin typeface="Candara" pitchFamily="34" charset="0"/>
              </a:rPr>
              <a:pPr/>
              <a:t>52</a:t>
            </a:fld>
            <a:endParaRPr lang="en-US">
              <a:latin typeface="Candara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5" r="6063"/>
          <a:stretch/>
        </p:blipFill>
        <p:spPr>
          <a:xfrm>
            <a:off x="4639159" y="3733800"/>
            <a:ext cx="4428641" cy="2619486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4AC3FE-A3F2-95A9-E173-FE547A0E714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73" r="4574"/>
          <a:stretch/>
        </p:blipFill>
        <p:spPr>
          <a:xfrm>
            <a:off x="304800" y="1143000"/>
            <a:ext cx="4428641" cy="2505180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sp>
        <p:nvSpPr>
          <p:cNvPr id="9" name="Arrow: Curved Right 8">
            <a:extLst>
              <a:ext uri="{FF2B5EF4-FFF2-40B4-BE49-F238E27FC236}">
                <a16:creationId xmlns:a16="http://schemas.microsoft.com/office/drawing/2014/main" id="{4D83F0A3-7071-5B54-719D-A1278E8632D9}"/>
              </a:ext>
            </a:extLst>
          </p:cNvPr>
          <p:cNvSpPr/>
          <p:nvPr/>
        </p:nvSpPr>
        <p:spPr>
          <a:xfrm rot="19784327">
            <a:off x="2888718" y="4178246"/>
            <a:ext cx="928162" cy="1614063"/>
          </a:xfrm>
          <a:prstGeom prst="curvedRightArrow">
            <a:avLst/>
          </a:prstGeom>
          <a:solidFill>
            <a:srgbClr val="CC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4F02C33-5CE2-A2ED-89BA-A3FB5D40E984}"/>
              </a:ext>
            </a:extLst>
          </p:cNvPr>
          <p:cNvSpPr txBox="1">
            <a:spLocks/>
          </p:cNvSpPr>
          <p:nvPr/>
        </p:nvSpPr>
        <p:spPr>
          <a:xfrm>
            <a:off x="76200" y="685800"/>
            <a:ext cx="4867759" cy="6863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Candara" pitchFamily="34" charset="0"/>
              </a:rPr>
              <a:t>SDD for infix to postfix conversion</a:t>
            </a:r>
          </a:p>
          <a:p>
            <a:pPr algn="ctr"/>
            <a:endParaRPr lang="en-US" sz="2400" dirty="0">
              <a:solidFill>
                <a:schemeClr val="accent5">
                  <a:lumMod val="50000"/>
                </a:schemeClr>
              </a:solidFill>
              <a:latin typeface="Candara" pitchFamily="34" charset="0"/>
            </a:endParaRPr>
          </a:p>
          <a:p>
            <a:pPr algn="ctr"/>
            <a:endParaRPr lang="en-US" sz="2400" dirty="0">
              <a:solidFill>
                <a:schemeClr val="accent5">
                  <a:lumMod val="50000"/>
                </a:schemeClr>
              </a:solidFill>
              <a:latin typeface="Candara" pitchFamily="34" charset="0"/>
            </a:endParaRPr>
          </a:p>
          <a:p>
            <a:pPr algn="ctr"/>
            <a:endParaRPr lang="en-US" sz="2400" dirty="0">
              <a:solidFill>
                <a:schemeClr val="accent5">
                  <a:lumMod val="50000"/>
                </a:schemeClr>
              </a:solidFill>
              <a:latin typeface="Candara" pitchFamily="34" charset="0"/>
            </a:endParaRPr>
          </a:p>
          <a:p>
            <a:pPr algn="ctr"/>
            <a:endParaRPr lang="en-US" sz="2400" dirty="0">
              <a:solidFill>
                <a:schemeClr val="accent5">
                  <a:lumMod val="50000"/>
                </a:schemeClr>
              </a:solidFill>
              <a:latin typeface="Candar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5619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 animBg="1"/>
      <p:bldP spid="10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6200"/>
            <a:ext cx="8229600" cy="1143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Candara" pitchFamily="34" charset="0"/>
              </a:rPr>
              <a:t>Implementation of SDT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60437"/>
            <a:ext cx="8534400" cy="4525963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Any SDT can be implemented by building a parse tree and then performing the actions in left-right depth first order</a:t>
            </a: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However, typically, SDTs are implemented during parsing without explicitly constructing the parse tree</a:t>
            </a:r>
          </a:p>
          <a:p>
            <a:r>
              <a:rPr lang="en-US" sz="2400" dirty="0">
                <a:solidFill>
                  <a:srgbClr val="FF0000"/>
                </a:solidFill>
                <a:latin typeface="Candara" pitchFamily="34" charset="0"/>
              </a:rPr>
              <a:t>Notably, there are SDT’s that are not implementable during parsing.</a:t>
            </a: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Hence, we focus on two classes</a:t>
            </a:r>
          </a:p>
          <a:p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Candara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492875"/>
            <a:ext cx="2895600" cy="365125"/>
          </a:xfrm>
        </p:spPr>
        <p:txBody>
          <a:bodyPr/>
          <a:lstStyle/>
          <a:p>
            <a:r>
              <a:rPr lang="en-US">
                <a:latin typeface="Candara" pitchFamily="34" charset="0"/>
              </a:rPr>
              <a:t>Dept of CSE, BUET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>
                <a:latin typeface="Candara" pitchFamily="34" charset="0"/>
              </a:rPr>
              <a:pPr/>
              <a:t>53</a:t>
            </a:fld>
            <a:endParaRPr lang="en-US">
              <a:latin typeface="Candara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7FC3F5-FF8E-F3A7-0860-1501F1453B68}"/>
              </a:ext>
            </a:extLst>
          </p:cNvPr>
          <p:cNvSpPr txBox="1"/>
          <p:nvPr/>
        </p:nvSpPr>
        <p:spPr>
          <a:xfrm>
            <a:off x="990600" y="3962400"/>
            <a:ext cx="129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CFG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3CE8EE-BBAD-8C62-0891-8A311F3DBA28}"/>
              </a:ext>
            </a:extLst>
          </p:cNvPr>
          <p:cNvSpPr txBox="1"/>
          <p:nvPr/>
        </p:nvSpPr>
        <p:spPr>
          <a:xfrm>
            <a:off x="2133600" y="3962400"/>
            <a:ext cx="99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+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EA982C-AC77-9D34-EDE3-3DB02D3CFED6}"/>
              </a:ext>
            </a:extLst>
          </p:cNvPr>
          <p:cNvSpPr txBox="1"/>
          <p:nvPr/>
        </p:nvSpPr>
        <p:spPr>
          <a:xfrm>
            <a:off x="3048000" y="3962400"/>
            <a:ext cx="2667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Semantic Rules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3E39CD-6821-38D6-C0F6-508E2E5B0964}"/>
              </a:ext>
            </a:extLst>
          </p:cNvPr>
          <p:cNvSpPr txBox="1"/>
          <p:nvPr/>
        </p:nvSpPr>
        <p:spPr>
          <a:xfrm>
            <a:off x="5715000" y="3962400"/>
            <a:ext cx="99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=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A56D0C-0CBE-50BB-2A07-06F2810938CE}"/>
              </a:ext>
            </a:extLst>
          </p:cNvPr>
          <p:cNvSpPr txBox="1"/>
          <p:nvPr/>
        </p:nvSpPr>
        <p:spPr>
          <a:xfrm>
            <a:off x="7010400" y="3962400"/>
            <a:ext cx="99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SDD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E797CAA-31C2-4890-D97C-1AEFFFF38712}"/>
              </a:ext>
            </a:extLst>
          </p:cNvPr>
          <p:cNvGrpSpPr/>
          <p:nvPr/>
        </p:nvGrpSpPr>
        <p:grpSpPr>
          <a:xfrm>
            <a:off x="1752600" y="4582180"/>
            <a:ext cx="3276600" cy="1071265"/>
            <a:chOff x="1752600" y="2600980"/>
            <a:chExt cx="3276600" cy="1071265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0FCB05B-2B54-2627-C815-26A70C66A33E}"/>
                </a:ext>
              </a:extLst>
            </p:cNvPr>
            <p:cNvGrpSpPr/>
            <p:nvPr/>
          </p:nvGrpSpPr>
          <p:grpSpPr>
            <a:xfrm>
              <a:off x="1752600" y="2600980"/>
              <a:ext cx="876300" cy="914400"/>
              <a:chOff x="1752600" y="2600980"/>
              <a:chExt cx="876300" cy="914400"/>
            </a:xfrm>
          </p:grpSpPr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3B3F6704-2036-2C76-6984-9A51EB965C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52600" y="3515380"/>
                <a:ext cx="8763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FBB6C100-F0A4-27C9-E2F5-759E11E990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52600" y="2600980"/>
                <a:ext cx="0" cy="84838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DBA9CD5-50EC-9076-8D8A-F2BBB8106FA8}"/>
                </a:ext>
              </a:extLst>
            </p:cNvPr>
            <p:cNvSpPr txBox="1"/>
            <p:nvPr/>
          </p:nvSpPr>
          <p:spPr>
            <a:xfrm>
              <a:off x="2438400" y="3210580"/>
              <a:ext cx="2590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</a:rPr>
                <a:t>LR- parsable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CDF337C-6E33-7754-5952-D7BB2757F4AB}"/>
              </a:ext>
            </a:extLst>
          </p:cNvPr>
          <p:cNvGrpSpPr/>
          <p:nvPr/>
        </p:nvGrpSpPr>
        <p:grpSpPr>
          <a:xfrm>
            <a:off x="1752600" y="5406168"/>
            <a:ext cx="3276600" cy="1071265"/>
            <a:chOff x="1752600" y="2600980"/>
            <a:chExt cx="3276600" cy="1071265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0F0F0C7-DABA-9774-96AD-7BBC689234A8}"/>
                </a:ext>
              </a:extLst>
            </p:cNvPr>
            <p:cNvGrpSpPr/>
            <p:nvPr/>
          </p:nvGrpSpPr>
          <p:grpSpPr>
            <a:xfrm>
              <a:off x="1752600" y="2600980"/>
              <a:ext cx="876300" cy="848380"/>
              <a:chOff x="1752600" y="2600980"/>
              <a:chExt cx="876300" cy="848380"/>
            </a:xfrm>
          </p:grpSpPr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2DFE8F66-24BF-220F-C8FA-370138E52A4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52600" y="3443212"/>
                <a:ext cx="8763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B41676CF-DFE4-BEBD-7384-52A0647431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52600" y="2600980"/>
                <a:ext cx="0" cy="84838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C73931B-E62D-C9B7-1B97-FBCFAA1251AB}"/>
                </a:ext>
              </a:extLst>
            </p:cNvPr>
            <p:cNvSpPr txBox="1"/>
            <p:nvPr/>
          </p:nvSpPr>
          <p:spPr>
            <a:xfrm>
              <a:off x="2438400" y="3210580"/>
              <a:ext cx="2590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</a:rPr>
                <a:t>LL- parsable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996F505-1927-5DC3-836A-7C1992CB513A}"/>
              </a:ext>
            </a:extLst>
          </p:cNvPr>
          <p:cNvGrpSpPr/>
          <p:nvPr/>
        </p:nvGrpSpPr>
        <p:grpSpPr>
          <a:xfrm rot="16200000">
            <a:off x="6844040" y="4585960"/>
            <a:ext cx="876300" cy="848380"/>
            <a:chOff x="1752600" y="2682015"/>
            <a:chExt cx="876300" cy="848380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BFFFDF1-7B9E-1E1D-3F56-B20983CEF3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2600" y="3515380"/>
              <a:ext cx="8763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521182D-B441-503C-BBA9-AD08AE72863B}"/>
                </a:ext>
              </a:extLst>
            </p:cNvPr>
            <p:cNvCxnSpPr>
              <a:cxnSpLocks/>
            </p:cNvCxnSpPr>
            <p:nvPr/>
          </p:nvCxnSpPr>
          <p:spPr>
            <a:xfrm>
              <a:off x="1752600" y="2682015"/>
              <a:ext cx="0" cy="8483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E11AF248-6EB5-9F04-1FFA-89ED97BCDA66}"/>
              </a:ext>
            </a:extLst>
          </p:cNvPr>
          <p:cNvSpPr txBox="1"/>
          <p:nvPr/>
        </p:nvSpPr>
        <p:spPr>
          <a:xfrm>
            <a:off x="4495800" y="5191780"/>
            <a:ext cx="259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7030A0"/>
                </a:solidFill>
              </a:rPr>
              <a:t>S-attributed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B0AF462-82B9-132B-A804-8BB057E6546A}"/>
              </a:ext>
            </a:extLst>
          </p:cNvPr>
          <p:cNvGrpSpPr/>
          <p:nvPr/>
        </p:nvGrpSpPr>
        <p:grpSpPr>
          <a:xfrm rot="16200000">
            <a:off x="6833860" y="5448300"/>
            <a:ext cx="876300" cy="848380"/>
            <a:chOff x="1752600" y="2600980"/>
            <a:chExt cx="876300" cy="848380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779EDF0-E3AD-71EE-7F90-CFBBBB9B5A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2600" y="3443212"/>
              <a:ext cx="8763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0D43640-6FDF-DEA9-6442-62FA1F421FE9}"/>
                </a:ext>
              </a:extLst>
            </p:cNvPr>
            <p:cNvCxnSpPr>
              <a:cxnSpLocks/>
            </p:cNvCxnSpPr>
            <p:nvPr/>
          </p:nvCxnSpPr>
          <p:spPr>
            <a:xfrm>
              <a:off x="1752600" y="2600980"/>
              <a:ext cx="0" cy="8483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63634891-4FC3-0330-869C-85440D8564C4}"/>
              </a:ext>
            </a:extLst>
          </p:cNvPr>
          <p:cNvSpPr txBox="1"/>
          <p:nvPr/>
        </p:nvSpPr>
        <p:spPr>
          <a:xfrm>
            <a:off x="4495800" y="6019800"/>
            <a:ext cx="259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7030A0"/>
                </a:solidFill>
              </a:rPr>
              <a:t>L-attributed</a:t>
            </a:r>
          </a:p>
        </p:txBody>
      </p:sp>
    </p:spTree>
    <p:extLst>
      <p:ext uri="{BB962C8B-B14F-4D97-AF65-F5344CB8AC3E}">
        <p14:creationId xmlns:p14="http://schemas.microsoft.com/office/powerpoint/2010/main" val="158732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  <p:bldP spid="7" grpId="0"/>
      <p:bldP spid="8" grpId="0"/>
      <p:bldP spid="9" grpId="0"/>
      <p:bldP spid="10" grpId="0"/>
      <p:bldP spid="24" grpId="0"/>
      <p:bldP spid="28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6200"/>
            <a:ext cx="8229600" cy="1143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Candara" pitchFamily="34" charset="0"/>
              </a:rPr>
              <a:t>Postfix SDT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289550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SDTs with all the actions at the right ends of the production body</a:t>
            </a:r>
          </a:p>
          <a:p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Candara" pitchFamily="34" charset="0"/>
            </a:endParaRPr>
          </a:p>
          <a:p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Candara" pitchFamily="34" charset="0"/>
            </a:endParaRPr>
          </a:p>
          <a:p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Candara" pitchFamily="34" charset="0"/>
            </a:endParaRPr>
          </a:p>
          <a:p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Candara" pitchFamily="34" charset="0"/>
            </a:endParaRPr>
          </a:p>
          <a:p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Candara" pitchFamily="34" charset="0"/>
            </a:endParaRPr>
          </a:p>
          <a:p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Candara" pitchFamily="34" charset="0"/>
            </a:endParaRP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Postfix SDT can be constructed if the grammar can be parsed bottom up and the </a:t>
            </a:r>
            <a:r>
              <a:rPr lang="en-US" sz="2400" dirty="0">
                <a:solidFill>
                  <a:srgbClr val="FF0000"/>
                </a:solidFill>
                <a:latin typeface="Candara" pitchFamily="34" charset="0"/>
              </a:rPr>
              <a:t>SDD is S-Attributed</a:t>
            </a: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Each action is executed along with the reduction of the body to the head of the production</a:t>
            </a:r>
          </a:p>
          <a:p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  <a:latin typeface="Candara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ndara" pitchFamily="34" charset="0"/>
              </a:rPr>
              <a:t>Dept of CSE, BUET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>
                <a:latin typeface="Candara" pitchFamily="34" charset="0"/>
              </a:rPr>
              <a:pPr/>
              <a:t>54</a:t>
            </a:fld>
            <a:endParaRPr lang="en-US">
              <a:latin typeface="Candara" pitchFamily="3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C4933C2-7A18-C1E1-3F6D-53A0EEDAB424}"/>
              </a:ext>
            </a:extLst>
          </p:cNvPr>
          <p:cNvGrpSpPr/>
          <p:nvPr/>
        </p:nvGrpSpPr>
        <p:grpSpPr>
          <a:xfrm>
            <a:off x="457200" y="1885890"/>
            <a:ext cx="4709450" cy="2457510"/>
            <a:chOff x="457200" y="1885890"/>
            <a:chExt cx="4709450" cy="245751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60E8FA7-B1CF-85B2-E707-BD4AF21465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3400" y="2270118"/>
              <a:ext cx="4633250" cy="207328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790E2D1-8CD1-5E82-D386-CA018412CCDE}"/>
                </a:ext>
              </a:extLst>
            </p:cNvPr>
            <p:cNvSpPr txBox="1"/>
            <p:nvPr/>
          </p:nvSpPr>
          <p:spPr>
            <a:xfrm flipH="1">
              <a:off x="457200" y="1885890"/>
              <a:ext cx="14708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7030A0"/>
                  </a:solidFill>
                </a:rPr>
                <a:t>Example 1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ADD24BE-F9FB-FFCC-A3D8-AAE2EE444114}"/>
              </a:ext>
            </a:extLst>
          </p:cNvPr>
          <p:cNvGrpSpPr/>
          <p:nvPr/>
        </p:nvGrpSpPr>
        <p:grpSpPr>
          <a:xfrm>
            <a:off x="5334000" y="1885890"/>
            <a:ext cx="3581400" cy="2457510"/>
            <a:chOff x="5334000" y="1885890"/>
            <a:chExt cx="3581400" cy="245751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C268D8D-1F29-9EDE-B0BA-1FF8E461E26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25" r="6063"/>
            <a:stretch/>
          </p:blipFill>
          <p:spPr>
            <a:xfrm>
              <a:off x="5410200" y="2270118"/>
              <a:ext cx="3505200" cy="2073282"/>
            </a:xfrm>
            <a:prstGeom prst="rect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A954F38-1419-F556-0626-B3FCE8196595}"/>
                </a:ext>
              </a:extLst>
            </p:cNvPr>
            <p:cNvSpPr txBox="1"/>
            <p:nvPr/>
          </p:nvSpPr>
          <p:spPr>
            <a:xfrm flipH="1">
              <a:off x="5334000" y="1885890"/>
              <a:ext cx="14708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7030A0"/>
                  </a:solidFill>
                </a:rPr>
                <a:t>Example 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88954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Candara" pitchFamily="34" charset="0"/>
              </a:rPr>
              <a:t>Parser-Stack Implementation of Postfix SDT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93837"/>
            <a:ext cx="8458200" cy="4525963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The attribute(s) of each grammar symbol can be put on the stack in a place where they can be found during reduction</a:t>
            </a:r>
          </a:p>
          <a:p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The best plan is to place the attributes along with the grammar symbol (or the LR states that represent these symbols) in records on the stack itself</a:t>
            </a:r>
          </a:p>
          <a:p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In example below, if we reduce by a production such as </a:t>
            </a:r>
            <a:r>
              <a:rPr 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andara" pitchFamily="34" charset="0"/>
              </a:rPr>
              <a:t>A-&gt;XYZ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, then all the attributes are available at known positions of the stack</a:t>
            </a:r>
          </a:p>
          <a:p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After the action, A and its attributes are at the top of the stack, in the position of record X.</a:t>
            </a:r>
          </a:p>
          <a:p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latin typeface="Candara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ndara" pitchFamily="34" charset="0"/>
              </a:rPr>
              <a:t>Dept of CSE, BUET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>
                <a:latin typeface="Candara" pitchFamily="34" charset="0"/>
              </a:rPr>
              <a:pPr/>
              <a:t>55</a:t>
            </a:fld>
            <a:endParaRPr lang="en-US">
              <a:latin typeface="Candara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4648200"/>
            <a:ext cx="6496050" cy="177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454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Candara" pitchFamily="34" charset="0"/>
              </a:rPr>
              <a:t>Parser-Stack Implementation of Postfix SDT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ndara" pitchFamily="34" charset="0"/>
              </a:rPr>
              <a:t>Dept of CSE, BUET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>
                <a:latin typeface="Candara" pitchFamily="34" charset="0"/>
              </a:rPr>
              <a:pPr/>
              <a:t>56</a:t>
            </a:fld>
            <a:endParaRPr lang="en-US">
              <a:latin typeface="Candara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11312"/>
            <a:ext cx="7953375" cy="4505325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</a:ln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DE3EBFAF-C9FB-712E-8213-96102171C9EF}"/>
              </a:ext>
            </a:extLst>
          </p:cNvPr>
          <p:cNvSpPr/>
          <p:nvPr/>
        </p:nvSpPr>
        <p:spPr>
          <a:xfrm>
            <a:off x="990600" y="3124200"/>
            <a:ext cx="990600" cy="381000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C4C4064-BD10-C2DF-35BA-321157484267}"/>
              </a:ext>
            </a:extLst>
          </p:cNvPr>
          <p:cNvSpPr/>
          <p:nvPr/>
        </p:nvSpPr>
        <p:spPr>
          <a:xfrm>
            <a:off x="990600" y="4114800"/>
            <a:ext cx="990600" cy="381000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250908-2232-C66D-BC41-1BE8F43EEDBA}"/>
              </a:ext>
            </a:extLst>
          </p:cNvPr>
          <p:cNvSpPr txBox="1"/>
          <p:nvPr/>
        </p:nvSpPr>
        <p:spPr>
          <a:xfrm>
            <a:off x="2819400" y="3200400"/>
            <a:ext cx="25908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No actions, why?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8BA664-DD85-FF7B-4B9D-C25A8B623E73}"/>
              </a:ext>
            </a:extLst>
          </p:cNvPr>
          <p:cNvSpPr txBox="1"/>
          <p:nvPr/>
        </p:nvSpPr>
        <p:spPr>
          <a:xfrm>
            <a:off x="2819400" y="4191000"/>
            <a:ext cx="25908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No actions, why?</a:t>
            </a:r>
          </a:p>
        </p:txBody>
      </p:sp>
    </p:spTree>
    <p:extLst>
      <p:ext uri="{BB962C8B-B14F-4D97-AF65-F5344CB8AC3E}">
        <p14:creationId xmlns:p14="http://schemas.microsoft.com/office/powerpoint/2010/main" val="3599248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7" grpId="0"/>
      <p:bldP spid="10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Candara" pitchFamily="34" charset="0"/>
              </a:rPr>
              <a:t>SDTs with Action Inside Procedure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525963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An action can be places at any position of the production body</a:t>
            </a:r>
          </a:p>
          <a:p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Performed immediately after all symbols to its left are processed</a:t>
            </a:r>
          </a:p>
          <a:p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For </a:t>
            </a:r>
            <a:r>
              <a:rPr lang="en-US" sz="28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cs typeface="Courier New" pitchFamily="49" charset="0"/>
              </a:rPr>
              <a:t>B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 -&gt; </a:t>
            </a:r>
            <a:r>
              <a:rPr lang="en-US" sz="28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cs typeface="Courier New" pitchFamily="49" charset="0"/>
              </a:rPr>
              <a:t>X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 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cs typeface="Courier New" pitchFamily="49" charset="0"/>
              </a:rPr>
              <a:t>{</a:t>
            </a:r>
            <a:r>
              <a:rPr lang="en-US" sz="28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cs typeface="Courier New" pitchFamily="49" charset="0"/>
              </a:rPr>
              <a:t>a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 </a:t>
            </a:r>
            <a:r>
              <a:rPr lang="en-US" sz="28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cs typeface="Courier New" pitchFamily="49" charset="0"/>
              </a:rPr>
              <a:t>Y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, action </a:t>
            </a:r>
            <a:r>
              <a:rPr lang="en-US" sz="28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a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 is performed after recognizing X or all terminals derived from X</a:t>
            </a:r>
          </a:p>
          <a:p>
            <a:pPr lvl="1"/>
            <a:r>
              <a:rPr lang="en-US" sz="2400" dirty="0">
                <a:solidFill>
                  <a:srgbClr val="C00000"/>
                </a:solidFill>
                <a:latin typeface="Candara" pitchFamily="34" charset="0"/>
              </a:rPr>
              <a:t>Bottom up parsing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: As soon as X appears in the stack</a:t>
            </a:r>
          </a:p>
          <a:p>
            <a:pPr lvl="1"/>
            <a:r>
              <a:rPr lang="en-US" sz="2400" dirty="0">
                <a:solidFill>
                  <a:srgbClr val="C00000"/>
                </a:solidFill>
                <a:latin typeface="Candara" pitchFamily="34" charset="0"/>
              </a:rPr>
              <a:t>Top down parsing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: Before expanding Y or checking Y in input</a:t>
            </a:r>
          </a:p>
          <a:p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  <a:latin typeface="Candara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ndara" pitchFamily="34" charset="0"/>
              </a:rPr>
              <a:t>Dept of CSE, BUET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>
                <a:latin typeface="Candara" pitchFamily="34" charset="0"/>
              </a:rPr>
              <a:pPr/>
              <a:t>57</a:t>
            </a:fld>
            <a:endParaRPr lang="en-US">
              <a:latin typeface="Candar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151672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Candara" pitchFamily="34" charset="0"/>
              </a:rPr>
              <a:t>SDTs Non Implementable during Parsing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Example: Conversion to Prefix form</a:t>
            </a:r>
          </a:p>
          <a:p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  <a:latin typeface="Candara" pitchFamily="34" charset="0"/>
            </a:endParaRPr>
          </a:p>
          <a:p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  <a:latin typeface="Candara" pitchFamily="34" charset="0"/>
            </a:endParaRPr>
          </a:p>
          <a:p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  <a:latin typeface="Candara" pitchFamily="34" charset="0"/>
            </a:endParaRPr>
          </a:p>
          <a:p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  <a:latin typeface="Candara" pitchFamily="34" charset="0"/>
            </a:endParaRPr>
          </a:p>
          <a:p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  <a:latin typeface="Candara" pitchFamily="34" charset="0"/>
            </a:endParaRPr>
          </a:p>
          <a:p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  <a:latin typeface="Candara" pitchFamily="34" charset="0"/>
            </a:endParaRPr>
          </a:p>
          <a:p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This example cannot be implemented during top-down or bottom up parsing</a:t>
            </a:r>
          </a:p>
          <a:p>
            <a:r>
              <a:rPr lang="en-US" sz="2800" dirty="0">
                <a:solidFill>
                  <a:srgbClr val="FF0000"/>
                </a:solidFill>
                <a:latin typeface="Candara" pitchFamily="34" charset="0"/>
              </a:rPr>
              <a:t>Doing critical task before knowing input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ndara" pitchFamily="34" charset="0"/>
              </a:rPr>
              <a:t>Dept of CSE, BUET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>
                <a:latin typeface="Candara" pitchFamily="34" charset="0"/>
              </a:rPr>
              <a:pPr/>
              <a:t>58</a:t>
            </a:fld>
            <a:endParaRPr lang="en-US">
              <a:latin typeface="Candara" pitchFamily="34" charset="0"/>
            </a:endParaRPr>
          </a:p>
        </p:txBody>
      </p:sp>
      <p:pic>
        <p:nvPicPr>
          <p:cNvPr id="8" name="Picture 7" descr="Screen Clippi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2133600"/>
            <a:ext cx="4793047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738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Candara" pitchFamily="34" charset="0"/>
              </a:rPr>
              <a:t>SDTs Non Implementable during Parsing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So, what to do with the previous SDT? Not implementable at all?</a:t>
            </a:r>
          </a:p>
          <a:p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Any SDT can be implemented using:</a:t>
            </a:r>
          </a:p>
          <a:p>
            <a:pPr lvl="1"/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Produce parse tree ignoring action</a:t>
            </a:r>
          </a:p>
          <a:p>
            <a:pPr lvl="1"/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For each internal node, insert additional children at appropriate place representing actions if any</a:t>
            </a:r>
          </a:p>
          <a:p>
            <a:pPr lvl="1"/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Perform preorder traversal and perform action at nodes corresponding to action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ndara" pitchFamily="34" charset="0"/>
              </a:rPr>
              <a:t>Dept of CSE, BUET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>
                <a:latin typeface="Candara" pitchFamily="34" charset="0"/>
              </a:rPr>
              <a:pPr/>
              <a:t>59</a:t>
            </a:fld>
            <a:endParaRPr lang="en-US">
              <a:latin typeface="Candar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5508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Candara" pitchFamily="34" charset="0"/>
              </a:rPr>
              <a:t>SDT Implementation using Parse Tree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ndara" pitchFamily="34" charset="0"/>
              </a:rPr>
              <a:t>Dept of CSE, BUET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>
                <a:latin typeface="Candara" pitchFamily="34" charset="0"/>
              </a:rPr>
              <a:pPr/>
              <a:t>60</a:t>
            </a:fld>
            <a:endParaRPr lang="en-US">
              <a:latin typeface="Candara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88511" y="1348652"/>
            <a:ext cx="37785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andara" pitchFamily="34" charset="0"/>
              </a:rPr>
              <a:t>Parse tree with action embedded</a:t>
            </a:r>
          </a:p>
        </p:txBody>
      </p:sp>
      <p:pic>
        <p:nvPicPr>
          <p:cNvPr id="9" name="Picture 8" descr="Screen Clippi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905000"/>
            <a:ext cx="3733800" cy="2424870"/>
          </a:xfrm>
          <a:prstGeom prst="rect">
            <a:avLst/>
          </a:prstGeom>
        </p:spPr>
      </p:pic>
      <p:pic>
        <p:nvPicPr>
          <p:cNvPr id="12" name="Content Placeholder 11" descr="Screen Clipping"/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1720774"/>
            <a:ext cx="5316895" cy="3838080"/>
          </a:xfr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37B48283-34A8-A42B-DC8B-DC3E4A9CE824}"/>
              </a:ext>
            </a:extLst>
          </p:cNvPr>
          <p:cNvSpPr/>
          <p:nvPr/>
        </p:nvSpPr>
        <p:spPr>
          <a:xfrm>
            <a:off x="4572000" y="2358454"/>
            <a:ext cx="2264228" cy="1237526"/>
          </a:xfrm>
          <a:custGeom>
            <a:avLst/>
            <a:gdLst>
              <a:gd name="connsiteX0" fmla="*/ 2191657 w 2264228"/>
              <a:gd name="connsiteY0" fmla="*/ 47355 h 1237526"/>
              <a:gd name="connsiteX1" fmla="*/ 2191657 w 2264228"/>
              <a:gd name="connsiteY1" fmla="*/ 47355 h 1237526"/>
              <a:gd name="connsiteX2" fmla="*/ 1190171 w 2264228"/>
              <a:gd name="connsiteY2" fmla="*/ 18326 h 1237526"/>
              <a:gd name="connsiteX3" fmla="*/ 1175657 w 2264228"/>
              <a:gd name="connsiteY3" fmla="*/ 47355 h 1237526"/>
              <a:gd name="connsiteX4" fmla="*/ 116114 w 2264228"/>
              <a:gd name="connsiteY4" fmla="*/ 540840 h 1237526"/>
              <a:gd name="connsiteX5" fmla="*/ 0 w 2264228"/>
              <a:gd name="connsiteY5" fmla="*/ 1237526 h 1237526"/>
              <a:gd name="connsiteX6" fmla="*/ 1320800 w 2264228"/>
              <a:gd name="connsiteY6" fmla="*/ 976269 h 1237526"/>
              <a:gd name="connsiteX7" fmla="*/ 1509485 w 2264228"/>
              <a:gd name="connsiteY7" fmla="*/ 540840 h 1237526"/>
              <a:gd name="connsiteX8" fmla="*/ 2264228 w 2264228"/>
              <a:gd name="connsiteY8" fmla="*/ 221526 h 1237526"/>
              <a:gd name="connsiteX9" fmla="*/ 2191657 w 2264228"/>
              <a:gd name="connsiteY9" fmla="*/ 47355 h 1237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264228" h="1237526">
                <a:moveTo>
                  <a:pt x="2191657" y="47355"/>
                </a:moveTo>
                <a:lnTo>
                  <a:pt x="2191657" y="47355"/>
                </a:lnTo>
                <a:cubicBezTo>
                  <a:pt x="1738846" y="7401"/>
                  <a:pt x="1648403" y="-19860"/>
                  <a:pt x="1190171" y="18326"/>
                </a:cubicBezTo>
                <a:cubicBezTo>
                  <a:pt x="1179390" y="19224"/>
                  <a:pt x="1180495" y="37679"/>
                  <a:pt x="1175657" y="47355"/>
                </a:cubicBezTo>
                <a:lnTo>
                  <a:pt x="116114" y="540840"/>
                </a:lnTo>
                <a:lnTo>
                  <a:pt x="0" y="1237526"/>
                </a:lnTo>
                <a:lnTo>
                  <a:pt x="1320800" y="976269"/>
                </a:lnTo>
                <a:lnTo>
                  <a:pt x="1509485" y="540840"/>
                </a:lnTo>
                <a:lnTo>
                  <a:pt x="2264228" y="221526"/>
                </a:lnTo>
                <a:lnTo>
                  <a:pt x="2191657" y="4735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ECE0A17-3950-51D5-4583-0E3785162A73}"/>
              </a:ext>
            </a:extLst>
          </p:cNvPr>
          <p:cNvSpPr/>
          <p:nvPr/>
        </p:nvSpPr>
        <p:spPr>
          <a:xfrm>
            <a:off x="4114800" y="3556000"/>
            <a:ext cx="1872343" cy="957943"/>
          </a:xfrm>
          <a:custGeom>
            <a:avLst/>
            <a:gdLst>
              <a:gd name="connsiteX0" fmla="*/ 1872343 w 1872343"/>
              <a:gd name="connsiteY0" fmla="*/ 0 h 957943"/>
              <a:gd name="connsiteX1" fmla="*/ 1872343 w 1872343"/>
              <a:gd name="connsiteY1" fmla="*/ 0 h 957943"/>
              <a:gd name="connsiteX2" fmla="*/ 798286 w 1872343"/>
              <a:gd name="connsiteY2" fmla="*/ 116114 h 957943"/>
              <a:gd name="connsiteX3" fmla="*/ 406400 w 1872343"/>
              <a:gd name="connsiteY3" fmla="*/ 217714 h 957943"/>
              <a:gd name="connsiteX4" fmla="*/ 101600 w 1872343"/>
              <a:gd name="connsiteY4" fmla="*/ 319314 h 957943"/>
              <a:gd name="connsiteX5" fmla="*/ 58057 w 1872343"/>
              <a:gd name="connsiteY5" fmla="*/ 362857 h 957943"/>
              <a:gd name="connsiteX6" fmla="*/ 29029 w 1872343"/>
              <a:gd name="connsiteY6" fmla="*/ 406400 h 957943"/>
              <a:gd name="connsiteX7" fmla="*/ 0 w 1872343"/>
              <a:gd name="connsiteY7" fmla="*/ 464457 h 957943"/>
              <a:gd name="connsiteX8" fmla="*/ 188686 w 1872343"/>
              <a:gd name="connsiteY8" fmla="*/ 957943 h 957943"/>
              <a:gd name="connsiteX9" fmla="*/ 1233714 w 1872343"/>
              <a:gd name="connsiteY9" fmla="*/ 885371 h 957943"/>
              <a:gd name="connsiteX10" fmla="*/ 1364343 w 1872343"/>
              <a:gd name="connsiteY10" fmla="*/ 508000 h 957943"/>
              <a:gd name="connsiteX11" fmla="*/ 1843314 w 1872343"/>
              <a:gd name="connsiteY11" fmla="*/ 203200 h 957943"/>
              <a:gd name="connsiteX12" fmla="*/ 1872343 w 1872343"/>
              <a:gd name="connsiteY12" fmla="*/ 0 h 957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72343" h="957943">
                <a:moveTo>
                  <a:pt x="1872343" y="0"/>
                </a:moveTo>
                <a:lnTo>
                  <a:pt x="1872343" y="0"/>
                </a:lnTo>
                <a:cubicBezTo>
                  <a:pt x="1533477" y="22591"/>
                  <a:pt x="1121810" y="39991"/>
                  <a:pt x="798286" y="116114"/>
                </a:cubicBezTo>
                <a:cubicBezTo>
                  <a:pt x="663096" y="147923"/>
                  <a:pt x="536392" y="172499"/>
                  <a:pt x="406400" y="217714"/>
                </a:cubicBezTo>
                <a:cubicBezTo>
                  <a:pt x="95519" y="325847"/>
                  <a:pt x="333388" y="261368"/>
                  <a:pt x="101600" y="319314"/>
                </a:cubicBezTo>
                <a:cubicBezTo>
                  <a:pt x="87086" y="333828"/>
                  <a:pt x="71198" y="347088"/>
                  <a:pt x="58057" y="362857"/>
                </a:cubicBezTo>
                <a:cubicBezTo>
                  <a:pt x="46890" y="376258"/>
                  <a:pt x="29029" y="406400"/>
                  <a:pt x="29029" y="406400"/>
                </a:cubicBezTo>
                <a:lnTo>
                  <a:pt x="0" y="464457"/>
                </a:lnTo>
                <a:lnTo>
                  <a:pt x="188686" y="957943"/>
                </a:lnTo>
                <a:lnTo>
                  <a:pt x="1233714" y="885371"/>
                </a:lnTo>
                <a:lnTo>
                  <a:pt x="1364343" y="508000"/>
                </a:lnTo>
                <a:lnTo>
                  <a:pt x="1843314" y="203200"/>
                </a:lnTo>
                <a:lnTo>
                  <a:pt x="187234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76958D9-A226-265D-4BAA-F057FA9D7943}"/>
              </a:ext>
            </a:extLst>
          </p:cNvPr>
          <p:cNvSpPr/>
          <p:nvPr/>
        </p:nvSpPr>
        <p:spPr>
          <a:xfrm>
            <a:off x="5711371" y="4698883"/>
            <a:ext cx="1364343" cy="812800"/>
          </a:xfrm>
          <a:custGeom>
            <a:avLst/>
            <a:gdLst>
              <a:gd name="connsiteX0" fmla="*/ 72572 w 1364343"/>
              <a:gd name="connsiteY0" fmla="*/ 0 h 812800"/>
              <a:gd name="connsiteX1" fmla="*/ 1364343 w 1364343"/>
              <a:gd name="connsiteY1" fmla="*/ 595085 h 812800"/>
              <a:gd name="connsiteX2" fmla="*/ 1146629 w 1364343"/>
              <a:gd name="connsiteY2" fmla="*/ 798285 h 812800"/>
              <a:gd name="connsiteX3" fmla="*/ 246743 w 1364343"/>
              <a:gd name="connsiteY3" fmla="*/ 812800 h 812800"/>
              <a:gd name="connsiteX4" fmla="*/ 0 w 1364343"/>
              <a:gd name="connsiteY4" fmla="*/ 275771 h 812800"/>
              <a:gd name="connsiteX5" fmla="*/ 72572 w 1364343"/>
              <a:gd name="connsiteY5" fmla="*/ 0 h 81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64343" h="812800">
                <a:moveTo>
                  <a:pt x="72572" y="0"/>
                </a:moveTo>
                <a:lnTo>
                  <a:pt x="1364343" y="595085"/>
                </a:lnTo>
                <a:lnTo>
                  <a:pt x="1146629" y="798285"/>
                </a:lnTo>
                <a:lnTo>
                  <a:pt x="246743" y="812800"/>
                </a:lnTo>
                <a:lnTo>
                  <a:pt x="0" y="275771"/>
                </a:lnTo>
                <a:lnTo>
                  <a:pt x="72572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9477453-BDAE-1C29-4CEA-E03B6BEB7EC4}"/>
              </a:ext>
            </a:extLst>
          </p:cNvPr>
          <p:cNvSpPr/>
          <p:nvPr/>
        </p:nvSpPr>
        <p:spPr>
          <a:xfrm>
            <a:off x="6799943" y="4103797"/>
            <a:ext cx="1349828" cy="1059543"/>
          </a:xfrm>
          <a:custGeom>
            <a:avLst/>
            <a:gdLst>
              <a:gd name="connsiteX0" fmla="*/ 0 w 1349828"/>
              <a:gd name="connsiteY0" fmla="*/ 246743 h 1059543"/>
              <a:gd name="connsiteX1" fmla="*/ 348343 w 1349828"/>
              <a:gd name="connsiteY1" fmla="*/ 928914 h 1059543"/>
              <a:gd name="connsiteX2" fmla="*/ 1204686 w 1349828"/>
              <a:gd name="connsiteY2" fmla="*/ 1059543 h 1059543"/>
              <a:gd name="connsiteX3" fmla="*/ 1349828 w 1349828"/>
              <a:gd name="connsiteY3" fmla="*/ 478971 h 1059543"/>
              <a:gd name="connsiteX4" fmla="*/ 116114 w 1349828"/>
              <a:gd name="connsiteY4" fmla="*/ 0 h 1059543"/>
              <a:gd name="connsiteX5" fmla="*/ 0 w 1349828"/>
              <a:gd name="connsiteY5" fmla="*/ 246743 h 1059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49828" h="1059543">
                <a:moveTo>
                  <a:pt x="0" y="246743"/>
                </a:moveTo>
                <a:lnTo>
                  <a:pt x="348343" y="928914"/>
                </a:lnTo>
                <a:lnTo>
                  <a:pt x="1204686" y="1059543"/>
                </a:lnTo>
                <a:lnTo>
                  <a:pt x="1349828" y="478971"/>
                </a:lnTo>
                <a:lnTo>
                  <a:pt x="116114" y="0"/>
                </a:lnTo>
                <a:lnTo>
                  <a:pt x="0" y="24674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BD3470B-4504-F1A2-F044-2B9F9032547B}"/>
              </a:ext>
            </a:extLst>
          </p:cNvPr>
          <p:cNvSpPr/>
          <p:nvPr/>
        </p:nvSpPr>
        <p:spPr>
          <a:xfrm>
            <a:off x="7903029" y="3581283"/>
            <a:ext cx="1364342" cy="870857"/>
          </a:xfrm>
          <a:custGeom>
            <a:avLst/>
            <a:gdLst>
              <a:gd name="connsiteX0" fmla="*/ 0 w 1364342"/>
              <a:gd name="connsiteY0" fmla="*/ 232228 h 870857"/>
              <a:gd name="connsiteX1" fmla="*/ 348342 w 1364342"/>
              <a:gd name="connsiteY1" fmla="*/ 870857 h 870857"/>
              <a:gd name="connsiteX2" fmla="*/ 1364342 w 1364342"/>
              <a:gd name="connsiteY2" fmla="*/ 798285 h 870857"/>
              <a:gd name="connsiteX3" fmla="*/ 1262742 w 1364342"/>
              <a:gd name="connsiteY3" fmla="*/ 246742 h 870857"/>
              <a:gd name="connsiteX4" fmla="*/ 29028 w 1364342"/>
              <a:gd name="connsiteY4" fmla="*/ 0 h 870857"/>
              <a:gd name="connsiteX5" fmla="*/ 0 w 1364342"/>
              <a:gd name="connsiteY5" fmla="*/ 232228 h 870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64342" h="870857">
                <a:moveTo>
                  <a:pt x="0" y="232228"/>
                </a:moveTo>
                <a:lnTo>
                  <a:pt x="348342" y="870857"/>
                </a:lnTo>
                <a:lnTo>
                  <a:pt x="1364342" y="798285"/>
                </a:lnTo>
                <a:lnTo>
                  <a:pt x="1262742" y="246742"/>
                </a:lnTo>
                <a:lnTo>
                  <a:pt x="29028" y="0"/>
                </a:lnTo>
                <a:lnTo>
                  <a:pt x="0" y="23222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8D1459-CF2C-4AFE-776E-AD9C2301BF74}"/>
              </a:ext>
            </a:extLst>
          </p:cNvPr>
          <p:cNvSpPr txBox="1"/>
          <p:nvPr/>
        </p:nvSpPr>
        <p:spPr>
          <a:xfrm>
            <a:off x="245705" y="1352490"/>
            <a:ext cx="48477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+mj-lt"/>
              </a:rPr>
              <a:t>Convert from infix to prefix: 3*5+4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CD770C-3803-89D5-164C-9EC1C57B9139}"/>
              </a:ext>
            </a:extLst>
          </p:cNvPr>
          <p:cNvSpPr txBox="1"/>
          <p:nvPr/>
        </p:nvSpPr>
        <p:spPr>
          <a:xfrm>
            <a:off x="155448" y="4494074"/>
            <a:ext cx="4847769" cy="1754326"/>
          </a:xfrm>
          <a:prstGeom prst="rect">
            <a:avLst/>
          </a:prstGeom>
          <a:noFill/>
          <a:ln>
            <a:solidFill>
              <a:srgbClr val="0070C0"/>
            </a:solidFill>
            <a:prstDash val="dash"/>
          </a:ln>
        </p:spPr>
        <p:txBody>
          <a:bodyPr wrap="square" lIns="0" rIns="0">
            <a:spAutoFit/>
          </a:bodyPr>
          <a:lstStyle/>
          <a:p>
            <a:pPr marL="800100" lvl="1" indent="-342900">
              <a:buFont typeface="+mj-lt"/>
              <a:buAutoNum type="arabicPeriod"/>
            </a:pP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Produce parse tree ignoring action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For each internal node, insert additional children at appropriate place representing actions if any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Candara" pitchFamily="34" charset="0"/>
              </a:rPr>
              <a:t>Perform preorder traversal and perform action at nodes corresponding to action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671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 animBg="1"/>
      <p:bldP spid="7" grpId="0" animBg="1"/>
      <p:bldP spid="11" grpId="0" animBg="1"/>
      <p:bldP spid="13" grpId="0" animBg="1"/>
      <p:bldP spid="14" grpId="0" animBg="1"/>
      <p:bldP spid="16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EAD9B5-8C81-8F21-36C6-B36096B8B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A5129C-1672-5A8A-ADAA-9827E7332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/>
              <a:pPr/>
              <a:t>61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C9B4D59-4BD0-6266-A2ED-11E81D3EF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295400"/>
            <a:ext cx="4591050" cy="2286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6CE4A3D-FB90-A273-F791-BEDDB611C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Candara" pitchFamily="34" charset="0"/>
              </a:rPr>
              <a:t>Eliminating Left Recursion</a:t>
            </a:r>
          </a:p>
        </p:txBody>
      </p:sp>
      <p:sp>
        <p:nvSpPr>
          <p:cNvPr id="6" name="Right Arrow 2">
            <a:extLst>
              <a:ext uri="{FF2B5EF4-FFF2-40B4-BE49-F238E27FC236}">
                <a16:creationId xmlns:a16="http://schemas.microsoft.com/office/drawing/2014/main" id="{B1137A6D-4AC0-8EE8-22B2-2DC153125BE6}"/>
              </a:ext>
            </a:extLst>
          </p:cNvPr>
          <p:cNvSpPr/>
          <p:nvPr/>
        </p:nvSpPr>
        <p:spPr>
          <a:xfrm>
            <a:off x="3810000" y="4951498"/>
            <a:ext cx="609600" cy="440594"/>
          </a:xfrm>
          <a:prstGeom prst="rightArrow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6D5060-9A1F-0B46-85C8-82ACF64A6142}"/>
              </a:ext>
            </a:extLst>
          </p:cNvPr>
          <p:cNvSpPr txBox="1"/>
          <p:nvPr/>
        </p:nvSpPr>
        <p:spPr>
          <a:xfrm>
            <a:off x="457200" y="1976735"/>
            <a:ext cx="144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We know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831E15-7AF9-9ADD-D6C3-0B2F54B94206}"/>
              </a:ext>
            </a:extLst>
          </p:cNvPr>
          <p:cNvSpPr txBox="1"/>
          <p:nvPr/>
        </p:nvSpPr>
        <p:spPr>
          <a:xfrm>
            <a:off x="304800" y="3348335"/>
            <a:ext cx="2209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What about?</a:t>
            </a:r>
          </a:p>
        </p:txBody>
      </p:sp>
      <p:graphicFrame>
        <p:nvGraphicFramePr>
          <p:cNvPr id="14" name="Table 6">
            <a:extLst>
              <a:ext uri="{FF2B5EF4-FFF2-40B4-BE49-F238E27FC236}">
                <a16:creationId xmlns:a16="http://schemas.microsoft.com/office/drawing/2014/main" id="{8AF42CAF-5E55-938F-F619-C68F8A5A0A6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2162851"/>
              </p:ext>
            </p:extLst>
          </p:nvPr>
        </p:nvGraphicFramePr>
        <p:xfrm>
          <a:off x="4657724" y="4450080"/>
          <a:ext cx="4181476" cy="134112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4181476">
                  <a:extLst>
                    <a:ext uri="{9D8B030D-6E8A-4147-A177-3AD203B41FA5}">
                      <a16:colId xmlns:a16="http://schemas.microsoft.com/office/drawing/2014/main" val="359978857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ym typeface="Wingdings" panose="05000000000000000000" pitchFamily="2" charset="2"/>
                        </a:rPr>
                        <a:t>T   F {</a:t>
                      </a:r>
                      <a:r>
                        <a:rPr lang="en-US" sz="1600" b="0" dirty="0">
                          <a:solidFill>
                            <a:schemeClr val="accent6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T</a:t>
                      </a:r>
                      <a:r>
                        <a:rPr lang="en-US" sz="1600" b="0" baseline="50000" dirty="0">
                          <a:solidFill>
                            <a:schemeClr val="accent6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/</a:t>
                      </a:r>
                      <a:r>
                        <a:rPr lang="en-US" sz="1600" b="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600" b="0" i="1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inh</a:t>
                      </a:r>
                      <a:r>
                        <a:rPr lang="en-US" sz="1600" b="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 = </a:t>
                      </a:r>
                      <a:r>
                        <a:rPr lang="en-US" sz="1600" b="0" baseline="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F.</a:t>
                      </a:r>
                      <a:r>
                        <a:rPr lang="en-US" sz="1600" b="0" i="1" baseline="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val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} T</a:t>
                      </a:r>
                      <a:r>
                        <a:rPr lang="en-US" sz="1600" b="0" baseline="50000" dirty="0">
                          <a:sym typeface="Wingdings" panose="05000000000000000000" pitchFamily="2" charset="2"/>
                        </a:rPr>
                        <a:t>/</a:t>
                      </a:r>
                      <a:r>
                        <a:rPr lang="en-US" sz="1600" b="0" baseline="0" dirty="0">
                          <a:sym typeface="Wingdings" panose="05000000000000000000" pitchFamily="2" charset="2"/>
                        </a:rPr>
                        <a:t>{</a:t>
                      </a:r>
                      <a:r>
                        <a:rPr lang="en-US" sz="1600" b="0" kern="1200" baseline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T.</a:t>
                      </a:r>
                      <a:r>
                        <a:rPr lang="en-US" sz="1600" b="0" i="1" kern="1200" baseline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val</a:t>
                      </a:r>
                      <a:r>
                        <a:rPr lang="en-US" sz="1600" b="0" kern="1200" baseline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 = </a:t>
                      </a:r>
                      <a:r>
                        <a:rPr lang="en-US" sz="16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T</a:t>
                      </a:r>
                      <a:r>
                        <a:rPr lang="en-US" sz="1600" b="0" baseline="500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/</a:t>
                      </a:r>
                      <a:r>
                        <a:rPr lang="en-US" sz="1600" b="0" baseline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600" b="0" i="1" baseline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syn</a:t>
                      </a:r>
                      <a:r>
                        <a:rPr lang="en-US" sz="1600" b="0" baseline="0" dirty="0">
                          <a:sym typeface="Wingdings" panose="05000000000000000000" pitchFamily="2" charset="2"/>
                        </a:rPr>
                        <a:t>}</a:t>
                      </a:r>
                      <a:endParaRPr lang="en-US" sz="1600" b="0" kern="12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40625316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ym typeface="Wingdings" panose="05000000000000000000" pitchFamily="2" charset="2"/>
                        </a:rPr>
                        <a:t>T</a:t>
                      </a:r>
                      <a:r>
                        <a:rPr lang="en-US" sz="1600" b="0" baseline="50000" dirty="0">
                          <a:sym typeface="Wingdings" panose="05000000000000000000" pitchFamily="2" charset="2"/>
                        </a:rPr>
                        <a:t>/</a:t>
                      </a:r>
                      <a:r>
                        <a:rPr lang="en-US" sz="1600" b="0" baseline="0" dirty="0">
                          <a:sym typeface="Wingdings" panose="05000000000000000000" pitchFamily="2" charset="2"/>
                        </a:rPr>
                        <a:t>  *F </a:t>
                      </a: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{</a:t>
                      </a: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T</a:t>
                      </a:r>
                      <a:r>
                        <a:rPr kumimoji="0" lang="en-US" sz="1600" b="0" u="none" strike="noStrike" kern="1200" cap="none" spc="0" normalizeH="0" baseline="-30000" noProof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1</a:t>
                      </a:r>
                      <a:r>
                        <a:rPr kumimoji="0" lang="en-US" sz="1600" b="0" u="none" strike="noStrike" kern="1200" cap="none" spc="0" normalizeH="0" baseline="50000" noProof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/</a:t>
                      </a:r>
                      <a:r>
                        <a:rPr lang="en-US" sz="1600" b="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600" b="0" i="1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inh</a:t>
                      </a:r>
                      <a:r>
                        <a:rPr lang="en-US" sz="1600" b="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1600" b="0" dirty="0">
                          <a:solidFill>
                            <a:schemeClr val="accent6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T</a:t>
                      </a:r>
                      <a:r>
                        <a:rPr lang="en-US" sz="1600" b="0" baseline="50000" dirty="0">
                          <a:solidFill>
                            <a:schemeClr val="accent6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/</a:t>
                      </a:r>
                      <a:r>
                        <a:rPr lang="en-US" sz="1600" b="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600" b="0" i="1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inh</a:t>
                      </a:r>
                      <a:r>
                        <a:rPr lang="en-US" sz="1600" b="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 x </a:t>
                      </a:r>
                      <a:r>
                        <a:rPr lang="en-US" sz="1600" b="0" baseline="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F.</a:t>
                      </a:r>
                      <a:r>
                        <a:rPr lang="en-US" sz="1600" b="0" i="1" baseline="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sym typeface="Wingdings" panose="05000000000000000000" pitchFamily="2" charset="2"/>
                        </a:rPr>
                        <a:t>val</a:t>
                      </a:r>
                      <a:r>
                        <a:rPr lang="en-US" sz="1600" b="0" baseline="0" dirty="0">
                          <a:sym typeface="Wingdings" panose="05000000000000000000" pitchFamily="2" charset="2"/>
                        </a:rPr>
                        <a:t>} 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T</a:t>
                      </a:r>
                      <a:r>
                        <a:rPr lang="en-US" sz="1600" b="0" baseline="-30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600" b="0" baseline="50000" dirty="0">
                          <a:sym typeface="Wingdings" panose="05000000000000000000" pitchFamily="2" charset="2"/>
                        </a:rPr>
                        <a:t>/ 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{</a:t>
                      </a:r>
                      <a:r>
                        <a:rPr lang="en-US" sz="16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T</a:t>
                      </a:r>
                      <a:r>
                        <a:rPr lang="en-US" sz="1600" b="0" baseline="500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/</a:t>
                      </a:r>
                      <a:r>
                        <a:rPr lang="en-US" sz="1600" b="0" baseline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600" b="0" i="1" baseline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syn</a:t>
                      </a:r>
                      <a:r>
                        <a:rPr lang="en-US" sz="1600" b="0" kern="1200" baseline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=</a:t>
                      </a: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T</a:t>
                      </a:r>
                      <a:r>
                        <a:rPr kumimoji="0" lang="en-US" sz="1600" b="0" u="none" strike="noStrike" kern="1200" cap="none" spc="0" normalizeH="0" baseline="-30000" noProof="0" dirty="0">
                          <a:ln>
                            <a:noFill/>
                          </a:ln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1</a:t>
                      </a:r>
                      <a:r>
                        <a:rPr kumimoji="0" lang="en-US" sz="1600" b="0" u="none" strike="noStrike" kern="1200" cap="none" spc="0" normalizeH="0" baseline="50000" noProof="0" dirty="0">
                          <a:ln>
                            <a:noFill/>
                          </a:ln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/</a:t>
                      </a:r>
                      <a:r>
                        <a:rPr lang="en-US" sz="1600" b="0" baseline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600" b="0" i="1" baseline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syn</a:t>
                      </a:r>
                      <a:r>
                        <a:rPr lang="en-US" sz="1600" b="0" i="1" baseline="0" dirty="0">
                          <a:sym typeface="Wingdings" panose="05000000000000000000" pitchFamily="2" charset="2"/>
                        </a:rPr>
                        <a:t>}</a:t>
                      </a:r>
                      <a:endParaRPr lang="en-US" sz="1600" b="0" i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50339451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T</a:t>
                      </a:r>
                      <a:r>
                        <a:rPr kumimoji="0" lang="en-US" sz="1600" b="0" u="none" strike="noStrike" kern="1200" cap="none" spc="0" normalizeH="0" baseline="5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/</a:t>
                      </a: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   Ɛ </a:t>
                      </a:r>
                      <a:r>
                        <a:rPr lang="en-US" sz="1600" b="0" dirty="0">
                          <a:sym typeface="Wingdings" panose="05000000000000000000" pitchFamily="2" charset="2"/>
                        </a:rPr>
                        <a:t>{</a:t>
                      </a:r>
                      <a:r>
                        <a:rPr lang="en-US" sz="1600" b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T</a:t>
                      </a:r>
                      <a:r>
                        <a:rPr lang="en-US" sz="1600" b="0" baseline="500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/</a:t>
                      </a:r>
                      <a:r>
                        <a:rPr lang="en-US" sz="1600" b="0" baseline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600" b="0" i="1" baseline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syn</a:t>
                      </a:r>
                      <a:r>
                        <a:rPr lang="en-US" sz="1600" b="0" kern="1200" baseline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 = </a:t>
                      </a: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T</a:t>
                      </a:r>
                      <a:r>
                        <a:rPr kumimoji="0" lang="en-US" sz="1600" b="0" u="none" strike="noStrike" kern="1200" cap="none" spc="0" normalizeH="0" baseline="-30000" noProof="0" dirty="0">
                          <a:ln>
                            <a:noFill/>
                          </a:ln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1</a:t>
                      </a:r>
                      <a:r>
                        <a:rPr kumimoji="0" lang="en-US" sz="1600" b="0" u="none" strike="noStrike" kern="1200" cap="none" spc="0" normalizeH="0" baseline="50000" noProof="0" dirty="0">
                          <a:ln>
                            <a:noFill/>
                          </a:ln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/</a:t>
                      </a:r>
                      <a:r>
                        <a:rPr lang="en-US" sz="1600" b="0" baseline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600" b="0" i="1" baseline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syn</a:t>
                      </a:r>
                      <a:r>
                        <a:rPr lang="en-US" sz="1600" b="0" baseline="0" dirty="0">
                          <a:sym typeface="Wingdings" panose="05000000000000000000" pitchFamily="2" charset="2"/>
                        </a:rPr>
                        <a:t>}</a:t>
                      </a:r>
                      <a:endParaRPr lang="en-US" sz="1600" b="0" i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7759319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F   </a:t>
                      </a:r>
                      <a:r>
                        <a:rPr kumimoji="0" lang="en-US" sz="16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digit </a:t>
                      </a:r>
                      <a:r>
                        <a:rPr lang="en-US" sz="1600" b="0" baseline="0" dirty="0">
                          <a:sym typeface="Wingdings" panose="05000000000000000000" pitchFamily="2" charset="2"/>
                        </a:rPr>
                        <a:t>{</a:t>
                      </a:r>
                      <a:r>
                        <a:rPr lang="en-US" sz="1600" b="0" baseline="0" dirty="0" err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F.</a:t>
                      </a:r>
                      <a:r>
                        <a:rPr lang="en-US" sz="1600" b="0" i="1" baseline="0" dirty="0" err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val</a:t>
                      </a:r>
                      <a:r>
                        <a:rPr lang="en-US" sz="1600" b="0" kern="1200" baseline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 = </a:t>
                      </a:r>
                      <a:r>
                        <a:rPr lang="en-US" sz="1600" b="1" kern="1200" baseline="0" dirty="0" err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digit</a:t>
                      </a:r>
                      <a:r>
                        <a:rPr lang="en-US" sz="1600" b="0" kern="1200" baseline="0" dirty="0" err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1600" b="0" i="1" kern="1200" baseline="0" dirty="0" err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sym typeface="Wingdings" panose="05000000000000000000" pitchFamily="2" charset="2"/>
                        </a:rPr>
                        <a:t>lexval</a:t>
                      </a:r>
                      <a:r>
                        <a:rPr lang="en-US" sz="1600" b="0" kern="1200" baseline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}</a:t>
                      </a:r>
                      <a:endParaRPr lang="en-US" sz="1600" b="0" i="1" baseline="0" dirty="0">
                        <a:sym typeface="Wingdings" panose="05000000000000000000" pitchFamily="2" charset="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671529052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EAECDF0D-D282-6E88-73E8-F458097534C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5160"/>
          <a:stretch/>
        </p:blipFill>
        <p:spPr>
          <a:xfrm>
            <a:off x="0" y="4545659"/>
            <a:ext cx="3732302" cy="116934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95714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Candara" pitchFamily="34" charset="0"/>
              </a:rPr>
              <a:t>Eliminating Left Recursion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ndara" pitchFamily="34" charset="0"/>
              </a:rPr>
              <a:t>Dept of CSE, BUET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>
                <a:latin typeface="Candara" pitchFamily="34" charset="0"/>
              </a:rPr>
              <a:pPr/>
              <a:t>62</a:t>
            </a:fld>
            <a:endParaRPr lang="en-US">
              <a:latin typeface="Candara" pitchFamily="34" charset="0"/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2800" dirty="0">
                <a:latin typeface="Candara" pitchFamily="34" charset="0"/>
              </a:rPr>
              <a:t>Consider the following </a:t>
            </a:r>
            <a:r>
              <a:rPr lang="en-US" sz="2800" dirty="0">
                <a:solidFill>
                  <a:srgbClr val="C00000"/>
                </a:solidFill>
                <a:latin typeface="Candara" pitchFamily="34" charset="0"/>
              </a:rPr>
              <a:t>postfix SDT</a:t>
            </a:r>
          </a:p>
          <a:p>
            <a:endParaRPr lang="en-US" sz="2800" dirty="0">
              <a:latin typeface="Candara" pitchFamily="34" charset="0"/>
            </a:endParaRPr>
          </a:p>
          <a:p>
            <a:pPr>
              <a:buNone/>
            </a:pPr>
            <a:endParaRPr lang="en-US" sz="2800" dirty="0">
              <a:latin typeface="Candara" pitchFamily="34" charset="0"/>
            </a:endParaRPr>
          </a:p>
          <a:p>
            <a:r>
              <a:rPr lang="en-US" sz="2800" dirty="0">
                <a:latin typeface="Candara" pitchFamily="34" charset="0"/>
              </a:rPr>
              <a:t>It converts infix expression to prefix</a:t>
            </a:r>
          </a:p>
          <a:p>
            <a:r>
              <a:rPr lang="en-US" sz="2800" dirty="0">
                <a:latin typeface="Candara" pitchFamily="34" charset="0"/>
              </a:rPr>
              <a:t>Good with bottom-up parsing</a:t>
            </a:r>
          </a:p>
          <a:p>
            <a:r>
              <a:rPr lang="en-US" sz="2800" dirty="0">
                <a:latin typeface="Candara" pitchFamily="34" charset="0"/>
              </a:rPr>
              <a:t>Does it also good for top-down parsing?</a:t>
            </a:r>
          </a:p>
          <a:p>
            <a:r>
              <a:rPr lang="en-US" sz="2800" dirty="0">
                <a:solidFill>
                  <a:srgbClr val="C00000"/>
                </a:solidFill>
                <a:latin typeface="Candara" pitchFamily="34" charset="0"/>
              </a:rPr>
              <a:t>No! Need to remove left recursion</a:t>
            </a:r>
          </a:p>
          <a:p>
            <a:r>
              <a:rPr lang="en-US" sz="2800" dirty="0">
                <a:latin typeface="Candara" pitchFamily="34" charset="0"/>
              </a:rPr>
              <a:t>With action in production body, it becomes bit tricky</a:t>
            </a:r>
          </a:p>
          <a:p>
            <a:pPr lvl="1"/>
            <a:r>
              <a:rPr lang="en-US" sz="2400" dirty="0">
                <a:latin typeface="Candara" pitchFamily="34" charset="0"/>
              </a:rPr>
              <a:t>Need to preserve order</a:t>
            </a:r>
          </a:p>
        </p:txBody>
      </p:sp>
      <p:pic>
        <p:nvPicPr>
          <p:cNvPr id="7" name="Picture 6" descr="Screen Clippi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2133600"/>
            <a:ext cx="4191585" cy="8811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Candara" pitchFamily="34" charset="0"/>
              </a:rPr>
              <a:t>Eliminating Left Recursion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ndara" pitchFamily="34" charset="0"/>
              </a:rPr>
              <a:t>Dept of CSE, BUET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>
                <a:latin typeface="Candara" pitchFamily="34" charset="0"/>
              </a:rPr>
              <a:pPr/>
              <a:t>63</a:t>
            </a:fld>
            <a:endParaRPr lang="en-US">
              <a:latin typeface="Candara" pitchFamily="34" charset="0"/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Candara" pitchFamily="34" charset="0"/>
              </a:rPr>
              <a:t>Recap:</a:t>
            </a:r>
          </a:p>
          <a:p>
            <a:pPr lvl="1"/>
            <a:r>
              <a:rPr lang="en-US" sz="2400" dirty="0">
                <a:latin typeface="Candara" pitchFamily="34" charset="0"/>
              </a:rPr>
              <a:t>Grammar with left recursion</a:t>
            </a:r>
          </a:p>
          <a:p>
            <a:pPr lvl="1"/>
            <a:endParaRPr lang="en-US" sz="2400" dirty="0">
              <a:latin typeface="Candara" pitchFamily="34" charset="0"/>
            </a:endParaRPr>
          </a:p>
          <a:p>
            <a:pPr lvl="1"/>
            <a:endParaRPr lang="en-US" sz="2400" dirty="0">
              <a:latin typeface="Candara" pitchFamily="34" charset="0"/>
            </a:endParaRPr>
          </a:p>
          <a:p>
            <a:pPr lvl="1"/>
            <a:r>
              <a:rPr lang="en-US" sz="2400" dirty="0">
                <a:latin typeface="Candara" pitchFamily="34" charset="0"/>
              </a:rPr>
              <a:t>After eliminating left recursion</a:t>
            </a:r>
          </a:p>
          <a:p>
            <a:endParaRPr lang="en-US" sz="2800" dirty="0">
              <a:latin typeface="Candara" pitchFamily="34" charset="0"/>
            </a:endParaRPr>
          </a:p>
        </p:txBody>
      </p:sp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0" y="2683368"/>
            <a:ext cx="2303466" cy="713332"/>
          </a:xfrm>
          <a:prstGeom prst="rect">
            <a:avLst/>
          </a:prstGeom>
        </p:spPr>
      </p:pic>
      <p:pic>
        <p:nvPicPr>
          <p:cNvPr id="11" name="Picture 10" descr="Screen Clippi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199" y="4008851"/>
            <a:ext cx="2139994" cy="1174025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Candara" pitchFamily="34" charset="0"/>
              </a:rPr>
              <a:t>Eliminating Left Recursion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ndara" pitchFamily="34" charset="0"/>
              </a:rPr>
              <a:t>Dept of CSE, BUET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>
                <a:latin typeface="Candara" pitchFamily="34" charset="0"/>
              </a:rPr>
              <a:pPr/>
              <a:t>64</a:t>
            </a:fld>
            <a:endParaRPr lang="en-US">
              <a:latin typeface="Candara" pitchFamily="34" charset="0"/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525963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Candara" pitchFamily="34" charset="0"/>
              </a:rPr>
              <a:t>Case 1: </a:t>
            </a:r>
            <a:r>
              <a:rPr lang="en-US" sz="2800" dirty="0">
                <a:latin typeface="Candara" pitchFamily="34" charset="0"/>
              </a:rPr>
              <a:t>when we only care about the order in which actions in an SDT are performed</a:t>
            </a:r>
          </a:p>
          <a:p>
            <a:pPr lvl="1"/>
            <a:r>
              <a:rPr lang="en-US" sz="2400" dirty="0">
                <a:latin typeface="Candara" pitchFamily="34" charset="0"/>
              </a:rPr>
              <a:t>For example, printing string</a:t>
            </a:r>
          </a:p>
          <a:p>
            <a:r>
              <a:rPr lang="en-US" sz="2800" dirty="0">
                <a:latin typeface="Candara" pitchFamily="34" charset="0"/>
              </a:rPr>
              <a:t>Treat the actions as if they are terminal symbols</a:t>
            </a:r>
          </a:p>
          <a:p>
            <a:pPr lvl="1"/>
            <a:r>
              <a:rPr lang="en-US" sz="2400" dirty="0">
                <a:latin typeface="Candara" pitchFamily="34" charset="0"/>
              </a:rPr>
              <a:t>Grammar transformation preserves the order of the terminals in the generated string </a:t>
            </a:r>
          </a:p>
          <a:p>
            <a:pPr lvl="1"/>
            <a:r>
              <a:rPr lang="en-US" sz="2400" dirty="0">
                <a:latin typeface="Candara" pitchFamily="34" charset="0"/>
              </a:rPr>
              <a:t>Therefore, the actions are executed in the same order in any left-to-right parse, top-down or bottom-up</a:t>
            </a:r>
          </a:p>
          <a:p>
            <a:pPr lvl="1"/>
            <a:endParaRPr lang="en-US" sz="2400" dirty="0">
              <a:latin typeface="Candara" pitchFamily="34" charset="0"/>
            </a:endParaRPr>
          </a:p>
          <a:p>
            <a:endParaRPr lang="en-US" sz="2800" dirty="0">
              <a:latin typeface="Candara" pitchFamily="34" charset="0"/>
            </a:endParaRPr>
          </a:p>
          <a:p>
            <a:endParaRPr lang="en-US" sz="2800" dirty="0">
              <a:latin typeface="Candara" pitchFamily="34" charset="0"/>
            </a:endParaRPr>
          </a:p>
          <a:p>
            <a:endParaRPr lang="en-US" sz="2800" dirty="0">
              <a:latin typeface="Candara" pitchFamily="34" charset="0"/>
            </a:endParaRPr>
          </a:p>
          <a:p>
            <a:endParaRPr lang="en-US" sz="2800" dirty="0">
              <a:latin typeface="Candara" pitchFamily="34" charset="0"/>
            </a:endParaRPr>
          </a:p>
          <a:p>
            <a:endParaRPr lang="en-US" sz="2800" dirty="0">
              <a:latin typeface="Candara" pitchFamily="34" charset="0"/>
            </a:endParaRPr>
          </a:p>
          <a:p>
            <a:pPr marL="0" indent="0">
              <a:buNone/>
            </a:pPr>
            <a:endParaRPr lang="en-US" sz="2800" dirty="0">
              <a:latin typeface="Candara" pitchFamily="34" charset="0"/>
            </a:endParaRPr>
          </a:p>
          <a:p>
            <a:endParaRPr lang="en-US" sz="2800" dirty="0">
              <a:latin typeface="Candara" pitchFamily="34" charset="0"/>
            </a:endParaRPr>
          </a:p>
          <a:p>
            <a:endParaRPr lang="en-US" sz="2800" dirty="0">
              <a:latin typeface="Candara" pitchFamily="34" charset="0"/>
            </a:endParaRPr>
          </a:p>
          <a:p>
            <a:endParaRPr lang="en-US" sz="2800" dirty="0">
              <a:latin typeface="Candara" pitchFamily="34" charset="0"/>
            </a:endParaRPr>
          </a:p>
          <a:p>
            <a:endParaRPr lang="en-US" sz="2800" dirty="0">
              <a:latin typeface="Candara" pitchFamily="34" charset="0"/>
            </a:endParaRPr>
          </a:p>
        </p:txBody>
      </p:sp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065" y="5188597"/>
            <a:ext cx="4191585" cy="881185"/>
          </a:xfrm>
          <a:prstGeom prst="rect">
            <a:avLst/>
          </a:prstGeom>
        </p:spPr>
      </p:pic>
      <p:pic>
        <p:nvPicPr>
          <p:cNvPr id="11" name="Picture 10" descr="Screen Clippi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4850" y="5009977"/>
            <a:ext cx="3989150" cy="1238423"/>
          </a:xfrm>
          <a:prstGeom prst="rect">
            <a:avLst/>
          </a:prstGeom>
        </p:spPr>
      </p:pic>
      <p:sp>
        <p:nvSpPr>
          <p:cNvPr id="3" name="Right Arrow 2"/>
          <p:cNvSpPr/>
          <p:nvPr/>
        </p:nvSpPr>
        <p:spPr>
          <a:xfrm>
            <a:off x="4271525" y="5408891"/>
            <a:ext cx="798750" cy="440594"/>
          </a:xfrm>
          <a:prstGeom prst="rightArrow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762000" y="6324600"/>
            <a:ext cx="27077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Candara" pitchFamily="34" charset="0"/>
              </a:rPr>
              <a:t>SDT with left recursion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76907" y="6305490"/>
            <a:ext cx="30812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Candara" pitchFamily="34" charset="0"/>
              </a:rPr>
              <a:t>SDT without left recursion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5FBF055-D0E9-DEC5-EF67-17063E89B0EC}"/>
              </a:ext>
            </a:extLst>
          </p:cNvPr>
          <p:cNvGrpSpPr/>
          <p:nvPr/>
        </p:nvGrpSpPr>
        <p:grpSpPr>
          <a:xfrm>
            <a:off x="1676400" y="4724400"/>
            <a:ext cx="2514600" cy="609600"/>
            <a:chOff x="2276658" y="4800600"/>
            <a:chExt cx="1828800" cy="609600"/>
          </a:xfrm>
        </p:grpSpPr>
        <p:sp>
          <p:nvSpPr>
            <p:cNvPr id="8" name="Right Brace 7">
              <a:extLst>
                <a:ext uri="{FF2B5EF4-FFF2-40B4-BE49-F238E27FC236}">
                  <a16:creationId xmlns:a16="http://schemas.microsoft.com/office/drawing/2014/main" id="{FD3E2072-D47B-0167-6400-001A3B59ACA2}"/>
                </a:ext>
              </a:extLst>
            </p:cNvPr>
            <p:cNvSpPr/>
            <p:nvPr/>
          </p:nvSpPr>
          <p:spPr>
            <a:xfrm rot="16200000">
              <a:off x="2981508" y="4286250"/>
              <a:ext cx="419100" cy="1828800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AE6FE67-C922-F39A-C6BE-1088E480D69E}"/>
                </a:ext>
              </a:extLst>
            </p:cNvPr>
            <p:cNvSpPr txBox="1"/>
            <p:nvPr/>
          </p:nvSpPr>
          <p:spPr>
            <a:xfrm>
              <a:off x="2733858" y="4800600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2000" dirty="0">
                  <a:solidFill>
                    <a:srgbClr val="FF0000"/>
                  </a:solidFill>
                </a:rPr>
                <a:t>α</a:t>
              </a:r>
              <a:endParaRPr lang="en-US" sz="20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B0B834E-0094-4AD1-F4A1-0AC820AE171B}"/>
              </a:ext>
            </a:extLst>
          </p:cNvPr>
          <p:cNvGrpSpPr/>
          <p:nvPr/>
        </p:nvGrpSpPr>
        <p:grpSpPr>
          <a:xfrm>
            <a:off x="990600" y="5791517"/>
            <a:ext cx="902286" cy="609283"/>
            <a:chOff x="125066" y="4572001"/>
            <a:chExt cx="902286" cy="609283"/>
          </a:xfrm>
        </p:grpSpPr>
        <p:sp>
          <p:nvSpPr>
            <p:cNvPr id="16" name="Right Brace 15">
              <a:extLst>
                <a:ext uri="{FF2B5EF4-FFF2-40B4-BE49-F238E27FC236}">
                  <a16:creationId xmlns:a16="http://schemas.microsoft.com/office/drawing/2014/main" id="{0F679554-7F8F-84EB-4D39-F1DF30D130AA}"/>
                </a:ext>
              </a:extLst>
            </p:cNvPr>
            <p:cNvSpPr/>
            <p:nvPr/>
          </p:nvSpPr>
          <p:spPr>
            <a:xfrm rot="5400000" flipV="1">
              <a:off x="428405" y="4372198"/>
              <a:ext cx="399143" cy="798750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B7130B7-D9C5-1B82-D1F8-8EBD09325CCA}"/>
                </a:ext>
              </a:extLst>
            </p:cNvPr>
            <p:cNvSpPr txBox="1"/>
            <p:nvPr/>
          </p:nvSpPr>
          <p:spPr>
            <a:xfrm>
              <a:off x="125066" y="4781174"/>
              <a:ext cx="56231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2000" dirty="0">
                  <a:solidFill>
                    <a:srgbClr val="FF0000"/>
                  </a:solidFill>
                </a:rPr>
                <a:t>β</a:t>
              </a:r>
              <a:endParaRPr lang="en-US" sz="2000" dirty="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" grpId="0"/>
      <p:bldP spid="12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8229600" cy="1143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Candara" pitchFamily="34" charset="0"/>
              </a:rPr>
              <a:t>Eliminating Left Recursion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492875"/>
            <a:ext cx="2895600" cy="365125"/>
          </a:xfrm>
        </p:spPr>
        <p:txBody>
          <a:bodyPr/>
          <a:lstStyle/>
          <a:p>
            <a:r>
              <a:rPr lang="en-US">
                <a:latin typeface="Candara" pitchFamily="34" charset="0"/>
              </a:rPr>
              <a:t>Dept of CSE, BUET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492875"/>
            <a:ext cx="2133600" cy="365125"/>
          </a:xfrm>
        </p:spPr>
        <p:txBody>
          <a:bodyPr/>
          <a:lstStyle/>
          <a:p>
            <a:fld id="{9610CB97-BFCA-4D72-8FC9-539B415ADACC}" type="slidenum">
              <a:rPr lang="en-US" smtClean="0">
                <a:latin typeface="Candara" pitchFamily="34" charset="0"/>
              </a:rPr>
              <a:pPr/>
              <a:t>65</a:t>
            </a:fld>
            <a:endParaRPr lang="en-US">
              <a:latin typeface="Candara" pitchFamily="34" charset="0"/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609600" y="1797422"/>
            <a:ext cx="8229600" cy="4525963"/>
          </a:xfrm>
        </p:spPr>
        <p:txBody>
          <a:bodyPr>
            <a:normAutofit/>
          </a:bodyPr>
          <a:lstStyle/>
          <a:p>
            <a:endParaRPr lang="en-US" sz="2800" dirty="0">
              <a:latin typeface="Candara" pitchFamily="34" charset="0"/>
            </a:endParaRPr>
          </a:p>
          <a:p>
            <a:endParaRPr lang="en-US" sz="2800" dirty="0">
              <a:latin typeface="Candara" pitchFamily="34" charset="0"/>
            </a:endParaRPr>
          </a:p>
          <a:p>
            <a:endParaRPr lang="en-US" sz="2800" dirty="0">
              <a:latin typeface="Candara" pitchFamily="34" charset="0"/>
            </a:endParaRPr>
          </a:p>
          <a:p>
            <a:endParaRPr lang="en-US" sz="2800" dirty="0">
              <a:latin typeface="Candara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8200" y="2711822"/>
            <a:ext cx="27077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Candara" pitchFamily="34" charset="0"/>
              </a:rPr>
              <a:t>SDT with left recursion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698" y="5848290"/>
            <a:ext cx="25523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Candara" pitchFamily="34" charset="0"/>
              </a:rPr>
              <a:t>Annotated parse tree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343400" y="2026022"/>
            <a:ext cx="533400" cy="484632"/>
          </a:xfrm>
          <a:prstGeom prst="rightArrow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Arrow 14"/>
          <p:cNvSpPr/>
          <p:nvPr/>
        </p:nvSpPr>
        <p:spPr>
          <a:xfrm>
            <a:off x="4343400" y="4191000"/>
            <a:ext cx="533400" cy="484632"/>
          </a:xfrm>
          <a:prstGeom prst="rightArrow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5521807" y="2711822"/>
            <a:ext cx="30732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Candara" pitchFamily="34" charset="0"/>
              </a:rPr>
              <a:t>CFG without left recursion</a:t>
            </a:r>
          </a:p>
        </p:txBody>
      </p:sp>
      <p:pic>
        <p:nvPicPr>
          <p:cNvPr id="18" name="Picture 17" descr="leftrecexparse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105400" y="3124200"/>
            <a:ext cx="3886200" cy="2590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601098" y="5791200"/>
            <a:ext cx="25523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Candara" pitchFamily="34" charset="0"/>
              </a:rPr>
              <a:t>Annotated parse tree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67400" y="5302622"/>
            <a:ext cx="304800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Screen Clippi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752600"/>
            <a:ext cx="3822894" cy="959222"/>
          </a:xfrm>
          <a:prstGeom prst="rect">
            <a:avLst/>
          </a:prstGeom>
        </p:spPr>
      </p:pic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200" y="3327088"/>
            <a:ext cx="3240672" cy="2495490"/>
          </a:xfrm>
          <a:prstGeom prst="rect">
            <a:avLst/>
          </a:prstGeom>
        </p:spPr>
      </p:pic>
      <p:pic>
        <p:nvPicPr>
          <p:cNvPr id="10" name="Picture 9" descr="Screen Clippi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600" y="1797422"/>
            <a:ext cx="2105319" cy="8002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1066800"/>
            <a:ext cx="7543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Case 2: Actions Involving Attribute Calculation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7" grpId="0"/>
      <p:bldP spid="19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2458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Candara" pitchFamily="34" charset="0"/>
              </a:rPr>
              <a:t>Eliminating Left Recursion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ndara" pitchFamily="34" charset="0"/>
              </a:rPr>
              <a:t>Dept of CSE, BUET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>
                <a:latin typeface="Candara" pitchFamily="34" charset="0"/>
              </a:rPr>
              <a:pPr/>
              <a:t>66</a:t>
            </a:fld>
            <a:endParaRPr lang="en-US">
              <a:latin typeface="Candara" pitchFamily="34" charset="0"/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800" dirty="0">
              <a:latin typeface="Candara" pitchFamily="34" charset="0"/>
            </a:endParaRPr>
          </a:p>
          <a:p>
            <a:endParaRPr lang="en-US" sz="2800" dirty="0">
              <a:latin typeface="Candara" pitchFamily="34" charset="0"/>
            </a:endParaRPr>
          </a:p>
          <a:p>
            <a:endParaRPr lang="en-US" sz="2800" dirty="0">
              <a:latin typeface="Candara" pitchFamily="34" charset="0"/>
            </a:endParaRPr>
          </a:p>
          <a:p>
            <a:endParaRPr lang="en-US" sz="2800" dirty="0">
              <a:latin typeface="Candara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97407" y="6057780"/>
            <a:ext cx="27077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Candara" pitchFamily="34" charset="0"/>
              </a:rPr>
              <a:t>SDT with left recursion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64607" y="6076890"/>
            <a:ext cx="30812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Candara" pitchFamily="34" charset="0"/>
              </a:rPr>
              <a:t>SDT without left recursion</a:t>
            </a:r>
          </a:p>
        </p:txBody>
      </p:sp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4816104"/>
            <a:ext cx="3809999" cy="955986"/>
          </a:xfrm>
          <a:prstGeom prst="rect">
            <a:avLst/>
          </a:prstGeom>
        </p:spPr>
      </p:pic>
      <p:pic>
        <p:nvPicPr>
          <p:cNvPr id="10" name="Picture 9" descr="Screen Clippi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199" y="4694236"/>
            <a:ext cx="4724401" cy="12000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392D18F-4245-C68B-BB5A-685ABC8126EA}"/>
              </a:ext>
            </a:extLst>
          </p:cNvPr>
          <p:cNvSpPr txBox="1"/>
          <p:nvPr/>
        </p:nvSpPr>
        <p:spPr>
          <a:xfrm>
            <a:off x="876698" y="4171890"/>
            <a:ext cx="25523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Candara" pitchFamily="34" charset="0"/>
              </a:rPr>
              <a:t>Annotated parse tree</a:t>
            </a:r>
          </a:p>
        </p:txBody>
      </p:sp>
      <p:sp>
        <p:nvSpPr>
          <p:cNvPr id="14" name="Right Arrow 14">
            <a:extLst>
              <a:ext uri="{FF2B5EF4-FFF2-40B4-BE49-F238E27FC236}">
                <a16:creationId xmlns:a16="http://schemas.microsoft.com/office/drawing/2014/main" id="{8B04A160-0B21-AB19-C1FC-7ACD4C18FD31}"/>
              </a:ext>
            </a:extLst>
          </p:cNvPr>
          <p:cNvSpPr/>
          <p:nvPr/>
        </p:nvSpPr>
        <p:spPr>
          <a:xfrm>
            <a:off x="4343400" y="2514600"/>
            <a:ext cx="533400" cy="484632"/>
          </a:xfrm>
          <a:prstGeom prst="rightArrow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leftrecexparse1.JPG">
            <a:extLst>
              <a:ext uri="{FF2B5EF4-FFF2-40B4-BE49-F238E27FC236}">
                <a16:creationId xmlns:a16="http://schemas.microsoft.com/office/drawing/2014/main" id="{21C86FEF-561E-5F59-1E88-835D47048220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105400" y="1447800"/>
            <a:ext cx="3886200" cy="25908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62110E4-F98B-DB71-B87D-E3AACFA0CA63}"/>
              </a:ext>
            </a:extLst>
          </p:cNvPr>
          <p:cNvSpPr txBox="1"/>
          <p:nvPr/>
        </p:nvSpPr>
        <p:spPr>
          <a:xfrm>
            <a:off x="5601098" y="4114800"/>
            <a:ext cx="25523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Candara" pitchFamily="34" charset="0"/>
              </a:rPr>
              <a:t>Annotated parse tree</a:t>
            </a:r>
          </a:p>
        </p:txBody>
      </p:sp>
      <p:pic>
        <p:nvPicPr>
          <p:cNvPr id="17" name="Picture 16" descr="Screen Clipping">
            <a:extLst>
              <a:ext uri="{FF2B5EF4-FFF2-40B4-BE49-F238E27FC236}">
                <a16:creationId xmlns:a16="http://schemas.microsoft.com/office/drawing/2014/main" id="{289089D8-FD05-ECA7-9BC2-FFC4F6BF73A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200" y="1650688"/>
            <a:ext cx="3240672" cy="24954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3400" y="1066800"/>
            <a:ext cx="7543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Case 2: Actions Involving Attribute Calculation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2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Candara" pitchFamily="34" charset="0"/>
              </a:rPr>
              <a:t>SDT for L-Attributed SDD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Candara" pitchFamily="34" charset="0"/>
              </a:rPr>
              <a:t>Rules for conversion:</a:t>
            </a:r>
          </a:p>
          <a:p>
            <a:pPr lvl="1"/>
            <a:r>
              <a:rPr lang="en-US" sz="2400" dirty="0">
                <a:latin typeface="Candara" pitchFamily="34" charset="0"/>
              </a:rPr>
              <a:t>Embed the action that computes the inherited attributes for a </a:t>
            </a:r>
            <a:r>
              <a:rPr lang="en-US" sz="2400" dirty="0" err="1">
                <a:latin typeface="Candara" pitchFamily="34" charset="0"/>
              </a:rPr>
              <a:t>nonterminal</a:t>
            </a:r>
            <a:r>
              <a:rPr lang="en-US" sz="2400" dirty="0">
                <a:latin typeface="Candara" pitchFamily="34" charset="0"/>
              </a:rPr>
              <a:t> A immediately before that occurrence of A in the body of the production.</a:t>
            </a:r>
          </a:p>
          <a:p>
            <a:pPr lvl="2"/>
            <a:r>
              <a:rPr lang="en-US" sz="2000" dirty="0">
                <a:latin typeface="Candara" pitchFamily="34" charset="0"/>
              </a:rPr>
              <a:t>Arrange calculation of inherited attributes of A so that dependency is maintained</a:t>
            </a:r>
          </a:p>
          <a:p>
            <a:pPr lvl="1"/>
            <a:r>
              <a:rPr lang="en-US" sz="2600" dirty="0">
                <a:latin typeface="Candara" pitchFamily="34" charset="0"/>
                <a:cs typeface="Andalus" pitchFamily="18" charset="-78"/>
              </a:rPr>
              <a:t>Place the actions that compute a synthesized attribute for the head of a production at the end of the body of that production.</a:t>
            </a:r>
            <a:endParaRPr lang="en-US" dirty="0">
              <a:latin typeface="Candara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ndara" pitchFamily="34" charset="0"/>
              </a:rPr>
              <a:t>Dept of CSE, BUET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>
                <a:latin typeface="Candara" pitchFamily="34" charset="0"/>
              </a:rPr>
              <a:pPr/>
              <a:t>67</a:t>
            </a:fld>
            <a:endParaRPr lang="en-US">
              <a:latin typeface="Candara" pitchFamily="34" charset="0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Candara" pitchFamily="34" charset="0"/>
              </a:rPr>
              <a:t>SDT for L-Attributed SDD</a:t>
            </a:r>
            <a:endParaRPr lang="en-US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524000"/>
            <a:ext cx="8229600" cy="537865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Candara" pitchFamily="34" charset="0"/>
              </a:rPr>
              <a:t>Example 1: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/>
              <a:pPr/>
              <a:t>68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4D3205-A54F-7D6D-E805-0D782EA53757}"/>
              </a:ext>
            </a:extLst>
          </p:cNvPr>
          <p:cNvSpPr txBox="1"/>
          <p:nvPr/>
        </p:nvSpPr>
        <p:spPr>
          <a:xfrm>
            <a:off x="575129" y="5024735"/>
            <a:ext cx="289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L-attributed SDD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247C87-6BBC-FFF5-50AF-25C30E04A9FD}"/>
              </a:ext>
            </a:extLst>
          </p:cNvPr>
          <p:cNvSpPr txBox="1"/>
          <p:nvPr/>
        </p:nvSpPr>
        <p:spPr>
          <a:xfrm>
            <a:off x="5007429" y="5024735"/>
            <a:ext cx="3733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3">
                    <a:lumMod val="75000"/>
                  </a:schemeClr>
                </a:solidFill>
              </a:rPr>
              <a:t>SDT for the L-attributed SDD</a:t>
            </a:r>
          </a:p>
        </p:txBody>
      </p:sp>
      <p:graphicFrame>
        <p:nvGraphicFramePr>
          <p:cNvPr id="11" name="Table 6">
            <a:extLst>
              <a:ext uri="{FF2B5EF4-FFF2-40B4-BE49-F238E27FC236}">
                <a16:creationId xmlns:a16="http://schemas.microsoft.com/office/drawing/2014/main" id="{6B03830C-E9D4-13EC-0067-6EDAE0CF030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51069010"/>
              </p:ext>
            </p:extLst>
          </p:nvPr>
        </p:nvGraphicFramePr>
        <p:xfrm>
          <a:off x="76200" y="2113260"/>
          <a:ext cx="8915400" cy="259080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918647018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860762955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4277928179"/>
                    </a:ext>
                  </a:extLst>
                </a:gridCol>
                <a:gridCol w="5181600">
                  <a:extLst>
                    <a:ext uri="{9D8B030D-6E8A-4147-A177-3AD203B41FA5}">
                      <a16:colId xmlns:a16="http://schemas.microsoft.com/office/drawing/2014/main" val="35997885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Prod.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kern="120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Semantic</a:t>
                      </a:r>
                      <a:r>
                        <a:rPr lang="en-US" sz="120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 </a:t>
                      </a:r>
                      <a:r>
                        <a:rPr lang="en-US" sz="2000" b="0" kern="120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Actions</a:t>
                      </a:r>
                      <a:endParaRPr lang="en-US" sz="2000" b="0" kern="120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kern="120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SDT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40473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000" b="0" dirty="0">
                          <a:sym typeface="Wingdings" panose="05000000000000000000" pitchFamily="2" charset="2"/>
                        </a:rPr>
                        <a:t>T  </a:t>
                      </a:r>
                      <a:r>
                        <a:rPr lang="en-US" sz="1800" b="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2000" b="0" dirty="0">
                          <a:sym typeface="Wingdings" panose="05000000000000000000" pitchFamily="2" charset="2"/>
                        </a:rPr>
                        <a:t> FT</a:t>
                      </a:r>
                      <a:r>
                        <a:rPr lang="en-US" sz="1800" b="0" baseline="50000" dirty="0">
                          <a:sym typeface="Wingdings" panose="05000000000000000000" pitchFamily="2" charset="2"/>
                        </a:rPr>
                        <a:t>/</a:t>
                      </a:r>
                      <a:endParaRPr lang="en-US" sz="2000" b="0" i="1" baseline="5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0" dirty="0">
                          <a:sym typeface="Wingdings" panose="05000000000000000000" pitchFamily="2" charset="2"/>
                        </a:rPr>
                        <a:t>T</a:t>
                      </a:r>
                      <a:r>
                        <a:rPr lang="en-US" sz="1800" b="0" baseline="50000" dirty="0">
                          <a:sym typeface="Wingdings" panose="05000000000000000000" pitchFamily="2" charset="2"/>
                        </a:rPr>
                        <a:t>/</a:t>
                      </a:r>
                      <a:r>
                        <a:rPr lang="en-US" sz="1800" b="0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2000" b="0" i="1" baseline="0" dirty="0">
                          <a:sym typeface="Wingdings" panose="05000000000000000000" pitchFamily="2" charset="2"/>
                        </a:rPr>
                        <a:t>inh</a:t>
                      </a:r>
                      <a:r>
                        <a:rPr lang="en-US" sz="2000" b="0" baseline="0" dirty="0">
                          <a:sym typeface="Wingdings" panose="05000000000000000000" pitchFamily="2" charset="2"/>
                        </a:rPr>
                        <a:t>=F.</a:t>
                      </a:r>
                      <a:r>
                        <a:rPr lang="en-US" sz="2000" b="0" i="1" baseline="0" dirty="0">
                          <a:sym typeface="Wingdings" panose="05000000000000000000" pitchFamily="2" charset="2"/>
                        </a:rPr>
                        <a:t>val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baseline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T.</a:t>
                      </a:r>
                      <a:r>
                        <a:rPr lang="en-US" sz="2000" b="0" i="1" kern="1200" baseline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val</a:t>
                      </a:r>
                      <a:r>
                        <a:rPr lang="en-US" sz="2000" b="0" kern="1200" baseline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2000" b="0" dirty="0">
                          <a:sym typeface="Wingdings" panose="05000000000000000000" pitchFamily="2" charset="2"/>
                        </a:rPr>
                        <a:t>T</a:t>
                      </a:r>
                      <a:r>
                        <a:rPr lang="en-US" sz="1800" b="0" baseline="50000" dirty="0">
                          <a:sym typeface="Wingdings" panose="05000000000000000000" pitchFamily="2" charset="2"/>
                        </a:rPr>
                        <a:t>/</a:t>
                      </a:r>
                      <a:r>
                        <a:rPr lang="en-US" sz="1800" b="0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2000" b="0" i="1" baseline="0" dirty="0">
                          <a:sym typeface="Wingdings" panose="05000000000000000000" pitchFamily="2" charset="2"/>
                        </a:rPr>
                        <a:t>syn</a:t>
                      </a:r>
                      <a:endParaRPr lang="en-US" sz="2000" b="0" i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0" i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ym typeface="Wingdings" panose="05000000000000000000" pitchFamily="2" charset="2"/>
                        </a:rPr>
                        <a:t>T  </a:t>
                      </a:r>
                      <a:r>
                        <a:rPr lang="en-US" sz="1800" b="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2000" b="0" dirty="0">
                          <a:sym typeface="Wingdings" panose="05000000000000000000" pitchFamily="2" charset="2"/>
                        </a:rPr>
                        <a:t> F {T</a:t>
                      </a:r>
                      <a:r>
                        <a:rPr lang="en-US" sz="1800" b="0" baseline="50000" dirty="0">
                          <a:sym typeface="Wingdings" panose="05000000000000000000" pitchFamily="2" charset="2"/>
                        </a:rPr>
                        <a:t>/</a:t>
                      </a:r>
                      <a:r>
                        <a:rPr lang="en-US" sz="1800" b="0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2000" b="0" i="1" baseline="0" dirty="0">
                          <a:sym typeface="Wingdings" panose="05000000000000000000" pitchFamily="2" charset="2"/>
                        </a:rPr>
                        <a:t>inh</a:t>
                      </a:r>
                      <a:r>
                        <a:rPr lang="en-US" sz="2000" b="0" baseline="0" dirty="0">
                          <a:sym typeface="Wingdings" panose="05000000000000000000" pitchFamily="2" charset="2"/>
                        </a:rPr>
                        <a:t> = </a:t>
                      </a:r>
                      <a:r>
                        <a:rPr lang="en-US" sz="2000" b="0" baseline="0" dirty="0" err="1">
                          <a:sym typeface="Wingdings" panose="05000000000000000000" pitchFamily="2" charset="2"/>
                        </a:rPr>
                        <a:t>F.</a:t>
                      </a:r>
                      <a:r>
                        <a:rPr lang="en-US" sz="2000" b="0" i="1" baseline="0" dirty="0" err="1">
                          <a:sym typeface="Wingdings" panose="05000000000000000000" pitchFamily="2" charset="2"/>
                        </a:rPr>
                        <a:t>val</a:t>
                      </a:r>
                      <a:r>
                        <a:rPr lang="en-US" sz="2000" b="0" dirty="0">
                          <a:sym typeface="Wingdings" panose="05000000000000000000" pitchFamily="2" charset="2"/>
                        </a:rPr>
                        <a:t>} T</a:t>
                      </a:r>
                      <a:r>
                        <a:rPr lang="en-US" sz="1800" b="0" baseline="50000" dirty="0">
                          <a:sym typeface="Wingdings" panose="05000000000000000000" pitchFamily="2" charset="2"/>
                        </a:rPr>
                        <a:t>/</a:t>
                      </a:r>
                      <a:r>
                        <a:rPr lang="en-US" sz="1800" b="0" baseline="0" dirty="0">
                          <a:sym typeface="Wingdings" panose="05000000000000000000" pitchFamily="2" charset="2"/>
                        </a:rPr>
                        <a:t>{</a:t>
                      </a:r>
                      <a:r>
                        <a:rPr lang="en-US" sz="2000" b="0" kern="1200" baseline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T.</a:t>
                      </a:r>
                      <a:r>
                        <a:rPr lang="en-US" sz="2000" b="0" i="1" kern="1200" baseline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val</a:t>
                      </a:r>
                      <a:r>
                        <a:rPr lang="en-US" sz="2000" b="0" kern="1200" baseline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 = </a:t>
                      </a:r>
                      <a:r>
                        <a:rPr lang="en-US" sz="2000" b="0" dirty="0">
                          <a:sym typeface="Wingdings" panose="05000000000000000000" pitchFamily="2" charset="2"/>
                        </a:rPr>
                        <a:t>T</a:t>
                      </a:r>
                      <a:r>
                        <a:rPr lang="en-US" sz="1800" b="0" baseline="50000" dirty="0">
                          <a:sym typeface="Wingdings" panose="05000000000000000000" pitchFamily="2" charset="2"/>
                        </a:rPr>
                        <a:t>/</a:t>
                      </a:r>
                      <a:r>
                        <a:rPr lang="en-US" sz="1800" b="0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2000" b="0" i="1" baseline="0" dirty="0">
                          <a:sym typeface="Wingdings" panose="05000000000000000000" pitchFamily="2" charset="2"/>
                        </a:rPr>
                        <a:t>syn</a:t>
                      </a:r>
                      <a:r>
                        <a:rPr lang="en-US" sz="2000" b="0" baseline="0" dirty="0">
                          <a:sym typeface="Wingdings" panose="05000000000000000000" pitchFamily="2" charset="2"/>
                        </a:rPr>
                        <a:t>}</a:t>
                      </a:r>
                      <a:endParaRPr lang="en-US" sz="2000" b="0" kern="12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4062531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000" b="0" dirty="0">
                          <a:sym typeface="Wingdings" panose="05000000000000000000" pitchFamily="2" charset="2"/>
                        </a:rPr>
                        <a:t>T</a:t>
                      </a:r>
                      <a:r>
                        <a:rPr lang="en-US" sz="1800" b="0" baseline="50000" dirty="0">
                          <a:sym typeface="Wingdings" panose="05000000000000000000" pitchFamily="2" charset="2"/>
                        </a:rPr>
                        <a:t>/</a:t>
                      </a:r>
                      <a:r>
                        <a:rPr lang="en-US" sz="2000" b="0" baseline="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b="0" baseline="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2000" b="0" baseline="0" dirty="0">
                          <a:sym typeface="Wingdings" panose="05000000000000000000" pitchFamily="2" charset="2"/>
                        </a:rPr>
                        <a:t> *F</a:t>
                      </a:r>
                      <a:r>
                        <a:rPr lang="en-US" sz="2000" b="0" dirty="0">
                          <a:sym typeface="Wingdings" panose="05000000000000000000" pitchFamily="2" charset="2"/>
                        </a:rPr>
                        <a:t>T</a:t>
                      </a:r>
                      <a:r>
                        <a:rPr lang="en-US" sz="1800" b="0" baseline="-30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b="0" baseline="50000" dirty="0">
                          <a:sym typeface="Wingdings" panose="05000000000000000000" pitchFamily="2" charset="2"/>
                        </a:rPr>
                        <a:t>/</a:t>
                      </a:r>
                      <a:endParaRPr lang="en-US" sz="2400" b="0" i="1" baseline="5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T</a:t>
                      </a:r>
                      <a:r>
                        <a:rPr kumimoji="0" lang="en-US" sz="1800" b="0" u="none" strike="noStrike" kern="1200" cap="none" spc="0" normalizeH="0" baseline="-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1</a:t>
                      </a:r>
                      <a:r>
                        <a:rPr kumimoji="0" lang="en-US" sz="1800" b="0" u="none" strike="noStrike" kern="1200" cap="none" spc="0" normalizeH="0" baseline="5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/</a:t>
                      </a:r>
                      <a:r>
                        <a:rPr lang="en-US" sz="1800" b="0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2000" b="0" i="1" baseline="0" dirty="0">
                          <a:sym typeface="Wingdings" panose="05000000000000000000" pitchFamily="2" charset="2"/>
                        </a:rPr>
                        <a:t>inh</a:t>
                      </a:r>
                      <a:r>
                        <a:rPr lang="en-US" sz="2000" b="0" baseline="0" dirty="0"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2000" b="0" dirty="0">
                          <a:sym typeface="Wingdings" panose="05000000000000000000" pitchFamily="2" charset="2"/>
                        </a:rPr>
                        <a:t>T</a:t>
                      </a:r>
                      <a:r>
                        <a:rPr lang="en-US" sz="1800" b="0" baseline="50000" dirty="0">
                          <a:sym typeface="Wingdings" panose="05000000000000000000" pitchFamily="2" charset="2"/>
                        </a:rPr>
                        <a:t>/</a:t>
                      </a:r>
                      <a:r>
                        <a:rPr lang="en-US" sz="1800" b="0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2000" b="0" i="1" baseline="0" dirty="0">
                          <a:sym typeface="Wingdings" panose="05000000000000000000" pitchFamily="2" charset="2"/>
                        </a:rPr>
                        <a:t>inh</a:t>
                      </a:r>
                      <a:r>
                        <a:rPr lang="en-US" sz="2000" b="0" baseline="0" dirty="0">
                          <a:sym typeface="Wingdings" panose="05000000000000000000" pitchFamily="2" charset="2"/>
                        </a:rPr>
                        <a:t> x F.</a:t>
                      </a:r>
                      <a:r>
                        <a:rPr lang="en-US" sz="2000" b="0" i="1" baseline="0" dirty="0">
                          <a:sym typeface="Wingdings" panose="05000000000000000000" pitchFamily="2" charset="2"/>
                        </a:rPr>
                        <a:t>val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ym typeface="Wingdings" panose="05000000000000000000" pitchFamily="2" charset="2"/>
                        </a:rPr>
                        <a:t>T</a:t>
                      </a:r>
                      <a:r>
                        <a:rPr lang="en-US" sz="1800" b="0" baseline="50000" dirty="0">
                          <a:sym typeface="Wingdings" panose="05000000000000000000" pitchFamily="2" charset="2"/>
                        </a:rPr>
                        <a:t>/</a:t>
                      </a:r>
                      <a:r>
                        <a:rPr lang="en-US" sz="1800" b="0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2000" b="0" i="1" baseline="0" dirty="0">
                          <a:sym typeface="Wingdings" panose="05000000000000000000" pitchFamily="2" charset="2"/>
                        </a:rPr>
                        <a:t>syn</a:t>
                      </a:r>
                      <a:r>
                        <a:rPr lang="en-US" sz="2000" b="0" kern="1200" baseline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=</a:t>
                      </a:r>
                      <a:r>
                        <a:rPr kumimoji="0" 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T</a:t>
                      </a:r>
                      <a:r>
                        <a:rPr kumimoji="0" lang="en-US" sz="1800" b="0" u="none" strike="noStrike" kern="1200" cap="none" spc="0" normalizeH="0" baseline="-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1</a:t>
                      </a:r>
                      <a:r>
                        <a:rPr kumimoji="0" lang="en-US" sz="1800" b="0" u="none" strike="noStrike" kern="1200" cap="none" spc="0" normalizeH="0" baseline="5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/</a:t>
                      </a:r>
                      <a:r>
                        <a:rPr lang="en-US" sz="1800" b="0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2000" b="0" i="1" baseline="0" dirty="0">
                          <a:sym typeface="Wingdings" panose="05000000000000000000" pitchFamily="2" charset="2"/>
                        </a:rPr>
                        <a:t>syn</a:t>
                      </a:r>
                      <a:endParaRPr lang="en-US" sz="2000" b="0" i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0" i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ym typeface="Wingdings" panose="05000000000000000000" pitchFamily="2" charset="2"/>
                        </a:rPr>
                        <a:t>T</a:t>
                      </a:r>
                      <a:r>
                        <a:rPr lang="en-US" sz="1800" b="0" baseline="50000" dirty="0">
                          <a:sym typeface="Wingdings" panose="05000000000000000000" pitchFamily="2" charset="2"/>
                        </a:rPr>
                        <a:t>/</a:t>
                      </a:r>
                      <a:r>
                        <a:rPr lang="en-US" sz="2000" b="0" baseline="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800" b="0" baseline="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2000" b="0" baseline="0" dirty="0">
                          <a:sym typeface="Wingdings" panose="05000000000000000000" pitchFamily="2" charset="2"/>
                        </a:rPr>
                        <a:t> *F </a:t>
                      </a:r>
                      <a:r>
                        <a:rPr kumimoji="0" 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{T</a:t>
                      </a:r>
                      <a:r>
                        <a:rPr kumimoji="0" lang="en-US" sz="1800" b="0" u="none" strike="noStrike" kern="1200" cap="none" spc="0" normalizeH="0" baseline="-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1</a:t>
                      </a:r>
                      <a:r>
                        <a:rPr kumimoji="0" lang="en-US" sz="1800" b="0" u="none" strike="noStrike" kern="1200" cap="none" spc="0" normalizeH="0" baseline="5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/</a:t>
                      </a:r>
                      <a:r>
                        <a:rPr lang="en-US" sz="1800" b="0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2000" b="0" i="1" baseline="0" dirty="0">
                          <a:sym typeface="Wingdings" panose="05000000000000000000" pitchFamily="2" charset="2"/>
                        </a:rPr>
                        <a:t>inh</a:t>
                      </a:r>
                      <a:r>
                        <a:rPr lang="en-US" sz="2000" b="0" baseline="0" dirty="0"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2000" b="0" dirty="0">
                          <a:sym typeface="Wingdings" panose="05000000000000000000" pitchFamily="2" charset="2"/>
                        </a:rPr>
                        <a:t>T</a:t>
                      </a:r>
                      <a:r>
                        <a:rPr lang="en-US" sz="1800" b="0" baseline="50000" dirty="0">
                          <a:sym typeface="Wingdings" panose="05000000000000000000" pitchFamily="2" charset="2"/>
                        </a:rPr>
                        <a:t>/</a:t>
                      </a:r>
                      <a:r>
                        <a:rPr lang="en-US" sz="1800" b="0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2000" b="0" i="1" baseline="0" dirty="0">
                          <a:sym typeface="Wingdings" panose="05000000000000000000" pitchFamily="2" charset="2"/>
                        </a:rPr>
                        <a:t>inh</a:t>
                      </a:r>
                      <a:r>
                        <a:rPr lang="en-US" sz="2000" b="0" baseline="0" dirty="0">
                          <a:sym typeface="Wingdings" panose="05000000000000000000" pitchFamily="2" charset="2"/>
                        </a:rPr>
                        <a:t> x </a:t>
                      </a:r>
                      <a:r>
                        <a:rPr lang="en-US" sz="2000" b="0" baseline="0" dirty="0" err="1">
                          <a:sym typeface="Wingdings" panose="05000000000000000000" pitchFamily="2" charset="2"/>
                        </a:rPr>
                        <a:t>F.</a:t>
                      </a:r>
                      <a:r>
                        <a:rPr lang="en-US" sz="2000" b="0" i="1" baseline="0" dirty="0" err="1">
                          <a:sym typeface="Wingdings" panose="05000000000000000000" pitchFamily="2" charset="2"/>
                        </a:rPr>
                        <a:t>val</a:t>
                      </a:r>
                      <a:r>
                        <a:rPr lang="en-US" sz="2000" b="0" baseline="0" dirty="0">
                          <a:sym typeface="Wingdings" panose="05000000000000000000" pitchFamily="2" charset="2"/>
                        </a:rPr>
                        <a:t>} </a:t>
                      </a:r>
                      <a:r>
                        <a:rPr lang="en-US" sz="2000" b="0" dirty="0">
                          <a:sym typeface="Wingdings" panose="05000000000000000000" pitchFamily="2" charset="2"/>
                        </a:rPr>
                        <a:t>T</a:t>
                      </a:r>
                      <a:r>
                        <a:rPr lang="en-US" sz="1800" b="0" baseline="-30000" dirty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b="0" baseline="50000" dirty="0">
                          <a:sym typeface="Wingdings" panose="05000000000000000000" pitchFamily="2" charset="2"/>
                        </a:rPr>
                        <a:t>/ </a:t>
                      </a:r>
                      <a:r>
                        <a:rPr lang="en-US" sz="2000" b="0" dirty="0">
                          <a:sym typeface="Wingdings" panose="05000000000000000000" pitchFamily="2" charset="2"/>
                        </a:rPr>
                        <a:t>{T</a:t>
                      </a:r>
                      <a:r>
                        <a:rPr lang="en-US" sz="2000" b="0" baseline="50000" dirty="0">
                          <a:sym typeface="Wingdings" panose="05000000000000000000" pitchFamily="2" charset="2"/>
                        </a:rPr>
                        <a:t>/</a:t>
                      </a:r>
                      <a:r>
                        <a:rPr lang="en-US" sz="2000" b="0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2000" b="0" i="1" baseline="0" dirty="0">
                          <a:sym typeface="Wingdings" panose="05000000000000000000" pitchFamily="2" charset="2"/>
                        </a:rPr>
                        <a:t>syn</a:t>
                      </a:r>
                      <a:r>
                        <a:rPr lang="en-US" sz="2000" b="0" kern="1200" baseline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=</a:t>
                      </a:r>
                      <a:r>
                        <a:rPr kumimoji="0" 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T</a:t>
                      </a:r>
                      <a:r>
                        <a:rPr kumimoji="0" lang="en-US" sz="2000" b="0" u="none" strike="noStrike" kern="1200" cap="none" spc="0" normalizeH="0" baseline="-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1</a:t>
                      </a:r>
                      <a:r>
                        <a:rPr kumimoji="0" lang="en-US" sz="2000" b="0" u="none" strike="noStrike" kern="1200" cap="none" spc="0" normalizeH="0" baseline="5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/</a:t>
                      </a:r>
                      <a:r>
                        <a:rPr lang="en-US" sz="2000" b="0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2000" b="0" i="1" baseline="0" dirty="0">
                          <a:sym typeface="Wingdings" panose="05000000000000000000" pitchFamily="2" charset="2"/>
                        </a:rPr>
                        <a:t>syn}</a:t>
                      </a:r>
                      <a:endParaRPr lang="en-US" sz="2000" b="0" i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i="1" baseline="5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503394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T</a:t>
                      </a:r>
                      <a:r>
                        <a:rPr kumimoji="0" lang="en-US" sz="1800" b="0" u="none" strike="noStrike" kern="1200" cap="none" spc="0" normalizeH="0" baseline="5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/</a:t>
                      </a:r>
                      <a:r>
                        <a:rPr kumimoji="0" 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0" lang="en-US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</a:t>
                      </a:r>
                      <a:r>
                        <a:rPr kumimoji="0" 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  Ɛ</a:t>
                      </a:r>
                      <a:endParaRPr kumimoji="0" lang="en-US" sz="2400" b="0" i="1" u="none" strike="noStrike" kern="1200" cap="none" spc="0" normalizeH="0" baseline="5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ym typeface="Wingdings" panose="05000000000000000000" pitchFamily="2" charset="2"/>
                        </a:rPr>
                        <a:t>T</a:t>
                      </a:r>
                      <a:r>
                        <a:rPr lang="en-US" sz="1800" b="0" baseline="50000" dirty="0">
                          <a:sym typeface="Wingdings" panose="05000000000000000000" pitchFamily="2" charset="2"/>
                        </a:rPr>
                        <a:t>/</a:t>
                      </a:r>
                      <a:r>
                        <a:rPr lang="en-US" sz="1800" b="0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2000" b="0" i="1" baseline="0" dirty="0">
                          <a:sym typeface="Wingdings" panose="05000000000000000000" pitchFamily="2" charset="2"/>
                        </a:rPr>
                        <a:t>syn=</a:t>
                      </a:r>
                      <a:r>
                        <a:rPr kumimoji="0" 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T</a:t>
                      </a:r>
                      <a:r>
                        <a:rPr kumimoji="0" lang="en-US" sz="1800" b="0" u="none" strike="noStrike" kern="1200" cap="none" spc="0" normalizeH="0" baseline="5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/</a:t>
                      </a:r>
                      <a:r>
                        <a:rPr lang="en-US" sz="1800" b="0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2000" b="0" i="1" baseline="0" dirty="0">
                          <a:sym typeface="Wingdings" panose="05000000000000000000" pitchFamily="2" charset="2"/>
                        </a:rPr>
                        <a:t>inh</a:t>
                      </a:r>
                      <a:endParaRPr lang="en-US" sz="2000" b="0" i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0" i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T</a:t>
                      </a:r>
                      <a:r>
                        <a:rPr kumimoji="0" lang="en-US" sz="1800" b="0" u="none" strike="noStrike" kern="1200" cap="none" spc="0" normalizeH="0" baseline="5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/</a:t>
                      </a:r>
                      <a:r>
                        <a:rPr kumimoji="0" 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0" lang="en-US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</a:t>
                      </a:r>
                      <a:r>
                        <a:rPr kumimoji="0" 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  Ɛ </a:t>
                      </a:r>
                      <a:r>
                        <a:rPr lang="en-US" sz="2000" b="0" dirty="0">
                          <a:sym typeface="Wingdings" panose="05000000000000000000" pitchFamily="2" charset="2"/>
                        </a:rPr>
                        <a:t>{T</a:t>
                      </a:r>
                      <a:r>
                        <a:rPr lang="en-US" sz="2000" b="0" baseline="50000" dirty="0">
                          <a:sym typeface="Wingdings" panose="05000000000000000000" pitchFamily="2" charset="2"/>
                        </a:rPr>
                        <a:t>/</a:t>
                      </a:r>
                      <a:r>
                        <a:rPr lang="en-US" sz="2000" b="0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2000" b="0" i="1" baseline="0" dirty="0">
                          <a:sym typeface="Wingdings" panose="05000000000000000000" pitchFamily="2" charset="2"/>
                        </a:rPr>
                        <a:t>syn</a:t>
                      </a:r>
                      <a:r>
                        <a:rPr lang="en-US" sz="2000" b="0" kern="1200" baseline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 = </a:t>
                      </a:r>
                      <a:r>
                        <a:rPr kumimoji="0" 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T</a:t>
                      </a:r>
                      <a:r>
                        <a:rPr kumimoji="0" lang="en-US" sz="2000" b="0" u="none" strike="noStrike" kern="1200" cap="none" spc="0" normalizeH="0" baseline="-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1</a:t>
                      </a:r>
                      <a:r>
                        <a:rPr kumimoji="0" lang="en-US" sz="2000" b="0" u="none" strike="noStrike" kern="1200" cap="none" spc="0" normalizeH="0" baseline="5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/</a:t>
                      </a:r>
                      <a:r>
                        <a:rPr lang="en-US" sz="2000" b="0" baseline="0" dirty="0"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2000" b="0" i="1" baseline="0" dirty="0">
                          <a:sym typeface="Wingdings" panose="05000000000000000000" pitchFamily="2" charset="2"/>
                        </a:rPr>
                        <a:t>syn</a:t>
                      </a:r>
                      <a:r>
                        <a:rPr lang="en-US" sz="2000" b="0" baseline="0" dirty="0">
                          <a:sym typeface="Wingdings" panose="05000000000000000000" pitchFamily="2" charset="2"/>
                        </a:rPr>
                        <a:t>}</a:t>
                      </a:r>
                      <a:endParaRPr lang="en-US" sz="2000" b="0" i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77593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F  </a:t>
                      </a:r>
                      <a:r>
                        <a:rPr kumimoji="0" lang="en-US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</a:t>
                      </a:r>
                      <a:r>
                        <a:rPr kumimoji="0" 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digit</a:t>
                      </a:r>
                      <a:endParaRPr kumimoji="0" lang="en-US" sz="2400" b="1" i="1" u="none" strike="noStrike" kern="1200" cap="none" spc="0" normalizeH="0" baseline="5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baseline="0" dirty="0">
                          <a:sym typeface="Wingdings" panose="05000000000000000000" pitchFamily="2" charset="2"/>
                        </a:rPr>
                        <a:t>F.</a:t>
                      </a:r>
                      <a:r>
                        <a:rPr lang="en-US" sz="2000" b="0" i="1" baseline="0" dirty="0">
                          <a:sym typeface="Wingdings" panose="05000000000000000000" pitchFamily="2" charset="2"/>
                        </a:rPr>
                        <a:t>val</a:t>
                      </a:r>
                      <a:r>
                        <a:rPr lang="en-US" sz="2000" b="0" kern="1200" baseline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2000" b="1" kern="1200" baseline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digit</a:t>
                      </a:r>
                      <a:r>
                        <a:rPr lang="en-US" sz="2000" b="0" kern="1200" baseline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2000" b="0" i="1" kern="1200" baseline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lexval</a:t>
                      </a:r>
                      <a:endParaRPr lang="en-US" sz="2000" b="0" i="1" baseline="0" dirty="0">
                        <a:sym typeface="Wingdings" panose="05000000000000000000" pitchFamily="2" charset="2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0" i="1" baseline="0" dirty="0">
                        <a:sym typeface="Wingdings" panose="05000000000000000000" pitchFamily="2" charset="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F  </a:t>
                      </a:r>
                      <a:r>
                        <a:rPr kumimoji="0" lang="en-US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</a:t>
                      </a:r>
                      <a:r>
                        <a:rPr kumimoji="0" 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Wingdings" panose="05000000000000000000" pitchFamily="2" charset="2"/>
                        </a:rPr>
                        <a:t>digit </a:t>
                      </a:r>
                      <a:r>
                        <a:rPr lang="en-US" sz="2000" b="0" baseline="0" dirty="0">
                          <a:sym typeface="Wingdings" panose="05000000000000000000" pitchFamily="2" charset="2"/>
                        </a:rPr>
                        <a:t>{</a:t>
                      </a:r>
                      <a:r>
                        <a:rPr lang="en-US" sz="2000" b="0" baseline="0" dirty="0" err="1">
                          <a:sym typeface="Wingdings" panose="05000000000000000000" pitchFamily="2" charset="2"/>
                        </a:rPr>
                        <a:t>F.</a:t>
                      </a:r>
                      <a:r>
                        <a:rPr lang="en-US" sz="2000" b="0" i="1" baseline="0" dirty="0" err="1">
                          <a:sym typeface="Wingdings" panose="05000000000000000000" pitchFamily="2" charset="2"/>
                        </a:rPr>
                        <a:t>val</a:t>
                      </a:r>
                      <a:r>
                        <a:rPr lang="en-US" sz="2000" b="0" kern="1200" baseline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 = </a:t>
                      </a:r>
                      <a:r>
                        <a:rPr lang="en-US" sz="2000" b="1" kern="1200" baseline="0" dirty="0" err="1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digit</a:t>
                      </a:r>
                      <a:r>
                        <a:rPr lang="en-US" sz="2000" b="0" kern="1200" baseline="0" dirty="0" err="1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en-US" sz="2000" b="0" i="1" kern="1200" baseline="0" dirty="0" err="1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lexval</a:t>
                      </a:r>
                      <a:r>
                        <a:rPr lang="en-US" sz="2000" b="0" kern="1200" baseline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}</a:t>
                      </a:r>
                      <a:endParaRPr lang="en-US" sz="2000" b="0" i="1" baseline="0" dirty="0">
                        <a:sym typeface="Wingdings" panose="05000000000000000000" pitchFamily="2" charset="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671529052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B383A3F2-4034-C267-6274-3B28E424F157}"/>
              </a:ext>
            </a:extLst>
          </p:cNvPr>
          <p:cNvSpPr/>
          <p:nvPr/>
        </p:nvSpPr>
        <p:spPr>
          <a:xfrm>
            <a:off x="3708400" y="1676400"/>
            <a:ext cx="5359400" cy="3962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6200"/>
            <a:ext cx="8229600" cy="1143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Candara" pitchFamily="34" charset="0"/>
              </a:rPr>
              <a:t>SDT for L-Attributed SDD</a:t>
            </a:r>
            <a:endParaRPr lang="en-US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066800"/>
            <a:ext cx="8229600" cy="511174"/>
          </a:xfrm>
        </p:spPr>
        <p:txBody>
          <a:bodyPr>
            <a:normAutofit lnSpcReduction="10000"/>
          </a:bodyPr>
          <a:lstStyle/>
          <a:p>
            <a:r>
              <a:rPr lang="en-US" sz="2800" dirty="0">
                <a:latin typeface="Candara" pitchFamily="34" charset="0"/>
              </a:rPr>
              <a:t>Example 2: SDD for while-statements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492875"/>
            <a:ext cx="2895600" cy="365125"/>
          </a:xfrm>
        </p:spPr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/>
              <a:pPr/>
              <a:t>69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D6A1548-94C7-4F69-770B-09FC48B673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90"/>
          <a:stretch/>
        </p:blipFill>
        <p:spPr bwMode="auto">
          <a:xfrm>
            <a:off x="706021" y="1600200"/>
            <a:ext cx="7828379" cy="2023214"/>
          </a:xfrm>
          <a:prstGeom prst="rect">
            <a:avLst/>
          </a:prstGeom>
          <a:noFill/>
          <a:ln>
            <a:solidFill>
              <a:srgbClr val="0070C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75969B1E-462C-2692-D94D-F0DC9A9D35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664"/>
          <a:stretch/>
        </p:blipFill>
        <p:spPr bwMode="auto">
          <a:xfrm>
            <a:off x="687878" y="4974162"/>
            <a:ext cx="7846522" cy="1292654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Arrow: Down 10">
            <a:extLst>
              <a:ext uri="{FF2B5EF4-FFF2-40B4-BE49-F238E27FC236}">
                <a16:creationId xmlns:a16="http://schemas.microsoft.com/office/drawing/2014/main" id="{FCF6968B-3B84-0F1B-028E-3F059D6AA2ED}"/>
              </a:ext>
            </a:extLst>
          </p:cNvPr>
          <p:cNvSpPr/>
          <p:nvPr/>
        </p:nvSpPr>
        <p:spPr>
          <a:xfrm>
            <a:off x="4114800" y="3775814"/>
            <a:ext cx="762002" cy="1071982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CE24F8-0706-777A-80BD-5BF93C3CDBAB}"/>
              </a:ext>
            </a:extLst>
          </p:cNvPr>
          <p:cNvSpPr txBox="1"/>
          <p:nvPr/>
        </p:nvSpPr>
        <p:spPr>
          <a:xfrm>
            <a:off x="2668039" y="3972580"/>
            <a:ext cx="1599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SDT</a:t>
            </a:r>
          </a:p>
        </p:txBody>
      </p:sp>
    </p:spTree>
    <p:extLst>
      <p:ext uri="{BB962C8B-B14F-4D97-AF65-F5344CB8AC3E}">
        <p14:creationId xmlns:p14="http://schemas.microsoft.com/office/powerpoint/2010/main" val="3297259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Candara" pitchFamily="34" charset="0"/>
              </a:rPr>
              <a:t>Implementing L-Attributed SDD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525963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Candara" pitchFamily="34" charset="0"/>
              </a:rPr>
              <a:t>Using parse tree</a:t>
            </a:r>
          </a:p>
          <a:p>
            <a:pPr lvl="1"/>
            <a:r>
              <a:rPr lang="en-US" sz="2400" dirty="0">
                <a:latin typeface="Candara" pitchFamily="34" charset="0"/>
              </a:rPr>
              <a:t>Build the parse tree and annotate</a:t>
            </a:r>
          </a:p>
          <a:p>
            <a:pPr lvl="1"/>
            <a:r>
              <a:rPr lang="en-US" sz="2400" dirty="0">
                <a:latin typeface="Candara" pitchFamily="34" charset="0"/>
              </a:rPr>
              <a:t>First convert to SDT </a:t>
            </a:r>
            <a:r>
              <a:rPr lang="en-US" sz="2400" dirty="0">
                <a:latin typeface="Candara" pitchFamily="34" charset="0"/>
                <a:sym typeface="Wingdings" panose="05000000000000000000" pitchFamily="2" charset="2"/>
              </a:rPr>
              <a:t></a:t>
            </a:r>
            <a:r>
              <a:rPr lang="en-US" sz="2400" dirty="0">
                <a:latin typeface="Candara" pitchFamily="34" charset="0"/>
              </a:rPr>
              <a:t> build the parse tree, add actions and execute the actions in preorder</a:t>
            </a:r>
          </a:p>
          <a:p>
            <a:r>
              <a:rPr lang="en-US" sz="2800" dirty="0">
                <a:latin typeface="Candara" pitchFamily="34" charset="0"/>
              </a:rPr>
              <a:t>Translation during parsing</a:t>
            </a:r>
          </a:p>
          <a:p>
            <a:pPr lvl="1"/>
            <a:r>
              <a:rPr lang="en-US" sz="2400" dirty="0">
                <a:latin typeface="Candara" pitchFamily="34" charset="0"/>
              </a:rPr>
              <a:t>Using a recursive descent parser</a:t>
            </a:r>
          </a:p>
          <a:p>
            <a:pPr lvl="1"/>
            <a:r>
              <a:rPr lang="en-US" sz="2400" dirty="0">
                <a:latin typeface="Candara" pitchFamily="34" charset="0"/>
              </a:rPr>
              <a:t>Generate code on the fly</a:t>
            </a:r>
          </a:p>
          <a:p>
            <a:pPr lvl="1"/>
            <a:r>
              <a:rPr lang="en-US" sz="2400" dirty="0">
                <a:latin typeface="Candara" pitchFamily="34" charset="0"/>
              </a:rPr>
              <a:t>Implement SDT in conjunction with an </a:t>
            </a:r>
            <a:r>
              <a:rPr lang="en-US" sz="2400" i="1" dirty="0">
                <a:latin typeface="Candara" pitchFamily="34" charset="0"/>
              </a:rPr>
              <a:t>LL</a:t>
            </a:r>
            <a:r>
              <a:rPr lang="en-US" sz="2400" dirty="0">
                <a:latin typeface="Candara" pitchFamily="34" charset="0"/>
              </a:rPr>
              <a:t>-parser</a:t>
            </a:r>
          </a:p>
          <a:p>
            <a:pPr lvl="1"/>
            <a:r>
              <a:rPr lang="en-US" sz="2400" dirty="0">
                <a:latin typeface="Candara" pitchFamily="34" charset="0"/>
              </a:rPr>
              <a:t>Implement SDT in conjunction with an </a:t>
            </a:r>
            <a:r>
              <a:rPr lang="en-US" sz="2400" i="1" dirty="0">
                <a:latin typeface="Candara" pitchFamily="34" charset="0"/>
              </a:rPr>
              <a:t>LR</a:t>
            </a:r>
            <a:r>
              <a:rPr lang="en-US" sz="2400" dirty="0">
                <a:latin typeface="Candara" pitchFamily="34" charset="0"/>
              </a:rPr>
              <a:t>-parser </a:t>
            </a:r>
            <a:r>
              <a:rPr lang="en-US" sz="2400" dirty="0">
                <a:solidFill>
                  <a:srgbClr val="FF0000"/>
                </a:solidFill>
                <a:latin typeface="Candara" pitchFamily="34" charset="0"/>
              </a:rPr>
              <a:t>(counter intuitive!)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ndara" pitchFamily="34" charset="0"/>
              </a:rPr>
              <a:t>Dept of CSE, BUET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>
                <a:latin typeface="Candara" pitchFamily="34" charset="0"/>
              </a:rPr>
              <a:pPr/>
              <a:t>70</a:t>
            </a:fld>
            <a:endParaRPr lang="en-US">
              <a:latin typeface="Candar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5475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r>
              <a:rPr lang="en-US" sz="3200" dirty="0">
                <a:solidFill>
                  <a:schemeClr val="tx2">
                    <a:lumMod val="50000"/>
                  </a:schemeClr>
                </a:solidFill>
                <a:latin typeface="Candara" pitchFamily="34" charset="0"/>
              </a:rPr>
              <a:t>Translation During Recursive-Descent Parsing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416675"/>
            <a:ext cx="2895600" cy="365125"/>
          </a:xfrm>
        </p:spPr>
        <p:txBody>
          <a:bodyPr/>
          <a:lstStyle/>
          <a:p>
            <a:r>
              <a:rPr lang="en-US">
                <a:latin typeface="Candara" pitchFamily="34" charset="0"/>
              </a:rPr>
              <a:t>Dept of CSE, BUET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>
                <a:latin typeface="Candara" pitchFamily="34" charset="0"/>
              </a:rPr>
              <a:pPr/>
              <a:t>71</a:t>
            </a:fld>
            <a:endParaRPr lang="en-US">
              <a:latin typeface="Candara" pitchFamily="34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E0E55F3-68D2-0D01-D585-B4090BA7B0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2" b="15217"/>
          <a:stretch/>
        </p:blipFill>
        <p:spPr bwMode="auto">
          <a:xfrm>
            <a:off x="687878" y="2362201"/>
            <a:ext cx="7846702" cy="4129844"/>
          </a:xfrm>
          <a:prstGeom prst="rect">
            <a:avLst/>
          </a:prstGeom>
          <a:noFill/>
          <a:ln>
            <a:solidFill>
              <a:srgbClr val="002060"/>
            </a:solidFill>
            <a:prstDash val="dashDot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>
            <a:extLst>
              <a:ext uri="{FF2B5EF4-FFF2-40B4-BE49-F238E27FC236}">
                <a16:creationId xmlns:a16="http://schemas.microsoft.com/office/drawing/2014/main" id="{38B081AD-97C1-3B9F-8F1F-CBA5FE308F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664"/>
          <a:stretch/>
        </p:blipFill>
        <p:spPr bwMode="auto">
          <a:xfrm>
            <a:off x="687878" y="990600"/>
            <a:ext cx="7846522" cy="1292654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4965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r>
              <a:rPr lang="en-US" sz="3200" dirty="0">
                <a:solidFill>
                  <a:schemeClr val="tx2">
                    <a:lumMod val="50000"/>
                  </a:schemeClr>
                </a:solidFill>
                <a:latin typeface="Candara" pitchFamily="34" charset="0"/>
              </a:rPr>
              <a:t>On-The-Fly Code Generation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416675"/>
            <a:ext cx="2895600" cy="365125"/>
          </a:xfrm>
        </p:spPr>
        <p:txBody>
          <a:bodyPr/>
          <a:lstStyle/>
          <a:p>
            <a:r>
              <a:rPr lang="en-US">
                <a:latin typeface="Candara" pitchFamily="34" charset="0"/>
              </a:rPr>
              <a:t>Dept of CSE, BUET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>
                <a:latin typeface="Candara" pitchFamily="34" charset="0"/>
              </a:rPr>
              <a:pPr/>
              <a:t>72</a:t>
            </a:fld>
            <a:endParaRPr lang="en-US">
              <a:latin typeface="Candara" pitchFamily="34" charset="0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38B081AD-97C1-3B9F-8F1F-CBA5FE308F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664"/>
          <a:stretch/>
        </p:blipFill>
        <p:spPr bwMode="auto">
          <a:xfrm>
            <a:off x="687878" y="990600"/>
            <a:ext cx="7846522" cy="1292654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E112FE5F-1248-98B6-A58E-720F63690C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84" b="13078"/>
          <a:stretch/>
        </p:blipFill>
        <p:spPr bwMode="auto">
          <a:xfrm>
            <a:off x="667698" y="2362200"/>
            <a:ext cx="7866702" cy="3994150"/>
          </a:xfrm>
          <a:prstGeom prst="rect">
            <a:avLst/>
          </a:prstGeom>
          <a:noFill/>
          <a:ln>
            <a:solidFill>
              <a:srgbClr val="002060"/>
            </a:solidFill>
            <a:prstDash val="dashDot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5733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r>
              <a:rPr lang="en-US" sz="3200" dirty="0">
                <a:solidFill>
                  <a:schemeClr val="tx2">
                    <a:lumMod val="50000"/>
                  </a:schemeClr>
                </a:solidFill>
                <a:latin typeface="Candara" pitchFamily="34" charset="0"/>
              </a:rPr>
              <a:t>L-Attributed SDD’s and LL Parsing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416675"/>
            <a:ext cx="2895600" cy="365125"/>
          </a:xfrm>
        </p:spPr>
        <p:txBody>
          <a:bodyPr/>
          <a:lstStyle/>
          <a:p>
            <a:r>
              <a:rPr lang="en-US">
                <a:latin typeface="Candara" pitchFamily="34" charset="0"/>
              </a:rPr>
              <a:t>Dept of CSE, BUET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128E71-7484-7A65-8928-39EC8464093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1817"/>
          <a:stretch/>
        </p:blipFill>
        <p:spPr>
          <a:xfrm>
            <a:off x="38100" y="947056"/>
            <a:ext cx="6591300" cy="4082144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>
                <a:latin typeface="Candara" pitchFamily="34" charset="0"/>
              </a:rPr>
              <a:pPr/>
              <a:t>73</a:t>
            </a:fld>
            <a:endParaRPr lang="en-US">
              <a:latin typeface="Candara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7A743A-16A0-A36A-65EA-C94C73AB3ABC}"/>
              </a:ext>
            </a:extLst>
          </p:cNvPr>
          <p:cNvSpPr txBox="1"/>
          <p:nvPr/>
        </p:nvSpPr>
        <p:spPr>
          <a:xfrm>
            <a:off x="5334000" y="4114800"/>
            <a:ext cx="37338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800" b="0" i="0" dirty="0">
                <a:solidFill>
                  <a:schemeClr val="accent6">
                    <a:lumMod val="75000"/>
                  </a:schemeClr>
                </a:solidFill>
                <a:effectLst/>
                <a:latin typeface="Fd2399443-Identity-H"/>
              </a:rPr>
              <a:t>After the action above C is performed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E527E6-0A3D-05C5-9618-10B8F7F0ABA4}"/>
              </a:ext>
            </a:extLst>
          </p:cNvPr>
          <p:cNvSpPr txBox="1"/>
          <p:nvPr/>
        </p:nvSpPr>
        <p:spPr>
          <a:xfrm>
            <a:off x="2590800" y="1106269"/>
            <a:ext cx="39624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800" b="0" i="0" dirty="0">
                <a:solidFill>
                  <a:schemeClr val="accent5">
                    <a:lumMod val="75000"/>
                  </a:schemeClr>
                </a:solidFill>
                <a:effectLst/>
                <a:latin typeface="Fd2399443-Identity-H"/>
              </a:rPr>
              <a:t>Expansion of S according to the while-statement production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07DB0D-2D70-E6A1-B3C5-AB5F04E4A92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918" t="6327" r="15225" b="19001"/>
          <a:stretch/>
        </p:blipFill>
        <p:spPr>
          <a:xfrm>
            <a:off x="5553075" y="4579381"/>
            <a:ext cx="3438525" cy="1827894"/>
          </a:xfrm>
          <a:prstGeom prst="rect">
            <a:avLst/>
          </a:prstGeom>
        </p:spPr>
      </p:pic>
      <p:pic>
        <p:nvPicPr>
          <p:cNvPr id="14" name="Picture 4">
            <a:extLst>
              <a:ext uri="{FF2B5EF4-FFF2-40B4-BE49-F238E27FC236}">
                <a16:creationId xmlns:a16="http://schemas.microsoft.com/office/drawing/2014/main" id="{91891719-D4BF-7D98-101A-E471705415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664"/>
          <a:stretch/>
        </p:blipFill>
        <p:spPr bwMode="auto">
          <a:xfrm>
            <a:off x="152400" y="5562600"/>
            <a:ext cx="5269502" cy="868110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4416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2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r>
              <a:rPr lang="en-US" sz="3200" dirty="0">
                <a:solidFill>
                  <a:schemeClr val="tx2">
                    <a:lumMod val="50000"/>
                  </a:schemeClr>
                </a:solidFill>
                <a:latin typeface="Candara" pitchFamily="34" charset="0"/>
              </a:rPr>
              <a:t>L-Attributed SDD’s and LL Parsing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416675"/>
            <a:ext cx="2895600" cy="365125"/>
          </a:xfrm>
        </p:spPr>
        <p:txBody>
          <a:bodyPr/>
          <a:lstStyle/>
          <a:p>
            <a:r>
              <a:rPr lang="en-US">
                <a:latin typeface="Candara" pitchFamily="34" charset="0"/>
              </a:rPr>
              <a:t>Dept of CSE, BUET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>
                <a:latin typeface="Candara" pitchFamily="34" charset="0"/>
              </a:rPr>
              <a:pPr/>
              <a:t>74</a:t>
            </a:fld>
            <a:endParaRPr lang="en-US">
              <a:latin typeface="Candara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632987-DD6D-4D65-ECBC-289CC5973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762125"/>
            <a:ext cx="6924675" cy="4791075"/>
          </a:xfrm>
          <a:prstGeom prst="rect">
            <a:avLst/>
          </a:prstGeom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1CC8681C-4F65-6DC8-1113-080B6313B1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664"/>
          <a:stretch/>
        </p:blipFill>
        <p:spPr bwMode="auto">
          <a:xfrm>
            <a:off x="1752600" y="844869"/>
            <a:ext cx="5269502" cy="868110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7547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667EA-6796-CC3C-AD2E-D1DBCD30E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85800"/>
            <a:ext cx="8534400" cy="3459163"/>
          </a:xfrm>
        </p:spPr>
        <p:txBody>
          <a:bodyPr>
            <a:normAutofit/>
          </a:bodyPr>
          <a:lstStyle/>
          <a:p>
            <a:r>
              <a:rPr lang="en-US" sz="2400" b="0" i="0" dirty="0">
                <a:solidFill>
                  <a:srgbClr val="000000"/>
                </a:solidFill>
                <a:effectLst/>
                <a:latin typeface="Fd2399443-Identity-H"/>
              </a:rPr>
              <a:t>Every S-attributed SDD on an LR grammar can be implemented during a bottom-up parse. </a:t>
            </a:r>
          </a:p>
          <a:p>
            <a:r>
              <a:rPr lang="en-US" sz="2400" b="0" i="0" dirty="0">
                <a:solidFill>
                  <a:srgbClr val="000000"/>
                </a:solidFill>
                <a:effectLst/>
                <a:latin typeface="Fd2399443-Identity-H"/>
              </a:rPr>
              <a:t>Every L-attributed SDD on an LL grammar can be parsed top-down. </a:t>
            </a:r>
          </a:p>
          <a:p>
            <a:r>
              <a:rPr lang="en-US" sz="2400" b="0" i="0" dirty="0">
                <a:solidFill>
                  <a:srgbClr val="000000"/>
                </a:solidFill>
                <a:effectLst/>
                <a:latin typeface="Fd2399443-Identity-H"/>
              </a:rPr>
              <a:t>LL grammars are a proper subset of the LR grammars</a:t>
            </a:r>
          </a:p>
          <a:p>
            <a:r>
              <a:rPr lang="en-US" sz="2400" b="0" i="0" dirty="0">
                <a:solidFill>
                  <a:srgbClr val="000000"/>
                </a:solidFill>
                <a:effectLst/>
                <a:latin typeface="Fd2399443-Identity-H"/>
              </a:rPr>
              <a:t>S-attributed SDD's are a proper subset of the L-attributed SDD’s</a:t>
            </a:r>
          </a:p>
          <a:p>
            <a:pPr marL="0" indent="0" algn="ctr">
              <a:buNone/>
            </a:pPr>
            <a:endParaRPr lang="en-US" sz="2400" b="0" i="0" dirty="0">
              <a:solidFill>
                <a:srgbClr val="FF0000"/>
              </a:solidFill>
              <a:effectLst/>
              <a:latin typeface="Fd2399443-Identity-H"/>
            </a:endParaRPr>
          </a:p>
          <a:p>
            <a:pPr marL="0" indent="0" algn="ctr">
              <a:buNone/>
            </a:pPr>
            <a:r>
              <a:rPr lang="en-US" sz="2400" b="0" i="0" dirty="0">
                <a:solidFill>
                  <a:srgbClr val="FF0000"/>
                </a:solidFill>
                <a:effectLst/>
                <a:latin typeface="Fd2399443-Identity-H"/>
              </a:rPr>
              <a:t>Can we handle every LR grammar and L-attributed SDD bottom-up?</a:t>
            </a:r>
            <a:endParaRPr lang="en-US" sz="2400" b="0" i="0" dirty="0">
              <a:solidFill>
                <a:srgbClr val="000000"/>
              </a:solidFill>
              <a:effectLst/>
              <a:latin typeface="Fd2399443-Identity-H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7E1989-677B-3D59-A5DB-A5FBA6A1D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8AEE35-2CCB-043A-116D-C6A139455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/>
              <a:pPr/>
              <a:t>75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260B7BD-A4DC-76D3-8DF8-51E71B528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r>
              <a:rPr lang="en-US" sz="3200" dirty="0">
                <a:solidFill>
                  <a:schemeClr val="tx2">
                    <a:lumMod val="50000"/>
                  </a:schemeClr>
                </a:solidFill>
                <a:latin typeface="Candara" pitchFamily="34" charset="0"/>
              </a:rPr>
              <a:t>L-Attributed SDD’s on LR Grammars</a:t>
            </a:r>
          </a:p>
        </p:txBody>
      </p:sp>
      <p:pic>
        <p:nvPicPr>
          <p:cNvPr id="1026" name="Picture 2" descr="How to say no but keep the opportunities flowing | COUNSEL | The Magazine  of the Bar of England and Wales">
            <a:extLst>
              <a:ext uri="{FF2B5EF4-FFF2-40B4-BE49-F238E27FC236}">
                <a16:creationId xmlns:a16="http://schemas.microsoft.com/office/drawing/2014/main" id="{A24A20FF-86EE-8776-2010-3721FA7435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225" y="4082533"/>
            <a:ext cx="4143375" cy="2699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7142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667EA-6796-CC3C-AD2E-D1DBCD30E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14400"/>
            <a:ext cx="8534400" cy="5334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Fd2399443-Identity-H"/>
              </a:rPr>
              <a:t>Consider the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Fd2399443-Identity-H"/>
              </a:rPr>
              <a:t> production 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Fd2550547-Identity-H"/>
              </a:rPr>
              <a:t>A </a:t>
            </a:r>
            <a:r>
              <a:rPr lang="en-US" sz="2000" dirty="0">
                <a:solidFill>
                  <a:srgbClr val="000000"/>
                </a:solidFill>
                <a:latin typeface="Fd2724010-Identity-H"/>
                <a:sym typeface="Wingdings" panose="05000000000000000000" pitchFamily="2" charset="2"/>
              </a:rPr>
              <a:t>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Fd2724010-Identity-H"/>
              </a:rPr>
              <a:t> 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Fd2703453-Identity-H"/>
              </a:rPr>
              <a:t>B 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Fd2550547-Identity-H"/>
              </a:rPr>
              <a:t>C 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Fd2399443-Identity-H"/>
              </a:rPr>
              <a:t>in an LR-grammar</a:t>
            </a:r>
          </a:p>
          <a:p>
            <a:r>
              <a:rPr lang="en-US" sz="2000" b="0" i="0" dirty="0">
                <a:solidFill>
                  <a:srgbClr val="000000"/>
                </a:solidFill>
                <a:effectLst/>
                <a:latin typeface="Fd2399443-Identity-H"/>
              </a:rPr>
              <a:t>There is an inherited attribute </a:t>
            </a:r>
            <a:r>
              <a:rPr lang="en-US" sz="2000" b="0" i="1" dirty="0" err="1">
                <a:solidFill>
                  <a:srgbClr val="000000"/>
                </a:solidFill>
                <a:effectLst/>
                <a:latin typeface="Fd2703453-Identity-H"/>
              </a:rPr>
              <a:t>B.i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Fd2703453-Identity-H"/>
              </a:rPr>
              <a:t> 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Fd2399443-Identity-H"/>
              </a:rPr>
              <a:t>that depends on inherited attributes of 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Fd2550547-Identity-H"/>
              </a:rPr>
              <a:t>A. </a:t>
            </a:r>
          </a:p>
          <a:p>
            <a:r>
              <a:rPr lang="en-US" sz="2000" b="0" i="0" dirty="0">
                <a:solidFill>
                  <a:srgbClr val="000000"/>
                </a:solidFill>
                <a:effectLst/>
                <a:latin typeface="Fd2399443-Identity-H"/>
              </a:rPr>
              <a:t>When we reduce to 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Fd2703453-Identity-H"/>
              </a:rPr>
              <a:t>B, </a:t>
            </a:r>
          </a:p>
          <a:p>
            <a:pPr lvl="1"/>
            <a:r>
              <a:rPr lang="en-US" sz="2000" b="0" i="0" dirty="0">
                <a:solidFill>
                  <a:srgbClr val="000000"/>
                </a:solidFill>
                <a:effectLst/>
                <a:latin typeface="Fd2399443-Identity-H"/>
              </a:rPr>
              <a:t>we still have not seen the input that 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Fd2550547-Identity-H"/>
              </a:rPr>
              <a:t>C 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Fd2399443-Identity-H"/>
              </a:rPr>
              <a:t>generates, so we cannot be sure that we have a body of production 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Fd2550547-Identity-H"/>
              </a:rPr>
              <a:t>A 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Fd2550547-Identity-H"/>
                <a:sym typeface="Wingdings" panose="05000000000000000000" pitchFamily="2" charset="2"/>
              </a:rPr>
              <a:t>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Fd2703453-Identity-H"/>
              </a:rPr>
              <a:t>B 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Fd2550547-Identity-H"/>
              </a:rPr>
              <a:t>C. </a:t>
            </a:r>
          </a:p>
          <a:p>
            <a:pPr lvl="1"/>
            <a:r>
              <a:rPr lang="en-US" sz="2000" b="0" i="0" dirty="0">
                <a:solidFill>
                  <a:srgbClr val="000000"/>
                </a:solidFill>
                <a:effectLst/>
                <a:latin typeface="Fd2399443-Identity-H"/>
              </a:rPr>
              <a:t>Thus, we cannot compute </a:t>
            </a:r>
            <a:r>
              <a:rPr lang="en-US" sz="2000" b="0" i="1" dirty="0" err="1">
                <a:solidFill>
                  <a:srgbClr val="000000"/>
                </a:solidFill>
                <a:effectLst/>
                <a:latin typeface="Fd2703453-Identity-H"/>
              </a:rPr>
              <a:t>B.i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Fd2703453-Identity-H"/>
              </a:rPr>
              <a:t> 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Fd2399443-Identity-H"/>
              </a:rPr>
              <a:t>yet, since we are unsure whether to use the rule associated with this production.</a:t>
            </a:r>
          </a:p>
          <a:p>
            <a:pPr lvl="1"/>
            <a:r>
              <a:rPr lang="en-US" sz="2000" b="0" i="0" dirty="0">
                <a:solidFill>
                  <a:srgbClr val="000000"/>
                </a:solidFill>
                <a:effectLst/>
                <a:latin typeface="Fd2399443-Identity-H"/>
              </a:rPr>
              <a:t>Perhaps we could wait until we have reduced to 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Fd2550547-Identity-H"/>
              </a:rPr>
              <a:t>C, 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Fd2399443-Identity-H"/>
              </a:rPr>
              <a:t>and know that we must reduce 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Fd2703453-Identity-H"/>
              </a:rPr>
              <a:t>B 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Fd2550547-Identity-H"/>
              </a:rPr>
              <a:t>C 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Fd2399443-Identity-H"/>
              </a:rPr>
              <a:t>to 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Fd2550547-Identity-H"/>
              </a:rPr>
              <a:t>A. </a:t>
            </a:r>
          </a:p>
          <a:p>
            <a:pPr lvl="1"/>
            <a:r>
              <a:rPr lang="en-US" sz="2000" b="0" i="0" dirty="0">
                <a:solidFill>
                  <a:srgbClr val="000000"/>
                </a:solidFill>
                <a:effectLst/>
                <a:latin typeface="Fd2399443-Identity-H"/>
              </a:rPr>
              <a:t>However, even then, we do not know the inherited attributes of 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Fd2550547-Identity-H"/>
              </a:rPr>
              <a:t>A, 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Fd2399443-Identity-H"/>
              </a:rPr>
              <a:t>because even after reduction, we may not be sure of the production body that contains this 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Fd2550547-Identity-H"/>
              </a:rPr>
              <a:t>A. </a:t>
            </a:r>
            <a:endParaRPr lang="en-US" sz="2000" dirty="0">
              <a:solidFill>
                <a:srgbClr val="000000"/>
              </a:solidFill>
              <a:latin typeface="Fd2550547-Identity-H"/>
            </a:endParaRPr>
          </a:p>
          <a:p>
            <a:pPr lvl="1"/>
            <a:r>
              <a:rPr lang="en-US" sz="2000" b="0" i="0" dirty="0">
                <a:solidFill>
                  <a:srgbClr val="000000"/>
                </a:solidFill>
                <a:effectLst/>
                <a:latin typeface="Fd2399443-Identity-H"/>
              </a:rPr>
              <a:t>We could reason that this decision, too, should be deferred, and therefore further defer the computation of </a:t>
            </a:r>
            <a:r>
              <a:rPr lang="en-US" sz="2000" b="0" i="1" dirty="0" err="1">
                <a:solidFill>
                  <a:srgbClr val="000000"/>
                </a:solidFill>
                <a:effectLst/>
                <a:latin typeface="Fd2703453-Identity-H"/>
              </a:rPr>
              <a:t>B.i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Fd2703453-Identity-H"/>
              </a:rPr>
              <a:t>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7E1989-677B-3D59-A5DB-A5FBA6A1D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8AEE35-2CCB-043A-116D-C6A139455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/>
              <a:pPr/>
              <a:t>76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260B7BD-A4DC-76D3-8DF8-51E71B528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r>
              <a:rPr lang="en-US" sz="3200" dirty="0">
                <a:solidFill>
                  <a:schemeClr val="tx2">
                    <a:lumMod val="50000"/>
                  </a:schemeClr>
                </a:solidFill>
                <a:latin typeface="Candara" pitchFamily="34" charset="0"/>
              </a:rPr>
              <a:t>L-Attributed SDD’s on LR Grammars</a:t>
            </a:r>
          </a:p>
        </p:txBody>
      </p:sp>
    </p:spTree>
    <p:extLst>
      <p:ext uri="{BB962C8B-B14F-4D97-AF65-F5344CB8AC3E}">
        <p14:creationId xmlns:p14="http://schemas.microsoft.com/office/powerpoint/2010/main" val="1336008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667EA-6796-CC3C-AD2E-D1DBCD30E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14400"/>
            <a:ext cx="8534400" cy="5334000"/>
          </a:xfrm>
        </p:spPr>
        <p:txBody>
          <a:bodyPr>
            <a:normAutofit/>
          </a:bodyPr>
          <a:lstStyle/>
          <a:p>
            <a:r>
              <a:rPr lang="en-US" sz="2800" b="0" i="0" dirty="0">
                <a:solidFill>
                  <a:srgbClr val="000000"/>
                </a:solidFill>
                <a:effectLst/>
                <a:latin typeface="Fd2399443-Identity-H"/>
              </a:rPr>
              <a:t>If we keep reasoning this way, we soon realize that we cannot make any decisions until the entire input is parsed. </a:t>
            </a:r>
          </a:p>
          <a:p>
            <a:r>
              <a:rPr lang="en-US" sz="2800" b="0" i="0" dirty="0">
                <a:solidFill>
                  <a:srgbClr val="000000"/>
                </a:solidFill>
                <a:effectLst/>
                <a:latin typeface="Fd2399443-Identity-H"/>
              </a:rPr>
              <a:t>Essentially, we have reached the strategy of "build the parse tree first and then perform the translation."</a:t>
            </a:r>
            <a:r>
              <a:rPr lang="en-US" sz="2800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7E1989-677B-3D59-A5DB-A5FBA6A1D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8AEE35-2CCB-043A-116D-C6A139455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/>
              <a:pPr/>
              <a:t>77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260B7BD-A4DC-76D3-8DF8-51E71B528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r>
              <a:rPr lang="en-US" sz="3200" dirty="0">
                <a:solidFill>
                  <a:schemeClr val="tx2">
                    <a:lumMod val="50000"/>
                  </a:schemeClr>
                </a:solidFill>
                <a:latin typeface="Candara" pitchFamily="34" charset="0"/>
              </a:rPr>
              <a:t>L-Attributed SDD’s on LR Grammars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DE8DDA-47CA-39C4-A703-3C97EE9E8FAF}"/>
              </a:ext>
            </a:extLst>
          </p:cNvPr>
          <p:cNvSpPr txBox="1"/>
          <p:nvPr/>
        </p:nvSpPr>
        <p:spPr>
          <a:xfrm>
            <a:off x="685800" y="3886200"/>
            <a:ext cx="8001000" cy="1077218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3200" b="0" i="0" dirty="0">
                <a:solidFill>
                  <a:srgbClr val="FF0000"/>
                </a:solidFill>
                <a:effectLst/>
                <a:latin typeface="Fd2399443-Identity-H"/>
              </a:rPr>
              <a:t>However, we can do bottom up parsing of an L-attributed SDD on LL grammar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605827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Candara" pitchFamily="34" charset="0"/>
              </a:rPr>
              <a:t>Reference</a:t>
            </a:r>
            <a:endParaRPr lang="en-US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Candara" pitchFamily="34" charset="0"/>
              </a:rPr>
              <a:t>Compilers: Principles, Techniques, &amp; Tools, by</a:t>
            </a:r>
          </a:p>
          <a:p>
            <a:pPr marL="457200" lvl="1" indent="0">
              <a:buNone/>
            </a:pPr>
            <a:r>
              <a:rPr lang="en-US" sz="2400" dirty="0">
                <a:latin typeface="Candara" pitchFamily="34" charset="0"/>
              </a:rPr>
              <a:t>Alfred B. </a:t>
            </a:r>
            <a:r>
              <a:rPr lang="en-US" sz="2400" dirty="0" err="1">
                <a:latin typeface="Candara" pitchFamily="34" charset="0"/>
              </a:rPr>
              <a:t>Aho</a:t>
            </a:r>
            <a:r>
              <a:rPr lang="en-US" sz="2400" dirty="0">
                <a:latin typeface="Candara" pitchFamily="34" charset="0"/>
              </a:rPr>
              <a:t>, Monica S. Lam, Ravi </a:t>
            </a:r>
            <a:r>
              <a:rPr lang="en-US" sz="2400" dirty="0" err="1">
                <a:latin typeface="Candara" pitchFamily="34" charset="0"/>
              </a:rPr>
              <a:t>Sethi</a:t>
            </a:r>
            <a:r>
              <a:rPr lang="en-US" sz="2400" dirty="0">
                <a:latin typeface="Candara" pitchFamily="34" charset="0"/>
              </a:rPr>
              <a:t>, Jeffrey D. Ullman</a:t>
            </a:r>
          </a:p>
          <a:p>
            <a:pPr lvl="1"/>
            <a:endParaRPr lang="en-US" sz="2400" dirty="0">
              <a:latin typeface="Candara" pitchFamily="34" charset="0"/>
            </a:endParaRPr>
          </a:p>
          <a:p>
            <a:pPr lvl="1"/>
            <a:r>
              <a:rPr lang="en-US" sz="2400" dirty="0">
                <a:latin typeface="Candara" pitchFamily="34" charset="0"/>
              </a:rPr>
              <a:t>Chapter 5</a:t>
            </a:r>
          </a:p>
          <a:p>
            <a:pPr lvl="2"/>
            <a:r>
              <a:rPr lang="en-US" sz="2000" dirty="0">
                <a:latin typeface="Candara" pitchFamily="34" charset="0"/>
              </a:rPr>
              <a:t>5.1</a:t>
            </a:r>
          </a:p>
          <a:p>
            <a:pPr lvl="2"/>
            <a:r>
              <a:rPr lang="en-US" sz="2000" dirty="0">
                <a:latin typeface="Candara" pitchFamily="34" charset="0"/>
              </a:rPr>
              <a:t>5.2</a:t>
            </a:r>
          </a:p>
          <a:p>
            <a:pPr lvl="2"/>
            <a:r>
              <a:rPr lang="en-US" sz="2000" dirty="0">
                <a:latin typeface="Candara" pitchFamily="34" charset="0"/>
              </a:rPr>
              <a:t>5.3</a:t>
            </a:r>
          </a:p>
          <a:p>
            <a:pPr lvl="2"/>
            <a:r>
              <a:rPr lang="en-US" sz="2000" dirty="0">
                <a:latin typeface="Candara" pitchFamily="34" charset="0"/>
              </a:rPr>
              <a:t>5.4</a:t>
            </a:r>
          </a:p>
          <a:p>
            <a:pPr lvl="2"/>
            <a:r>
              <a:rPr lang="en-US" sz="2000" dirty="0">
                <a:latin typeface="Candara" pitchFamily="34" charset="0"/>
              </a:rPr>
              <a:t>5.5 (5.5.1-5.5.3)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BUET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CB97-BFCA-4D72-8FC9-539B415ADACC}" type="slidenum">
              <a:rPr lang="en-US" smtClean="0"/>
              <a:pPr/>
              <a:t>78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3119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21587</TotalTime>
  <Words>4296</Words>
  <Application>Microsoft Office PowerPoint</Application>
  <PresentationFormat>On-screen Show (4:3)</PresentationFormat>
  <Paragraphs>989</Paragraphs>
  <Slides>78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88" baseType="lpstr">
      <vt:lpstr>Arial</vt:lpstr>
      <vt:lpstr>Calibri</vt:lpstr>
      <vt:lpstr>Candara</vt:lpstr>
      <vt:lpstr>Courier New</vt:lpstr>
      <vt:lpstr>Fd2399443-Identity-H</vt:lpstr>
      <vt:lpstr>Fd2550547-Identity-H</vt:lpstr>
      <vt:lpstr>Fd2703453-Identity-H</vt:lpstr>
      <vt:lpstr>Fd2724010-Identity-H</vt:lpstr>
      <vt:lpstr>Wingdings</vt:lpstr>
      <vt:lpstr>Office Theme</vt:lpstr>
      <vt:lpstr>CSE 309 (Compilers)</vt:lpstr>
      <vt:lpstr>Text Book</vt:lpstr>
      <vt:lpstr>A Language Processing System</vt:lpstr>
      <vt:lpstr>  Phases of A Compiler</vt:lpstr>
      <vt:lpstr>Topics To be Covered</vt:lpstr>
      <vt:lpstr>Syntax Directed Translations</vt:lpstr>
      <vt:lpstr>PowerPoint Presentation</vt:lpstr>
      <vt:lpstr>PowerPoint Presentation</vt:lpstr>
      <vt:lpstr>Syntax-Directed Definitions</vt:lpstr>
      <vt:lpstr>PowerPoint Presentation</vt:lpstr>
      <vt:lpstr>Types of Attributes</vt:lpstr>
      <vt:lpstr>Synthesized Attributes</vt:lpstr>
      <vt:lpstr>Inherited Attributes</vt:lpstr>
      <vt:lpstr>Synthesized and Inherited Attributes</vt:lpstr>
      <vt:lpstr>Synthesized and Inherited Attributes</vt:lpstr>
      <vt:lpstr>Some Definitions</vt:lpstr>
      <vt:lpstr>Some Definitions</vt:lpstr>
      <vt:lpstr>Evaluating an SDD</vt:lpstr>
      <vt:lpstr>PowerPoint Presentation</vt:lpstr>
      <vt:lpstr>Evaluating Inherited Attributes</vt:lpstr>
      <vt:lpstr>PowerPoint Presentation</vt:lpstr>
      <vt:lpstr>PowerPoint Presentation</vt:lpstr>
      <vt:lpstr>Evaluation Order of SDD</vt:lpstr>
      <vt:lpstr>Dependency Graph</vt:lpstr>
      <vt:lpstr>Dependency Graph</vt:lpstr>
      <vt:lpstr>Dependency Graph</vt:lpstr>
      <vt:lpstr>Dependency Graph</vt:lpstr>
      <vt:lpstr>Dependency Graph</vt:lpstr>
      <vt:lpstr>Evaluating an SDD</vt:lpstr>
      <vt:lpstr>Well Behaved SDD classes</vt:lpstr>
      <vt:lpstr>S-attributed SDD</vt:lpstr>
      <vt:lpstr>L-attributed SDD</vt:lpstr>
      <vt:lpstr>L-attributed SDD</vt:lpstr>
      <vt:lpstr>L-attributed SDD</vt:lpstr>
      <vt:lpstr>L-attributed SDD</vt:lpstr>
      <vt:lpstr>L-attributed SDD</vt:lpstr>
      <vt:lpstr>L-attributed SDD</vt:lpstr>
      <vt:lpstr>L-attributed SDD</vt:lpstr>
      <vt:lpstr>L-attributed SDD</vt:lpstr>
      <vt:lpstr>L-attributed SDD</vt:lpstr>
      <vt:lpstr>SDT Application: Construction of AST</vt:lpstr>
      <vt:lpstr>Construction of AST</vt:lpstr>
      <vt:lpstr>PowerPoint Presentation</vt:lpstr>
      <vt:lpstr>Construction of AST</vt:lpstr>
      <vt:lpstr>Construction of AST</vt:lpstr>
      <vt:lpstr>PowerPoint Presentation</vt:lpstr>
      <vt:lpstr>Construction of AST</vt:lpstr>
      <vt:lpstr>Syntax-Directed Translation Schemes (SDT)</vt:lpstr>
      <vt:lpstr>Syntax-Directed Translation Schemes (SDT)</vt:lpstr>
      <vt:lpstr>Syntax-Directed Translation Schemes</vt:lpstr>
      <vt:lpstr>Another Example</vt:lpstr>
      <vt:lpstr>Another Example</vt:lpstr>
      <vt:lpstr>Implementation of SDT</vt:lpstr>
      <vt:lpstr>Postfix SDT</vt:lpstr>
      <vt:lpstr>Parser-Stack Implementation of Postfix SDT</vt:lpstr>
      <vt:lpstr>Parser-Stack Implementation of Postfix SDT</vt:lpstr>
      <vt:lpstr>SDTs with Action Inside Procedure</vt:lpstr>
      <vt:lpstr>SDTs Non Implementable during Parsing</vt:lpstr>
      <vt:lpstr>SDTs Non Implementable during Parsing</vt:lpstr>
      <vt:lpstr>SDT Implementation using Parse Tree</vt:lpstr>
      <vt:lpstr>Eliminating Left Recursion</vt:lpstr>
      <vt:lpstr>Eliminating Left Recursion</vt:lpstr>
      <vt:lpstr>Eliminating Left Recursion</vt:lpstr>
      <vt:lpstr>Eliminating Left Recursion</vt:lpstr>
      <vt:lpstr>Eliminating Left Recursion</vt:lpstr>
      <vt:lpstr>Eliminating Left Recursion</vt:lpstr>
      <vt:lpstr>SDT for L-Attributed SDD</vt:lpstr>
      <vt:lpstr>SDT for L-Attributed SDD</vt:lpstr>
      <vt:lpstr>SDT for L-Attributed SDD</vt:lpstr>
      <vt:lpstr>Implementing L-Attributed SDD</vt:lpstr>
      <vt:lpstr>Translation During Recursive-Descent Parsing</vt:lpstr>
      <vt:lpstr>On-The-Fly Code Generation</vt:lpstr>
      <vt:lpstr>L-Attributed SDD’s and LL Parsing</vt:lpstr>
      <vt:lpstr>L-Attributed SDD’s and LL Parsing</vt:lpstr>
      <vt:lpstr>L-Attributed SDD’s on LR Grammars</vt:lpstr>
      <vt:lpstr>L-Attributed SDD’s on LR Grammars</vt:lpstr>
      <vt:lpstr>L-Attributed SDD’s on LR Grammars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TAMAL</dc:creator>
  <cp:lastModifiedBy>khaled mahmud</cp:lastModifiedBy>
  <cp:revision>507</cp:revision>
  <dcterms:created xsi:type="dcterms:W3CDTF">2017-04-20T16:36:45Z</dcterms:created>
  <dcterms:modified xsi:type="dcterms:W3CDTF">2023-01-24T06:01:34Z</dcterms:modified>
</cp:coreProperties>
</file>