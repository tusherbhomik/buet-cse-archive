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344" r:id="rId4"/>
    <p:sldId id="345" r:id="rId5"/>
    <p:sldId id="346" r:id="rId6"/>
    <p:sldId id="260" r:id="rId7"/>
    <p:sldId id="261" r:id="rId8"/>
    <p:sldId id="262" r:id="rId9"/>
    <p:sldId id="263" r:id="rId10"/>
    <p:sldId id="324" r:id="rId11"/>
    <p:sldId id="264" r:id="rId12"/>
    <p:sldId id="325" r:id="rId13"/>
    <p:sldId id="326" r:id="rId14"/>
    <p:sldId id="327" r:id="rId15"/>
    <p:sldId id="328" r:id="rId16"/>
    <p:sldId id="329" r:id="rId17"/>
    <p:sldId id="330" r:id="rId18"/>
    <p:sldId id="347" r:id="rId19"/>
    <p:sldId id="331" r:id="rId20"/>
    <p:sldId id="350" r:id="rId21"/>
    <p:sldId id="265" r:id="rId22"/>
    <p:sldId id="348" r:id="rId23"/>
    <p:sldId id="341" r:id="rId24"/>
    <p:sldId id="266" r:id="rId25"/>
    <p:sldId id="349" r:id="rId26"/>
    <p:sldId id="342" r:id="rId27"/>
    <p:sldId id="267" r:id="rId28"/>
    <p:sldId id="268" r:id="rId29"/>
    <p:sldId id="332" r:id="rId30"/>
    <p:sldId id="335" r:id="rId31"/>
    <p:sldId id="334" r:id="rId32"/>
    <p:sldId id="333" r:id="rId33"/>
    <p:sldId id="337" r:id="rId34"/>
    <p:sldId id="338" r:id="rId35"/>
    <p:sldId id="343" r:id="rId36"/>
    <p:sldId id="340" r:id="rId37"/>
    <p:sldId id="33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33CCFF"/>
    <a:srgbClr val="FFFF99"/>
    <a:srgbClr val="FFE699"/>
    <a:srgbClr val="99FF99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4280" autoAdjust="0"/>
  </p:normalViewPr>
  <p:slideViewPr>
    <p:cSldViewPr snapToGrid="0">
      <p:cViewPr varScale="1">
        <p:scale>
          <a:sx n="68" d="100"/>
          <a:sy n="68" d="100"/>
        </p:scale>
        <p:origin x="76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8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8469-F2F8-4C2D-95A7-DF365BA336AB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BAF06-35E5-4F2E-8263-85249F2169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5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ABAF06-35E5-4F2E-8263-85249F2169B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5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7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1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6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5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6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0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9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3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8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6837C-D6AB-4423-AF86-17F672FE3F82}" type="datetimeFigureOut">
              <a:rPr lang="en-US" smtClean="0"/>
              <a:pPr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57326-B925-4718-81F1-25EB183CA7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4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28.png"/><Relationship Id="rId9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2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28.png"/><Relationship Id="rId9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13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32.png"/><Relationship Id="rId9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320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36.png"/><Relationship Id="rId12" Type="http://schemas.openxmlformats.org/officeDocument/2006/relationships/image" Target="../media/image1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39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41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43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0.png"/><Relationship Id="rId7" Type="http://schemas.openxmlformats.org/officeDocument/2006/relationships/image" Target="../media/image45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390.png"/><Relationship Id="rId7" Type="http://schemas.openxmlformats.org/officeDocument/2006/relationships/image" Target="../media/image45.png"/><Relationship Id="rId12" Type="http://schemas.openxmlformats.org/officeDocument/2006/relationships/image" Target="../media/image1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12" Type="http://schemas.openxmlformats.org/officeDocument/2006/relationships/image" Target="../media/image13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7.png"/><Relationship Id="rId9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440.png"/><Relationship Id="rId3" Type="http://schemas.openxmlformats.org/officeDocument/2006/relationships/image" Target="../media/image430.png"/><Relationship Id="rId7" Type="http://schemas.openxmlformats.org/officeDocument/2006/relationships/image" Target="../media/image90.png"/><Relationship Id="rId12" Type="http://schemas.openxmlformats.org/officeDocument/2006/relationships/image" Target="../media/image14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130.png"/><Relationship Id="rId5" Type="http://schemas.openxmlformats.org/officeDocument/2006/relationships/image" Target="../media/image44.png"/><Relationship Id="rId10" Type="http://schemas.openxmlformats.org/officeDocument/2006/relationships/image" Target="../media/image120.png"/><Relationship Id="rId4" Type="http://schemas.openxmlformats.org/officeDocument/2006/relationships/image" Target="../media/image60.png"/><Relationship Id="rId9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420.png"/><Relationship Id="rId12" Type="http://schemas.openxmlformats.org/officeDocument/2006/relationships/image" Target="../media/image13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460.png"/><Relationship Id="rId9" Type="http://schemas.openxmlformats.org/officeDocument/2006/relationships/image" Target="../media/image1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50.png"/><Relationship Id="rId7" Type="http://schemas.openxmlformats.org/officeDocument/2006/relationships/image" Target="../media/image45.png"/><Relationship Id="rId12" Type="http://schemas.openxmlformats.org/officeDocument/2006/relationships/image" Target="../media/image13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20.png"/><Relationship Id="rId5" Type="http://schemas.openxmlformats.org/officeDocument/2006/relationships/image" Target="../media/image49.png"/><Relationship Id="rId10" Type="http://schemas.openxmlformats.org/officeDocument/2006/relationships/image" Target="../media/image110.png"/><Relationship Id="rId4" Type="http://schemas.openxmlformats.org/officeDocument/2006/relationships/image" Target="../media/image51.png"/><Relationship Id="rId9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3" Type="http://schemas.openxmlformats.org/officeDocument/2006/relationships/image" Target="../media/image52.png"/><Relationship Id="rId7" Type="http://schemas.openxmlformats.org/officeDocument/2006/relationships/image" Target="../media/image45.png"/><Relationship Id="rId12" Type="http://schemas.openxmlformats.org/officeDocument/2006/relationships/image" Target="../media/image13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20.png"/><Relationship Id="rId5" Type="http://schemas.openxmlformats.org/officeDocument/2006/relationships/image" Target="../media/image54.png"/><Relationship Id="rId10" Type="http://schemas.openxmlformats.org/officeDocument/2006/relationships/image" Target="../media/image110.png"/><Relationship Id="rId4" Type="http://schemas.openxmlformats.org/officeDocument/2006/relationships/image" Target="../media/image53.png"/><Relationship Id="rId9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0782"/>
            <a:ext cx="9144000" cy="2387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Machine-independent Optimizations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565B82-05CB-1096-05A5-CE594C925F2E}"/>
              </a:ext>
            </a:extLst>
          </p:cNvPr>
          <p:cNvSpPr/>
          <p:nvPr/>
        </p:nvSpPr>
        <p:spPr>
          <a:xfrm>
            <a:off x="4159863" y="1422524"/>
            <a:ext cx="3365025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US" sz="5400" dirty="0">
                <a:solidFill>
                  <a:srgbClr val="FF0000"/>
                </a:solidFill>
                <a:latin typeface="Candara" panose="020E0502030303020204" pitchFamily="34" charset="0"/>
                <a:ea typeface="+mj-ea"/>
                <a:cs typeface="+mj-cs"/>
              </a:rPr>
              <a:t>Chapter 9</a:t>
            </a:r>
            <a:endParaRPr lang="en-US" sz="6000" dirty="0">
              <a:solidFill>
                <a:srgbClr val="FF0000"/>
              </a:solidFill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916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Code Optimization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High-level language constructs can introduce substantial run-time overhead if naively each construct is independently translated into machine code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Code optimization</a:t>
            </a:r>
            <a:r>
              <a:rPr lang="en-US" dirty="0"/>
              <a:t> or </a:t>
            </a:r>
            <a:r>
              <a:rPr lang="en-US" dirty="0">
                <a:solidFill>
                  <a:srgbClr val="00B0F0"/>
                </a:solidFill>
              </a:rPr>
              <a:t>code improvement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cs typeface="Calibri" panose="020F0502020204030204" pitchFamily="34" charset="0"/>
              </a:rPr>
              <a:t>Elimination of unnecessary instructions in object code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cs typeface="Calibri" panose="020F0502020204030204" pitchFamily="34" charset="0"/>
              </a:rPr>
              <a:t>Replacement of one sequence of instructions by a faster sequence of instructions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en-US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96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Code Optimization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Optimization</a:t>
            </a:r>
          </a:p>
          <a:p>
            <a:pPr lvl="1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Code improvement within a basic block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Covered in chapter 8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Optimization</a:t>
            </a:r>
          </a:p>
          <a:p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Code improvement across basic blocks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Focus of this chapter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81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Optimizations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522646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Most global optimizations are based on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data-flow analysis (DFA)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DFA are algorithms that gather information about a program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each instruction in program, specifies some property that must hold every time that instruction is executed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Constant-propagation analysis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checks if for each point in the program and for each variable used by the program, whether the variable has a unique constant value at that point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Liveliness analysis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checks for each point in the program, whether the value hold by a particular variable at that point is sure to be overwritten before it is read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3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Principle Sources of Optimization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5226462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Compiler must preserve the 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semantics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of the original program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compiler cannot understand enough about a program to replace with an efficient algorithm!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compiler knows only how to apply relatively 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low-level semantic transformations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such that performing the same operation on the same values yields the same result. 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Examples -</a:t>
            </a:r>
          </a:p>
          <a:p>
            <a:pPr lvl="1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algebraic identities such as replacing </a:t>
            </a:r>
            <a:r>
              <a:rPr lang="en-US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i+0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en-US" i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Remove redundant operations and 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05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Causes </a:t>
            </a:r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of Redundancy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There are many redundant operations in a typical program. </a:t>
            </a:r>
          </a:p>
          <a:p>
            <a:pPr>
              <a:lnSpc>
                <a:spcPct val="114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Sometime redundancies are introduced at the source level by the programmer for convenience</a:t>
            </a: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14000"/>
              </a:lnSpc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 Cut &amp; paste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More often the redundancy is a side effect of writing code in high level language such as an 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 access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</a:t>
            </a:r>
            <a:r>
              <a:rPr lang="en-US" i="1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][j]</a:t>
            </a:r>
          </a:p>
          <a:p>
            <a:pPr marL="457200" lvl="1" indent="0">
              <a:lnSpc>
                <a:spcPct val="114000"/>
              </a:lnSpc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  During compilation, such high-level data-structure accesses expands into a number of low-level arithmetic operations, such as the computation of the location of the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j)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element of a matrix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5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2932"/>
            <a:ext cx="10515600" cy="6925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Example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948130" y="1085831"/>
            <a:ext cx="3163530" cy="44805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ctr">
              <a:buNone/>
            </a:pPr>
            <a:r>
              <a:rPr lang="en-US" altLang="en-US" dirty="0">
                <a:solidFill>
                  <a:srgbClr val="FF0000"/>
                </a:solidFill>
                <a:latin typeface="Constantia" panose="02030602050306030303" pitchFamily="18" charset="0"/>
              </a:rPr>
              <a:t>Quick Sort(TAC)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660" y="1657352"/>
            <a:ext cx="6828462" cy="4640006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</a:ln>
        </p:spPr>
      </p:pic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6178872" y="1747686"/>
            <a:ext cx="2458064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6169044" y="2932476"/>
            <a:ext cx="2458064" cy="10790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20"/>
          <p:cNvSpPr>
            <a:spLocks noChangeArrowheads="1"/>
          </p:cNvSpPr>
          <p:nvPr/>
        </p:nvSpPr>
        <p:spPr bwMode="auto">
          <a:xfrm>
            <a:off x="6159213" y="4073014"/>
            <a:ext cx="2458064" cy="10790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20"/>
          <p:cNvSpPr>
            <a:spLocks noChangeArrowheads="1"/>
          </p:cNvSpPr>
          <p:nvPr/>
        </p:nvSpPr>
        <p:spPr bwMode="auto">
          <a:xfrm>
            <a:off x="6164131" y="5228303"/>
            <a:ext cx="2458064" cy="243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6169051" y="5528183"/>
            <a:ext cx="2458064" cy="5334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Rectangle 20"/>
          <p:cNvSpPr>
            <a:spLocks noChangeArrowheads="1"/>
          </p:cNvSpPr>
          <p:nvPr/>
        </p:nvSpPr>
        <p:spPr bwMode="auto">
          <a:xfrm>
            <a:off x="9177706" y="1737857"/>
            <a:ext cx="2894415" cy="20229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9182626" y="3807547"/>
            <a:ext cx="2894415" cy="2254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0572237" y="795573"/>
            <a:ext cx="1554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Constantia" panose="02030602050306030303" pitchFamily="18" charset="0"/>
              </a:rPr>
              <a:t>Basic Block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10755086" y="1226460"/>
            <a:ext cx="594544" cy="521226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6"/>
          <p:cNvSpPr txBox="1">
            <a:spLocks/>
          </p:cNvSpPr>
          <p:nvPr/>
        </p:nvSpPr>
        <p:spPr>
          <a:xfrm>
            <a:off x="954314" y="1056803"/>
            <a:ext cx="2804886" cy="451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dirty="0">
                <a:solidFill>
                  <a:srgbClr val="FF0000"/>
                </a:solidFill>
                <a:latin typeface="Constantia" panose="02030602050306030303" pitchFamily="18" charset="0"/>
              </a:rPr>
              <a:t>Quick Sort(C)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13894" y="1594826"/>
            <a:ext cx="4748106" cy="4732028"/>
            <a:chOff x="113894" y="1594826"/>
            <a:chExt cx="4748106" cy="4732028"/>
          </a:xfrm>
        </p:grpSpPr>
        <p:pic>
          <p:nvPicPr>
            <p:cNvPr id="18" name="Picture 17" descr="Screen Clippi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06"/>
            <a:stretch/>
          </p:blipFill>
          <p:spPr>
            <a:xfrm>
              <a:off x="113894" y="1594826"/>
              <a:ext cx="4748106" cy="4732028"/>
            </a:xfrm>
            <a:prstGeom prst="rect">
              <a:avLst/>
            </a:prstGeom>
            <a:ln w="28575"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4310742" y="5228303"/>
              <a:ext cx="551257" cy="243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658797" y="4715886"/>
              <a:ext cx="203202" cy="233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195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18759"/>
            <a:ext cx="10515600" cy="7744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Example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27384" y="830120"/>
            <a:ext cx="4239161" cy="49868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FF0000"/>
                </a:solidFill>
                <a:latin typeface="Constantia" panose="02030602050306030303" pitchFamily="18" charset="0"/>
              </a:rPr>
              <a:t>Quick Sort(Flow Graph)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94945" y="655586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5535209" y="1706033"/>
            <a:ext cx="2280538" cy="1200329"/>
            <a:chOff x="3532238" y="1706033"/>
            <a:chExt cx="2280538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532238" y="1706033"/>
                  <a:ext cx="1816999" cy="1200329"/>
                </a:xfrm>
                <a:prstGeom prst="rect">
                  <a:avLst/>
                </a:prstGeom>
                <a:solidFill>
                  <a:srgbClr val="99FF99">
                    <a:alpha val="27059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2238" y="1706033"/>
                  <a:ext cx="1816999" cy="120032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35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336364" y="1727111"/>
                  <a:ext cx="476412" cy="3629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>
                    <a:defRPr b="1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64" y="1727111"/>
                  <a:ext cx="476412" cy="36298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9443205" y="1343049"/>
            <a:ext cx="2064774" cy="737235"/>
            <a:chOff x="9051318" y="1343049"/>
            <a:chExt cx="2064774" cy="7372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9051318" y="1710952"/>
                  <a:ext cx="2064774" cy="369332"/>
                </a:xfrm>
                <a:prstGeom prst="rect">
                  <a:avLst/>
                </a:prstGeom>
                <a:solidFill>
                  <a:srgbClr val="99FF99">
                    <a:alpha val="27059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i="0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goto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1318" y="1710952"/>
                  <a:ext cx="2064774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290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10606898" y="1343049"/>
                  <a:ext cx="478015" cy="3629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baseline="-2500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n-US" b="1" baseline="-250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6898" y="1343049"/>
                  <a:ext cx="478015" cy="36298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8736909" y="2415186"/>
            <a:ext cx="1522382" cy="2928926"/>
            <a:chOff x="8287657" y="2458728"/>
            <a:chExt cx="1522382" cy="29289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287657" y="2802331"/>
                  <a:ext cx="1522382" cy="2585323"/>
                </a:xfrm>
                <a:prstGeom prst="rect">
                  <a:avLst/>
                </a:prstGeom>
                <a:solidFill>
                  <a:srgbClr val="99FF99">
                    <a:alpha val="27059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i="0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6=4∗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6]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7=4∗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8=4∗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9=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7]=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10=4∗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10]=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gotoB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7657" y="2802331"/>
                  <a:ext cx="1522382" cy="258532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93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8381787" y="2458728"/>
                  <a:ext cx="476412" cy="3629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baseline="-25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US" b="1" i="1" baseline="-25000" dirty="0">
                    <a:solidFill>
                      <a:srgbClr val="0070C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787" y="2458728"/>
                  <a:ext cx="476412" cy="36298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10585057" y="2441307"/>
            <a:ext cx="1513104" cy="2644769"/>
            <a:chOff x="10571230" y="2441307"/>
            <a:chExt cx="1513104" cy="2644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0571230" y="2777752"/>
                  <a:ext cx="1513104" cy="2308324"/>
                </a:xfrm>
                <a:prstGeom prst="rect">
                  <a:avLst/>
                </a:prstGeom>
                <a:solidFill>
                  <a:srgbClr val="99FF99">
                    <a:alpha val="27059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i="0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11=4∗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12=4∗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13=4∗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14=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13]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12]=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15=4∗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15]=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1230" y="2777752"/>
                  <a:ext cx="1513104" cy="2308324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84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1594338" y="2441307"/>
                  <a:ext cx="476412" cy="3629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baseline="-250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oMath>
                    </m:oMathPara>
                  </a14:m>
                  <a:endParaRPr lang="en-US" b="1" i="1" baseline="-25000" dirty="0">
                    <a:solidFill>
                      <a:srgbClr val="0070C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4338" y="2441307"/>
                  <a:ext cx="476412" cy="36298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" name="Straight Arrow Connector 24"/>
          <p:cNvCxnSpPr>
            <a:stCxn id="8" idx="2"/>
            <a:endCxn id="10" idx="0"/>
          </p:cNvCxnSpPr>
          <p:nvPr/>
        </p:nvCxnSpPr>
        <p:spPr>
          <a:xfrm flipH="1">
            <a:off x="6442723" y="2906362"/>
            <a:ext cx="986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2"/>
            <a:endCxn id="11" idx="0"/>
          </p:cNvCxnSpPr>
          <p:nvPr/>
        </p:nvCxnSpPr>
        <p:spPr>
          <a:xfrm flipH="1">
            <a:off x="6435071" y="4430365"/>
            <a:ext cx="7652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  <a:stCxn id="16" idx="2"/>
            <a:endCxn id="17" idx="0"/>
          </p:cNvCxnSpPr>
          <p:nvPr/>
        </p:nvCxnSpPr>
        <p:spPr>
          <a:xfrm flipH="1">
            <a:off x="9498100" y="2080284"/>
            <a:ext cx="977492" cy="678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6" idx="2"/>
            <a:endCxn id="18" idx="0"/>
          </p:cNvCxnSpPr>
          <p:nvPr/>
        </p:nvCxnSpPr>
        <p:spPr>
          <a:xfrm>
            <a:off x="10475592" y="2080284"/>
            <a:ext cx="866017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hape 34"/>
          <p:cNvCxnSpPr>
            <a:stCxn id="11" idx="2"/>
            <a:endCxn id="16" idx="0"/>
          </p:cNvCxnSpPr>
          <p:nvPr/>
        </p:nvCxnSpPr>
        <p:spPr>
          <a:xfrm rot="5400000" flipH="1" flipV="1">
            <a:off x="6274635" y="1871387"/>
            <a:ext cx="4361391" cy="4040521"/>
          </a:xfrm>
          <a:prstGeom prst="bentConnector5">
            <a:avLst>
              <a:gd name="adj1" fmla="val -5241"/>
              <a:gd name="adj2" fmla="val 49174"/>
              <a:gd name="adj3" fmla="val 1052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hape 39"/>
          <p:cNvCxnSpPr>
            <a:cxnSpLocks/>
            <a:stCxn id="17" idx="2"/>
          </p:cNvCxnSpPr>
          <p:nvPr/>
        </p:nvCxnSpPr>
        <p:spPr>
          <a:xfrm rot="5400000" flipH="1">
            <a:off x="6436861" y="2282873"/>
            <a:ext cx="2114074" cy="4008404"/>
          </a:xfrm>
          <a:prstGeom prst="bentConnector4">
            <a:avLst>
              <a:gd name="adj1" fmla="val -55439"/>
              <a:gd name="adj2" fmla="val 107654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469473" y="4640907"/>
            <a:ext cx="2412520" cy="1591602"/>
            <a:chOff x="3611645" y="4640907"/>
            <a:chExt cx="2412520" cy="1591602"/>
          </a:xfrm>
        </p:grpSpPr>
        <p:grpSp>
          <p:nvGrpSpPr>
            <p:cNvPr id="33" name="Group 32"/>
            <p:cNvGrpSpPr/>
            <p:nvPr/>
          </p:nvGrpSpPr>
          <p:grpSpPr>
            <a:xfrm>
              <a:off x="3611645" y="4872014"/>
              <a:ext cx="2352560" cy="1200329"/>
              <a:chOff x="3422960" y="4872014"/>
              <a:chExt cx="2352560" cy="12003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3422960" y="4872014"/>
                    <a:ext cx="1931196" cy="1200329"/>
                  </a:xfrm>
                  <a:prstGeom prst="rect">
                    <a:avLst/>
                  </a:prstGeom>
                  <a:solidFill>
                    <a:srgbClr val="99FF99">
                      <a:alpha val="27059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i="0"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n-US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4=4∗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j</m:t>
                          </m:r>
                        </m:oMath>
                      </m:oMathPara>
                    </a14:m>
                    <a:endParaRPr lang="en-US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5=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4]</m:t>
                          </m:r>
                        </m:oMath>
                      </m:oMathPara>
                    </a14:m>
                    <a:endParaRPr lang="en-US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if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5&gt;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goto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2960" y="4872014"/>
                    <a:ext cx="1931196" cy="1200329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 b="-2513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299108" y="4970337"/>
                    <a:ext cx="476412" cy="3629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baseline="-25000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n-US" b="1" i="1" baseline="-25000" dirty="0">
                      <a:solidFill>
                        <a:srgbClr val="0070C0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9108" y="4970337"/>
                    <a:ext cx="476412" cy="362984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Freeform: Shape 69"/>
            <p:cNvSpPr/>
            <p:nvPr/>
          </p:nvSpPr>
          <p:spPr>
            <a:xfrm flipH="1">
              <a:off x="5227752" y="4640907"/>
              <a:ext cx="796413" cy="1591602"/>
            </a:xfrm>
            <a:custGeom>
              <a:avLst/>
              <a:gdLst>
                <a:gd name="connsiteX0" fmla="*/ 781779 w 870270"/>
                <a:gd name="connsiteY0" fmla="*/ 1431538 h 1591602"/>
                <a:gd name="connsiteX1" fmla="*/ 472063 w 870270"/>
                <a:gd name="connsiteY1" fmla="*/ 1564273 h 1591602"/>
                <a:gd name="connsiteX2" fmla="*/ 115 w 870270"/>
                <a:gd name="connsiteY2" fmla="*/ 959589 h 1591602"/>
                <a:gd name="connsiteX3" fmla="*/ 516308 w 870270"/>
                <a:gd name="connsiteY3" fmla="*/ 30441 h 1591602"/>
                <a:gd name="connsiteX4" fmla="*/ 870270 w 870270"/>
                <a:gd name="connsiteY4" fmla="*/ 207422 h 1591602"/>
                <a:gd name="connsiteX5" fmla="*/ 870270 w 870270"/>
                <a:gd name="connsiteY5" fmla="*/ 207422 h 159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0270" h="1591602">
                  <a:moveTo>
                    <a:pt x="781779" y="1431538"/>
                  </a:moveTo>
                  <a:cubicBezTo>
                    <a:pt x="692059" y="1537234"/>
                    <a:pt x="602340" y="1642931"/>
                    <a:pt x="472063" y="1564273"/>
                  </a:cubicBezTo>
                  <a:cubicBezTo>
                    <a:pt x="341786" y="1485615"/>
                    <a:pt x="-7259" y="1215228"/>
                    <a:pt x="115" y="959589"/>
                  </a:cubicBezTo>
                  <a:cubicBezTo>
                    <a:pt x="7489" y="703950"/>
                    <a:pt x="371282" y="155802"/>
                    <a:pt x="516308" y="30441"/>
                  </a:cubicBezTo>
                  <a:cubicBezTo>
                    <a:pt x="661334" y="-94920"/>
                    <a:pt x="870270" y="207422"/>
                    <a:pt x="870270" y="207422"/>
                  </a:cubicBezTo>
                  <a:lnTo>
                    <a:pt x="870270" y="207422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9695" y="3007858"/>
            <a:ext cx="2370332" cy="1591602"/>
            <a:chOff x="3631867" y="3007858"/>
            <a:chExt cx="2370332" cy="1591602"/>
          </a:xfrm>
        </p:grpSpPr>
        <p:grpSp>
          <p:nvGrpSpPr>
            <p:cNvPr id="32" name="Group 31"/>
            <p:cNvGrpSpPr/>
            <p:nvPr/>
          </p:nvGrpSpPr>
          <p:grpSpPr>
            <a:xfrm>
              <a:off x="3631867" y="3230036"/>
              <a:ext cx="2313601" cy="1200329"/>
              <a:chOff x="3443182" y="3230036"/>
              <a:chExt cx="2313601" cy="12003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3443182" y="3230036"/>
                    <a:ext cx="1906056" cy="1200329"/>
                  </a:xfrm>
                  <a:prstGeom prst="rect">
                    <a:avLst/>
                  </a:prstGeom>
                  <a:solidFill>
                    <a:srgbClr val="99FF99">
                      <a:alpha val="27059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i="0"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2=4∗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i</m:t>
                          </m:r>
                        </m:oMath>
                      </m:oMathPara>
                    </a14:m>
                    <a:endParaRPr lang="en-US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3=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2]</m:t>
                          </m:r>
                        </m:oMath>
                      </m:oMathPara>
                    </a14:m>
                    <a:endParaRPr lang="en-US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if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3&lt;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goto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182" y="3230036"/>
                    <a:ext cx="1906056" cy="1200329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 b="-2513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5278768" y="3348724"/>
                    <a:ext cx="478015" cy="3629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baseline="-2500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n-US" b="1" baseline="-250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8768" y="3348724"/>
                    <a:ext cx="478015" cy="362984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Freeform: Shape 71"/>
            <p:cNvSpPr/>
            <p:nvPr/>
          </p:nvSpPr>
          <p:spPr>
            <a:xfrm flipH="1">
              <a:off x="5205786" y="3007858"/>
              <a:ext cx="796413" cy="1591602"/>
            </a:xfrm>
            <a:custGeom>
              <a:avLst/>
              <a:gdLst>
                <a:gd name="connsiteX0" fmla="*/ 781779 w 870270"/>
                <a:gd name="connsiteY0" fmla="*/ 1431538 h 1591602"/>
                <a:gd name="connsiteX1" fmla="*/ 472063 w 870270"/>
                <a:gd name="connsiteY1" fmla="*/ 1564273 h 1591602"/>
                <a:gd name="connsiteX2" fmla="*/ 115 w 870270"/>
                <a:gd name="connsiteY2" fmla="*/ 959589 h 1591602"/>
                <a:gd name="connsiteX3" fmla="*/ 516308 w 870270"/>
                <a:gd name="connsiteY3" fmla="*/ 30441 h 1591602"/>
                <a:gd name="connsiteX4" fmla="*/ 870270 w 870270"/>
                <a:gd name="connsiteY4" fmla="*/ 207422 h 1591602"/>
                <a:gd name="connsiteX5" fmla="*/ 870270 w 870270"/>
                <a:gd name="connsiteY5" fmla="*/ 207422 h 159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0270" h="1591602">
                  <a:moveTo>
                    <a:pt x="781779" y="1431538"/>
                  </a:moveTo>
                  <a:cubicBezTo>
                    <a:pt x="692059" y="1537234"/>
                    <a:pt x="602340" y="1642931"/>
                    <a:pt x="472063" y="1564273"/>
                  </a:cubicBezTo>
                  <a:cubicBezTo>
                    <a:pt x="341786" y="1485615"/>
                    <a:pt x="-7259" y="1215228"/>
                    <a:pt x="115" y="959589"/>
                  </a:cubicBezTo>
                  <a:cubicBezTo>
                    <a:pt x="7489" y="703950"/>
                    <a:pt x="371282" y="155802"/>
                    <a:pt x="516308" y="30441"/>
                  </a:cubicBezTo>
                  <a:cubicBezTo>
                    <a:pt x="661334" y="-94920"/>
                    <a:pt x="870270" y="207422"/>
                    <a:pt x="870270" y="207422"/>
                  </a:cubicBezTo>
                  <a:lnTo>
                    <a:pt x="870270" y="207422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Content Placeholder 6"/>
          <p:cNvSpPr txBox="1">
            <a:spLocks/>
          </p:cNvSpPr>
          <p:nvPr/>
        </p:nvSpPr>
        <p:spPr>
          <a:xfrm>
            <a:off x="925286" y="830120"/>
            <a:ext cx="2804886" cy="538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dirty="0">
                <a:solidFill>
                  <a:srgbClr val="FF0000"/>
                </a:solidFill>
                <a:latin typeface="Constantia" panose="02030602050306030303" pitchFamily="18" charset="0"/>
              </a:rPr>
              <a:t>Quick Sort(C)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84866" y="1362597"/>
            <a:ext cx="4748106" cy="4732028"/>
            <a:chOff x="113894" y="1594826"/>
            <a:chExt cx="4748106" cy="4732028"/>
          </a:xfrm>
        </p:grpSpPr>
        <p:pic>
          <p:nvPicPr>
            <p:cNvPr id="47" name="Picture 46" descr="Screen Clippi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06"/>
            <a:stretch/>
          </p:blipFill>
          <p:spPr>
            <a:xfrm>
              <a:off x="113894" y="1594826"/>
              <a:ext cx="4748106" cy="4732028"/>
            </a:xfrm>
            <a:prstGeom prst="rect">
              <a:avLst/>
            </a:prstGeom>
            <a:ln w="28575">
              <a:solidFill>
                <a:schemeClr val="accent4">
                  <a:lumMod val="60000"/>
                  <a:lumOff val="40000"/>
                </a:schemeClr>
              </a:solidFill>
              <a:prstDash val="dash"/>
            </a:ln>
          </p:spPr>
        </p:pic>
        <p:sp>
          <p:nvSpPr>
            <p:cNvPr id="48" name="Rectangle 47"/>
            <p:cNvSpPr/>
            <p:nvPr/>
          </p:nvSpPr>
          <p:spPr>
            <a:xfrm>
              <a:off x="4310742" y="5228303"/>
              <a:ext cx="551257" cy="243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658797" y="4715886"/>
              <a:ext cx="203202" cy="233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4978401" y="1343049"/>
            <a:ext cx="7184571" cy="5260951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8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Semantic-Preserving Transformations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</a:rPr>
              <a:t>Improve code preserving its semantics</a:t>
            </a:r>
          </a:p>
          <a:p>
            <a:endParaRPr lang="en-US" sz="1000" dirty="0">
              <a:latin typeface="Constantia" panose="02030602050306030303" pitchFamily="18" charset="0"/>
            </a:endParaRPr>
          </a:p>
          <a:p>
            <a:r>
              <a:rPr lang="en-US" dirty="0">
                <a:latin typeface="Constantia" panose="02030602050306030303" pitchFamily="18" charset="0"/>
              </a:rPr>
              <a:t>Common Examples: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800" dirty="0">
              <a:latin typeface="Constantia" panose="02030602050306030303" pitchFamily="18" charset="0"/>
            </a:endParaRPr>
          </a:p>
          <a:p>
            <a:pPr lvl="1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</a:rPr>
              <a:t>Common subexpression elimination</a:t>
            </a:r>
            <a:endParaRPr lang="en-US" sz="800" dirty="0">
              <a:solidFill>
                <a:srgbClr val="0070C0"/>
              </a:solidFill>
              <a:latin typeface="Constantia" panose="02030602050306030303" pitchFamily="18" charset="0"/>
            </a:endParaRPr>
          </a:p>
          <a:p>
            <a:pPr lvl="1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tantia" panose="02030602050306030303" pitchFamily="18" charset="0"/>
              </a:rPr>
              <a:t>Copy propagation</a:t>
            </a:r>
          </a:p>
          <a:p>
            <a:pPr lvl="1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</a:rPr>
              <a:t>Constant folding</a:t>
            </a:r>
          </a:p>
          <a:p>
            <a:pPr lvl="1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tantia" panose="02030602050306030303" pitchFamily="18" charset="0"/>
              </a:rPr>
              <a:t>Dead-code elimination</a:t>
            </a:r>
          </a:p>
          <a:p>
            <a:pPr lvl="1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</a:rPr>
              <a:t>Code motion</a:t>
            </a:r>
          </a:p>
          <a:p>
            <a:pPr lvl="1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tantia" panose="02030602050306030303" pitchFamily="18" charset="0"/>
              </a:rPr>
              <a:t>Induction variables and reduction in strength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800" dirty="0">
              <a:latin typeface="Constantia" panose="0203060205030603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0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Common-</a:t>
            </a:r>
            <a:r>
              <a:rPr lang="en-US" sz="5000" dirty="0" err="1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Subexpression</a:t>
            </a:r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 Elimination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762880"/>
          </a:xfrm>
        </p:spPr>
        <p:txBody>
          <a:bodyPr/>
          <a:lstStyle/>
          <a:p>
            <a:pPr>
              <a:spcBef>
                <a:spcPts val="800"/>
              </a:spcBef>
              <a:buFont typeface="Times New Roman" panose="02020603050405020304" pitchFamily="18" charset="0"/>
              <a:buChar char="•"/>
            </a:pPr>
            <a:r>
              <a:rPr lang="en-US" altLang="en-US" sz="2800" i="1" dirty="0">
                <a:solidFill>
                  <a:srgbClr val="FF0000"/>
                </a:solidFill>
                <a:latin typeface="Constantia" panose="02030602050306030303" pitchFamily="18" charset="0"/>
              </a:rPr>
              <a:t>Local Common Subexpressions Elimination</a:t>
            </a:r>
            <a:endParaRPr lang="en-US" altLang="en-US" sz="2800" baseline="-25000" dirty="0">
              <a:solidFill>
                <a:srgbClr val="000000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807111" y="2335165"/>
            <a:ext cx="2759094" cy="3164820"/>
            <a:chOff x="2807111" y="2335165"/>
            <a:chExt cx="2759094" cy="3164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807111" y="2335165"/>
                  <a:ext cx="2064774" cy="258532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6]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en-US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9=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7]=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goto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0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7111" y="2335165"/>
                  <a:ext cx="2064774" cy="2585323"/>
                </a:xfrm>
                <a:prstGeom prst="rect">
                  <a:avLst/>
                </a:prstGeom>
                <a:blipFill>
                  <a:blip r:embed="rId2"/>
                  <a:stretch>
                    <a:fillRect b="-70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5088190" y="2585888"/>
                  <a:ext cx="478015" cy="3629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US" b="1" baseline="-25000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8190" y="2585888"/>
                  <a:ext cx="478015" cy="362984"/>
                </a:xfrm>
                <a:prstGeom prst="rect">
                  <a:avLst/>
                </a:prstGeom>
                <a:blipFill>
                  <a:blip r:embed="rId5" cstate="print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3383575" y="5099875"/>
              <a:ext cx="8725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Before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153400" y="2305670"/>
            <a:ext cx="2759094" cy="3194315"/>
            <a:chOff x="6779349" y="2281089"/>
            <a:chExt cx="2759094" cy="31943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779349" y="2281089"/>
                  <a:ext cx="2064774" cy="203132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6]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=4∗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en-US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9=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6]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8]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goto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0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9349" y="2281089"/>
                  <a:ext cx="2064774" cy="2031325"/>
                </a:xfrm>
                <a:prstGeom prst="rect">
                  <a:avLst/>
                </a:prstGeom>
                <a:blipFill>
                  <a:blip r:embed="rId6"/>
                  <a:stretch>
                    <a:fillRect b="-11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9060428" y="2585888"/>
                  <a:ext cx="478015" cy="3629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baseline="-25000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US" b="1" baseline="-25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0428" y="2585888"/>
                  <a:ext cx="478015" cy="362984"/>
                </a:xfrm>
                <a:prstGeom prst="rect">
                  <a:avLst/>
                </a:prstGeom>
                <a:blipFill>
                  <a:blip r:embed="rId7" cstate="print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7355804" y="5075294"/>
              <a:ext cx="7141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6">
                      <a:lumMod val="75000"/>
                    </a:schemeClr>
                  </a:solidFill>
                </a:rPr>
                <a:t>After</a:t>
              </a:r>
            </a:p>
          </p:txBody>
        </p:sp>
      </p:grpSp>
      <p:sp>
        <p:nvSpPr>
          <p:cNvPr id="14" name="Right Arrow 13"/>
          <p:cNvSpPr/>
          <p:nvPr/>
        </p:nvSpPr>
        <p:spPr>
          <a:xfrm>
            <a:off x="6203425" y="3293997"/>
            <a:ext cx="949545" cy="66765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3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447062" y="2939849"/>
                <a:ext cx="2064774" cy="20313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6=4∗</m:t>
                      </m:r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6]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6]=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2031325"/>
              </a:xfrm>
              <a:prstGeom prst="rect">
                <a:avLst/>
              </a:prstGeom>
              <a:blipFill>
                <a:blip r:embed="rId6"/>
                <a:stretch>
                  <a:fillRect b="-1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/>
          <p:cNvCxnSpPr>
            <a:stCxn id="67" idx="2"/>
            <a:endCxn id="68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68" idx="2"/>
            <a:endCxn id="69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4" idx="2"/>
            <a:endCxn id="75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4" idx="2"/>
            <a:endCxn id="76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cxnSpLocks/>
          </p:cNvCxnSpPr>
          <p:nvPr/>
        </p:nvCxnSpPr>
        <p:spPr>
          <a:xfrm flipH="1">
            <a:off x="3672339" y="3220063"/>
            <a:ext cx="147484" cy="1466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75" idx="2"/>
          </p:cNvCxnSpPr>
          <p:nvPr/>
        </p:nvCxnSpPr>
        <p:spPr>
          <a:xfrm rot="5400000" flipH="1">
            <a:off x="3344939" y="1836664"/>
            <a:ext cx="1576808" cy="4692212"/>
          </a:xfrm>
          <a:prstGeom prst="bentConnector4">
            <a:avLst>
              <a:gd name="adj1" fmla="val -108513"/>
              <a:gd name="adj2" fmla="val 113263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09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8365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20313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6=4∗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2031325"/>
              </a:xfrm>
              <a:prstGeom prst="rect">
                <a:avLst/>
              </a:prstGeom>
              <a:blipFill>
                <a:blip r:embed="rId6"/>
                <a:stretch>
                  <a:fillRect b="-1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cxnSpLocks/>
          </p:cNvCxnSpPr>
          <p:nvPr/>
        </p:nvCxnSpPr>
        <p:spPr>
          <a:xfrm flipH="1">
            <a:off x="3672339" y="3220063"/>
            <a:ext cx="147484" cy="1466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430572" y="867728"/>
            <a:ext cx="5398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 and t2 do not change when block B5 starts to execute</a:t>
            </a:r>
          </a:p>
        </p:txBody>
      </p:sp>
      <p:cxnSp>
        <p:nvCxnSpPr>
          <p:cNvPr id="28" name="Shape 27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/>
          <p:nvPr/>
        </p:nvCxnSpPr>
        <p:spPr>
          <a:xfrm rot="5400000" flipH="1">
            <a:off x="3344939" y="1836664"/>
            <a:ext cx="1576808" cy="4692212"/>
          </a:xfrm>
          <a:prstGeom prst="bentConnector4">
            <a:avLst>
              <a:gd name="adj1" fmla="val -108513"/>
              <a:gd name="adj2" fmla="val 113263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72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2578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6=4∗</m:t>
                      </m:r>
                      <m:r>
                        <m:rPr>
                          <m:sty m:val="p"/>
                        </m:rP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trike="sngStrike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trike="sngStrike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trike="sngStrike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6]</m:t>
                      </m:r>
                    </m:oMath>
                  </m:oMathPara>
                </a14:m>
                <a:endParaRPr lang="en-US" strike="sngStrike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trike="sngStrike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trike="sngStrike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strike="sngStrike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trike="sngStrik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2578976"/>
              </a:xfrm>
              <a:prstGeom prst="rect">
                <a:avLst/>
              </a:prstGeom>
              <a:blipFill>
                <a:blip r:embed="rId6"/>
                <a:stretch>
                  <a:fillRect b="-9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cxnSpLocks/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62938" y="1071524"/>
            <a:ext cx="482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No need to calculate t6 and t6 is replaced with t2 </a:t>
            </a:r>
          </a:p>
        </p:txBody>
      </p:sp>
      <p:cxnSp>
        <p:nvCxnSpPr>
          <p:cNvPr id="28" name="Shape 27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0683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8576C4-95DF-2353-B473-4E287516FF84}"/>
              </a:ext>
            </a:extLst>
          </p:cNvPr>
          <p:cNvGrpSpPr/>
          <p:nvPr/>
        </p:nvGrpSpPr>
        <p:grpSpPr>
          <a:xfrm>
            <a:off x="1224366" y="3429000"/>
            <a:ext cx="5191689" cy="3292475"/>
            <a:chOff x="1224366" y="3429000"/>
            <a:chExt cx="5191689" cy="3292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BCA381C-8B80-B7F3-1E08-77DA3F5AED14}"/>
                </a:ext>
              </a:extLst>
            </p:cNvPr>
            <p:cNvCxnSpPr>
              <a:cxnSpLocks/>
            </p:cNvCxnSpPr>
            <p:nvPr/>
          </p:nvCxnSpPr>
          <p:spPr>
            <a:xfrm>
              <a:off x="6391272" y="5518825"/>
              <a:ext cx="0" cy="12026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56B56C-93D7-0BF2-A978-E2C29834FB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4366" y="6702036"/>
              <a:ext cx="51916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8A2C1F1-D978-045B-98DD-91923CF2FD7F}"/>
                </a:ext>
              </a:extLst>
            </p:cNvPr>
            <p:cNvCxnSpPr>
              <a:cxnSpLocks/>
            </p:cNvCxnSpPr>
            <p:nvPr/>
          </p:nvCxnSpPr>
          <p:spPr>
            <a:xfrm>
              <a:off x="1227754" y="3429000"/>
              <a:ext cx="0" cy="32614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A63D5DA-1518-96B6-1475-0480FB23642F}"/>
                </a:ext>
              </a:extLst>
            </p:cNvPr>
            <p:cNvCxnSpPr/>
            <p:nvPr/>
          </p:nvCxnSpPr>
          <p:spPr>
            <a:xfrm>
              <a:off x="1224366" y="3429000"/>
              <a:ext cx="5601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810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754326"/>
              </a:xfrm>
              <a:prstGeom prst="rect">
                <a:avLst/>
              </a:prstGeom>
              <a:blipFill>
                <a:blip r:embed="rId6"/>
                <a:stretch>
                  <a:fillRect b="-13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483438" y="1698165"/>
            <a:ext cx="1299809" cy="4692212"/>
          </a:xfrm>
          <a:prstGeom prst="bentConnector4">
            <a:avLst>
              <a:gd name="adj1" fmla="val -150824"/>
              <a:gd name="adj2" fmla="val 113559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53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20249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trike="sngStrike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strike="sngStrike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2024978"/>
              </a:xfrm>
              <a:prstGeom prst="rect">
                <a:avLst/>
              </a:prstGeom>
              <a:blipFill>
                <a:blip r:embed="rId6"/>
                <a:stretch>
                  <a:fillRect b="-14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A255D1-4D9A-EBDC-A169-4705EA2DF12B}"/>
              </a:ext>
            </a:extLst>
          </p:cNvPr>
          <p:cNvGrpSpPr/>
          <p:nvPr/>
        </p:nvGrpSpPr>
        <p:grpSpPr>
          <a:xfrm>
            <a:off x="1224366" y="3429000"/>
            <a:ext cx="5197902" cy="3292475"/>
            <a:chOff x="1224366" y="3429000"/>
            <a:chExt cx="5197902" cy="329247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7EDC382-BC0C-D42B-16AB-B658E1759046}"/>
                </a:ext>
              </a:extLst>
            </p:cNvPr>
            <p:cNvCxnSpPr>
              <a:cxnSpLocks/>
            </p:cNvCxnSpPr>
            <p:nvPr/>
          </p:nvCxnSpPr>
          <p:spPr>
            <a:xfrm>
              <a:off x="6416055" y="5009532"/>
              <a:ext cx="6213" cy="1711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18FDF42-5731-03B7-1070-3946DD657A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4366" y="6717534"/>
              <a:ext cx="51916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F4B9577-4D26-E863-8D48-13E233DDE53E}"/>
                </a:ext>
              </a:extLst>
            </p:cNvPr>
            <p:cNvCxnSpPr>
              <a:cxnSpLocks/>
            </p:cNvCxnSpPr>
            <p:nvPr/>
          </p:nvCxnSpPr>
          <p:spPr>
            <a:xfrm>
              <a:off x="1227754" y="3444498"/>
              <a:ext cx="0" cy="32614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FCA2CB-3B62-FF0C-1258-EDD526000DAC}"/>
                </a:ext>
              </a:extLst>
            </p:cNvPr>
            <p:cNvCxnSpPr/>
            <p:nvPr/>
          </p:nvCxnSpPr>
          <p:spPr>
            <a:xfrm>
              <a:off x="1224366" y="3429000"/>
              <a:ext cx="5601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4072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754326"/>
              </a:xfrm>
              <a:prstGeom prst="rect">
                <a:avLst/>
              </a:prstGeom>
              <a:blipFill>
                <a:blip r:embed="rId6"/>
                <a:stretch>
                  <a:fillRect b="-13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483438" y="1698165"/>
            <a:ext cx="1299809" cy="4692212"/>
          </a:xfrm>
          <a:prstGeom prst="bentConnector4">
            <a:avLst>
              <a:gd name="adj1" fmla="val -156153"/>
              <a:gd name="adj2" fmla="val 11474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5EAF6-E045-A1B9-936E-E4285AE85462}"/>
              </a:ext>
            </a:extLst>
          </p:cNvPr>
          <p:cNvSpPr txBox="1"/>
          <p:nvPr/>
        </p:nvSpPr>
        <p:spPr>
          <a:xfrm>
            <a:off x="4229094" y="898724"/>
            <a:ext cx="527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j and t4 do not change when block B5 starts to execute</a:t>
            </a:r>
          </a:p>
        </p:txBody>
      </p:sp>
    </p:spTree>
    <p:extLst>
      <p:ext uri="{BB962C8B-B14F-4D97-AF65-F5344CB8AC3E}">
        <p14:creationId xmlns:p14="http://schemas.microsoft.com/office/powerpoint/2010/main" val="1156629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23019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8=4∗</m:t>
                      </m:r>
                      <m:r>
                        <m:rPr>
                          <m:sty m:val="p"/>
                        </m:rP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9=</m:t>
                      </m:r>
                      <m:r>
                        <m:rPr>
                          <m:sty m:val="p"/>
                        </m:rP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b="0" i="0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trike="sngStrike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trike="sngStrik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8]=</m:t>
                      </m:r>
                      <m:r>
                        <m:rPr>
                          <m:sty m:val="p"/>
                        </m:rPr>
                        <a:rPr lang="en-US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trike="sngStrik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2301977"/>
              </a:xfrm>
              <a:prstGeom prst="rect">
                <a:avLst/>
              </a:prstGeom>
              <a:blipFill>
                <a:blip r:embed="rId6"/>
                <a:stretch>
                  <a:fillRect b="-10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>
                <a:blip r:embed="rId7" cstate="print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0D82E-0DB4-D9E9-0275-C3FF803D81CA}"/>
              </a:ext>
            </a:extLst>
          </p:cNvPr>
          <p:cNvSpPr txBox="1"/>
          <p:nvPr/>
        </p:nvSpPr>
        <p:spPr>
          <a:xfrm>
            <a:off x="4754452" y="916541"/>
            <a:ext cx="482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i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No need to calculate t8 and t8 is replaced with t4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152BD6-24E2-5AB1-C168-E9A0A8DB39A5}"/>
              </a:ext>
            </a:extLst>
          </p:cNvPr>
          <p:cNvGrpSpPr/>
          <p:nvPr/>
        </p:nvGrpSpPr>
        <p:grpSpPr>
          <a:xfrm>
            <a:off x="1224366" y="3429000"/>
            <a:ext cx="5197902" cy="3292475"/>
            <a:chOff x="1224366" y="3429000"/>
            <a:chExt cx="5197902" cy="329247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6431CA5-F7FA-807C-48F9-623333C78477}"/>
                </a:ext>
              </a:extLst>
            </p:cNvPr>
            <p:cNvCxnSpPr>
              <a:cxnSpLocks/>
            </p:cNvCxnSpPr>
            <p:nvPr/>
          </p:nvCxnSpPr>
          <p:spPr>
            <a:xfrm>
              <a:off x="6422268" y="5241826"/>
              <a:ext cx="0" cy="1479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A98597-87F5-AD68-CC60-E58EA72779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4366" y="6717534"/>
              <a:ext cx="51916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5781C7-A271-6B9E-FCA9-D7846C605B4A}"/>
                </a:ext>
              </a:extLst>
            </p:cNvPr>
            <p:cNvCxnSpPr>
              <a:cxnSpLocks/>
            </p:cNvCxnSpPr>
            <p:nvPr/>
          </p:nvCxnSpPr>
          <p:spPr>
            <a:xfrm>
              <a:off x="1227754" y="3444498"/>
              <a:ext cx="0" cy="32614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8169CAE-79D8-96A5-575D-56F6A5D64C49}"/>
                </a:ext>
              </a:extLst>
            </p:cNvPr>
            <p:cNvCxnSpPr/>
            <p:nvPr/>
          </p:nvCxnSpPr>
          <p:spPr>
            <a:xfrm>
              <a:off x="1224366" y="3429000"/>
              <a:ext cx="56017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1322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 rotWithShape="0">
                <a:blip r:embed="rId2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 rotWithShape="0">
                <a:blip r:embed="rId3"/>
                <a:stretch>
                  <a:fillRect b="-25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 rotWithShape="0">
                <a:blip r:embed="rId4"/>
                <a:stretch>
                  <a:fillRect b="-25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blipFill>
                <a:blip r:embed="rId6"/>
                <a:stretch>
                  <a:fillRect b="-25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11]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13]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754326"/>
              </a:xfrm>
              <a:prstGeom prst="rect">
                <a:avLst/>
              </a:prstGeom>
              <a:blipFill rotWithShape="0">
                <a:blip r:embed="rId7"/>
                <a:stretch>
                  <a:fillRect b="-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760437" y="1421166"/>
            <a:ext cx="745812" cy="4692212"/>
          </a:xfrm>
          <a:prstGeom prst="bentConnector4">
            <a:avLst>
              <a:gd name="adj1" fmla="val -339020"/>
              <a:gd name="adj2" fmla="val 1123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4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blipFill>
                <a:blip r:embed="rId6"/>
                <a:stretch>
                  <a:fillRect b="-25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blipFill>
                <a:blip r:embed="rId7" cstate="print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/>
          <p:nvPr/>
        </p:nvCxnSpPr>
        <p:spPr>
          <a:xfrm rot="5400000" flipH="1">
            <a:off x="3760437" y="1421166"/>
            <a:ext cx="745812" cy="4692212"/>
          </a:xfrm>
          <a:prstGeom prst="bentConnector4">
            <a:avLst>
              <a:gd name="adj1" fmla="val -339020"/>
              <a:gd name="adj2" fmla="val 1123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75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Global Common Subexpressions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 rotWithShape="0">
                <a:blip r:embed="rId2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blipFill>
                <a:blip r:embed="rId6"/>
                <a:stretch>
                  <a:fillRect b="-25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blipFill rotWithShape="0">
                <a:blip r:embed="rId7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/>
          <p:nvPr/>
        </p:nvCxnSpPr>
        <p:spPr>
          <a:xfrm rot="5400000" flipH="1">
            <a:off x="3760437" y="1421166"/>
            <a:ext cx="745812" cy="4692212"/>
          </a:xfrm>
          <a:prstGeom prst="bentConnector4">
            <a:avLst>
              <a:gd name="adj1" fmla="val -339020"/>
              <a:gd name="adj2" fmla="val 1123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081150" y="2312939"/>
            <a:ext cx="300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Can v be substituted for a[t1]?</a:t>
            </a:r>
          </a:p>
        </p:txBody>
      </p:sp>
    </p:spTree>
    <p:extLst>
      <p:ext uri="{BB962C8B-B14F-4D97-AF65-F5344CB8AC3E}">
        <p14:creationId xmlns:p14="http://schemas.microsoft.com/office/powerpoint/2010/main" val="96757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Copy Propagation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0" b="25423"/>
          <a:stretch/>
        </p:blipFill>
        <p:spPr>
          <a:xfrm>
            <a:off x="1892231" y="2127924"/>
            <a:ext cx="3289370" cy="1789539"/>
          </a:xfrm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Content Placeholder 6"/>
          <p:cNvSpPr txBox="1">
            <a:spLocks/>
          </p:cNvSpPr>
          <p:nvPr/>
        </p:nvSpPr>
        <p:spPr>
          <a:xfrm>
            <a:off x="838200" y="1246910"/>
            <a:ext cx="10515600" cy="71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nstantia" panose="02030602050306030303" pitchFamily="18" charset="0"/>
              </a:rPr>
              <a:t>Copies are introduced during common subexpression elimination</a:t>
            </a:r>
          </a:p>
        </p:txBody>
      </p:sp>
      <p:pic>
        <p:nvPicPr>
          <p:cNvPr id="8" name="Content Placeholder 5" descr="Screen Clippi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02" r="4031" b="25423"/>
          <a:stretch/>
        </p:blipFill>
        <p:spPr>
          <a:xfrm>
            <a:off x="7809264" y="2102861"/>
            <a:ext cx="3135086" cy="1789539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</p:pic>
      <p:sp>
        <p:nvSpPr>
          <p:cNvPr id="9" name="Right Arrow 8"/>
          <p:cNvSpPr/>
          <p:nvPr/>
        </p:nvSpPr>
        <p:spPr>
          <a:xfrm>
            <a:off x="6096000" y="2688864"/>
            <a:ext cx="949545" cy="66765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6"/>
          <p:cNvSpPr txBox="1">
            <a:spLocks/>
          </p:cNvSpPr>
          <p:nvPr/>
        </p:nvSpPr>
        <p:spPr>
          <a:xfrm>
            <a:off x="838200" y="4436183"/>
            <a:ext cx="10515600" cy="1207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nstantia" panose="02030602050306030303" pitchFamily="18" charset="0"/>
              </a:rPr>
              <a:t>The idea behind </a:t>
            </a:r>
            <a:r>
              <a:rPr lang="en-US" dirty="0">
                <a:solidFill>
                  <a:srgbClr val="FF0000"/>
                </a:solidFill>
                <a:latin typeface="Constantia" panose="02030602050306030303" pitchFamily="18" charset="0"/>
              </a:rPr>
              <a:t>copy-propagation</a:t>
            </a:r>
            <a:r>
              <a:rPr lang="en-US" dirty="0">
                <a:latin typeface="Constantia" panose="02030602050306030303" pitchFamily="18" charset="0"/>
              </a:rPr>
              <a:t> transformation is to use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</a:rPr>
              <a:t>t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</a:rPr>
              <a:t> for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</a:rPr>
              <a:t>c</a:t>
            </a:r>
            <a:r>
              <a:rPr lang="en-US" i="1" dirty="0">
                <a:latin typeface="Constantia" panose="02030602050306030303" pitchFamily="18" charset="0"/>
              </a:rPr>
              <a:t> </a:t>
            </a:r>
            <a:r>
              <a:rPr lang="en-US" dirty="0">
                <a:latin typeface="Constantia" panose="02030602050306030303" pitchFamily="18" charset="0"/>
              </a:rPr>
              <a:t>whenever possible after the copy statement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</a:rPr>
              <a:t>c=t</a:t>
            </a:r>
          </a:p>
        </p:txBody>
      </p:sp>
    </p:spTree>
    <p:extLst>
      <p:ext uri="{BB962C8B-B14F-4D97-AF65-F5344CB8AC3E}">
        <p14:creationId xmlns:p14="http://schemas.microsoft.com/office/powerpoint/2010/main" val="361543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Copy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blipFill rotWithShape="0">
                <a:blip r:embed="rId6"/>
                <a:stretch>
                  <a:fillRect b="-30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blipFill rotWithShape="0">
                <a:blip r:embed="rId7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/>
          <p:nvPr/>
        </p:nvCxnSpPr>
        <p:spPr>
          <a:xfrm rot="5400000" flipH="1">
            <a:off x="3760437" y="1421166"/>
            <a:ext cx="745812" cy="4692212"/>
          </a:xfrm>
          <a:prstGeom prst="bentConnector4">
            <a:avLst>
              <a:gd name="adj1" fmla="val -339020"/>
              <a:gd name="adj2" fmla="val 1123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62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Copy Propagation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blipFill rotWithShape="0">
                <a:blip r:embed="rId6"/>
                <a:stretch>
                  <a:fillRect b="-30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blipFill rotWithShape="0">
                <a:blip r:embed="rId7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hape 29"/>
          <p:cNvCxnSpPr/>
          <p:nvPr/>
        </p:nvCxnSpPr>
        <p:spPr>
          <a:xfrm rot="5400000" flipH="1">
            <a:off x="3760437" y="1421166"/>
            <a:ext cx="745812" cy="4692212"/>
          </a:xfrm>
          <a:prstGeom prst="bentConnector4">
            <a:avLst>
              <a:gd name="adj1" fmla="val -339020"/>
              <a:gd name="adj2" fmla="val 1123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75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Dead Code Elimination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03367"/>
            <a:ext cx="10515600" cy="3063950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US" i="1" dirty="0">
                <a:solidFill>
                  <a:srgbClr val="FF0000"/>
                </a:solidFill>
                <a:latin typeface="Constantia" panose="02030602050306030303" pitchFamily="18" charset="0"/>
              </a:rPr>
              <a:t>Dead Code</a:t>
            </a:r>
            <a:r>
              <a:rPr lang="en-US" dirty="0">
                <a:latin typeface="Constantia" panose="02030602050306030303" pitchFamily="18" charset="0"/>
              </a:rPr>
              <a:t>: Statements that computes values that never get used</a:t>
            </a:r>
          </a:p>
          <a:p>
            <a:pPr>
              <a:lnSpc>
                <a:spcPct val="114000"/>
              </a:lnSpc>
            </a:pPr>
            <a:r>
              <a:rPr lang="en-US" dirty="0">
                <a:latin typeface="Constantia" panose="02030602050306030303" pitchFamily="18" charset="0"/>
                <a:cs typeface="Consolas" panose="020B0609020204030204" pitchFamily="49" charset="0"/>
              </a:rPr>
              <a:t>May result from various transformations, such as-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3">
              <a:lnSpc>
                <a:spcPct val="114000"/>
              </a:lnSpc>
            </a:pPr>
            <a:r>
              <a:rPr lang="en-US" sz="2600" dirty="0">
                <a:solidFill>
                  <a:srgbClr val="0070C0"/>
                </a:solidFill>
                <a:latin typeface="Constantia" panose="02030602050306030303" pitchFamily="18" charset="0"/>
                <a:cs typeface="Consolas" panose="020B0609020204030204" pitchFamily="49" charset="0"/>
              </a:rPr>
              <a:t>Constant folding</a:t>
            </a:r>
            <a:r>
              <a:rPr lang="en-US" sz="2600" dirty="0">
                <a:latin typeface="Constantia" panose="02030602050306030303" pitchFamily="18" charset="0"/>
                <a:cs typeface="Consolas" panose="020B0609020204030204" pitchFamily="49" charset="0"/>
              </a:rPr>
              <a:t>:  d</a:t>
            </a:r>
            <a:r>
              <a:rPr lang="en-US" sz="2600" dirty="0">
                <a:latin typeface="Constantia" panose="02030602050306030303" pitchFamily="18" charset="0"/>
              </a:rPr>
              <a:t>educing at compile time that the value of an expression is a constant and using the constant instead</a:t>
            </a:r>
          </a:p>
          <a:p>
            <a:pPr lvl="3">
              <a:lnSpc>
                <a:spcPct val="114000"/>
              </a:lnSpc>
            </a:pPr>
            <a:r>
              <a:rPr lang="en-US" sz="2600" dirty="0">
                <a:solidFill>
                  <a:srgbClr val="00B050"/>
                </a:solidFill>
                <a:latin typeface="Constantia" panose="02030602050306030303" pitchFamily="18" charset="0"/>
              </a:rPr>
              <a:t>Copy propagation</a:t>
            </a:r>
            <a:r>
              <a:rPr lang="en-US" sz="2600" dirty="0">
                <a:latin typeface="Constantia" panose="02030602050306030303" pitchFamily="18" charset="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dirty="0">
                <a:latin typeface="Constantia" panose="02030602050306030303" pitchFamily="18" charset="0"/>
                <a:cs typeface="Consolas" panose="020B0609020204030204" pitchFamily="49" charset="0"/>
              </a:rP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68714" y="4714342"/>
            <a:ext cx="3062514" cy="132343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debug = false</a:t>
            </a:r>
          </a:p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 … … …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if(debug) print…;</a:t>
            </a:r>
          </a:p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 … …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7630" y="4728854"/>
            <a:ext cx="3062514" cy="132343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debug = false</a:t>
            </a:r>
          </a:p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 … … …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if(false) print…;</a:t>
            </a:r>
          </a:p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 … … …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510315" y="4202115"/>
            <a:ext cx="3439885" cy="1314401"/>
            <a:chOff x="4187371" y="4247083"/>
            <a:chExt cx="3439885" cy="1314401"/>
          </a:xfrm>
        </p:grpSpPr>
        <p:sp>
          <p:nvSpPr>
            <p:cNvPr id="8" name="TextBox 7"/>
            <p:cNvSpPr txBox="1"/>
            <p:nvPr/>
          </p:nvSpPr>
          <p:spPr>
            <a:xfrm>
              <a:off x="4187371" y="4247083"/>
              <a:ext cx="3439885" cy="707886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2000" i="1" dirty="0">
                  <a:solidFill>
                    <a:srgbClr val="0070C0"/>
                  </a:solidFill>
                  <a:latin typeface="Constantia" panose="02030602050306030303" pitchFamily="18" charset="0"/>
                  <a:cs typeface="Consolas" panose="020B0609020204030204" pitchFamily="49" charset="0"/>
                </a:rPr>
                <a:t>constant folding</a:t>
              </a:r>
            </a:p>
            <a:p>
              <a:pPr lvl="1"/>
              <a:r>
                <a:rPr lang="en-US" sz="2000" i="1" dirty="0">
                  <a:solidFill>
                    <a:srgbClr val="0070C0"/>
                  </a:solidFill>
                  <a:latin typeface="Constantia" panose="02030602050306030303" pitchFamily="18" charset="0"/>
                  <a:cs typeface="Consolas" panose="020B0609020204030204" pitchFamily="49" charset="0"/>
                </a:rPr>
                <a:t>replaces debug with false</a:t>
              </a:r>
              <a:endParaRPr lang="en-US" sz="2000" i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468256" y="5053652"/>
              <a:ext cx="1255486" cy="507832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884888" y="4736114"/>
            <a:ext cx="3062514" cy="132343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debug = false</a:t>
            </a:r>
          </a:p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 … … …</a:t>
            </a:r>
          </a:p>
          <a:p>
            <a:pPr lvl="1"/>
            <a:r>
              <a:rPr lang="en-US" sz="2000" strike="sngStrike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if(false) print…;</a:t>
            </a:r>
          </a:p>
          <a:p>
            <a:pPr lvl="1"/>
            <a:r>
              <a:rPr lang="en-US" sz="2000" dirty="0">
                <a:latin typeface="Constantia" panose="02030602050306030303" pitchFamily="18" charset="0"/>
                <a:cs typeface="Consolas" panose="020B0609020204030204" pitchFamily="49" charset="0"/>
              </a:rPr>
              <a:t> … … …</a:t>
            </a:r>
          </a:p>
        </p:txBody>
      </p:sp>
    </p:spTree>
    <p:extLst>
      <p:ext uri="{BB962C8B-B14F-4D97-AF65-F5344CB8AC3E}">
        <p14:creationId xmlns:p14="http://schemas.microsoft.com/office/powerpoint/2010/main" val="285771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9" grpId="1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Dead Code Elimination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1200329"/>
              </a:xfrm>
              <a:prstGeom prst="rect">
                <a:avLst/>
              </a:prstGeom>
              <a:blipFill rotWithShape="0">
                <a:blip r:embed="rId6"/>
                <a:stretch>
                  <a:fillRect b="-301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1200329"/>
              </a:xfrm>
              <a:prstGeom prst="rect">
                <a:avLst/>
              </a:prstGeom>
              <a:blipFill rotWithShape="0">
                <a:blip r:embed="rId7"/>
                <a:stretch>
                  <a:fillRect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hape 29"/>
          <p:cNvCxnSpPr/>
          <p:nvPr/>
        </p:nvCxnSpPr>
        <p:spPr>
          <a:xfrm rot="5400000" flipH="1">
            <a:off x="3760437" y="1421166"/>
            <a:ext cx="745812" cy="4692212"/>
          </a:xfrm>
          <a:prstGeom prst="bentConnector4">
            <a:avLst>
              <a:gd name="adj1" fmla="val -339020"/>
              <a:gd name="adj2" fmla="val 1123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76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Dead Code Elimination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7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>
            <a:stCxn id="42" idx="2"/>
          </p:cNvCxnSpPr>
          <p:nvPr/>
        </p:nvCxnSpPr>
        <p:spPr>
          <a:xfrm rot="5400000" flipH="1">
            <a:off x="3902110" y="1279493"/>
            <a:ext cx="462465" cy="4692212"/>
          </a:xfrm>
          <a:prstGeom prst="bentConnector4">
            <a:avLst>
              <a:gd name="adj1" fmla="val -626908"/>
              <a:gd name="adj2" fmla="val 111731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75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Code Motion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076269"/>
            <a:ext cx="10515600" cy="32489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onstantia" panose="02030602050306030303" pitchFamily="18" charset="0"/>
                <a:cs typeface="Courier New" panose="02070309020205020404" pitchFamily="49" charset="0"/>
              </a:rPr>
              <a:t>Reducing the amount of code in a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cs typeface="Courier New" panose="02070309020205020404" pitchFamily="49" charset="0"/>
              </a:rPr>
              <a:t>loop</a:t>
            </a:r>
            <a:r>
              <a:rPr lang="en-US" dirty="0">
                <a:latin typeface="Constantia" panose="02030602050306030303" pitchFamily="18" charset="0"/>
                <a:cs typeface="Courier New" panose="02070309020205020404" pitchFamily="49" charset="0"/>
              </a:rPr>
              <a:t> may improve running time of a program significantly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tantia" panose="02030602050306030303" pitchFamily="18" charset="0"/>
                <a:cs typeface="Courier New" panose="02070309020205020404" pitchFamily="49" charset="0"/>
              </a:rPr>
              <a:t>Specially inner loops</a:t>
            </a:r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rgbClr val="FF0000"/>
                </a:solidFill>
                <a:latin typeface="Constantia" panose="02030602050306030303" pitchFamily="18" charset="0"/>
                <a:cs typeface="Courier New" panose="02070309020205020404" pitchFamily="49" charset="0"/>
              </a:rPr>
              <a:t>Code Motion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tantia" panose="02030602050306030303" pitchFamily="18" charset="0"/>
                <a:cs typeface="Courier New" panose="02070309020205020404" pitchFamily="49" charset="0"/>
              </a:rPr>
              <a:t>Moves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cs typeface="Courier New" panose="02070309020205020404" pitchFamily="49" charset="0"/>
              </a:rPr>
              <a:t>loop-invariant computations</a:t>
            </a:r>
            <a:r>
              <a:rPr lang="en-US" dirty="0">
                <a:latin typeface="Constantia" panose="02030602050306030303" pitchFamily="18" charset="0"/>
                <a:cs typeface="Courier New" panose="02070309020205020404" pitchFamily="49" charset="0"/>
              </a:rPr>
              <a:t> out the loop and evaluates before the loop.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onstantia" panose="02030602050306030303" pitchFamily="18" charset="0"/>
                <a:cs typeface="Consolas" panose="020B0609020204030204" pitchFamily="49" charset="0"/>
              </a:rPr>
              <a:t>Example:</a:t>
            </a:r>
            <a:endParaRPr lang="en-US" sz="2400" dirty="0">
              <a:solidFill>
                <a:srgbClr val="0070C0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562" y="3874741"/>
            <a:ext cx="7840744" cy="570456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742" y="5149532"/>
            <a:ext cx="7778816" cy="737329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</p:pic>
      <p:sp>
        <p:nvSpPr>
          <p:cNvPr id="14" name="Arrow: Down 13"/>
          <p:cNvSpPr/>
          <p:nvPr/>
        </p:nvSpPr>
        <p:spPr>
          <a:xfrm>
            <a:off x="6609853" y="4607726"/>
            <a:ext cx="398206" cy="469541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0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6909"/>
                <a:ext cx="10515600" cy="4930054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solidFill>
                      <a:srgbClr val="0070C0"/>
                    </a:solidFill>
                    <a:latin typeface="Constantia" panose="02030602050306030303" pitchFamily="18" charset="0"/>
                    <a:cs typeface="Times New Roman" panose="02020603050405020304" pitchFamily="18" charset="0"/>
                  </a:rPr>
                  <a:t>Induction Variables</a:t>
                </a:r>
              </a:p>
              <a:p>
                <a:endParaRPr lang="en-US" altLang="en-US" sz="600" dirty="0">
                  <a:latin typeface="Constantia" panose="02030602050306030303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>
                    <a:latin typeface="Constantia" panose="02030602050306030303" pitchFamily="18" charset="0"/>
                    <a:cs typeface="Times New Roman" panose="02020603050405020304" pitchFamily="18" charset="0"/>
                  </a:rPr>
                  <a:t>A variable which is increased by a constant(+</a:t>
                </a:r>
                <a:r>
                  <a:rPr lang="en-US" altLang="en-US" dirty="0" err="1">
                    <a:latin typeface="Constantia" panose="02030602050306030303" pitchFamily="18" charset="0"/>
                    <a:cs typeface="Times New Roman" panose="02020603050405020304" pitchFamily="18" charset="0"/>
                  </a:rPr>
                  <a:t>ve</a:t>
                </a:r>
                <a:r>
                  <a:rPr lang="en-US" altLang="en-US" dirty="0">
                    <a:latin typeface="Constantia" panose="02030602050306030303" pitchFamily="18" charset="0"/>
                    <a:cs typeface="Times New Roman" panose="02020603050405020304" pitchFamily="18" charset="0"/>
                  </a:rPr>
                  <a:t> or –</a:t>
                </a:r>
                <a:r>
                  <a:rPr lang="en-US" altLang="en-US" dirty="0" err="1">
                    <a:latin typeface="Constantia" panose="02030602050306030303" pitchFamily="18" charset="0"/>
                    <a:cs typeface="Times New Roman" panose="02020603050405020304" pitchFamily="18" charset="0"/>
                  </a:rPr>
                  <a:t>ve</a:t>
                </a:r>
                <a:r>
                  <a:rPr lang="en-US" altLang="en-US" dirty="0">
                    <a:latin typeface="Constantia" panose="02030602050306030303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en-US" dirty="0">
                    <a:latin typeface="Constantia" panose="02030602050306030303" pitchFamily="18" charset="0"/>
                    <a:cs typeface="Times New Roman" panose="02020603050405020304" pitchFamily="18" charset="0"/>
                  </a:rPr>
                  <a:t> every time the variable is assigned</a:t>
                </a:r>
              </a:p>
              <a:p>
                <a:pPr marL="0" indent="0">
                  <a:buNone/>
                </a:pPr>
                <a:endParaRPr lang="en-US" altLang="en-US" dirty="0">
                  <a:latin typeface="Constantia" panose="02030602050306030303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en-US" dirty="0">
                    <a:solidFill>
                      <a:srgbClr val="00B050"/>
                    </a:solidFill>
                    <a:latin typeface="Constantia" panose="02030602050306030303" pitchFamily="18" charset="0"/>
                    <a:cs typeface="Times New Roman" panose="02020603050405020304" pitchFamily="18" charset="0"/>
                  </a:rPr>
                  <a:t>Strength Reduction</a:t>
                </a:r>
              </a:p>
              <a:p>
                <a:endParaRPr lang="en-US" altLang="en-US" sz="600" dirty="0">
                  <a:latin typeface="Constantia" panose="02030602050306030303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>
                    <a:latin typeface="Constantia" panose="02030602050306030303" pitchFamily="18" charset="0"/>
                    <a:cs typeface="Times New Roman" panose="02020603050405020304" pitchFamily="18" charset="0"/>
                  </a:rPr>
                  <a:t>Replacing an expensive operation by a cheaper one</a:t>
                </a:r>
              </a:p>
              <a:p>
                <a:pPr lvl="1"/>
                <a:endParaRPr lang="en-US" altLang="en-US" sz="400" dirty="0">
                  <a:latin typeface="Constantia" panose="02030602050306030303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>
                    <a:latin typeface="Constantia" panose="02030602050306030303" pitchFamily="18" charset="0"/>
                    <a:cs typeface="Times New Roman" panose="02020603050405020304" pitchFamily="18" charset="0"/>
                  </a:rPr>
                  <a:t>Multiplication by addition</a:t>
                </a:r>
              </a:p>
              <a:p>
                <a:endParaRPr lang="en-US" altLang="en-US" dirty="0">
                  <a:latin typeface="Constantia" panose="0203060205030603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6909"/>
                <a:ext cx="10515600" cy="4930054"/>
              </a:xfrm>
              <a:blipFill rotWithShape="0">
                <a:blip r:embed="rId2"/>
                <a:stretch>
                  <a:fillRect l="-1043" t="-2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5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843551"/>
                <a:ext cx="2064774" cy="1200329"/>
              </a:xfrm>
              <a:prstGeom prst="rect">
                <a:avLst/>
              </a:prstGeom>
              <a:blipFill>
                <a:blip r:embed="rId2" cstate="print"/>
                <a:stretch>
                  <a:fillRect l="-588" b="-35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4]=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7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902110" y="1279493"/>
            <a:ext cx="462465" cy="4692212"/>
          </a:xfrm>
          <a:prstGeom prst="bentConnector4">
            <a:avLst>
              <a:gd name="adj1" fmla="val -617493"/>
              <a:gd name="adj2" fmla="val 113277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44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563335"/>
                <a:ext cx="2064774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563335"/>
                <a:ext cx="2064774" cy="1477328"/>
              </a:xfrm>
              <a:prstGeom prst="rect">
                <a:avLst/>
              </a:prstGeom>
              <a:blipFill>
                <a:blip r:embed="rId2" cstate="print"/>
                <a:stretch>
                  <a:fillRect l="-5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4]=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7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40663"/>
            <a:ext cx="2460" cy="3268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902110" y="1279493"/>
            <a:ext cx="462465" cy="4692212"/>
          </a:xfrm>
          <a:prstGeom prst="bentConnector4">
            <a:avLst>
              <a:gd name="adj1" fmla="val -611216"/>
              <a:gd name="adj2" fmla="val 117608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2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4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2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4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4]=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5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6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7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cxnSpLocks/>
            <a:endCxn id="10" idx="0"/>
          </p:cNvCxnSpPr>
          <p:nvPr/>
        </p:nvCxnSpPr>
        <p:spPr>
          <a:xfrm>
            <a:off x="2816932" y="3043880"/>
            <a:ext cx="2460" cy="32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84545" y="1563335"/>
                <a:ext cx="2064774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563335"/>
                <a:ext cx="2064774" cy="1477328"/>
              </a:xfrm>
              <a:prstGeom prst="rect">
                <a:avLst/>
              </a:prstGeom>
              <a:blipFill>
                <a:blip r:embed="rId13" cstate="print"/>
                <a:stretch>
                  <a:fillRect l="-5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hape 27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>
            <a:stCxn id="42" idx="2"/>
          </p:cNvCxnSpPr>
          <p:nvPr/>
        </p:nvCxnSpPr>
        <p:spPr>
          <a:xfrm rot="5400000" flipH="1">
            <a:off x="3902110" y="1279493"/>
            <a:ext cx="462465" cy="4692212"/>
          </a:xfrm>
          <a:prstGeom prst="bentConnector4">
            <a:avLst>
              <a:gd name="adj1" fmla="val -620631"/>
              <a:gd name="adj2" fmla="val 114205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93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330127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330127"/>
                <a:ext cx="2064774" cy="1754326"/>
              </a:xfrm>
              <a:prstGeom prst="rect">
                <a:avLst/>
              </a:prstGeom>
              <a:blipFill>
                <a:blip r:embed="rId2" cstate="print"/>
                <a:stretch>
                  <a:fillRect l="-588" b="-13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4−4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4]=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2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84453"/>
            <a:ext cx="2460" cy="283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902110" y="1279493"/>
            <a:ext cx="462465" cy="4692212"/>
          </a:xfrm>
          <a:prstGeom prst="bentConnector4">
            <a:avLst>
              <a:gd name="adj1" fmla="val -620631"/>
              <a:gd name="adj2" fmla="val 112349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75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330127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330127"/>
                <a:ext cx="2064774" cy="1754326"/>
              </a:xfrm>
              <a:prstGeom prst="rect">
                <a:avLst/>
              </a:prstGeom>
              <a:blipFill>
                <a:blip r:embed="rId2" cstate="print"/>
                <a:stretch>
                  <a:fillRect l="-588" b="-13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367554"/>
                <a:ext cx="2059855" cy="1200329"/>
              </a:xfrm>
              <a:prstGeom prst="rect">
                <a:avLst/>
              </a:prstGeom>
              <a:blipFill>
                <a:blip r:embed="rId3" cstate="print"/>
                <a:stretch>
                  <a:fillRect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4−4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1200329"/>
              </a:xfrm>
              <a:prstGeom prst="rect">
                <a:avLst/>
              </a:prstGeom>
              <a:blipFill>
                <a:blip r:embed="rId4" cstate="print"/>
                <a:stretch>
                  <a:fillRect l="-294" b="-20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4]=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7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84453"/>
            <a:ext cx="2460" cy="283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567883"/>
            <a:ext cx="4918" cy="441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/>
          <p:nvPr/>
        </p:nvCxnSpPr>
        <p:spPr>
          <a:xfrm rot="5400000" flipH="1" flipV="1">
            <a:off x="3378209" y="1294571"/>
            <a:ext cx="4361391" cy="5469190"/>
          </a:xfrm>
          <a:prstGeom prst="bentConnector5">
            <a:avLst>
              <a:gd name="adj1" fmla="val -5241"/>
              <a:gd name="adj2" fmla="val 41112"/>
              <a:gd name="adj3" fmla="val 11318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902110" y="1279493"/>
            <a:ext cx="462465" cy="4692212"/>
          </a:xfrm>
          <a:prstGeom prst="bentConnector4">
            <a:avLst>
              <a:gd name="adj1" fmla="val -592385"/>
              <a:gd name="adj2" fmla="val 112349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727833" y="4778425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705867" y="3145376"/>
            <a:ext cx="796413" cy="1591602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05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Induction Variables &amp; Strength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84545" y="1330127"/>
                <a:ext cx="2064774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4=4∗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5" y="1330127"/>
                <a:ext cx="2064774" cy="1754326"/>
              </a:xfrm>
              <a:prstGeom prst="rect">
                <a:avLst/>
              </a:prstGeom>
              <a:blipFill>
                <a:blip r:embed="rId2" cstate="print"/>
                <a:stretch>
                  <a:fillRect l="-588" b="-13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89464" y="3426545"/>
                <a:ext cx="2059855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3&lt;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464" y="3426545"/>
                <a:ext cx="2059855" cy="923330"/>
              </a:xfrm>
              <a:prstGeom prst="rect">
                <a:avLst/>
              </a:prstGeom>
              <a:blipFill>
                <a:blip r:embed="rId3" cstate="print"/>
                <a:stretch>
                  <a:fillRect b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4382" y="5009532"/>
                <a:ext cx="2059855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4−4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4]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5&gt;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baseline="-25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82" y="5009532"/>
                <a:ext cx="2059855" cy="923330"/>
              </a:xfrm>
              <a:prstGeom prst="rect">
                <a:avLst/>
              </a:prstGeom>
              <a:blipFill>
                <a:blip r:embed="rId4" cstate="print"/>
                <a:stretch>
                  <a:fillRect b="-32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113" y="1848470"/>
                <a:ext cx="2064774" cy="369332"/>
              </a:xfrm>
              <a:prstGeom prst="rect">
                <a:avLst/>
              </a:prstGeom>
              <a:blipFill>
                <a:blip r:embed="rId5" cstate="print"/>
                <a:stretch>
                  <a:fillRect b="-79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4]=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gotoB</m:t>
                      </m:r>
                      <m:r>
                        <a:rPr lang="en-US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62" y="2939849"/>
                <a:ext cx="2064774" cy="916982"/>
              </a:xfrm>
              <a:prstGeom prst="rect">
                <a:avLst/>
              </a:prstGeom>
              <a:blipFill rotWithShape="0">
                <a:blip r:embed="rId6"/>
                <a:stretch>
                  <a:fillRect b="-45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2]=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1]=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641" y="2915270"/>
                <a:ext cx="2064774" cy="923330"/>
              </a:xfrm>
              <a:prstGeom prst="rect">
                <a:avLst/>
              </a:prstGeom>
              <a:blipFill rotWithShape="0">
                <a:blip r:embed="rId7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57" y="1951713"/>
                <a:ext cx="478015" cy="362984"/>
              </a:xfrm>
              <a:prstGeom prst="rect">
                <a:avLst/>
              </a:prstGeom>
              <a:blipFill>
                <a:blip r:embed="rId8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048" y="3529784"/>
                <a:ext cx="478015" cy="362984"/>
              </a:xfrm>
              <a:prstGeom prst="rect">
                <a:avLst/>
              </a:prstGeom>
              <a:blipFill>
                <a:blip r:embed="rId9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359" y="5107855"/>
                <a:ext cx="478015" cy="362984"/>
              </a:xfrm>
              <a:prstGeom prst="rect">
                <a:avLst/>
              </a:prstGeom>
              <a:blipFill>
                <a:blip r:embed="rId10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79" y="1843551"/>
                <a:ext cx="478015" cy="362984"/>
              </a:xfrm>
              <a:prstGeom prst="rect">
                <a:avLst/>
              </a:prstGeom>
              <a:blipFill>
                <a:blip r:embed="rId11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378" y="2959508"/>
                <a:ext cx="478015" cy="362984"/>
              </a:xfrm>
              <a:prstGeom prst="rect">
                <a:avLst/>
              </a:prstGeom>
              <a:blipFill>
                <a:blip r:embed="rId12" cstate="print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baseline="-25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9292" y="3003750"/>
                <a:ext cx="478015" cy="362984"/>
              </a:xfrm>
              <a:prstGeom prst="rect">
                <a:avLst/>
              </a:prstGeom>
              <a:blipFill>
                <a:blip r:embed="rId13" cstate="print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6" idx="2"/>
            <a:endCxn id="10" idx="0"/>
          </p:cNvCxnSpPr>
          <p:nvPr/>
        </p:nvCxnSpPr>
        <p:spPr>
          <a:xfrm>
            <a:off x="2816932" y="3084453"/>
            <a:ext cx="2460" cy="342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0" idx="2"/>
            <a:endCxn id="11" idx="0"/>
          </p:cNvCxnSpPr>
          <p:nvPr/>
        </p:nvCxnSpPr>
        <p:spPr>
          <a:xfrm>
            <a:off x="2819392" y="4349875"/>
            <a:ext cx="4918" cy="659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1" idx="2"/>
            <a:endCxn id="42" idx="0"/>
          </p:cNvCxnSpPr>
          <p:nvPr/>
        </p:nvCxnSpPr>
        <p:spPr>
          <a:xfrm flipH="1">
            <a:off x="6479449" y="2217802"/>
            <a:ext cx="1814051" cy="722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1" idx="2"/>
            <a:endCxn id="43" idx="0"/>
          </p:cNvCxnSpPr>
          <p:nvPr/>
        </p:nvCxnSpPr>
        <p:spPr>
          <a:xfrm>
            <a:off x="8293500" y="2217802"/>
            <a:ext cx="1258528" cy="697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11" idx="2"/>
            <a:endCxn id="41" idx="1"/>
          </p:cNvCxnSpPr>
          <p:nvPr/>
        </p:nvCxnSpPr>
        <p:spPr>
          <a:xfrm rot="5400000" flipH="1" flipV="1">
            <a:off x="3092848" y="1764597"/>
            <a:ext cx="3899726" cy="4436803"/>
          </a:xfrm>
          <a:prstGeom prst="bentConnector4">
            <a:avLst>
              <a:gd name="adj1" fmla="val -11902"/>
              <a:gd name="adj2" fmla="val 50365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2" idx="2"/>
          </p:cNvCxnSpPr>
          <p:nvPr/>
        </p:nvCxnSpPr>
        <p:spPr>
          <a:xfrm rot="5400000" flipH="1">
            <a:off x="3936748" y="1314131"/>
            <a:ext cx="393189" cy="4692212"/>
          </a:xfrm>
          <a:prstGeom prst="bentConnector4">
            <a:avLst>
              <a:gd name="adj1" fmla="val -704140"/>
              <a:gd name="adj2" fmla="val 112659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69"/>
          <p:cNvSpPr/>
          <p:nvPr/>
        </p:nvSpPr>
        <p:spPr>
          <a:xfrm flipH="1">
            <a:off x="3588327" y="4835235"/>
            <a:ext cx="935918" cy="1233055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71"/>
          <p:cNvSpPr/>
          <p:nvPr/>
        </p:nvSpPr>
        <p:spPr>
          <a:xfrm flipH="1">
            <a:off x="3505200" y="3228108"/>
            <a:ext cx="997080" cy="1260765"/>
          </a:xfrm>
          <a:custGeom>
            <a:avLst/>
            <a:gdLst>
              <a:gd name="connsiteX0" fmla="*/ 781779 w 870270"/>
              <a:gd name="connsiteY0" fmla="*/ 1431538 h 1591602"/>
              <a:gd name="connsiteX1" fmla="*/ 472063 w 870270"/>
              <a:gd name="connsiteY1" fmla="*/ 1564273 h 1591602"/>
              <a:gd name="connsiteX2" fmla="*/ 115 w 870270"/>
              <a:gd name="connsiteY2" fmla="*/ 959589 h 1591602"/>
              <a:gd name="connsiteX3" fmla="*/ 516308 w 870270"/>
              <a:gd name="connsiteY3" fmla="*/ 30441 h 1591602"/>
              <a:gd name="connsiteX4" fmla="*/ 870270 w 870270"/>
              <a:gd name="connsiteY4" fmla="*/ 207422 h 1591602"/>
              <a:gd name="connsiteX5" fmla="*/ 870270 w 870270"/>
              <a:gd name="connsiteY5" fmla="*/ 207422 h 159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0270" h="1591602">
                <a:moveTo>
                  <a:pt x="781779" y="1431538"/>
                </a:moveTo>
                <a:cubicBezTo>
                  <a:pt x="692059" y="1537234"/>
                  <a:pt x="602340" y="1642931"/>
                  <a:pt x="472063" y="1564273"/>
                </a:cubicBezTo>
                <a:cubicBezTo>
                  <a:pt x="341786" y="1485615"/>
                  <a:pt x="-7259" y="1215228"/>
                  <a:pt x="115" y="959589"/>
                </a:cubicBezTo>
                <a:cubicBezTo>
                  <a:pt x="7489" y="703950"/>
                  <a:pt x="371282" y="155802"/>
                  <a:pt x="516308" y="30441"/>
                </a:cubicBezTo>
                <a:cubicBezTo>
                  <a:pt x="661334" y="-94920"/>
                  <a:pt x="870270" y="207422"/>
                  <a:pt x="870270" y="207422"/>
                </a:cubicBezTo>
                <a:lnTo>
                  <a:pt x="870270" y="207422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74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r="13297"/>
          <a:stretch>
            <a:fillRect/>
          </a:stretch>
        </p:blipFill>
        <p:spPr bwMode="auto">
          <a:xfrm>
            <a:off x="6968896" y="41565"/>
            <a:ext cx="5084554" cy="664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260" y="1117871"/>
            <a:ext cx="66389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364" y="18758"/>
            <a:ext cx="5223163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74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</a:rPr>
              <a:t>Compilers: Principles, Techniques, &amp; Tools, by</a:t>
            </a:r>
          </a:p>
          <a:p>
            <a:pPr marL="457200" lvl="1" indent="0">
              <a:buNone/>
            </a:pPr>
            <a:r>
              <a:rPr lang="en-US" dirty="0">
                <a:latin typeface="Constantia" panose="02030602050306030303" pitchFamily="18" charset="0"/>
              </a:rPr>
              <a:t>Alfred B. </a:t>
            </a:r>
            <a:r>
              <a:rPr lang="en-US" dirty="0" err="1">
                <a:latin typeface="Constantia" panose="02030602050306030303" pitchFamily="18" charset="0"/>
              </a:rPr>
              <a:t>Aho</a:t>
            </a:r>
            <a:r>
              <a:rPr lang="en-US" dirty="0">
                <a:latin typeface="Constantia" panose="02030602050306030303" pitchFamily="18" charset="0"/>
              </a:rPr>
              <a:t>, Monica S. Lam, Ravi </a:t>
            </a:r>
            <a:r>
              <a:rPr lang="en-US" dirty="0" err="1">
                <a:latin typeface="Constantia" panose="02030602050306030303" pitchFamily="18" charset="0"/>
              </a:rPr>
              <a:t>Sethi</a:t>
            </a:r>
            <a:r>
              <a:rPr lang="en-US" dirty="0">
                <a:latin typeface="Constantia" panose="02030602050306030303" pitchFamily="18" charset="0"/>
              </a:rPr>
              <a:t>, Jeffrey D. Ullman</a:t>
            </a:r>
          </a:p>
          <a:p>
            <a:pPr lvl="1"/>
            <a:endParaRPr lang="en-US" dirty="0">
              <a:latin typeface="Constantia" panose="02030602050306030303" pitchFamily="18" charset="0"/>
              <a:cs typeface="Andalus" panose="02020603050405020304" pitchFamily="18" charset="-78"/>
            </a:endParaRPr>
          </a:p>
          <a:p>
            <a:pPr lvl="1"/>
            <a:r>
              <a:rPr lang="en-US" dirty="0">
                <a:latin typeface="Constantia" panose="02030602050306030303" pitchFamily="18" charset="0"/>
                <a:cs typeface="Andalus" panose="02020603050405020304" pitchFamily="18" charset="-78"/>
              </a:rPr>
              <a:t>Chapter 9</a:t>
            </a:r>
          </a:p>
          <a:p>
            <a:pPr lvl="2"/>
            <a:r>
              <a:rPr lang="en-US">
                <a:latin typeface="Constantia" panose="02030602050306030303" pitchFamily="18" charset="0"/>
                <a:cs typeface="Andalus" panose="02020603050405020304" pitchFamily="18" charset="-78"/>
              </a:rPr>
              <a:t>9.1</a:t>
            </a:r>
            <a:endParaRPr lang="en-US" dirty="0">
              <a:latin typeface="Constantia" panose="02030602050306030303" pitchFamily="18" charset="0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69434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2">
                    <a:lumMod val="50000"/>
                  </a:schemeClr>
                </a:solidFill>
                <a:latin typeface="Constantia" panose="02030602050306030303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0156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23718</TotalTime>
  <Words>3206</Words>
  <Application>Microsoft Office PowerPoint</Application>
  <PresentationFormat>Widescreen</PresentationFormat>
  <Paragraphs>793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Candara</vt:lpstr>
      <vt:lpstr>Consolas</vt:lpstr>
      <vt:lpstr>Constantia</vt:lpstr>
      <vt:lpstr>Times New Roman</vt:lpstr>
      <vt:lpstr>Wingdings</vt:lpstr>
      <vt:lpstr>Office Theme</vt:lpstr>
      <vt:lpstr>Machine-independent Optimizations</vt:lpstr>
      <vt:lpstr>Code Optimization</vt:lpstr>
      <vt:lpstr>Code Optimization</vt:lpstr>
      <vt:lpstr>Global Optimizations</vt:lpstr>
      <vt:lpstr>Principle Sources of Optimization</vt:lpstr>
      <vt:lpstr>Causes of Redundancy</vt:lpstr>
      <vt:lpstr>Example</vt:lpstr>
      <vt:lpstr>Example</vt:lpstr>
      <vt:lpstr>Semantic-Preserving Transformations</vt:lpstr>
      <vt:lpstr>Common-Subexpression Elimination</vt:lpstr>
      <vt:lpstr>Global Common Subexpressions</vt:lpstr>
      <vt:lpstr>Global Common Subexpressions</vt:lpstr>
      <vt:lpstr>Global Common Subexpressions</vt:lpstr>
      <vt:lpstr>Global Common Subexpressions</vt:lpstr>
      <vt:lpstr>Global Common Subexpressions</vt:lpstr>
      <vt:lpstr>Global Common Subexpressions</vt:lpstr>
      <vt:lpstr>Global Common Subexpressions</vt:lpstr>
      <vt:lpstr>Global Common Subexpressions</vt:lpstr>
      <vt:lpstr>Global Common Subexpressions</vt:lpstr>
      <vt:lpstr>Global Common Subexpressions</vt:lpstr>
      <vt:lpstr>Copy Propagation</vt:lpstr>
      <vt:lpstr>Copy Propagation</vt:lpstr>
      <vt:lpstr>Copy Propagation</vt:lpstr>
      <vt:lpstr>Dead Code Elimination</vt:lpstr>
      <vt:lpstr>Dead Code Elimination</vt:lpstr>
      <vt:lpstr>Dead Code Elimination</vt:lpstr>
      <vt:lpstr>Code Motion</vt:lpstr>
      <vt:lpstr>Induction Variables &amp; Strength Reduction</vt:lpstr>
      <vt:lpstr>Induction Variables &amp; Strength Reduction</vt:lpstr>
      <vt:lpstr>Induction Variables &amp; Strength Reduction</vt:lpstr>
      <vt:lpstr>Induction Variables &amp; Strength Reduction</vt:lpstr>
      <vt:lpstr>Induction Variables &amp; Strength Reduction</vt:lpstr>
      <vt:lpstr>Induction Variables &amp; Strength Reduction</vt:lpstr>
      <vt:lpstr>Induction Variables &amp; Strength Reduction</vt:lpstr>
      <vt:lpstr>Exercise</vt:lpstr>
      <vt:lpstr>Reference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Code Generation</dc:title>
  <dc:creator>TAMAL</dc:creator>
  <cp:lastModifiedBy>khaled mahmud</cp:lastModifiedBy>
  <cp:revision>451</cp:revision>
  <dcterms:created xsi:type="dcterms:W3CDTF">2017-05-18T11:01:34Z</dcterms:created>
  <dcterms:modified xsi:type="dcterms:W3CDTF">2023-02-14T02:48:11Z</dcterms:modified>
</cp:coreProperties>
</file>