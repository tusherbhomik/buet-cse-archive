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92" r:id="rId20"/>
    <p:sldId id="294" r:id="rId21"/>
    <p:sldId id="295" r:id="rId22"/>
    <p:sldId id="296" r:id="rId23"/>
    <p:sldId id="297" r:id="rId24"/>
    <p:sldId id="293" r:id="rId25"/>
    <p:sldId id="298" r:id="rId26"/>
    <p:sldId id="299" r:id="rId27"/>
    <p:sldId id="300" r:id="rId28"/>
    <p:sldId id="360" r:id="rId29"/>
    <p:sldId id="316" r:id="rId30"/>
    <p:sldId id="302" r:id="rId31"/>
    <p:sldId id="303" r:id="rId32"/>
    <p:sldId id="313" r:id="rId33"/>
    <p:sldId id="312" r:id="rId34"/>
    <p:sldId id="358" r:id="rId35"/>
    <p:sldId id="314" r:id="rId36"/>
    <p:sldId id="304" r:id="rId37"/>
    <p:sldId id="305" r:id="rId38"/>
    <p:sldId id="307" r:id="rId39"/>
    <p:sldId id="308" r:id="rId40"/>
    <p:sldId id="306" r:id="rId41"/>
    <p:sldId id="309" r:id="rId42"/>
    <p:sldId id="310" r:id="rId43"/>
    <p:sldId id="317" r:id="rId44"/>
    <p:sldId id="318" r:id="rId45"/>
    <p:sldId id="319" r:id="rId46"/>
    <p:sldId id="320" r:id="rId47"/>
    <p:sldId id="321" r:id="rId48"/>
    <p:sldId id="322" r:id="rId49"/>
    <p:sldId id="323" r:id="rId50"/>
    <p:sldId id="324" r:id="rId51"/>
    <p:sldId id="325" r:id="rId52"/>
    <p:sldId id="326" r:id="rId53"/>
    <p:sldId id="271" r:id="rId54"/>
    <p:sldId id="329" r:id="rId55"/>
    <p:sldId id="330" r:id="rId56"/>
    <p:sldId id="331" r:id="rId57"/>
    <p:sldId id="275" r:id="rId58"/>
    <p:sldId id="276" r:id="rId59"/>
    <p:sldId id="277" r:id="rId60"/>
    <p:sldId id="279" r:id="rId61"/>
    <p:sldId id="280" r:id="rId62"/>
    <p:sldId id="281" r:id="rId63"/>
    <p:sldId id="332" r:id="rId64"/>
    <p:sldId id="282" r:id="rId65"/>
    <p:sldId id="284" r:id="rId66"/>
    <p:sldId id="333" r:id="rId67"/>
    <p:sldId id="334" r:id="rId68"/>
    <p:sldId id="335" r:id="rId69"/>
    <p:sldId id="336" r:id="rId70"/>
    <p:sldId id="289" r:id="rId71"/>
    <p:sldId id="337" r:id="rId72"/>
    <p:sldId id="338" r:id="rId73"/>
    <p:sldId id="339" r:id="rId74"/>
    <p:sldId id="340" r:id="rId75"/>
    <p:sldId id="359" r:id="rId76"/>
    <p:sldId id="341" r:id="rId77"/>
    <p:sldId id="342" r:id="rId78"/>
    <p:sldId id="343" r:id="rId79"/>
    <p:sldId id="344" r:id="rId80"/>
    <p:sldId id="345" r:id="rId81"/>
    <p:sldId id="346" r:id="rId82"/>
    <p:sldId id="347" r:id="rId83"/>
    <p:sldId id="348" r:id="rId84"/>
    <p:sldId id="349" r:id="rId85"/>
    <p:sldId id="350" r:id="rId86"/>
    <p:sldId id="351" r:id="rId87"/>
    <p:sldId id="352" r:id="rId88"/>
    <p:sldId id="353" r:id="rId89"/>
    <p:sldId id="354" r:id="rId90"/>
    <p:sldId id="355" r:id="rId91"/>
    <p:sldId id="356" r:id="rId92"/>
    <p:sldId id="357" r:id="rId93"/>
    <p:sldId id="290" r:id="rId9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612"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54AD4E-A089-45AC-9E06-0156AE04B29A}" type="datetimeFigureOut">
              <a:rPr lang="en-US" smtClean="0"/>
              <a:t>3/3/2023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8B91C5-77FC-4E71-8AE2-B0021114FD56}" type="slidenum">
              <a:rPr lang="en-US" smtClean="0"/>
              <a:t>‹#›</a:t>
            </a:fld>
            <a:endParaRPr lang="en-US"/>
          </a:p>
        </p:txBody>
      </p:sp>
    </p:spTree>
    <p:extLst>
      <p:ext uri="{BB962C8B-B14F-4D97-AF65-F5344CB8AC3E}">
        <p14:creationId xmlns:p14="http://schemas.microsoft.com/office/powerpoint/2010/main" val="620843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E7083AB-D437-4A72-ADE8-2F4C1063F103}" type="slidenum">
              <a:rPr lang="en-US" smtClean="0"/>
              <a:t>62</a:t>
            </a:fld>
            <a:endParaRPr lang="en-US"/>
          </a:p>
        </p:txBody>
      </p:sp>
    </p:spTree>
    <p:extLst>
      <p:ext uri="{BB962C8B-B14F-4D97-AF65-F5344CB8AC3E}">
        <p14:creationId xmlns:p14="http://schemas.microsoft.com/office/powerpoint/2010/main" val="38260099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E7083AB-D437-4A72-ADE8-2F4C1063F103}" type="slidenum">
              <a:rPr lang="en-US" smtClean="0"/>
              <a:t>63</a:t>
            </a:fld>
            <a:endParaRPr lang="en-US"/>
          </a:p>
        </p:txBody>
      </p:sp>
    </p:spTree>
    <p:extLst>
      <p:ext uri="{BB962C8B-B14F-4D97-AF65-F5344CB8AC3E}">
        <p14:creationId xmlns:p14="http://schemas.microsoft.com/office/powerpoint/2010/main" val="3662103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3/3/2023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3/3/2023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pPr/>
              <a:t>3/3/2023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pPr/>
              <a:t>3/3/2023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pPr/>
              <a:t>3/3/2023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pPr/>
              <a:t>3/3/2023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pPr/>
              <a:t>3/3/2023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3/3/2023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3/3/2023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3/3/2023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3/3/2023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pPr/>
              <a:t>3/3/2023</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gee.cs.oswego.edu/dl/html/malloc.html"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38084"/>
            <a:ext cx="9144000" cy="2387600"/>
          </a:xfrm>
          <a:effectLst>
            <a:outerShdw blurRad="50800" dist="38100" dir="2700000" algn="tl" rotWithShape="0">
              <a:prstClr val="black">
                <a:alpha val="40000"/>
              </a:prstClr>
            </a:outerShdw>
          </a:effectLst>
        </p:spPr>
        <p:txBody>
          <a:bodyPr/>
          <a:lstStyle/>
          <a:p>
            <a:r>
              <a:rPr lang="en-US" dirty="0">
                <a:solidFill>
                  <a:schemeClr val="tx2">
                    <a:lumMod val="50000"/>
                  </a:schemeClr>
                </a:solidFill>
                <a:latin typeface="Candara" panose="020E0502030303020204" pitchFamily="34" charset="0"/>
              </a:rPr>
              <a:t>Run-Time Environments</a:t>
            </a:r>
          </a:p>
        </p:txBody>
      </p:sp>
      <p:sp>
        <p:nvSpPr>
          <p:cNvPr id="4" name="Rectangle 3">
            <a:extLst>
              <a:ext uri="{FF2B5EF4-FFF2-40B4-BE49-F238E27FC236}">
                <a16:creationId xmlns:a16="http://schemas.microsoft.com/office/drawing/2014/main" id="{773D8709-D7D7-79AF-CAE5-CEFE927A2FAB}"/>
              </a:ext>
            </a:extLst>
          </p:cNvPr>
          <p:cNvSpPr/>
          <p:nvPr/>
        </p:nvSpPr>
        <p:spPr>
          <a:xfrm>
            <a:off x="4159863" y="2038245"/>
            <a:ext cx="3365025" cy="92333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defTabSz="914400">
              <a:lnSpc>
                <a:spcPct val="90000"/>
              </a:lnSpc>
              <a:spcBef>
                <a:spcPct val="0"/>
              </a:spcBef>
            </a:pPr>
            <a:r>
              <a:rPr lang="en-US" sz="5400" dirty="0">
                <a:solidFill>
                  <a:srgbClr val="FF0000"/>
                </a:solidFill>
                <a:latin typeface="Candara" panose="020E0502030303020204" pitchFamily="34" charset="0"/>
                <a:ea typeface="+mj-ea"/>
                <a:cs typeface="+mj-cs"/>
              </a:rPr>
              <a:t>Chapter 7</a:t>
            </a:r>
            <a:endParaRPr lang="en-US" sz="6000" dirty="0">
              <a:solidFill>
                <a:srgbClr val="FF0000"/>
              </a:solidFill>
              <a:latin typeface="Candara" panose="020E0502030303020204" pitchFamily="34" charset="0"/>
              <a:ea typeface="+mj-ea"/>
              <a:cs typeface="+mj-cs"/>
            </a:endParaRPr>
          </a:p>
        </p:txBody>
      </p:sp>
    </p:spTree>
    <p:extLst>
      <p:ext uri="{BB962C8B-B14F-4D97-AF65-F5344CB8AC3E}">
        <p14:creationId xmlns:p14="http://schemas.microsoft.com/office/powerpoint/2010/main" val="937604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Run-Time Environments</a:t>
            </a:r>
          </a:p>
        </p:txBody>
      </p:sp>
      <p:sp>
        <p:nvSpPr>
          <p:cNvPr id="7" name="Content Placeholder 6"/>
          <p:cNvSpPr>
            <a:spLocks noGrp="1"/>
          </p:cNvSpPr>
          <p:nvPr>
            <p:ph idx="1"/>
          </p:nvPr>
        </p:nvSpPr>
        <p:spPr>
          <a:xfrm>
            <a:off x="838200" y="1246909"/>
            <a:ext cx="10515600" cy="4930054"/>
          </a:xfrm>
        </p:spPr>
        <p:txBody>
          <a:bodyPr>
            <a:normAutofit/>
          </a:bodyPr>
          <a:lstStyle/>
          <a:p>
            <a:r>
              <a:rPr lang="en-US" dirty="0">
                <a:latin typeface="Candara" panose="020E0502030303020204" pitchFamily="34" charset="0"/>
              </a:rPr>
              <a:t>Programming Languages contain high level structures</a:t>
            </a:r>
          </a:p>
          <a:p>
            <a:pPr lvl="1"/>
            <a:r>
              <a:rPr lang="en-US" dirty="0">
                <a:latin typeface="Candara" panose="020E0502030303020204" pitchFamily="34" charset="0"/>
              </a:rPr>
              <a:t>Functions</a:t>
            </a:r>
          </a:p>
          <a:p>
            <a:pPr lvl="1"/>
            <a:r>
              <a:rPr lang="en-US" dirty="0">
                <a:latin typeface="Candara" panose="020E0502030303020204" pitchFamily="34" charset="0"/>
              </a:rPr>
              <a:t>Objects</a:t>
            </a:r>
          </a:p>
          <a:p>
            <a:pPr lvl="1"/>
            <a:r>
              <a:rPr lang="en-US" dirty="0">
                <a:latin typeface="Candara" panose="020E0502030303020204" pitchFamily="34" charset="0"/>
              </a:rPr>
              <a:t>Exceptions</a:t>
            </a:r>
          </a:p>
          <a:p>
            <a:pPr lvl="1"/>
            <a:r>
              <a:rPr lang="en-US" dirty="0">
                <a:latin typeface="Candara" panose="020E0502030303020204" pitchFamily="34" charset="0"/>
              </a:rPr>
              <a:t>Scopes</a:t>
            </a:r>
          </a:p>
          <a:p>
            <a:pPr lvl="1"/>
            <a:r>
              <a:rPr lang="en-US" dirty="0">
                <a:latin typeface="Candara" panose="020E0502030303020204" pitchFamily="34" charset="0"/>
              </a:rPr>
              <a:t>And more..</a:t>
            </a:r>
          </a:p>
          <a:p>
            <a:r>
              <a:rPr lang="en-US" dirty="0">
                <a:latin typeface="Candara" panose="020E0502030303020204" pitchFamily="34" charset="0"/>
              </a:rPr>
              <a:t>The compiler must co-operate with the operating system and other systems software to support these abstractions on the target machine.</a:t>
            </a:r>
          </a:p>
          <a:p>
            <a:r>
              <a:rPr lang="en-US" dirty="0">
                <a:latin typeface="Candara" panose="020E0502030303020204" pitchFamily="34" charset="0"/>
              </a:rPr>
              <a:t>To do so, the compiler creates and manages a </a:t>
            </a:r>
            <a:r>
              <a:rPr lang="en-US" i="1" dirty="0">
                <a:solidFill>
                  <a:srgbClr val="FF0000"/>
                </a:solidFill>
                <a:latin typeface="Candara" panose="020E0502030303020204" pitchFamily="34" charset="0"/>
              </a:rPr>
              <a:t>run-time environment</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006963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down)">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down)">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down)">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down)">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down)">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wipe(down)">
                                      <p:cBhvr>
                                        <p:cTn id="4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Run-Time Environments</a:t>
            </a:r>
          </a:p>
        </p:txBody>
      </p:sp>
      <p:sp>
        <p:nvSpPr>
          <p:cNvPr id="7" name="Content Placeholder 6"/>
          <p:cNvSpPr>
            <a:spLocks noGrp="1"/>
          </p:cNvSpPr>
          <p:nvPr>
            <p:ph idx="1"/>
          </p:nvPr>
        </p:nvSpPr>
        <p:spPr>
          <a:xfrm>
            <a:off x="838200" y="1246909"/>
            <a:ext cx="10515600" cy="4930054"/>
          </a:xfrm>
        </p:spPr>
        <p:txBody>
          <a:bodyPr/>
          <a:lstStyle/>
          <a:p>
            <a:r>
              <a:rPr lang="en-US" dirty="0">
                <a:latin typeface="Candara" panose="020E0502030303020204" pitchFamily="34" charset="0"/>
              </a:rPr>
              <a:t>A </a:t>
            </a:r>
            <a:r>
              <a:rPr lang="en-US" i="1" dirty="0">
                <a:solidFill>
                  <a:srgbClr val="C00000"/>
                </a:solidFill>
                <a:latin typeface="Candara" panose="020E0502030303020204" pitchFamily="34" charset="0"/>
              </a:rPr>
              <a:t>run-time environment</a:t>
            </a:r>
            <a:r>
              <a:rPr lang="en-US" dirty="0">
                <a:solidFill>
                  <a:srgbClr val="C00000"/>
                </a:solidFill>
                <a:latin typeface="Candara" panose="020E0502030303020204" pitchFamily="34" charset="0"/>
              </a:rPr>
              <a:t>(RTE)</a:t>
            </a:r>
            <a:r>
              <a:rPr lang="en-US" dirty="0">
                <a:latin typeface="Candara" panose="020E0502030303020204" pitchFamily="34" charset="0"/>
              </a:rPr>
              <a:t> is a set of data structures maintained at runtime to implement high-level structures of source language</a:t>
            </a:r>
          </a:p>
          <a:p>
            <a:endParaRPr lang="en-US" altLang="en-US" dirty="0">
              <a:latin typeface="Candara" panose="020E0502030303020204" pitchFamily="34" charset="0"/>
            </a:endParaRPr>
          </a:p>
          <a:p>
            <a:r>
              <a:rPr lang="en-US" altLang="en-US" dirty="0">
                <a:latin typeface="Candara" panose="020E0502030303020204" pitchFamily="34" charset="0"/>
              </a:rPr>
              <a:t>Compiler assumes its target programs are being executed in RTE</a:t>
            </a:r>
          </a:p>
          <a:p>
            <a:pPr lvl="1">
              <a:buFont typeface="Wingdings" panose="05000000000000000000" pitchFamily="2" charset="2"/>
              <a:buChar char="Ø"/>
            </a:pPr>
            <a:r>
              <a:rPr lang="en-US" altLang="en-US" dirty="0">
                <a:latin typeface="Candara" panose="020E0502030303020204" pitchFamily="34" charset="0"/>
              </a:rPr>
              <a:t>Compiler creates and manages it.</a:t>
            </a:r>
          </a:p>
          <a:p>
            <a:endParaRPr lang="en-US" dirty="0">
              <a:latin typeface="Candara" panose="020E0502030303020204" pitchFamily="34" charset="0"/>
            </a:endParaRPr>
          </a:p>
          <a:p>
            <a:r>
              <a:rPr lang="en-US" dirty="0">
                <a:latin typeface="Candara" panose="020E0502030303020204" pitchFamily="34" charset="0"/>
              </a:rPr>
              <a:t> IR generators depends on the set up of RTE</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1424352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wipe(down)">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wipe(down)">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wipe(down)">
                                      <p:cBhvr>
                                        <p:cTn id="2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Run-Time Environments</a:t>
            </a:r>
          </a:p>
        </p:txBody>
      </p:sp>
      <p:sp>
        <p:nvSpPr>
          <p:cNvPr id="7" name="Content Placeholder 6"/>
          <p:cNvSpPr>
            <a:spLocks noGrp="1"/>
          </p:cNvSpPr>
          <p:nvPr>
            <p:ph idx="1"/>
          </p:nvPr>
        </p:nvSpPr>
        <p:spPr>
          <a:xfrm>
            <a:off x="838200" y="1246909"/>
            <a:ext cx="10515600" cy="4930054"/>
          </a:xfrm>
        </p:spPr>
        <p:txBody>
          <a:bodyPr/>
          <a:lstStyle/>
          <a:p>
            <a:r>
              <a:rPr lang="en-US" dirty="0">
                <a:latin typeface="Candara" panose="020E0502030303020204" pitchFamily="34" charset="0"/>
              </a:rPr>
              <a:t>Run-Time Environment deals with different issues</a:t>
            </a:r>
          </a:p>
          <a:p>
            <a:pPr lvl="1">
              <a:buFont typeface="Wingdings" panose="05000000000000000000" pitchFamily="2" charset="2"/>
              <a:buChar char="Ø"/>
            </a:pPr>
            <a:endParaRPr lang="en-US" altLang="en-US" sz="2600" dirty="0">
              <a:latin typeface="Candara" panose="020E0502030303020204" pitchFamily="34" charset="0"/>
            </a:endParaRPr>
          </a:p>
          <a:p>
            <a:pPr lvl="1">
              <a:buFont typeface="Wingdings" panose="05000000000000000000" pitchFamily="2" charset="2"/>
              <a:buChar char="Ø"/>
            </a:pPr>
            <a:r>
              <a:rPr lang="en-US" altLang="en-US" sz="2600" dirty="0">
                <a:latin typeface="Candara" panose="020E0502030303020204" pitchFamily="34" charset="0"/>
              </a:rPr>
              <a:t>The layout and allocation of storage location for the names in the source program</a:t>
            </a:r>
          </a:p>
          <a:p>
            <a:pPr lvl="1">
              <a:buFont typeface="Wingdings" panose="05000000000000000000" pitchFamily="2" charset="2"/>
              <a:buChar char="Ø"/>
            </a:pPr>
            <a:endParaRPr lang="en-US" altLang="en-US" sz="1200" dirty="0">
              <a:latin typeface="Candara" panose="020E0502030303020204" pitchFamily="34" charset="0"/>
            </a:endParaRPr>
          </a:p>
          <a:p>
            <a:pPr lvl="1">
              <a:buFont typeface="Wingdings" panose="05000000000000000000" pitchFamily="2" charset="2"/>
              <a:buChar char="Ø"/>
            </a:pPr>
            <a:r>
              <a:rPr lang="en-US" altLang="en-US" sz="2600" dirty="0">
                <a:latin typeface="Candara" panose="020E0502030303020204" pitchFamily="34" charset="0"/>
              </a:rPr>
              <a:t>Mechanism to access variables</a:t>
            </a:r>
          </a:p>
          <a:p>
            <a:pPr lvl="1">
              <a:buFont typeface="Wingdings" panose="05000000000000000000" pitchFamily="2" charset="2"/>
              <a:buChar char="Ø"/>
            </a:pPr>
            <a:endParaRPr lang="en-US" altLang="en-US" sz="1200" dirty="0">
              <a:latin typeface="Candara" panose="020E0502030303020204" pitchFamily="34" charset="0"/>
            </a:endParaRPr>
          </a:p>
          <a:p>
            <a:pPr lvl="1">
              <a:buFont typeface="Wingdings" panose="05000000000000000000" pitchFamily="2" charset="2"/>
              <a:buChar char="Ø"/>
            </a:pPr>
            <a:r>
              <a:rPr lang="en-US" altLang="en-US" sz="2600" dirty="0">
                <a:latin typeface="Candara" panose="020E0502030303020204" pitchFamily="34" charset="0"/>
              </a:rPr>
              <a:t>The linkage between procedures</a:t>
            </a:r>
          </a:p>
          <a:p>
            <a:pPr lvl="1">
              <a:buFont typeface="Wingdings" panose="05000000000000000000" pitchFamily="2" charset="2"/>
              <a:buChar char="Ø"/>
            </a:pPr>
            <a:endParaRPr lang="en-US" altLang="en-US" sz="1200" dirty="0">
              <a:latin typeface="Candara" panose="020E0502030303020204" pitchFamily="34" charset="0"/>
            </a:endParaRPr>
          </a:p>
          <a:p>
            <a:pPr lvl="1">
              <a:buFont typeface="Wingdings" panose="05000000000000000000" pitchFamily="2" charset="2"/>
              <a:buChar char="Ø"/>
            </a:pPr>
            <a:r>
              <a:rPr lang="en-US" altLang="en-US" sz="2600" dirty="0">
                <a:latin typeface="Candara" panose="020E0502030303020204" pitchFamily="34" charset="0"/>
              </a:rPr>
              <a:t>The mechanisms for passing parameters</a:t>
            </a:r>
          </a:p>
          <a:p>
            <a:pPr lvl="1"/>
            <a:endParaRPr lang="en-US" dirty="0">
              <a:latin typeface="Candara" panose="020E0502030303020204" pitchFamily="34" charset="0"/>
            </a:endParaRP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74966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wipe(down)">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wipe(down)">
                                      <p:cBhvr>
                                        <p:cTn id="17" dur="5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wipe(down)">
                                      <p:cBhvr>
                                        <p:cTn id="22" dur="500"/>
                                        <p:tgtEl>
                                          <p:spTgt spid="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animEffect transition="in" filter="wipe(down)">
                                      <p:cBhvr>
                                        <p:cTn id="27"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Storage Organization</a:t>
            </a:r>
          </a:p>
        </p:txBody>
      </p:sp>
      <p:sp>
        <p:nvSpPr>
          <p:cNvPr id="7" name="Content Placeholder 6"/>
          <p:cNvSpPr>
            <a:spLocks noGrp="1"/>
          </p:cNvSpPr>
          <p:nvPr>
            <p:ph idx="1"/>
          </p:nvPr>
        </p:nvSpPr>
        <p:spPr>
          <a:xfrm>
            <a:off x="838200" y="1246909"/>
            <a:ext cx="10515600" cy="4930054"/>
          </a:xfrm>
        </p:spPr>
        <p:txBody>
          <a:bodyPr/>
          <a:lstStyle/>
          <a:p>
            <a:r>
              <a:rPr lang="en-US" altLang="en-US" dirty="0">
                <a:latin typeface="Candara" panose="020E0502030303020204" pitchFamily="34" charset="0"/>
              </a:rPr>
              <a:t>The executing target program runs in its own logical address space</a:t>
            </a:r>
          </a:p>
          <a:p>
            <a:r>
              <a:rPr lang="en-US" altLang="en-US" dirty="0">
                <a:latin typeface="Candara" panose="020E0502030303020204" pitchFamily="34" charset="0"/>
              </a:rPr>
              <a:t>The operating system maps this to physical address space</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5</a:t>
            </a:fld>
            <a:endParaRPr lang="en-US" dirty="0"/>
          </a:p>
        </p:txBody>
      </p:sp>
      <p:pic>
        <p:nvPicPr>
          <p:cNvPr id="6" name="Picture 5" descr="Screen Clipping"/>
          <p:cNvPicPr>
            <a:picLocks noChangeAspect="1"/>
          </p:cNvPicPr>
          <p:nvPr/>
        </p:nvPicPr>
        <p:blipFill>
          <a:blip r:embed="rId2"/>
          <a:stretch>
            <a:fillRect/>
          </a:stretch>
        </p:blipFill>
        <p:spPr>
          <a:xfrm>
            <a:off x="4654976" y="2210463"/>
            <a:ext cx="2798769" cy="3923273"/>
          </a:xfrm>
          <a:prstGeom prst="rect">
            <a:avLst/>
          </a:prstGeom>
        </p:spPr>
      </p:pic>
      <p:sp>
        <p:nvSpPr>
          <p:cNvPr id="8" name="TextBox 7"/>
          <p:cNvSpPr txBox="1"/>
          <p:nvPr/>
        </p:nvSpPr>
        <p:spPr>
          <a:xfrm>
            <a:off x="3186543" y="5943597"/>
            <a:ext cx="6176306" cy="400110"/>
          </a:xfrm>
          <a:prstGeom prst="rect">
            <a:avLst/>
          </a:prstGeom>
          <a:noFill/>
        </p:spPr>
        <p:txBody>
          <a:bodyPr wrap="none" rtlCol="0">
            <a:spAutoFit/>
          </a:bodyPr>
          <a:lstStyle/>
          <a:p>
            <a:r>
              <a:rPr lang="en-US" sz="2000" u="sng" dirty="0">
                <a:latin typeface="Candara" panose="020E0502030303020204" pitchFamily="34" charset="0"/>
                <a:cs typeface="Andalus" panose="02020603050405020304" pitchFamily="18" charset="-78"/>
              </a:rPr>
              <a:t>Typical Subdivision of memory into code and data areas</a:t>
            </a:r>
          </a:p>
        </p:txBody>
      </p:sp>
    </p:spTree>
    <p:extLst>
      <p:ext uri="{BB962C8B-B14F-4D97-AF65-F5344CB8AC3E}">
        <p14:creationId xmlns:p14="http://schemas.microsoft.com/office/powerpoint/2010/main" val="2975729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Storage Organization</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6</a:t>
            </a:fld>
            <a:endParaRPr lang="en-US" dirty="0"/>
          </a:p>
        </p:txBody>
      </p:sp>
      <p:pic>
        <p:nvPicPr>
          <p:cNvPr id="1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92381" y="1219200"/>
            <a:ext cx="3048000" cy="5029200"/>
          </a:xfrm>
          <a:noFill/>
        </p:spPr>
      </p:pic>
      <p:sp>
        <p:nvSpPr>
          <p:cNvPr id="15" name="TextBox 4"/>
          <p:cNvSpPr txBox="1">
            <a:spLocks noChangeArrowheads="1"/>
          </p:cNvSpPr>
          <p:nvPr/>
        </p:nvSpPr>
        <p:spPr bwMode="auto">
          <a:xfrm>
            <a:off x="4066310" y="1565565"/>
            <a:ext cx="621376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dirty="0">
                <a:latin typeface="Candara" panose="020E0502030303020204" pitchFamily="34" charset="0"/>
              </a:rPr>
              <a:t>Generated executable code, size is fixed</a:t>
            </a:r>
          </a:p>
        </p:txBody>
      </p:sp>
      <p:sp>
        <p:nvSpPr>
          <p:cNvPr id="16" name="TextBox 5"/>
          <p:cNvSpPr txBox="1">
            <a:spLocks noChangeArrowheads="1"/>
          </p:cNvSpPr>
          <p:nvPr/>
        </p:nvSpPr>
        <p:spPr bwMode="auto">
          <a:xfrm>
            <a:off x="4066310" y="2466114"/>
            <a:ext cx="74191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dirty="0">
                <a:latin typeface="Candara" panose="020E0502030303020204" pitchFamily="34" charset="0"/>
              </a:rPr>
              <a:t>Program data objects, sizes are known at compile time</a:t>
            </a:r>
          </a:p>
        </p:txBody>
      </p:sp>
      <p:sp>
        <p:nvSpPr>
          <p:cNvPr id="17" name="TextBox 6"/>
          <p:cNvSpPr txBox="1">
            <a:spLocks noChangeArrowheads="1"/>
          </p:cNvSpPr>
          <p:nvPr/>
        </p:nvSpPr>
        <p:spPr bwMode="auto">
          <a:xfrm>
            <a:off x="4121722" y="4973781"/>
            <a:ext cx="719051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dirty="0">
                <a:latin typeface="Candara" panose="020E0502030303020204" pitchFamily="34" charset="0"/>
              </a:rPr>
              <a:t>The stack is used to store data structures called activation records that get generated during procedure calls.</a:t>
            </a:r>
          </a:p>
        </p:txBody>
      </p:sp>
      <p:sp>
        <p:nvSpPr>
          <p:cNvPr id="18" name="Rectangle 7"/>
          <p:cNvSpPr>
            <a:spLocks noChangeArrowheads="1"/>
          </p:cNvSpPr>
          <p:nvPr/>
        </p:nvSpPr>
        <p:spPr bwMode="auto">
          <a:xfrm>
            <a:off x="4066310" y="3136320"/>
            <a:ext cx="728749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dirty="0">
                <a:latin typeface="Candara" panose="020E0502030303020204" pitchFamily="34" charset="0"/>
              </a:rPr>
              <a:t>The heap is used to manage long-lived data, generated by the programmer by allocating and deallocating memory</a:t>
            </a:r>
          </a:p>
        </p:txBody>
      </p:sp>
    </p:spTree>
    <p:extLst>
      <p:ext uri="{BB962C8B-B14F-4D97-AF65-F5344CB8AC3E}">
        <p14:creationId xmlns:p14="http://schemas.microsoft.com/office/powerpoint/2010/main" val="27173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down)">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down)">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Run-Time Environments</a:t>
            </a:r>
          </a:p>
        </p:txBody>
      </p:sp>
      <p:sp>
        <p:nvSpPr>
          <p:cNvPr id="7" name="Content Placeholder 6"/>
          <p:cNvSpPr>
            <a:spLocks noGrp="1"/>
          </p:cNvSpPr>
          <p:nvPr>
            <p:ph idx="1"/>
          </p:nvPr>
        </p:nvSpPr>
        <p:spPr>
          <a:xfrm>
            <a:off x="838200" y="1246909"/>
            <a:ext cx="10515600" cy="4930054"/>
          </a:xfrm>
        </p:spPr>
        <p:txBody>
          <a:bodyPr/>
          <a:lstStyle/>
          <a:p>
            <a:r>
              <a:rPr lang="en-US" dirty="0">
                <a:latin typeface="Candara" panose="020E0502030303020204" pitchFamily="34" charset="0"/>
              </a:rPr>
              <a:t>Storage layout is influenced by addressing constraints of target machine</a:t>
            </a:r>
          </a:p>
          <a:p>
            <a:pPr lvl="1"/>
            <a:r>
              <a:rPr lang="en-US" dirty="0">
                <a:latin typeface="Candara" panose="020E0502030303020204" pitchFamily="34" charset="0"/>
              </a:rPr>
              <a:t>Elementary data types can be stored in an integral number of bytes</a:t>
            </a:r>
          </a:p>
          <a:p>
            <a:pPr lvl="1"/>
            <a:r>
              <a:rPr lang="en-US" dirty="0">
                <a:latin typeface="Candara" panose="020E0502030303020204" pitchFamily="34" charset="0"/>
              </a:rPr>
              <a:t>Aggregate data types should take space large enough to hold all components</a:t>
            </a:r>
          </a:p>
          <a:p>
            <a:pPr lvl="1"/>
            <a:r>
              <a:rPr lang="en-US" dirty="0">
                <a:solidFill>
                  <a:srgbClr val="FF0000"/>
                </a:solidFill>
                <a:latin typeface="Candara" panose="020E0502030303020204" pitchFamily="34" charset="0"/>
              </a:rPr>
              <a:t>Padding</a:t>
            </a:r>
            <a:r>
              <a:rPr lang="en-US" dirty="0">
                <a:latin typeface="Candara" panose="020E0502030303020204" pitchFamily="34" charset="0"/>
              </a:rPr>
              <a:t>: Unused place due to alignment</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7</a:t>
            </a:fld>
            <a:endParaRPr lang="en-US" dirty="0"/>
          </a:p>
        </p:txBody>
      </p:sp>
      <p:pic>
        <p:nvPicPr>
          <p:cNvPr id="6" name="Picture 5" descr="Screen Clipping"/>
          <p:cNvPicPr>
            <a:picLocks noChangeAspect="1"/>
          </p:cNvPicPr>
          <p:nvPr/>
        </p:nvPicPr>
        <p:blipFill>
          <a:blip r:embed="rId2"/>
          <a:stretch>
            <a:fillRect/>
          </a:stretch>
        </p:blipFill>
        <p:spPr>
          <a:xfrm>
            <a:off x="2623653" y="3718469"/>
            <a:ext cx="6944694" cy="2524477"/>
          </a:xfrm>
          <a:prstGeom prst="rect">
            <a:avLst/>
          </a:prstGeom>
        </p:spPr>
      </p:pic>
    </p:spTree>
    <p:extLst>
      <p:ext uri="{BB962C8B-B14F-4D97-AF65-F5344CB8AC3E}">
        <p14:creationId xmlns:p14="http://schemas.microsoft.com/office/powerpoint/2010/main" val="501528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down)">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down)">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Static vs Dynamic Storage Allocation</a:t>
            </a:r>
          </a:p>
        </p:txBody>
      </p:sp>
      <p:sp>
        <p:nvSpPr>
          <p:cNvPr id="7" name="Content Placeholder 6"/>
          <p:cNvSpPr>
            <a:spLocks noGrp="1"/>
          </p:cNvSpPr>
          <p:nvPr>
            <p:ph idx="1"/>
          </p:nvPr>
        </p:nvSpPr>
        <p:spPr>
          <a:xfrm>
            <a:off x="838200" y="1454727"/>
            <a:ext cx="6643255" cy="4722236"/>
          </a:xfrm>
        </p:spPr>
        <p:txBody>
          <a:bodyPr/>
          <a:lstStyle/>
          <a:p>
            <a:r>
              <a:rPr lang="en-US" altLang="en-US" dirty="0">
                <a:latin typeface="Candara" panose="020E0502030303020204" pitchFamily="34" charset="0"/>
              </a:rPr>
              <a:t>Static: Can be determined at compile time</a:t>
            </a:r>
          </a:p>
          <a:p>
            <a:pPr lvl="1"/>
            <a:r>
              <a:rPr lang="en-US" altLang="en-US" dirty="0">
                <a:latin typeface="Candara" panose="020E0502030303020204" pitchFamily="34" charset="0"/>
              </a:rPr>
              <a:t>Code segment</a:t>
            </a:r>
          </a:p>
          <a:p>
            <a:pPr lvl="1"/>
            <a:r>
              <a:rPr lang="en-US" altLang="en-US" dirty="0">
                <a:latin typeface="Candara" panose="020E0502030303020204" pitchFamily="34" charset="0"/>
              </a:rPr>
              <a:t>Static Data segment</a:t>
            </a:r>
          </a:p>
          <a:p>
            <a:pPr lvl="1"/>
            <a:endParaRPr lang="en-US" altLang="en-US" dirty="0">
              <a:latin typeface="Candara" panose="020E0502030303020204" pitchFamily="34" charset="0"/>
            </a:endParaRPr>
          </a:p>
          <a:p>
            <a:r>
              <a:rPr lang="en-US" altLang="en-US" dirty="0">
                <a:latin typeface="Candara" panose="020E0502030303020204" pitchFamily="34" charset="0"/>
              </a:rPr>
              <a:t>Dynamic : Can be decided only while the program is running</a:t>
            </a:r>
          </a:p>
          <a:p>
            <a:pPr lvl="1"/>
            <a:r>
              <a:rPr lang="en-US" altLang="en-US" dirty="0">
                <a:latin typeface="Candara" panose="020E0502030303020204" pitchFamily="34" charset="0"/>
              </a:rPr>
              <a:t>Stack Storage</a:t>
            </a:r>
          </a:p>
          <a:p>
            <a:pPr lvl="1"/>
            <a:r>
              <a:rPr lang="en-US" altLang="en-US" dirty="0">
                <a:latin typeface="Candara" panose="020E0502030303020204" pitchFamily="34" charset="0"/>
              </a:rPr>
              <a:t>Heap Storage</a:t>
            </a:r>
            <a:endParaRPr lang="en-US" dirty="0">
              <a:latin typeface="Candara" panose="020E0502030303020204" pitchFamily="34" charset="0"/>
            </a:endParaRP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8</a:t>
            </a:fld>
            <a:endParaRPr lang="en-US" dirty="0"/>
          </a:p>
        </p:txBody>
      </p:sp>
      <p:pic>
        <p:nvPicPr>
          <p:cNvPr id="8" name="Picture 7" descr="Screen Clipping"/>
          <p:cNvPicPr>
            <a:picLocks noChangeAspect="1"/>
          </p:cNvPicPr>
          <p:nvPr/>
        </p:nvPicPr>
        <p:blipFill>
          <a:blip r:embed="rId2"/>
          <a:stretch>
            <a:fillRect/>
          </a:stretch>
        </p:blipFill>
        <p:spPr>
          <a:xfrm>
            <a:off x="9343612" y="1981200"/>
            <a:ext cx="2280358" cy="3196572"/>
          </a:xfrm>
          <a:prstGeom prst="rect">
            <a:avLst/>
          </a:prstGeom>
        </p:spPr>
      </p:pic>
      <p:sp>
        <p:nvSpPr>
          <p:cNvPr id="9" name="TextBox 8"/>
          <p:cNvSpPr txBox="1"/>
          <p:nvPr/>
        </p:nvSpPr>
        <p:spPr>
          <a:xfrm>
            <a:off x="8492210" y="2576942"/>
            <a:ext cx="809837" cy="400110"/>
          </a:xfrm>
          <a:prstGeom prst="rect">
            <a:avLst/>
          </a:prstGeom>
          <a:noFill/>
        </p:spPr>
        <p:txBody>
          <a:bodyPr wrap="none" rtlCol="0">
            <a:spAutoFit/>
          </a:bodyPr>
          <a:lstStyle/>
          <a:p>
            <a:r>
              <a:rPr lang="en-US" sz="2000" b="1" dirty="0">
                <a:latin typeface="Candara" panose="020E0502030303020204" pitchFamily="34" charset="0"/>
                <a:cs typeface="Andalus" panose="02020603050405020304" pitchFamily="18" charset="-78"/>
              </a:rPr>
              <a:t>Static</a:t>
            </a:r>
          </a:p>
        </p:txBody>
      </p:sp>
      <p:sp>
        <p:nvSpPr>
          <p:cNvPr id="10" name="TextBox 9"/>
          <p:cNvSpPr txBox="1"/>
          <p:nvPr/>
        </p:nvSpPr>
        <p:spPr>
          <a:xfrm>
            <a:off x="8242824" y="3852505"/>
            <a:ext cx="1133644" cy="400110"/>
          </a:xfrm>
          <a:prstGeom prst="rect">
            <a:avLst/>
          </a:prstGeom>
          <a:noFill/>
        </p:spPr>
        <p:txBody>
          <a:bodyPr wrap="none" rtlCol="0">
            <a:spAutoFit/>
          </a:bodyPr>
          <a:lstStyle/>
          <a:p>
            <a:r>
              <a:rPr lang="en-US" sz="2000" b="1" dirty="0">
                <a:latin typeface="Candara" panose="020E0502030303020204" pitchFamily="34" charset="0"/>
                <a:cs typeface="Andalus" panose="02020603050405020304" pitchFamily="18" charset="-78"/>
              </a:rPr>
              <a:t>Dynamic</a:t>
            </a:r>
          </a:p>
        </p:txBody>
      </p:sp>
      <p:sp>
        <p:nvSpPr>
          <p:cNvPr id="5" name="Right Brace 4"/>
          <p:cNvSpPr/>
          <p:nvPr/>
        </p:nvSpPr>
        <p:spPr>
          <a:xfrm flipH="1">
            <a:off x="9504206" y="2272140"/>
            <a:ext cx="124702" cy="914400"/>
          </a:xfrm>
          <a:prstGeom prst="rightBrac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Right Brace 10"/>
          <p:cNvSpPr/>
          <p:nvPr/>
        </p:nvSpPr>
        <p:spPr>
          <a:xfrm flipH="1">
            <a:off x="9504206" y="3297382"/>
            <a:ext cx="124702" cy="1551713"/>
          </a:xfrm>
          <a:prstGeom prst="rightBrace">
            <a:avLst/>
          </a:prstGeom>
          <a:ln>
            <a:solidFill>
              <a:schemeClr val="bg2">
                <a:lumMod val="1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412765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down)">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wipe(down)">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wipe(down)">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wipe(down)">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down)">
                                      <p:cBhvr>
                                        <p:cTn id="37" dur="500"/>
                                        <p:tgtEl>
                                          <p:spTgt spid="9"/>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down)">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down)">
                                      <p:cBhvr>
                                        <p:cTn id="45" dur="500"/>
                                        <p:tgtEl>
                                          <p:spTgt spid="10"/>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down)">
                                      <p:cBhvr>
                                        <p:cTn id="4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P spid="10" grpId="0"/>
      <p:bldP spid="5"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Stack Allocation</a:t>
            </a:r>
          </a:p>
        </p:txBody>
      </p:sp>
      <p:sp>
        <p:nvSpPr>
          <p:cNvPr id="7" name="Content Placeholder 6"/>
          <p:cNvSpPr>
            <a:spLocks noGrp="1"/>
          </p:cNvSpPr>
          <p:nvPr>
            <p:ph idx="1"/>
          </p:nvPr>
        </p:nvSpPr>
        <p:spPr>
          <a:xfrm>
            <a:off x="838200" y="991674"/>
            <a:ext cx="10515600" cy="5364676"/>
          </a:xfrm>
        </p:spPr>
        <p:txBody>
          <a:bodyPr>
            <a:normAutofit/>
          </a:bodyPr>
          <a:lstStyle/>
          <a:p>
            <a:r>
              <a:rPr lang="en-US" altLang="en-US" dirty="0">
                <a:latin typeface="Candara" panose="020E0502030303020204" pitchFamily="34" charset="0"/>
              </a:rPr>
              <a:t>Stack is used for procedures, functions, methods as part of their run time memory</a:t>
            </a:r>
            <a:endParaRPr lang="en-US" altLang="en-US" sz="1600" dirty="0">
              <a:latin typeface="Candara" panose="020E0502030303020204" pitchFamily="34" charset="0"/>
            </a:endParaRPr>
          </a:p>
          <a:p>
            <a:r>
              <a:rPr lang="en-US" altLang="en-US" dirty="0">
                <a:latin typeface="Candara" panose="020E0502030303020204" pitchFamily="34" charset="0"/>
              </a:rPr>
              <a:t>Each time a procedure is called –</a:t>
            </a:r>
          </a:p>
          <a:p>
            <a:pPr lvl="1">
              <a:buFont typeface="Wingdings" panose="05000000000000000000" pitchFamily="2" charset="2"/>
              <a:buChar char="Ø"/>
            </a:pPr>
            <a:r>
              <a:rPr lang="en-US" altLang="en-US" dirty="0">
                <a:latin typeface="Candara" panose="020E0502030303020204" pitchFamily="34" charset="0"/>
              </a:rPr>
              <a:t>Space for its local variable is pushed onto stack</a:t>
            </a:r>
          </a:p>
          <a:p>
            <a:pPr lvl="1">
              <a:buFont typeface="Wingdings" panose="05000000000000000000" pitchFamily="2" charset="2"/>
              <a:buChar char="Ø"/>
            </a:pPr>
            <a:r>
              <a:rPr lang="en-US" altLang="en-US" dirty="0">
                <a:latin typeface="Candara" panose="020E0502030303020204" pitchFamily="34" charset="0"/>
              </a:rPr>
              <a:t>At return time that space is popped off.</a:t>
            </a:r>
          </a:p>
          <a:p>
            <a:r>
              <a:rPr lang="en-US" altLang="en-US" dirty="0">
                <a:latin typeface="Candara" panose="020E0502030303020204" pitchFamily="34" charset="0"/>
              </a:rPr>
              <a:t>Allows space to be shared by procedure calls whose duration do not overlap in time</a:t>
            </a:r>
          </a:p>
          <a:p>
            <a:r>
              <a:rPr lang="en-US" altLang="en-US" dirty="0">
                <a:latin typeface="Candara" panose="020E0502030303020204" pitchFamily="34" charset="0"/>
              </a:rPr>
              <a:t>Allows to compile code for a procedure in such a way that the relative addresses of its not local variables are always the same, regardless of the sequence of procedure calls</a:t>
            </a:r>
          </a:p>
          <a:p>
            <a:pPr marL="0" indent="0" algn="ctr">
              <a:buNone/>
            </a:pPr>
            <a:r>
              <a:rPr lang="en-US" altLang="en-US" dirty="0">
                <a:solidFill>
                  <a:srgbClr val="FF0000"/>
                </a:solidFill>
                <a:latin typeface="Candara" panose="020E0502030303020204" pitchFamily="34" charset="0"/>
              </a:rPr>
              <a:t>Stack allocation would not be feasible if procedure calls, or </a:t>
            </a:r>
            <a:r>
              <a:rPr lang="en-US" altLang="en-US" i="1" dirty="0">
                <a:solidFill>
                  <a:srgbClr val="FF0000"/>
                </a:solidFill>
                <a:latin typeface="Candara" panose="020E0502030303020204" pitchFamily="34" charset="0"/>
              </a:rPr>
              <a:t>activation</a:t>
            </a:r>
            <a:r>
              <a:rPr lang="en-US" altLang="en-US" dirty="0">
                <a:solidFill>
                  <a:srgbClr val="FF0000"/>
                </a:solidFill>
                <a:latin typeface="Candara" panose="020E0502030303020204" pitchFamily="34" charset="0"/>
              </a:rPr>
              <a:t> of procedures, did not nest in time</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857636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down)">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down)">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wipe(down)">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wipe(down)">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down)">
                                      <p:cBhvr>
                                        <p:cTn id="37"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Nesting of Procedure</a:t>
            </a:r>
          </a:p>
        </p:txBody>
      </p:sp>
      <p:sp>
        <p:nvSpPr>
          <p:cNvPr id="7" name="Content Placeholder 6"/>
          <p:cNvSpPr>
            <a:spLocks noGrp="1"/>
          </p:cNvSpPr>
          <p:nvPr>
            <p:ph idx="1"/>
          </p:nvPr>
        </p:nvSpPr>
        <p:spPr>
          <a:xfrm>
            <a:off x="838199" y="1246909"/>
            <a:ext cx="8014855" cy="4930054"/>
          </a:xfrm>
        </p:spPr>
        <p:txBody>
          <a:bodyPr>
            <a:normAutofit/>
          </a:bodyPr>
          <a:lstStyle/>
          <a:p>
            <a:pPr>
              <a:lnSpc>
                <a:spcPct val="80000"/>
              </a:lnSpc>
            </a:pPr>
            <a:r>
              <a:rPr lang="en-US" altLang="en-US" dirty="0">
                <a:latin typeface="Candara" panose="020E0502030303020204" pitchFamily="34" charset="0"/>
              </a:rPr>
              <a:t>If an activation of procedure p calls procedure q then</a:t>
            </a:r>
          </a:p>
          <a:p>
            <a:pPr lvl="1">
              <a:lnSpc>
                <a:spcPct val="80000"/>
              </a:lnSpc>
            </a:pPr>
            <a:endParaRPr lang="en-US" altLang="en-US" sz="1050" dirty="0">
              <a:latin typeface="Candara" panose="020E0502030303020204" pitchFamily="34" charset="0"/>
            </a:endParaRPr>
          </a:p>
          <a:p>
            <a:pPr lvl="1">
              <a:lnSpc>
                <a:spcPct val="80000"/>
              </a:lnSpc>
            </a:pPr>
            <a:r>
              <a:rPr lang="en-US" altLang="en-US" dirty="0">
                <a:latin typeface="Candara" panose="020E0502030303020204" pitchFamily="34" charset="0"/>
              </a:rPr>
              <a:t>The activation of q must end before activation of p can end</a:t>
            </a:r>
          </a:p>
          <a:p>
            <a:pPr lvl="1">
              <a:lnSpc>
                <a:spcPct val="80000"/>
              </a:lnSpc>
            </a:pPr>
            <a:endParaRPr lang="en-US" altLang="en-US" dirty="0">
              <a:latin typeface="Candara" panose="020E0502030303020204" pitchFamily="34" charset="0"/>
            </a:endParaRPr>
          </a:p>
          <a:p>
            <a:pPr>
              <a:lnSpc>
                <a:spcPct val="80000"/>
              </a:lnSpc>
            </a:pPr>
            <a:r>
              <a:rPr lang="en-US" altLang="en-US" dirty="0">
                <a:latin typeface="Candara" panose="020E0502030303020204" pitchFamily="34" charset="0"/>
              </a:rPr>
              <a:t>There are three common cases:</a:t>
            </a:r>
          </a:p>
          <a:p>
            <a:pPr>
              <a:lnSpc>
                <a:spcPct val="80000"/>
              </a:lnSpc>
            </a:pPr>
            <a:endParaRPr lang="en-US" altLang="en-US" sz="1200" dirty="0">
              <a:latin typeface="Candara" panose="020E0502030303020204" pitchFamily="34" charset="0"/>
            </a:endParaRPr>
          </a:p>
          <a:p>
            <a:pPr lvl="1">
              <a:lnSpc>
                <a:spcPct val="80000"/>
              </a:lnSpc>
            </a:pPr>
            <a:r>
              <a:rPr lang="en-US" altLang="en-US" dirty="0">
                <a:latin typeface="Candara" panose="020E0502030303020204" pitchFamily="34" charset="0"/>
              </a:rPr>
              <a:t>Activation of q terminates normally</a:t>
            </a:r>
          </a:p>
          <a:p>
            <a:pPr lvl="1">
              <a:lnSpc>
                <a:spcPct val="80000"/>
              </a:lnSpc>
            </a:pPr>
            <a:endParaRPr lang="en-US" altLang="en-US" sz="1200" dirty="0">
              <a:latin typeface="Candara" panose="020E0502030303020204" pitchFamily="34" charset="0"/>
            </a:endParaRPr>
          </a:p>
          <a:p>
            <a:pPr lvl="1">
              <a:lnSpc>
                <a:spcPct val="80000"/>
              </a:lnSpc>
            </a:pPr>
            <a:r>
              <a:rPr lang="en-US" altLang="en-US" dirty="0">
                <a:latin typeface="Candara" panose="020E0502030303020204" pitchFamily="34" charset="0"/>
              </a:rPr>
              <a:t>Activation of q aborts</a:t>
            </a:r>
          </a:p>
          <a:p>
            <a:pPr lvl="1">
              <a:lnSpc>
                <a:spcPct val="80000"/>
              </a:lnSpc>
            </a:pPr>
            <a:endParaRPr lang="en-US" altLang="en-US" sz="1200" dirty="0">
              <a:latin typeface="Candara" panose="020E0502030303020204" pitchFamily="34" charset="0"/>
            </a:endParaRPr>
          </a:p>
          <a:p>
            <a:pPr lvl="1">
              <a:lnSpc>
                <a:spcPct val="80000"/>
              </a:lnSpc>
            </a:pPr>
            <a:r>
              <a:rPr lang="en-US" altLang="en-US" dirty="0">
                <a:latin typeface="Candara" panose="020E0502030303020204" pitchFamily="34" charset="0"/>
              </a:rPr>
              <a:t>Activation of q terminates because of exceptions that q cannot handle</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10</a:t>
            </a:fld>
            <a:endParaRPr lang="en-US" dirty="0"/>
          </a:p>
        </p:txBody>
      </p:sp>
      <p:sp>
        <p:nvSpPr>
          <p:cNvPr id="5" name="TextBox 4"/>
          <p:cNvSpPr txBox="1"/>
          <p:nvPr/>
        </p:nvSpPr>
        <p:spPr>
          <a:xfrm>
            <a:off x="9864439" y="2895602"/>
            <a:ext cx="1066799" cy="1754326"/>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p( )</a:t>
            </a:r>
          </a:p>
          <a:p>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q(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68263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wipe(down)">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wipe(down)">
                                      <p:cBhvr>
                                        <p:cTn id="17" dur="5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wipe(down)">
                                      <p:cBhvr>
                                        <p:cTn id="22" dur="500"/>
                                        <p:tgtEl>
                                          <p:spTgt spid="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animEffect transition="in" filter="wipe(down)">
                                      <p:cBhvr>
                                        <p:cTn id="27" dur="500"/>
                                        <p:tgtEl>
                                          <p:spTgt spid="7">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xEl>
                                              <p:pRg st="10" end="10"/>
                                            </p:txEl>
                                          </p:spTgt>
                                        </p:tgtEl>
                                        <p:attrNameLst>
                                          <p:attrName>style.visibility</p:attrName>
                                        </p:attrNameLst>
                                      </p:cBhvr>
                                      <p:to>
                                        <p:strVal val="visible"/>
                                      </p:to>
                                    </p:set>
                                    <p:animEffect transition="in" filter="wipe(down)">
                                      <p:cBhvr>
                                        <p:cTn id="32"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Nested Procedure Call</a:t>
            </a:r>
          </a:p>
        </p:txBody>
      </p:sp>
      <p:sp>
        <p:nvSpPr>
          <p:cNvPr id="7" name="Content Placeholder 6"/>
          <p:cNvSpPr>
            <a:spLocks noGrp="1"/>
          </p:cNvSpPr>
          <p:nvPr>
            <p:ph idx="1"/>
          </p:nvPr>
        </p:nvSpPr>
        <p:spPr>
          <a:xfrm>
            <a:off x="838200" y="1246909"/>
            <a:ext cx="10515600" cy="4930054"/>
          </a:xfrm>
        </p:spPr>
        <p:txBody>
          <a:bodyPr/>
          <a:lstStyle/>
          <a:p>
            <a:r>
              <a:rPr lang="en-US" altLang="en-US" dirty="0">
                <a:latin typeface="Candara" panose="020E0502030303020204" pitchFamily="34" charset="0"/>
              </a:rPr>
              <a:t>Procedure Call inside of another procedure</a:t>
            </a:r>
          </a:p>
          <a:p>
            <a:pPr lvl="1"/>
            <a:r>
              <a:rPr lang="en-US" altLang="en-US" dirty="0">
                <a:latin typeface="Candara" panose="020E0502030303020204" pitchFamily="34" charset="0"/>
              </a:rPr>
              <a:t>Like nested loop</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11</a:t>
            </a:fld>
            <a:endParaRPr lang="en-US" dirty="0"/>
          </a:p>
        </p:txBody>
      </p:sp>
      <p:pic>
        <p:nvPicPr>
          <p:cNvPr id="9" name="Content Placeholder 5" descr="Screen Clipping"/>
          <p:cNvPicPr>
            <a:picLocks noChangeAspect="1"/>
          </p:cNvPicPr>
          <p:nvPr/>
        </p:nvPicPr>
        <p:blipFill>
          <a:blip r:embed="rId2"/>
          <a:stretch>
            <a:fillRect/>
          </a:stretch>
        </p:blipFill>
        <p:spPr>
          <a:xfrm>
            <a:off x="1399618" y="2396053"/>
            <a:ext cx="9392763" cy="3602967"/>
          </a:xfrm>
          <a:prstGeom prst="rect">
            <a:avLst/>
          </a:prstGeom>
        </p:spPr>
      </p:pic>
    </p:spTree>
    <p:extLst>
      <p:ext uri="{BB962C8B-B14F-4D97-AF65-F5344CB8AC3E}">
        <p14:creationId xmlns:p14="http://schemas.microsoft.com/office/powerpoint/2010/main" val="214742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Representing Procedure Call</a:t>
            </a:r>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838200" y="1246909"/>
                <a:ext cx="10515600" cy="4930054"/>
              </a:xfrm>
            </p:spPr>
            <p:txBody>
              <a:bodyPr>
                <a:normAutofit/>
              </a:bodyPr>
              <a:lstStyle/>
              <a:p>
                <a:pPr>
                  <a:lnSpc>
                    <a:spcPct val="80000"/>
                  </a:lnSpc>
                </a:pPr>
                <a:r>
                  <a:rPr lang="en-US" altLang="en-US" dirty="0"/>
                  <a:t>Activation Tree:</a:t>
                </a:r>
              </a:p>
              <a:p>
                <a:pPr lvl="1">
                  <a:lnSpc>
                    <a:spcPct val="80000"/>
                  </a:lnSpc>
                  <a:buFont typeface="Wingdings" panose="05000000000000000000" pitchFamily="2" charset="2"/>
                  <a:buChar char="Ø"/>
                </a:pPr>
                <a:r>
                  <a:rPr lang="en-US" altLang="en-US" dirty="0"/>
                  <a:t>Representation of procedures during the running of an entire program by a tree</a:t>
                </a:r>
              </a:p>
              <a:p>
                <a:pPr>
                  <a:lnSpc>
                    <a:spcPct val="80000"/>
                  </a:lnSpc>
                </a:pPr>
                <a:endParaRPr lang="en-US" altLang="en-US" sz="1200" dirty="0"/>
              </a:p>
              <a:p>
                <a:pPr>
                  <a:lnSpc>
                    <a:spcPct val="80000"/>
                  </a:lnSpc>
                </a:pPr>
                <a:r>
                  <a:rPr lang="en-US" altLang="en-US" dirty="0"/>
                  <a:t>Each Node(</a:t>
                </a:r>
                <a14:m>
                  <m:oMath xmlns:m="http://schemas.openxmlformats.org/officeDocument/2006/math">
                    <m:r>
                      <a:rPr lang="en-US" altLang="en-US" i="1" dirty="0" smtClean="0">
                        <a:latin typeface="Cambria Math" panose="02040503050406030204" pitchFamily="18" charset="0"/>
                      </a:rPr>
                      <m:t>𝑝</m:t>
                    </m:r>
                  </m:oMath>
                </a14:m>
                <a:r>
                  <a:rPr lang="en-US" altLang="en-US" dirty="0"/>
                  <a:t>):</a:t>
                </a:r>
              </a:p>
              <a:p>
                <a:pPr lvl="1">
                  <a:lnSpc>
                    <a:spcPct val="80000"/>
                  </a:lnSpc>
                  <a:buFont typeface="Wingdings" panose="05000000000000000000" pitchFamily="2" charset="2"/>
                  <a:buChar char="Ø"/>
                </a:pPr>
                <a:r>
                  <a:rPr lang="en-US" altLang="en-US" dirty="0"/>
                  <a:t>Corresponds to one activation of a procedure</a:t>
                </a:r>
              </a:p>
              <a:p>
                <a:pPr lvl="1">
                  <a:lnSpc>
                    <a:spcPct val="80000"/>
                  </a:lnSpc>
                  <a:buFont typeface="Wingdings" panose="05000000000000000000" pitchFamily="2" charset="2"/>
                  <a:buChar char="Ø"/>
                </a:pPr>
                <a:r>
                  <a:rPr lang="en-US" altLang="en-US" dirty="0"/>
                  <a:t>Root: activation of the main procedure</a:t>
                </a:r>
              </a:p>
              <a:p>
                <a:pPr>
                  <a:lnSpc>
                    <a:spcPct val="80000"/>
                  </a:lnSpc>
                </a:pPr>
                <a:endParaRPr lang="en-US" altLang="en-US" sz="1200" dirty="0"/>
              </a:p>
              <a:p>
                <a:pPr>
                  <a:lnSpc>
                    <a:spcPct val="80000"/>
                  </a:lnSpc>
                </a:pPr>
                <a:r>
                  <a:rPr lang="en-US" altLang="en-US" dirty="0"/>
                  <a:t>Each Children(</a:t>
                </a:r>
                <a14:m>
                  <m:oMath xmlns:m="http://schemas.openxmlformats.org/officeDocument/2006/math">
                    <m:r>
                      <a:rPr lang="en-US" altLang="en-US" i="1" dirty="0" smtClean="0">
                        <a:latin typeface="Cambria Math" panose="02040503050406030204" pitchFamily="18" charset="0"/>
                      </a:rPr>
                      <m:t>𝑞</m:t>
                    </m:r>
                  </m:oMath>
                </a14:m>
                <a:r>
                  <a:rPr lang="en-US" altLang="en-US" dirty="0"/>
                  <a:t>):</a:t>
                </a:r>
                <a:endParaRPr lang="en-US" altLang="en-US" dirty="0">
                  <a:sym typeface="Wingdings" panose="05000000000000000000" pitchFamily="2" charset="2"/>
                </a:endParaRPr>
              </a:p>
              <a:p>
                <a:pPr lvl="1">
                  <a:lnSpc>
                    <a:spcPct val="80000"/>
                  </a:lnSpc>
                  <a:buFont typeface="Wingdings" panose="05000000000000000000" pitchFamily="2" charset="2"/>
                  <a:buChar char="Ø"/>
                </a:pPr>
                <a:r>
                  <a:rPr lang="en-US" altLang="en-US" dirty="0"/>
                  <a:t>Corresponds to activations of the procedures called by this activation of the node</a:t>
                </a:r>
              </a:p>
              <a:p>
                <a:pPr lvl="1">
                  <a:lnSpc>
                    <a:spcPct val="80000"/>
                  </a:lnSpc>
                  <a:buFont typeface="Wingdings" panose="05000000000000000000" pitchFamily="2" charset="2"/>
                  <a:buChar char="Ø"/>
                </a:pPr>
                <a14:m>
                  <m:oMath xmlns:m="http://schemas.openxmlformats.org/officeDocument/2006/math">
                    <m:r>
                      <a:rPr lang="en-US" altLang="en-US" i="1" dirty="0" smtClean="0">
                        <a:latin typeface="Cambria Math" panose="02040503050406030204" pitchFamily="18" charset="0"/>
                      </a:rPr>
                      <m:t>𝑞</m:t>
                    </m:r>
                  </m:oMath>
                </a14:m>
                <a:r>
                  <a:rPr lang="en-US" altLang="en-US" dirty="0"/>
                  <a:t> is called from </a:t>
                </a:r>
                <a14:m>
                  <m:oMath xmlns:m="http://schemas.openxmlformats.org/officeDocument/2006/math">
                    <m:r>
                      <a:rPr lang="en-US" altLang="en-US" i="1" dirty="0" smtClean="0">
                        <a:latin typeface="Cambria Math" panose="02040503050406030204" pitchFamily="18" charset="0"/>
                      </a:rPr>
                      <m:t>𝑝</m:t>
                    </m:r>
                  </m:oMath>
                </a14:m>
                <a:endParaRPr lang="en-US" altLang="en-US" dirty="0"/>
              </a:p>
              <a:p>
                <a:pPr lvl="1">
                  <a:lnSpc>
                    <a:spcPct val="80000"/>
                  </a:lnSpc>
                  <a:buFont typeface="Wingdings" panose="05000000000000000000" pitchFamily="2" charset="2"/>
                  <a:buChar char="Ø"/>
                </a:pPr>
                <a:r>
                  <a:rPr lang="en-US" altLang="en-US" dirty="0"/>
                  <a:t>Order from left to right</a:t>
                </a:r>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838200" y="1246909"/>
                <a:ext cx="10515600" cy="4930054"/>
              </a:xfrm>
              <a:blipFill>
                <a:blip r:embed="rId2"/>
                <a:stretch>
                  <a:fillRect l="-1043" t="-2847"/>
                </a:stretch>
              </a:blipFill>
            </p:spPr>
            <p:txBody>
              <a:bodyPr/>
              <a:lstStyle/>
              <a:p>
                <a:r>
                  <a:rPr lang="en-US">
                    <a:noFill/>
                  </a:rPr>
                  <a:t> </a:t>
                </a:r>
              </a:p>
            </p:txBody>
          </p:sp>
        </mc:Fallback>
      </mc:AlternateContent>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12</a:t>
            </a:fld>
            <a:endParaRPr lang="en-US" dirty="0"/>
          </a:p>
        </p:txBody>
      </p:sp>
    </p:spTree>
    <p:extLst>
      <p:ext uri="{BB962C8B-B14F-4D97-AF65-F5344CB8AC3E}">
        <p14:creationId xmlns:p14="http://schemas.microsoft.com/office/powerpoint/2010/main" val="188823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wipe(down)">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wipe(down)">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wipe(down)">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wipe(down)">
                                      <p:cBhvr>
                                        <p:cTn id="32" dur="500"/>
                                        <p:tgtEl>
                                          <p:spTgt spid="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
                                            <p:txEl>
                                              <p:pRg st="8" end="8"/>
                                            </p:txEl>
                                          </p:spTgt>
                                        </p:tgtEl>
                                        <p:attrNameLst>
                                          <p:attrName>style.visibility</p:attrName>
                                        </p:attrNameLst>
                                      </p:cBhvr>
                                      <p:to>
                                        <p:strVal val="visible"/>
                                      </p:to>
                                    </p:set>
                                    <p:animEffect transition="in" filter="wipe(down)">
                                      <p:cBhvr>
                                        <p:cTn id="37" dur="500"/>
                                        <p:tgtEl>
                                          <p:spTgt spid="7">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
                                            <p:txEl>
                                              <p:pRg st="9" end="9"/>
                                            </p:txEl>
                                          </p:spTgt>
                                        </p:tgtEl>
                                        <p:attrNameLst>
                                          <p:attrName>style.visibility</p:attrName>
                                        </p:attrNameLst>
                                      </p:cBhvr>
                                      <p:to>
                                        <p:strVal val="visible"/>
                                      </p:to>
                                    </p:set>
                                    <p:animEffect transition="in" filter="wipe(down)">
                                      <p:cBhvr>
                                        <p:cTn id="42" dur="500"/>
                                        <p:tgtEl>
                                          <p:spTgt spid="7">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animEffect transition="in" filter="wipe(down)">
                                      <p:cBhvr>
                                        <p:cTn id="47"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8" y="-24784"/>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Activation Tree</a:t>
            </a:r>
          </a:p>
        </p:txBody>
      </p:sp>
      <p:pic>
        <p:nvPicPr>
          <p:cNvPr id="6" name="Content Placeholder 5" descr="Screen Clipping"/>
          <p:cNvPicPr>
            <a:picLocks noGrp="1" noChangeAspect="1"/>
          </p:cNvPicPr>
          <p:nvPr>
            <p:ph idx="1"/>
          </p:nvPr>
        </p:nvPicPr>
        <p:blipFill>
          <a:blip r:embed="rId2"/>
          <a:stretch>
            <a:fillRect/>
          </a:stretch>
        </p:blipFill>
        <p:spPr>
          <a:xfrm>
            <a:off x="665916" y="2232626"/>
            <a:ext cx="7825147" cy="3164902"/>
          </a:xfrm>
        </p:spPr>
      </p:pic>
      <p:sp>
        <p:nvSpPr>
          <p:cNvPr id="4" name="Slide Number Placeholder 3"/>
          <p:cNvSpPr>
            <a:spLocks noGrp="1"/>
          </p:cNvSpPr>
          <p:nvPr>
            <p:ph type="sldNum" sz="quarter" idx="12"/>
          </p:nvPr>
        </p:nvSpPr>
        <p:spPr/>
        <p:txBody>
          <a:bodyPr/>
          <a:lstStyle/>
          <a:p>
            <a:fld id="{48F63A3B-78C7-47BE-AE5E-E10140E04643}" type="slidenum">
              <a:rPr lang="en-US" smtClean="0"/>
              <a:pPr/>
              <a:t>13</a:t>
            </a:fld>
            <a:endParaRPr lang="en-US" dirty="0"/>
          </a:p>
        </p:txBody>
      </p:sp>
      <p:sp>
        <p:nvSpPr>
          <p:cNvPr id="8" name="TextBox 7"/>
          <p:cNvSpPr txBox="1"/>
          <p:nvPr/>
        </p:nvSpPr>
        <p:spPr>
          <a:xfrm>
            <a:off x="1052280" y="5418334"/>
            <a:ext cx="6704079" cy="400110"/>
          </a:xfrm>
          <a:prstGeom prst="rect">
            <a:avLst/>
          </a:prstGeom>
          <a:noFill/>
        </p:spPr>
        <p:txBody>
          <a:bodyPr wrap="none" rtlCol="0">
            <a:spAutoFit/>
          </a:bodyPr>
          <a:lstStyle/>
          <a:p>
            <a:r>
              <a:rPr lang="en-US" sz="2000" u="sng" dirty="0">
                <a:latin typeface="Candara" panose="020E0502030303020204" pitchFamily="34" charset="0"/>
                <a:cs typeface="Andalus" panose="02020603050405020304" pitchFamily="18" charset="-78"/>
              </a:rPr>
              <a:t>Activation tree of quicksort during an execution of quicksort</a:t>
            </a:r>
          </a:p>
        </p:txBody>
      </p:sp>
      <p:pic>
        <p:nvPicPr>
          <p:cNvPr id="5" name="Content Placeholder 5" descr="Screen Clipping">
            <a:extLst>
              <a:ext uri="{FF2B5EF4-FFF2-40B4-BE49-F238E27FC236}">
                <a16:creationId xmlns:a16="http://schemas.microsoft.com/office/drawing/2014/main" id="{CE11EE16-F060-25BD-C973-27D4EA5B278B}"/>
              </a:ext>
            </a:extLst>
          </p:cNvPr>
          <p:cNvPicPr>
            <a:picLocks noChangeAspect="1"/>
          </p:cNvPicPr>
          <p:nvPr/>
        </p:nvPicPr>
        <p:blipFill rotWithShape="1">
          <a:blip r:embed="rId3"/>
          <a:srcRect r="40430"/>
          <a:stretch/>
        </p:blipFill>
        <p:spPr>
          <a:xfrm>
            <a:off x="7582409" y="1039556"/>
            <a:ext cx="4459091" cy="2871351"/>
          </a:xfrm>
          <a:prstGeom prst="rect">
            <a:avLst/>
          </a:prstGeom>
          <a:ln>
            <a:solidFill>
              <a:schemeClr val="accent6">
                <a:lumMod val="75000"/>
              </a:schemeClr>
            </a:solidFill>
          </a:ln>
        </p:spPr>
      </p:pic>
    </p:spTree>
    <p:extLst>
      <p:ext uri="{BB962C8B-B14F-4D97-AF65-F5344CB8AC3E}">
        <p14:creationId xmlns:p14="http://schemas.microsoft.com/office/powerpoint/2010/main" val="483848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Activation Tree</a:t>
            </a:r>
          </a:p>
        </p:txBody>
      </p:sp>
      <p:sp>
        <p:nvSpPr>
          <p:cNvPr id="7" name="Content Placeholder 6"/>
          <p:cNvSpPr>
            <a:spLocks noGrp="1"/>
          </p:cNvSpPr>
          <p:nvPr>
            <p:ph idx="1"/>
          </p:nvPr>
        </p:nvSpPr>
        <p:spPr>
          <a:xfrm>
            <a:off x="838200" y="1246909"/>
            <a:ext cx="10515600" cy="4930054"/>
          </a:xfrm>
        </p:spPr>
        <p:txBody>
          <a:bodyPr>
            <a:normAutofit/>
          </a:bodyPr>
          <a:lstStyle/>
          <a:p>
            <a:r>
              <a:rPr lang="en-US" altLang="en-US" dirty="0">
                <a:latin typeface="Calibri" panose="020F0502020204030204" pitchFamily="34" charset="0"/>
                <a:cs typeface="Calibri" panose="020F0502020204030204" pitchFamily="34" charset="0"/>
              </a:rPr>
              <a:t>Several useful relationships between activation tree and behavior of the program</a:t>
            </a:r>
          </a:p>
          <a:p>
            <a:endParaRPr lang="en-US" altLang="en-US" sz="1050" dirty="0">
              <a:latin typeface="Calibri" panose="020F0502020204030204" pitchFamily="34" charset="0"/>
              <a:cs typeface="Calibri" panose="020F0502020204030204" pitchFamily="34" charset="0"/>
            </a:endParaRPr>
          </a:p>
          <a:p>
            <a:pPr lvl="1">
              <a:buFont typeface="Wingdings" panose="05000000000000000000" pitchFamily="2" charset="2"/>
              <a:buChar char="Ø"/>
            </a:pPr>
            <a:r>
              <a:rPr lang="en-US" altLang="en-US" dirty="0">
                <a:latin typeface="Calibri" panose="020F0502020204030204" pitchFamily="34" charset="0"/>
                <a:cs typeface="Calibri" panose="020F0502020204030204" pitchFamily="34" charset="0"/>
              </a:rPr>
              <a:t>Sequence of procedure calls corresponds to preorder traversal of the activation tree</a:t>
            </a:r>
          </a:p>
          <a:p>
            <a:pPr lvl="1">
              <a:buFont typeface="Wingdings" panose="05000000000000000000" pitchFamily="2" charset="2"/>
              <a:buChar char="Ø"/>
            </a:pPr>
            <a:endParaRPr lang="en-US" altLang="en-US" sz="1000" dirty="0">
              <a:latin typeface="Calibri" panose="020F0502020204030204" pitchFamily="34" charset="0"/>
              <a:cs typeface="Calibri" panose="020F0502020204030204" pitchFamily="34" charset="0"/>
            </a:endParaRPr>
          </a:p>
          <a:p>
            <a:pPr lvl="1">
              <a:buFont typeface="Wingdings" panose="05000000000000000000" pitchFamily="2" charset="2"/>
              <a:buChar char="Ø"/>
            </a:pPr>
            <a:r>
              <a:rPr lang="en-US" altLang="en-US" dirty="0">
                <a:latin typeface="Calibri" panose="020F0502020204030204" pitchFamily="34" charset="0"/>
                <a:cs typeface="Calibri" panose="020F0502020204030204" pitchFamily="34" charset="0"/>
              </a:rPr>
              <a:t>Return sequence corresponds to post order traversal</a:t>
            </a:r>
          </a:p>
          <a:p>
            <a:pPr lvl="1">
              <a:buFont typeface="Wingdings" panose="05000000000000000000" pitchFamily="2" charset="2"/>
              <a:buChar char="Ø"/>
            </a:pPr>
            <a:endParaRPr lang="en-US" altLang="en-US" sz="1050" dirty="0">
              <a:latin typeface="Calibri" panose="020F0502020204030204" pitchFamily="34" charset="0"/>
              <a:cs typeface="Calibri" panose="020F0502020204030204" pitchFamily="34" charset="0"/>
            </a:endParaRPr>
          </a:p>
          <a:p>
            <a:pPr lvl="1">
              <a:buFont typeface="Wingdings" panose="05000000000000000000" pitchFamily="2" charset="2"/>
              <a:buChar char="Ø"/>
            </a:pPr>
            <a:r>
              <a:rPr lang="en-US" altLang="en-US" dirty="0">
                <a:latin typeface="Calibri" panose="020F0502020204030204" pitchFamily="34" charset="0"/>
                <a:cs typeface="Calibri" panose="020F0502020204030204" pitchFamily="34" charset="0"/>
              </a:rPr>
              <a:t>At any node N the live activations are those that corresponds to N and its ancestor</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14</a:t>
            </a:fld>
            <a:endParaRPr lang="en-US" dirty="0"/>
          </a:p>
        </p:txBody>
      </p:sp>
    </p:spTree>
    <p:extLst>
      <p:ext uri="{BB962C8B-B14F-4D97-AF65-F5344CB8AC3E}">
        <p14:creationId xmlns:p14="http://schemas.microsoft.com/office/powerpoint/2010/main" val="2634152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wipe(down)">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wipe(down)">
                                      <p:cBhvr>
                                        <p:cTn id="17" dur="500"/>
                                        <p:tgtEl>
                                          <p:spTgt spid="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wipe(down)">
                                      <p:cBhvr>
                                        <p:cTn id="22"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437" y="-16951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Activation Tree</a:t>
            </a:r>
          </a:p>
        </p:txBody>
      </p:sp>
      <p:pic>
        <p:nvPicPr>
          <p:cNvPr id="6" name="Content Placeholder 5" descr="Screen Clipping"/>
          <p:cNvPicPr>
            <a:picLocks noGrp="1" noChangeAspect="1"/>
          </p:cNvPicPr>
          <p:nvPr>
            <p:ph idx="1"/>
          </p:nvPr>
        </p:nvPicPr>
        <p:blipFill>
          <a:blip r:embed="rId2"/>
          <a:stretch>
            <a:fillRect/>
          </a:stretch>
        </p:blipFill>
        <p:spPr>
          <a:xfrm>
            <a:off x="2351016" y="2357187"/>
            <a:ext cx="7825147" cy="3164902"/>
          </a:xfrm>
        </p:spPr>
      </p:pic>
      <p:sp>
        <p:nvSpPr>
          <p:cNvPr id="4" name="Slide Number Placeholder 3"/>
          <p:cNvSpPr>
            <a:spLocks noGrp="1"/>
          </p:cNvSpPr>
          <p:nvPr>
            <p:ph type="sldNum" sz="quarter" idx="12"/>
          </p:nvPr>
        </p:nvSpPr>
        <p:spPr/>
        <p:txBody>
          <a:bodyPr/>
          <a:lstStyle/>
          <a:p>
            <a:fld id="{48F63A3B-78C7-47BE-AE5E-E10140E04643}" type="slidenum">
              <a:rPr lang="en-US" smtClean="0"/>
              <a:pPr/>
              <a:t>15</a:t>
            </a:fld>
            <a:endParaRPr lang="en-US" dirty="0"/>
          </a:p>
        </p:txBody>
      </p:sp>
      <p:sp>
        <p:nvSpPr>
          <p:cNvPr id="8" name="TextBox 7"/>
          <p:cNvSpPr txBox="1"/>
          <p:nvPr/>
        </p:nvSpPr>
        <p:spPr>
          <a:xfrm>
            <a:off x="3278121" y="6256735"/>
            <a:ext cx="6704079" cy="400110"/>
          </a:xfrm>
          <a:prstGeom prst="rect">
            <a:avLst/>
          </a:prstGeom>
          <a:noFill/>
        </p:spPr>
        <p:txBody>
          <a:bodyPr wrap="none" rtlCol="0">
            <a:spAutoFit/>
          </a:bodyPr>
          <a:lstStyle/>
          <a:p>
            <a:r>
              <a:rPr lang="en-US" sz="2000" u="sng" dirty="0">
                <a:latin typeface="Candara" panose="020E0502030303020204" pitchFamily="34" charset="0"/>
                <a:cs typeface="Andalus" panose="02020603050405020304" pitchFamily="18" charset="-78"/>
              </a:rPr>
              <a:t>Activation tree of quicksort during an execution of quicksort</a:t>
            </a:r>
          </a:p>
        </p:txBody>
      </p:sp>
      <p:sp>
        <p:nvSpPr>
          <p:cNvPr id="9" name="Oval 8"/>
          <p:cNvSpPr/>
          <p:nvPr/>
        </p:nvSpPr>
        <p:spPr>
          <a:xfrm>
            <a:off x="4006602" y="2338775"/>
            <a:ext cx="478312" cy="404421"/>
          </a:xfrm>
          <a:prstGeom prst="ellipse">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275113" y="2883058"/>
            <a:ext cx="775855" cy="550811"/>
          </a:xfrm>
          <a:prstGeom prst="ellipse">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4282370" y="3528943"/>
            <a:ext cx="775855" cy="550811"/>
          </a:xfrm>
          <a:prstGeom prst="ellipse">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5116940" y="4145798"/>
            <a:ext cx="775855" cy="550811"/>
          </a:xfrm>
          <a:prstGeom prst="ellipse">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138709" y="4791683"/>
            <a:ext cx="775855" cy="550811"/>
          </a:xfrm>
          <a:prstGeom prst="ellipse">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2627743" y="2919346"/>
            <a:ext cx="775855" cy="550811"/>
          </a:xfrm>
          <a:prstGeom prst="ellipse">
            <a:avLst/>
          </a:prstGeom>
          <a:noFill/>
          <a:ln w="222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2605973" y="3536203"/>
            <a:ext cx="775855" cy="550811"/>
          </a:xfrm>
          <a:prstGeom prst="ellipse">
            <a:avLst/>
          </a:prstGeom>
          <a:noFill/>
          <a:ln w="222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3455059" y="4167573"/>
            <a:ext cx="775855" cy="550811"/>
          </a:xfrm>
          <a:prstGeom prst="ellipse">
            <a:avLst/>
          </a:prstGeom>
          <a:noFill/>
          <a:ln w="222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289629" y="4174833"/>
            <a:ext cx="775855" cy="550811"/>
          </a:xfrm>
          <a:prstGeom prst="ellipse">
            <a:avLst/>
          </a:prstGeom>
          <a:noFill/>
          <a:ln w="222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4282372" y="4835235"/>
            <a:ext cx="775855" cy="550811"/>
          </a:xfrm>
          <a:prstGeom prst="ellipse">
            <a:avLst/>
          </a:prstGeom>
          <a:noFill/>
          <a:ln w="222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598887" y="3579751"/>
            <a:ext cx="775855" cy="550811"/>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06144" y="4167579"/>
            <a:ext cx="775855" cy="550811"/>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440714" y="4189351"/>
            <a:ext cx="775855" cy="550811"/>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447971" y="4806207"/>
            <a:ext cx="775855" cy="550811"/>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9282543" y="4827978"/>
            <a:ext cx="775855" cy="550811"/>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7606144" y="4878779"/>
            <a:ext cx="775855" cy="550811"/>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6771574" y="4189352"/>
            <a:ext cx="775855" cy="550811"/>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303088" y="2589409"/>
            <a:ext cx="775855" cy="550811"/>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274056" y="1951145"/>
            <a:ext cx="775855" cy="550811"/>
          </a:xfrm>
          <a:prstGeom prst="ellipse">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237773" y="1247204"/>
            <a:ext cx="775855" cy="550811"/>
          </a:xfrm>
          <a:prstGeom prst="ellipse">
            <a:avLst/>
          </a:prstGeom>
          <a:noFill/>
          <a:ln w="222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970085" y="1322427"/>
            <a:ext cx="1976823" cy="369332"/>
          </a:xfrm>
          <a:prstGeom prst="rect">
            <a:avLst/>
          </a:prstGeom>
          <a:noFill/>
        </p:spPr>
        <p:txBody>
          <a:bodyPr wrap="none" rtlCol="0">
            <a:spAutoFit/>
          </a:bodyPr>
          <a:lstStyle/>
          <a:p>
            <a:r>
              <a:rPr lang="en-US" dirty="0">
                <a:latin typeface="Candara" panose="020E0502030303020204" pitchFamily="34" charset="0"/>
              </a:rPr>
              <a:t>Already Processed</a:t>
            </a:r>
          </a:p>
        </p:txBody>
      </p:sp>
      <p:sp>
        <p:nvSpPr>
          <p:cNvPr id="30" name="TextBox 29"/>
          <p:cNvSpPr txBox="1"/>
          <p:nvPr/>
        </p:nvSpPr>
        <p:spPr>
          <a:xfrm>
            <a:off x="1078943" y="2011853"/>
            <a:ext cx="659155" cy="369332"/>
          </a:xfrm>
          <a:prstGeom prst="rect">
            <a:avLst/>
          </a:prstGeom>
          <a:noFill/>
        </p:spPr>
        <p:txBody>
          <a:bodyPr wrap="none" rtlCol="0">
            <a:spAutoFit/>
          </a:bodyPr>
          <a:lstStyle/>
          <a:p>
            <a:r>
              <a:rPr lang="en-US" dirty="0">
                <a:latin typeface="Candara" panose="020E0502030303020204" pitchFamily="34" charset="0"/>
              </a:rPr>
              <a:t>Alive</a:t>
            </a:r>
          </a:p>
        </p:txBody>
      </p:sp>
      <p:sp>
        <p:nvSpPr>
          <p:cNvPr id="31" name="TextBox 30"/>
          <p:cNvSpPr txBox="1"/>
          <p:nvPr/>
        </p:nvSpPr>
        <p:spPr>
          <a:xfrm>
            <a:off x="1187801" y="2643224"/>
            <a:ext cx="1141403" cy="369332"/>
          </a:xfrm>
          <a:prstGeom prst="rect">
            <a:avLst/>
          </a:prstGeom>
          <a:noFill/>
        </p:spPr>
        <p:txBody>
          <a:bodyPr wrap="none" rtlCol="0">
            <a:spAutoFit/>
          </a:bodyPr>
          <a:lstStyle/>
          <a:p>
            <a:r>
              <a:rPr lang="en-US" dirty="0">
                <a:latin typeface="Candara" panose="020E0502030303020204" pitchFamily="34" charset="0"/>
              </a:rPr>
              <a:t>Yet to call</a:t>
            </a:r>
          </a:p>
        </p:txBody>
      </p:sp>
      <p:sp>
        <p:nvSpPr>
          <p:cNvPr id="7" name="Oval 6">
            <a:extLst>
              <a:ext uri="{FF2B5EF4-FFF2-40B4-BE49-F238E27FC236}">
                <a16:creationId xmlns:a16="http://schemas.microsoft.com/office/drawing/2014/main" id="{012FA9AC-AF38-0628-C75E-CA4DDD6736A2}"/>
              </a:ext>
            </a:extLst>
          </p:cNvPr>
          <p:cNvSpPr/>
          <p:nvPr/>
        </p:nvSpPr>
        <p:spPr>
          <a:xfrm>
            <a:off x="5944262" y="4813093"/>
            <a:ext cx="775855" cy="550811"/>
          </a:xfrm>
          <a:prstGeom prst="ellipse">
            <a:avLst/>
          </a:pr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Content Placeholder 5" descr="Screen Clipping">
            <a:extLst>
              <a:ext uri="{FF2B5EF4-FFF2-40B4-BE49-F238E27FC236}">
                <a16:creationId xmlns:a16="http://schemas.microsoft.com/office/drawing/2014/main" id="{739A2AD8-EAA0-D10C-132A-E894746D07AA}"/>
              </a:ext>
            </a:extLst>
          </p:cNvPr>
          <p:cNvPicPr>
            <a:picLocks noChangeAspect="1"/>
          </p:cNvPicPr>
          <p:nvPr/>
        </p:nvPicPr>
        <p:blipFill rotWithShape="1">
          <a:blip r:embed="rId3"/>
          <a:srcRect r="40430"/>
          <a:stretch/>
        </p:blipFill>
        <p:spPr>
          <a:xfrm>
            <a:off x="7625951" y="284816"/>
            <a:ext cx="4459091" cy="2871351"/>
          </a:xfrm>
          <a:prstGeom prst="rect">
            <a:avLst/>
          </a:prstGeom>
          <a:ln>
            <a:solidFill>
              <a:schemeClr val="accent6">
                <a:lumMod val="75000"/>
              </a:schemeClr>
            </a:solidFill>
          </a:ln>
        </p:spPr>
      </p:pic>
    </p:spTree>
    <p:extLst>
      <p:ext uri="{BB962C8B-B14F-4D97-AF65-F5344CB8AC3E}">
        <p14:creationId xmlns:p14="http://schemas.microsoft.com/office/powerpoint/2010/main" val="2522450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Control Stack</a:t>
            </a:r>
          </a:p>
        </p:txBody>
      </p:sp>
      <p:sp>
        <p:nvSpPr>
          <p:cNvPr id="7" name="Content Placeholder 6"/>
          <p:cNvSpPr>
            <a:spLocks noGrp="1"/>
          </p:cNvSpPr>
          <p:nvPr>
            <p:ph idx="1"/>
          </p:nvPr>
        </p:nvSpPr>
        <p:spPr>
          <a:xfrm>
            <a:off x="838200" y="1246909"/>
            <a:ext cx="6464121" cy="4930054"/>
          </a:xfrm>
        </p:spPr>
        <p:txBody>
          <a:bodyPr>
            <a:normAutofit lnSpcReduction="10000"/>
          </a:bodyPr>
          <a:lstStyle/>
          <a:p>
            <a:r>
              <a:rPr lang="en-US" altLang="en-US" b="1" i="1" dirty="0">
                <a:solidFill>
                  <a:schemeClr val="accent4">
                    <a:lumMod val="75000"/>
                  </a:schemeClr>
                </a:solidFill>
                <a:latin typeface="Candara" panose="020E0502030303020204" pitchFamily="34" charset="0"/>
              </a:rPr>
              <a:t>Control Stack:</a:t>
            </a:r>
            <a:r>
              <a:rPr lang="en-US" altLang="en-US" b="1" i="1" dirty="0">
                <a:latin typeface="Candara" panose="020E0502030303020204" pitchFamily="34" charset="0"/>
              </a:rPr>
              <a:t> </a:t>
            </a:r>
            <a:r>
              <a:rPr lang="en-US" altLang="en-US" dirty="0">
                <a:latin typeface="Candara" panose="020E0502030303020204" pitchFamily="34" charset="0"/>
              </a:rPr>
              <a:t>Procedure calls and returns are managed by a run time stack</a:t>
            </a:r>
            <a:endParaRPr lang="en-US" altLang="en-US" b="1" i="1" dirty="0">
              <a:latin typeface="Candara" panose="020E0502030303020204" pitchFamily="34" charset="0"/>
            </a:endParaRPr>
          </a:p>
          <a:p>
            <a:endParaRPr lang="en-US" altLang="en-US" sz="1400" b="1" i="1" dirty="0">
              <a:latin typeface="Candara" panose="020E0502030303020204" pitchFamily="34" charset="0"/>
            </a:endParaRPr>
          </a:p>
          <a:p>
            <a:r>
              <a:rPr lang="en-US" altLang="en-US" dirty="0">
                <a:latin typeface="Candara" panose="020E0502030303020204" pitchFamily="34" charset="0"/>
              </a:rPr>
              <a:t>Each live activation has an </a:t>
            </a:r>
            <a:r>
              <a:rPr lang="en-US" altLang="en-US" i="1" dirty="0">
                <a:solidFill>
                  <a:srgbClr val="FF0000"/>
                </a:solidFill>
                <a:latin typeface="Candara" panose="020E0502030303020204" pitchFamily="34" charset="0"/>
              </a:rPr>
              <a:t>activation record </a:t>
            </a:r>
            <a:r>
              <a:rPr lang="en-US" altLang="en-US" i="1" dirty="0">
                <a:latin typeface="Candara" panose="020E0502030303020204" pitchFamily="34" charset="0"/>
              </a:rPr>
              <a:t>(</a:t>
            </a:r>
            <a:r>
              <a:rPr lang="en-US" altLang="en-US" b="1" dirty="0">
                <a:latin typeface="Candara" panose="020E0502030303020204" pitchFamily="34" charset="0"/>
              </a:rPr>
              <a:t>AR</a:t>
            </a:r>
            <a:r>
              <a:rPr lang="en-US" altLang="en-US" i="1" dirty="0">
                <a:latin typeface="Candara" panose="020E0502030303020204" pitchFamily="34" charset="0"/>
              </a:rPr>
              <a:t>) </a:t>
            </a:r>
            <a:r>
              <a:rPr lang="en-US" altLang="en-US" dirty="0">
                <a:latin typeface="Candara" panose="020E0502030303020204" pitchFamily="34" charset="0"/>
              </a:rPr>
              <a:t>or </a:t>
            </a:r>
            <a:r>
              <a:rPr lang="en-US" altLang="en-US" i="1" dirty="0">
                <a:solidFill>
                  <a:srgbClr val="FF0000"/>
                </a:solidFill>
                <a:latin typeface="Candara" panose="020E0502030303020204" pitchFamily="34" charset="0"/>
              </a:rPr>
              <a:t>stack frame</a:t>
            </a:r>
            <a:r>
              <a:rPr lang="en-US" altLang="en-US" dirty="0">
                <a:latin typeface="Candara" panose="020E0502030303020204" pitchFamily="34" charset="0"/>
              </a:rPr>
              <a:t> on the </a:t>
            </a:r>
            <a:r>
              <a:rPr lang="en-US" altLang="en-US" i="1" dirty="0">
                <a:latin typeface="Candara" panose="020E0502030303020204" pitchFamily="34" charset="0"/>
              </a:rPr>
              <a:t>control stack</a:t>
            </a:r>
          </a:p>
          <a:p>
            <a:endParaRPr lang="en-US" altLang="en-US" sz="1400" dirty="0">
              <a:latin typeface="Candara" panose="020E0502030303020204" pitchFamily="34" charset="0"/>
            </a:endParaRPr>
          </a:p>
          <a:p>
            <a:r>
              <a:rPr lang="en-US" altLang="en-US" dirty="0">
                <a:latin typeface="Candara" panose="020E0502030303020204" pitchFamily="34" charset="0"/>
              </a:rPr>
              <a:t>Root of the </a:t>
            </a:r>
            <a:r>
              <a:rPr lang="en-US" altLang="en-US" dirty="0">
                <a:solidFill>
                  <a:schemeClr val="accent2">
                    <a:lumMod val="50000"/>
                  </a:schemeClr>
                </a:solidFill>
                <a:latin typeface="Candara" panose="020E0502030303020204" pitchFamily="34" charset="0"/>
              </a:rPr>
              <a:t>activation tree</a:t>
            </a:r>
            <a:r>
              <a:rPr lang="en-US" altLang="en-US" dirty="0">
                <a:latin typeface="Candara" panose="020E0502030303020204" pitchFamily="34" charset="0"/>
              </a:rPr>
              <a:t> (main proc) at the bottom</a:t>
            </a:r>
          </a:p>
          <a:p>
            <a:endParaRPr lang="en-US" altLang="en-US" sz="1400" dirty="0">
              <a:latin typeface="Candara" panose="020E0502030303020204" pitchFamily="34" charset="0"/>
            </a:endParaRPr>
          </a:p>
          <a:p>
            <a:r>
              <a:rPr lang="en-US" altLang="en-US" dirty="0">
                <a:latin typeface="Candara" panose="020E0502030303020204" pitchFamily="34" charset="0"/>
              </a:rPr>
              <a:t>Sequence of AR in the stack corresponds to path in the activation tree</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16</a:t>
            </a:fld>
            <a:endParaRPr lang="en-US" dirty="0"/>
          </a:p>
        </p:txBody>
      </p:sp>
      <p:pic>
        <p:nvPicPr>
          <p:cNvPr id="6" name="Picture 5" descr="Screen Clipping"/>
          <p:cNvPicPr>
            <a:picLocks noChangeAspect="1"/>
          </p:cNvPicPr>
          <p:nvPr/>
        </p:nvPicPr>
        <p:blipFill>
          <a:blip r:embed="rId2"/>
          <a:stretch>
            <a:fillRect/>
          </a:stretch>
        </p:blipFill>
        <p:spPr>
          <a:xfrm>
            <a:off x="7171368" y="2165188"/>
            <a:ext cx="4884545" cy="2885784"/>
          </a:xfrm>
          <a:prstGeom prst="rect">
            <a:avLst/>
          </a:prstGeom>
        </p:spPr>
      </p:pic>
    </p:spTree>
    <p:extLst>
      <p:ext uri="{BB962C8B-B14F-4D97-AF65-F5344CB8AC3E}">
        <p14:creationId xmlns:p14="http://schemas.microsoft.com/office/powerpoint/2010/main" val="1731566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Activation Records (AR)</a:t>
            </a:r>
          </a:p>
        </p:txBody>
      </p:sp>
      <p:sp>
        <p:nvSpPr>
          <p:cNvPr id="7" name="Content Placeholder 6"/>
          <p:cNvSpPr>
            <a:spLocks noGrp="1"/>
          </p:cNvSpPr>
          <p:nvPr>
            <p:ph idx="1"/>
          </p:nvPr>
        </p:nvSpPr>
        <p:spPr>
          <a:xfrm>
            <a:off x="838201" y="1246909"/>
            <a:ext cx="6490854" cy="4930054"/>
          </a:xfrm>
        </p:spPr>
        <p:txBody>
          <a:bodyPr>
            <a:normAutofit/>
          </a:bodyPr>
          <a:lstStyle/>
          <a:p>
            <a:r>
              <a:rPr lang="en-US" altLang="en-US" dirty="0">
                <a:latin typeface="Candara" panose="020E0502030303020204" pitchFamily="34" charset="0"/>
              </a:rPr>
              <a:t>Contents of AR depends on language.</a:t>
            </a:r>
          </a:p>
          <a:p>
            <a:endParaRPr lang="en-US" altLang="en-US" sz="700" dirty="0">
              <a:latin typeface="Candara" panose="020E0502030303020204" pitchFamily="34" charset="0"/>
            </a:endParaRPr>
          </a:p>
          <a:p>
            <a:r>
              <a:rPr lang="en-US" altLang="en-US" dirty="0">
                <a:latin typeface="Candara" panose="020E0502030303020204" pitchFamily="34" charset="0"/>
              </a:rPr>
              <a:t>Contents may be</a:t>
            </a:r>
          </a:p>
          <a:p>
            <a:pPr lvl="1"/>
            <a:r>
              <a:rPr lang="en-US" altLang="en-US" b="1" i="1" dirty="0">
                <a:latin typeface="Candara" panose="020E0502030303020204" pitchFamily="34" charset="0"/>
              </a:rPr>
              <a:t>Temporary</a:t>
            </a:r>
            <a:r>
              <a:rPr lang="en-US" altLang="en-US" dirty="0">
                <a:latin typeface="Candara" panose="020E0502030303020204" pitchFamily="34" charset="0"/>
              </a:rPr>
              <a:t>: </a:t>
            </a:r>
            <a:r>
              <a:rPr lang="en-US" altLang="en-US" sz="2000" dirty="0">
                <a:latin typeface="Candara" panose="020E0502030303020204" pitchFamily="34" charset="0"/>
              </a:rPr>
              <a:t>to evaluate expressions</a:t>
            </a:r>
          </a:p>
          <a:p>
            <a:pPr lvl="1"/>
            <a:r>
              <a:rPr lang="en-US" altLang="en-US" b="1" i="1" dirty="0">
                <a:latin typeface="Candara" panose="020E0502030303020204" pitchFamily="34" charset="0"/>
              </a:rPr>
              <a:t>Local Data</a:t>
            </a:r>
            <a:r>
              <a:rPr lang="en-US" altLang="en-US" dirty="0">
                <a:latin typeface="Candara" panose="020E0502030303020204" pitchFamily="34" charset="0"/>
              </a:rPr>
              <a:t>: </a:t>
            </a:r>
            <a:r>
              <a:rPr lang="en-US" altLang="en-US" sz="2000" dirty="0">
                <a:latin typeface="Candara" panose="020E0502030303020204" pitchFamily="34" charset="0"/>
              </a:rPr>
              <a:t>belonging to the procedures</a:t>
            </a:r>
          </a:p>
          <a:p>
            <a:pPr lvl="1"/>
            <a:r>
              <a:rPr lang="en-US" altLang="en-US" b="1" i="1" dirty="0">
                <a:latin typeface="Candara" panose="020E0502030303020204" pitchFamily="34" charset="0"/>
              </a:rPr>
              <a:t>Saved machine status</a:t>
            </a:r>
            <a:r>
              <a:rPr lang="en-US" altLang="en-US" dirty="0">
                <a:latin typeface="Candara" panose="020E0502030303020204" pitchFamily="34" charset="0"/>
              </a:rPr>
              <a:t>:</a:t>
            </a:r>
          </a:p>
          <a:p>
            <a:pPr lvl="1"/>
            <a:r>
              <a:rPr lang="en-US" altLang="en-US" b="1" i="1" dirty="0">
                <a:latin typeface="Candara" panose="020E0502030303020204" pitchFamily="34" charset="0"/>
              </a:rPr>
              <a:t>Access</a:t>
            </a:r>
            <a:r>
              <a:rPr lang="en-US" altLang="en-US" i="1" dirty="0">
                <a:latin typeface="Candara" panose="020E0502030303020204" pitchFamily="34" charset="0"/>
              </a:rPr>
              <a:t> </a:t>
            </a:r>
            <a:r>
              <a:rPr lang="en-US" altLang="en-US" b="1" i="1" dirty="0">
                <a:latin typeface="Candara" panose="020E0502030303020204" pitchFamily="34" charset="0"/>
              </a:rPr>
              <a:t>link</a:t>
            </a:r>
            <a:r>
              <a:rPr lang="en-US" altLang="en-US" dirty="0">
                <a:latin typeface="Candara" panose="020E0502030303020204" pitchFamily="34" charset="0"/>
              </a:rPr>
              <a:t>: </a:t>
            </a:r>
            <a:r>
              <a:rPr lang="en-US" altLang="en-US" sz="2000" dirty="0">
                <a:latin typeface="Candara" panose="020E0502030303020204" pitchFamily="34" charset="0"/>
              </a:rPr>
              <a:t>to locate data found in another activation</a:t>
            </a:r>
          </a:p>
          <a:p>
            <a:pPr lvl="1"/>
            <a:r>
              <a:rPr lang="en-US" altLang="en-US" b="1" i="1" dirty="0">
                <a:latin typeface="Candara" panose="020E0502030303020204" pitchFamily="34" charset="0"/>
              </a:rPr>
              <a:t>Control link</a:t>
            </a:r>
            <a:r>
              <a:rPr lang="en-US" altLang="en-US" dirty="0">
                <a:latin typeface="Candara" panose="020E0502030303020204" pitchFamily="34" charset="0"/>
              </a:rPr>
              <a:t>: </a:t>
            </a:r>
            <a:r>
              <a:rPr lang="en-US" altLang="en-US" sz="2000" dirty="0">
                <a:latin typeface="Candara" panose="020E0502030303020204" pitchFamily="34" charset="0"/>
              </a:rPr>
              <a:t>pointing to AR of the caller</a:t>
            </a:r>
          </a:p>
          <a:p>
            <a:pPr lvl="1"/>
            <a:r>
              <a:rPr lang="en-US" altLang="en-US" b="1" i="1" dirty="0">
                <a:latin typeface="Candara" panose="020E0502030303020204" pitchFamily="34" charset="0"/>
              </a:rPr>
              <a:t>Returned Value</a:t>
            </a:r>
            <a:r>
              <a:rPr lang="en-US" altLang="en-US" b="1" dirty="0">
                <a:latin typeface="Candara" panose="020E0502030303020204" pitchFamily="34" charset="0"/>
              </a:rPr>
              <a:t>:</a:t>
            </a:r>
          </a:p>
          <a:p>
            <a:pPr lvl="1"/>
            <a:r>
              <a:rPr lang="en-US" altLang="en-US" b="1" i="1" dirty="0">
                <a:latin typeface="Candara" panose="020E0502030303020204" pitchFamily="34" charset="0"/>
              </a:rPr>
              <a:t>Actual Parameters</a:t>
            </a:r>
            <a:r>
              <a:rPr lang="en-US" altLang="en-US" b="1" dirty="0">
                <a:latin typeface="Candara" panose="020E0502030303020204" pitchFamily="34" charset="0"/>
              </a:rPr>
              <a:t>:</a:t>
            </a:r>
            <a:r>
              <a:rPr lang="en-US" altLang="en-US" dirty="0">
                <a:latin typeface="Candara" panose="020E0502030303020204" pitchFamily="34" charset="0"/>
              </a:rPr>
              <a:t> </a:t>
            </a:r>
            <a:r>
              <a:rPr lang="en-US" altLang="en-US" sz="2000" dirty="0">
                <a:latin typeface="Candara" panose="020E0502030303020204" pitchFamily="34" charset="0"/>
              </a:rPr>
              <a:t>used by the calling procedure</a:t>
            </a:r>
          </a:p>
          <a:p>
            <a:pPr lvl="2"/>
            <a:endParaRPr lang="en-US" altLang="en-US" dirty="0">
              <a:latin typeface="Candara" panose="020E0502030303020204" pitchFamily="34" charset="0"/>
            </a:endParaRP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17</a:t>
            </a:fld>
            <a:endParaRPr lang="en-US" dirty="0"/>
          </a:p>
        </p:txBody>
      </p:sp>
      <p:pic>
        <p:nvPicPr>
          <p:cNvPr id="6" name="Picture 5" descr="Screen Clipping"/>
          <p:cNvPicPr>
            <a:picLocks noChangeAspect="1"/>
          </p:cNvPicPr>
          <p:nvPr/>
        </p:nvPicPr>
        <p:blipFill>
          <a:blip r:embed="rId2"/>
          <a:stretch>
            <a:fillRect/>
          </a:stretch>
        </p:blipFill>
        <p:spPr>
          <a:xfrm>
            <a:off x="7812942" y="1333309"/>
            <a:ext cx="3270692" cy="3981711"/>
          </a:xfrm>
          <a:prstGeom prst="rect">
            <a:avLst/>
          </a:prstGeom>
        </p:spPr>
      </p:pic>
      <p:sp>
        <p:nvSpPr>
          <p:cNvPr id="8" name="TextBox 7"/>
          <p:cNvSpPr txBox="1"/>
          <p:nvPr/>
        </p:nvSpPr>
        <p:spPr>
          <a:xfrm>
            <a:off x="7841669" y="5167738"/>
            <a:ext cx="3207929" cy="400110"/>
          </a:xfrm>
          <a:prstGeom prst="rect">
            <a:avLst/>
          </a:prstGeom>
          <a:noFill/>
        </p:spPr>
        <p:txBody>
          <a:bodyPr wrap="none" rtlCol="0">
            <a:spAutoFit/>
          </a:bodyPr>
          <a:lstStyle/>
          <a:p>
            <a:r>
              <a:rPr lang="en-US" sz="2000" u="sng" dirty="0">
                <a:latin typeface="Candara" panose="020E0502030303020204" pitchFamily="34" charset="0"/>
                <a:cs typeface="Andalus" panose="02020603050405020304" pitchFamily="18" charset="-78"/>
              </a:rPr>
              <a:t>A general Activation Record</a:t>
            </a:r>
          </a:p>
        </p:txBody>
      </p:sp>
    </p:spTree>
    <p:extLst>
      <p:ext uri="{BB962C8B-B14F-4D97-AF65-F5344CB8AC3E}">
        <p14:creationId xmlns:p14="http://schemas.microsoft.com/office/powerpoint/2010/main" val="406567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wipe(down)">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wipe(down)">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wipe(down)">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wipe(down)">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wipe(down)">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Effect transition="in" filter="wipe(down)">
                                      <p:cBhvr>
                                        <p:cTn id="37" dur="500"/>
                                        <p:tgtEl>
                                          <p:spTgt spid="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
                                            <p:txEl>
                                              <p:pRg st="8" end="8"/>
                                            </p:txEl>
                                          </p:spTgt>
                                        </p:tgtEl>
                                        <p:attrNameLst>
                                          <p:attrName>style.visibility</p:attrName>
                                        </p:attrNameLst>
                                      </p:cBhvr>
                                      <p:to>
                                        <p:strVal val="visible"/>
                                      </p:to>
                                    </p:set>
                                    <p:animEffect transition="in" filter="wipe(down)">
                                      <p:cBhvr>
                                        <p:cTn id="42" dur="500"/>
                                        <p:tgtEl>
                                          <p:spTgt spid="7">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7">
                                            <p:txEl>
                                              <p:pRg st="9" end="9"/>
                                            </p:txEl>
                                          </p:spTgt>
                                        </p:tgtEl>
                                        <p:attrNameLst>
                                          <p:attrName>style.visibility</p:attrName>
                                        </p:attrNameLst>
                                      </p:cBhvr>
                                      <p:to>
                                        <p:strVal val="visible"/>
                                      </p:to>
                                    </p:set>
                                    <p:animEffect transition="in" filter="wipe(down)">
                                      <p:cBhvr>
                                        <p:cTn id="47" dur="500"/>
                                        <p:tgtEl>
                                          <p:spTgt spid="7">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down)">
                                      <p:cBhvr>
                                        <p:cTn id="52" dur="500"/>
                                        <p:tgtEl>
                                          <p:spTgt spid="6"/>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wipe(down)">
                                      <p:cBhvr>
                                        <p:cTn id="5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creen Clipping"/>
          <p:cNvPicPr>
            <a:picLocks noChangeAspect="1"/>
          </p:cNvPicPr>
          <p:nvPr/>
        </p:nvPicPr>
        <p:blipFill>
          <a:blip r:embed="rId2"/>
          <a:stretch>
            <a:fillRect/>
          </a:stretch>
        </p:blipFill>
        <p:spPr>
          <a:xfrm>
            <a:off x="114299" y="1413533"/>
            <a:ext cx="9392763" cy="3602967"/>
          </a:xfrm>
          <a:prstGeom prst="rect">
            <a:avLst/>
          </a:prstGeom>
        </p:spPr>
      </p:pic>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Activation Records (AR)</a:t>
            </a:r>
          </a:p>
        </p:txBody>
      </p:sp>
      <p:sp>
        <p:nvSpPr>
          <p:cNvPr id="4" name="Slide Number Placeholder 3"/>
          <p:cNvSpPr>
            <a:spLocks noGrp="1"/>
          </p:cNvSpPr>
          <p:nvPr>
            <p:ph type="sldNum" sz="quarter" idx="12"/>
          </p:nvPr>
        </p:nvSpPr>
        <p:spPr>
          <a:xfrm>
            <a:off x="9448800" y="6590674"/>
            <a:ext cx="2743200" cy="365125"/>
          </a:xfrm>
        </p:spPr>
        <p:txBody>
          <a:bodyPr/>
          <a:lstStyle/>
          <a:p>
            <a:fld id="{48F63A3B-78C7-47BE-AE5E-E10140E04643}" type="slidenum">
              <a:rPr lang="en-US" smtClean="0"/>
              <a:pPr/>
              <a:t>18</a:t>
            </a:fld>
            <a:endParaRPr lang="en-US" dirty="0"/>
          </a:p>
        </p:txBody>
      </p:sp>
      <p:pic>
        <p:nvPicPr>
          <p:cNvPr id="11" name="Picture 10" descr="Screen Clipping"/>
          <p:cNvPicPr>
            <a:picLocks noChangeAspect="1"/>
          </p:cNvPicPr>
          <p:nvPr/>
        </p:nvPicPr>
        <p:blipFill rotWithShape="1">
          <a:blip r:embed="rId3"/>
          <a:srcRect l="5579" r="6070"/>
          <a:stretch/>
        </p:blipFill>
        <p:spPr>
          <a:xfrm>
            <a:off x="3962403" y="1421486"/>
            <a:ext cx="6030074" cy="5111132"/>
          </a:xfrm>
          <a:prstGeom prst="rect">
            <a:avLst/>
          </a:prstGeom>
        </p:spPr>
      </p:pic>
      <p:pic>
        <p:nvPicPr>
          <p:cNvPr id="5" name="Picture 4" descr="Screen Clipping">
            <a:extLst>
              <a:ext uri="{FF2B5EF4-FFF2-40B4-BE49-F238E27FC236}">
                <a16:creationId xmlns:a16="http://schemas.microsoft.com/office/drawing/2014/main" id="{53549308-F01E-1AE7-5AE1-5A79C7E55636}"/>
              </a:ext>
            </a:extLst>
          </p:cNvPr>
          <p:cNvPicPr>
            <a:picLocks noChangeAspect="1"/>
          </p:cNvPicPr>
          <p:nvPr/>
        </p:nvPicPr>
        <p:blipFill>
          <a:blip r:embed="rId4"/>
          <a:stretch>
            <a:fillRect/>
          </a:stretch>
        </p:blipFill>
        <p:spPr>
          <a:xfrm>
            <a:off x="10268245" y="41222"/>
            <a:ext cx="1909240" cy="2324291"/>
          </a:xfrm>
          <a:prstGeom prst="rect">
            <a:avLst/>
          </a:prstGeom>
        </p:spPr>
      </p:pic>
    </p:spTree>
    <p:extLst>
      <p:ext uri="{BB962C8B-B14F-4D97-AF65-F5344CB8AC3E}">
        <p14:creationId xmlns:p14="http://schemas.microsoft.com/office/powerpoint/2010/main" val="446711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Calling and Return Sequence</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19</a:t>
            </a:fld>
            <a:endParaRPr lang="en-US" dirty="0"/>
          </a:p>
        </p:txBody>
      </p:sp>
      <p:sp>
        <p:nvSpPr>
          <p:cNvPr id="8" name="Content Placeholder 6"/>
          <p:cNvSpPr>
            <a:spLocks noGrp="1"/>
          </p:cNvSpPr>
          <p:nvPr>
            <p:ph idx="1"/>
          </p:nvPr>
        </p:nvSpPr>
        <p:spPr>
          <a:xfrm>
            <a:off x="838200" y="1246909"/>
            <a:ext cx="10299699" cy="4930054"/>
          </a:xfrm>
        </p:spPr>
        <p:txBody>
          <a:bodyPr>
            <a:normAutofit fontScale="92500" lnSpcReduction="10000"/>
          </a:bodyPr>
          <a:lstStyle/>
          <a:p>
            <a:r>
              <a:rPr lang="en-US" altLang="en-US" dirty="0"/>
              <a:t>Calling Sequence: Code that </a:t>
            </a:r>
          </a:p>
          <a:p>
            <a:pPr lvl="1"/>
            <a:r>
              <a:rPr lang="en-US" altLang="en-US" dirty="0"/>
              <a:t>allocates activation record on the stack</a:t>
            </a:r>
          </a:p>
          <a:p>
            <a:pPr lvl="1"/>
            <a:r>
              <a:rPr lang="en-US" altLang="en-US" dirty="0"/>
              <a:t>enters information in the fields</a:t>
            </a:r>
          </a:p>
          <a:p>
            <a:r>
              <a:rPr lang="en-US" altLang="en-US" dirty="0"/>
              <a:t>Return Sequence: Code that </a:t>
            </a:r>
          </a:p>
          <a:p>
            <a:pPr lvl="1"/>
            <a:r>
              <a:rPr lang="en-US" altLang="en-US" dirty="0"/>
              <a:t>restores the state of the machine before calling</a:t>
            </a:r>
          </a:p>
          <a:p>
            <a:pPr lvl="1"/>
            <a:r>
              <a:rPr lang="en-US" altLang="en-US" dirty="0"/>
              <a:t>allows the calling procedure to continue execution after the call</a:t>
            </a:r>
          </a:p>
          <a:p>
            <a:r>
              <a:rPr lang="en-US" altLang="en-US" dirty="0"/>
              <a:t>Calling sequences and the layout of activation records may differ greatly, even among implementations of the same language.</a:t>
            </a:r>
          </a:p>
          <a:p>
            <a:r>
              <a:rPr lang="en-US" altLang="en-US" dirty="0"/>
              <a:t>The code in a calling sequence is often divided between the calling procedure (the "caller") and the procedure it calls (the "callee").</a:t>
            </a:r>
          </a:p>
          <a:p>
            <a:pPr lvl="1"/>
            <a:r>
              <a:rPr lang="en-US" altLang="en-US" dirty="0"/>
              <a:t>No exact division of run-time tasks between caller and callee; </a:t>
            </a:r>
          </a:p>
          <a:p>
            <a:pPr lvl="1"/>
            <a:r>
              <a:rPr lang="en-US" altLang="en-US" dirty="0"/>
              <a:t>the source language, the target machine, and the operating system impose requirements that may favor one solution over another.</a:t>
            </a:r>
          </a:p>
          <a:p>
            <a:endParaRPr lang="en-US" altLang="en-US" dirty="0">
              <a:latin typeface="Candara" panose="020E0502030303020204" pitchFamily="34" charset="0"/>
            </a:endParaRPr>
          </a:p>
          <a:p>
            <a:endParaRPr lang="en-US" altLang="en-US" sz="700" dirty="0">
              <a:latin typeface="Candara" panose="020E0502030303020204" pitchFamily="34" charset="0"/>
            </a:endParaRPr>
          </a:p>
          <a:p>
            <a:pPr lvl="2"/>
            <a:endParaRPr lang="en-US" altLang="en-US" dirty="0">
              <a:latin typeface="Candara" panose="020E0502030303020204" pitchFamily="34" charset="0"/>
            </a:endParaRPr>
          </a:p>
        </p:txBody>
      </p:sp>
    </p:spTree>
    <p:extLst>
      <p:ext uri="{BB962C8B-B14F-4D97-AF65-F5344CB8AC3E}">
        <p14:creationId xmlns:p14="http://schemas.microsoft.com/office/powerpoint/2010/main" val="446711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down)">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down)">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down)">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wipe(down)">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wipe(down)">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wipe(down)">
                                      <p:cBhvr>
                                        <p:cTn id="42" dur="500"/>
                                        <p:tgtEl>
                                          <p:spTgt spid="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8">
                                            <p:txEl>
                                              <p:pRg st="8" end="8"/>
                                            </p:txEl>
                                          </p:spTgt>
                                        </p:tgtEl>
                                        <p:attrNameLst>
                                          <p:attrName>style.visibility</p:attrName>
                                        </p:attrNameLst>
                                      </p:cBhvr>
                                      <p:to>
                                        <p:strVal val="visible"/>
                                      </p:to>
                                    </p:set>
                                    <p:animEffect transition="in" filter="wipe(down)">
                                      <p:cBhvr>
                                        <p:cTn id="47" dur="500"/>
                                        <p:tgtEl>
                                          <p:spTgt spid="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8">
                                            <p:txEl>
                                              <p:pRg st="9" end="9"/>
                                            </p:txEl>
                                          </p:spTgt>
                                        </p:tgtEl>
                                        <p:attrNameLst>
                                          <p:attrName>style.visibility</p:attrName>
                                        </p:attrNameLst>
                                      </p:cBhvr>
                                      <p:to>
                                        <p:strVal val="visible"/>
                                      </p:to>
                                    </p:set>
                                    <p:animEffect transition="in" filter="wipe(down)">
                                      <p:cBhvr>
                                        <p:cTn id="52" dur="5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Calling Sequence</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20</a:t>
            </a:fld>
            <a:endParaRPr lang="en-US" dirty="0"/>
          </a:p>
        </p:txBody>
      </p:sp>
      <p:sp>
        <p:nvSpPr>
          <p:cNvPr id="8" name="Content Placeholder 6"/>
          <p:cNvSpPr>
            <a:spLocks noGrp="1"/>
          </p:cNvSpPr>
          <p:nvPr>
            <p:ph idx="1"/>
          </p:nvPr>
        </p:nvSpPr>
        <p:spPr>
          <a:xfrm>
            <a:off x="838200" y="1246909"/>
            <a:ext cx="10299699" cy="4930054"/>
          </a:xfrm>
        </p:spPr>
        <p:txBody>
          <a:bodyPr>
            <a:normAutofit/>
          </a:bodyPr>
          <a:lstStyle/>
          <a:p>
            <a:r>
              <a:rPr lang="en-US" b="0" i="0" dirty="0">
                <a:solidFill>
                  <a:srgbClr val="333333"/>
                </a:solidFill>
                <a:effectLst/>
              </a:rPr>
              <a:t>If a procedure is called from </a:t>
            </a:r>
            <a:r>
              <a:rPr lang="en-US" b="0" i="1" dirty="0">
                <a:solidFill>
                  <a:srgbClr val="333333"/>
                </a:solidFill>
                <a:effectLst/>
              </a:rPr>
              <a:t>n</a:t>
            </a:r>
            <a:r>
              <a:rPr lang="en-US" b="0" i="0" dirty="0">
                <a:solidFill>
                  <a:srgbClr val="333333"/>
                </a:solidFill>
                <a:effectLst/>
              </a:rPr>
              <a:t> different points, </a:t>
            </a:r>
          </a:p>
          <a:p>
            <a:pPr lvl="1"/>
            <a:r>
              <a:rPr lang="en-US" b="0" i="0" dirty="0">
                <a:solidFill>
                  <a:srgbClr val="333333"/>
                </a:solidFill>
                <a:effectLst/>
              </a:rPr>
              <a:t>The portion of the calling sequence assigned to the caller is generated n times. </a:t>
            </a:r>
          </a:p>
          <a:p>
            <a:pPr lvl="1"/>
            <a:r>
              <a:rPr lang="en-US" b="0" i="0" dirty="0">
                <a:solidFill>
                  <a:srgbClr val="333333"/>
                </a:solidFill>
                <a:effectLst/>
              </a:rPr>
              <a:t>However, the portion assigned to the callee is generated only once. </a:t>
            </a:r>
          </a:p>
          <a:p>
            <a:r>
              <a:rPr lang="en-US" b="0" i="0" dirty="0">
                <a:solidFill>
                  <a:srgbClr val="333333"/>
                </a:solidFill>
                <a:effectLst/>
              </a:rPr>
              <a:t>Hence, it is desirable to put as much of the calling sequence into the callee as possible — whatever the callee can be relied upon to know. </a:t>
            </a:r>
          </a:p>
          <a:p>
            <a:r>
              <a:rPr lang="en-US" b="0" i="0" dirty="0">
                <a:solidFill>
                  <a:srgbClr val="333333"/>
                </a:solidFill>
                <a:effectLst/>
              </a:rPr>
              <a:t>However, that the callee cannot know everything.</a:t>
            </a:r>
            <a:endParaRPr lang="en-US" altLang="en-US" dirty="0"/>
          </a:p>
          <a:p>
            <a:endParaRPr lang="en-US" altLang="en-US" dirty="0"/>
          </a:p>
          <a:p>
            <a:endParaRPr lang="en-US" altLang="en-US" sz="700" dirty="0"/>
          </a:p>
          <a:p>
            <a:pPr lvl="2"/>
            <a:endParaRPr lang="en-US" altLang="en-US" dirty="0"/>
          </a:p>
        </p:txBody>
      </p:sp>
    </p:spTree>
    <p:extLst>
      <p:ext uri="{BB962C8B-B14F-4D97-AF65-F5344CB8AC3E}">
        <p14:creationId xmlns:p14="http://schemas.microsoft.com/office/powerpoint/2010/main" val="1214588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down)">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down)">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down)">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fontScale="90000"/>
          </a:bodyPr>
          <a:lstStyle/>
          <a:p>
            <a:pPr algn="ctr"/>
            <a:r>
              <a:rPr lang="en-US" sz="5000" dirty="0">
                <a:solidFill>
                  <a:schemeClr val="tx2">
                    <a:lumMod val="50000"/>
                  </a:schemeClr>
                </a:solidFill>
                <a:latin typeface="Candara" panose="020E0502030303020204" pitchFamily="34" charset="0"/>
              </a:rPr>
              <a:t>Principles of Designing Calling Sequences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21</a:t>
            </a:fld>
            <a:endParaRPr lang="en-US" dirty="0"/>
          </a:p>
        </p:txBody>
      </p:sp>
      <p:sp>
        <p:nvSpPr>
          <p:cNvPr id="8" name="Content Placeholder 6"/>
          <p:cNvSpPr>
            <a:spLocks noGrp="1"/>
          </p:cNvSpPr>
          <p:nvPr>
            <p:ph idx="1"/>
          </p:nvPr>
        </p:nvSpPr>
        <p:spPr>
          <a:xfrm>
            <a:off x="664032" y="1232395"/>
            <a:ext cx="11049000" cy="4930054"/>
          </a:xfrm>
        </p:spPr>
        <p:txBody>
          <a:bodyPr>
            <a:noAutofit/>
          </a:bodyPr>
          <a:lstStyle/>
          <a:p>
            <a:r>
              <a:rPr lang="en-US" b="0" i="0" dirty="0">
                <a:solidFill>
                  <a:schemeClr val="accent2">
                    <a:lumMod val="75000"/>
                  </a:schemeClr>
                </a:solidFill>
                <a:effectLst/>
              </a:rPr>
              <a:t>Values communicated between caller and callee</a:t>
            </a:r>
            <a:r>
              <a:rPr lang="en-US" b="0" i="0" dirty="0">
                <a:solidFill>
                  <a:srgbClr val="333333"/>
                </a:solidFill>
                <a:effectLst/>
              </a:rPr>
              <a:t> are generally placed at the </a:t>
            </a:r>
            <a:r>
              <a:rPr lang="en-US" b="0" i="0" dirty="0">
                <a:solidFill>
                  <a:schemeClr val="accent6">
                    <a:lumMod val="75000"/>
                  </a:schemeClr>
                </a:solidFill>
                <a:effectLst/>
              </a:rPr>
              <a:t>beginning</a:t>
            </a:r>
            <a:r>
              <a:rPr lang="en-US" b="0" i="0" dirty="0">
                <a:solidFill>
                  <a:srgbClr val="333333"/>
                </a:solidFill>
                <a:effectLst/>
              </a:rPr>
              <a:t> of the callee's activation record, </a:t>
            </a:r>
          </a:p>
          <a:p>
            <a:pPr lvl="1"/>
            <a:r>
              <a:rPr lang="en-US" b="0" i="0" dirty="0">
                <a:solidFill>
                  <a:srgbClr val="333333"/>
                </a:solidFill>
                <a:effectLst/>
              </a:rPr>
              <a:t>As such, placed as close as possible to the caller's activation record. </a:t>
            </a:r>
          </a:p>
          <a:p>
            <a:r>
              <a:rPr lang="en-US" b="0" i="0" dirty="0">
                <a:solidFill>
                  <a:srgbClr val="FF0000"/>
                </a:solidFill>
                <a:effectLst/>
              </a:rPr>
              <a:t>Motivation</a:t>
            </a:r>
          </a:p>
          <a:p>
            <a:pPr lvl="1"/>
            <a:r>
              <a:rPr lang="en-US" b="0" i="0" dirty="0">
                <a:solidFill>
                  <a:srgbClr val="333333"/>
                </a:solidFill>
                <a:effectLst/>
              </a:rPr>
              <a:t>The caller can compute the values of the actual parameters of the call and place them on top of its own activation record, </a:t>
            </a:r>
          </a:p>
          <a:p>
            <a:pPr lvl="1"/>
            <a:r>
              <a:rPr lang="en-US" b="0" i="0" dirty="0">
                <a:solidFill>
                  <a:srgbClr val="333333"/>
                </a:solidFill>
                <a:effectLst/>
              </a:rPr>
              <a:t>No need to create the entire activation record of the callee, or even to know the layout of that record.</a:t>
            </a:r>
            <a:endParaRPr lang="en-US" altLang="en-US" dirty="0"/>
          </a:p>
          <a:p>
            <a:pPr lvl="1"/>
            <a:r>
              <a:rPr lang="en-US" dirty="0">
                <a:solidFill>
                  <a:srgbClr val="333333"/>
                </a:solidFill>
              </a:rPr>
              <a:t>A</a:t>
            </a:r>
            <a:r>
              <a:rPr lang="en-US" b="0" i="0" dirty="0">
                <a:solidFill>
                  <a:srgbClr val="333333"/>
                </a:solidFill>
                <a:effectLst/>
              </a:rPr>
              <a:t>llows for the  use of procedures that do not  always take the  same  number  or  type  of arguments,  such  as C's </a:t>
            </a:r>
            <a:r>
              <a:rPr lang="en-US" b="0" i="1" dirty="0">
                <a:solidFill>
                  <a:srgbClr val="333333"/>
                </a:solidFill>
                <a:effectLst/>
              </a:rPr>
              <a:t>printf</a:t>
            </a:r>
            <a:r>
              <a:rPr lang="en-US" b="0" i="0" dirty="0">
                <a:solidFill>
                  <a:srgbClr val="333333"/>
                </a:solidFill>
                <a:effectLst/>
              </a:rPr>
              <a:t>  function.</a:t>
            </a:r>
          </a:p>
          <a:p>
            <a:pPr lvl="1"/>
            <a:r>
              <a:rPr lang="en-US" b="0" i="0" dirty="0">
                <a:solidFill>
                  <a:srgbClr val="333333"/>
                </a:solidFill>
                <a:effectLst/>
              </a:rPr>
              <a:t>The callee knows where to place the return value,  relative to its  own activation record, while however many arguments are present will appear sequentially below that place on the stack.</a:t>
            </a:r>
          </a:p>
          <a:p>
            <a:endParaRPr lang="en-US" altLang="en-US" sz="700" dirty="0"/>
          </a:p>
          <a:p>
            <a:pPr lvl="2"/>
            <a:endParaRPr lang="en-US" altLang="en-US" dirty="0"/>
          </a:p>
        </p:txBody>
      </p:sp>
    </p:spTree>
    <p:extLst>
      <p:ext uri="{BB962C8B-B14F-4D97-AF65-F5344CB8AC3E}">
        <p14:creationId xmlns:p14="http://schemas.microsoft.com/office/powerpoint/2010/main" val="849474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down)">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down)">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down)">
                                      <p:cBhvr>
                                        <p:cTn id="27" dur="500"/>
                                        <p:tgtEl>
                                          <p:spTgt spid="8">
                                            <p:txEl>
                                              <p:pRg st="4" end="4"/>
                                            </p:txEl>
                                          </p:spTgt>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8">
                                            <p:txEl>
                                              <p:pRg st="5" end="5"/>
                                            </p:txEl>
                                          </p:spTgt>
                                        </p:tgtEl>
                                        <p:attrNameLst>
                                          <p:attrName>style.visibility</p:attrName>
                                        </p:attrNameLst>
                                      </p:cBhvr>
                                      <p:to>
                                        <p:strVal val="visible"/>
                                      </p:to>
                                    </p:set>
                                    <p:animEffect transition="in" filter="wipe(down)">
                                      <p:cBhvr>
                                        <p:cTn id="30" dur="500"/>
                                        <p:tgtEl>
                                          <p:spTgt spid="8">
                                            <p:txEl>
                                              <p:pRg st="5" end="5"/>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animEffect transition="in" filter="wipe(down)">
                                      <p:cBhvr>
                                        <p:cTn id="33"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fontScale="90000"/>
          </a:bodyPr>
          <a:lstStyle/>
          <a:p>
            <a:pPr algn="ctr"/>
            <a:r>
              <a:rPr lang="en-US" sz="5000" dirty="0">
                <a:solidFill>
                  <a:schemeClr val="tx2">
                    <a:lumMod val="50000"/>
                  </a:schemeClr>
                </a:solidFill>
                <a:latin typeface="Candara" panose="020E0502030303020204" pitchFamily="34" charset="0"/>
              </a:rPr>
              <a:t>Principles of Designing Calling Sequences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22</a:t>
            </a:fld>
            <a:endParaRPr lang="en-US" dirty="0"/>
          </a:p>
        </p:txBody>
      </p:sp>
      <p:sp>
        <p:nvSpPr>
          <p:cNvPr id="8" name="Content Placeholder 6"/>
          <p:cNvSpPr>
            <a:spLocks noGrp="1"/>
          </p:cNvSpPr>
          <p:nvPr>
            <p:ph idx="1"/>
          </p:nvPr>
        </p:nvSpPr>
        <p:spPr>
          <a:xfrm>
            <a:off x="838200" y="1246909"/>
            <a:ext cx="11049000" cy="4930054"/>
          </a:xfrm>
        </p:spPr>
        <p:txBody>
          <a:bodyPr>
            <a:normAutofit lnSpcReduction="10000"/>
          </a:bodyPr>
          <a:lstStyle/>
          <a:p>
            <a:r>
              <a:rPr lang="en-US" b="0" i="0" dirty="0">
                <a:solidFill>
                  <a:schemeClr val="accent6">
                    <a:lumMod val="75000"/>
                  </a:schemeClr>
                </a:solidFill>
                <a:effectLst/>
              </a:rPr>
              <a:t>Fixed-length items</a:t>
            </a:r>
            <a:r>
              <a:rPr lang="en-US" b="0" i="0" dirty="0">
                <a:solidFill>
                  <a:srgbClr val="333333"/>
                </a:solidFill>
                <a:effectLst/>
              </a:rPr>
              <a:t> are generally placed in the </a:t>
            </a:r>
            <a:r>
              <a:rPr lang="en-US" b="0" i="0" dirty="0">
                <a:solidFill>
                  <a:schemeClr val="accent2">
                    <a:lumMod val="75000"/>
                  </a:schemeClr>
                </a:solidFill>
                <a:effectLst/>
              </a:rPr>
              <a:t>middle</a:t>
            </a:r>
            <a:r>
              <a:rPr lang="en-US" b="0" i="0" dirty="0">
                <a:solidFill>
                  <a:srgbClr val="333333"/>
                </a:solidFill>
                <a:effectLst/>
              </a:rPr>
              <a:t>. </a:t>
            </a:r>
          </a:p>
          <a:p>
            <a:pPr lvl="1"/>
            <a:r>
              <a:rPr lang="en-US" b="0" i="0" dirty="0">
                <a:solidFill>
                  <a:srgbClr val="333333"/>
                </a:solidFill>
                <a:effectLst/>
              </a:rPr>
              <a:t>Example: the control link, the access link, and the machine status fields. </a:t>
            </a:r>
          </a:p>
          <a:p>
            <a:r>
              <a:rPr lang="en-US" b="0" i="0" dirty="0">
                <a:solidFill>
                  <a:srgbClr val="333333"/>
                </a:solidFill>
                <a:effectLst/>
              </a:rPr>
              <a:t>If exactly the same components of the machine status are saved for each call, then the same code can do the saving and restoring for each. </a:t>
            </a:r>
          </a:p>
          <a:p>
            <a:r>
              <a:rPr lang="en-US" b="0" i="0" dirty="0">
                <a:solidFill>
                  <a:srgbClr val="333333"/>
                </a:solidFill>
                <a:effectLst/>
              </a:rPr>
              <a:t>Moreover, if we standardize the machine's status information, then programs such as debuggers will have an easier time deciphering the stack contents if an error occurs.</a:t>
            </a:r>
          </a:p>
          <a:p>
            <a:r>
              <a:rPr lang="en-US" b="0" i="0" dirty="0">
                <a:solidFill>
                  <a:srgbClr val="7030A0"/>
                </a:solidFill>
                <a:effectLst/>
              </a:rPr>
              <a:t>Items whose size may not be known early enough</a:t>
            </a:r>
            <a:r>
              <a:rPr lang="en-US" b="0" i="0" dirty="0">
                <a:solidFill>
                  <a:srgbClr val="333333"/>
                </a:solidFill>
                <a:effectLst/>
              </a:rPr>
              <a:t> are placed at the </a:t>
            </a:r>
            <a:r>
              <a:rPr lang="en-US" b="0" i="0" dirty="0">
                <a:solidFill>
                  <a:schemeClr val="accent3">
                    <a:lumMod val="75000"/>
                  </a:schemeClr>
                </a:solidFill>
                <a:effectLst/>
              </a:rPr>
              <a:t>end</a:t>
            </a:r>
            <a:r>
              <a:rPr lang="en-US" b="0" i="0" dirty="0">
                <a:solidFill>
                  <a:srgbClr val="333333"/>
                </a:solidFill>
                <a:effectLst/>
              </a:rPr>
              <a:t> of the activation record.</a:t>
            </a:r>
          </a:p>
          <a:p>
            <a:pPr lvl="1"/>
            <a:r>
              <a:rPr lang="en-US" dirty="0">
                <a:solidFill>
                  <a:srgbClr val="333333"/>
                </a:solidFill>
              </a:rPr>
              <a:t>Such as </a:t>
            </a:r>
            <a:r>
              <a:rPr lang="en-US" b="0" i="0" dirty="0">
                <a:solidFill>
                  <a:srgbClr val="333333"/>
                </a:solidFill>
                <a:effectLst/>
              </a:rPr>
              <a:t>dynamically sized array</a:t>
            </a:r>
            <a:r>
              <a:rPr lang="en-US" dirty="0">
                <a:solidFill>
                  <a:srgbClr val="333333"/>
                </a:solidFill>
              </a:rPr>
              <a:t> (however, usually dynamic arrays are handles using heap)</a:t>
            </a:r>
          </a:p>
          <a:p>
            <a:pPr lvl="1"/>
            <a:r>
              <a:rPr lang="en-US" b="0" i="0" dirty="0">
                <a:solidFill>
                  <a:srgbClr val="333333"/>
                </a:solidFill>
                <a:effectLst/>
              </a:rPr>
              <a:t>Temporary variables</a:t>
            </a:r>
          </a:p>
          <a:p>
            <a:endParaRPr lang="en-US" altLang="en-US" sz="700" dirty="0"/>
          </a:p>
          <a:p>
            <a:pPr lvl="2"/>
            <a:endParaRPr lang="en-US" altLang="en-US" dirty="0"/>
          </a:p>
        </p:txBody>
      </p:sp>
    </p:spTree>
    <p:extLst>
      <p:ext uri="{BB962C8B-B14F-4D97-AF65-F5344CB8AC3E}">
        <p14:creationId xmlns:p14="http://schemas.microsoft.com/office/powerpoint/2010/main" val="3739388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wipe(down)">
                                      <p:cBhvr>
                                        <p:cTn id="10" dur="5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wipe(down)">
                                      <p:cBhvr>
                                        <p:cTn id="15" dur="500"/>
                                        <p:tgtEl>
                                          <p:spTgt spid="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8">
                                            <p:txEl>
                                              <p:pRg st="3" end="3"/>
                                            </p:txEl>
                                          </p:spTgt>
                                        </p:tgtEl>
                                        <p:attrNameLst>
                                          <p:attrName>style.visibility</p:attrName>
                                        </p:attrNameLst>
                                      </p:cBhvr>
                                      <p:to>
                                        <p:strVal val="visible"/>
                                      </p:to>
                                    </p:set>
                                    <p:animEffect transition="in" filter="wipe(down)">
                                      <p:cBhvr>
                                        <p:cTn id="20" dur="500"/>
                                        <p:tgtEl>
                                          <p:spTgt spid="8">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Effect transition="in" filter="wipe(down)">
                                      <p:cBhvr>
                                        <p:cTn id="25" dur="500"/>
                                        <p:tgtEl>
                                          <p:spTgt spid="8">
                                            <p:txEl>
                                              <p:pRg st="4" end="4"/>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8">
                                            <p:txEl>
                                              <p:pRg st="5" end="5"/>
                                            </p:txEl>
                                          </p:spTgt>
                                        </p:tgtEl>
                                        <p:attrNameLst>
                                          <p:attrName>style.visibility</p:attrName>
                                        </p:attrNameLst>
                                      </p:cBhvr>
                                      <p:to>
                                        <p:strVal val="visible"/>
                                      </p:to>
                                    </p:set>
                                    <p:animEffect transition="in" filter="wipe(down)">
                                      <p:cBhvr>
                                        <p:cTn id="28" dur="500"/>
                                        <p:tgtEl>
                                          <p:spTgt spid="8">
                                            <p:txEl>
                                              <p:pRg st="5" end="5"/>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animEffect transition="in" filter="wipe(down)">
                                      <p:cBhvr>
                                        <p:cTn id="31"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fontScale="90000"/>
          </a:bodyPr>
          <a:lstStyle/>
          <a:p>
            <a:pPr algn="ctr"/>
            <a:r>
              <a:rPr lang="en-US" sz="5000" dirty="0">
                <a:solidFill>
                  <a:schemeClr val="tx2">
                    <a:lumMod val="50000"/>
                  </a:schemeClr>
                </a:solidFill>
                <a:latin typeface="Candara" panose="020E0502030303020204" pitchFamily="34" charset="0"/>
              </a:rPr>
              <a:t>Principles of Designing Calling Sequences</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23</a:t>
            </a:fld>
            <a:endParaRPr lang="en-US" dirty="0"/>
          </a:p>
        </p:txBody>
      </p:sp>
      <p:sp>
        <p:nvSpPr>
          <p:cNvPr id="8" name="Content Placeholder 6"/>
          <p:cNvSpPr>
            <a:spLocks noGrp="1"/>
          </p:cNvSpPr>
          <p:nvPr>
            <p:ph idx="1"/>
          </p:nvPr>
        </p:nvSpPr>
        <p:spPr>
          <a:xfrm>
            <a:off x="838200" y="1246909"/>
            <a:ext cx="11049000" cy="4930054"/>
          </a:xfrm>
        </p:spPr>
        <p:txBody>
          <a:bodyPr>
            <a:normAutofit/>
          </a:bodyPr>
          <a:lstStyle/>
          <a:p>
            <a:r>
              <a:rPr lang="en-US" b="0" i="0" dirty="0">
                <a:solidFill>
                  <a:srgbClr val="333333"/>
                </a:solidFill>
                <a:effectLst/>
              </a:rPr>
              <a:t>Locating the </a:t>
            </a:r>
            <a:r>
              <a:rPr lang="en-US" b="0" i="0" dirty="0">
                <a:solidFill>
                  <a:schemeClr val="accent4">
                    <a:lumMod val="60000"/>
                    <a:lumOff val="40000"/>
                  </a:schemeClr>
                </a:solidFill>
                <a:effectLst/>
              </a:rPr>
              <a:t>top-of-stack</a:t>
            </a:r>
            <a:r>
              <a:rPr lang="en-US" b="0" i="0" dirty="0">
                <a:solidFill>
                  <a:srgbClr val="333333"/>
                </a:solidFill>
                <a:effectLst/>
              </a:rPr>
              <a:t> pointer</a:t>
            </a:r>
          </a:p>
          <a:p>
            <a:pPr lvl="1"/>
            <a:r>
              <a:rPr lang="en-US" b="0" i="0" dirty="0">
                <a:solidFill>
                  <a:srgbClr val="333333"/>
                </a:solidFill>
                <a:effectLst/>
              </a:rPr>
              <a:t>A common approach is to have it point to the </a:t>
            </a:r>
            <a:r>
              <a:rPr lang="en-US" b="0" i="0" dirty="0">
                <a:solidFill>
                  <a:schemeClr val="accent5">
                    <a:lumMod val="75000"/>
                  </a:schemeClr>
                </a:solidFill>
                <a:effectLst/>
              </a:rPr>
              <a:t>end of the fixed-length fields</a:t>
            </a:r>
            <a:r>
              <a:rPr lang="en-US" b="0" i="0" dirty="0">
                <a:solidFill>
                  <a:srgbClr val="333333"/>
                </a:solidFill>
                <a:effectLst/>
              </a:rPr>
              <a:t> in the activation record. </a:t>
            </a:r>
          </a:p>
          <a:p>
            <a:r>
              <a:rPr lang="en-US" b="0" i="0" dirty="0">
                <a:solidFill>
                  <a:srgbClr val="333333"/>
                </a:solidFill>
                <a:effectLst/>
              </a:rPr>
              <a:t>Fixed-length data can then be accessed by fixed offsets, known to the intermediate-code generator, relative to the </a:t>
            </a:r>
            <a:r>
              <a:rPr lang="en-US" b="0" i="0" dirty="0">
                <a:solidFill>
                  <a:schemeClr val="accent3">
                    <a:lumMod val="75000"/>
                  </a:schemeClr>
                </a:solidFill>
                <a:effectLst/>
              </a:rPr>
              <a:t>top-of-stack</a:t>
            </a:r>
            <a:r>
              <a:rPr lang="en-US" b="0" i="0" dirty="0">
                <a:solidFill>
                  <a:srgbClr val="333333"/>
                </a:solidFill>
                <a:effectLst/>
              </a:rPr>
              <a:t> pointer. </a:t>
            </a:r>
          </a:p>
          <a:p>
            <a:pPr lvl="1"/>
            <a:r>
              <a:rPr lang="en-US" b="0" i="0" dirty="0">
                <a:solidFill>
                  <a:srgbClr val="333333"/>
                </a:solidFill>
                <a:effectLst/>
              </a:rPr>
              <a:t>A consequence of this approach is that variable-length fields in the activation records are actually "above" the top-of-stack. </a:t>
            </a:r>
          </a:p>
          <a:p>
            <a:pPr lvl="1"/>
            <a:r>
              <a:rPr lang="en-US" b="0" i="0" dirty="0">
                <a:solidFill>
                  <a:srgbClr val="333333"/>
                </a:solidFill>
                <a:effectLst/>
              </a:rPr>
              <a:t>Their offsets need to be calculated at run time, but they too can be accessed from the top-of-stack pointer, by using a positive offset.</a:t>
            </a:r>
            <a:endParaRPr lang="en-US" altLang="en-US" sz="300" dirty="0"/>
          </a:p>
          <a:p>
            <a:pPr lvl="2"/>
            <a:endParaRPr lang="en-US" altLang="en-US" dirty="0"/>
          </a:p>
        </p:txBody>
      </p:sp>
    </p:spTree>
    <p:extLst>
      <p:ext uri="{BB962C8B-B14F-4D97-AF65-F5344CB8AC3E}">
        <p14:creationId xmlns:p14="http://schemas.microsoft.com/office/powerpoint/2010/main" val="4179001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down)">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down)">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down)">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7786"/>
            <a:ext cx="10515600" cy="1228151"/>
          </a:xfrm>
          <a:effectLst>
            <a:outerShdw blurRad="50800" dist="38100" dir="2700000" algn="tl" rotWithShape="0">
              <a:prstClr val="black">
                <a:alpha val="40000"/>
              </a:prstClr>
            </a:outerShdw>
          </a:effectLst>
        </p:spPr>
        <p:txBody>
          <a:bodyPr>
            <a:normAutofit fontScale="90000"/>
          </a:bodyPr>
          <a:lstStyle/>
          <a:p>
            <a:pPr algn="ctr"/>
            <a:r>
              <a:rPr lang="en-US" sz="5000" dirty="0">
                <a:solidFill>
                  <a:schemeClr val="tx2">
                    <a:lumMod val="50000"/>
                  </a:schemeClr>
                </a:solidFill>
                <a:latin typeface="Candara" panose="020E0502030303020204" pitchFamily="34" charset="0"/>
              </a:rPr>
              <a:t>Example of Task Division Between Caller and Callee</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24</a:t>
            </a:fld>
            <a:endParaRPr lang="en-US" dirty="0"/>
          </a:p>
        </p:txBody>
      </p:sp>
      <p:pic>
        <p:nvPicPr>
          <p:cNvPr id="7" name="Picture 2"/>
          <p:cNvPicPr>
            <a:picLocks noChangeAspect="1" noChangeArrowheads="1"/>
          </p:cNvPicPr>
          <p:nvPr/>
        </p:nvPicPr>
        <p:blipFill rotWithShape="1">
          <a:blip r:embed="rId2"/>
          <a:srcRect l="4368" r="6399"/>
          <a:stretch/>
        </p:blipFill>
        <p:spPr bwMode="auto">
          <a:xfrm>
            <a:off x="5007427" y="1246909"/>
            <a:ext cx="7329714" cy="4761371"/>
          </a:xfrm>
          <a:prstGeom prst="rect">
            <a:avLst/>
          </a:prstGeom>
          <a:noFill/>
          <a:ln w="9525">
            <a:noFill/>
            <a:miter lim="800000"/>
            <a:headEnd/>
            <a:tailEnd/>
          </a:ln>
        </p:spPr>
      </p:pic>
      <p:sp>
        <p:nvSpPr>
          <p:cNvPr id="6" name="Content Placeholder 6">
            <a:extLst>
              <a:ext uri="{FF2B5EF4-FFF2-40B4-BE49-F238E27FC236}">
                <a16:creationId xmlns:a16="http://schemas.microsoft.com/office/drawing/2014/main" id="{721C185D-76DE-BB86-A450-EB79D4496D72}"/>
              </a:ext>
            </a:extLst>
          </p:cNvPr>
          <p:cNvSpPr>
            <a:spLocks noGrp="1"/>
          </p:cNvSpPr>
          <p:nvPr>
            <p:ph idx="1"/>
          </p:nvPr>
        </p:nvSpPr>
        <p:spPr>
          <a:xfrm>
            <a:off x="72570" y="1367224"/>
            <a:ext cx="5004759" cy="4930054"/>
          </a:xfrm>
        </p:spPr>
        <p:txBody>
          <a:bodyPr>
            <a:normAutofit/>
          </a:bodyPr>
          <a:lstStyle/>
          <a:p>
            <a:r>
              <a:rPr lang="en-US" b="0" i="0" dirty="0">
                <a:solidFill>
                  <a:srgbClr val="333333"/>
                </a:solidFill>
                <a:effectLst/>
              </a:rPr>
              <a:t>A register </a:t>
            </a:r>
            <a:r>
              <a:rPr lang="en-US" b="0" i="1" dirty="0" err="1">
                <a:solidFill>
                  <a:srgbClr val="FF0000"/>
                </a:solidFill>
                <a:effectLst/>
              </a:rPr>
              <a:t>top_sp</a:t>
            </a:r>
            <a:r>
              <a:rPr lang="en-US" b="0" i="0" dirty="0">
                <a:solidFill>
                  <a:srgbClr val="333333"/>
                </a:solidFill>
                <a:effectLst/>
              </a:rPr>
              <a:t> points to the end of the machine-status field in the current top activation record. </a:t>
            </a:r>
          </a:p>
          <a:p>
            <a:pPr lvl="1"/>
            <a:r>
              <a:rPr lang="en-US" b="0" i="0" dirty="0">
                <a:solidFill>
                  <a:srgbClr val="333333"/>
                </a:solidFill>
                <a:effectLst/>
              </a:rPr>
              <a:t>This position within the callee's activation record is known to the caller, </a:t>
            </a:r>
          </a:p>
          <a:p>
            <a:pPr lvl="1"/>
            <a:r>
              <a:rPr lang="en-US" b="0" i="0" dirty="0">
                <a:solidFill>
                  <a:srgbClr val="333333"/>
                </a:solidFill>
                <a:effectLst/>
              </a:rPr>
              <a:t>the caller can be made responsible for setting  </a:t>
            </a:r>
            <a:r>
              <a:rPr lang="en-US" b="0" i="0" dirty="0" err="1">
                <a:solidFill>
                  <a:srgbClr val="333333"/>
                </a:solidFill>
                <a:effectLst/>
              </a:rPr>
              <a:t>top_sp</a:t>
            </a:r>
            <a:r>
              <a:rPr lang="en-US" b="0" i="0" dirty="0">
                <a:solidFill>
                  <a:srgbClr val="333333"/>
                </a:solidFill>
                <a:effectLst/>
              </a:rPr>
              <a:t> before control is passed to the callee. </a:t>
            </a:r>
            <a:endParaRPr lang="en-US" altLang="en-US" dirty="0"/>
          </a:p>
        </p:txBody>
      </p:sp>
    </p:spTree>
    <p:extLst>
      <p:ext uri="{BB962C8B-B14F-4D97-AF65-F5344CB8AC3E}">
        <p14:creationId xmlns:p14="http://schemas.microsoft.com/office/powerpoint/2010/main" val="446711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wipe(down)">
                                      <p:cBhvr>
                                        <p:cTn id="14" dur="500"/>
                                        <p:tgtEl>
                                          <p:spTgt spid="6">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wipe(down)">
                                      <p:cBhvr>
                                        <p:cTn id="19" dur="500"/>
                                        <p:tgtEl>
                                          <p:spTgt spid="6">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down)">
                                      <p:cBhvr>
                                        <p:cTn id="24"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fontScale="90000"/>
          </a:bodyPr>
          <a:lstStyle/>
          <a:p>
            <a:pPr algn="ctr"/>
            <a:r>
              <a:rPr lang="en-US" sz="5000" dirty="0">
                <a:solidFill>
                  <a:schemeClr val="tx2">
                    <a:lumMod val="50000"/>
                  </a:schemeClr>
                </a:solidFill>
                <a:latin typeface="Candara" panose="020E0502030303020204" pitchFamily="34" charset="0"/>
              </a:rPr>
              <a:t>Example of Task Division Between Caller and Callee</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25</a:t>
            </a:fld>
            <a:endParaRPr lang="en-US" dirty="0"/>
          </a:p>
        </p:txBody>
      </p:sp>
      <p:pic>
        <p:nvPicPr>
          <p:cNvPr id="7" name="Picture 2"/>
          <p:cNvPicPr>
            <a:picLocks noChangeAspect="1" noChangeArrowheads="1"/>
          </p:cNvPicPr>
          <p:nvPr/>
        </p:nvPicPr>
        <p:blipFill rotWithShape="1">
          <a:blip r:embed="rId2"/>
          <a:srcRect l="4368" r="6399"/>
          <a:stretch/>
        </p:blipFill>
        <p:spPr bwMode="auto">
          <a:xfrm>
            <a:off x="4978398" y="1246909"/>
            <a:ext cx="7329714" cy="4761371"/>
          </a:xfrm>
          <a:prstGeom prst="rect">
            <a:avLst/>
          </a:prstGeom>
          <a:noFill/>
          <a:ln w="9525">
            <a:noFill/>
            <a:miter lim="800000"/>
            <a:headEnd/>
            <a:tailEnd/>
          </a:ln>
        </p:spPr>
      </p:pic>
      <p:sp>
        <p:nvSpPr>
          <p:cNvPr id="6" name="Content Placeholder 6">
            <a:extLst>
              <a:ext uri="{FF2B5EF4-FFF2-40B4-BE49-F238E27FC236}">
                <a16:creationId xmlns:a16="http://schemas.microsoft.com/office/drawing/2014/main" id="{721C185D-76DE-BB86-A450-EB79D4496D72}"/>
              </a:ext>
            </a:extLst>
          </p:cNvPr>
          <p:cNvSpPr>
            <a:spLocks noGrp="1"/>
          </p:cNvSpPr>
          <p:nvPr>
            <p:ph idx="1"/>
          </p:nvPr>
        </p:nvSpPr>
        <p:spPr>
          <a:xfrm>
            <a:off x="72570" y="1367223"/>
            <a:ext cx="5004759" cy="5354251"/>
          </a:xfrm>
        </p:spPr>
        <p:txBody>
          <a:bodyPr>
            <a:normAutofit fontScale="92500" lnSpcReduction="20000"/>
          </a:bodyPr>
          <a:lstStyle/>
          <a:p>
            <a:r>
              <a:rPr lang="en-US" altLang="en-US" dirty="0"/>
              <a:t>The </a:t>
            </a:r>
            <a:r>
              <a:rPr lang="en-US" altLang="en-US" dirty="0">
                <a:solidFill>
                  <a:srgbClr val="0070C0"/>
                </a:solidFill>
              </a:rPr>
              <a:t>caller</a:t>
            </a:r>
            <a:r>
              <a:rPr lang="en-US" altLang="en-US" dirty="0"/>
              <a:t> evaluates the actual parameters.</a:t>
            </a:r>
          </a:p>
          <a:p>
            <a:r>
              <a:rPr lang="en-US" altLang="en-US" dirty="0"/>
              <a:t> The </a:t>
            </a:r>
            <a:r>
              <a:rPr lang="en-US" altLang="en-US" dirty="0">
                <a:solidFill>
                  <a:srgbClr val="0070C0"/>
                </a:solidFill>
              </a:rPr>
              <a:t>caller</a:t>
            </a:r>
            <a:r>
              <a:rPr lang="en-US" altLang="en-US" dirty="0"/>
              <a:t> stores a return address and the old value of </a:t>
            </a:r>
            <a:r>
              <a:rPr lang="en-US" i="1" dirty="0" err="1">
                <a:solidFill>
                  <a:srgbClr val="FF0000"/>
                </a:solidFill>
              </a:rPr>
              <a:t>top_sp</a:t>
            </a:r>
            <a:r>
              <a:rPr lang="en-US" altLang="en-US" dirty="0"/>
              <a:t> into the callee's activation record. </a:t>
            </a:r>
          </a:p>
          <a:p>
            <a:r>
              <a:rPr lang="en-US" altLang="en-US" dirty="0"/>
              <a:t>The </a:t>
            </a:r>
            <a:r>
              <a:rPr lang="en-US" altLang="en-US" dirty="0">
                <a:solidFill>
                  <a:srgbClr val="0070C0"/>
                </a:solidFill>
              </a:rPr>
              <a:t>caller</a:t>
            </a:r>
            <a:r>
              <a:rPr lang="en-US" altLang="en-US" dirty="0"/>
              <a:t> then increments </a:t>
            </a:r>
            <a:r>
              <a:rPr lang="en-US" i="1" dirty="0" err="1">
                <a:solidFill>
                  <a:srgbClr val="FF0000"/>
                </a:solidFill>
              </a:rPr>
              <a:t>top_sp</a:t>
            </a:r>
            <a:r>
              <a:rPr lang="en-US" altLang="en-US" dirty="0"/>
              <a:t> to the position. </a:t>
            </a:r>
          </a:p>
          <a:p>
            <a:pPr lvl="1"/>
            <a:r>
              <a:rPr lang="en-US" i="1" dirty="0" err="1">
                <a:solidFill>
                  <a:srgbClr val="FF0000"/>
                </a:solidFill>
              </a:rPr>
              <a:t>top_sp</a:t>
            </a:r>
            <a:r>
              <a:rPr lang="en-US" altLang="en-US" dirty="0"/>
              <a:t> is moved past the caller's local data and temporaries and the callee's parameters and status fields.</a:t>
            </a:r>
          </a:p>
          <a:p>
            <a:r>
              <a:rPr lang="en-US" altLang="en-US" dirty="0"/>
              <a:t>The </a:t>
            </a:r>
            <a:r>
              <a:rPr lang="en-US" altLang="en-US" dirty="0">
                <a:solidFill>
                  <a:schemeClr val="accent2">
                    <a:lumMod val="75000"/>
                  </a:schemeClr>
                </a:solidFill>
              </a:rPr>
              <a:t>callee</a:t>
            </a:r>
            <a:r>
              <a:rPr lang="en-US" altLang="en-US" dirty="0"/>
              <a:t> saves the register values and other status information.</a:t>
            </a:r>
          </a:p>
          <a:p>
            <a:r>
              <a:rPr lang="en-US" altLang="en-US" dirty="0"/>
              <a:t> The </a:t>
            </a:r>
            <a:r>
              <a:rPr lang="en-US" altLang="en-US" dirty="0">
                <a:solidFill>
                  <a:schemeClr val="accent2">
                    <a:lumMod val="75000"/>
                  </a:schemeClr>
                </a:solidFill>
              </a:rPr>
              <a:t>callee</a:t>
            </a:r>
            <a:r>
              <a:rPr lang="en-US" altLang="en-US" dirty="0"/>
              <a:t> initializes its local data and begins execution.</a:t>
            </a:r>
          </a:p>
        </p:txBody>
      </p:sp>
    </p:spTree>
    <p:extLst>
      <p:ext uri="{BB962C8B-B14F-4D97-AF65-F5344CB8AC3E}">
        <p14:creationId xmlns:p14="http://schemas.microsoft.com/office/powerpoint/2010/main" val="2895669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down)">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Example of Return Sequence</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26</a:t>
            </a:fld>
            <a:endParaRPr lang="en-US" dirty="0"/>
          </a:p>
        </p:txBody>
      </p:sp>
      <p:pic>
        <p:nvPicPr>
          <p:cNvPr id="7" name="Picture 2"/>
          <p:cNvPicPr>
            <a:picLocks noChangeAspect="1" noChangeArrowheads="1"/>
          </p:cNvPicPr>
          <p:nvPr/>
        </p:nvPicPr>
        <p:blipFill rotWithShape="1">
          <a:blip r:embed="rId2"/>
          <a:srcRect l="4368" r="6399"/>
          <a:stretch/>
        </p:blipFill>
        <p:spPr bwMode="auto">
          <a:xfrm>
            <a:off x="5047296" y="1246909"/>
            <a:ext cx="7329714" cy="4761371"/>
          </a:xfrm>
          <a:prstGeom prst="rect">
            <a:avLst/>
          </a:prstGeom>
          <a:noFill/>
          <a:ln w="9525">
            <a:noFill/>
            <a:miter lim="800000"/>
            <a:headEnd/>
            <a:tailEnd/>
          </a:ln>
        </p:spPr>
      </p:pic>
      <p:sp>
        <p:nvSpPr>
          <p:cNvPr id="6" name="Content Placeholder 6">
            <a:extLst>
              <a:ext uri="{FF2B5EF4-FFF2-40B4-BE49-F238E27FC236}">
                <a16:creationId xmlns:a16="http://schemas.microsoft.com/office/drawing/2014/main" id="{721C185D-76DE-BB86-A450-EB79D4496D72}"/>
              </a:ext>
            </a:extLst>
          </p:cNvPr>
          <p:cNvSpPr>
            <a:spLocks noGrp="1"/>
          </p:cNvSpPr>
          <p:nvPr>
            <p:ph idx="1"/>
          </p:nvPr>
        </p:nvSpPr>
        <p:spPr>
          <a:xfrm>
            <a:off x="72570" y="1367224"/>
            <a:ext cx="5004759" cy="4930054"/>
          </a:xfrm>
        </p:spPr>
        <p:txBody>
          <a:bodyPr vert="horz" lIns="91440" tIns="45720" rIns="91440" bIns="45720" rtlCol="0">
            <a:normAutofit/>
          </a:bodyPr>
          <a:lstStyle/>
          <a:p>
            <a:r>
              <a:rPr lang="en-US" altLang="en-US" sz="2400" dirty="0"/>
              <a:t>The </a:t>
            </a:r>
            <a:r>
              <a:rPr lang="en-US" altLang="en-US" sz="2400" dirty="0">
                <a:solidFill>
                  <a:schemeClr val="accent2">
                    <a:lumMod val="75000"/>
                  </a:schemeClr>
                </a:solidFill>
              </a:rPr>
              <a:t>callee</a:t>
            </a:r>
            <a:r>
              <a:rPr lang="en-US" altLang="en-US" sz="2400" dirty="0"/>
              <a:t> places the return value next to the parameters</a:t>
            </a:r>
          </a:p>
          <a:p>
            <a:r>
              <a:rPr lang="en-US" altLang="en-US" sz="2400" dirty="0"/>
              <a:t>Using information in the machine-status field, the </a:t>
            </a:r>
            <a:r>
              <a:rPr lang="en-US" altLang="en-US" sz="2400" dirty="0">
                <a:solidFill>
                  <a:schemeClr val="accent2">
                    <a:lumMod val="75000"/>
                  </a:schemeClr>
                </a:solidFill>
              </a:rPr>
              <a:t>callee</a:t>
            </a:r>
            <a:r>
              <a:rPr lang="en-US" altLang="en-US" sz="2400" dirty="0"/>
              <a:t> restores </a:t>
            </a:r>
            <a:r>
              <a:rPr lang="en-US" altLang="en-US" sz="2400" i="1" dirty="0" err="1">
                <a:solidFill>
                  <a:srgbClr val="FF0000"/>
                </a:solidFill>
              </a:rPr>
              <a:t>top_sp</a:t>
            </a:r>
            <a:r>
              <a:rPr lang="en-US" altLang="en-US" sz="2400" dirty="0"/>
              <a:t> and other registers, and then branches to the return address that the caller placed in the status field.</a:t>
            </a:r>
          </a:p>
          <a:p>
            <a:r>
              <a:rPr lang="en-US" altLang="en-US" sz="2400" dirty="0"/>
              <a:t>Although </a:t>
            </a:r>
            <a:r>
              <a:rPr lang="en-US" altLang="en-US" sz="2400" i="1" dirty="0" err="1">
                <a:solidFill>
                  <a:srgbClr val="FF0000"/>
                </a:solidFill>
              </a:rPr>
              <a:t>top_sp</a:t>
            </a:r>
            <a:r>
              <a:rPr lang="en-US" altLang="en-US" sz="2400" dirty="0"/>
              <a:t> has been decremented, the caller knows where the return value is, relative to the current value of </a:t>
            </a:r>
            <a:r>
              <a:rPr lang="en-US" altLang="en-US" sz="2400" i="1" dirty="0" err="1">
                <a:solidFill>
                  <a:srgbClr val="FF0000"/>
                </a:solidFill>
              </a:rPr>
              <a:t>top_sp</a:t>
            </a:r>
            <a:r>
              <a:rPr lang="en-US" altLang="en-US" sz="2400" dirty="0"/>
              <a:t>; the caller therefore may use that value.</a:t>
            </a:r>
          </a:p>
        </p:txBody>
      </p:sp>
    </p:spTree>
    <p:extLst>
      <p:ext uri="{BB962C8B-B14F-4D97-AF65-F5344CB8AC3E}">
        <p14:creationId xmlns:p14="http://schemas.microsoft.com/office/powerpoint/2010/main" val="4208929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758"/>
            <a:ext cx="10515600" cy="1228151"/>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Example of Return Sequence</a:t>
            </a:r>
          </a:p>
        </p:txBody>
      </p:sp>
      <p:sp>
        <p:nvSpPr>
          <p:cNvPr id="3" name="Footer Placeholder 2"/>
          <p:cNvSpPr>
            <a:spLocks noGrp="1"/>
          </p:cNvSpPr>
          <p:nvPr>
            <p:ph type="ftr" sz="quarter" idx="11"/>
          </p:nvPr>
        </p:nvSpPr>
        <p:spPr/>
        <p:txBody>
          <a:bodyPr/>
          <a:lstStyle/>
          <a:p>
            <a:r>
              <a:rPr lang="en-US"/>
              <a:t>Dept of CSE, BUET</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27</a:t>
            </a:fld>
            <a:endParaRPr lang="en-US" dirty="0"/>
          </a:p>
        </p:txBody>
      </p:sp>
      <p:pic>
        <p:nvPicPr>
          <p:cNvPr id="7" name="Picture 2"/>
          <p:cNvPicPr>
            <a:picLocks noChangeAspect="1" noChangeArrowheads="1"/>
          </p:cNvPicPr>
          <p:nvPr/>
        </p:nvPicPr>
        <p:blipFill rotWithShape="1">
          <a:blip r:embed="rId2"/>
          <a:srcRect l="4368" r="6399"/>
          <a:stretch/>
        </p:blipFill>
        <p:spPr bwMode="auto">
          <a:xfrm>
            <a:off x="4949372" y="1246909"/>
            <a:ext cx="7329714" cy="4761371"/>
          </a:xfrm>
          <a:prstGeom prst="rect">
            <a:avLst/>
          </a:prstGeom>
          <a:noFill/>
          <a:ln w="9525">
            <a:noFill/>
            <a:miter lim="800000"/>
            <a:headEnd/>
            <a:tailEnd/>
          </a:ln>
        </p:spPr>
      </p:pic>
      <p:sp>
        <p:nvSpPr>
          <p:cNvPr id="6" name="Content Placeholder 6">
            <a:extLst>
              <a:ext uri="{FF2B5EF4-FFF2-40B4-BE49-F238E27FC236}">
                <a16:creationId xmlns:a16="http://schemas.microsoft.com/office/drawing/2014/main" id="{721C185D-76DE-BB86-A450-EB79D4496D72}"/>
              </a:ext>
            </a:extLst>
          </p:cNvPr>
          <p:cNvSpPr>
            <a:spLocks noGrp="1"/>
          </p:cNvSpPr>
          <p:nvPr>
            <p:ph idx="1"/>
          </p:nvPr>
        </p:nvSpPr>
        <p:spPr>
          <a:xfrm>
            <a:off x="72570" y="1367224"/>
            <a:ext cx="5004759" cy="4930054"/>
          </a:xfrm>
        </p:spPr>
        <p:txBody>
          <a:bodyPr vert="horz" lIns="91440" tIns="45720" rIns="91440" bIns="45720" rtlCol="0">
            <a:normAutofit fontScale="70000" lnSpcReduction="20000"/>
          </a:bodyPr>
          <a:lstStyle/>
          <a:p>
            <a:r>
              <a:rPr lang="en-US" altLang="en-US" dirty="0"/>
              <a:t>The described calling and return sequences allow the number of arguments of the called procedure to vary from call to call (e.g., as in C's p r i n t f function). </a:t>
            </a:r>
          </a:p>
          <a:p>
            <a:r>
              <a:rPr lang="en-US" altLang="en-US" dirty="0"/>
              <a:t>At compile time, the target code of the caller knows the number and types of arguments it is supplying to the callee. Hence the caller knows the size of the parameter area. </a:t>
            </a:r>
          </a:p>
          <a:p>
            <a:r>
              <a:rPr lang="en-US" altLang="en-US" dirty="0"/>
              <a:t>The target code of the callee, then examines the parameter field. Using the organization on the Figure, information describing the parameters must be placed next to the status field, so the callee can find it. </a:t>
            </a:r>
          </a:p>
          <a:p>
            <a:r>
              <a:rPr lang="en-US" altLang="en-US" dirty="0"/>
              <a:t>For example, in the printf function of C, the first argument describes the remaining arguments, so once the first argument has been located, the caller can find whatever other arguments there are.</a:t>
            </a:r>
          </a:p>
        </p:txBody>
      </p:sp>
    </p:spTree>
    <p:extLst>
      <p:ext uri="{BB962C8B-B14F-4D97-AF65-F5344CB8AC3E}">
        <p14:creationId xmlns:p14="http://schemas.microsoft.com/office/powerpoint/2010/main" val="110236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ADE32E-9B9F-BFEE-75E5-A402D4DA938B}"/>
              </a:ext>
            </a:extLst>
          </p:cNvPr>
          <p:cNvSpPr>
            <a:spLocks noGrp="1"/>
          </p:cNvSpPr>
          <p:nvPr>
            <p:ph idx="1"/>
          </p:nvPr>
        </p:nvSpPr>
        <p:spPr>
          <a:xfrm>
            <a:off x="649357" y="848139"/>
            <a:ext cx="4661452" cy="1431235"/>
          </a:xfrm>
        </p:spPr>
        <p:txBody>
          <a:bodyPr>
            <a:normAutofit fontScale="92500" lnSpcReduction="10000"/>
          </a:bodyPr>
          <a:lstStyle/>
          <a:p>
            <a:r>
              <a:rPr lang="en-US" dirty="0">
                <a:solidFill>
                  <a:schemeClr val="accent3">
                    <a:lumMod val="75000"/>
                  </a:schemeClr>
                </a:solidFill>
              </a:rPr>
              <a:t>Closure</a:t>
            </a:r>
          </a:p>
          <a:p>
            <a:pPr lvl="1"/>
            <a:r>
              <a:rPr lang="en-US" dirty="0"/>
              <a:t>Allows access to outer function’s scope from an inner function</a:t>
            </a:r>
          </a:p>
          <a:p>
            <a:pPr lvl="1"/>
            <a:r>
              <a:rPr lang="en-US" dirty="0"/>
              <a:t>A python example – </a:t>
            </a:r>
          </a:p>
          <a:p>
            <a:pPr marL="457200" lvl="1" indent="0">
              <a:buNone/>
            </a:pPr>
            <a:endParaRPr lang="en-US" dirty="0"/>
          </a:p>
        </p:txBody>
      </p:sp>
      <p:sp>
        <p:nvSpPr>
          <p:cNvPr id="4" name="Title 1">
            <a:extLst>
              <a:ext uri="{FF2B5EF4-FFF2-40B4-BE49-F238E27FC236}">
                <a16:creationId xmlns:a16="http://schemas.microsoft.com/office/drawing/2014/main" id="{1B5A795D-C0A7-F54B-316C-8AFAEEA675E5}"/>
              </a:ext>
            </a:extLst>
          </p:cNvPr>
          <p:cNvSpPr>
            <a:spLocks noGrp="1"/>
          </p:cNvSpPr>
          <p:nvPr>
            <p:ph type="title"/>
          </p:nvPr>
        </p:nvSpPr>
        <p:spPr>
          <a:xfrm>
            <a:off x="838200" y="0"/>
            <a:ext cx="10515600" cy="901149"/>
          </a:xfrm>
          <a:effectLst>
            <a:outerShdw blurRad="50800" dist="38100" dir="2700000" algn="tl" rotWithShape="0">
              <a:prstClr val="black">
                <a:alpha val="40000"/>
              </a:prstClr>
            </a:outerShdw>
          </a:effectLst>
        </p:spPr>
        <p:txBody>
          <a:bodyPr>
            <a:noAutofit/>
          </a:bodyPr>
          <a:lstStyle/>
          <a:p>
            <a:pPr algn="ctr"/>
            <a:r>
              <a:rPr lang="en-US" sz="4000" dirty="0">
                <a:solidFill>
                  <a:schemeClr val="tx2">
                    <a:lumMod val="50000"/>
                  </a:schemeClr>
                </a:solidFill>
                <a:latin typeface="Candara" panose="020E0502030303020204" pitchFamily="34" charset="0"/>
              </a:rPr>
              <a:t>Procedures Not Nesting in Time </a:t>
            </a:r>
          </a:p>
        </p:txBody>
      </p:sp>
      <p:sp>
        <p:nvSpPr>
          <p:cNvPr id="7" name="TextBox 6">
            <a:extLst>
              <a:ext uri="{FF2B5EF4-FFF2-40B4-BE49-F238E27FC236}">
                <a16:creationId xmlns:a16="http://schemas.microsoft.com/office/drawing/2014/main" id="{5ECB421A-4058-6EC5-B9E4-4BD239BB8C59}"/>
              </a:ext>
            </a:extLst>
          </p:cNvPr>
          <p:cNvSpPr txBox="1"/>
          <p:nvPr/>
        </p:nvSpPr>
        <p:spPr>
          <a:xfrm>
            <a:off x="765312" y="2279374"/>
            <a:ext cx="4187686" cy="3741794"/>
          </a:xfrm>
          <a:prstGeom prst="rect">
            <a:avLst/>
          </a:prstGeom>
          <a:noFill/>
          <a:ln>
            <a:solidFill>
              <a:schemeClr val="accent4">
                <a:lumMod val="60000"/>
                <a:lumOff val="40000"/>
              </a:schemeClr>
            </a:solidFill>
          </a:ln>
        </p:spPr>
        <p:txBody>
          <a:bodyPr wrap="square">
            <a:spAutoFit/>
          </a:bodyPr>
          <a:lstStyle/>
          <a:p>
            <a:pPr>
              <a:lnSpc>
                <a:spcPct val="110000"/>
              </a:lnSpc>
            </a:pPr>
            <a:r>
              <a:rPr lang="en-US" sz="1800" b="1" dirty="0">
                <a:solidFill>
                  <a:srgbClr val="0000FF"/>
                </a:solidFill>
                <a:highlight>
                  <a:srgbClr val="FFFFFF"/>
                </a:highlight>
                <a:latin typeface="Courier New" panose="02070309020205020404" pitchFamily="49" charset="0"/>
                <a:cs typeface="Courier New" panose="02070309020205020404" pitchFamily="49" charset="0"/>
              </a:rPr>
              <a:t>def</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0" dirty="0" err="1">
                <a:solidFill>
                  <a:srgbClr val="FF00FF"/>
                </a:solidFill>
                <a:highlight>
                  <a:srgbClr val="FFFFFF"/>
                </a:highlight>
                <a:latin typeface="Courier New" panose="02070309020205020404" pitchFamily="49" charset="0"/>
                <a:cs typeface="Courier New" panose="02070309020205020404" pitchFamily="49" charset="0"/>
              </a:rPr>
              <a:t>createCounter</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endParaRPr lang="en-US" sz="1800" b="0" dirty="0">
              <a:solidFill>
                <a:srgbClr val="000000"/>
              </a:solidFill>
              <a:highlight>
                <a:srgbClr val="FFFFFF"/>
              </a:highlight>
              <a:latin typeface="Courier New" panose="02070309020205020404" pitchFamily="49" charset="0"/>
              <a:cs typeface="Courier New" panose="02070309020205020404" pitchFamily="49" charset="0"/>
            </a:endParaRPr>
          </a:p>
          <a:p>
            <a:pPr>
              <a:lnSpc>
                <a:spcPct val="110000"/>
              </a:lnSpc>
            </a:pPr>
            <a:r>
              <a:rPr lang="en-US" sz="1800" b="0" dirty="0">
                <a:solidFill>
                  <a:srgbClr val="000000"/>
                </a:solidFill>
                <a:highlight>
                  <a:srgbClr val="FFFFFF"/>
                </a:highlight>
                <a:latin typeface="Courier New" panose="02070309020205020404" pitchFamily="49" charset="0"/>
                <a:cs typeface="Courier New" panose="02070309020205020404" pitchFamily="49" charset="0"/>
              </a:rPr>
              <a:t>    counter</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r>
              <a:rPr lang="en-US" sz="1800" b="0" dirty="0">
                <a:solidFill>
                  <a:srgbClr val="FF0000"/>
                </a:solidFill>
                <a:highlight>
                  <a:srgbClr val="FFFFFF"/>
                </a:highlight>
                <a:latin typeface="Courier New" panose="02070309020205020404" pitchFamily="49" charset="0"/>
                <a:cs typeface="Courier New" panose="02070309020205020404" pitchFamily="49" charset="0"/>
              </a:rPr>
              <a:t>0</a:t>
            </a:r>
            <a:endParaRPr lang="en-US" sz="1800" b="0" dirty="0">
              <a:solidFill>
                <a:srgbClr val="000000"/>
              </a:solidFill>
              <a:highlight>
                <a:srgbClr val="FFFFFF"/>
              </a:highlight>
              <a:latin typeface="Courier New" panose="02070309020205020404" pitchFamily="49" charset="0"/>
              <a:cs typeface="Courier New" panose="02070309020205020404" pitchFamily="49" charset="0"/>
            </a:endParaRPr>
          </a:p>
          <a:p>
            <a:pPr>
              <a:lnSpc>
                <a:spcPct val="110000"/>
              </a:lnSpc>
            </a:pP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1" dirty="0">
                <a:solidFill>
                  <a:srgbClr val="0000FF"/>
                </a:solidFill>
                <a:highlight>
                  <a:srgbClr val="FFFFFF"/>
                </a:highlight>
                <a:latin typeface="Courier New" panose="02070309020205020404" pitchFamily="49" charset="0"/>
                <a:cs typeface="Courier New" panose="02070309020205020404" pitchFamily="49" charset="0"/>
              </a:rPr>
              <a:t>def</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0" dirty="0" err="1">
                <a:solidFill>
                  <a:srgbClr val="FF00FF"/>
                </a:solidFill>
                <a:highlight>
                  <a:srgbClr val="FFFFFF"/>
                </a:highlight>
                <a:latin typeface="Courier New" panose="02070309020205020404" pitchFamily="49" charset="0"/>
                <a:cs typeface="Courier New" panose="02070309020205020404" pitchFamily="49" charset="0"/>
              </a:rPr>
              <a:t>innerFunction</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p>
          <a:p>
            <a:pPr>
              <a:lnSpc>
                <a:spcPct val="110000"/>
              </a:lnSpc>
            </a:pP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1" dirty="0">
                <a:solidFill>
                  <a:srgbClr val="0000FF"/>
                </a:solidFill>
                <a:highlight>
                  <a:srgbClr val="FFFFFF"/>
                </a:highlight>
                <a:latin typeface="Courier New" panose="02070309020205020404" pitchFamily="49" charset="0"/>
                <a:cs typeface="Courier New" panose="02070309020205020404" pitchFamily="49" charset="0"/>
              </a:rPr>
              <a:t>nonlocal</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counter</a:t>
            </a:r>
          </a:p>
          <a:p>
            <a:pPr>
              <a:lnSpc>
                <a:spcPct val="110000"/>
              </a:lnSpc>
            </a:pPr>
            <a:r>
              <a:rPr lang="en-US" sz="1800" b="0" dirty="0">
                <a:solidFill>
                  <a:srgbClr val="000000"/>
                </a:solidFill>
                <a:highlight>
                  <a:srgbClr val="FFFFFF"/>
                </a:highlight>
                <a:latin typeface="Courier New" panose="02070309020205020404" pitchFamily="49" charset="0"/>
                <a:cs typeface="Courier New" panose="02070309020205020404" pitchFamily="49" charset="0"/>
              </a:rPr>
              <a:t>        counter</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counter</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r>
              <a:rPr lang="en-US" sz="1800" b="0" dirty="0">
                <a:solidFill>
                  <a:srgbClr val="FF0000"/>
                </a:solidFill>
                <a:highlight>
                  <a:srgbClr val="FFFFFF"/>
                </a:highlight>
                <a:latin typeface="Courier New" panose="02070309020205020404" pitchFamily="49" charset="0"/>
                <a:cs typeface="Courier New" panose="02070309020205020404" pitchFamily="49" charset="0"/>
              </a:rPr>
              <a:t>1</a:t>
            </a:r>
            <a:endParaRPr lang="en-US" sz="1800" b="0" dirty="0">
              <a:solidFill>
                <a:srgbClr val="000000"/>
              </a:solidFill>
              <a:highlight>
                <a:srgbClr val="FFFFFF"/>
              </a:highlight>
              <a:latin typeface="Courier New" panose="02070309020205020404" pitchFamily="49" charset="0"/>
              <a:cs typeface="Courier New" panose="02070309020205020404" pitchFamily="49" charset="0"/>
            </a:endParaRPr>
          </a:p>
          <a:p>
            <a:pPr>
              <a:lnSpc>
                <a:spcPct val="110000"/>
              </a:lnSpc>
            </a:pP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1" dirty="0">
                <a:solidFill>
                  <a:srgbClr val="880088"/>
                </a:solidFill>
                <a:highlight>
                  <a:srgbClr val="FFFFFF"/>
                </a:highlight>
                <a:latin typeface="Courier New" panose="02070309020205020404" pitchFamily="49" charset="0"/>
                <a:cs typeface="Courier New" panose="02070309020205020404" pitchFamily="49" charset="0"/>
              </a:rPr>
              <a:t>print</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counter</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endParaRPr lang="en-US" sz="1800" b="0" dirty="0">
              <a:solidFill>
                <a:srgbClr val="000000"/>
              </a:solidFill>
              <a:highlight>
                <a:srgbClr val="FFFFFF"/>
              </a:highlight>
              <a:latin typeface="Courier New" panose="02070309020205020404" pitchFamily="49" charset="0"/>
              <a:cs typeface="Courier New" panose="02070309020205020404" pitchFamily="49" charset="0"/>
            </a:endParaRPr>
          </a:p>
          <a:p>
            <a:pPr>
              <a:lnSpc>
                <a:spcPct val="110000"/>
              </a:lnSpc>
            </a:pP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1" dirty="0">
                <a:solidFill>
                  <a:srgbClr val="0000FF"/>
                </a:solidFill>
                <a:highlight>
                  <a:srgbClr val="FFFFFF"/>
                </a:highlight>
                <a:latin typeface="Courier New" panose="02070309020205020404" pitchFamily="49" charset="0"/>
                <a:cs typeface="Courier New" panose="02070309020205020404" pitchFamily="49" charset="0"/>
              </a:rPr>
              <a:t>return</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0" dirty="0" err="1">
                <a:solidFill>
                  <a:srgbClr val="000000"/>
                </a:solidFill>
                <a:highlight>
                  <a:srgbClr val="FFFFFF"/>
                </a:highlight>
                <a:latin typeface="Courier New" panose="02070309020205020404" pitchFamily="49" charset="0"/>
                <a:cs typeface="Courier New" panose="02070309020205020404" pitchFamily="49" charset="0"/>
              </a:rPr>
              <a:t>innerFunction</a:t>
            </a:r>
            <a:endParaRPr lang="en-US" sz="1800" b="0" dirty="0">
              <a:solidFill>
                <a:srgbClr val="000000"/>
              </a:solidFill>
              <a:highlight>
                <a:srgbClr val="FFFFFF"/>
              </a:highlight>
              <a:latin typeface="Courier New" panose="02070309020205020404" pitchFamily="49" charset="0"/>
              <a:cs typeface="Courier New" panose="02070309020205020404" pitchFamily="49" charset="0"/>
            </a:endParaRPr>
          </a:p>
          <a:p>
            <a:pPr>
              <a:lnSpc>
                <a:spcPct val="110000"/>
              </a:lnSpc>
            </a:pP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p>
          <a:p>
            <a:pPr>
              <a:lnSpc>
                <a:spcPct val="110000"/>
              </a:lnSpc>
            </a:pPr>
            <a:r>
              <a:rPr lang="en-US" sz="1800" b="1" dirty="0">
                <a:solidFill>
                  <a:srgbClr val="0000FF"/>
                </a:solidFill>
                <a:highlight>
                  <a:srgbClr val="FFFFFF"/>
                </a:highlight>
                <a:latin typeface="Courier New" panose="02070309020205020404" pitchFamily="49" charset="0"/>
                <a:cs typeface="Courier New" panose="02070309020205020404" pitchFamily="49" charset="0"/>
              </a:rPr>
              <a:t>if</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__name__ </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0" dirty="0">
                <a:solidFill>
                  <a:srgbClr val="808080"/>
                </a:solidFill>
                <a:highlight>
                  <a:srgbClr val="FFFFFF"/>
                </a:highlight>
                <a:latin typeface="Courier New" panose="02070309020205020404" pitchFamily="49" charset="0"/>
                <a:cs typeface="Courier New" panose="02070309020205020404" pitchFamily="49" charset="0"/>
              </a:rPr>
              <a:t>'__main__'</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endParaRPr lang="en-US" sz="1800" b="0" dirty="0">
              <a:solidFill>
                <a:srgbClr val="000000"/>
              </a:solidFill>
              <a:highlight>
                <a:srgbClr val="FFFFFF"/>
              </a:highlight>
              <a:latin typeface="Courier New" panose="02070309020205020404" pitchFamily="49" charset="0"/>
              <a:cs typeface="Courier New" panose="02070309020205020404" pitchFamily="49" charset="0"/>
            </a:endParaRPr>
          </a:p>
          <a:p>
            <a:pPr>
              <a:lnSpc>
                <a:spcPct val="110000"/>
              </a:lnSpc>
            </a:pPr>
            <a:r>
              <a:rPr lang="en-US" sz="1800" b="0" dirty="0">
                <a:solidFill>
                  <a:srgbClr val="000000"/>
                </a:solidFill>
                <a:highlight>
                  <a:srgbClr val="FFFFFF"/>
                </a:highlight>
                <a:latin typeface="Courier New" panose="02070309020205020404" pitchFamily="49" charset="0"/>
                <a:cs typeface="Courier New" panose="02070309020205020404" pitchFamily="49" charset="0"/>
              </a:rPr>
              <a:t>    f </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0" dirty="0" err="1">
                <a:solidFill>
                  <a:srgbClr val="000000"/>
                </a:solidFill>
                <a:highlight>
                  <a:srgbClr val="FFFFFF"/>
                </a:highlight>
                <a:latin typeface="Courier New" panose="02070309020205020404" pitchFamily="49" charset="0"/>
                <a:cs typeface="Courier New" panose="02070309020205020404" pitchFamily="49" charset="0"/>
              </a:rPr>
              <a:t>createCounter</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endParaRPr lang="en-US" sz="1800" b="0" dirty="0">
              <a:solidFill>
                <a:srgbClr val="000000"/>
              </a:solidFill>
              <a:highlight>
                <a:srgbClr val="FFFFFF"/>
              </a:highlight>
              <a:latin typeface="Courier New" panose="02070309020205020404" pitchFamily="49" charset="0"/>
              <a:cs typeface="Courier New" panose="02070309020205020404" pitchFamily="49" charset="0"/>
            </a:endParaRPr>
          </a:p>
          <a:p>
            <a:pPr>
              <a:lnSpc>
                <a:spcPct val="110000"/>
              </a:lnSpc>
            </a:pPr>
            <a:r>
              <a:rPr lang="en-US" sz="1800" b="0" dirty="0">
                <a:solidFill>
                  <a:srgbClr val="000000"/>
                </a:solidFill>
                <a:highlight>
                  <a:srgbClr val="FFFFFF"/>
                </a:highlight>
                <a:latin typeface="Courier New" panose="02070309020205020404" pitchFamily="49" charset="0"/>
                <a:cs typeface="Courier New" panose="02070309020205020404" pitchFamily="49" charset="0"/>
              </a:rPr>
              <a:t>    f</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endParaRPr lang="en-US" sz="1800" b="0" dirty="0">
              <a:solidFill>
                <a:srgbClr val="000000"/>
              </a:solidFill>
              <a:highlight>
                <a:srgbClr val="FFFFFF"/>
              </a:highlight>
              <a:latin typeface="Courier New" panose="02070309020205020404" pitchFamily="49" charset="0"/>
              <a:cs typeface="Courier New" panose="02070309020205020404" pitchFamily="49" charset="0"/>
            </a:endParaRPr>
          </a:p>
          <a:p>
            <a:pPr>
              <a:lnSpc>
                <a:spcPct val="110000"/>
              </a:lnSpc>
            </a:pPr>
            <a:r>
              <a:rPr lang="en-US" sz="1800" b="0" dirty="0">
                <a:solidFill>
                  <a:srgbClr val="000000"/>
                </a:solidFill>
                <a:highlight>
                  <a:srgbClr val="FFFFFF"/>
                </a:highlight>
                <a:latin typeface="Courier New" panose="02070309020205020404" pitchFamily="49" charset="0"/>
                <a:cs typeface="Courier New" panose="02070309020205020404" pitchFamily="49" charset="0"/>
              </a:rPr>
              <a:t>    f</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endParaRPr lang="en-US" dirty="0">
              <a:latin typeface="Courier New" panose="02070309020205020404" pitchFamily="49" charset="0"/>
              <a:cs typeface="Courier New" panose="02070309020205020404" pitchFamily="49" charset="0"/>
            </a:endParaRPr>
          </a:p>
        </p:txBody>
      </p:sp>
      <p:sp>
        <p:nvSpPr>
          <p:cNvPr id="8" name="TextBox 7">
            <a:extLst>
              <a:ext uri="{FF2B5EF4-FFF2-40B4-BE49-F238E27FC236}">
                <a16:creationId xmlns:a16="http://schemas.microsoft.com/office/drawing/2014/main" id="{FD9918B0-A6E5-2F3C-0EE5-BAA6990A7BA6}"/>
              </a:ext>
            </a:extLst>
          </p:cNvPr>
          <p:cNvSpPr txBox="1"/>
          <p:nvPr/>
        </p:nvSpPr>
        <p:spPr>
          <a:xfrm>
            <a:off x="765312" y="6139903"/>
            <a:ext cx="4214190" cy="646331"/>
          </a:xfrm>
          <a:prstGeom prst="rect">
            <a:avLst/>
          </a:prstGeom>
          <a:solidFill>
            <a:schemeClr val="tx1"/>
          </a:solidFill>
        </p:spPr>
        <p:txBody>
          <a:bodyPr wrap="square" rtlCol="0">
            <a:spAutoFit/>
          </a:bodyPr>
          <a:lstStyle/>
          <a:p>
            <a:r>
              <a:rPr lang="en-US" dirty="0">
                <a:solidFill>
                  <a:schemeClr val="bg1"/>
                </a:solidFill>
              </a:rPr>
              <a:t>1</a:t>
            </a:r>
          </a:p>
          <a:p>
            <a:r>
              <a:rPr lang="en-US" dirty="0">
                <a:solidFill>
                  <a:schemeClr val="bg1"/>
                </a:solidFill>
              </a:rPr>
              <a:t>2</a:t>
            </a:r>
          </a:p>
        </p:txBody>
      </p:sp>
      <p:sp>
        <p:nvSpPr>
          <p:cNvPr id="13" name="Content Placeholder 2">
            <a:extLst>
              <a:ext uri="{FF2B5EF4-FFF2-40B4-BE49-F238E27FC236}">
                <a16:creationId xmlns:a16="http://schemas.microsoft.com/office/drawing/2014/main" id="{CFF98ED4-B947-9C20-2FA2-CEB4AF8837F8}"/>
              </a:ext>
            </a:extLst>
          </p:cNvPr>
          <p:cNvSpPr txBox="1">
            <a:spLocks/>
          </p:cNvSpPr>
          <p:nvPr/>
        </p:nvSpPr>
        <p:spPr>
          <a:xfrm>
            <a:off x="6016489" y="861391"/>
            <a:ext cx="5854148" cy="143123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accent2">
                    <a:lumMod val="75000"/>
                  </a:schemeClr>
                </a:solidFill>
              </a:rPr>
              <a:t>Coroutine</a:t>
            </a:r>
          </a:p>
          <a:p>
            <a:pPr lvl="1"/>
            <a:r>
              <a:rPr lang="en-US" sz="2400" b="0" i="0" dirty="0">
                <a:solidFill>
                  <a:srgbClr val="3C3C3C"/>
                </a:solidFill>
                <a:effectLst/>
                <a:latin typeface="DejaVuSerif"/>
              </a:rPr>
              <a:t>A function that can be suspended and resumed</a:t>
            </a:r>
            <a:endParaRPr lang="en-US" dirty="0"/>
          </a:p>
          <a:p>
            <a:pPr lvl="1"/>
            <a:r>
              <a:rPr lang="en-US" dirty="0"/>
              <a:t>A python example – </a:t>
            </a:r>
          </a:p>
          <a:p>
            <a:pPr marL="457200" lvl="1" indent="0">
              <a:buFont typeface="Arial" panose="020B0604020202020204" pitchFamily="34" charset="0"/>
              <a:buNone/>
            </a:pPr>
            <a:endParaRPr lang="en-US" dirty="0"/>
          </a:p>
        </p:txBody>
      </p:sp>
      <p:sp>
        <p:nvSpPr>
          <p:cNvPr id="15" name="TextBox 14">
            <a:extLst>
              <a:ext uri="{FF2B5EF4-FFF2-40B4-BE49-F238E27FC236}">
                <a16:creationId xmlns:a16="http://schemas.microsoft.com/office/drawing/2014/main" id="{BABCDE0E-BF86-96F7-6DB3-DE677958D3A4}"/>
              </a:ext>
            </a:extLst>
          </p:cNvPr>
          <p:cNvSpPr txBox="1"/>
          <p:nvPr/>
        </p:nvSpPr>
        <p:spPr>
          <a:xfrm>
            <a:off x="6122505" y="2292626"/>
            <a:ext cx="4949688" cy="2031325"/>
          </a:xfrm>
          <a:prstGeom prst="rect">
            <a:avLst/>
          </a:prstGeom>
          <a:noFill/>
          <a:ln>
            <a:solidFill>
              <a:schemeClr val="accent2">
                <a:lumMod val="60000"/>
                <a:lumOff val="40000"/>
              </a:schemeClr>
            </a:solidFill>
          </a:ln>
        </p:spPr>
        <p:txBody>
          <a:bodyPr wrap="square">
            <a:spAutoFit/>
          </a:bodyPr>
          <a:lstStyle/>
          <a:p>
            <a:r>
              <a:rPr lang="en-US" sz="1800" b="1" dirty="0">
                <a:solidFill>
                  <a:srgbClr val="0000FF"/>
                </a:solidFill>
                <a:highlight>
                  <a:srgbClr val="FFFFFF"/>
                </a:highlight>
                <a:latin typeface="Courier New" panose="02070309020205020404" pitchFamily="49" charset="0"/>
                <a:cs typeface="Courier New" panose="02070309020205020404" pitchFamily="49" charset="0"/>
              </a:rPr>
              <a:t>def</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0" dirty="0" err="1">
                <a:solidFill>
                  <a:srgbClr val="FF00FF"/>
                </a:solidFill>
                <a:highlight>
                  <a:srgbClr val="FFFFFF"/>
                </a:highlight>
                <a:latin typeface="Courier New" panose="02070309020205020404" pitchFamily="49" charset="0"/>
                <a:cs typeface="Courier New" panose="02070309020205020404" pitchFamily="49" charset="0"/>
              </a:rPr>
              <a:t>downFrom</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n</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endParaRPr lang="en-US" sz="1800" b="0" dirty="0">
              <a:solidFill>
                <a:srgbClr val="000000"/>
              </a:solidFill>
              <a:highlight>
                <a:srgbClr val="FFFFFF"/>
              </a:highlight>
              <a:latin typeface="Courier New" panose="02070309020205020404" pitchFamily="49" charset="0"/>
              <a:cs typeface="Courier New" panose="02070309020205020404" pitchFamily="49" charset="0"/>
            </a:endParaRPr>
          </a:p>
          <a:p>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1" dirty="0">
                <a:solidFill>
                  <a:srgbClr val="0000FF"/>
                </a:solidFill>
                <a:highlight>
                  <a:srgbClr val="FFFFFF"/>
                </a:highlight>
                <a:latin typeface="Courier New" panose="02070309020205020404" pitchFamily="49" charset="0"/>
                <a:cs typeface="Courier New" panose="02070309020205020404" pitchFamily="49" charset="0"/>
              </a:rPr>
              <a:t>while</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n </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&gt;</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0" dirty="0">
                <a:solidFill>
                  <a:srgbClr val="FF0000"/>
                </a:solidFill>
                <a:highlight>
                  <a:srgbClr val="FFFFFF"/>
                </a:highlight>
                <a:latin typeface="Courier New" panose="02070309020205020404" pitchFamily="49" charset="0"/>
                <a:cs typeface="Courier New" panose="02070309020205020404" pitchFamily="49" charset="0"/>
              </a:rPr>
              <a:t>0</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endParaRPr lang="en-US" sz="1800" b="0" dirty="0">
              <a:solidFill>
                <a:srgbClr val="000000"/>
              </a:solidFill>
              <a:highlight>
                <a:srgbClr val="FFFFFF"/>
              </a:highlight>
              <a:latin typeface="Courier New" panose="02070309020205020404" pitchFamily="49" charset="0"/>
              <a:cs typeface="Courier New" panose="02070309020205020404" pitchFamily="49" charset="0"/>
            </a:endParaRPr>
          </a:p>
          <a:p>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1" dirty="0">
                <a:solidFill>
                  <a:srgbClr val="0000FF"/>
                </a:solidFill>
                <a:highlight>
                  <a:srgbClr val="FFFFFF"/>
                </a:highlight>
                <a:latin typeface="Courier New" panose="02070309020205020404" pitchFamily="49" charset="0"/>
                <a:cs typeface="Courier New" panose="02070309020205020404" pitchFamily="49" charset="0"/>
              </a:rPr>
              <a:t>yield</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n</a:t>
            </a:r>
          </a:p>
          <a:p>
            <a:r>
              <a:rPr lang="en-US" sz="1800" b="0" dirty="0">
                <a:solidFill>
                  <a:srgbClr val="000000"/>
                </a:solidFill>
                <a:highlight>
                  <a:srgbClr val="FFFFFF"/>
                </a:highlight>
                <a:latin typeface="Courier New" panose="02070309020205020404" pitchFamily="49" charset="0"/>
                <a:cs typeface="Courier New" panose="02070309020205020404" pitchFamily="49" charset="0"/>
              </a:rPr>
              <a:t>        n </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n</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r>
              <a:rPr lang="en-US" sz="1800" b="0" dirty="0">
                <a:solidFill>
                  <a:srgbClr val="FF0000"/>
                </a:solidFill>
                <a:highlight>
                  <a:srgbClr val="FFFFFF"/>
                </a:highlight>
                <a:latin typeface="Courier New" panose="02070309020205020404" pitchFamily="49" charset="0"/>
                <a:cs typeface="Courier New" panose="02070309020205020404" pitchFamily="49" charset="0"/>
              </a:rPr>
              <a:t>1</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p>
          <a:p>
            <a:r>
              <a:rPr lang="en-US" sz="1800" b="1" dirty="0">
                <a:solidFill>
                  <a:srgbClr val="0000FF"/>
                </a:solidFill>
                <a:highlight>
                  <a:srgbClr val="FFFFFF"/>
                </a:highlight>
                <a:latin typeface="Courier New" panose="02070309020205020404" pitchFamily="49" charset="0"/>
                <a:cs typeface="Courier New" panose="02070309020205020404" pitchFamily="49" charset="0"/>
              </a:rPr>
              <a:t>if</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__name__ </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0" dirty="0">
                <a:solidFill>
                  <a:srgbClr val="808080"/>
                </a:solidFill>
                <a:highlight>
                  <a:srgbClr val="FFFFFF"/>
                </a:highlight>
                <a:latin typeface="Courier New" panose="02070309020205020404" pitchFamily="49" charset="0"/>
                <a:cs typeface="Courier New" panose="02070309020205020404" pitchFamily="49" charset="0"/>
              </a:rPr>
              <a:t>'__main__'</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endParaRPr lang="en-US" sz="1800" b="0" dirty="0">
              <a:solidFill>
                <a:srgbClr val="000000"/>
              </a:solidFill>
              <a:highlight>
                <a:srgbClr val="FFFFFF"/>
              </a:highlight>
              <a:latin typeface="Courier New" panose="02070309020205020404" pitchFamily="49" charset="0"/>
              <a:cs typeface="Courier New" panose="02070309020205020404" pitchFamily="49" charset="0"/>
            </a:endParaRPr>
          </a:p>
          <a:p>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1" dirty="0">
                <a:solidFill>
                  <a:srgbClr val="0000FF"/>
                </a:solidFill>
                <a:highlight>
                  <a:srgbClr val="FFFFFF"/>
                </a:highlight>
                <a:latin typeface="Courier New" panose="02070309020205020404" pitchFamily="49" charset="0"/>
                <a:cs typeface="Courier New" panose="02070309020205020404" pitchFamily="49" charset="0"/>
              </a:rPr>
              <a:t>for</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0" dirty="0" err="1">
                <a:solidFill>
                  <a:srgbClr val="000000"/>
                </a:solidFill>
                <a:highlight>
                  <a:srgbClr val="FFFFFF"/>
                </a:highlight>
                <a:latin typeface="Courier New" panose="02070309020205020404" pitchFamily="49" charset="0"/>
                <a:cs typeface="Courier New" panose="02070309020205020404" pitchFamily="49" charset="0"/>
              </a:rPr>
              <a:t>i</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1" dirty="0">
                <a:solidFill>
                  <a:srgbClr val="0000FF"/>
                </a:solidFill>
                <a:highlight>
                  <a:srgbClr val="FFFFFF"/>
                </a:highlight>
                <a:latin typeface="Courier New" panose="02070309020205020404" pitchFamily="49" charset="0"/>
                <a:cs typeface="Courier New" panose="02070309020205020404" pitchFamily="49" charset="0"/>
              </a:rPr>
              <a:t>in</a:t>
            </a:r>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0" dirty="0" err="1">
                <a:solidFill>
                  <a:srgbClr val="000000"/>
                </a:solidFill>
                <a:highlight>
                  <a:srgbClr val="FFFFFF"/>
                </a:highlight>
                <a:latin typeface="Courier New" panose="02070309020205020404" pitchFamily="49" charset="0"/>
                <a:cs typeface="Courier New" panose="02070309020205020404" pitchFamily="49" charset="0"/>
              </a:rPr>
              <a:t>downFrom</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r>
              <a:rPr lang="en-US" sz="1800" b="0" dirty="0">
                <a:solidFill>
                  <a:srgbClr val="FF0000"/>
                </a:solidFill>
                <a:highlight>
                  <a:srgbClr val="FFFFFF"/>
                </a:highlight>
                <a:latin typeface="Courier New" panose="02070309020205020404" pitchFamily="49" charset="0"/>
                <a:cs typeface="Courier New" panose="02070309020205020404" pitchFamily="49" charset="0"/>
              </a:rPr>
              <a:t>3</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endParaRPr lang="en-US" sz="1800" b="0" dirty="0">
              <a:solidFill>
                <a:srgbClr val="000000"/>
              </a:solidFill>
              <a:highlight>
                <a:srgbClr val="FFFFFF"/>
              </a:highlight>
              <a:latin typeface="Courier New" panose="02070309020205020404" pitchFamily="49" charset="0"/>
              <a:cs typeface="Courier New" panose="02070309020205020404" pitchFamily="49" charset="0"/>
            </a:endParaRPr>
          </a:p>
          <a:p>
            <a:r>
              <a:rPr lang="en-US" sz="1800" b="0" dirty="0">
                <a:solidFill>
                  <a:srgbClr val="000000"/>
                </a:solidFill>
                <a:highlight>
                  <a:srgbClr val="FFFFFF"/>
                </a:highlight>
                <a:latin typeface="Courier New" panose="02070309020205020404" pitchFamily="49" charset="0"/>
                <a:cs typeface="Courier New" panose="02070309020205020404" pitchFamily="49" charset="0"/>
              </a:rPr>
              <a:t>        </a:t>
            </a:r>
            <a:r>
              <a:rPr lang="en-US" sz="1800" b="1" dirty="0">
                <a:solidFill>
                  <a:srgbClr val="880088"/>
                </a:solidFill>
                <a:highlight>
                  <a:srgbClr val="FFFFFF"/>
                </a:highlight>
                <a:latin typeface="Courier New" panose="02070309020205020404" pitchFamily="49" charset="0"/>
                <a:cs typeface="Courier New" panose="02070309020205020404" pitchFamily="49" charset="0"/>
              </a:rPr>
              <a:t>print</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r>
              <a:rPr lang="en-US" sz="1800" b="0" dirty="0" err="1">
                <a:solidFill>
                  <a:srgbClr val="000000"/>
                </a:solidFill>
                <a:highlight>
                  <a:srgbClr val="FFFFFF"/>
                </a:highlight>
                <a:latin typeface="Courier New" panose="02070309020205020404" pitchFamily="49" charset="0"/>
                <a:cs typeface="Courier New" panose="02070309020205020404" pitchFamily="49" charset="0"/>
              </a:rPr>
              <a:t>i</a:t>
            </a:r>
            <a:r>
              <a:rPr lang="en-US" sz="1800" b="1" dirty="0">
                <a:solidFill>
                  <a:srgbClr val="000080"/>
                </a:solidFill>
                <a:highlight>
                  <a:srgbClr val="FFFFFF"/>
                </a:highlight>
                <a:latin typeface="Courier New" panose="02070309020205020404" pitchFamily="49" charset="0"/>
                <a:cs typeface="Courier New" panose="02070309020205020404" pitchFamily="49" charset="0"/>
              </a:rPr>
              <a:t>)</a:t>
            </a:r>
            <a:endParaRPr lang="en-US" dirty="0">
              <a:latin typeface="Courier New" panose="02070309020205020404" pitchFamily="49" charset="0"/>
              <a:cs typeface="Courier New" panose="02070309020205020404" pitchFamily="49" charset="0"/>
            </a:endParaRPr>
          </a:p>
        </p:txBody>
      </p:sp>
      <p:sp>
        <p:nvSpPr>
          <p:cNvPr id="16" name="TextBox 15">
            <a:extLst>
              <a:ext uri="{FF2B5EF4-FFF2-40B4-BE49-F238E27FC236}">
                <a16:creationId xmlns:a16="http://schemas.microsoft.com/office/drawing/2014/main" id="{CBBD08BD-2048-E6FC-79C3-C484579B6B44}"/>
              </a:ext>
            </a:extLst>
          </p:cNvPr>
          <p:cNvSpPr txBox="1"/>
          <p:nvPr/>
        </p:nvSpPr>
        <p:spPr>
          <a:xfrm>
            <a:off x="6122500" y="4435487"/>
            <a:ext cx="4976197" cy="923330"/>
          </a:xfrm>
          <a:prstGeom prst="rect">
            <a:avLst/>
          </a:prstGeom>
          <a:solidFill>
            <a:schemeClr val="tx1"/>
          </a:solidFill>
        </p:spPr>
        <p:txBody>
          <a:bodyPr wrap="square" rtlCol="0">
            <a:spAutoFit/>
          </a:bodyPr>
          <a:lstStyle/>
          <a:p>
            <a:r>
              <a:rPr lang="en-US" dirty="0">
                <a:solidFill>
                  <a:schemeClr val="bg1"/>
                </a:solidFill>
              </a:rPr>
              <a:t>3</a:t>
            </a:r>
          </a:p>
          <a:p>
            <a:r>
              <a:rPr lang="en-US" dirty="0">
                <a:solidFill>
                  <a:schemeClr val="bg1"/>
                </a:solidFill>
              </a:rPr>
              <a:t>2</a:t>
            </a:r>
          </a:p>
          <a:p>
            <a:r>
              <a:rPr lang="en-US" dirty="0">
                <a:solidFill>
                  <a:schemeClr val="bg1"/>
                </a:solidFill>
              </a:rPr>
              <a:t>1</a:t>
            </a:r>
          </a:p>
        </p:txBody>
      </p:sp>
    </p:spTree>
    <p:extLst>
      <p:ext uri="{BB962C8B-B14F-4D97-AF65-F5344CB8AC3E}">
        <p14:creationId xmlns:p14="http://schemas.microsoft.com/office/powerpoint/2010/main" val="33667034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1"/>
            <a:ext cx="10515600" cy="99302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Runtime Memory Management</a:t>
            </a:r>
          </a:p>
        </p:txBody>
      </p:sp>
      <p:sp>
        <p:nvSpPr>
          <p:cNvPr id="3" name="Content Placeholder 2"/>
          <p:cNvSpPr>
            <a:spLocks noGrp="1"/>
          </p:cNvSpPr>
          <p:nvPr>
            <p:ph idx="1"/>
          </p:nvPr>
        </p:nvSpPr>
        <p:spPr>
          <a:xfrm>
            <a:off x="838200" y="1358153"/>
            <a:ext cx="10515600" cy="5177118"/>
          </a:xfrm>
        </p:spPr>
        <p:txBody>
          <a:bodyPr>
            <a:normAutofit fontScale="92500" lnSpcReduction="10000"/>
          </a:bodyPr>
          <a:lstStyle/>
          <a:p>
            <a:pPr>
              <a:lnSpc>
                <a:spcPct val="100000"/>
              </a:lnSpc>
              <a:spcBef>
                <a:spcPts val="600"/>
              </a:spcBef>
              <a:spcAft>
                <a:spcPts val="600"/>
              </a:spcAft>
            </a:pPr>
            <a:r>
              <a:rPr lang="en-US" dirty="0"/>
              <a:t>Most constructs in a programming language need memory.</a:t>
            </a:r>
          </a:p>
          <a:p>
            <a:pPr lvl="1">
              <a:lnSpc>
                <a:spcPct val="100000"/>
              </a:lnSpc>
              <a:spcBef>
                <a:spcPts val="600"/>
              </a:spcBef>
              <a:spcAft>
                <a:spcPts val="600"/>
              </a:spcAft>
            </a:pPr>
            <a:r>
              <a:rPr lang="en-US" dirty="0"/>
              <a:t>Local variables, Objects, Arrays, Strings etc.</a:t>
            </a:r>
          </a:p>
          <a:p>
            <a:pPr>
              <a:lnSpc>
                <a:spcPct val="100000"/>
              </a:lnSpc>
              <a:spcBef>
                <a:spcPts val="600"/>
              </a:spcBef>
              <a:spcAft>
                <a:spcPts val="600"/>
              </a:spcAft>
            </a:pPr>
            <a:r>
              <a:rPr lang="en-US" dirty="0"/>
              <a:t>Some memory is </a:t>
            </a:r>
            <a:r>
              <a:rPr lang="en-US" dirty="0">
                <a:solidFill>
                  <a:srgbClr val="00B0F0"/>
                </a:solidFill>
              </a:rPr>
              <a:t>preallocated</a:t>
            </a:r>
            <a:r>
              <a:rPr lang="en-US" dirty="0"/>
              <a:t> and persists throughout the program:</a:t>
            </a:r>
          </a:p>
          <a:p>
            <a:pPr lvl="1">
              <a:lnSpc>
                <a:spcPct val="100000"/>
              </a:lnSpc>
              <a:spcBef>
                <a:spcPts val="600"/>
              </a:spcBef>
              <a:spcAft>
                <a:spcPts val="600"/>
              </a:spcAft>
            </a:pPr>
            <a:r>
              <a:rPr lang="en-US" dirty="0"/>
              <a:t>Global variables, executable code, etc.</a:t>
            </a:r>
          </a:p>
          <a:p>
            <a:pPr>
              <a:lnSpc>
                <a:spcPct val="100000"/>
              </a:lnSpc>
              <a:spcBef>
                <a:spcPts val="600"/>
              </a:spcBef>
              <a:spcAft>
                <a:spcPts val="600"/>
              </a:spcAft>
            </a:pPr>
            <a:r>
              <a:rPr lang="en-US" dirty="0"/>
              <a:t>Some memory is allocated on the </a:t>
            </a:r>
            <a:r>
              <a:rPr lang="en-US" dirty="0">
                <a:solidFill>
                  <a:srgbClr val="92D050"/>
                </a:solidFill>
              </a:rPr>
              <a:t>runtime stack</a:t>
            </a:r>
            <a:r>
              <a:rPr lang="en-US" dirty="0"/>
              <a:t>:</a:t>
            </a:r>
          </a:p>
          <a:p>
            <a:pPr lvl="1">
              <a:lnSpc>
                <a:spcPct val="100000"/>
              </a:lnSpc>
              <a:spcBef>
                <a:spcPts val="600"/>
              </a:spcBef>
              <a:spcAft>
                <a:spcPts val="600"/>
              </a:spcAft>
            </a:pPr>
            <a:r>
              <a:rPr lang="en-US" dirty="0"/>
              <a:t>Local variables, parameters, temporaries.</a:t>
            </a:r>
          </a:p>
          <a:p>
            <a:pPr>
              <a:lnSpc>
                <a:spcPct val="100000"/>
              </a:lnSpc>
              <a:spcBef>
                <a:spcPts val="600"/>
              </a:spcBef>
              <a:spcAft>
                <a:spcPts val="600"/>
              </a:spcAft>
            </a:pPr>
            <a:r>
              <a:rPr lang="en-US" dirty="0"/>
              <a:t>Some memory is allocated in the </a:t>
            </a:r>
            <a:r>
              <a:rPr lang="en-US" dirty="0">
                <a:solidFill>
                  <a:schemeClr val="accent2">
                    <a:lumMod val="75000"/>
                  </a:schemeClr>
                </a:solidFill>
              </a:rPr>
              <a:t>heap</a:t>
            </a:r>
            <a:r>
              <a:rPr lang="en-US" dirty="0"/>
              <a:t>:</a:t>
            </a:r>
          </a:p>
          <a:p>
            <a:pPr lvl="1">
              <a:lnSpc>
                <a:spcPct val="100000"/>
              </a:lnSpc>
              <a:spcBef>
                <a:spcPts val="600"/>
              </a:spcBef>
              <a:spcAft>
                <a:spcPts val="600"/>
              </a:spcAft>
            </a:pPr>
            <a:r>
              <a:rPr lang="en-US" dirty="0"/>
              <a:t>Arrays, objects.</a:t>
            </a:r>
          </a:p>
          <a:p>
            <a:pPr>
              <a:lnSpc>
                <a:spcPct val="100000"/>
              </a:lnSpc>
              <a:spcBef>
                <a:spcPts val="600"/>
              </a:spcBef>
              <a:spcAft>
                <a:spcPts val="600"/>
              </a:spcAft>
            </a:pPr>
            <a:r>
              <a:rPr lang="en-US" dirty="0"/>
              <a:t>Memory management for the first two is trivial.</a:t>
            </a:r>
          </a:p>
          <a:p>
            <a:pPr>
              <a:lnSpc>
                <a:spcPct val="100000"/>
              </a:lnSpc>
              <a:spcBef>
                <a:spcPts val="600"/>
              </a:spcBef>
              <a:spcAft>
                <a:spcPts val="600"/>
              </a:spcAft>
            </a:pPr>
            <a:r>
              <a:rPr lang="en-US" dirty="0">
                <a:solidFill>
                  <a:srgbClr val="FF0000"/>
                </a:solidFill>
              </a:rPr>
              <a:t>How do we manage heap-allocated memory?</a:t>
            </a:r>
            <a:r>
              <a:rPr lang="en-US" dirty="0"/>
              <a:t> </a:t>
            </a:r>
          </a:p>
        </p:txBody>
      </p:sp>
      <p:sp>
        <p:nvSpPr>
          <p:cNvPr id="4" name="Slide Number Placeholder 3"/>
          <p:cNvSpPr>
            <a:spLocks noGrp="1"/>
          </p:cNvSpPr>
          <p:nvPr>
            <p:ph type="sldNum" sz="quarter" idx="12"/>
          </p:nvPr>
        </p:nvSpPr>
        <p:spPr/>
        <p:txBody>
          <a:bodyPr/>
          <a:lstStyle/>
          <a:p>
            <a:fld id="{EE645454-5A07-423E-8617-7239B6B66F68}" type="slidenum">
              <a:rPr lang="en-US" smtClean="0"/>
              <a:t>29</a:t>
            </a:fld>
            <a:endParaRPr lang="en-US"/>
          </a:p>
        </p:txBody>
      </p:sp>
    </p:spTree>
    <p:extLst>
      <p:ext uri="{BB962C8B-B14F-4D97-AF65-F5344CB8AC3E}">
        <p14:creationId xmlns:p14="http://schemas.microsoft.com/office/powerpoint/2010/main" val="118334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arn(inVertic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arn(inVertic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arn(inVertical)">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8619"/>
            <a:ext cx="10515600" cy="993028"/>
          </a:xfrm>
        </p:spPr>
        <p:txBody>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Heap Memory Management</a:t>
            </a:r>
          </a:p>
        </p:txBody>
      </p:sp>
      <p:sp>
        <p:nvSpPr>
          <p:cNvPr id="3" name="Content Placeholder 2"/>
          <p:cNvSpPr>
            <a:spLocks noGrp="1"/>
          </p:cNvSpPr>
          <p:nvPr>
            <p:ph idx="1"/>
          </p:nvPr>
        </p:nvSpPr>
        <p:spPr>
          <a:xfrm>
            <a:off x="838199" y="1051647"/>
            <a:ext cx="11089341" cy="5483624"/>
          </a:xfrm>
        </p:spPr>
        <p:txBody>
          <a:bodyPr>
            <a:normAutofit lnSpcReduction="10000"/>
          </a:bodyPr>
          <a:lstStyle/>
          <a:p>
            <a:pPr>
              <a:lnSpc>
                <a:spcPct val="100000"/>
              </a:lnSpc>
              <a:spcBef>
                <a:spcPts val="600"/>
              </a:spcBef>
              <a:spcAft>
                <a:spcPts val="600"/>
              </a:spcAft>
            </a:pPr>
            <a:r>
              <a:rPr lang="en-US" dirty="0"/>
              <a:t>Heap is used for allocating space for objects created at run time</a:t>
            </a:r>
          </a:p>
          <a:p>
            <a:pPr lvl="1">
              <a:lnSpc>
                <a:spcPct val="100000"/>
              </a:lnSpc>
              <a:spcBef>
                <a:spcPts val="600"/>
              </a:spcBef>
              <a:spcAft>
                <a:spcPts val="600"/>
              </a:spcAft>
            </a:pPr>
            <a:r>
              <a:rPr lang="en-US" dirty="0"/>
              <a:t>For example: nodes of dynamic data structures such as linked lists and trees</a:t>
            </a:r>
          </a:p>
          <a:p>
            <a:pPr>
              <a:lnSpc>
                <a:spcPct val="100000"/>
              </a:lnSpc>
              <a:spcBef>
                <a:spcPts val="600"/>
              </a:spcBef>
              <a:spcAft>
                <a:spcPts val="600"/>
              </a:spcAft>
            </a:pPr>
            <a:r>
              <a:rPr lang="en-US" dirty="0"/>
              <a:t>Almost all programming languages support dynamic memory allocation and deallocation</a:t>
            </a:r>
          </a:p>
          <a:p>
            <a:pPr lvl="1">
              <a:lnSpc>
                <a:spcPct val="100000"/>
              </a:lnSpc>
              <a:spcBef>
                <a:spcPts val="600"/>
              </a:spcBef>
              <a:spcAft>
                <a:spcPts val="600"/>
              </a:spcAft>
            </a:pPr>
            <a:r>
              <a:rPr lang="en-US" i="1" dirty="0"/>
              <a:t>malloc() </a:t>
            </a:r>
            <a:r>
              <a:rPr lang="en-US" dirty="0"/>
              <a:t>and </a:t>
            </a:r>
            <a:r>
              <a:rPr lang="en-US" i="1" dirty="0"/>
              <a:t>free() </a:t>
            </a:r>
            <a:r>
              <a:rPr lang="en-US" dirty="0"/>
              <a:t>in C </a:t>
            </a:r>
          </a:p>
          <a:p>
            <a:pPr lvl="1">
              <a:lnSpc>
                <a:spcPct val="100000"/>
              </a:lnSpc>
              <a:spcBef>
                <a:spcPts val="600"/>
              </a:spcBef>
              <a:spcAft>
                <a:spcPts val="600"/>
              </a:spcAft>
            </a:pPr>
            <a:r>
              <a:rPr lang="en-US" i="1" dirty="0"/>
              <a:t>new() </a:t>
            </a:r>
            <a:r>
              <a:rPr lang="en-US" dirty="0"/>
              <a:t>and </a:t>
            </a:r>
            <a:r>
              <a:rPr lang="en-US" i="1" dirty="0"/>
              <a:t>delete() </a:t>
            </a:r>
            <a:r>
              <a:rPr lang="en-US" dirty="0"/>
              <a:t>in C++ </a:t>
            </a:r>
          </a:p>
          <a:p>
            <a:pPr lvl="1">
              <a:lnSpc>
                <a:spcPct val="100000"/>
              </a:lnSpc>
              <a:spcBef>
                <a:spcPts val="600"/>
              </a:spcBef>
              <a:spcAft>
                <a:spcPts val="600"/>
              </a:spcAft>
            </a:pPr>
            <a:r>
              <a:rPr lang="en-US" i="1" dirty="0"/>
              <a:t>new() </a:t>
            </a:r>
            <a:r>
              <a:rPr lang="en-US" dirty="0"/>
              <a:t>and garbage collection in Java</a:t>
            </a:r>
          </a:p>
          <a:p>
            <a:pPr>
              <a:lnSpc>
                <a:spcPct val="100000"/>
              </a:lnSpc>
              <a:spcBef>
                <a:spcPts val="600"/>
              </a:spcBef>
              <a:spcAft>
                <a:spcPts val="600"/>
              </a:spcAft>
            </a:pPr>
            <a:r>
              <a:rPr lang="en-US" dirty="0"/>
              <a:t>Allocation and deallocation may be </a:t>
            </a:r>
          </a:p>
          <a:p>
            <a:pPr lvl="1">
              <a:lnSpc>
                <a:spcPct val="100000"/>
              </a:lnSpc>
              <a:spcBef>
                <a:spcPts val="600"/>
              </a:spcBef>
              <a:spcAft>
                <a:spcPts val="600"/>
              </a:spcAft>
            </a:pPr>
            <a:r>
              <a:rPr lang="en-US" i="1" dirty="0"/>
              <a:t>completely manual </a:t>
            </a:r>
            <a:r>
              <a:rPr lang="en-US" dirty="0"/>
              <a:t>(C/C++), </a:t>
            </a:r>
          </a:p>
          <a:p>
            <a:pPr lvl="1">
              <a:lnSpc>
                <a:spcPct val="100000"/>
              </a:lnSpc>
              <a:spcBef>
                <a:spcPts val="600"/>
              </a:spcBef>
              <a:spcAft>
                <a:spcPts val="600"/>
              </a:spcAft>
            </a:pPr>
            <a:r>
              <a:rPr lang="en-US" i="1" dirty="0"/>
              <a:t>semi-automatic </a:t>
            </a:r>
            <a:r>
              <a:rPr lang="en-US" dirty="0"/>
              <a:t>(Java), or </a:t>
            </a:r>
          </a:p>
          <a:p>
            <a:pPr lvl="1">
              <a:lnSpc>
                <a:spcPct val="100000"/>
              </a:lnSpc>
              <a:spcBef>
                <a:spcPts val="600"/>
              </a:spcBef>
              <a:spcAft>
                <a:spcPts val="600"/>
              </a:spcAft>
            </a:pPr>
            <a:r>
              <a:rPr lang="en-US" i="1" dirty="0"/>
              <a:t>fully automatic </a:t>
            </a:r>
            <a:r>
              <a:rPr lang="en-US" dirty="0"/>
              <a:t>(Python) </a:t>
            </a:r>
          </a:p>
        </p:txBody>
      </p:sp>
      <p:sp>
        <p:nvSpPr>
          <p:cNvPr id="4" name="Slide Number Placeholder 3"/>
          <p:cNvSpPr>
            <a:spLocks noGrp="1"/>
          </p:cNvSpPr>
          <p:nvPr>
            <p:ph type="sldNum" sz="quarter" idx="12"/>
          </p:nvPr>
        </p:nvSpPr>
        <p:spPr/>
        <p:txBody>
          <a:bodyPr/>
          <a:lstStyle/>
          <a:p>
            <a:fld id="{EE645454-5A07-423E-8617-7239B6B66F68}" type="slidenum">
              <a:rPr lang="en-US" smtClean="0"/>
              <a:t>30</a:t>
            </a:fld>
            <a:endParaRPr lang="en-US"/>
          </a:p>
        </p:txBody>
      </p:sp>
    </p:spTree>
    <p:extLst>
      <p:ext uri="{BB962C8B-B14F-4D97-AF65-F5344CB8AC3E}">
        <p14:creationId xmlns:p14="http://schemas.microsoft.com/office/powerpoint/2010/main" val="835645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down)">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1"/>
            <a:ext cx="10515600" cy="831663"/>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Memory Manager</a:t>
            </a:r>
          </a:p>
        </p:txBody>
      </p:sp>
      <p:sp>
        <p:nvSpPr>
          <p:cNvPr id="3" name="Content Placeholder 2"/>
          <p:cNvSpPr>
            <a:spLocks noGrp="1"/>
          </p:cNvSpPr>
          <p:nvPr>
            <p:ph idx="1"/>
          </p:nvPr>
        </p:nvSpPr>
        <p:spPr>
          <a:xfrm>
            <a:off x="838200" y="1196789"/>
            <a:ext cx="10515600" cy="5338482"/>
          </a:xfrm>
        </p:spPr>
        <p:txBody>
          <a:bodyPr>
            <a:normAutofit fontScale="92500" lnSpcReduction="10000"/>
          </a:bodyPr>
          <a:lstStyle/>
          <a:p>
            <a:pPr>
              <a:lnSpc>
                <a:spcPct val="100000"/>
              </a:lnSpc>
              <a:spcBef>
                <a:spcPts val="600"/>
              </a:spcBef>
              <a:spcAft>
                <a:spcPts val="600"/>
              </a:spcAft>
            </a:pPr>
            <a:r>
              <a:rPr lang="en-US" dirty="0">
                <a:solidFill>
                  <a:schemeClr val="accent2">
                    <a:lumMod val="75000"/>
                  </a:schemeClr>
                </a:solidFill>
              </a:rPr>
              <a:t>Memory Manager </a:t>
            </a:r>
            <a:r>
              <a:rPr lang="en-US" dirty="0"/>
              <a:t>is the subsystem that allocates and deallocates space in the heap.</a:t>
            </a:r>
          </a:p>
          <a:p>
            <a:pPr>
              <a:lnSpc>
                <a:spcPct val="100000"/>
              </a:lnSpc>
              <a:spcBef>
                <a:spcPts val="600"/>
              </a:spcBef>
              <a:spcAft>
                <a:spcPts val="600"/>
              </a:spcAft>
            </a:pPr>
            <a:r>
              <a:rPr lang="en-US" dirty="0"/>
              <a:t>Keep track of all the free space in the heap storage at all the time</a:t>
            </a:r>
          </a:p>
          <a:p>
            <a:pPr>
              <a:lnSpc>
                <a:spcPct val="100000"/>
              </a:lnSpc>
              <a:spcBef>
                <a:spcPts val="600"/>
              </a:spcBef>
              <a:spcAft>
                <a:spcPts val="600"/>
              </a:spcAft>
            </a:pPr>
            <a:r>
              <a:rPr lang="en-US" dirty="0">
                <a:solidFill>
                  <a:srgbClr val="00B0F0"/>
                </a:solidFill>
              </a:rPr>
              <a:t>Allocation</a:t>
            </a:r>
          </a:p>
          <a:p>
            <a:pPr lvl="1">
              <a:lnSpc>
                <a:spcPct val="100000"/>
              </a:lnSpc>
              <a:spcBef>
                <a:spcPts val="600"/>
              </a:spcBef>
              <a:spcAft>
                <a:spcPts val="600"/>
              </a:spcAft>
            </a:pPr>
            <a:r>
              <a:rPr lang="en-US" sz="2600" dirty="0"/>
              <a:t>When a program requests memory for a variable or object, the memory manager produces a chunk of contiguous heap memory of the requested size. </a:t>
            </a:r>
          </a:p>
          <a:p>
            <a:pPr lvl="1">
              <a:lnSpc>
                <a:spcPct val="100000"/>
              </a:lnSpc>
              <a:spcBef>
                <a:spcPts val="600"/>
              </a:spcBef>
              <a:spcAft>
                <a:spcPts val="600"/>
              </a:spcAft>
            </a:pPr>
            <a:r>
              <a:rPr lang="en-US" sz="2600" dirty="0"/>
              <a:t>If possible, it satisfies an allocation request using free space in the heap; </a:t>
            </a:r>
          </a:p>
          <a:p>
            <a:pPr lvl="1">
              <a:lnSpc>
                <a:spcPct val="100000"/>
              </a:lnSpc>
              <a:spcBef>
                <a:spcPts val="600"/>
              </a:spcBef>
              <a:spcAft>
                <a:spcPts val="600"/>
              </a:spcAft>
            </a:pPr>
            <a:r>
              <a:rPr lang="en-US" sz="2600" dirty="0"/>
              <a:t>if no chunk of the needed size is available, it seeks to increase the heap storage space by getting consecutive bytes of virtual memory from the operating system. </a:t>
            </a:r>
          </a:p>
          <a:p>
            <a:pPr lvl="1">
              <a:lnSpc>
                <a:spcPct val="100000"/>
              </a:lnSpc>
              <a:spcBef>
                <a:spcPts val="600"/>
              </a:spcBef>
              <a:spcAft>
                <a:spcPts val="600"/>
              </a:spcAft>
            </a:pPr>
            <a:r>
              <a:rPr lang="en-US" sz="2600" dirty="0"/>
              <a:t>If space is exhausted, the memory manager passes that information back to the application program. </a:t>
            </a:r>
          </a:p>
        </p:txBody>
      </p:sp>
      <p:sp>
        <p:nvSpPr>
          <p:cNvPr id="4" name="Slide Number Placeholder 3"/>
          <p:cNvSpPr>
            <a:spLocks noGrp="1"/>
          </p:cNvSpPr>
          <p:nvPr>
            <p:ph type="sldNum" sz="quarter" idx="12"/>
          </p:nvPr>
        </p:nvSpPr>
        <p:spPr/>
        <p:txBody>
          <a:bodyPr/>
          <a:lstStyle/>
          <a:p>
            <a:fld id="{EE645454-5A07-423E-8617-7239B6B66F68}" type="slidenum">
              <a:rPr lang="en-US" smtClean="0"/>
              <a:t>31</a:t>
            </a:fld>
            <a:endParaRPr lang="en-US"/>
          </a:p>
        </p:txBody>
      </p:sp>
    </p:spTree>
    <p:extLst>
      <p:ext uri="{BB962C8B-B14F-4D97-AF65-F5344CB8AC3E}">
        <p14:creationId xmlns:p14="http://schemas.microsoft.com/office/powerpoint/2010/main" val="104260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1"/>
            <a:ext cx="10515600" cy="831663"/>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Memory Manager (2)</a:t>
            </a:r>
          </a:p>
        </p:txBody>
      </p:sp>
      <p:sp>
        <p:nvSpPr>
          <p:cNvPr id="3" name="Content Placeholder 2"/>
          <p:cNvSpPr>
            <a:spLocks noGrp="1"/>
          </p:cNvSpPr>
          <p:nvPr>
            <p:ph idx="1"/>
          </p:nvPr>
        </p:nvSpPr>
        <p:spPr>
          <a:xfrm>
            <a:off x="838200" y="1196789"/>
            <a:ext cx="10515600" cy="5338482"/>
          </a:xfrm>
        </p:spPr>
        <p:txBody>
          <a:bodyPr>
            <a:normAutofit/>
          </a:bodyPr>
          <a:lstStyle/>
          <a:p>
            <a:pPr>
              <a:lnSpc>
                <a:spcPct val="100000"/>
              </a:lnSpc>
              <a:spcBef>
                <a:spcPts val="600"/>
              </a:spcBef>
              <a:spcAft>
                <a:spcPts val="600"/>
              </a:spcAft>
            </a:pPr>
            <a:r>
              <a:rPr lang="en-US" dirty="0">
                <a:solidFill>
                  <a:srgbClr val="00B0F0"/>
                </a:solidFill>
              </a:rPr>
              <a:t>Deallocation</a:t>
            </a:r>
          </a:p>
          <a:p>
            <a:pPr lvl="1">
              <a:lnSpc>
                <a:spcPct val="100000"/>
              </a:lnSpc>
              <a:spcBef>
                <a:spcPts val="600"/>
              </a:spcBef>
              <a:spcAft>
                <a:spcPts val="600"/>
              </a:spcAft>
            </a:pPr>
            <a:r>
              <a:rPr lang="en-US" sz="2600" dirty="0"/>
              <a:t>The memory manager returns deallocated space to the pool of free space, so it can reuse the space to satisfy other allocation requests.</a:t>
            </a:r>
          </a:p>
          <a:p>
            <a:pPr lvl="1">
              <a:lnSpc>
                <a:spcPct val="100000"/>
              </a:lnSpc>
              <a:spcBef>
                <a:spcPts val="600"/>
              </a:spcBef>
              <a:spcAft>
                <a:spcPts val="600"/>
              </a:spcAft>
            </a:pPr>
            <a:r>
              <a:rPr lang="en-US" sz="2600" dirty="0"/>
              <a:t>Memory managers typically do not return memory to the operating system, even if the program's heap usage drops. </a:t>
            </a:r>
          </a:p>
        </p:txBody>
      </p:sp>
      <p:sp>
        <p:nvSpPr>
          <p:cNvPr id="4" name="Slide Number Placeholder 3"/>
          <p:cNvSpPr>
            <a:spLocks noGrp="1"/>
          </p:cNvSpPr>
          <p:nvPr>
            <p:ph type="sldNum" sz="quarter" idx="12"/>
          </p:nvPr>
        </p:nvSpPr>
        <p:spPr/>
        <p:txBody>
          <a:bodyPr/>
          <a:lstStyle/>
          <a:p>
            <a:fld id="{EE645454-5A07-423E-8617-7239B6B66F68}" type="slidenum">
              <a:rPr lang="en-US" smtClean="0"/>
              <a:t>32</a:t>
            </a:fld>
            <a:endParaRPr lang="en-US"/>
          </a:p>
        </p:txBody>
      </p:sp>
    </p:spTree>
    <p:extLst>
      <p:ext uri="{BB962C8B-B14F-4D97-AF65-F5344CB8AC3E}">
        <p14:creationId xmlns:p14="http://schemas.microsoft.com/office/powerpoint/2010/main" val="1305134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1"/>
            <a:ext cx="10515600" cy="99302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Memory Manager (3)</a:t>
            </a:r>
          </a:p>
        </p:txBody>
      </p:sp>
      <p:sp>
        <p:nvSpPr>
          <p:cNvPr id="3" name="Content Placeholder 2"/>
          <p:cNvSpPr>
            <a:spLocks noGrp="1"/>
          </p:cNvSpPr>
          <p:nvPr>
            <p:ph idx="1"/>
          </p:nvPr>
        </p:nvSpPr>
        <p:spPr>
          <a:xfrm>
            <a:off x="838200" y="1358153"/>
            <a:ext cx="10515600" cy="5177118"/>
          </a:xfrm>
        </p:spPr>
        <p:txBody>
          <a:bodyPr>
            <a:normAutofit/>
          </a:bodyPr>
          <a:lstStyle/>
          <a:p>
            <a:pPr>
              <a:lnSpc>
                <a:spcPct val="100000"/>
              </a:lnSpc>
              <a:spcBef>
                <a:spcPts val="600"/>
              </a:spcBef>
              <a:spcAft>
                <a:spcPts val="600"/>
              </a:spcAft>
            </a:pPr>
            <a:r>
              <a:rPr lang="en-US" dirty="0"/>
              <a:t>The memory manager must be prepared to service, </a:t>
            </a:r>
            <a:r>
              <a:rPr lang="en-US" dirty="0">
                <a:solidFill>
                  <a:srgbClr val="FF0000"/>
                </a:solidFill>
              </a:rPr>
              <a:t>in any order</a:t>
            </a:r>
            <a:r>
              <a:rPr lang="en-US" dirty="0"/>
              <a:t>, </a:t>
            </a:r>
            <a:r>
              <a:rPr lang="en-US" dirty="0">
                <a:solidFill>
                  <a:srgbClr val="00B050"/>
                </a:solidFill>
              </a:rPr>
              <a:t>allocation</a:t>
            </a:r>
            <a:r>
              <a:rPr lang="en-US" dirty="0"/>
              <a:t> and </a:t>
            </a:r>
            <a:r>
              <a:rPr lang="en-US" dirty="0">
                <a:solidFill>
                  <a:schemeClr val="accent5">
                    <a:lumMod val="75000"/>
                  </a:schemeClr>
                </a:solidFill>
              </a:rPr>
              <a:t>deallocation</a:t>
            </a:r>
            <a:r>
              <a:rPr lang="en-US" dirty="0"/>
              <a:t> requests </a:t>
            </a:r>
            <a:r>
              <a:rPr lang="en-US" dirty="0">
                <a:solidFill>
                  <a:srgbClr val="FF0000"/>
                </a:solidFill>
              </a:rPr>
              <a:t>of any size</a:t>
            </a:r>
            <a:r>
              <a:rPr lang="en-US" dirty="0"/>
              <a:t>, ranging from one byte to as large as the program's entire address space. </a:t>
            </a:r>
            <a:endParaRPr lang="en-US" dirty="0">
              <a:solidFill>
                <a:srgbClr val="00B0F0"/>
              </a:solidFill>
            </a:endParaRPr>
          </a:p>
          <a:p>
            <a:pPr>
              <a:lnSpc>
                <a:spcPct val="100000"/>
              </a:lnSpc>
              <a:spcBef>
                <a:spcPts val="600"/>
              </a:spcBef>
              <a:spcAft>
                <a:spcPts val="600"/>
              </a:spcAft>
            </a:pPr>
            <a:r>
              <a:rPr lang="en-US" dirty="0">
                <a:solidFill>
                  <a:srgbClr val="00B0F0"/>
                </a:solidFill>
              </a:rPr>
              <a:t>Goals</a:t>
            </a:r>
          </a:p>
          <a:p>
            <a:pPr lvl="1">
              <a:lnSpc>
                <a:spcPct val="100000"/>
              </a:lnSpc>
              <a:spcBef>
                <a:spcPts val="600"/>
              </a:spcBef>
              <a:spcAft>
                <a:spcPts val="600"/>
              </a:spcAft>
            </a:pPr>
            <a:r>
              <a:rPr lang="en-US" sz="2600" dirty="0">
                <a:solidFill>
                  <a:schemeClr val="accent5">
                    <a:lumMod val="75000"/>
                  </a:schemeClr>
                </a:solidFill>
              </a:rPr>
              <a:t>Space efficiency</a:t>
            </a:r>
            <a:r>
              <a:rPr lang="en-US" sz="2600" dirty="0"/>
              <a:t>: minimize </a:t>
            </a:r>
            <a:r>
              <a:rPr lang="en-US" sz="2600" i="1" dirty="0">
                <a:solidFill>
                  <a:srgbClr val="7030A0"/>
                </a:solidFill>
              </a:rPr>
              <a:t>fragmentation</a:t>
            </a:r>
          </a:p>
          <a:p>
            <a:pPr lvl="1">
              <a:lnSpc>
                <a:spcPct val="100000"/>
              </a:lnSpc>
              <a:spcBef>
                <a:spcPts val="600"/>
              </a:spcBef>
              <a:spcAft>
                <a:spcPts val="600"/>
              </a:spcAft>
            </a:pPr>
            <a:r>
              <a:rPr lang="en-US" sz="2600" dirty="0">
                <a:solidFill>
                  <a:schemeClr val="accent6">
                    <a:lumMod val="75000"/>
                  </a:schemeClr>
                </a:solidFill>
              </a:rPr>
              <a:t>Program efficiency</a:t>
            </a:r>
            <a:r>
              <a:rPr lang="en-US" sz="2600" dirty="0"/>
              <a:t>: take advantage of locality of objects (both </a:t>
            </a:r>
            <a:r>
              <a:rPr lang="en-US" sz="2600" dirty="0">
                <a:solidFill>
                  <a:schemeClr val="accent1">
                    <a:lumMod val="75000"/>
                  </a:schemeClr>
                </a:solidFill>
              </a:rPr>
              <a:t>temporal</a:t>
            </a:r>
            <a:r>
              <a:rPr lang="en-US" sz="2600" dirty="0"/>
              <a:t> and </a:t>
            </a:r>
            <a:r>
              <a:rPr lang="en-US" sz="2600" dirty="0">
                <a:solidFill>
                  <a:schemeClr val="accent1">
                    <a:lumMod val="75000"/>
                  </a:schemeClr>
                </a:solidFill>
              </a:rPr>
              <a:t>spatial</a:t>
            </a:r>
            <a:r>
              <a:rPr lang="en-US" sz="2600" dirty="0"/>
              <a:t>) in memory and make the program run faster</a:t>
            </a:r>
          </a:p>
          <a:p>
            <a:pPr lvl="1">
              <a:lnSpc>
                <a:spcPct val="100000"/>
              </a:lnSpc>
              <a:spcBef>
                <a:spcPts val="600"/>
              </a:spcBef>
              <a:spcAft>
                <a:spcPts val="600"/>
              </a:spcAft>
            </a:pPr>
            <a:r>
              <a:rPr lang="en-US" sz="2600" dirty="0">
                <a:solidFill>
                  <a:schemeClr val="accent2">
                    <a:lumMod val="75000"/>
                  </a:schemeClr>
                </a:solidFill>
              </a:rPr>
              <a:t>Low overhead</a:t>
            </a:r>
            <a:r>
              <a:rPr lang="en-US" sz="2600" dirty="0"/>
              <a:t>: allocation and deallocation must be efficient</a:t>
            </a:r>
            <a:endParaRPr lang="en-US" dirty="0"/>
          </a:p>
        </p:txBody>
      </p:sp>
      <p:sp>
        <p:nvSpPr>
          <p:cNvPr id="4" name="Slide Number Placeholder 3"/>
          <p:cNvSpPr>
            <a:spLocks noGrp="1"/>
          </p:cNvSpPr>
          <p:nvPr>
            <p:ph type="sldNum" sz="quarter" idx="12"/>
          </p:nvPr>
        </p:nvSpPr>
        <p:spPr/>
        <p:txBody>
          <a:bodyPr/>
          <a:lstStyle/>
          <a:p>
            <a:fld id="{EE645454-5A07-423E-8617-7239B6B66F68}" type="slidenum">
              <a:rPr lang="en-US" smtClean="0"/>
              <a:t>33</a:t>
            </a:fld>
            <a:endParaRPr lang="en-US"/>
          </a:p>
        </p:txBody>
      </p:sp>
    </p:spTree>
    <p:extLst>
      <p:ext uri="{BB962C8B-B14F-4D97-AF65-F5344CB8AC3E}">
        <p14:creationId xmlns:p14="http://schemas.microsoft.com/office/powerpoint/2010/main" val="4014890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1"/>
            <a:ext cx="10515600" cy="99302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Locality in Programs</a:t>
            </a:r>
          </a:p>
        </p:txBody>
      </p:sp>
      <p:sp>
        <p:nvSpPr>
          <p:cNvPr id="3" name="Content Placeholder 2"/>
          <p:cNvSpPr>
            <a:spLocks noGrp="1"/>
          </p:cNvSpPr>
          <p:nvPr>
            <p:ph idx="1"/>
          </p:nvPr>
        </p:nvSpPr>
        <p:spPr>
          <a:xfrm>
            <a:off x="838200" y="1358153"/>
            <a:ext cx="10515600" cy="5177118"/>
          </a:xfrm>
        </p:spPr>
        <p:txBody>
          <a:bodyPr>
            <a:normAutofit lnSpcReduction="10000"/>
          </a:bodyPr>
          <a:lstStyle/>
          <a:p>
            <a:pPr>
              <a:lnSpc>
                <a:spcPct val="100000"/>
              </a:lnSpc>
              <a:spcBef>
                <a:spcPts val="600"/>
              </a:spcBef>
              <a:spcAft>
                <a:spcPts val="600"/>
              </a:spcAft>
            </a:pPr>
            <a:r>
              <a:rPr lang="en-US" dirty="0"/>
              <a:t>Most programs exhibit a high degree of locality</a:t>
            </a:r>
          </a:p>
          <a:p>
            <a:pPr lvl="1">
              <a:lnSpc>
                <a:spcPct val="100000"/>
              </a:lnSpc>
              <a:spcBef>
                <a:spcPts val="600"/>
              </a:spcBef>
              <a:spcAft>
                <a:spcPts val="600"/>
              </a:spcAft>
            </a:pPr>
            <a:r>
              <a:rPr lang="en-US" dirty="0">
                <a:solidFill>
                  <a:srgbClr val="00B050"/>
                </a:solidFill>
              </a:rPr>
              <a:t>Temporal locality:</a:t>
            </a:r>
            <a:r>
              <a:rPr lang="en-US" dirty="0"/>
              <a:t> the memory locations currently being accessed are likely to be accessed again within a short period of time</a:t>
            </a:r>
          </a:p>
          <a:p>
            <a:pPr lvl="1">
              <a:lnSpc>
                <a:spcPct val="100000"/>
              </a:lnSpc>
              <a:spcBef>
                <a:spcPts val="600"/>
              </a:spcBef>
              <a:spcAft>
                <a:spcPts val="600"/>
              </a:spcAft>
            </a:pPr>
            <a:r>
              <a:rPr lang="en-US" dirty="0">
                <a:solidFill>
                  <a:srgbClr val="00B050"/>
                </a:solidFill>
              </a:rPr>
              <a:t>Spatial locality:</a:t>
            </a:r>
            <a:r>
              <a:rPr lang="en-US" dirty="0"/>
              <a:t> the memory locations closed to the locations currently being accessed are likely to be accessed again within a short period of time</a:t>
            </a:r>
          </a:p>
          <a:p>
            <a:pPr>
              <a:lnSpc>
                <a:spcPct val="100000"/>
              </a:lnSpc>
              <a:spcBef>
                <a:spcPts val="600"/>
              </a:spcBef>
              <a:spcAft>
                <a:spcPts val="600"/>
              </a:spcAft>
            </a:pPr>
            <a:r>
              <a:rPr lang="en-US" dirty="0"/>
              <a:t>One effective technique to improve the spatiality locality of </a:t>
            </a:r>
            <a:r>
              <a:rPr lang="en-US" dirty="0">
                <a:solidFill>
                  <a:schemeClr val="accent5">
                    <a:lumMod val="75000"/>
                  </a:schemeClr>
                </a:solidFill>
              </a:rPr>
              <a:t>instructions</a:t>
            </a:r>
            <a:r>
              <a:rPr lang="en-US" dirty="0"/>
              <a:t> is to place the basic blocks that are likely to follow each other contiguously -one the same page</a:t>
            </a:r>
          </a:p>
          <a:p>
            <a:pPr lvl="1">
              <a:lnSpc>
                <a:spcPct val="100000"/>
              </a:lnSpc>
              <a:spcBef>
                <a:spcPts val="600"/>
              </a:spcBef>
              <a:spcAft>
                <a:spcPts val="600"/>
              </a:spcAft>
            </a:pPr>
            <a:r>
              <a:rPr lang="en-US" dirty="0"/>
              <a:t>For example: instructions belonging to the same loop or same function</a:t>
            </a:r>
          </a:p>
          <a:p>
            <a:pPr>
              <a:lnSpc>
                <a:spcPct val="100000"/>
              </a:lnSpc>
              <a:spcBef>
                <a:spcPts val="600"/>
              </a:spcBef>
              <a:spcAft>
                <a:spcPts val="600"/>
              </a:spcAft>
            </a:pPr>
            <a:r>
              <a:rPr lang="en-US" dirty="0"/>
              <a:t>Temporal and spatial locality of </a:t>
            </a:r>
            <a:r>
              <a:rPr lang="en-US" dirty="0">
                <a:solidFill>
                  <a:srgbClr val="0070C0"/>
                </a:solidFill>
              </a:rPr>
              <a:t>data accesses </a:t>
            </a:r>
            <a:r>
              <a:rPr lang="en-US" dirty="0"/>
              <a:t>can be improved by changing the data layout or the order of computations.</a:t>
            </a:r>
            <a:endParaRPr lang="en-US" dirty="0">
              <a:solidFill>
                <a:srgbClr val="0070C0"/>
              </a:solidFill>
            </a:endParaRPr>
          </a:p>
        </p:txBody>
      </p:sp>
      <p:sp>
        <p:nvSpPr>
          <p:cNvPr id="4" name="Slide Number Placeholder 3"/>
          <p:cNvSpPr>
            <a:spLocks noGrp="1"/>
          </p:cNvSpPr>
          <p:nvPr>
            <p:ph type="sldNum" sz="quarter" idx="12"/>
          </p:nvPr>
        </p:nvSpPr>
        <p:spPr/>
        <p:txBody>
          <a:bodyPr/>
          <a:lstStyle/>
          <a:p>
            <a:fld id="{EE645454-5A07-423E-8617-7239B6B66F68}" type="slidenum">
              <a:rPr lang="en-US" smtClean="0"/>
              <a:t>34</a:t>
            </a:fld>
            <a:endParaRPr lang="en-US"/>
          </a:p>
        </p:txBody>
      </p:sp>
    </p:spTree>
    <p:extLst>
      <p:ext uri="{BB962C8B-B14F-4D97-AF65-F5344CB8AC3E}">
        <p14:creationId xmlns:p14="http://schemas.microsoft.com/office/powerpoint/2010/main" val="3889795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1"/>
            <a:ext cx="10515600" cy="99302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Heap Fragmentation</a:t>
            </a:r>
          </a:p>
        </p:txBody>
      </p:sp>
      <p:sp>
        <p:nvSpPr>
          <p:cNvPr id="3" name="Content Placeholder 2"/>
          <p:cNvSpPr>
            <a:spLocks noGrp="1"/>
          </p:cNvSpPr>
          <p:nvPr>
            <p:ph idx="1"/>
          </p:nvPr>
        </p:nvSpPr>
        <p:spPr>
          <a:xfrm>
            <a:off x="838200" y="1358153"/>
            <a:ext cx="10515600" cy="5177118"/>
          </a:xfrm>
        </p:spPr>
        <p:txBody>
          <a:bodyPr>
            <a:normAutofit/>
          </a:bodyPr>
          <a:lstStyle/>
          <a:p>
            <a:pPr>
              <a:lnSpc>
                <a:spcPct val="100000"/>
              </a:lnSpc>
              <a:spcBef>
                <a:spcPts val="600"/>
              </a:spcBef>
              <a:spcAft>
                <a:spcPts val="600"/>
              </a:spcAft>
            </a:pPr>
            <a:r>
              <a:rPr lang="en-US" dirty="0"/>
              <a:t>In the beginning, the heap is one large and contiguous block of memory</a:t>
            </a:r>
          </a:p>
          <a:p>
            <a:pPr>
              <a:lnSpc>
                <a:spcPct val="100000"/>
              </a:lnSpc>
              <a:spcBef>
                <a:spcPts val="600"/>
              </a:spcBef>
              <a:spcAft>
                <a:spcPts val="600"/>
              </a:spcAft>
            </a:pPr>
            <a:r>
              <a:rPr lang="en-US" dirty="0"/>
              <a:t>As allocation requests are satisfied, chunks are cut off from this block and given to the program</a:t>
            </a:r>
          </a:p>
          <a:p>
            <a:pPr>
              <a:lnSpc>
                <a:spcPct val="100000"/>
              </a:lnSpc>
              <a:spcBef>
                <a:spcPts val="600"/>
              </a:spcBef>
              <a:spcAft>
                <a:spcPts val="600"/>
              </a:spcAft>
            </a:pPr>
            <a:r>
              <a:rPr lang="en-US" dirty="0"/>
              <a:t>As deallocations are made, chunks are returned to the heap and are free to be allocated again (holes)</a:t>
            </a:r>
          </a:p>
          <a:p>
            <a:pPr>
              <a:lnSpc>
                <a:spcPct val="100000"/>
              </a:lnSpc>
              <a:spcBef>
                <a:spcPts val="600"/>
              </a:spcBef>
              <a:spcAft>
                <a:spcPts val="600"/>
              </a:spcAft>
            </a:pPr>
            <a:r>
              <a:rPr lang="en-US" dirty="0"/>
              <a:t>After a number of allocations and deallocations, memory is </a:t>
            </a:r>
            <a:r>
              <a:rPr lang="en-US" dirty="0">
                <a:solidFill>
                  <a:srgbClr val="7030A0"/>
                </a:solidFill>
              </a:rPr>
              <a:t>fragmented</a:t>
            </a:r>
            <a:r>
              <a:rPr lang="en-US" dirty="0"/>
              <a:t> and not contiguous</a:t>
            </a:r>
          </a:p>
        </p:txBody>
      </p:sp>
      <p:sp>
        <p:nvSpPr>
          <p:cNvPr id="4" name="Slide Number Placeholder 3"/>
          <p:cNvSpPr>
            <a:spLocks noGrp="1"/>
          </p:cNvSpPr>
          <p:nvPr>
            <p:ph type="sldNum" sz="quarter" idx="12"/>
          </p:nvPr>
        </p:nvSpPr>
        <p:spPr/>
        <p:txBody>
          <a:bodyPr/>
          <a:lstStyle/>
          <a:p>
            <a:fld id="{EE645454-5A07-423E-8617-7239B6B66F68}" type="slidenum">
              <a:rPr lang="en-US" smtClean="0"/>
              <a:t>35</a:t>
            </a:fld>
            <a:endParaRPr lang="en-US"/>
          </a:p>
        </p:txBody>
      </p:sp>
    </p:spTree>
    <p:extLst>
      <p:ext uri="{BB962C8B-B14F-4D97-AF65-F5344CB8AC3E}">
        <p14:creationId xmlns:p14="http://schemas.microsoft.com/office/powerpoint/2010/main" val="2996172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1"/>
            <a:ext cx="10515600" cy="99302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Heap Fragmentation</a:t>
            </a:r>
          </a:p>
        </p:txBody>
      </p:sp>
      <p:sp>
        <p:nvSpPr>
          <p:cNvPr id="3" name="Content Placeholder 2"/>
          <p:cNvSpPr>
            <a:spLocks noGrp="1"/>
          </p:cNvSpPr>
          <p:nvPr>
            <p:ph idx="1"/>
          </p:nvPr>
        </p:nvSpPr>
        <p:spPr>
          <a:xfrm>
            <a:off x="838200" y="3697941"/>
            <a:ext cx="10515600" cy="2447365"/>
          </a:xfrm>
        </p:spPr>
        <p:txBody>
          <a:bodyPr>
            <a:normAutofit/>
          </a:bodyPr>
          <a:lstStyle/>
          <a:p>
            <a:pPr>
              <a:lnSpc>
                <a:spcPct val="100000"/>
              </a:lnSpc>
              <a:spcBef>
                <a:spcPts val="600"/>
              </a:spcBef>
              <a:spcAft>
                <a:spcPts val="600"/>
              </a:spcAft>
            </a:pPr>
            <a:r>
              <a:rPr lang="en-US" dirty="0"/>
              <a:t>To begin with the whole heap is a single chunk of size 500K byte</a:t>
            </a:r>
          </a:p>
          <a:p>
            <a:pPr>
              <a:lnSpc>
                <a:spcPct val="100000"/>
              </a:lnSpc>
              <a:spcBef>
                <a:spcPts val="600"/>
              </a:spcBef>
              <a:spcAft>
                <a:spcPts val="600"/>
              </a:spcAft>
            </a:pPr>
            <a:r>
              <a:rPr lang="en-US" dirty="0"/>
              <a:t>After a few allocations and deallocations, there are </a:t>
            </a:r>
            <a:r>
              <a:rPr lang="en-US" dirty="0">
                <a:solidFill>
                  <a:schemeClr val="accent5">
                    <a:lumMod val="75000"/>
                  </a:schemeClr>
                </a:solidFill>
              </a:rPr>
              <a:t>holes</a:t>
            </a:r>
          </a:p>
          <a:p>
            <a:pPr>
              <a:lnSpc>
                <a:spcPct val="100000"/>
              </a:lnSpc>
              <a:spcBef>
                <a:spcPts val="600"/>
              </a:spcBef>
              <a:spcAft>
                <a:spcPts val="600"/>
              </a:spcAft>
            </a:pPr>
            <a:r>
              <a:rPr lang="en-US" dirty="0"/>
              <a:t>In the above picture, it is not possible to allocate 100K or 150K even though total free memory is 150K </a:t>
            </a:r>
          </a:p>
        </p:txBody>
      </p:sp>
      <p:pic>
        <p:nvPicPr>
          <p:cNvPr id="4" name="Picture 3"/>
          <p:cNvPicPr>
            <a:picLocks noChangeAspect="1"/>
          </p:cNvPicPr>
          <p:nvPr/>
        </p:nvPicPr>
        <p:blipFill>
          <a:blip r:embed="rId2"/>
          <a:stretch>
            <a:fillRect/>
          </a:stretch>
        </p:blipFill>
        <p:spPr>
          <a:xfrm>
            <a:off x="1289238" y="1742514"/>
            <a:ext cx="8420036" cy="1457886"/>
          </a:xfrm>
          <a:prstGeom prst="rect">
            <a:avLst/>
          </a:prstGeom>
        </p:spPr>
      </p:pic>
      <p:sp>
        <p:nvSpPr>
          <p:cNvPr id="5" name="Slide Number Placeholder 4"/>
          <p:cNvSpPr>
            <a:spLocks noGrp="1"/>
          </p:cNvSpPr>
          <p:nvPr>
            <p:ph type="sldNum" sz="quarter" idx="12"/>
          </p:nvPr>
        </p:nvSpPr>
        <p:spPr/>
        <p:txBody>
          <a:bodyPr/>
          <a:lstStyle/>
          <a:p>
            <a:fld id="{EE645454-5A07-423E-8617-7239B6B66F68}" type="slidenum">
              <a:rPr lang="en-US" smtClean="0"/>
              <a:t>36</a:t>
            </a:fld>
            <a:endParaRPr lang="en-US"/>
          </a:p>
        </p:txBody>
      </p:sp>
    </p:spTree>
    <p:extLst>
      <p:ext uri="{BB962C8B-B14F-4D97-AF65-F5344CB8AC3E}">
        <p14:creationId xmlns:p14="http://schemas.microsoft.com/office/powerpoint/2010/main" val="3097823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wipe(down)">
                                      <p:cBhvr>
                                        <p:cTn id="19" dur="500"/>
                                        <p:tgtEl>
                                          <p:spTgt spid="3">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wipe(down)">
                                      <p:cBhvr>
                                        <p:cTn id="24"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1"/>
            <a:ext cx="10515600" cy="99302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Heap Allocation Strategies </a:t>
            </a:r>
          </a:p>
        </p:txBody>
      </p:sp>
      <p:sp>
        <p:nvSpPr>
          <p:cNvPr id="3" name="Content Placeholder 2"/>
          <p:cNvSpPr>
            <a:spLocks noGrp="1"/>
          </p:cNvSpPr>
          <p:nvPr>
            <p:ph idx="1"/>
          </p:nvPr>
        </p:nvSpPr>
        <p:spPr>
          <a:xfrm>
            <a:off x="838200" y="1358153"/>
            <a:ext cx="10515600" cy="4787153"/>
          </a:xfrm>
        </p:spPr>
        <p:txBody>
          <a:bodyPr>
            <a:normAutofit lnSpcReduction="10000"/>
          </a:bodyPr>
          <a:lstStyle/>
          <a:p>
            <a:pPr>
              <a:lnSpc>
                <a:spcPct val="100000"/>
              </a:lnSpc>
              <a:spcBef>
                <a:spcPts val="600"/>
              </a:spcBef>
              <a:spcAft>
                <a:spcPts val="600"/>
              </a:spcAft>
            </a:pPr>
            <a:r>
              <a:rPr lang="en-US" dirty="0"/>
              <a:t>The </a:t>
            </a:r>
            <a:r>
              <a:rPr lang="en-US" i="1" dirty="0">
                <a:solidFill>
                  <a:schemeClr val="accent6"/>
                </a:solidFill>
              </a:rPr>
              <a:t>first-fit</a:t>
            </a:r>
            <a:r>
              <a:rPr lang="en-US" i="1" dirty="0"/>
              <a:t> </a:t>
            </a:r>
            <a:r>
              <a:rPr lang="en-US" dirty="0"/>
              <a:t>strategy picks the </a:t>
            </a:r>
            <a:r>
              <a:rPr lang="en-US" b="1" dirty="0"/>
              <a:t>first </a:t>
            </a:r>
            <a:r>
              <a:rPr lang="en-US" dirty="0"/>
              <a:t>available chunk that satisfies the allocation request</a:t>
            </a:r>
          </a:p>
          <a:p>
            <a:pPr>
              <a:lnSpc>
                <a:spcPct val="100000"/>
              </a:lnSpc>
              <a:spcBef>
                <a:spcPts val="600"/>
              </a:spcBef>
              <a:spcAft>
                <a:spcPts val="600"/>
              </a:spcAft>
            </a:pPr>
            <a:r>
              <a:rPr lang="en-US" dirty="0"/>
              <a:t>The </a:t>
            </a:r>
            <a:r>
              <a:rPr lang="en-US" i="1" dirty="0">
                <a:solidFill>
                  <a:schemeClr val="accent2">
                    <a:lumMod val="75000"/>
                  </a:schemeClr>
                </a:solidFill>
              </a:rPr>
              <a:t>best-fit</a:t>
            </a:r>
            <a:r>
              <a:rPr lang="en-US" i="1" dirty="0"/>
              <a:t> </a:t>
            </a:r>
            <a:r>
              <a:rPr lang="en-US" dirty="0"/>
              <a:t>strategy searches and picks the smallest (</a:t>
            </a:r>
            <a:r>
              <a:rPr lang="en-US" b="1" dirty="0"/>
              <a:t>best</a:t>
            </a:r>
            <a:r>
              <a:rPr lang="en-US" dirty="0"/>
              <a:t>) possible chunk that satisfies the allocation request</a:t>
            </a:r>
          </a:p>
          <a:p>
            <a:pPr>
              <a:lnSpc>
                <a:spcPct val="100000"/>
              </a:lnSpc>
              <a:spcBef>
                <a:spcPts val="600"/>
              </a:spcBef>
              <a:spcAft>
                <a:spcPts val="600"/>
              </a:spcAft>
            </a:pPr>
            <a:r>
              <a:rPr lang="en-US" dirty="0"/>
              <a:t>Both of them chop off a block of the required size from the chosen chunk, and return it to the program</a:t>
            </a:r>
          </a:p>
          <a:p>
            <a:pPr>
              <a:lnSpc>
                <a:spcPct val="100000"/>
              </a:lnSpc>
              <a:spcBef>
                <a:spcPts val="600"/>
              </a:spcBef>
              <a:spcAft>
                <a:spcPts val="600"/>
              </a:spcAft>
            </a:pPr>
            <a:r>
              <a:rPr lang="en-US" dirty="0"/>
              <a:t>The rest of the chosen chunk remains in the heap </a:t>
            </a:r>
          </a:p>
          <a:p>
            <a:pPr>
              <a:lnSpc>
                <a:spcPct val="100000"/>
              </a:lnSpc>
              <a:spcBef>
                <a:spcPts val="600"/>
              </a:spcBef>
              <a:spcAft>
                <a:spcPts val="600"/>
              </a:spcAft>
            </a:pPr>
            <a:r>
              <a:rPr lang="en-US" i="1" dirty="0">
                <a:solidFill>
                  <a:schemeClr val="accent2">
                    <a:lumMod val="75000"/>
                  </a:schemeClr>
                </a:solidFill>
              </a:rPr>
              <a:t>Best-fit </a:t>
            </a:r>
            <a:r>
              <a:rPr lang="en-US" dirty="0"/>
              <a:t>strategy has been shown to </a:t>
            </a:r>
            <a:r>
              <a:rPr lang="en-US" dirty="0">
                <a:solidFill>
                  <a:schemeClr val="accent2">
                    <a:lumMod val="75000"/>
                  </a:schemeClr>
                </a:solidFill>
              </a:rPr>
              <a:t>reduce fragmentation </a:t>
            </a:r>
            <a:r>
              <a:rPr lang="en-US" dirty="0"/>
              <a:t>in practice, better than first-fit strategy</a:t>
            </a:r>
            <a:br>
              <a:rPr lang="en-US" dirty="0"/>
            </a:br>
            <a:endParaRPr lang="en-US" dirty="0"/>
          </a:p>
        </p:txBody>
      </p:sp>
      <p:sp>
        <p:nvSpPr>
          <p:cNvPr id="5" name="Slide Number Placeholder 4"/>
          <p:cNvSpPr>
            <a:spLocks noGrp="1"/>
          </p:cNvSpPr>
          <p:nvPr>
            <p:ph type="sldNum" sz="quarter" idx="12"/>
          </p:nvPr>
        </p:nvSpPr>
        <p:spPr/>
        <p:txBody>
          <a:bodyPr/>
          <a:lstStyle/>
          <a:p>
            <a:fld id="{EE645454-5A07-423E-8617-7239B6B66F68}" type="slidenum">
              <a:rPr lang="en-US" smtClean="0"/>
              <a:t>37</a:t>
            </a:fld>
            <a:endParaRPr lang="en-US"/>
          </a:p>
        </p:txBody>
      </p:sp>
    </p:spTree>
    <p:extLst>
      <p:ext uri="{BB962C8B-B14F-4D97-AF65-F5344CB8AC3E}">
        <p14:creationId xmlns:p14="http://schemas.microsoft.com/office/powerpoint/2010/main" val="1977137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1"/>
            <a:ext cx="10515600" cy="99302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Bin-based Heap</a:t>
            </a:r>
          </a:p>
        </p:txBody>
      </p:sp>
      <p:sp>
        <p:nvSpPr>
          <p:cNvPr id="3" name="Content Placeholder 2"/>
          <p:cNvSpPr>
            <a:spLocks noGrp="1"/>
          </p:cNvSpPr>
          <p:nvPr>
            <p:ph idx="1"/>
          </p:nvPr>
        </p:nvSpPr>
        <p:spPr>
          <a:xfrm>
            <a:off x="838200" y="1371600"/>
            <a:ext cx="10515600" cy="5190565"/>
          </a:xfrm>
        </p:spPr>
        <p:txBody>
          <a:bodyPr>
            <a:normAutofit fontScale="92500"/>
          </a:bodyPr>
          <a:lstStyle/>
          <a:p>
            <a:pPr>
              <a:lnSpc>
                <a:spcPct val="100000"/>
              </a:lnSpc>
              <a:spcBef>
                <a:spcPts val="600"/>
              </a:spcBef>
              <a:spcAft>
                <a:spcPts val="600"/>
              </a:spcAft>
            </a:pPr>
            <a:r>
              <a:rPr lang="en-US" dirty="0"/>
              <a:t>To implement </a:t>
            </a:r>
            <a:r>
              <a:rPr lang="en-US" dirty="0">
                <a:solidFill>
                  <a:srgbClr val="00B0F0"/>
                </a:solidFill>
              </a:rPr>
              <a:t>best-fit</a:t>
            </a:r>
            <a:r>
              <a:rPr lang="en-US" dirty="0"/>
              <a:t> placement more efficiently, free space chunks are organized into bins according to their sizes (Lea Memory Manager in GCC)</a:t>
            </a:r>
          </a:p>
          <a:p>
            <a:pPr lvl="1">
              <a:lnSpc>
                <a:spcPct val="100000"/>
              </a:lnSpc>
              <a:spcBef>
                <a:spcPts val="600"/>
              </a:spcBef>
            </a:pPr>
            <a:r>
              <a:rPr lang="en-US" sz="2800" dirty="0"/>
              <a:t>Many more bins for smaller sizes, because there are many more small objects</a:t>
            </a:r>
          </a:p>
          <a:p>
            <a:pPr lvl="1">
              <a:lnSpc>
                <a:spcPct val="100000"/>
              </a:lnSpc>
              <a:spcBef>
                <a:spcPts val="600"/>
              </a:spcBef>
            </a:pPr>
            <a:r>
              <a:rPr lang="en-US" sz="2800" dirty="0"/>
              <a:t>A bin for every multiple of 8-byte chunks from 16 bytes to 512 bytes</a:t>
            </a:r>
          </a:p>
          <a:p>
            <a:pPr lvl="1">
              <a:lnSpc>
                <a:spcPct val="100000"/>
              </a:lnSpc>
              <a:spcBef>
                <a:spcPts val="600"/>
              </a:spcBef>
            </a:pPr>
            <a:r>
              <a:rPr lang="en-US" sz="2800" dirty="0"/>
              <a:t>Then approximately logarithmically (double previous size)</a:t>
            </a:r>
          </a:p>
          <a:p>
            <a:pPr lvl="1">
              <a:lnSpc>
                <a:spcPct val="100000"/>
              </a:lnSpc>
              <a:spcBef>
                <a:spcPts val="600"/>
              </a:spcBef>
            </a:pPr>
            <a:r>
              <a:rPr lang="en-US" sz="2800" dirty="0"/>
              <a:t>Within each “small size bin”, chunks are all of the same size </a:t>
            </a:r>
          </a:p>
          <a:p>
            <a:pPr lvl="1">
              <a:lnSpc>
                <a:spcPct val="100000"/>
              </a:lnSpc>
              <a:spcBef>
                <a:spcPts val="600"/>
              </a:spcBef>
            </a:pPr>
            <a:r>
              <a:rPr lang="en-US" sz="2800" dirty="0"/>
              <a:t>In others, they are ordered by size</a:t>
            </a:r>
          </a:p>
          <a:p>
            <a:pPr lvl="1">
              <a:lnSpc>
                <a:spcPct val="100000"/>
              </a:lnSpc>
              <a:spcBef>
                <a:spcPts val="600"/>
              </a:spcBef>
            </a:pPr>
            <a:r>
              <a:rPr lang="en-US" sz="2800" dirty="0"/>
              <a:t>The last chunk in the last bin is the </a:t>
            </a:r>
            <a:r>
              <a:rPr lang="en-US" sz="2800" i="1" dirty="0">
                <a:solidFill>
                  <a:srgbClr val="00B0F0"/>
                </a:solidFill>
              </a:rPr>
              <a:t>wilderness chunk</a:t>
            </a:r>
            <a:r>
              <a:rPr lang="en-US" sz="2800" dirty="0"/>
              <a:t>, which gets us a chunk by going to the operating system</a:t>
            </a:r>
          </a:p>
        </p:txBody>
      </p:sp>
      <p:sp>
        <p:nvSpPr>
          <p:cNvPr id="4" name="Slide Number Placeholder 3"/>
          <p:cNvSpPr>
            <a:spLocks noGrp="1"/>
          </p:cNvSpPr>
          <p:nvPr>
            <p:ph type="sldNum" sz="quarter" idx="12"/>
          </p:nvPr>
        </p:nvSpPr>
        <p:spPr/>
        <p:txBody>
          <a:bodyPr/>
          <a:lstStyle/>
          <a:p>
            <a:fld id="{EE645454-5A07-423E-8617-7239B6B66F68}" type="slidenum">
              <a:rPr lang="en-US" smtClean="0"/>
              <a:t>38</a:t>
            </a:fld>
            <a:endParaRPr lang="en-US"/>
          </a:p>
        </p:txBody>
      </p:sp>
    </p:spTree>
    <p:extLst>
      <p:ext uri="{BB962C8B-B14F-4D97-AF65-F5344CB8AC3E}">
        <p14:creationId xmlns:p14="http://schemas.microsoft.com/office/powerpoint/2010/main" val="4101929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1"/>
            <a:ext cx="10515600" cy="99302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Bin-based Heap</a:t>
            </a:r>
          </a:p>
        </p:txBody>
      </p:sp>
      <p:sp>
        <p:nvSpPr>
          <p:cNvPr id="4" name="Content Placeholder 3"/>
          <p:cNvSpPr>
            <a:spLocks noGrp="1"/>
          </p:cNvSpPr>
          <p:nvPr>
            <p:ph idx="1"/>
          </p:nvPr>
        </p:nvSpPr>
        <p:spPr>
          <a:xfrm>
            <a:off x="838200" y="6360459"/>
            <a:ext cx="10515600" cy="219916"/>
          </a:xfrm>
        </p:spPr>
        <p:txBody>
          <a:bodyPr>
            <a:normAutofit fontScale="40000" lnSpcReduction="20000"/>
          </a:bodyPr>
          <a:lstStyle/>
          <a:p>
            <a:pPr marL="0" indent="0">
              <a:buNone/>
            </a:pPr>
            <a:r>
              <a:rPr lang="en-US" dirty="0"/>
              <a:t>Ref: </a:t>
            </a:r>
            <a:r>
              <a:rPr lang="en-US" dirty="0">
                <a:hlinkClick r:id="rId2"/>
              </a:rPr>
              <a:t>http://gee.cs.oswego.edu/dl/html/malloc.html</a:t>
            </a:r>
            <a:endParaRPr lang="en-US" dirty="0"/>
          </a:p>
        </p:txBody>
      </p:sp>
      <p:grpSp>
        <p:nvGrpSpPr>
          <p:cNvPr id="7" name="Group 6"/>
          <p:cNvGrpSpPr/>
          <p:nvPr/>
        </p:nvGrpSpPr>
        <p:grpSpPr>
          <a:xfrm>
            <a:off x="1748118" y="1156447"/>
            <a:ext cx="8153399" cy="4800600"/>
            <a:chOff x="3381375" y="1781175"/>
            <a:chExt cx="5429250" cy="3295650"/>
          </a:xfrm>
        </p:grpSpPr>
        <p:pic>
          <p:nvPicPr>
            <p:cNvPr id="5" name="Picture 4"/>
            <p:cNvPicPr>
              <a:picLocks noChangeAspect="1"/>
            </p:cNvPicPr>
            <p:nvPr/>
          </p:nvPicPr>
          <p:blipFill>
            <a:blip r:embed="rId3"/>
            <a:stretch>
              <a:fillRect/>
            </a:stretch>
          </p:blipFill>
          <p:spPr>
            <a:xfrm>
              <a:off x="3381375" y="1781175"/>
              <a:ext cx="5429250" cy="3295650"/>
            </a:xfrm>
            <a:prstGeom prst="rect">
              <a:avLst/>
            </a:prstGeom>
          </p:spPr>
        </p:pic>
        <p:sp>
          <p:nvSpPr>
            <p:cNvPr id="6" name="Rectangle 5"/>
            <p:cNvSpPr/>
            <p:nvPr/>
          </p:nvSpPr>
          <p:spPr>
            <a:xfrm>
              <a:off x="7987553" y="4074459"/>
              <a:ext cx="820271" cy="9547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Slide Number Placeholder 7"/>
          <p:cNvSpPr>
            <a:spLocks noGrp="1"/>
          </p:cNvSpPr>
          <p:nvPr>
            <p:ph type="sldNum" sz="quarter" idx="12"/>
          </p:nvPr>
        </p:nvSpPr>
        <p:spPr/>
        <p:txBody>
          <a:bodyPr/>
          <a:lstStyle/>
          <a:p>
            <a:fld id="{EE645454-5A07-423E-8617-7239B6B66F68}" type="slidenum">
              <a:rPr lang="en-US" smtClean="0"/>
              <a:t>39</a:t>
            </a:fld>
            <a:endParaRPr lang="en-US"/>
          </a:p>
        </p:txBody>
      </p:sp>
    </p:spTree>
    <p:extLst>
      <p:ext uri="{BB962C8B-B14F-4D97-AF65-F5344CB8AC3E}">
        <p14:creationId xmlns:p14="http://schemas.microsoft.com/office/powerpoint/2010/main" val="23180040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1"/>
            <a:ext cx="10515600" cy="99302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Heap Allocation Strategies </a:t>
            </a:r>
          </a:p>
        </p:txBody>
      </p:sp>
      <p:sp>
        <p:nvSpPr>
          <p:cNvPr id="3" name="Content Placeholder 2"/>
          <p:cNvSpPr>
            <a:spLocks noGrp="1"/>
          </p:cNvSpPr>
          <p:nvPr>
            <p:ph idx="1"/>
          </p:nvPr>
        </p:nvSpPr>
        <p:spPr>
          <a:xfrm>
            <a:off x="838200" y="1412234"/>
            <a:ext cx="10515600" cy="5190565"/>
          </a:xfrm>
        </p:spPr>
        <p:txBody>
          <a:bodyPr>
            <a:normAutofit fontScale="92500" lnSpcReduction="10000"/>
          </a:bodyPr>
          <a:lstStyle/>
          <a:p>
            <a:pPr>
              <a:lnSpc>
                <a:spcPct val="100000"/>
              </a:lnSpc>
              <a:spcBef>
                <a:spcPts val="600"/>
              </a:spcBef>
              <a:spcAft>
                <a:spcPts val="600"/>
              </a:spcAft>
            </a:pPr>
            <a:r>
              <a:rPr lang="en-US" dirty="0"/>
              <a:t>While best-fit placement tends to improve space utilization, it may not be</a:t>
            </a:r>
            <a:br>
              <a:rPr lang="en-US" dirty="0"/>
            </a:br>
            <a:r>
              <a:rPr lang="en-US" dirty="0"/>
              <a:t>the best in terms of spatial locality. </a:t>
            </a:r>
          </a:p>
          <a:p>
            <a:pPr>
              <a:lnSpc>
                <a:spcPct val="100000"/>
              </a:lnSpc>
              <a:spcBef>
                <a:spcPts val="600"/>
              </a:spcBef>
              <a:spcAft>
                <a:spcPts val="600"/>
              </a:spcAft>
            </a:pPr>
            <a:r>
              <a:rPr lang="en-US" dirty="0"/>
              <a:t>Chunks allocated at about the same time by a program tend to have similar reference patterns and to have similar lifetimes.</a:t>
            </a:r>
          </a:p>
          <a:p>
            <a:pPr>
              <a:lnSpc>
                <a:spcPct val="100000"/>
              </a:lnSpc>
              <a:spcBef>
                <a:spcPts val="600"/>
              </a:spcBef>
              <a:spcAft>
                <a:spcPts val="600"/>
              </a:spcAft>
            </a:pPr>
            <a:r>
              <a:rPr lang="en-US" dirty="0"/>
              <a:t>Placing them close together thus improves the program's spatial locality. </a:t>
            </a:r>
            <a:endParaRPr lang="en-US" dirty="0">
              <a:solidFill>
                <a:schemeClr val="accent1">
                  <a:lumMod val="75000"/>
                </a:schemeClr>
              </a:solidFill>
            </a:endParaRPr>
          </a:p>
          <a:p>
            <a:pPr>
              <a:lnSpc>
                <a:spcPct val="100000"/>
              </a:lnSpc>
              <a:spcBef>
                <a:spcPts val="600"/>
              </a:spcBef>
              <a:spcAft>
                <a:spcPts val="600"/>
              </a:spcAft>
            </a:pPr>
            <a:r>
              <a:rPr lang="en-US" dirty="0">
                <a:solidFill>
                  <a:schemeClr val="accent1">
                    <a:lumMod val="75000"/>
                  </a:schemeClr>
                </a:solidFill>
              </a:rPr>
              <a:t>Next-fit</a:t>
            </a:r>
            <a:r>
              <a:rPr lang="en-US" dirty="0"/>
              <a:t> strategy tries to allocate the object in the chunk that has last been split</a:t>
            </a:r>
          </a:p>
          <a:p>
            <a:pPr lvl="1">
              <a:lnSpc>
                <a:spcPct val="100000"/>
              </a:lnSpc>
              <a:spcBef>
                <a:spcPts val="600"/>
              </a:spcBef>
              <a:spcAft>
                <a:spcPts val="600"/>
              </a:spcAft>
            </a:pPr>
            <a:r>
              <a:rPr lang="en-US" sz="2800" dirty="0"/>
              <a:t>Tends to improve speed of allocation</a:t>
            </a:r>
          </a:p>
          <a:p>
            <a:pPr lvl="1">
              <a:lnSpc>
                <a:spcPct val="100000"/>
              </a:lnSpc>
              <a:spcBef>
                <a:spcPts val="600"/>
              </a:spcBef>
              <a:spcAft>
                <a:spcPts val="600"/>
              </a:spcAft>
            </a:pPr>
            <a:r>
              <a:rPr lang="en-US" sz="2800" dirty="0"/>
              <a:t>Tends to improve spatial locality since objects allocated at about the same time tend to have similar reference patterns and life times (cache behavior may be better) </a:t>
            </a:r>
          </a:p>
        </p:txBody>
      </p:sp>
      <p:sp>
        <p:nvSpPr>
          <p:cNvPr id="4" name="Slide Number Placeholder 3"/>
          <p:cNvSpPr>
            <a:spLocks noGrp="1"/>
          </p:cNvSpPr>
          <p:nvPr>
            <p:ph type="sldNum" sz="quarter" idx="12"/>
          </p:nvPr>
        </p:nvSpPr>
        <p:spPr/>
        <p:txBody>
          <a:bodyPr/>
          <a:lstStyle/>
          <a:p>
            <a:fld id="{EE645454-5A07-423E-8617-7239B6B66F68}" type="slidenum">
              <a:rPr lang="en-US" smtClean="0"/>
              <a:t>40</a:t>
            </a:fld>
            <a:endParaRPr lang="en-US"/>
          </a:p>
        </p:txBody>
      </p:sp>
    </p:spTree>
    <p:extLst>
      <p:ext uri="{BB962C8B-B14F-4D97-AF65-F5344CB8AC3E}">
        <p14:creationId xmlns:p14="http://schemas.microsoft.com/office/powerpoint/2010/main" val="1271389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1"/>
            <a:ext cx="10515600" cy="99302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Managing and Coalescing Free Space </a:t>
            </a:r>
          </a:p>
        </p:txBody>
      </p:sp>
      <p:sp>
        <p:nvSpPr>
          <p:cNvPr id="3" name="Content Placeholder 2"/>
          <p:cNvSpPr>
            <a:spLocks noGrp="1"/>
          </p:cNvSpPr>
          <p:nvPr>
            <p:ph idx="1"/>
          </p:nvPr>
        </p:nvSpPr>
        <p:spPr>
          <a:xfrm>
            <a:off x="838200" y="1371600"/>
            <a:ext cx="10515600" cy="5190565"/>
          </a:xfrm>
        </p:spPr>
        <p:txBody>
          <a:bodyPr>
            <a:normAutofit/>
          </a:bodyPr>
          <a:lstStyle/>
          <a:p>
            <a:pPr>
              <a:lnSpc>
                <a:spcPct val="100000"/>
              </a:lnSpc>
              <a:spcBef>
                <a:spcPts val="600"/>
              </a:spcBef>
              <a:spcAft>
                <a:spcPts val="600"/>
              </a:spcAft>
            </a:pPr>
            <a:r>
              <a:rPr lang="en-US" dirty="0"/>
              <a:t>When an object is deallocated,  it is possible to combine (</a:t>
            </a:r>
            <a:r>
              <a:rPr lang="en-US" dirty="0">
                <a:solidFill>
                  <a:srgbClr val="00B0F0"/>
                </a:solidFill>
              </a:rPr>
              <a:t>coalesce</a:t>
            </a:r>
            <a:r>
              <a:rPr lang="en-US" dirty="0"/>
              <a:t>) the freed chunk with adjacent chunks to form a larger chunk</a:t>
            </a:r>
          </a:p>
          <a:p>
            <a:pPr>
              <a:lnSpc>
                <a:spcPct val="100000"/>
              </a:lnSpc>
              <a:spcBef>
                <a:spcPts val="600"/>
              </a:spcBef>
              <a:spcAft>
                <a:spcPts val="600"/>
              </a:spcAft>
            </a:pPr>
            <a:r>
              <a:rPr lang="en-US" dirty="0">
                <a:solidFill>
                  <a:srgbClr val="00B0F0"/>
                </a:solidFill>
              </a:rPr>
              <a:t>Coalescing</a:t>
            </a:r>
            <a:r>
              <a:rPr lang="en-US" dirty="0"/>
              <a:t> reduces fragmentation</a:t>
            </a:r>
          </a:p>
          <a:p>
            <a:pPr>
              <a:lnSpc>
                <a:spcPct val="100000"/>
              </a:lnSpc>
              <a:spcBef>
                <a:spcPts val="600"/>
              </a:spcBef>
              <a:spcAft>
                <a:spcPts val="600"/>
              </a:spcAft>
            </a:pPr>
            <a:r>
              <a:rPr lang="en-US" dirty="0"/>
              <a:t>Data structures to support </a:t>
            </a:r>
            <a:r>
              <a:rPr lang="en-US" dirty="0">
                <a:solidFill>
                  <a:srgbClr val="00B0F0"/>
                </a:solidFill>
              </a:rPr>
              <a:t>coalescing</a:t>
            </a:r>
            <a:endParaRPr lang="en-US" dirty="0"/>
          </a:p>
          <a:p>
            <a:pPr lvl="1">
              <a:lnSpc>
                <a:spcPct val="100000"/>
              </a:lnSpc>
              <a:spcBef>
                <a:spcPts val="600"/>
              </a:spcBef>
              <a:spcAft>
                <a:spcPts val="600"/>
              </a:spcAft>
            </a:pPr>
            <a:r>
              <a:rPr lang="en-US" sz="2800" i="1" dirty="0">
                <a:solidFill>
                  <a:schemeClr val="accent2">
                    <a:lumMod val="75000"/>
                  </a:schemeClr>
                </a:solidFill>
              </a:rPr>
              <a:t>Boundary tags</a:t>
            </a:r>
            <a:r>
              <a:rPr lang="en-US" sz="2800" i="1" dirty="0"/>
              <a:t> </a:t>
            </a:r>
            <a:r>
              <a:rPr lang="en-US" sz="2800" dirty="0"/>
              <a:t>(free/used bit and chunk size) at each end of a chunk (for both used and free chunks)</a:t>
            </a:r>
          </a:p>
          <a:p>
            <a:pPr lvl="1">
              <a:lnSpc>
                <a:spcPct val="100000"/>
              </a:lnSpc>
              <a:spcBef>
                <a:spcPts val="600"/>
              </a:spcBef>
              <a:spcAft>
                <a:spcPts val="600"/>
              </a:spcAft>
            </a:pPr>
            <a:r>
              <a:rPr lang="en-US" sz="2800" dirty="0">
                <a:solidFill>
                  <a:srgbClr val="00B050"/>
                </a:solidFill>
              </a:rPr>
              <a:t>A </a:t>
            </a:r>
            <a:r>
              <a:rPr lang="en-US" sz="2800" i="1" dirty="0">
                <a:solidFill>
                  <a:srgbClr val="00B050"/>
                </a:solidFill>
              </a:rPr>
              <a:t>doubly linked embedded list </a:t>
            </a:r>
            <a:r>
              <a:rPr lang="en-US" sz="2800" dirty="0">
                <a:solidFill>
                  <a:srgbClr val="00B050"/>
                </a:solidFill>
              </a:rPr>
              <a:t>of free chunks </a:t>
            </a:r>
            <a:br>
              <a:rPr lang="en-US" dirty="0">
                <a:solidFill>
                  <a:srgbClr val="00B050"/>
                </a:solidFill>
              </a:rPr>
            </a:br>
            <a:endParaRPr lang="en-US" dirty="0">
              <a:solidFill>
                <a:srgbClr val="00B050"/>
              </a:solidFill>
            </a:endParaRPr>
          </a:p>
        </p:txBody>
      </p:sp>
      <p:sp>
        <p:nvSpPr>
          <p:cNvPr id="4" name="Slide Number Placeholder 3"/>
          <p:cNvSpPr>
            <a:spLocks noGrp="1"/>
          </p:cNvSpPr>
          <p:nvPr>
            <p:ph type="sldNum" sz="quarter" idx="12"/>
          </p:nvPr>
        </p:nvSpPr>
        <p:spPr/>
        <p:txBody>
          <a:bodyPr/>
          <a:lstStyle/>
          <a:p>
            <a:fld id="{EE645454-5A07-423E-8617-7239B6B66F68}" type="slidenum">
              <a:rPr lang="en-US" smtClean="0"/>
              <a:t>41</a:t>
            </a:fld>
            <a:endParaRPr lang="en-US"/>
          </a:p>
        </p:txBody>
      </p:sp>
    </p:spTree>
    <p:extLst>
      <p:ext uri="{BB962C8B-B14F-4D97-AF65-F5344CB8AC3E}">
        <p14:creationId xmlns:p14="http://schemas.microsoft.com/office/powerpoint/2010/main" val="202328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3761"/>
            <a:ext cx="10515600" cy="99302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Boundary Tags and Doubly Linked List </a:t>
            </a:r>
          </a:p>
        </p:txBody>
      </p:sp>
      <p:sp>
        <p:nvSpPr>
          <p:cNvPr id="3" name="Content Placeholder 2"/>
          <p:cNvSpPr>
            <a:spLocks noGrp="1"/>
          </p:cNvSpPr>
          <p:nvPr>
            <p:ph idx="1"/>
          </p:nvPr>
        </p:nvSpPr>
        <p:spPr>
          <a:xfrm>
            <a:off x="838200" y="4763901"/>
            <a:ext cx="10515600" cy="1775011"/>
          </a:xfrm>
        </p:spPr>
        <p:txBody>
          <a:bodyPr>
            <a:normAutofit/>
          </a:bodyPr>
          <a:lstStyle/>
          <a:p>
            <a:pPr marL="0" indent="0" algn="just">
              <a:lnSpc>
                <a:spcPct val="100000"/>
              </a:lnSpc>
              <a:spcBef>
                <a:spcPts val="600"/>
              </a:spcBef>
              <a:spcAft>
                <a:spcPts val="600"/>
              </a:spcAft>
              <a:buNone/>
            </a:pPr>
            <a:r>
              <a:rPr lang="en-US" sz="2400" dirty="0"/>
              <a:t>3 adjacent chunks. Chunk B has just been deallocated and returned to the free list. Chunks A and B can be merged, and this is done just before inserting it into the linked list. The merged chunk AB may have to be placed in a different bin. </a:t>
            </a:r>
          </a:p>
        </p:txBody>
      </p:sp>
      <p:grpSp>
        <p:nvGrpSpPr>
          <p:cNvPr id="6" name="Group 5"/>
          <p:cNvGrpSpPr/>
          <p:nvPr/>
        </p:nvGrpSpPr>
        <p:grpSpPr>
          <a:xfrm>
            <a:off x="1408165" y="1849713"/>
            <a:ext cx="9375670" cy="2622176"/>
            <a:chOff x="1277471" y="3146612"/>
            <a:chExt cx="9375670" cy="2622176"/>
          </a:xfrm>
        </p:grpSpPr>
        <p:pic>
          <p:nvPicPr>
            <p:cNvPr id="4" name="Picture 3"/>
            <p:cNvPicPr>
              <a:picLocks noChangeAspect="1"/>
            </p:cNvPicPr>
            <p:nvPr/>
          </p:nvPicPr>
          <p:blipFill>
            <a:blip r:embed="rId2"/>
            <a:stretch>
              <a:fillRect/>
            </a:stretch>
          </p:blipFill>
          <p:spPr>
            <a:xfrm>
              <a:off x="1284473" y="3146612"/>
              <a:ext cx="9368668" cy="2253224"/>
            </a:xfrm>
            <a:prstGeom prst="rect">
              <a:avLst/>
            </a:prstGeom>
          </p:spPr>
        </p:pic>
        <p:sp>
          <p:nvSpPr>
            <p:cNvPr id="5" name="Rectangle 4"/>
            <p:cNvSpPr/>
            <p:nvPr/>
          </p:nvSpPr>
          <p:spPr>
            <a:xfrm>
              <a:off x="1277471" y="5069540"/>
              <a:ext cx="847164" cy="6992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Slide Number Placeholder 6"/>
          <p:cNvSpPr>
            <a:spLocks noGrp="1"/>
          </p:cNvSpPr>
          <p:nvPr>
            <p:ph type="sldNum" sz="quarter" idx="12"/>
          </p:nvPr>
        </p:nvSpPr>
        <p:spPr/>
        <p:txBody>
          <a:bodyPr/>
          <a:lstStyle/>
          <a:p>
            <a:fld id="{EE645454-5A07-423E-8617-7239B6B66F68}" type="slidenum">
              <a:rPr lang="en-US" smtClean="0"/>
              <a:t>42</a:t>
            </a:fld>
            <a:endParaRPr lang="en-US"/>
          </a:p>
        </p:txBody>
      </p:sp>
      <p:sp>
        <p:nvSpPr>
          <p:cNvPr id="8" name="TextBox 7">
            <a:extLst>
              <a:ext uri="{FF2B5EF4-FFF2-40B4-BE49-F238E27FC236}">
                <a16:creationId xmlns:a16="http://schemas.microsoft.com/office/drawing/2014/main" id="{05A9B756-3FE9-EB04-A0F1-7D3E5D6B75D8}"/>
              </a:ext>
            </a:extLst>
          </p:cNvPr>
          <p:cNvSpPr txBox="1"/>
          <p:nvPr/>
        </p:nvSpPr>
        <p:spPr>
          <a:xfrm>
            <a:off x="333829" y="1509485"/>
            <a:ext cx="1921500" cy="400110"/>
          </a:xfrm>
          <a:prstGeom prst="rect">
            <a:avLst/>
          </a:prstGeom>
          <a:noFill/>
        </p:spPr>
        <p:txBody>
          <a:bodyPr wrap="square" rtlCol="0">
            <a:spAutoFit/>
          </a:bodyPr>
          <a:lstStyle/>
          <a:p>
            <a:pPr algn="ctr"/>
            <a:r>
              <a:rPr lang="en-US" sz="2000" dirty="0">
                <a:solidFill>
                  <a:srgbClr val="0070C0"/>
                </a:solidFill>
              </a:rPr>
              <a:t>Boundary tags</a:t>
            </a:r>
          </a:p>
        </p:txBody>
      </p:sp>
      <p:cxnSp>
        <p:nvCxnSpPr>
          <p:cNvPr id="10" name="Straight Arrow Connector 9">
            <a:extLst>
              <a:ext uri="{FF2B5EF4-FFF2-40B4-BE49-F238E27FC236}">
                <a16:creationId xmlns:a16="http://schemas.microsoft.com/office/drawing/2014/main" id="{11478CA9-EC1C-0D91-1155-0EFF7EAC1557}"/>
              </a:ext>
            </a:extLst>
          </p:cNvPr>
          <p:cNvCxnSpPr>
            <a:stCxn id="8" idx="2"/>
          </p:cNvCxnSpPr>
          <p:nvPr/>
        </p:nvCxnSpPr>
        <p:spPr>
          <a:xfrm>
            <a:off x="1294579" y="1909595"/>
            <a:ext cx="389078" cy="73200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C51AF46-8676-CF71-F535-6467DF8F3765}"/>
              </a:ext>
            </a:extLst>
          </p:cNvPr>
          <p:cNvCxnSpPr>
            <a:cxnSpLocks/>
            <a:stCxn id="8" idx="2"/>
          </p:cNvCxnSpPr>
          <p:nvPr/>
        </p:nvCxnSpPr>
        <p:spPr>
          <a:xfrm>
            <a:off x="1294579" y="1909595"/>
            <a:ext cx="847164" cy="73200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87A6147-410C-9FF4-8B37-EE35CAB8176A}"/>
              </a:ext>
            </a:extLst>
          </p:cNvPr>
          <p:cNvSpPr txBox="1"/>
          <p:nvPr/>
        </p:nvSpPr>
        <p:spPr>
          <a:xfrm>
            <a:off x="3127829" y="3587975"/>
            <a:ext cx="1921500" cy="369332"/>
          </a:xfrm>
          <a:prstGeom prst="rect">
            <a:avLst/>
          </a:prstGeom>
          <a:noFill/>
        </p:spPr>
        <p:txBody>
          <a:bodyPr wrap="square" rtlCol="0">
            <a:spAutoFit/>
          </a:bodyPr>
          <a:lstStyle/>
          <a:p>
            <a:pPr algn="ctr"/>
            <a:r>
              <a:rPr lang="en-US" dirty="0">
                <a:solidFill>
                  <a:schemeClr val="accent5">
                    <a:lumMod val="75000"/>
                  </a:schemeClr>
                </a:solidFill>
              </a:rPr>
              <a:t>link to next</a:t>
            </a:r>
          </a:p>
        </p:txBody>
      </p:sp>
      <p:sp>
        <p:nvSpPr>
          <p:cNvPr id="15" name="TextBox 14">
            <a:extLst>
              <a:ext uri="{FF2B5EF4-FFF2-40B4-BE49-F238E27FC236}">
                <a16:creationId xmlns:a16="http://schemas.microsoft.com/office/drawing/2014/main" id="{47442623-EF24-702D-0927-98FC8A72A947}"/>
              </a:ext>
            </a:extLst>
          </p:cNvPr>
          <p:cNvSpPr txBox="1"/>
          <p:nvPr/>
        </p:nvSpPr>
        <p:spPr>
          <a:xfrm>
            <a:off x="769257" y="3657600"/>
            <a:ext cx="1921500" cy="400110"/>
          </a:xfrm>
          <a:prstGeom prst="rect">
            <a:avLst/>
          </a:prstGeom>
          <a:noFill/>
        </p:spPr>
        <p:txBody>
          <a:bodyPr wrap="square" rtlCol="0">
            <a:spAutoFit/>
          </a:bodyPr>
          <a:lstStyle>
            <a:defPPr>
              <a:defRPr lang="en-US"/>
            </a:defPPr>
            <a:lvl1pPr algn="ctr">
              <a:defRPr>
                <a:solidFill>
                  <a:schemeClr val="accent5">
                    <a:lumMod val="75000"/>
                  </a:schemeClr>
                </a:solidFill>
              </a:defRPr>
            </a:lvl1pPr>
          </a:lstStyle>
          <a:p>
            <a:r>
              <a:rPr lang="en-US" dirty="0"/>
              <a:t>link to previous</a:t>
            </a:r>
          </a:p>
        </p:txBody>
      </p:sp>
    </p:spTree>
    <p:extLst>
      <p:ext uri="{BB962C8B-B14F-4D97-AF65-F5344CB8AC3E}">
        <p14:creationId xmlns:p14="http://schemas.microsoft.com/office/powerpoint/2010/main" val="274351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1000"/>
                                        <p:tgtEl>
                                          <p:spTgt spid="15"/>
                                        </p:tgtEl>
                                      </p:cBhvr>
                                    </p:animEffect>
                                    <p:anim calcmode="lin" valueType="num">
                                      <p:cBhvr>
                                        <p:cTn id="33" dur="1000" fill="hold"/>
                                        <p:tgtEl>
                                          <p:spTgt spid="15"/>
                                        </p:tgtEl>
                                        <p:attrNameLst>
                                          <p:attrName>ppt_x</p:attrName>
                                        </p:attrNameLst>
                                      </p:cBhvr>
                                      <p:tavLst>
                                        <p:tav tm="0">
                                          <p:val>
                                            <p:strVal val="#ppt_x"/>
                                          </p:val>
                                        </p:tav>
                                        <p:tav tm="100000">
                                          <p:val>
                                            <p:strVal val="#ppt_x"/>
                                          </p:val>
                                        </p:tav>
                                      </p:tavLst>
                                    </p:anim>
                                    <p:anim calcmode="lin" valueType="num">
                                      <p:cBhvr>
                                        <p:cTn id="3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14" grpId="0"/>
      <p:bldP spid="1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5793"/>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Manual Memory Management</a:t>
            </a:r>
          </a:p>
        </p:txBody>
      </p:sp>
      <p:sp>
        <p:nvSpPr>
          <p:cNvPr id="3" name="Content Placeholder 2"/>
          <p:cNvSpPr>
            <a:spLocks noGrp="1"/>
          </p:cNvSpPr>
          <p:nvPr>
            <p:ph idx="1"/>
          </p:nvPr>
        </p:nvSpPr>
        <p:spPr>
          <a:xfrm>
            <a:off x="838200" y="1398494"/>
            <a:ext cx="10515600" cy="4778469"/>
          </a:xfrm>
        </p:spPr>
        <p:txBody>
          <a:bodyPr>
            <a:normAutofit lnSpcReduction="10000"/>
          </a:bodyPr>
          <a:lstStyle/>
          <a:p>
            <a:pPr>
              <a:lnSpc>
                <a:spcPct val="100000"/>
              </a:lnSpc>
              <a:spcBef>
                <a:spcPts val="600"/>
              </a:spcBef>
              <a:spcAft>
                <a:spcPts val="600"/>
              </a:spcAft>
            </a:pPr>
            <a:r>
              <a:rPr lang="en-US" dirty="0"/>
              <a:t>Have the programmer handle allocation and deallocation of dynamic memory.</a:t>
            </a:r>
          </a:p>
          <a:p>
            <a:pPr lvl="1">
              <a:lnSpc>
                <a:spcPct val="100000"/>
              </a:lnSpc>
              <a:spcBef>
                <a:spcPts val="600"/>
              </a:spcBef>
              <a:spcAft>
                <a:spcPts val="600"/>
              </a:spcAft>
            </a:pPr>
            <a:r>
              <a:rPr lang="en-US" dirty="0"/>
              <a:t>Approach used in C, C++.</a:t>
            </a:r>
          </a:p>
          <a:p>
            <a:pPr>
              <a:lnSpc>
                <a:spcPct val="100000"/>
              </a:lnSpc>
              <a:spcBef>
                <a:spcPts val="600"/>
              </a:spcBef>
              <a:spcAft>
                <a:spcPts val="600"/>
              </a:spcAft>
            </a:pPr>
            <a:r>
              <a:rPr lang="en-US" dirty="0"/>
              <a:t>Easily leads to troublesome bugs:</a:t>
            </a:r>
          </a:p>
          <a:p>
            <a:pPr lvl="1">
              <a:lnSpc>
                <a:spcPct val="100000"/>
              </a:lnSpc>
              <a:spcBef>
                <a:spcPts val="600"/>
              </a:spcBef>
              <a:spcAft>
                <a:spcPts val="600"/>
              </a:spcAft>
            </a:pPr>
            <a:r>
              <a:rPr lang="en-US" dirty="0">
                <a:solidFill>
                  <a:srgbClr val="00B0F0"/>
                </a:solidFill>
              </a:rPr>
              <a:t>Memory leaks</a:t>
            </a:r>
          </a:p>
          <a:p>
            <a:pPr lvl="2">
              <a:lnSpc>
                <a:spcPct val="100000"/>
              </a:lnSpc>
              <a:spcBef>
                <a:spcPts val="600"/>
              </a:spcBef>
              <a:spcAft>
                <a:spcPts val="600"/>
              </a:spcAft>
            </a:pPr>
            <a:r>
              <a:rPr lang="en-US" dirty="0"/>
              <a:t>Failing to delete data that cannot be referenced</a:t>
            </a:r>
          </a:p>
          <a:p>
            <a:pPr lvl="2">
              <a:lnSpc>
                <a:spcPct val="100000"/>
              </a:lnSpc>
              <a:spcBef>
                <a:spcPts val="600"/>
              </a:spcBef>
              <a:spcAft>
                <a:spcPts val="600"/>
              </a:spcAft>
            </a:pPr>
            <a:r>
              <a:rPr lang="en-US" dirty="0"/>
              <a:t>Important in long running or non-stop programs</a:t>
            </a:r>
          </a:p>
          <a:p>
            <a:pPr lvl="1">
              <a:lnSpc>
                <a:spcPct val="100000"/>
              </a:lnSpc>
              <a:spcBef>
                <a:spcPts val="600"/>
              </a:spcBef>
              <a:spcAft>
                <a:spcPts val="600"/>
              </a:spcAft>
            </a:pPr>
            <a:r>
              <a:rPr lang="en-US" dirty="0">
                <a:solidFill>
                  <a:schemeClr val="accent2">
                    <a:lumMod val="75000"/>
                  </a:schemeClr>
                </a:solidFill>
              </a:rPr>
              <a:t>Dangling pointer dereferencing</a:t>
            </a:r>
          </a:p>
          <a:p>
            <a:pPr lvl="2">
              <a:lnSpc>
                <a:spcPct val="100000"/>
              </a:lnSpc>
              <a:spcBef>
                <a:spcPts val="600"/>
              </a:spcBef>
              <a:spcAft>
                <a:spcPts val="600"/>
              </a:spcAft>
            </a:pPr>
            <a:r>
              <a:rPr lang="en-US" dirty="0"/>
              <a:t>Referencing deleted data</a:t>
            </a:r>
          </a:p>
          <a:p>
            <a:pPr lvl="2">
              <a:lnSpc>
                <a:spcPct val="100000"/>
              </a:lnSpc>
              <a:spcBef>
                <a:spcPts val="600"/>
              </a:spcBef>
              <a:spcAft>
                <a:spcPts val="600"/>
              </a:spcAft>
            </a:pPr>
            <a:r>
              <a:rPr lang="en-US" dirty="0"/>
              <a:t>Creates a program error that is hard to debug</a:t>
            </a:r>
          </a:p>
        </p:txBody>
      </p:sp>
      <p:sp>
        <p:nvSpPr>
          <p:cNvPr id="4" name="Slide Number Placeholder 3"/>
          <p:cNvSpPr>
            <a:spLocks noGrp="1"/>
          </p:cNvSpPr>
          <p:nvPr>
            <p:ph type="sldNum" sz="quarter" idx="12"/>
          </p:nvPr>
        </p:nvSpPr>
        <p:spPr/>
        <p:txBody>
          <a:bodyPr/>
          <a:lstStyle/>
          <a:p>
            <a:fld id="{EE645454-5A07-423E-8617-7239B6B66F68}" type="slidenum">
              <a:rPr lang="en-US" smtClean="0"/>
              <a:t>43</a:t>
            </a:fld>
            <a:endParaRPr lang="en-US"/>
          </a:p>
        </p:txBody>
      </p:sp>
    </p:spTree>
    <p:extLst>
      <p:ext uri="{BB962C8B-B14F-4D97-AF65-F5344CB8AC3E}">
        <p14:creationId xmlns:p14="http://schemas.microsoft.com/office/powerpoint/2010/main" val="341003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3369"/>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Automatic Memory Management</a:t>
            </a:r>
          </a:p>
        </p:txBody>
      </p:sp>
      <p:sp>
        <p:nvSpPr>
          <p:cNvPr id="3" name="Content Placeholder 2"/>
          <p:cNvSpPr>
            <a:spLocks noGrp="1"/>
          </p:cNvSpPr>
          <p:nvPr>
            <p:ph idx="1"/>
          </p:nvPr>
        </p:nvSpPr>
        <p:spPr>
          <a:xfrm>
            <a:off x="838200" y="1398494"/>
            <a:ext cx="10515600" cy="4778469"/>
          </a:xfrm>
        </p:spPr>
        <p:txBody>
          <a:bodyPr/>
          <a:lstStyle/>
          <a:p>
            <a:pPr>
              <a:lnSpc>
                <a:spcPct val="100000"/>
              </a:lnSpc>
              <a:spcBef>
                <a:spcPts val="600"/>
              </a:spcBef>
              <a:spcAft>
                <a:spcPts val="600"/>
              </a:spcAft>
            </a:pPr>
            <a:r>
              <a:rPr lang="en-US" dirty="0"/>
              <a:t>Have the runtime environment automatically reclaim memory.</a:t>
            </a:r>
          </a:p>
          <a:p>
            <a:pPr lvl="1">
              <a:lnSpc>
                <a:spcPct val="100000"/>
              </a:lnSpc>
              <a:spcBef>
                <a:spcPts val="600"/>
              </a:spcBef>
              <a:spcAft>
                <a:spcPts val="600"/>
              </a:spcAft>
            </a:pPr>
            <a:r>
              <a:rPr lang="en-US" dirty="0"/>
              <a:t>Approach used in Java, Perl, ML, Prolog etc.</a:t>
            </a:r>
          </a:p>
          <a:p>
            <a:pPr>
              <a:lnSpc>
                <a:spcPct val="100000"/>
              </a:lnSpc>
              <a:spcBef>
                <a:spcPts val="600"/>
              </a:spcBef>
              <a:spcAft>
                <a:spcPts val="600"/>
              </a:spcAft>
            </a:pPr>
            <a:r>
              <a:rPr lang="en-US" dirty="0"/>
              <a:t>Objects that won't be used again are called </a:t>
            </a:r>
            <a:r>
              <a:rPr lang="en-US" dirty="0">
                <a:solidFill>
                  <a:srgbClr val="00B0F0"/>
                </a:solidFill>
              </a:rPr>
              <a:t>garbage</a:t>
            </a:r>
            <a:r>
              <a:rPr lang="en-US" dirty="0"/>
              <a:t>.</a:t>
            </a:r>
          </a:p>
          <a:p>
            <a:pPr>
              <a:lnSpc>
                <a:spcPct val="100000"/>
              </a:lnSpc>
              <a:spcBef>
                <a:spcPts val="600"/>
              </a:spcBef>
              <a:spcAft>
                <a:spcPts val="600"/>
              </a:spcAft>
            </a:pPr>
            <a:r>
              <a:rPr lang="en-US" dirty="0"/>
              <a:t>Reclaiming garbage objects automatically is called </a:t>
            </a:r>
            <a:r>
              <a:rPr lang="en-US" dirty="0">
                <a:solidFill>
                  <a:srgbClr val="00B050"/>
                </a:solidFill>
              </a:rPr>
              <a:t>garbage collection</a:t>
            </a:r>
            <a:r>
              <a:rPr lang="en-US" dirty="0"/>
              <a:t>.</a:t>
            </a:r>
          </a:p>
        </p:txBody>
      </p:sp>
      <p:sp>
        <p:nvSpPr>
          <p:cNvPr id="4" name="Slide Number Placeholder 3"/>
          <p:cNvSpPr>
            <a:spLocks noGrp="1"/>
          </p:cNvSpPr>
          <p:nvPr>
            <p:ph type="sldNum" sz="quarter" idx="12"/>
          </p:nvPr>
        </p:nvSpPr>
        <p:spPr/>
        <p:txBody>
          <a:bodyPr/>
          <a:lstStyle/>
          <a:p>
            <a:fld id="{EE645454-5A07-423E-8617-7239B6B66F68}" type="slidenum">
              <a:rPr lang="en-US" smtClean="0"/>
              <a:t>44</a:t>
            </a:fld>
            <a:endParaRPr lang="en-US"/>
          </a:p>
        </p:txBody>
      </p:sp>
    </p:spTree>
    <p:extLst>
      <p:ext uri="{BB962C8B-B14F-4D97-AF65-F5344CB8AC3E}">
        <p14:creationId xmlns:p14="http://schemas.microsoft.com/office/powerpoint/2010/main" val="400668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537883"/>
          </a:xfrm>
        </p:spPr>
        <p:txBody>
          <a:bodyPr vert="horz" lIns="91440" tIns="45720" rIns="91440" bIns="45720" rtlCol="0" anchor="ctr">
            <a:normAutofit fontScale="90000"/>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Preliminaries </a:t>
            </a:r>
          </a:p>
        </p:txBody>
      </p:sp>
      <p:sp>
        <p:nvSpPr>
          <p:cNvPr id="3" name="Content Placeholder 2"/>
          <p:cNvSpPr>
            <a:spLocks noGrp="1"/>
          </p:cNvSpPr>
          <p:nvPr>
            <p:ph idx="1"/>
          </p:nvPr>
        </p:nvSpPr>
        <p:spPr>
          <a:xfrm>
            <a:off x="838200" y="981635"/>
            <a:ext cx="10515600" cy="5513293"/>
          </a:xfrm>
        </p:spPr>
        <p:txBody>
          <a:bodyPr>
            <a:normAutofit/>
          </a:bodyPr>
          <a:lstStyle/>
          <a:p>
            <a:pPr>
              <a:lnSpc>
                <a:spcPct val="100000"/>
              </a:lnSpc>
              <a:spcBef>
                <a:spcPts val="600"/>
              </a:spcBef>
              <a:spcAft>
                <a:spcPts val="600"/>
              </a:spcAft>
            </a:pPr>
            <a:r>
              <a:rPr lang="en-US" dirty="0"/>
              <a:t>Garbage collection is the reclamation of chunks of storage holding objects that </a:t>
            </a:r>
            <a:r>
              <a:rPr lang="en-US" dirty="0">
                <a:solidFill>
                  <a:schemeClr val="accent2">
                    <a:lumMod val="75000"/>
                  </a:schemeClr>
                </a:solidFill>
              </a:rPr>
              <a:t>can no longer be accessed by a program. </a:t>
            </a:r>
          </a:p>
          <a:p>
            <a:pPr>
              <a:lnSpc>
                <a:spcPct val="100000"/>
              </a:lnSpc>
              <a:spcBef>
                <a:spcPts val="600"/>
              </a:spcBef>
              <a:spcAft>
                <a:spcPts val="600"/>
              </a:spcAft>
            </a:pPr>
            <a:r>
              <a:rPr lang="en-US" dirty="0">
                <a:solidFill>
                  <a:srgbClr val="00B0F0"/>
                </a:solidFill>
              </a:rPr>
              <a:t>Assumptions</a:t>
            </a:r>
          </a:p>
          <a:p>
            <a:pPr lvl="1">
              <a:lnSpc>
                <a:spcPct val="100000"/>
              </a:lnSpc>
              <a:spcBef>
                <a:spcPts val="600"/>
              </a:spcBef>
              <a:spcAft>
                <a:spcPts val="600"/>
              </a:spcAft>
            </a:pPr>
            <a:r>
              <a:rPr lang="en-US" dirty="0"/>
              <a:t>Objects have a </a:t>
            </a:r>
            <a:r>
              <a:rPr lang="en-US" dirty="0">
                <a:solidFill>
                  <a:srgbClr val="FF0000"/>
                </a:solidFill>
              </a:rPr>
              <a:t>type</a:t>
            </a:r>
            <a:r>
              <a:rPr lang="en-US" dirty="0"/>
              <a:t> that can be determined by the garbage collector at run time. </a:t>
            </a:r>
          </a:p>
          <a:p>
            <a:pPr lvl="1">
              <a:lnSpc>
                <a:spcPct val="100000"/>
              </a:lnSpc>
              <a:spcBef>
                <a:spcPts val="600"/>
              </a:spcBef>
              <a:spcAft>
                <a:spcPts val="600"/>
              </a:spcAft>
            </a:pPr>
            <a:r>
              <a:rPr lang="en-US" dirty="0"/>
              <a:t>Type information allows to determine</a:t>
            </a:r>
          </a:p>
          <a:p>
            <a:pPr lvl="2">
              <a:lnSpc>
                <a:spcPct val="100000"/>
              </a:lnSpc>
              <a:spcBef>
                <a:spcPts val="600"/>
              </a:spcBef>
            </a:pPr>
            <a:r>
              <a:rPr lang="en-US" sz="2200" dirty="0"/>
              <a:t>how large the object is, and </a:t>
            </a:r>
          </a:p>
          <a:p>
            <a:pPr lvl="2">
              <a:lnSpc>
                <a:spcPct val="100000"/>
              </a:lnSpc>
              <a:spcBef>
                <a:spcPts val="600"/>
              </a:spcBef>
              <a:spcAft>
                <a:spcPts val="600"/>
              </a:spcAft>
            </a:pPr>
            <a:r>
              <a:rPr lang="en-US" sz="2200" dirty="0"/>
              <a:t>which components of the object contain references (pointers) to other objects. </a:t>
            </a:r>
          </a:p>
          <a:p>
            <a:pPr lvl="1">
              <a:lnSpc>
                <a:spcPct val="100000"/>
              </a:lnSpc>
              <a:spcBef>
                <a:spcPts val="600"/>
              </a:spcBef>
              <a:spcAft>
                <a:spcPts val="600"/>
              </a:spcAft>
            </a:pPr>
            <a:r>
              <a:rPr lang="en-US" dirty="0"/>
              <a:t>References to objects are always to the address of the beginning of the object, never pointers to places within the object. </a:t>
            </a:r>
          </a:p>
          <a:p>
            <a:pPr lvl="2">
              <a:lnSpc>
                <a:spcPct val="100000"/>
              </a:lnSpc>
              <a:spcBef>
                <a:spcPts val="600"/>
              </a:spcBef>
              <a:spcAft>
                <a:spcPts val="600"/>
              </a:spcAft>
            </a:pPr>
            <a:r>
              <a:rPr lang="en-US" sz="2200" dirty="0"/>
              <a:t>All references to an object have the same value and can be identified easily</a:t>
            </a:r>
          </a:p>
        </p:txBody>
      </p:sp>
      <p:sp>
        <p:nvSpPr>
          <p:cNvPr id="4" name="Slide Number Placeholder 3"/>
          <p:cNvSpPr>
            <a:spLocks noGrp="1"/>
          </p:cNvSpPr>
          <p:nvPr>
            <p:ph type="sldNum" sz="quarter" idx="12"/>
          </p:nvPr>
        </p:nvSpPr>
        <p:spPr/>
        <p:txBody>
          <a:bodyPr/>
          <a:lstStyle/>
          <a:p>
            <a:fld id="{EE645454-5A07-423E-8617-7239B6B66F68}" type="slidenum">
              <a:rPr lang="en-US" smtClean="0"/>
              <a:t>45</a:t>
            </a:fld>
            <a:endParaRPr lang="en-US"/>
          </a:p>
        </p:txBody>
      </p:sp>
    </p:spTree>
    <p:extLst>
      <p:ext uri="{BB962C8B-B14F-4D97-AF65-F5344CB8AC3E}">
        <p14:creationId xmlns:p14="http://schemas.microsoft.com/office/powerpoint/2010/main" val="1792004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Preliminaries </a:t>
            </a:r>
          </a:p>
        </p:txBody>
      </p:sp>
      <p:sp>
        <p:nvSpPr>
          <p:cNvPr id="3" name="Content Placeholder 2"/>
          <p:cNvSpPr>
            <a:spLocks noGrp="1"/>
          </p:cNvSpPr>
          <p:nvPr>
            <p:ph idx="1"/>
          </p:nvPr>
        </p:nvSpPr>
        <p:spPr>
          <a:xfrm>
            <a:off x="838200" y="1156448"/>
            <a:ext cx="10515600" cy="5020516"/>
          </a:xfrm>
        </p:spPr>
        <p:txBody>
          <a:bodyPr>
            <a:normAutofit/>
          </a:bodyPr>
          <a:lstStyle/>
          <a:p>
            <a:pPr>
              <a:lnSpc>
                <a:spcPct val="100000"/>
              </a:lnSpc>
              <a:spcBef>
                <a:spcPts val="600"/>
              </a:spcBef>
            </a:pPr>
            <a:r>
              <a:rPr lang="en-US" dirty="0"/>
              <a:t>A user program, hereafter referred to as the </a:t>
            </a:r>
            <a:r>
              <a:rPr lang="en-US" dirty="0">
                <a:solidFill>
                  <a:schemeClr val="accent2">
                    <a:lumMod val="75000"/>
                  </a:schemeClr>
                </a:solidFill>
              </a:rPr>
              <a:t>mutator</a:t>
            </a:r>
            <a:r>
              <a:rPr lang="en-US" dirty="0"/>
              <a:t>, modifies the collection of objects in the heap. </a:t>
            </a:r>
          </a:p>
          <a:p>
            <a:pPr>
              <a:lnSpc>
                <a:spcPct val="100000"/>
              </a:lnSpc>
              <a:spcBef>
                <a:spcPts val="600"/>
              </a:spcBef>
            </a:pPr>
            <a:r>
              <a:rPr lang="en-US" dirty="0"/>
              <a:t>The </a:t>
            </a:r>
            <a:r>
              <a:rPr lang="en-US" dirty="0">
                <a:solidFill>
                  <a:schemeClr val="accent2">
                    <a:lumMod val="75000"/>
                  </a:schemeClr>
                </a:solidFill>
              </a:rPr>
              <a:t>mutator</a:t>
            </a:r>
            <a:r>
              <a:rPr lang="en-US" dirty="0"/>
              <a:t> creates objects by acquiring space from the memory manager </a:t>
            </a:r>
          </a:p>
          <a:p>
            <a:pPr lvl="1">
              <a:lnSpc>
                <a:spcPct val="100000"/>
              </a:lnSpc>
              <a:spcBef>
                <a:spcPts val="600"/>
              </a:spcBef>
            </a:pPr>
            <a:r>
              <a:rPr lang="en-US" dirty="0"/>
              <a:t>May introduce and drop references to existing objects. </a:t>
            </a:r>
          </a:p>
          <a:p>
            <a:pPr>
              <a:lnSpc>
                <a:spcPct val="100000"/>
              </a:lnSpc>
              <a:spcBef>
                <a:spcPts val="600"/>
              </a:spcBef>
            </a:pPr>
            <a:r>
              <a:rPr lang="en-US" dirty="0"/>
              <a:t>Objects become garbage when the mutator program cannot </a:t>
            </a:r>
            <a:r>
              <a:rPr lang="en-US" dirty="0">
                <a:solidFill>
                  <a:srgbClr val="7030A0"/>
                </a:solidFill>
              </a:rPr>
              <a:t>"reach" </a:t>
            </a:r>
            <a:r>
              <a:rPr lang="en-US" dirty="0"/>
              <a:t>them</a:t>
            </a:r>
          </a:p>
          <a:p>
            <a:pPr>
              <a:lnSpc>
                <a:spcPct val="100000"/>
              </a:lnSpc>
              <a:spcBef>
                <a:spcPts val="600"/>
              </a:spcBef>
            </a:pPr>
            <a:r>
              <a:rPr lang="en-US" dirty="0"/>
              <a:t>The </a:t>
            </a:r>
            <a:r>
              <a:rPr lang="en-US" dirty="0">
                <a:solidFill>
                  <a:srgbClr val="FF0000"/>
                </a:solidFill>
              </a:rPr>
              <a:t>garbage collector</a:t>
            </a:r>
            <a:r>
              <a:rPr lang="en-US" dirty="0"/>
              <a:t> finds these </a:t>
            </a:r>
            <a:r>
              <a:rPr lang="en-US" dirty="0">
                <a:solidFill>
                  <a:srgbClr val="00B0F0"/>
                </a:solidFill>
              </a:rPr>
              <a:t>unreachable objects </a:t>
            </a:r>
            <a:r>
              <a:rPr lang="en-US" dirty="0"/>
              <a:t>and reclaims their space by handing them to the </a:t>
            </a:r>
            <a:r>
              <a:rPr lang="en-US" dirty="0">
                <a:solidFill>
                  <a:srgbClr val="00B050"/>
                </a:solidFill>
              </a:rPr>
              <a:t>memory manager</a:t>
            </a:r>
            <a:r>
              <a:rPr lang="en-US" dirty="0"/>
              <a:t>, which keeps track of the free space. </a:t>
            </a:r>
          </a:p>
        </p:txBody>
      </p:sp>
      <p:sp>
        <p:nvSpPr>
          <p:cNvPr id="4" name="Slide Number Placeholder 3"/>
          <p:cNvSpPr>
            <a:spLocks noGrp="1"/>
          </p:cNvSpPr>
          <p:nvPr>
            <p:ph type="sldNum" sz="quarter" idx="12"/>
          </p:nvPr>
        </p:nvSpPr>
        <p:spPr/>
        <p:txBody>
          <a:bodyPr/>
          <a:lstStyle/>
          <a:p>
            <a:fld id="{EE645454-5A07-423E-8617-7239B6B66F68}" type="slidenum">
              <a:rPr lang="en-US" smtClean="0"/>
              <a:t>46</a:t>
            </a:fld>
            <a:endParaRPr lang="en-US"/>
          </a:p>
        </p:txBody>
      </p:sp>
    </p:spTree>
    <p:extLst>
      <p:ext uri="{BB962C8B-B14F-4D97-AF65-F5344CB8AC3E}">
        <p14:creationId xmlns:p14="http://schemas.microsoft.com/office/powerpoint/2010/main" val="363007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A Basic Requirement: Type Safety</a:t>
            </a:r>
          </a:p>
        </p:txBody>
      </p:sp>
      <p:sp>
        <p:nvSpPr>
          <p:cNvPr id="3" name="Content Placeholder 2"/>
          <p:cNvSpPr>
            <a:spLocks noGrp="1"/>
          </p:cNvSpPr>
          <p:nvPr>
            <p:ph idx="1"/>
          </p:nvPr>
        </p:nvSpPr>
        <p:spPr>
          <a:xfrm>
            <a:off x="838200" y="1156448"/>
            <a:ext cx="10515600" cy="5020516"/>
          </a:xfrm>
        </p:spPr>
        <p:txBody>
          <a:bodyPr>
            <a:normAutofit/>
          </a:bodyPr>
          <a:lstStyle/>
          <a:p>
            <a:pPr>
              <a:lnSpc>
                <a:spcPct val="110000"/>
              </a:lnSpc>
              <a:spcBef>
                <a:spcPts val="600"/>
              </a:spcBef>
              <a:spcAft>
                <a:spcPts val="600"/>
              </a:spcAft>
            </a:pPr>
            <a:r>
              <a:rPr lang="en-US" dirty="0"/>
              <a:t>For a garbage collector to work, it must be able to tell whether any given data element or component of a data element is, or could be used as, a pointer to a chunk of allocated memory space. </a:t>
            </a:r>
          </a:p>
          <a:p>
            <a:pPr>
              <a:lnSpc>
                <a:spcPct val="110000"/>
              </a:lnSpc>
              <a:spcBef>
                <a:spcPts val="600"/>
              </a:spcBef>
              <a:spcAft>
                <a:spcPts val="600"/>
              </a:spcAft>
            </a:pPr>
            <a:r>
              <a:rPr lang="en-US" dirty="0"/>
              <a:t>A language in which the type of any data component can be determined is said to be </a:t>
            </a:r>
            <a:r>
              <a:rPr lang="en-US" dirty="0">
                <a:solidFill>
                  <a:srgbClr val="00B0F0"/>
                </a:solidFill>
              </a:rPr>
              <a:t>type safe</a:t>
            </a:r>
            <a:r>
              <a:rPr lang="en-US" dirty="0"/>
              <a:t>. </a:t>
            </a:r>
          </a:p>
          <a:p>
            <a:pPr lvl="1">
              <a:lnSpc>
                <a:spcPct val="110000"/>
              </a:lnSpc>
              <a:spcBef>
                <a:spcPts val="600"/>
              </a:spcBef>
              <a:spcAft>
                <a:spcPts val="600"/>
              </a:spcAft>
            </a:pPr>
            <a:r>
              <a:rPr lang="en-US" dirty="0"/>
              <a:t>There are type-safe languages like ML, for which we can determine types at </a:t>
            </a:r>
            <a:r>
              <a:rPr lang="en-US" dirty="0">
                <a:solidFill>
                  <a:schemeClr val="accent4">
                    <a:lumMod val="75000"/>
                  </a:schemeClr>
                </a:solidFill>
              </a:rPr>
              <a:t>compile time</a:t>
            </a:r>
            <a:r>
              <a:rPr lang="en-US" dirty="0"/>
              <a:t>. </a:t>
            </a:r>
          </a:p>
          <a:p>
            <a:pPr lvl="1">
              <a:lnSpc>
                <a:spcPct val="110000"/>
              </a:lnSpc>
              <a:spcBef>
                <a:spcPts val="600"/>
              </a:spcBef>
              <a:spcAft>
                <a:spcPts val="600"/>
              </a:spcAft>
            </a:pPr>
            <a:r>
              <a:rPr lang="en-US" dirty="0"/>
              <a:t>There are other type-safe languages, 'like Java, whose types cannot be determined at compile time, but can be determined at </a:t>
            </a:r>
            <a:r>
              <a:rPr lang="en-US" dirty="0">
                <a:solidFill>
                  <a:schemeClr val="accent6">
                    <a:lumMod val="75000"/>
                  </a:schemeClr>
                </a:solidFill>
              </a:rPr>
              <a:t>run time</a:t>
            </a:r>
            <a:r>
              <a:rPr lang="en-US" dirty="0"/>
              <a:t>. The latter are called dynamically typed languages. </a:t>
            </a:r>
          </a:p>
        </p:txBody>
      </p:sp>
      <p:sp>
        <p:nvSpPr>
          <p:cNvPr id="4" name="Slide Number Placeholder 3"/>
          <p:cNvSpPr>
            <a:spLocks noGrp="1"/>
          </p:cNvSpPr>
          <p:nvPr>
            <p:ph type="sldNum" sz="quarter" idx="12"/>
          </p:nvPr>
        </p:nvSpPr>
        <p:spPr/>
        <p:txBody>
          <a:bodyPr/>
          <a:lstStyle/>
          <a:p>
            <a:fld id="{EE645454-5A07-423E-8617-7239B6B66F68}" type="slidenum">
              <a:rPr lang="en-US" smtClean="0"/>
              <a:t>47</a:t>
            </a:fld>
            <a:endParaRPr lang="en-US"/>
          </a:p>
        </p:txBody>
      </p:sp>
    </p:spTree>
    <p:extLst>
      <p:ext uri="{BB962C8B-B14F-4D97-AF65-F5344CB8AC3E}">
        <p14:creationId xmlns:p14="http://schemas.microsoft.com/office/powerpoint/2010/main" val="2611976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A Basic Requirement: Type Safety</a:t>
            </a:r>
          </a:p>
        </p:txBody>
      </p:sp>
      <p:sp>
        <p:nvSpPr>
          <p:cNvPr id="3" name="Content Placeholder 2"/>
          <p:cNvSpPr>
            <a:spLocks noGrp="1"/>
          </p:cNvSpPr>
          <p:nvPr>
            <p:ph idx="1"/>
          </p:nvPr>
        </p:nvSpPr>
        <p:spPr>
          <a:xfrm>
            <a:off x="838200" y="1156447"/>
            <a:ext cx="10515600" cy="5459505"/>
          </a:xfrm>
        </p:spPr>
        <p:txBody>
          <a:bodyPr>
            <a:normAutofit/>
          </a:bodyPr>
          <a:lstStyle/>
          <a:p>
            <a:pPr>
              <a:lnSpc>
                <a:spcPct val="110000"/>
              </a:lnSpc>
              <a:spcBef>
                <a:spcPts val="600"/>
              </a:spcBef>
              <a:spcAft>
                <a:spcPts val="600"/>
              </a:spcAft>
            </a:pPr>
            <a:r>
              <a:rPr lang="en-US" dirty="0"/>
              <a:t>If a language is neither statically nor dynamically type safe, then it is said to be unsafe. .</a:t>
            </a:r>
          </a:p>
          <a:p>
            <a:pPr lvl="1">
              <a:lnSpc>
                <a:spcPct val="110000"/>
              </a:lnSpc>
              <a:spcBef>
                <a:spcPts val="600"/>
              </a:spcBef>
              <a:spcAft>
                <a:spcPts val="600"/>
              </a:spcAft>
            </a:pPr>
            <a:r>
              <a:rPr lang="en-US" dirty="0"/>
              <a:t>Unsafe languages, such as C and C++, are bad candidates for automatic garbage collection. </a:t>
            </a:r>
          </a:p>
          <a:p>
            <a:pPr>
              <a:lnSpc>
                <a:spcPct val="110000"/>
              </a:lnSpc>
              <a:spcBef>
                <a:spcPts val="600"/>
              </a:spcBef>
              <a:spcAft>
                <a:spcPts val="600"/>
              </a:spcAft>
            </a:pPr>
            <a:r>
              <a:rPr lang="en-US" dirty="0"/>
              <a:t>In unsafe languages, memory addresses can be manipulated arbitrarily: </a:t>
            </a:r>
          </a:p>
          <a:p>
            <a:pPr lvl="1">
              <a:lnSpc>
                <a:spcPct val="100000"/>
              </a:lnSpc>
              <a:spcBef>
                <a:spcPts val="600"/>
              </a:spcBef>
              <a:spcAft>
                <a:spcPts val="600"/>
              </a:spcAft>
            </a:pPr>
            <a:r>
              <a:rPr lang="en-US" dirty="0"/>
              <a:t>arbitrary arithmetic operations can be applied to pointers to create new pointers, and arbitrary integers can be cast as pointers.</a:t>
            </a:r>
          </a:p>
          <a:p>
            <a:pPr lvl="1">
              <a:lnSpc>
                <a:spcPct val="100000"/>
              </a:lnSpc>
              <a:spcBef>
                <a:spcPts val="600"/>
              </a:spcBef>
              <a:spcAft>
                <a:spcPts val="600"/>
              </a:spcAft>
            </a:pPr>
            <a:r>
              <a:rPr lang="en-US" dirty="0"/>
              <a:t> A program theoretically could refer to any location in memory at any time. </a:t>
            </a:r>
          </a:p>
          <a:p>
            <a:pPr lvl="1">
              <a:lnSpc>
                <a:spcPct val="100000"/>
              </a:lnSpc>
              <a:spcBef>
                <a:spcPts val="600"/>
              </a:spcBef>
              <a:spcAft>
                <a:spcPts val="600"/>
              </a:spcAft>
            </a:pPr>
            <a:r>
              <a:rPr lang="en-US" dirty="0"/>
              <a:t>Consequently, no memory location can be considered to be inaccessible, and no storage can ever be reclaimed safely.</a:t>
            </a:r>
          </a:p>
        </p:txBody>
      </p:sp>
      <p:sp>
        <p:nvSpPr>
          <p:cNvPr id="4" name="Slide Number Placeholder 3"/>
          <p:cNvSpPr>
            <a:spLocks noGrp="1"/>
          </p:cNvSpPr>
          <p:nvPr>
            <p:ph type="sldNum" sz="quarter" idx="12"/>
          </p:nvPr>
        </p:nvSpPr>
        <p:spPr/>
        <p:txBody>
          <a:bodyPr/>
          <a:lstStyle/>
          <a:p>
            <a:fld id="{EE645454-5A07-423E-8617-7239B6B66F68}" type="slidenum">
              <a:rPr lang="en-US" smtClean="0"/>
              <a:t>48</a:t>
            </a:fld>
            <a:endParaRPr lang="en-US"/>
          </a:p>
        </p:txBody>
      </p:sp>
    </p:spTree>
    <p:extLst>
      <p:ext uri="{BB962C8B-B14F-4D97-AF65-F5344CB8AC3E}">
        <p14:creationId xmlns:p14="http://schemas.microsoft.com/office/powerpoint/2010/main" val="2279223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GC Performance Metrics </a:t>
            </a:r>
          </a:p>
        </p:txBody>
      </p:sp>
      <p:sp>
        <p:nvSpPr>
          <p:cNvPr id="3" name="Content Placeholder 2"/>
          <p:cNvSpPr>
            <a:spLocks noGrp="1"/>
          </p:cNvSpPr>
          <p:nvPr>
            <p:ph idx="1"/>
          </p:nvPr>
        </p:nvSpPr>
        <p:spPr>
          <a:xfrm>
            <a:off x="838200" y="981636"/>
            <a:ext cx="10515600" cy="5620870"/>
          </a:xfrm>
        </p:spPr>
        <p:txBody>
          <a:bodyPr>
            <a:normAutofit/>
          </a:bodyPr>
          <a:lstStyle/>
          <a:p>
            <a:pPr>
              <a:lnSpc>
                <a:spcPct val="134000"/>
              </a:lnSpc>
              <a:spcBef>
                <a:spcPts val="600"/>
              </a:spcBef>
            </a:pPr>
            <a:r>
              <a:rPr lang="en-US" dirty="0">
                <a:solidFill>
                  <a:srgbClr val="00B0F0"/>
                </a:solidFill>
              </a:rPr>
              <a:t>Overall Execution Time</a:t>
            </a:r>
            <a:r>
              <a:rPr lang="en-US" dirty="0"/>
              <a:t> </a:t>
            </a:r>
          </a:p>
          <a:p>
            <a:pPr lvl="1">
              <a:lnSpc>
                <a:spcPct val="134000"/>
              </a:lnSpc>
              <a:spcBef>
                <a:spcPts val="600"/>
              </a:spcBef>
            </a:pPr>
            <a:r>
              <a:rPr lang="en-US" dirty="0"/>
              <a:t>Garbage collection can be very slow. It is important that it not significantly increase the total run time of an application.</a:t>
            </a:r>
          </a:p>
          <a:p>
            <a:pPr lvl="1">
              <a:lnSpc>
                <a:spcPct val="134000"/>
              </a:lnSpc>
              <a:spcBef>
                <a:spcPts val="600"/>
              </a:spcBef>
            </a:pPr>
            <a:r>
              <a:rPr lang="en-US" dirty="0"/>
              <a:t>Performance is determined greatly by how it leverages the memory subsystem.</a:t>
            </a:r>
          </a:p>
          <a:p>
            <a:pPr>
              <a:lnSpc>
                <a:spcPct val="134000"/>
              </a:lnSpc>
              <a:spcBef>
                <a:spcPts val="600"/>
              </a:spcBef>
            </a:pPr>
            <a:r>
              <a:rPr lang="en-US" dirty="0">
                <a:solidFill>
                  <a:srgbClr val="00B0F0"/>
                </a:solidFill>
              </a:rPr>
              <a:t>Space Usage </a:t>
            </a:r>
          </a:p>
          <a:p>
            <a:pPr lvl="1">
              <a:lnSpc>
                <a:spcPct val="134000"/>
              </a:lnSpc>
              <a:spcBef>
                <a:spcPts val="600"/>
              </a:spcBef>
            </a:pPr>
            <a:r>
              <a:rPr lang="en-US" dirty="0"/>
              <a:t>Need to avoid fragmentation and make the best use of the available memory.</a:t>
            </a:r>
            <a:br>
              <a:rPr lang="en-US" dirty="0"/>
            </a:br>
            <a:endParaRPr lang="en-US" dirty="0"/>
          </a:p>
        </p:txBody>
      </p:sp>
      <p:sp>
        <p:nvSpPr>
          <p:cNvPr id="4" name="Slide Number Placeholder 3"/>
          <p:cNvSpPr>
            <a:spLocks noGrp="1"/>
          </p:cNvSpPr>
          <p:nvPr>
            <p:ph type="sldNum" sz="quarter" idx="12"/>
          </p:nvPr>
        </p:nvSpPr>
        <p:spPr/>
        <p:txBody>
          <a:bodyPr/>
          <a:lstStyle/>
          <a:p>
            <a:fld id="{EE645454-5A07-423E-8617-7239B6B66F68}" type="slidenum">
              <a:rPr lang="en-US" smtClean="0"/>
              <a:t>49</a:t>
            </a:fld>
            <a:endParaRPr lang="en-US"/>
          </a:p>
        </p:txBody>
      </p:sp>
    </p:spTree>
    <p:extLst>
      <p:ext uri="{BB962C8B-B14F-4D97-AF65-F5344CB8AC3E}">
        <p14:creationId xmlns:p14="http://schemas.microsoft.com/office/powerpoint/2010/main" val="1623269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Performance Metrics </a:t>
            </a:r>
          </a:p>
        </p:txBody>
      </p:sp>
      <p:sp>
        <p:nvSpPr>
          <p:cNvPr id="3" name="Content Placeholder 2"/>
          <p:cNvSpPr>
            <a:spLocks noGrp="1"/>
          </p:cNvSpPr>
          <p:nvPr>
            <p:ph idx="1"/>
          </p:nvPr>
        </p:nvSpPr>
        <p:spPr>
          <a:xfrm>
            <a:off x="838200" y="981636"/>
            <a:ext cx="10515600" cy="5620870"/>
          </a:xfrm>
        </p:spPr>
        <p:txBody>
          <a:bodyPr>
            <a:normAutofit lnSpcReduction="10000"/>
          </a:bodyPr>
          <a:lstStyle/>
          <a:p>
            <a:pPr>
              <a:lnSpc>
                <a:spcPct val="134000"/>
              </a:lnSpc>
              <a:spcBef>
                <a:spcPts val="600"/>
              </a:spcBef>
            </a:pPr>
            <a:r>
              <a:rPr lang="en-US" dirty="0">
                <a:solidFill>
                  <a:srgbClr val="00B0F0"/>
                </a:solidFill>
              </a:rPr>
              <a:t>Pause Time</a:t>
            </a:r>
            <a:r>
              <a:rPr lang="en-US" dirty="0"/>
              <a:t> </a:t>
            </a:r>
          </a:p>
          <a:p>
            <a:pPr lvl="1">
              <a:lnSpc>
                <a:spcPct val="134000"/>
              </a:lnSpc>
              <a:spcBef>
                <a:spcPts val="600"/>
              </a:spcBef>
            </a:pPr>
            <a:r>
              <a:rPr lang="en-US" dirty="0"/>
              <a:t>Simple garbage collectors are notorious for causing programs - the </a:t>
            </a:r>
            <a:r>
              <a:rPr lang="en-US" dirty="0" err="1"/>
              <a:t>mutators</a:t>
            </a:r>
            <a:r>
              <a:rPr lang="en-US" dirty="0"/>
              <a:t> - to pause suddenly for an extremely long time, as garbage collection kicks in without warning. </a:t>
            </a:r>
          </a:p>
          <a:p>
            <a:pPr lvl="1">
              <a:lnSpc>
                <a:spcPct val="134000"/>
              </a:lnSpc>
              <a:spcBef>
                <a:spcPts val="600"/>
              </a:spcBef>
            </a:pPr>
            <a:r>
              <a:rPr lang="en-US" dirty="0"/>
              <a:t>In addition to minimizing the overall execution time, it is desirable that the maximum pause time be minimized. </a:t>
            </a:r>
          </a:p>
          <a:p>
            <a:pPr lvl="1">
              <a:lnSpc>
                <a:spcPct val="134000"/>
              </a:lnSpc>
              <a:spcBef>
                <a:spcPts val="600"/>
              </a:spcBef>
            </a:pPr>
            <a:r>
              <a:rPr lang="en-US" dirty="0"/>
              <a:t>Special case of </a:t>
            </a:r>
            <a:r>
              <a:rPr lang="en-US" dirty="0">
                <a:solidFill>
                  <a:schemeClr val="accent4">
                    <a:lumMod val="75000"/>
                  </a:schemeClr>
                </a:solidFill>
              </a:rPr>
              <a:t>real-time applications </a:t>
            </a:r>
            <a:r>
              <a:rPr lang="en-US" dirty="0"/>
              <a:t>- </a:t>
            </a:r>
          </a:p>
          <a:p>
            <a:pPr lvl="2">
              <a:lnSpc>
                <a:spcPct val="134000"/>
              </a:lnSpc>
              <a:spcBef>
                <a:spcPts val="600"/>
              </a:spcBef>
            </a:pPr>
            <a:r>
              <a:rPr lang="en-US" dirty="0"/>
              <a:t>Requires certain computations to be completed within a time limit. </a:t>
            </a:r>
          </a:p>
          <a:p>
            <a:pPr lvl="2">
              <a:lnSpc>
                <a:spcPct val="134000"/>
              </a:lnSpc>
              <a:spcBef>
                <a:spcPts val="600"/>
              </a:spcBef>
            </a:pPr>
            <a:r>
              <a:rPr lang="en-US" dirty="0"/>
              <a:t>Garbage collection must be suppressed while performing real-time tasks, or restrict maximum pause time. </a:t>
            </a:r>
          </a:p>
          <a:p>
            <a:pPr lvl="2">
              <a:lnSpc>
                <a:spcPct val="134000"/>
              </a:lnSpc>
              <a:spcBef>
                <a:spcPts val="600"/>
              </a:spcBef>
            </a:pPr>
            <a:r>
              <a:rPr lang="en-US" dirty="0"/>
              <a:t>In practice, garbage collection is seldom used in real-time applications.</a:t>
            </a:r>
          </a:p>
        </p:txBody>
      </p:sp>
      <p:sp>
        <p:nvSpPr>
          <p:cNvPr id="4" name="Slide Number Placeholder 3"/>
          <p:cNvSpPr>
            <a:spLocks noGrp="1"/>
          </p:cNvSpPr>
          <p:nvPr>
            <p:ph type="sldNum" sz="quarter" idx="12"/>
          </p:nvPr>
        </p:nvSpPr>
        <p:spPr/>
        <p:txBody>
          <a:bodyPr/>
          <a:lstStyle/>
          <a:p>
            <a:fld id="{EE645454-5A07-423E-8617-7239B6B66F68}" type="slidenum">
              <a:rPr lang="en-US" smtClean="0"/>
              <a:t>50</a:t>
            </a:fld>
            <a:endParaRPr lang="en-US"/>
          </a:p>
        </p:txBody>
      </p:sp>
    </p:spTree>
    <p:extLst>
      <p:ext uri="{BB962C8B-B14F-4D97-AF65-F5344CB8AC3E}">
        <p14:creationId xmlns:p14="http://schemas.microsoft.com/office/powerpoint/2010/main" val="1226704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Performance Metrics </a:t>
            </a:r>
          </a:p>
        </p:txBody>
      </p:sp>
      <p:sp>
        <p:nvSpPr>
          <p:cNvPr id="3" name="Content Placeholder 2"/>
          <p:cNvSpPr>
            <a:spLocks noGrp="1"/>
          </p:cNvSpPr>
          <p:nvPr>
            <p:ph idx="1"/>
          </p:nvPr>
        </p:nvSpPr>
        <p:spPr>
          <a:xfrm>
            <a:off x="838200" y="1156448"/>
            <a:ext cx="10739718" cy="5271246"/>
          </a:xfrm>
        </p:spPr>
        <p:txBody>
          <a:bodyPr>
            <a:normAutofit/>
          </a:bodyPr>
          <a:lstStyle/>
          <a:p>
            <a:pPr>
              <a:lnSpc>
                <a:spcPct val="134000"/>
              </a:lnSpc>
              <a:spcBef>
                <a:spcPts val="600"/>
              </a:spcBef>
            </a:pPr>
            <a:r>
              <a:rPr lang="en-US" dirty="0">
                <a:solidFill>
                  <a:srgbClr val="00B0F0"/>
                </a:solidFill>
              </a:rPr>
              <a:t>Program Locality</a:t>
            </a:r>
            <a:endParaRPr lang="en-US" dirty="0"/>
          </a:p>
          <a:p>
            <a:pPr lvl="1">
              <a:lnSpc>
                <a:spcPct val="134000"/>
              </a:lnSpc>
              <a:spcBef>
                <a:spcPts val="600"/>
              </a:spcBef>
            </a:pPr>
            <a:r>
              <a:rPr lang="en-US" dirty="0"/>
              <a:t>The garbage collector controls the placement of data and thus influences the data locality of the mutator program. </a:t>
            </a:r>
          </a:p>
          <a:p>
            <a:pPr lvl="1">
              <a:lnSpc>
                <a:spcPct val="134000"/>
              </a:lnSpc>
              <a:spcBef>
                <a:spcPts val="600"/>
              </a:spcBef>
            </a:pPr>
            <a:r>
              <a:rPr lang="en-US" dirty="0"/>
              <a:t>It can improve a mutator's temporal locality by freeing up space and reusing it</a:t>
            </a:r>
          </a:p>
          <a:p>
            <a:pPr lvl="1">
              <a:lnSpc>
                <a:spcPct val="134000"/>
              </a:lnSpc>
              <a:spcBef>
                <a:spcPts val="600"/>
              </a:spcBef>
            </a:pPr>
            <a:r>
              <a:rPr lang="en-US" dirty="0"/>
              <a:t>It can improve the mutator's spatial locality by relocating data used together in the same cache or pages </a:t>
            </a:r>
            <a:br>
              <a:rPr lang="en-US" dirty="0"/>
            </a:br>
            <a:endParaRPr lang="en-US" dirty="0"/>
          </a:p>
        </p:txBody>
      </p:sp>
      <p:sp>
        <p:nvSpPr>
          <p:cNvPr id="4" name="Slide Number Placeholder 3"/>
          <p:cNvSpPr>
            <a:spLocks noGrp="1"/>
          </p:cNvSpPr>
          <p:nvPr>
            <p:ph type="sldNum" sz="quarter" idx="12"/>
          </p:nvPr>
        </p:nvSpPr>
        <p:spPr/>
        <p:txBody>
          <a:bodyPr/>
          <a:lstStyle/>
          <a:p>
            <a:fld id="{EE645454-5A07-423E-8617-7239B6B66F68}" type="slidenum">
              <a:rPr lang="en-US" smtClean="0"/>
              <a:t>51</a:t>
            </a:fld>
            <a:endParaRPr lang="en-US"/>
          </a:p>
        </p:txBody>
      </p:sp>
    </p:spTree>
    <p:extLst>
      <p:ext uri="{BB962C8B-B14F-4D97-AF65-F5344CB8AC3E}">
        <p14:creationId xmlns:p14="http://schemas.microsoft.com/office/powerpoint/2010/main" val="773953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Reachability </a:t>
            </a:r>
          </a:p>
        </p:txBody>
      </p:sp>
      <p:sp>
        <p:nvSpPr>
          <p:cNvPr id="3" name="Content Placeholder 2"/>
          <p:cNvSpPr>
            <a:spLocks noGrp="1"/>
          </p:cNvSpPr>
          <p:nvPr>
            <p:ph idx="1"/>
          </p:nvPr>
        </p:nvSpPr>
        <p:spPr>
          <a:xfrm>
            <a:off x="838200" y="1156448"/>
            <a:ext cx="10739718" cy="5271246"/>
          </a:xfrm>
        </p:spPr>
        <p:txBody>
          <a:bodyPr>
            <a:normAutofit/>
          </a:bodyPr>
          <a:lstStyle/>
          <a:p>
            <a:pPr>
              <a:lnSpc>
                <a:spcPct val="134000"/>
              </a:lnSpc>
              <a:spcBef>
                <a:spcPts val="600"/>
              </a:spcBef>
            </a:pPr>
            <a:r>
              <a:rPr lang="en-US" dirty="0">
                <a:solidFill>
                  <a:srgbClr val="00B0F0"/>
                </a:solidFill>
              </a:rPr>
              <a:t>Root set</a:t>
            </a:r>
            <a:r>
              <a:rPr lang="en-US" dirty="0"/>
              <a:t>: all the data that can be accessed directly by a program, without having to dereference any pointer</a:t>
            </a:r>
          </a:p>
          <a:p>
            <a:pPr>
              <a:lnSpc>
                <a:spcPct val="134000"/>
              </a:lnSpc>
              <a:spcBef>
                <a:spcPts val="600"/>
              </a:spcBef>
            </a:pPr>
            <a:r>
              <a:rPr lang="en-US" dirty="0"/>
              <a:t>For example, in Java the root set of a program consists of </a:t>
            </a:r>
          </a:p>
          <a:p>
            <a:pPr lvl="1">
              <a:lnSpc>
                <a:spcPct val="134000"/>
              </a:lnSpc>
              <a:spcBef>
                <a:spcPts val="600"/>
              </a:spcBef>
            </a:pPr>
            <a:r>
              <a:rPr lang="en-US" dirty="0"/>
              <a:t>all the static field members and all the variable on its stack. </a:t>
            </a:r>
          </a:p>
          <a:p>
            <a:pPr>
              <a:lnSpc>
                <a:spcPct val="134000"/>
              </a:lnSpc>
              <a:spcBef>
                <a:spcPts val="600"/>
              </a:spcBef>
            </a:pPr>
            <a:r>
              <a:rPr lang="en-US" dirty="0"/>
              <a:t>A program obviously can </a:t>
            </a:r>
            <a:r>
              <a:rPr lang="en-US" dirty="0">
                <a:solidFill>
                  <a:srgbClr val="7030A0"/>
                </a:solidFill>
              </a:rPr>
              <a:t>reach</a:t>
            </a:r>
            <a:r>
              <a:rPr lang="en-US" dirty="0"/>
              <a:t> any member of its root set at any time. </a:t>
            </a:r>
          </a:p>
          <a:p>
            <a:pPr>
              <a:lnSpc>
                <a:spcPct val="134000"/>
              </a:lnSpc>
              <a:spcBef>
                <a:spcPts val="600"/>
              </a:spcBef>
            </a:pPr>
            <a:r>
              <a:rPr lang="en-US" dirty="0"/>
              <a:t>Recursively, any object with a reference that is stored in the field members or array elements of any </a:t>
            </a:r>
            <a:r>
              <a:rPr lang="en-US" dirty="0">
                <a:solidFill>
                  <a:srgbClr val="7030A0"/>
                </a:solidFill>
              </a:rPr>
              <a:t>reachable</a:t>
            </a:r>
            <a:r>
              <a:rPr lang="en-US" dirty="0"/>
              <a:t> object is itself </a:t>
            </a:r>
            <a:r>
              <a:rPr lang="en-US" dirty="0">
                <a:solidFill>
                  <a:srgbClr val="7030A0"/>
                </a:solidFill>
              </a:rPr>
              <a:t>reachable</a:t>
            </a:r>
            <a:r>
              <a:rPr lang="en-US" dirty="0"/>
              <a:t>.</a:t>
            </a:r>
          </a:p>
        </p:txBody>
      </p:sp>
      <p:sp>
        <p:nvSpPr>
          <p:cNvPr id="4" name="Slide Number Placeholder 3"/>
          <p:cNvSpPr>
            <a:spLocks noGrp="1"/>
          </p:cNvSpPr>
          <p:nvPr>
            <p:ph type="sldNum" sz="quarter" idx="12"/>
          </p:nvPr>
        </p:nvSpPr>
        <p:spPr/>
        <p:txBody>
          <a:bodyPr/>
          <a:lstStyle/>
          <a:p>
            <a:fld id="{EE645454-5A07-423E-8617-7239B6B66F68}" type="slidenum">
              <a:rPr lang="en-US" smtClean="0"/>
              <a:t>52</a:t>
            </a:fld>
            <a:endParaRPr lang="en-US"/>
          </a:p>
        </p:txBody>
      </p:sp>
    </p:spTree>
    <p:extLst>
      <p:ext uri="{BB962C8B-B14F-4D97-AF65-F5344CB8AC3E}">
        <p14:creationId xmlns:p14="http://schemas.microsoft.com/office/powerpoint/2010/main" val="1937443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Reachability (2)</a:t>
            </a:r>
          </a:p>
        </p:txBody>
      </p:sp>
      <p:sp>
        <p:nvSpPr>
          <p:cNvPr id="3" name="Content Placeholder 2"/>
          <p:cNvSpPr>
            <a:spLocks noGrp="1"/>
          </p:cNvSpPr>
          <p:nvPr>
            <p:ph idx="1"/>
          </p:nvPr>
        </p:nvSpPr>
        <p:spPr>
          <a:xfrm>
            <a:off x="838200" y="1156448"/>
            <a:ext cx="10739718" cy="5553634"/>
          </a:xfrm>
        </p:spPr>
        <p:txBody>
          <a:bodyPr>
            <a:normAutofit/>
          </a:bodyPr>
          <a:lstStyle/>
          <a:p>
            <a:pPr>
              <a:lnSpc>
                <a:spcPct val="134000"/>
              </a:lnSpc>
              <a:spcBef>
                <a:spcPts val="600"/>
              </a:spcBef>
            </a:pPr>
            <a:r>
              <a:rPr lang="en-US" dirty="0"/>
              <a:t>The set of reachable objects changes as a program executes. </a:t>
            </a:r>
          </a:p>
          <a:p>
            <a:pPr>
              <a:lnSpc>
                <a:spcPct val="134000"/>
              </a:lnSpc>
              <a:spcBef>
                <a:spcPts val="600"/>
              </a:spcBef>
            </a:pPr>
            <a:r>
              <a:rPr lang="en-US" dirty="0"/>
              <a:t>It grows as new objects get created and shrinks as objects become </a:t>
            </a:r>
            <a:r>
              <a:rPr lang="en-US" dirty="0">
                <a:solidFill>
                  <a:srgbClr val="7030A0"/>
                </a:solidFill>
              </a:rPr>
              <a:t>unreachable</a:t>
            </a:r>
            <a:r>
              <a:rPr lang="en-US" dirty="0"/>
              <a:t>. </a:t>
            </a:r>
          </a:p>
          <a:p>
            <a:pPr>
              <a:lnSpc>
                <a:spcPct val="134000"/>
              </a:lnSpc>
              <a:spcBef>
                <a:spcPts val="600"/>
              </a:spcBef>
            </a:pPr>
            <a:r>
              <a:rPr lang="en-US" dirty="0"/>
              <a:t>It is important to remember that once an object becomes </a:t>
            </a:r>
            <a:r>
              <a:rPr lang="en-US" dirty="0">
                <a:solidFill>
                  <a:srgbClr val="7030A0"/>
                </a:solidFill>
              </a:rPr>
              <a:t>unreachable</a:t>
            </a:r>
            <a:r>
              <a:rPr lang="en-US" dirty="0"/>
              <a:t>, it cannot become reachable again. </a:t>
            </a:r>
            <a:br>
              <a:rPr lang="en-US" dirty="0"/>
            </a:br>
            <a:endParaRPr lang="en-US" dirty="0"/>
          </a:p>
          <a:p>
            <a:pPr lvl="1">
              <a:lnSpc>
                <a:spcPct val="134000"/>
              </a:lnSpc>
              <a:spcBef>
                <a:spcPts val="600"/>
              </a:spcBef>
            </a:pPr>
            <a:endParaRPr lang="en-US" sz="2200" dirty="0"/>
          </a:p>
        </p:txBody>
      </p:sp>
      <p:sp>
        <p:nvSpPr>
          <p:cNvPr id="4" name="Slide Number Placeholder 3"/>
          <p:cNvSpPr>
            <a:spLocks noGrp="1"/>
          </p:cNvSpPr>
          <p:nvPr>
            <p:ph type="sldNum" sz="quarter" idx="12"/>
          </p:nvPr>
        </p:nvSpPr>
        <p:spPr/>
        <p:txBody>
          <a:bodyPr/>
          <a:lstStyle/>
          <a:p>
            <a:fld id="{EE645454-5A07-423E-8617-7239B6B66F68}" type="slidenum">
              <a:rPr lang="en-US" smtClean="0"/>
              <a:t>53</a:t>
            </a:fld>
            <a:endParaRPr lang="en-US"/>
          </a:p>
        </p:txBody>
      </p:sp>
    </p:spTree>
    <p:extLst>
      <p:ext uri="{BB962C8B-B14F-4D97-AF65-F5344CB8AC3E}">
        <p14:creationId xmlns:p14="http://schemas.microsoft.com/office/powerpoint/2010/main" val="396603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238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Reachability Changing Operations</a:t>
            </a:r>
          </a:p>
        </p:txBody>
      </p:sp>
      <p:sp>
        <p:nvSpPr>
          <p:cNvPr id="3" name="Content Placeholder 2"/>
          <p:cNvSpPr>
            <a:spLocks noGrp="1"/>
          </p:cNvSpPr>
          <p:nvPr>
            <p:ph idx="1"/>
          </p:nvPr>
        </p:nvSpPr>
        <p:spPr>
          <a:xfrm>
            <a:off x="838200" y="981636"/>
            <a:ext cx="10739718" cy="5728446"/>
          </a:xfrm>
        </p:spPr>
        <p:txBody>
          <a:bodyPr>
            <a:normAutofit fontScale="92500"/>
          </a:bodyPr>
          <a:lstStyle/>
          <a:p>
            <a:pPr>
              <a:lnSpc>
                <a:spcPct val="134000"/>
              </a:lnSpc>
              <a:spcBef>
                <a:spcPts val="600"/>
              </a:spcBef>
            </a:pPr>
            <a:r>
              <a:rPr lang="en-US" dirty="0"/>
              <a:t>There are four basic operations that a mutator performs to change the set of reachable objects.</a:t>
            </a:r>
          </a:p>
          <a:p>
            <a:pPr>
              <a:lnSpc>
                <a:spcPct val="134000"/>
              </a:lnSpc>
              <a:spcBef>
                <a:spcPts val="600"/>
              </a:spcBef>
            </a:pPr>
            <a:r>
              <a:rPr lang="en-US" dirty="0">
                <a:solidFill>
                  <a:srgbClr val="00B0F0"/>
                </a:solidFill>
              </a:rPr>
              <a:t>Object Allocations </a:t>
            </a:r>
          </a:p>
          <a:p>
            <a:pPr lvl="1">
              <a:lnSpc>
                <a:spcPct val="134000"/>
              </a:lnSpc>
              <a:spcBef>
                <a:spcPts val="600"/>
              </a:spcBef>
            </a:pPr>
            <a:r>
              <a:rPr lang="en-US" dirty="0"/>
              <a:t>Performed by the memory manager, which  returns a reference to each newly allocated chunk of memory.</a:t>
            </a:r>
          </a:p>
          <a:p>
            <a:pPr lvl="1">
              <a:lnSpc>
                <a:spcPct val="134000"/>
              </a:lnSpc>
              <a:spcBef>
                <a:spcPts val="600"/>
              </a:spcBef>
            </a:pPr>
            <a:r>
              <a:rPr lang="en-US" dirty="0"/>
              <a:t>This operation adds members to the set of reachable objects.</a:t>
            </a:r>
          </a:p>
          <a:p>
            <a:pPr>
              <a:lnSpc>
                <a:spcPct val="134000"/>
              </a:lnSpc>
              <a:spcBef>
                <a:spcPts val="600"/>
              </a:spcBef>
            </a:pPr>
            <a:r>
              <a:rPr lang="en-US" dirty="0">
                <a:solidFill>
                  <a:srgbClr val="00B050"/>
                </a:solidFill>
              </a:rPr>
              <a:t>Parameter Passing and Return Values</a:t>
            </a:r>
          </a:p>
          <a:p>
            <a:pPr lvl="1">
              <a:lnSpc>
                <a:spcPct val="134000"/>
              </a:lnSpc>
              <a:spcBef>
                <a:spcPts val="600"/>
              </a:spcBef>
            </a:pPr>
            <a:r>
              <a:rPr lang="en-US" dirty="0"/>
              <a:t>References to objects are passed from the actual input parameter to the corresponding formal parameter, and from the returned result back to the </a:t>
            </a:r>
            <a:r>
              <a:rPr lang="en-US" dirty="0" err="1"/>
              <a:t>callee</a:t>
            </a:r>
            <a:r>
              <a:rPr lang="en-US" dirty="0"/>
              <a:t>. </a:t>
            </a:r>
          </a:p>
          <a:p>
            <a:pPr lvl="1">
              <a:lnSpc>
                <a:spcPct val="134000"/>
              </a:lnSpc>
              <a:spcBef>
                <a:spcPts val="600"/>
              </a:spcBef>
            </a:pPr>
            <a:r>
              <a:rPr lang="en-US" dirty="0"/>
              <a:t>Objects pointed to by these references remain reachable.</a:t>
            </a:r>
          </a:p>
        </p:txBody>
      </p:sp>
      <p:sp>
        <p:nvSpPr>
          <p:cNvPr id="4" name="Slide Number Placeholder 3"/>
          <p:cNvSpPr>
            <a:spLocks noGrp="1"/>
          </p:cNvSpPr>
          <p:nvPr>
            <p:ph type="sldNum" sz="quarter" idx="12"/>
          </p:nvPr>
        </p:nvSpPr>
        <p:spPr/>
        <p:txBody>
          <a:bodyPr/>
          <a:lstStyle/>
          <a:p>
            <a:fld id="{EE645454-5A07-423E-8617-7239B6B66F68}" type="slidenum">
              <a:rPr lang="en-US" smtClean="0"/>
              <a:t>54</a:t>
            </a:fld>
            <a:endParaRPr lang="en-US"/>
          </a:p>
        </p:txBody>
      </p:sp>
    </p:spTree>
    <p:extLst>
      <p:ext uri="{BB962C8B-B14F-4D97-AF65-F5344CB8AC3E}">
        <p14:creationId xmlns:p14="http://schemas.microsoft.com/office/powerpoint/2010/main" val="387610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81636"/>
            <a:ext cx="10739718" cy="5728446"/>
          </a:xfrm>
        </p:spPr>
        <p:txBody>
          <a:bodyPr>
            <a:normAutofit fontScale="92500" lnSpcReduction="20000"/>
          </a:bodyPr>
          <a:lstStyle/>
          <a:p>
            <a:pPr>
              <a:lnSpc>
                <a:spcPct val="134000"/>
              </a:lnSpc>
              <a:spcBef>
                <a:spcPts val="600"/>
              </a:spcBef>
            </a:pPr>
            <a:r>
              <a:rPr lang="en-US" dirty="0">
                <a:solidFill>
                  <a:srgbClr val="00B0F0"/>
                </a:solidFill>
              </a:rPr>
              <a:t>Reference Assignments </a:t>
            </a:r>
          </a:p>
          <a:p>
            <a:pPr lvl="1">
              <a:lnSpc>
                <a:spcPct val="120000"/>
              </a:lnSpc>
              <a:spcBef>
                <a:spcPts val="0"/>
              </a:spcBef>
              <a:spcAft>
                <a:spcPts val="600"/>
              </a:spcAft>
            </a:pPr>
            <a:r>
              <a:rPr lang="en-US" dirty="0"/>
              <a:t>Assignments of the form u = v, where u and v are references, have two effects. </a:t>
            </a:r>
          </a:p>
          <a:p>
            <a:pPr lvl="1">
              <a:lnSpc>
                <a:spcPct val="120000"/>
              </a:lnSpc>
              <a:spcBef>
                <a:spcPts val="0"/>
              </a:spcBef>
              <a:spcAft>
                <a:spcPts val="600"/>
              </a:spcAft>
            </a:pPr>
            <a:r>
              <a:rPr lang="en-US" dirty="0"/>
              <a:t>First, u is now a reference to the object referred to by v .  As long as u is reachable, the object it refers to is surely reachable. </a:t>
            </a:r>
          </a:p>
          <a:p>
            <a:pPr lvl="1">
              <a:lnSpc>
                <a:spcPct val="120000"/>
              </a:lnSpc>
              <a:spcBef>
                <a:spcPts val="0"/>
              </a:spcBef>
              <a:spcAft>
                <a:spcPts val="600"/>
              </a:spcAft>
            </a:pPr>
            <a:r>
              <a:rPr lang="en-US" dirty="0"/>
              <a:t>Second, the original reference in u is lost. If this reference is the last to some reachable object, then that object becomes unreachable.</a:t>
            </a:r>
          </a:p>
          <a:p>
            <a:pPr lvl="1">
              <a:lnSpc>
                <a:spcPct val="120000"/>
              </a:lnSpc>
              <a:spcBef>
                <a:spcPts val="0"/>
              </a:spcBef>
              <a:spcAft>
                <a:spcPts val="600"/>
              </a:spcAft>
            </a:pPr>
            <a:r>
              <a:rPr lang="en-US" dirty="0"/>
              <a:t>Any time an object becomes unreachable, all objects that are reachable only through references contained in that object also become unreachable.</a:t>
            </a:r>
          </a:p>
          <a:p>
            <a:pPr>
              <a:lnSpc>
                <a:spcPct val="134000"/>
              </a:lnSpc>
              <a:spcBef>
                <a:spcPts val="600"/>
              </a:spcBef>
            </a:pPr>
            <a:r>
              <a:rPr lang="en-US" dirty="0">
                <a:solidFill>
                  <a:srgbClr val="00B050"/>
                </a:solidFill>
              </a:rPr>
              <a:t>Procedure Returns </a:t>
            </a:r>
          </a:p>
          <a:p>
            <a:pPr lvl="1">
              <a:lnSpc>
                <a:spcPct val="120000"/>
              </a:lnSpc>
              <a:spcBef>
                <a:spcPts val="0"/>
              </a:spcBef>
              <a:spcAft>
                <a:spcPts val="600"/>
              </a:spcAft>
            </a:pPr>
            <a:r>
              <a:rPr lang="en-US" dirty="0"/>
              <a:t>As a procedure exits, the frame holding its local variables is popped off the stack. </a:t>
            </a:r>
          </a:p>
          <a:p>
            <a:pPr lvl="1">
              <a:lnSpc>
                <a:spcPct val="120000"/>
              </a:lnSpc>
              <a:spcBef>
                <a:spcPts val="0"/>
              </a:spcBef>
              <a:spcAft>
                <a:spcPts val="600"/>
              </a:spcAft>
            </a:pPr>
            <a:r>
              <a:rPr lang="en-US" dirty="0"/>
              <a:t>If the frame holds the only reachable reference to any object, that object becomes unreachable. </a:t>
            </a:r>
          </a:p>
          <a:p>
            <a:pPr lvl="1">
              <a:lnSpc>
                <a:spcPct val="120000"/>
              </a:lnSpc>
              <a:spcBef>
                <a:spcPts val="0"/>
              </a:spcBef>
              <a:spcAft>
                <a:spcPts val="600"/>
              </a:spcAft>
            </a:pPr>
            <a:r>
              <a:rPr lang="en-US" dirty="0"/>
              <a:t>Again, if the now unreachable objects hold the only references to other objects, they too become unreachable, and so on. </a:t>
            </a:r>
          </a:p>
        </p:txBody>
      </p:sp>
      <p:sp>
        <p:nvSpPr>
          <p:cNvPr id="4" name="Slide Number Placeholder 3"/>
          <p:cNvSpPr>
            <a:spLocks noGrp="1"/>
          </p:cNvSpPr>
          <p:nvPr>
            <p:ph type="sldNum" sz="quarter" idx="12"/>
          </p:nvPr>
        </p:nvSpPr>
        <p:spPr/>
        <p:txBody>
          <a:bodyPr/>
          <a:lstStyle/>
          <a:p>
            <a:fld id="{EE645454-5A07-423E-8617-7239B6B66F68}" type="slidenum">
              <a:rPr lang="en-US" smtClean="0"/>
              <a:t>55</a:t>
            </a:fld>
            <a:endParaRPr lang="en-US"/>
          </a:p>
        </p:txBody>
      </p:sp>
      <p:sp>
        <p:nvSpPr>
          <p:cNvPr id="8" name="Title 1">
            <a:extLst>
              <a:ext uri="{FF2B5EF4-FFF2-40B4-BE49-F238E27FC236}">
                <a16:creationId xmlns:a16="http://schemas.microsoft.com/office/drawing/2014/main" id="{0E5AE824-21A5-AF2A-93A6-8076A2750F51}"/>
              </a:ext>
            </a:extLst>
          </p:cNvPr>
          <p:cNvSpPr txBox="1">
            <a:spLocks/>
          </p:cNvSpPr>
          <p:nvPr/>
        </p:nvSpPr>
        <p:spPr>
          <a:xfrm>
            <a:off x="838200" y="282388"/>
            <a:ext cx="10515600" cy="6992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solidFill>
                  <a:schemeClr val="accent5">
                    <a:lumMod val="50000"/>
                  </a:schemeClr>
                </a:solidFill>
                <a:effectLst>
                  <a:outerShdw blurRad="50800" dist="38100" dir="2700000" algn="tl" rotWithShape="0">
                    <a:prstClr val="black">
                      <a:alpha val="40000"/>
                    </a:prstClr>
                  </a:outerShdw>
                </a:effectLst>
              </a:rPr>
              <a:t>Reachability Changing Operations (2)</a:t>
            </a:r>
          </a:p>
        </p:txBody>
      </p:sp>
    </p:spTree>
    <p:extLst>
      <p:ext uri="{BB962C8B-B14F-4D97-AF65-F5344CB8AC3E}">
        <p14:creationId xmlns:p14="http://schemas.microsoft.com/office/powerpoint/2010/main" val="1318654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Finding Unreachable Objects</a:t>
            </a:r>
          </a:p>
        </p:txBody>
      </p:sp>
      <p:sp>
        <p:nvSpPr>
          <p:cNvPr id="3" name="Content Placeholder 2"/>
          <p:cNvSpPr>
            <a:spLocks noGrp="1"/>
          </p:cNvSpPr>
          <p:nvPr>
            <p:ph idx="1"/>
          </p:nvPr>
        </p:nvSpPr>
        <p:spPr>
          <a:xfrm>
            <a:off x="838200" y="981636"/>
            <a:ext cx="10739718" cy="5728446"/>
          </a:xfrm>
        </p:spPr>
        <p:txBody>
          <a:bodyPr>
            <a:normAutofit/>
          </a:bodyPr>
          <a:lstStyle/>
          <a:p>
            <a:pPr>
              <a:lnSpc>
                <a:spcPct val="100000"/>
              </a:lnSpc>
              <a:spcBef>
                <a:spcPts val="0"/>
              </a:spcBef>
              <a:spcAft>
                <a:spcPts val="600"/>
              </a:spcAft>
            </a:pPr>
            <a:r>
              <a:rPr lang="en-US" dirty="0"/>
              <a:t>There are </a:t>
            </a:r>
            <a:r>
              <a:rPr lang="en-US" dirty="0">
                <a:solidFill>
                  <a:schemeClr val="accent4">
                    <a:lumMod val="75000"/>
                  </a:schemeClr>
                </a:solidFill>
              </a:rPr>
              <a:t>two basic ways</a:t>
            </a:r>
            <a:r>
              <a:rPr lang="en-US" dirty="0"/>
              <a:t> to find unreachable objects. </a:t>
            </a:r>
          </a:p>
          <a:p>
            <a:pPr marL="457200" lvl="1" indent="0">
              <a:lnSpc>
                <a:spcPct val="100000"/>
              </a:lnSpc>
              <a:spcBef>
                <a:spcPts val="0"/>
              </a:spcBef>
              <a:spcAft>
                <a:spcPts val="600"/>
              </a:spcAft>
              <a:buNone/>
            </a:pPr>
            <a:r>
              <a:rPr lang="en-US" dirty="0"/>
              <a:t>1. Catch the transitions as reachable objects turn unreachable, </a:t>
            </a:r>
          </a:p>
          <a:p>
            <a:pPr marL="457200" lvl="1" indent="0">
              <a:lnSpc>
                <a:spcPct val="100000"/>
              </a:lnSpc>
              <a:spcBef>
                <a:spcPts val="0"/>
              </a:spcBef>
              <a:spcAft>
                <a:spcPts val="1200"/>
              </a:spcAft>
              <a:buNone/>
            </a:pPr>
            <a:r>
              <a:rPr lang="en-US" dirty="0"/>
              <a:t>2. Periodically locate all the reachable objects and then infer that all the other objects are unreachable. </a:t>
            </a:r>
          </a:p>
          <a:p>
            <a:pPr>
              <a:lnSpc>
                <a:spcPct val="100000"/>
              </a:lnSpc>
              <a:spcBef>
                <a:spcPts val="0"/>
              </a:spcBef>
              <a:spcAft>
                <a:spcPts val="600"/>
              </a:spcAft>
            </a:pPr>
            <a:r>
              <a:rPr lang="en-US" dirty="0">
                <a:solidFill>
                  <a:srgbClr val="00B0F0"/>
                </a:solidFill>
              </a:rPr>
              <a:t>Reference counting</a:t>
            </a:r>
            <a:r>
              <a:rPr lang="en-US" dirty="0"/>
              <a:t>,  is a well-known approximation  to the first approach. </a:t>
            </a:r>
          </a:p>
          <a:p>
            <a:pPr lvl="1">
              <a:lnSpc>
                <a:spcPct val="100000"/>
              </a:lnSpc>
              <a:spcBef>
                <a:spcPts val="0"/>
              </a:spcBef>
              <a:spcAft>
                <a:spcPts val="600"/>
              </a:spcAft>
            </a:pPr>
            <a:r>
              <a:rPr lang="en-US" dirty="0"/>
              <a:t>A count of the references to an object is maintained, as the mutator performs actions that may change the reachability set. </a:t>
            </a:r>
          </a:p>
          <a:p>
            <a:pPr lvl="1">
              <a:lnSpc>
                <a:spcPct val="100000"/>
              </a:lnSpc>
              <a:spcBef>
                <a:spcPts val="0"/>
              </a:spcBef>
              <a:spcAft>
                <a:spcPts val="600"/>
              </a:spcAft>
            </a:pPr>
            <a:r>
              <a:rPr lang="en-US" dirty="0"/>
              <a:t>When the count goes to zero, the object becomes unreachable. </a:t>
            </a:r>
          </a:p>
        </p:txBody>
      </p:sp>
      <p:sp>
        <p:nvSpPr>
          <p:cNvPr id="4" name="Slide Number Placeholder 3"/>
          <p:cNvSpPr>
            <a:spLocks noGrp="1"/>
          </p:cNvSpPr>
          <p:nvPr>
            <p:ph type="sldNum" sz="quarter" idx="12"/>
          </p:nvPr>
        </p:nvSpPr>
        <p:spPr/>
        <p:txBody>
          <a:bodyPr/>
          <a:lstStyle/>
          <a:p>
            <a:fld id="{EE645454-5A07-423E-8617-7239B6B66F68}" type="slidenum">
              <a:rPr lang="en-US" smtClean="0"/>
              <a:t>56</a:t>
            </a:fld>
            <a:endParaRPr lang="en-US"/>
          </a:p>
        </p:txBody>
      </p:sp>
    </p:spTree>
    <p:extLst>
      <p:ext uri="{BB962C8B-B14F-4D97-AF65-F5344CB8AC3E}">
        <p14:creationId xmlns:p14="http://schemas.microsoft.com/office/powerpoint/2010/main" val="2069697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Finding Unreachable Objects (2)</a:t>
            </a:r>
          </a:p>
        </p:txBody>
      </p:sp>
      <p:sp>
        <p:nvSpPr>
          <p:cNvPr id="3" name="Content Placeholder 2"/>
          <p:cNvSpPr>
            <a:spLocks noGrp="1"/>
          </p:cNvSpPr>
          <p:nvPr>
            <p:ph idx="1"/>
          </p:nvPr>
        </p:nvSpPr>
        <p:spPr>
          <a:xfrm>
            <a:off x="838200" y="981636"/>
            <a:ext cx="10739718" cy="5728446"/>
          </a:xfrm>
        </p:spPr>
        <p:txBody>
          <a:bodyPr>
            <a:normAutofit fontScale="85000" lnSpcReduction="20000"/>
          </a:bodyPr>
          <a:lstStyle/>
          <a:p>
            <a:pPr>
              <a:lnSpc>
                <a:spcPct val="134000"/>
              </a:lnSpc>
              <a:spcBef>
                <a:spcPts val="600"/>
              </a:spcBef>
            </a:pPr>
            <a:r>
              <a:rPr lang="en-US" dirty="0"/>
              <a:t>The second approach computes reachability by </a:t>
            </a:r>
            <a:r>
              <a:rPr lang="en-US" dirty="0">
                <a:solidFill>
                  <a:srgbClr val="00B0F0"/>
                </a:solidFill>
              </a:rPr>
              <a:t>tracing</a:t>
            </a:r>
            <a:r>
              <a:rPr lang="en-US" dirty="0"/>
              <a:t> all the references transitively. </a:t>
            </a:r>
          </a:p>
          <a:p>
            <a:pPr>
              <a:lnSpc>
                <a:spcPct val="134000"/>
              </a:lnSpc>
              <a:spcBef>
                <a:spcPts val="600"/>
              </a:spcBef>
            </a:pPr>
            <a:r>
              <a:rPr lang="en-US" dirty="0"/>
              <a:t>A </a:t>
            </a:r>
            <a:r>
              <a:rPr lang="en-US" dirty="0">
                <a:solidFill>
                  <a:srgbClr val="7030A0"/>
                </a:solidFill>
              </a:rPr>
              <a:t>trace-based garbage collector </a:t>
            </a:r>
          </a:p>
          <a:p>
            <a:pPr lvl="1">
              <a:lnSpc>
                <a:spcPct val="134000"/>
              </a:lnSpc>
              <a:spcBef>
                <a:spcPts val="600"/>
              </a:spcBef>
            </a:pPr>
            <a:r>
              <a:rPr lang="en-US" sz="2600" dirty="0"/>
              <a:t>starts by labeling ( "marking" ) all objects in the root set as "reachable," </a:t>
            </a:r>
          </a:p>
          <a:p>
            <a:pPr lvl="1">
              <a:lnSpc>
                <a:spcPct val="134000"/>
              </a:lnSpc>
              <a:spcBef>
                <a:spcPts val="600"/>
              </a:spcBef>
            </a:pPr>
            <a:r>
              <a:rPr lang="en-US" sz="2600" dirty="0"/>
              <a:t>examines iteratively all the references in reachable objects to find more reachable objects, and labels them as such. </a:t>
            </a:r>
          </a:p>
          <a:p>
            <a:pPr>
              <a:lnSpc>
                <a:spcPct val="134000"/>
              </a:lnSpc>
              <a:spcBef>
                <a:spcPts val="600"/>
              </a:spcBef>
            </a:pPr>
            <a:r>
              <a:rPr lang="en-US" dirty="0"/>
              <a:t>This approach must trace all the references before it can determine any object to be unreachable. </a:t>
            </a:r>
          </a:p>
          <a:p>
            <a:pPr>
              <a:lnSpc>
                <a:spcPct val="134000"/>
              </a:lnSpc>
              <a:spcBef>
                <a:spcPts val="600"/>
              </a:spcBef>
            </a:pPr>
            <a:r>
              <a:rPr lang="en-US" dirty="0"/>
              <a:t>But once the reachable set is computed, it can find many unreachable objects all at once and locate a good deal of free storage at the same time. </a:t>
            </a:r>
          </a:p>
          <a:p>
            <a:pPr>
              <a:lnSpc>
                <a:spcPct val="134000"/>
              </a:lnSpc>
              <a:spcBef>
                <a:spcPts val="600"/>
              </a:spcBef>
            </a:pPr>
            <a:r>
              <a:rPr lang="en-US" dirty="0"/>
              <a:t>Because all the references must be analyzed at the same time, it is possible to relocate the reachable objects and thereby reduce fragmentation.</a:t>
            </a:r>
          </a:p>
        </p:txBody>
      </p:sp>
      <p:sp>
        <p:nvSpPr>
          <p:cNvPr id="4" name="Slide Number Placeholder 3"/>
          <p:cNvSpPr>
            <a:spLocks noGrp="1"/>
          </p:cNvSpPr>
          <p:nvPr>
            <p:ph type="sldNum" sz="quarter" idx="12"/>
          </p:nvPr>
        </p:nvSpPr>
        <p:spPr/>
        <p:txBody>
          <a:bodyPr/>
          <a:lstStyle/>
          <a:p>
            <a:fld id="{EE645454-5A07-423E-8617-7239B6B66F68}" type="slidenum">
              <a:rPr lang="en-US" smtClean="0"/>
              <a:t>57</a:t>
            </a:fld>
            <a:endParaRPr lang="en-US"/>
          </a:p>
        </p:txBody>
      </p:sp>
    </p:spTree>
    <p:extLst>
      <p:ext uri="{BB962C8B-B14F-4D97-AF65-F5344CB8AC3E}">
        <p14:creationId xmlns:p14="http://schemas.microsoft.com/office/powerpoint/2010/main" val="2220453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Reference Counting Garbage Collectors</a:t>
            </a:r>
          </a:p>
        </p:txBody>
      </p:sp>
      <p:sp>
        <p:nvSpPr>
          <p:cNvPr id="3" name="Content Placeholder 2"/>
          <p:cNvSpPr>
            <a:spLocks noGrp="1"/>
          </p:cNvSpPr>
          <p:nvPr>
            <p:ph idx="1"/>
          </p:nvPr>
        </p:nvSpPr>
        <p:spPr>
          <a:xfrm>
            <a:off x="838200" y="981636"/>
            <a:ext cx="10739718" cy="5728446"/>
          </a:xfrm>
        </p:spPr>
        <p:txBody>
          <a:bodyPr>
            <a:normAutofit/>
          </a:bodyPr>
          <a:lstStyle/>
          <a:p>
            <a:pPr>
              <a:lnSpc>
                <a:spcPct val="134000"/>
              </a:lnSpc>
              <a:spcBef>
                <a:spcPts val="600"/>
              </a:spcBef>
            </a:pPr>
            <a:r>
              <a:rPr lang="en-US" dirty="0"/>
              <a:t>A simple framework for garbage collection.</a:t>
            </a:r>
          </a:p>
          <a:p>
            <a:pPr lvl="1">
              <a:lnSpc>
                <a:spcPct val="134000"/>
              </a:lnSpc>
              <a:spcBef>
                <a:spcPts val="600"/>
              </a:spcBef>
            </a:pPr>
            <a:r>
              <a:rPr lang="en-US" dirty="0"/>
              <a:t>Though it has several serious weaknesses!</a:t>
            </a:r>
          </a:p>
          <a:p>
            <a:pPr>
              <a:lnSpc>
                <a:spcPct val="134000"/>
              </a:lnSpc>
              <a:spcBef>
                <a:spcPts val="600"/>
              </a:spcBef>
            </a:pPr>
            <a:r>
              <a:rPr lang="en-US" dirty="0">
                <a:solidFill>
                  <a:srgbClr val="00B0F0"/>
                </a:solidFill>
              </a:rPr>
              <a:t>Idea</a:t>
            </a:r>
            <a:r>
              <a:rPr lang="en-US" dirty="0"/>
              <a:t>: Store in each object a </a:t>
            </a:r>
            <a:r>
              <a:rPr lang="en-US" b="1" dirty="0"/>
              <a:t>reference count </a:t>
            </a:r>
            <a:r>
              <a:rPr lang="en-US" dirty="0"/>
              <a:t>(</a:t>
            </a:r>
            <a:r>
              <a:rPr lang="en-US" b="1" dirty="0" err="1"/>
              <a:t>refcount</a:t>
            </a:r>
            <a:r>
              <a:rPr lang="en-US" dirty="0"/>
              <a:t>) tracking how many references exist to the object. </a:t>
            </a:r>
          </a:p>
        </p:txBody>
      </p:sp>
      <p:sp>
        <p:nvSpPr>
          <p:cNvPr id="4" name="Slide Number Placeholder 3"/>
          <p:cNvSpPr>
            <a:spLocks noGrp="1"/>
          </p:cNvSpPr>
          <p:nvPr>
            <p:ph type="sldNum" sz="quarter" idx="12"/>
          </p:nvPr>
        </p:nvSpPr>
        <p:spPr/>
        <p:txBody>
          <a:bodyPr/>
          <a:lstStyle/>
          <a:p>
            <a:fld id="{EE645454-5A07-423E-8617-7239B6B66F68}" type="slidenum">
              <a:rPr lang="en-US" smtClean="0"/>
              <a:t>58</a:t>
            </a:fld>
            <a:endParaRPr lang="en-US"/>
          </a:p>
        </p:txBody>
      </p:sp>
    </p:spTree>
    <p:extLst>
      <p:ext uri="{BB962C8B-B14F-4D97-AF65-F5344CB8AC3E}">
        <p14:creationId xmlns:p14="http://schemas.microsoft.com/office/powerpoint/2010/main" val="361821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Tracking Reference Count</a:t>
            </a:r>
          </a:p>
        </p:txBody>
      </p:sp>
      <p:sp>
        <p:nvSpPr>
          <p:cNvPr id="3" name="Content Placeholder 2"/>
          <p:cNvSpPr>
            <a:spLocks noGrp="1"/>
          </p:cNvSpPr>
          <p:nvPr>
            <p:ph idx="1"/>
          </p:nvPr>
        </p:nvSpPr>
        <p:spPr>
          <a:xfrm>
            <a:off x="838200" y="981636"/>
            <a:ext cx="10739718" cy="5728446"/>
          </a:xfrm>
        </p:spPr>
        <p:txBody>
          <a:bodyPr>
            <a:noAutofit/>
          </a:bodyPr>
          <a:lstStyle/>
          <a:p>
            <a:pPr>
              <a:lnSpc>
                <a:spcPct val="100000"/>
              </a:lnSpc>
              <a:spcBef>
                <a:spcPts val="0"/>
              </a:spcBef>
              <a:spcAft>
                <a:spcPts val="600"/>
              </a:spcAft>
            </a:pPr>
            <a:r>
              <a:rPr lang="en-US" dirty="0"/>
              <a:t>Reference counts can be maintained as follows:</a:t>
            </a:r>
          </a:p>
          <a:p>
            <a:pPr lvl="1">
              <a:lnSpc>
                <a:spcPct val="100000"/>
              </a:lnSpc>
              <a:spcBef>
                <a:spcPts val="0"/>
              </a:spcBef>
              <a:spcAft>
                <a:spcPts val="600"/>
              </a:spcAft>
            </a:pPr>
            <a:r>
              <a:rPr lang="en-US" dirty="0">
                <a:solidFill>
                  <a:srgbClr val="00B0F0"/>
                </a:solidFill>
              </a:rPr>
              <a:t>Object Allocation.</a:t>
            </a:r>
            <a:r>
              <a:rPr lang="en-US" dirty="0"/>
              <a:t> The reference count of the new object is set to 1.</a:t>
            </a:r>
          </a:p>
          <a:p>
            <a:pPr lvl="1">
              <a:lnSpc>
                <a:spcPct val="100000"/>
              </a:lnSpc>
              <a:spcBef>
                <a:spcPts val="0"/>
              </a:spcBef>
              <a:spcAft>
                <a:spcPts val="600"/>
              </a:spcAft>
            </a:pPr>
            <a:r>
              <a:rPr lang="en-US" dirty="0">
                <a:solidFill>
                  <a:schemeClr val="accent2">
                    <a:lumMod val="75000"/>
                  </a:schemeClr>
                </a:solidFill>
              </a:rPr>
              <a:t>Parameter Passing.</a:t>
            </a:r>
            <a:r>
              <a:rPr lang="en-US" dirty="0"/>
              <a:t> The reference count of each object passed into a procedure is incremented.</a:t>
            </a:r>
          </a:p>
          <a:p>
            <a:pPr lvl="1">
              <a:lnSpc>
                <a:spcPct val="100000"/>
              </a:lnSpc>
              <a:spcBef>
                <a:spcPts val="0"/>
              </a:spcBef>
              <a:spcAft>
                <a:spcPts val="600"/>
              </a:spcAft>
            </a:pPr>
            <a:r>
              <a:rPr lang="en-US" dirty="0">
                <a:solidFill>
                  <a:schemeClr val="accent6">
                    <a:lumMod val="75000"/>
                  </a:schemeClr>
                </a:solidFill>
              </a:rPr>
              <a:t>Reference Assignments.</a:t>
            </a:r>
            <a:r>
              <a:rPr lang="en-US" dirty="0"/>
              <a:t> For statement u = v, where u and v are references, the reference count of the object referred to by v goes up by one, and the count for the old object referred to by u goes down by one. </a:t>
            </a:r>
          </a:p>
          <a:p>
            <a:pPr lvl="1">
              <a:lnSpc>
                <a:spcPct val="100000"/>
              </a:lnSpc>
              <a:spcBef>
                <a:spcPts val="0"/>
              </a:spcBef>
              <a:spcAft>
                <a:spcPts val="600"/>
              </a:spcAft>
            </a:pPr>
            <a:r>
              <a:rPr lang="en-US" dirty="0">
                <a:solidFill>
                  <a:schemeClr val="accent1">
                    <a:lumMod val="75000"/>
                  </a:schemeClr>
                </a:solidFill>
              </a:rPr>
              <a:t>Procedure Returns.</a:t>
            </a:r>
            <a:r>
              <a:rPr lang="en-US" dirty="0"/>
              <a:t> As a procedure exits, all the references held by the local variables of that procedure activation record must also be decremented. </a:t>
            </a:r>
          </a:p>
          <a:p>
            <a:pPr lvl="2">
              <a:lnSpc>
                <a:spcPct val="100000"/>
              </a:lnSpc>
              <a:spcBef>
                <a:spcPts val="0"/>
              </a:spcBef>
              <a:spcAft>
                <a:spcPts val="600"/>
              </a:spcAft>
            </a:pPr>
            <a:r>
              <a:rPr lang="en-US" sz="2200" dirty="0"/>
              <a:t>If several local variables hold references to the same object, that object's count must be decremented once for each such reference.</a:t>
            </a:r>
          </a:p>
          <a:p>
            <a:pPr lvl="1">
              <a:lnSpc>
                <a:spcPct val="100000"/>
              </a:lnSpc>
              <a:spcBef>
                <a:spcPts val="0"/>
              </a:spcBef>
              <a:spcAft>
                <a:spcPts val="600"/>
              </a:spcAft>
            </a:pPr>
            <a:r>
              <a:rPr lang="en-US" dirty="0">
                <a:solidFill>
                  <a:srgbClr val="7030A0"/>
                </a:solidFill>
              </a:rPr>
              <a:t>Transitive Loss of Reachability.</a:t>
            </a:r>
            <a:r>
              <a:rPr lang="en-US" dirty="0"/>
              <a:t> Whenever the reference count of an object becomes zero, we must also decrement the count of each object pointed to by a reference within the object. </a:t>
            </a:r>
          </a:p>
        </p:txBody>
      </p:sp>
      <p:sp>
        <p:nvSpPr>
          <p:cNvPr id="4" name="Slide Number Placeholder 3"/>
          <p:cNvSpPr>
            <a:spLocks noGrp="1"/>
          </p:cNvSpPr>
          <p:nvPr>
            <p:ph type="sldNum" sz="quarter" idx="12"/>
          </p:nvPr>
        </p:nvSpPr>
        <p:spPr/>
        <p:txBody>
          <a:bodyPr/>
          <a:lstStyle/>
          <a:p>
            <a:fld id="{EE645454-5A07-423E-8617-7239B6B66F68}" type="slidenum">
              <a:rPr lang="en-US" smtClean="0"/>
              <a:t>59</a:t>
            </a:fld>
            <a:endParaRPr lang="en-US"/>
          </a:p>
        </p:txBody>
      </p:sp>
    </p:spTree>
    <p:extLst>
      <p:ext uri="{BB962C8B-B14F-4D97-AF65-F5344CB8AC3E}">
        <p14:creationId xmlns:p14="http://schemas.microsoft.com/office/powerpoint/2010/main" val="1858529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236"/>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Reference Counting in Action</a:t>
            </a:r>
          </a:p>
        </p:txBody>
      </p:sp>
      <p:sp>
        <p:nvSpPr>
          <p:cNvPr id="3" name="Rectangle 2"/>
          <p:cNvSpPr/>
          <p:nvPr/>
        </p:nvSpPr>
        <p:spPr>
          <a:xfrm>
            <a:off x="452718" y="1201795"/>
            <a:ext cx="6096000" cy="5144998"/>
          </a:xfrm>
          <a:prstGeom prst="rect">
            <a:avLst/>
          </a:prstGeom>
        </p:spPr>
        <p:txBody>
          <a:bodyPr>
            <a:spAutoFit/>
          </a:bodyPr>
          <a:lstStyle/>
          <a:p>
            <a:pPr>
              <a:lnSpc>
                <a:spcPct val="114000"/>
              </a:lnSpc>
            </a:pPr>
            <a:r>
              <a:rPr lang="en-US" dirty="0">
                <a:solidFill>
                  <a:srgbClr val="1A1A1A"/>
                </a:solidFill>
                <a:latin typeface="Courier New" panose="02070309020205020404" pitchFamily="49" charset="0"/>
                <a:cs typeface="Courier New" panose="02070309020205020404" pitchFamily="49" charset="0"/>
              </a:rPr>
              <a:t>class LinkedList {</a:t>
            </a:r>
          </a:p>
          <a:p>
            <a:pPr>
              <a:lnSpc>
                <a:spcPct val="114000"/>
              </a:lnSpc>
            </a:pPr>
            <a:r>
              <a:rPr lang="en-US" dirty="0">
                <a:solidFill>
                  <a:srgbClr val="1A1A1A"/>
                </a:solidFill>
                <a:latin typeface="Courier New" panose="02070309020205020404" pitchFamily="49" charset="0"/>
                <a:cs typeface="Courier New" panose="02070309020205020404" pitchFamily="49" charset="0"/>
              </a:rPr>
              <a:t>	LinkedList next;</a:t>
            </a:r>
          </a:p>
          <a:p>
            <a:pPr>
              <a:lnSpc>
                <a:spcPct val="114000"/>
              </a:lnSpc>
            </a:pPr>
            <a:r>
              <a:rPr lang="en-US" dirty="0">
                <a:solidFill>
                  <a:srgbClr val="1A1A1A"/>
                </a:solidFill>
                <a:latin typeface="Courier New" panose="02070309020205020404" pitchFamily="49" charset="0"/>
                <a:cs typeface="Courier New" panose="02070309020205020404" pitchFamily="49" charset="0"/>
              </a:rPr>
              <a:t>}</a:t>
            </a:r>
          </a:p>
          <a:p>
            <a:pPr>
              <a:lnSpc>
                <a:spcPct val="114000"/>
              </a:lnSpc>
            </a:pPr>
            <a:r>
              <a:rPr lang="en-US" dirty="0">
                <a:solidFill>
                  <a:srgbClr val="1A1A1A"/>
                </a:solidFill>
                <a:latin typeface="Courier New" panose="02070309020205020404" pitchFamily="49" charset="0"/>
                <a:cs typeface="Courier New" panose="02070309020205020404" pitchFamily="49" charset="0"/>
              </a:rPr>
              <a:t>int main() {</a:t>
            </a:r>
          </a:p>
          <a:p>
            <a:pPr>
              <a:lnSpc>
                <a:spcPct val="114000"/>
              </a:lnSpc>
            </a:pPr>
            <a:r>
              <a:rPr lang="en-US" dirty="0">
                <a:solidFill>
                  <a:srgbClr val="1A1A1A"/>
                </a:solidFill>
                <a:latin typeface="Courier New" panose="02070309020205020404" pitchFamily="49" charset="0"/>
                <a:cs typeface="Courier New" panose="02070309020205020404" pitchFamily="49" charset="0"/>
              </a:rPr>
              <a:t>	LinkedList head = new LinkedList;</a:t>
            </a:r>
          </a:p>
          <a:p>
            <a:pPr>
              <a:lnSpc>
                <a:spcPct val="114000"/>
              </a:lnSpc>
            </a:pPr>
            <a:r>
              <a:rPr lang="en-US" dirty="0">
                <a:solidFill>
                  <a:srgbClr val="1A1A1A"/>
                </a:solidFill>
                <a:latin typeface="Courier New" panose="02070309020205020404" pitchFamily="49" charset="0"/>
                <a:cs typeface="Courier New" panose="02070309020205020404" pitchFamily="49" charset="0"/>
              </a:rPr>
              <a:t>	LinkedList mid = new LinkedList;</a:t>
            </a:r>
          </a:p>
          <a:p>
            <a:pPr>
              <a:lnSpc>
                <a:spcPct val="114000"/>
              </a:lnSpc>
            </a:pPr>
            <a:r>
              <a:rPr lang="en-US" dirty="0">
                <a:solidFill>
                  <a:srgbClr val="1A1A1A"/>
                </a:solidFill>
                <a:latin typeface="Courier New" panose="02070309020205020404" pitchFamily="49" charset="0"/>
                <a:cs typeface="Courier New" panose="02070309020205020404" pitchFamily="49" charset="0"/>
              </a:rPr>
              <a:t>	LinkedList tail = new LinkedList;</a:t>
            </a:r>
            <a:br>
              <a:rPr lang="en-US" dirty="0">
                <a:solidFill>
                  <a:srgbClr val="1A1A1A"/>
                </a:solidFill>
                <a:latin typeface="Courier New" panose="02070309020205020404" pitchFamily="49" charset="0"/>
                <a:cs typeface="Courier New" panose="02070309020205020404" pitchFamily="49" charset="0"/>
              </a:rPr>
            </a:br>
            <a:r>
              <a:rPr lang="en-US" dirty="0">
                <a:solidFill>
                  <a:srgbClr val="1A1A1A"/>
                </a:solidFill>
                <a:latin typeface="Courier New" panose="02070309020205020404" pitchFamily="49" charset="0"/>
                <a:cs typeface="Courier New" panose="02070309020205020404" pitchFamily="49" charset="0"/>
              </a:rPr>
              <a:t>	</a:t>
            </a:r>
          </a:p>
          <a:p>
            <a:pPr>
              <a:lnSpc>
                <a:spcPct val="114000"/>
              </a:lnSpc>
            </a:pPr>
            <a:r>
              <a:rPr lang="en-US" dirty="0">
                <a:solidFill>
                  <a:srgbClr val="1A1A1A"/>
                </a:solidFill>
                <a:latin typeface="Courier New" panose="02070309020205020404" pitchFamily="49" charset="0"/>
                <a:cs typeface="Courier New" panose="02070309020205020404" pitchFamily="49" charset="0"/>
              </a:rPr>
              <a:t>	head.next = mid;</a:t>
            </a:r>
          </a:p>
          <a:p>
            <a:pPr>
              <a:lnSpc>
                <a:spcPct val="114000"/>
              </a:lnSpc>
            </a:pPr>
            <a:r>
              <a:rPr lang="en-US" dirty="0">
                <a:solidFill>
                  <a:srgbClr val="1A1A1A"/>
                </a:solidFill>
                <a:latin typeface="Courier New" panose="02070309020205020404" pitchFamily="49" charset="0"/>
                <a:cs typeface="Courier New" panose="02070309020205020404" pitchFamily="49" charset="0"/>
              </a:rPr>
              <a:t>	mid.next = tail;</a:t>
            </a:r>
            <a:br>
              <a:rPr lang="en-US" dirty="0">
                <a:solidFill>
                  <a:srgbClr val="1A1A1A"/>
                </a:solidFill>
                <a:latin typeface="Courier New" panose="02070309020205020404" pitchFamily="49" charset="0"/>
                <a:cs typeface="Courier New" panose="02070309020205020404" pitchFamily="49" charset="0"/>
              </a:rPr>
            </a:br>
            <a:r>
              <a:rPr lang="en-US" dirty="0">
                <a:solidFill>
                  <a:srgbClr val="1A1A1A"/>
                </a:solidFill>
                <a:latin typeface="Courier New" panose="02070309020205020404" pitchFamily="49" charset="0"/>
                <a:cs typeface="Courier New" panose="02070309020205020404" pitchFamily="49" charset="0"/>
              </a:rPr>
              <a:t>	</a:t>
            </a:r>
          </a:p>
          <a:p>
            <a:pPr>
              <a:lnSpc>
                <a:spcPct val="114000"/>
              </a:lnSpc>
            </a:pPr>
            <a:r>
              <a:rPr lang="en-US" dirty="0">
                <a:solidFill>
                  <a:srgbClr val="1A1A1A"/>
                </a:solidFill>
                <a:latin typeface="Courier New" panose="02070309020205020404" pitchFamily="49" charset="0"/>
                <a:cs typeface="Courier New" panose="02070309020205020404" pitchFamily="49" charset="0"/>
              </a:rPr>
              <a:t>	mid = tail = null;</a:t>
            </a:r>
            <a:br>
              <a:rPr lang="en-US" dirty="0">
                <a:solidFill>
                  <a:srgbClr val="1A1A1A"/>
                </a:solidFill>
                <a:latin typeface="Courier New" panose="02070309020205020404" pitchFamily="49" charset="0"/>
                <a:cs typeface="Courier New" panose="02070309020205020404" pitchFamily="49" charset="0"/>
              </a:rPr>
            </a:br>
            <a:r>
              <a:rPr lang="en-US" dirty="0">
                <a:solidFill>
                  <a:srgbClr val="1A1A1A"/>
                </a:solidFill>
                <a:latin typeface="Courier New" panose="02070309020205020404" pitchFamily="49" charset="0"/>
                <a:cs typeface="Courier New" panose="02070309020205020404" pitchFamily="49" charset="0"/>
              </a:rPr>
              <a:t>	</a:t>
            </a:r>
          </a:p>
          <a:p>
            <a:pPr>
              <a:lnSpc>
                <a:spcPct val="114000"/>
              </a:lnSpc>
            </a:pPr>
            <a:r>
              <a:rPr lang="en-US" dirty="0">
                <a:solidFill>
                  <a:srgbClr val="1A1A1A"/>
                </a:solidFill>
                <a:latin typeface="Courier New" panose="02070309020205020404" pitchFamily="49" charset="0"/>
                <a:cs typeface="Courier New" panose="02070309020205020404" pitchFamily="49" charset="0"/>
              </a:rPr>
              <a:t>	head.next.next = null;</a:t>
            </a:r>
          </a:p>
          <a:p>
            <a:pPr>
              <a:lnSpc>
                <a:spcPct val="114000"/>
              </a:lnSpc>
            </a:pPr>
            <a:r>
              <a:rPr lang="en-US" dirty="0">
                <a:solidFill>
                  <a:srgbClr val="1A1A1A"/>
                </a:solidFill>
                <a:latin typeface="Courier New" panose="02070309020205020404" pitchFamily="49" charset="0"/>
                <a:cs typeface="Courier New" panose="02070309020205020404" pitchFamily="49" charset="0"/>
              </a:rPr>
              <a:t>	head = null;</a:t>
            </a:r>
          </a:p>
          <a:p>
            <a:pPr>
              <a:lnSpc>
                <a:spcPct val="114000"/>
              </a:lnSpc>
            </a:pPr>
            <a:r>
              <a:rPr lang="en-US" dirty="0">
                <a:solidFill>
                  <a:srgbClr val="1A1A1A"/>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a:t>
            </a:r>
          </a:p>
        </p:txBody>
      </p:sp>
      <p:grpSp>
        <p:nvGrpSpPr>
          <p:cNvPr id="9" name="Group 8"/>
          <p:cNvGrpSpPr/>
          <p:nvPr/>
        </p:nvGrpSpPr>
        <p:grpSpPr>
          <a:xfrm>
            <a:off x="7382435" y="1581017"/>
            <a:ext cx="1479177" cy="457200"/>
            <a:chOff x="7005917" y="1959677"/>
            <a:chExt cx="1479177" cy="457200"/>
          </a:xfrm>
        </p:grpSpPr>
        <p:sp>
          <p:nvSpPr>
            <p:cNvPr id="7" name="Rectangle 6"/>
            <p:cNvSpPr/>
            <p:nvPr/>
          </p:nvSpPr>
          <p:spPr>
            <a:xfrm>
              <a:off x="7732059" y="1959677"/>
              <a:ext cx="753035"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7005917" y="2003611"/>
              <a:ext cx="793376" cy="369332"/>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head</a:t>
              </a:r>
            </a:p>
          </p:txBody>
        </p:sp>
      </p:grpSp>
      <p:grpSp>
        <p:nvGrpSpPr>
          <p:cNvPr id="15" name="Group 14"/>
          <p:cNvGrpSpPr/>
          <p:nvPr/>
        </p:nvGrpSpPr>
        <p:grpSpPr>
          <a:xfrm>
            <a:off x="10184313" y="1575608"/>
            <a:ext cx="753036" cy="925545"/>
            <a:chOff x="10170458" y="1575608"/>
            <a:chExt cx="753036" cy="925545"/>
          </a:xfrm>
        </p:grpSpPr>
        <p:sp>
          <p:nvSpPr>
            <p:cNvPr id="10" name="Rectangle 9"/>
            <p:cNvSpPr/>
            <p:nvPr/>
          </p:nvSpPr>
          <p:spPr>
            <a:xfrm>
              <a:off x="10170459" y="1575608"/>
              <a:ext cx="753035" cy="4572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nvGrpSpPr>
            <p:cNvPr id="14" name="Group 13"/>
            <p:cNvGrpSpPr/>
            <p:nvPr/>
          </p:nvGrpSpPr>
          <p:grpSpPr>
            <a:xfrm>
              <a:off x="10170458" y="2032808"/>
              <a:ext cx="753036" cy="468345"/>
              <a:chOff x="10170458" y="2032808"/>
              <a:chExt cx="753036" cy="468345"/>
            </a:xfrm>
          </p:grpSpPr>
          <p:sp>
            <p:nvSpPr>
              <p:cNvPr id="11" name="Rectangle 10"/>
              <p:cNvSpPr/>
              <p:nvPr/>
            </p:nvSpPr>
            <p:spPr>
              <a:xfrm>
                <a:off x="10170458" y="2032808"/>
                <a:ext cx="753035"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p:nvPr/>
            </p:nvCxnSpPr>
            <p:spPr>
              <a:xfrm flipV="1">
                <a:off x="10170459" y="2032808"/>
                <a:ext cx="753035" cy="468345"/>
              </a:xfrm>
              <a:prstGeom prst="line">
                <a:avLst/>
              </a:prstGeom>
            </p:spPr>
            <p:style>
              <a:lnRef idx="1">
                <a:schemeClr val="accent1"/>
              </a:lnRef>
              <a:fillRef idx="0">
                <a:schemeClr val="accent1"/>
              </a:fillRef>
              <a:effectRef idx="0">
                <a:schemeClr val="accent1"/>
              </a:effectRef>
              <a:fontRef idx="minor">
                <a:schemeClr val="tx1"/>
              </a:fontRef>
            </p:style>
          </p:cxnSp>
        </p:grpSp>
      </p:grpSp>
      <p:cxnSp>
        <p:nvCxnSpPr>
          <p:cNvPr id="17" name="Straight Arrow Connector 16"/>
          <p:cNvCxnSpPr>
            <a:stCxn id="7" idx="3"/>
            <a:endCxn id="10" idx="1"/>
          </p:cNvCxnSpPr>
          <p:nvPr/>
        </p:nvCxnSpPr>
        <p:spPr>
          <a:xfrm flipV="1">
            <a:off x="8861612" y="1804208"/>
            <a:ext cx="1322702" cy="54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7398355" y="3002661"/>
            <a:ext cx="1479177" cy="457200"/>
            <a:chOff x="7005917" y="1959677"/>
            <a:chExt cx="1479177" cy="457200"/>
          </a:xfrm>
        </p:grpSpPr>
        <p:sp>
          <p:nvSpPr>
            <p:cNvPr id="20" name="Rectangle 19"/>
            <p:cNvSpPr/>
            <p:nvPr/>
          </p:nvSpPr>
          <p:spPr>
            <a:xfrm>
              <a:off x="7732059" y="1959677"/>
              <a:ext cx="753035"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7005917" y="2003611"/>
              <a:ext cx="793376" cy="369332"/>
            </a:xfrm>
            <a:prstGeom prst="rect">
              <a:avLst/>
            </a:prstGeom>
            <a:noFill/>
          </p:spPr>
          <p:txBody>
            <a:bodyPr wrap="square" rtlCol="0">
              <a:spAutoFit/>
            </a:bodyPr>
            <a:lstStyle/>
            <a:p>
              <a:pPr algn="ctr"/>
              <a:r>
                <a:rPr lang="en-US" dirty="0">
                  <a:latin typeface="Courier New" panose="02070309020205020404" pitchFamily="49" charset="0"/>
                  <a:cs typeface="Courier New" panose="02070309020205020404" pitchFamily="49" charset="0"/>
                </a:rPr>
                <a:t>mid</a:t>
              </a:r>
            </a:p>
          </p:txBody>
        </p:sp>
      </p:grpSp>
      <p:grpSp>
        <p:nvGrpSpPr>
          <p:cNvPr id="22" name="Group 21"/>
          <p:cNvGrpSpPr/>
          <p:nvPr/>
        </p:nvGrpSpPr>
        <p:grpSpPr>
          <a:xfrm>
            <a:off x="10186378" y="2997252"/>
            <a:ext cx="753036" cy="925545"/>
            <a:chOff x="10170458" y="1575608"/>
            <a:chExt cx="753036" cy="925545"/>
          </a:xfrm>
        </p:grpSpPr>
        <p:sp>
          <p:nvSpPr>
            <p:cNvPr id="23" name="Rectangle 22"/>
            <p:cNvSpPr/>
            <p:nvPr/>
          </p:nvSpPr>
          <p:spPr>
            <a:xfrm>
              <a:off x="10170459" y="1575608"/>
              <a:ext cx="753035" cy="4572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nvGrpSpPr>
            <p:cNvPr id="24" name="Group 23"/>
            <p:cNvGrpSpPr/>
            <p:nvPr/>
          </p:nvGrpSpPr>
          <p:grpSpPr>
            <a:xfrm>
              <a:off x="10170458" y="2032808"/>
              <a:ext cx="753036" cy="468345"/>
              <a:chOff x="10170458" y="2032808"/>
              <a:chExt cx="753036" cy="468345"/>
            </a:xfrm>
          </p:grpSpPr>
          <p:sp>
            <p:nvSpPr>
              <p:cNvPr id="25" name="Rectangle 24"/>
              <p:cNvSpPr/>
              <p:nvPr/>
            </p:nvSpPr>
            <p:spPr>
              <a:xfrm>
                <a:off x="10170458" y="2032808"/>
                <a:ext cx="753035"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p:cNvCxnSpPr/>
              <p:nvPr/>
            </p:nvCxnSpPr>
            <p:spPr>
              <a:xfrm flipV="1">
                <a:off x="10170459" y="2032808"/>
                <a:ext cx="753035" cy="468345"/>
              </a:xfrm>
              <a:prstGeom prst="line">
                <a:avLst/>
              </a:prstGeom>
            </p:spPr>
            <p:style>
              <a:lnRef idx="1">
                <a:schemeClr val="accent1"/>
              </a:lnRef>
              <a:fillRef idx="0">
                <a:schemeClr val="accent1"/>
              </a:fillRef>
              <a:effectRef idx="0">
                <a:schemeClr val="accent1"/>
              </a:effectRef>
              <a:fontRef idx="minor">
                <a:schemeClr val="tx1"/>
              </a:fontRef>
            </p:style>
          </p:cxnSp>
        </p:grpSp>
      </p:grpSp>
      <p:cxnSp>
        <p:nvCxnSpPr>
          <p:cNvPr id="27" name="Straight Arrow Connector 26"/>
          <p:cNvCxnSpPr>
            <a:stCxn id="20" idx="3"/>
            <a:endCxn id="23" idx="1"/>
          </p:cNvCxnSpPr>
          <p:nvPr/>
        </p:nvCxnSpPr>
        <p:spPr>
          <a:xfrm flipV="1">
            <a:off x="8877532" y="3225852"/>
            <a:ext cx="1308847" cy="54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28" name="Group 27"/>
          <p:cNvGrpSpPr/>
          <p:nvPr/>
        </p:nvGrpSpPr>
        <p:grpSpPr>
          <a:xfrm>
            <a:off x="7384707" y="4517565"/>
            <a:ext cx="1479177" cy="457200"/>
            <a:chOff x="7005917" y="1959677"/>
            <a:chExt cx="1479177" cy="457200"/>
          </a:xfrm>
        </p:grpSpPr>
        <p:sp>
          <p:nvSpPr>
            <p:cNvPr id="29" name="Rectangle 28"/>
            <p:cNvSpPr/>
            <p:nvPr/>
          </p:nvSpPr>
          <p:spPr>
            <a:xfrm>
              <a:off x="7732059" y="1959677"/>
              <a:ext cx="753035"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7005917" y="2003611"/>
              <a:ext cx="793376" cy="369332"/>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tail</a:t>
              </a:r>
            </a:p>
          </p:txBody>
        </p:sp>
      </p:grpSp>
      <p:grpSp>
        <p:nvGrpSpPr>
          <p:cNvPr id="31" name="Group 30"/>
          <p:cNvGrpSpPr/>
          <p:nvPr/>
        </p:nvGrpSpPr>
        <p:grpSpPr>
          <a:xfrm>
            <a:off x="10186585" y="4512156"/>
            <a:ext cx="753036" cy="925545"/>
            <a:chOff x="10170458" y="1575608"/>
            <a:chExt cx="753036" cy="925545"/>
          </a:xfrm>
        </p:grpSpPr>
        <p:sp>
          <p:nvSpPr>
            <p:cNvPr id="32" name="Rectangle 31"/>
            <p:cNvSpPr/>
            <p:nvPr/>
          </p:nvSpPr>
          <p:spPr>
            <a:xfrm>
              <a:off x="10170459" y="1575608"/>
              <a:ext cx="753035" cy="4572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nvGrpSpPr>
            <p:cNvPr id="33" name="Group 32"/>
            <p:cNvGrpSpPr/>
            <p:nvPr/>
          </p:nvGrpSpPr>
          <p:grpSpPr>
            <a:xfrm>
              <a:off x="10170458" y="2032808"/>
              <a:ext cx="753036" cy="468345"/>
              <a:chOff x="10170458" y="2032808"/>
              <a:chExt cx="753036" cy="468345"/>
            </a:xfrm>
          </p:grpSpPr>
          <p:sp>
            <p:nvSpPr>
              <p:cNvPr id="34" name="Rectangle 33"/>
              <p:cNvSpPr/>
              <p:nvPr/>
            </p:nvSpPr>
            <p:spPr>
              <a:xfrm>
                <a:off x="10170458" y="2032808"/>
                <a:ext cx="753035"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p:cNvCxnSpPr/>
              <p:nvPr/>
            </p:nvCxnSpPr>
            <p:spPr>
              <a:xfrm flipV="1">
                <a:off x="10170459" y="2032808"/>
                <a:ext cx="753035" cy="468345"/>
              </a:xfrm>
              <a:prstGeom prst="line">
                <a:avLst/>
              </a:prstGeom>
            </p:spPr>
            <p:style>
              <a:lnRef idx="1">
                <a:schemeClr val="accent1"/>
              </a:lnRef>
              <a:fillRef idx="0">
                <a:schemeClr val="accent1"/>
              </a:fillRef>
              <a:effectRef idx="0">
                <a:schemeClr val="accent1"/>
              </a:effectRef>
              <a:fontRef idx="minor">
                <a:schemeClr val="tx1"/>
              </a:fontRef>
            </p:style>
          </p:cxnSp>
        </p:grpSp>
      </p:grpSp>
      <p:cxnSp>
        <p:nvCxnSpPr>
          <p:cNvPr id="36" name="Straight Arrow Connector 35"/>
          <p:cNvCxnSpPr>
            <a:stCxn id="29" idx="3"/>
            <a:endCxn id="32" idx="1"/>
          </p:cNvCxnSpPr>
          <p:nvPr/>
        </p:nvCxnSpPr>
        <p:spPr>
          <a:xfrm flipV="1">
            <a:off x="8863884" y="4740756"/>
            <a:ext cx="1322702" cy="54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2"/>
            <a:endCxn id="23" idx="0"/>
          </p:cNvCxnSpPr>
          <p:nvPr/>
        </p:nvCxnSpPr>
        <p:spPr>
          <a:xfrm>
            <a:off x="10560831" y="2490008"/>
            <a:ext cx="2066" cy="50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5" idx="2"/>
            <a:endCxn id="32" idx="0"/>
          </p:cNvCxnSpPr>
          <p:nvPr/>
        </p:nvCxnSpPr>
        <p:spPr>
          <a:xfrm>
            <a:off x="10562896" y="3911652"/>
            <a:ext cx="208" cy="60050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10311448" y="3057402"/>
            <a:ext cx="498764" cy="36933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2</a:t>
            </a:r>
          </a:p>
        </p:txBody>
      </p:sp>
      <p:sp>
        <p:nvSpPr>
          <p:cNvPr id="45" name="TextBox 44"/>
          <p:cNvSpPr txBox="1"/>
          <p:nvPr/>
        </p:nvSpPr>
        <p:spPr>
          <a:xfrm>
            <a:off x="10339153" y="4553705"/>
            <a:ext cx="498764" cy="36933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2</a:t>
            </a:r>
          </a:p>
        </p:txBody>
      </p:sp>
      <p:cxnSp>
        <p:nvCxnSpPr>
          <p:cNvPr id="47" name="Straight Connector 46"/>
          <p:cNvCxnSpPr/>
          <p:nvPr/>
        </p:nvCxnSpPr>
        <p:spPr>
          <a:xfrm flipV="1">
            <a:off x="8108577" y="4512156"/>
            <a:ext cx="753035"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8144466" y="3002648"/>
            <a:ext cx="717146" cy="451805"/>
          </a:xfrm>
          <a:prstGeom prst="line">
            <a:avLst/>
          </a:prstGeom>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0325293" y="4581411"/>
            <a:ext cx="498764" cy="36933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0</a:t>
            </a:r>
          </a:p>
        </p:txBody>
      </p:sp>
      <p:sp>
        <p:nvSpPr>
          <p:cNvPr id="56" name="Rectangle 55"/>
          <p:cNvSpPr/>
          <p:nvPr/>
        </p:nvSpPr>
        <p:spPr>
          <a:xfrm>
            <a:off x="10184313" y="2035518"/>
            <a:ext cx="753035"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10184313" y="3445148"/>
            <a:ext cx="753035"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10184309" y="1575604"/>
            <a:ext cx="753035" cy="4572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60" name="Straight Connector 59"/>
          <p:cNvCxnSpPr/>
          <p:nvPr/>
        </p:nvCxnSpPr>
        <p:spPr>
          <a:xfrm flipV="1">
            <a:off x="8124497" y="1575604"/>
            <a:ext cx="737115" cy="457201"/>
          </a:xfrm>
          <a:prstGeom prst="line">
            <a:avLst/>
          </a:prstGeom>
        </p:spPr>
        <p:style>
          <a:lnRef idx="1">
            <a:schemeClr val="accent1"/>
          </a:lnRef>
          <a:fillRef idx="0">
            <a:schemeClr val="accent1"/>
          </a:fillRef>
          <a:effectRef idx="0">
            <a:schemeClr val="accent1"/>
          </a:effectRef>
          <a:fontRef idx="minor">
            <a:schemeClr val="tx1"/>
          </a:fontRef>
        </p:style>
      </p:cxnSp>
      <p:sp>
        <p:nvSpPr>
          <p:cNvPr id="62" name="Explosion 1 61"/>
          <p:cNvSpPr/>
          <p:nvPr/>
        </p:nvSpPr>
        <p:spPr>
          <a:xfrm>
            <a:off x="9296397" y="4225754"/>
            <a:ext cx="2715491" cy="1382101"/>
          </a:xfrm>
          <a:prstGeom prst="irregularSeal1">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Reclaimed</a:t>
            </a:r>
          </a:p>
        </p:txBody>
      </p:sp>
      <p:sp>
        <p:nvSpPr>
          <p:cNvPr id="54" name="Explosion 1 53"/>
          <p:cNvSpPr/>
          <p:nvPr/>
        </p:nvSpPr>
        <p:spPr>
          <a:xfrm>
            <a:off x="9203080" y="1303232"/>
            <a:ext cx="2715491" cy="1382101"/>
          </a:xfrm>
          <a:prstGeom prst="irregularSeal1">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Reclaimed</a:t>
            </a:r>
          </a:p>
        </p:txBody>
      </p:sp>
      <p:sp>
        <p:nvSpPr>
          <p:cNvPr id="63" name="TextBox 62"/>
          <p:cNvSpPr txBox="1"/>
          <p:nvPr/>
        </p:nvSpPr>
        <p:spPr>
          <a:xfrm>
            <a:off x="10325298" y="3029689"/>
            <a:ext cx="498764" cy="36933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0</a:t>
            </a:r>
          </a:p>
        </p:txBody>
      </p:sp>
      <p:sp>
        <p:nvSpPr>
          <p:cNvPr id="64" name="Explosion 1 63"/>
          <p:cNvSpPr/>
          <p:nvPr/>
        </p:nvSpPr>
        <p:spPr>
          <a:xfrm>
            <a:off x="9296396" y="2673013"/>
            <a:ext cx="2715491" cy="1382101"/>
          </a:xfrm>
          <a:prstGeom prst="irregularSeal1">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Reclaimed</a:t>
            </a:r>
          </a:p>
        </p:txBody>
      </p:sp>
      <p:sp>
        <p:nvSpPr>
          <p:cNvPr id="65" name="Slide Number Placeholder 64"/>
          <p:cNvSpPr>
            <a:spLocks noGrp="1"/>
          </p:cNvSpPr>
          <p:nvPr>
            <p:ph type="sldNum" sz="quarter" idx="12"/>
          </p:nvPr>
        </p:nvSpPr>
        <p:spPr/>
        <p:txBody>
          <a:bodyPr/>
          <a:lstStyle/>
          <a:p>
            <a:fld id="{EE645454-5A07-423E-8617-7239B6B66F68}" type="slidenum">
              <a:rPr lang="en-US" smtClean="0"/>
              <a:t>60</a:t>
            </a:fld>
            <a:endParaRPr lang="en-US"/>
          </a:p>
        </p:txBody>
      </p:sp>
      <p:sp>
        <p:nvSpPr>
          <p:cNvPr id="70" name="TextBox 69"/>
          <p:cNvSpPr txBox="1"/>
          <p:nvPr/>
        </p:nvSpPr>
        <p:spPr>
          <a:xfrm>
            <a:off x="7075625" y="847117"/>
            <a:ext cx="2232212" cy="461665"/>
          </a:xfrm>
          <a:prstGeom prst="rect">
            <a:avLst/>
          </a:prstGeom>
          <a:noFill/>
        </p:spPr>
        <p:txBody>
          <a:bodyPr wrap="square" rtlCol="0">
            <a:spAutoFit/>
          </a:bodyPr>
          <a:lstStyle/>
          <a:p>
            <a:pPr algn="ctr"/>
            <a:r>
              <a:rPr lang="en-US" sz="2400" u="sng" dirty="0">
                <a:solidFill>
                  <a:schemeClr val="accent2">
                    <a:lumMod val="50000"/>
                  </a:schemeClr>
                </a:solidFill>
              </a:rPr>
              <a:t>Root Set (Stack)</a:t>
            </a:r>
          </a:p>
        </p:txBody>
      </p:sp>
      <p:sp>
        <p:nvSpPr>
          <p:cNvPr id="71" name="TextBox 70"/>
          <p:cNvSpPr txBox="1"/>
          <p:nvPr/>
        </p:nvSpPr>
        <p:spPr>
          <a:xfrm>
            <a:off x="9522963" y="847166"/>
            <a:ext cx="2175978" cy="461665"/>
          </a:xfrm>
          <a:prstGeom prst="rect">
            <a:avLst/>
          </a:prstGeom>
          <a:noFill/>
        </p:spPr>
        <p:txBody>
          <a:bodyPr wrap="square" rtlCol="0">
            <a:spAutoFit/>
          </a:bodyPr>
          <a:lstStyle/>
          <a:p>
            <a:pPr algn="ctr"/>
            <a:r>
              <a:rPr lang="en-US" sz="2400" u="sng" dirty="0">
                <a:solidFill>
                  <a:schemeClr val="accent2">
                    <a:lumMod val="50000"/>
                  </a:schemeClr>
                </a:solidFill>
              </a:rPr>
              <a:t>Objects (Heap)</a:t>
            </a:r>
          </a:p>
        </p:txBody>
      </p:sp>
    </p:spTree>
    <p:extLst>
      <p:ext uri="{BB962C8B-B14F-4D97-AF65-F5344CB8AC3E}">
        <p14:creationId xmlns:p14="http://schemas.microsoft.com/office/powerpoint/2010/main" val="250339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3">
                                            <p:txEl>
                                              <p:pRg st="4" end="4"/>
                                            </p:txEl>
                                          </p:spTgt>
                                        </p:tgtEl>
                                        <p:attrNameLst>
                                          <p:attrName>style.color</p:attrName>
                                        </p:attrNameLst>
                                      </p:cBhvr>
                                      <p:to>
                                        <a:srgbClr val="FF0000"/>
                                      </p:to>
                                    </p:animClr>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arn(inVertical)">
                                      <p:cBhvr>
                                        <p:cTn id="18" dur="5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mph" presetSubtype="2" fill="hold" nodeType="clickEffect">
                                  <p:stCondLst>
                                    <p:cond delay="0"/>
                                  </p:stCondLst>
                                  <p:childTnLst>
                                    <p:animClr clrSpc="rgb" dir="cw">
                                      <p:cBhvr override="childStyle">
                                        <p:cTn id="25" dur="500" fill="hold"/>
                                        <p:tgtEl>
                                          <p:spTgt spid="3">
                                            <p:txEl>
                                              <p:pRg st="5" end="5"/>
                                            </p:txEl>
                                          </p:spTgt>
                                        </p:tgtEl>
                                        <p:attrNameLst>
                                          <p:attrName>style.color</p:attrName>
                                        </p:attrNameLst>
                                      </p:cBhvr>
                                      <p:to>
                                        <a:srgbClr val="FF0000"/>
                                      </p:to>
                                    </p:animClr>
                                  </p:childTnLst>
                                </p:cTn>
                              </p:par>
                              <p:par>
                                <p:cTn id="26" presetID="3" presetClass="emph" presetSubtype="2" fill="hold" nodeType="withEffect">
                                  <p:stCondLst>
                                    <p:cond delay="0"/>
                                  </p:stCondLst>
                                  <p:childTnLst>
                                    <p:animClr clrSpc="rgb" dir="cw">
                                      <p:cBhvr override="childStyle">
                                        <p:cTn id="27" dur="500" fill="hold"/>
                                        <p:tgtEl>
                                          <p:spTgt spid="3">
                                            <p:txEl>
                                              <p:pRg st="4" end="4"/>
                                            </p:txEl>
                                          </p:spTgt>
                                        </p:tgtEl>
                                        <p:attrNameLst>
                                          <p:attrName>style.color</p:attrName>
                                        </p:attrNameLst>
                                      </p:cBhvr>
                                      <p:to>
                                        <a:srgbClr val="000000"/>
                                      </p:to>
                                    </p:animClr>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barn(inVertical)">
                                      <p:cBhvr>
                                        <p:cTn id="39" dur="50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mph" presetSubtype="2" fill="hold" nodeType="clickEffect">
                                  <p:stCondLst>
                                    <p:cond delay="0"/>
                                  </p:stCondLst>
                                  <p:childTnLst>
                                    <p:animClr clrSpc="rgb" dir="cw">
                                      <p:cBhvr override="childStyle">
                                        <p:cTn id="46" dur="500" fill="hold"/>
                                        <p:tgtEl>
                                          <p:spTgt spid="3">
                                            <p:txEl>
                                              <p:pRg st="6" end="6"/>
                                            </p:txEl>
                                          </p:spTgt>
                                        </p:tgtEl>
                                        <p:attrNameLst>
                                          <p:attrName>style.color</p:attrName>
                                        </p:attrNameLst>
                                      </p:cBhvr>
                                      <p:to>
                                        <a:srgbClr val="FF0000"/>
                                      </p:to>
                                    </p:animClr>
                                  </p:childTnLst>
                                </p:cTn>
                              </p:par>
                              <p:par>
                                <p:cTn id="47" presetID="3" presetClass="emph" presetSubtype="2" fill="hold" nodeType="withEffect">
                                  <p:stCondLst>
                                    <p:cond delay="0"/>
                                  </p:stCondLst>
                                  <p:childTnLst>
                                    <p:animClr clrSpc="rgb" dir="cw">
                                      <p:cBhvr override="childStyle">
                                        <p:cTn id="48" dur="2000" fill="hold"/>
                                        <p:tgtEl>
                                          <p:spTgt spid="3">
                                            <p:txEl>
                                              <p:pRg st="5" end="5"/>
                                            </p:txEl>
                                          </p:spTgt>
                                        </p:tgtEl>
                                        <p:attrNameLst>
                                          <p:attrName>style.color</p:attrName>
                                        </p:attrNameLst>
                                      </p:cBhvr>
                                      <p:to>
                                        <a:srgbClr val="000000"/>
                                      </p:to>
                                    </p:animClr>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1000"/>
                                        <p:tgtEl>
                                          <p:spTgt spid="28"/>
                                        </p:tgtEl>
                                      </p:cBhvr>
                                    </p:animEffect>
                                    <p:anim calcmode="lin" valueType="num">
                                      <p:cBhvr>
                                        <p:cTn id="54" dur="1000" fill="hold"/>
                                        <p:tgtEl>
                                          <p:spTgt spid="28"/>
                                        </p:tgtEl>
                                        <p:attrNameLst>
                                          <p:attrName>ppt_x</p:attrName>
                                        </p:attrNameLst>
                                      </p:cBhvr>
                                      <p:tavLst>
                                        <p:tav tm="0">
                                          <p:val>
                                            <p:strVal val="#ppt_x"/>
                                          </p:val>
                                        </p:tav>
                                        <p:tav tm="100000">
                                          <p:val>
                                            <p:strVal val="#ppt_x"/>
                                          </p:val>
                                        </p:tav>
                                      </p:tavLst>
                                    </p:anim>
                                    <p:anim calcmode="lin" valueType="num">
                                      <p:cBhvr>
                                        <p:cTn id="55"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nodeType="click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barn(inVertical)">
                                      <p:cBhvr>
                                        <p:cTn id="60" dur="500"/>
                                        <p:tgtEl>
                                          <p:spTgt spid="31"/>
                                        </p:tgtEl>
                                      </p:cBhvr>
                                    </p:animEffect>
                                  </p:childTnLst>
                                </p:cTn>
                              </p:par>
                              <p:par>
                                <p:cTn id="61" presetID="10" presetClass="entr" presetSubtype="0" fill="hold" nodeType="with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fade">
                                      <p:cBhvr>
                                        <p:cTn id="63" dur="500"/>
                                        <p:tgtEl>
                                          <p:spTgt spid="36"/>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mph" presetSubtype="2" fill="hold" nodeType="clickEffect">
                                  <p:stCondLst>
                                    <p:cond delay="0"/>
                                  </p:stCondLst>
                                  <p:childTnLst>
                                    <p:animClr clrSpc="rgb" dir="cw">
                                      <p:cBhvr override="childStyle">
                                        <p:cTn id="67" dur="500" fill="hold"/>
                                        <p:tgtEl>
                                          <p:spTgt spid="3">
                                            <p:txEl>
                                              <p:pRg st="6" end="6"/>
                                            </p:txEl>
                                          </p:spTgt>
                                        </p:tgtEl>
                                        <p:attrNameLst>
                                          <p:attrName>style.color</p:attrName>
                                        </p:attrNameLst>
                                      </p:cBhvr>
                                      <p:to>
                                        <a:srgbClr val="000000"/>
                                      </p:to>
                                    </p:animClr>
                                  </p:childTnLst>
                                </p:cTn>
                              </p:par>
                              <p:par>
                                <p:cTn id="68" presetID="3" presetClass="emph" presetSubtype="2" fill="hold" nodeType="withEffect">
                                  <p:stCondLst>
                                    <p:cond delay="0"/>
                                  </p:stCondLst>
                                  <p:childTnLst>
                                    <p:animClr clrSpc="rgb" dir="cw">
                                      <p:cBhvr override="childStyle">
                                        <p:cTn id="69" dur="500" fill="hold"/>
                                        <p:tgtEl>
                                          <p:spTgt spid="3">
                                            <p:txEl>
                                              <p:pRg st="7" end="7"/>
                                            </p:txEl>
                                          </p:spTgt>
                                        </p:tgtEl>
                                        <p:attrNameLst>
                                          <p:attrName>style.color</p:attrName>
                                        </p:attrNameLst>
                                      </p:cBhvr>
                                      <p:to>
                                        <a:srgbClr val="FF0000"/>
                                      </p:to>
                                    </p:animClr>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500"/>
                                        <p:tgtEl>
                                          <p:spTgt spid="3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500"/>
                                        <p:tgtEl>
                                          <p:spTgt spid="43"/>
                                        </p:tgtEl>
                                      </p:cBhvr>
                                    </p:animEffect>
                                  </p:childTnLst>
                                </p:cTn>
                              </p:par>
                              <p:par>
                                <p:cTn id="78" presetID="16" presetClass="entr" presetSubtype="21" fill="hold" grpId="0" nodeType="withEffect">
                                  <p:stCondLst>
                                    <p:cond delay="0"/>
                                  </p:stCondLst>
                                  <p:childTnLst>
                                    <p:set>
                                      <p:cBhvr>
                                        <p:cTn id="79" dur="1" fill="hold">
                                          <p:stCondLst>
                                            <p:cond delay="0"/>
                                          </p:stCondLst>
                                        </p:cTn>
                                        <p:tgtEl>
                                          <p:spTgt spid="56"/>
                                        </p:tgtEl>
                                        <p:attrNameLst>
                                          <p:attrName>style.visibility</p:attrName>
                                        </p:attrNameLst>
                                      </p:cBhvr>
                                      <p:to>
                                        <p:strVal val="visible"/>
                                      </p:to>
                                    </p:set>
                                    <p:animEffect transition="in" filter="barn(inVertical)">
                                      <p:cBhvr>
                                        <p:cTn id="80" dur="500"/>
                                        <p:tgtEl>
                                          <p:spTgt spid="56"/>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mph" presetSubtype="2" fill="hold" nodeType="clickEffect">
                                  <p:stCondLst>
                                    <p:cond delay="0"/>
                                  </p:stCondLst>
                                  <p:childTnLst>
                                    <p:animClr clrSpc="rgb" dir="cw">
                                      <p:cBhvr override="childStyle">
                                        <p:cTn id="84" dur="500" fill="hold"/>
                                        <p:tgtEl>
                                          <p:spTgt spid="3">
                                            <p:txEl>
                                              <p:pRg st="7" end="7"/>
                                            </p:txEl>
                                          </p:spTgt>
                                        </p:tgtEl>
                                        <p:attrNameLst>
                                          <p:attrName>style.color</p:attrName>
                                        </p:attrNameLst>
                                      </p:cBhvr>
                                      <p:to>
                                        <a:srgbClr val="000000"/>
                                      </p:to>
                                    </p:animClr>
                                  </p:childTnLst>
                                </p:cTn>
                              </p:par>
                              <p:par>
                                <p:cTn id="85" presetID="3" presetClass="emph" presetSubtype="2" fill="hold" nodeType="withEffect">
                                  <p:stCondLst>
                                    <p:cond delay="0"/>
                                  </p:stCondLst>
                                  <p:childTnLst>
                                    <p:animClr clrSpc="rgb" dir="cw">
                                      <p:cBhvr override="childStyle">
                                        <p:cTn id="86" dur="500" fill="hold"/>
                                        <p:tgtEl>
                                          <p:spTgt spid="3">
                                            <p:txEl>
                                              <p:pRg st="8" end="8"/>
                                            </p:txEl>
                                          </p:spTgt>
                                        </p:tgtEl>
                                        <p:attrNameLst>
                                          <p:attrName>style.color</p:attrName>
                                        </p:attrNameLst>
                                      </p:cBhvr>
                                      <p:to>
                                        <a:srgbClr val="FF0000"/>
                                      </p:to>
                                    </p:animClr>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nodeType="clickEffect">
                                  <p:stCondLst>
                                    <p:cond delay="0"/>
                                  </p:stCondLst>
                                  <p:childTnLst>
                                    <p:set>
                                      <p:cBhvr>
                                        <p:cTn id="90" dur="1" fill="hold">
                                          <p:stCondLst>
                                            <p:cond delay="0"/>
                                          </p:stCondLst>
                                        </p:cTn>
                                        <p:tgtEl>
                                          <p:spTgt spid="42"/>
                                        </p:tgtEl>
                                        <p:attrNameLst>
                                          <p:attrName>style.visibility</p:attrName>
                                        </p:attrNameLst>
                                      </p:cBhvr>
                                      <p:to>
                                        <p:strVal val="visible"/>
                                      </p:to>
                                    </p:set>
                                    <p:animEffect transition="in" filter="wipe(down)">
                                      <p:cBhvr>
                                        <p:cTn id="91" dur="500"/>
                                        <p:tgtEl>
                                          <p:spTgt spid="4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5"/>
                                        </p:tgtEl>
                                        <p:attrNameLst>
                                          <p:attrName>style.visibility</p:attrName>
                                        </p:attrNameLst>
                                      </p:cBhvr>
                                      <p:to>
                                        <p:strVal val="visible"/>
                                      </p:to>
                                    </p:set>
                                    <p:animEffect transition="in" filter="fade">
                                      <p:cBhvr>
                                        <p:cTn id="94" dur="500"/>
                                        <p:tgtEl>
                                          <p:spTgt spid="45"/>
                                        </p:tgtEl>
                                      </p:cBhvr>
                                    </p:animEffect>
                                  </p:childTnLst>
                                </p:cTn>
                              </p:par>
                              <p:par>
                                <p:cTn id="95" presetID="16" presetClass="entr" presetSubtype="21" fill="hold" grpId="0" nodeType="withEffect">
                                  <p:stCondLst>
                                    <p:cond delay="0"/>
                                  </p:stCondLst>
                                  <p:childTnLst>
                                    <p:set>
                                      <p:cBhvr>
                                        <p:cTn id="96" dur="1" fill="hold">
                                          <p:stCondLst>
                                            <p:cond delay="0"/>
                                          </p:stCondLst>
                                        </p:cTn>
                                        <p:tgtEl>
                                          <p:spTgt spid="57"/>
                                        </p:tgtEl>
                                        <p:attrNameLst>
                                          <p:attrName>style.visibility</p:attrName>
                                        </p:attrNameLst>
                                      </p:cBhvr>
                                      <p:to>
                                        <p:strVal val="visible"/>
                                      </p:to>
                                    </p:set>
                                    <p:animEffect transition="in" filter="barn(inVertical)">
                                      <p:cBhvr>
                                        <p:cTn id="97" dur="500"/>
                                        <p:tgtEl>
                                          <p:spTgt spid="57"/>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mph" presetSubtype="2" fill="hold" nodeType="clickEffect">
                                  <p:stCondLst>
                                    <p:cond delay="0"/>
                                  </p:stCondLst>
                                  <p:childTnLst>
                                    <p:animClr clrSpc="rgb" dir="cw">
                                      <p:cBhvr override="childStyle">
                                        <p:cTn id="101" dur="500" fill="hold"/>
                                        <p:tgtEl>
                                          <p:spTgt spid="3">
                                            <p:txEl>
                                              <p:pRg st="9" end="9"/>
                                            </p:txEl>
                                          </p:spTgt>
                                        </p:tgtEl>
                                        <p:attrNameLst>
                                          <p:attrName>style.color</p:attrName>
                                        </p:attrNameLst>
                                      </p:cBhvr>
                                      <p:to>
                                        <a:srgbClr val="FF0000"/>
                                      </p:to>
                                    </p:animClr>
                                  </p:childTnLst>
                                </p:cTn>
                              </p:par>
                              <p:par>
                                <p:cTn id="102" presetID="3" presetClass="emph" presetSubtype="2" fill="hold" nodeType="withEffect">
                                  <p:stCondLst>
                                    <p:cond delay="0"/>
                                  </p:stCondLst>
                                  <p:childTnLst>
                                    <p:animClr clrSpc="rgb" dir="cw">
                                      <p:cBhvr override="childStyle">
                                        <p:cTn id="103" dur="500" fill="hold"/>
                                        <p:tgtEl>
                                          <p:spTgt spid="3">
                                            <p:txEl>
                                              <p:pRg st="8" end="8"/>
                                            </p:txEl>
                                          </p:spTgt>
                                        </p:tgtEl>
                                        <p:attrNameLst>
                                          <p:attrName>style.color</p:attrName>
                                        </p:attrNameLst>
                                      </p:cBhvr>
                                      <p:to>
                                        <a:schemeClr val="tx1"/>
                                      </p:to>
                                    </p:animClr>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47"/>
                                        </p:tgtEl>
                                        <p:attrNameLst>
                                          <p:attrName>style.visibility</p:attrName>
                                        </p:attrNameLst>
                                      </p:cBhvr>
                                      <p:to>
                                        <p:strVal val="visible"/>
                                      </p:to>
                                    </p:set>
                                    <p:animEffect transition="in" filter="fade">
                                      <p:cBhvr>
                                        <p:cTn id="108" dur="500"/>
                                        <p:tgtEl>
                                          <p:spTgt spid="47"/>
                                        </p:tgtEl>
                                      </p:cBhvr>
                                    </p:animEffect>
                                  </p:childTnLst>
                                </p:cTn>
                              </p:par>
                              <p:par>
                                <p:cTn id="109" presetID="10" presetClass="exit" presetSubtype="0" fill="hold" nodeType="withEffect">
                                  <p:stCondLst>
                                    <p:cond delay="0"/>
                                  </p:stCondLst>
                                  <p:childTnLst>
                                    <p:animEffect transition="out" filter="fade">
                                      <p:cBhvr>
                                        <p:cTn id="110" dur="500"/>
                                        <p:tgtEl>
                                          <p:spTgt spid="36"/>
                                        </p:tgtEl>
                                      </p:cBhvr>
                                    </p:animEffect>
                                    <p:set>
                                      <p:cBhvr>
                                        <p:cTn id="111" dur="1" fill="hold">
                                          <p:stCondLst>
                                            <p:cond delay="499"/>
                                          </p:stCondLst>
                                        </p:cTn>
                                        <p:tgtEl>
                                          <p:spTgt spid="36"/>
                                        </p:tgtEl>
                                        <p:attrNameLst>
                                          <p:attrName>style.visibility</p:attrName>
                                        </p:attrNameLst>
                                      </p:cBhvr>
                                      <p:to>
                                        <p:strVal val="hidden"/>
                                      </p:to>
                                    </p:set>
                                  </p:childTnLst>
                                </p:cTn>
                              </p:par>
                              <p:par>
                                <p:cTn id="112" presetID="10" presetClass="exit" presetSubtype="0" fill="hold" grpId="1" nodeType="withEffect">
                                  <p:stCondLst>
                                    <p:cond delay="0"/>
                                  </p:stCondLst>
                                  <p:childTnLst>
                                    <p:animEffect transition="out" filter="fade">
                                      <p:cBhvr>
                                        <p:cTn id="113" dur="500"/>
                                        <p:tgtEl>
                                          <p:spTgt spid="45"/>
                                        </p:tgtEl>
                                      </p:cBhvr>
                                    </p:animEffect>
                                    <p:set>
                                      <p:cBhvr>
                                        <p:cTn id="114" dur="1" fill="hold">
                                          <p:stCondLst>
                                            <p:cond delay="499"/>
                                          </p:stCondLst>
                                        </p:cTn>
                                        <p:tgtEl>
                                          <p:spTgt spid="45"/>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49"/>
                                        </p:tgtEl>
                                        <p:attrNameLst>
                                          <p:attrName>style.visibility</p:attrName>
                                        </p:attrNameLst>
                                      </p:cBhvr>
                                      <p:to>
                                        <p:strVal val="visible"/>
                                      </p:to>
                                    </p:set>
                                    <p:animEffect transition="in" filter="fade">
                                      <p:cBhvr>
                                        <p:cTn id="119" dur="500"/>
                                        <p:tgtEl>
                                          <p:spTgt spid="49"/>
                                        </p:tgtEl>
                                      </p:cBhvr>
                                    </p:animEffect>
                                  </p:childTnLst>
                                </p:cTn>
                              </p:par>
                              <p:par>
                                <p:cTn id="120" presetID="10" presetClass="exit" presetSubtype="0" fill="hold" nodeType="withEffect">
                                  <p:stCondLst>
                                    <p:cond delay="0"/>
                                  </p:stCondLst>
                                  <p:childTnLst>
                                    <p:animEffect transition="out" filter="fade">
                                      <p:cBhvr>
                                        <p:cTn id="121" dur="500"/>
                                        <p:tgtEl>
                                          <p:spTgt spid="27"/>
                                        </p:tgtEl>
                                      </p:cBhvr>
                                    </p:animEffect>
                                    <p:set>
                                      <p:cBhvr>
                                        <p:cTn id="122" dur="1" fill="hold">
                                          <p:stCondLst>
                                            <p:cond delay="499"/>
                                          </p:stCondLst>
                                        </p:cTn>
                                        <p:tgtEl>
                                          <p:spTgt spid="27"/>
                                        </p:tgtEl>
                                        <p:attrNameLst>
                                          <p:attrName>style.visibility</p:attrName>
                                        </p:attrNameLst>
                                      </p:cBhvr>
                                      <p:to>
                                        <p:strVal val="hidden"/>
                                      </p:to>
                                    </p:set>
                                  </p:childTnLst>
                                </p:cTn>
                              </p:par>
                              <p:par>
                                <p:cTn id="123" presetID="10" presetClass="exit" presetSubtype="0" fill="hold" grpId="1" nodeType="withEffect">
                                  <p:stCondLst>
                                    <p:cond delay="0"/>
                                  </p:stCondLst>
                                  <p:childTnLst>
                                    <p:animEffect transition="out" filter="fade">
                                      <p:cBhvr>
                                        <p:cTn id="124" dur="500"/>
                                        <p:tgtEl>
                                          <p:spTgt spid="43"/>
                                        </p:tgtEl>
                                      </p:cBhvr>
                                    </p:animEffect>
                                    <p:set>
                                      <p:cBhvr>
                                        <p:cTn id="125" dur="1" fill="hold">
                                          <p:stCondLst>
                                            <p:cond delay="499"/>
                                          </p:stCondLst>
                                        </p:cTn>
                                        <p:tgtEl>
                                          <p:spTgt spid="43"/>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3" presetClass="emph" presetSubtype="2" fill="hold" nodeType="clickEffect">
                                  <p:stCondLst>
                                    <p:cond delay="0"/>
                                  </p:stCondLst>
                                  <p:childTnLst>
                                    <p:animClr clrSpc="rgb" dir="cw">
                                      <p:cBhvr override="childStyle">
                                        <p:cTn id="129" dur="500" fill="hold"/>
                                        <p:tgtEl>
                                          <p:spTgt spid="3">
                                            <p:txEl>
                                              <p:pRg st="9" end="9"/>
                                            </p:txEl>
                                          </p:spTgt>
                                        </p:tgtEl>
                                        <p:attrNameLst>
                                          <p:attrName>style.color</p:attrName>
                                        </p:attrNameLst>
                                      </p:cBhvr>
                                      <p:to>
                                        <a:schemeClr val="tx1"/>
                                      </p:to>
                                    </p:animClr>
                                  </p:childTnLst>
                                </p:cTn>
                              </p:par>
                              <p:par>
                                <p:cTn id="130" presetID="3" presetClass="emph" presetSubtype="2" fill="hold" nodeType="withEffect">
                                  <p:stCondLst>
                                    <p:cond delay="0"/>
                                  </p:stCondLst>
                                  <p:childTnLst>
                                    <p:animClr clrSpc="rgb" dir="cw">
                                      <p:cBhvr override="childStyle">
                                        <p:cTn id="131" dur="500" fill="hold"/>
                                        <p:tgtEl>
                                          <p:spTgt spid="3">
                                            <p:txEl>
                                              <p:pRg st="10" end="10"/>
                                            </p:txEl>
                                          </p:spTgt>
                                        </p:tgtEl>
                                        <p:attrNameLst>
                                          <p:attrName>style.color</p:attrName>
                                        </p:attrNameLst>
                                      </p:cBhvr>
                                      <p:to>
                                        <a:srgbClr val="FF0000"/>
                                      </p:to>
                                    </p:animClr>
                                  </p:childTnLst>
                                </p:cTn>
                              </p:par>
                            </p:childTnLst>
                          </p:cTn>
                        </p:par>
                      </p:childTnLst>
                    </p:cTn>
                  </p:par>
                  <p:par>
                    <p:cTn id="132" fill="hold">
                      <p:stCondLst>
                        <p:cond delay="indefinite"/>
                      </p:stCondLst>
                      <p:childTnLst>
                        <p:par>
                          <p:cTn id="133" fill="hold">
                            <p:stCondLst>
                              <p:cond delay="0"/>
                            </p:stCondLst>
                            <p:childTnLst>
                              <p:par>
                                <p:cTn id="134" presetID="10" presetClass="exit" presetSubtype="0" fill="hold" nodeType="clickEffect">
                                  <p:stCondLst>
                                    <p:cond delay="0"/>
                                  </p:stCondLst>
                                  <p:childTnLst>
                                    <p:animEffect transition="out" filter="fade">
                                      <p:cBhvr>
                                        <p:cTn id="135" dur="500"/>
                                        <p:tgtEl>
                                          <p:spTgt spid="42"/>
                                        </p:tgtEl>
                                      </p:cBhvr>
                                    </p:animEffect>
                                    <p:set>
                                      <p:cBhvr>
                                        <p:cTn id="136" dur="1" fill="hold">
                                          <p:stCondLst>
                                            <p:cond delay="499"/>
                                          </p:stCondLst>
                                        </p:cTn>
                                        <p:tgtEl>
                                          <p:spTgt spid="42"/>
                                        </p:tgtEl>
                                        <p:attrNameLst>
                                          <p:attrName>style.visibility</p:attrName>
                                        </p:attrNameLst>
                                      </p:cBhvr>
                                      <p:to>
                                        <p:strVal val="hidden"/>
                                      </p:to>
                                    </p:set>
                                  </p:childTnLst>
                                </p:cTn>
                              </p:par>
                              <p:par>
                                <p:cTn id="137" presetID="10" presetClass="entr" presetSubtype="0" fill="hold" grpId="0" nodeType="withEffect">
                                  <p:stCondLst>
                                    <p:cond delay="0"/>
                                  </p:stCondLst>
                                  <p:childTnLst>
                                    <p:set>
                                      <p:cBhvr>
                                        <p:cTn id="138" dur="1" fill="hold">
                                          <p:stCondLst>
                                            <p:cond delay="0"/>
                                          </p:stCondLst>
                                        </p:cTn>
                                        <p:tgtEl>
                                          <p:spTgt spid="53"/>
                                        </p:tgtEl>
                                        <p:attrNameLst>
                                          <p:attrName>style.visibility</p:attrName>
                                        </p:attrNameLst>
                                      </p:cBhvr>
                                      <p:to>
                                        <p:strVal val="visible"/>
                                      </p:to>
                                    </p:set>
                                    <p:animEffect transition="in" filter="fade">
                                      <p:cBhvr>
                                        <p:cTn id="139" dur="500"/>
                                        <p:tgtEl>
                                          <p:spTgt spid="53"/>
                                        </p:tgtEl>
                                      </p:cBhvr>
                                    </p:animEffect>
                                  </p:childTnLst>
                                </p:cTn>
                              </p:par>
                              <p:par>
                                <p:cTn id="140" presetID="10" presetClass="exit" presetSubtype="0" fill="hold" grpId="1" nodeType="withEffect">
                                  <p:stCondLst>
                                    <p:cond delay="0"/>
                                  </p:stCondLst>
                                  <p:childTnLst>
                                    <p:animEffect transition="out" filter="fade">
                                      <p:cBhvr>
                                        <p:cTn id="141" dur="500"/>
                                        <p:tgtEl>
                                          <p:spTgt spid="57"/>
                                        </p:tgtEl>
                                      </p:cBhvr>
                                    </p:animEffect>
                                    <p:set>
                                      <p:cBhvr>
                                        <p:cTn id="142" dur="1" fill="hold">
                                          <p:stCondLst>
                                            <p:cond delay="499"/>
                                          </p:stCondLst>
                                        </p:cTn>
                                        <p:tgtEl>
                                          <p:spTgt spid="57"/>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16" presetClass="entr" presetSubtype="21" fill="hold" grpId="0" nodeType="clickEffect">
                                  <p:stCondLst>
                                    <p:cond delay="0"/>
                                  </p:stCondLst>
                                  <p:childTnLst>
                                    <p:set>
                                      <p:cBhvr>
                                        <p:cTn id="146" dur="1" fill="hold">
                                          <p:stCondLst>
                                            <p:cond delay="0"/>
                                          </p:stCondLst>
                                        </p:cTn>
                                        <p:tgtEl>
                                          <p:spTgt spid="62"/>
                                        </p:tgtEl>
                                        <p:attrNameLst>
                                          <p:attrName>style.visibility</p:attrName>
                                        </p:attrNameLst>
                                      </p:cBhvr>
                                      <p:to>
                                        <p:strVal val="visible"/>
                                      </p:to>
                                    </p:set>
                                    <p:animEffect transition="in" filter="barn(inVertical)">
                                      <p:cBhvr>
                                        <p:cTn id="147" dur="500"/>
                                        <p:tgtEl>
                                          <p:spTgt spid="62"/>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xit" presetSubtype="4" fill="hold" nodeType="clickEffect">
                                  <p:stCondLst>
                                    <p:cond delay="0"/>
                                  </p:stCondLst>
                                  <p:childTnLst>
                                    <p:animEffect transition="out" filter="wipe(down)">
                                      <p:cBhvr>
                                        <p:cTn id="151" dur="500"/>
                                        <p:tgtEl>
                                          <p:spTgt spid="31"/>
                                        </p:tgtEl>
                                      </p:cBhvr>
                                    </p:animEffect>
                                    <p:set>
                                      <p:cBhvr>
                                        <p:cTn id="152" dur="1" fill="hold">
                                          <p:stCondLst>
                                            <p:cond delay="499"/>
                                          </p:stCondLst>
                                        </p:cTn>
                                        <p:tgtEl>
                                          <p:spTgt spid="31"/>
                                        </p:tgtEl>
                                        <p:attrNameLst>
                                          <p:attrName>style.visibility</p:attrName>
                                        </p:attrNameLst>
                                      </p:cBhvr>
                                      <p:to>
                                        <p:strVal val="hidden"/>
                                      </p:to>
                                    </p:set>
                                  </p:childTnLst>
                                </p:cTn>
                              </p:par>
                              <p:par>
                                <p:cTn id="153" presetID="22" presetClass="exit" presetSubtype="4" fill="hold" grpId="1" nodeType="withEffect">
                                  <p:stCondLst>
                                    <p:cond delay="0"/>
                                  </p:stCondLst>
                                  <p:childTnLst>
                                    <p:animEffect transition="out" filter="wipe(down)">
                                      <p:cBhvr>
                                        <p:cTn id="154" dur="500"/>
                                        <p:tgtEl>
                                          <p:spTgt spid="62"/>
                                        </p:tgtEl>
                                      </p:cBhvr>
                                    </p:animEffect>
                                    <p:set>
                                      <p:cBhvr>
                                        <p:cTn id="155" dur="1" fill="hold">
                                          <p:stCondLst>
                                            <p:cond delay="499"/>
                                          </p:stCondLst>
                                        </p:cTn>
                                        <p:tgtEl>
                                          <p:spTgt spid="62"/>
                                        </p:tgtEl>
                                        <p:attrNameLst>
                                          <p:attrName>style.visibility</p:attrName>
                                        </p:attrNameLst>
                                      </p:cBhvr>
                                      <p:to>
                                        <p:strVal val="hidden"/>
                                      </p:to>
                                    </p:set>
                                  </p:childTnLst>
                                </p:cTn>
                              </p:par>
                              <p:par>
                                <p:cTn id="156" presetID="10" presetClass="exit" presetSubtype="0" fill="hold" grpId="1" nodeType="withEffect">
                                  <p:stCondLst>
                                    <p:cond delay="0"/>
                                  </p:stCondLst>
                                  <p:childTnLst>
                                    <p:animEffect transition="out" filter="fade">
                                      <p:cBhvr>
                                        <p:cTn id="157" dur="500"/>
                                        <p:tgtEl>
                                          <p:spTgt spid="53"/>
                                        </p:tgtEl>
                                      </p:cBhvr>
                                    </p:animEffect>
                                    <p:set>
                                      <p:cBhvr>
                                        <p:cTn id="158" dur="1" fill="hold">
                                          <p:stCondLst>
                                            <p:cond delay="499"/>
                                          </p:stCondLst>
                                        </p:cTn>
                                        <p:tgtEl>
                                          <p:spTgt spid="53"/>
                                        </p:tgtEl>
                                        <p:attrNameLst>
                                          <p:attrName>style.visibility</p:attrName>
                                        </p:attrNameLst>
                                      </p:cBhvr>
                                      <p:to>
                                        <p:strVal val="hidden"/>
                                      </p:to>
                                    </p:set>
                                  </p:childTnLst>
                                </p:cTn>
                              </p:par>
                            </p:childTnLst>
                          </p:cTn>
                        </p:par>
                      </p:childTnLst>
                    </p:cTn>
                  </p:par>
                  <p:par>
                    <p:cTn id="159" fill="hold">
                      <p:stCondLst>
                        <p:cond delay="indefinite"/>
                      </p:stCondLst>
                      <p:childTnLst>
                        <p:par>
                          <p:cTn id="160" fill="hold">
                            <p:stCondLst>
                              <p:cond delay="0"/>
                            </p:stCondLst>
                            <p:childTnLst>
                              <p:par>
                                <p:cTn id="161" presetID="3" presetClass="emph" presetSubtype="2" fill="hold" nodeType="clickEffect">
                                  <p:stCondLst>
                                    <p:cond delay="0"/>
                                  </p:stCondLst>
                                  <p:childTnLst>
                                    <p:animClr clrSpc="rgb" dir="cw">
                                      <p:cBhvr override="childStyle">
                                        <p:cTn id="162" dur="500" fill="hold"/>
                                        <p:tgtEl>
                                          <p:spTgt spid="3">
                                            <p:txEl>
                                              <p:pRg st="11" end="11"/>
                                            </p:txEl>
                                          </p:spTgt>
                                        </p:tgtEl>
                                        <p:attrNameLst>
                                          <p:attrName>style.color</p:attrName>
                                        </p:attrNameLst>
                                      </p:cBhvr>
                                      <p:to>
                                        <a:srgbClr val="FF0000"/>
                                      </p:to>
                                    </p:animClr>
                                  </p:childTnLst>
                                </p:cTn>
                              </p:par>
                              <p:par>
                                <p:cTn id="163" presetID="3" presetClass="emph" presetSubtype="2" fill="hold" nodeType="withEffect">
                                  <p:stCondLst>
                                    <p:cond delay="0"/>
                                  </p:stCondLst>
                                  <p:childTnLst>
                                    <p:animClr clrSpc="rgb" dir="cw">
                                      <p:cBhvr override="childStyle">
                                        <p:cTn id="164" dur="500" fill="hold"/>
                                        <p:tgtEl>
                                          <p:spTgt spid="3">
                                            <p:txEl>
                                              <p:pRg st="10" end="10"/>
                                            </p:txEl>
                                          </p:spTgt>
                                        </p:tgtEl>
                                        <p:attrNameLst>
                                          <p:attrName>style.color</p:attrName>
                                        </p:attrNameLst>
                                      </p:cBhvr>
                                      <p:to>
                                        <a:schemeClr val="tx1"/>
                                      </p:to>
                                    </p:animClr>
                                  </p:childTnLst>
                                </p:cTn>
                              </p:par>
                            </p:childTnLst>
                          </p:cTn>
                        </p:par>
                      </p:childTnLst>
                    </p:cTn>
                  </p:par>
                  <p:par>
                    <p:cTn id="165" fill="hold">
                      <p:stCondLst>
                        <p:cond delay="indefinite"/>
                      </p:stCondLst>
                      <p:childTnLst>
                        <p:par>
                          <p:cTn id="166" fill="hold">
                            <p:stCondLst>
                              <p:cond delay="0"/>
                            </p:stCondLst>
                            <p:childTnLst>
                              <p:par>
                                <p:cTn id="167" presetID="10" presetClass="exit" presetSubtype="0" fill="hold" nodeType="clickEffect">
                                  <p:stCondLst>
                                    <p:cond delay="0"/>
                                  </p:stCondLst>
                                  <p:childTnLst>
                                    <p:animEffect transition="out" filter="fade">
                                      <p:cBhvr>
                                        <p:cTn id="168" dur="500"/>
                                        <p:tgtEl>
                                          <p:spTgt spid="17"/>
                                        </p:tgtEl>
                                      </p:cBhvr>
                                    </p:animEffect>
                                    <p:set>
                                      <p:cBhvr>
                                        <p:cTn id="169" dur="1" fill="hold">
                                          <p:stCondLst>
                                            <p:cond delay="499"/>
                                          </p:stCondLst>
                                        </p:cTn>
                                        <p:tgtEl>
                                          <p:spTgt spid="17"/>
                                        </p:tgtEl>
                                        <p:attrNameLst>
                                          <p:attrName>style.visibility</p:attrName>
                                        </p:attrNameLst>
                                      </p:cBhvr>
                                      <p:to>
                                        <p:strVal val="hidden"/>
                                      </p:to>
                                    </p:set>
                                  </p:childTnLst>
                                </p:cTn>
                              </p:par>
                              <p:par>
                                <p:cTn id="170" presetID="10" presetClass="entr" presetSubtype="0" fill="hold" grpId="0" nodeType="withEffect">
                                  <p:stCondLst>
                                    <p:cond delay="0"/>
                                  </p:stCondLst>
                                  <p:childTnLst>
                                    <p:set>
                                      <p:cBhvr>
                                        <p:cTn id="171" dur="1" fill="hold">
                                          <p:stCondLst>
                                            <p:cond delay="0"/>
                                          </p:stCondLst>
                                        </p:cTn>
                                        <p:tgtEl>
                                          <p:spTgt spid="58"/>
                                        </p:tgtEl>
                                        <p:attrNameLst>
                                          <p:attrName>style.visibility</p:attrName>
                                        </p:attrNameLst>
                                      </p:cBhvr>
                                      <p:to>
                                        <p:strVal val="visible"/>
                                      </p:to>
                                    </p:set>
                                    <p:animEffect transition="in" filter="fade">
                                      <p:cBhvr>
                                        <p:cTn id="172" dur="500"/>
                                        <p:tgtEl>
                                          <p:spTgt spid="58"/>
                                        </p:tgtEl>
                                      </p:cBhvr>
                                    </p:animEffect>
                                  </p:childTnLst>
                                </p:cTn>
                              </p:par>
                              <p:par>
                                <p:cTn id="173" presetID="10" presetClass="entr" presetSubtype="0" fill="hold" nodeType="withEffect">
                                  <p:stCondLst>
                                    <p:cond delay="0"/>
                                  </p:stCondLst>
                                  <p:childTnLst>
                                    <p:set>
                                      <p:cBhvr>
                                        <p:cTn id="174" dur="1" fill="hold">
                                          <p:stCondLst>
                                            <p:cond delay="0"/>
                                          </p:stCondLst>
                                        </p:cTn>
                                        <p:tgtEl>
                                          <p:spTgt spid="60"/>
                                        </p:tgtEl>
                                        <p:attrNameLst>
                                          <p:attrName>style.visibility</p:attrName>
                                        </p:attrNameLst>
                                      </p:cBhvr>
                                      <p:to>
                                        <p:strVal val="visible"/>
                                      </p:to>
                                    </p:set>
                                    <p:animEffect transition="in" filter="fade">
                                      <p:cBhvr>
                                        <p:cTn id="175" dur="500"/>
                                        <p:tgtEl>
                                          <p:spTgt spid="60"/>
                                        </p:tgtEl>
                                      </p:cBhvr>
                                    </p:animEffect>
                                  </p:childTnLst>
                                </p:cTn>
                              </p:par>
                            </p:childTnLst>
                          </p:cTn>
                        </p:par>
                      </p:childTnLst>
                    </p:cTn>
                  </p:par>
                  <p:par>
                    <p:cTn id="176" fill="hold">
                      <p:stCondLst>
                        <p:cond delay="indefinite"/>
                      </p:stCondLst>
                      <p:childTnLst>
                        <p:par>
                          <p:cTn id="177" fill="hold">
                            <p:stCondLst>
                              <p:cond delay="0"/>
                            </p:stCondLst>
                            <p:childTnLst>
                              <p:par>
                                <p:cTn id="178" presetID="16" presetClass="entr" presetSubtype="21" fill="hold" grpId="0" nodeType="clickEffect">
                                  <p:stCondLst>
                                    <p:cond delay="0"/>
                                  </p:stCondLst>
                                  <p:childTnLst>
                                    <p:set>
                                      <p:cBhvr>
                                        <p:cTn id="179" dur="1" fill="hold">
                                          <p:stCondLst>
                                            <p:cond delay="0"/>
                                          </p:stCondLst>
                                        </p:cTn>
                                        <p:tgtEl>
                                          <p:spTgt spid="54"/>
                                        </p:tgtEl>
                                        <p:attrNameLst>
                                          <p:attrName>style.visibility</p:attrName>
                                        </p:attrNameLst>
                                      </p:cBhvr>
                                      <p:to>
                                        <p:strVal val="visible"/>
                                      </p:to>
                                    </p:set>
                                    <p:animEffect transition="in" filter="barn(inVertical)">
                                      <p:cBhvr>
                                        <p:cTn id="180" dur="500"/>
                                        <p:tgtEl>
                                          <p:spTgt spid="54"/>
                                        </p:tgtEl>
                                      </p:cBhvr>
                                    </p:animEffect>
                                  </p:childTnLst>
                                </p:cTn>
                              </p:par>
                            </p:childTnLst>
                          </p:cTn>
                        </p:par>
                      </p:childTnLst>
                    </p:cTn>
                  </p:par>
                  <p:par>
                    <p:cTn id="181" fill="hold">
                      <p:stCondLst>
                        <p:cond delay="indefinite"/>
                      </p:stCondLst>
                      <p:childTnLst>
                        <p:par>
                          <p:cTn id="182" fill="hold">
                            <p:stCondLst>
                              <p:cond delay="0"/>
                            </p:stCondLst>
                            <p:childTnLst>
                              <p:par>
                                <p:cTn id="183" presetID="10" presetClass="exit" presetSubtype="0" fill="hold" nodeType="clickEffect">
                                  <p:stCondLst>
                                    <p:cond delay="0"/>
                                  </p:stCondLst>
                                  <p:childTnLst>
                                    <p:animEffect transition="out" filter="fade">
                                      <p:cBhvr>
                                        <p:cTn id="184" dur="500"/>
                                        <p:tgtEl>
                                          <p:spTgt spid="15"/>
                                        </p:tgtEl>
                                      </p:cBhvr>
                                    </p:animEffect>
                                    <p:set>
                                      <p:cBhvr>
                                        <p:cTn id="185" dur="1" fill="hold">
                                          <p:stCondLst>
                                            <p:cond delay="499"/>
                                          </p:stCondLst>
                                        </p:cTn>
                                        <p:tgtEl>
                                          <p:spTgt spid="15"/>
                                        </p:tgtEl>
                                        <p:attrNameLst>
                                          <p:attrName>style.visibility</p:attrName>
                                        </p:attrNameLst>
                                      </p:cBhvr>
                                      <p:to>
                                        <p:strVal val="hidden"/>
                                      </p:to>
                                    </p:set>
                                  </p:childTnLst>
                                </p:cTn>
                              </p:par>
                              <p:par>
                                <p:cTn id="186" presetID="10" presetClass="exit" presetSubtype="0" fill="hold" nodeType="withEffect">
                                  <p:stCondLst>
                                    <p:cond delay="0"/>
                                  </p:stCondLst>
                                  <p:childTnLst>
                                    <p:animEffect transition="out" filter="fade">
                                      <p:cBhvr>
                                        <p:cTn id="187" dur="500"/>
                                        <p:tgtEl>
                                          <p:spTgt spid="38"/>
                                        </p:tgtEl>
                                      </p:cBhvr>
                                    </p:animEffect>
                                    <p:set>
                                      <p:cBhvr>
                                        <p:cTn id="188" dur="1" fill="hold">
                                          <p:stCondLst>
                                            <p:cond delay="499"/>
                                          </p:stCondLst>
                                        </p:cTn>
                                        <p:tgtEl>
                                          <p:spTgt spid="38"/>
                                        </p:tgtEl>
                                        <p:attrNameLst>
                                          <p:attrName>style.visibility</p:attrName>
                                        </p:attrNameLst>
                                      </p:cBhvr>
                                      <p:to>
                                        <p:strVal val="hidden"/>
                                      </p:to>
                                    </p:set>
                                  </p:childTnLst>
                                </p:cTn>
                              </p:par>
                              <p:par>
                                <p:cTn id="189" presetID="10" presetClass="exit" presetSubtype="0" fill="hold" grpId="1" nodeType="withEffect">
                                  <p:stCondLst>
                                    <p:cond delay="0"/>
                                  </p:stCondLst>
                                  <p:childTnLst>
                                    <p:animEffect transition="out" filter="fade">
                                      <p:cBhvr>
                                        <p:cTn id="190" dur="500"/>
                                        <p:tgtEl>
                                          <p:spTgt spid="56"/>
                                        </p:tgtEl>
                                      </p:cBhvr>
                                    </p:animEffect>
                                    <p:set>
                                      <p:cBhvr>
                                        <p:cTn id="191" dur="1" fill="hold">
                                          <p:stCondLst>
                                            <p:cond delay="499"/>
                                          </p:stCondLst>
                                        </p:cTn>
                                        <p:tgtEl>
                                          <p:spTgt spid="56"/>
                                        </p:tgtEl>
                                        <p:attrNameLst>
                                          <p:attrName>style.visibility</p:attrName>
                                        </p:attrNameLst>
                                      </p:cBhvr>
                                      <p:to>
                                        <p:strVal val="hidden"/>
                                      </p:to>
                                    </p:set>
                                  </p:childTnLst>
                                </p:cTn>
                              </p:par>
                              <p:par>
                                <p:cTn id="192" presetID="10" presetClass="exit" presetSubtype="0" fill="hold" grpId="1" nodeType="withEffect">
                                  <p:stCondLst>
                                    <p:cond delay="0"/>
                                  </p:stCondLst>
                                  <p:childTnLst>
                                    <p:animEffect transition="out" filter="fade">
                                      <p:cBhvr>
                                        <p:cTn id="193" dur="500"/>
                                        <p:tgtEl>
                                          <p:spTgt spid="58"/>
                                        </p:tgtEl>
                                      </p:cBhvr>
                                    </p:animEffect>
                                    <p:set>
                                      <p:cBhvr>
                                        <p:cTn id="194" dur="1" fill="hold">
                                          <p:stCondLst>
                                            <p:cond delay="499"/>
                                          </p:stCondLst>
                                        </p:cTn>
                                        <p:tgtEl>
                                          <p:spTgt spid="58"/>
                                        </p:tgtEl>
                                        <p:attrNameLst>
                                          <p:attrName>style.visibility</p:attrName>
                                        </p:attrNameLst>
                                      </p:cBhvr>
                                      <p:to>
                                        <p:strVal val="hidden"/>
                                      </p:to>
                                    </p:set>
                                  </p:childTnLst>
                                </p:cTn>
                              </p:par>
                              <p:par>
                                <p:cTn id="195" presetID="22" presetClass="exit" presetSubtype="4" fill="hold" grpId="1" nodeType="withEffect">
                                  <p:stCondLst>
                                    <p:cond delay="0"/>
                                  </p:stCondLst>
                                  <p:childTnLst>
                                    <p:animEffect transition="out" filter="wipe(down)">
                                      <p:cBhvr>
                                        <p:cTn id="196" dur="500"/>
                                        <p:tgtEl>
                                          <p:spTgt spid="54"/>
                                        </p:tgtEl>
                                      </p:cBhvr>
                                    </p:animEffect>
                                    <p:set>
                                      <p:cBhvr>
                                        <p:cTn id="197" dur="1" fill="hold">
                                          <p:stCondLst>
                                            <p:cond delay="499"/>
                                          </p:stCondLst>
                                        </p:cTn>
                                        <p:tgtEl>
                                          <p:spTgt spid="54"/>
                                        </p:tgtEl>
                                        <p:attrNameLst>
                                          <p:attrName>style.visibility</p:attrName>
                                        </p:attrNameLst>
                                      </p:cBhvr>
                                      <p:to>
                                        <p:strVal val="hidden"/>
                                      </p:to>
                                    </p:set>
                                  </p:childTnLst>
                                </p:cTn>
                              </p:par>
                            </p:childTnLst>
                          </p:cTn>
                        </p:par>
                      </p:childTnLst>
                    </p:cTn>
                  </p:par>
                  <p:par>
                    <p:cTn id="198" fill="hold">
                      <p:stCondLst>
                        <p:cond delay="indefinite"/>
                      </p:stCondLst>
                      <p:childTnLst>
                        <p:par>
                          <p:cTn id="199" fill="hold">
                            <p:stCondLst>
                              <p:cond delay="0"/>
                            </p:stCondLst>
                            <p:childTnLst>
                              <p:par>
                                <p:cTn id="200" presetID="10" presetClass="entr" presetSubtype="0" fill="hold" grpId="0" nodeType="clickEffect">
                                  <p:stCondLst>
                                    <p:cond delay="0"/>
                                  </p:stCondLst>
                                  <p:childTnLst>
                                    <p:set>
                                      <p:cBhvr>
                                        <p:cTn id="201" dur="1" fill="hold">
                                          <p:stCondLst>
                                            <p:cond delay="0"/>
                                          </p:stCondLst>
                                        </p:cTn>
                                        <p:tgtEl>
                                          <p:spTgt spid="63"/>
                                        </p:tgtEl>
                                        <p:attrNameLst>
                                          <p:attrName>style.visibility</p:attrName>
                                        </p:attrNameLst>
                                      </p:cBhvr>
                                      <p:to>
                                        <p:strVal val="visible"/>
                                      </p:to>
                                    </p:set>
                                    <p:animEffect transition="in" filter="fade">
                                      <p:cBhvr>
                                        <p:cTn id="202" dur="500"/>
                                        <p:tgtEl>
                                          <p:spTgt spid="63"/>
                                        </p:tgtEl>
                                      </p:cBhvr>
                                    </p:animEffect>
                                  </p:childTnLst>
                                </p:cTn>
                              </p:par>
                            </p:childTnLst>
                          </p:cTn>
                        </p:par>
                      </p:childTnLst>
                    </p:cTn>
                  </p:par>
                  <p:par>
                    <p:cTn id="203" fill="hold">
                      <p:stCondLst>
                        <p:cond delay="indefinite"/>
                      </p:stCondLst>
                      <p:childTnLst>
                        <p:par>
                          <p:cTn id="204" fill="hold">
                            <p:stCondLst>
                              <p:cond delay="0"/>
                            </p:stCondLst>
                            <p:childTnLst>
                              <p:par>
                                <p:cTn id="205" presetID="16" presetClass="entr" presetSubtype="21" fill="hold" grpId="0" nodeType="clickEffect">
                                  <p:stCondLst>
                                    <p:cond delay="0"/>
                                  </p:stCondLst>
                                  <p:childTnLst>
                                    <p:set>
                                      <p:cBhvr>
                                        <p:cTn id="206" dur="1" fill="hold">
                                          <p:stCondLst>
                                            <p:cond delay="0"/>
                                          </p:stCondLst>
                                        </p:cTn>
                                        <p:tgtEl>
                                          <p:spTgt spid="64"/>
                                        </p:tgtEl>
                                        <p:attrNameLst>
                                          <p:attrName>style.visibility</p:attrName>
                                        </p:attrNameLst>
                                      </p:cBhvr>
                                      <p:to>
                                        <p:strVal val="visible"/>
                                      </p:to>
                                    </p:set>
                                    <p:animEffect transition="in" filter="barn(inVertical)">
                                      <p:cBhvr>
                                        <p:cTn id="207" dur="500"/>
                                        <p:tgtEl>
                                          <p:spTgt spid="64"/>
                                        </p:tgtEl>
                                      </p:cBhvr>
                                    </p:animEffect>
                                  </p:childTnLst>
                                </p:cTn>
                              </p:par>
                            </p:childTnLst>
                          </p:cTn>
                        </p:par>
                      </p:childTnLst>
                    </p:cTn>
                  </p:par>
                  <p:par>
                    <p:cTn id="208" fill="hold">
                      <p:stCondLst>
                        <p:cond delay="indefinite"/>
                      </p:stCondLst>
                      <p:childTnLst>
                        <p:par>
                          <p:cTn id="209" fill="hold">
                            <p:stCondLst>
                              <p:cond delay="0"/>
                            </p:stCondLst>
                            <p:childTnLst>
                              <p:par>
                                <p:cTn id="210" presetID="10" presetClass="exit" presetSubtype="0" fill="hold" grpId="1" nodeType="clickEffect">
                                  <p:stCondLst>
                                    <p:cond delay="0"/>
                                  </p:stCondLst>
                                  <p:childTnLst>
                                    <p:animEffect transition="out" filter="fade">
                                      <p:cBhvr>
                                        <p:cTn id="211" dur="500"/>
                                        <p:tgtEl>
                                          <p:spTgt spid="63"/>
                                        </p:tgtEl>
                                      </p:cBhvr>
                                    </p:animEffect>
                                    <p:set>
                                      <p:cBhvr>
                                        <p:cTn id="212" dur="1" fill="hold">
                                          <p:stCondLst>
                                            <p:cond delay="499"/>
                                          </p:stCondLst>
                                        </p:cTn>
                                        <p:tgtEl>
                                          <p:spTgt spid="63"/>
                                        </p:tgtEl>
                                        <p:attrNameLst>
                                          <p:attrName>style.visibility</p:attrName>
                                        </p:attrNameLst>
                                      </p:cBhvr>
                                      <p:to>
                                        <p:strVal val="hidden"/>
                                      </p:to>
                                    </p:set>
                                  </p:childTnLst>
                                </p:cTn>
                              </p:par>
                              <p:par>
                                <p:cTn id="213" presetID="22" presetClass="exit" presetSubtype="4" fill="hold" grpId="1" nodeType="withEffect">
                                  <p:stCondLst>
                                    <p:cond delay="0"/>
                                  </p:stCondLst>
                                  <p:childTnLst>
                                    <p:animEffect transition="out" filter="wipe(down)">
                                      <p:cBhvr>
                                        <p:cTn id="214" dur="500"/>
                                        <p:tgtEl>
                                          <p:spTgt spid="64"/>
                                        </p:tgtEl>
                                      </p:cBhvr>
                                    </p:animEffect>
                                    <p:set>
                                      <p:cBhvr>
                                        <p:cTn id="215" dur="1" fill="hold">
                                          <p:stCondLst>
                                            <p:cond delay="499"/>
                                          </p:stCondLst>
                                        </p:cTn>
                                        <p:tgtEl>
                                          <p:spTgt spid="64"/>
                                        </p:tgtEl>
                                        <p:attrNameLst>
                                          <p:attrName>style.visibility</p:attrName>
                                        </p:attrNameLst>
                                      </p:cBhvr>
                                      <p:to>
                                        <p:strVal val="hidden"/>
                                      </p:to>
                                    </p:set>
                                  </p:childTnLst>
                                </p:cTn>
                              </p:par>
                              <p:par>
                                <p:cTn id="216" presetID="10" presetClass="exit" presetSubtype="0" fill="hold" nodeType="withEffect">
                                  <p:stCondLst>
                                    <p:cond delay="0"/>
                                  </p:stCondLst>
                                  <p:childTnLst>
                                    <p:animEffect transition="out" filter="fade">
                                      <p:cBhvr>
                                        <p:cTn id="217" dur="500"/>
                                        <p:tgtEl>
                                          <p:spTgt spid="22"/>
                                        </p:tgtEl>
                                      </p:cBhvr>
                                    </p:animEffect>
                                    <p:set>
                                      <p:cBhvr>
                                        <p:cTn id="218"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3" grpId="1" animBg="1"/>
      <p:bldP spid="45" grpId="0" animBg="1"/>
      <p:bldP spid="45" grpId="1" animBg="1"/>
      <p:bldP spid="53" grpId="0" animBg="1"/>
      <p:bldP spid="53" grpId="1" animBg="1"/>
      <p:bldP spid="56" grpId="0" animBg="1"/>
      <p:bldP spid="56" grpId="1" animBg="1"/>
      <p:bldP spid="57" grpId="0" animBg="1"/>
      <p:bldP spid="57" grpId="1" animBg="1"/>
      <p:bldP spid="58" grpId="0" animBg="1"/>
      <p:bldP spid="58" grpId="1" animBg="1"/>
      <p:bldP spid="62" grpId="0" animBg="1"/>
      <p:bldP spid="62" grpId="1" animBg="1"/>
      <p:bldP spid="54" grpId="0" animBg="1"/>
      <p:bldP spid="54" grpId="1" animBg="1"/>
      <p:bldP spid="63" grpId="0" animBg="1"/>
      <p:bldP spid="63" grpId="1" animBg="1"/>
      <p:bldP spid="64" grpId="0" animBg="1"/>
      <p:bldP spid="64" grpI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3"/>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Problem with Reference Counting</a:t>
            </a:r>
          </a:p>
        </p:txBody>
      </p:sp>
      <p:sp>
        <p:nvSpPr>
          <p:cNvPr id="3" name="Rectangle 2"/>
          <p:cNvSpPr/>
          <p:nvPr/>
        </p:nvSpPr>
        <p:spPr>
          <a:xfrm>
            <a:off x="452718" y="1284922"/>
            <a:ext cx="6096000" cy="5144998"/>
          </a:xfrm>
          <a:prstGeom prst="rect">
            <a:avLst/>
          </a:prstGeom>
        </p:spPr>
        <p:txBody>
          <a:bodyPr>
            <a:spAutoFit/>
          </a:bodyPr>
          <a:lstStyle/>
          <a:p>
            <a:pPr>
              <a:lnSpc>
                <a:spcPct val="114000"/>
              </a:lnSpc>
            </a:pPr>
            <a:r>
              <a:rPr lang="en-US" dirty="0">
                <a:solidFill>
                  <a:srgbClr val="1A1A1A"/>
                </a:solidFill>
                <a:latin typeface="Courier New" panose="02070309020205020404" pitchFamily="49" charset="0"/>
                <a:cs typeface="Courier New" panose="02070309020205020404" pitchFamily="49" charset="0"/>
              </a:rPr>
              <a:t>class LinkedList {</a:t>
            </a:r>
          </a:p>
          <a:p>
            <a:pPr>
              <a:lnSpc>
                <a:spcPct val="114000"/>
              </a:lnSpc>
            </a:pPr>
            <a:r>
              <a:rPr lang="en-US" dirty="0">
                <a:solidFill>
                  <a:srgbClr val="1A1A1A"/>
                </a:solidFill>
                <a:latin typeface="Courier New" panose="02070309020205020404" pitchFamily="49" charset="0"/>
                <a:cs typeface="Courier New" panose="02070309020205020404" pitchFamily="49" charset="0"/>
              </a:rPr>
              <a:t>	LinkedList next;</a:t>
            </a:r>
          </a:p>
          <a:p>
            <a:pPr>
              <a:lnSpc>
                <a:spcPct val="114000"/>
              </a:lnSpc>
            </a:pPr>
            <a:r>
              <a:rPr lang="en-US" dirty="0">
                <a:solidFill>
                  <a:srgbClr val="1A1A1A"/>
                </a:solidFill>
                <a:latin typeface="Courier New" panose="02070309020205020404" pitchFamily="49" charset="0"/>
                <a:cs typeface="Courier New" panose="02070309020205020404" pitchFamily="49" charset="0"/>
              </a:rPr>
              <a:t>}</a:t>
            </a:r>
          </a:p>
          <a:p>
            <a:pPr>
              <a:lnSpc>
                <a:spcPct val="114000"/>
              </a:lnSpc>
            </a:pPr>
            <a:r>
              <a:rPr lang="en-US" dirty="0">
                <a:solidFill>
                  <a:srgbClr val="1A1A1A"/>
                </a:solidFill>
                <a:latin typeface="Courier New" panose="02070309020205020404" pitchFamily="49" charset="0"/>
                <a:cs typeface="Courier New" panose="02070309020205020404" pitchFamily="49" charset="0"/>
              </a:rPr>
              <a:t>int main() {</a:t>
            </a:r>
          </a:p>
          <a:p>
            <a:pPr>
              <a:lnSpc>
                <a:spcPct val="114000"/>
              </a:lnSpc>
            </a:pPr>
            <a:r>
              <a:rPr lang="en-US" dirty="0">
                <a:solidFill>
                  <a:srgbClr val="1A1A1A"/>
                </a:solidFill>
                <a:latin typeface="Courier New" panose="02070309020205020404" pitchFamily="49" charset="0"/>
                <a:cs typeface="Courier New" panose="02070309020205020404" pitchFamily="49" charset="0"/>
              </a:rPr>
              <a:t>	LinkedList head = new LinkedList;</a:t>
            </a:r>
          </a:p>
          <a:p>
            <a:pPr>
              <a:lnSpc>
                <a:spcPct val="114000"/>
              </a:lnSpc>
            </a:pPr>
            <a:r>
              <a:rPr lang="en-US" dirty="0">
                <a:solidFill>
                  <a:srgbClr val="1A1A1A"/>
                </a:solidFill>
                <a:latin typeface="Courier New" panose="02070309020205020404" pitchFamily="49" charset="0"/>
                <a:cs typeface="Courier New" panose="02070309020205020404" pitchFamily="49" charset="0"/>
              </a:rPr>
              <a:t>	LinkedList mid = new LinkedList;</a:t>
            </a:r>
          </a:p>
          <a:p>
            <a:pPr>
              <a:lnSpc>
                <a:spcPct val="114000"/>
              </a:lnSpc>
            </a:pPr>
            <a:r>
              <a:rPr lang="en-US" dirty="0">
                <a:solidFill>
                  <a:srgbClr val="1A1A1A"/>
                </a:solidFill>
                <a:latin typeface="Courier New" panose="02070309020205020404" pitchFamily="49" charset="0"/>
                <a:cs typeface="Courier New" panose="02070309020205020404" pitchFamily="49" charset="0"/>
              </a:rPr>
              <a:t>	LinkedList tail = new LinkedList;</a:t>
            </a:r>
            <a:br>
              <a:rPr lang="en-US" dirty="0">
                <a:solidFill>
                  <a:srgbClr val="1A1A1A"/>
                </a:solidFill>
                <a:latin typeface="Courier New" panose="02070309020205020404" pitchFamily="49" charset="0"/>
                <a:cs typeface="Courier New" panose="02070309020205020404" pitchFamily="49" charset="0"/>
              </a:rPr>
            </a:br>
            <a:r>
              <a:rPr lang="en-US" dirty="0">
                <a:solidFill>
                  <a:srgbClr val="1A1A1A"/>
                </a:solidFill>
                <a:latin typeface="Courier New" panose="02070309020205020404" pitchFamily="49" charset="0"/>
                <a:cs typeface="Courier New" panose="02070309020205020404" pitchFamily="49" charset="0"/>
              </a:rPr>
              <a:t>	</a:t>
            </a:r>
          </a:p>
          <a:p>
            <a:pPr>
              <a:lnSpc>
                <a:spcPct val="114000"/>
              </a:lnSpc>
            </a:pPr>
            <a:r>
              <a:rPr lang="en-US" dirty="0">
                <a:solidFill>
                  <a:srgbClr val="1A1A1A"/>
                </a:solidFill>
                <a:latin typeface="Courier New" panose="02070309020205020404" pitchFamily="49" charset="0"/>
                <a:cs typeface="Courier New" panose="02070309020205020404" pitchFamily="49" charset="0"/>
              </a:rPr>
              <a:t>	head.next = mid;</a:t>
            </a:r>
          </a:p>
          <a:p>
            <a:pPr>
              <a:lnSpc>
                <a:spcPct val="114000"/>
              </a:lnSpc>
            </a:pPr>
            <a:r>
              <a:rPr lang="en-US" dirty="0">
                <a:solidFill>
                  <a:srgbClr val="1A1A1A"/>
                </a:solidFill>
                <a:latin typeface="Courier New" panose="02070309020205020404" pitchFamily="49" charset="0"/>
                <a:cs typeface="Courier New" panose="02070309020205020404" pitchFamily="49" charset="0"/>
              </a:rPr>
              <a:t>	mid.next = tail;</a:t>
            </a:r>
          </a:p>
          <a:p>
            <a:pPr>
              <a:lnSpc>
                <a:spcPct val="114000"/>
              </a:lnSpc>
            </a:pPr>
            <a:r>
              <a:rPr lang="en-US" dirty="0">
                <a:solidFill>
                  <a:srgbClr val="1A1A1A"/>
                </a:solidFill>
                <a:latin typeface="Courier New" panose="02070309020205020404" pitchFamily="49" charset="0"/>
                <a:cs typeface="Courier New" panose="02070309020205020404" pitchFamily="49" charset="0"/>
              </a:rPr>
              <a:t>	</a:t>
            </a:r>
            <a:r>
              <a:rPr lang="en-US" dirty="0" err="1">
                <a:solidFill>
                  <a:srgbClr val="1A1A1A"/>
                </a:solidFill>
                <a:latin typeface="Courier New" panose="02070309020205020404" pitchFamily="49" charset="0"/>
                <a:cs typeface="Courier New" panose="02070309020205020404" pitchFamily="49" charset="0"/>
              </a:rPr>
              <a:t>tail.next</a:t>
            </a:r>
            <a:r>
              <a:rPr lang="en-US" dirty="0">
                <a:solidFill>
                  <a:srgbClr val="1A1A1A"/>
                </a:solidFill>
                <a:latin typeface="Courier New" panose="02070309020205020404" pitchFamily="49" charset="0"/>
                <a:cs typeface="Courier New" panose="02070309020205020404" pitchFamily="49" charset="0"/>
              </a:rPr>
              <a:t> = head;</a:t>
            </a:r>
            <a:br>
              <a:rPr lang="en-US" dirty="0">
                <a:solidFill>
                  <a:srgbClr val="1A1A1A"/>
                </a:solidFill>
                <a:latin typeface="Courier New" panose="02070309020205020404" pitchFamily="49" charset="0"/>
                <a:cs typeface="Courier New" panose="02070309020205020404" pitchFamily="49" charset="0"/>
              </a:rPr>
            </a:br>
            <a:endParaRPr lang="en-US" dirty="0">
              <a:solidFill>
                <a:srgbClr val="1A1A1A"/>
              </a:solidFill>
              <a:latin typeface="Courier New" panose="02070309020205020404" pitchFamily="49" charset="0"/>
              <a:cs typeface="Courier New" panose="02070309020205020404" pitchFamily="49" charset="0"/>
            </a:endParaRPr>
          </a:p>
          <a:p>
            <a:pPr>
              <a:lnSpc>
                <a:spcPct val="114000"/>
              </a:lnSpc>
            </a:pPr>
            <a:r>
              <a:rPr lang="en-US" dirty="0">
                <a:solidFill>
                  <a:srgbClr val="1A1A1A"/>
                </a:solidFill>
                <a:latin typeface="Courier New" panose="02070309020205020404" pitchFamily="49" charset="0"/>
                <a:cs typeface="Courier New" panose="02070309020205020404" pitchFamily="49" charset="0"/>
              </a:rPr>
              <a:t>	head = null;</a:t>
            </a:r>
          </a:p>
          <a:p>
            <a:pPr>
              <a:lnSpc>
                <a:spcPct val="114000"/>
              </a:lnSpc>
            </a:pPr>
            <a:r>
              <a:rPr lang="en-US" dirty="0">
                <a:solidFill>
                  <a:srgbClr val="1A1A1A"/>
                </a:solidFill>
                <a:latin typeface="Courier New" panose="02070309020205020404" pitchFamily="49" charset="0"/>
                <a:cs typeface="Courier New" panose="02070309020205020404" pitchFamily="49" charset="0"/>
              </a:rPr>
              <a:t>	mid  = null;</a:t>
            </a:r>
          </a:p>
          <a:p>
            <a:pPr>
              <a:lnSpc>
                <a:spcPct val="114000"/>
              </a:lnSpc>
            </a:pPr>
            <a:r>
              <a:rPr lang="en-US" dirty="0">
                <a:solidFill>
                  <a:srgbClr val="1A1A1A"/>
                </a:solidFill>
                <a:latin typeface="Courier New" panose="02070309020205020404" pitchFamily="49" charset="0"/>
                <a:cs typeface="Courier New" panose="02070309020205020404" pitchFamily="49" charset="0"/>
              </a:rPr>
              <a:t>	tail = null;</a:t>
            </a:r>
          </a:p>
          <a:p>
            <a:pPr>
              <a:lnSpc>
                <a:spcPct val="114000"/>
              </a:lnSpc>
            </a:pPr>
            <a:r>
              <a:rPr lang="en-US" dirty="0">
                <a:solidFill>
                  <a:srgbClr val="1A1A1A"/>
                </a:solidFill>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a:t>
            </a:r>
          </a:p>
        </p:txBody>
      </p:sp>
      <p:grpSp>
        <p:nvGrpSpPr>
          <p:cNvPr id="9" name="Group 8"/>
          <p:cNvGrpSpPr/>
          <p:nvPr/>
        </p:nvGrpSpPr>
        <p:grpSpPr>
          <a:xfrm>
            <a:off x="7382435" y="1581017"/>
            <a:ext cx="1479177" cy="457200"/>
            <a:chOff x="7005917" y="1959677"/>
            <a:chExt cx="1479177" cy="457200"/>
          </a:xfrm>
        </p:grpSpPr>
        <p:sp>
          <p:nvSpPr>
            <p:cNvPr id="7" name="Rectangle 6"/>
            <p:cNvSpPr/>
            <p:nvPr/>
          </p:nvSpPr>
          <p:spPr>
            <a:xfrm>
              <a:off x="7732059" y="1959677"/>
              <a:ext cx="753035"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7005917" y="2003611"/>
              <a:ext cx="793376" cy="369332"/>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head</a:t>
              </a:r>
            </a:p>
          </p:txBody>
        </p:sp>
      </p:grpSp>
      <p:grpSp>
        <p:nvGrpSpPr>
          <p:cNvPr id="15" name="Group 14"/>
          <p:cNvGrpSpPr/>
          <p:nvPr/>
        </p:nvGrpSpPr>
        <p:grpSpPr>
          <a:xfrm>
            <a:off x="10184313" y="1575608"/>
            <a:ext cx="753036" cy="925545"/>
            <a:chOff x="10170458" y="1575608"/>
            <a:chExt cx="753036" cy="925545"/>
          </a:xfrm>
        </p:grpSpPr>
        <p:sp>
          <p:nvSpPr>
            <p:cNvPr id="10" name="Rectangle 9"/>
            <p:cNvSpPr/>
            <p:nvPr/>
          </p:nvSpPr>
          <p:spPr>
            <a:xfrm>
              <a:off x="10170459" y="1575608"/>
              <a:ext cx="753035" cy="4572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nvGrpSpPr>
            <p:cNvPr id="14" name="Group 13"/>
            <p:cNvGrpSpPr/>
            <p:nvPr/>
          </p:nvGrpSpPr>
          <p:grpSpPr>
            <a:xfrm>
              <a:off x="10170458" y="2032808"/>
              <a:ext cx="753036" cy="468345"/>
              <a:chOff x="10170458" y="2032808"/>
              <a:chExt cx="753036" cy="468345"/>
            </a:xfrm>
          </p:grpSpPr>
          <p:sp>
            <p:nvSpPr>
              <p:cNvPr id="11" name="Rectangle 10"/>
              <p:cNvSpPr/>
              <p:nvPr/>
            </p:nvSpPr>
            <p:spPr>
              <a:xfrm>
                <a:off x="10170458" y="2032808"/>
                <a:ext cx="753035"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p:cNvCxnSpPr/>
              <p:nvPr/>
            </p:nvCxnSpPr>
            <p:spPr>
              <a:xfrm flipV="1">
                <a:off x="10170459" y="2032808"/>
                <a:ext cx="753035" cy="468345"/>
              </a:xfrm>
              <a:prstGeom prst="line">
                <a:avLst/>
              </a:prstGeom>
            </p:spPr>
            <p:style>
              <a:lnRef idx="1">
                <a:schemeClr val="accent1"/>
              </a:lnRef>
              <a:fillRef idx="0">
                <a:schemeClr val="accent1"/>
              </a:fillRef>
              <a:effectRef idx="0">
                <a:schemeClr val="accent1"/>
              </a:effectRef>
              <a:fontRef idx="minor">
                <a:schemeClr val="tx1"/>
              </a:fontRef>
            </p:style>
          </p:cxnSp>
        </p:grpSp>
      </p:grpSp>
      <p:cxnSp>
        <p:nvCxnSpPr>
          <p:cNvPr id="17" name="Straight Arrow Connector 16"/>
          <p:cNvCxnSpPr>
            <a:stCxn id="7" idx="3"/>
            <a:endCxn id="10" idx="1"/>
          </p:cNvCxnSpPr>
          <p:nvPr/>
        </p:nvCxnSpPr>
        <p:spPr>
          <a:xfrm flipV="1">
            <a:off x="8861612" y="1804208"/>
            <a:ext cx="1322702" cy="54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7398355" y="3002661"/>
            <a:ext cx="1479177" cy="457200"/>
            <a:chOff x="7005917" y="1959677"/>
            <a:chExt cx="1479177" cy="457200"/>
          </a:xfrm>
        </p:grpSpPr>
        <p:sp>
          <p:nvSpPr>
            <p:cNvPr id="20" name="Rectangle 19"/>
            <p:cNvSpPr/>
            <p:nvPr/>
          </p:nvSpPr>
          <p:spPr>
            <a:xfrm>
              <a:off x="7732059" y="1959677"/>
              <a:ext cx="753035"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7005917" y="2003611"/>
              <a:ext cx="793376" cy="369332"/>
            </a:xfrm>
            <a:prstGeom prst="rect">
              <a:avLst/>
            </a:prstGeom>
            <a:noFill/>
          </p:spPr>
          <p:txBody>
            <a:bodyPr wrap="square" rtlCol="0">
              <a:spAutoFit/>
            </a:bodyPr>
            <a:lstStyle/>
            <a:p>
              <a:pPr algn="ctr"/>
              <a:r>
                <a:rPr lang="en-US" dirty="0">
                  <a:latin typeface="Courier New" panose="02070309020205020404" pitchFamily="49" charset="0"/>
                  <a:cs typeface="Courier New" panose="02070309020205020404" pitchFamily="49" charset="0"/>
                </a:rPr>
                <a:t>mid</a:t>
              </a:r>
            </a:p>
          </p:txBody>
        </p:sp>
      </p:grpSp>
      <p:grpSp>
        <p:nvGrpSpPr>
          <p:cNvPr id="22" name="Group 21"/>
          <p:cNvGrpSpPr/>
          <p:nvPr/>
        </p:nvGrpSpPr>
        <p:grpSpPr>
          <a:xfrm>
            <a:off x="10186378" y="2997252"/>
            <a:ext cx="753036" cy="925545"/>
            <a:chOff x="10170458" y="1575608"/>
            <a:chExt cx="753036" cy="925545"/>
          </a:xfrm>
        </p:grpSpPr>
        <p:sp>
          <p:nvSpPr>
            <p:cNvPr id="23" name="Rectangle 22"/>
            <p:cNvSpPr/>
            <p:nvPr/>
          </p:nvSpPr>
          <p:spPr>
            <a:xfrm>
              <a:off x="10170459" y="1575608"/>
              <a:ext cx="753035" cy="4572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nvGrpSpPr>
            <p:cNvPr id="24" name="Group 23"/>
            <p:cNvGrpSpPr/>
            <p:nvPr/>
          </p:nvGrpSpPr>
          <p:grpSpPr>
            <a:xfrm>
              <a:off x="10170458" y="2032808"/>
              <a:ext cx="753036" cy="468345"/>
              <a:chOff x="10170458" y="2032808"/>
              <a:chExt cx="753036" cy="468345"/>
            </a:xfrm>
          </p:grpSpPr>
          <p:sp>
            <p:nvSpPr>
              <p:cNvPr id="25" name="Rectangle 24"/>
              <p:cNvSpPr/>
              <p:nvPr/>
            </p:nvSpPr>
            <p:spPr>
              <a:xfrm>
                <a:off x="10170458" y="2032808"/>
                <a:ext cx="753035"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p:cNvCxnSpPr/>
              <p:nvPr/>
            </p:nvCxnSpPr>
            <p:spPr>
              <a:xfrm flipV="1">
                <a:off x="10170459" y="2032808"/>
                <a:ext cx="753035" cy="468345"/>
              </a:xfrm>
              <a:prstGeom prst="line">
                <a:avLst/>
              </a:prstGeom>
            </p:spPr>
            <p:style>
              <a:lnRef idx="1">
                <a:schemeClr val="accent1"/>
              </a:lnRef>
              <a:fillRef idx="0">
                <a:schemeClr val="accent1"/>
              </a:fillRef>
              <a:effectRef idx="0">
                <a:schemeClr val="accent1"/>
              </a:effectRef>
              <a:fontRef idx="minor">
                <a:schemeClr val="tx1"/>
              </a:fontRef>
            </p:style>
          </p:cxnSp>
        </p:grpSp>
      </p:grpSp>
      <p:cxnSp>
        <p:nvCxnSpPr>
          <p:cNvPr id="27" name="Straight Arrow Connector 26"/>
          <p:cNvCxnSpPr>
            <a:stCxn id="20" idx="3"/>
            <a:endCxn id="23" idx="1"/>
          </p:cNvCxnSpPr>
          <p:nvPr/>
        </p:nvCxnSpPr>
        <p:spPr>
          <a:xfrm flipV="1">
            <a:off x="8877532" y="3225852"/>
            <a:ext cx="1308847" cy="54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28" name="Group 27"/>
          <p:cNvGrpSpPr/>
          <p:nvPr/>
        </p:nvGrpSpPr>
        <p:grpSpPr>
          <a:xfrm>
            <a:off x="7384707" y="4517565"/>
            <a:ext cx="1479177" cy="457200"/>
            <a:chOff x="7005917" y="1959677"/>
            <a:chExt cx="1479177" cy="457200"/>
          </a:xfrm>
        </p:grpSpPr>
        <p:sp>
          <p:nvSpPr>
            <p:cNvPr id="29" name="Rectangle 28"/>
            <p:cNvSpPr/>
            <p:nvPr/>
          </p:nvSpPr>
          <p:spPr>
            <a:xfrm>
              <a:off x="7732059" y="1959677"/>
              <a:ext cx="753035"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7005917" y="2003611"/>
              <a:ext cx="793376" cy="369332"/>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tail</a:t>
              </a:r>
            </a:p>
          </p:txBody>
        </p:sp>
      </p:grpSp>
      <p:grpSp>
        <p:nvGrpSpPr>
          <p:cNvPr id="31" name="Group 30"/>
          <p:cNvGrpSpPr/>
          <p:nvPr/>
        </p:nvGrpSpPr>
        <p:grpSpPr>
          <a:xfrm>
            <a:off x="10186585" y="4512156"/>
            <a:ext cx="753036" cy="925545"/>
            <a:chOff x="10170458" y="1575608"/>
            <a:chExt cx="753036" cy="925545"/>
          </a:xfrm>
        </p:grpSpPr>
        <p:sp>
          <p:nvSpPr>
            <p:cNvPr id="32" name="Rectangle 31"/>
            <p:cNvSpPr/>
            <p:nvPr/>
          </p:nvSpPr>
          <p:spPr>
            <a:xfrm>
              <a:off x="10170459" y="1575608"/>
              <a:ext cx="753035" cy="4572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nvGrpSpPr>
            <p:cNvPr id="33" name="Group 32"/>
            <p:cNvGrpSpPr/>
            <p:nvPr/>
          </p:nvGrpSpPr>
          <p:grpSpPr>
            <a:xfrm>
              <a:off x="10170458" y="2032808"/>
              <a:ext cx="753036" cy="468345"/>
              <a:chOff x="10170458" y="2032808"/>
              <a:chExt cx="753036" cy="468345"/>
            </a:xfrm>
          </p:grpSpPr>
          <p:sp>
            <p:nvSpPr>
              <p:cNvPr id="34" name="Rectangle 33"/>
              <p:cNvSpPr/>
              <p:nvPr/>
            </p:nvSpPr>
            <p:spPr>
              <a:xfrm>
                <a:off x="10170458" y="2032808"/>
                <a:ext cx="753035"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p:cNvCxnSpPr/>
              <p:nvPr/>
            </p:nvCxnSpPr>
            <p:spPr>
              <a:xfrm flipV="1">
                <a:off x="10170459" y="2032808"/>
                <a:ext cx="753035" cy="468345"/>
              </a:xfrm>
              <a:prstGeom prst="line">
                <a:avLst/>
              </a:prstGeom>
            </p:spPr>
            <p:style>
              <a:lnRef idx="1">
                <a:schemeClr val="accent1"/>
              </a:lnRef>
              <a:fillRef idx="0">
                <a:schemeClr val="accent1"/>
              </a:fillRef>
              <a:effectRef idx="0">
                <a:schemeClr val="accent1"/>
              </a:effectRef>
              <a:fontRef idx="minor">
                <a:schemeClr val="tx1"/>
              </a:fontRef>
            </p:style>
          </p:cxnSp>
        </p:grpSp>
      </p:grpSp>
      <p:cxnSp>
        <p:nvCxnSpPr>
          <p:cNvPr id="36" name="Straight Arrow Connector 35"/>
          <p:cNvCxnSpPr>
            <a:stCxn id="29" idx="3"/>
            <a:endCxn id="32" idx="1"/>
          </p:cNvCxnSpPr>
          <p:nvPr/>
        </p:nvCxnSpPr>
        <p:spPr>
          <a:xfrm flipV="1">
            <a:off x="8863884" y="4740756"/>
            <a:ext cx="1322702" cy="54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1" idx="2"/>
            <a:endCxn id="23" idx="0"/>
          </p:cNvCxnSpPr>
          <p:nvPr/>
        </p:nvCxnSpPr>
        <p:spPr>
          <a:xfrm>
            <a:off x="10560831" y="2490008"/>
            <a:ext cx="2066" cy="507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25" idx="2"/>
            <a:endCxn id="32" idx="0"/>
          </p:cNvCxnSpPr>
          <p:nvPr/>
        </p:nvCxnSpPr>
        <p:spPr>
          <a:xfrm>
            <a:off x="10562896" y="3911652"/>
            <a:ext cx="208" cy="60050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10311448" y="3057402"/>
            <a:ext cx="498764" cy="36933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2</a:t>
            </a:r>
          </a:p>
        </p:txBody>
      </p:sp>
      <p:sp>
        <p:nvSpPr>
          <p:cNvPr id="45" name="TextBox 44"/>
          <p:cNvSpPr txBox="1"/>
          <p:nvPr/>
        </p:nvSpPr>
        <p:spPr>
          <a:xfrm>
            <a:off x="10339153" y="4553705"/>
            <a:ext cx="498764" cy="369332"/>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solidFill>
                  <a:schemeClr val="tx1"/>
                </a:solidFill>
              </a:rPr>
              <a:t>2</a:t>
            </a:r>
          </a:p>
        </p:txBody>
      </p:sp>
      <p:cxnSp>
        <p:nvCxnSpPr>
          <p:cNvPr id="47" name="Straight Connector 46"/>
          <p:cNvCxnSpPr/>
          <p:nvPr/>
        </p:nvCxnSpPr>
        <p:spPr>
          <a:xfrm flipV="1">
            <a:off x="8108577" y="4512156"/>
            <a:ext cx="753035"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8144466" y="3002648"/>
            <a:ext cx="717146" cy="451805"/>
          </a:xfrm>
          <a:prstGeom prst="line">
            <a:avLst/>
          </a:prstGeom>
        </p:spPr>
        <p:style>
          <a:lnRef idx="1">
            <a:schemeClr val="accent1"/>
          </a:lnRef>
          <a:fillRef idx="0">
            <a:schemeClr val="accent1"/>
          </a:fillRef>
          <a:effectRef idx="0">
            <a:schemeClr val="accent1"/>
          </a:effectRef>
          <a:fontRef idx="minor">
            <a:schemeClr val="tx1"/>
          </a:fontRef>
        </p:style>
      </p:cxnSp>
      <p:sp>
        <p:nvSpPr>
          <p:cNvPr id="56" name="Rectangle 55"/>
          <p:cNvSpPr/>
          <p:nvPr/>
        </p:nvSpPr>
        <p:spPr>
          <a:xfrm>
            <a:off x="10184313" y="2035518"/>
            <a:ext cx="753035"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10184313" y="3445148"/>
            <a:ext cx="753035"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Connector 59"/>
          <p:cNvCxnSpPr/>
          <p:nvPr/>
        </p:nvCxnSpPr>
        <p:spPr>
          <a:xfrm flipV="1">
            <a:off x="8124497" y="1575604"/>
            <a:ext cx="737115" cy="457201"/>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Elbow Connector 4"/>
          <p:cNvCxnSpPr>
            <a:stCxn id="34" idx="3"/>
            <a:endCxn id="10" idx="3"/>
          </p:cNvCxnSpPr>
          <p:nvPr/>
        </p:nvCxnSpPr>
        <p:spPr>
          <a:xfrm flipH="1" flipV="1">
            <a:off x="10937349" y="1804208"/>
            <a:ext cx="2271" cy="3393748"/>
          </a:xfrm>
          <a:prstGeom prst="bentConnector3">
            <a:avLst>
              <a:gd name="adj1" fmla="val -1006605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8" name="Rectangle 47"/>
          <p:cNvSpPr/>
          <p:nvPr/>
        </p:nvSpPr>
        <p:spPr>
          <a:xfrm>
            <a:off x="10184309" y="1575603"/>
            <a:ext cx="753035" cy="45720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0" name="Rectangle 49"/>
          <p:cNvSpPr/>
          <p:nvPr/>
        </p:nvSpPr>
        <p:spPr>
          <a:xfrm>
            <a:off x="10184308" y="4971919"/>
            <a:ext cx="753035"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ular Callout 5"/>
          <p:cNvSpPr/>
          <p:nvPr/>
        </p:nvSpPr>
        <p:spPr>
          <a:xfrm>
            <a:off x="5943600" y="5708073"/>
            <a:ext cx="2557414" cy="886691"/>
          </a:xfrm>
          <a:prstGeom prst="wedgeRoundRectCallout">
            <a:avLst>
              <a:gd name="adj1" fmla="val 94558"/>
              <a:gd name="adj2" fmla="val -118750"/>
              <a:gd name="adj3" fmla="val 1666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FF0000"/>
                </a:solidFill>
              </a:rPr>
              <a:t>Reference Cycle</a:t>
            </a:r>
          </a:p>
        </p:txBody>
      </p:sp>
      <p:sp>
        <p:nvSpPr>
          <p:cNvPr id="12" name="Slide Number Placeholder 11"/>
          <p:cNvSpPr>
            <a:spLocks noGrp="1"/>
          </p:cNvSpPr>
          <p:nvPr>
            <p:ph type="sldNum" sz="quarter" idx="12"/>
          </p:nvPr>
        </p:nvSpPr>
        <p:spPr/>
        <p:txBody>
          <a:bodyPr/>
          <a:lstStyle/>
          <a:p>
            <a:fld id="{EE645454-5A07-423E-8617-7239B6B66F68}" type="slidenum">
              <a:rPr lang="en-US" smtClean="0"/>
              <a:t>61</a:t>
            </a:fld>
            <a:endParaRPr lang="en-US"/>
          </a:p>
        </p:txBody>
      </p:sp>
      <p:sp>
        <p:nvSpPr>
          <p:cNvPr id="52" name="TextBox 51"/>
          <p:cNvSpPr txBox="1"/>
          <p:nvPr/>
        </p:nvSpPr>
        <p:spPr>
          <a:xfrm>
            <a:off x="7075625" y="847117"/>
            <a:ext cx="2232212" cy="461665"/>
          </a:xfrm>
          <a:prstGeom prst="rect">
            <a:avLst/>
          </a:prstGeom>
          <a:noFill/>
        </p:spPr>
        <p:txBody>
          <a:bodyPr wrap="square" rtlCol="0">
            <a:spAutoFit/>
          </a:bodyPr>
          <a:lstStyle/>
          <a:p>
            <a:pPr algn="ctr"/>
            <a:r>
              <a:rPr lang="en-US" sz="2400" u="sng" dirty="0">
                <a:solidFill>
                  <a:schemeClr val="accent2">
                    <a:lumMod val="50000"/>
                  </a:schemeClr>
                </a:solidFill>
              </a:rPr>
              <a:t>Root Set (Stack)</a:t>
            </a:r>
          </a:p>
        </p:txBody>
      </p:sp>
      <p:sp>
        <p:nvSpPr>
          <p:cNvPr id="55" name="TextBox 54"/>
          <p:cNvSpPr txBox="1"/>
          <p:nvPr/>
        </p:nvSpPr>
        <p:spPr>
          <a:xfrm>
            <a:off x="9522963" y="847166"/>
            <a:ext cx="2175978" cy="461665"/>
          </a:xfrm>
          <a:prstGeom prst="rect">
            <a:avLst/>
          </a:prstGeom>
          <a:noFill/>
        </p:spPr>
        <p:txBody>
          <a:bodyPr wrap="square" rtlCol="0">
            <a:spAutoFit/>
          </a:bodyPr>
          <a:lstStyle/>
          <a:p>
            <a:pPr algn="ctr"/>
            <a:r>
              <a:rPr lang="en-US" sz="2400" u="sng" dirty="0">
                <a:solidFill>
                  <a:schemeClr val="accent2">
                    <a:lumMod val="50000"/>
                  </a:schemeClr>
                </a:solidFill>
              </a:rPr>
              <a:t>Objects (Heap)</a:t>
            </a:r>
          </a:p>
        </p:txBody>
      </p:sp>
    </p:spTree>
    <p:extLst>
      <p:ext uri="{BB962C8B-B14F-4D97-AF65-F5344CB8AC3E}">
        <p14:creationId xmlns:p14="http://schemas.microsoft.com/office/powerpoint/2010/main" val="351682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3">
                                            <p:txEl>
                                              <p:pRg st="4" end="4"/>
                                            </p:txEl>
                                          </p:spTgt>
                                        </p:tgtEl>
                                        <p:attrNameLst>
                                          <p:attrName>style.color</p:attrName>
                                        </p:attrNameLst>
                                      </p:cBhvr>
                                      <p:to>
                                        <a:srgbClr val="FF0000"/>
                                      </p:to>
                                    </p:animClr>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arn(inVertical)">
                                      <p:cBhvr>
                                        <p:cTn id="18" dur="5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mph" presetSubtype="2" fill="hold" nodeType="clickEffect">
                                  <p:stCondLst>
                                    <p:cond delay="0"/>
                                  </p:stCondLst>
                                  <p:childTnLst>
                                    <p:animClr clrSpc="rgb" dir="cw">
                                      <p:cBhvr override="childStyle">
                                        <p:cTn id="25" dur="500" fill="hold"/>
                                        <p:tgtEl>
                                          <p:spTgt spid="3">
                                            <p:txEl>
                                              <p:pRg st="5" end="5"/>
                                            </p:txEl>
                                          </p:spTgt>
                                        </p:tgtEl>
                                        <p:attrNameLst>
                                          <p:attrName>style.color</p:attrName>
                                        </p:attrNameLst>
                                      </p:cBhvr>
                                      <p:to>
                                        <a:srgbClr val="FF0000"/>
                                      </p:to>
                                    </p:animClr>
                                  </p:childTnLst>
                                </p:cTn>
                              </p:par>
                              <p:par>
                                <p:cTn id="26" presetID="3" presetClass="emph" presetSubtype="2" fill="hold" nodeType="withEffect">
                                  <p:stCondLst>
                                    <p:cond delay="0"/>
                                  </p:stCondLst>
                                  <p:childTnLst>
                                    <p:animClr clrSpc="rgb" dir="cw">
                                      <p:cBhvr override="childStyle">
                                        <p:cTn id="27" dur="500" fill="hold"/>
                                        <p:tgtEl>
                                          <p:spTgt spid="3">
                                            <p:txEl>
                                              <p:pRg st="4" end="4"/>
                                            </p:txEl>
                                          </p:spTgt>
                                        </p:tgtEl>
                                        <p:attrNameLst>
                                          <p:attrName>style.color</p:attrName>
                                        </p:attrNameLst>
                                      </p:cBhvr>
                                      <p:to>
                                        <a:srgbClr val="000000"/>
                                      </p:to>
                                    </p:animClr>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barn(inVertical)">
                                      <p:cBhvr>
                                        <p:cTn id="39" dur="50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mph" presetSubtype="2" fill="hold" nodeType="clickEffect">
                                  <p:stCondLst>
                                    <p:cond delay="0"/>
                                  </p:stCondLst>
                                  <p:childTnLst>
                                    <p:animClr clrSpc="rgb" dir="cw">
                                      <p:cBhvr override="childStyle">
                                        <p:cTn id="46" dur="500" fill="hold"/>
                                        <p:tgtEl>
                                          <p:spTgt spid="3">
                                            <p:txEl>
                                              <p:pRg st="6" end="6"/>
                                            </p:txEl>
                                          </p:spTgt>
                                        </p:tgtEl>
                                        <p:attrNameLst>
                                          <p:attrName>style.color</p:attrName>
                                        </p:attrNameLst>
                                      </p:cBhvr>
                                      <p:to>
                                        <a:srgbClr val="FF0000"/>
                                      </p:to>
                                    </p:animClr>
                                  </p:childTnLst>
                                </p:cTn>
                              </p:par>
                              <p:par>
                                <p:cTn id="47" presetID="3" presetClass="emph" presetSubtype="2" fill="hold" nodeType="withEffect">
                                  <p:stCondLst>
                                    <p:cond delay="0"/>
                                  </p:stCondLst>
                                  <p:childTnLst>
                                    <p:animClr clrSpc="rgb" dir="cw">
                                      <p:cBhvr override="childStyle">
                                        <p:cTn id="48" dur="2000" fill="hold"/>
                                        <p:tgtEl>
                                          <p:spTgt spid="3">
                                            <p:txEl>
                                              <p:pRg st="5" end="5"/>
                                            </p:txEl>
                                          </p:spTgt>
                                        </p:tgtEl>
                                        <p:attrNameLst>
                                          <p:attrName>style.color</p:attrName>
                                        </p:attrNameLst>
                                      </p:cBhvr>
                                      <p:to>
                                        <a:srgbClr val="000000"/>
                                      </p:to>
                                    </p:animClr>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1000"/>
                                        <p:tgtEl>
                                          <p:spTgt spid="28"/>
                                        </p:tgtEl>
                                      </p:cBhvr>
                                    </p:animEffect>
                                    <p:anim calcmode="lin" valueType="num">
                                      <p:cBhvr>
                                        <p:cTn id="54" dur="1000" fill="hold"/>
                                        <p:tgtEl>
                                          <p:spTgt spid="28"/>
                                        </p:tgtEl>
                                        <p:attrNameLst>
                                          <p:attrName>ppt_x</p:attrName>
                                        </p:attrNameLst>
                                      </p:cBhvr>
                                      <p:tavLst>
                                        <p:tav tm="0">
                                          <p:val>
                                            <p:strVal val="#ppt_x"/>
                                          </p:val>
                                        </p:tav>
                                        <p:tav tm="100000">
                                          <p:val>
                                            <p:strVal val="#ppt_x"/>
                                          </p:val>
                                        </p:tav>
                                      </p:tavLst>
                                    </p:anim>
                                    <p:anim calcmode="lin" valueType="num">
                                      <p:cBhvr>
                                        <p:cTn id="55"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nodeType="click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barn(inVertical)">
                                      <p:cBhvr>
                                        <p:cTn id="60" dur="500"/>
                                        <p:tgtEl>
                                          <p:spTgt spid="31"/>
                                        </p:tgtEl>
                                      </p:cBhvr>
                                    </p:animEffect>
                                  </p:childTnLst>
                                </p:cTn>
                              </p:par>
                              <p:par>
                                <p:cTn id="61" presetID="10" presetClass="entr" presetSubtype="0" fill="hold" nodeType="with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fade">
                                      <p:cBhvr>
                                        <p:cTn id="63" dur="500"/>
                                        <p:tgtEl>
                                          <p:spTgt spid="36"/>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mph" presetSubtype="2" fill="hold" nodeType="clickEffect">
                                  <p:stCondLst>
                                    <p:cond delay="0"/>
                                  </p:stCondLst>
                                  <p:childTnLst>
                                    <p:animClr clrSpc="rgb" dir="cw">
                                      <p:cBhvr override="childStyle">
                                        <p:cTn id="67" dur="500" fill="hold"/>
                                        <p:tgtEl>
                                          <p:spTgt spid="3">
                                            <p:txEl>
                                              <p:pRg st="6" end="6"/>
                                            </p:txEl>
                                          </p:spTgt>
                                        </p:tgtEl>
                                        <p:attrNameLst>
                                          <p:attrName>style.color</p:attrName>
                                        </p:attrNameLst>
                                      </p:cBhvr>
                                      <p:to>
                                        <a:srgbClr val="000000"/>
                                      </p:to>
                                    </p:animClr>
                                  </p:childTnLst>
                                </p:cTn>
                              </p:par>
                              <p:par>
                                <p:cTn id="68" presetID="3" presetClass="emph" presetSubtype="2" fill="hold" nodeType="withEffect">
                                  <p:stCondLst>
                                    <p:cond delay="0"/>
                                  </p:stCondLst>
                                  <p:childTnLst>
                                    <p:animClr clrSpc="rgb" dir="cw">
                                      <p:cBhvr override="childStyle">
                                        <p:cTn id="69" dur="500" fill="hold"/>
                                        <p:tgtEl>
                                          <p:spTgt spid="3">
                                            <p:txEl>
                                              <p:pRg st="7" end="7"/>
                                            </p:txEl>
                                          </p:spTgt>
                                        </p:tgtEl>
                                        <p:attrNameLst>
                                          <p:attrName>style.color</p:attrName>
                                        </p:attrNameLst>
                                      </p:cBhvr>
                                      <p:to>
                                        <a:srgbClr val="FF0000"/>
                                      </p:to>
                                    </p:animClr>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fade">
                                      <p:cBhvr>
                                        <p:cTn id="74" dur="500"/>
                                        <p:tgtEl>
                                          <p:spTgt spid="3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fade">
                                      <p:cBhvr>
                                        <p:cTn id="77" dur="500"/>
                                        <p:tgtEl>
                                          <p:spTgt spid="43"/>
                                        </p:tgtEl>
                                      </p:cBhvr>
                                    </p:animEffect>
                                  </p:childTnLst>
                                </p:cTn>
                              </p:par>
                              <p:par>
                                <p:cTn id="78" presetID="16" presetClass="entr" presetSubtype="21" fill="hold" grpId="0" nodeType="withEffect">
                                  <p:stCondLst>
                                    <p:cond delay="0"/>
                                  </p:stCondLst>
                                  <p:childTnLst>
                                    <p:set>
                                      <p:cBhvr>
                                        <p:cTn id="79" dur="1" fill="hold">
                                          <p:stCondLst>
                                            <p:cond delay="0"/>
                                          </p:stCondLst>
                                        </p:cTn>
                                        <p:tgtEl>
                                          <p:spTgt spid="56"/>
                                        </p:tgtEl>
                                        <p:attrNameLst>
                                          <p:attrName>style.visibility</p:attrName>
                                        </p:attrNameLst>
                                      </p:cBhvr>
                                      <p:to>
                                        <p:strVal val="visible"/>
                                      </p:to>
                                    </p:set>
                                    <p:animEffect transition="in" filter="barn(inVertical)">
                                      <p:cBhvr>
                                        <p:cTn id="80" dur="500"/>
                                        <p:tgtEl>
                                          <p:spTgt spid="56"/>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mph" presetSubtype="2" fill="hold" nodeType="clickEffect">
                                  <p:stCondLst>
                                    <p:cond delay="0"/>
                                  </p:stCondLst>
                                  <p:childTnLst>
                                    <p:animClr clrSpc="rgb" dir="cw">
                                      <p:cBhvr override="childStyle">
                                        <p:cTn id="84" dur="500" fill="hold"/>
                                        <p:tgtEl>
                                          <p:spTgt spid="3">
                                            <p:txEl>
                                              <p:pRg st="7" end="7"/>
                                            </p:txEl>
                                          </p:spTgt>
                                        </p:tgtEl>
                                        <p:attrNameLst>
                                          <p:attrName>style.color</p:attrName>
                                        </p:attrNameLst>
                                      </p:cBhvr>
                                      <p:to>
                                        <a:srgbClr val="000000"/>
                                      </p:to>
                                    </p:animClr>
                                  </p:childTnLst>
                                </p:cTn>
                              </p:par>
                              <p:par>
                                <p:cTn id="85" presetID="3" presetClass="emph" presetSubtype="2" fill="hold" nodeType="withEffect">
                                  <p:stCondLst>
                                    <p:cond delay="0"/>
                                  </p:stCondLst>
                                  <p:childTnLst>
                                    <p:animClr clrSpc="rgb" dir="cw">
                                      <p:cBhvr override="childStyle">
                                        <p:cTn id="86" dur="500" fill="hold"/>
                                        <p:tgtEl>
                                          <p:spTgt spid="3">
                                            <p:txEl>
                                              <p:pRg st="8" end="8"/>
                                            </p:txEl>
                                          </p:spTgt>
                                        </p:tgtEl>
                                        <p:attrNameLst>
                                          <p:attrName>style.color</p:attrName>
                                        </p:attrNameLst>
                                      </p:cBhvr>
                                      <p:to>
                                        <a:srgbClr val="FF0000"/>
                                      </p:to>
                                    </p:animClr>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nodeType="clickEffect">
                                  <p:stCondLst>
                                    <p:cond delay="0"/>
                                  </p:stCondLst>
                                  <p:childTnLst>
                                    <p:set>
                                      <p:cBhvr>
                                        <p:cTn id="90" dur="1" fill="hold">
                                          <p:stCondLst>
                                            <p:cond delay="0"/>
                                          </p:stCondLst>
                                        </p:cTn>
                                        <p:tgtEl>
                                          <p:spTgt spid="42"/>
                                        </p:tgtEl>
                                        <p:attrNameLst>
                                          <p:attrName>style.visibility</p:attrName>
                                        </p:attrNameLst>
                                      </p:cBhvr>
                                      <p:to>
                                        <p:strVal val="visible"/>
                                      </p:to>
                                    </p:set>
                                    <p:animEffect transition="in" filter="wipe(down)">
                                      <p:cBhvr>
                                        <p:cTn id="91" dur="500"/>
                                        <p:tgtEl>
                                          <p:spTgt spid="42"/>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5"/>
                                        </p:tgtEl>
                                        <p:attrNameLst>
                                          <p:attrName>style.visibility</p:attrName>
                                        </p:attrNameLst>
                                      </p:cBhvr>
                                      <p:to>
                                        <p:strVal val="visible"/>
                                      </p:to>
                                    </p:set>
                                    <p:animEffect transition="in" filter="fade">
                                      <p:cBhvr>
                                        <p:cTn id="94" dur="500"/>
                                        <p:tgtEl>
                                          <p:spTgt spid="45"/>
                                        </p:tgtEl>
                                      </p:cBhvr>
                                    </p:animEffect>
                                  </p:childTnLst>
                                </p:cTn>
                              </p:par>
                              <p:par>
                                <p:cTn id="95" presetID="16" presetClass="entr" presetSubtype="21" fill="hold" grpId="0" nodeType="withEffect">
                                  <p:stCondLst>
                                    <p:cond delay="0"/>
                                  </p:stCondLst>
                                  <p:childTnLst>
                                    <p:set>
                                      <p:cBhvr>
                                        <p:cTn id="96" dur="1" fill="hold">
                                          <p:stCondLst>
                                            <p:cond delay="0"/>
                                          </p:stCondLst>
                                        </p:cTn>
                                        <p:tgtEl>
                                          <p:spTgt spid="57"/>
                                        </p:tgtEl>
                                        <p:attrNameLst>
                                          <p:attrName>style.visibility</p:attrName>
                                        </p:attrNameLst>
                                      </p:cBhvr>
                                      <p:to>
                                        <p:strVal val="visible"/>
                                      </p:to>
                                    </p:set>
                                    <p:animEffect transition="in" filter="barn(inVertical)">
                                      <p:cBhvr>
                                        <p:cTn id="97" dur="500"/>
                                        <p:tgtEl>
                                          <p:spTgt spid="57"/>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mph" presetSubtype="2" fill="hold" nodeType="clickEffect">
                                  <p:stCondLst>
                                    <p:cond delay="0"/>
                                  </p:stCondLst>
                                  <p:childTnLst>
                                    <p:animClr clrSpc="rgb" dir="cw">
                                      <p:cBhvr override="childStyle">
                                        <p:cTn id="101" dur="500" fill="hold"/>
                                        <p:tgtEl>
                                          <p:spTgt spid="3">
                                            <p:txEl>
                                              <p:pRg st="9" end="9"/>
                                            </p:txEl>
                                          </p:spTgt>
                                        </p:tgtEl>
                                        <p:attrNameLst>
                                          <p:attrName>style.color</p:attrName>
                                        </p:attrNameLst>
                                      </p:cBhvr>
                                      <p:to>
                                        <a:srgbClr val="FF0000"/>
                                      </p:to>
                                    </p:animClr>
                                  </p:childTnLst>
                                </p:cTn>
                              </p:par>
                              <p:par>
                                <p:cTn id="102" presetID="3" presetClass="emph" presetSubtype="2" fill="hold" nodeType="withEffect">
                                  <p:stCondLst>
                                    <p:cond delay="0"/>
                                  </p:stCondLst>
                                  <p:childTnLst>
                                    <p:animClr clrSpc="rgb" dir="cw">
                                      <p:cBhvr override="childStyle">
                                        <p:cTn id="103" dur="500" fill="hold"/>
                                        <p:tgtEl>
                                          <p:spTgt spid="3">
                                            <p:txEl>
                                              <p:pRg st="8" end="8"/>
                                            </p:txEl>
                                          </p:spTgt>
                                        </p:tgtEl>
                                        <p:attrNameLst>
                                          <p:attrName>style.color</p:attrName>
                                        </p:attrNameLst>
                                      </p:cBhvr>
                                      <p:to>
                                        <a:schemeClr val="tx1"/>
                                      </p:to>
                                    </p:animClr>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nodeType="clickEffect">
                                  <p:stCondLst>
                                    <p:cond delay="0"/>
                                  </p:stCondLst>
                                  <p:childTnLst>
                                    <p:set>
                                      <p:cBhvr>
                                        <p:cTn id="107" dur="1" fill="hold">
                                          <p:stCondLst>
                                            <p:cond delay="0"/>
                                          </p:stCondLst>
                                        </p:cTn>
                                        <p:tgtEl>
                                          <p:spTgt spid="5"/>
                                        </p:tgtEl>
                                        <p:attrNameLst>
                                          <p:attrName>style.visibility</p:attrName>
                                        </p:attrNameLst>
                                      </p:cBhvr>
                                      <p:to>
                                        <p:strVal val="visible"/>
                                      </p:to>
                                    </p:set>
                                    <p:animEffect transition="in" filter="fade">
                                      <p:cBhvr>
                                        <p:cTn id="108" dur="500"/>
                                        <p:tgtEl>
                                          <p:spTgt spid="5"/>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48"/>
                                        </p:tgtEl>
                                        <p:attrNameLst>
                                          <p:attrName>style.visibility</p:attrName>
                                        </p:attrNameLst>
                                      </p:cBhvr>
                                      <p:to>
                                        <p:strVal val="visible"/>
                                      </p:to>
                                    </p:set>
                                    <p:animEffect transition="in" filter="fade">
                                      <p:cBhvr>
                                        <p:cTn id="111" dur="500"/>
                                        <p:tgtEl>
                                          <p:spTgt spid="48"/>
                                        </p:tgtEl>
                                      </p:cBhvr>
                                    </p:animEffect>
                                  </p:childTnLst>
                                </p:cTn>
                              </p:par>
                              <p:par>
                                <p:cTn id="112" presetID="16" presetClass="entr" presetSubtype="21" fill="hold" grpId="0" nodeType="withEffect">
                                  <p:stCondLst>
                                    <p:cond delay="0"/>
                                  </p:stCondLst>
                                  <p:childTnLst>
                                    <p:set>
                                      <p:cBhvr>
                                        <p:cTn id="113" dur="1" fill="hold">
                                          <p:stCondLst>
                                            <p:cond delay="0"/>
                                          </p:stCondLst>
                                        </p:cTn>
                                        <p:tgtEl>
                                          <p:spTgt spid="50"/>
                                        </p:tgtEl>
                                        <p:attrNameLst>
                                          <p:attrName>style.visibility</p:attrName>
                                        </p:attrNameLst>
                                      </p:cBhvr>
                                      <p:to>
                                        <p:strVal val="visible"/>
                                      </p:to>
                                    </p:set>
                                    <p:animEffect transition="in" filter="barn(inVertical)">
                                      <p:cBhvr>
                                        <p:cTn id="114" dur="500"/>
                                        <p:tgtEl>
                                          <p:spTgt spid="50"/>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mph" presetSubtype="2" fill="hold" nodeType="clickEffect">
                                  <p:stCondLst>
                                    <p:cond delay="0"/>
                                  </p:stCondLst>
                                  <p:childTnLst>
                                    <p:animClr clrSpc="rgb" dir="cw">
                                      <p:cBhvr override="childStyle">
                                        <p:cTn id="118" dur="500" fill="hold"/>
                                        <p:tgtEl>
                                          <p:spTgt spid="3">
                                            <p:txEl>
                                              <p:pRg st="10" end="10"/>
                                            </p:txEl>
                                          </p:spTgt>
                                        </p:tgtEl>
                                        <p:attrNameLst>
                                          <p:attrName>style.color</p:attrName>
                                        </p:attrNameLst>
                                      </p:cBhvr>
                                      <p:to>
                                        <a:srgbClr val="FF0000"/>
                                      </p:to>
                                    </p:animClr>
                                  </p:childTnLst>
                                </p:cTn>
                              </p:par>
                              <p:par>
                                <p:cTn id="119" presetID="3" presetClass="emph" presetSubtype="2" fill="hold" nodeType="withEffect">
                                  <p:stCondLst>
                                    <p:cond delay="0"/>
                                  </p:stCondLst>
                                  <p:childTnLst>
                                    <p:animClr clrSpc="rgb" dir="cw">
                                      <p:cBhvr override="childStyle">
                                        <p:cTn id="120" dur="500" fill="hold"/>
                                        <p:tgtEl>
                                          <p:spTgt spid="3">
                                            <p:txEl>
                                              <p:pRg st="9" end="9"/>
                                            </p:txEl>
                                          </p:spTgt>
                                        </p:tgtEl>
                                        <p:attrNameLst>
                                          <p:attrName>style.color</p:attrName>
                                        </p:attrNameLst>
                                      </p:cBhvr>
                                      <p:to>
                                        <a:schemeClr val="tx1"/>
                                      </p:to>
                                    </p:animClr>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nodeType="clickEffect">
                                  <p:stCondLst>
                                    <p:cond delay="0"/>
                                  </p:stCondLst>
                                  <p:childTnLst>
                                    <p:set>
                                      <p:cBhvr>
                                        <p:cTn id="124" dur="1" fill="hold">
                                          <p:stCondLst>
                                            <p:cond delay="0"/>
                                          </p:stCondLst>
                                        </p:cTn>
                                        <p:tgtEl>
                                          <p:spTgt spid="60"/>
                                        </p:tgtEl>
                                        <p:attrNameLst>
                                          <p:attrName>style.visibility</p:attrName>
                                        </p:attrNameLst>
                                      </p:cBhvr>
                                      <p:to>
                                        <p:strVal val="visible"/>
                                      </p:to>
                                    </p:set>
                                    <p:animEffect transition="in" filter="fade">
                                      <p:cBhvr>
                                        <p:cTn id="125" dur="500"/>
                                        <p:tgtEl>
                                          <p:spTgt spid="60"/>
                                        </p:tgtEl>
                                      </p:cBhvr>
                                    </p:animEffect>
                                  </p:childTnLst>
                                </p:cTn>
                              </p:par>
                              <p:par>
                                <p:cTn id="126" presetID="10" presetClass="exit" presetSubtype="0" fill="hold" nodeType="withEffect">
                                  <p:stCondLst>
                                    <p:cond delay="0"/>
                                  </p:stCondLst>
                                  <p:childTnLst>
                                    <p:animEffect transition="out" filter="fade">
                                      <p:cBhvr>
                                        <p:cTn id="127" dur="500"/>
                                        <p:tgtEl>
                                          <p:spTgt spid="17"/>
                                        </p:tgtEl>
                                      </p:cBhvr>
                                    </p:animEffect>
                                    <p:set>
                                      <p:cBhvr>
                                        <p:cTn id="128" dur="1" fill="hold">
                                          <p:stCondLst>
                                            <p:cond delay="499"/>
                                          </p:stCondLst>
                                        </p:cTn>
                                        <p:tgtEl>
                                          <p:spTgt spid="17"/>
                                        </p:tgtEl>
                                        <p:attrNameLst>
                                          <p:attrName>style.visibility</p:attrName>
                                        </p:attrNameLst>
                                      </p:cBhvr>
                                      <p:to>
                                        <p:strVal val="hidden"/>
                                      </p:to>
                                    </p:set>
                                  </p:childTnLst>
                                </p:cTn>
                              </p:par>
                              <p:par>
                                <p:cTn id="129" presetID="10" presetClass="exit" presetSubtype="0" fill="hold" grpId="1" nodeType="withEffect">
                                  <p:stCondLst>
                                    <p:cond delay="0"/>
                                  </p:stCondLst>
                                  <p:childTnLst>
                                    <p:animEffect transition="out" filter="fade">
                                      <p:cBhvr>
                                        <p:cTn id="130" dur="500"/>
                                        <p:tgtEl>
                                          <p:spTgt spid="48"/>
                                        </p:tgtEl>
                                      </p:cBhvr>
                                    </p:animEffect>
                                    <p:set>
                                      <p:cBhvr>
                                        <p:cTn id="131" dur="1" fill="hold">
                                          <p:stCondLst>
                                            <p:cond delay="499"/>
                                          </p:stCondLst>
                                        </p:cTn>
                                        <p:tgtEl>
                                          <p:spTgt spid="48"/>
                                        </p:tgtEl>
                                        <p:attrNameLst>
                                          <p:attrName>style.visibility</p:attrName>
                                        </p:attrNameLst>
                                      </p:cBhvr>
                                      <p:to>
                                        <p:strVal val="hidden"/>
                                      </p:to>
                                    </p:set>
                                  </p:childTnLst>
                                </p:cTn>
                              </p:par>
                            </p:childTnLst>
                          </p:cTn>
                        </p:par>
                      </p:childTnLst>
                    </p:cTn>
                  </p:par>
                  <p:par>
                    <p:cTn id="132" fill="hold">
                      <p:stCondLst>
                        <p:cond delay="indefinite"/>
                      </p:stCondLst>
                      <p:childTnLst>
                        <p:par>
                          <p:cTn id="133" fill="hold">
                            <p:stCondLst>
                              <p:cond delay="0"/>
                            </p:stCondLst>
                            <p:childTnLst>
                              <p:par>
                                <p:cTn id="134" presetID="3" presetClass="emph" presetSubtype="2" fill="hold" nodeType="clickEffect">
                                  <p:stCondLst>
                                    <p:cond delay="0"/>
                                  </p:stCondLst>
                                  <p:childTnLst>
                                    <p:animClr clrSpc="rgb" dir="cw">
                                      <p:cBhvr override="childStyle">
                                        <p:cTn id="135" dur="500" fill="hold"/>
                                        <p:tgtEl>
                                          <p:spTgt spid="3">
                                            <p:txEl>
                                              <p:pRg st="10" end="10"/>
                                            </p:txEl>
                                          </p:spTgt>
                                        </p:tgtEl>
                                        <p:attrNameLst>
                                          <p:attrName>style.color</p:attrName>
                                        </p:attrNameLst>
                                      </p:cBhvr>
                                      <p:to>
                                        <a:schemeClr val="tx1"/>
                                      </p:to>
                                    </p:animClr>
                                  </p:childTnLst>
                                </p:cTn>
                              </p:par>
                              <p:par>
                                <p:cTn id="136" presetID="3" presetClass="emph" presetSubtype="2" fill="hold" nodeType="withEffect">
                                  <p:stCondLst>
                                    <p:cond delay="0"/>
                                  </p:stCondLst>
                                  <p:childTnLst>
                                    <p:animClr clrSpc="rgb" dir="cw">
                                      <p:cBhvr override="childStyle">
                                        <p:cTn id="137" dur="500" fill="hold"/>
                                        <p:tgtEl>
                                          <p:spTgt spid="3">
                                            <p:txEl>
                                              <p:pRg st="11" end="11"/>
                                            </p:txEl>
                                          </p:spTgt>
                                        </p:tgtEl>
                                        <p:attrNameLst>
                                          <p:attrName>style.color</p:attrName>
                                        </p:attrNameLst>
                                      </p:cBhvr>
                                      <p:to>
                                        <a:srgbClr val="FF0000"/>
                                      </p:to>
                                    </p:animClr>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nodeType="clickEffect">
                                  <p:stCondLst>
                                    <p:cond delay="0"/>
                                  </p:stCondLst>
                                  <p:childTnLst>
                                    <p:set>
                                      <p:cBhvr>
                                        <p:cTn id="141" dur="1" fill="hold">
                                          <p:stCondLst>
                                            <p:cond delay="0"/>
                                          </p:stCondLst>
                                        </p:cTn>
                                        <p:tgtEl>
                                          <p:spTgt spid="49"/>
                                        </p:tgtEl>
                                        <p:attrNameLst>
                                          <p:attrName>style.visibility</p:attrName>
                                        </p:attrNameLst>
                                      </p:cBhvr>
                                      <p:to>
                                        <p:strVal val="visible"/>
                                      </p:to>
                                    </p:set>
                                    <p:animEffect transition="in" filter="fade">
                                      <p:cBhvr>
                                        <p:cTn id="142" dur="500"/>
                                        <p:tgtEl>
                                          <p:spTgt spid="49"/>
                                        </p:tgtEl>
                                      </p:cBhvr>
                                    </p:animEffect>
                                  </p:childTnLst>
                                </p:cTn>
                              </p:par>
                              <p:par>
                                <p:cTn id="143" presetID="10" presetClass="exit" presetSubtype="0" fill="hold" nodeType="withEffect">
                                  <p:stCondLst>
                                    <p:cond delay="0"/>
                                  </p:stCondLst>
                                  <p:childTnLst>
                                    <p:animEffect transition="out" filter="fade">
                                      <p:cBhvr>
                                        <p:cTn id="144" dur="500"/>
                                        <p:tgtEl>
                                          <p:spTgt spid="27"/>
                                        </p:tgtEl>
                                      </p:cBhvr>
                                    </p:animEffect>
                                    <p:set>
                                      <p:cBhvr>
                                        <p:cTn id="145" dur="1" fill="hold">
                                          <p:stCondLst>
                                            <p:cond delay="499"/>
                                          </p:stCondLst>
                                        </p:cTn>
                                        <p:tgtEl>
                                          <p:spTgt spid="27"/>
                                        </p:tgtEl>
                                        <p:attrNameLst>
                                          <p:attrName>style.visibility</p:attrName>
                                        </p:attrNameLst>
                                      </p:cBhvr>
                                      <p:to>
                                        <p:strVal val="hidden"/>
                                      </p:to>
                                    </p:set>
                                  </p:childTnLst>
                                </p:cTn>
                              </p:par>
                              <p:par>
                                <p:cTn id="146" presetID="10" presetClass="exit" presetSubtype="0" fill="hold" grpId="1" nodeType="withEffect">
                                  <p:stCondLst>
                                    <p:cond delay="0"/>
                                  </p:stCondLst>
                                  <p:childTnLst>
                                    <p:animEffect transition="out" filter="fade">
                                      <p:cBhvr>
                                        <p:cTn id="147" dur="500"/>
                                        <p:tgtEl>
                                          <p:spTgt spid="43"/>
                                        </p:tgtEl>
                                      </p:cBhvr>
                                    </p:animEffect>
                                    <p:set>
                                      <p:cBhvr>
                                        <p:cTn id="148" dur="1" fill="hold">
                                          <p:stCondLst>
                                            <p:cond delay="499"/>
                                          </p:stCondLst>
                                        </p:cTn>
                                        <p:tgtEl>
                                          <p:spTgt spid="43"/>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3" presetClass="emph" presetSubtype="2" fill="hold" nodeType="clickEffect">
                                  <p:stCondLst>
                                    <p:cond delay="0"/>
                                  </p:stCondLst>
                                  <p:childTnLst>
                                    <p:animClr clrSpc="rgb" dir="cw">
                                      <p:cBhvr override="childStyle">
                                        <p:cTn id="152" dur="500" fill="hold"/>
                                        <p:tgtEl>
                                          <p:spTgt spid="3">
                                            <p:txEl>
                                              <p:pRg st="12" end="12"/>
                                            </p:txEl>
                                          </p:spTgt>
                                        </p:tgtEl>
                                        <p:attrNameLst>
                                          <p:attrName>style.color</p:attrName>
                                        </p:attrNameLst>
                                      </p:cBhvr>
                                      <p:to>
                                        <a:srgbClr val="FF0000"/>
                                      </p:to>
                                    </p:animClr>
                                  </p:childTnLst>
                                </p:cTn>
                              </p:par>
                              <p:par>
                                <p:cTn id="153" presetID="3" presetClass="emph" presetSubtype="2" fill="hold" nodeType="withEffect">
                                  <p:stCondLst>
                                    <p:cond delay="0"/>
                                  </p:stCondLst>
                                  <p:childTnLst>
                                    <p:animClr clrSpc="rgb" dir="cw">
                                      <p:cBhvr override="childStyle">
                                        <p:cTn id="154" dur="2000" fill="hold"/>
                                        <p:tgtEl>
                                          <p:spTgt spid="3">
                                            <p:txEl>
                                              <p:pRg st="11" end="11"/>
                                            </p:txEl>
                                          </p:spTgt>
                                        </p:tgtEl>
                                        <p:attrNameLst>
                                          <p:attrName>style.color</p:attrName>
                                        </p:attrNameLst>
                                      </p:cBhvr>
                                      <p:to>
                                        <a:srgbClr val="000000"/>
                                      </p:to>
                                    </p:animClr>
                                  </p:childTnLst>
                                </p:cTn>
                              </p:par>
                            </p:childTnLst>
                          </p:cTn>
                        </p:par>
                      </p:childTnLst>
                    </p:cTn>
                  </p:par>
                  <p:par>
                    <p:cTn id="155" fill="hold">
                      <p:stCondLst>
                        <p:cond delay="indefinite"/>
                      </p:stCondLst>
                      <p:childTnLst>
                        <p:par>
                          <p:cTn id="156" fill="hold">
                            <p:stCondLst>
                              <p:cond delay="0"/>
                            </p:stCondLst>
                            <p:childTnLst>
                              <p:par>
                                <p:cTn id="157" presetID="10" presetClass="exit" presetSubtype="0" fill="hold" nodeType="clickEffect">
                                  <p:stCondLst>
                                    <p:cond delay="0"/>
                                  </p:stCondLst>
                                  <p:childTnLst>
                                    <p:animEffect transition="out" filter="fade">
                                      <p:cBhvr>
                                        <p:cTn id="158" dur="500"/>
                                        <p:tgtEl>
                                          <p:spTgt spid="36"/>
                                        </p:tgtEl>
                                      </p:cBhvr>
                                    </p:animEffect>
                                    <p:set>
                                      <p:cBhvr>
                                        <p:cTn id="159" dur="1" fill="hold">
                                          <p:stCondLst>
                                            <p:cond delay="499"/>
                                          </p:stCondLst>
                                        </p:cTn>
                                        <p:tgtEl>
                                          <p:spTgt spid="36"/>
                                        </p:tgtEl>
                                        <p:attrNameLst>
                                          <p:attrName>style.visibility</p:attrName>
                                        </p:attrNameLst>
                                      </p:cBhvr>
                                      <p:to>
                                        <p:strVal val="hidden"/>
                                      </p:to>
                                    </p:set>
                                  </p:childTnLst>
                                </p:cTn>
                              </p:par>
                              <p:par>
                                <p:cTn id="160" presetID="10" presetClass="exit" presetSubtype="0" fill="hold" grpId="1" nodeType="withEffect">
                                  <p:stCondLst>
                                    <p:cond delay="0"/>
                                  </p:stCondLst>
                                  <p:childTnLst>
                                    <p:animEffect transition="out" filter="fade">
                                      <p:cBhvr>
                                        <p:cTn id="161" dur="500"/>
                                        <p:tgtEl>
                                          <p:spTgt spid="45"/>
                                        </p:tgtEl>
                                      </p:cBhvr>
                                    </p:animEffect>
                                    <p:set>
                                      <p:cBhvr>
                                        <p:cTn id="162" dur="1" fill="hold">
                                          <p:stCondLst>
                                            <p:cond delay="499"/>
                                          </p:stCondLst>
                                        </p:cTn>
                                        <p:tgtEl>
                                          <p:spTgt spid="45"/>
                                        </p:tgtEl>
                                        <p:attrNameLst>
                                          <p:attrName>style.visibility</p:attrName>
                                        </p:attrNameLst>
                                      </p:cBhvr>
                                      <p:to>
                                        <p:strVal val="hidden"/>
                                      </p:to>
                                    </p:set>
                                  </p:childTnLst>
                                </p:cTn>
                              </p:par>
                              <p:par>
                                <p:cTn id="163" presetID="10" presetClass="entr" presetSubtype="0" fill="hold" nodeType="withEffect">
                                  <p:stCondLst>
                                    <p:cond delay="0"/>
                                  </p:stCondLst>
                                  <p:childTnLst>
                                    <p:set>
                                      <p:cBhvr>
                                        <p:cTn id="164" dur="1" fill="hold">
                                          <p:stCondLst>
                                            <p:cond delay="0"/>
                                          </p:stCondLst>
                                        </p:cTn>
                                        <p:tgtEl>
                                          <p:spTgt spid="47"/>
                                        </p:tgtEl>
                                        <p:attrNameLst>
                                          <p:attrName>style.visibility</p:attrName>
                                        </p:attrNameLst>
                                      </p:cBhvr>
                                      <p:to>
                                        <p:strVal val="visible"/>
                                      </p:to>
                                    </p:set>
                                    <p:animEffect transition="in" filter="fade">
                                      <p:cBhvr>
                                        <p:cTn id="165" dur="500"/>
                                        <p:tgtEl>
                                          <p:spTgt spid="47"/>
                                        </p:tgtEl>
                                      </p:cBhvr>
                                    </p:animEffect>
                                  </p:childTnLst>
                                </p:cTn>
                              </p:par>
                            </p:childTnLst>
                          </p:cTn>
                        </p:par>
                      </p:childTnLst>
                    </p:cTn>
                  </p:par>
                  <p:par>
                    <p:cTn id="166" fill="hold">
                      <p:stCondLst>
                        <p:cond delay="indefinite"/>
                      </p:stCondLst>
                      <p:childTnLst>
                        <p:par>
                          <p:cTn id="167" fill="hold">
                            <p:stCondLst>
                              <p:cond delay="0"/>
                            </p:stCondLst>
                            <p:childTnLst>
                              <p:par>
                                <p:cTn id="168" presetID="42" presetClass="entr" presetSubtype="0" fill="hold" grpId="0" nodeType="clickEffect">
                                  <p:stCondLst>
                                    <p:cond delay="0"/>
                                  </p:stCondLst>
                                  <p:childTnLst>
                                    <p:set>
                                      <p:cBhvr>
                                        <p:cTn id="169" dur="1" fill="hold">
                                          <p:stCondLst>
                                            <p:cond delay="0"/>
                                          </p:stCondLst>
                                        </p:cTn>
                                        <p:tgtEl>
                                          <p:spTgt spid="6"/>
                                        </p:tgtEl>
                                        <p:attrNameLst>
                                          <p:attrName>style.visibility</p:attrName>
                                        </p:attrNameLst>
                                      </p:cBhvr>
                                      <p:to>
                                        <p:strVal val="visible"/>
                                      </p:to>
                                    </p:set>
                                    <p:animEffect transition="in" filter="fade">
                                      <p:cBhvr>
                                        <p:cTn id="170" dur="1000"/>
                                        <p:tgtEl>
                                          <p:spTgt spid="6"/>
                                        </p:tgtEl>
                                      </p:cBhvr>
                                    </p:animEffect>
                                    <p:anim calcmode="lin" valueType="num">
                                      <p:cBhvr>
                                        <p:cTn id="171" dur="1000" fill="hold"/>
                                        <p:tgtEl>
                                          <p:spTgt spid="6"/>
                                        </p:tgtEl>
                                        <p:attrNameLst>
                                          <p:attrName>ppt_x</p:attrName>
                                        </p:attrNameLst>
                                      </p:cBhvr>
                                      <p:tavLst>
                                        <p:tav tm="0">
                                          <p:val>
                                            <p:strVal val="#ppt_x"/>
                                          </p:val>
                                        </p:tav>
                                        <p:tav tm="100000">
                                          <p:val>
                                            <p:strVal val="#ppt_x"/>
                                          </p:val>
                                        </p:tav>
                                      </p:tavLst>
                                    </p:anim>
                                    <p:anim calcmode="lin" valueType="num">
                                      <p:cBhvr>
                                        <p:cTn id="17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3" grpId="1" animBg="1"/>
      <p:bldP spid="45" grpId="0" animBg="1"/>
      <p:bldP spid="45" grpId="1" animBg="1"/>
      <p:bldP spid="56" grpId="0" animBg="1"/>
      <p:bldP spid="57" grpId="0" animBg="1"/>
      <p:bldP spid="48" grpId="0" animBg="1"/>
      <p:bldP spid="48" grpId="1" animBg="1"/>
      <p:bldP spid="50" grpId="0" animBg="1"/>
      <p:bldP spid="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Reference Cycles</a:t>
            </a:r>
          </a:p>
        </p:txBody>
      </p:sp>
      <p:sp>
        <p:nvSpPr>
          <p:cNvPr id="3" name="Content Placeholder 2"/>
          <p:cNvSpPr>
            <a:spLocks noGrp="1"/>
          </p:cNvSpPr>
          <p:nvPr>
            <p:ph idx="1"/>
          </p:nvPr>
        </p:nvSpPr>
        <p:spPr>
          <a:xfrm>
            <a:off x="838200" y="981636"/>
            <a:ext cx="10739718" cy="5728446"/>
          </a:xfrm>
        </p:spPr>
        <p:txBody>
          <a:bodyPr>
            <a:noAutofit/>
          </a:bodyPr>
          <a:lstStyle/>
          <a:p>
            <a:pPr>
              <a:lnSpc>
                <a:spcPct val="100000"/>
              </a:lnSpc>
              <a:spcBef>
                <a:spcPts val="0"/>
              </a:spcBef>
              <a:spcAft>
                <a:spcPts val="600"/>
              </a:spcAft>
            </a:pPr>
            <a:r>
              <a:rPr lang="en-US" dirty="0"/>
              <a:t>A </a:t>
            </a:r>
            <a:r>
              <a:rPr lang="en-US" dirty="0">
                <a:solidFill>
                  <a:srgbClr val="00B0F0"/>
                </a:solidFill>
              </a:rPr>
              <a:t>reference cycle</a:t>
            </a:r>
            <a:r>
              <a:rPr lang="en-US" dirty="0"/>
              <a:t> is a set of objects that cyclically refer to one another.</a:t>
            </a:r>
          </a:p>
          <a:p>
            <a:pPr>
              <a:lnSpc>
                <a:spcPct val="100000"/>
              </a:lnSpc>
              <a:spcBef>
                <a:spcPts val="0"/>
              </a:spcBef>
              <a:spcAft>
                <a:spcPts val="600"/>
              </a:spcAft>
            </a:pPr>
            <a:r>
              <a:rPr lang="en-US" dirty="0"/>
              <a:t>Because all the objects are referenced, all have nonzero </a:t>
            </a:r>
            <a:r>
              <a:rPr lang="en-US" dirty="0" err="1">
                <a:solidFill>
                  <a:srgbClr val="7030A0"/>
                </a:solidFill>
              </a:rPr>
              <a:t>refcounts</a:t>
            </a:r>
            <a:r>
              <a:rPr lang="en-US" dirty="0">
                <a:solidFill>
                  <a:srgbClr val="7030A0"/>
                </a:solidFill>
              </a:rPr>
              <a:t> </a:t>
            </a:r>
            <a:r>
              <a:rPr lang="en-US" dirty="0"/>
              <a:t>and are never reclaimed.</a:t>
            </a:r>
          </a:p>
          <a:p>
            <a:pPr>
              <a:lnSpc>
                <a:spcPct val="100000"/>
              </a:lnSpc>
              <a:spcBef>
                <a:spcPts val="0"/>
              </a:spcBef>
              <a:spcAft>
                <a:spcPts val="600"/>
              </a:spcAft>
            </a:pPr>
            <a:r>
              <a:rPr lang="en-US" dirty="0">
                <a:solidFill>
                  <a:schemeClr val="accent4">
                    <a:lumMod val="75000"/>
                  </a:schemeClr>
                </a:solidFill>
              </a:rPr>
              <a:t>Issue</a:t>
            </a:r>
            <a:r>
              <a:rPr lang="en-US" dirty="0"/>
              <a:t>: </a:t>
            </a:r>
            <a:r>
              <a:rPr lang="en-US" dirty="0" err="1">
                <a:solidFill>
                  <a:srgbClr val="7030A0"/>
                </a:solidFill>
              </a:rPr>
              <a:t>Refcount</a:t>
            </a:r>
            <a:r>
              <a:rPr lang="en-US" dirty="0">
                <a:solidFill>
                  <a:srgbClr val="7030A0"/>
                </a:solidFill>
              </a:rPr>
              <a:t> </a:t>
            </a:r>
            <a:r>
              <a:rPr lang="en-US" dirty="0"/>
              <a:t>tracks number of references, not number of reachable references.</a:t>
            </a:r>
          </a:p>
          <a:p>
            <a:pPr>
              <a:lnSpc>
                <a:spcPct val="100000"/>
              </a:lnSpc>
              <a:spcBef>
                <a:spcPts val="0"/>
              </a:spcBef>
              <a:spcAft>
                <a:spcPts val="600"/>
              </a:spcAft>
            </a:pPr>
            <a:r>
              <a:rPr lang="en-US" dirty="0"/>
              <a:t>Major problems in languages/systems that use reference counting e.g. Perl.</a:t>
            </a:r>
          </a:p>
        </p:txBody>
      </p:sp>
      <p:sp>
        <p:nvSpPr>
          <p:cNvPr id="4" name="Slide Number Placeholder 3"/>
          <p:cNvSpPr>
            <a:spLocks noGrp="1"/>
          </p:cNvSpPr>
          <p:nvPr>
            <p:ph type="sldNum" sz="quarter" idx="12"/>
          </p:nvPr>
        </p:nvSpPr>
        <p:spPr/>
        <p:txBody>
          <a:bodyPr/>
          <a:lstStyle/>
          <a:p>
            <a:fld id="{EE645454-5A07-423E-8617-7239B6B66F68}" type="slidenum">
              <a:rPr lang="en-US" smtClean="0"/>
              <a:t>62</a:t>
            </a:fld>
            <a:endParaRPr lang="en-US"/>
          </a:p>
        </p:txBody>
      </p:sp>
    </p:spTree>
    <p:extLst>
      <p:ext uri="{BB962C8B-B14F-4D97-AF65-F5344CB8AC3E}">
        <p14:creationId xmlns:p14="http://schemas.microsoft.com/office/powerpoint/2010/main" val="320796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Analysis of Reference Counting</a:t>
            </a:r>
          </a:p>
        </p:txBody>
      </p:sp>
      <p:sp>
        <p:nvSpPr>
          <p:cNvPr id="3" name="Content Placeholder 2"/>
          <p:cNvSpPr>
            <a:spLocks noGrp="1"/>
          </p:cNvSpPr>
          <p:nvPr>
            <p:ph idx="1"/>
          </p:nvPr>
        </p:nvSpPr>
        <p:spPr>
          <a:xfrm>
            <a:off x="838200" y="952608"/>
            <a:ext cx="10739718" cy="5728446"/>
          </a:xfrm>
        </p:spPr>
        <p:txBody>
          <a:bodyPr>
            <a:noAutofit/>
          </a:bodyPr>
          <a:lstStyle/>
          <a:p>
            <a:pPr>
              <a:lnSpc>
                <a:spcPct val="100000"/>
              </a:lnSpc>
              <a:spcBef>
                <a:spcPts val="0"/>
              </a:spcBef>
              <a:spcAft>
                <a:spcPts val="600"/>
              </a:spcAft>
            </a:pPr>
            <a:r>
              <a:rPr lang="en-US" dirty="0">
                <a:solidFill>
                  <a:srgbClr val="FF0000"/>
                </a:solidFill>
              </a:rPr>
              <a:t>Disadvantages:</a:t>
            </a:r>
          </a:p>
          <a:p>
            <a:pPr lvl="1">
              <a:lnSpc>
                <a:spcPct val="100000"/>
              </a:lnSpc>
              <a:spcBef>
                <a:spcPts val="0"/>
              </a:spcBef>
              <a:spcAft>
                <a:spcPts val="600"/>
              </a:spcAft>
            </a:pPr>
            <a:r>
              <a:rPr lang="en-US" dirty="0"/>
              <a:t>Cannot collect unreachable, cyclic data structures</a:t>
            </a:r>
          </a:p>
          <a:p>
            <a:pPr lvl="1">
              <a:lnSpc>
                <a:spcPct val="100000"/>
              </a:lnSpc>
              <a:spcBef>
                <a:spcPts val="0"/>
              </a:spcBef>
              <a:spcAft>
                <a:spcPts val="1200"/>
              </a:spcAft>
            </a:pPr>
            <a:r>
              <a:rPr lang="en-US" dirty="0"/>
              <a:t>The overhead is high. Proportional to the amount of computation in the program, and not just to the number of objects in the system. </a:t>
            </a:r>
          </a:p>
          <a:p>
            <a:pPr>
              <a:lnSpc>
                <a:spcPct val="100000"/>
              </a:lnSpc>
              <a:spcBef>
                <a:spcPts val="0"/>
              </a:spcBef>
              <a:spcAft>
                <a:spcPts val="600"/>
              </a:spcAft>
            </a:pPr>
            <a:r>
              <a:rPr lang="en-US" dirty="0">
                <a:solidFill>
                  <a:srgbClr val="00B050"/>
                </a:solidFill>
              </a:rPr>
              <a:t>Advantages:</a:t>
            </a:r>
          </a:p>
          <a:p>
            <a:pPr lvl="1">
              <a:lnSpc>
                <a:spcPct val="100000"/>
              </a:lnSpc>
              <a:spcBef>
                <a:spcPts val="0"/>
              </a:spcBef>
              <a:spcAft>
                <a:spcPts val="600"/>
              </a:spcAft>
            </a:pPr>
            <a:r>
              <a:rPr lang="en-US" dirty="0"/>
              <a:t>Can be performed in an incremental fashion. </a:t>
            </a:r>
          </a:p>
          <a:p>
            <a:pPr lvl="1">
              <a:lnSpc>
                <a:spcPct val="100000"/>
              </a:lnSpc>
              <a:spcBef>
                <a:spcPts val="0"/>
              </a:spcBef>
              <a:spcAft>
                <a:spcPts val="600"/>
              </a:spcAft>
            </a:pPr>
            <a:r>
              <a:rPr lang="en-US" dirty="0"/>
              <a:t>Even though the total overhead can be large, the operations are spread throughout the mutator's computation. </a:t>
            </a:r>
          </a:p>
          <a:p>
            <a:pPr lvl="1">
              <a:lnSpc>
                <a:spcPct val="100000"/>
              </a:lnSpc>
              <a:spcBef>
                <a:spcPts val="0"/>
              </a:spcBef>
              <a:spcAft>
                <a:spcPts val="600"/>
              </a:spcAft>
            </a:pPr>
            <a:r>
              <a:rPr lang="en-US" dirty="0"/>
              <a:t>The operation of recursively modifying reference counts can be deferred and performed piecemeal across time. </a:t>
            </a:r>
          </a:p>
          <a:p>
            <a:pPr lvl="1">
              <a:lnSpc>
                <a:spcPct val="100000"/>
              </a:lnSpc>
              <a:spcBef>
                <a:spcPts val="0"/>
              </a:spcBef>
              <a:spcAft>
                <a:spcPts val="600"/>
              </a:spcAft>
            </a:pPr>
            <a:r>
              <a:rPr lang="en-US" dirty="0"/>
              <a:t>Suitable when timing deadlines must be met, as well as for interactive applications where long, sudden pauses are unacceptable. </a:t>
            </a:r>
          </a:p>
          <a:p>
            <a:pPr lvl="1">
              <a:lnSpc>
                <a:spcPct val="100000"/>
              </a:lnSpc>
              <a:spcBef>
                <a:spcPts val="0"/>
              </a:spcBef>
              <a:spcAft>
                <a:spcPts val="600"/>
              </a:spcAft>
            </a:pPr>
            <a:r>
              <a:rPr lang="en-US" dirty="0"/>
              <a:t>Garbage is collected immediately, keeping space usage low. </a:t>
            </a:r>
          </a:p>
        </p:txBody>
      </p:sp>
      <p:sp>
        <p:nvSpPr>
          <p:cNvPr id="4" name="Slide Number Placeholder 3"/>
          <p:cNvSpPr>
            <a:spLocks noGrp="1"/>
          </p:cNvSpPr>
          <p:nvPr>
            <p:ph type="sldNum" sz="quarter" idx="12"/>
          </p:nvPr>
        </p:nvSpPr>
        <p:spPr/>
        <p:txBody>
          <a:bodyPr/>
          <a:lstStyle/>
          <a:p>
            <a:fld id="{EE645454-5A07-423E-8617-7239B6B66F68}" type="slidenum">
              <a:rPr lang="en-US" smtClean="0"/>
              <a:t>63</a:t>
            </a:fld>
            <a:endParaRPr lang="en-US"/>
          </a:p>
        </p:txBody>
      </p:sp>
    </p:spTree>
    <p:extLst>
      <p:ext uri="{BB962C8B-B14F-4D97-AF65-F5344CB8AC3E}">
        <p14:creationId xmlns:p14="http://schemas.microsoft.com/office/powerpoint/2010/main" val="864025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Trace-Based Collection</a:t>
            </a:r>
          </a:p>
        </p:txBody>
      </p:sp>
      <p:sp>
        <p:nvSpPr>
          <p:cNvPr id="3" name="Content Placeholder 2"/>
          <p:cNvSpPr>
            <a:spLocks noGrp="1"/>
          </p:cNvSpPr>
          <p:nvPr>
            <p:ph idx="1"/>
          </p:nvPr>
        </p:nvSpPr>
        <p:spPr>
          <a:xfrm>
            <a:off x="838200" y="981636"/>
            <a:ext cx="10739718" cy="5728446"/>
          </a:xfrm>
        </p:spPr>
        <p:txBody>
          <a:bodyPr>
            <a:noAutofit/>
          </a:bodyPr>
          <a:lstStyle/>
          <a:p>
            <a:pPr>
              <a:lnSpc>
                <a:spcPct val="100000"/>
              </a:lnSpc>
              <a:spcBef>
                <a:spcPts val="0"/>
              </a:spcBef>
              <a:spcAft>
                <a:spcPts val="600"/>
              </a:spcAft>
            </a:pPr>
            <a:r>
              <a:rPr lang="en-US" dirty="0"/>
              <a:t>Instead of collecting garbage as it is created, </a:t>
            </a:r>
            <a:r>
              <a:rPr lang="en-US" dirty="0">
                <a:solidFill>
                  <a:schemeClr val="accent5">
                    <a:lumMod val="75000"/>
                  </a:schemeClr>
                </a:solidFill>
              </a:rPr>
              <a:t>trace-based</a:t>
            </a:r>
            <a:r>
              <a:rPr lang="en-US" dirty="0"/>
              <a:t> collectors run periodically to find unreachable objects and reclaim their space.</a:t>
            </a:r>
          </a:p>
          <a:p>
            <a:pPr>
              <a:lnSpc>
                <a:spcPct val="100000"/>
              </a:lnSpc>
              <a:spcBef>
                <a:spcPts val="0"/>
              </a:spcBef>
              <a:spcAft>
                <a:spcPts val="600"/>
              </a:spcAft>
            </a:pPr>
            <a:r>
              <a:rPr lang="en-US" dirty="0"/>
              <a:t>Typically, we run the trace-based collector whenever the free space is exhausted or its amount drops below some threshold.</a:t>
            </a:r>
          </a:p>
          <a:p>
            <a:pPr>
              <a:lnSpc>
                <a:spcPct val="100000"/>
              </a:lnSpc>
              <a:spcBef>
                <a:spcPts val="0"/>
              </a:spcBef>
              <a:spcAft>
                <a:spcPts val="600"/>
              </a:spcAft>
            </a:pPr>
            <a:r>
              <a:rPr lang="en-US" dirty="0">
                <a:solidFill>
                  <a:schemeClr val="accent6">
                    <a:lumMod val="75000"/>
                  </a:schemeClr>
                </a:solidFill>
              </a:rPr>
              <a:t>Trace-based algorithms</a:t>
            </a:r>
          </a:p>
          <a:p>
            <a:pPr lvl="1">
              <a:lnSpc>
                <a:spcPct val="100000"/>
              </a:lnSpc>
              <a:spcBef>
                <a:spcPts val="0"/>
              </a:spcBef>
              <a:spcAft>
                <a:spcPts val="600"/>
              </a:spcAft>
            </a:pPr>
            <a:r>
              <a:rPr lang="en-US" dirty="0">
                <a:solidFill>
                  <a:srgbClr val="7030A0"/>
                </a:solidFill>
              </a:rPr>
              <a:t>Mark-and-Sweep Garbage Collectors: </a:t>
            </a:r>
            <a:r>
              <a:rPr lang="en-US" dirty="0">
                <a:solidFill>
                  <a:schemeClr val="accent2">
                    <a:lumMod val="75000"/>
                  </a:schemeClr>
                </a:solidFill>
              </a:rPr>
              <a:t>stop-the world algorithms</a:t>
            </a:r>
          </a:p>
          <a:p>
            <a:pPr lvl="2">
              <a:lnSpc>
                <a:spcPct val="100000"/>
              </a:lnSpc>
              <a:spcBef>
                <a:spcPts val="0"/>
              </a:spcBef>
              <a:spcAft>
                <a:spcPts val="600"/>
              </a:spcAft>
            </a:pPr>
            <a:r>
              <a:rPr lang="en-US" sz="2200" dirty="0"/>
              <a:t>Basic algorithm</a:t>
            </a:r>
          </a:p>
          <a:p>
            <a:pPr lvl="2">
              <a:lnSpc>
                <a:spcPct val="100000"/>
              </a:lnSpc>
              <a:spcBef>
                <a:spcPts val="0"/>
              </a:spcBef>
              <a:spcAft>
                <a:spcPts val="600"/>
              </a:spcAft>
            </a:pPr>
            <a:r>
              <a:rPr lang="en-US" sz="2200" dirty="0"/>
              <a:t>Optimization with Baker’s algorithm</a:t>
            </a:r>
          </a:p>
          <a:p>
            <a:pPr lvl="1">
              <a:lnSpc>
                <a:spcPct val="100000"/>
              </a:lnSpc>
              <a:spcBef>
                <a:spcPts val="0"/>
              </a:spcBef>
              <a:spcAft>
                <a:spcPts val="600"/>
              </a:spcAft>
            </a:pPr>
            <a:r>
              <a:rPr lang="en-US" dirty="0">
                <a:solidFill>
                  <a:srgbClr val="7030A0"/>
                </a:solidFill>
              </a:rPr>
              <a:t>Mark-and-Compact Garbage Collectors</a:t>
            </a:r>
          </a:p>
          <a:p>
            <a:pPr lvl="1">
              <a:lnSpc>
                <a:spcPct val="100000"/>
              </a:lnSpc>
              <a:spcBef>
                <a:spcPts val="0"/>
              </a:spcBef>
              <a:spcAft>
                <a:spcPts val="600"/>
              </a:spcAft>
            </a:pPr>
            <a:r>
              <a:rPr lang="en-US" dirty="0">
                <a:solidFill>
                  <a:srgbClr val="7030A0"/>
                </a:solidFill>
              </a:rPr>
              <a:t>Copying Garbage Collectors</a:t>
            </a:r>
          </a:p>
          <a:p>
            <a:pPr lvl="1">
              <a:lnSpc>
                <a:spcPct val="100000"/>
              </a:lnSpc>
              <a:spcBef>
                <a:spcPts val="0"/>
              </a:spcBef>
              <a:spcAft>
                <a:spcPts val="600"/>
              </a:spcAft>
            </a:pPr>
            <a:endParaRPr lang="en-US" dirty="0"/>
          </a:p>
        </p:txBody>
      </p:sp>
      <p:sp>
        <p:nvSpPr>
          <p:cNvPr id="4" name="Slide Number Placeholder 3"/>
          <p:cNvSpPr>
            <a:spLocks noGrp="1"/>
          </p:cNvSpPr>
          <p:nvPr>
            <p:ph type="sldNum" sz="quarter" idx="12"/>
          </p:nvPr>
        </p:nvSpPr>
        <p:spPr/>
        <p:txBody>
          <a:bodyPr/>
          <a:lstStyle/>
          <a:p>
            <a:fld id="{EE645454-5A07-423E-8617-7239B6B66F68}" type="slidenum">
              <a:rPr lang="en-US" smtClean="0"/>
              <a:t>64</a:t>
            </a:fld>
            <a:endParaRPr lang="en-US"/>
          </a:p>
        </p:txBody>
      </p:sp>
    </p:spTree>
    <p:extLst>
      <p:ext uri="{BB962C8B-B14F-4D97-AF65-F5344CB8AC3E}">
        <p14:creationId xmlns:p14="http://schemas.microsoft.com/office/powerpoint/2010/main" val="2099201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Basic Abstraction</a:t>
            </a:r>
          </a:p>
        </p:txBody>
      </p:sp>
      <p:sp>
        <p:nvSpPr>
          <p:cNvPr id="3" name="Content Placeholder 2"/>
          <p:cNvSpPr>
            <a:spLocks noGrp="1"/>
          </p:cNvSpPr>
          <p:nvPr>
            <p:ph idx="1"/>
          </p:nvPr>
        </p:nvSpPr>
        <p:spPr>
          <a:xfrm>
            <a:off x="838200" y="981636"/>
            <a:ext cx="10739718" cy="5728446"/>
          </a:xfrm>
        </p:spPr>
        <p:txBody>
          <a:bodyPr>
            <a:noAutofit/>
          </a:bodyPr>
          <a:lstStyle/>
          <a:p>
            <a:pPr>
              <a:lnSpc>
                <a:spcPct val="100000"/>
              </a:lnSpc>
              <a:spcBef>
                <a:spcPts val="0"/>
              </a:spcBef>
              <a:spcAft>
                <a:spcPts val="600"/>
              </a:spcAft>
            </a:pPr>
            <a:r>
              <a:rPr lang="en-US" dirty="0"/>
              <a:t>All trace-based algorithms compute the set of reachable objects and then take the complement of this set. </a:t>
            </a:r>
          </a:p>
          <a:p>
            <a:pPr>
              <a:lnSpc>
                <a:spcPct val="100000"/>
              </a:lnSpc>
              <a:spcBef>
                <a:spcPts val="0"/>
              </a:spcBef>
              <a:spcAft>
                <a:spcPts val="600"/>
              </a:spcAft>
            </a:pPr>
            <a:r>
              <a:rPr lang="en-US" dirty="0"/>
              <a:t>Memory is therefore recycled as follows:</a:t>
            </a:r>
          </a:p>
          <a:p>
            <a:pPr marL="914400" lvl="1" indent="-457200">
              <a:lnSpc>
                <a:spcPct val="100000"/>
              </a:lnSpc>
              <a:spcBef>
                <a:spcPts val="0"/>
              </a:spcBef>
              <a:spcAft>
                <a:spcPts val="600"/>
              </a:spcAft>
              <a:buFont typeface="+mj-lt"/>
              <a:buAutoNum type="arabicPeriod"/>
            </a:pPr>
            <a:r>
              <a:rPr lang="en-US" sz="2200" dirty="0"/>
              <a:t>The program or mutator runs and makes allocation requests.</a:t>
            </a:r>
          </a:p>
          <a:p>
            <a:pPr marL="914400" lvl="1" indent="-457200">
              <a:lnSpc>
                <a:spcPct val="100000"/>
              </a:lnSpc>
              <a:spcBef>
                <a:spcPts val="0"/>
              </a:spcBef>
              <a:spcAft>
                <a:spcPts val="600"/>
              </a:spcAft>
              <a:buFont typeface="+mj-lt"/>
              <a:buAutoNum type="arabicPeriod"/>
            </a:pPr>
            <a:r>
              <a:rPr lang="en-US" sz="2200" dirty="0"/>
              <a:t>The garbage collector discovers reachability by tracing.</a:t>
            </a:r>
          </a:p>
          <a:p>
            <a:pPr marL="914400" lvl="1" indent="-457200">
              <a:lnSpc>
                <a:spcPct val="100000"/>
              </a:lnSpc>
              <a:spcBef>
                <a:spcPts val="0"/>
              </a:spcBef>
              <a:spcAft>
                <a:spcPts val="600"/>
              </a:spcAft>
              <a:buFont typeface="+mj-lt"/>
              <a:buAutoNum type="arabicPeriod"/>
            </a:pPr>
            <a:r>
              <a:rPr lang="en-US" sz="2200" dirty="0"/>
              <a:t>The garbage collector reclaims the storage for unreachable objects.</a:t>
            </a:r>
          </a:p>
          <a:p>
            <a:pPr>
              <a:lnSpc>
                <a:spcPct val="100000"/>
              </a:lnSpc>
              <a:spcBef>
                <a:spcPts val="0"/>
              </a:spcBef>
              <a:spcAft>
                <a:spcPts val="600"/>
              </a:spcAft>
            </a:pPr>
            <a:r>
              <a:rPr lang="en-US" dirty="0"/>
              <a:t>A memory chunk can be in four states in a GC cycle</a:t>
            </a:r>
          </a:p>
          <a:p>
            <a:pPr lvl="1">
              <a:lnSpc>
                <a:spcPct val="100000"/>
              </a:lnSpc>
              <a:spcBef>
                <a:spcPts val="0"/>
              </a:spcBef>
              <a:spcAft>
                <a:spcPts val="600"/>
              </a:spcAft>
            </a:pPr>
            <a:r>
              <a:rPr lang="en-US" dirty="0">
                <a:solidFill>
                  <a:srgbClr val="00B0F0"/>
                </a:solidFill>
              </a:rPr>
              <a:t>Free</a:t>
            </a:r>
            <a:r>
              <a:rPr lang="en-US" dirty="0"/>
              <a:t>, </a:t>
            </a:r>
            <a:r>
              <a:rPr lang="en-US" dirty="0">
                <a:solidFill>
                  <a:schemeClr val="accent4">
                    <a:lumMod val="75000"/>
                  </a:schemeClr>
                </a:solidFill>
              </a:rPr>
              <a:t>Unreached</a:t>
            </a:r>
            <a:r>
              <a:rPr lang="en-US" dirty="0"/>
              <a:t>, </a:t>
            </a:r>
            <a:r>
              <a:rPr lang="en-US" dirty="0">
                <a:solidFill>
                  <a:schemeClr val="accent6">
                    <a:lumMod val="75000"/>
                  </a:schemeClr>
                </a:solidFill>
              </a:rPr>
              <a:t>Unscanned</a:t>
            </a:r>
            <a:r>
              <a:rPr lang="en-US" dirty="0"/>
              <a:t>, and </a:t>
            </a:r>
            <a:r>
              <a:rPr lang="en-US" dirty="0">
                <a:solidFill>
                  <a:srgbClr val="7030A0"/>
                </a:solidFill>
              </a:rPr>
              <a:t>Scanned</a:t>
            </a:r>
            <a:r>
              <a:rPr lang="en-US" dirty="0"/>
              <a:t>. </a:t>
            </a:r>
          </a:p>
          <a:p>
            <a:pPr>
              <a:lnSpc>
                <a:spcPct val="100000"/>
              </a:lnSpc>
              <a:spcBef>
                <a:spcPts val="0"/>
              </a:spcBef>
              <a:spcAft>
                <a:spcPts val="600"/>
              </a:spcAft>
            </a:pPr>
            <a:r>
              <a:rPr lang="en-US" dirty="0"/>
              <a:t>The state of a chunk might be stored</a:t>
            </a:r>
          </a:p>
          <a:p>
            <a:pPr lvl="1">
              <a:lnSpc>
                <a:spcPct val="100000"/>
              </a:lnSpc>
              <a:spcBef>
                <a:spcPts val="0"/>
              </a:spcBef>
              <a:spcAft>
                <a:spcPts val="600"/>
              </a:spcAft>
            </a:pPr>
            <a:r>
              <a:rPr lang="en-US" dirty="0"/>
              <a:t>in the chunk itself, or </a:t>
            </a:r>
          </a:p>
          <a:p>
            <a:pPr lvl="1">
              <a:lnSpc>
                <a:spcPct val="100000"/>
              </a:lnSpc>
              <a:spcBef>
                <a:spcPts val="0"/>
              </a:spcBef>
              <a:spcAft>
                <a:spcPts val="600"/>
              </a:spcAft>
            </a:pPr>
            <a:r>
              <a:rPr lang="en-US" dirty="0"/>
              <a:t>it might be implicit in the data structures used by the garbage-collection algorithm</a:t>
            </a:r>
          </a:p>
        </p:txBody>
      </p:sp>
      <p:sp>
        <p:nvSpPr>
          <p:cNvPr id="4" name="Slide Number Placeholder 3"/>
          <p:cNvSpPr>
            <a:spLocks noGrp="1"/>
          </p:cNvSpPr>
          <p:nvPr>
            <p:ph type="sldNum" sz="quarter" idx="12"/>
          </p:nvPr>
        </p:nvSpPr>
        <p:spPr/>
        <p:txBody>
          <a:bodyPr/>
          <a:lstStyle/>
          <a:p>
            <a:fld id="{EE645454-5A07-423E-8617-7239B6B66F68}" type="slidenum">
              <a:rPr lang="en-US" smtClean="0"/>
              <a:t>65</a:t>
            </a:fld>
            <a:endParaRPr lang="en-US"/>
          </a:p>
        </p:txBody>
      </p:sp>
    </p:spTree>
    <p:extLst>
      <p:ext uri="{BB962C8B-B14F-4D97-AF65-F5344CB8AC3E}">
        <p14:creationId xmlns:p14="http://schemas.microsoft.com/office/powerpoint/2010/main" val="3531834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dow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down)">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048" y="147918"/>
            <a:ext cx="5459506" cy="847164"/>
          </a:xfrm>
        </p:spPr>
        <p:txBody>
          <a:bodyPr>
            <a:noAutofit/>
          </a:bodyPr>
          <a:lstStyle/>
          <a:p>
            <a:pPr algn="ctr"/>
            <a:r>
              <a:rPr lang="en-US" sz="3600" dirty="0">
                <a:solidFill>
                  <a:srgbClr val="FF0000"/>
                </a:solidFill>
              </a:rPr>
              <a:t>Memory States in a Garbage Collection Cycle</a:t>
            </a:r>
          </a:p>
        </p:txBody>
      </p:sp>
      <p:sp>
        <p:nvSpPr>
          <p:cNvPr id="3" name="Content Placeholder 2"/>
          <p:cNvSpPr>
            <a:spLocks noGrp="1"/>
          </p:cNvSpPr>
          <p:nvPr>
            <p:ph idx="1"/>
          </p:nvPr>
        </p:nvSpPr>
        <p:spPr>
          <a:xfrm>
            <a:off x="242048" y="1223683"/>
            <a:ext cx="5522259" cy="5486399"/>
          </a:xfrm>
        </p:spPr>
        <p:txBody>
          <a:bodyPr>
            <a:noAutofit/>
          </a:bodyPr>
          <a:lstStyle/>
          <a:p>
            <a:pPr>
              <a:lnSpc>
                <a:spcPct val="100000"/>
              </a:lnSpc>
              <a:spcBef>
                <a:spcPts val="0"/>
              </a:spcBef>
              <a:spcAft>
                <a:spcPts val="600"/>
              </a:spcAft>
            </a:pPr>
            <a:r>
              <a:rPr lang="en-US" dirty="0">
                <a:solidFill>
                  <a:srgbClr val="00B0F0"/>
                </a:solidFill>
              </a:rPr>
              <a:t>Free</a:t>
            </a:r>
            <a:endParaRPr lang="en-US" dirty="0"/>
          </a:p>
          <a:p>
            <a:pPr lvl="1">
              <a:lnSpc>
                <a:spcPct val="100000"/>
              </a:lnSpc>
              <a:spcBef>
                <a:spcPts val="0"/>
              </a:spcBef>
              <a:spcAft>
                <a:spcPts val="600"/>
              </a:spcAft>
            </a:pPr>
            <a:r>
              <a:rPr lang="en-US" dirty="0"/>
              <a:t>A chunk is in the </a:t>
            </a:r>
            <a:r>
              <a:rPr lang="en-US" dirty="0">
                <a:solidFill>
                  <a:srgbClr val="00B0F0"/>
                </a:solidFill>
              </a:rPr>
              <a:t>free </a:t>
            </a:r>
            <a:r>
              <a:rPr lang="en-US" dirty="0"/>
              <a:t>state if it is ready to be allocated. </a:t>
            </a:r>
          </a:p>
          <a:p>
            <a:pPr lvl="1">
              <a:lnSpc>
                <a:spcPct val="100000"/>
              </a:lnSpc>
              <a:spcBef>
                <a:spcPts val="0"/>
              </a:spcBef>
              <a:spcAft>
                <a:spcPts val="600"/>
              </a:spcAft>
            </a:pPr>
            <a:r>
              <a:rPr lang="en-US" dirty="0"/>
              <a:t>A </a:t>
            </a:r>
            <a:r>
              <a:rPr lang="en-US" dirty="0">
                <a:solidFill>
                  <a:srgbClr val="00B0F0"/>
                </a:solidFill>
              </a:rPr>
              <a:t>free </a:t>
            </a:r>
            <a:r>
              <a:rPr lang="en-US" dirty="0"/>
              <a:t>chunk must not hold a reachable object.</a:t>
            </a:r>
          </a:p>
        </p:txBody>
      </p:sp>
      <p:pic>
        <p:nvPicPr>
          <p:cNvPr id="5" name="Picture 4"/>
          <p:cNvPicPr>
            <a:picLocks noChangeAspect="1"/>
          </p:cNvPicPr>
          <p:nvPr/>
        </p:nvPicPr>
        <p:blipFill rotWithShape="1">
          <a:blip r:embed="rId2"/>
          <a:srcRect l="12235" r="5887" b="8689"/>
          <a:stretch/>
        </p:blipFill>
        <p:spPr>
          <a:xfrm>
            <a:off x="6400585" y="291394"/>
            <a:ext cx="5607423" cy="6479522"/>
          </a:xfrm>
          <a:prstGeom prst="rect">
            <a:avLst/>
          </a:prstGeom>
          <a:ln w="12700">
            <a:solidFill>
              <a:schemeClr val="accent4">
                <a:lumMod val="60000"/>
                <a:lumOff val="40000"/>
              </a:schemeClr>
            </a:solidFill>
            <a:prstDash val="dash"/>
          </a:ln>
        </p:spPr>
      </p:pic>
      <p:sp>
        <p:nvSpPr>
          <p:cNvPr id="6" name="Slide Number Placeholder 5"/>
          <p:cNvSpPr>
            <a:spLocks noGrp="1"/>
          </p:cNvSpPr>
          <p:nvPr>
            <p:ph type="sldNum" sz="quarter" idx="12"/>
          </p:nvPr>
        </p:nvSpPr>
        <p:spPr/>
        <p:txBody>
          <a:bodyPr/>
          <a:lstStyle/>
          <a:p>
            <a:fld id="{EE645454-5A07-423E-8617-7239B6B66F68}" type="slidenum">
              <a:rPr lang="en-US" smtClean="0"/>
              <a:t>66</a:t>
            </a:fld>
            <a:endParaRPr lang="en-US"/>
          </a:p>
        </p:txBody>
      </p:sp>
    </p:spTree>
    <p:extLst>
      <p:ext uri="{BB962C8B-B14F-4D97-AF65-F5344CB8AC3E}">
        <p14:creationId xmlns:p14="http://schemas.microsoft.com/office/powerpoint/2010/main" val="1191865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barn(inVertical)">
                                      <p:cBhvr>
                                        <p:cTn id="14" dur="500"/>
                                        <p:tgtEl>
                                          <p:spTgt spid="3">
                                            <p:txEl>
                                              <p:pRg st="0" end="0"/>
                                            </p:txEl>
                                          </p:spTgt>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arn(inVertical)">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048" y="147918"/>
            <a:ext cx="5459506" cy="847164"/>
          </a:xfrm>
        </p:spPr>
        <p:txBody>
          <a:bodyPr>
            <a:noAutofit/>
          </a:bodyPr>
          <a:lstStyle/>
          <a:p>
            <a:pPr algn="ctr"/>
            <a:r>
              <a:rPr lang="en-US" sz="3600" dirty="0">
                <a:solidFill>
                  <a:srgbClr val="FF0000"/>
                </a:solidFill>
              </a:rPr>
              <a:t>Memory States in a Garbage Collection Cycle</a:t>
            </a:r>
          </a:p>
        </p:txBody>
      </p:sp>
      <p:sp>
        <p:nvSpPr>
          <p:cNvPr id="3" name="Content Placeholder 2"/>
          <p:cNvSpPr>
            <a:spLocks noGrp="1"/>
          </p:cNvSpPr>
          <p:nvPr>
            <p:ph idx="1"/>
          </p:nvPr>
        </p:nvSpPr>
        <p:spPr>
          <a:xfrm>
            <a:off x="242048" y="1165627"/>
            <a:ext cx="5522259" cy="5728446"/>
          </a:xfrm>
        </p:spPr>
        <p:txBody>
          <a:bodyPr>
            <a:noAutofit/>
          </a:bodyPr>
          <a:lstStyle/>
          <a:p>
            <a:pPr>
              <a:lnSpc>
                <a:spcPct val="100000"/>
              </a:lnSpc>
              <a:spcBef>
                <a:spcPts val="0"/>
              </a:spcBef>
              <a:spcAft>
                <a:spcPts val="600"/>
              </a:spcAft>
            </a:pPr>
            <a:r>
              <a:rPr lang="en-US" dirty="0">
                <a:solidFill>
                  <a:srgbClr val="00B0F0"/>
                </a:solidFill>
              </a:rPr>
              <a:t>Unreached</a:t>
            </a:r>
          </a:p>
          <a:p>
            <a:pPr lvl="1">
              <a:lnSpc>
                <a:spcPct val="100000"/>
              </a:lnSpc>
              <a:spcBef>
                <a:spcPts val="0"/>
              </a:spcBef>
              <a:spcAft>
                <a:spcPts val="600"/>
              </a:spcAft>
            </a:pPr>
            <a:r>
              <a:rPr lang="en-US" dirty="0"/>
              <a:t>Chunks are presumed </a:t>
            </a:r>
            <a:r>
              <a:rPr lang="en-US" dirty="0">
                <a:solidFill>
                  <a:srgbClr val="00B0F0"/>
                </a:solidFill>
              </a:rPr>
              <a:t>unreachable</a:t>
            </a:r>
            <a:r>
              <a:rPr lang="en-US" dirty="0"/>
              <a:t>, unless proven reachable by tracing. </a:t>
            </a:r>
          </a:p>
          <a:p>
            <a:pPr lvl="1">
              <a:lnSpc>
                <a:spcPct val="100000"/>
              </a:lnSpc>
              <a:spcBef>
                <a:spcPts val="0"/>
              </a:spcBef>
              <a:spcAft>
                <a:spcPts val="600"/>
              </a:spcAft>
            </a:pPr>
            <a:r>
              <a:rPr lang="en-US" dirty="0"/>
              <a:t>A chunk is in the </a:t>
            </a:r>
            <a:r>
              <a:rPr lang="en-US" dirty="0">
                <a:solidFill>
                  <a:srgbClr val="00B0F0"/>
                </a:solidFill>
              </a:rPr>
              <a:t>Unreached</a:t>
            </a:r>
            <a:r>
              <a:rPr lang="en-US" dirty="0"/>
              <a:t> state at any point during garbage collection if its reach ability has not yet been established. </a:t>
            </a:r>
          </a:p>
          <a:p>
            <a:pPr lvl="1">
              <a:lnSpc>
                <a:spcPct val="100000"/>
              </a:lnSpc>
              <a:spcBef>
                <a:spcPts val="0"/>
              </a:spcBef>
              <a:spcAft>
                <a:spcPts val="600"/>
              </a:spcAft>
            </a:pPr>
            <a:r>
              <a:rPr lang="en-US" dirty="0"/>
              <a:t>Whenever a chunk is allocated by the memory manager, its state is set to </a:t>
            </a:r>
            <a:r>
              <a:rPr lang="en-US" dirty="0">
                <a:solidFill>
                  <a:srgbClr val="00B0F0"/>
                </a:solidFill>
              </a:rPr>
              <a:t>Unreached</a:t>
            </a:r>
            <a:r>
              <a:rPr lang="en-US" dirty="0"/>
              <a:t>. </a:t>
            </a:r>
          </a:p>
          <a:p>
            <a:pPr lvl="1">
              <a:lnSpc>
                <a:spcPct val="100000"/>
              </a:lnSpc>
              <a:spcBef>
                <a:spcPts val="0"/>
              </a:spcBef>
              <a:spcAft>
                <a:spcPts val="600"/>
              </a:spcAft>
            </a:pPr>
            <a:r>
              <a:rPr lang="en-US" dirty="0"/>
              <a:t>Also, after a round of garbage collection, the state of a reachable object is reset to Unreached to get ready for the next round;</a:t>
            </a:r>
          </a:p>
        </p:txBody>
      </p:sp>
      <p:pic>
        <p:nvPicPr>
          <p:cNvPr id="4" name="Picture 3"/>
          <p:cNvPicPr>
            <a:picLocks noChangeAspect="1"/>
          </p:cNvPicPr>
          <p:nvPr/>
        </p:nvPicPr>
        <p:blipFill rotWithShape="1">
          <a:blip r:embed="rId2"/>
          <a:srcRect l="12235" r="5887" b="8689"/>
          <a:stretch/>
        </p:blipFill>
        <p:spPr>
          <a:xfrm>
            <a:off x="6360459" y="322729"/>
            <a:ext cx="5607423" cy="6479522"/>
          </a:xfrm>
          <a:prstGeom prst="rect">
            <a:avLst/>
          </a:prstGeom>
          <a:ln w="12700">
            <a:solidFill>
              <a:schemeClr val="accent4">
                <a:lumMod val="60000"/>
                <a:lumOff val="40000"/>
              </a:schemeClr>
            </a:solidFill>
            <a:prstDash val="dash"/>
          </a:ln>
        </p:spPr>
      </p:pic>
      <p:sp>
        <p:nvSpPr>
          <p:cNvPr id="5" name="Slide Number Placeholder 4"/>
          <p:cNvSpPr>
            <a:spLocks noGrp="1"/>
          </p:cNvSpPr>
          <p:nvPr>
            <p:ph type="sldNum" sz="quarter" idx="12"/>
          </p:nvPr>
        </p:nvSpPr>
        <p:spPr/>
        <p:txBody>
          <a:bodyPr/>
          <a:lstStyle/>
          <a:p>
            <a:fld id="{EE645454-5A07-423E-8617-7239B6B66F68}" type="slidenum">
              <a:rPr lang="en-US" smtClean="0"/>
              <a:t>67</a:t>
            </a:fld>
            <a:endParaRPr lang="en-US"/>
          </a:p>
        </p:txBody>
      </p:sp>
    </p:spTree>
    <p:extLst>
      <p:ext uri="{BB962C8B-B14F-4D97-AF65-F5344CB8AC3E}">
        <p14:creationId xmlns:p14="http://schemas.microsoft.com/office/powerpoint/2010/main" val="1791790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048" y="147918"/>
            <a:ext cx="5459506" cy="847164"/>
          </a:xfrm>
        </p:spPr>
        <p:txBody>
          <a:bodyPr>
            <a:noAutofit/>
          </a:bodyPr>
          <a:lstStyle/>
          <a:p>
            <a:pPr algn="ctr"/>
            <a:r>
              <a:rPr lang="en-US" sz="3600" dirty="0">
                <a:solidFill>
                  <a:srgbClr val="FF0000"/>
                </a:solidFill>
              </a:rPr>
              <a:t>Memory States in a Garbage Collection Cycle</a:t>
            </a:r>
          </a:p>
        </p:txBody>
      </p:sp>
      <p:sp>
        <p:nvSpPr>
          <p:cNvPr id="3" name="Content Placeholder 2"/>
          <p:cNvSpPr>
            <a:spLocks noGrp="1"/>
          </p:cNvSpPr>
          <p:nvPr>
            <p:ph idx="1"/>
          </p:nvPr>
        </p:nvSpPr>
        <p:spPr>
          <a:xfrm>
            <a:off x="242048" y="1129554"/>
            <a:ext cx="5200809" cy="5728446"/>
          </a:xfrm>
        </p:spPr>
        <p:txBody>
          <a:bodyPr>
            <a:noAutofit/>
          </a:bodyPr>
          <a:lstStyle/>
          <a:p>
            <a:pPr>
              <a:lnSpc>
                <a:spcPct val="100000"/>
              </a:lnSpc>
              <a:spcBef>
                <a:spcPts val="0"/>
              </a:spcBef>
              <a:spcAft>
                <a:spcPts val="600"/>
              </a:spcAft>
            </a:pPr>
            <a:r>
              <a:rPr lang="en-US" dirty="0">
                <a:solidFill>
                  <a:srgbClr val="00B0F0"/>
                </a:solidFill>
              </a:rPr>
              <a:t>Unscanned</a:t>
            </a:r>
            <a:endParaRPr lang="en-US" dirty="0"/>
          </a:p>
          <a:p>
            <a:pPr lvl="1">
              <a:lnSpc>
                <a:spcPct val="100000"/>
              </a:lnSpc>
              <a:spcBef>
                <a:spcPts val="0"/>
              </a:spcBef>
              <a:spcAft>
                <a:spcPts val="600"/>
              </a:spcAft>
            </a:pPr>
            <a:r>
              <a:rPr lang="en-US" dirty="0"/>
              <a:t>Chunks that are known to be reachable are either in state </a:t>
            </a:r>
            <a:r>
              <a:rPr lang="en-US" dirty="0">
                <a:solidFill>
                  <a:srgbClr val="00B0F0"/>
                </a:solidFill>
              </a:rPr>
              <a:t>unscanned</a:t>
            </a:r>
            <a:r>
              <a:rPr lang="en-US" dirty="0"/>
              <a:t> or state </a:t>
            </a:r>
            <a:r>
              <a:rPr lang="en-US" dirty="0">
                <a:solidFill>
                  <a:schemeClr val="accent5">
                    <a:lumMod val="60000"/>
                    <a:lumOff val="40000"/>
                  </a:schemeClr>
                </a:solidFill>
              </a:rPr>
              <a:t>scanned</a:t>
            </a:r>
            <a:r>
              <a:rPr lang="en-US" dirty="0"/>
              <a:t>. </a:t>
            </a:r>
          </a:p>
          <a:p>
            <a:pPr lvl="1">
              <a:lnSpc>
                <a:spcPct val="100000"/>
              </a:lnSpc>
              <a:spcBef>
                <a:spcPts val="0"/>
              </a:spcBef>
              <a:spcAft>
                <a:spcPts val="600"/>
              </a:spcAft>
            </a:pPr>
            <a:r>
              <a:rPr lang="en-US" dirty="0"/>
              <a:t>A chunk is in the </a:t>
            </a:r>
            <a:r>
              <a:rPr lang="en-US" dirty="0">
                <a:solidFill>
                  <a:srgbClr val="00B0F0"/>
                </a:solidFill>
              </a:rPr>
              <a:t>unscanned</a:t>
            </a:r>
            <a:r>
              <a:rPr lang="en-US" dirty="0"/>
              <a:t> state if it is known to be reachable, but its pointers have not yet been scanned. </a:t>
            </a:r>
          </a:p>
          <a:p>
            <a:pPr lvl="1">
              <a:lnSpc>
                <a:spcPct val="100000"/>
              </a:lnSpc>
              <a:spcBef>
                <a:spcPts val="0"/>
              </a:spcBef>
              <a:spcAft>
                <a:spcPts val="600"/>
              </a:spcAft>
            </a:pPr>
            <a:r>
              <a:rPr lang="en-US" dirty="0"/>
              <a:t>The transition to </a:t>
            </a:r>
            <a:r>
              <a:rPr lang="en-US" dirty="0">
                <a:solidFill>
                  <a:srgbClr val="00B0F0"/>
                </a:solidFill>
              </a:rPr>
              <a:t>unscanned</a:t>
            </a:r>
            <a:r>
              <a:rPr lang="en-US" dirty="0"/>
              <a:t> from </a:t>
            </a:r>
            <a:r>
              <a:rPr lang="en-US" dirty="0">
                <a:solidFill>
                  <a:schemeClr val="accent6">
                    <a:lumMod val="75000"/>
                  </a:schemeClr>
                </a:solidFill>
              </a:rPr>
              <a:t>unreached</a:t>
            </a:r>
            <a:r>
              <a:rPr lang="en-US" dirty="0"/>
              <a:t> occurs when we discover that a chunk is reachable.</a:t>
            </a:r>
          </a:p>
        </p:txBody>
      </p:sp>
      <p:pic>
        <p:nvPicPr>
          <p:cNvPr id="4" name="Picture 3"/>
          <p:cNvPicPr>
            <a:picLocks noChangeAspect="1"/>
          </p:cNvPicPr>
          <p:nvPr/>
        </p:nvPicPr>
        <p:blipFill rotWithShape="1">
          <a:blip r:embed="rId2"/>
          <a:srcRect l="12235" r="5887" b="8689"/>
          <a:stretch/>
        </p:blipFill>
        <p:spPr>
          <a:xfrm>
            <a:off x="6360459" y="177589"/>
            <a:ext cx="5607423" cy="6479522"/>
          </a:xfrm>
          <a:prstGeom prst="rect">
            <a:avLst/>
          </a:prstGeom>
          <a:ln w="12700">
            <a:solidFill>
              <a:schemeClr val="accent4">
                <a:lumMod val="60000"/>
                <a:lumOff val="40000"/>
              </a:schemeClr>
            </a:solidFill>
            <a:prstDash val="dash"/>
          </a:ln>
        </p:spPr>
      </p:pic>
      <p:sp>
        <p:nvSpPr>
          <p:cNvPr id="5" name="Slide Number Placeholder 4"/>
          <p:cNvSpPr>
            <a:spLocks noGrp="1"/>
          </p:cNvSpPr>
          <p:nvPr>
            <p:ph type="sldNum" sz="quarter" idx="12"/>
          </p:nvPr>
        </p:nvSpPr>
        <p:spPr/>
        <p:txBody>
          <a:bodyPr/>
          <a:lstStyle/>
          <a:p>
            <a:fld id="{EE645454-5A07-423E-8617-7239B6B66F68}" type="slidenum">
              <a:rPr lang="en-US" smtClean="0"/>
              <a:t>68</a:t>
            </a:fld>
            <a:endParaRPr lang="en-US"/>
          </a:p>
        </p:txBody>
      </p:sp>
    </p:spTree>
    <p:extLst>
      <p:ext uri="{BB962C8B-B14F-4D97-AF65-F5344CB8AC3E}">
        <p14:creationId xmlns:p14="http://schemas.microsoft.com/office/powerpoint/2010/main" val="87592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048" y="107577"/>
            <a:ext cx="5459506" cy="847164"/>
          </a:xfrm>
        </p:spPr>
        <p:txBody>
          <a:bodyPr>
            <a:noAutofit/>
          </a:bodyPr>
          <a:lstStyle/>
          <a:p>
            <a:pPr algn="ctr"/>
            <a:r>
              <a:rPr lang="en-US" sz="3600" dirty="0">
                <a:solidFill>
                  <a:srgbClr val="FF0000"/>
                </a:solidFill>
              </a:rPr>
              <a:t>Memory States in a Garbage Collection Cycle</a:t>
            </a:r>
          </a:p>
        </p:txBody>
      </p:sp>
      <p:sp>
        <p:nvSpPr>
          <p:cNvPr id="3" name="Content Placeholder 2"/>
          <p:cNvSpPr>
            <a:spLocks noGrp="1"/>
          </p:cNvSpPr>
          <p:nvPr>
            <p:ph idx="1"/>
          </p:nvPr>
        </p:nvSpPr>
        <p:spPr>
          <a:xfrm>
            <a:off x="242048" y="993029"/>
            <a:ext cx="5970493" cy="5728446"/>
          </a:xfrm>
        </p:spPr>
        <p:txBody>
          <a:bodyPr>
            <a:noAutofit/>
          </a:bodyPr>
          <a:lstStyle/>
          <a:p>
            <a:pPr>
              <a:lnSpc>
                <a:spcPct val="100000"/>
              </a:lnSpc>
              <a:spcBef>
                <a:spcPts val="0"/>
              </a:spcBef>
              <a:spcAft>
                <a:spcPts val="600"/>
              </a:spcAft>
            </a:pPr>
            <a:r>
              <a:rPr lang="en-US" dirty="0">
                <a:solidFill>
                  <a:schemeClr val="accent4">
                    <a:lumMod val="75000"/>
                  </a:schemeClr>
                </a:solidFill>
              </a:rPr>
              <a:t>Scanned</a:t>
            </a:r>
          </a:p>
          <a:p>
            <a:pPr lvl="1">
              <a:lnSpc>
                <a:spcPct val="100000"/>
              </a:lnSpc>
              <a:spcBef>
                <a:spcPts val="0"/>
              </a:spcBef>
              <a:spcAft>
                <a:spcPts val="600"/>
              </a:spcAft>
            </a:pPr>
            <a:r>
              <a:rPr lang="en-US" sz="2300" dirty="0"/>
              <a:t>Every </a:t>
            </a:r>
            <a:r>
              <a:rPr lang="en-US" sz="2300" dirty="0">
                <a:solidFill>
                  <a:schemeClr val="accent5">
                    <a:lumMod val="60000"/>
                    <a:lumOff val="40000"/>
                  </a:schemeClr>
                </a:solidFill>
              </a:rPr>
              <a:t>unscanned</a:t>
            </a:r>
            <a:r>
              <a:rPr lang="en-US" sz="2300" dirty="0"/>
              <a:t> object will eventually be scanned and transition to the </a:t>
            </a:r>
            <a:r>
              <a:rPr lang="en-US" sz="2300" dirty="0">
                <a:solidFill>
                  <a:srgbClr val="002060"/>
                </a:solidFill>
              </a:rPr>
              <a:t>scanned</a:t>
            </a:r>
            <a:r>
              <a:rPr lang="en-US" sz="2300" dirty="0"/>
              <a:t> state. </a:t>
            </a:r>
          </a:p>
          <a:p>
            <a:pPr lvl="1">
              <a:lnSpc>
                <a:spcPct val="100000"/>
              </a:lnSpc>
              <a:spcBef>
                <a:spcPts val="0"/>
              </a:spcBef>
              <a:spcAft>
                <a:spcPts val="600"/>
              </a:spcAft>
            </a:pPr>
            <a:r>
              <a:rPr lang="en-US" sz="2300" dirty="0"/>
              <a:t>To scan an object, we examine each of the pointers within it and follow those pointers to the objects to which they refer. </a:t>
            </a:r>
          </a:p>
          <a:p>
            <a:pPr lvl="1">
              <a:lnSpc>
                <a:spcPct val="100000"/>
              </a:lnSpc>
              <a:spcBef>
                <a:spcPts val="0"/>
              </a:spcBef>
              <a:spcAft>
                <a:spcPts val="600"/>
              </a:spcAft>
            </a:pPr>
            <a:r>
              <a:rPr lang="en-US" sz="2300" dirty="0"/>
              <a:t>If a reference is to an </a:t>
            </a:r>
            <a:r>
              <a:rPr lang="en-US" sz="2300" dirty="0">
                <a:solidFill>
                  <a:srgbClr val="00B0F0"/>
                </a:solidFill>
              </a:rPr>
              <a:t>unreached</a:t>
            </a:r>
            <a:r>
              <a:rPr lang="en-US" sz="2300" dirty="0"/>
              <a:t> object, then that object is put in the </a:t>
            </a:r>
            <a:r>
              <a:rPr lang="en-US" sz="2300" dirty="0">
                <a:solidFill>
                  <a:schemeClr val="accent6">
                    <a:lumMod val="75000"/>
                  </a:schemeClr>
                </a:solidFill>
              </a:rPr>
              <a:t>unscanned</a:t>
            </a:r>
            <a:r>
              <a:rPr lang="en-US" sz="2300" dirty="0"/>
              <a:t> state. </a:t>
            </a:r>
          </a:p>
          <a:p>
            <a:pPr lvl="1">
              <a:lnSpc>
                <a:spcPct val="100000"/>
              </a:lnSpc>
              <a:spcBef>
                <a:spcPts val="0"/>
              </a:spcBef>
              <a:spcAft>
                <a:spcPts val="600"/>
              </a:spcAft>
            </a:pPr>
            <a:r>
              <a:rPr lang="en-US" sz="2300" dirty="0"/>
              <a:t>When the scan of an object is completed, that object is placed in the </a:t>
            </a:r>
            <a:r>
              <a:rPr lang="en-US" sz="2300" dirty="0">
                <a:solidFill>
                  <a:srgbClr val="002060"/>
                </a:solidFill>
              </a:rPr>
              <a:t>scanned</a:t>
            </a:r>
            <a:r>
              <a:rPr lang="en-US" sz="2300" dirty="0"/>
              <a:t> state. </a:t>
            </a:r>
          </a:p>
          <a:p>
            <a:pPr lvl="1">
              <a:lnSpc>
                <a:spcPct val="100000"/>
              </a:lnSpc>
              <a:spcBef>
                <a:spcPts val="0"/>
              </a:spcBef>
              <a:spcAft>
                <a:spcPts val="600"/>
              </a:spcAft>
            </a:pPr>
            <a:r>
              <a:rPr lang="en-US" sz="2300" dirty="0"/>
              <a:t>A </a:t>
            </a:r>
            <a:r>
              <a:rPr lang="en-US" sz="2300" dirty="0">
                <a:solidFill>
                  <a:srgbClr val="002060"/>
                </a:solidFill>
              </a:rPr>
              <a:t>scanned</a:t>
            </a:r>
            <a:r>
              <a:rPr lang="en-US" sz="2300" dirty="0"/>
              <a:t> object can only contain references to other </a:t>
            </a:r>
            <a:r>
              <a:rPr lang="en-US" sz="2300" dirty="0">
                <a:solidFill>
                  <a:srgbClr val="002060"/>
                </a:solidFill>
              </a:rPr>
              <a:t>scanned</a:t>
            </a:r>
            <a:r>
              <a:rPr lang="en-US" sz="2300" dirty="0"/>
              <a:t> or </a:t>
            </a:r>
            <a:r>
              <a:rPr lang="en-US" sz="2300" dirty="0">
                <a:solidFill>
                  <a:schemeClr val="accent5">
                    <a:lumMod val="75000"/>
                  </a:schemeClr>
                </a:solidFill>
              </a:rPr>
              <a:t>unscanned</a:t>
            </a:r>
            <a:br>
              <a:rPr lang="en-US" sz="2300" dirty="0"/>
            </a:br>
            <a:r>
              <a:rPr lang="en-US" sz="2300" dirty="0"/>
              <a:t>objects, and never to </a:t>
            </a:r>
            <a:r>
              <a:rPr lang="en-US" sz="2300" dirty="0">
                <a:solidFill>
                  <a:srgbClr val="00B0F0"/>
                </a:solidFill>
              </a:rPr>
              <a:t>unreached</a:t>
            </a:r>
            <a:r>
              <a:rPr lang="en-US" sz="2300" dirty="0"/>
              <a:t> objects.</a:t>
            </a:r>
          </a:p>
        </p:txBody>
      </p:sp>
      <p:pic>
        <p:nvPicPr>
          <p:cNvPr id="4" name="Picture 3"/>
          <p:cNvPicPr>
            <a:picLocks noChangeAspect="1"/>
          </p:cNvPicPr>
          <p:nvPr/>
        </p:nvPicPr>
        <p:blipFill rotWithShape="1">
          <a:blip r:embed="rId2"/>
          <a:srcRect l="12235" r="5887" b="8689"/>
          <a:stretch/>
        </p:blipFill>
        <p:spPr>
          <a:xfrm>
            <a:off x="6360459" y="322729"/>
            <a:ext cx="5607423" cy="6479522"/>
          </a:xfrm>
          <a:prstGeom prst="rect">
            <a:avLst/>
          </a:prstGeom>
          <a:ln w="12700">
            <a:solidFill>
              <a:schemeClr val="accent4">
                <a:lumMod val="60000"/>
                <a:lumOff val="40000"/>
              </a:schemeClr>
            </a:solidFill>
            <a:prstDash val="dash"/>
          </a:ln>
        </p:spPr>
      </p:pic>
      <p:sp>
        <p:nvSpPr>
          <p:cNvPr id="5" name="Slide Number Placeholder 4"/>
          <p:cNvSpPr>
            <a:spLocks noGrp="1"/>
          </p:cNvSpPr>
          <p:nvPr>
            <p:ph type="sldNum" sz="quarter" idx="12"/>
          </p:nvPr>
        </p:nvSpPr>
        <p:spPr/>
        <p:txBody>
          <a:bodyPr/>
          <a:lstStyle/>
          <a:p>
            <a:fld id="{EE645454-5A07-423E-8617-7239B6B66F68}" type="slidenum">
              <a:rPr lang="en-US" smtClean="0"/>
              <a:t>69</a:t>
            </a:fld>
            <a:endParaRPr lang="en-US"/>
          </a:p>
        </p:txBody>
      </p:sp>
    </p:spTree>
    <p:extLst>
      <p:ext uri="{BB962C8B-B14F-4D97-AF65-F5344CB8AC3E}">
        <p14:creationId xmlns:p14="http://schemas.microsoft.com/office/powerpoint/2010/main" val="1421410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9229" y="981636"/>
            <a:ext cx="5722257" cy="5728446"/>
          </a:xfrm>
        </p:spPr>
        <p:txBody>
          <a:bodyPr>
            <a:noAutofit/>
          </a:bodyPr>
          <a:lstStyle/>
          <a:p>
            <a:pPr>
              <a:lnSpc>
                <a:spcPct val="100000"/>
              </a:lnSpc>
              <a:spcBef>
                <a:spcPts val="0"/>
              </a:spcBef>
              <a:spcAft>
                <a:spcPts val="600"/>
              </a:spcAft>
            </a:pPr>
            <a:r>
              <a:rPr lang="en-US" sz="2300" dirty="0"/>
              <a:t>When no objects are left in the </a:t>
            </a:r>
            <a:r>
              <a:rPr lang="en-US" sz="2300" dirty="0">
                <a:solidFill>
                  <a:srgbClr val="00B0F0"/>
                </a:solidFill>
              </a:rPr>
              <a:t>unscanned</a:t>
            </a:r>
            <a:r>
              <a:rPr lang="en-US" sz="2300" dirty="0"/>
              <a:t> state, the computation of reachability is complete. </a:t>
            </a:r>
          </a:p>
          <a:p>
            <a:pPr>
              <a:lnSpc>
                <a:spcPct val="100000"/>
              </a:lnSpc>
              <a:spcBef>
                <a:spcPts val="0"/>
              </a:spcBef>
              <a:spcAft>
                <a:spcPts val="600"/>
              </a:spcAft>
            </a:pPr>
            <a:r>
              <a:rPr lang="en-US" sz="2300" dirty="0"/>
              <a:t>Objects left in the </a:t>
            </a:r>
            <a:r>
              <a:rPr lang="en-US" sz="2300" dirty="0">
                <a:solidFill>
                  <a:schemeClr val="accent5">
                    <a:lumMod val="60000"/>
                    <a:lumOff val="40000"/>
                  </a:schemeClr>
                </a:solidFill>
              </a:rPr>
              <a:t>unreached</a:t>
            </a:r>
            <a:r>
              <a:rPr lang="en-US" sz="2300" dirty="0"/>
              <a:t> state at the end are truly unreachable. </a:t>
            </a:r>
          </a:p>
          <a:p>
            <a:pPr>
              <a:lnSpc>
                <a:spcPct val="100000"/>
              </a:lnSpc>
              <a:spcBef>
                <a:spcPts val="0"/>
              </a:spcBef>
              <a:spcAft>
                <a:spcPts val="600"/>
              </a:spcAft>
            </a:pPr>
            <a:r>
              <a:rPr lang="en-US" sz="2300" dirty="0"/>
              <a:t>The garbage collector reclaims the space they occupy and places the chunks in the </a:t>
            </a:r>
            <a:r>
              <a:rPr lang="en-US" sz="2300" dirty="0">
                <a:solidFill>
                  <a:srgbClr val="7030A0"/>
                </a:solidFill>
              </a:rPr>
              <a:t>free</a:t>
            </a:r>
            <a:r>
              <a:rPr lang="en-US" sz="2300" dirty="0"/>
              <a:t> state</a:t>
            </a:r>
          </a:p>
          <a:p>
            <a:pPr>
              <a:lnSpc>
                <a:spcPct val="100000"/>
              </a:lnSpc>
              <a:spcBef>
                <a:spcPts val="0"/>
              </a:spcBef>
              <a:spcAft>
                <a:spcPts val="600"/>
              </a:spcAft>
            </a:pPr>
            <a:r>
              <a:rPr lang="en-US" sz="2300" dirty="0"/>
              <a:t>To get ready for the next cycle of garbage collection, objects in the </a:t>
            </a:r>
            <a:r>
              <a:rPr lang="en-US" sz="2300" dirty="0">
                <a:solidFill>
                  <a:schemeClr val="accent2">
                    <a:lumMod val="75000"/>
                  </a:schemeClr>
                </a:solidFill>
              </a:rPr>
              <a:t>scanned</a:t>
            </a:r>
            <a:r>
              <a:rPr lang="en-US" sz="2300" dirty="0"/>
              <a:t> state are returned to the </a:t>
            </a:r>
            <a:r>
              <a:rPr lang="en-US" sz="2300" dirty="0">
                <a:solidFill>
                  <a:schemeClr val="accent5">
                    <a:lumMod val="60000"/>
                    <a:lumOff val="40000"/>
                  </a:schemeClr>
                </a:solidFill>
              </a:rPr>
              <a:t>unreached</a:t>
            </a:r>
            <a:r>
              <a:rPr lang="en-US" sz="2300" dirty="0"/>
              <a:t> state</a:t>
            </a:r>
          </a:p>
          <a:p>
            <a:pPr lvl="1">
              <a:lnSpc>
                <a:spcPct val="100000"/>
              </a:lnSpc>
              <a:spcBef>
                <a:spcPts val="0"/>
              </a:spcBef>
              <a:spcAft>
                <a:spcPts val="600"/>
              </a:spcAft>
            </a:pPr>
            <a:r>
              <a:rPr lang="en-US" sz="2000" dirty="0"/>
              <a:t>we shall want to start all objects out in this state when garbage collection next begins, by which time any of the currently reachable objects may indeed have been rendered unreachable. </a:t>
            </a:r>
            <a:br>
              <a:rPr lang="en-US" sz="2000" dirty="0"/>
            </a:br>
            <a:br>
              <a:rPr lang="en-US" sz="2300" dirty="0"/>
            </a:br>
            <a:br>
              <a:rPr lang="en-US" sz="2300" dirty="0"/>
            </a:br>
            <a:endParaRPr lang="en-US" sz="2300" dirty="0"/>
          </a:p>
          <a:p>
            <a:pPr lvl="1">
              <a:lnSpc>
                <a:spcPct val="100000"/>
              </a:lnSpc>
              <a:spcBef>
                <a:spcPts val="0"/>
              </a:spcBef>
              <a:spcAft>
                <a:spcPts val="600"/>
              </a:spcAft>
            </a:pPr>
            <a:endParaRPr lang="en-US" sz="2300" dirty="0"/>
          </a:p>
        </p:txBody>
      </p:sp>
      <p:sp>
        <p:nvSpPr>
          <p:cNvPr id="4" name="Slide Number Placeholder 3"/>
          <p:cNvSpPr>
            <a:spLocks noGrp="1"/>
          </p:cNvSpPr>
          <p:nvPr>
            <p:ph type="sldNum" sz="quarter" idx="12"/>
          </p:nvPr>
        </p:nvSpPr>
        <p:spPr/>
        <p:txBody>
          <a:bodyPr/>
          <a:lstStyle/>
          <a:p>
            <a:fld id="{EE645454-5A07-423E-8617-7239B6B66F68}" type="slidenum">
              <a:rPr lang="en-US" smtClean="0"/>
              <a:t>70</a:t>
            </a:fld>
            <a:endParaRPr lang="en-US"/>
          </a:p>
        </p:txBody>
      </p:sp>
      <p:pic>
        <p:nvPicPr>
          <p:cNvPr id="5" name="Picture 4">
            <a:extLst>
              <a:ext uri="{FF2B5EF4-FFF2-40B4-BE49-F238E27FC236}">
                <a16:creationId xmlns:a16="http://schemas.microsoft.com/office/drawing/2014/main" id="{0C38A0D3-616B-953B-F02B-FCF9FD0E2AE1}"/>
              </a:ext>
            </a:extLst>
          </p:cNvPr>
          <p:cNvPicPr>
            <a:picLocks noChangeAspect="1"/>
          </p:cNvPicPr>
          <p:nvPr/>
        </p:nvPicPr>
        <p:blipFill rotWithShape="1">
          <a:blip r:embed="rId2"/>
          <a:srcRect l="12235" r="5887" b="8689"/>
          <a:stretch/>
        </p:blipFill>
        <p:spPr>
          <a:xfrm>
            <a:off x="6359822" y="305908"/>
            <a:ext cx="5607423" cy="6479522"/>
          </a:xfrm>
          <a:prstGeom prst="rect">
            <a:avLst/>
          </a:prstGeom>
          <a:ln w="12700">
            <a:solidFill>
              <a:schemeClr val="accent4">
                <a:lumMod val="60000"/>
                <a:lumOff val="40000"/>
              </a:schemeClr>
            </a:solidFill>
            <a:prstDash val="dash"/>
          </a:ln>
        </p:spPr>
      </p:pic>
      <p:sp>
        <p:nvSpPr>
          <p:cNvPr id="8" name="Title 1">
            <a:extLst>
              <a:ext uri="{FF2B5EF4-FFF2-40B4-BE49-F238E27FC236}">
                <a16:creationId xmlns:a16="http://schemas.microsoft.com/office/drawing/2014/main" id="{2519FA1B-C02F-115D-6A68-37CF5FA57D08}"/>
              </a:ext>
            </a:extLst>
          </p:cNvPr>
          <p:cNvSpPr>
            <a:spLocks noGrp="1"/>
          </p:cNvSpPr>
          <p:nvPr>
            <p:ph type="title"/>
          </p:nvPr>
        </p:nvSpPr>
        <p:spPr>
          <a:xfrm>
            <a:off x="329132" y="78549"/>
            <a:ext cx="5459506" cy="847164"/>
          </a:xfrm>
        </p:spPr>
        <p:txBody>
          <a:bodyPr>
            <a:noAutofit/>
          </a:bodyPr>
          <a:lstStyle/>
          <a:p>
            <a:pPr algn="ctr"/>
            <a:r>
              <a:rPr lang="en-US" sz="3600" dirty="0">
                <a:solidFill>
                  <a:srgbClr val="FF0000"/>
                </a:solidFill>
              </a:rPr>
              <a:t>Memory States in a Garbage Collection Cycle</a:t>
            </a:r>
          </a:p>
        </p:txBody>
      </p:sp>
    </p:spTree>
    <p:extLst>
      <p:ext uri="{BB962C8B-B14F-4D97-AF65-F5344CB8AC3E}">
        <p14:creationId xmlns:p14="http://schemas.microsoft.com/office/powerpoint/2010/main" val="418880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Basic Mark-and-Sweep Collector</a:t>
            </a:r>
          </a:p>
        </p:txBody>
      </p:sp>
      <p:sp>
        <p:nvSpPr>
          <p:cNvPr id="6" name="Content Placeholder 2"/>
          <p:cNvSpPr>
            <a:spLocks noGrp="1"/>
          </p:cNvSpPr>
          <p:nvPr>
            <p:ph idx="1"/>
          </p:nvPr>
        </p:nvSpPr>
        <p:spPr>
          <a:xfrm>
            <a:off x="358162" y="993122"/>
            <a:ext cx="11111751" cy="5728446"/>
          </a:xfrm>
          <a:ln>
            <a:noFill/>
            <a:prstDash val="dash"/>
          </a:ln>
        </p:spPr>
        <p:txBody>
          <a:bodyPr vert="horz" lIns="91440" tIns="45720" rIns="91440" bIns="45720" rtlCol="0">
            <a:noAutofit/>
          </a:bodyPr>
          <a:lstStyle/>
          <a:p>
            <a:pPr>
              <a:lnSpc>
                <a:spcPct val="100000"/>
              </a:lnSpc>
              <a:spcBef>
                <a:spcPts val="0"/>
              </a:spcBef>
              <a:spcAft>
                <a:spcPts val="600"/>
              </a:spcAft>
            </a:pPr>
            <a:r>
              <a:rPr lang="en-US" dirty="0"/>
              <a:t>Mark-and-sweep runs in two phases</a:t>
            </a:r>
          </a:p>
          <a:p>
            <a:pPr>
              <a:lnSpc>
                <a:spcPct val="100000"/>
              </a:lnSpc>
              <a:spcBef>
                <a:spcPts val="0"/>
              </a:spcBef>
              <a:spcAft>
                <a:spcPts val="600"/>
              </a:spcAft>
            </a:pPr>
            <a:r>
              <a:rPr lang="en-US" dirty="0">
                <a:solidFill>
                  <a:schemeClr val="accent5">
                    <a:lumMod val="60000"/>
                    <a:lumOff val="40000"/>
                  </a:schemeClr>
                </a:solidFill>
              </a:rPr>
              <a:t>Marking phase: </a:t>
            </a:r>
          </a:p>
          <a:p>
            <a:pPr lvl="1">
              <a:lnSpc>
                <a:spcPct val="100000"/>
              </a:lnSpc>
              <a:spcBef>
                <a:spcPts val="0"/>
              </a:spcBef>
              <a:spcAft>
                <a:spcPts val="600"/>
              </a:spcAft>
            </a:pPr>
            <a:r>
              <a:rPr lang="en-US" sz="2800" dirty="0"/>
              <a:t>Visits and “marks” all the reachable objects</a:t>
            </a:r>
          </a:p>
          <a:p>
            <a:pPr>
              <a:lnSpc>
                <a:spcPct val="100000"/>
              </a:lnSpc>
              <a:spcBef>
                <a:spcPts val="0"/>
              </a:spcBef>
              <a:spcAft>
                <a:spcPts val="600"/>
              </a:spcAft>
            </a:pPr>
            <a:r>
              <a:rPr lang="en-US" dirty="0">
                <a:solidFill>
                  <a:schemeClr val="accent4">
                    <a:lumMod val="75000"/>
                  </a:schemeClr>
                </a:solidFill>
              </a:rPr>
              <a:t>Sweeping phase:</a:t>
            </a:r>
            <a:endParaRPr lang="en-US" dirty="0"/>
          </a:p>
          <a:p>
            <a:pPr lvl="1">
              <a:lnSpc>
                <a:spcPct val="100000"/>
              </a:lnSpc>
              <a:spcBef>
                <a:spcPts val="0"/>
              </a:spcBef>
              <a:spcAft>
                <a:spcPts val="600"/>
              </a:spcAft>
            </a:pPr>
            <a:r>
              <a:rPr lang="en-US" sz="2800" dirty="0"/>
              <a:t>“sweeps’’ the entire heap to free up unreachable object</a:t>
            </a:r>
            <a:br>
              <a:rPr lang="en-US" dirty="0"/>
            </a:br>
            <a:endParaRPr lang="en-US" dirty="0"/>
          </a:p>
        </p:txBody>
      </p:sp>
      <p:sp>
        <p:nvSpPr>
          <p:cNvPr id="3" name="Slide Number Placeholder 2"/>
          <p:cNvSpPr>
            <a:spLocks noGrp="1"/>
          </p:cNvSpPr>
          <p:nvPr>
            <p:ph type="sldNum" sz="quarter" idx="12"/>
          </p:nvPr>
        </p:nvSpPr>
        <p:spPr/>
        <p:txBody>
          <a:bodyPr/>
          <a:lstStyle/>
          <a:p>
            <a:fld id="{EE645454-5A07-423E-8617-7239B6B66F68}" type="slidenum">
              <a:rPr lang="en-US" smtClean="0"/>
              <a:t>71</a:t>
            </a:fld>
            <a:endParaRPr lang="en-US"/>
          </a:p>
        </p:txBody>
      </p:sp>
    </p:spTree>
    <p:extLst>
      <p:ext uri="{BB962C8B-B14F-4D97-AF65-F5344CB8AC3E}">
        <p14:creationId xmlns:p14="http://schemas.microsoft.com/office/powerpoint/2010/main" val="2145306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Mark-and-Sweep in Action</a:t>
            </a:r>
          </a:p>
        </p:txBody>
      </p:sp>
      <p:grpSp>
        <p:nvGrpSpPr>
          <p:cNvPr id="15" name="Group 14">
            <a:extLst>
              <a:ext uri="{FF2B5EF4-FFF2-40B4-BE49-F238E27FC236}">
                <a16:creationId xmlns:a16="http://schemas.microsoft.com/office/drawing/2014/main" id="{C59B89B8-3DB5-6581-DA09-9AE811259A1D}"/>
              </a:ext>
            </a:extLst>
          </p:cNvPr>
          <p:cNvGrpSpPr/>
          <p:nvPr/>
        </p:nvGrpSpPr>
        <p:grpSpPr>
          <a:xfrm>
            <a:off x="3395977" y="760311"/>
            <a:ext cx="8273143" cy="3773715"/>
            <a:chOff x="3468913" y="1436913"/>
            <a:chExt cx="8273143" cy="3773715"/>
          </a:xfrm>
        </p:grpSpPr>
        <p:pic>
          <p:nvPicPr>
            <p:cNvPr id="5" name="Picture 4"/>
            <p:cNvPicPr>
              <a:picLocks noChangeAspect="1"/>
            </p:cNvPicPr>
            <p:nvPr/>
          </p:nvPicPr>
          <p:blipFill rotWithShape="1">
            <a:blip r:embed="rId2"/>
            <a:srcRect l="3771" t="6057" r="2786"/>
            <a:stretch/>
          </p:blipFill>
          <p:spPr>
            <a:xfrm>
              <a:off x="3468913" y="1436913"/>
              <a:ext cx="8273143" cy="3773715"/>
            </a:xfrm>
            <a:prstGeom prst="rect">
              <a:avLst/>
            </a:prstGeom>
            <a:solidFill>
              <a:schemeClr val="accent2">
                <a:lumMod val="20000"/>
                <a:lumOff val="80000"/>
              </a:schemeClr>
            </a:solidFill>
          </p:spPr>
        </p:pic>
        <p:sp>
          <p:nvSpPr>
            <p:cNvPr id="4" name="TextBox 3">
              <a:extLst>
                <a:ext uri="{FF2B5EF4-FFF2-40B4-BE49-F238E27FC236}">
                  <a16:creationId xmlns:a16="http://schemas.microsoft.com/office/drawing/2014/main" id="{8C48D82F-711D-3D1D-A8BE-95E462C516A6}"/>
                </a:ext>
              </a:extLst>
            </p:cNvPr>
            <p:cNvSpPr txBox="1"/>
            <p:nvPr/>
          </p:nvSpPr>
          <p:spPr>
            <a:xfrm>
              <a:off x="5899324" y="1774390"/>
              <a:ext cx="558799" cy="365029"/>
            </a:xfrm>
            <a:prstGeom prst="rect">
              <a:avLst/>
            </a:prstGeom>
            <a:noFill/>
          </p:spPr>
          <p:txBody>
            <a:bodyPr wrap="square" rtlCol="0">
              <a:spAutoFit/>
            </a:bodyPr>
            <a:lstStyle/>
            <a:p>
              <a:r>
                <a:rPr lang="en-US" dirty="0">
                  <a:solidFill>
                    <a:schemeClr val="accent4">
                      <a:lumMod val="50000"/>
                    </a:schemeClr>
                  </a:solidFill>
                </a:rPr>
                <a:t>M1</a:t>
              </a:r>
            </a:p>
          </p:txBody>
        </p:sp>
        <p:sp>
          <p:nvSpPr>
            <p:cNvPr id="6" name="TextBox 5">
              <a:extLst>
                <a:ext uri="{FF2B5EF4-FFF2-40B4-BE49-F238E27FC236}">
                  <a16:creationId xmlns:a16="http://schemas.microsoft.com/office/drawing/2014/main" id="{8831C91B-1AAB-CCC1-6ED5-D2088BDE4CD2}"/>
                </a:ext>
              </a:extLst>
            </p:cNvPr>
            <p:cNvSpPr txBox="1"/>
            <p:nvPr/>
          </p:nvSpPr>
          <p:spPr>
            <a:xfrm>
              <a:off x="7812133" y="2211918"/>
              <a:ext cx="558799" cy="365029"/>
            </a:xfrm>
            <a:prstGeom prst="rect">
              <a:avLst/>
            </a:prstGeom>
            <a:noFill/>
          </p:spPr>
          <p:txBody>
            <a:bodyPr wrap="square" rtlCol="0">
              <a:spAutoFit/>
            </a:bodyPr>
            <a:lstStyle/>
            <a:p>
              <a:r>
                <a:rPr lang="en-US" dirty="0">
                  <a:solidFill>
                    <a:schemeClr val="accent4">
                      <a:lumMod val="50000"/>
                    </a:schemeClr>
                  </a:solidFill>
                </a:rPr>
                <a:t>M2</a:t>
              </a:r>
            </a:p>
          </p:txBody>
        </p:sp>
        <p:sp>
          <p:nvSpPr>
            <p:cNvPr id="8" name="TextBox 7">
              <a:extLst>
                <a:ext uri="{FF2B5EF4-FFF2-40B4-BE49-F238E27FC236}">
                  <a16:creationId xmlns:a16="http://schemas.microsoft.com/office/drawing/2014/main" id="{C8327163-8904-BE93-0C72-9AD793297F52}"/>
                </a:ext>
              </a:extLst>
            </p:cNvPr>
            <p:cNvSpPr txBox="1"/>
            <p:nvPr/>
          </p:nvSpPr>
          <p:spPr>
            <a:xfrm>
              <a:off x="9517190" y="2656619"/>
              <a:ext cx="558799" cy="369332"/>
            </a:xfrm>
            <a:prstGeom prst="rect">
              <a:avLst/>
            </a:prstGeom>
            <a:noFill/>
          </p:spPr>
          <p:txBody>
            <a:bodyPr wrap="square" rtlCol="0">
              <a:spAutoFit/>
            </a:bodyPr>
            <a:lstStyle/>
            <a:p>
              <a:r>
                <a:rPr lang="en-US" dirty="0">
                  <a:solidFill>
                    <a:schemeClr val="accent4">
                      <a:lumMod val="50000"/>
                    </a:schemeClr>
                  </a:solidFill>
                </a:rPr>
                <a:t>M4</a:t>
              </a:r>
            </a:p>
          </p:txBody>
        </p:sp>
        <p:sp>
          <p:nvSpPr>
            <p:cNvPr id="9" name="TextBox 8">
              <a:extLst>
                <a:ext uri="{FF2B5EF4-FFF2-40B4-BE49-F238E27FC236}">
                  <a16:creationId xmlns:a16="http://schemas.microsoft.com/office/drawing/2014/main" id="{55EAE615-EA4E-6794-89C9-A2306AE91AF8}"/>
                </a:ext>
              </a:extLst>
            </p:cNvPr>
            <p:cNvSpPr txBox="1"/>
            <p:nvPr/>
          </p:nvSpPr>
          <p:spPr>
            <a:xfrm>
              <a:off x="11007321" y="1810255"/>
              <a:ext cx="558799" cy="369332"/>
            </a:xfrm>
            <a:prstGeom prst="rect">
              <a:avLst/>
            </a:prstGeom>
            <a:noFill/>
          </p:spPr>
          <p:txBody>
            <a:bodyPr wrap="square" rtlCol="0">
              <a:spAutoFit/>
            </a:bodyPr>
            <a:lstStyle/>
            <a:p>
              <a:r>
                <a:rPr lang="en-US" dirty="0">
                  <a:solidFill>
                    <a:schemeClr val="accent4">
                      <a:lumMod val="50000"/>
                    </a:schemeClr>
                  </a:solidFill>
                </a:rPr>
                <a:t>M3</a:t>
              </a:r>
            </a:p>
          </p:txBody>
        </p:sp>
        <p:sp>
          <p:nvSpPr>
            <p:cNvPr id="10" name="TextBox 9">
              <a:extLst>
                <a:ext uri="{FF2B5EF4-FFF2-40B4-BE49-F238E27FC236}">
                  <a16:creationId xmlns:a16="http://schemas.microsoft.com/office/drawing/2014/main" id="{B87DF9C9-6324-A293-1201-F16DBCB18D2A}"/>
                </a:ext>
              </a:extLst>
            </p:cNvPr>
            <p:cNvSpPr txBox="1"/>
            <p:nvPr/>
          </p:nvSpPr>
          <p:spPr>
            <a:xfrm>
              <a:off x="6107081" y="3086970"/>
              <a:ext cx="558799" cy="369332"/>
            </a:xfrm>
            <a:prstGeom prst="rect">
              <a:avLst/>
            </a:prstGeom>
            <a:noFill/>
          </p:spPr>
          <p:txBody>
            <a:bodyPr wrap="square" rtlCol="0">
              <a:spAutoFit/>
            </a:bodyPr>
            <a:lstStyle/>
            <a:p>
              <a:r>
                <a:rPr lang="en-US" dirty="0">
                  <a:solidFill>
                    <a:schemeClr val="accent4">
                      <a:lumMod val="50000"/>
                    </a:schemeClr>
                  </a:solidFill>
                </a:rPr>
                <a:t>M6</a:t>
              </a:r>
            </a:p>
          </p:txBody>
        </p:sp>
        <p:sp>
          <p:nvSpPr>
            <p:cNvPr id="11" name="TextBox 10">
              <a:extLst>
                <a:ext uri="{FF2B5EF4-FFF2-40B4-BE49-F238E27FC236}">
                  <a16:creationId xmlns:a16="http://schemas.microsoft.com/office/drawing/2014/main" id="{512C4DFA-56F4-69AD-4F73-D7E1C697334E}"/>
                </a:ext>
              </a:extLst>
            </p:cNvPr>
            <p:cNvSpPr txBox="1"/>
            <p:nvPr/>
          </p:nvSpPr>
          <p:spPr>
            <a:xfrm>
              <a:off x="7811949" y="4148347"/>
              <a:ext cx="558799" cy="369332"/>
            </a:xfrm>
            <a:prstGeom prst="rect">
              <a:avLst/>
            </a:prstGeom>
            <a:noFill/>
          </p:spPr>
          <p:txBody>
            <a:bodyPr wrap="square" rtlCol="0">
              <a:spAutoFit/>
            </a:bodyPr>
            <a:lstStyle/>
            <a:p>
              <a:r>
                <a:rPr lang="en-US" dirty="0">
                  <a:solidFill>
                    <a:schemeClr val="accent4">
                      <a:lumMod val="50000"/>
                    </a:schemeClr>
                  </a:solidFill>
                </a:rPr>
                <a:t>M5</a:t>
              </a:r>
            </a:p>
          </p:txBody>
        </p:sp>
        <p:sp>
          <p:nvSpPr>
            <p:cNvPr id="12" name="TextBox 11">
              <a:extLst>
                <a:ext uri="{FF2B5EF4-FFF2-40B4-BE49-F238E27FC236}">
                  <a16:creationId xmlns:a16="http://schemas.microsoft.com/office/drawing/2014/main" id="{A4426D6D-9DD4-37AA-DE53-D03FCC3B542F}"/>
                </a:ext>
              </a:extLst>
            </p:cNvPr>
            <p:cNvSpPr txBox="1"/>
            <p:nvPr/>
          </p:nvSpPr>
          <p:spPr>
            <a:xfrm>
              <a:off x="4187108" y="3086974"/>
              <a:ext cx="558799" cy="365029"/>
            </a:xfrm>
            <a:prstGeom prst="rect">
              <a:avLst/>
            </a:prstGeom>
            <a:noFill/>
          </p:spPr>
          <p:txBody>
            <a:bodyPr wrap="square" rtlCol="0">
              <a:spAutoFit/>
            </a:bodyPr>
            <a:lstStyle/>
            <a:p>
              <a:r>
                <a:rPr lang="en-US" dirty="0">
                  <a:solidFill>
                    <a:schemeClr val="accent4">
                      <a:lumMod val="50000"/>
                    </a:schemeClr>
                  </a:solidFill>
                </a:rPr>
                <a:t>M7</a:t>
              </a:r>
            </a:p>
          </p:txBody>
        </p:sp>
      </p:grpSp>
      <p:sp>
        <p:nvSpPr>
          <p:cNvPr id="3" name="Slide Number Placeholder 2"/>
          <p:cNvSpPr>
            <a:spLocks noGrp="1"/>
          </p:cNvSpPr>
          <p:nvPr>
            <p:ph type="sldNum" sz="quarter" idx="12"/>
          </p:nvPr>
        </p:nvSpPr>
        <p:spPr>
          <a:xfrm>
            <a:off x="9263742" y="6446555"/>
            <a:ext cx="2743200" cy="365125"/>
          </a:xfrm>
        </p:spPr>
        <p:txBody>
          <a:bodyPr/>
          <a:lstStyle/>
          <a:p>
            <a:fld id="{EE645454-5A07-423E-8617-7239B6B66F68}" type="slidenum">
              <a:rPr lang="en-US" smtClean="0"/>
              <a:t>72</a:t>
            </a:fld>
            <a:endParaRPr lang="en-US" dirty="0"/>
          </a:p>
        </p:txBody>
      </p:sp>
      <p:sp>
        <p:nvSpPr>
          <p:cNvPr id="16" name="TextBox 15">
            <a:extLst>
              <a:ext uri="{FF2B5EF4-FFF2-40B4-BE49-F238E27FC236}">
                <a16:creationId xmlns:a16="http://schemas.microsoft.com/office/drawing/2014/main" id="{43CCE83B-2883-6CEB-0172-544155A37D6B}"/>
              </a:ext>
            </a:extLst>
          </p:cNvPr>
          <p:cNvSpPr txBox="1"/>
          <p:nvPr/>
        </p:nvSpPr>
        <p:spPr>
          <a:xfrm>
            <a:off x="1137103" y="812884"/>
            <a:ext cx="2241096" cy="461665"/>
          </a:xfrm>
          <a:prstGeom prst="rect">
            <a:avLst/>
          </a:prstGeom>
          <a:noFill/>
        </p:spPr>
        <p:txBody>
          <a:bodyPr wrap="square" rtlCol="0">
            <a:spAutoFit/>
          </a:bodyPr>
          <a:lstStyle/>
          <a:p>
            <a:r>
              <a:rPr lang="en-US" sz="2400" dirty="0">
                <a:solidFill>
                  <a:schemeClr val="accent5">
                    <a:lumMod val="60000"/>
                    <a:lumOff val="40000"/>
                  </a:schemeClr>
                </a:solidFill>
              </a:rPr>
              <a:t>Marking  Phase</a:t>
            </a:r>
          </a:p>
        </p:txBody>
      </p:sp>
      <p:graphicFrame>
        <p:nvGraphicFramePr>
          <p:cNvPr id="17" name="Table 17">
            <a:extLst>
              <a:ext uri="{FF2B5EF4-FFF2-40B4-BE49-F238E27FC236}">
                <a16:creationId xmlns:a16="http://schemas.microsoft.com/office/drawing/2014/main" id="{9496164F-800B-FCA2-7B46-58CED8616E94}"/>
              </a:ext>
            </a:extLst>
          </p:cNvPr>
          <p:cNvGraphicFramePr>
            <a:graphicFrameLocks noGrp="1"/>
          </p:cNvGraphicFramePr>
          <p:nvPr>
            <p:extLst>
              <p:ext uri="{D42A27DB-BD31-4B8C-83A1-F6EECF244321}">
                <p14:modId xmlns:p14="http://schemas.microsoft.com/office/powerpoint/2010/main" val="2043307683"/>
              </p:ext>
            </p:extLst>
          </p:nvPr>
        </p:nvGraphicFramePr>
        <p:xfrm>
          <a:off x="7485750" y="4982145"/>
          <a:ext cx="4532080" cy="370840"/>
        </p:xfrm>
        <a:graphic>
          <a:graphicData uri="http://schemas.openxmlformats.org/drawingml/2006/table">
            <a:tbl>
              <a:tblPr firstRow="1" bandRow="1">
                <a:tableStyleId>{93296810-A885-4BE3-A3E7-6D5BEEA58F35}</a:tableStyleId>
              </a:tblPr>
              <a:tblGrid>
                <a:gridCol w="647440">
                  <a:extLst>
                    <a:ext uri="{9D8B030D-6E8A-4147-A177-3AD203B41FA5}">
                      <a16:colId xmlns:a16="http://schemas.microsoft.com/office/drawing/2014/main" val="1641241995"/>
                    </a:ext>
                  </a:extLst>
                </a:gridCol>
                <a:gridCol w="647440">
                  <a:extLst>
                    <a:ext uri="{9D8B030D-6E8A-4147-A177-3AD203B41FA5}">
                      <a16:colId xmlns:a16="http://schemas.microsoft.com/office/drawing/2014/main" val="4194170714"/>
                    </a:ext>
                  </a:extLst>
                </a:gridCol>
                <a:gridCol w="647440">
                  <a:extLst>
                    <a:ext uri="{9D8B030D-6E8A-4147-A177-3AD203B41FA5}">
                      <a16:colId xmlns:a16="http://schemas.microsoft.com/office/drawing/2014/main" val="2462297679"/>
                    </a:ext>
                  </a:extLst>
                </a:gridCol>
                <a:gridCol w="647440">
                  <a:extLst>
                    <a:ext uri="{9D8B030D-6E8A-4147-A177-3AD203B41FA5}">
                      <a16:colId xmlns:a16="http://schemas.microsoft.com/office/drawing/2014/main" val="4211800239"/>
                    </a:ext>
                  </a:extLst>
                </a:gridCol>
                <a:gridCol w="647440">
                  <a:extLst>
                    <a:ext uri="{9D8B030D-6E8A-4147-A177-3AD203B41FA5}">
                      <a16:colId xmlns:a16="http://schemas.microsoft.com/office/drawing/2014/main" val="788963807"/>
                    </a:ext>
                  </a:extLst>
                </a:gridCol>
                <a:gridCol w="647440">
                  <a:extLst>
                    <a:ext uri="{9D8B030D-6E8A-4147-A177-3AD203B41FA5}">
                      <a16:colId xmlns:a16="http://schemas.microsoft.com/office/drawing/2014/main" val="1849690067"/>
                    </a:ext>
                  </a:extLst>
                </a:gridCol>
                <a:gridCol w="647440">
                  <a:extLst>
                    <a:ext uri="{9D8B030D-6E8A-4147-A177-3AD203B41FA5}">
                      <a16:colId xmlns:a16="http://schemas.microsoft.com/office/drawing/2014/main" val="1974228414"/>
                    </a:ext>
                  </a:extLst>
                </a:gridCol>
              </a:tblGrid>
              <a:tr h="370840">
                <a:tc>
                  <a:txBody>
                    <a:bodyPr/>
                    <a:lstStyle/>
                    <a:p>
                      <a:pPr algn="ctr"/>
                      <a:r>
                        <a:rPr lang="en-US" b="0" dirty="0">
                          <a:solidFill>
                            <a:srgbClr val="00B0F0"/>
                          </a:solidFill>
                        </a:rPr>
                        <a:t>M1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372693682"/>
                  </a:ext>
                </a:extLst>
              </a:tr>
            </a:tbl>
          </a:graphicData>
        </a:graphic>
      </p:graphicFrame>
      <p:sp>
        <p:nvSpPr>
          <p:cNvPr id="18" name="TextBox 17">
            <a:extLst>
              <a:ext uri="{FF2B5EF4-FFF2-40B4-BE49-F238E27FC236}">
                <a16:creationId xmlns:a16="http://schemas.microsoft.com/office/drawing/2014/main" id="{7DC3EB51-B104-19CE-F10C-A3C1C010CC30}"/>
              </a:ext>
            </a:extLst>
          </p:cNvPr>
          <p:cNvSpPr txBox="1"/>
          <p:nvPr/>
        </p:nvSpPr>
        <p:spPr>
          <a:xfrm>
            <a:off x="7365207" y="4475269"/>
            <a:ext cx="2788077" cy="461665"/>
          </a:xfrm>
          <a:prstGeom prst="rect">
            <a:avLst/>
          </a:prstGeom>
          <a:noFill/>
        </p:spPr>
        <p:txBody>
          <a:bodyPr wrap="square" rtlCol="0">
            <a:spAutoFit/>
          </a:bodyPr>
          <a:lstStyle/>
          <a:p>
            <a:r>
              <a:rPr lang="en-US" sz="2400" dirty="0">
                <a:solidFill>
                  <a:schemeClr val="accent6">
                    <a:lumMod val="75000"/>
                  </a:schemeClr>
                </a:solidFill>
              </a:rPr>
              <a:t>Heap (before GC) </a:t>
            </a:r>
          </a:p>
        </p:txBody>
      </p:sp>
      <p:sp>
        <p:nvSpPr>
          <p:cNvPr id="19" name="TextBox 18">
            <a:extLst>
              <a:ext uri="{FF2B5EF4-FFF2-40B4-BE49-F238E27FC236}">
                <a16:creationId xmlns:a16="http://schemas.microsoft.com/office/drawing/2014/main" id="{E09A1AE9-A3FA-6507-11CB-1FD6E0B9457B}"/>
              </a:ext>
            </a:extLst>
          </p:cNvPr>
          <p:cNvSpPr txBox="1"/>
          <p:nvPr/>
        </p:nvSpPr>
        <p:spPr>
          <a:xfrm>
            <a:off x="5733338" y="683863"/>
            <a:ext cx="624114" cy="461665"/>
          </a:xfrm>
          <a:prstGeom prst="rect">
            <a:avLst/>
          </a:prstGeom>
          <a:noFill/>
        </p:spPr>
        <p:txBody>
          <a:bodyPr wrap="square" rtlCol="0">
            <a:spAutoFit/>
          </a:bodyPr>
          <a:lstStyle/>
          <a:p>
            <a:pPr algn="ctr"/>
            <a:r>
              <a:rPr lang="en-US" sz="2400" dirty="0">
                <a:solidFill>
                  <a:srgbClr val="00B050"/>
                </a:solidFill>
              </a:rPr>
              <a:t>√</a:t>
            </a:r>
          </a:p>
        </p:txBody>
      </p:sp>
      <p:sp>
        <p:nvSpPr>
          <p:cNvPr id="20" name="TextBox 19">
            <a:extLst>
              <a:ext uri="{FF2B5EF4-FFF2-40B4-BE49-F238E27FC236}">
                <a16:creationId xmlns:a16="http://schemas.microsoft.com/office/drawing/2014/main" id="{B762E1BA-3F23-8BD9-C6DE-C11859B2BA39}"/>
              </a:ext>
            </a:extLst>
          </p:cNvPr>
          <p:cNvSpPr txBox="1"/>
          <p:nvPr/>
        </p:nvSpPr>
        <p:spPr>
          <a:xfrm>
            <a:off x="7656479" y="1097519"/>
            <a:ext cx="624114" cy="461665"/>
          </a:xfrm>
          <a:prstGeom prst="rect">
            <a:avLst/>
          </a:prstGeom>
          <a:noFill/>
        </p:spPr>
        <p:txBody>
          <a:bodyPr wrap="square" rtlCol="0">
            <a:spAutoFit/>
          </a:bodyPr>
          <a:lstStyle/>
          <a:p>
            <a:pPr algn="ctr"/>
            <a:r>
              <a:rPr lang="en-US" sz="2400" dirty="0">
                <a:solidFill>
                  <a:srgbClr val="00B050"/>
                </a:solidFill>
              </a:rPr>
              <a:t>√</a:t>
            </a:r>
          </a:p>
        </p:txBody>
      </p:sp>
      <p:sp>
        <p:nvSpPr>
          <p:cNvPr id="21" name="TextBox 20">
            <a:extLst>
              <a:ext uri="{FF2B5EF4-FFF2-40B4-BE49-F238E27FC236}">
                <a16:creationId xmlns:a16="http://schemas.microsoft.com/office/drawing/2014/main" id="{A48317F2-0FE5-1D43-0A96-75FCD56443B9}"/>
              </a:ext>
            </a:extLst>
          </p:cNvPr>
          <p:cNvSpPr txBox="1"/>
          <p:nvPr/>
        </p:nvSpPr>
        <p:spPr>
          <a:xfrm>
            <a:off x="9354652" y="1591009"/>
            <a:ext cx="624114" cy="461665"/>
          </a:xfrm>
          <a:prstGeom prst="rect">
            <a:avLst/>
          </a:prstGeom>
          <a:noFill/>
        </p:spPr>
        <p:txBody>
          <a:bodyPr wrap="square" rtlCol="0">
            <a:spAutoFit/>
          </a:bodyPr>
          <a:lstStyle/>
          <a:p>
            <a:pPr algn="ctr"/>
            <a:r>
              <a:rPr lang="en-US" sz="2400" dirty="0">
                <a:solidFill>
                  <a:srgbClr val="00B050"/>
                </a:solidFill>
              </a:rPr>
              <a:t>√</a:t>
            </a:r>
          </a:p>
        </p:txBody>
      </p:sp>
      <p:sp>
        <p:nvSpPr>
          <p:cNvPr id="22" name="TextBox 21">
            <a:extLst>
              <a:ext uri="{FF2B5EF4-FFF2-40B4-BE49-F238E27FC236}">
                <a16:creationId xmlns:a16="http://schemas.microsoft.com/office/drawing/2014/main" id="{A63620D9-3028-B26B-07C7-AA1DC8A6E29D}"/>
              </a:ext>
            </a:extLst>
          </p:cNvPr>
          <p:cNvSpPr txBox="1"/>
          <p:nvPr/>
        </p:nvSpPr>
        <p:spPr>
          <a:xfrm>
            <a:off x="5972823" y="1953862"/>
            <a:ext cx="624114" cy="461665"/>
          </a:xfrm>
          <a:prstGeom prst="rect">
            <a:avLst/>
          </a:prstGeom>
          <a:noFill/>
        </p:spPr>
        <p:txBody>
          <a:bodyPr wrap="square" rtlCol="0">
            <a:spAutoFit/>
          </a:bodyPr>
          <a:lstStyle/>
          <a:p>
            <a:pPr algn="ctr"/>
            <a:r>
              <a:rPr lang="en-US" sz="2400" dirty="0">
                <a:solidFill>
                  <a:srgbClr val="00B050"/>
                </a:solidFill>
              </a:rPr>
              <a:t>√</a:t>
            </a:r>
          </a:p>
        </p:txBody>
      </p:sp>
      <p:sp>
        <p:nvSpPr>
          <p:cNvPr id="23" name="TextBox 22">
            <a:extLst>
              <a:ext uri="{FF2B5EF4-FFF2-40B4-BE49-F238E27FC236}">
                <a16:creationId xmlns:a16="http://schemas.microsoft.com/office/drawing/2014/main" id="{EA680CDE-135A-FD2E-FEA8-713EAC04F7BD}"/>
              </a:ext>
            </a:extLst>
          </p:cNvPr>
          <p:cNvSpPr txBox="1"/>
          <p:nvPr/>
        </p:nvSpPr>
        <p:spPr>
          <a:xfrm>
            <a:off x="7714539" y="3027922"/>
            <a:ext cx="624114" cy="461665"/>
          </a:xfrm>
          <a:prstGeom prst="rect">
            <a:avLst/>
          </a:prstGeom>
          <a:noFill/>
        </p:spPr>
        <p:txBody>
          <a:bodyPr wrap="square" rtlCol="0">
            <a:spAutoFit/>
          </a:bodyPr>
          <a:lstStyle/>
          <a:p>
            <a:pPr algn="ctr"/>
            <a:r>
              <a:rPr lang="en-US" sz="2400" dirty="0">
                <a:solidFill>
                  <a:srgbClr val="00B050"/>
                </a:solidFill>
              </a:rPr>
              <a:t>√</a:t>
            </a:r>
          </a:p>
        </p:txBody>
      </p:sp>
      <p:sp>
        <p:nvSpPr>
          <p:cNvPr id="26" name="TextBox 25">
            <a:extLst>
              <a:ext uri="{FF2B5EF4-FFF2-40B4-BE49-F238E27FC236}">
                <a16:creationId xmlns:a16="http://schemas.microsoft.com/office/drawing/2014/main" id="{B4899AEC-A21B-D1AC-1BDF-3C2009C7D829}"/>
              </a:ext>
            </a:extLst>
          </p:cNvPr>
          <p:cNvSpPr txBox="1"/>
          <p:nvPr/>
        </p:nvSpPr>
        <p:spPr>
          <a:xfrm>
            <a:off x="1129846" y="1255572"/>
            <a:ext cx="2557171" cy="461665"/>
          </a:xfrm>
          <a:prstGeom prst="rect">
            <a:avLst/>
          </a:prstGeom>
          <a:noFill/>
        </p:spPr>
        <p:txBody>
          <a:bodyPr wrap="square" rtlCol="0">
            <a:spAutoFit/>
          </a:bodyPr>
          <a:lstStyle/>
          <a:p>
            <a:r>
              <a:rPr lang="en-US" sz="2400" dirty="0">
                <a:solidFill>
                  <a:srgbClr val="7030A0"/>
                </a:solidFill>
              </a:rPr>
              <a:t>Sweeping Phase</a:t>
            </a:r>
          </a:p>
        </p:txBody>
      </p:sp>
      <p:sp>
        <p:nvSpPr>
          <p:cNvPr id="27" name="Explosion: 14 Points 26">
            <a:extLst>
              <a:ext uri="{FF2B5EF4-FFF2-40B4-BE49-F238E27FC236}">
                <a16:creationId xmlns:a16="http://schemas.microsoft.com/office/drawing/2014/main" id="{5E120372-00C2-A949-E2F4-8E2F1D70D576}"/>
              </a:ext>
            </a:extLst>
          </p:cNvPr>
          <p:cNvSpPr/>
          <p:nvPr/>
        </p:nvSpPr>
        <p:spPr>
          <a:xfrm>
            <a:off x="10493828" y="1145528"/>
            <a:ext cx="1489187" cy="993734"/>
          </a:xfrm>
          <a:prstGeom prst="irregularSeal2">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Free</a:t>
            </a:r>
          </a:p>
        </p:txBody>
      </p:sp>
      <p:sp>
        <p:nvSpPr>
          <p:cNvPr id="28" name="Explosion: 14 Points 27">
            <a:extLst>
              <a:ext uri="{FF2B5EF4-FFF2-40B4-BE49-F238E27FC236}">
                <a16:creationId xmlns:a16="http://schemas.microsoft.com/office/drawing/2014/main" id="{A4C130E0-E11D-C6E8-9375-06C2B82B7433}"/>
              </a:ext>
            </a:extLst>
          </p:cNvPr>
          <p:cNvSpPr/>
          <p:nvPr/>
        </p:nvSpPr>
        <p:spPr>
          <a:xfrm>
            <a:off x="3598637" y="2124507"/>
            <a:ext cx="1489187" cy="993734"/>
          </a:xfrm>
          <a:prstGeom prst="irregularSeal2">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Free</a:t>
            </a:r>
          </a:p>
        </p:txBody>
      </p:sp>
      <p:graphicFrame>
        <p:nvGraphicFramePr>
          <p:cNvPr id="14" name="Table 17">
            <a:extLst>
              <a:ext uri="{FF2B5EF4-FFF2-40B4-BE49-F238E27FC236}">
                <a16:creationId xmlns:a16="http://schemas.microsoft.com/office/drawing/2014/main" id="{D5289A12-2B79-FA07-4AE1-5F7E380782C7}"/>
              </a:ext>
            </a:extLst>
          </p:cNvPr>
          <p:cNvGraphicFramePr>
            <a:graphicFrameLocks noGrp="1"/>
          </p:cNvGraphicFramePr>
          <p:nvPr>
            <p:extLst>
              <p:ext uri="{D42A27DB-BD31-4B8C-83A1-F6EECF244321}">
                <p14:modId xmlns:p14="http://schemas.microsoft.com/office/powerpoint/2010/main" val="74363665"/>
              </p:ext>
            </p:extLst>
          </p:nvPr>
        </p:nvGraphicFramePr>
        <p:xfrm>
          <a:off x="7449463" y="6295689"/>
          <a:ext cx="4532080" cy="370840"/>
        </p:xfrm>
        <a:graphic>
          <a:graphicData uri="http://schemas.openxmlformats.org/drawingml/2006/table">
            <a:tbl>
              <a:tblPr firstRow="1" bandRow="1">
                <a:tableStyleId>{93296810-A885-4BE3-A3E7-6D5BEEA58F35}</a:tableStyleId>
              </a:tblPr>
              <a:tblGrid>
                <a:gridCol w="647440">
                  <a:extLst>
                    <a:ext uri="{9D8B030D-6E8A-4147-A177-3AD203B41FA5}">
                      <a16:colId xmlns:a16="http://schemas.microsoft.com/office/drawing/2014/main" val="1641241995"/>
                    </a:ext>
                  </a:extLst>
                </a:gridCol>
                <a:gridCol w="647440">
                  <a:extLst>
                    <a:ext uri="{9D8B030D-6E8A-4147-A177-3AD203B41FA5}">
                      <a16:colId xmlns:a16="http://schemas.microsoft.com/office/drawing/2014/main" val="4194170714"/>
                    </a:ext>
                  </a:extLst>
                </a:gridCol>
                <a:gridCol w="647440">
                  <a:extLst>
                    <a:ext uri="{9D8B030D-6E8A-4147-A177-3AD203B41FA5}">
                      <a16:colId xmlns:a16="http://schemas.microsoft.com/office/drawing/2014/main" val="2462297679"/>
                    </a:ext>
                  </a:extLst>
                </a:gridCol>
                <a:gridCol w="647440">
                  <a:extLst>
                    <a:ext uri="{9D8B030D-6E8A-4147-A177-3AD203B41FA5}">
                      <a16:colId xmlns:a16="http://schemas.microsoft.com/office/drawing/2014/main" val="4211800239"/>
                    </a:ext>
                  </a:extLst>
                </a:gridCol>
                <a:gridCol w="647440">
                  <a:extLst>
                    <a:ext uri="{9D8B030D-6E8A-4147-A177-3AD203B41FA5}">
                      <a16:colId xmlns:a16="http://schemas.microsoft.com/office/drawing/2014/main" val="788963807"/>
                    </a:ext>
                  </a:extLst>
                </a:gridCol>
                <a:gridCol w="647440">
                  <a:extLst>
                    <a:ext uri="{9D8B030D-6E8A-4147-A177-3AD203B41FA5}">
                      <a16:colId xmlns:a16="http://schemas.microsoft.com/office/drawing/2014/main" val="1849690067"/>
                    </a:ext>
                  </a:extLst>
                </a:gridCol>
                <a:gridCol w="647440">
                  <a:extLst>
                    <a:ext uri="{9D8B030D-6E8A-4147-A177-3AD203B41FA5}">
                      <a16:colId xmlns:a16="http://schemas.microsoft.com/office/drawing/2014/main" val="1974228414"/>
                    </a:ext>
                  </a:extLst>
                </a:gridCol>
              </a:tblGrid>
              <a:tr h="370840">
                <a:tc>
                  <a:txBody>
                    <a:bodyPr/>
                    <a:lstStyle/>
                    <a:p>
                      <a:pPr algn="ctr"/>
                      <a:r>
                        <a:rPr lang="en-US" b="0" dirty="0">
                          <a:solidFill>
                            <a:srgbClr val="00B0F0"/>
                          </a:solidFill>
                        </a:rPr>
                        <a:t>M1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50"/>
                          </a:solidFill>
                        </a:rPr>
                        <a:t>free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50"/>
                          </a:solidFill>
                        </a:rPr>
                        <a:t>free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372693682"/>
                  </a:ext>
                </a:extLst>
              </a:tr>
            </a:tbl>
          </a:graphicData>
        </a:graphic>
      </p:graphicFrame>
      <p:sp>
        <p:nvSpPr>
          <p:cNvPr id="24" name="TextBox 23">
            <a:extLst>
              <a:ext uri="{FF2B5EF4-FFF2-40B4-BE49-F238E27FC236}">
                <a16:creationId xmlns:a16="http://schemas.microsoft.com/office/drawing/2014/main" id="{E833E45C-331E-BE7B-D812-9111C8B107F1}"/>
              </a:ext>
            </a:extLst>
          </p:cNvPr>
          <p:cNvSpPr txBox="1"/>
          <p:nvPr/>
        </p:nvSpPr>
        <p:spPr>
          <a:xfrm>
            <a:off x="7395935" y="5846251"/>
            <a:ext cx="2788077" cy="461665"/>
          </a:xfrm>
          <a:prstGeom prst="rect">
            <a:avLst/>
          </a:prstGeom>
          <a:noFill/>
        </p:spPr>
        <p:txBody>
          <a:bodyPr wrap="square" rtlCol="0">
            <a:spAutoFit/>
          </a:bodyPr>
          <a:lstStyle/>
          <a:p>
            <a:r>
              <a:rPr lang="en-US" sz="2400" dirty="0">
                <a:solidFill>
                  <a:schemeClr val="accent6">
                    <a:lumMod val="75000"/>
                  </a:schemeClr>
                </a:solidFill>
              </a:rPr>
              <a:t>Heap (after GC) </a:t>
            </a:r>
          </a:p>
        </p:txBody>
      </p:sp>
      <p:sp>
        <p:nvSpPr>
          <p:cNvPr id="42" name="Oval 41">
            <a:extLst>
              <a:ext uri="{FF2B5EF4-FFF2-40B4-BE49-F238E27FC236}">
                <a16:creationId xmlns:a16="http://schemas.microsoft.com/office/drawing/2014/main" id="{24669E07-E4DB-C710-7807-193A2BED566F}"/>
              </a:ext>
            </a:extLst>
          </p:cNvPr>
          <p:cNvSpPr/>
          <p:nvPr/>
        </p:nvSpPr>
        <p:spPr>
          <a:xfrm>
            <a:off x="540556" y="5595559"/>
            <a:ext cx="2649051" cy="1139378"/>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0F7766B9-5E36-2B3E-2079-8D7A5F1C8CC9}"/>
              </a:ext>
            </a:extLst>
          </p:cNvPr>
          <p:cNvSpPr txBox="1"/>
          <p:nvPr/>
        </p:nvSpPr>
        <p:spPr>
          <a:xfrm>
            <a:off x="96397" y="5279300"/>
            <a:ext cx="2690337" cy="400110"/>
          </a:xfrm>
          <a:prstGeom prst="rect">
            <a:avLst/>
          </a:prstGeom>
          <a:noFill/>
        </p:spPr>
        <p:txBody>
          <a:bodyPr wrap="square">
            <a:spAutoFit/>
          </a:bodyPr>
          <a:lstStyle/>
          <a:p>
            <a:r>
              <a:rPr lang="en-US" sz="2000" dirty="0">
                <a:solidFill>
                  <a:srgbClr val="0070C0"/>
                </a:solidFill>
              </a:rPr>
              <a:t>Unscanned</a:t>
            </a:r>
            <a:endParaRPr lang="en-US" sz="2000" dirty="0"/>
          </a:p>
        </p:txBody>
      </p:sp>
      <p:sp>
        <p:nvSpPr>
          <p:cNvPr id="45" name="Oval 44">
            <a:extLst>
              <a:ext uri="{FF2B5EF4-FFF2-40B4-BE49-F238E27FC236}">
                <a16:creationId xmlns:a16="http://schemas.microsoft.com/office/drawing/2014/main" id="{8D9BF30F-AEA8-10CA-64C4-338CD121C196}"/>
              </a:ext>
            </a:extLst>
          </p:cNvPr>
          <p:cNvSpPr/>
          <p:nvPr/>
        </p:nvSpPr>
        <p:spPr>
          <a:xfrm>
            <a:off x="4094793" y="5611255"/>
            <a:ext cx="2649051" cy="1139378"/>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6" name="TextBox 45">
            <a:extLst>
              <a:ext uri="{FF2B5EF4-FFF2-40B4-BE49-F238E27FC236}">
                <a16:creationId xmlns:a16="http://schemas.microsoft.com/office/drawing/2014/main" id="{5DC38FD3-AA98-2685-F740-9F2AF2729CE6}"/>
              </a:ext>
            </a:extLst>
          </p:cNvPr>
          <p:cNvSpPr txBox="1"/>
          <p:nvPr/>
        </p:nvSpPr>
        <p:spPr>
          <a:xfrm>
            <a:off x="5943796" y="5261635"/>
            <a:ext cx="1225022" cy="400110"/>
          </a:xfrm>
          <a:prstGeom prst="rect">
            <a:avLst/>
          </a:prstGeom>
          <a:noFill/>
        </p:spPr>
        <p:txBody>
          <a:bodyPr wrap="square">
            <a:spAutoFit/>
          </a:bodyPr>
          <a:lstStyle/>
          <a:p>
            <a:r>
              <a:rPr lang="en-US" sz="2000" dirty="0">
                <a:solidFill>
                  <a:schemeClr val="accent2">
                    <a:lumMod val="75000"/>
                  </a:schemeClr>
                </a:solidFill>
              </a:rPr>
              <a:t>Scanned</a:t>
            </a:r>
          </a:p>
        </p:txBody>
      </p:sp>
      <p:sp>
        <p:nvSpPr>
          <p:cNvPr id="47" name="Arrow: Right 46">
            <a:extLst>
              <a:ext uri="{FF2B5EF4-FFF2-40B4-BE49-F238E27FC236}">
                <a16:creationId xmlns:a16="http://schemas.microsoft.com/office/drawing/2014/main" id="{6819436A-0DA3-AB1C-232F-21C52677E1F7}"/>
              </a:ext>
            </a:extLst>
          </p:cNvPr>
          <p:cNvSpPr/>
          <p:nvPr/>
        </p:nvSpPr>
        <p:spPr>
          <a:xfrm>
            <a:off x="3323503" y="6005475"/>
            <a:ext cx="597284" cy="482620"/>
          </a:xfrm>
          <a:prstGeom prst="right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B8C663AF-1926-A205-8AAA-70499E104BC2}"/>
              </a:ext>
            </a:extLst>
          </p:cNvPr>
          <p:cNvSpPr txBox="1"/>
          <p:nvPr/>
        </p:nvSpPr>
        <p:spPr>
          <a:xfrm>
            <a:off x="870857" y="5870649"/>
            <a:ext cx="507994" cy="369332"/>
          </a:xfrm>
          <a:prstGeom prst="rect">
            <a:avLst/>
          </a:prstGeom>
          <a:noFill/>
        </p:spPr>
        <p:txBody>
          <a:bodyPr wrap="square">
            <a:spAutoFit/>
          </a:bodyPr>
          <a:lstStyle/>
          <a:p>
            <a:r>
              <a:rPr lang="en-US" sz="1800" dirty="0">
                <a:solidFill>
                  <a:schemeClr val="accent4">
                    <a:lumMod val="50000"/>
                  </a:schemeClr>
                </a:solidFill>
              </a:rPr>
              <a:t>M1</a:t>
            </a:r>
            <a:endParaRPr lang="en-US" dirty="0"/>
          </a:p>
        </p:txBody>
      </p:sp>
      <p:sp>
        <p:nvSpPr>
          <p:cNvPr id="49" name="TextBox 48">
            <a:extLst>
              <a:ext uri="{FF2B5EF4-FFF2-40B4-BE49-F238E27FC236}">
                <a16:creationId xmlns:a16="http://schemas.microsoft.com/office/drawing/2014/main" id="{11DB6E49-C0E6-B2C1-F431-9628F473BDD2}"/>
              </a:ext>
            </a:extLst>
          </p:cNvPr>
          <p:cNvSpPr txBox="1"/>
          <p:nvPr/>
        </p:nvSpPr>
        <p:spPr>
          <a:xfrm>
            <a:off x="1567541" y="5652931"/>
            <a:ext cx="507994" cy="369332"/>
          </a:xfrm>
          <a:prstGeom prst="rect">
            <a:avLst/>
          </a:prstGeom>
          <a:noFill/>
        </p:spPr>
        <p:txBody>
          <a:bodyPr wrap="square">
            <a:spAutoFit/>
          </a:bodyPr>
          <a:lstStyle/>
          <a:p>
            <a:r>
              <a:rPr lang="en-US" sz="1800" dirty="0">
                <a:solidFill>
                  <a:schemeClr val="accent4">
                    <a:lumMod val="50000"/>
                  </a:schemeClr>
                </a:solidFill>
              </a:rPr>
              <a:t>M2</a:t>
            </a:r>
            <a:endParaRPr lang="en-US" dirty="0"/>
          </a:p>
        </p:txBody>
      </p:sp>
      <p:sp>
        <p:nvSpPr>
          <p:cNvPr id="50" name="TextBox 49">
            <a:extLst>
              <a:ext uri="{FF2B5EF4-FFF2-40B4-BE49-F238E27FC236}">
                <a16:creationId xmlns:a16="http://schemas.microsoft.com/office/drawing/2014/main" id="{B24491A8-45F0-7998-6146-53033EE9E527}"/>
              </a:ext>
            </a:extLst>
          </p:cNvPr>
          <p:cNvSpPr txBox="1"/>
          <p:nvPr/>
        </p:nvSpPr>
        <p:spPr>
          <a:xfrm>
            <a:off x="4484915" y="5870645"/>
            <a:ext cx="507994" cy="369332"/>
          </a:xfrm>
          <a:prstGeom prst="rect">
            <a:avLst/>
          </a:prstGeom>
          <a:noFill/>
        </p:spPr>
        <p:txBody>
          <a:bodyPr wrap="square">
            <a:spAutoFit/>
          </a:bodyPr>
          <a:lstStyle/>
          <a:p>
            <a:r>
              <a:rPr lang="en-US" sz="1800" dirty="0">
                <a:solidFill>
                  <a:schemeClr val="accent4">
                    <a:lumMod val="50000"/>
                  </a:schemeClr>
                </a:solidFill>
              </a:rPr>
              <a:t>M1</a:t>
            </a:r>
            <a:endParaRPr lang="en-US" dirty="0"/>
          </a:p>
        </p:txBody>
      </p:sp>
      <p:sp>
        <p:nvSpPr>
          <p:cNvPr id="51" name="TextBox 50">
            <a:extLst>
              <a:ext uri="{FF2B5EF4-FFF2-40B4-BE49-F238E27FC236}">
                <a16:creationId xmlns:a16="http://schemas.microsoft.com/office/drawing/2014/main" id="{E0C1464F-E941-4828-A950-4228203FE01D}"/>
              </a:ext>
            </a:extLst>
          </p:cNvPr>
          <p:cNvSpPr txBox="1"/>
          <p:nvPr/>
        </p:nvSpPr>
        <p:spPr>
          <a:xfrm>
            <a:off x="1277258" y="6233498"/>
            <a:ext cx="507994" cy="369332"/>
          </a:xfrm>
          <a:prstGeom prst="rect">
            <a:avLst/>
          </a:prstGeom>
          <a:noFill/>
        </p:spPr>
        <p:txBody>
          <a:bodyPr wrap="square">
            <a:spAutoFit/>
          </a:bodyPr>
          <a:lstStyle/>
          <a:p>
            <a:r>
              <a:rPr lang="en-US" sz="1800" dirty="0">
                <a:solidFill>
                  <a:schemeClr val="accent4">
                    <a:lumMod val="50000"/>
                  </a:schemeClr>
                </a:solidFill>
              </a:rPr>
              <a:t>M4</a:t>
            </a:r>
            <a:endParaRPr lang="en-US" dirty="0"/>
          </a:p>
        </p:txBody>
      </p:sp>
      <p:sp>
        <p:nvSpPr>
          <p:cNvPr id="52" name="TextBox 51">
            <a:extLst>
              <a:ext uri="{FF2B5EF4-FFF2-40B4-BE49-F238E27FC236}">
                <a16:creationId xmlns:a16="http://schemas.microsoft.com/office/drawing/2014/main" id="{7F8910AA-A7A9-DD29-1CE3-CD9479B56852}"/>
              </a:ext>
            </a:extLst>
          </p:cNvPr>
          <p:cNvSpPr txBox="1"/>
          <p:nvPr/>
        </p:nvSpPr>
        <p:spPr>
          <a:xfrm>
            <a:off x="2177139" y="5914186"/>
            <a:ext cx="507994" cy="369332"/>
          </a:xfrm>
          <a:prstGeom prst="rect">
            <a:avLst/>
          </a:prstGeom>
          <a:noFill/>
        </p:spPr>
        <p:txBody>
          <a:bodyPr wrap="square">
            <a:spAutoFit/>
          </a:bodyPr>
          <a:lstStyle/>
          <a:p>
            <a:r>
              <a:rPr lang="en-US" sz="1800" dirty="0">
                <a:solidFill>
                  <a:schemeClr val="accent4">
                    <a:lumMod val="50000"/>
                  </a:schemeClr>
                </a:solidFill>
              </a:rPr>
              <a:t>M6</a:t>
            </a:r>
            <a:endParaRPr lang="en-US" dirty="0"/>
          </a:p>
        </p:txBody>
      </p:sp>
      <p:sp>
        <p:nvSpPr>
          <p:cNvPr id="53" name="TextBox 52">
            <a:extLst>
              <a:ext uri="{FF2B5EF4-FFF2-40B4-BE49-F238E27FC236}">
                <a16:creationId xmlns:a16="http://schemas.microsoft.com/office/drawing/2014/main" id="{D4A5DDA7-059D-3A06-C019-0FB3D528C9F6}"/>
              </a:ext>
            </a:extLst>
          </p:cNvPr>
          <p:cNvSpPr txBox="1"/>
          <p:nvPr/>
        </p:nvSpPr>
        <p:spPr>
          <a:xfrm>
            <a:off x="5181599" y="5667443"/>
            <a:ext cx="507994" cy="369332"/>
          </a:xfrm>
          <a:prstGeom prst="rect">
            <a:avLst/>
          </a:prstGeom>
          <a:noFill/>
        </p:spPr>
        <p:txBody>
          <a:bodyPr wrap="square">
            <a:spAutoFit/>
          </a:bodyPr>
          <a:lstStyle/>
          <a:p>
            <a:r>
              <a:rPr lang="en-US" sz="1800" dirty="0">
                <a:solidFill>
                  <a:schemeClr val="accent4">
                    <a:lumMod val="50000"/>
                  </a:schemeClr>
                </a:solidFill>
              </a:rPr>
              <a:t>M2</a:t>
            </a:r>
            <a:endParaRPr lang="en-US" dirty="0"/>
          </a:p>
        </p:txBody>
      </p:sp>
      <p:sp>
        <p:nvSpPr>
          <p:cNvPr id="54" name="TextBox 53">
            <a:extLst>
              <a:ext uri="{FF2B5EF4-FFF2-40B4-BE49-F238E27FC236}">
                <a16:creationId xmlns:a16="http://schemas.microsoft.com/office/drawing/2014/main" id="{C8B11DB5-8C1E-513E-2177-67A6D01008D2}"/>
              </a:ext>
            </a:extLst>
          </p:cNvPr>
          <p:cNvSpPr txBox="1"/>
          <p:nvPr/>
        </p:nvSpPr>
        <p:spPr>
          <a:xfrm>
            <a:off x="1915885" y="6262530"/>
            <a:ext cx="507994" cy="369332"/>
          </a:xfrm>
          <a:prstGeom prst="rect">
            <a:avLst/>
          </a:prstGeom>
          <a:noFill/>
        </p:spPr>
        <p:txBody>
          <a:bodyPr wrap="square">
            <a:spAutoFit/>
          </a:bodyPr>
          <a:lstStyle/>
          <a:p>
            <a:r>
              <a:rPr lang="en-US" sz="1800" dirty="0">
                <a:solidFill>
                  <a:schemeClr val="accent4">
                    <a:lumMod val="50000"/>
                  </a:schemeClr>
                </a:solidFill>
              </a:rPr>
              <a:t>M5</a:t>
            </a:r>
            <a:endParaRPr lang="en-US" dirty="0"/>
          </a:p>
        </p:txBody>
      </p:sp>
      <p:sp>
        <p:nvSpPr>
          <p:cNvPr id="55" name="TextBox 54">
            <a:extLst>
              <a:ext uri="{FF2B5EF4-FFF2-40B4-BE49-F238E27FC236}">
                <a16:creationId xmlns:a16="http://schemas.microsoft.com/office/drawing/2014/main" id="{5335BB7C-56A6-F1E8-2E8F-1155708F011C}"/>
              </a:ext>
            </a:extLst>
          </p:cNvPr>
          <p:cNvSpPr txBox="1"/>
          <p:nvPr/>
        </p:nvSpPr>
        <p:spPr>
          <a:xfrm>
            <a:off x="4840517" y="6269783"/>
            <a:ext cx="507994" cy="369332"/>
          </a:xfrm>
          <a:prstGeom prst="rect">
            <a:avLst/>
          </a:prstGeom>
          <a:noFill/>
        </p:spPr>
        <p:txBody>
          <a:bodyPr wrap="square">
            <a:spAutoFit/>
          </a:bodyPr>
          <a:lstStyle/>
          <a:p>
            <a:r>
              <a:rPr lang="en-US" sz="1800" dirty="0">
                <a:solidFill>
                  <a:schemeClr val="accent4">
                    <a:lumMod val="50000"/>
                  </a:schemeClr>
                </a:solidFill>
              </a:rPr>
              <a:t>M4</a:t>
            </a:r>
            <a:endParaRPr lang="en-US" dirty="0"/>
          </a:p>
        </p:txBody>
      </p:sp>
      <p:sp>
        <p:nvSpPr>
          <p:cNvPr id="56" name="TextBox 55">
            <a:extLst>
              <a:ext uri="{FF2B5EF4-FFF2-40B4-BE49-F238E27FC236}">
                <a16:creationId xmlns:a16="http://schemas.microsoft.com/office/drawing/2014/main" id="{6BE02229-F66C-8078-F573-9B665E00DC0B}"/>
              </a:ext>
            </a:extLst>
          </p:cNvPr>
          <p:cNvSpPr txBox="1"/>
          <p:nvPr/>
        </p:nvSpPr>
        <p:spPr>
          <a:xfrm>
            <a:off x="5812969" y="5906932"/>
            <a:ext cx="507994" cy="369332"/>
          </a:xfrm>
          <a:prstGeom prst="rect">
            <a:avLst/>
          </a:prstGeom>
          <a:noFill/>
        </p:spPr>
        <p:txBody>
          <a:bodyPr wrap="square">
            <a:spAutoFit/>
          </a:bodyPr>
          <a:lstStyle/>
          <a:p>
            <a:r>
              <a:rPr lang="en-US" sz="1800" dirty="0">
                <a:solidFill>
                  <a:schemeClr val="accent4">
                    <a:lumMod val="50000"/>
                  </a:schemeClr>
                </a:solidFill>
              </a:rPr>
              <a:t>M6</a:t>
            </a:r>
            <a:endParaRPr lang="en-US" dirty="0"/>
          </a:p>
        </p:txBody>
      </p:sp>
      <p:sp>
        <p:nvSpPr>
          <p:cNvPr id="57" name="TextBox 56">
            <a:extLst>
              <a:ext uri="{FF2B5EF4-FFF2-40B4-BE49-F238E27FC236}">
                <a16:creationId xmlns:a16="http://schemas.microsoft.com/office/drawing/2014/main" id="{D35F5CC1-E0E0-4805-858D-FD30A1F06C67}"/>
              </a:ext>
            </a:extLst>
          </p:cNvPr>
          <p:cNvSpPr txBox="1"/>
          <p:nvPr/>
        </p:nvSpPr>
        <p:spPr>
          <a:xfrm>
            <a:off x="5595254" y="6298814"/>
            <a:ext cx="507994" cy="369332"/>
          </a:xfrm>
          <a:prstGeom prst="rect">
            <a:avLst/>
          </a:prstGeom>
          <a:noFill/>
        </p:spPr>
        <p:txBody>
          <a:bodyPr wrap="square">
            <a:spAutoFit/>
          </a:bodyPr>
          <a:lstStyle/>
          <a:p>
            <a:r>
              <a:rPr lang="en-US" sz="1800" dirty="0">
                <a:solidFill>
                  <a:schemeClr val="accent4">
                    <a:lumMod val="50000"/>
                  </a:schemeClr>
                </a:solidFill>
              </a:rPr>
              <a:t>M5</a:t>
            </a:r>
            <a:endParaRPr lang="en-US" dirty="0"/>
          </a:p>
        </p:txBody>
      </p:sp>
      <p:sp>
        <p:nvSpPr>
          <p:cNvPr id="61" name="Oval 60">
            <a:extLst>
              <a:ext uri="{FF2B5EF4-FFF2-40B4-BE49-F238E27FC236}">
                <a16:creationId xmlns:a16="http://schemas.microsoft.com/office/drawing/2014/main" id="{1CAB8A45-032A-979B-A591-26B33C1F86AF}"/>
              </a:ext>
            </a:extLst>
          </p:cNvPr>
          <p:cNvSpPr/>
          <p:nvPr/>
        </p:nvSpPr>
        <p:spPr>
          <a:xfrm>
            <a:off x="4076284" y="3966129"/>
            <a:ext cx="2649051" cy="1139378"/>
          </a:xfrm>
          <a:prstGeom prst="ellipse">
            <a:avLst/>
          </a:prstGeom>
          <a:ln>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2" name="TextBox 61">
            <a:extLst>
              <a:ext uri="{FF2B5EF4-FFF2-40B4-BE49-F238E27FC236}">
                <a16:creationId xmlns:a16="http://schemas.microsoft.com/office/drawing/2014/main" id="{5EEE57F0-6B70-5178-F0F8-D0153B3BF787}"/>
              </a:ext>
            </a:extLst>
          </p:cNvPr>
          <p:cNvSpPr txBox="1"/>
          <p:nvPr/>
        </p:nvSpPr>
        <p:spPr>
          <a:xfrm>
            <a:off x="5029394" y="3565302"/>
            <a:ext cx="1225022" cy="400110"/>
          </a:xfrm>
          <a:prstGeom prst="rect">
            <a:avLst/>
          </a:prstGeom>
          <a:noFill/>
        </p:spPr>
        <p:txBody>
          <a:bodyPr wrap="square">
            <a:spAutoFit/>
          </a:bodyPr>
          <a:lstStyle/>
          <a:p>
            <a:r>
              <a:rPr lang="en-US" sz="2000" dirty="0">
                <a:solidFill>
                  <a:srgbClr val="7030A0"/>
                </a:solidFill>
              </a:rPr>
              <a:t>Free</a:t>
            </a:r>
          </a:p>
        </p:txBody>
      </p:sp>
      <p:sp>
        <p:nvSpPr>
          <p:cNvPr id="63" name="TextBox 62">
            <a:extLst>
              <a:ext uri="{FF2B5EF4-FFF2-40B4-BE49-F238E27FC236}">
                <a16:creationId xmlns:a16="http://schemas.microsoft.com/office/drawing/2014/main" id="{089726BC-4F49-BCBA-5EF4-EEA923EC0EFE}"/>
              </a:ext>
            </a:extLst>
          </p:cNvPr>
          <p:cNvSpPr txBox="1"/>
          <p:nvPr/>
        </p:nvSpPr>
        <p:spPr>
          <a:xfrm>
            <a:off x="5515419" y="4339704"/>
            <a:ext cx="507994" cy="369332"/>
          </a:xfrm>
          <a:prstGeom prst="rect">
            <a:avLst/>
          </a:prstGeom>
          <a:noFill/>
        </p:spPr>
        <p:txBody>
          <a:bodyPr wrap="square">
            <a:spAutoFit/>
          </a:bodyPr>
          <a:lstStyle/>
          <a:p>
            <a:r>
              <a:rPr lang="en-US" sz="1800" dirty="0">
                <a:solidFill>
                  <a:schemeClr val="accent4">
                    <a:lumMod val="50000"/>
                  </a:schemeClr>
                </a:solidFill>
              </a:rPr>
              <a:t>M7</a:t>
            </a:r>
            <a:endParaRPr lang="en-US" dirty="0"/>
          </a:p>
        </p:txBody>
      </p:sp>
      <p:sp>
        <p:nvSpPr>
          <p:cNvPr id="64" name="TextBox 63">
            <a:extLst>
              <a:ext uri="{FF2B5EF4-FFF2-40B4-BE49-F238E27FC236}">
                <a16:creationId xmlns:a16="http://schemas.microsoft.com/office/drawing/2014/main" id="{287EAA8D-0BDF-0370-0EF2-BE53B766EF3C}"/>
              </a:ext>
            </a:extLst>
          </p:cNvPr>
          <p:cNvSpPr txBox="1"/>
          <p:nvPr/>
        </p:nvSpPr>
        <p:spPr>
          <a:xfrm>
            <a:off x="4812507" y="4326761"/>
            <a:ext cx="507994" cy="369332"/>
          </a:xfrm>
          <a:prstGeom prst="rect">
            <a:avLst/>
          </a:prstGeom>
          <a:noFill/>
        </p:spPr>
        <p:txBody>
          <a:bodyPr wrap="square">
            <a:spAutoFit/>
          </a:bodyPr>
          <a:lstStyle/>
          <a:p>
            <a:r>
              <a:rPr lang="en-US" sz="1800" dirty="0">
                <a:solidFill>
                  <a:schemeClr val="accent4">
                    <a:lumMod val="50000"/>
                  </a:schemeClr>
                </a:solidFill>
              </a:rPr>
              <a:t>M3</a:t>
            </a:r>
            <a:endParaRPr lang="en-US" dirty="0"/>
          </a:p>
        </p:txBody>
      </p:sp>
      <p:grpSp>
        <p:nvGrpSpPr>
          <p:cNvPr id="69" name="Group 68">
            <a:extLst>
              <a:ext uri="{FF2B5EF4-FFF2-40B4-BE49-F238E27FC236}">
                <a16:creationId xmlns:a16="http://schemas.microsoft.com/office/drawing/2014/main" id="{E619575E-385C-7CCE-085C-17299BC7A783}"/>
              </a:ext>
            </a:extLst>
          </p:cNvPr>
          <p:cNvGrpSpPr/>
          <p:nvPr/>
        </p:nvGrpSpPr>
        <p:grpSpPr>
          <a:xfrm>
            <a:off x="7365207" y="5379572"/>
            <a:ext cx="2135965" cy="369332"/>
            <a:chOff x="8969275" y="5410893"/>
            <a:chExt cx="2135965" cy="369332"/>
          </a:xfrm>
        </p:grpSpPr>
        <p:cxnSp>
          <p:nvCxnSpPr>
            <p:cNvPr id="67" name="Straight Arrow Connector 66">
              <a:extLst>
                <a:ext uri="{FF2B5EF4-FFF2-40B4-BE49-F238E27FC236}">
                  <a16:creationId xmlns:a16="http://schemas.microsoft.com/office/drawing/2014/main" id="{B1AB38E4-4D37-DD50-992C-D2DB8B74FFB1}"/>
                </a:ext>
              </a:extLst>
            </p:cNvPr>
            <p:cNvCxnSpPr/>
            <p:nvPr/>
          </p:nvCxnSpPr>
          <p:spPr>
            <a:xfrm>
              <a:off x="9751790" y="5603955"/>
              <a:ext cx="135345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8BB0C8C-BAB4-144C-0B38-53618EE1746D}"/>
                </a:ext>
              </a:extLst>
            </p:cNvPr>
            <p:cNvSpPr txBox="1"/>
            <p:nvPr/>
          </p:nvSpPr>
          <p:spPr>
            <a:xfrm>
              <a:off x="8969275" y="5410893"/>
              <a:ext cx="1045028" cy="369332"/>
            </a:xfrm>
            <a:prstGeom prst="rect">
              <a:avLst/>
            </a:prstGeom>
            <a:noFill/>
          </p:spPr>
          <p:txBody>
            <a:bodyPr wrap="square" rtlCol="0">
              <a:spAutoFit/>
            </a:bodyPr>
            <a:lstStyle/>
            <a:p>
              <a:r>
                <a:rPr lang="en-US" dirty="0">
                  <a:solidFill>
                    <a:srgbClr val="FF0000"/>
                  </a:solidFill>
                </a:rPr>
                <a:t>Sweep</a:t>
              </a:r>
            </a:p>
          </p:txBody>
        </p:sp>
      </p:grpSp>
    </p:spTree>
    <p:extLst>
      <p:ext uri="{BB962C8B-B14F-4D97-AF65-F5344CB8AC3E}">
        <p14:creationId xmlns:p14="http://schemas.microsoft.com/office/powerpoint/2010/main" val="1264929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barn(inVertical)">
                                      <p:cBhvr>
                                        <p:cTn id="14" dur="500"/>
                                        <p:tgtEl>
                                          <p:spTgt spid="17"/>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inVertical)">
                                      <p:cBhvr>
                                        <p:cTn id="17" dur="500"/>
                                        <p:tgtEl>
                                          <p:spTgt spid="18"/>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44"/>
                                        </p:tgtEl>
                                        <p:attrNameLst>
                                          <p:attrName>style.visibility</p:attrName>
                                        </p:attrNameLst>
                                      </p:cBhvr>
                                      <p:to>
                                        <p:strVal val="visible"/>
                                      </p:to>
                                    </p:set>
                                    <p:animEffect transition="in" filter="fade">
                                      <p:cBhvr>
                                        <p:cTn id="20" dur="1000"/>
                                        <p:tgtEl>
                                          <p:spTgt spid="44"/>
                                        </p:tgtEl>
                                      </p:cBhvr>
                                    </p:animEffect>
                                    <p:anim calcmode="lin" valueType="num">
                                      <p:cBhvr>
                                        <p:cTn id="21" dur="1000" fill="hold"/>
                                        <p:tgtEl>
                                          <p:spTgt spid="44"/>
                                        </p:tgtEl>
                                        <p:attrNameLst>
                                          <p:attrName>ppt_x</p:attrName>
                                        </p:attrNameLst>
                                      </p:cBhvr>
                                      <p:tavLst>
                                        <p:tav tm="0">
                                          <p:val>
                                            <p:strVal val="#ppt_x"/>
                                          </p:val>
                                        </p:tav>
                                        <p:tav tm="100000">
                                          <p:val>
                                            <p:strVal val="#ppt_x"/>
                                          </p:val>
                                        </p:tav>
                                      </p:tavLst>
                                    </p:anim>
                                    <p:anim calcmode="lin" valueType="num">
                                      <p:cBhvr>
                                        <p:cTn id="22" dur="1000" fill="hold"/>
                                        <p:tgtEl>
                                          <p:spTgt spid="44"/>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1000"/>
                                        <p:tgtEl>
                                          <p:spTgt spid="42"/>
                                        </p:tgtEl>
                                      </p:cBhvr>
                                    </p:animEffect>
                                    <p:anim calcmode="lin" valueType="num">
                                      <p:cBhvr>
                                        <p:cTn id="26" dur="1000" fill="hold"/>
                                        <p:tgtEl>
                                          <p:spTgt spid="42"/>
                                        </p:tgtEl>
                                        <p:attrNameLst>
                                          <p:attrName>ppt_x</p:attrName>
                                        </p:attrNameLst>
                                      </p:cBhvr>
                                      <p:tavLst>
                                        <p:tav tm="0">
                                          <p:val>
                                            <p:strVal val="#ppt_x"/>
                                          </p:val>
                                        </p:tav>
                                        <p:tav tm="100000">
                                          <p:val>
                                            <p:strVal val="#ppt_x"/>
                                          </p:val>
                                        </p:tav>
                                      </p:tavLst>
                                    </p:anim>
                                    <p:anim calcmode="lin" valueType="num">
                                      <p:cBhvr>
                                        <p:cTn id="27"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wipe(down)">
                                      <p:cBhvr>
                                        <p:cTn id="32" dur="500"/>
                                        <p:tgtEl>
                                          <p:spTgt spid="47"/>
                                        </p:tgtEl>
                                      </p:cBhvr>
                                    </p:animEffect>
                                  </p:childTnLst>
                                </p:cTn>
                              </p:par>
                              <p:par>
                                <p:cTn id="33" presetID="42"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fade">
                                      <p:cBhvr>
                                        <p:cTn id="35" dur="1000"/>
                                        <p:tgtEl>
                                          <p:spTgt spid="46"/>
                                        </p:tgtEl>
                                      </p:cBhvr>
                                    </p:animEffect>
                                    <p:anim calcmode="lin" valueType="num">
                                      <p:cBhvr>
                                        <p:cTn id="36" dur="1000" fill="hold"/>
                                        <p:tgtEl>
                                          <p:spTgt spid="46"/>
                                        </p:tgtEl>
                                        <p:attrNameLst>
                                          <p:attrName>ppt_x</p:attrName>
                                        </p:attrNameLst>
                                      </p:cBhvr>
                                      <p:tavLst>
                                        <p:tav tm="0">
                                          <p:val>
                                            <p:strVal val="#ppt_x"/>
                                          </p:val>
                                        </p:tav>
                                        <p:tav tm="100000">
                                          <p:val>
                                            <p:strVal val="#ppt_x"/>
                                          </p:val>
                                        </p:tav>
                                      </p:tavLst>
                                    </p:anim>
                                    <p:anim calcmode="lin" valueType="num">
                                      <p:cBhvr>
                                        <p:cTn id="37" dur="1000" fill="hold"/>
                                        <p:tgtEl>
                                          <p:spTgt spid="46"/>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fade">
                                      <p:cBhvr>
                                        <p:cTn id="40" dur="1000"/>
                                        <p:tgtEl>
                                          <p:spTgt spid="45"/>
                                        </p:tgtEl>
                                      </p:cBhvr>
                                    </p:animEffect>
                                    <p:anim calcmode="lin" valueType="num">
                                      <p:cBhvr>
                                        <p:cTn id="41" dur="1000" fill="hold"/>
                                        <p:tgtEl>
                                          <p:spTgt spid="45"/>
                                        </p:tgtEl>
                                        <p:attrNameLst>
                                          <p:attrName>ppt_x</p:attrName>
                                        </p:attrNameLst>
                                      </p:cBhvr>
                                      <p:tavLst>
                                        <p:tav tm="0">
                                          <p:val>
                                            <p:strVal val="#ppt_x"/>
                                          </p:val>
                                        </p:tav>
                                        <p:tav tm="100000">
                                          <p:val>
                                            <p:strVal val="#ppt_x"/>
                                          </p:val>
                                        </p:tav>
                                      </p:tavLst>
                                    </p:anim>
                                    <p:anim calcmode="lin" valueType="num">
                                      <p:cBhvr>
                                        <p:cTn id="42"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fade">
                                      <p:cBhvr>
                                        <p:cTn id="47" dur="1000"/>
                                        <p:tgtEl>
                                          <p:spTgt spid="62"/>
                                        </p:tgtEl>
                                      </p:cBhvr>
                                    </p:animEffect>
                                    <p:anim calcmode="lin" valueType="num">
                                      <p:cBhvr>
                                        <p:cTn id="48" dur="1000" fill="hold"/>
                                        <p:tgtEl>
                                          <p:spTgt spid="62"/>
                                        </p:tgtEl>
                                        <p:attrNameLst>
                                          <p:attrName>ppt_x</p:attrName>
                                        </p:attrNameLst>
                                      </p:cBhvr>
                                      <p:tavLst>
                                        <p:tav tm="0">
                                          <p:val>
                                            <p:strVal val="#ppt_x"/>
                                          </p:val>
                                        </p:tav>
                                        <p:tav tm="100000">
                                          <p:val>
                                            <p:strVal val="#ppt_x"/>
                                          </p:val>
                                        </p:tav>
                                      </p:tavLst>
                                    </p:anim>
                                    <p:anim calcmode="lin" valueType="num">
                                      <p:cBhvr>
                                        <p:cTn id="49" dur="1000" fill="hold"/>
                                        <p:tgtEl>
                                          <p:spTgt spid="6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61"/>
                                        </p:tgtEl>
                                        <p:attrNameLst>
                                          <p:attrName>style.visibility</p:attrName>
                                        </p:attrNameLst>
                                      </p:cBhvr>
                                      <p:to>
                                        <p:strVal val="visible"/>
                                      </p:to>
                                    </p:set>
                                    <p:animEffect transition="in" filter="fade">
                                      <p:cBhvr>
                                        <p:cTn id="52" dur="1000"/>
                                        <p:tgtEl>
                                          <p:spTgt spid="61"/>
                                        </p:tgtEl>
                                      </p:cBhvr>
                                    </p:animEffect>
                                    <p:anim calcmode="lin" valueType="num">
                                      <p:cBhvr>
                                        <p:cTn id="53" dur="1000" fill="hold"/>
                                        <p:tgtEl>
                                          <p:spTgt spid="61"/>
                                        </p:tgtEl>
                                        <p:attrNameLst>
                                          <p:attrName>ppt_x</p:attrName>
                                        </p:attrNameLst>
                                      </p:cBhvr>
                                      <p:tavLst>
                                        <p:tav tm="0">
                                          <p:val>
                                            <p:strVal val="#ppt_x"/>
                                          </p:val>
                                        </p:tav>
                                        <p:tav tm="100000">
                                          <p:val>
                                            <p:strVal val="#ppt_x"/>
                                          </p:val>
                                        </p:tav>
                                      </p:tavLst>
                                    </p:anim>
                                    <p:anim calcmode="lin" valueType="num">
                                      <p:cBhvr>
                                        <p:cTn id="54"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1000"/>
                                        <p:tgtEl>
                                          <p:spTgt spid="16"/>
                                        </p:tgtEl>
                                      </p:cBhvr>
                                    </p:animEffect>
                                    <p:anim calcmode="lin" valueType="num">
                                      <p:cBhvr>
                                        <p:cTn id="60" dur="1000" fill="hold"/>
                                        <p:tgtEl>
                                          <p:spTgt spid="16"/>
                                        </p:tgtEl>
                                        <p:attrNameLst>
                                          <p:attrName>ppt_x</p:attrName>
                                        </p:attrNameLst>
                                      </p:cBhvr>
                                      <p:tavLst>
                                        <p:tav tm="0">
                                          <p:val>
                                            <p:strVal val="#ppt_x"/>
                                          </p:val>
                                        </p:tav>
                                        <p:tav tm="100000">
                                          <p:val>
                                            <p:strVal val="#ppt_x"/>
                                          </p:val>
                                        </p:tav>
                                      </p:tavLst>
                                    </p:anim>
                                    <p:anim calcmode="lin" valueType="num">
                                      <p:cBhvr>
                                        <p:cTn id="6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barn(inVertical)">
                                      <p:cBhvr>
                                        <p:cTn id="66" dur="500"/>
                                        <p:tgtEl>
                                          <p:spTgt spid="19"/>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48"/>
                                        </p:tgtEl>
                                        <p:attrNameLst>
                                          <p:attrName>style.visibility</p:attrName>
                                        </p:attrNameLst>
                                      </p:cBhvr>
                                      <p:to>
                                        <p:strVal val="visible"/>
                                      </p:to>
                                    </p:set>
                                    <p:animEffect transition="in" filter="wipe(down)">
                                      <p:cBhvr>
                                        <p:cTn id="69" dur="500"/>
                                        <p:tgtEl>
                                          <p:spTgt spid="48"/>
                                        </p:tgtEl>
                                      </p:cBhvr>
                                    </p:animEffect>
                                  </p:childTnLst>
                                </p:cTn>
                              </p:par>
                            </p:childTnLst>
                          </p:cTn>
                        </p:par>
                      </p:childTnLst>
                    </p:cTn>
                  </p:par>
                  <p:par>
                    <p:cTn id="70" fill="hold">
                      <p:stCondLst>
                        <p:cond delay="indefinite"/>
                      </p:stCondLst>
                      <p:childTnLst>
                        <p:par>
                          <p:cTn id="71" fill="hold">
                            <p:stCondLst>
                              <p:cond delay="0"/>
                            </p:stCondLst>
                            <p:childTnLst>
                              <p:par>
                                <p:cTn id="72" presetID="16" presetClass="entr" presetSubtype="21" fill="hold" grpId="0" nodeType="click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barn(inVertical)">
                                      <p:cBhvr>
                                        <p:cTn id="74" dur="500"/>
                                        <p:tgtEl>
                                          <p:spTgt spid="20"/>
                                        </p:tgtEl>
                                      </p:cBhvr>
                                    </p:animEffect>
                                  </p:childTnLst>
                                </p:cTn>
                              </p:par>
                              <p:par>
                                <p:cTn id="75" presetID="16" presetClass="entr" presetSubtype="21"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barn(inVertical)">
                                      <p:cBhvr>
                                        <p:cTn id="77" dur="500"/>
                                        <p:tgtEl>
                                          <p:spTgt spid="49"/>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xit" presetSubtype="0" fill="hold" grpId="1" nodeType="clickEffect">
                                  <p:stCondLst>
                                    <p:cond delay="0"/>
                                  </p:stCondLst>
                                  <p:childTnLst>
                                    <p:animEffect transition="out" filter="dissolve">
                                      <p:cBhvr>
                                        <p:cTn id="81" dur="500"/>
                                        <p:tgtEl>
                                          <p:spTgt spid="48"/>
                                        </p:tgtEl>
                                      </p:cBhvr>
                                    </p:animEffect>
                                    <p:set>
                                      <p:cBhvr>
                                        <p:cTn id="82" dur="1" fill="hold">
                                          <p:stCondLst>
                                            <p:cond delay="499"/>
                                          </p:stCondLst>
                                        </p:cTn>
                                        <p:tgtEl>
                                          <p:spTgt spid="48"/>
                                        </p:tgtEl>
                                        <p:attrNameLst>
                                          <p:attrName>style.visibility</p:attrName>
                                        </p:attrNameLst>
                                      </p:cBhvr>
                                      <p:to>
                                        <p:strVal val="hidden"/>
                                      </p:to>
                                    </p:set>
                                  </p:childTnLst>
                                </p:cTn>
                              </p:par>
                              <p:par>
                                <p:cTn id="83" presetID="22" presetClass="entr" presetSubtype="4" fill="hold" grpId="0" nodeType="with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wipe(down)">
                                      <p:cBhvr>
                                        <p:cTn id="85" dur="500"/>
                                        <p:tgtEl>
                                          <p:spTgt spid="50"/>
                                        </p:tgtEl>
                                      </p:cBhvr>
                                    </p:animEffect>
                                  </p:childTnLst>
                                </p:cTn>
                              </p:par>
                            </p:childTnLst>
                          </p:cTn>
                        </p:par>
                      </p:childTnLst>
                    </p:cTn>
                  </p:par>
                  <p:par>
                    <p:cTn id="86" fill="hold">
                      <p:stCondLst>
                        <p:cond delay="indefinite"/>
                      </p:stCondLst>
                      <p:childTnLst>
                        <p:par>
                          <p:cTn id="87" fill="hold">
                            <p:stCondLst>
                              <p:cond delay="0"/>
                            </p:stCondLst>
                            <p:childTnLst>
                              <p:par>
                                <p:cTn id="88" presetID="16" presetClass="entr" presetSubtype="21" fill="hold" grpId="0" nodeType="clickEffect">
                                  <p:stCondLst>
                                    <p:cond delay="0"/>
                                  </p:stCondLst>
                                  <p:childTnLst>
                                    <p:set>
                                      <p:cBhvr>
                                        <p:cTn id="89" dur="1" fill="hold">
                                          <p:stCondLst>
                                            <p:cond delay="0"/>
                                          </p:stCondLst>
                                        </p:cTn>
                                        <p:tgtEl>
                                          <p:spTgt spid="21"/>
                                        </p:tgtEl>
                                        <p:attrNameLst>
                                          <p:attrName>style.visibility</p:attrName>
                                        </p:attrNameLst>
                                      </p:cBhvr>
                                      <p:to>
                                        <p:strVal val="visible"/>
                                      </p:to>
                                    </p:set>
                                    <p:animEffect transition="in" filter="barn(inVertical)">
                                      <p:cBhvr>
                                        <p:cTn id="90" dur="500"/>
                                        <p:tgtEl>
                                          <p:spTgt spid="21"/>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51"/>
                                        </p:tgtEl>
                                        <p:attrNameLst>
                                          <p:attrName>style.visibility</p:attrName>
                                        </p:attrNameLst>
                                      </p:cBhvr>
                                      <p:to>
                                        <p:strVal val="visible"/>
                                      </p:to>
                                    </p:set>
                                    <p:animEffect transition="in" filter="wipe(down)">
                                      <p:cBhvr>
                                        <p:cTn id="93" dur="500"/>
                                        <p:tgtEl>
                                          <p:spTgt spid="51"/>
                                        </p:tgtEl>
                                      </p:cBhvr>
                                    </p:animEffect>
                                  </p:childTnLst>
                                </p:cTn>
                              </p:par>
                            </p:childTnLst>
                          </p:cTn>
                        </p:par>
                      </p:childTnLst>
                    </p:cTn>
                  </p:par>
                  <p:par>
                    <p:cTn id="94" fill="hold">
                      <p:stCondLst>
                        <p:cond delay="indefinite"/>
                      </p:stCondLst>
                      <p:childTnLst>
                        <p:par>
                          <p:cTn id="95" fill="hold">
                            <p:stCondLst>
                              <p:cond delay="0"/>
                            </p:stCondLst>
                            <p:childTnLst>
                              <p:par>
                                <p:cTn id="96" presetID="16" presetClass="entr" presetSubtype="21" fill="hold" grpId="0" nodeType="click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barn(inVertical)">
                                      <p:cBhvr>
                                        <p:cTn id="98" dur="500"/>
                                        <p:tgtEl>
                                          <p:spTgt spid="22"/>
                                        </p:tgtEl>
                                      </p:cBhvr>
                                    </p:animEffect>
                                  </p:childTnLst>
                                </p:cTn>
                              </p:par>
                              <p:par>
                                <p:cTn id="99" presetID="22" presetClass="entr" presetSubtype="4" fill="hold" grpId="0" nodeType="withEffect">
                                  <p:stCondLst>
                                    <p:cond delay="0"/>
                                  </p:stCondLst>
                                  <p:childTnLst>
                                    <p:set>
                                      <p:cBhvr>
                                        <p:cTn id="100" dur="1" fill="hold">
                                          <p:stCondLst>
                                            <p:cond delay="0"/>
                                          </p:stCondLst>
                                        </p:cTn>
                                        <p:tgtEl>
                                          <p:spTgt spid="52"/>
                                        </p:tgtEl>
                                        <p:attrNameLst>
                                          <p:attrName>style.visibility</p:attrName>
                                        </p:attrNameLst>
                                      </p:cBhvr>
                                      <p:to>
                                        <p:strVal val="visible"/>
                                      </p:to>
                                    </p:set>
                                    <p:animEffect transition="in" filter="wipe(down)">
                                      <p:cBhvr>
                                        <p:cTn id="101" dur="500"/>
                                        <p:tgtEl>
                                          <p:spTgt spid="52"/>
                                        </p:tgtEl>
                                      </p:cBhvr>
                                    </p:animEffect>
                                  </p:childTnLst>
                                </p:cTn>
                              </p:par>
                            </p:childTnLst>
                          </p:cTn>
                        </p:par>
                      </p:childTnLst>
                    </p:cTn>
                  </p:par>
                  <p:par>
                    <p:cTn id="102" fill="hold">
                      <p:stCondLst>
                        <p:cond delay="indefinite"/>
                      </p:stCondLst>
                      <p:childTnLst>
                        <p:par>
                          <p:cTn id="103" fill="hold">
                            <p:stCondLst>
                              <p:cond delay="0"/>
                            </p:stCondLst>
                            <p:childTnLst>
                              <p:par>
                                <p:cTn id="104" presetID="9" presetClass="exit" presetSubtype="0" fill="hold" grpId="1" nodeType="clickEffect">
                                  <p:stCondLst>
                                    <p:cond delay="0"/>
                                  </p:stCondLst>
                                  <p:childTnLst>
                                    <p:animEffect transition="out" filter="dissolve">
                                      <p:cBhvr>
                                        <p:cTn id="105" dur="500"/>
                                        <p:tgtEl>
                                          <p:spTgt spid="49"/>
                                        </p:tgtEl>
                                      </p:cBhvr>
                                    </p:animEffect>
                                    <p:set>
                                      <p:cBhvr>
                                        <p:cTn id="106" dur="1" fill="hold">
                                          <p:stCondLst>
                                            <p:cond delay="499"/>
                                          </p:stCondLst>
                                        </p:cTn>
                                        <p:tgtEl>
                                          <p:spTgt spid="49"/>
                                        </p:tgtEl>
                                        <p:attrNameLst>
                                          <p:attrName>style.visibility</p:attrName>
                                        </p:attrNameLst>
                                      </p:cBhvr>
                                      <p:to>
                                        <p:strVal val="hidden"/>
                                      </p:to>
                                    </p:set>
                                  </p:childTnLst>
                                </p:cTn>
                              </p:par>
                              <p:par>
                                <p:cTn id="107" presetID="22" presetClass="entr" presetSubtype="4" fill="hold" grpId="0" nodeType="withEffect">
                                  <p:stCondLst>
                                    <p:cond delay="0"/>
                                  </p:stCondLst>
                                  <p:childTnLst>
                                    <p:set>
                                      <p:cBhvr>
                                        <p:cTn id="108" dur="1" fill="hold">
                                          <p:stCondLst>
                                            <p:cond delay="0"/>
                                          </p:stCondLst>
                                        </p:cTn>
                                        <p:tgtEl>
                                          <p:spTgt spid="53"/>
                                        </p:tgtEl>
                                        <p:attrNameLst>
                                          <p:attrName>style.visibility</p:attrName>
                                        </p:attrNameLst>
                                      </p:cBhvr>
                                      <p:to>
                                        <p:strVal val="visible"/>
                                      </p:to>
                                    </p:set>
                                    <p:animEffect transition="in" filter="wipe(down)">
                                      <p:cBhvr>
                                        <p:cTn id="109" dur="500"/>
                                        <p:tgtEl>
                                          <p:spTgt spid="53"/>
                                        </p:tgtEl>
                                      </p:cBhvr>
                                    </p:animEffect>
                                  </p:childTnLst>
                                </p:cTn>
                              </p:par>
                            </p:childTnLst>
                          </p:cTn>
                        </p:par>
                      </p:childTnLst>
                    </p:cTn>
                  </p:par>
                  <p:par>
                    <p:cTn id="110" fill="hold">
                      <p:stCondLst>
                        <p:cond delay="indefinite"/>
                      </p:stCondLst>
                      <p:childTnLst>
                        <p:par>
                          <p:cTn id="111" fill="hold">
                            <p:stCondLst>
                              <p:cond delay="0"/>
                            </p:stCondLst>
                            <p:childTnLst>
                              <p:par>
                                <p:cTn id="112" presetID="16" presetClass="entr" presetSubtype="21" fill="hold" grpId="0" nodeType="clickEffect">
                                  <p:stCondLst>
                                    <p:cond delay="0"/>
                                  </p:stCondLst>
                                  <p:childTnLst>
                                    <p:set>
                                      <p:cBhvr>
                                        <p:cTn id="113" dur="1" fill="hold">
                                          <p:stCondLst>
                                            <p:cond delay="0"/>
                                          </p:stCondLst>
                                        </p:cTn>
                                        <p:tgtEl>
                                          <p:spTgt spid="23"/>
                                        </p:tgtEl>
                                        <p:attrNameLst>
                                          <p:attrName>style.visibility</p:attrName>
                                        </p:attrNameLst>
                                      </p:cBhvr>
                                      <p:to>
                                        <p:strVal val="visible"/>
                                      </p:to>
                                    </p:set>
                                    <p:animEffect transition="in" filter="barn(inVertical)">
                                      <p:cBhvr>
                                        <p:cTn id="114" dur="500"/>
                                        <p:tgtEl>
                                          <p:spTgt spid="23"/>
                                        </p:tgtEl>
                                      </p:cBhvr>
                                    </p:animEffect>
                                  </p:childTnLst>
                                </p:cTn>
                              </p:par>
                              <p:par>
                                <p:cTn id="115" presetID="22" presetClass="entr" presetSubtype="4" fill="hold" grpId="0" nodeType="withEffect">
                                  <p:stCondLst>
                                    <p:cond delay="0"/>
                                  </p:stCondLst>
                                  <p:childTnLst>
                                    <p:set>
                                      <p:cBhvr>
                                        <p:cTn id="116" dur="1" fill="hold">
                                          <p:stCondLst>
                                            <p:cond delay="0"/>
                                          </p:stCondLst>
                                        </p:cTn>
                                        <p:tgtEl>
                                          <p:spTgt spid="54"/>
                                        </p:tgtEl>
                                        <p:attrNameLst>
                                          <p:attrName>style.visibility</p:attrName>
                                        </p:attrNameLst>
                                      </p:cBhvr>
                                      <p:to>
                                        <p:strVal val="visible"/>
                                      </p:to>
                                    </p:set>
                                    <p:animEffect transition="in" filter="wipe(down)">
                                      <p:cBhvr>
                                        <p:cTn id="117" dur="500"/>
                                        <p:tgtEl>
                                          <p:spTgt spid="54"/>
                                        </p:tgtEl>
                                      </p:cBhvr>
                                    </p:animEffect>
                                  </p:childTnLst>
                                </p:cTn>
                              </p:par>
                            </p:childTnLst>
                          </p:cTn>
                        </p:par>
                      </p:childTnLst>
                    </p:cTn>
                  </p:par>
                  <p:par>
                    <p:cTn id="118" fill="hold">
                      <p:stCondLst>
                        <p:cond delay="indefinite"/>
                      </p:stCondLst>
                      <p:childTnLst>
                        <p:par>
                          <p:cTn id="119" fill="hold">
                            <p:stCondLst>
                              <p:cond delay="0"/>
                            </p:stCondLst>
                            <p:childTnLst>
                              <p:par>
                                <p:cTn id="120" presetID="9" presetClass="exit" presetSubtype="0" fill="hold" grpId="1" nodeType="clickEffect">
                                  <p:stCondLst>
                                    <p:cond delay="0"/>
                                  </p:stCondLst>
                                  <p:childTnLst>
                                    <p:animEffect transition="out" filter="dissolve">
                                      <p:cBhvr>
                                        <p:cTn id="121" dur="500"/>
                                        <p:tgtEl>
                                          <p:spTgt spid="51"/>
                                        </p:tgtEl>
                                      </p:cBhvr>
                                    </p:animEffect>
                                    <p:set>
                                      <p:cBhvr>
                                        <p:cTn id="122" dur="1" fill="hold">
                                          <p:stCondLst>
                                            <p:cond delay="499"/>
                                          </p:stCondLst>
                                        </p:cTn>
                                        <p:tgtEl>
                                          <p:spTgt spid="51"/>
                                        </p:tgtEl>
                                        <p:attrNameLst>
                                          <p:attrName>style.visibility</p:attrName>
                                        </p:attrNameLst>
                                      </p:cBhvr>
                                      <p:to>
                                        <p:strVal val="hidden"/>
                                      </p:to>
                                    </p:set>
                                  </p:childTnLst>
                                </p:cTn>
                              </p:par>
                              <p:par>
                                <p:cTn id="123" presetID="22" presetClass="entr" presetSubtype="4" fill="hold" grpId="0" nodeType="withEffect">
                                  <p:stCondLst>
                                    <p:cond delay="0"/>
                                  </p:stCondLst>
                                  <p:childTnLst>
                                    <p:set>
                                      <p:cBhvr>
                                        <p:cTn id="124" dur="1" fill="hold">
                                          <p:stCondLst>
                                            <p:cond delay="0"/>
                                          </p:stCondLst>
                                        </p:cTn>
                                        <p:tgtEl>
                                          <p:spTgt spid="55"/>
                                        </p:tgtEl>
                                        <p:attrNameLst>
                                          <p:attrName>style.visibility</p:attrName>
                                        </p:attrNameLst>
                                      </p:cBhvr>
                                      <p:to>
                                        <p:strVal val="visible"/>
                                      </p:to>
                                    </p:set>
                                    <p:animEffect transition="in" filter="wipe(down)">
                                      <p:cBhvr>
                                        <p:cTn id="125" dur="500"/>
                                        <p:tgtEl>
                                          <p:spTgt spid="55"/>
                                        </p:tgtEl>
                                      </p:cBhvr>
                                    </p:animEffect>
                                  </p:childTnLst>
                                </p:cTn>
                              </p:par>
                            </p:childTnLst>
                          </p:cTn>
                        </p:par>
                      </p:childTnLst>
                    </p:cTn>
                  </p:par>
                  <p:par>
                    <p:cTn id="126" fill="hold">
                      <p:stCondLst>
                        <p:cond delay="indefinite"/>
                      </p:stCondLst>
                      <p:childTnLst>
                        <p:par>
                          <p:cTn id="127" fill="hold">
                            <p:stCondLst>
                              <p:cond delay="0"/>
                            </p:stCondLst>
                            <p:childTnLst>
                              <p:par>
                                <p:cTn id="128" presetID="9" presetClass="exit" presetSubtype="0" fill="hold" grpId="1" nodeType="clickEffect">
                                  <p:stCondLst>
                                    <p:cond delay="0"/>
                                  </p:stCondLst>
                                  <p:childTnLst>
                                    <p:animEffect transition="out" filter="dissolve">
                                      <p:cBhvr>
                                        <p:cTn id="129" dur="500"/>
                                        <p:tgtEl>
                                          <p:spTgt spid="52"/>
                                        </p:tgtEl>
                                      </p:cBhvr>
                                    </p:animEffect>
                                    <p:set>
                                      <p:cBhvr>
                                        <p:cTn id="130" dur="1" fill="hold">
                                          <p:stCondLst>
                                            <p:cond delay="499"/>
                                          </p:stCondLst>
                                        </p:cTn>
                                        <p:tgtEl>
                                          <p:spTgt spid="52"/>
                                        </p:tgtEl>
                                        <p:attrNameLst>
                                          <p:attrName>style.visibility</p:attrName>
                                        </p:attrNameLst>
                                      </p:cBhvr>
                                      <p:to>
                                        <p:strVal val="hidden"/>
                                      </p:to>
                                    </p:set>
                                  </p:childTnLst>
                                </p:cTn>
                              </p:par>
                              <p:par>
                                <p:cTn id="131" presetID="22" presetClass="entr" presetSubtype="4" fill="hold" grpId="0" nodeType="withEffect">
                                  <p:stCondLst>
                                    <p:cond delay="0"/>
                                  </p:stCondLst>
                                  <p:childTnLst>
                                    <p:set>
                                      <p:cBhvr>
                                        <p:cTn id="132" dur="1" fill="hold">
                                          <p:stCondLst>
                                            <p:cond delay="0"/>
                                          </p:stCondLst>
                                        </p:cTn>
                                        <p:tgtEl>
                                          <p:spTgt spid="56"/>
                                        </p:tgtEl>
                                        <p:attrNameLst>
                                          <p:attrName>style.visibility</p:attrName>
                                        </p:attrNameLst>
                                      </p:cBhvr>
                                      <p:to>
                                        <p:strVal val="visible"/>
                                      </p:to>
                                    </p:set>
                                    <p:animEffect transition="in" filter="wipe(down)">
                                      <p:cBhvr>
                                        <p:cTn id="133" dur="500"/>
                                        <p:tgtEl>
                                          <p:spTgt spid="56"/>
                                        </p:tgtEl>
                                      </p:cBhvr>
                                    </p:animEffect>
                                  </p:childTnLst>
                                </p:cTn>
                              </p:par>
                            </p:childTnLst>
                          </p:cTn>
                        </p:par>
                      </p:childTnLst>
                    </p:cTn>
                  </p:par>
                  <p:par>
                    <p:cTn id="134" fill="hold">
                      <p:stCondLst>
                        <p:cond delay="indefinite"/>
                      </p:stCondLst>
                      <p:childTnLst>
                        <p:par>
                          <p:cTn id="135" fill="hold">
                            <p:stCondLst>
                              <p:cond delay="0"/>
                            </p:stCondLst>
                            <p:childTnLst>
                              <p:par>
                                <p:cTn id="136" presetID="9" presetClass="exit" presetSubtype="0" fill="hold" grpId="1" nodeType="clickEffect">
                                  <p:stCondLst>
                                    <p:cond delay="0"/>
                                  </p:stCondLst>
                                  <p:childTnLst>
                                    <p:animEffect transition="out" filter="dissolve">
                                      <p:cBhvr>
                                        <p:cTn id="137" dur="500"/>
                                        <p:tgtEl>
                                          <p:spTgt spid="54"/>
                                        </p:tgtEl>
                                      </p:cBhvr>
                                    </p:animEffect>
                                    <p:set>
                                      <p:cBhvr>
                                        <p:cTn id="138" dur="1" fill="hold">
                                          <p:stCondLst>
                                            <p:cond delay="499"/>
                                          </p:stCondLst>
                                        </p:cTn>
                                        <p:tgtEl>
                                          <p:spTgt spid="54"/>
                                        </p:tgtEl>
                                        <p:attrNameLst>
                                          <p:attrName>style.visibility</p:attrName>
                                        </p:attrNameLst>
                                      </p:cBhvr>
                                      <p:to>
                                        <p:strVal val="hidden"/>
                                      </p:to>
                                    </p:set>
                                  </p:childTnLst>
                                </p:cTn>
                              </p:par>
                              <p:par>
                                <p:cTn id="139" presetID="22" presetClass="entr" presetSubtype="4" fill="hold" grpId="0" nodeType="withEffect">
                                  <p:stCondLst>
                                    <p:cond delay="0"/>
                                  </p:stCondLst>
                                  <p:childTnLst>
                                    <p:set>
                                      <p:cBhvr>
                                        <p:cTn id="140" dur="1" fill="hold">
                                          <p:stCondLst>
                                            <p:cond delay="0"/>
                                          </p:stCondLst>
                                        </p:cTn>
                                        <p:tgtEl>
                                          <p:spTgt spid="57"/>
                                        </p:tgtEl>
                                        <p:attrNameLst>
                                          <p:attrName>style.visibility</p:attrName>
                                        </p:attrNameLst>
                                      </p:cBhvr>
                                      <p:to>
                                        <p:strVal val="visible"/>
                                      </p:to>
                                    </p:set>
                                    <p:animEffect transition="in" filter="wipe(down)">
                                      <p:cBhvr>
                                        <p:cTn id="141" dur="500"/>
                                        <p:tgtEl>
                                          <p:spTgt spid="57"/>
                                        </p:tgtEl>
                                      </p:cBhvr>
                                    </p:animEffect>
                                  </p:childTnLst>
                                </p:cTn>
                              </p:par>
                            </p:childTnLst>
                          </p:cTn>
                        </p:par>
                      </p:childTnLst>
                    </p:cTn>
                  </p:par>
                  <p:par>
                    <p:cTn id="142" fill="hold">
                      <p:stCondLst>
                        <p:cond delay="indefinite"/>
                      </p:stCondLst>
                      <p:childTnLst>
                        <p:par>
                          <p:cTn id="143" fill="hold">
                            <p:stCondLst>
                              <p:cond delay="0"/>
                            </p:stCondLst>
                            <p:childTnLst>
                              <p:par>
                                <p:cTn id="144" presetID="42" presetClass="entr" presetSubtype="0" fill="hold" grpId="0" nodeType="clickEffect">
                                  <p:stCondLst>
                                    <p:cond delay="0"/>
                                  </p:stCondLst>
                                  <p:childTnLst>
                                    <p:set>
                                      <p:cBhvr>
                                        <p:cTn id="145" dur="1" fill="hold">
                                          <p:stCondLst>
                                            <p:cond delay="0"/>
                                          </p:stCondLst>
                                        </p:cTn>
                                        <p:tgtEl>
                                          <p:spTgt spid="26"/>
                                        </p:tgtEl>
                                        <p:attrNameLst>
                                          <p:attrName>style.visibility</p:attrName>
                                        </p:attrNameLst>
                                      </p:cBhvr>
                                      <p:to>
                                        <p:strVal val="visible"/>
                                      </p:to>
                                    </p:set>
                                    <p:animEffect transition="in" filter="fade">
                                      <p:cBhvr>
                                        <p:cTn id="146" dur="1000"/>
                                        <p:tgtEl>
                                          <p:spTgt spid="26"/>
                                        </p:tgtEl>
                                      </p:cBhvr>
                                    </p:animEffect>
                                    <p:anim calcmode="lin" valueType="num">
                                      <p:cBhvr>
                                        <p:cTn id="147" dur="1000" fill="hold"/>
                                        <p:tgtEl>
                                          <p:spTgt spid="26"/>
                                        </p:tgtEl>
                                        <p:attrNameLst>
                                          <p:attrName>ppt_x</p:attrName>
                                        </p:attrNameLst>
                                      </p:cBhvr>
                                      <p:tavLst>
                                        <p:tav tm="0">
                                          <p:val>
                                            <p:strVal val="#ppt_x"/>
                                          </p:val>
                                        </p:tav>
                                        <p:tav tm="100000">
                                          <p:val>
                                            <p:strVal val="#ppt_x"/>
                                          </p:val>
                                        </p:tav>
                                      </p:tavLst>
                                    </p:anim>
                                    <p:anim calcmode="lin" valueType="num">
                                      <p:cBhvr>
                                        <p:cTn id="14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42" presetClass="entr" presetSubtype="0" fill="hold" nodeType="clickEffect">
                                  <p:stCondLst>
                                    <p:cond delay="0"/>
                                  </p:stCondLst>
                                  <p:childTnLst>
                                    <p:set>
                                      <p:cBhvr>
                                        <p:cTn id="152" dur="1" fill="hold">
                                          <p:stCondLst>
                                            <p:cond delay="0"/>
                                          </p:stCondLst>
                                        </p:cTn>
                                        <p:tgtEl>
                                          <p:spTgt spid="69"/>
                                        </p:tgtEl>
                                        <p:attrNameLst>
                                          <p:attrName>style.visibility</p:attrName>
                                        </p:attrNameLst>
                                      </p:cBhvr>
                                      <p:to>
                                        <p:strVal val="visible"/>
                                      </p:to>
                                    </p:set>
                                    <p:animEffect transition="in" filter="fade">
                                      <p:cBhvr>
                                        <p:cTn id="153" dur="1000"/>
                                        <p:tgtEl>
                                          <p:spTgt spid="69"/>
                                        </p:tgtEl>
                                      </p:cBhvr>
                                    </p:animEffect>
                                    <p:anim calcmode="lin" valueType="num">
                                      <p:cBhvr>
                                        <p:cTn id="154" dur="1000" fill="hold"/>
                                        <p:tgtEl>
                                          <p:spTgt spid="69"/>
                                        </p:tgtEl>
                                        <p:attrNameLst>
                                          <p:attrName>ppt_x</p:attrName>
                                        </p:attrNameLst>
                                      </p:cBhvr>
                                      <p:tavLst>
                                        <p:tav tm="0">
                                          <p:val>
                                            <p:strVal val="#ppt_x"/>
                                          </p:val>
                                        </p:tav>
                                        <p:tav tm="100000">
                                          <p:val>
                                            <p:strVal val="#ppt_x"/>
                                          </p:val>
                                        </p:tav>
                                      </p:tavLst>
                                    </p:anim>
                                    <p:anim calcmode="lin" valueType="num">
                                      <p:cBhvr>
                                        <p:cTn id="155"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presetID="22" presetClass="entr" presetSubtype="4" fill="hold" grpId="0" nodeType="clickEffect">
                                  <p:stCondLst>
                                    <p:cond delay="0"/>
                                  </p:stCondLst>
                                  <p:childTnLst>
                                    <p:set>
                                      <p:cBhvr>
                                        <p:cTn id="159" dur="1" fill="hold">
                                          <p:stCondLst>
                                            <p:cond delay="0"/>
                                          </p:stCondLst>
                                        </p:cTn>
                                        <p:tgtEl>
                                          <p:spTgt spid="27"/>
                                        </p:tgtEl>
                                        <p:attrNameLst>
                                          <p:attrName>style.visibility</p:attrName>
                                        </p:attrNameLst>
                                      </p:cBhvr>
                                      <p:to>
                                        <p:strVal val="visible"/>
                                      </p:to>
                                    </p:set>
                                    <p:animEffect transition="in" filter="wipe(down)">
                                      <p:cBhvr>
                                        <p:cTn id="160" dur="500"/>
                                        <p:tgtEl>
                                          <p:spTgt spid="27"/>
                                        </p:tgtEl>
                                      </p:cBhvr>
                                    </p:animEffect>
                                  </p:childTnLst>
                                </p:cTn>
                              </p:par>
                              <p:par>
                                <p:cTn id="161" presetID="22" presetClass="entr" presetSubtype="4" fill="hold" grpId="0" nodeType="withEffect">
                                  <p:stCondLst>
                                    <p:cond delay="0"/>
                                  </p:stCondLst>
                                  <p:childTnLst>
                                    <p:set>
                                      <p:cBhvr>
                                        <p:cTn id="162" dur="1" fill="hold">
                                          <p:stCondLst>
                                            <p:cond delay="0"/>
                                          </p:stCondLst>
                                        </p:cTn>
                                        <p:tgtEl>
                                          <p:spTgt spid="64"/>
                                        </p:tgtEl>
                                        <p:attrNameLst>
                                          <p:attrName>style.visibility</p:attrName>
                                        </p:attrNameLst>
                                      </p:cBhvr>
                                      <p:to>
                                        <p:strVal val="visible"/>
                                      </p:to>
                                    </p:set>
                                    <p:animEffect transition="in" filter="wipe(down)">
                                      <p:cBhvr>
                                        <p:cTn id="163" dur="500"/>
                                        <p:tgtEl>
                                          <p:spTgt spid="64"/>
                                        </p:tgtEl>
                                      </p:cBhvr>
                                    </p:animEffect>
                                  </p:childTnLst>
                                </p:cTn>
                              </p:par>
                            </p:childTnLst>
                          </p:cTn>
                        </p:par>
                      </p:childTnLst>
                    </p:cTn>
                  </p:par>
                  <p:par>
                    <p:cTn id="164" fill="hold">
                      <p:stCondLst>
                        <p:cond delay="indefinite"/>
                      </p:stCondLst>
                      <p:childTnLst>
                        <p:par>
                          <p:cTn id="165" fill="hold">
                            <p:stCondLst>
                              <p:cond delay="0"/>
                            </p:stCondLst>
                            <p:childTnLst>
                              <p:par>
                                <p:cTn id="166" presetID="22" presetClass="entr" presetSubtype="4" fill="hold" grpId="0" nodeType="clickEffect">
                                  <p:stCondLst>
                                    <p:cond delay="0"/>
                                  </p:stCondLst>
                                  <p:childTnLst>
                                    <p:set>
                                      <p:cBhvr>
                                        <p:cTn id="167" dur="1" fill="hold">
                                          <p:stCondLst>
                                            <p:cond delay="0"/>
                                          </p:stCondLst>
                                        </p:cTn>
                                        <p:tgtEl>
                                          <p:spTgt spid="28"/>
                                        </p:tgtEl>
                                        <p:attrNameLst>
                                          <p:attrName>style.visibility</p:attrName>
                                        </p:attrNameLst>
                                      </p:cBhvr>
                                      <p:to>
                                        <p:strVal val="visible"/>
                                      </p:to>
                                    </p:set>
                                    <p:animEffect transition="in" filter="wipe(down)">
                                      <p:cBhvr>
                                        <p:cTn id="168" dur="500"/>
                                        <p:tgtEl>
                                          <p:spTgt spid="28"/>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4" fill="hold" grpId="0" nodeType="clickEffect">
                                  <p:stCondLst>
                                    <p:cond delay="0"/>
                                  </p:stCondLst>
                                  <p:childTnLst>
                                    <p:set>
                                      <p:cBhvr>
                                        <p:cTn id="172" dur="1" fill="hold">
                                          <p:stCondLst>
                                            <p:cond delay="0"/>
                                          </p:stCondLst>
                                        </p:cTn>
                                        <p:tgtEl>
                                          <p:spTgt spid="63"/>
                                        </p:tgtEl>
                                        <p:attrNameLst>
                                          <p:attrName>style.visibility</p:attrName>
                                        </p:attrNameLst>
                                      </p:cBhvr>
                                      <p:to>
                                        <p:strVal val="visible"/>
                                      </p:to>
                                    </p:set>
                                    <p:animEffect transition="in" filter="wipe(down)">
                                      <p:cBhvr>
                                        <p:cTn id="173" dur="500"/>
                                        <p:tgtEl>
                                          <p:spTgt spid="63"/>
                                        </p:tgtEl>
                                      </p:cBhvr>
                                    </p:animEffect>
                                  </p:childTnLst>
                                </p:cTn>
                              </p:par>
                            </p:childTnLst>
                          </p:cTn>
                        </p:par>
                      </p:childTnLst>
                    </p:cTn>
                  </p:par>
                  <p:par>
                    <p:cTn id="174" fill="hold">
                      <p:stCondLst>
                        <p:cond delay="indefinite"/>
                      </p:stCondLst>
                      <p:childTnLst>
                        <p:par>
                          <p:cTn id="175" fill="hold">
                            <p:stCondLst>
                              <p:cond delay="0"/>
                            </p:stCondLst>
                            <p:childTnLst>
                              <p:par>
                                <p:cTn id="176" presetID="16" presetClass="entr" presetSubtype="21" fill="hold" nodeType="clickEffect">
                                  <p:stCondLst>
                                    <p:cond delay="0"/>
                                  </p:stCondLst>
                                  <p:childTnLst>
                                    <p:set>
                                      <p:cBhvr>
                                        <p:cTn id="177" dur="1" fill="hold">
                                          <p:stCondLst>
                                            <p:cond delay="0"/>
                                          </p:stCondLst>
                                        </p:cTn>
                                        <p:tgtEl>
                                          <p:spTgt spid="14"/>
                                        </p:tgtEl>
                                        <p:attrNameLst>
                                          <p:attrName>style.visibility</p:attrName>
                                        </p:attrNameLst>
                                      </p:cBhvr>
                                      <p:to>
                                        <p:strVal val="visible"/>
                                      </p:to>
                                    </p:set>
                                    <p:animEffect transition="in" filter="barn(inVertical)">
                                      <p:cBhvr>
                                        <p:cTn id="178" dur="500"/>
                                        <p:tgtEl>
                                          <p:spTgt spid="14"/>
                                        </p:tgtEl>
                                      </p:cBhvr>
                                    </p:animEffect>
                                  </p:childTnLst>
                                </p:cTn>
                              </p:par>
                              <p:par>
                                <p:cTn id="179" presetID="16" presetClass="entr" presetSubtype="21" fill="hold" grpId="0" nodeType="withEffect">
                                  <p:stCondLst>
                                    <p:cond delay="0"/>
                                  </p:stCondLst>
                                  <p:childTnLst>
                                    <p:set>
                                      <p:cBhvr>
                                        <p:cTn id="180" dur="1" fill="hold">
                                          <p:stCondLst>
                                            <p:cond delay="0"/>
                                          </p:stCondLst>
                                        </p:cTn>
                                        <p:tgtEl>
                                          <p:spTgt spid="24"/>
                                        </p:tgtEl>
                                        <p:attrNameLst>
                                          <p:attrName>style.visibility</p:attrName>
                                        </p:attrNameLst>
                                      </p:cBhvr>
                                      <p:to>
                                        <p:strVal val="visible"/>
                                      </p:to>
                                    </p:set>
                                    <p:animEffect transition="in" filter="barn(inVertical)">
                                      <p:cBhvr>
                                        <p:cTn id="181" dur="500"/>
                                        <p:tgtEl>
                                          <p:spTgt spid="24"/>
                                        </p:tgtEl>
                                      </p:cBhvr>
                                    </p:animEffect>
                                  </p:childTnLst>
                                </p:cTn>
                              </p:par>
                              <p:par>
                                <p:cTn id="182" presetID="9" presetClass="exit" presetSubtype="0" fill="hold" grpId="1" nodeType="withEffect">
                                  <p:stCondLst>
                                    <p:cond delay="0"/>
                                  </p:stCondLst>
                                  <p:childTnLst>
                                    <p:animEffect transition="out" filter="dissolve">
                                      <p:cBhvr>
                                        <p:cTn id="183" dur="500"/>
                                        <p:tgtEl>
                                          <p:spTgt spid="50"/>
                                        </p:tgtEl>
                                      </p:cBhvr>
                                    </p:animEffect>
                                    <p:set>
                                      <p:cBhvr>
                                        <p:cTn id="184" dur="1" fill="hold">
                                          <p:stCondLst>
                                            <p:cond delay="499"/>
                                          </p:stCondLst>
                                        </p:cTn>
                                        <p:tgtEl>
                                          <p:spTgt spid="50"/>
                                        </p:tgtEl>
                                        <p:attrNameLst>
                                          <p:attrName>style.visibility</p:attrName>
                                        </p:attrNameLst>
                                      </p:cBhvr>
                                      <p:to>
                                        <p:strVal val="hidden"/>
                                      </p:to>
                                    </p:set>
                                  </p:childTnLst>
                                </p:cTn>
                              </p:par>
                              <p:par>
                                <p:cTn id="185" presetID="9" presetClass="exit" presetSubtype="0" fill="hold" grpId="1" nodeType="withEffect">
                                  <p:stCondLst>
                                    <p:cond delay="0"/>
                                  </p:stCondLst>
                                  <p:childTnLst>
                                    <p:animEffect transition="out" filter="dissolve">
                                      <p:cBhvr>
                                        <p:cTn id="186" dur="500"/>
                                        <p:tgtEl>
                                          <p:spTgt spid="53"/>
                                        </p:tgtEl>
                                      </p:cBhvr>
                                    </p:animEffect>
                                    <p:set>
                                      <p:cBhvr>
                                        <p:cTn id="187" dur="1" fill="hold">
                                          <p:stCondLst>
                                            <p:cond delay="499"/>
                                          </p:stCondLst>
                                        </p:cTn>
                                        <p:tgtEl>
                                          <p:spTgt spid="53"/>
                                        </p:tgtEl>
                                        <p:attrNameLst>
                                          <p:attrName>style.visibility</p:attrName>
                                        </p:attrNameLst>
                                      </p:cBhvr>
                                      <p:to>
                                        <p:strVal val="hidden"/>
                                      </p:to>
                                    </p:set>
                                  </p:childTnLst>
                                </p:cTn>
                              </p:par>
                              <p:par>
                                <p:cTn id="188" presetID="9" presetClass="exit" presetSubtype="0" fill="hold" grpId="1" nodeType="withEffect">
                                  <p:stCondLst>
                                    <p:cond delay="0"/>
                                  </p:stCondLst>
                                  <p:childTnLst>
                                    <p:animEffect transition="out" filter="dissolve">
                                      <p:cBhvr>
                                        <p:cTn id="189" dur="500"/>
                                        <p:tgtEl>
                                          <p:spTgt spid="55"/>
                                        </p:tgtEl>
                                      </p:cBhvr>
                                    </p:animEffect>
                                    <p:set>
                                      <p:cBhvr>
                                        <p:cTn id="190" dur="1" fill="hold">
                                          <p:stCondLst>
                                            <p:cond delay="499"/>
                                          </p:stCondLst>
                                        </p:cTn>
                                        <p:tgtEl>
                                          <p:spTgt spid="55"/>
                                        </p:tgtEl>
                                        <p:attrNameLst>
                                          <p:attrName>style.visibility</p:attrName>
                                        </p:attrNameLst>
                                      </p:cBhvr>
                                      <p:to>
                                        <p:strVal val="hidden"/>
                                      </p:to>
                                    </p:set>
                                  </p:childTnLst>
                                </p:cTn>
                              </p:par>
                              <p:par>
                                <p:cTn id="191" presetID="9" presetClass="exit" presetSubtype="0" fill="hold" grpId="1" nodeType="withEffect">
                                  <p:stCondLst>
                                    <p:cond delay="0"/>
                                  </p:stCondLst>
                                  <p:childTnLst>
                                    <p:animEffect transition="out" filter="dissolve">
                                      <p:cBhvr>
                                        <p:cTn id="192" dur="500"/>
                                        <p:tgtEl>
                                          <p:spTgt spid="56"/>
                                        </p:tgtEl>
                                      </p:cBhvr>
                                    </p:animEffect>
                                    <p:set>
                                      <p:cBhvr>
                                        <p:cTn id="193" dur="1" fill="hold">
                                          <p:stCondLst>
                                            <p:cond delay="499"/>
                                          </p:stCondLst>
                                        </p:cTn>
                                        <p:tgtEl>
                                          <p:spTgt spid="56"/>
                                        </p:tgtEl>
                                        <p:attrNameLst>
                                          <p:attrName>style.visibility</p:attrName>
                                        </p:attrNameLst>
                                      </p:cBhvr>
                                      <p:to>
                                        <p:strVal val="hidden"/>
                                      </p:to>
                                    </p:set>
                                  </p:childTnLst>
                                </p:cTn>
                              </p:par>
                              <p:par>
                                <p:cTn id="194" presetID="9" presetClass="exit" presetSubtype="0" fill="hold" grpId="1" nodeType="withEffect">
                                  <p:stCondLst>
                                    <p:cond delay="0"/>
                                  </p:stCondLst>
                                  <p:childTnLst>
                                    <p:animEffect transition="out" filter="dissolve">
                                      <p:cBhvr>
                                        <p:cTn id="195" dur="500"/>
                                        <p:tgtEl>
                                          <p:spTgt spid="57"/>
                                        </p:tgtEl>
                                      </p:cBhvr>
                                    </p:animEffect>
                                    <p:set>
                                      <p:cBhvr>
                                        <p:cTn id="196" dur="1" fill="hold">
                                          <p:stCondLst>
                                            <p:cond delay="499"/>
                                          </p:stCondLst>
                                        </p:cTn>
                                        <p:tgtEl>
                                          <p:spTgt spid="5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P spid="20" grpId="0"/>
      <p:bldP spid="21" grpId="0"/>
      <p:bldP spid="22" grpId="0"/>
      <p:bldP spid="23" grpId="0"/>
      <p:bldP spid="26" grpId="0"/>
      <p:bldP spid="27" grpId="0" animBg="1"/>
      <p:bldP spid="28" grpId="0" animBg="1"/>
      <p:bldP spid="24" grpId="0"/>
      <p:bldP spid="42" grpId="0" animBg="1"/>
      <p:bldP spid="44" grpId="0"/>
      <p:bldP spid="45" grpId="0" animBg="1"/>
      <p:bldP spid="46" grpId="0"/>
      <p:bldP spid="47" grpId="0" animBg="1"/>
      <p:bldP spid="48" grpId="0"/>
      <p:bldP spid="48" grpId="1"/>
      <p:bldP spid="49" grpId="0"/>
      <p:bldP spid="49" grpId="1"/>
      <p:bldP spid="50" grpId="0"/>
      <p:bldP spid="50" grpId="1"/>
      <p:bldP spid="51" grpId="0"/>
      <p:bldP spid="51" grpId="1"/>
      <p:bldP spid="52" grpId="0"/>
      <p:bldP spid="52" grpId="1"/>
      <p:bldP spid="53" grpId="0"/>
      <p:bldP spid="53" grpId="1"/>
      <p:bldP spid="54" grpId="0"/>
      <p:bldP spid="54" grpId="1"/>
      <p:bldP spid="55" grpId="0"/>
      <p:bldP spid="55" grpId="1"/>
      <p:bldP spid="56" grpId="0"/>
      <p:bldP spid="56" grpId="1"/>
      <p:bldP spid="57" grpId="0"/>
      <p:bldP spid="57" grpId="1"/>
      <p:bldP spid="61" grpId="0" animBg="1"/>
      <p:bldP spid="62" grpId="0"/>
      <p:bldP spid="63" grpId="0"/>
      <p:bldP spid="6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236"/>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Mark-and-Sweep Garbage Collector</a:t>
            </a:r>
          </a:p>
        </p:txBody>
      </p:sp>
      <p:sp>
        <p:nvSpPr>
          <p:cNvPr id="6" name="Content Placeholder 2"/>
          <p:cNvSpPr>
            <a:spLocks noGrp="1"/>
          </p:cNvSpPr>
          <p:nvPr>
            <p:ph idx="1"/>
          </p:nvPr>
        </p:nvSpPr>
        <p:spPr>
          <a:xfrm>
            <a:off x="179295" y="810465"/>
            <a:ext cx="4244787" cy="5911009"/>
          </a:xfrm>
          <a:ln>
            <a:solidFill>
              <a:srgbClr val="7030A0"/>
            </a:solidFill>
            <a:prstDash val="dash"/>
          </a:ln>
        </p:spPr>
        <p:txBody>
          <a:bodyPr vert="horz" lIns="91440" tIns="45720" rIns="91440" bIns="45720" rtlCol="0">
            <a:noAutofit/>
          </a:bodyPr>
          <a:lstStyle/>
          <a:p>
            <a:pPr>
              <a:lnSpc>
                <a:spcPct val="100000"/>
              </a:lnSpc>
              <a:spcBef>
                <a:spcPts val="0"/>
              </a:spcBef>
              <a:spcAft>
                <a:spcPts val="600"/>
              </a:spcAft>
            </a:pPr>
            <a:r>
              <a:rPr lang="en-US" sz="2000" dirty="0">
                <a:solidFill>
                  <a:schemeClr val="accent5">
                    <a:lumMod val="75000"/>
                  </a:schemeClr>
                </a:solidFill>
              </a:rPr>
              <a:t>Algorithm</a:t>
            </a:r>
            <a:r>
              <a:rPr lang="en-US" sz="2000" dirty="0"/>
              <a:t>: Mark-and-sweep garbage collection</a:t>
            </a:r>
          </a:p>
          <a:p>
            <a:pPr>
              <a:lnSpc>
                <a:spcPct val="100000"/>
              </a:lnSpc>
              <a:spcBef>
                <a:spcPts val="0"/>
              </a:spcBef>
              <a:spcAft>
                <a:spcPts val="600"/>
              </a:spcAft>
            </a:pPr>
            <a:r>
              <a:rPr lang="en-US" sz="2000" dirty="0">
                <a:solidFill>
                  <a:schemeClr val="accent6">
                    <a:lumMod val="75000"/>
                  </a:schemeClr>
                </a:solidFill>
              </a:rPr>
              <a:t>Input: </a:t>
            </a:r>
          </a:p>
          <a:p>
            <a:pPr lvl="1">
              <a:lnSpc>
                <a:spcPct val="100000"/>
              </a:lnSpc>
              <a:spcBef>
                <a:spcPts val="0"/>
              </a:spcBef>
            </a:pPr>
            <a:r>
              <a:rPr lang="en-US" sz="2000" dirty="0"/>
              <a:t>A root set of objects,</a:t>
            </a:r>
          </a:p>
          <a:p>
            <a:pPr lvl="1">
              <a:lnSpc>
                <a:spcPct val="100000"/>
              </a:lnSpc>
              <a:spcBef>
                <a:spcPts val="0"/>
              </a:spcBef>
            </a:pPr>
            <a:r>
              <a:rPr lang="en-US" sz="2000" dirty="0"/>
              <a:t>a heap,</a:t>
            </a:r>
          </a:p>
          <a:p>
            <a:pPr lvl="1">
              <a:lnSpc>
                <a:spcPct val="100000"/>
              </a:lnSpc>
              <a:spcBef>
                <a:spcPts val="0"/>
              </a:spcBef>
              <a:spcAft>
                <a:spcPts val="600"/>
              </a:spcAft>
            </a:pPr>
            <a:r>
              <a:rPr lang="en-US" sz="2000" dirty="0"/>
              <a:t>a list of unallocated chunks of heap, </a:t>
            </a:r>
            <a:r>
              <a:rPr lang="en-US" sz="2000" i="1" dirty="0">
                <a:solidFill>
                  <a:srgbClr val="00B0F0"/>
                </a:solidFill>
              </a:rPr>
              <a:t>free</a:t>
            </a:r>
          </a:p>
          <a:p>
            <a:pPr lvl="1">
              <a:lnSpc>
                <a:spcPct val="100000"/>
              </a:lnSpc>
              <a:spcBef>
                <a:spcPts val="0"/>
              </a:spcBef>
              <a:spcAft>
                <a:spcPts val="600"/>
              </a:spcAft>
            </a:pPr>
            <a:r>
              <a:rPr lang="en-US" sz="2000" dirty="0"/>
              <a:t>all chunks are marked with boundary tags</a:t>
            </a:r>
            <a:endParaRPr lang="en-US" sz="2000" dirty="0">
              <a:solidFill>
                <a:schemeClr val="accent4">
                  <a:lumMod val="75000"/>
                </a:schemeClr>
              </a:solidFill>
            </a:endParaRPr>
          </a:p>
          <a:p>
            <a:pPr>
              <a:lnSpc>
                <a:spcPct val="100000"/>
              </a:lnSpc>
              <a:spcBef>
                <a:spcPts val="0"/>
              </a:spcBef>
              <a:spcAft>
                <a:spcPts val="600"/>
              </a:spcAft>
            </a:pPr>
            <a:r>
              <a:rPr lang="en-US" sz="2000" dirty="0">
                <a:solidFill>
                  <a:srgbClr val="7030A0"/>
                </a:solidFill>
              </a:rPr>
              <a:t>Output:</a:t>
            </a:r>
            <a:endParaRPr lang="en-US" sz="2400" dirty="0">
              <a:solidFill>
                <a:srgbClr val="7030A0"/>
              </a:solidFill>
            </a:endParaRPr>
          </a:p>
          <a:p>
            <a:pPr lvl="1">
              <a:lnSpc>
                <a:spcPct val="100000"/>
              </a:lnSpc>
              <a:spcBef>
                <a:spcPts val="0"/>
              </a:spcBef>
              <a:spcAft>
                <a:spcPts val="600"/>
              </a:spcAft>
            </a:pPr>
            <a:r>
              <a:rPr lang="en-US" sz="2000" dirty="0"/>
              <a:t>A modified </a:t>
            </a:r>
            <a:r>
              <a:rPr lang="en-US" sz="2000" i="1" dirty="0">
                <a:solidFill>
                  <a:srgbClr val="00B0F0"/>
                </a:solidFill>
              </a:rPr>
              <a:t>free </a:t>
            </a:r>
            <a:r>
              <a:rPr lang="en-US" sz="2000" dirty="0"/>
              <a:t>list after all the garbage has been removed</a:t>
            </a:r>
            <a:endParaRPr lang="en-US" sz="2000" i="1" dirty="0"/>
          </a:p>
          <a:p>
            <a:pPr>
              <a:lnSpc>
                <a:spcPct val="100000"/>
              </a:lnSpc>
              <a:spcBef>
                <a:spcPts val="0"/>
              </a:spcBef>
              <a:spcAft>
                <a:spcPts val="600"/>
              </a:spcAft>
            </a:pPr>
            <a:r>
              <a:rPr lang="en-US" sz="2000" dirty="0">
                <a:solidFill>
                  <a:schemeClr val="accent2">
                    <a:lumMod val="75000"/>
                  </a:schemeClr>
                </a:solidFill>
              </a:rPr>
              <a:t>Data Structures:</a:t>
            </a:r>
          </a:p>
          <a:p>
            <a:pPr lvl="1">
              <a:lnSpc>
                <a:spcPct val="100000"/>
              </a:lnSpc>
              <a:spcBef>
                <a:spcPts val="0"/>
              </a:spcBef>
            </a:pPr>
            <a:r>
              <a:rPr lang="en-US" sz="2000" dirty="0"/>
              <a:t>List </a:t>
            </a:r>
            <a:r>
              <a:rPr lang="en-US" sz="2000" i="1" dirty="0">
                <a:solidFill>
                  <a:srgbClr val="00B0F0"/>
                </a:solidFill>
              </a:rPr>
              <a:t>free, </a:t>
            </a:r>
          </a:p>
          <a:p>
            <a:pPr lvl="1">
              <a:lnSpc>
                <a:spcPct val="100000"/>
              </a:lnSpc>
              <a:spcBef>
                <a:spcPts val="0"/>
              </a:spcBef>
            </a:pPr>
            <a:r>
              <a:rPr lang="en-US" sz="2000" dirty="0"/>
              <a:t>List</a:t>
            </a:r>
            <a:r>
              <a:rPr lang="en-US" sz="2000" i="1" dirty="0">
                <a:solidFill>
                  <a:srgbClr val="00B0F0"/>
                </a:solidFill>
              </a:rPr>
              <a:t> </a:t>
            </a:r>
            <a:r>
              <a:rPr lang="en-US" sz="2000" i="1" dirty="0">
                <a:solidFill>
                  <a:srgbClr val="7030A0"/>
                </a:solidFill>
              </a:rPr>
              <a:t>unscanned</a:t>
            </a:r>
            <a:endParaRPr lang="en-US" sz="2000" i="1" dirty="0">
              <a:solidFill>
                <a:srgbClr val="00B050"/>
              </a:solidFill>
            </a:endParaRPr>
          </a:p>
          <a:p>
            <a:pPr lvl="1">
              <a:lnSpc>
                <a:spcPct val="100000"/>
              </a:lnSpc>
              <a:spcBef>
                <a:spcPts val="0"/>
              </a:spcBef>
            </a:pPr>
            <a:r>
              <a:rPr lang="en-US" sz="2000" dirty="0"/>
              <a:t>Reached bits in all objects</a:t>
            </a:r>
            <a:endParaRPr lang="en-US" sz="2000" dirty="0">
              <a:solidFill>
                <a:srgbClr val="00B050"/>
              </a:solidFill>
            </a:endParaRPr>
          </a:p>
        </p:txBody>
      </p:sp>
      <p:sp>
        <p:nvSpPr>
          <p:cNvPr id="7" name="Slide Number Placeholder 6"/>
          <p:cNvSpPr>
            <a:spLocks noGrp="1"/>
          </p:cNvSpPr>
          <p:nvPr>
            <p:ph type="sldNum" sz="quarter" idx="12"/>
          </p:nvPr>
        </p:nvSpPr>
        <p:spPr/>
        <p:txBody>
          <a:bodyPr/>
          <a:lstStyle/>
          <a:p>
            <a:fld id="{EE645454-5A07-423E-8617-7239B6B66F68}" type="slidenum">
              <a:rPr lang="en-US" smtClean="0"/>
              <a:t>73</a:t>
            </a:fld>
            <a:endParaRPr lang="en-US"/>
          </a:p>
        </p:txBody>
      </p:sp>
      <p:pic>
        <p:nvPicPr>
          <p:cNvPr id="8" name="Picture 7"/>
          <p:cNvPicPr>
            <a:picLocks noChangeAspect="1"/>
          </p:cNvPicPr>
          <p:nvPr/>
        </p:nvPicPr>
        <p:blipFill rotWithShape="1">
          <a:blip r:embed="rId2"/>
          <a:srcRect r="1375"/>
          <a:stretch/>
        </p:blipFill>
        <p:spPr>
          <a:xfrm>
            <a:off x="4576483" y="851599"/>
            <a:ext cx="7552764" cy="5667375"/>
          </a:xfrm>
          <a:prstGeom prst="rect">
            <a:avLst/>
          </a:prstGeom>
          <a:ln w="19050">
            <a:solidFill>
              <a:schemeClr val="accent4">
                <a:lumMod val="60000"/>
                <a:lumOff val="40000"/>
              </a:schemeClr>
            </a:solidFill>
            <a:prstDash val="dash"/>
          </a:ln>
        </p:spPr>
      </p:pic>
    </p:spTree>
    <p:extLst>
      <p:ext uri="{BB962C8B-B14F-4D97-AF65-F5344CB8AC3E}">
        <p14:creationId xmlns:p14="http://schemas.microsoft.com/office/powerpoint/2010/main" val="930965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wipe(down)">
                                      <p:cBhvr>
                                        <p:cTn id="7" dur="500"/>
                                        <p:tgtEl>
                                          <p:spTgt spid="6">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down)">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down)">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down)">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ipe(down)">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wipe(down)">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wipe(down)">
                                      <p:cBhvr>
                                        <p:cTn id="37" dur="500"/>
                                        <p:tgtEl>
                                          <p:spTgt spid="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wipe(down)">
                                      <p:cBhvr>
                                        <p:cTn id="42" dur="500"/>
                                        <p:tgtEl>
                                          <p:spTgt spid="6">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animEffect transition="in" filter="wipe(down)">
                                      <p:cBhvr>
                                        <p:cTn id="47" dur="500"/>
                                        <p:tgtEl>
                                          <p:spTgt spid="6">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6">
                                            <p:txEl>
                                              <p:pRg st="8" end="8"/>
                                            </p:txEl>
                                          </p:spTgt>
                                        </p:tgtEl>
                                        <p:attrNameLst>
                                          <p:attrName>style.visibility</p:attrName>
                                        </p:attrNameLst>
                                      </p:cBhvr>
                                      <p:to>
                                        <p:strVal val="visible"/>
                                      </p:to>
                                    </p:set>
                                    <p:animEffect transition="in" filter="wipe(down)">
                                      <p:cBhvr>
                                        <p:cTn id="52" dur="500"/>
                                        <p:tgtEl>
                                          <p:spTgt spid="6">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6">
                                            <p:txEl>
                                              <p:pRg st="9" end="9"/>
                                            </p:txEl>
                                          </p:spTgt>
                                        </p:tgtEl>
                                        <p:attrNameLst>
                                          <p:attrName>style.visibility</p:attrName>
                                        </p:attrNameLst>
                                      </p:cBhvr>
                                      <p:to>
                                        <p:strVal val="visible"/>
                                      </p:to>
                                    </p:set>
                                    <p:animEffect transition="in" filter="wipe(down)">
                                      <p:cBhvr>
                                        <p:cTn id="57" dur="500"/>
                                        <p:tgtEl>
                                          <p:spTgt spid="6">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6">
                                            <p:txEl>
                                              <p:pRg st="10" end="10"/>
                                            </p:txEl>
                                          </p:spTgt>
                                        </p:tgtEl>
                                        <p:attrNameLst>
                                          <p:attrName>style.visibility</p:attrName>
                                        </p:attrNameLst>
                                      </p:cBhvr>
                                      <p:to>
                                        <p:strVal val="visible"/>
                                      </p:to>
                                    </p:set>
                                    <p:animEffect transition="in" filter="wipe(down)">
                                      <p:cBhvr>
                                        <p:cTn id="62" dur="500"/>
                                        <p:tgtEl>
                                          <p:spTgt spid="6">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6">
                                            <p:txEl>
                                              <p:pRg st="11" end="11"/>
                                            </p:txEl>
                                          </p:spTgt>
                                        </p:tgtEl>
                                        <p:attrNameLst>
                                          <p:attrName>style.visibility</p:attrName>
                                        </p:attrNameLst>
                                      </p:cBhvr>
                                      <p:to>
                                        <p:strVal val="visible"/>
                                      </p:to>
                                    </p:set>
                                    <p:animEffect transition="in" filter="wipe(down)">
                                      <p:cBhvr>
                                        <p:cTn id="67" dur="500"/>
                                        <p:tgtEl>
                                          <p:spTgt spid="6">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fade">
                                      <p:cBhvr>
                                        <p:cTn id="72" dur="1000"/>
                                        <p:tgtEl>
                                          <p:spTgt spid="8"/>
                                        </p:tgtEl>
                                      </p:cBhvr>
                                    </p:animEffect>
                                    <p:anim calcmode="lin" valueType="num">
                                      <p:cBhvr>
                                        <p:cTn id="73" dur="1000" fill="hold"/>
                                        <p:tgtEl>
                                          <p:spTgt spid="8"/>
                                        </p:tgtEl>
                                        <p:attrNameLst>
                                          <p:attrName>ppt_x</p:attrName>
                                        </p:attrNameLst>
                                      </p:cBhvr>
                                      <p:tavLst>
                                        <p:tav tm="0">
                                          <p:val>
                                            <p:strVal val="#ppt_x"/>
                                          </p:val>
                                        </p:tav>
                                        <p:tav tm="100000">
                                          <p:val>
                                            <p:strVal val="#ppt_x"/>
                                          </p:val>
                                        </p:tav>
                                      </p:tavLst>
                                    </p:anim>
                                    <p:anim calcmode="lin" valueType="num">
                                      <p:cBhvr>
                                        <p:cTn id="7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Optimizing Mark-and-Sweep Collector</a:t>
            </a:r>
          </a:p>
        </p:txBody>
      </p:sp>
      <p:sp>
        <p:nvSpPr>
          <p:cNvPr id="6" name="Content Placeholder 2"/>
          <p:cNvSpPr>
            <a:spLocks noGrp="1"/>
          </p:cNvSpPr>
          <p:nvPr>
            <p:ph idx="1"/>
          </p:nvPr>
        </p:nvSpPr>
        <p:spPr>
          <a:xfrm>
            <a:off x="699247" y="993122"/>
            <a:ext cx="10206317" cy="5728446"/>
          </a:xfrm>
          <a:ln>
            <a:noFill/>
            <a:prstDash val="dash"/>
          </a:ln>
        </p:spPr>
        <p:txBody>
          <a:bodyPr>
            <a:noAutofit/>
          </a:bodyPr>
          <a:lstStyle/>
          <a:p>
            <a:pPr>
              <a:lnSpc>
                <a:spcPct val="100000"/>
              </a:lnSpc>
              <a:spcBef>
                <a:spcPts val="0"/>
              </a:spcBef>
              <a:spcAft>
                <a:spcPts val="600"/>
              </a:spcAft>
            </a:pPr>
            <a:r>
              <a:rPr lang="en-US" dirty="0"/>
              <a:t>The final step of the basic mark-and-sweep is expensive</a:t>
            </a:r>
          </a:p>
          <a:p>
            <a:pPr>
              <a:lnSpc>
                <a:spcPct val="100000"/>
              </a:lnSpc>
              <a:spcBef>
                <a:spcPts val="0"/>
              </a:spcBef>
              <a:spcAft>
                <a:spcPts val="600"/>
              </a:spcAft>
            </a:pPr>
            <a:r>
              <a:rPr lang="en-US" dirty="0"/>
              <a:t>Need to examine the entire heap</a:t>
            </a:r>
          </a:p>
          <a:p>
            <a:pPr>
              <a:lnSpc>
                <a:spcPct val="100000"/>
              </a:lnSpc>
              <a:spcBef>
                <a:spcPts val="0"/>
              </a:spcBef>
              <a:spcAft>
                <a:spcPts val="600"/>
              </a:spcAft>
            </a:pPr>
            <a:r>
              <a:rPr lang="en-US" dirty="0"/>
              <a:t>An improved algorithm due to </a:t>
            </a:r>
            <a:r>
              <a:rPr lang="en-US" dirty="0">
                <a:solidFill>
                  <a:srgbClr val="00B0F0"/>
                </a:solidFill>
              </a:rPr>
              <a:t>Baker</a:t>
            </a:r>
          </a:p>
          <a:p>
            <a:pPr lvl="1">
              <a:lnSpc>
                <a:spcPct val="100000"/>
              </a:lnSpc>
              <a:spcBef>
                <a:spcPts val="0"/>
              </a:spcBef>
              <a:spcAft>
                <a:spcPts val="600"/>
              </a:spcAft>
            </a:pPr>
            <a:r>
              <a:rPr lang="en-US" sz="2800" dirty="0"/>
              <a:t>Keep a list of allocated objects</a:t>
            </a:r>
          </a:p>
          <a:p>
            <a:pPr lvl="1">
              <a:lnSpc>
                <a:spcPct val="100000"/>
              </a:lnSpc>
              <a:spcBef>
                <a:spcPts val="0"/>
              </a:spcBef>
              <a:spcAft>
                <a:spcPts val="600"/>
              </a:spcAft>
            </a:pPr>
            <a:r>
              <a:rPr lang="en-US" sz="2800" dirty="0"/>
              <a:t>Take the set difference of the </a:t>
            </a:r>
            <a:r>
              <a:rPr lang="en-US" sz="2800" dirty="0">
                <a:solidFill>
                  <a:schemeClr val="accent5">
                    <a:lumMod val="60000"/>
                    <a:lumOff val="40000"/>
                  </a:schemeClr>
                </a:solidFill>
              </a:rPr>
              <a:t>allocated</a:t>
            </a:r>
            <a:r>
              <a:rPr lang="en-US" sz="2800" dirty="0"/>
              <a:t> objects and </a:t>
            </a:r>
            <a:r>
              <a:rPr lang="en-US" sz="2800" dirty="0">
                <a:solidFill>
                  <a:srgbClr val="00B0F0"/>
                </a:solidFill>
              </a:rPr>
              <a:t>reached</a:t>
            </a:r>
            <a:r>
              <a:rPr lang="en-US" sz="2800" dirty="0"/>
              <a:t> objects to determine the set of unreachable objects </a:t>
            </a:r>
          </a:p>
        </p:txBody>
      </p:sp>
      <p:sp>
        <p:nvSpPr>
          <p:cNvPr id="4" name="Slide Number Placeholder 3"/>
          <p:cNvSpPr>
            <a:spLocks noGrp="1"/>
          </p:cNvSpPr>
          <p:nvPr>
            <p:ph type="sldNum" sz="quarter" idx="12"/>
          </p:nvPr>
        </p:nvSpPr>
        <p:spPr/>
        <p:txBody>
          <a:bodyPr/>
          <a:lstStyle/>
          <a:p>
            <a:fld id="{EE645454-5A07-423E-8617-7239B6B66F68}" type="slidenum">
              <a:rPr lang="en-US" smtClean="0"/>
              <a:t>74</a:t>
            </a:fld>
            <a:endParaRPr lang="en-US"/>
          </a:p>
        </p:txBody>
      </p:sp>
    </p:spTree>
    <p:extLst>
      <p:ext uri="{BB962C8B-B14F-4D97-AF65-F5344CB8AC3E}">
        <p14:creationId xmlns:p14="http://schemas.microsoft.com/office/powerpoint/2010/main" val="401769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a:solidFill>
                  <a:schemeClr val="accent5">
                    <a:lumMod val="50000"/>
                  </a:schemeClr>
                </a:solidFill>
                <a:effectLst>
                  <a:outerShdw blurRad="50800" dist="38100" dir="2700000" algn="tl" rotWithShape="0">
                    <a:prstClr val="black">
                      <a:alpha val="40000"/>
                    </a:prstClr>
                  </a:outerShdw>
                </a:effectLst>
              </a:rPr>
              <a:t>Baker’s Mark-and-Sweep </a:t>
            </a:r>
            <a:r>
              <a:rPr lang="en-US" dirty="0">
                <a:solidFill>
                  <a:schemeClr val="accent5">
                    <a:lumMod val="50000"/>
                  </a:schemeClr>
                </a:solidFill>
                <a:effectLst>
                  <a:outerShdw blurRad="50800" dist="38100" dir="2700000" algn="tl" rotWithShape="0">
                    <a:prstClr val="black">
                      <a:alpha val="40000"/>
                    </a:prstClr>
                  </a:outerShdw>
                </a:effectLst>
              </a:rPr>
              <a:t>in Action</a:t>
            </a:r>
          </a:p>
        </p:txBody>
      </p:sp>
      <p:grpSp>
        <p:nvGrpSpPr>
          <p:cNvPr id="15" name="Group 14">
            <a:extLst>
              <a:ext uri="{FF2B5EF4-FFF2-40B4-BE49-F238E27FC236}">
                <a16:creationId xmlns:a16="http://schemas.microsoft.com/office/drawing/2014/main" id="{C59B89B8-3DB5-6581-DA09-9AE811259A1D}"/>
              </a:ext>
            </a:extLst>
          </p:cNvPr>
          <p:cNvGrpSpPr/>
          <p:nvPr/>
        </p:nvGrpSpPr>
        <p:grpSpPr>
          <a:xfrm>
            <a:off x="3407227" y="761783"/>
            <a:ext cx="8273143" cy="3773715"/>
            <a:chOff x="3468913" y="1436913"/>
            <a:chExt cx="8273143" cy="3773715"/>
          </a:xfrm>
        </p:grpSpPr>
        <p:pic>
          <p:nvPicPr>
            <p:cNvPr id="5" name="Picture 4"/>
            <p:cNvPicPr>
              <a:picLocks noChangeAspect="1"/>
            </p:cNvPicPr>
            <p:nvPr/>
          </p:nvPicPr>
          <p:blipFill rotWithShape="1">
            <a:blip r:embed="rId2"/>
            <a:srcRect l="3771" t="6057" r="2786"/>
            <a:stretch/>
          </p:blipFill>
          <p:spPr>
            <a:xfrm>
              <a:off x="3468913" y="1436913"/>
              <a:ext cx="8273143" cy="3773715"/>
            </a:xfrm>
            <a:prstGeom prst="rect">
              <a:avLst/>
            </a:prstGeom>
            <a:solidFill>
              <a:schemeClr val="accent2">
                <a:lumMod val="20000"/>
                <a:lumOff val="80000"/>
              </a:schemeClr>
            </a:solidFill>
          </p:spPr>
        </p:pic>
        <p:sp>
          <p:nvSpPr>
            <p:cNvPr id="4" name="TextBox 3">
              <a:extLst>
                <a:ext uri="{FF2B5EF4-FFF2-40B4-BE49-F238E27FC236}">
                  <a16:creationId xmlns:a16="http://schemas.microsoft.com/office/drawing/2014/main" id="{8C48D82F-711D-3D1D-A8BE-95E462C516A6}"/>
                </a:ext>
              </a:extLst>
            </p:cNvPr>
            <p:cNvSpPr txBox="1"/>
            <p:nvPr/>
          </p:nvSpPr>
          <p:spPr>
            <a:xfrm>
              <a:off x="5899324" y="1774390"/>
              <a:ext cx="558799" cy="365029"/>
            </a:xfrm>
            <a:prstGeom prst="rect">
              <a:avLst/>
            </a:prstGeom>
            <a:noFill/>
          </p:spPr>
          <p:txBody>
            <a:bodyPr wrap="square" rtlCol="0">
              <a:spAutoFit/>
            </a:bodyPr>
            <a:lstStyle/>
            <a:p>
              <a:r>
                <a:rPr lang="en-US" dirty="0">
                  <a:solidFill>
                    <a:schemeClr val="accent4">
                      <a:lumMod val="50000"/>
                    </a:schemeClr>
                  </a:solidFill>
                </a:rPr>
                <a:t>M1</a:t>
              </a:r>
            </a:p>
          </p:txBody>
        </p:sp>
        <p:sp>
          <p:nvSpPr>
            <p:cNvPr id="6" name="TextBox 5">
              <a:extLst>
                <a:ext uri="{FF2B5EF4-FFF2-40B4-BE49-F238E27FC236}">
                  <a16:creationId xmlns:a16="http://schemas.microsoft.com/office/drawing/2014/main" id="{8831C91B-1AAB-CCC1-6ED5-D2088BDE4CD2}"/>
                </a:ext>
              </a:extLst>
            </p:cNvPr>
            <p:cNvSpPr txBox="1"/>
            <p:nvPr/>
          </p:nvSpPr>
          <p:spPr>
            <a:xfrm>
              <a:off x="7812133" y="2211918"/>
              <a:ext cx="558799" cy="365029"/>
            </a:xfrm>
            <a:prstGeom prst="rect">
              <a:avLst/>
            </a:prstGeom>
            <a:noFill/>
          </p:spPr>
          <p:txBody>
            <a:bodyPr wrap="square" rtlCol="0">
              <a:spAutoFit/>
            </a:bodyPr>
            <a:lstStyle/>
            <a:p>
              <a:r>
                <a:rPr lang="en-US" dirty="0">
                  <a:solidFill>
                    <a:schemeClr val="accent4">
                      <a:lumMod val="50000"/>
                    </a:schemeClr>
                  </a:solidFill>
                </a:rPr>
                <a:t>M2</a:t>
              </a:r>
            </a:p>
          </p:txBody>
        </p:sp>
        <p:sp>
          <p:nvSpPr>
            <p:cNvPr id="8" name="TextBox 7">
              <a:extLst>
                <a:ext uri="{FF2B5EF4-FFF2-40B4-BE49-F238E27FC236}">
                  <a16:creationId xmlns:a16="http://schemas.microsoft.com/office/drawing/2014/main" id="{C8327163-8904-BE93-0C72-9AD793297F52}"/>
                </a:ext>
              </a:extLst>
            </p:cNvPr>
            <p:cNvSpPr txBox="1"/>
            <p:nvPr/>
          </p:nvSpPr>
          <p:spPr>
            <a:xfrm>
              <a:off x="9517190" y="2656619"/>
              <a:ext cx="558799" cy="369332"/>
            </a:xfrm>
            <a:prstGeom prst="rect">
              <a:avLst/>
            </a:prstGeom>
            <a:noFill/>
          </p:spPr>
          <p:txBody>
            <a:bodyPr wrap="square" rtlCol="0">
              <a:spAutoFit/>
            </a:bodyPr>
            <a:lstStyle/>
            <a:p>
              <a:r>
                <a:rPr lang="en-US" dirty="0">
                  <a:solidFill>
                    <a:schemeClr val="accent4">
                      <a:lumMod val="50000"/>
                    </a:schemeClr>
                  </a:solidFill>
                </a:rPr>
                <a:t>M4</a:t>
              </a:r>
            </a:p>
          </p:txBody>
        </p:sp>
        <p:sp>
          <p:nvSpPr>
            <p:cNvPr id="9" name="TextBox 8">
              <a:extLst>
                <a:ext uri="{FF2B5EF4-FFF2-40B4-BE49-F238E27FC236}">
                  <a16:creationId xmlns:a16="http://schemas.microsoft.com/office/drawing/2014/main" id="{55EAE615-EA4E-6794-89C9-A2306AE91AF8}"/>
                </a:ext>
              </a:extLst>
            </p:cNvPr>
            <p:cNvSpPr txBox="1"/>
            <p:nvPr/>
          </p:nvSpPr>
          <p:spPr>
            <a:xfrm>
              <a:off x="11007321" y="1810255"/>
              <a:ext cx="558799" cy="369332"/>
            </a:xfrm>
            <a:prstGeom prst="rect">
              <a:avLst/>
            </a:prstGeom>
            <a:noFill/>
          </p:spPr>
          <p:txBody>
            <a:bodyPr wrap="square" rtlCol="0">
              <a:spAutoFit/>
            </a:bodyPr>
            <a:lstStyle/>
            <a:p>
              <a:r>
                <a:rPr lang="en-US" dirty="0">
                  <a:solidFill>
                    <a:schemeClr val="accent4">
                      <a:lumMod val="50000"/>
                    </a:schemeClr>
                  </a:solidFill>
                </a:rPr>
                <a:t>M3</a:t>
              </a:r>
            </a:p>
          </p:txBody>
        </p:sp>
        <p:sp>
          <p:nvSpPr>
            <p:cNvPr id="10" name="TextBox 9">
              <a:extLst>
                <a:ext uri="{FF2B5EF4-FFF2-40B4-BE49-F238E27FC236}">
                  <a16:creationId xmlns:a16="http://schemas.microsoft.com/office/drawing/2014/main" id="{B87DF9C9-6324-A293-1201-F16DBCB18D2A}"/>
                </a:ext>
              </a:extLst>
            </p:cNvPr>
            <p:cNvSpPr txBox="1"/>
            <p:nvPr/>
          </p:nvSpPr>
          <p:spPr>
            <a:xfrm>
              <a:off x="6107081" y="3086970"/>
              <a:ext cx="558799" cy="369332"/>
            </a:xfrm>
            <a:prstGeom prst="rect">
              <a:avLst/>
            </a:prstGeom>
            <a:noFill/>
          </p:spPr>
          <p:txBody>
            <a:bodyPr wrap="square" rtlCol="0">
              <a:spAutoFit/>
            </a:bodyPr>
            <a:lstStyle/>
            <a:p>
              <a:r>
                <a:rPr lang="en-US" dirty="0">
                  <a:solidFill>
                    <a:schemeClr val="accent4">
                      <a:lumMod val="50000"/>
                    </a:schemeClr>
                  </a:solidFill>
                </a:rPr>
                <a:t>M6</a:t>
              </a:r>
            </a:p>
          </p:txBody>
        </p:sp>
        <p:sp>
          <p:nvSpPr>
            <p:cNvPr id="11" name="TextBox 10">
              <a:extLst>
                <a:ext uri="{FF2B5EF4-FFF2-40B4-BE49-F238E27FC236}">
                  <a16:creationId xmlns:a16="http://schemas.microsoft.com/office/drawing/2014/main" id="{512C4DFA-56F4-69AD-4F73-D7E1C697334E}"/>
                </a:ext>
              </a:extLst>
            </p:cNvPr>
            <p:cNvSpPr txBox="1"/>
            <p:nvPr/>
          </p:nvSpPr>
          <p:spPr>
            <a:xfrm>
              <a:off x="7811949" y="4148347"/>
              <a:ext cx="558799" cy="369332"/>
            </a:xfrm>
            <a:prstGeom prst="rect">
              <a:avLst/>
            </a:prstGeom>
            <a:noFill/>
          </p:spPr>
          <p:txBody>
            <a:bodyPr wrap="square" rtlCol="0">
              <a:spAutoFit/>
            </a:bodyPr>
            <a:lstStyle/>
            <a:p>
              <a:r>
                <a:rPr lang="en-US" dirty="0">
                  <a:solidFill>
                    <a:schemeClr val="accent4">
                      <a:lumMod val="50000"/>
                    </a:schemeClr>
                  </a:solidFill>
                </a:rPr>
                <a:t>M5</a:t>
              </a:r>
            </a:p>
          </p:txBody>
        </p:sp>
        <p:sp>
          <p:nvSpPr>
            <p:cNvPr id="12" name="TextBox 11">
              <a:extLst>
                <a:ext uri="{FF2B5EF4-FFF2-40B4-BE49-F238E27FC236}">
                  <a16:creationId xmlns:a16="http://schemas.microsoft.com/office/drawing/2014/main" id="{A4426D6D-9DD4-37AA-DE53-D03FCC3B542F}"/>
                </a:ext>
              </a:extLst>
            </p:cNvPr>
            <p:cNvSpPr txBox="1"/>
            <p:nvPr/>
          </p:nvSpPr>
          <p:spPr>
            <a:xfrm>
              <a:off x="4187108" y="3086974"/>
              <a:ext cx="558799" cy="365029"/>
            </a:xfrm>
            <a:prstGeom prst="rect">
              <a:avLst/>
            </a:prstGeom>
            <a:noFill/>
          </p:spPr>
          <p:txBody>
            <a:bodyPr wrap="square" rtlCol="0">
              <a:spAutoFit/>
            </a:bodyPr>
            <a:lstStyle/>
            <a:p>
              <a:r>
                <a:rPr lang="en-US" dirty="0">
                  <a:solidFill>
                    <a:schemeClr val="accent4">
                      <a:lumMod val="50000"/>
                    </a:schemeClr>
                  </a:solidFill>
                </a:rPr>
                <a:t>M7</a:t>
              </a:r>
            </a:p>
          </p:txBody>
        </p:sp>
      </p:grpSp>
      <p:sp>
        <p:nvSpPr>
          <p:cNvPr id="3" name="Slide Number Placeholder 2"/>
          <p:cNvSpPr>
            <a:spLocks noGrp="1"/>
          </p:cNvSpPr>
          <p:nvPr>
            <p:ph type="sldNum" sz="quarter" idx="12"/>
          </p:nvPr>
        </p:nvSpPr>
        <p:spPr>
          <a:xfrm>
            <a:off x="9263742" y="6446555"/>
            <a:ext cx="2743200" cy="365125"/>
          </a:xfrm>
        </p:spPr>
        <p:txBody>
          <a:bodyPr/>
          <a:lstStyle/>
          <a:p>
            <a:fld id="{EE645454-5A07-423E-8617-7239B6B66F68}" type="slidenum">
              <a:rPr lang="en-US" smtClean="0"/>
              <a:t>75</a:t>
            </a:fld>
            <a:endParaRPr lang="en-US" dirty="0"/>
          </a:p>
        </p:txBody>
      </p:sp>
      <p:sp>
        <p:nvSpPr>
          <p:cNvPr id="16" name="TextBox 15">
            <a:extLst>
              <a:ext uri="{FF2B5EF4-FFF2-40B4-BE49-F238E27FC236}">
                <a16:creationId xmlns:a16="http://schemas.microsoft.com/office/drawing/2014/main" id="{43CCE83B-2883-6CEB-0172-544155A37D6B}"/>
              </a:ext>
            </a:extLst>
          </p:cNvPr>
          <p:cNvSpPr txBox="1"/>
          <p:nvPr/>
        </p:nvSpPr>
        <p:spPr>
          <a:xfrm>
            <a:off x="1137103" y="812884"/>
            <a:ext cx="2241096" cy="461665"/>
          </a:xfrm>
          <a:prstGeom prst="rect">
            <a:avLst/>
          </a:prstGeom>
          <a:noFill/>
        </p:spPr>
        <p:txBody>
          <a:bodyPr wrap="square" rtlCol="0">
            <a:spAutoFit/>
          </a:bodyPr>
          <a:lstStyle/>
          <a:p>
            <a:r>
              <a:rPr lang="en-US" sz="2400" dirty="0">
                <a:solidFill>
                  <a:schemeClr val="accent5">
                    <a:lumMod val="60000"/>
                    <a:lumOff val="40000"/>
                  </a:schemeClr>
                </a:solidFill>
              </a:rPr>
              <a:t>Marking  Phase</a:t>
            </a:r>
          </a:p>
        </p:txBody>
      </p:sp>
      <p:graphicFrame>
        <p:nvGraphicFramePr>
          <p:cNvPr id="17" name="Table 17">
            <a:extLst>
              <a:ext uri="{FF2B5EF4-FFF2-40B4-BE49-F238E27FC236}">
                <a16:creationId xmlns:a16="http://schemas.microsoft.com/office/drawing/2014/main" id="{9496164F-800B-FCA2-7B46-58CED8616E94}"/>
              </a:ext>
            </a:extLst>
          </p:cNvPr>
          <p:cNvGraphicFramePr>
            <a:graphicFrameLocks noGrp="1"/>
          </p:cNvGraphicFramePr>
          <p:nvPr/>
        </p:nvGraphicFramePr>
        <p:xfrm>
          <a:off x="7485750" y="4982145"/>
          <a:ext cx="4532080" cy="370840"/>
        </p:xfrm>
        <a:graphic>
          <a:graphicData uri="http://schemas.openxmlformats.org/drawingml/2006/table">
            <a:tbl>
              <a:tblPr firstRow="1" bandRow="1">
                <a:tableStyleId>{93296810-A885-4BE3-A3E7-6D5BEEA58F35}</a:tableStyleId>
              </a:tblPr>
              <a:tblGrid>
                <a:gridCol w="647440">
                  <a:extLst>
                    <a:ext uri="{9D8B030D-6E8A-4147-A177-3AD203B41FA5}">
                      <a16:colId xmlns:a16="http://schemas.microsoft.com/office/drawing/2014/main" val="1641241995"/>
                    </a:ext>
                  </a:extLst>
                </a:gridCol>
                <a:gridCol w="647440">
                  <a:extLst>
                    <a:ext uri="{9D8B030D-6E8A-4147-A177-3AD203B41FA5}">
                      <a16:colId xmlns:a16="http://schemas.microsoft.com/office/drawing/2014/main" val="4194170714"/>
                    </a:ext>
                  </a:extLst>
                </a:gridCol>
                <a:gridCol w="647440">
                  <a:extLst>
                    <a:ext uri="{9D8B030D-6E8A-4147-A177-3AD203B41FA5}">
                      <a16:colId xmlns:a16="http://schemas.microsoft.com/office/drawing/2014/main" val="2462297679"/>
                    </a:ext>
                  </a:extLst>
                </a:gridCol>
                <a:gridCol w="647440">
                  <a:extLst>
                    <a:ext uri="{9D8B030D-6E8A-4147-A177-3AD203B41FA5}">
                      <a16:colId xmlns:a16="http://schemas.microsoft.com/office/drawing/2014/main" val="4211800239"/>
                    </a:ext>
                  </a:extLst>
                </a:gridCol>
                <a:gridCol w="647440">
                  <a:extLst>
                    <a:ext uri="{9D8B030D-6E8A-4147-A177-3AD203B41FA5}">
                      <a16:colId xmlns:a16="http://schemas.microsoft.com/office/drawing/2014/main" val="788963807"/>
                    </a:ext>
                  </a:extLst>
                </a:gridCol>
                <a:gridCol w="647440">
                  <a:extLst>
                    <a:ext uri="{9D8B030D-6E8A-4147-A177-3AD203B41FA5}">
                      <a16:colId xmlns:a16="http://schemas.microsoft.com/office/drawing/2014/main" val="1849690067"/>
                    </a:ext>
                  </a:extLst>
                </a:gridCol>
                <a:gridCol w="647440">
                  <a:extLst>
                    <a:ext uri="{9D8B030D-6E8A-4147-A177-3AD203B41FA5}">
                      <a16:colId xmlns:a16="http://schemas.microsoft.com/office/drawing/2014/main" val="1974228414"/>
                    </a:ext>
                  </a:extLst>
                </a:gridCol>
              </a:tblGrid>
              <a:tr h="370840">
                <a:tc>
                  <a:txBody>
                    <a:bodyPr/>
                    <a:lstStyle/>
                    <a:p>
                      <a:pPr algn="ctr"/>
                      <a:r>
                        <a:rPr lang="en-US" b="0" dirty="0">
                          <a:solidFill>
                            <a:srgbClr val="00B0F0"/>
                          </a:solidFill>
                        </a:rPr>
                        <a:t>M1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372693682"/>
                  </a:ext>
                </a:extLst>
              </a:tr>
            </a:tbl>
          </a:graphicData>
        </a:graphic>
      </p:graphicFrame>
      <p:sp>
        <p:nvSpPr>
          <p:cNvPr id="18" name="TextBox 17">
            <a:extLst>
              <a:ext uri="{FF2B5EF4-FFF2-40B4-BE49-F238E27FC236}">
                <a16:creationId xmlns:a16="http://schemas.microsoft.com/office/drawing/2014/main" id="{7DC3EB51-B104-19CE-F10C-A3C1C010CC30}"/>
              </a:ext>
            </a:extLst>
          </p:cNvPr>
          <p:cNvSpPr txBox="1"/>
          <p:nvPr/>
        </p:nvSpPr>
        <p:spPr>
          <a:xfrm>
            <a:off x="7449463" y="4476928"/>
            <a:ext cx="2788077" cy="461665"/>
          </a:xfrm>
          <a:prstGeom prst="rect">
            <a:avLst/>
          </a:prstGeom>
          <a:noFill/>
        </p:spPr>
        <p:txBody>
          <a:bodyPr wrap="square" rtlCol="0">
            <a:spAutoFit/>
          </a:bodyPr>
          <a:lstStyle/>
          <a:p>
            <a:r>
              <a:rPr lang="en-US" sz="2400" dirty="0">
                <a:solidFill>
                  <a:schemeClr val="accent6">
                    <a:lumMod val="75000"/>
                  </a:schemeClr>
                </a:solidFill>
              </a:rPr>
              <a:t>Heap (before GC) </a:t>
            </a:r>
          </a:p>
        </p:txBody>
      </p:sp>
      <p:sp>
        <p:nvSpPr>
          <p:cNvPr id="19" name="TextBox 18">
            <a:extLst>
              <a:ext uri="{FF2B5EF4-FFF2-40B4-BE49-F238E27FC236}">
                <a16:creationId xmlns:a16="http://schemas.microsoft.com/office/drawing/2014/main" id="{E09A1AE9-A3FA-6507-11CB-1FD6E0B9457B}"/>
              </a:ext>
            </a:extLst>
          </p:cNvPr>
          <p:cNvSpPr txBox="1"/>
          <p:nvPr/>
        </p:nvSpPr>
        <p:spPr>
          <a:xfrm>
            <a:off x="5733338" y="683863"/>
            <a:ext cx="624114" cy="461665"/>
          </a:xfrm>
          <a:prstGeom prst="rect">
            <a:avLst/>
          </a:prstGeom>
          <a:noFill/>
        </p:spPr>
        <p:txBody>
          <a:bodyPr wrap="square" rtlCol="0">
            <a:spAutoFit/>
          </a:bodyPr>
          <a:lstStyle/>
          <a:p>
            <a:pPr algn="ctr"/>
            <a:r>
              <a:rPr lang="en-US" sz="2400" dirty="0">
                <a:solidFill>
                  <a:srgbClr val="00B050"/>
                </a:solidFill>
              </a:rPr>
              <a:t>√</a:t>
            </a:r>
          </a:p>
        </p:txBody>
      </p:sp>
      <p:sp>
        <p:nvSpPr>
          <p:cNvPr id="20" name="TextBox 19">
            <a:extLst>
              <a:ext uri="{FF2B5EF4-FFF2-40B4-BE49-F238E27FC236}">
                <a16:creationId xmlns:a16="http://schemas.microsoft.com/office/drawing/2014/main" id="{B762E1BA-3F23-8BD9-C6DE-C11859B2BA39}"/>
              </a:ext>
            </a:extLst>
          </p:cNvPr>
          <p:cNvSpPr txBox="1"/>
          <p:nvPr/>
        </p:nvSpPr>
        <p:spPr>
          <a:xfrm>
            <a:off x="7656479" y="1097519"/>
            <a:ext cx="624114" cy="461665"/>
          </a:xfrm>
          <a:prstGeom prst="rect">
            <a:avLst/>
          </a:prstGeom>
          <a:noFill/>
        </p:spPr>
        <p:txBody>
          <a:bodyPr wrap="square" rtlCol="0">
            <a:spAutoFit/>
          </a:bodyPr>
          <a:lstStyle/>
          <a:p>
            <a:pPr algn="ctr"/>
            <a:r>
              <a:rPr lang="en-US" sz="2400" dirty="0">
                <a:solidFill>
                  <a:srgbClr val="00B050"/>
                </a:solidFill>
              </a:rPr>
              <a:t>√</a:t>
            </a:r>
          </a:p>
        </p:txBody>
      </p:sp>
      <p:sp>
        <p:nvSpPr>
          <p:cNvPr id="21" name="TextBox 20">
            <a:extLst>
              <a:ext uri="{FF2B5EF4-FFF2-40B4-BE49-F238E27FC236}">
                <a16:creationId xmlns:a16="http://schemas.microsoft.com/office/drawing/2014/main" id="{A48317F2-0FE5-1D43-0A96-75FCD56443B9}"/>
              </a:ext>
            </a:extLst>
          </p:cNvPr>
          <p:cNvSpPr txBox="1"/>
          <p:nvPr/>
        </p:nvSpPr>
        <p:spPr>
          <a:xfrm>
            <a:off x="9354652" y="1591009"/>
            <a:ext cx="624114" cy="461665"/>
          </a:xfrm>
          <a:prstGeom prst="rect">
            <a:avLst/>
          </a:prstGeom>
          <a:noFill/>
        </p:spPr>
        <p:txBody>
          <a:bodyPr wrap="square" rtlCol="0">
            <a:spAutoFit/>
          </a:bodyPr>
          <a:lstStyle/>
          <a:p>
            <a:pPr algn="ctr"/>
            <a:r>
              <a:rPr lang="en-US" sz="2400" dirty="0">
                <a:solidFill>
                  <a:srgbClr val="00B050"/>
                </a:solidFill>
              </a:rPr>
              <a:t>√</a:t>
            </a:r>
          </a:p>
        </p:txBody>
      </p:sp>
      <p:sp>
        <p:nvSpPr>
          <p:cNvPr id="22" name="TextBox 21">
            <a:extLst>
              <a:ext uri="{FF2B5EF4-FFF2-40B4-BE49-F238E27FC236}">
                <a16:creationId xmlns:a16="http://schemas.microsoft.com/office/drawing/2014/main" id="{A63620D9-3028-B26B-07C7-AA1DC8A6E29D}"/>
              </a:ext>
            </a:extLst>
          </p:cNvPr>
          <p:cNvSpPr txBox="1"/>
          <p:nvPr/>
        </p:nvSpPr>
        <p:spPr>
          <a:xfrm>
            <a:off x="5972823" y="1953862"/>
            <a:ext cx="624114" cy="461665"/>
          </a:xfrm>
          <a:prstGeom prst="rect">
            <a:avLst/>
          </a:prstGeom>
          <a:noFill/>
        </p:spPr>
        <p:txBody>
          <a:bodyPr wrap="square" rtlCol="0">
            <a:spAutoFit/>
          </a:bodyPr>
          <a:lstStyle/>
          <a:p>
            <a:pPr algn="ctr"/>
            <a:r>
              <a:rPr lang="en-US" sz="2400" dirty="0">
                <a:solidFill>
                  <a:srgbClr val="00B050"/>
                </a:solidFill>
              </a:rPr>
              <a:t>√</a:t>
            </a:r>
          </a:p>
        </p:txBody>
      </p:sp>
      <p:sp>
        <p:nvSpPr>
          <p:cNvPr id="23" name="TextBox 22">
            <a:extLst>
              <a:ext uri="{FF2B5EF4-FFF2-40B4-BE49-F238E27FC236}">
                <a16:creationId xmlns:a16="http://schemas.microsoft.com/office/drawing/2014/main" id="{EA680CDE-135A-FD2E-FEA8-713EAC04F7BD}"/>
              </a:ext>
            </a:extLst>
          </p:cNvPr>
          <p:cNvSpPr txBox="1"/>
          <p:nvPr/>
        </p:nvSpPr>
        <p:spPr>
          <a:xfrm>
            <a:off x="7714539" y="3027922"/>
            <a:ext cx="624114" cy="461665"/>
          </a:xfrm>
          <a:prstGeom prst="rect">
            <a:avLst/>
          </a:prstGeom>
          <a:noFill/>
        </p:spPr>
        <p:txBody>
          <a:bodyPr wrap="square" rtlCol="0">
            <a:spAutoFit/>
          </a:bodyPr>
          <a:lstStyle/>
          <a:p>
            <a:pPr algn="ctr"/>
            <a:r>
              <a:rPr lang="en-US" sz="2400" dirty="0">
                <a:solidFill>
                  <a:srgbClr val="00B050"/>
                </a:solidFill>
              </a:rPr>
              <a:t>√</a:t>
            </a:r>
          </a:p>
        </p:txBody>
      </p:sp>
      <p:sp>
        <p:nvSpPr>
          <p:cNvPr id="26" name="TextBox 25">
            <a:extLst>
              <a:ext uri="{FF2B5EF4-FFF2-40B4-BE49-F238E27FC236}">
                <a16:creationId xmlns:a16="http://schemas.microsoft.com/office/drawing/2014/main" id="{B4899AEC-A21B-D1AC-1BDF-3C2009C7D829}"/>
              </a:ext>
            </a:extLst>
          </p:cNvPr>
          <p:cNvSpPr txBox="1"/>
          <p:nvPr/>
        </p:nvSpPr>
        <p:spPr>
          <a:xfrm>
            <a:off x="1129846" y="1255572"/>
            <a:ext cx="2557171" cy="461665"/>
          </a:xfrm>
          <a:prstGeom prst="rect">
            <a:avLst/>
          </a:prstGeom>
          <a:noFill/>
        </p:spPr>
        <p:txBody>
          <a:bodyPr wrap="square" rtlCol="0">
            <a:spAutoFit/>
          </a:bodyPr>
          <a:lstStyle/>
          <a:p>
            <a:r>
              <a:rPr lang="en-US" sz="2400" dirty="0">
                <a:solidFill>
                  <a:srgbClr val="7030A0"/>
                </a:solidFill>
              </a:rPr>
              <a:t>Sweeping Phase</a:t>
            </a:r>
          </a:p>
        </p:txBody>
      </p:sp>
      <p:sp>
        <p:nvSpPr>
          <p:cNvPr id="27" name="Explosion: 14 Points 26">
            <a:extLst>
              <a:ext uri="{FF2B5EF4-FFF2-40B4-BE49-F238E27FC236}">
                <a16:creationId xmlns:a16="http://schemas.microsoft.com/office/drawing/2014/main" id="{5E120372-00C2-A949-E2F4-8E2F1D70D576}"/>
              </a:ext>
            </a:extLst>
          </p:cNvPr>
          <p:cNvSpPr/>
          <p:nvPr/>
        </p:nvSpPr>
        <p:spPr>
          <a:xfrm>
            <a:off x="10493828" y="1145528"/>
            <a:ext cx="1489187" cy="993734"/>
          </a:xfrm>
          <a:prstGeom prst="irregularSeal2">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Free</a:t>
            </a:r>
          </a:p>
        </p:txBody>
      </p:sp>
      <p:sp>
        <p:nvSpPr>
          <p:cNvPr id="28" name="Explosion: 14 Points 27">
            <a:extLst>
              <a:ext uri="{FF2B5EF4-FFF2-40B4-BE49-F238E27FC236}">
                <a16:creationId xmlns:a16="http://schemas.microsoft.com/office/drawing/2014/main" id="{A4C130E0-E11D-C6E8-9375-06C2B82B7433}"/>
              </a:ext>
            </a:extLst>
          </p:cNvPr>
          <p:cNvSpPr/>
          <p:nvPr/>
        </p:nvSpPr>
        <p:spPr>
          <a:xfrm>
            <a:off x="3598637" y="2124507"/>
            <a:ext cx="1489187" cy="993734"/>
          </a:xfrm>
          <a:prstGeom prst="irregularSeal2">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Free</a:t>
            </a:r>
          </a:p>
        </p:txBody>
      </p:sp>
      <p:sp>
        <p:nvSpPr>
          <p:cNvPr id="7" name="TextBox 6">
            <a:extLst>
              <a:ext uri="{FF2B5EF4-FFF2-40B4-BE49-F238E27FC236}">
                <a16:creationId xmlns:a16="http://schemas.microsoft.com/office/drawing/2014/main" id="{39D57D96-5D8F-2837-AA05-296ACA549A33}"/>
              </a:ext>
            </a:extLst>
          </p:cNvPr>
          <p:cNvSpPr txBox="1"/>
          <p:nvPr/>
        </p:nvSpPr>
        <p:spPr>
          <a:xfrm>
            <a:off x="150247" y="3147917"/>
            <a:ext cx="1876640" cy="400110"/>
          </a:xfrm>
          <a:prstGeom prst="rect">
            <a:avLst/>
          </a:prstGeom>
          <a:noFill/>
        </p:spPr>
        <p:txBody>
          <a:bodyPr wrap="square" rtlCol="0">
            <a:spAutoFit/>
          </a:bodyPr>
          <a:lstStyle/>
          <a:p>
            <a:r>
              <a:rPr lang="en-US" sz="2000" dirty="0">
                <a:solidFill>
                  <a:srgbClr val="FF0000"/>
                </a:solidFill>
              </a:rPr>
              <a:t>Unreached</a:t>
            </a:r>
            <a:endParaRPr lang="en-US" sz="2000" dirty="0">
              <a:solidFill>
                <a:schemeClr val="accent4">
                  <a:lumMod val="50000"/>
                </a:schemeClr>
              </a:solidFill>
            </a:endParaRPr>
          </a:p>
        </p:txBody>
      </p:sp>
      <p:graphicFrame>
        <p:nvGraphicFramePr>
          <p:cNvPr id="14" name="Table 17">
            <a:extLst>
              <a:ext uri="{FF2B5EF4-FFF2-40B4-BE49-F238E27FC236}">
                <a16:creationId xmlns:a16="http://schemas.microsoft.com/office/drawing/2014/main" id="{D5289A12-2B79-FA07-4AE1-5F7E380782C7}"/>
              </a:ext>
            </a:extLst>
          </p:cNvPr>
          <p:cNvGraphicFramePr>
            <a:graphicFrameLocks noGrp="1"/>
          </p:cNvGraphicFramePr>
          <p:nvPr/>
        </p:nvGraphicFramePr>
        <p:xfrm>
          <a:off x="7449463" y="6295689"/>
          <a:ext cx="4532080" cy="370840"/>
        </p:xfrm>
        <a:graphic>
          <a:graphicData uri="http://schemas.openxmlformats.org/drawingml/2006/table">
            <a:tbl>
              <a:tblPr firstRow="1" bandRow="1">
                <a:tableStyleId>{93296810-A885-4BE3-A3E7-6D5BEEA58F35}</a:tableStyleId>
              </a:tblPr>
              <a:tblGrid>
                <a:gridCol w="647440">
                  <a:extLst>
                    <a:ext uri="{9D8B030D-6E8A-4147-A177-3AD203B41FA5}">
                      <a16:colId xmlns:a16="http://schemas.microsoft.com/office/drawing/2014/main" val="1641241995"/>
                    </a:ext>
                  </a:extLst>
                </a:gridCol>
                <a:gridCol w="647440">
                  <a:extLst>
                    <a:ext uri="{9D8B030D-6E8A-4147-A177-3AD203B41FA5}">
                      <a16:colId xmlns:a16="http://schemas.microsoft.com/office/drawing/2014/main" val="4194170714"/>
                    </a:ext>
                  </a:extLst>
                </a:gridCol>
                <a:gridCol w="647440">
                  <a:extLst>
                    <a:ext uri="{9D8B030D-6E8A-4147-A177-3AD203B41FA5}">
                      <a16:colId xmlns:a16="http://schemas.microsoft.com/office/drawing/2014/main" val="2462297679"/>
                    </a:ext>
                  </a:extLst>
                </a:gridCol>
                <a:gridCol w="647440">
                  <a:extLst>
                    <a:ext uri="{9D8B030D-6E8A-4147-A177-3AD203B41FA5}">
                      <a16:colId xmlns:a16="http://schemas.microsoft.com/office/drawing/2014/main" val="4211800239"/>
                    </a:ext>
                  </a:extLst>
                </a:gridCol>
                <a:gridCol w="647440">
                  <a:extLst>
                    <a:ext uri="{9D8B030D-6E8A-4147-A177-3AD203B41FA5}">
                      <a16:colId xmlns:a16="http://schemas.microsoft.com/office/drawing/2014/main" val="788963807"/>
                    </a:ext>
                  </a:extLst>
                </a:gridCol>
                <a:gridCol w="647440">
                  <a:extLst>
                    <a:ext uri="{9D8B030D-6E8A-4147-A177-3AD203B41FA5}">
                      <a16:colId xmlns:a16="http://schemas.microsoft.com/office/drawing/2014/main" val="1849690067"/>
                    </a:ext>
                  </a:extLst>
                </a:gridCol>
                <a:gridCol w="647440">
                  <a:extLst>
                    <a:ext uri="{9D8B030D-6E8A-4147-A177-3AD203B41FA5}">
                      <a16:colId xmlns:a16="http://schemas.microsoft.com/office/drawing/2014/main" val="1974228414"/>
                    </a:ext>
                  </a:extLst>
                </a:gridCol>
              </a:tblGrid>
              <a:tr h="370840">
                <a:tc>
                  <a:txBody>
                    <a:bodyPr/>
                    <a:lstStyle/>
                    <a:p>
                      <a:pPr algn="ctr"/>
                      <a:r>
                        <a:rPr lang="en-US" b="0" dirty="0">
                          <a:solidFill>
                            <a:srgbClr val="00B0F0"/>
                          </a:solidFill>
                        </a:rPr>
                        <a:t>M1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50"/>
                          </a:solidFill>
                        </a:rPr>
                        <a:t>free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F0"/>
                          </a:solidFill>
                        </a:rPr>
                        <a:t>M6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b="0" dirty="0">
                          <a:solidFill>
                            <a:srgbClr val="00B050"/>
                          </a:solidFill>
                        </a:rPr>
                        <a:t>free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372693682"/>
                  </a:ext>
                </a:extLst>
              </a:tr>
            </a:tbl>
          </a:graphicData>
        </a:graphic>
      </p:graphicFrame>
      <p:sp>
        <p:nvSpPr>
          <p:cNvPr id="24" name="TextBox 23">
            <a:extLst>
              <a:ext uri="{FF2B5EF4-FFF2-40B4-BE49-F238E27FC236}">
                <a16:creationId xmlns:a16="http://schemas.microsoft.com/office/drawing/2014/main" id="{E833E45C-331E-BE7B-D812-9111C8B107F1}"/>
              </a:ext>
            </a:extLst>
          </p:cNvPr>
          <p:cNvSpPr txBox="1"/>
          <p:nvPr/>
        </p:nvSpPr>
        <p:spPr>
          <a:xfrm>
            <a:off x="7379178" y="5802203"/>
            <a:ext cx="2788077" cy="461665"/>
          </a:xfrm>
          <a:prstGeom prst="rect">
            <a:avLst/>
          </a:prstGeom>
          <a:noFill/>
        </p:spPr>
        <p:txBody>
          <a:bodyPr wrap="square" rtlCol="0">
            <a:spAutoFit/>
          </a:bodyPr>
          <a:lstStyle/>
          <a:p>
            <a:r>
              <a:rPr lang="en-US" sz="2400" dirty="0">
                <a:solidFill>
                  <a:schemeClr val="accent6">
                    <a:lumMod val="75000"/>
                  </a:schemeClr>
                </a:solidFill>
              </a:rPr>
              <a:t>Heap (after GC) </a:t>
            </a:r>
          </a:p>
        </p:txBody>
      </p:sp>
      <p:sp>
        <p:nvSpPr>
          <p:cNvPr id="31" name="Arrow: Down 30">
            <a:extLst>
              <a:ext uri="{FF2B5EF4-FFF2-40B4-BE49-F238E27FC236}">
                <a16:creationId xmlns:a16="http://schemas.microsoft.com/office/drawing/2014/main" id="{5FD282D7-7FDB-3D6A-20E6-93698DCD7E06}"/>
              </a:ext>
            </a:extLst>
          </p:cNvPr>
          <p:cNvSpPr/>
          <p:nvPr/>
        </p:nvSpPr>
        <p:spPr>
          <a:xfrm>
            <a:off x="1676398" y="4938593"/>
            <a:ext cx="413652" cy="509587"/>
          </a:xfrm>
          <a:prstGeom prst="downArrow">
            <a:avLst>
              <a:gd name="adj1" fmla="val 50000"/>
              <a:gd name="adj2" fmla="val 50000"/>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8421FA4F-DCD6-16BD-D93F-A3817ABEFAAF}"/>
              </a:ext>
            </a:extLst>
          </p:cNvPr>
          <p:cNvSpPr/>
          <p:nvPr/>
        </p:nvSpPr>
        <p:spPr>
          <a:xfrm>
            <a:off x="566057" y="3602002"/>
            <a:ext cx="2649051" cy="1139378"/>
          </a:xfrm>
          <a:prstGeom prst="ellipse">
            <a:avLst/>
          </a:prstGeom>
          <a:no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26C30E75-A09A-D763-30F9-94146E3D1EA6}"/>
              </a:ext>
            </a:extLst>
          </p:cNvPr>
          <p:cNvSpPr txBox="1"/>
          <p:nvPr/>
        </p:nvSpPr>
        <p:spPr>
          <a:xfrm>
            <a:off x="834570" y="3802359"/>
            <a:ext cx="507994" cy="369332"/>
          </a:xfrm>
          <a:prstGeom prst="rect">
            <a:avLst/>
          </a:prstGeom>
          <a:noFill/>
        </p:spPr>
        <p:txBody>
          <a:bodyPr wrap="square">
            <a:spAutoFit/>
          </a:bodyPr>
          <a:lstStyle/>
          <a:p>
            <a:r>
              <a:rPr lang="en-US" sz="1800" dirty="0">
                <a:solidFill>
                  <a:schemeClr val="accent4">
                    <a:lumMod val="50000"/>
                  </a:schemeClr>
                </a:solidFill>
              </a:rPr>
              <a:t>M1</a:t>
            </a:r>
            <a:endParaRPr lang="en-US" dirty="0"/>
          </a:p>
        </p:txBody>
      </p:sp>
      <p:sp>
        <p:nvSpPr>
          <p:cNvPr id="36" name="TextBox 35">
            <a:extLst>
              <a:ext uri="{FF2B5EF4-FFF2-40B4-BE49-F238E27FC236}">
                <a16:creationId xmlns:a16="http://schemas.microsoft.com/office/drawing/2014/main" id="{9FB73A7E-77D9-1B8E-4B3F-EB305D6C829A}"/>
              </a:ext>
            </a:extLst>
          </p:cNvPr>
          <p:cNvSpPr txBox="1"/>
          <p:nvPr/>
        </p:nvSpPr>
        <p:spPr>
          <a:xfrm>
            <a:off x="1582056" y="3635445"/>
            <a:ext cx="507994" cy="369332"/>
          </a:xfrm>
          <a:prstGeom prst="rect">
            <a:avLst/>
          </a:prstGeom>
          <a:noFill/>
        </p:spPr>
        <p:txBody>
          <a:bodyPr wrap="square">
            <a:spAutoFit/>
          </a:bodyPr>
          <a:lstStyle/>
          <a:p>
            <a:r>
              <a:rPr lang="en-US" sz="1800" dirty="0">
                <a:solidFill>
                  <a:schemeClr val="accent4">
                    <a:lumMod val="50000"/>
                  </a:schemeClr>
                </a:solidFill>
              </a:rPr>
              <a:t>M2</a:t>
            </a:r>
            <a:endParaRPr lang="en-US" dirty="0"/>
          </a:p>
        </p:txBody>
      </p:sp>
      <p:sp>
        <p:nvSpPr>
          <p:cNvPr id="37" name="TextBox 36">
            <a:extLst>
              <a:ext uri="{FF2B5EF4-FFF2-40B4-BE49-F238E27FC236}">
                <a16:creationId xmlns:a16="http://schemas.microsoft.com/office/drawing/2014/main" id="{7BD3F5FF-03A5-7515-94AD-33D023F9ED69}"/>
              </a:ext>
            </a:extLst>
          </p:cNvPr>
          <p:cNvSpPr txBox="1"/>
          <p:nvPr/>
        </p:nvSpPr>
        <p:spPr>
          <a:xfrm>
            <a:off x="2336797" y="3780585"/>
            <a:ext cx="507994" cy="369332"/>
          </a:xfrm>
          <a:prstGeom prst="rect">
            <a:avLst/>
          </a:prstGeom>
          <a:noFill/>
        </p:spPr>
        <p:txBody>
          <a:bodyPr wrap="square">
            <a:spAutoFit/>
          </a:bodyPr>
          <a:lstStyle/>
          <a:p>
            <a:r>
              <a:rPr lang="en-US" sz="1800" dirty="0">
                <a:solidFill>
                  <a:schemeClr val="accent4">
                    <a:lumMod val="50000"/>
                  </a:schemeClr>
                </a:solidFill>
              </a:rPr>
              <a:t>M3</a:t>
            </a:r>
            <a:endParaRPr lang="en-US" dirty="0"/>
          </a:p>
        </p:txBody>
      </p:sp>
      <p:sp>
        <p:nvSpPr>
          <p:cNvPr id="38" name="TextBox 37">
            <a:extLst>
              <a:ext uri="{FF2B5EF4-FFF2-40B4-BE49-F238E27FC236}">
                <a16:creationId xmlns:a16="http://schemas.microsoft.com/office/drawing/2014/main" id="{E5EBB340-D8C5-EC76-DEA8-1FAEFF57323A}"/>
              </a:ext>
            </a:extLst>
          </p:cNvPr>
          <p:cNvSpPr txBox="1"/>
          <p:nvPr/>
        </p:nvSpPr>
        <p:spPr>
          <a:xfrm>
            <a:off x="1103084" y="4230531"/>
            <a:ext cx="507994" cy="369332"/>
          </a:xfrm>
          <a:prstGeom prst="rect">
            <a:avLst/>
          </a:prstGeom>
          <a:noFill/>
        </p:spPr>
        <p:txBody>
          <a:bodyPr wrap="square">
            <a:spAutoFit/>
          </a:bodyPr>
          <a:lstStyle/>
          <a:p>
            <a:r>
              <a:rPr lang="en-US" sz="1800" dirty="0">
                <a:solidFill>
                  <a:schemeClr val="accent4">
                    <a:lumMod val="50000"/>
                  </a:schemeClr>
                </a:solidFill>
              </a:rPr>
              <a:t>M4</a:t>
            </a:r>
            <a:endParaRPr lang="en-US" dirty="0"/>
          </a:p>
        </p:txBody>
      </p:sp>
      <p:sp>
        <p:nvSpPr>
          <p:cNvPr id="39" name="TextBox 38">
            <a:extLst>
              <a:ext uri="{FF2B5EF4-FFF2-40B4-BE49-F238E27FC236}">
                <a16:creationId xmlns:a16="http://schemas.microsoft.com/office/drawing/2014/main" id="{51F38DDC-E14A-705F-0FC1-8DB0B9BE02EE}"/>
              </a:ext>
            </a:extLst>
          </p:cNvPr>
          <p:cNvSpPr txBox="1"/>
          <p:nvPr/>
        </p:nvSpPr>
        <p:spPr>
          <a:xfrm>
            <a:off x="1611085" y="4027330"/>
            <a:ext cx="507994" cy="369332"/>
          </a:xfrm>
          <a:prstGeom prst="rect">
            <a:avLst/>
          </a:prstGeom>
          <a:noFill/>
        </p:spPr>
        <p:txBody>
          <a:bodyPr wrap="square">
            <a:spAutoFit/>
          </a:bodyPr>
          <a:lstStyle/>
          <a:p>
            <a:r>
              <a:rPr lang="en-US" sz="1800" dirty="0">
                <a:solidFill>
                  <a:schemeClr val="accent4">
                    <a:lumMod val="50000"/>
                  </a:schemeClr>
                </a:solidFill>
              </a:rPr>
              <a:t>M5</a:t>
            </a:r>
            <a:endParaRPr lang="en-US" dirty="0"/>
          </a:p>
        </p:txBody>
      </p:sp>
      <p:sp>
        <p:nvSpPr>
          <p:cNvPr id="40" name="TextBox 39">
            <a:extLst>
              <a:ext uri="{FF2B5EF4-FFF2-40B4-BE49-F238E27FC236}">
                <a16:creationId xmlns:a16="http://schemas.microsoft.com/office/drawing/2014/main" id="{73C6FE7F-6BFE-6E3A-079E-91ADD715E726}"/>
              </a:ext>
            </a:extLst>
          </p:cNvPr>
          <p:cNvSpPr txBox="1"/>
          <p:nvPr/>
        </p:nvSpPr>
        <p:spPr>
          <a:xfrm>
            <a:off x="2278740" y="4143444"/>
            <a:ext cx="507994" cy="369332"/>
          </a:xfrm>
          <a:prstGeom prst="rect">
            <a:avLst/>
          </a:prstGeom>
          <a:noFill/>
        </p:spPr>
        <p:txBody>
          <a:bodyPr wrap="square">
            <a:spAutoFit/>
          </a:bodyPr>
          <a:lstStyle/>
          <a:p>
            <a:r>
              <a:rPr lang="en-US" sz="1800" dirty="0">
                <a:solidFill>
                  <a:schemeClr val="accent4">
                    <a:lumMod val="50000"/>
                  </a:schemeClr>
                </a:solidFill>
              </a:rPr>
              <a:t>M6</a:t>
            </a:r>
            <a:endParaRPr lang="en-US" dirty="0"/>
          </a:p>
        </p:txBody>
      </p:sp>
      <p:sp>
        <p:nvSpPr>
          <p:cNvPr id="41" name="TextBox 40">
            <a:extLst>
              <a:ext uri="{FF2B5EF4-FFF2-40B4-BE49-F238E27FC236}">
                <a16:creationId xmlns:a16="http://schemas.microsoft.com/office/drawing/2014/main" id="{F7222B98-B05A-00F8-99EC-2CABA41BF6EF}"/>
              </a:ext>
            </a:extLst>
          </p:cNvPr>
          <p:cNvSpPr txBox="1"/>
          <p:nvPr/>
        </p:nvSpPr>
        <p:spPr>
          <a:xfrm>
            <a:off x="1714393" y="4405809"/>
            <a:ext cx="507994" cy="369332"/>
          </a:xfrm>
          <a:prstGeom prst="rect">
            <a:avLst/>
          </a:prstGeom>
          <a:noFill/>
        </p:spPr>
        <p:txBody>
          <a:bodyPr wrap="square">
            <a:spAutoFit/>
          </a:bodyPr>
          <a:lstStyle/>
          <a:p>
            <a:r>
              <a:rPr lang="en-US" sz="1800" dirty="0">
                <a:solidFill>
                  <a:schemeClr val="accent4">
                    <a:lumMod val="50000"/>
                  </a:schemeClr>
                </a:solidFill>
              </a:rPr>
              <a:t>M7</a:t>
            </a:r>
            <a:endParaRPr lang="en-US" dirty="0"/>
          </a:p>
        </p:txBody>
      </p:sp>
      <p:sp>
        <p:nvSpPr>
          <p:cNvPr id="42" name="Oval 41">
            <a:extLst>
              <a:ext uri="{FF2B5EF4-FFF2-40B4-BE49-F238E27FC236}">
                <a16:creationId xmlns:a16="http://schemas.microsoft.com/office/drawing/2014/main" id="{24669E07-E4DB-C710-7807-193A2BED566F}"/>
              </a:ext>
            </a:extLst>
          </p:cNvPr>
          <p:cNvSpPr/>
          <p:nvPr/>
        </p:nvSpPr>
        <p:spPr>
          <a:xfrm>
            <a:off x="540556" y="5595559"/>
            <a:ext cx="2649051" cy="1139378"/>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0F7766B9-5E36-2B3E-2079-8D7A5F1C8CC9}"/>
              </a:ext>
            </a:extLst>
          </p:cNvPr>
          <p:cNvSpPr txBox="1"/>
          <p:nvPr/>
        </p:nvSpPr>
        <p:spPr>
          <a:xfrm>
            <a:off x="96397" y="5279300"/>
            <a:ext cx="2690337" cy="400110"/>
          </a:xfrm>
          <a:prstGeom prst="rect">
            <a:avLst/>
          </a:prstGeom>
          <a:noFill/>
        </p:spPr>
        <p:txBody>
          <a:bodyPr wrap="square">
            <a:spAutoFit/>
          </a:bodyPr>
          <a:lstStyle/>
          <a:p>
            <a:r>
              <a:rPr lang="en-US" sz="2000" dirty="0">
                <a:solidFill>
                  <a:srgbClr val="0070C0"/>
                </a:solidFill>
              </a:rPr>
              <a:t>Unscanned</a:t>
            </a:r>
            <a:endParaRPr lang="en-US" sz="2000" dirty="0"/>
          </a:p>
        </p:txBody>
      </p:sp>
      <p:sp>
        <p:nvSpPr>
          <p:cNvPr id="45" name="Oval 44">
            <a:extLst>
              <a:ext uri="{FF2B5EF4-FFF2-40B4-BE49-F238E27FC236}">
                <a16:creationId xmlns:a16="http://schemas.microsoft.com/office/drawing/2014/main" id="{8D9BF30F-AEA8-10CA-64C4-338CD121C196}"/>
              </a:ext>
            </a:extLst>
          </p:cNvPr>
          <p:cNvSpPr/>
          <p:nvPr/>
        </p:nvSpPr>
        <p:spPr>
          <a:xfrm>
            <a:off x="4094793" y="5611255"/>
            <a:ext cx="2649051" cy="1139378"/>
          </a:xfrm>
          <a:prstGeom prst="ellips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6" name="TextBox 45">
            <a:extLst>
              <a:ext uri="{FF2B5EF4-FFF2-40B4-BE49-F238E27FC236}">
                <a16:creationId xmlns:a16="http://schemas.microsoft.com/office/drawing/2014/main" id="{5DC38FD3-AA98-2685-F740-9F2AF2729CE6}"/>
              </a:ext>
            </a:extLst>
          </p:cNvPr>
          <p:cNvSpPr txBox="1"/>
          <p:nvPr/>
        </p:nvSpPr>
        <p:spPr>
          <a:xfrm>
            <a:off x="5784139" y="5261635"/>
            <a:ext cx="1225022" cy="400110"/>
          </a:xfrm>
          <a:prstGeom prst="rect">
            <a:avLst/>
          </a:prstGeom>
          <a:noFill/>
        </p:spPr>
        <p:txBody>
          <a:bodyPr wrap="square">
            <a:spAutoFit/>
          </a:bodyPr>
          <a:lstStyle/>
          <a:p>
            <a:r>
              <a:rPr lang="en-US" sz="2000" dirty="0">
                <a:solidFill>
                  <a:schemeClr val="accent2">
                    <a:lumMod val="75000"/>
                  </a:schemeClr>
                </a:solidFill>
              </a:rPr>
              <a:t>Scanned</a:t>
            </a:r>
          </a:p>
        </p:txBody>
      </p:sp>
      <p:sp>
        <p:nvSpPr>
          <p:cNvPr id="47" name="Arrow: Right 46">
            <a:extLst>
              <a:ext uri="{FF2B5EF4-FFF2-40B4-BE49-F238E27FC236}">
                <a16:creationId xmlns:a16="http://schemas.microsoft.com/office/drawing/2014/main" id="{6819436A-0DA3-AB1C-232F-21C52677E1F7}"/>
              </a:ext>
            </a:extLst>
          </p:cNvPr>
          <p:cNvSpPr/>
          <p:nvPr/>
        </p:nvSpPr>
        <p:spPr>
          <a:xfrm>
            <a:off x="3323503" y="6005475"/>
            <a:ext cx="597284" cy="482620"/>
          </a:xfrm>
          <a:prstGeom prst="right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B8C663AF-1926-A205-8AAA-70499E104BC2}"/>
              </a:ext>
            </a:extLst>
          </p:cNvPr>
          <p:cNvSpPr txBox="1"/>
          <p:nvPr/>
        </p:nvSpPr>
        <p:spPr>
          <a:xfrm>
            <a:off x="870857" y="5870649"/>
            <a:ext cx="507994" cy="369332"/>
          </a:xfrm>
          <a:prstGeom prst="rect">
            <a:avLst/>
          </a:prstGeom>
          <a:noFill/>
        </p:spPr>
        <p:txBody>
          <a:bodyPr wrap="square">
            <a:spAutoFit/>
          </a:bodyPr>
          <a:lstStyle/>
          <a:p>
            <a:r>
              <a:rPr lang="en-US" sz="1800" dirty="0">
                <a:solidFill>
                  <a:schemeClr val="accent4">
                    <a:lumMod val="50000"/>
                  </a:schemeClr>
                </a:solidFill>
              </a:rPr>
              <a:t>M1</a:t>
            </a:r>
            <a:endParaRPr lang="en-US" dirty="0"/>
          </a:p>
        </p:txBody>
      </p:sp>
      <p:sp>
        <p:nvSpPr>
          <p:cNvPr id="49" name="TextBox 48">
            <a:extLst>
              <a:ext uri="{FF2B5EF4-FFF2-40B4-BE49-F238E27FC236}">
                <a16:creationId xmlns:a16="http://schemas.microsoft.com/office/drawing/2014/main" id="{11DB6E49-C0E6-B2C1-F431-9628F473BDD2}"/>
              </a:ext>
            </a:extLst>
          </p:cNvPr>
          <p:cNvSpPr txBox="1"/>
          <p:nvPr/>
        </p:nvSpPr>
        <p:spPr>
          <a:xfrm>
            <a:off x="1567541" y="5652931"/>
            <a:ext cx="507994" cy="369332"/>
          </a:xfrm>
          <a:prstGeom prst="rect">
            <a:avLst/>
          </a:prstGeom>
          <a:noFill/>
        </p:spPr>
        <p:txBody>
          <a:bodyPr wrap="square">
            <a:spAutoFit/>
          </a:bodyPr>
          <a:lstStyle/>
          <a:p>
            <a:r>
              <a:rPr lang="en-US" sz="1800" dirty="0">
                <a:solidFill>
                  <a:schemeClr val="accent4">
                    <a:lumMod val="50000"/>
                  </a:schemeClr>
                </a:solidFill>
              </a:rPr>
              <a:t>M2</a:t>
            </a:r>
            <a:endParaRPr lang="en-US" dirty="0"/>
          </a:p>
        </p:txBody>
      </p:sp>
      <p:sp>
        <p:nvSpPr>
          <p:cNvPr id="50" name="TextBox 49">
            <a:extLst>
              <a:ext uri="{FF2B5EF4-FFF2-40B4-BE49-F238E27FC236}">
                <a16:creationId xmlns:a16="http://schemas.microsoft.com/office/drawing/2014/main" id="{B24491A8-45F0-7998-6146-53033EE9E527}"/>
              </a:ext>
            </a:extLst>
          </p:cNvPr>
          <p:cNvSpPr txBox="1"/>
          <p:nvPr/>
        </p:nvSpPr>
        <p:spPr>
          <a:xfrm>
            <a:off x="4484915" y="5870645"/>
            <a:ext cx="507994" cy="369332"/>
          </a:xfrm>
          <a:prstGeom prst="rect">
            <a:avLst/>
          </a:prstGeom>
          <a:noFill/>
        </p:spPr>
        <p:txBody>
          <a:bodyPr wrap="square">
            <a:spAutoFit/>
          </a:bodyPr>
          <a:lstStyle/>
          <a:p>
            <a:r>
              <a:rPr lang="en-US" sz="1800" dirty="0">
                <a:solidFill>
                  <a:schemeClr val="accent4">
                    <a:lumMod val="50000"/>
                  </a:schemeClr>
                </a:solidFill>
              </a:rPr>
              <a:t>M1</a:t>
            </a:r>
            <a:endParaRPr lang="en-US" dirty="0"/>
          </a:p>
        </p:txBody>
      </p:sp>
      <p:sp>
        <p:nvSpPr>
          <p:cNvPr id="51" name="TextBox 50">
            <a:extLst>
              <a:ext uri="{FF2B5EF4-FFF2-40B4-BE49-F238E27FC236}">
                <a16:creationId xmlns:a16="http://schemas.microsoft.com/office/drawing/2014/main" id="{E0C1464F-E941-4828-A950-4228203FE01D}"/>
              </a:ext>
            </a:extLst>
          </p:cNvPr>
          <p:cNvSpPr txBox="1"/>
          <p:nvPr/>
        </p:nvSpPr>
        <p:spPr>
          <a:xfrm>
            <a:off x="1277258" y="6233498"/>
            <a:ext cx="507994" cy="369332"/>
          </a:xfrm>
          <a:prstGeom prst="rect">
            <a:avLst/>
          </a:prstGeom>
          <a:noFill/>
        </p:spPr>
        <p:txBody>
          <a:bodyPr wrap="square">
            <a:spAutoFit/>
          </a:bodyPr>
          <a:lstStyle/>
          <a:p>
            <a:r>
              <a:rPr lang="en-US" sz="1800" dirty="0">
                <a:solidFill>
                  <a:schemeClr val="accent4">
                    <a:lumMod val="50000"/>
                  </a:schemeClr>
                </a:solidFill>
              </a:rPr>
              <a:t>M4</a:t>
            </a:r>
            <a:endParaRPr lang="en-US" dirty="0"/>
          </a:p>
        </p:txBody>
      </p:sp>
      <p:sp>
        <p:nvSpPr>
          <p:cNvPr id="52" name="TextBox 51">
            <a:extLst>
              <a:ext uri="{FF2B5EF4-FFF2-40B4-BE49-F238E27FC236}">
                <a16:creationId xmlns:a16="http://schemas.microsoft.com/office/drawing/2014/main" id="{7F8910AA-A7A9-DD29-1CE3-CD9479B56852}"/>
              </a:ext>
            </a:extLst>
          </p:cNvPr>
          <p:cNvSpPr txBox="1"/>
          <p:nvPr/>
        </p:nvSpPr>
        <p:spPr>
          <a:xfrm>
            <a:off x="2177139" y="5914186"/>
            <a:ext cx="507994" cy="369332"/>
          </a:xfrm>
          <a:prstGeom prst="rect">
            <a:avLst/>
          </a:prstGeom>
          <a:noFill/>
        </p:spPr>
        <p:txBody>
          <a:bodyPr wrap="square">
            <a:spAutoFit/>
          </a:bodyPr>
          <a:lstStyle/>
          <a:p>
            <a:r>
              <a:rPr lang="en-US" sz="1800" dirty="0">
                <a:solidFill>
                  <a:schemeClr val="accent4">
                    <a:lumMod val="50000"/>
                  </a:schemeClr>
                </a:solidFill>
              </a:rPr>
              <a:t>M6</a:t>
            </a:r>
            <a:endParaRPr lang="en-US" dirty="0"/>
          </a:p>
        </p:txBody>
      </p:sp>
      <p:sp>
        <p:nvSpPr>
          <p:cNvPr id="53" name="TextBox 52">
            <a:extLst>
              <a:ext uri="{FF2B5EF4-FFF2-40B4-BE49-F238E27FC236}">
                <a16:creationId xmlns:a16="http://schemas.microsoft.com/office/drawing/2014/main" id="{D4A5DDA7-059D-3A06-C019-0FB3D528C9F6}"/>
              </a:ext>
            </a:extLst>
          </p:cNvPr>
          <p:cNvSpPr txBox="1"/>
          <p:nvPr/>
        </p:nvSpPr>
        <p:spPr>
          <a:xfrm>
            <a:off x="5181599" y="5667443"/>
            <a:ext cx="507994" cy="369332"/>
          </a:xfrm>
          <a:prstGeom prst="rect">
            <a:avLst/>
          </a:prstGeom>
          <a:noFill/>
        </p:spPr>
        <p:txBody>
          <a:bodyPr wrap="square">
            <a:spAutoFit/>
          </a:bodyPr>
          <a:lstStyle/>
          <a:p>
            <a:r>
              <a:rPr lang="en-US" sz="1800" dirty="0">
                <a:solidFill>
                  <a:schemeClr val="accent4">
                    <a:lumMod val="50000"/>
                  </a:schemeClr>
                </a:solidFill>
              </a:rPr>
              <a:t>M2</a:t>
            </a:r>
            <a:endParaRPr lang="en-US" dirty="0"/>
          </a:p>
        </p:txBody>
      </p:sp>
      <p:sp>
        <p:nvSpPr>
          <p:cNvPr id="54" name="TextBox 53">
            <a:extLst>
              <a:ext uri="{FF2B5EF4-FFF2-40B4-BE49-F238E27FC236}">
                <a16:creationId xmlns:a16="http://schemas.microsoft.com/office/drawing/2014/main" id="{C8B11DB5-8C1E-513E-2177-67A6D01008D2}"/>
              </a:ext>
            </a:extLst>
          </p:cNvPr>
          <p:cNvSpPr txBox="1"/>
          <p:nvPr/>
        </p:nvSpPr>
        <p:spPr>
          <a:xfrm>
            <a:off x="1915885" y="6262530"/>
            <a:ext cx="507994" cy="369332"/>
          </a:xfrm>
          <a:prstGeom prst="rect">
            <a:avLst/>
          </a:prstGeom>
          <a:noFill/>
        </p:spPr>
        <p:txBody>
          <a:bodyPr wrap="square">
            <a:spAutoFit/>
          </a:bodyPr>
          <a:lstStyle/>
          <a:p>
            <a:r>
              <a:rPr lang="en-US" sz="1800" dirty="0">
                <a:solidFill>
                  <a:schemeClr val="accent4">
                    <a:lumMod val="50000"/>
                  </a:schemeClr>
                </a:solidFill>
              </a:rPr>
              <a:t>M5</a:t>
            </a:r>
            <a:endParaRPr lang="en-US" dirty="0"/>
          </a:p>
        </p:txBody>
      </p:sp>
      <p:sp>
        <p:nvSpPr>
          <p:cNvPr id="55" name="TextBox 54">
            <a:extLst>
              <a:ext uri="{FF2B5EF4-FFF2-40B4-BE49-F238E27FC236}">
                <a16:creationId xmlns:a16="http://schemas.microsoft.com/office/drawing/2014/main" id="{5335BB7C-56A6-F1E8-2E8F-1155708F011C}"/>
              </a:ext>
            </a:extLst>
          </p:cNvPr>
          <p:cNvSpPr txBox="1"/>
          <p:nvPr/>
        </p:nvSpPr>
        <p:spPr>
          <a:xfrm>
            <a:off x="4840517" y="6269783"/>
            <a:ext cx="507994" cy="369332"/>
          </a:xfrm>
          <a:prstGeom prst="rect">
            <a:avLst/>
          </a:prstGeom>
          <a:noFill/>
        </p:spPr>
        <p:txBody>
          <a:bodyPr wrap="square">
            <a:spAutoFit/>
          </a:bodyPr>
          <a:lstStyle/>
          <a:p>
            <a:r>
              <a:rPr lang="en-US" sz="1800" dirty="0">
                <a:solidFill>
                  <a:schemeClr val="accent4">
                    <a:lumMod val="50000"/>
                  </a:schemeClr>
                </a:solidFill>
              </a:rPr>
              <a:t>M4</a:t>
            </a:r>
            <a:endParaRPr lang="en-US" dirty="0"/>
          </a:p>
        </p:txBody>
      </p:sp>
      <p:sp>
        <p:nvSpPr>
          <p:cNvPr id="56" name="TextBox 55">
            <a:extLst>
              <a:ext uri="{FF2B5EF4-FFF2-40B4-BE49-F238E27FC236}">
                <a16:creationId xmlns:a16="http://schemas.microsoft.com/office/drawing/2014/main" id="{6BE02229-F66C-8078-F573-9B665E00DC0B}"/>
              </a:ext>
            </a:extLst>
          </p:cNvPr>
          <p:cNvSpPr txBox="1"/>
          <p:nvPr/>
        </p:nvSpPr>
        <p:spPr>
          <a:xfrm>
            <a:off x="5812969" y="5906932"/>
            <a:ext cx="507994" cy="369332"/>
          </a:xfrm>
          <a:prstGeom prst="rect">
            <a:avLst/>
          </a:prstGeom>
          <a:noFill/>
        </p:spPr>
        <p:txBody>
          <a:bodyPr wrap="square">
            <a:spAutoFit/>
          </a:bodyPr>
          <a:lstStyle/>
          <a:p>
            <a:r>
              <a:rPr lang="en-US" sz="1800" dirty="0">
                <a:solidFill>
                  <a:schemeClr val="accent4">
                    <a:lumMod val="50000"/>
                  </a:schemeClr>
                </a:solidFill>
              </a:rPr>
              <a:t>M6</a:t>
            </a:r>
            <a:endParaRPr lang="en-US" dirty="0"/>
          </a:p>
        </p:txBody>
      </p:sp>
      <p:sp>
        <p:nvSpPr>
          <p:cNvPr id="57" name="TextBox 56">
            <a:extLst>
              <a:ext uri="{FF2B5EF4-FFF2-40B4-BE49-F238E27FC236}">
                <a16:creationId xmlns:a16="http://schemas.microsoft.com/office/drawing/2014/main" id="{D35F5CC1-E0E0-4805-858D-FD30A1F06C67}"/>
              </a:ext>
            </a:extLst>
          </p:cNvPr>
          <p:cNvSpPr txBox="1"/>
          <p:nvPr/>
        </p:nvSpPr>
        <p:spPr>
          <a:xfrm>
            <a:off x="5595254" y="6298814"/>
            <a:ext cx="507994" cy="369332"/>
          </a:xfrm>
          <a:prstGeom prst="rect">
            <a:avLst/>
          </a:prstGeom>
          <a:noFill/>
        </p:spPr>
        <p:txBody>
          <a:bodyPr wrap="square">
            <a:spAutoFit/>
          </a:bodyPr>
          <a:lstStyle/>
          <a:p>
            <a:r>
              <a:rPr lang="en-US" sz="1800" dirty="0">
                <a:solidFill>
                  <a:schemeClr val="accent4">
                    <a:lumMod val="50000"/>
                  </a:schemeClr>
                </a:solidFill>
              </a:rPr>
              <a:t>M5</a:t>
            </a:r>
            <a:endParaRPr lang="en-US" dirty="0"/>
          </a:p>
        </p:txBody>
      </p:sp>
      <p:sp>
        <p:nvSpPr>
          <p:cNvPr id="58" name="Arrow: Left 57">
            <a:extLst>
              <a:ext uri="{FF2B5EF4-FFF2-40B4-BE49-F238E27FC236}">
                <a16:creationId xmlns:a16="http://schemas.microsoft.com/office/drawing/2014/main" id="{09B67C6F-574C-FB68-43D6-CD7BCE3E147C}"/>
              </a:ext>
            </a:extLst>
          </p:cNvPr>
          <p:cNvSpPr/>
          <p:nvPr/>
        </p:nvSpPr>
        <p:spPr>
          <a:xfrm rot="1843378">
            <a:off x="3332656" y="4948013"/>
            <a:ext cx="844017" cy="441582"/>
          </a:xfrm>
          <a:prstGeom prst="leftArrow">
            <a:avLst>
              <a:gd name="adj1" fmla="val 44349"/>
              <a:gd name="adj2" fmla="val 50000"/>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1CAB8A45-032A-979B-A591-26B33C1F86AF}"/>
              </a:ext>
            </a:extLst>
          </p:cNvPr>
          <p:cNvSpPr/>
          <p:nvPr/>
        </p:nvSpPr>
        <p:spPr>
          <a:xfrm>
            <a:off x="4177881" y="3675845"/>
            <a:ext cx="2649051" cy="1139378"/>
          </a:xfrm>
          <a:prstGeom prst="ellipse">
            <a:avLst/>
          </a:prstGeom>
          <a:ln>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2" name="TextBox 61">
            <a:extLst>
              <a:ext uri="{FF2B5EF4-FFF2-40B4-BE49-F238E27FC236}">
                <a16:creationId xmlns:a16="http://schemas.microsoft.com/office/drawing/2014/main" id="{5EEE57F0-6B70-5178-F0F8-D0153B3BF787}"/>
              </a:ext>
            </a:extLst>
          </p:cNvPr>
          <p:cNvSpPr txBox="1"/>
          <p:nvPr/>
        </p:nvSpPr>
        <p:spPr>
          <a:xfrm>
            <a:off x="5406762" y="3289532"/>
            <a:ext cx="1225022" cy="400110"/>
          </a:xfrm>
          <a:prstGeom prst="rect">
            <a:avLst/>
          </a:prstGeom>
          <a:noFill/>
        </p:spPr>
        <p:txBody>
          <a:bodyPr wrap="square">
            <a:spAutoFit/>
          </a:bodyPr>
          <a:lstStyle/>
          <a:p>
            <a:r>
              <a:rPr lang="en-US" sz="2000" dirty="0">
                <a:solidFill>
                  <a:srgbClr val="7030A0"/>
                </a:solidFill>
              </a:rPr>
              <a:t>Free</a:t>
            </a:r>
          </a:p>
        </p:txBody>
      </p:sp>
      <p:sp>
        <p:nvSpPr>
          <p:cNvPr id="63" name="TextBox 62">
            <a:extLst>
              <a:ext uri="{FF2B5EF4-FFF2-40B4-BE49-F238E27FC236}">
                <a16:creationId xmlns:a16="http://schemas.microsoft.com/office/drawing/2014/main" id="{089726BC-4F49-BCBA-5EF4-EEA923EC0EFE}"/>
              </a:ext>
            </a:extLst>
          </p:cNvPr>
          <p:cNvSpPr txBox="1"/>
          <p:nvPr/>
        </p:nvSpPr>
        <p:spPr>
          <a:xfrm>
            <a:off x="5617016" y="4049420"/>
            <a:ext cx="507994" cy="369332"/>
          </a:xfrm>
          <a:prstGeom prst="rect">
            <a:avLst/>
          </a:prstGeom>
          <a:noFill/>
        </p:spPr>
        <p:txBody>
          <a:bodyPr wrap="square">
            <a:spAutoFit/>
          </a:bodyPr>
          <a:lstStyle/>
          <a:p>
            <a:r>
              <a:rPr lang="en-US" sz="1800" dirty="0">
                <a:solidFill>
                  <a:schemeClr val="accent4">
                    <a:lumMod val="50000"/>
                  </a:schemeClr>
                </a:solidFill>
              </a:rPr>
              <a:t>M7</a:t>
            </a:r>
            <a:endParaRPr lang="en-US" dirty="0"/>
          </a:p>
        </p:txBody>
      </p:sp>
      <p:sp>
        <p:nvSpPr>
          <p:cNvPr id="64" name="TextBox 63">
            <a:extLst>
              <a:ext uri="{FF2B5EF4-FFF2-40B4-BE49-F238E27FC236}">
                <a16:creationId xmlns:a16="http://schemas.microsoft.com/office/drawing/2014/main" id="{287EAA8D-0BDF-0370-0EF2-BE53B766EF3C}"/>
              </a:ext>
            </a:extLst>
          </p:cNvPr>
          <p:cNvSpPr txBox="1"/>
          <p:nvPr/>
        </p:nvSpPr>
        <p:spPr>
          <a:xfrm>
            <a:off x="4914104" y="4036477"/>
            <a:ext cx="507994" cy="369332"/>
          </a:xfrm>
          <a:prstGeom prst="rect">
            <a:avLst/>
          </a:prstGeom>
          <a:noFill/>
        </p:spPr>
        <p:txBody>
          <a:bodyPr wrap="square">
            <a:spAutoFit/>
          </a:bodyPr>
          <a:lstStyle/>
          <a:p>
            <a:r>
              <a:rPr lang="en-US" sz="1800" dirty="0">
                <a:solidFill>
                  <a:schemeClr val="accent4">
                    <a:lumMod val="50000"/>
                  </a:schemeClr>
                </a:solidFill>
              </a:rPr>
              <a:t>M3</a:t>
            </a:r>
            <a:endParaRPr lang="en-US" dirty="0"/>
          </a:p>
        </p:txBody>
      </p:sp>
      <p:sp>
        <p:nvSpPr>
          <p:cNvPr id="65" name="Arrow: Right 64">
            <a:extLst>
              <a:ext uri="{FF2B5EF4-FFF2-40B4-BE49-F238E27FC236}">
                <a16:creationId xmlns:a16="http://schemas.microsoft.com/office/drawing/2014/main" id="{E2ED70EA-0C3E-1135-6B8A-EDA7D479DC49}"/>
              </a:ext>
            </a:extLst>
          </p:cNvPr>
          <p:cNvSpPr/>
          <p:nvPr/>
        </p:nvSpPr>
        <p:spPr>
          <a:xfrm>
            <a:off x="3388375" y="3979833"/>
            <a:ext cx="597284" cy="415749"/>
          </a:xfrm>
          <a:prstGeom prst="right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0044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barn(inVertical)">
                                      <p:cBhvr>
                                        <p:cTn id="14" dur="500"/>
                                        <p:tgtEl>
                                          <p:spTgt spid="17"/>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inVertical)">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1000"/>
                                        <p:tgtEl>
                                          <p:spTgt spid="33"/>
                                        </p:tgtEl>
                                      </p:cBhvr>
                                    </p:animEffect>
                                    <p:anim calcmode="lin" valueType="num">
                                      <p:cBhvr>
                                        <p:cTn id="28" dur="1000" fill="hold"/>
                                        <p:tgtEl>
                                          <p:spTgt spid="33"/>
                                        </p:tgtEl>
                                        <p:attrNameLst>
                                          <p:attrName>ppt_x</p:attrName>
                                        </p:attrNameLst>
                                      </p:cBhvr>
                                      <p:tavLst>
                                        <p:tav tm="0">
                                          <p:val>
                                            <p:strVal val="#ppt_x"/>
                                          </p:val>
                                        </p:tav>
                                        <p:tav tm="100000">
                                          <p:val>
                                            <p:strVal val="#ppt_x"/>
                                          </p:val>
                                        </p:tav>
                                      </p:tavLst>
                                    </p:anim>
                                    <p:anim calcmode="lin" valueType="num">
                                      <p:cBhvr>
                                        <p:cTn id="2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wipe(down)">
                                      <p:cBhvr>
                                        <p:cTn id="34" dur="500"/>
                                        <p:tgtEl>
                                          <p:spTgt spid="31"/>
                                        </p:tgtEl>
                                      </p:cBhvr>
                                    </p:animEffect>
                                  </p:childTnLst>
                                </p:cTn>
                              </p:par>
                              <p:par>
                                <p:cTn id="35" presetID="42"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1000"/>
                                        <p:tgtEl>
                                          <p:spTgt spid="44"/>
                                        </p:tgtEl>
                                      </p:cBhvr>
                                    </p:animEffect>
                                    <p:anim calcmode="lin" valueType="num">
                                      <p:cBhvr>
                                        <p:cTn id="38" dur="1000" fill="hold"/>
                                        <p:tgtEl>
                                          <p:spTgt spid="44"/>
                                        </p:tgtEl>
                                        <p:attrNameLst>
                                          <p:attrName>ppt_x</p:attrName>
                                        </p:attrNameLst>
                                      </p:cBhvr>
                                      <p:tavLst>
                                        <p:tav tm="0">
                                          <p:val>
                                            <p:strVal val="#ppt_x"/>
                                          </p:val>
                                        </p:tav>
                                        <p:tav tm="100000">
                                          <p:val>
                                            <p:strVal val="#ppt_x"/>
                                          </p:val>
                                        </p:tav>
                                      </p:tavLst>
                                    </p:anim>
                                    <p:anim calcmode="lin" valueType="num">
                                      <p:cBhvr>
                                        <p:cTn id="39" dur="1000" fill="hold"/>
                                        <p:tgtEl>
                                          <p:spTgt spid="4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1000"/>
                                        <p:tgtEl>
                                          <p:spTgt spid="42"/>
                                        </p:tgtEl>
                                      </p:cBhvr>
                                    </p:animEffect>
                                    <p:anim calcmode="lin" valueType="num">
                                      <p:cBhvr>
                                        <p:cTn id="43" dur="1000" fill="hold"/>
                                        <p:tgtEl>
                                          <p:spTgt spid="42"/>
                                        </p:tgtEl>
                                        <p:attrNameLst>
                                          <p:attrName>ppt_x</p:attrName>
                                        </p:attrNameLst>
                                      </p:cBhvr>
                                      <p:tavLst>
                                        <p:tav tm="0">
                                          <p:val>
                                            <p:strVal val="#ppt_x"/>
                                          </p:val>
                                        </p:tav>
                                        <p:tav tm="100000">
                                          <p:val>
                                            <p:strVal val="#ppt_x"/>
                                          </p:val>
                                        </p:tav>
                                      </p:tavLst>
                                    </p:anim>
                                    <p:anim calcmode="lin" valueType="num">
                                      <p:cBhvr>
                                        <p:cTn id="44"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wipe(down)">
                                      <p:cBhvr>
                                        <p:cTn id="49" dur="500"/>
                                        <p:tgtEl>
                                          <p:spTgt spid="47"/>
                                        </p:tgtEl>
                                      </p:cBhvr>
                                    </p:animEffect>
                                  </p:childTnLst>
                                </p:cTn>
                              </p:par>
                              <p:par>
                                <p:cTn id="50" presetID="42" presetClass="entr" presetSubtype="0" fill="hold" grpId="0"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1000"/>
                                        <p:tgtEl>
                                          <p:spTgt spid="46"/>
                                        </p:tgtEl>
                                      </p:cBhvr>
                                    </p:animEffect>
                                    <p:anim calcmode="lin" valueType="num">
                                      <p:cBhvr>
                                        <p:cTn id="53" dur="1000" fill="hold"/>
                                        <p:tgtEl>
                                          <p:spTgt spid="46"/>
                                        </p:tgtEl>
                                        <p:attrNameLst>
                                          <p:attrName>ppt_x</p:attrName>
                                        </p:attrNameLst>
                                      </p:cBhvr>
                                      <p:tavLst>
                                        <p:tav tm="0">
                                          <p:val>
                                            <p:strVal val="#ppt_x"/>
                                          </p:val>
                                        </p:tav>
                                        <p:tav tm="100000">
                                          <p:val>
                                            <p:strVal val="#ppt_x"/>
                                          </p:val>
                                        </p:tav>
                                      </p:tavLst>
                                    </p:anim>
                                    <p:anim calcmode="lin" valueType="num">
                                      <p:cBhvr>
                                        <p:cTn id="54" dur="1000" fill="hold"/>
                                        <p:tgtEl>
                                          <p:spTgt spid="46"/>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fade">
                                      <p:cBhvr>
                                        <p:cTn id="57" dur="1000"/>
                                        <p:tgtEl>
                                          <p:spTgt spid="45"/>
                                        </p:tgtEl>
                                      </p:cBhvr>
                                    </p:animEffect>
                                    <p:anim calcmode="lin" valueType="num">
                                      <p:cBhvr>
                                        <p:cTn id="58" dur="1000" fill="hold"/>
                                        <p:tgtEl>
                                          <p:spTgt spid="45"/>
                                        </p:tgtEl>
                                        <p:attrNameLst>
                                          <p:attrName>ppt_x</p:attrName>
                                        </p:attrNameLst>
                                      </p:cBhvr>
                                      <p:tavLst>
                                        <p:tav tm="0">
                                          <p:val>
                                            <p:strVal val="#ppt_x"/>
                                          </p:val>
                                        </p:tav>
                                        <p:tav tm="100000">
                                          <p:val>
                                            <p:strVal val="#ppt_x"/>
                                          </p:val>
                                        </p:tav>
                                      </p:tavLst>
                                    </p:anim>
                                    <p:anim calcmode="lin" valueType="num">
                                      <p:cBhvr>
                                        <p:cTn id="59"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fade">
                                      <p:cBhvr>
                                        <p:cTn id="64" dur="1000"/>
                                        <p:tgtEl>
                                          <p:spTgt spid="62"/>
                                        </p:tgtEl>
                                      </p:cBhvr>
                                    </p:animEffect>
                                    <p:anim calcmode="lin" valueType="num">
                                      <p:cBhvr>
                                        <p:cTn id="65" dur="1000" fill="hold"/>
                                        <p:tgtEl>
                                          <p:spTgt spid="62"/>
                                        </p:tgtEl>
                                        <p:attrNameLst>
                                          <p:attrName>ppt_x</p:attrName>
                                        </p:attrNameLst>
                                      </p:cBhvr>
                                      <p:tavLst>
                                        <p:tav tm="0">
                                          <p:val>
                                            <p:strVal val="#ppt_x"/>
                                          </p:val>
                                        </p:tav>
                                        <p:tav tm="100000">
                                          <p:val>
                                            <p:strVal val="#ppt_x"/>
                                          </p:val>
                                        </p:tav>
                                      </p:tavLst>
                                    </p:anim>
                                    <p:anim calcmode="lin" valueType="num">
                                      <p:cBhvr>
                                        <p:cTn id="66" dur="1000" fill="hold"/>
                                        <p:tgtEl>
                                          <p:spTgt spid="62"/>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61"/>
                                        </p:tgtEl>
                                        <p:attrNameLst>
                                          <p:attrName>style.visibility</p:attrName>
                                        </p:attrNameLst>
                                      </p:cBhvr>
                                      <p:to>
                                        <p:strVal val="visible"/>
                                      </p:to>
                                    </p:set>
                                    <p:animEffect transition="in" filter="fade">
                                      <p:cBhvr>
                                        <p:cTn id="69" dur="1000"/>
                                        <p:tgtEl>
                                          <p:spTgt spid="61"/>
                                        </p:tgtEl>
                                      </p:cBhvr>
                                    </p:animEffect>
                                    <p:anim calcmode="lin" valueType="num">
                                      <p:cBhvr>
                                        <p:cTn id="70" dur="1000" fill="hold"/>
                                        <p:tgtEl>
                                          <p:spTgt spid="61"/>
                                        </p:tgtEl>
                                        <p:attrNameLst>
                                          <p:attrName>ppt_x</p:attrName>
                                        </p:attrNameLst>
                                      </p:cBhvr>
                                      <p:tavLst>
                                        <p:tav tm="0">
                                          <p:val>
                                            <p:strVal val="#ppt_x"/>
                                          </p:val>
                                        </p:tav>
                                        <p:tav tm="100000">
                                          <p:val>
                                            <p:strVal val="#ppt_x"/>
                                          </p:val>
                                        </p:tav>
                                      </p:tavLst>
                                    </p:anim>
                                    <p:anim calcmode="lin" valueType="num">
                                      <p:cBhvr>
                                        <p:cTn id="71"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grpId="0" nodeType="click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wipe(down)">
                                      <p:cBhvr>
                                        <p:cTn id="76" dur="500"/>
                                        <p:tgtEl>
                                          <p:spTgt spid="37"/>
                                        </p:tgtEl>
                                      </p:cBhvr>
                                    </p:animEffect>
                                  </p:childTnLst>
                                </p:cTn>
                              </p:par>
                              <p:par>
                                <p:cTn id="77" presetID="22" presetClass="entr" presetSubtype="4" fill="hold" grpId="1" nodeType="withEffect">
                                  <p:stCondLst>
                                    <p:cond delay="0"/>
                                  </p:stCondLst>
                                  <p:childTnLst>
                                    <p:set>
                                      <p:cBhvr>
                                        <p:cTn id="78" dur="1" fill="hold">
                                          <p:stCondLst>
                                            <p:cond delay="0"/>
                                          </p:stCondLst>
                                        </p:cTn>
                                        <p:tgtEl>
                                          <p:spTgt spid="39"/>
                                        </p:tgtEl>
                                        <p:attrNameLst>
                                          <p:attrName>style.visibility</p:attrName>
                                        </p:attrNameLst>
                                      </p:cBhvr>
                                      <p:to>
                                        <p:strVal val="visible"/>
                                      </p:to>
                                    </p:set>
                                    <p:animEffect transition="in" filter="wipe(down)">
                                      <p:cBhvr>
                                        <p:cTn id="79" dur="500"/>
                                        <p:tgtEl>
                                          <p:spTgt spid="39"/>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41"/>
                                        </p:tgtEl>
                                        <p:attrNameLst>
                                          <p:attrName>style.visibility</p:attrName>
                                        </p:attrNameLst>
                                      </p:cBhvr>
                                      <p:to>
                                        <p:strVal val="visible"/>
                                      </p:to>
                                    </p:set>
                                    <p:animEffect transition="in" filter="wipe(down)">
                                      <p:cBhvr>
                                        <p:cTn id="82" dur="500"/>
                                        <p:tgtEl>
                                          <p:spTgt spid="41"/>
                                        </p:tgtEl>
                                      </p:cBhvr>
                                    </p:animEffect>
                                  </p:childTnLst>
                                </p:cTn>
                              </p:par>
                              <p:par>
                                <p:cTn id="83" presetID="22" presetClass="entr" presetSubtype="4" fill="hold" grpId="1" nodeType="with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wipe(down)">
                                      <p:cBhvr>
                                        <p:cTn id="85" dur="500"/>
                                        <p:tgtEl>
                                          <p:spTgt spid="35"/>
                                        </p:tgtEl>
                                      </p:cBhvr>
                                    </p:animEffect>
                                  </p:childTnLst>
                                </p:cTn>
                              </p:par>
                              <p:par>
                                <p:cTn id="86" presetID="22" presetClass="entr" presetSubtype="4" fill="hold" grpId="1" nodeType="with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wipe(down)">
                                      <p:cBhvr>
                                        <p:cTn id="88" dur="500"/>
                                        <p:tgtEl>
                                          <p:spTgt spid="36"/>
                                        </p:tgtEl>
                                      </p:cBhvr>
                                    </p:animEffect>
                                  </p:childTnLst>
                                </p:cTn>
                              </p:par>
                              <p:par>
                                <p:cTn id="89" presetID="22" presetClass="entr" presetSubtype="4" fill="hold" grpId="1" nodeType="with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wipe(down)">
                                      <p:cBhvr>
                                        <p:cTn id="91" dur="500"/>
                                        <p:tgtEl>
                                          <p:spTgt spid="38"/>
                                        </p:tgtEl>
                                      </p:cBhvr>
                                    </p:animEffect>
                                  </p:childTnLst>
                                </p:cTn>
                              </p:par>
                              <p:par>
                                <p:cTn id="92" presetID="22" presetClass="entr" presetSubtype="4" fill="hold" grpId="1" nodeType="with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wipe(down)">
                                      <p:cBhvr>
                                        <p:cTn id="94" dur="500"/>
                                        <p:tgtEl>
                                          <p:spTgt spid="40"/>
                                        </p:tgtEl>
                                      </p:cBhvr>
                                    </p:animEffect>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grpId="0" nodeType="clickEffect">
                                  <p:stCondLst>
                                    <p:cond delay="0"/>
                                  </p:stCondLst>
                                  <p:childTnLst>
                                    <p:set>
                                      <p:cBhvr>
                                        <p:cTn id="98" dur="1" fill="hold">
                                          <p:stCondLst>
                                            <p:cond delay="0"/>
                                          </p:stCondLst>
                                        </p:cTn>
                                        <p:tgtEl>
                                          <p:spTgt spid="16"/>
                                        </p:tgtEl>
                                        <p:attrNameLst>
                                          <p:attrName>style.visibility</p:attrName>
                                        </p:attrNameLst>
                                      </p:cBhvr>
                                      <p:to>
                                        <p:strVal val="visible"/>
                                      </p:to>
                                    </p:set>
                                    <p:animEffect transition="in" filter="fade">
                                      <p:cBhvr>
                                        <p:cTn id="99" dur="1000"/>
                                        <p:tgtEl>
                                          <p:spTgt spid="16"/>
                                        </p:tgtEl>
                                      </p:cBhvr>
                                    </p:animEffect>
                                    <p:anim calcmode="lin" valueType="num">
                                      <p:cBhvr>
                                        <p:cTn id="100" dur="1000" fill="hold"/>
                                        <p:tgtEl>
                                          <p:spTgt spid="16"/>
                                        </p:tgtEl>
                                        <p:attrNameLst>
                                          <p:attrName>ppt_x</p:attrName>
                                        </p:attrNameLst>
                                      </p:cBhvr>
                                      <p:tavLst>
                                        <p:tav tm="0">
                                          <p:val>
                                            <p:strVal val="#ppt_x"/>
                                          </p:val>
                                        </p:tav>
                                        <p:tav tm="100000">
                                          <p:val>
                                            <p:strVal val="#ppt_x"/>
                                          </p:val>
                                        </p:tav>
                                      </p:tavLst>
                                    </p:anim>
                                    <p:anim calcmode="lin" valueType="num">
                                      <p:cBhvr>
                                        <p:cTn id="10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16" presetClass="entr" presetSubtype="21" fill="hold" grpId="0" nodeType="clickEffect">
                                  <p:stCondLst>
                                    <p:cond delay="0"/>
                                  </p:stCondLst>
                                  <p:childTnLst>
                                    <p:set>
                                      <p:cBhvr>
                                        <p:cTn id="105" dur="1" fill="hold">
                                          <p:stCondLst>
                                            <p:cond delay="0"/>
                                          </p:stCondLst>
                                        </p:cTn>
                                        <p:tgtEl>
                                          <p:spTgt spid="19"/>
                                        </p:tgtEl>
                                        <p:attrNameLst>
                                          <p:attrName>style.visibility</p:attrName>
                                        </p:attrNameLst>
                                      </p:cBhvr>
                                      <p:to>
                                        <p:strVal val="visible"/>
                                      </p:to>
                                    </p:set>
                                    <p:animEffect transition="in" filter="barn(inVertical)">
                                      <p:cBhvr>
                                        <p:cTn id="106" dur="500"/>
                                        <p:tgtEl>
                                          <p:spTgt spid="19"/>
                                        </p:tgtEl>
                                      </p:cBhvr>
                                    </p:animEffect>
                                  </p:childTnLst>
                                </p:cTn>
                              </p:par>
                            </p:childTnLst>
                          </p:cTn>
                        </p:par>
                      </p:childTnLst>
                    </p:cTn>
                  </p:par>
                  <p:par>
                    <p:cTn id="107" fill="hold">
                      <p:stCondLst>
                        <p:cond delay="indefinite"/>
                      </p:stCondLst>
                      <p:childTnLst>
                        <p:par>
                          <p:cTn id="108" fill="hold">
                            <p:stCondLst>
                              <p:cond delay="0"/>
                            </p:stCondLst>
                            <p:childTnLst>
                              <p:par>
                                <p:cTn id="109" presetID="9" presetClass="exit" presetSubtype="0" fill="hold" grpId="0" nodeType="clickEffect">
                                  <p:stCondLst>
                                    <p:cond delay="0"/>
                                  </p:stCondLst>
                                  <p:childTnLst>
                                    <p:animEffect transition="out" filter="dissolve">
                                      <p:cBhvr>
                                        <p:cTn id="110" dur="500"/>
                                        <p:tgtEl>
                                          <p:spTgt spid="35"/>
                                        </p:tgtEl>
                                      </p:cBhvr>
                                    </p:animEffect>
                                    <p:set>
                                      <p:cBhvr>
                                        <p:cTn id="111" dur="1" fill="hold">
                                          <p:stCondLst>
                                            <p:cond delay="499"/>
                                          </p:stCondLst>
                                        </p:cTn>
                                        <p:tgtEl>
                                          <p:spTgt spid="35"/>
                                        </p:tgtEl>
                                        <p:attrNameLst>
                                          <p:attrName>style.visibility</p:attrName>
                                        </p:attrNameLst>
                                      </p:cBhvr>
                                      <p:to>
                                        <p:strVal val="hidden"/>
                                      </p:to>
                                    </p:set>
                                  </p:childTnLst>
                                </p:cTn>
                              </p:par>
                              <p:par>
                                <p:cTn id="112" presetID="22" presetClass="entr" presetSubtype="4" fill="hold" grpId="0" nodeType="with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wipe(down)">
                                      <p:cBhvr>
                                        <p:cTn id="114" dur="500"/>
                                        <p:tgtEl>
                                          <p:spTgt spid="48"/>
                                        </p:tgtEl>
                                      </p:cBhvr>
                                    </p:animEffect>
                                  </p:childTnLst>
                                </p:cTn>
                              </p:par>
                            </p:childTnLst>
                          </p:cTn>
                        </p:par>
                      </p:childTnLst>
                    </p:cTn>
                  </p:par>
                  <p:par>
                    <p:cTn id="115" fill="hold">
                      <p:stCondLst>
                        <p:cond delay="indefinite"/>
                      </p:stCondLst>
                      <p:childTnLst>
                        <p:par>
                          <p:cTn id="116" fill="hold">
                            <p:stCondLst>
                              <p:cond delay="0"/>
                            </p:stCondLst>
                            <p:childTnLst>
                              <p:par>
                                <p:cTn id="117" presetID="16" presetClass="entr" presetSubtype="21" fill="hold" grpId="0" nodeType="clickEffect">
                                  <p:stCondLst>
                                    <p:cond delay="0"/>
                                  </p:stCondLst>
                                  <p:childTnLst>
                                    <p:set>
                                      <p:cBhvr>
                                        <p:cTn id="118" dur="1" fill="hold">
                                          <p:stCondLst>
                                            <p:cond delay="0"/>
                                          </p:stCondLst>
                                        </p:cTn>
                                        <p:tgtEl>
                                          <p:spTgt spid="20"/>
                                        </p:tgtEl>
                                        <p:attrNameLst>
                                          <p:attrName>style.visibility</p:attrName>
                                        </p:attrNameLst>
                                      </p:cBhvr>
                                      <p:to>
                                        <p:strVal val="visible"/>
                                      </p:to>
                                    </p:set>
                                    <p:animEffect transition="in" filter="barn(inVertical)">
                                      <p:cBhvr>
                                        <p:cTn id="119" dur="500"/>
                                        <p:tgtEl>
                                          <p:spTgt spid="20"/>
                                        </p:tgtEl>
                                      </p:cBhvr>
                                    </p:animEffect>
                                  </p:childTnLst>
                                </p:cTn>
                              </p:par>
                            </p:childTnLst>
                          </p:cTn>
                        </p:par>
                      </p:childTnLst>
                    </p:cTn>
                  </p:par>
                  <p:par>
                    <p:cTn id="120" fill="hold">
                      <p:stCondLst>
                        <p:cond delay="indefinite"/>
                      </p:stCondLst>
                      <p:childTnLst>
                        <p:par>
                          <p:cTn id="121" fill="hold">
                            <p:stCondLst>
                              <p:cond delay="0"/>
                            </p:stCondLst>
                            <p:childTnLst>
                              <p:par>
                                <p:cTn id="122" presetID="9" presetClass="exit" presetSubtype="0" fill="hold" grpId="0" nodeType="clickEffect">
                                  <p:stCondLst>
                                    <p:cond delay="0"/>
                                  </p:stCondLst>
                                  <p:childTnLst>
                                    <p:animEffect transition="out" filter="dissolve">
                                      <p:cBhvr>
                                        <p:cTn id="123" dur="500"/>
                                        <p:tgtEl>
                                          <p:spTgt spid="36"/>
                                        </p:tgtEl>
                                      </p:cBhvr>
                                    </p:animEffect>
                                    <p:set>
                                      <p:cBhvr>
                                        <p:cTn id="124" dur="1" fill="hold">
                                          <p:stCondLst>
                                            <p:cond delay="499"/>
                                          </p:stCondLst>
                                        </p:cTn>
                                        <p:tgtEl>
                                          <p:spTgt spid="36"/>
                                        </p:tgtEl>
                                        <p:attrNameLst>
                                          <p:attrName>style.visibility</p:attrName>
                                        </p:attrNameLst>
                                      </p:cBhvr>
                                      <p:to>
                                        <p:strVal val="hidden"/>
                                      </p:to>
                                    </p:set>
                                  </p:childTnLst>
                                </p:cTn>
                              </p:par>
                              <p:par>
                                <p:cTn id="125" presetID="16" presetClass="entr" presetSubtype="21" fill="hold" grpId="0" nodeType="withEffect">
                                  <p:stCondLst>
                                    <p:cond delay="0"/>
                                  </p:stCondLst>
                                  <p:childTnLst>
                                    <p:set>
                                      <p:cBhvr>
                                        <p:cTn id="126" dur="1" fill="hold">
                                          <p:stCondLst>
                                            <p:cond delay="0"/>
                                          </p:stCondLst>
                                        </p:cTn>
                                        <p:tgtEl>
                                          <p:spTgt spid="49"/>
                                        </p:tgtEl>
                                        <p:attrNameLst>
                                          <p:attrName>style.visibility</p:attrName>
                                        </p:attrNameLst>
                                      </p:cBhvr>
                                      <p:to>
                                        <p:strVal val="visible"/>
                                      </p:to>
                                    </p:set>
                                    <p:animEffect transition="in" filter="barn(inVertical)">
                                      <p:cBhvr>
                                        <p:cTn id="127" dur="500"/>
                                        <p:tgtEl>
                                          <p:spTgt spid="49"/>
                                        </p:tgtEl>
                                      </p:cBhvr>
                                    </p:animEffect>
                                  </p:childTnLst>
                                </p:cTn>
                              </p:par>
                            </p:childTnLst>
                          </p:cTn>
                        </p:par>
                      </p:childTnLst>
                    </p:cTn>
                  </p:par>
                  <p:par>
                    <p:cTn id="128" fill="hold">
                      <p:stCondLst>
                        <p:cond delay="indefinite"/>
                      </p:stCondLst>
                      <p:childTnLst>
                        <p:par>
                          <p:cTn id="129" fill="hold">
                            <p:stCondLst>
                              <p:cond delay="0"/>
                            </p:stCondLst>
                            <p:childTnLst>
                              <p:par>
                                <p:cTn id="130" presetID="9" presetClass="exit" presetSubtype="0" fill="hold" grpId="1" nodeType="clickEffect">
                                  <p:stCondLst>
                                    <p:cond delay="0"/>
                                  </p:stCondLst>
                                  <p:childTnLst>
                                    <p:animEffect transition="out" filter="dissolve">
                                      <p:cBhvr>
                                        <p:cTn id="131" dur="500"/>
                                        <p:tgtEl>
                                          <p:spTgt spid="48"/>
                                        </p:tgtEl>
                                      </p:cBhvr>
                                    </p:animEffect>
                                    <p:set>
                                      <p:cBhvr>
                                        <p:cTn id="132" dur="1" fill="hold">
                                          <p:stCondLst>
                                            <p:cond delay="499"/>
                                          </p:stCondLst>
                                        </p:cTn>
                                        <p:tgtEl>
                                          <p:spTgt spid="48"/>
                                        </p:tgtEl>
                                        <p:attrNameLst>
                                          <p:attrName>style.visibility</p:attrName>
                                        </p:attrNameLst>
                                      </p:cBhvr>
                                      <p:to>
                                        <p:strVal val="hidden"/>
                                      </p:to>
                                    </p:set>
                                  </p:childTnLst>
                                </p:cTn>
                              </p:par>
                              <p:par>
                                <p:cTn id="133" presetID="22" presetClass="entr" presetSubtype="4" fill="hold" grpId="0" nodeType="withEffect">
                                  <p:stCondLst>
                                    <p:cond delay="0"/>
                                  </p:stCondLst>
                                  <p:childTnLst>
                                    <p:set>
                                      <p:cBhvr>
                                        <p:cTn id="134" dur="1" fill="hold">
                                          <p:stCondLst>
                                            <p:cond delay="0"/>
                                          </p:stCondLst>
                                        </p:cTn>
                                        <p:tgtEl>
                                          <p:spTgt spid="50"/>
                                        </p:tgtEl>
                                        <p:attrNameLst>
                                          <p:attrName>style.visibility</p:attrName>
                                        </p:attrNameLst>
                                      </p:cBhvr>
                                      <p:to>
                                        <p:strVal val="visible"/>
                                      </p:to>
                                    </p:set>
                                    <p:animEffect transition="in" filter="wipe(down)">
                                      <p:cBhvr>
                                        <p:cTn id="135" dur="500"/>
                                        <p:tgtEl>
                                          <p:spTgt spid="50"/>
                                        </p:tgtEl>
                                      </p:cBhvr>
                                    </p:animEffect>
                                  </p:childTnLst>
                                </p:cTn>
                              </p:par>
                            </p:childTnLst>
                          </p:cTn>
                        </p:par>
                      </p:childTnLst>
                    </p:cTn>
                  </p:par>
                  <p:par>
                    <p:cTn id="136" fill="hold">
                      <p:stCondLst>
                        <p:cond delay="indefinite"/>
                      </p:stCondLst>
                      <p:childTnLst>
                        <p:par>
                          <p:cTn id="137" fill="hold">
                            <p:stCondLst>
                              <p:cond delay="0"/>
                            </p:stCondLst>
                            <p:childTnLst>
                              <p:par>
                                <p:cTn id="138" presetID="16" presetClass="entr" presetSubtype="21" fill="hold" grpId="0" nodeType="clickEffect">
                                  <p:stCondLst>
                                    <p:cond delay="0"/>
                                  </p:stCondLst>
                                  <p:childTnLst>
                                    <p:set>
                                      <p:cBhvr>
                                        <p:cTn id="139" dur="1" fill="hold">
                                          <p:stCondLst>
                                            <p:cond delay="0"/>
                                          </p:stCondLst>
                                        </p:cTn>
                                        <p:tgtEl>
                                          <p:spTgt spid="21"/>
                                        </p:tgtEl>
                                        <p:attrNameLst>
                                          <p:attrName>style.visibility</p:attrName>
                                        </p:attrNameLst>
                                      </p:cBhvr>
                                      <p:to>
                                        <p:strVal val="visible"/>
                                      </p:to>
                                    </p:set>
                                    <p:animEffect transition="in" filter="barn(inVertical)">
                                      <p:cBhvr>
                                        <p:cTn id="140" dur="500"/>
                                        <p:tgtEl>
                                          <p:spTgt spid="21"/>
                                        </p:tgtEl>
                                      </p:cBhvr>
                                    </p:animEffect>
                                  </p:childTnLst>
                                </p:cTn>
                              </p:par>
                            </p:childTnLst>
                          </p:cTn>
                        </p:par>
                      </p:childTnLst>
                    </p:cTn>
                  </p:par>
                  <p:par>
                    <p:cTn id="141" fill="hold">
                      <p:stCondLst>
                        <p:cond delay="indefinite"/>
                      </p:stCondLst>
                      <p:childTnLst>
                        <p:par>
                          <p:cTn id="142" fill="hold">
                            <p:stCondLst>
                              <p:cond delay="0"/>
                            </p:stCondLst>
                            <p:childTnLst>
                              <p:par>
                                <p:cTn id="143" presetID="9" presetClass="exit" presetSubtype="0" fill="hold" grpId="0" nodeType="clickEffect">
                                  <p:stCondLst>
                                    <p:cond delay="0"/>
                                  </p:stCondLst>
                                  <p:childTnLst>
                                    <p:animEffect transition="out" filter="dissolve">
                                      <p:cBhvr>
                                        <p:cTn id="144" dur="500"/>
                                        <p:tgtEl>
                                          <p:spTgt spid="38"/>
                                        </p:tgtEl>
                                      </p:cBhvr>
                                    </p:animEffect>
                                    <p:set>
                                      <p:cBhvr>
                                        <p:cTn id="145" dur="1" fill="hold">
                                          <p:stCondLst>
                                            <p:cond delay="499"/>
                                          </p:stCondLst>
                                        </p:cTn>
                                        <p:tgtEl>
                                          <p:spTgt spid="38"/>
                                        </p:tgtEl>
                                        <p:attrNameLst>
                                          <p:attrName>style.visibility</p:attrName>
                                        </p:attrNameLst>
                                      </p:cBhvr>
                                      <p:to>
                                        <p:strVal val="hidden"/>
                                      </p:to>
                                    </p:set>
                                  </p:childTnLst>
                                </p:cTn>
                              </p:par>
                              <p:par>
                                <p:cTn id="146" presetID="22" presetClass="entr" presetSubtype="4" fill="hold" grpId="0" nodeType="withEffect">
                                  <p:stCondLst>
                                    <p:cond delay="0"/>
                                  </p:stCondLst>
                                  <p:childTnLst>
                                    <p:set>
                                      <p:cBhvr>
                                        <p:cTn id="147" dur="1" fill="hold">
                                          <p:stCondLst>
                                            <p:cond delay="0"/>
                                          </p:stCondLst>
                                        </p:cTn>
                                        <p:tgtEl>
                                          <p:spTgt spid="51"/>
                                        </p:tgtEl>
                                        <p:attrNameLst>
                                          <p:attrName>style.visibility</p:attrName>
                                        </p:attrNameLst>
                                      </p:cBhvr>
                                      <p:to>
                                        <p:strVal val="visible"/>
                                      </p:to>
                                    </p:set>
                                    <p:animEffect transition="in" filter="wipe(down)">
                                      <p:cBhvr>
                                        <p:cTn id="148" dur="500"/>
                                        <p:tgtEl>
                                          <p:spTgt spid="51"/>
                                        </p:tgtEl>
                                      </p:cBhvr>
                                    </p:animEffect>
                                  </p:childTnLst>
                                </p:cTn>
                              </p:par>
                            </p:childTnLst>
                          </p:cTn>
                        </p:par>
                      </p:childTnLst>
                    </p:cTn>
                  </p:par>
                  <p:par>
                    <p:cTn id="149" fill="hold">
                      <p:stCondLst>
                        <p:cond delay="indefinite"/>
                      </p:stCondLst>
                      <p:childTnLst>
                        <p:par>
                          <p:cTn id="150" fill="hold">
                            <p:stCondLst>
                              <p:cond delay="0"/>
                            </p:stCondLst>
                            <p:childTnLst>
                              <p:par>
                                <p:cTn id="151" presetID="16" presetClass="entr" presetSubtype="21" fill="hold" grpId="0" nodeType="clickEffect">
                                  <p:stCondLst>
                                    <p:cond delay="0"/>
                                  </p:stCondLst>
                                  <p:childTnLst>
                                    <p:set>
                                      <p:cBhvr>
                                        <p:cTn id="152" dur="1" fill="hold">
                                          <p:stCondLst>
                                            <p:cond delay="0"/>
                                          </p:stCondLst>
                                        </p:cTn>
                                        <p:tgtEl>
                                          <p:spTgt spid="22"/>
                                        </p:tgtEl>
                                        <p:attrNameLst>
                                          <p:attrName>style.visibility</p:attrName>
                                        </p:attrNameLst>
                                      </p:cBhvr>
                                      <p:to>
                                        <p:strVal val="visible"/>
                                      </p:to>
                                    </p:set>
                                    <p:animEffect transition="in" filter="barn(inVertical)">
                                      <p:cBhvr>
                                        <p:cTn id="153" dur="500"/>
                                        <p:tgtEl>
                                          <p:spTgt spid="22"/>
                                        </p:tgtEl>
                                      </p:cBhvr>
                                    </p:animEffect>
                                  </p:childTnLst>
                                </p:cTn>
                              </p:par>
                            </p:childTnLst>
                          </p:cTn>
                        </p:par>
                      </p:childTnLst>
                    </p:cTn>
                  </p:par>
                  <p:par>
                    <p:cTn id="154" fill="hold">
                      <p:stCondLst>
                        <p:cond delay="indefinite"/>
                      </p:stCondLst>
                      <p:childTnLst>
                        <p:par>
                          <p:cTn id="155" fill="hold">
                            <p:stCondLst>
                              <p:cond delay="0"/>
                            </p:stCondLst>
                            <p:childTnLst>
                              <p:par>
                                <p:cTn id="156" presetID="9" presetClass="exit" presetSubtype="0" fill="hold" grpId="0" nodeType="clickEffect">
                                  <p:stCondLst>
                                    <p:cond delay="0"/>
                                  </p:stCondLst>
                                  <p:childTnLst>
                                    <p:animEffect transition="out" filter="dissolve">
                                      <p:cBhvr>
                                        <p:cTn id="157" dur="500"/>
                                        <p:tgtEl>
                                          <p:spTgt spid="40"/>
                                        </p:tgtEl>
                                      </p:cBhvr>
                                    </p:animEffect>
                                    <p:set>
                                      <p:cBhvr>
                                        <p:cTn id="158" dur="1" fill="hold">
                                          <p:stCondLst>
                                            <p:cond delay="499"/>
                                          </p:stCondLst>
                                        </p:cTn>
                                        <p:tgtEl>
                                          <p:spTgt spid="40"/>
                                        </p:tgtEl>
                                        <p:attrNameLst>
                                          <p:attrName>style.visibility</p:attrName>
                                        </p:attrNameLst>
                                      </p:cBhvr>
                                      <p:to>
                                        <p:strVal val="hidden"/>
                                      </p:to>
                                    </p:set>
                                  </p:childTnLst>
                                </p:cTn>
                              </p:par>
                              <p:par>
                                <p:cTn id="159" presetID="22" presetClass="entr" presetSubtype="4" fill="hold" grpId="0" nodeType="withEffect">
                                  <p:stCondLst>
                                    <p:cond delay="0"/>
                                  </p:stCondLst>
                                  <p:childTnLst>
                                    <p:set>
                                      <p:cBhvr>
                                        <p:cTn id="160" dur="1" fill="hold">
                                          <p:stCondLst>
                                            <p:cond delay="0"/>
                                          </p:stCondLst>
                                        </p:cTn>
                                        <p:tgtEl>
                                          <p:spTgt spid="52"/>
                                        </p:tgtEl>
                                        <p:attrNameLst>
                                          <p:attrName>style.visibility</p:attrName>
                                        </p:attrNameLst>
                                      </p:cBhvr>
                                      <p:to>
                                        <p:strVal val="visible"/>
                                      </p:to>
                                    </p:set>
                                    <p:animEffect transition="in" filter="wipe(down)">
                                      <p:cBhvr>
                                        <p:cTn id="161" dur="500"/>
                                        <p:tgtEl>
                                          <p:spTgt spid="52"/>
                                        </p:tgtEl>
                                      </p:cBhvr>
                                    </p:animEffect>
                                  </p:childTnLst>
                                </p:cTn>
                              </p:par>
                            </p:childTnLst>
                          </p:cTn>
                        </p:par>
                      </p:childTnLst>
                    </p:cTn>
                  </p:par>
                  <p:par>
                    <p:cTn id="162" fill="hold">
                      <p:stCondLst>
                        <p:cond delay="indefinite"/>
                      </p:stCondLst>
                      <p:childTnLst>
                        <p:par>
                          <p:cTn id="163" fill="hold">
                            <p:stCondLst>
                              <p:cond delay="0"/>
                            </p:stCondLst>
                            <p:childTnLst>
                              <p:par>
                                <p:cTn id="164" presetID="9" presetClass="exit" presetSubtype="0" fill="hold" grpId="1" nodeType="clickEffect">
                                  <p:stCondLst>
                                    <p:cond delay="0"/>
                                  </p:stCondLst>
                                  <p:childTnLst>
                                    <p:animEffect transition="out" filter="dissolve">
                                      <p:cBhvr>
                                        <p:cTn id="165" dur="500"/>
                                        <p:tgtEl>
                                          <p:spTgt spid="49"/>
                                        </p:tgtEl>
                                      </p:cBhvr>
                                    </p:animEffect>
                                    <p:set>
                                      <p:cBhvr>
                                        <p:cTn id="166" dur="1" fill="hold">
                                          <p:stCondLst>
                                            <p:cond delay="499"/>
                                          </p:stCondLst>
                                        </p:cTn>
                                        <p:tgtEl>
                                          <p:spTgt spid="49"/>
                                        </p:tgtEl>
                                        <p:attrNameLst>
                                          <p:attrName>style.visibility</p:attrName>
                                        </p:attrNameLst>
                                      </p:cBhvr>
                                      <p:to>
                                        <p:strVal val="hidden"/>
                                      </p:to>
                                    </p:set>
                                  </p:childTnLst>
                                </p:cTn>
                              </p:par>
                              <p:par>
                                <p:cTn id="167" presetID="22" presetClass="entr" presetSubtype="4" fill="hold" grpId="0" nodeType="withEffect">
                                  <p:stCondLst>
                                    <p:cond delay="0"/>
                                  </p:stCondLst>
                                  <p:childTnLst>
                                    <p:set>
                                      <p:cBhvr>
                                        <p:cTn id="168" dur="1" fill="hold">
                                          <p:stCondLst>
                                            <p:cond delay="0"/>
                                          </p:stCondLst>
                                        </p:cTn>
                                        <p:tgtEl>
                                          <p:spTgt spid="53"/>
                                        </p:tgtEl>
                                        <p:attrNameLst>
                                          <p:attrName>style.visibility</p:attrName>
                                        </p:attrNameLst>
                                      </p:cBhvr>
                                      <p:to>
                                        <p:strVal val="visible"/>
                                      </p:to>
                                    </p:set>
                                    <p:animEffect transition="in" filter="wipe(down)">
                                      <p:cBhvr>
                                        <p:cTn id="169" dur="500"/>
                                        <p:tgtEl>
                                          <p:spTgt spid="53"/>
                                        </p:tgtEl>
                                      </p:cBhvr>
                                    </p:animEffect>
                                  </p:childTnLst>
                                </p:cTn>
                              </p:par>
                            </p:childTnLst>
                          </p:cTn>
                        </p:par>
                      </p:childTnLst>
                    </p:cTn>
                  </p:par>
                  <p:par>
                    <p:cTn id="170" fill="hold">
                      <p:stCondLst>
                        <p:cond delay="indefinite"/>
                      </p:stCondLst>
                      <p:childTnLst>
                        <p:par>
                          <p:cTn id="171" fill="hold">
                            <p:stCondLst>
                              <p:cond delay="0"/>
                            </p:stCondLst>
                            <p:childTnLst>
                              <p:par>
                                <p:cTn id="172" presetID="16" presetClass="entr" presetSubtype="21" fill="hold" grpId="0" nodeType="clickEffect">
                                  <p:stCondLst>
                                    <p:cond delay="0"/>
                                  </p:stCondLst>
                                  <p:childTnLst>
                                    <p:set>
                                      <p:cBhvr>
                                        <p:cTn id="173" dur="1" fill="hold">
                                          <p:stCondLst>
                                            <p:cond delay="0"/>
                                          </p:stCondLst>
                                        </p:cTn>
                                        <p:tgtEl>
                                          <p:spTgt spid="23"/>
                                        </p:tgtEl>
                                        <p:attrNameLst>
                                          <p:attrName>style.visibility</p:attrName>
                                        </p:attrNameLst>
                                      </p:cBhvr>
                                      <p:to>
                                        <p:strVal val="visible"/>
                                      </p:to>
                                    </p:set>
                                    <p:animEffect transition="in" filter="barn(inVertical)">
                                      <p:cBhvr>
                                        <p:cTn id="174" dur="500"/>
                                        <p:tgtEl>
                                          <p:spTgt spid="23"/>
                                        </p:tgtEl>
                                      </p:cBhvr>
                                    </p:animEffect>
                                  </p:childTnLst>
                                </p:cTn>
                              </p:par>
                            </p:childTnLst>
                          </p:cTn>
                        </p:par>
                      </p:childTnLst>
                    </p:cTn>
                  </p:par>
                  <p:par>
                    <p:cTn id="175" fill="hold">
                      <p:stCondLst>
                        <p:cond delay="indefinite"/>
                      </p:stCondLst>
                      <p:childTnLst>
                        <p:par>
                          <p:cTn id="176" fill="hold">
                            <p:stCondLst>
                              <p:cond delay="0"/>
                            </p:stCondLst>
                            <p:childTnLst>
                              <p:par>
                                <p:cTn id="177" presetID="9" presetClass="exit" presetSubtype="0" fill="hold" grpId="0" nodeType="clickEffect">
                                  <p:stCondLst>
                                    <p:cond delay="0"/>
                                  </p:stCondLst>
                                  <p:childTnLst>
                                    <p:animEffect transition="out" filter="dissolve">
                                      <p:cBhvr>
                                        <p:cTn id="178" dur="500"/>
                                        <p:tgtEl>
                                          <p:spTgt spid="39"/>
                                        </p:tgtEl>
                                      </p:cBhvr>
                                    </p:animEffect>
                                    <p:set>
                                      <p:cBhvr>
                                        <p:cTn id="179" dur="1" fill="hold">
                                          <p:stCondLst>
                                            <p:cond delay="499"/>
                                          </p:stCondLst>
                                        </p:cTn>
                                        <p:tgtEl>
                                          <p:spTgt spid="39"/>
                                        </p:tgtEl>
                                        <p:attrNameLst>
                                          <p:attrName>style.visibility</p:attrName>
                                        </p:attrNameLst>
                                      </p:cBhvr>
                                      <p:to>
                                        <p:strVal val="hidden"/>
                                      </p:to>
                                    </p:set>
                                  </p:childTnLst>
                                </p:cTn>
                              </p:par>
                              <p:par>
                                <p:cTn id="180" presetID="22" presetClass="entr" presetSubtype="4" fill="hold" grpId="0" nodeType="withEffect">
                                  <p:stCondLst>
                                    <p:cond delay="0"/>
                                  </p:stCondLst>
                                  <p:childTnLst>
                                    <p:set>
                                      <p:cBhvr>
                                        <p:cTn id="181" dur="1" fill="hold">
                                          <p:stCondLst>
                                            <p:cond delay="0"/>
                                          </p:stCondLst>
                                        </p:cTn>
                                        <p:tgtEl>
                                          <p:spTgt spid="54"/>
                                        </p:tgtEl>
                                        <p:attrNameLst>
                                          <p:attrName>style.visibility</p:attrName>
                                        </p:attrNameLst>
                                      </p:cBhvr>
                                      <p:to>
                                        <p:strVal val="visible"/>
                                      </p:to>
                                    </p:set>
                                    <p:animEffect transition="in" filter="wipe(down)">
                                      <p:cBhvr>
                                        <p:cTn id="182" dur="500"/>
                                        <p:tgtEl>
                                          <p:spTgt spid="54"/>
                                        </p:tgtEl>
                                      </p:cBhvr>
                                    </p:animEffect>
                                  </p:childTnLst>
                                </p:cTn>
                              </p:par>
                            </p:childTnLst>
                          </p:cTn>
                        </p:par>
                      </p:childTnLst>
                    </p:cTn>
                  </p:par>
                  <p:par>
                    <p:cTn id="183" fill="hold">
                      <p:stCondLst>
                        <p:cond delay="indefinite"/>
                      </p:stCondLst>
                      <p:childTnLst>
                        <p:par>
                          <p:cTn id="184" fill="hold">
                            <p:stCondLst>
                              <p:cond delay="0"/>
                            </p:stCondLst>
                            <p:childTnLst>
                              <p:par>
                                <p:cTn id="185" presetID="9" presetClass="exit" presetSubtype="0" fill="hold" grpId="1" nodeType="clickEffect">
                                  <p:stCondLst>
                                    <p:cond delay="0"/>
                                  </p:stCondLst>
                                  <p:childTnLst>
                                    <p:animEffect transition="out" filter="dissolve">
                                      <p:cBhvr>
                                        <p:cTn id="186" dur="500"/>
                                        <p:tgtEl>
                                          <p:spTgt spid="51"/>
                                        </p:tgtEl>
                                      </p:cBhvr>
                                    </p:animEffect>
                                    <p:set>
                                      <p:cBhvr>
                                        <p:cTn id="187" dur="1" fill="hold">
                                          <p:stCondLst>
                                            <p:cond delay="499"/>
                                          </p:stCondLst>
                                        </p:cTn>
                                        <p:tgtEl>
                                          <p:spTgt spid="51"/>
                                        </p:tgtEl>
                                        <p:attrNameLst>
                                          <p:attrName>style.visibility</p:attrName>
                                        </p:attrNameLst>
                                      </p:cBhvr>
                                      <p:to>
                                        <p:strVal val="hidden"/>
                                      </p:to>
                                    </p:set>
                                  </p:childTnLst>
                                </p:cTn>
                              </p:par>
                              <p:par>
                                <p:cTn id="188" presetID="22" presetClass="entr" presetSubtype="4" fill="hold" grpId="0" nodeType="withEffect">
                                  <p:stCondLst>
                                    <p:cond delay="0"/>
                                  </p:stCondLst>
                                  <p:childTnLst>
                                    <p:set>
                                      <p:cBhvr>
                                        <p:cTn id="189" dur="1" fill="hold">
                                          <p:stCondLst>
                                            <p:cond delay="0"/>
                                          </p:stCondLst>
                                        </p:cTn>
                                        <p:tgtEl>
                                          <p:spTgt spid="55"/>
                                        </p:tgtEl>
                                        <p:attrNameLst>
                                          <p:attrName>style.visibility</p:attrName>
                                        </p:attrNameLst>
                                      </p:cBhvr>
                                      <p:to>
                                        <p:strVal val="visible"/>
                                      </p:to>
                                    </p:set>
                                    <p:animEffect transition="in" filter="wipe(down)">
                                      <p:cBhvr>
                                        <p:cTn id="190" dur="500"/>
                                        <p:tgtEl>
                                          <p:spTgt spid="55"/>
                                        </p:tgtEl>
                                      </p:cBhvr>
                                    </p:animEffect>
                                  </p:childTnLst>
                                </p:cTn>
                              </p:par>
                            </p:childTnLst>
                          </p:cTn>
                        </p:par>
                      </p:childTnLst>
                    </p:cTn>
                  </p:par>
                  <p:par>
                    <p:cTn id="191" fill="hold">
                      <p:stCondLst>
                        <p:cond delay="indefinite"/>
                      </p:stCondLst>
                      <p:childTnLst>
                        <p:par>
                          <p:cTn id="192" fill="hold">
                            <p:stCondLst>
                              <p:cond delay="0"/>
                            </p:stCondLst>
                            <p:childTnLst>
                              <p:par>
                                <p:cTn id="193" presetID="9" presetClass="exit" presetSubtype="0" fill="hold" grpId="1" nodeType="clickEffect">
                                  <p:stCondLst>
                                    <p:cond delay="0"/>
                                  </p:stCondLst>
                                  <p:childTnLst>
                                    <p:animEffect transition="out" filter="dissolve">
                                      <p:cBhvr>
                                        <p:cTn id="194" dur="500"/>
                                        <p:tgtEl>
                                          <p:spTgt spid="52"/>
                                        </p:tgtEl>
                                      </p:cBhvr>
                                    </p:animEffect>
                                    <p:set>
                                      <p:cBhvr>
                                        <p:cTn id="195" dur="1" fill="hold">
                                          <p:stCondLst>
                                            <p:cond delay="499"/>
                                          </p:stCondLst>
                                        </p:cTn>
                                        <p:tgtEl>
                                          <p:spTgt spid="52"/>
                                        </p:tgtEl>
                                        <p:attrNameLst>
                                          <p:attrName>style.visibility</p:attrName>
                                        </p:attrNameLst>
                                      </p:cBhvr>
                                      <p:to>
                                        <p:strVal val="hidden"/>
                                      </p:to>
                                    </p:set>
                                  </p:childTnLst>
                                </p:cTn>
                              </p:par>
                              <p:par>
                                <p:cTn id="196" presetID="22" presetClass="entr" presetSubtype="4" fill="hold" grpId="0" nodeType="withEffect">
                                  <p:stCondLst>
                                    <p:cond delay="0"/>
                                  </p:stCondLst>
                                  <p:childTnLst>
                                    <p:set>
                                      <p:cBhvr>
                                        <p:cTn id="197" dur="1" fill="hold">
                                          <p:stCondLst>
                                            <p:cond delay="0"/>
                                          </p:stCondLst>
                                        </p:cTn>
                                        <p:tgtEl>
                                          <p:spTgt spid="56"/>
                                        </p:tgtEl>
                                        <p:attrNameLst>
                                          <p:attrName>style.visibility</p:attrName>
                                        </p:attrNameLst>
                                      </p:cBhvr>
                                      <p:to>
                                        <p:strVal val="visible"/>
                                      </p:to>
                                    </p:set>
                                    <p:animEffect transition="in" filter="wipe(down)">
                                      <p:cBhvr>
                                        <p:cTn id="198" dur="500"/>
                                        <p:tgtEl>
                                          <p:spTgt spid="56"/>
                                        </p:tgtEl>
                                      </p:cBhvr>
                                    </p:animEffect>
                                  </p:childTnLst>
                                </p:cTn>
                              </p:par>
                            </p:childTnLst>
                          </p:cTn>
                        </p:par>
                      </p:childTnLst>
                    </p:cTn>
                  </p:par>
                  <p:par>
                    <p:cTn id="199" fill="hold">
                      <p:stCondLst>
                        <p:cond delay="indefinite"/>
                      </p:stCondLst>
                      <p:childTnLst>
                        <p:par>
                          <p:cTn id="200" fill="hold">
                            <p:stCondLst>
                              <p:cond delay="0"/>
                            </p:stCondLst>
                            <p:childTnLst>
                              <p:par>
                                <p:cTn id="201" presetID="9" presetClass="exit" presetSubtype="0" fill="hold" grpId="1" nodeType="clickEffect">
                                  <p:stCondLst>
                                    <p:cond delay="0"/>
                                  </p:stCondLst>
                                  <p:childTnLst>
                                    <p:animEffect transition="out" filter="dissolve">
                                      <p:cBhvr>
                                        <p:cTn id="202" dur="500"/>
                                        <p:tgtEl>
                                          <p:spTgt spid="54"/>
                                        </p:tgtEl>
                                      </p:cBhvr>
                                    </p:animEffect>
                                    <p:set>
                                      <p:cBhvr>
                                        <p:cTn id="203" dur="1" fill="hold">
                                          <p:stCondLst>
                                            <p:cond delay="499"/>
                                          </p:stCondLst>
                                        </p:cTn>
                                        <p:tgtEl>
                                          <p:spTgt spid="54"/>
                                        </p:tgtEl>
                                        <p:attrNameLst>
                                          <p:attrName>style.visibility</p:attrName>
                                        </p:attrNameLst>
                                      </p:cBhvr>
                                      <p:to>
                                        <p:strVal val="hidden"/>
                                      </p:to>
                                    </p:set>
                                  </p:childTnLst>
                                </p:cTn>
                              </p:par>
                              <p:par>
                                <p:cTn id="204" presetID="22" presetClass="entr" presetSubtype="4" fill="hold" grpId="0" nodeType="withEffect">
                                  <p:stCondLst>
                                    <p:cond delay="0"/>
                                  </p:stCondLst>
                                  <p:childTnLst>
                                    <p:set>
                                      <p:cBhvr>
                                        <p:cTn id="205" dur="1" fill="hold">
                                          <p:stCondLst>
                                            <p:cond delay="0"/>
                                          </p:stCondLst>
                                        </p:cTn>
                                        <p:tgtEl>
                                          <p:spTgt spid="57"/>
                                        </p:tgtEl>
                                        <p:attrNameLst>
                                          <p:attrName>style.visibility</p:attrName>
                                        </p:attrNameLst>
                                      </p:cBhvr>
                                      <p:to>
                                        <p:strVal val="visible"/>
                                      </p:to>
                                    </p:set>
                                    <p:animEffect transition="in" filter="wipe(down)">
                                      <p:cBhvr>
                                        <p:cTn id="206" dur="500"/>
                                        <p:tgtEl>
                                          <p:spTgt spid="57"/>
                                        </p:tgtEl>
                                      </p:cBhvr>
                                    </p:animEffect>
                                  </p:childTnLst>
                                </p:cTn>
                              </p:par>
                            </p:childTnLst>
                          </p:cTn>
                        </p:par>
                      </p:childTnLst>
                    </p:cTn>
                  </p:par>
                  <p:par>
                    <p:cTn id="207" fill="hold">
                      <p:stCondLst>
                        <p:cond delay="indefinite"/>
                      </p:stCondLst>
                      <p:childTnLst>
                        <p:par>
                          <p:cTn id="208" fill="hold">
                            <p:stCondLst>
                              <p:cond delay="0"/>
                            </p:stCondLst>
                            <p:childTnLst>
                              <p:par>
                                <p:cTn id="209" presetID="42" presetClass="entr" presetSubtype="0" fill="hold" grpId="0" nodeType="clickEffect">
                                  <p:stCondLst>
                                    <p:cond delay="0"/>
                                  </p:stCondLst>
                                  <p:childTnLst>
                                    <p:set>
                                      <p:cBhvr>
                                        <p:cTn id="210" dur="1" fill="hold">
                                          <p:stCondLst>
                                            <p:cond delay="0"/>
                                          </p:stCondLst>
                                        </p:cTn>
                                        <p:tgtEl>
                                          <p:spTgt spid="26"/>
                                        </p:tgtEl>
                                        <p:attrNameLst>
                                          <p:attrName>style.visibility</p:attrName>
                                        </p:attrNameLst>
                                      </p:cBhvr>
                                      <p:to>
                                        <p:strVal val="visible"/>
                                      </p:to>
                                    </p:set>
                                    <p:animEffect transition="in" filter="fade">
                                      <p:cBhvr>
                                        <p:cTn id="211" dur="1000"/>
                                        <p:tgtEl>
                                          <p:spTgt spid="26"/>
                                        </p:tgtEl>
                                      </p:cBhvr>
                                    </p:animEffect>
                                    <p:anim calcmode="lin" valueType="num">
                                      <p:cBhvr>
                                        <p:cTn id="212" dur="1000" fill="hold"/>
                                        <p:tgtEl>
                                          <p:spTgt spid="26"/>
                                        </p:tgtEl>
                                        <p:attrNameLst>
                                          <p:attrName>ppt_x</p:attrName>
                                        </p:attrNameLst>
                                      </p:cBhvr>
                                      <p:tavLst>
                                        <p:tav tm="0">
                                          <p:val>
                                            <p:strVal val="#ppt_x"/>
                                          </p:val>
                                        </p:tav>
                                        <p:tav tm="100000">
                                          <p:val>
                                            <p:strVal val="#ppt_x"/>
                                          </p:val>
                                        </p:tav>
                                      </p:tavLst>
                                    </p:anim>
                                    <p:anim calcmode="lin" valueType="num">
                                      <p:cBhvr>
                                        <p:cTn id="21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14" fill="hold">
                      <p:stCondLst>
                        <p:cond delay="indefinite"/>
                      </p:stCondLst>
                      <p:childTnLst>
                        <p:par>
                          <p:cTn id="215" fill="hold">
                            <p:stCondLst>
                              <p:cond delay="0"/>
                            </p:stCondLst>
                            <p:childTnLst>
                              <p:par>
                                <p:cTn id="216" presetID="22" presetClass="entr" presetSubtype="4" fill="hold" grpId="0" nodeType="clickEffect">
                                  <p:stCondLst>
                                    <p:cond delay="0"/>
                                  </p:stCondLst>
                                  <p:childTnLst>
                                    <p:set>
                                      <p:cBhvr>
                                        <p:cTn id="217" dur="1" fill="hold">
                                          <p:stCondLst>
                                            <p:cond delay="0"/>
                                          </p:stCondLst>
                                        </p:cTn>
                                        <p:tgtEl>
                                          <p:spTgt spid="27"/>
                                        </p:tgtEl>
                                        <p:attrNameLst>
                                          <p:attrName>style.visibility</p:attrName>
                                        </p:attrNameLst>
                                      </p:cBhvr>
                                      <p:to>
                                        <p:strVal val="visible"/>
                                      </p:to>
                                    </p:set>
                                    <p:animEffect transition="in" filter="wipe(down)">
                                      <p:cBhvr>
                                        <p:cTn id="218" dur="500"/>
                                        <p:tgtEl>
                                          <p:spTgt spid="27"/>
                                        </p:tgtEl>
                                      </p:cBhvr>
                                    </p:animEffect>
                                  </p:childTnLst>
                                </p:cTn>
                              </p:par>
                            </p:childTnLst>
                          </p:cTn>
                        </p:par>
                      </p:childTnLst>
                    </p:cTn>
                  </p:par>
                  <p:par>
                    <p:cTn id="219" fill="hold">
                      <p:stCondLst>
                        <p:cond delay="indefinite"/>
                      </p:stCondLst>
                      <p:childTnLst>
                        <p:par>
                          <p:cTn id="220" fill="hold">
                            <p:stCondLst>
                              <p:cond delay="0"/>
                            </p:stCondLst>
                            <p:childTnLst>
                              <p:par>
                                <p:cTn id="221" presetID="22" presetClass="entr" presetSubtype="4" fill="hold" grpId="0" nodeType="clickEffect">
                                  <p:stCondLst>
                                    <p:cond delay="0"/>
                                  </p:stCondLst>
                                  <p:childTnLst>
                                    <p:set>
                                      <p:cBhvr>
                                        <p:cTn id="222" dur="1" fill="hold">
                                          <p:stCondLst>
                                            <p:cond delay="0"/>
                                          </p:stCondLst>
                                        </p:cTn>
                                        <p:tgtEl>
                                          <p:spTgt spid="65"/>
                                        </p:tgtEl>
                                        <p:attrNameLst>
                                          <p:attrName>style.visibility</p:attrName>
                                        </p:attrNameLst>
                                      </p:cBhvr>
                                      <p:to>
                                        <p:strVal val="visible"/>
                                      </p:to>
                                    </p:set>
                                    <p:animEffect transition="in" filter="wipe(down)">
                                      <p:cBhvr>
                                        <p:cTn id="223" dur="500"/>
                                        <p:tgtEl>
                                          <p:spTgt spid="65"/>
                                        </p:tgtEl>
                                      </p:cBhvr>
                                    </p:animEffect>
                                  </p:childTnLst>
                                </p:cTn>
                              </p:par>
                              <p:par>
                                <p:cTn id="224" presetID="22" presetClass="entr" presetSubtype="4" fill="hold" grpId="0" nodeType="withEffect">
                                  <p:stCondLst>
                                    <p:cond delay="0"/>
                                  </p:stCondLst>
                                  <p:childTnLst>
                                    <p:set>
                                      <p:cBhvr>
                                        <p:cTn id="225" dur="1" fill="hold">
                                          <p:stCondLst>
                                            <p:cond delay="0"/>
                                          </p:stCondLst>
                                        </p:cTn>
                                        <p:tgtEl>
                                          <p:spTgt spid="64"/>
                                        </p:tgtEl>
                                        <p:attrNameLst>
                                          <p:attrName>style.visibility</p:attrName>
                                        </p:attrNameLst>
                                      </p:cBhvr>
                                      <p:to>
                                        <p:strVal val="visible"/>
                                      </p:to>
                                    </p:set>
                                    <p:animEffect transition="in" filter="wipe(down)">
                                      <p:cBhvr>
                                        <p:cTn id="226" dur="500"/>
                                        <p:tgtEl>
                                          <p:spTgt spid="64"/>
                                        </p:tgtEl>
                                      </p:cBhvr>
                                    </p:animEffect>
                                  </p:childTnLst>
                                </p:cTn>
                              </p:par>
                              <p:par>
                                <p:cTn id="227" presetID="9" presetClass="exit" presetSubtype="0" fill="hold" grpId="1" nodeType="withEffect">
                                  <p:stCondLst>
                                    <p:cond delay="0"/>
                                  </p:stCondLst>
                                  <p:childTnLst>
                                    <p:animEffect transition="out" filter="dissolve">
                                      <p:cBhvr>
                                        <p:cTn id="228" dur="500"/>
                                        <p:tgtEl>
                                          <p:spTgt spid="37"/>
                                        </p:tgtEl>
                                      </p:cBhvr>
                                    </p:animEffect>
                                    <p:set>
                                      <p:cBhvr>
                                        <p:cTn id="229" dur="1" fill="hold">
                                          <p:stCondLst>
                                            <p:cond delay="499"/>
                                          </p:stCondLst>
                                        </p:cTn>
                                        <p:tgtEl>
                                          <p:spTgt spid="37"/>
                                        </p:tgtEl>
                                        <p:attrNameLst>
                                          <p:attrName>style.visibility</p:attrName>
                                        </p:attrNameLst>
                                      </p:cBhvr>
                                      <p:to>
                                        <p:strVal val="hidden"/>
                                      </p:to>
                                    </p:set>
                                  </p:childTnLst>
                                </p:cTn>
                              </p:par>
                            </p:childTnLst>
                          </p:cTn>
                        </p:par>
                      </p:childTnLst>
                    </p:cTn>
                  </p:par>
                  <p:par>
                    <p:cTn id="230" fill="hold">
                      <p:stCondLst>
                        <p:cond delay="indefinite"/>
                      </p:stCondLst>
                      <p:childTnLst>
                        <p:par>
                          <p:cTn id="231" fill="hold">
                            <p:stCondLst>
                              <p:cond delay="0"/>
                            </p:stCondLst>
                            <p:childTnLst>
                              <p:par>
                                <p:cTn id="232" presetID="22" presetClass="entr" presetSubtype="4" fill="hold" grpId="0" nodeType="clickEffect">
                                  <p:stCondLst>
                                    <p:cond delay="0"/>
                                  </p:stCondLst>
                                  <p:childTnLst>
                                    <p:set>
                                      <p:cBhvr>
                                        <p:cTn id="233" dur="1" fill="hold">
                                          <p:stCondLst>
                                            <p:cond delay="0"/>
                                          </p:stCondLst>
                                        </p:cTn>
                                        <p:tgtEl>
                                          <p:spTgt spid="28"/>
                                        </p:tgtEl>
                                        <p:attrNameLst>
                                          <p:attrName>style.visibility</p:attrName>
                                        </p:attrNameLst>
                                      </p:cBhvr>
                                      <p:to>
                                        <p:strVal val="visible"/>
                                      </p:to>
                                    </p:set>
                                    <p:animEffect transition="in" filter="wipe(down)">
                                      <p:cBhvr>
                                        <p:cTn id="234" dur="500"/>
                                        <p:tgtEl>
                                          <p:spTgt spid="28"/>
                                        </p:tgtEl>
                                      </p:cBhvr>
                                    </p:animEffect>
                                  </p:childTnLst>
                                </p:cTn>
                              </p:par>
                            </p:childTnLst>
                          </p:cTn>
                        </p:par>
                      </p:childTnLst>
                    </p:cTn>
                  </p:par>
                  <p:par>
                    <p:cTn id="235" fill="hold">
                      <p:stCondLst>
                        <p:cond delay="indefinite"/>
                      </p:stCondLst>
                      <p:childTnLst>
                        <p:par>
                          <p:cTn id="236" fill="hold">
                            <p:stCondLst>
                              <p:cond delay="0"/>
                            </p:stCondLst>
                            <p:childTnLst>
                              <p:par>
                                <p:cTn id="237" presetID="22" presetClass="entr" presetSubtype="4" fill="hold" grpId="0" nodeType="clickEffect">
                                  <p:stCondLst>
                                    <p:cond delay="0"/>
                                  </p:stCondLst>
                                  <p:childTnLst>
                                    <p:set>
                                      <p:cBhvr>
                                        <p:cTn id="238" dur="1" fill="hold">
                                          <p:stCondLst>
                                            <p:cond delay="0"/>
                                          </p:stCondLst>
                                        </p:cTn>
                                        <p:tgtEl>
                                          <p:spTgt spid="63"/>
                                        </p:tgtEl>
                                        <p:attrNameLst>
                                          <p:attrName>style.visibility</p:attrName>
                                        </p:attrNameLst>
                                      </p:cBhvr>
                                      <p:to>
                                        <p:strVal val="visible"/>
                                      </p:to>
                                    </p:set>
                                    <p:animEffect transition="in" filter="wipe(down)">
                                      <p:cBhvr>
                                        <p:cTn id="239" dur="500"/>
                                        <p:tgtEl>
                                          <p:spTgt spid="63"/>
                                        </p:tgtEl>
                                      </p:cBhvr>
                                    </p:animEffect>
                                  </p:childTnLst>
                                </p:cTn>
                              </p:par>
                              <p:par>
                                <p:cTn id="240" presetID="9" presetClass="exit" presetSubtype="0" fill="hold" grpId="1" nodeType="withEffect">
                                  <p:stCondLst>
                                    <p:cond delay="0"/>
                                  </p:stCondLst>
                                  <p:childTnLst>
                                    <p:animEffect transition="out" filter="dissolve">
                                      <p:cBhvr>
                                        <p:cTn id="241" dur="500"/>
                                        <p:tgtEl>
                                          <p:spTgt spid="41"/>
                                        </p:tgtEl>
                                      </p:cBhvr>
                                    </p:animEffect>
                                    <p:set>
                                      <p:cBhvr>
                                        <p:cTn id="242" dur="1" fill="hold">
                                          <p:stCondLst>
                                            <p:cond delay="499"/>
                                          </p:stCondLst>
                                        </p:cTn>
                                        <p:tgtEl>
                                          <p:spTgt spid="41"/>
                                        </p:tgtEl>
                                        <p:attrNameLst>
                                          <p:attrName>style.visibility</p:attrName>
                                        </p:attrNameLst>
                                      </p:cBhvr>
                                      <p:to>
                                        <p:strVal val="hidden"/>
                                      </p:to>
                                    </p:set>
                                  </p:childTnLst>
                                </p:cTn>
                              </p:par>
                            </p:childTnLst>
                          </p:cTn>
                        </p:par>
                      </p:childTnLst>
                    </p:cTn>
                  </p:par>
                  <p:par>
                    <p:cTn id="243" fill="hold">
                      <p:stCondLst>
                        <p:cond delay="indefinite"/>
                      </p:stCondLst>
                      <p:childTnLst>
                        <p:par>
                          <p:cTn id="244" fill="hold">
                            <p:stCondLst>
                              <p:cond delay="0"/>
                            </p:stCondLst>
                            <p:childTnLst>
                              <p:par>
                                <p:cTn id="245" presetID="16" presetClass="entr" presetSubtype="21" fill="hold" nodeType="clickEffect">
                                  <p:stCondLst>
                                    <p:cond delay="0"/>
                                  </p:stCondLst>
                                  <p:childTnLst>
                                    <p:set>
                                      <p:cBhvr>
                                        <p:cTn id="246" dur="1" fill="hold">
                                          <p:stCondLst>
                                            <p:cond delay="0"/>
                                          </p:stCondLst>
                                        </p:cTn>
                                        <p:tgtEl>
                                          <p:spTgt spid="14"/>
                                        </p:tgtEl>
                                        <p:attrNameLst>
                                          <p:attrName>style.visibility</p:attrName>
                                        </p:attrNameLst>
                                      </p:cBhvr>
                                      <p:to>
                                        <p:strVal val="visible"/>
                                      </p:to>
                                    </p:set>
                                    <p:animEffect transition="in" filter="barn(inVertical)">
                                      <p:cBhvr>
                                        <p:cTn id="247" dur="500"/>
                                        <p:tgtEl>
                                          <p:spTgt spid="14"/>
                                        </p:tgtEl>
                                      </p:cBhvr>
                                    </p:animEffect>
                                  </p:childTnLst>
                                </p:cTn>
                              </p:par>
                              <p:par>
                                <p:cTn id="248" presetID="16" presetClass="entr" presetSubtype="21" fill="hold" grpId="0" nodeType="withEffect">
                                  <p:stCondLst>
                                    <p:cond delay="0"/>
                                  </p:stCondLst>
                                  <p:childTnLst>
                                    <p:set>
                                      <p:cBhvr>
                                        <p:cTn id="249" dur="1" fill="hold">
                                          <p:stCondLst>
                                            <p:cond delay="0"/>
                                          </p:stCondLst>
                                        </p:cTn>
                                        <p:tgtEl>
                                          <p:spTgt spid="24"/>
                                        </p:tgtEl>
                                        <p:attrNameLst>
                                          <p:attrName>style.visibility</p:attrName>
                                        </p:attrNameLst>
                                      </p:cBhvr>
                                      <p:to>
                                        <p:strVal val="visible"/>
                                      </p:to>
                                    </p:set>
                                    <p:animEffect transition="in" filter="barn(inVertical)">
                                      <p:cBhvr>
                                        <p:cTn id="250" dur="500"/>
                                        <p:tgtEl>
                                          <p:spTgt spid="24"/>
                                        </p:tgtEl>
                                      </p:cBhvr>
                                    </p:animEffect>
                                  </p:childTnLst>
                                </p:cTn>
                              </p:par>
                            </p:childTnLst>
                          </p:cTn>
                        </p:par>
                      </p:childTnLst>
                    </p:cTn>
                  </p:par>
                  <p:par>
                    <p:cTn id="251" fill="hold">
                      <p:stCondLst>
                        <p:cond delay="indefinite"/>
                      </p:stCondLst>
                      <p:childTnLst>
                        <p:par>
                          <p:cTn id="252" fill="hold">
                            <p:stCondLst>
                              <p:cond delay="0"/>
                            </p:stCondLst>
                            <p:childTnLst>
                              <p:par>
                                <p:cTn id="253" presetID="16" presetClass="entr" presetSubtype="21" fill="hold" grpId="0" nodeType="clickEffect">
                                  <p:stCondLst>
                                    <p:cond delay="0"/>
                                  </p:stCondLst>
                                  <p:childTnLst>
                                    <p:set>
                                      <p:cBhvr>
                                        <p:cTn id="254" dur="1" fill="hold">
                                          <p:stCondLst>
                                            <p:cond delay="0"/>
                                          </p:stCondLst>
                                        </p:cTn>
                                        <p:tgtEl>
                                          <p:spTgt spid="58"/>
                                        </p:tgtEl>
                                        <p:attrNameLst>
                                          <p:attrName>style.visibility</p:attrName>
                                        </p:attrNameLst>
                                      </p:cBhvr>
                                      <p:to>
                                        <p:strVal val="visible"/>
                                      </p:to>
                                    </p:set>
                                    <p:animEffect transition="in" filter="barn(inVertical)">
                                      <p:cBhvr>
                                        <p:cTn id="255" dur="500"/>
                                        <p:tgtEl>
                                          <p:spTgt spid="58"/>
                                        </p:tgtEl>
                                      </p:cBhvr>
                                    </p:animEffect>
                                  </p:childTnLst>
                                </p:cTn>
                              </p:par>
                            </p:childTnLst>
                          </p:cTn>
                        </p:par>
                        <p:par>
                          <p:cTn id="256" fill="hold">
                            <p:stCondLst>
                              <p:cond delay="500"/>
                            </p:stCondLst>
                            <p:childTnLst>
                              <p:par>
                                <p:cTn id="257" presetID="10" presetClass="entr" presetSubtype="0" fill="hold" grpId="2" nodeType="afterEffect">
                                  <p:stCondLst>
                                    <p:cond delay="0"/>
                                  </p:stCondLst>
                                  <p:childTnLst>
                                    <p:set>
                                      <p:cBhvr>
                                        <p:cTn id="258" dur="1" fill="hold">
                                          <p:stCondLst>
                                            <p:cond delay="0"/>
                                          </p:stCondLst>
                                        </p:cTn>
                                        <p:tgtEl>
                                          <p:spTgt spid="39"/>
                                        </p:tgtEl>
                                        <p:attrNameLst>
                                          <p:attrName>style.visibility</p:attrName>
                                        </p:attrNameLst>
                                      </p:cBhvr>
                                      <p:to>
                                        <p:strVal val="visible"/>
                                      </p:to>
                                    </p:set>
                                    <p:animEffect transition="in" filter="fade">
                                      <p:cBhvr>
                                        <p:cTn id="259" dur="500"/>
                                        <p:tgtEl>
                                          <p:spTgt spid="39"/>
                                        </p:tgtEl>
                                      </p:cBhvr>
                                    </p:animEffect>
                                  </p:childTnLst>
                                </p:cTn>
                              </p:par>
                              <p:par>
                                <p:cTn id="260" presetID="10" presetClass="entr" presetSubtype="0" fill="hold" grpId="2" nodeType="withEffect">
                                  <p:stCondLst>
                                    <p:cond delay="0"/>
                                  </p:stCondLst>
                                  <p:childTnLst>
                                    <p:set>
                                      <p:cBhvr>
                                        <p:cTn id="261" dur="1" fill="hold">
                                          <p:stCondLst>
                                            <p:cond delay="0"/>
                                          </p:stCondLst>
                                        </p:cTn>
                                        <p:tgtEl>
                                          <p:spTgt spid="35"/>
                                        </p:tgtEl>
                                        <p:attrNameLst>
                                          <p:attrName>style.visibility</p:attrName>
                                        </p:attrNameLst>
                                      </p:cBhvr>
                                      <p:to>
                                        <p:strVal val="visible"/>
                                      </p:to>
                                    </p:set>
                                    <p:animEffect transition="in" filter="fade">
                                      <p:cBhvr>
                                        <p:cTn id="262" dur="500"/>
                                        <p:tgtEl>
                                          <p:spTgt spid="35"/>
                                        </p:tgtEl>
                                      </p:cBhvr>
                                    </p:animEffect>
                                  </p:childTnLst>
                                </p:cTn>
                              </p:par>
                              <p:par>
                                <p:cTn id="263" presetID="10" presetClass="entr" presetSubtype="0" fill="hold" grpId="2" nodeType="withEffect">
                                  <p:stCondLst>
                                    <p:cond delay="0"/>
                                  </p:stCondLst>
                                  <p:childTnLst>
                                    <p:set>
                                      <p:cBhvr>
                                        <p:cTn id="264" dur="1" fill="hold">
                                          <p:stCondLst>
                                            <p:cond delay="0"/>
                                          </p:stCondLst>
                                        </p:cTn>
                                        <p:tgtEl>
                                          <p:spTgt spid="36"/>
                                        </p:tgtEl>
                                        <p:attrNameLst>
                                          <p:attrName>style.visibility</p:attrName>
                                        </p:attrNameLst>
                                      </p:cBhvr>
                                      <p:to>
                                        <p:strVal val="visible"/>
                                      </p:to>
                                    </p:set>
                                    <p:animEffect transition="in" filter="fade">
                                      <p:cBhvr>
                                        <p:cTn id="265" dur="500"/>
                                        <p:tgtEl>
                                          <p:spTgt spid="36"/>
                                        </p:tgtEl>
                                      </p:cBhvr>
                                    </p:animEffect>
                                  </p:childTnLst>
                                </p:cTn>
                              </p:par>
                              <p:par>
                                <p:cTn id="266" presetID="10" presetClass="entr" presetSubtype="0" fill="hold" grpId="2" nodeType="withEffect">
                                  <p:stCondLst>
                                    <p:cond delay="0"/>
                                  </p:stCondLst>
                                  <p:childTnLst>
                                    <p:set>
                                      <p:cBhvr>
                                        <p:cTn id="267" dur="1" fill="hold">
                                          <p:stCondLst>
                                            <p:cond delay="0"/>
                                          </p:stCondLst>
                                        </p:cTn>
                                        <p:tgtEl>
                                          <p:spTgt spid="38"/>
                                        </p:tgtEl>
                                        <p:attrNameLst>
                                          <p:attrName>style.visibility</p:attrName>
                                        </p:attrNameLst>
                                      </p:cBhvr>
                                      <p:to>
                                        <p:strVal val="visible"/>
                                      </p:to>
                                    </p:set>
                                    <p:animEffect transition="in" filter="fade">
                                      <p:cBhvr>
                                        <p:cTn id="268" dur="500"/>
                                        <p:tgtEl>
                                          <p:spTgt spid="38"/>
                                        </p:tgtEl>
                                      </p:cBhvr>
                                    </p:animEffect>
                                  </p:childTnLst>
                                </p:cTn>
                              </p:par>
                              <p:par>
                                <p:cTn id="269" presetID="10" presetClass="entr" presetSubtype="0" fill="hold" grpId="2" nodeType="withEffect">
                                  <p:stCondLst>
                                    <p:cond delay="0"/>
                                  </p:stCondLst>
                                  <p:childTnLst>
                                    <p:set>
                                      <p:cBhvr>
                                        <p:cTn id="270" dur="1" fill="hold">
                                          <p:stCondLst>
                                            <p:cond delay="0"/>
                                          </p:stCondLst>
                                        </p:cTn>
                                        <p:tgtEl>
                                          <p:spTgt spid="40"/>
                                        </p:tgtEl>
                                        <p:attrNameLst>
                                          <p:attrName>style.visibility</p:attrName>
                                        </p:attrNameLst>
                                      </p:cBhvr>
                                      <p:to>
                                        <p:strVal val="visible"/>
                                      </p:to>
                                    </p:set>
                                    <p:animEffect transition="in" filter="fade">
                                      <p:cBhvr>
                                        <p:cTn id="271" dur="500"/>
                                        <p:tgtEl>
                                          <p:spTgt spid="40"/>
                                        </p:tgtEl>
                                      </p:cBhvr>
                                    </p:animEffect>
                                  </p:childTnLst>
                                </p:cTn>
                              </p:par>
                              <p:par>
                                <p:cTn id="272" presetID="9" presetClass="exit" presetSubtype="0" fill="hold" grpId="1" nodeType="withEffect">
                                  <p:stCondLst>
                                    <p:cond delay="0"/>
                                  </p:stCondLst>
                                  <p:childTnLst>
                                    <p:animEffect transition="out" filter="dissolve">
                                      <p:cBhvr>
                                        <p:cTn id="273" dur="500"/>
                                        <p:tgtEl>
                                          <p:spTgt spid="50"/>
                                        </p:tgtEl>
                                      </p:cBhvr>
                                    </p:animEffect>
                                    <p:set>
                                      <p:cBhvr>
                                        <p:cTn id="274" dur="1" fill="hold">
                                          <p:stCondLst>
                                            <p:cond delay="499"/>
                                          </p:stCondLst>
                                        </p:cTn>
                                        <p:tgtEl>
                                          <p:spTgt spid="50"/>
                                        </p:tgtEl>
                                        <p:attrNameLst>
                                          <p:attrName>style.visibility</p:attrName>
                                        </p:attrNameLst>
                                      </p:cBhvr>
                                      <p:to>
                                        <p:strVal val="hidden"/>
                                      </p:to>
                                    </p:set>
                                  </p:childTnLst>
                                </p:cTn>
                              </p:par>
                              <p:par>
                                <p:cTn id="275" presetID="9" presetClass="exit" presetSubtype="0" fill="hold" grpId="1" nodeType="withEffect">
                                  <p:stCondLst>
                                    <p:cond delay="0"/>
                                  </p:stCondLst>
                                  <p:childTnLst>
                                    <p:animEffect transition="out" filter="dissolve">
                                      <p:cBhvr>
                                        <p:cTn id="276" dur="500"/>
                                        <p:tgtEl>
                                          <p:spTgt spid="53"/>
                                        </p:tgtEl>
                                      </p:cBhvr>
                                    </p:animEffect>
                                    <p:set>
                                      <p:cBhvr>
                                        <p:cTn id="277" dur="1" fill="hold">
                                          <p:stCondLst>
                                            <p:cond delay="499"/>
                                          </p:stCondLst>
                                        </p:cTn>
                                        <p:tgtEl>
                                          <p:spTgt spid="53"/>
                                        </p:tgtEl>
                                        <p:attrNameLst>
                                          <p:attrName>style.visibility</p:attrName>
                                        </p:attrNameLst>
                                      </p:cBhvr>
                                      <p:to>
                                        <p:strVal val="hidden"/>
                                      </p:to>
                                    </p:set>
                                  </p:childTnLst>
                                </p:cTn>
                              </p:par>
                              <p:par>
                                <p:cTn id="278" presetID="9" presetClass="exit" presetSubtype="0" fill="hold" grpId="1" nodeType="withEffect">
                                  <p:stCondLst>
                                    <p:cond delay="0"/>
                                  </p:stCondLst>
                                  <p:childTnLst>
                                    <p:animEffect transition="out" filter="dissolve">
                                      <p:cBhvr>
                                        <p:cTn id="279" dur="500"/>
                                        <p:tgtEl>
                                          <p:spTgt spid="55"/>
                                        </p:tgtEl>
                                      </p:cBhvr>
                                    </p:animEffect>
                                    <p:set>
                                      <p:cBhvr>
                                        <p:cTn id="280" dur="1" fill="hold">
                                          <p:stCondLst>
                                            <p:cond delay="499"/>
                                          </p:stCondLst>
                                        </p:cTn>
                                        <p:tgtEl>
                                          <p:spTgt spid="55"/>
                                        </p:tgtEl>
                                        <p:attrNameLst>
                                          <p:attrName>style.visibility</p:attrName>
                                        </p:attrNameLst>
                                      </p:cBhvr>
                                      <p:to>
                                        <p:strVal val="hidden"/>
                                      </p:to>
                                    </p:set>
                                  </p:childTnLst>
                                </p:cTn>
                              </p:par>
                              <p:par>
                                <p:cTn id="281" presetID="9" presetClass="exit" presetSubtype="0" fill="hold" grpId="1" nodeType="withEffect">
                                  <p:stCondLst>
                                    <p:cond delay="0"/>
                                  </p:stCondLst>
                                  <p:childTnLst>
                                    <p:animEffect transition="out" filter="dissolve">
                                      <p:cBhvr>
                                        <p:cTn id="282" dur="500"/>
                                        <p:tgtEl>
                                          <p:spTgt spid="56"/>
                                        </p:tgtEl>
                                      </p:cBhvr>
                                    </p:animEffect>
                                    <p:set>
                                      <p:cBhvr>
                                        <p:cTn id="283" dur="1" fill="hold">
                                          <p:stCondLst>
                                            <p:cond delay="499"/>
                                          </p:stCondLst>
                                        </p:cTn>
                                        <p:tgtEl>
                                          <p:spTgt spid="56"/>
                                        </p:tgtEl>
                                        <p:attrNameLst>
                                          <p:attrName>style.visibility</p:attrName>
                                        </p:attrNameLst>
                                      </p:cBhvr>
                                      <p:to>
                                        <p:strVal val="hidden"/>
                                      </p:to>
                                    </p:set>
                                  </p:childTnLst>
                                </p:cTn>
                              </p:par>
                              <p:par>
                                <p:cTn id="284" presetID="9" presetClass="exit" presetSubtype="0" fill="hold" grpId="1" nodeType="withEffect">
                                  <p:stCondLst>
                                    <p:cond delay="0"/>
                                  </p:stCondLst>
                                  <p:childTnLst>
                                    <p:animEffect transition="out" filter="dissolve">
                                      <p:cBhvr>
                                        <p:cTn id="285" dur="500"/>
                                        <p:tgtEl>
                                          <p:spTgt spid="57"/>
                                        </p:tgtEl>
                                      </p:cBhvr>
                                    </p:animEffect>
                                    <p:set>
                                      <p:cBhvr>
                                        <p:cTn id="286" dur="1" fill="hold">
                                          <p:stCondLst>
                                            <p:cond delay="499"/>
                                          </p:stCondLst>
                                        </p:cTn>
                                        <p:tgtEl>
                                          <p:spTgt spid="5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P spid="20" grpId="0"/>
      <p:bldP spid="21" grpId="0"/>
      <p:bldP spid="22" grpId="0"/>
      <p:bldP spid="23" grpId="0"/>
      <p:bldP spid="26" grpId="0"/>
      <p:bldP spid="27" grpId="0" animBg="1"/>
      <p:bldP spid="28" grpId="0" animBg="1"/>
      <p:bldP spid="7" grpId="0"/>
      <p:bldP spid="24" grpId="0"/>
      <p:bldP spid="31" grpId="0" animBg="1"/>
      <p:bldP spid="33" grpId="0" animBg="1"/>
      <p:bldP spid="35" grpId="0"/>
      <p:bldP spid="35" grpId="1"/>
      <p:bldP spid="35" grpId="2"/>
      <p:bldP spid="36" grpId="0"/>
      <p:bldP spid="36" grpId="1"/>
      <p:bldP spid="36" grpId="2"/>
      <p:bldP spid="37" grpId="0"/>
      <p:bldP spid="37" grpId="1"/>
      <p:bldP spid="38" grpId="0"/>
      <p:bldP spid="38" grpId="1"/>
      <p:bldP spid="38" grpId="2"/>
      <p:bldP spid="39" grpId="0"/>
      <p:bldP spid="39" grpId="1"/>
      <p:bldP spid="39" grpId="2"/>
      <p:bldP spid="40" grpId="0"/>
      <p:bldP spid="40" grpId="1"/>
      <p:bldP spid="40" grpId="2"/>
      <p:bldP spid="41" grpId="0"/>
      <p:bldP spid="41" grpId="1"/>
      <p:bldP spid="42" grpId="0" animBg="1"/>
      <p:bldP spid="44" grpId="0"/>
      <p:bldP spid="45" grpId="0" animBg="1"/>
      <p:bldP spid="46" grpId="0"/>
      <p:bldP spid="47" grpId="0" animBg="1"/>
      <p:bldP spid="48" grpId="0"/>
      <p:bldP spid="48" grpId="1"/>
      <p:bldP spid="49" grpId="0"/>
      <p:bldP spid="49" grpId="1"/>
      <p:bldP spid="50" grpId="0"/>
      <p:bldP spid="50" grpId="1"/>
      <p:bldP spid="51" grpId="0"/>
      <p:bldP spid="51" grpId="1"/>
      <p:bldP spid="52" grpId="0"/>
      <p:bldP spid="52" grpId="1"/>
      <p:bldP spid="53" grpId="0"/>
      <p:bldP spid="53" grpId="1"/>
      <p:bldP spid="54" grpId="0"/>
      <p:bldP spid="54" grpId="1"/>
      <p:bldP spid="55" grpId="0"/>
      <p:bldP spid="55" grpId="1"/>
      <p:bldP spid="56" grpId="0"/>
      <p:bldP spid="56" grpId="1"/>
      <p:bldP spid="57" grpId="0"/>
      <p:bldP spid="57" grpId="1"/>
      <p:bldP spid="58" grpId="0" animBg="1"/>
      <p:bldP spid="61" grpId="0" animBg="1"/>
      <p:bldP spid="62" grpId="0"/>
      <p:bldP spid="63" grpId="0"/>
      <p:bldP spid="64" grpId="0"/>
      <p:bldP spid="6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236"/>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Baker’s Mark-and-Sweep Collector</a:t>
            </a:r>
          </a:p>
        </p:txBody>
      </p:sp>
      <p:sp>
        <p:nvSpPr>
          <p:cNvPr id="6" name="Content Placeholder 2"/>
          <p:cNvSpPr>
            <a:spLocks noGrp="1"/>
          </p:cNvSpPr>
          <p:nvPr>
            <p:ph idx="1"/>
          </p:nvPr>
        </p:nvSpPr>
        <p:spPr>
          <a:xfrm>
            <a:off x="129988" y="810466"/>
            <a:ext cx="4970929" cy="5911009"/>
          </a:xfrm>
          <a:ln>
            <a:solidFill>
              <a:srgbClr val="7030A0"/>
            </a:solidFill>
            <a:prstDash val="dash"/>
          </a:ln>
        </p:spPr>
        <p:txBody>
          <a:bodyPr vert="horz" lIns="91440" tIns="45720" rIns="91440" bIns="45720" rtlCol="0">
            <a:noAutofit/>
          </a:bodyPr>
          <a:lstStyle/>
          <a:p>
            <a:pPr>
              <a:lnSpc>
                <a:spcPct val="100000"/>
              </a:lnSpc>
              <a:spcBef>
                <a:spcPts val="0"/>
              </a:spcBef>
              <a:spcAft>
                <a:spcPts val="600"/>
              </a:spcAft>
            </a:pPr>
            <a:r>
              <a:rPr lang="en-US" sz="2400" dirty="0">
                <a:solidFill>
                  <a:schemeClr val="accent5">
                    <a:lumMod val="75000"/>
                  </a:schemeClr>
                </a:solidFill>
              </a:rPr>
              <a:t>Algorithm</a:t>
            </a:r>
            <a:r>
              <a:rPr lang="en-US" sz="2400" dirty="0"/>
              <a:t>: Baker’s Mark-and-Sweep Collector</a:t>
            </a:r>
          </a:p>
          <a:p>
            <a:pPr>
              <a:lnSpc>
                <a:spcPct val="100000"/>
              </a:lnSpc>
              <a:spcBef>
                <a:spcPts val="0"/>
              </a:spcBef>
              <a:spcAft>
                <a:spcPts val="600"/>
              </a:spcAft>
            </a:pPr>
            <a:r>
              <a:rPr lang="en-US" sz="2400" dirty="0">
                <a:solidFill>
                  <a:schemeClr val="accent6">
                    <a:lumMod val="75000"/>
                  </a:schemeClr>
                </a:solidFill>
              </a:rPr>
              <a:t>Input: </a:t>
            </a:r>
          </a:p>
          <a:p>
            <a:pPr lvl="1">
              <a:lnSpc>
                <a:spcPct val="100000"/>
              </a:lnSpc>
              <a:spcBef>
                <a:spcPts val="0"/>
              </a:spcBef>
            </a:pPr>
            <a:r>
              <a:rPr lang="en-US" dirty="0"/>
              <a:t>A root set of objects,</a:t>
            </a:r>
          </a:p>
          <a:p>
            <a:pPr lvl="1">
              <a:lnSpc>
                <a:spcPct val="100000"/>
              </a:lnSpc>
              <a:spcBef>
                <a:spcPts val="0"/>
              </a:spcBef>
            </a:pPr>
            <a:r>
              <a:rPr lang="en-US" dirty="0"/>
              <a:t>a heap,</a:t>
            </a:r>
          </a:p>
          <a:p>
            <a:pPr lvl="1">
              <a:lnSpc>
                <a:spcPct val="100000"/>
              </a:lnSpc>
              <a:spcBef>
                <a:spcPts val="0"/>
              </a:spcBef>
              <a:spcAft>
                <a:spcPts val="600"/>
              </a:spcAft>
            </a:pPr>
            <a:r>
              <a:rPr lang="en-US" dirty="0"/>
              <a:t>a free list </a:t>
            </a:r>
            <a:r>
              <a:rPr lang="en-US" i="1" dirty="0">
                <a:solidFill>
                  <a:srgbClr val="00B0F0"/>
                </a:solidFill>
              </a:rPr>
              <a:t>free</a:t>
            </a:r>
          </a:p>
          <a:p>
            <a:pPr lvl="1">
              <a:lnSpc>
                <a:spcPct val="100000"/>
              </a:lnSpc>
              <a:spcBef>
                <a:spcPts val="0"/>
              </a:spcBef>
              <a:spcAft>
                <a:spcPts val="600"/>
              </a:spcAft>
            </a:pPr>
            <a:r>
              <a:rPr lang="en-US" dirty="0"/>
              <a:t>a list of allocated objects,</a:t>
            </a:r>
            <a:r>
              <a:rPr lang="en-US" i="1" dirty="0"/>
              <a:t> </a:t>
            </a:r>
            <a:r>
              <a:rPr lang="en-US" i="1" dirty="0">
                <a:solidFill>
                  <a:schemeClr val="accent4">
                    <a:lumMod val="75000"/>
                  </a:schemeClr>
                </a:solidFill>
              </a:rPr>
              <a:t>unreached</a:t>
            </a:r>
            <a:endParaRPr lang="en-US" dirty="0">
              <a:solidFill>
                <a:schemeClr val="accent4">
                  <a:lumMod val="75000"/>
                </a:schemeClr>
              </a:solidFill>
            </a:endParaRPr>
          </a:p>
          <a:p>
            <a:pPr>
              <a:lnSpc>
                <a:spcPct val="100000"/>
              </a:lnSpc>
              <a:spcBef>
                <a:spcPts val="0"/>
              </a:spcBef>
              <a:spcAft>
                <a:spcPts val="600"/>
              </a:spcAft>
            </a:pPr>
            <a:r>
              <a:rPr lang="en-US" sz="2400" dirty="0">
                <a:solidFill>
                  <a:srgbClr val="7030A0"/>
                </a:solidFill>
              </a:rPr>
              <a:t>Output:</a:t>
            </a:r>
            <a:endParaRPr lang="en-US" dirty="0">
              <a:solidFill>
                <a:srgbClr val="7030A0"/>
              </a:solidFill>
            </a:endParaRPr>
          </a:p>
          <a:p>
            <a:pPr lvl="1">
              <a:lnSpc>
                <a:spcPct val="100000"/>
              </a:lnSpc>
              <a:spcBef>
                <a:spcPts val="0"/>
              </a:spcBef>
              <a:spcAft>
                <a:spcPts val="600"/>
              </a:spcAft>
            </a:pPr>
            <a:r>
              <a:rPr lang="en-US" dirty="0"/>
              <a:t>Modified lists: </a:t>
            </a:r>
            <a:r>
              <a:rPr lang="en-US" i="1" dirty="0">
                <a:solidFill>
                  <a:srgbClr val="00B0F0"/>
                </a:solidFill>
              </a:rPr>
              <a:t>free</a:t>
            </a:r>
            <a:r>
              <a:rPr lang="en-US" i="1" dirty="0"/>
              <a:t>, </a:t>
            </a:r>
            <a:r>
              <a:rPr lang="en-US" i="1" dirty="0">
                <a:solidFill>
                  <a:schemeClr val="accent4">
                    <a:lumMod val="75000"/>
                  </a:schemeClr>
                </a:solidFill>
              </a:rPr>
              <a:t>unreached </a:t>
            </a:r>
            <a:r>
              <a:rPr lang="en-US" dirty="0"/>
              <a:t>holding allocated objects</a:t>
            </a:r>
            <a:endParaRPr lang="en-US" i="1" dirty="0"/>
          </a:p>
          <a:p>
            <a:pPr>
              <a:lnSpc>
                <a:spcPct val="100000"/>
              </a:lnSpc>
              <a:spcBef>
                <a:spcPts val="0"/>
              </a:spcBef>
              <a:spcAft>
                <a:spcPts val="600"/>
              </a:spcAft>
            </a:pPr>
            <a:r>
              <a:rPr lang="en-US" sz="2400" dirty="0">
                <a:solidFill>
                  <a:schemeClr val="accent2">
                    <a:lumMod val="75000"/>
                  </a:schemeClr>
                </a:solidFill>
              </a:rPr>
              <a:t>Data Structures:</a:t>
            </a:r>
          </a:p>
          <a:p>
            <a:pPr lvl="1">
              <a:lnSpc>
                <a:spcPct val="100000"/>
              </a:lnSpc>
              <a:spcBef>
                <a:spcPts val="0"/>
              </a:spcBef>
            </a:pPr>
            <a:r>
              <a:rPr lang="en-US" dirty="0"/>
              <a:t>Four lists: </a:t>
            </a:r>
            <a:r>
              <a:rPr lang="en-US" i="1" dirty="0">
                <a:solidFill>
                  <a:srgbClr val="00B0F0"/>
                </a:solidFill>
              </a:rPr>
              <a:t>free, </a:t>
            </a:r>
            <a:r>
              <a:rPr lang="en-US" i="1" dirty="0">
                <a:solidFill>
                  <a:schemeClr val="accent4">
                    <a:lumMod val="75000"/>
                  </a:schemeClr>
                </a:solidFill>
              </a:rPr>
              <a:t>unreached, </a:t>
            </a:r>
            <a:r>
              <a:rPr lang="en-US" i="1" dirty="0">
                <a:solidFill>
                  <a:srgbClr val="7030A0"/>
                </a:solidFill>
              </a:rPr>
              <a:t>unscanned</a:t>
            </a:r>
            <a:r>
              <a:rPr lang="en-US" i="1" dirty="0">
                <a:solidFill>
                  <a:schemeClr val="accent4">
                    <a:lumMod val="75000"/>
                  </a:schemeClr>
                </a:solidFill>
              </a:rPr>
              <a:t>, </a:t>
            </a:r>
            <a:r>
              <a:rPr lang="en-US" i="1" dirty="0">
                <a:solidFill>
                  <a:srgbClr val="00B050"/>
                </a:solidFill>
              </a:rPr>
              <a:t>scanned</a:t>
            </a:r>
            <a:endParaRPr lang="en-US" dirty="0">
              <a:solidFill>
                <a:srgbClr val="00B050"/>
              </a:solidFill>
            </a:endParaRPr>
          </a:p>
        </p:txBody>
      </p:sp>
      <p:sp>
        <p:nvSpPr>
          <p:cNvPr id="7" name="Slide Number Placeholder 6"/>
          <p:cNvSpPr>
            <a:spLocks noGrp="1"/>
          </p:cNvSpPr>
          <p:nvPr>
            <p:ph type="sldNum" sz="quarter" idx="12"/>
          </p:nvPr>
        </p:nvSpPr>
        <p:spPr/>
        <p:txBody>
          <a:bodyPr/>
          <a:lstStyle/>
          <a:p>
            <a:fld id="{EE645454-5A07-423E-8617-7239B6B66F68}" type="slidenum">
              <a:rPr lang="en-US" smtClean="0"/>
              <a:t>76</a:t>
            </a:fld>
            <a:endParaRPr lang="en-US"/>
          </a:p>
        </p:txBody>
      </p:sp>
      <p:pic>
        <p:nvPicPr>
          <p:cNvPr id="10" name="Picture 9"/>
          <p:cNvPicPr>
            <a:picLocks noChangeAspect="1"/>
          </p:cNvPicPr>
          <p:nvPr/>
        </p:nvPicPr>
        <p:blipFill rotWithShape="1">
          <a:blip r:embed="rId2"/>
          <a:srcRect r="5801"/>
          <a:stretch/>
        </p:blipFill>
        <p:spPr>
          <a:xfrm>
            <a:off x="5298083" y="818313"/>
            <a:ext cx="6763929" cy="3269595"/>
          </a:xfrm>
          <a:prstGeom prst="rect">
            <a:avLst/>
          </a:prstGeom>
          <a:ln w="19050">
            <a:solidFill>
              <a:schemeClr val="accent4">
                <a:lumMod val="60000"/>
                <a:lumOff val="40000"/>
              </a:schemeClr>
            </a:solidFill>
            <a:prstDash val="dash"/>
          </a:ln>
        </p:spPr>
      </p:pic>
    </p:spTree>
    <p:extLst>
      <p:ext uri="{BB962C8B-B14F-4D97-AF65-F5344CB8AC3E}">
        <p14:creationId xmlns:p14="http://schemas.microsoft.com/office/powerpoint/2010/main" val="1931224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1000"/>
                                        <p:tgtEl>
                                          <p:spTgt spid="6">
                                            <p:bg/>
                                          </p:spTgt>
                                        </p:tgtEl>
                                      </p:cBhvr>
                                    </p:animEffect>
                                    <p:anim calcmode="lin" valueType="num">
                                      <p:cBhvr>
                                        <p:cTn id="8" dur="1000" fill="hold"/>
                                        <p:tgtEl>
                                          <p:spTgt spid="6">
                                            <p:bg/>
                                          </p:spTgt>
                                        </p:tgtEl>
                                        <p:attrNameLst>
                                          <p:attrName>ppt_x</p:attrName>
                                        </p:attrNameLst>
                                      </p:cBhvr>
                                      <p:tavLst>
                                        <p:tav tm="0">
                                          <p:val>
                                            <p:strVal val="#ppt_x"/>
                                          </p:val>
                                        </p:tav>
                                        <p:tav tm="100000">
                                          <p:val>
                                            <p:strVal val="#ppt_x"/>
                                          </p:val>
                                        </p:tav>
                                      </p:tavLst>
                                    </p:anim>
                                    <p:anim calcmode="lin" valueType="num">
                                      <p:cBhvr>
                                        <p:cTn id="9" dur="1000" fill="hold"/>
                                        <p:tgtEl>
                                          <p:spTgt spid="6">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fade">
                                      <p:cBhvr>
                                        <p:cTn id="21" dur="1000"/>
                                        <p:tgtEl>
                                          <p:spTgt spid="6">
                                            <p:txEl>
                                              <p:pRg st="1" end="1"/>
                                            </p:txEl>
                                          </p:spTgt>
                                        </p:tgtEl>
                                      </p:cBhvr>
                                    </p:animEffect>
                                    <p:anim calcmode="lin" valueType="num">
                                      <p:cBhvr>
                                        <p:cTn id="22"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2" end="2"/>
                                            </p:txEl>
                                          </p:spTgt>
                                        </p:tgtEl>
                                        <p:attrNameLst>
                                          <p:attrName>style.visibility</p:attrName>
                                        </p:attrNameLst>
                                      </p:cBhvr>
                                      <p:to>
                                        <p:strVal val="visible"/>
                                      </p:to>
                                    </p:set>
                                    <p:animEffect transition="in" filter="fade">
                                      <p:cBhvr>
                                        <p:cTn id="28" dur="1000"/>
                                        <p:tgtEl>
                                          <p:spTgt spid="6">
                                            <p:txEl>
                                              <p:pRg st="2" end="2"/>
                                            </p:txEl>
                                          </p:spTgt>
                                        </p:tgtEl>
                                      </p:cBhvr>
                                    </p:animEffect>
                                    <p:anim calcmode="lin" valueType="num">
                                      <p:cBhvr>
                                        <p:cTn id="29"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animEffect transition="in" filter="fade">
                                      <p:cBhvr>
                                        <p:cTn id="35" dur="1000"/>
                                        <p:tgtEl>
                                          <p:spTgt spid="6">
                                            <p:txEl>
                                              <p:pRg st="3" end="3"/>
                                            </p:txEl>
                                          </p:spTgt>
                                        </p:tgtEl>
                                      </p:cBhvr>
                                    </p:animEffect>
                                    <p:anim calcmode="lin" valueType="num">
                                      <p:cBhvr>
                                        <p:cTn id="36"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xEl>
                                              <p:pRg st="4" end="4"/>
                                            </p:txEl>
                                          </p:spTgt>
                                        </p:tgtEl>
                                        <p:attrNameLst>
                                          <p:attrName>style.visibility</p:attrName>
                                        </p:attrNameLst>
                                      </p:cBhvr>
                                      <p:to>
                                        <p:strVal val="visible"/>
                                      </p:to>
                                    </p:set>
                                    <p:animEffect transition="in" filter="fade">
                                      <p:cBhvr>
                                        <p:cTn id="42" dur="1000"/>
                                        <p:tgtEl>
                                          <p:spTgt spid="6">
                                            <p:txEl>
                                              <p:pRg st="4" end="4"/>
                                            </p:txEl>
                                          </p:spTgt>
                                        </p:tgtEl>
                                      </p:cBhvr>
                                    </p:animEffect>
                                    <p:anim calcmode="lin" valueType="num">
                                      <p:cBhvr>
                                        <p:cTn id="4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xEl>
                                              <p:pRg st="5" end="5"/>
                                            </p:txEl>
                                          </p:spTgt>
                                        </p:tgtEl>
                                        <p:attrNameLst>
                                          <p:attrName>style.visibility</p:attrName>
                                        </p:attrNameLst>
                                      </p:cBhvr>
                                      <p:to>
                                        <p:strVal val="visible"/>
                                      </p:to>
                                    </p:set>
                                    <p:animEffect transition="in" filter="fade">
                                      <p:cBhvr>
                                        <p:cTn id="49" dur="1000"/>
                                        <p:tgtEl>
                                          <p:spTgt spid="6">
                                            <p:txEl>
                                              <p:pRg st="5" end="5"/>
                                            </p:txEl>
                                          </p:spTgt>
                                        </p:tgtEl>
                                      </p:cBhvr>
                                    </p:animEffect>
                                    <p:anim calcmode="lin" valueType="num">
                                      <p:cBhvr>
                                        <p:cTn id="50"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6">
                                            <p:txEl>
                                              <p:pRg st="6" end="6"/>
                                            </p:txEl>
                                          </p:spTgt>
                                        </p:tgtEl>
                                        <p:attrNameLst>
                                          <p:attrName>style.visibility</p:attrName>
                                        </p:attrNameLst>
                                      </p:cBhvr>
                                      <p:to>
                                        <p:strVal val="visible"/>
                                      </p:to>
                                    </p:set>
                                    <p:animEffect transition="in" filter="fade">
                                      <p:cBhvr>
                                        <p:cTn id="56" dur="1000"/>
                                        <p:tgtEl>
                                          <p:spTgt spid="6">
                                            <p:txEl>
                                              <p:pRg st="6" end="6"/>
                                            </p:txEl>
                                          </p:spTgt>
                                        </p:tgtEl>
                                      </p:cBhvr>
                                    </p:animEffect>
                                    <p:anim calcmode="lin" valueType="num">
                                      <p:cBhvr>
                                        <p:cTn id="57"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6">
                                            <p:txEl>
                                              <p:pRg st="7" end="7"/>
                                            </p:txEl>
                                          </p:spTgt>
                                        </p:tgtEl>
                                        <p:attrNameLst>
                                          <p:attrName>style.visibility</p:attrName>
                                        </p:attrNameLst>
                                      </p:cBhvr>
                                      <p:to>
                                        <p:strVal val="visible"/>
                                      </p:to>
                                    </p:set>
                                    <p:animEffect transition="in" filter="fade">
                                      <p:cBhvr>
                                        <p:cTn id="63" dur="1000"/>
                                        <p:tgtEl>
                                          <p:spTgt spid="6">
                                            <p:txEl>
                                              <p:pRg st="7" end="7"/>
                                            </p:txEl>
                                          </p:spTgt>
                                        </p:tgtEl>
                                      </p:cBhvr>
                                    </p:animEffect>
                                    <p:anim calcmode="lin" valueType="num">
                                      <p:cBhvr>
                                        <p:cTn id="64"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xEl>
                                              <p:pRg st="8" end="8"/>
                                            </p:txEl>
                                          </p:spTgt>
                                        </p:tgtEl>
                                        <p:attrNameLst>
                                          <p:attrName>style.visibility</p:attrName>
                                        </p:attrNameLst>
                                      </p:cBhvr>
                                      <p:to>
                                        <p:strVal val="visible"/>
                                      </p:to>
                                    </p:set>
                                    <p:animEffect transition="in" filter="fade">
                                      <p:cBhvr>
                                        <p:cTn id="70" dur="1000"/>
                                        <p:tgtEl>
                                          <p:spTgt spid="6">
                                            <p:txEl>
                                              <p:pRg st="8" end="8"/>
                                            </p:txEl>
                                          </p:spTgt>
                                        </p:tgtEl>
                                      </p:cBhvr>
                                    </p:animEffect>
                                    <p:anim calcmode="lin" valueType="num">
                                      <p:cBhvr>
                                        <p:cTn id="71"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6">
                                            <p:txEl>
                                              <p:pRg st="9" end="9"/>
                                            </p:txEl>
                                          </p:spTgt>
                                        </p:tgtEl>
                                        <p:attrNameLst>
                                          <p:attrName>style.visibility</p:attrName>
                                        </p:attrNameLst>
                                      </p:cBhvr>
                                      <p:to>
                                        <p:strVal val="visible"/>
                                      </p:to>
                                    </p:set>
                                    <p:animEffect transition="in" filter="fade">
                                      <p:cBhvr>
                                        <p:cTn id="77" dur="1000"/>
                                        <p:tgtEl>
                                          <p:spTgt spid="6">
                                            <p:txEl>
                                              <p:pRg st="9" end="9"/>
                                            </p:txEl>
                                          </p:spTgt>
                                        </p:tgtEl>
                                      </p:cBhvr>
                                    </p:animEffect>
                                    <p:anim calcmode="lin" valueType="num">
                                      <p:cBhvr>
                                        <p:cTn id="78"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10"/>
                                        </p:tgtEl>
                                        <p:attrNameLst>
                                          <p:attrName>style.visibility</p:attrName>
                                        </p:attrNameLst>
                                      </p:cBhvr>
                                      <p:to>
                                        <p:strVal val="visible"/>
                                      </p:to>
                                    </p:set>
                                    <p:animEffect transition="in" filter="fade">
                                      <p:cBhvr>
                                        <p:cTn id="84" dur="1000"/>
                                        <p:tgtEl>
                                          <p:spTgt spid="10"/>
                                        </p:tgtEl>
                                      </p:cBhvr>
                                    </p:animEffect>
                                    <p:anim calcmode="lin" valueType="num">
                                      <p:cBhvr>
                                        <p:cTn id="85" dur="1000" fill="hold"/>
                                        <p:tgtEl>
                                          <p:spTgt spid="10"/>
                                        </p:tgtEl>
                                        <p:attrNameLst>
                                          <p:attrName>ppt_x</p:attrName>
                                        </p:attrNameLst>
                                      </p:cBhvr>
                                      <p:tavLst>
                                        <p:tav tm="0">
                                          <p:val>
                                            <p:strVal val="#ppt_x"/>
                                          </p:val>
                                        </p:tav>
                                        <p:tav tm="100000">
                                          <p:val>
                                            <p:strVal val="#ppt_x"/>
                                          </p:val>
                                        </p:tav>
                                      </p:tavLst>
                                    </p:anim>
                                    <p:anim calcmode="lin" valueType="num">
                                      <p:cBhvr>
                                        <p:cTn id="8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Relocating Garbage Collectors</a:t>
            </a:r>
          </a:p>
        </p:txBody>
      </p:sp>
      <p:sp>
        <p:nvSpPr>
          <p:cNvPr id="6" name="Content Placeholder 2"/>
          <p:cNvSpPr>
            <a:spLocks noGrp="1"/>
          </p:cNvSpPr>
          <p:nvPr>
            <p:ph idx="1"/>
          </p:nvPr>
        </p:nvSpPr>
        <p:spPr>
          <a:xfrm>
            <a:off x="524434" y="993122"/>
            <a:ext cx="11403107" cy="5728446"/>
          </a:xfrm>
          <a:ln>
            <a:noFill/>
            <a:prstDash val="dash"/>
          </a:ln>
        </p:spPr>
        <p:txBody>
          <a:bodyPr>
            <a:noAutofit/>
          </a:bodyPr>
          <a:lstStyle/>
          <a:p>
            <a:pPr>
              <a:lnSpc>
                <a:spcPct val="100000"/>
              </a:lnSpc>
              <a:spcBef>
                <a:spcPts val="0"/>
              </a:spcBef>
              <a:spcAft>
                <a:spcPts val="600"/>
              </a:spcAft>
            </a:pPr>
            <a:r>
              <a:rPr lang="en-US" dirty="0">
                <a:solidFill>
                  <a:srgbClr val="00B0F0"/>
                </a:solidFill>
              </a:rPr>
              <a:t>Relocating collectors</a:t>
            </a:r>
            <a:r>
              <a:rPr lang="en-US" dirty="0"/>
              <a:t> relocate all the reachable objects into one end of the heap, leaving the entire rest of the heap as one free chunk. </a:t>
            </a:r>
          </a:p>
          <a:p>
            <a:pPr>
              <a:lnSpc>
                <a:spcPct val="100000"/>
              </a:lnSpc>
              <a:spcBef>
                <a:spcPts val="0"/>
              </a:spcBef>
              <a:spcAft>
                <a:spcPts val="600"/>
              </a:spcAft>
            </a:pPr>
            <a:r>
              <a:rPr lang="en-US" dirty="0"/>
              <a:t>Reduces fragmentation of the memory space</a:t>
            </a:r>
          </a:p>
          <a:p>
            <a:pPr>
              <a:lnSpc>
                <a:spcPct val="100000"/>
              </a:lnSpc>
              <a:spcBef>
                <a:spcPts val="0"/>
              </a:spcBef>
              <a:spcAft>
                <a:spcPts val="600"/>
              </a:spcAft>
            </a:pPr>
            <a:r>
              <a:rPr lang="en-US" dirty="0"/>
              <a:t>Helps allocation of large objects</a:t>
            </a:r>
          </a:p>
          <a:p>
            <a:pPr>
              <a:lnSpc>
                <a:spcPct val="100000"/>
              </a:lnSpc>
              <a:spcBef>
                <a:spcPts val="0"/>
              </a:spcBef>
              <a:spcAft>
                <a:spcPts val="600"/>
              </a:spcAft>
            </a:pPr>
            <a:r>
              <a:rPr lang="en-US" dirty="0"/>
              <a:t>Improves a program's temporal and spatial locality</a:t>
            </a:r>
          </a:p>
          <a:p>
            <a:pPr>
              <a:lnSpc>
                <a:spcPct val="100000"/>
              </a:lnSpc>
              <a:spcBef>
                <a:spcPts val="0"/>
              </a:spcBef>
              <a:spcAft>
                <a:spcPts val="600"/>
              </a:spcAft>
            </a:pPr>
            <a:r>
              <a:rPr lang="en-US" dirty="0"/>
              <a:t>Allows prefetching if objects are used together. </a:t>
            </a:r>
          </a:p>
          <a:p>
            <a:pPr>
              <a:lnSpc>
                <a:spcPct val="100000"/>
              </a:lnSpc>
              <a:spcBef>
                <a:spcPts val="0"/>
              </a:spcBef>
              <a:spcAft>
                <a:spcPts val="600"/>
              </a:spcAft>
            </a:pPr>
            <a:r>
              <a:rPr lang="en-US" dirty="0"/>
              <a:t>Data structure for maintaining free space is simplified</a:t>
            </a:r>
          </a:p>
          <a:p>
            <a:pPr lvl="1">
              <a:lnSpc>
                <a:spcPct val="100000"/>
              </a:lnSpc>
              <a:spcBef>
                <a:spcPts val="0"/>
              </a:spcBef>
              <a:spcAft>
                <a:spcPts val="600"/>
              </a:spcAft>
            </a:pPr>
            <a:r>
              <a:rPr lang="en-US" sz="2800" dirty="0"/>
              <a:t>instead of a free list, all we need is a pointer free to the beginning of the one free block. </a:t>
            </a:r>
            <a:endParaRPr lang="en-US" dirty="0"/>
          </a:p>
        </p:txBody>
      </p:sp>
      <p:sp>
        <p:nvSpPr>
          <p:cNvPr id="4" name="Slide Number Placeholder 3"/>
          <p:cNvSpPr>
            <a:spLocks noGrp="1"/>
          </p:cNvSpPr>
          <p:nvPr>
            <p:ph type="sldNum" sz="quarter" idx="12"/>
          </p:nvPr>
        </p:nvSpPr>
        <p:spPr/>
        <p:txBody>
          <a:bodyPr/>
          <a:lstStyle/>
          <a:p>
            <a:fld id="{EE645454-5A07-423E-8617-7239B6B66F68}" type="slidenum">
              <a:rPr lang="en-US" smtClean="0"/>
              <a:t>77</a:t>
            </a:fld>
            <a:endParaRPr lang="en-US"/>
          </a:p>
        </p:txBody>
      </p:sp>
    </p:spTree>
    <p:extLst>
      <p:ext uri="{BB962C8B-B14F-4D97-AF65-F5344CB8AC3E}">
        <p14:creationId xmlns:p14="http://schemas.microsoft.com/office/powerpoint/2010/main" val="2667757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down)">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down)">
                                      <p:cBhvr>
                                        <p:cTn id="37"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Relocating Garbage Collectors</a:t>
            </a:r>
          </a:p>
        </p:txBody>
      </p:sp>
      <p:sp>
        <p:nvSpPr>
          <p:cNvPr id="6" name="Content Placeholder 2"/>
          <p:cNvSpPr>
            <a:spLocks noGrp="1"/>
          </p:cNvSpPr>
          <p:nvPr>
            <p:ph idx="1"/>
          </p:nvPr>
        </p:nvSpPr>
        <p:spPr>
          <a:xfrm>
            <a:off x="253253" y="993029"/>
            <a:ext cx="11685494" cy="5728446"/>
          </a:xfrm>
          <a:ln>
            <a:noFill/>
            <a:prstDash val="dash"/>
          </a:ln>
        </p:spPr>
        <p:txBody>
          <a:bodyPr>
            <a:noAutofit/>
          </a:bodyPr>
          <a:lstStyle/>
          <a:p>
            <a:pPr>
              <a:lnSpc>
                <a:spcPct val="100000"/>
              </a:lnSpc>
              <a:spcBef>
                <a:spcPts val="0"/>
              </a:spcBef>
              <a:spcAft>
                <a:spcPts val="600"/>
              </a:spcAft>
            </a:pPr>
            <a:r>
              <a:rPr lang="en-US" dirty="0">
                <a:solidFill>
                  <a:srgbClr val="00B0F0"/>
                </a:solidFill>
              </a:rPr>
              <a:t>Relocating collectors</a:t>
            </a:r>
            <a:r>
              <a:rPr lang="en-US" dirty="0"/>
              <a:t> vary in whether they relocated in place or reserve space ahead of time for relocation</a:t>
            </a:r>
          </a:p>
          <a:p>
            <a:pPr>
              <a:lnSpc>
                <a:spcPct val="100000"/>
              </a:lnSpc>
              <a:spcBef>
                <a:spcPts val="0"/>
              </a:spcBef>
              <a:spcAft>
                <a:spcPts val="600"/>
              </a:spcAft>
            </a:pPr>
            <a:r>
              <a:rPr lang="en-US" dirty="0">
                <a:solidFill>
                  <a:srgbClr val="7030A0"/>
                </a:solidFill>
              </a:rPr>
              <a:t>Mark-and-compact collector</a:t>
            </a:r>
          </a:p>
          <a:p>
            <a:pPr lvl="1">
              <a:lnSpc>
                <a:spcPct val="100000"/>
              </a:lnSpc>
              <a:spcBef>
                <a:spcPts val="0"/>
              </a:spcBef>
              <a:spcAft>
                <a:spcPts val="600"/>
              </a:spcAft>
            </a:pPr>
            <a:r>
              <a:rPr lang="en-US" dirty="0"/>
              <a:t>Compacts objects in place. </a:t>
            </a:r>
          </a:p>
          <a:p>
            <a:pPr lvl="1">
              <a:lnSpc>
                <a:spcPct val="100000"/>
              </a:lnSpc>
              <a:spcBef>
                <a:spcPts val="0"/>
              </a:spcBef>
              <a:spcAft>
                <a:spcPts val="600"/>
              </a:spcAft>
            </a:pPr>
            <a:r>
              <a:rPr lang="en-US" dirty="0"/>
              <a:t>Relocating in place reduces memory usage.</a:t>
            </a:r>
          </a:p>
          <a:p>
            <a:pPr>
              <a:lnSpc>
                <a:spcPct val="100000"/>
              </a:lnSpc>
              <a:spcBef>
                <a:spcPts val="0"/>
              </a:spcBef>
              <a:spcAft>
                <a:spcPts val="600"/>
              </a:spcAft>
            </a:pPr>
            <a:r>
              <a:rPr lang="en-US" dirty="0">
                <a:solidFill>
                  <a:schemeClr val="accent6">
                    <a:lumMod val="75000"/>
                  </a:schemeClr>
                </a:solidFill>
              </a:rPr>
              <a:t>Copying collector</a:t>
            </a:r>
          </a:p>
          <a:p>
            <a:pPr lvl="1">
              <a:lnSpc>
                <a:spcPct val="100000"/>
              </a:lnSpc>
              <a:spcBef>
                <a:spcPts val="0"/>
              </a:spcBef>
              <a:spcAft>
                <a:spcPts val="600"/>
              </a:spcAft>
            </a:pPr>
            <a:r>
              <a:rPr lang="en-US" dirty="0"/>
              <a:t>Moves objects from one region of memory to another. </a:t>
            </a:r>
          </a:p>
          <a:p>
            <a:pPr lvl="1">
              <a:lnSpc>
                <a:spcPct val="100000"/>
              </a:lnSpc>
              <a:spcBef>
                <a:spcPts val="0"/>
              </a:spcBef>
              <a:spcAft>
                <a:spcPts val="600"/>
              </a:spcAft>
            </a:pPr>
            <a:r>
              <a:rPr lang="en-US" dirty="0"/>
              <a:t>Reserve extra space for relocation.</a:t>
            </a:r>
          </a:p>
          <a:p>
            <a:pPr lvl="1">
              <a:lnSpc>
                <a:spcPct val="100000"/>
              </a:lnSpc>
              <a:spcBef>
                <a:spcPts val="0"/>
              </a:spcBef>
              <a:spcAft>
                <a:spcPts val="600"/>
              </a:spcAft>
            </a:pPr>
            <a:r>
              <a:rPr lang="en-US" dirty="0"/>
              <a:t>Allows reachable objects to be moved as they are discovered. </a:t>
            </a:r>
            <a:br>
              <a:rPr lang="en-US" dirty="0"/>
            </a:br>
            <a:r>
              <a:rPr lang="en-US" sz="2400" dirty="0"/>
              <a:t> </a:t>
            </a:r>
            <a:endParaRPr lang="en-US" dirty="0"/>
          </a:p>
        </p:txBody>
      </p:sp>
      <p:sp>
        <p:nvSpPr>
          <p:cNvPr id="4" name="Slide Number Placeholder 3"/>
          <p:cNvSpPr>
            <a:spLocks noGrp="1"/>
          </p:cNvSpPr>
          <p:nvPr>
            <p:ph type="sldNum" sz="quarter" idx="12"/>
          </p:nvPr>
        </p:nvSpPr>
        <p:spPr/>
        <p:txBody>
          <a:bodyPr/>
          <a:lstStyle/>
          <a:p>
            <a:fld id="{EE645454-5A07-423E-8617-7239B6B66F68}" type="slidenum">
              <a:rPr lang="en-US" smtClean="0"/>
              <a:t>78</a:t>
            </a:fld>
            <a:endParaRPr lang="en-US"/>
          </a:p>
        </p:txBody>
      </p:sp>
    </p:spTree>
    <p:extLst>
      <p:ext uri="{BB962C8B-B14F-4D97-AF65-F5344CB8AC3E}">
        <p14:creationId xmlns:p14="http://schemas.microsoft.com/office/powerpoint/2010/main" val="322450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down)">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down)">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wipe(down)">
                                      <p:cBhvr>
                                        <p:cTn id="4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Mark-and-Compact Garbage Collectors</a:t>
            </a:r>
          </a:p>
        </p:txBody>
      </p:sp>
      <p:sp>
        <p:nvSpPr>
          <p:cNvPr id="6" name="Content Placeholder 2"/>
          <p:cNvSpPr>
            <a:spLocks noGrp="1"/>
          </p:cNvSpPr>
          <p:nvPr>
            <p:ph idx="1"/>
          </p:nvPr>
        </p:nvSpPr>
        <p:spPr>
          <a:xfrm>
            <a:off x="515470" y="914402"/>
            <a:ext cx="11161060" cy="5728446"/>
          </a:xfrm>
          <a:ln>
            <a:noFill/>
            <a:prstDash val="dash"/>
          </a:ln>
        </p:spPr>
        <p:txBody>
          <a:bodyPr>
            <a:noAutofit/>
          </a:bodyPr>
          <a:lstStyle/>
          <a:p>
            <a:pPr>
              <a:lnSpc>
                <a:spcPct val="100000"/>
              </a:lnSpc>
              <a:spcBef>
                <a:spcPts val="0"/>
              </a:spcBef>
              <a:spcAft>
                <a:spcPts val="600"/>
              </a:spcAft>
            </a:pPr>
            <a:r>
              <a:rPr lang="en-US" dirty="0"/>
              <a:t>The mark-and-compact collector works in three phases.</a:t>
            </a:r>
          </a:p>
          <a:p>
            <a:pPr>
              <a:lnSpc>
                <a:spcPct val="100000"/>
              </a:lnSpc>
              <a:spcBef>
                <a:spcPts val="0"/>
              </a:spcBef>
              <a:spcAft>
                <a:spcPts val="600"/>
              </a:spcAft>
            </a:pPr>
            <a:r>
              <a:rPr lang="en-US" dirty="0">
                <a:solidFill>
                  <a:srgbClr val="7030A0"/>
                </a:solidFill>
              </a:rPr>
              <a:t>Marking phase </a:t>
            </a:r>
          </a:p>
          <a:p>
            <a:pPr lvl="1">
              <a:lnSpc>
                <a:spcPct val="100000"/>
              </a:lnSpc>
              <a:spcBef>
                <a:spcPts val="0"/>
              </a:spcBef>
              <a:spcAft>
                <a:spcPts val="600"/>
              </a:spcAft>
            </a:pPr>
            <a:r>
              <a:rPr lang="en-US" dirty="0"/>
              <a:t>similar to that of the mark-and-sweep algorithm</a:t>
            </a:r>
          </a:p>
          <a:p>
            <a:pPr>
              <a:lnSpc>
                <a:spcPct val="100000"/>
              </a:lnSpc>
              <a:spcBef>
                <a:spcPts val="0"/>
              </a:spcBef>
              <a:spcAft>
                <a:spcPts val="600"/>
              </a:spcAft>
            </a:pPr>
            <a:r>
              <a:rPr lang="en-US" dirty="0">
                <a:solidFill>
                  <a:schemeClr val="accent6">
                    <a:lumMod val="75000"/>
                  </a:schemeClr>
                </a:solidFill>
              </a:rPr>
              <a:t>New address calculation phase</a:t>
            </a:r>
          </a:p>
          <a:p>
            <a:pPr lvl="1">
              <a:lnSpc>
                <a:spcPct val="100000"/>
              </a:lnSpc>
              <a:spcBef>
                <a:spcPts val="0"/>
              </a:spcBef>
              <a:spcAft>
                <a:spcPts val="600"/>
              </a:spcAft>
            </a:pPr>
            <a:r>
              <a:rPr lang="en-US" dirty="0"/>
              <a:t>Scans the allocated section of the heap and computes a new address for each of the reachable objects. </a:t>
            </a:r>
          </a:p>
          <a:p>
            <a:pPr lvl="1">
              <a:lnSpc>
                <a:spcPct val="100000"/>
              </a:lnSpc>
              <a:spcBef>
                <a:spcPts val="0"/>
              </a:spcBef>
              <a:spcAft>
                <a:spcPts val="600"/>
              </a:spcAft>
            </a:pPr>
            <a:r>
              <a:rPr lang="en-US" dirty="0"/>
              <a:t>New addresses are assigned from the low end of the heap, so there are no holes between reachable objects. </a:t>
            </a:r>
          </a:p>
          <a:p>
            <a:pPr lvl="1">
              <a:lnSpc>
                <a:spcPct val="100000"/>
              </a:lnSpc>
              <a:spcBef>
                <a:spcPts val="0"/>
              </a:spcBef>
              <a:spcAft>
                <a:spcPts val="600"/>
              </a:spcAft>
            </a:pPr>
            <a:r>
              <a:rPr lang="en-US" dirty="0"/>
              <a:t>The new address for each object is recorded in a structure called </a:t>
            </a:r>
            <a:r>
              <a:rPr lang="en-US" i="1" dirty="0">
                <a:solidFill>
                  <a:srgbClr val="92D050"/>
                </a:solidFill>
              </a:rPr>
              <a:t>NewLocation</a:t>
            </a:r>
            <a:r>
              <a:rPr lang="en-US" dirty="0"/>
              <a:t>.</a:t>
            </a:r>
          </a:p>
          <a:p>
            <a:pPr>
              <a:lnSpc>
                <a:spcPct val="100000"/>
              </a:lnSpc>
              <a:spcBef>
                <a:spcPts val="0"/>
              </a:spcBef>
              <a:spcAft>
                <a:spcPts val="600"/>
              </a:spcAft>
            </a:pPr>
            <a:r>
              <a:rPr lang="en-US" dirty="0">
                <a:solidFill>
                  <a:schemeClr val="accent5">
                    <a:lumMod val="75000"/>
                  </a:schemeClr>
                </a:solidFill>
              </a:rPr>
              <a:t>Copying phase</a:t>
            </a:r>
          </a:p>
          <a:p>
            <a:pPr lvl="1">
              <a:lnSpc>
                <a:spcPct val="100000"/>
              </a:lnSpc>
              <a:spcBef>
                <a:spcPts val="0"/>
              </a:spcBef>
              <a:spcAft>
                <a:spcPts val="600"/>
              </a:spcAft>
            </a:pPr>
            <a:r>
              <a:rPr lang="en-US" dirty="0"/>
              <a:t>Copies objects to their new locations </a:t>
            </a:r>
          </a:p>
          <a:p>
            <a:pPr lvl="1">
              <a:lnSpc>
                <a:spcPct val="100000"/>
              </a:lnSpc>
              <a:spcBef>
                <a:spcPts val="0"/>
              </a:spcBef>
              <a:spcAft>
                <a:spcPts val="600"/>
              </a:spcAft>
            </a:pPr>
            <a:r>
              <a:rPr lang="en-US" dirty="0"/>
              <a:t>Update all references in the objects to point to the corresponding new locations using </a:t>
            </a:r>
            <a:r>
              <a:rPr lang="en-US" i="1" dirty="0">
                <a:solidFill>
                  <a:srgbClr val="92D050"/>
                </a:solidFill>
              </a:rPr>
              <a:t>NewLocation</a:t>
            </a:r>
            <a:r>
              <a:rPr lang="en-US" dirty="0"/>
              <a:t>. </a:t>
            </a:r>
            <a:br>
              <a:rPr lang="en-US" dirty="0"/>
            </a:br>
            <a:br>
              <a:rPr lang="en-US" dirty="0"/>
            </a:br>
            <a:r>
              <a:rPr lang="en-US" dirty="0"/>
              <a:t> </a:t>
            </a:r>
          </a:p>
        </p:txBody>
      </p:sp>
      <p:sp>
        <p:nvSpPr>
          <p:cNvPr id="4" name="Slide Number Placeholder 3"/>
          <p:cNvSpPr>
            <a:spLocks noGrp="1"/>
          </p:cNvSpPr>
          <p:nvPr>
            <p:ph type="sldNum" sz="quarter" idx="12"/>
          </p:nvPr>
        </p:nvSpPr>
        <p:spPr/>
        <p:txBody>
          <a:bodyPr/>
          <a:lstStyle/>
          <a:p>
            <a:fld id="{EE645454-5A07-423E-8617-7239B6B66F68}" type="slidenum">
              <a:rPr lang="en-US" smtClean="0"/>
              <a:t>79</a:t>
            </a:fld>
            <a:endParaRPr lang="en-US"/>
          </a:p>
        </p:txBody>
      </p:sp>
    </p:spTree>
    <p:extLst>
      <p:ext uri="{BB962C8B-B14F-4D97-AF65-F5344CB8AC3E}">
        <p14:creationId xmlns:p14="http://schemas.microsoft.com/office/powerpoint/2010/main" val="3863654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down)">
                                      <p:cBhvr>
                                        <p:cTn id="32" dur="500"/>
                                        <p:tgtEl>
                                          <p:spTgt spid="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wipe(down)">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wipe(down)">
                                      <p:cBhvr>
                                        <p:cTn id="42" dur="500"/>
                                        <p:tgtEl>
                                          <p:spTgt spid="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6">
                                            <p:txEl>
                                              <p:pRg st="8" end="8"/>
                                            </p:txEl>
                                          </p:spTgt>
                                        </p:tgtEl>
                                        <p:attrNameLst>
                                          <p:attrName>style.visibility</p:attrName>
                                        </p:attrNameLst>
                                      </p:cBhvr>
                                      <p:to>
                                        <p:strVal val="visible"/>
                                      </p:to>
                                    </p:set>
                                    <p:animEffect transition="in" filter="wipe(down)">
                                      <p:cBhvr>
                                        <p:cTn id="47" dur="500"/>
                                        <p:tgtEl>
                                          <p:spTgt spid="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6">
                                            <p:txEl>
                                              <p:pRg st="9" end="9"/>
                                            </p:txEl>
                                          </p:spTgt>
                                        </p:tgtEl>
                                        <p:attrNameLst>
                                          <p:attrName>style.visibility</p:attrName>
                                        </p:attrNameLst>
                                      </p:cBhvr>
                                      <p:to>
                                        <p:strVal val="visible"/>
                                      </p:to>
                                    </p:set>
                                    <p:animEffect transition="in" filter="wipe(down)">
                                      <p:cBhvr>
                                        <p:cTn id="52"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Mark-and-Compact Garbage Collectors</a:t>
            </a:r>
          </a:p>
        </p:txBody>
      </p:sp>
      <p:sp>
        <p:nvSpPr>
          <p:cNvPr id="4" name="Slide Number Placeholder 3"/>
          <p:cNvSpPr>
            <a:spLocks noGrp="1"/>
          </p:cNvSpPr>
          <p:nvPr>
            <p:ph type="sldNum" sz="quarter" idx="12"/>
          </p:nvPr>
        </p:nvSpPr>
        <p:spPr/>
        <p:txBody>
          <a:bodyPr/>
          <a:lstStyle/>
          <a:p>
            <a:fld id="{EE645454-5A07-423E-8617-7239B6B66F68}" type="slidenum">
              <a:rPr lang="en-US" smtClean="0"/>
              <a:t>80</a:t>
            </a:fld>
            <a:endParaRPr lang="en-US"/>
          </a:p>
        </p:txBody>
      </p:sp>
      <p:graphicFrame>
        <p:nvGraphicFramePr>
          <p:cNvPr id="3" name="Table 4">
            <a:extLst>
              <a:ext uri="{FF2B5EF4-FFF2-40B4-BE49-F238E27FC236}">
                <a16:creationId xmlns:a16="http://schemas.microsoft.com/office/drawing/2014/main" id="{40B677C1-E6E1-D24B-FAF4-12D6667E7CBF}"/>
              </a:ext>
            </a:extLst>
          </p:cNvPr>
          <p:cNvGraphicFramePr>
            <a:graphicFrameLocks noGrp="1"/>
          </p:cNvGraphicFramePr>
          <p:nvPr>
            <p:extLst>
              <p:ext uri="{D42A27DB-BD31-4B8C-83A1-F6EECF244321}">
                <p14:modId xmlns:p14="http://schemas.microsoft.com/office/powerpoint/2010/main" val="3080491244"/>
              </p:ext>
            </p:extLst>
          </p:nvPr>
        </p:nvGraphicFramePr>
        <p:xfrm>
          <a:off x="2031999" y="2485624"/>
          <a:ext cx="8128001" cy="36576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172873480"/>
                    </a:ext>
                  </a:extLst>
                </a:gridCol>
                <a:gridCol w="657640">
                  <a:extLst>
                    <a:ext uri="{9D8B030D-6E8A-4147-A177-3AD203B41FA5}">
                      <a16:colId xmlns:a16="http://schemas.microsoft.com/office/drawing/2014/main" val="1329778397"/>
                    </a:ext>
                  </a:extLst>
                </a:gridCol>
                <a:gridCol w="1664646">
                  <a:extLst>
                    <a:ext uri="{9D8B030D-6E8A-4147-A177-3AD203B41FA5}">
                      <a16:colId xmlns:a16="http://schemas.microsoft.com/office/drawing/2014/main" val="1435979577"/>
                    </a:ext>
                  </a:extLst>
                </a:gridCol>
                <a:gridCol w="820978">
                  <a:extLst>
                    <a:ext uri="{9D8B030D-6E8A-4147-A177-3AD203B41FA5}">
                      <a16:colId xmlns:a16="http://schemas.microsoft.com/office/drawing/2014/main" val="2369576513"/>
                    </a:ext>
                  </a:extLst>
                </a:gridCol>
                <a:gridCol w="1501308">
                  <a:extLst>
                    <a:ext uri="{9D8B030D-6E8A-4147-A177-3AD203B41FA5}">
                      <a16:colId xmlns:a16="http://schemas.microsoft.com/office/drawing/2014/main" val="4024972540"/>
                    </a:ext>
                  </a:extLst>
                </a:gridCol>
                <a:gridCol w="2322286">
                  <a:extLst>
                    <a:ext uri="{9D8B030D-6E8A-4147-A177-3AD203B41FA5}">
                      <a16:colId xmlns:a16="http://schemas.microsoft.com/office/drawing/2014/main" val="496763721"/>
                    </a:ext>
                  </a:extLst>
                </a:gridCol>
              </a:tblGrid>
              <a:tr h="201860">
                <a:tc>
                  <a:txBody>
                    <a:bodyPr/>
                    <a:lstStyle/>
                    <a:p>
                      <a:pPr algn="ctr"/>
                      <a:r>
                        <a:rPr lang="en-US" dirty="0"/>
                        <a:t>M1</a:t>
                      </a:r>
                    </a:p>
                  </a:txBody>
                  <a:tcPr>
                    <a:solidFill>
                      <a:schemeClr val="accent6">
                        <a:lumMod val="60000"/>
                        <a:lumOff val="40000"/>
                      </a:schemeClr>
                    </a:solidFill>
                  </a:tcPr>
                </a:tc>
                <a:tc>
                  <a:txBody>
                    <a:bodyPr/>
                    <a:lstStyle/>
                    <a:p>
                      <a:pPr algn="ctr"/>
                      <a:r>
                        <a:rPr lang="en-US" dirty="0">
                          <a:solidFill>
                            <a:srgbClr val="FF0000"/>
                          </a:solidFill>
                        </a:rPr>
                        <a:t>UR</a:t>
                      </a:r>
                    </a:p>
                  </a:txBody>
                  <a:tcPr>
                    <a:solidFill>
                      <a:schemeClr val="bg2">
                        <a:lumMod val="50000"/>
                      </a:schemeClr>
                    </a:solidFill>
                  </a:tcPr>
                </a:tc>
                <a:tc>
                  <a:txBody>
                    <a:bodyPr/>
                    <a:lstStyle/>
                    <a:p>
                      <a:pPr algn="ctr"/>
                      <a:r>
                        <a:rPr lang="en-US" dirty="0"/>
                        <a:t>M2</a:t>
                      </a:r>
                    </a:p>
                  </a:txBody>
                  <a:tcPr>
                    <a:solidFill>
                      <a:schemeClr val="accent2">
                        <a:lumMod val="60000"/>
                        <a:lumOff val="40000"/>
                      </a:schemeClr>
                    </a:solidFill>
                  </a:tcPr>
                </a:tc>
                <a:tc>
                  <a:txBody>
                    <a:bodyPr/>
                    <a:lstStyle/>
                    <a:p>
                      <a:pPr algn="ctr"/>
                      <a:r>
                        <a:rPr lang="en-US" sz="1800" b="1" kern="1200" dirty="0">
                          <a:solidFill>
                            <a:srgbClr val="FF0000"/>
                          </a:solidFill>
                          <a:latin typeface="+mn-lt"/>
                          <a:ea typeface="+mn-ea"/>
                          <a:cs typeface="+mn-cs"/>
                        </a:rPr>
                        <a:t>UR</a:t>
                      </a:r>
                    </a:p>
                  </a:txBody>
                  <a:tcPr>
                    <a:solidFill>
                      <a:schemeClr val="bg2">
                        <a:lumMod val="50000"/>
                      </a:schemeClr>
                    </a:solidFill>
                  </a:tcPr>
                </a:tc>
                <a:tc>
                  <a:txBody>
                    <a:bodyPr/>
                    <a:lstStyle/>
                    <a:p>
                      <a:pPr algn="ctr"/>
                      <a:r>
                        <a:rPr lang="en-US" dirty="0"/>
                        <a:t>M3</a:t>
                      </a:r>
                    </a:p>
                  </a:txBody>
                  <a:tcPr>
                    <a:solidFill>
                      <a:schemeClr val="accent3">
                        <a:lumMod val="40000"/>
                        <a:lumOff val="60000"/>
                      </a:schemeClr>
                    </a:solidFill>
                  </a:tcPr>
                </a:tc>
                <a:tc>
                  <a:txBody>
                    <a:bodyPr/>
                    <a:lstStyle/>
                    <a:p>
                      <a:pPr algn="ctr"/>
                      <a:endParaRPr lang="en-US" dirty="0"/>
                    </a:p>
                  </a:txBody>
                  <a:tcPr>
                    <a:solidFill>
                      <a:schemeClr val="bg2">
                        <a:lumMod val="75000"/>
                      </a:schemeClr>
                    </a:solidFill>
                  </a:tcPr>
                </a:tc>
                <a:extLst>
                  <a:ext uri="{0D108BD9-81ED-4DB2-BD59-A6C34878D82A}">
                    <a16:rowId xmlns:a16="http://schemas.microsoft.com/office/drawing/2014/main" val="3376997189"/>
                  </a:ext>
                </a:extLst>
              </a:tr>
            </a:tbl>
          </a:graphicData>
        </a:graphic>
      </p:graphicFrame>
      <p:grpSp>
        <p:nvGrpSpPr>
          <p:cNvPr id="12" name="Group 11">
            <a:extLst>
              <a:ext uri="{FF2B5EF4-FFF2-40B4-BE49-F238E27FC236}">
                <a16:creationId xmlns:a16="http://schemas.microsoft.com/office/drawing/2014/main" id="{1A037DF3-44B9-1C58-B71B-F8FE29306C7B}"/>
              </a:ext>
            </a:extLst>
          </p:cNvPr>
          <p:cNvGrpSpPr/>
          <p:nvPr/>
        </p:nvGrpSpPr>
        <p:grpSpPr>
          <a:xfrm>
            <a:off x="2031999" y="1176197"/>
            <a:ext cx="5447763" cy="1463442"/>
            <a:chOff x="2047741" y="1030058"/>
            <a:chExt cx="5447763" cy="1463442"/>
          </a:xfrm>
        </p:grpSpPr>
        <p:sp>
          <p:nvSpPr>
            <p:cNvPr id="5" name="Freeform: Shape 4">
              <a:extLst>
                <a:ext uri="{FF2B5EF4-FFF2-40B4-BE49-F238E27FC236}">
                  <a16:creationId xmlns:a16="http://schemas.microsoft.com/office/drawing/2014/main" id="{79EDC94C-0769-30DA-56AC-341936F18A0A}"/>
                </a:ext>
              </a:extLst>
            </p:cNvPr>
            <p:cNvSpPr/>
            <p:nvPr/>
          </p:nvSpPr>
          <p:spPr>
            <a:xfrm>
              <a:off x="2284569" y="1794252"/>
              <a:ext cx="1584101" cy="699248"/>
            </a:xfrm>
            <a:custGeom>
              <a:avLst/>
              <a:gdLst>
                <a:gd name="connsiteX0" fmla="*/ 0 w 1545464"/>
                <a:gd name="connsiteY0" fmla="*/ 696152 h 696152"/>
                <a:gd name="connsiteX1" fmla="*/ 669701 w 1545464"/>
                <a:gd name="connsiteY1" fmla="*/ 693 h 696152"/>
                <a:gd name="connsiteX2" fmla="*/ 1545464 w 1545464"/>
                <a:gd name="connsiteY2" fmla="*/ 593121 h 696152"/>
              </a:gdLst>
              <a:ahLst/>
              <a:cxnLst>
                <a:cxn ang="0">
                  <a:pos x="connsiteX0" y="connsiteY0"/>
                </a:cxn>
                <a:cxn ang="0">
                  <a:pos x="connsiteX1" y="connsiteY1"/>
                </a:cxn>
                <a:cxn ang="0">
                  <a:pos x="connsiteX2" y="connsiteY2"/>
                </a:cxn>
              </a:cxnLst>
              <a:rect l="l" t="t" r="r" b="b"/>
              <a:pathLst>
                <a:path w="1545464" h="696152">
                  <a:moveTo>
                    <a:pt x="0" y="696152"/>
                  </a:moveTo>
                  <a:cubicBezTo>
                    <a:pt x="206062" y="357008"/>
                    <a:pt x="412124" y="17865"/>
                    <a:pt x="669701" y="693"/>
                  </a:cubicBezTo>
                  <a:cubicBezTo>
                    <a:pt x="927278" y="-16479"/>
                    <a:pt x="1236371" y="288321"/>
                    <a:pt x="1545464" y="593121"/>
                  </a:cubicBezTo>
                </a:path>
              </a:pathLst>
            </a:custGeom>
            <a:noFill/>
            <a:ln w="19050">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6998448C-82DE-03D8-8320-C9C3CB0BE907}"/>
                </a:ext>
              </a:extLst>
            </p:cNvPr>
            <p:cNvSpPr/>
            <p:nvPr/>
          </p:nvSpPr>
          <p:spPr>
            <a:xfrm>
              <a:off x="4121239" y="1892326"/>
              <a:ext cx="2228046" cy="567539"/>
            </a:xfrm>
            <a:custGeom>
              <a:avLst/>
              <a:gdLst>
                <a:gd name="connsiteX0" fmla="*/ 0 w 2228046"/>
                <a:gd name="connsiteY0" fmla="*/ 567539 h 567539"/>
                <a:gd name="connsiteX1" fmla="*/ 927279 w 2228046"/>
                <a:gd name="connsiteY1" fmla="*/ 868 h 567539"/>
                <a:gd name="connsiteX2" fmla="*/ 2228046 w 2228046"/>
                <a:gd name="connsiteY2" fmla="*/ 464508 h 567539"/>
              </a:gdLst>
              <a:ahLst/>
              <a:cxnLst>
                <a:cxn ang="0">
                  <a:pos x="connsiteX0" y="connsiteY0"/>
                </a:cxn>
                <a:cxn ang="0">
                  <a:pos x="connsiteX1" y="connsiteY1"/>
                </a:cxn>
                <a:cxn ang="0">
                  <a:pos x="connsiteX2" y="connsiteY2"/>
                </a:cxn>
              </a:cxnLst>
              <a:rect l="l" t="t" r="r" b="b"/>
              <a:pathLst>
                <a:path w="2228046" h="567539">
                  <a:moveTo>
                    <a:pt x="0" y="567539"/>
                  </a:moveTo>
                  <a:cubicBezTo>
                    <a:pt x="277969" y="292789"/>
                    <a:pt x="555938" y="18040"/>
                    <a:pt x="927279" y="868"/>
                  </a:cubicBezTo>
                  <a:cubicBezTo>
                    <a:pt x="1298620" y="-16304"/>
                    <a:pt x="1763333" y="224102"/>
                    <a:pt x="2228046" y="464508"/>
                  </a:cubicBezTo>
                </a:path>
              </a:pathLst>
            </a:custGeom>
            <a:noFill/>
            <a:ln w="19050">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BE5568CC-BF7C-9BB3-9883-21C8AD01A367}"/>
                </a:ext>
              </a:extLst>
            </p:cNvPr>
            <p:cNvSpPr/>
            <p:nvPr/>
          </p:nvSpPr>
          <p:spPr>
            <a:xfrm>
              <a:off x="2047741" y="1030058"/>
              <a:ext cx="5447763" cy="1391170"/>
            </a:xfrm>
            <a:custGeom>
              <a:avLst/>
              <a:gdLst>
                <a:gd name="connsiteX0" fmla="*/ 5447763 w 5447763"/>
                <a:gd name="connsiteY0" fmla="*/ 1391170 h 1391170"/>
                <a:gd name="connsiteX1" fmla="*/ 2125014 w 5447763"/>
                <a:gd name="connsiteY1" fmla="*/ 252 h 1391170"/>
                <a:gd name="connsiteX2" fmla="*/ 0 w 5447763"/>
                <a:gd name="connsiteY2" fmla="*/ 1301018 h 1391170"/>
              </a:gdLst>
              <a:ahLst/>
              <a:cxnLst>
                <a:cxn ang="0">
                  <a:pos x="connsiteX0" y="connsiteY0"/>
                </a:cxn>
                <a:cxn ang="0">
                  <a:pos x="connsiteX1" y="connsiteY1"/>
                </a:cxn>
                <a:cxn ang="0">
                  <a:pos x="connsiteX2" y="connsiteY2"/>
                </a:cxn>
              </a:cxnLst>
              <a:rect l="l" t="t" r="r" b="b"/>
              <a:pathLst>
                <a:path w="5447763" h="1391170">
                  <a:moveTo>
                    <a:pt x="5447763" y="1391170"/>
                  </a:moveTo>
                  <a:cubicBezTo>
                    <a:pt x="4240368" y="703223"/>
                    <a:pt x="3032974" y="15277"/>
                    <a:pt x="2125014" y="252"/>
                  </a:cubicBezTo>
                  <a:cubicBezTo>
                    <a:pt x="1217054" y="-14773"/>
                    <a:pt x="608527" y="643122"/>
                    <a:pt x="0" y="1301018"/>
                  </a:cubicBezTo>
                </a:path>
              </a:pathLst>
            </a:custGeom>
            <a:noFill/>
            <a:ln w="19050">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BEE16FE8-3CB4-C5F0-286C-D7C47C4FFEC9}"/>
              </a:ext>
            </a:extLst>
          </p:cNvPr>
          <p:cNvGrpSpPr/>
          <p:nvPr/>
        </p:nvGrpSpPr>
        <p:grpSpPr>
          <a:xfrm>
            <a:off x="7479762" y="1674254"/>
            <a:ext cx="827828" cy="772733"/>
            <a:chOff x="7495504" y="1532585"/>
            <a:chExt cx="827828" cy="772733"/>
          </a:xfrm>
        </p:grpSpPr>
        <p:sp>
          <p:nvSpPr>
            <p:cNvPr id="9" name="TextBox 8">
              <a:extLst>
                <a:ext uri="{FF2B5EF4-FFF2-40B4-BE49-F238E27FC236}">
                  <a16:creationId xmlns:a16="http://schemas.microsoft.com/office/drawing/2014/main" id="{4BB8DE8B-1EAF-643C-0E15-EF4CF9DEE7D6}"/>
                </a:ext>
              </a:extLst>
            </p:cNvPr>
            <p:cNvSpPr txBox="1"/>
            <p:nvPr/>
          </p:nvSpPr>
          <p:spPr>
            <a:xfrm>
              <a:off x="7495504" y="1532585"/>
              <a:ext cx="827828" cy="369332"/>
            </a:xfrm>
            <a:prstGeom prst="rect">
              <a:avLst/>
            </a:prstGeom>
            <a:noFill/>
          </p:spPr>
          <p:txBody>
            <a:bodyPr wrap="square" rtlCol="0">
              <a:spAutoFit/>
            </a:bodyPr>
            <a:lstStyle/>
            <a:p>
              <a:pPr algn="ctr"/>
              <a:r>
                <a:rPr lang="en-US" i="1" dirty="0">
                  <a:solidFill>
                    <a:srgbClr val="92D050"/>
                  </a:solidFill>
                </a:rPr>
                <a:t>free</a:t>
              </a:r>
            </a:p>
          </p:txBody>
        </p:sp>
        <p:cxnSp>
          <p:nvCxnSpPr>
            <p:cNvPr id="11" name="Straight Arrow Connector 10">
              <a:extLst>
                <a:ext uri="{FF2B5EF4-FFF2-40B4-BE49-F238E27FC236}">
                  <a16:creationId xmlns:a16="http://schemas.microsoft.com/office/drawing/2014/main" id="{5BB5D6A7-A1D7-611A-9A53-26856CCA9D7A}"/>
                </a:ext>
              </a:extLst>
            </p:cNvPr>
            <p:cNvCxnSpPr>
              <a:stCxn id="9" idx="2"/>
            </p:cNvCxnSpPr>
            <p:nvPr/>
          </p:nvCxnSpPr>
          <p:spPr>
            <a:xfrm flipH="1">
              <a:off x="7840728" y="1901917"/>
              <a:ext cx="68690" cy="403401"/>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6229940F-31BF-B514-F595-1050153DBE0D}"/>
              </a:ext>
            </a:extLst>
          </p:cNvPr>
          <p:cNvSpPr txBox="1"/>
          <p:nvPr/>
        </p:nvSpPr>
        <p:spPr>
          <a:xfrm>
            <a:off x="4324764" y="2932296"/>
            <a:ext cx="2788077" cy="461665"/>
          </a:xfrm>
          <a:prstGeom prst="rect">
            <a:avLst/>
          </a:prstGeom>
          <a:noFill/>
        </p:spPr>
        <p:txBody>
          <a:bodyPr wrap="square" rtlCol="0">
            <a:spAutoFit/>
          </a:bodyPr>
          <a:lstStyle/>
          <a:p>
            <a:pPr algn="ctr"/>
            <a:r>
              <a:rPr lang="en-US" sz="2400" dirty="0">
                <a:solidFill>
                  <a:schemeClr val="tx2">
                    <a:lumMod val="60000"/>
                    <a:lumOff val="40000"/>
                  </a:schemeClr>
                </a:solidFill>
              </a:rPr>
              <a:t>Heap (before GC) </a:t>
            </a:r>
          </a:p>
        </p:txBody>
      </p:sp>
      <p:graphicFrame>
        <p:nvGraphicFramePr>
          <p:cNvPr id="15" name="Table 4">
            <a:extLst>
              <a:ext uri="{FF2B5EF4-FFF2-40B4-BE49-F238E27FC236}">
                <a16:creationId xmlns:a16="http://schemas.microsoft.com/office/drawing/2014/main" id="{FE3A5258-6D87-A616-38FA-3DE4A2B3BB50}"/>
              </a:ext>
            </a:extLst>
          </p:cNvPr>
          <p:cNvGraphicFramePr>
            <a:graphicFrameLocks noGrp="1"/>
          </p:cNvGraphicFramePr>
          <p:nvPr>
            <p:extLst>
              <p:ext uri="{D42A27DB-BD31-4B8C-83A1-F6EECF244321}">
                <p14:modId xmlns:p14="http://schemas.microsoft.com/office/powerpoint/2010/main" val="1483096783"/>
              </p:ext>
            </p:extLst>
          </p:nvPr>
        </p:nvGraphicFramePr>
        <p:xfrm>
          <a:off x="2004094" y="5664558"/>
          <a:ext cx="8078633" cy="365760"/>
        </p:xfrm>
        <a:graphic>
          <a:graphicData uri="http://schemas.openxmlformats.org/drawingml/2006/table">
            <a:tbl>
              <a:tblPr firstRow="1" bandRow="1">
                <a:tableStyleId>{5C22544A-7EE6-4342-B048-85BDC9FD1C3A}</a:tableStyleId>
              </a:tblPr>
              <a:tblGrid>
                <a:gridCol w="1410724">
                  <a:extLst>
                    <a:ext uri="{9D8B030D-6E8A-4147-A177-3AD203B41FA5}">
                      <a16:colId xmlns:a16="http://schemas.microsoft.com/office/drawing/2014/main" val="2172873480"/>
                    </a:ext>
                  </a:extLst>
                </a:gridCol>
                <a:gridCol w="2022453">
                  <a:extLst>
                    <a:ext uri="{9D8B030D-6E8A-4147-A177-3AD203B41FA5}">
                      <a16:colId xmlns:a16="http://schemas.microsoft.com/office/drawing/2014/main" val="1435979577"/>
                    </a:ext>
                  </a:extLst>
                </a:gridCol>
                <a:gridCol w="1824007">
                  <a:extLst>
                    <a:ext uri="{9D8B030D-6E8A-4147-A177-3AD203B41FA5}">
                      <a16:colId xmlns:a16="http://schemas.microsoft.com/office/drawing/2014/main" val="4024972540"/>
                    </a:ext>
                  </a:extLst>
                </a:gridCol>
                <a:gridCol w="2821449">
                  <a:extLst>
                    <a:ext uri="{9D8B030D-6E8A-4147-A177-3AD203B41FA5}">
                      <a16:colId xmlns:a16="http://schemas.microsoft.com/office/drawing/2014/main" val="496763721"/>
                    </a:ext>
                  </a:extLst>
                </a:gridCol>
              </a:tblGrid>
              <a:tr h="201860">
                <a:tc>
                  <a:txBody>
                    <a:bodyPr/>
                    <a:lstStyle/>
                    <a:p>
                      <a:pPr algn="ctr"/>
                      <a:r>
                        <a:rPr lang="en-US" dirty="0"/>
                        <a:t>M1</a:t>
                      </a:r>
                    </a:p>
                  </a:txBody>
                  <a:tcPr>
                    <a:solidFill>
                      <a:schemeClr val="accent6">
                        <a:lumMod val="60000"/>
                        <a:lumOff val="40000"/>
                      </a:schemeClr>
                    </a:solidFill>
                  </a:tcPr>
                </a:tc>
                <a:tc>
                  <a:txBody>
                    <a:bodyPr/>
                    <a:lstStyle/>
                    <a:p>
                      <a:pPr algn="ctr"/>
                      <a:r>
                        <a:rPr lang="en-US" dirty="0"/>
                        <a:t>M2</a:t>
                      </a:r>
                    </a:p>
                  </a:txBody>
                  <a:tcPr>
                    <a:solidFill>
                      <a:schemeClr val="accent2">
                        <a:lumMod val="60000"/>
                        <a:lumOff val="40000"/>
                      </a:schemeClr>
                    </a:solidFill>
                  </a:tcPr>
                </a:tc>
                <a:tc>
                  <a:txBody>
                    <a:bodyPr/>
                    <a:lstStyle/>
                    <a:p>
                      <a:pPr algn="ctr"/>
                      <a:r>
                        <a:rPr lang="en-US" dirty="0"/>
                        <a:t>M3</a:t>
                      </a:r>
                    </a:p>
                  </a:txBody>
                  <a:tcPr>
                    <a:solidFill>
                      <a:schemeClr val="accent3">
                        <a:lumMod val="40000"/>
                        <a:lumOff val="60000"/>
                      </a:schemeClr>
                    </a:solidFill>
                  </a:tcPr>
                </a:tc>
                <a:tc>
                  <a:txBody>
                    <a:bodyPr/>
                    <a:lstStyle/>
                    <a:p>
                      <a:pPr algn="ctr"/>
                      <a:endParaRPr lang="en-US" dirty="0"/>
                    </a:p>
                  </a:txBody>
                  <a:tcPr>
                    <a:solidFill>
                      <a:schemeClr val="bg2">
                        <a:lumMod val="75000"/>
                      </a:schemeClr>
                    </a:solidFill>
                  </a:tcPr>
                </a:tc>
                <a:extLst>
                  <a:ext uri="{0D108BD9-81ED-4DB2-BD59-A6C34878D82A}">
                    <a16:rowId xmlns:a16="http://schemas.microsoft.com/office/drawing/2014/main" val="3376997189"/>
                  </a:ext>
                </a:extLst>
              </a:tr>
            </a:tbl>
          </a:graphicData>
        </a:graphic>
      </p:graphicFrame>
      <p:grpSp>
        <p:nvGrpSpPr>
          <p:cNvPr id="26" name="Group 25">
            <a:extLst>
              <a:ext uri="{FF2B5EF4-FFF2-40B4-BE49-F238E27FC236}">
                <a16:creationId xmlns:a16="http://schemas.microsoft.com/office/drawing/2014/main" id="{996D48C4-B6FD-76FA-FB8A-81140195698B}"/>
              </a:ext>
            </a:extLst>
          </p:cNvPr>
          <p:cNvGrpSpPr/>
          <p:nvPr/>
        </p:nvGrpSpPr>
        <p:grpSpPr>
          <a:xfrm>
            <a:off x="6969972" y="4814552"/>
            <a:ext cx="827828" cy="772733"/>
            <a:chOff x="6969972" y="4814552"/>
            <a:chExt cx="827828" cy="772733"/>
          </a:xfrm>
        </p:grpSpPr>
        <p:sp>
          <p:nvSpPr>
            <p:cNvPr id="16" name="TextBox 15">
              <a:extLst>
                <a:ext uri="{FF2B5EF4-FFF2-40B4-BE49-F238E27FC236}">
                  <a16:creationId xmlns:a16="http://schemas.microsoft.com/office/drawing/2014/main" id="{369A980F-AE8F-C884-BFFC-C1533A6A24F2}"/>
                </a:ext>
              </a:extLst>
            </p:cNvPr>
            <p:cNvSpPr txBox="1"/>
            <p:nvPr/>
          </p:nvSpPr>
          <p:spPr>
            <a:xfrm>
              <a:off x="6969972" y="4814552"/>
              <a:ext cx="827828" cy="369332"/>
            </a:xfrm>
            <a:prstGeom prst="rect">
              <a:avLst/>
            </a:prstGeom>
            <a:noFill/>
          </p:spPr>
          <p:txBody>
            <a:bodyPr wrap="square" rtlCol="0">
              <a:spAutoFit/>
            </a:bodyPr>
            <a:lstStyle/>
            <a:p>
              <a:pPr algn="ctr"/>
              <a:r>
                <a:rPr lang="en-US" i="1" dirty="0">
                  <a:solidFill>
                    <a:srgbClr val="92D050"/>
                  </a:solidFill>
                </a:rPr>
                <a:t>free</a:t>
              </a:r>
            </a:p>
          </p:txBody>
        </p:sp>
        <p:cxnSp>
          <p:nvCxnSpPr>
            <p:cNvPr id="17" name="Straight Arrow Connector 16">
              <a:extLst>
                <a:ext uri="{FF2B5EF4-FFF2-40B4-BE49-F238E27FC236}">
                  <a16:creationId xmlns:a16="http://schemas.microsoft.com/office/drawing/2014/main" id="{F13484C2-6679-ADDA-A059-61C38EFD02BD}"/>
                </a:ext>
              </a:extLst>
            </p:cNvPr>
            <p:cNvCxnSpPr>
              <a:stCxn id="16" idx="2"/>
            </p:cNvCxnSpPr>
            <p:nvPr/>
          </p:nvCxnSpPr>
          <p:spPr>
            <a:xfrm flipH="1">
              <a:off x="7315196" y="5183884"/>
              <a:ext cx="68690" cy="403401"/>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382DF88D-AE5F-3643-9C9A-4845FAD641A8}"/>
              </a:ext>
            </a:extLst>
          </p:cNvPr>
          <p:cNvGrpSpPr/>
          <p:nvPr/>
        </p:nvGrpSpPr>
        <p:grpSpPr>
          <a:xfrm>
            <a:off x="2017106" y="4418322"/>
            <a:ext cx="5158923" cy="1365307"/>
            <a:chOff x="2089733" y="2872857"/>
            <a:chExt cx="5158923" cy="1365307"/>
          </a:xfrm>
        </p:grpSpPr>
        <p:sp>
          <p:nvSpPr>
            <p:cNvPr id="19" name="Freeform: Shape 18">
              <a:extLst>
                <a:ext uri="{FF2B5EF4-FFF2-40B4-BE49-F238E27FC236}">
                  <a16:creationId xmlns:a16="http://schemas.microsoft.com/office/drawing/2014/main" id="{2CCE3A6A-FF22-3A45-0FDD-9917166A08AA}"/>
                </a:ext>
              </a:extLst>
            </p:cNvPr>
            <p:cNvSpPr/>
            <p:nvPr/>
          </p:nvSpPr>
          <p:spPr>
            <a:xfrm>
              <a:off x="2141248" y="3735125"/>
              <a:ext cx="1396503" cy="471379"/>
            </a:xfrm>
            <a:custGeom>
              <a:avLst/>
              <a:gdLst>
                <a:gd name="connsiteX0" fmla="*/ 0 w 1545464"/>
                <a:gd name="connsiteY0" fmla="*/ 696152 h 696152"/>
                <a:gd name="connsiteX1" fmla="*/ 669701 w 1545464"/>
                <a:gd name="connsiteY1" fmla="*/ 693 h 696152"/>
                <a:gd name="connsiteX2" fmla="*/ 1545464 w 1545464"/>
                <a:gd name="connsiteY2" fmla="*/ 593121 h 696152"/>
              </a:gdLst>
              <a:ahLst/>
              <a:cxnLst>
                <a:cxn ang="0">
                  <a:pos x="connsiteX0" y="connsiteY0"/>
                </a:cxn>
                <a:cxn ang="0">
                  <a:pos x="connsiteX1" y="connsiteY1"/>
                </a:cxn>
                <a:cxn ang="0">
                  <a:pos x="connsiteX2" y="connsiteY2"/>
                </a:cxn>
              </a:cxnLst>
              <a:rect l="l" t="t" r="r" b="b"/>
              <a:pathLst>
                <a:path w="1545464" h="696152">
                  <a:moveTo>
                    <a:pt x="0" y="696152"/>
                  </a:moveTo>
                  <a:cubicBezTo>
                    <a:pt x="206062" y="357008"/>
                    <a:pt x="412124" y="17865"/>
                    <a:pt x="669701" y="693"/>
                  </a:cubicBezTo>
                  <a:cubicBezTo>
                    <a:pt x="927278" y="-16479"/>
                    <a:pt x="1236371" y="288321"/>
                    <a:pt x="1545464" y="593121"/>
                  </a:cubicBezTo>
                </a:path>
              </a:pathLst>
            </a:custGeom>
            <a:noFill/>
            <a:ln w="19050">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77F8FB5A-0D76-80D4-CAE8-33FA0F253CE4}"/>
                </a:ext>
              </a:extLst>
            </p:cNvPr>
            <p:cNvSpPr/>
            <p:nvPr/>
          </p:nvSpPr>
          <p:spPr>
            <a:xfrm>
              <a:off x="3719843" y="3535630"/>
              <a:ext cx="1805194" cy="702534"/>
            </a:xfrm>
            <a:custGeom>
              <a:avLst/>
              <a:gdLst>
                <a:gd name="connsiteX0" fmla="*/ 0 w 2228046"/>
                <a:gd name="connsiteY0" fmla="*/ 567539 h 567539"/>
                <a:gd name="connsiteX1" fmla="*/ 927279 w 2228046"/>
                <a:gd name="connsiteY1" fmla="*/ 868 h 567539"/>
                <a:gd name="connsiteX2" fmla="*/ 2228046 w 2228046"/>
                <a:gd name="connsiteY2" fmla="*/ 464508 h 567539"/>
              </a:gdLst>
              <a:ahLst/>
              <a:cxnLst>
                <a:cxn ang="0">
                  <a:pos x="connsiteX0" y="connsiteY0"/>
                </a:cxn>
                <a:cxn ang="0">
                  <a:pos x="connsiteX1" y="connsiteY1"/>
                </a:cxn>
                <a:cxn ang="0">
                  <a:pos x="connsiteX2" y="connsiteY2"/>
                </a:cxn>
              </a:cxnLst>
              <a:rect l="l" t="t" r="r" b="b"/>
              <a:pathLst>
                <a:path w="2228046" h="567539">
                  <a:moveTo>
                    <a:pt x="0" y="567539"/>
                  </a:moveTo>
                  <a:cubicBezTo>
                    <a:pt x="277969" y="292789"/>
                    <a:pt x="555938" y="18040"/>
                    <a:pt x="927279" y="868"/>
                  </a:cubicBezTo>
                  <a:cubicBezTo>
                    <a:pt x="1298620" y="-16304"/>
                    <a:pt x="1763333" y="224102"/>
                    <a:pt x="2228046" y="464508"/>
                  </a:cubicBezTo>
                </a:path>
              </a:pathLst>
            </a:custGeom>
            <a:noFill/>
            <a:ln w="19050">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F0425219-4532-3F36-5BC1-B96246F0CD44}"/>
                </a:ext>
              </a:extLst>
            </p:cNvPr>
            <p:cNvSpPr/>
            <p:nvPr/>
          </p:nvSpPr>
          <p:spPr>
            <a:xfrm>
              <a:off x="2089733" y="2872857"/>
              <a:ext cx="5158923" cy="1333647"/>
            </a:xfrm>
            <a:custGeom>
              <a:avLst/>
              <a:gdLst>
                <a:gd name="connsiteX0" fmla="*/ 5447763 w 5447763"/>
                <a:gd name="connsiteY0" fmla="*/ 1391170 h 1391170"/>
                <a:gd name="connsiteX1" fmla="*/ 2125014 w 5447763"/>
                <a:gd name="connsiteY1" fmla="*/ 252 h 1391170"/>
                <a:gd name="connsiteX2" fmla="*/ 0 w 5447763"/>
                <a:gd name="connsiteY2" fmla="*/ 1301018 h 1391170"/>
              </a:gdLst>
              <a:ahLst/>
              <a:cxnLst>
                <a:cxn ang="0">
                  <a:pos x="connsiteX0" y="connsiteY0"/>
                </a:cxn>
                <a:cxn ang="0">
                  <a:pos x="connsiteX1" y="connsiteY1"/>
                </a:cxn>
                <a:cxn ang="0">
                  <a:pos x="connsiteX2" y="connsiteY2"/>
                </a:cxn>
              </a:cxnLst>
              <a:rect l="l" t="t" r="r" b="b"/>
              <a:pathLst>
                <a:path w="5447763" h="1391170">
                  <a:moveTo>
                    <a:pt x="5447763" y="1391170"/>
                  </a:moveTo>
                  <a:cubicBezTo>
                    <a:pt x="4240368" y="703223"/>
                    <a:pt x="3032974" y="15277"/>
                    <a:pt x="2125014" y="252"/>
                  </a:cubicBezTo>
                  <a:cubicBezTo>
                    <a:pt x="1217054" y="-14773"/>
                    <a:pt x="608527" y="643122"/>
                    <a:pt x="0" y="1301018"/>
                  </a:cubicBezTo>
                </a:path>
              </a:pathLst>
            </a:custGeom>
            <a:noFill/>
            <a:ln w="19050">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a:extLst>
              <a:ext uri="{FF2B5EF4-FFF2-40B4-BE49-F238E27FC236}">
                <a16:creationId xmlns:a16="http://schemas.microsoft.com/office/drawing/2014/main" id="{78931E7E-269B-BB49-A79B-095EB36DB550}"/>
              </a:ext>
            </a:extLst>
          </p:cNvPr>
          <p:cNvSpPr txBox="1"/>
          <p:nvPr/>
        </p:nvSpPr>
        <p:spPr>
          <a:xfrm flipH="1">
            <a:off x="692593" y="3749666"/>
            <a:ext cx="8876409" cy="400110"/>
          </a:xfrm>
          <a:prstGeom prst="rect">
            <a:avLst/>
          </a:prstGeom>
          <a:noFill/>
        </p:spPr>
        <p:txBody>
          <a:bodyPr wrap="square" rtlCol="0">
            <a:spAutoFit/>
          </a:bodyPr>
          <a:lstStyle/>
          <a:p>
            <a:r>
              <a:rPr lang="en-US" sz="2000" i="1" dirty="0">
                <a:solidFill>
                  <a:schemeClr val="accent1">
                    <a:lumMod val="50000"/>
                  </a:schemeClr>
                </a:solidFill>
              </a:rPr>
              <a:t>Moving reached objects to the front of the heap, while preserving internal pointers</a:t>
            </a:r>
          </a:p>
        </p:txBody>
      </p:sp>
      <p:sp>
        <p:nvSpPr>
          <p:cNvPr id="25" name="TextBox 24">
            <a:extLst>
              <a:ext uri="{FF2B5EF4-FFF2-40B4-BE49-F238E27FC236}">
                <a16:creationId xmlns:a16="http://schemas.microsoft.com/office/drawing/2014/main" id="{F41B1FD3-92C2-6428-9502-4415C49BDB7D}"/>
              </a:ext>
            </a:extLst>
          </p:cNvPr>
          <p:cNvSpPr txBox="1"/>
          <p:nvPr/>
        </p:nvSpPr>
        <p:spPr>
          <a:xfrm>
            <a:off x="4324764" y="6175629"/>
            <a:ext cx="2788077" cy="461665"/>
          </a:xfrm>
          <a:prstGeom prst="rect">
            <a:avLst/>
          </a:prstGeom>
          <a:noFill/>
        </p:spPr>
        <p:txBody>
          <a:bodyPr wrap="square" rtlCol="0">
            <a:spAutoFit/>
          </a:bodyPr>
          <a:lstStyle/>
          <a:p>
            <a:pPr algn="ctr"/>
            <a:r>
              <a:rPr lang="en-US" sz="2400" dirty="0">
                <a:solidFill>
                  <a:srgbClr val="7030A0"/>
                </a:solidFill>
              </a:rPr>
              <a:t>Heap (after GC) </a:t>
            </a:r>
          </a:p>
        </p:txBody>
      </p:sp>
    </p:spTree>
    <p:extLst>
      <p:ext uri="{BB962C8B-B14F-4D97-AF65-F5344CB8AC3E}">
        <p14:creationId xmlns:p14="http://schemas.microsoft.com/office/powerpoint/2010/main" val="3441947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16" presetClass="entr" presetSubtype="21"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par>
                                <p:cTn id="13" presetID="42"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anim calcmode="lin" valueType="num">
                                      <p:cBhvr>
                                        <p:cTn id="16" dur="1000" fill="hold"/>
                                        <p:tgtEl>
                                          <p:spTgt spid="12"/>
                                        </p:tgtEl>
                                        <p:attrNameLst>
                                          <p:attrName>ppt_x</p:attrName>
                                        </p:attrNameLst>
                                      </p:cBhvr>
                                      <p:tavLst>
                                        <p:tav tm="0">
                                          <p:val>
                                            <p:strVal val="#ppt_x"/>
                                          </p:val>
                                        </p:tav>
                                        <p:tav tm="100000">
                                          <p:val>
                                            <p:strVal val="#ppt_x"/>
                                          </p:val>
                                        </p:tav>
                                      </p:tavLst>
                                    </p:anim>
                                    <p:anim calcmode="lin" valueType="num">
                                      <p:cBhvr>
                                        <p:cTn id="1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barn(inVertical)">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1000"/>
                                        <p:tgtEl>
                                          <p:spTgt spid="15"/>
                                        </p:tgtEl>
                                      </p:cBhvr>
                                    </p:animEffect>
                                    <p:anim calcmode="lin" valueType="num">
                                      <p:cBhvr>
                                        <p:cTn id="33" dur="1000" fill="hold"/>
                                        <p:tgtEl>
                                          <p:spTgt spid="15"/>
                                        </p:tgtEl>
                                        <p:attrNameLst>
                                          <p:attrName>ppt_x</p:attrName>
                                        </p:attrNameLst>
                                      </p:cBhvr>
                                      <p:tavLst>
                                        <p:tav tm="0">
                                          <p:val>
                                            <p:strVal val="#ppt_x"/>
                                          </p:val>
                                        </p:tav>
                                        <p:tav tm="100000">
                                          <p:val>
                                            <p:strVal val="#ppt_x"/>
                                          </p:val>
                                        </p:tav>
                                      </p:tavLst>
                                    </p:anim>
                                    <p:anim calcmode="lin" valueType="num">
                                      <p:cBhvr>
                                        <p:cTn id="34" dur="1000" fill="hold"/>
                                        <p:tgtEl>
                                          <p:spTgt spid="15"/>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1000"/>
                                        <p:tgtEl>
                                          <p:spTgt spid="22"/>
                                        </p:tgtEl>
                                      </p:cBhvr>
                                    </p:animEffect>
                                    <p:anim calcmode="lin" valueType="num">
                                      <p:cBhvr>
                                        <p:cTn id="38" dur="1000" fill="hold"/>
                                        <p:tgtEl>
                                          <p:spTgt spid="22"/>
                                        </p:tgtEl>
                                        <p:attrNameLst>
                                          <p:attrName>ppt_x</p:attrName>
                                        </p:attrNameLst>
                                      </p:cBhvr>
                                      <p:tavLst>
                                        <p:tav tm="0">
                                          <p:val>
                                            <p:strVal val="#ppt_x"/>
                                          </p:val>
                                        </p:tav>
                                        <p:tav tm="100000">
                                          <p:val>
                                            <p:strVal val="#ppt_x"/>
                                          </p:val>
                                        </p:tav>
                                      </p:tavLst>
                                    </p:anim>
                                    <p:anim calcmode="lin" valueType="num">
                                      <p:cBhvr>
                                        <p:cTn id="39" dur="1000" fill="hold"/>
                                        <p:tgtEl>
                                          <p:spTgt spid="22"/>
                                        </p:tgtEl>
                                        <p:attrNameLst>
                                          <p:attrName>ppt_y</p:attrName>
                                        </p:attrNameLst>
                                      </p:cBhvr>
                                      <p:tavLst>
                                        <p:tav tm="0">
                                          <p:val>
                                            <p:strVal val="#ppt_y+.1"/>
                                          </p:val>
                                        </p:tav>
                                        <p:tav tm="100000">
                                          <p:val>
                                            <p:strVal val="#ppt_y"/>
                                          </p:val>
                                        </p:tav>
                                      </p:tavLst>
                                    </p:anim>
                                  </p:childTnLst>
                                </p:cTn>
                              </p:par>
                              <p:par>
                                <p:cTn id="40" presetID="16" presetClass="entr" presetSubtype="21"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barn(inVertical)">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down)">
                                      <p:cBhvr>
                                        <p:cTn id="4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4" grpId="0"/>
      <p:bldP spid="2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236"/>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A Mark-and-Compact Garbage Collector</a:t>
            </a:r>
          </a:p>
        </p:txBody>
      </p:sp>
      <p:sp>
        <p:nvSpPr>
          <p:cNvPr id="6" name="Content Placeholder 2"/>
          <p:cNvSpPr>
            <a:spLocks noGrp="1"/>
          </p:cNvSpPr>
          <p:nvPr>
            <p:ph idx="1"/>
          </p:nvPr>
        </p:nvSpPr>
        <p:spPr>
          <a:xfrm>
            <a:off x="179296" y="782305"/>
            <a:ext cx="5916704" cy="5728446"/>
          </a:xfrm>
          <a:ln>
            <a:solidFill>
              <a:srgbClr val="7030A0"/>
            </a:solidFill>
            <a:prstDash val="dash"/>
          </a:ln>
        </p:spPr>
        <p:txBody>
          <a:bodyPr vert="horz" lIns="91440" tIns="45720" rIns="91440" bIns="45720" rtlCol="0">
            <a:noAutofit/>
          </a:bodyPr>
          <a:lstStyle/>
          <a:p>
            <a:pPr>
              <a:lnSpc>
                <a:spcPct val="100000"/>
              </a:lnSpc>
              <a:spcBef>
                <a:spcPts val="0"/>
              </a:spcBef>
              <a:spcAft>
                <a:spcPts val="600"/>
              </a:spcAft>
            </a:pPr>
            <a:r>
              <a:rPr lang="en-US" sz="2400" dirty="0">
                <a:solidFill>
                  <a:schemeClr val="accent5">
                    <a:lumMod val="75000"/>
                  </a:schemeClr>
                </a:solidFill>
              </a:rPr>
              <a:t>Algorithm</a:t>
            </a:r>
            <a:r>
              <a:rPr lang="en-US" sz="2400" dirty="0"/>
              <a:t>: A mark-and-compact garbage collector</a:t>
            </a:r>
          </a:p>
          <a:p>
            <a:pPr>
              <a:lnSpc>
                <a:spcPct val="100000"/>
              </a:lnSpc>
              <a:spcBef>
                <a:spcPts val="0"/>
              </a:spcBef>
              <a:spcAft>
                <a:spcPts val="600"/>
              </a:spcAft>
            </a:pPr>
            <a:r>
              <a:rPr lang="en-US" sz="2400" dirty="0">
                <a:solidFill>
                  <a:schemeClr val="accent6">
                    <a:lumMod val="75000"/>
                  </a:schemeClr>
                </a:solidFill>
              </a:rPr>
              <a:t>Input</a:t>
            </a:r>
          </a:p>
          <a:p>
            <a:pPr lvl="1">
              <a:lnSpc>
                <a:spcPct val="100000"/>
              </a:lnSpc>
              <a:spcBef>
                <a:spcPts val="0"/>
              </a:spcBef>
            </a:pPr>
            <a:r>
              <a:rPr lang="en-US" dirty="0"/>
              <a:t>A root set of objects,</a:t>
            </a:r>
          </a:p>
          <a:p>
            <a:pPr lvl="1">
              <a:lnSpc>
                <a:spcPct val="100000"/>
              </a:lnSpc>
              <a:spcBef>
                <a:spcPts val="0"/>
              </a:spcBef>
            </a:pPr>
            <a:r>
              <a:rPr lang="en-US" dirty="0"/>
              <a:t>a heap,</a:t>
            </a:r>
          </a:p>
          <a:p>
            <a:pPr lvl="1">
              <a:lnSpc>
                <a:spcPct val="100000"/>
              </a:lnSpc>
              <a:spcBef>
                <a:spcPts val="0"/>
              </a:spcBef>
              <a:spcAft>
                <a:spcPts val="600"/>
              </a:spcAft>
            </a:pPr>
            <a:r>
              <a:rPr lang="en-US" dirty="0"/>
              <a:t>a pointer </a:t>
            </a:r>
            <a:r>
              <a:rPr lang="en-US" i="1" dirty="0"/>
              <a:t>free</a:t>
            </a:r>
            <a:r>
              <a:rPr lang="en-US" dirty="0"/>
              <a:t> marking the start of free space.</a:t>
            </a:r>
          </a:p>
          <a:p>
            <a:pPr>
              <a:lnSpc>
                <a:spcPct val="100000"/>
              </a:lnSpc>
              <a:spcBef>
                <a:spcPts val="0"/>
              </a:spcBef>
              <a:spcAft>
                <a:spcPts val="600"/>
              </a:spcAft>
            </a:pPr>
            <a:r>
              <a:rPr lang="en-US" dirty="0">
                <a:solidFill>
                  <a:srgbClr val="7030A0"/>
                </a:solidFill>
              </a:rPr>
              <a:t>Output</a:t>
            </a:r>
          </a:p>
          <a:p>
            <a:pPr lvl="1">
              <a:lnSpc>
                <a:spcPct val="100000"/>
              </a:lnSpc>
              <a:spcBef>
                <a:spcPts val="0"/>
              </a:spcBef>
              <a:spcAft>
                <a:spcPts val="600"/>
              </a:spcAft>
            </a:pPr>
            <a:r>
              <a:rPr lang="en-US" dirty="0"/>
              <a:t>The new value of pointer </a:t>
            </a:r>
            <a:r>
              <a:rPr lang="en-US" i="1" dirty="0"/>
              <a:t>free</a:t>
            </a:r>
          </a:p>
          <a:p>
            <a:pPr>
              <a:lnSpc>
                <a:spcPct val="100000"/>
              </a:lnSpc>
              <a:spcBef>
                <a:spcPts val="0"/>
              </a:spcBef>
              <a:spcAft>
                <a:spcPts val="600"/>
              </a:spcAft>
            </a:pPr>
            <a:r>
              <a:rPr lang="en-US" dirty="0">
                <a:solidFill>
                  <a:schemeClr val="accent2">
                    <a:lumMod val="75000"/>
                  </a:schemeClr>
                </a:solidFill>
              </a:rPr>
              <a:t>Data Structures used</a:t>
            </a:r>
          </a:p>
          <a:p>
            <a:pPr lvl="1">
              <a:lnSpc>
                <a:spcPct val="100000"/>
              </a:lnSpc>
              <a:spcBef>
                <a:spcPts val="0"/>
              </a:spcBef>
            </a:pPr>
            <a:r>
              <a:rPr lang="en-US" dirty="0"/>
              <a:t>An </a:t>
            </a:r>
            <a:r>
              <a:rPr lang="en-US" i="1" dirty="0" err="1">
                <a:solidFill>
                  <a:schemeClr val="accent6">
                    <a:lumMod val="75000"/>
                  </a:schemeClr>
                </a:solidFill>
              </a:rPr>
              <a:t>unscanned</a:t>
            </a:r>
            <a:r>
              <a:rPr lang="en-US" dirty="0">
                <a:solidFill>
                  <a:schemeClr val="accent6">
                    <a:lumMod val="75000"/>
                  </a:schemeClr>
                </a:solidFill>
              </a:rPr>
              <a:t> </a:t>
            </a:r>
            <a:r>
              <a:rPr lang="en-US" dirty="0"/>
              <a:t>list</a:t>
            </a:r>
          </a:p>
          <a:p>
            <a:pPr lvl="1">
              <a:lnSpc>
                <a:spcPct val="100000"/>
              </a:lnSpc>
              <a:spcBef>
                <a:spcPts val="0"/>
              </a:spcBef>
            </a:pPr>
            <a:r>
              <a:rPr lang="en-US" dirty="0"/>
              <a:t>Reached bits in all objects</a:t>
            </a:r>
          </a:p>
          <a:p>
            <a:pPr lvl="1">
              <a:lnSpc>
                <a:spcPct val="100000"/>
              </a:lnSpc>
              <a:spcBef>
                <a:spcPts val="0"/>
              </a:spcBef>
            </a:pPr>
            <a:r>
              <a:rPr lang="en-US" dirty="0"/>
              <a:t>The table </a:t>
            </a:r>
            <a:r>
              <a:rPr lang="en-US" i="1" dirty="0">
                <a:solidFill>
                  <a:srgbClr val="92D050"/>
                </a:solidFill>
              </a:rPr>
              <a:t>NewLocation </a:t>
            </a:r>
            <a:r>
              <a:rPr lang="en-US" dirty="0"/>
              <a:t>to keep mappings of objects to their locations</a:t>
            </a:r>
          </a:p>
        </p:txBody>
      </p:sp>
      <p:sp>
        <p:nvSpPr>
          <p:cNvPr id="7" name="Slide Number Placeholder 6"/>
          <p:cNvSpPr>
            <a:spLocks noGrp="1"/>
          </p:cNvSpPr>
          <p:nvPr>
            <p:ph type="sldNum" sz="quarter" idx="12"/>
          </p:nvPr>
        </p:nvSpPr>
        <p:spPr/>
        <p:txBody>
          <a:bodyPr/>
          <a:lstStyle/>
          <a:p>
            <a:fld id="{EE645454-5A07-423E-8617-7239B6B66F68}" type="slidenum">
              <a:rPr lang="en-US" smtClean="0"/>
              <a:t>81</a:t>
            </a:fld>
            <a:endParaRPr lang="en-US"/>
          </a:p>
        </p:txBody>
      </p:sp>
      <p:pic>
        <p:nvPicPr>
          <p:cNvPr id="3" name="Picture 2"/>
          <p:cNvPicPr>
            <a:picLocks noChangeAspect="1"/>
          </p:cNvPicPr>
          <p:nvPr/>
        </p:nvPicPr>
        <p:blipFill rotWithShape="1">
          <a:blip r:embed="rId2"/>
          <a:srcRect l="1696" r="9923" b="62311"/>
          <a:stretch/>
        </p:blipFill>
        <p:spPr>
          <a:xfrm>
            <a:off x="6475421" y="1222053"/>
            <a:ext cx="5484145" cy="2758609"/>
          </a:xfrm>
          <a:prstGeom prst="rect">
            <a:avLst/>
          </a:prstGeom>
          <a:ln w="19050">
            <a:solidFill>
              <a:schemeClr val="accent4">
                <a:lumMod val="75000"/>
              </a:schemeClr>
            </a:solidFill>
            <a:prstDash val="dash"/>
          </a:ln>
        </p:spPr>
      </p:pic>
      <p:sp>
        <p:nvSpPr>
          <p:cNvPr id="4" name="Rectangle 3"/>
          <p:cNvSpPr/>
          <p:nvPr/>
        </p:nvSpPr>
        <p:spPr>
          <a:xfrm>
            <a:off x="8343698" y="684169"/>
            <a:ext cx="1747594" cy="523220"/>
          </a:xfrm>
          <a:prstGeom prst="rect">
            <a:avLst/>
          </a:prstGeom>
        </p:spPr>
        <p:txBody>
          <a:bodyPr wrap="none">
            <a:spAutoFit/>
          </a:bodyPr>
          <a:lstStyle/>
          <a:p>
            <a:pPr algn="ctr"/>
            <a:r>
              <a:rPr lang="en-US" sz="2800" dirty="0">
                <a:solidFill>
                  <a:srgbClr val="7030A0"/>
                </a:solidFill>
              </a:rPr>
              <a:t>1. Marking</a:t>
            </a:r>
            <a:endParaRPr lang="en-US" sz="2800" dirty="0"/>
          </a:p>
        </p:txBody>
      </p:sp>
      <p:pic>
        <p:nvPicPr>
          <p:cNvPr id="8" name="Picture 7"/>
          <p:cNvPicPr>
            <a:picLocks noChangeAspect="1"/>
          </p:cNvPicPr>
          <p:nvPr/>
        </p:nvPicPr>
        <p:blipFill rotWithShape="1">
          <a:blip r:embed="rId2"/>
          <a:srcRect t="37098" b="35298"/>
          <a:stretch/>
        </p:blipFill>
        <p:spPr>
          <a:xfrm>
            <a:off x="6329643" y="4615983"/>
            <a:ext cx="5781675" cy="1882588"/>
          </a:xfrm>
          <a:prstGeom prst="rect">
            <a:avLst/>
          </a:prstGeom>
          <a:ln w="19050">
            <a:solidFill>
              <a:schemeClr val="accent4">
                <a:lumMod val="75000"/>
              </a:schemeClr>
            </a:solidFill>
            <a:prstDash val="dash"/>
          </a:ln>
        </p:spPr>
      </p:pic>
      <p:sp>
        <p:nvSpPr>
          <p:cNvPr id="9" name="Rectangle 8"/>
          <p:cNvSpPr/>
          <p:nvPr/>
        </p:nvSpPr>
        <p:spPr>
          <a:xfrm>
            <a:off x="7293948" y="4090756"/>
            <a:ext cx="4151906" cy="523220"/>
          </a:xfrm>
          <a:prstGeom prst="rect">
            <a:avLst/>
          </a:prstGeom>
        </p:spPr>
        <p:txBody>
          <a:bodyPr wrap="none">
            <a:spAutoFit/>
          </a:bodyPr>
          <a:lstStyle/>
          <a:p>
            <a:pPr algn="ctr"/>
            <a:r>
              <a:rPr lang="en-US" sz="2800" dirty="0">
                <a:solidFill>
                  <a:schemeClr val="accent6">
                    <a:lumMod val="75000"/>
                  </a:schemeClr>
                </a:solidFill>
              </a:rPr>
              <a:t>2. New Address Calculation</a:t>
            </a:r>
          </a:p>
        </p:txBody>
      </p:sp>
    </p:spTree>
    <p:extLst>
      <p:ext uri="{BB962C8B-B14F-4D97-AF65-F5344CB8AC3E}">
        <p14:creationId xmlns:p14="http://schemas.microsoft.com/office/powerpoint/2010/main" val="1027518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wipe(down)">
                                      <p:cBhvr>
                                        <p:cTn id="7" dur="500"/>
                                        <p:tgtEl>
                                          <p:spTgt spid="6">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down)">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down)">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down)">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ipe(down)">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wipe(down)">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wipe(down)">
                                      <p:cBhvr>
                                        <p:cTn id="37" dur="500"/>
                                        <p:tgtEl>
                                          <p:spTgt spid="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wipe(down)">
                                      <p:cBhvr>
                                        <p:cTn id="42" dur="500"/>
                                        <p:tgtEl>
                                          <p:spTgt spid="6">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animEffect transition="in" filter="wipe(down)">
                                      <p:cBhvr>
                                        <p:cTn id="47" dur="500"/>
                                        <p:tgtEl>
                                          <p:spTgt spid="6">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6">
                                            <p:txEl>
                                              <p:pRg st="8" end="8"/>
                                            </p:txEl>
                                          </p:spTgt>
                                        </p:tgtEl>
                                        <p:attrNameLst>
                                          <p:attrName>style.visibility</p:attrName>
                                        </p:attrNameLst>
                                      </p:cBhvr>
                                      <p:to>
                                        <p:strVal val="visible"/>
                                      </p:to>
                                    </p:set>
                                    <p:animEffect transition="in" filter="wipe(down)">
                                      <p:cBhvr>
                                        <p:cTn id="52" dur="500"/>
                                        <p:tgtEl>
                                          <p:spTgt spid="6">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6">
                                            <p:txEl>
                                              <p:pRg st="9" end="9"/>
                                            </p:txEl>
                                          </p:spTgt>
                                        </p:tgtEl>
                                        <p:attrNameLst>
                                          <p:attrName>style.visibility</p:attrName>
                                        </p:attrNameLst>
                                      </p:cBhvr>
                                      <p:to>
                                        <p:strVal val="visible"/>
                                      </p:to>
                                    </p:set>
                                    <p:animEffect transition="in" filter="wipe(down)">
                                      <p:cBhvr>
                                        <p:cTn id="57" dur="500"/>
                                        <p:tgtEl>
                                          <p:spTgt spid="6">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6">
                                            <p:txEl>
                                              <p:pRg st="10" end="10"/>
                                            </p:txEl>
                                          </p:spTgt>
                                        </p:tgtEl>
                                        <p:attrNameLst>
                                          <p:attrName>style.visibility</p:attrName>
                                        </p:attrNameLst>
                                      </p:cBhvr>
                                      <p:to>
                                        <p:strVal val="visible"/>
                                      </p:to>
                                    </p:set>
                                    <p:animEffect transition="in" filter="wipe(down)">
                                      <p:cBhvr>
                                        <p:cTn id="62" dur="500"/>
                                        <p:tgtEl>
                                          <p:spTgt spid="6">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3"/>
                                        </p:tgtEl>
                                        <p:attrNameLst>
                                          <p:attrName>style.visibility</p:attrName>
                                        </p:attrNameLst>
                                      </p:cBhvr>
                                      <p:to>
                                        <p:strVal val="visible"/>
                                      </p:to>
                                    </p:set>
                                    <p:animEffect transition="in" filter="fade">
                                      <p:cBhvr>
                                        <p:cTn id="67" dur="1000"/>
                                        <p:tgtEl>
                                          <p:spTgt spid="3"/>
                                        </p:tgtEl>
                                      </p:cBhvr>
                                    </p:animEffect>
                                    <p:anim calcmode="lin" valueType="num">
                                      <p:cBhvr>
                                        <p:cTn id="68" dur="1000" fill="hold"/>
                                        <p:tgtEl>
                                          <p:spTgt spid="3"/>
                                        </p:tgtEl>
                                        <p:attrNameLst>
                                          <p:attrName>ppt_x</p:attrName>
                                        </p:attrNameLst>
                                      </p:cBhvr>
                                      <p:tavLst>
                                        <p:tav tm="0">
                                          <p:val>
                                            <p:strVal val="#ppt_x"/>
                                          </p:val>
                                        </p:tav>
                                        <p:tav tm="100000">
                                          <p:val>
                                            <p:strVal val="#ppt_x"/>
                                          </p:val>
                                        </p:tav>
                                      </p:tavLst>
                                    </p:anim>
                                    <p:anim calcmode="lin" valueType="num">
                                      <p:cBhvr>
                                        <p:cTn id="69" dur="1000" fill="hold"/>
                                        <p:tgtEl>
                                          <p:spTgt spid="3"/>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fade">
                                      <p:cBhvr>
                                        <p:cTn id="72" dur="1000"/>
                                        <p:tgtEl>
                                          <p:spTgt spid="4"/>
                                        </p:tgtEl>
                                      </p:cBhvr>
                                    </p:animEffect>
                                    <p:anim calcmode="lin" valueType="num">
                                      <p:cBhvr>
                                        <p:cTn id="73" dur="1000" fill="hold"/>
                                        <p:tgtEl>
                                          <p:spTgt spid="4"/>
                                        </p:tgtEl>
                                        <p:attrNameLst>
                                          <p:attrName>ppt_x</p:attrName>
                                        </p:attrNameLst>
                                      </p:cBhvr>
                                      <p:tavLst>
                                        <p:tav tm="0">
                                          <p:val>
                                            <p:strVal val="#ppt_x"/>
                                          </p:val>
                                        </p:tav>
                                        <p:tav tm="100000">
                                          <p:val>
                                            <p:strVal val="#ppt_x"/>
                                          </p:val>
                                        </p:tav>
                                      </p:tavLst>
                                    </p:anim>
                                    <p:anim calcmode="lin" valueType="num">
                                      <p:cBhvr>
                                        <p:cTn id="7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9"/>
                                        </p:tgtEl>
                                        <p:attrNameLst>
                                          <p:attrName>style.visibility</p:attrName>
                                        </p:attrNameLst>
                                      </p:cBhvr>
                                      <p:to>
                                        <p:strVal val="visible"/>
                                      </p:to>
                                    </p:set>
                                    <p:animEffect transition="in" filter="fade">
                                      <p:cBhvr>
                                        <p:cTn id="79" dur="1000"/>
                                        <p:tgtEl>
                                          <p:spTgt spid="9"/>
                                        </p:tgtEl>
                                      </p:cBhvr>
                                    </p:animEffect>
                                    <p:anim calcmode="lin" valueType="num">
                                      <p:cBhvr>
                                        <p:cTn id="80" dur="1000" fill="hold"/>
                                        <p:tgtEl>
                                          <p:spTgt spid="9"/>
                                        </p:tgtEl>
                                        <p:attrNameLst>
                                          <p:attrName>ppt_x</p:attrName>
                                        </p:attrNameLst>
                                      </p:cBhvr>
                                      <p:tavLst>
                                        <p:tav tm="0">
                                          <p:val>
                                            <p:strVal val="#ppt_x"/>
                                          </p:val>
                                        </p:tav>
                                        <p:tav tm="100000">
                                          <p:val>
                                            <p:strVal val="#ppt_x"/>
                                          </p:val>
                                        </p:tav>
                                      </p:tavLst>
                                    </p:anim>
                                    <p:anim calcmode="lin" valueType="num">
                                      <p:cBhvr>
                                        <p:cTn id="81" dur="1000" fill="hold"/>
                                        <p:tgtEl>
                                          <p:spTgt spid="9"/>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8"/>
                                        </p:tgtEl>
                                        <p:attrNameLst>
                                          <p:attrName>style.visibility</p:attrName>
                                        </p:attrNameLst>
                                      </p:cBhvr>
                                      <p:to>
                                        <p:strVal val="visible"/>
                                      </p:to>
                                    </p:set>
                                    <p:animEffect transition="in" filter="fade">
                                      <p:cBhvr>
                                        <p:cTn id="84" dur="1000"/>
                                        <p:tgtEl>
                                          <p:spTgt spid="8"/>
                                        </p:tgtEl>
                                      </p:cBhvr>
                                    </p:animEffect>
                                    <p:anim calcmode="lin" valueType="num">
                                      <p:cBhvr>
                                        <p:cTn id="85" dur="1000" fill="hold"/>
                                        <p:tgtEl>
                                          <p:spTgt spid="8"/>
                                        </p:tgtEl>
                                        <p:attrNameLst>
                                          <p:attrName>ppt_x</p:attrName>
                                        </p:attrNameLst>
                                      </p:cBhvr>
                                      <p:tavLst>
                                        <p:tav tm="0">
                                          <p:val>
                                            <p:strVal val="#ppt_x"/>
                                          </p:val>
                                        </p:tav>
                                        <p:tav tm="100000">
                                          <p:val>
                                            <p:strVal val="#ppt_x"/>
                                          </p:val>
                                        </p:tav>
                                      </p:tavLst>
                                    </p:anim>
                                    <p:anim calcmode="lin" valueType="num">
                                      <p:cBhvr>
                                        <p:cTn id="8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P spid="4" grpId="0"/>
      <p:bldP spid="9"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236"/>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A Mark-and-Compact Garbage Collector</a:t>
            </a:r>
          </a:p>
        </p:txBody>
      </p:sp>
      <p:sp>
        <p:nvSpPr>
          <p:cNvPr id="6" name="Content Placeholder 2"/>
          <p:cNvSpPr>
            <a:spLocks noGrp="1"/>
          </p:cNvSpPr>
          <p:nvPr>
            <p:ph idx="1"/>
          </p:nvPr>
        </p:nvSpPr>
        <p:spPr>
          <a:xfrm>
            <a:off x="179296" y="864253"/>
            <a:ext cx="4997822" cy="5911009"/>
          </a:xfrm>
          <a:ln>
            <a:solidFill>
              <a:srgbClr val="7030A0"/>
            </a:solidFill>
            <a:prstDash val="dash"/>
          </a:ln>
        </p:spPr>
        <p:txBody>
          <a:bodyPr vert="horz" lIns="91440" tIns="45720" rIns="91440" bIns="45720" rtlCol="0">
            <a:noAutofit/>
          </a:bodyPr>
          <a:lstStyle/>
          <a:p>
            <a:pPr>
              <a:lnSpc>
                <a:spcPct val="100000"/>
              </a:lnSpc>
              <a:spcBef>
                <a:spcPts val="0"/>
              </a:spcBef>
              <a:spcAft>
                <a:spcPts val="600"/>
              </a:spcAft>
            </a:pPr>
            <a:r>
              <a:rPr lang="en-US" sz="2400" dirty="0">
                <a:solidFill>
                  <a:schemeClr val="accent5">
                    <a:lumMod val="75000"/>
                  </a:schemeClr>
                </a:solidFill>
              </a:rPr>
              <a:t>Algorithm</a:t>
            </a:r>
            <a:r>
              <a:rPr lang="en-US" sz="2400" dirty="0"/>
              <a:t>: A mark-and-compact garbage collector</a:t>
            </a:r>
          </a:p>
          <a:p>
            <a:pPr>
              <a:lnSpc>
                <a:spcPct val="100000"/>
              </a:lnSpc>
              <a:spcBef>
                <a:spcPts val="0"/>
              </a:spcBef>
              <a:spcAft>
                <a:spcPts val="600"/>
              </a:spcAft>
            </a:pPr>
            <a:r>
              <a:rPr lang="en-US" sz="2400" dirty="0">
                <a:solidFill>
                  <a:schemeClr val="accent6">
                    <a:lumMod val="75000"/>
                  </a:schemeClr>
                </a:solidFill>
              </a:rPr>
              <a:t>Input</a:t>
            </a:r>
          </a:p>
          <a:p>
            <a:pPr lvl="1">
              <a:lnSpc>
                <a:spcPct val="100000"/>
              </a:lnSpc>
              <a:spcBef>
                <a:spcPts val="0"/>
              </a:spcBef>
            </a:pPr>
            <a:r>
              <a:rPr lang="en-US" sz="2200" dirty="0"/>
              <a:t>A root set of objects,</a:t>
            </a:r>
          </a:p>
          <a:p>
            <a:pPr lvl="1">
              <a:lnSpc>
                <a:spcPct val="100000"/>
              </a:lnSpc>
              <a:spcBef>
                <a:spcPts val="0"/>
              </a:spcBef>
            </a:pPr>
            <a:r>
              <a:rPr lang="en-US" sz="2200" dirty="0"/>
              <a:t>a heap,</a:t>
            </a:r>
          </a:p>
          <a:p>
            <a:pPr lvl="1">
              <a:lnSpc>
                <a:spcPct val="100000"/>
              </a:lnSpc>
              <a:spcBef>
                <a:spcPts val="0"/>
              </a:spcBef>
              <a:spcAft>
                <a:spcPts val="600"/>
              </a:spcAft>
            </a:pPr>
            <a:r>
              <a:rPr lang="en-US" sz="2200" dirty="0"/>
              <a:t>a pointer </a:t>
            </a:r>
            <a:r>
              <a:rPr lang="en-US" sz="2200" i="1" dirty="0"/>
              <a:t>free</a:t>
            </a:r>
            <a:r>
              <a:rPr lang="en-US" sz="2200" dirty="0"/>
              <a:t> marking the start of free space.</a:t>
            </a:r>
          </a:p>
          <a:p>
            <a:pPr>
              <a:lnSpc>
                <a:spcPct val="100000"/>
              </a:lnSpc>
              <a:spcBef>
                <a:spcPts val="0"/>
              </a:spcBef>
              <a:spcAft>
                <a:spcPts val="600"/>
              </a:spcAft>
            </a:pPr>
            <a:r>
              <a:rPr lang="en-US" dirty="0">
                <a:solidFill>
                  <a:srgbClr val="7030A0"/>
                </a:solidFill>
              </a:rPr>
              <a:t>Output</a:t>
            </a:r>
          </a:p>
          <a:p>
            <a:pPr lvl="1">
              <a:lnSpc>
                <a:spcPct val="100000"/>
              </a:lnSpc>
              <a:spcBef>
                <a:spcPts val="0"/>
              </a:spcBef>
              <a:spcAft>
                <a:spcPts val="600"/>
              </a:spcAft>
            </a:pPr>
            <a:r>
              <a:rPr lang="en-US" sz="2200" dirty="0"/>
              <a:t>The new value of pointer </a:t>
            </a:r>
            <a:r>
              <a:rPr lang="en-US" sz="2200" i="1" dirty="0"/>
              <a:t>free</a:t>
            </a:r>
          </a:p>
          <a:p>
            <a:pPr>
              <a:lnSpc>
                <a:spcPct val="100000"/>
              </a:lnSpc>
              <a:spcBef>
                <a:spcPts val="0"/>
              </a:spcBef>
              <a:spcAft>
                <a:spcPts val="600"/>
              </a:spcAft>
            </a:pPr>
            <a:r>
              <a:rPr lang="en-US" dirty="0">
                <a:solidFill>
                  <a:schemeClr val="accent2">
                    <a:lumMod val="75000"/>
                  </a:schemeClr>
                </a:solidFill>
              </a:rPr>
              <a:t>Data Structures used</a:t>
            </a:r>
          </a:p>
          <a:p>
            <a:pPr lvl="1">
              <a:lnSpc>
                <a:spcPct val="100000"/>
              </a:lnSpc>
              <a:spcBef>
                <a:spcPts val="0"/>
              </a:spcBef>
            </a:pPr>
            <a:r>
              <a:rPr lang="en-US" sz="2200" dirty="0"/>
              <a:t>An </a:t>
            </a:r>
            <a:r>
              <a:rPr lang="en-US" sz="2200" i="1" dirty="0"/>
              <a:t>Unscanned</a:t>
            </a:r>
            <a:r>
              <a:rPr lang="en-US" sz="2200" dirty="0"/>
              <a:t> list</a:t>
            </a:r>
          </a:p>
          <a:p>
            <a:pPr lvl="1">
              <a:lnSpc>
                <a:spcPct val="100000"/>
              </a:lnSpc>
              <a:spcBef>
                <a:spcPts val="0"/>
              </a:spcBef>
            </a:pPr>
            <a:r>
              <a:rPr lang="en-US" sz="2200" dirty="0"/>
              <a:t>Reached bits in all objects</a:t>
            </a:r>
          </a:p>
          <a:p>
            <a:pPr lvl="1">
              <a:lnSpc>
                <a:spcPct val="100000"/>
              </a:lnSpc>
              <a:spcBef>
                <a:spcPts val="0"/>
              </a:spcBef>
              <a:spcAft>
                <a:spcPts val="600"/>
              </a:spcAft>
            </a:pPr>
            <a:r>
              <a:rPr lang="en-US" sz="2200" dirty="0"/>
              <a:t>The table </a:t>
            </a:r>
            <a:r>
              <a:rPr lang="en-US" sz="2200" i="1" dirty="0">
                <a:solidFill>
                  <a:srgbClr val="92D050"/>
                </a:solidFill>
              </a:rPr>
              <a:t>NewLocation </a:t>
            </a:r>
            <a:r>
              <a:rPr lang="en-US" sz="2200" dirty="0"/>
              <a:t>to keep mappings of objects to their locations</a:t>
            </a:r>
          </a:p>
        </p:txBody>
      </p:sp>
      <p:sp>
        <p:nvSpPr>
          <p:cNvPr id="7" name="Slide Number Placeholder 6"/>
          <p:cNvSpPr>
            <a:spLocks noGrp="1"/>
          </p:cNvSpPr>
          <p:nvPr>
            <p:ph type="sldNum" sz="quarter" idx="12"/>
          </p:nvPr>
        </p:nvSpPr>
        <p:spPr/>
        <p:txBody>
          <a:bodyPr/>
          <a:lstStyle/>
          <a:p>
            <a:fld id="{EE645454-5A07-423E-8617-7239B6B66F68}" type="slidenum">
              <a:rPr lang="en-US" smtClean="0"/>
              <a:t>82</a:t>
            </a:fld>
            <a:endParaRPr lang="en-US"/>
          </a:p>
        </p:txBody>
      </p:sp>
      <p:sp>
        <p:nvSpPr>
          <p:cNvPr id="4" name="Rectangle 3"/>
          <p:cNvSpPr/>
          <p:nvPr/>
        </p:nvSpPr>
        <p:spPr>
          <a:xfrm>
            <a:off x="7842053" y="684169"/>
            <a:ext cx="1708994" cy="523220"/>
          </a:xfrm>
          <a:prstGeom prst="rect">
            <a:avLst/>
          </a:prstGeom>
        </p:spPr>
        <p:txBody>
          <a:bodyPr wrap="none">
            <a:spAutoFit/>
          </a:bodyPr>
          <a:lstStyle/>
          <a:p>
            <a:pPr algn="ctr"/>
            <a:r>
              <a:rPr lang="en-US" sz="2800" dirty="0">
                <a:solidFill>
                  <a:srgbClr val="00B0F0"/>
                </a:solidFill>
              </a:rPr>
              <a:t>3. Copying</a:t>
            </a:r>
          </a:p>
        </p:txBody>
      </p:sp>
      <p:pic>
        <p:nvPicPr>
          <p:cNvPr id="10" name="Picture 9"/>
          <p:cNvPicPr>
            <a:picLocks noChangeAspect="1"/>
          </p:cNvPicPr>
          <p:nvPr/>
        </p:nvPicPr>
        <p:blipFill rotWithShape="1">
          <a:blip r:embed="rId2"/>
          <a:srcRect t="64702"/>
          <a:stretch/>
        </p:blipFill>
        <p:spPr>
          <a:xfrm>
            <a:off x="5273667" y="1251371"/>
            <a:ext cx="6845763" cy="2850356"/>
          </a:xfrm>
          <a:prstGeom prst="rect">
            <a:avLst/>
          </a:prstGeom>
          <a:ln w="19050">
            <a:solidFill>
              <a:schemeClr val="accent4">
                <a:lumMod val="75000"/>
              </a:schemeClr>
            </a:solidFill>
            <a:prstDash val="dash"/>
          </a:ln>
        </p:spPr>
      </p:pic>
    </p:spTree>
    <p:extLst>
      <p:ext uri="{BB962C8B-B14F-4D97-AF65-F5344CB8AC3E}">
        <p14:creationId xmlns:p14="http://schemas.microsoft.com/office/powerpoint/2010/main" val="61347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Copying Garbage Collectors</a:t>
            </a:r>
          </a:p>
        </p:txBody>
      </p:sp>
      <p:sp>
        <p:nvSpPr>
          <p:cNvPr id="6" name="Content Placeholder 2"/>
          <p:cNvSpPr>
            <a:spLocks noGrp="1"/>
          </p:cNvSpPr>
          <p:nvPr>
            <p:ph idx="1"/>
          </p:nvPr>
        </p:nvSpPr>
        <p:spPr>
          <a:xfrm>
            <a:off x="457199" y="914401"/>
            <a:ext cx="11481547" cy="5728446"/>
          </a:xfrm>
          <a:ln>
            <a:noFill/>
            <a:prstDash val="dash"/>
          </a:ln>
        </p:spPr>
        <p:txBody>
          <a:bodyPr>
            <a:noAutofit/>
          </a:bodyPr>
          <a:lstStyle/>
          <a:p>
            <a:pPr>
              <a:lnSpc>
                <a:spcPct val="100000"/>
              </a:lnSpc>
              <a:spcBef>
                <a:spcPts val="0"/>
              </a:spcBef>
              <a:spcAft>
                <a:spcPts val="600"/>
              </a:spcAft>
            </a:pPr>
            <a:r>
              <a:rPr lang="en-US" dirty="0"/>
              <a:t>A </a:t>
            </a:r>
            <a:r>
              <a:rPr lang="en-US" dirty="0">
                <a:solidFill>
                  <a:srgbClr val="00B0F0"/>
                </a:solidFill>
              </a:rPr>
              <a:t>copying collector</a:t>
            </a:r>
            <a:r>
              <a:rPr lang="en-US" dirty="0"/>
              <a:t> reserves space to which the objects can move</a:t>
            </a:r>
          </a:p>
          <a:p>
            <a:pPr>
              <a:lnSpc>
                <a:spcPct val="100000"/>
              </a:lnSpc>
              <a:spcBef>
                <a:spcPts val="0"/>
              </a:spcBef>
              <a:spcAft>
                <a:spcPts val="600"/>
              </a:spcAft>
            </a:pPr>
            <a:r>
              <a:rPr lang="en-US" dirty="0">
                <a:solidFill>
                  <a:srgbClr val="7030A0"/>
                </a:solidFill>
              </a:rPr>
              <a:t>Breaks the dependency between tracing and finding free space</a:t>
            </a:r>
          </a:p>
          <a:p>
            <a:pPr>
              <a:lnSpc>
                <a:spcPct val="100000"/>
              </a:lnSpc>
              <a:spcBef>
                <a:spcPts val="0"/>
              </a:spcBef>
              <a:spcAft>
                <a:spcPts val="600"/>
              </a:spcAft>
            </a:pPr>
            <a:r>
              <a:rPr lang="en-US" dirty="0"/>
              <a:t>The memory space is partitioned into two semispaces. </a:t>
            </a:r>
          </a:p>
          <a:p>
            <a:pPr>
              <a:lnSpc>
                <a:spcPct val="100000"/>
              </a:lnSpc>
              <a:spcBef>
                <a:spcPts val="0"/>
              </a:spcBef>
              <a:spcAft>
                <a:spcPts val="600"/>
              </a:spcAft>
            </a:pPr>
            <a:r>
              <a:rPr lang="en-US" dirty="0"/>
              <a:t>The mutator allocates memory in one semispace, until it fills up</a:t>
            </a:r>
          </a:p>
          <a:p>
            <a:pPr>
              <a:lnSpc>
                <a:spcPct val="100000"/>
              </a:lnSpc>
              <a:spcBef>
                <a:spcPts val="0"/>
              </a:spcBef>
              <a:spcAft>
                <a:spcPts val="600"/>
              </a:spcAft>
            </a:pPr>
            <a:r>
              <a:rPr lang="en-US" dirty="0"/>
              <a:t>At that point the mutator is stopped and the garbage collector copies the reachable objects to the other space. </a:t>
            </a:r>
          </a:p>
          <a:p>
            <a:pPr>
              <a:lnSpc>
                <a:spcPct val="100000"/>
              </a:lnSpc>
              <a:spcBef>
                <a:spcPts val="0"/>
              </a:spcBef>
              <a:spcAft>
                <a:spcPts val="600"/>
              </a:spcAft>
            </a:pPr>
            <a:r>
              <a:rPr lang="en-US" dirty="0"/>
              <a:t>When garbage collection completes, the roles of the semispaces are reversed</a:t>
            </a:r>
          </a:p>
        </p:txBody>
      </p:sp>
      <p:sp>
        <p:nvSpPr>
          <p:cNvPr id="4" name="Slide Number Placeholder 3"/>
          <p:cNvSpPr>
            <a:spLocks noGrp="1"/>
          </p:cNvSpPr>
          <p:nvPr>
            <p:ph type="sldNum" sz="quarter" idx="12"/>
          </p:nvPr>
        </p:nvSpPr>
        <p:spPr/>
        <p:txBody>
          <a:bodyPr/>
          <a:lstStyle/>
          <a:p>
            <a:fld id="{EE645454-5A07-423E-8617-7239B6B66F68}" type="slidenum">
              <a:rPr lang="en-US" smtClean="0"/>
              <a:t>83</a:t>
            </a:fld>
            <a:endParaRPr lang="en-US"/>
          </a:p>
        </p:txBody>
      </p:sp>
    </p:spTree>
    <p:extLst>
      <p:ext uri="{BB962C8B-B14F-4D97-AF65-F5344CB8AC3E}">
        <p14:creationId xmlns:p14="http://schemas.microsoft.com/office/powerpoint/2010/main" val="3928241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down)">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Copying Garbage Collectors in Action</a:t>
            </a:r>
          </a:p>
        </p:txBody>
      </p:sp>
      <p:sp>
        <p:nvSpPr>
          <p:cNvPr id="4" name="Slide Number Placeholder 3"/>
          <p:cNvSpPr>
            <a:spLocks noGrp="1"/>
          </p:cNvSpPr>
          <p:nvPr>
            <p:ph type="sldNum" sz="quarter" idx="12"/>
          </p:nvPr>
        </p:nvSpPr>
        <p:spPr/>
        <p:txBody>
          <a:bodyPr/>
          <a:lstStyle/>
          <a:p>
            <a:fld id="{EE645454-5A07-423E-8617-7239B6B66F68}" type="slidenum">
              <a:rPr lang="en-US" smtClean="0"/>
              <a:t>84</a:t>
            </a:fld>
            <a:endParaRPr lang="en-US"/>
          </a:p>
        </p:txBody>
      </p:sp>
      <p:pic>
        <p:nvPicPr>
          <p:cNvPr id="8" name="Picture 7"/>
          <p:cNvPicPr>
            <a:picLocks noChangeAspect="1"/>
          </p:cNvPicPr>
          <p:nvPr/>
        </p:nvPicPr>
        <p:blipFill>
          <a:blip r:embed="rId2"/>
          <a:stretch>
            <a:fillRect/>
          </a:stretch>
        </p:blipFill>
        <p:spPr>
          <a:xfrm>
            <a:off x="1626813" y="2366122"/>
            <a:ext cx="9282449" cy="3779184"/>
          </a:xfrm>
          <a:prstGeom prst="rect">
            <a:avLst/>
          </a:prstGeom>
          <a:ln w="19050">
            <a:solidFill>
              <a:schemeClr val="accent4">
                <a:lumMod val="75000"/>
              </a:schemeClr>
            </a:solidFill>
            <a:prstDash val="dash"/>
          </a:ln>
        </p:spPr>
      </p:pic>
      <p:sp>
        <p:nvSpPr>
          <p:cNvPr id="9" name="TextBox 8"/>
          <p:cNvSpPr txBox="1"/>
          <p:nvPr/>
        </p:nvSpPr>
        <p:spPr>
          <a:xfrm>
            <a:off x="2083168" y="1270874"/>
            <a:ext cx="7588168" cy="461665"/>
          </a:xfrm>
          <a:prstGeom prst="rect">
            <a:avLst/>
          </a:prstGeom>
          <a:noFill/>
        </p:spPr>
        <p:txBody>
          <a:bodyPr wrap="none" rtlCol="0">
            <a:spAutoFit/>
          </a:bodyPr>
          <a:lstStyle/>
          <a:p>
            <a:pPr algn="ctr"/>
            <a:r>
              <a:rPr lang="en-US" sz="2400" i="1" dirty="0">
                <a:solidFill>
                  <a:srgbClr val="0070C0"/>
                </a:solidFill>
              </a:rPr>
              <a:t>At the very beginning when any object is yet to be allocated</a:t>
            </a:r>
          </a:p>
        </p:txBody>
      </p:sp>
      <p:sp>
        <p:nvSpPr>
          <p:cNvPr id="10" name="TextBox 9"/>
          <p:cNvSpPr txBox="1"/>
          <p:nvPr/>
        </p:nvSpPr>
        <p:spPr>
          <a:xfrm>
            <a:off x="2716306" y="2635623"/>
            <a:ext cx="2111188" cy="400110"/>
          </a:xfrm>
          <a:prstGeom prst="rect">
            <a:avLst/>
          </a:prstGeom>
          <a:noFill/>
        </p:spPr>
        <p:txBody>
          <a:bodyPr wrap="square" rtlCol="0">
            <a:spAutoFit/>
          </a:bodyPr>
          <a:lstStyle/>
          <a:p>
            <a:pPr algn="ctr"/>
            <a:r>
              <a:rPr lang="en-US" sz="2000" b="1" dirty="0">
                <a:solidFill>
                  <a:schemeClr val="accent2">
                    <a:lumMod val="50000"/>
                  </a:schemeClr>
                </a:solidFill>
              </a:rPr>
              <a:t>From Semispace</a:t>
            </a:r>
          </a:p>
        </p:txBody>
      </p:sp>
      <p:sp>
        <p:nvSpPr>
          <p:cNvPr id="11" name="TextBox 10"/>
          <p:cNvSpPr txBox="1"/>
          <p:nvPr/>
        </p:nvSpPr>
        <p:spPr>
          <a:xfrm>
            <a:off x="7555006" y="2635623"/>
            <a:ext cx="2111188" cy="400110"/>
          </a:xfrm>
          <a:prstGeom prst="rect">
            <a:avLst/>
          </a:prstGeom>
          <a:noFill/>
        </p:spPr>
        <p:txBody>
          <a:bodyPr wrap="square" rtlCol="0">
            <a:spAutoFit/>
          </a:bodyPr>
          <a:lstStyle/>
          <a:p>
            <a:pPr algn="ctr"/>
            <a:r>
              <a:rPr lang="en-US" sz="2000" b="1" dirty="0">
                <a:solidFill>
                  <a:srgbClr val="002060"/>
                </a:solidFill>
              </a:rPr>
              <a:t>To Semispace</a:t>
            </a:r>
          </a:p>
        </p:txBody>
      </p:sp>
      <p:sp>
        <p:nvSpPr>
          <p:cNvPr id="5" name="TextBox 4">
            <a:extLst>
              <a:ext uri="{FF2B5EF4-FFF2-40B4-BE49-F238E27FC236}">
                <a16:creationId xmlns:a16="http://schemas.microsoft.com/office/drawing/2014/main" id="{75601601-98DE-C333-9252-DC550E18FB5F}"/>
              </a:ext>
            </a:extLst>
          </p:cNvPr>
          <p:cNvSpPr txBox="1"/>
          <p:nvPr/>
        </p:nvSpPr>
        <p:spPr>
          <a:xfrm>
            <a:off x="-33748" y="6639338"/>
            <a:ext cx="10515599" cy="246221"/>
          </a:xfrm>
          <a:prstGeom prst="rect">
            <a:avLst/>
          </a:prstGeom>
          <a:noFill/>
        </p:spPr>
        <p:txBody>
          <a:bodyPr wrap="square">
            <a:spAutoFit/>
          </a:bodyPr>
          <a:lstStyle/>
          <a:p>
            <a:r>
              <a:rPr lang="en-US" sz="1000" dirty="0">
                <a:solidFill>
                  <a:schemeClr val="bg1">
                    <a:lumMod val="65000"/>
                  </a:schemeClr>
                </a:solidFill>
              </a:rPr>
              <a:t>Image ref: https://web.stanford.edu/class/archive/cs/cs143/cs143.1128/lectures/18/Slides18.pdf</a:t>
            </a:r>
          </a:p>
        </p:txBody>
      </p:sp>
    </p:spTree>
    <p:extLst>
      <p:ext uri="{BB962C8B-B14F-4D97-AF65-F5344CB8AC3E}">
        <p14:creationId xmlns:p14="http://schemas.microsoft.com/office/powerpoint/2010/main" val="250491323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Copying Garbage Collectors in Action</a:t>
            </a:r>
          </a:p>
        </p:txBody>
      </p:sp>
      <p:sp>
        <p:nvSpPr>
          <p:cNvPr id="4" name="Slide Number Placeholder 3"/>
          <p:cNvSpPr>
            <a:spLocks noGrp="1"/>
          </p:cNvSpPr>
          <p:nvPr>
            <p:ph type="sldNum" sz="quarter" idx="12"/>
          </p:nvPr>
        </p:nvSpPr>
        <p:spPr/>
        <p:txBody>
          <a:bodyPr/>
          <a:lstStyle/>
          <a:p>
            <a:fld id="{EE645454-5A07-423E-8617-7239B6B66F68}" type="slidenum">
              <a:rPr lang="en-US" smtClean="0"/>
              <a:t>85</a:t>
            </a:fld>
            <a:endParaRPr lang="en-US"/>
          </a:p>
        </p:txBody>
      </p:sp>
      <p:pic>
        <p:nvPicPr>
          <p:cNvPr id="7" name="Picture 6"/>
          <p:cNvPicPr>
            <a:picLocks noChangeAspect="1"/>
          </p:cNvPicPr>
          <p:nvPr/>
        </p:nvPicPr>
        <p:blipFill>
          <a:blip r:embed="rId2"/>
          <a:stretch>
            <a:fillRect/>
          </a:stretch>
        </p:blipFill>
        <p:spPr>
          <a:xfrm>
            <a:off x="2083168" y="2404874"/>
            <a:ext cx="8458431" cy="3951476"/>
          </a:xfrm>
          <a:prstGeom prst="rect">
            <a:avLst/>
          </a:prstGeom>
          <a:ln w="19050">
            <a:solidFill>
              <a:schemeClr val="accent4">
                <a:lumMod val="75000"/>
              </a:schemeClr>
            </a:solidFill>
            <a:prstDash val="dash"/>
          </a:ln>
        </p:spPr>
      </p:pic>
      <p:sp>
        <p:nvSpPr>
          <p:cNvPr id="5" name="TextBox 4"/>
          <p:cNvSpPr txBox="1"/>
          <p:nvPr/>
        </p:nvSpPr>
        <p:spPr>
          <a:xfrm>
            <a:off x="1826026" y="1164354"/>
            <a:ext cx="8972713" cy="830997"/>
          </a:xfrm>
          <a:prstGeom prst="rect">
            <a:avLst/>
          </a:prstGeom>
          <a:noFill/>
        </p:spPr>
        <p:txBody>
          <a:bodyPr wrap="none" rtlCol="0">
            <a:spAutoFit/>
          </a:bodyPr>
          <a:lstStyle/>
          <a:p>
            <a:pPr algn="ctr"/>
            <a:r>
              <a:rPr lang="en-US" sz="2400" i="1" dirty="0">
                <a:solidFill>
                  <a:srgbClr val="0070C0"/>
                </a:solidFill>
              </a:rPr>
              <a:t>From Semispace is full to a level that no more objects can be allocated.</a:t>
            </a:r>
          </a:p>
          <a:p>
            <a:pPr algn="ctr"/>
            <a:r>
              <a:rPr lang="en-US" sz="2400" i="1" dirty="0">
                <a:solidFill>
                  <a:srgbClr val="FF0000"/>
                </a:solidFill>
              </a:rPr>
              <a:t>Need to run Garbage Collector</a:t>
            </a:r>
          </a:p>
        </p:txBody>
      </p:sp>
      <p:sp>
        <p:nvSpPr>
          <p:cNvPr id="6" name="TextBox 5"/>
          <p:cNvSpPr txBox="1"/>
          <p:nvPr/>
        </p:nvSpPr>
        <p:spPr>
          <a:xfrm>
            <a:off x="2716306" y="2635623"/>
            <a:ext cx="2111188" cy="400110"/>
          </a:xfrm>
          <a:prstGeom prst="rect">
            <a:avLst/>
          </a:prstGeom>
          <a:noFill/>
        </p:spPr>
        <p:txBody>
          <a:bodyPr wrap="square" rtlCol="0">
            <a:spAutoFit/>
          </a:bodyPr>
          <a:lstStyle/>
          <a:p>
            <a:pPr algn="ctr"/>
            <a:r>
              <a:rPr lang="en-US" sz="2000" b="1" dirty="0">
                <a:solidFill>
                  <a:schemeClr val="accent2">
                    <a:lumMod val="50000"/>
                  </a:schemeClr>
                </a:solidFill>
              </a:rPr>
              <a:t>From Semispace</a:t>
            </a:r>
          </a:p>
        </p:txBody>
      </p:sp>
      <p:sp>
        <p:nvSpPr>
          <p:cNvPr id="8" name="TextBox 7"/>
          <p:cNvSpPr txBox="1"/>
          <p:nvPr/>
        </p:nvSpPr>
        <p:spPr>
          <a:xfrm>
            <a:off x="7555006" y="2635623"/>
            <a:ext cx="2111188" cy="400110"/>
          </a:xfrm>
          <a:prstGeom prst="rect">
            <a:avLst/>
          </a:prstGeom>
          <a:noFill/>
        </p:spPr>
        <p:txBody>
          <a:bodyPr wrap="square" rtlCol="0">
            <a:spAutoFit/>
          </a:bodyPr>
          <a:lstStyle/>
          <a:p>
            <a:pPr algn="ctr"/>
            <a:r>
              <a:rPr lang="en-US" sz="2000" b="1" dirty="0">
                <a:solidFill>
                  <a:srgbClr val="002060"/>
                </a:solidFill>
              </a:rPr>
              <a:t>To Semispace</a:t>
            </a:r>
          </a:p>
        </p:txBody>
      </p:sp>
      <p:sp>
        <p:nvSpPr>
          <p:cNvPr id="3" name="TextBox 2">
            <a:extLst>
              <a:ext uri="{FF2B5EF4-FFF2-40B4-BE49-F238E27FC236}">
                <a16:creationId xmlns:a16="http://schemas.microsoft.com/office/drawing/2014/main" id="{8AA8F035-2BC1-C738-040D-C95419E3F0B1}"/>
              </a:ext>
            </a:extLst>
          </p:cNvPr>
          <p:cNvSpPr txBox="1"/>
          <p:nvPr/>
        </p:nvSpPr>
        <p:spPr>
          <a:xfrm>
            <a:off x="-33748" y="6639338"/>
            <a:ext cx="10515599" cy="246221"/>
          </a:xfrm>
          <a:prstGeom prst="rect">
            <a:avLst/>
          </a:prstGeom>
          <a:noFill/>
        </p:spPr>
        <p:txBody>
          <a:bodyPr wrap="square">
            <a:spAutoFit/>
          </a:bodyPr>
          <a:lstStyle/>
          <a:p>
            <a:r>
              <a:rPr lang="en-US" sz="1000" dirty="0">
                <a:solidFill>
                  <a:schemeClr val="bg1">
                    <a:lumMod val="65000"/>
                  </a:schemeClr>
                </a:solidFill>
              </a:rPr>
              <a:t>Image ref: https://web.stanford.edu/class/archive/cs/cs143/cs143.1128/lectures/18/Slides18.pdf</a:t>
            </a:r>
          </a:p>
        </p:txBody>
      </p:sp>
    </p:spTree>
    <p:extLst>
      <p:ext uri="{BB962C8B-B14F-4D97-AF65-F5344CB8AC3E}">
        <p14:creationId xmlns:p14="http://schemas.microsoft.com/office/powerpoint/2010/main" val="40450080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Copying Garbage Collectors in Action</a:t>
            </a:r>
          </a:p>
        </p:txBody>
      </p:sp>
      <p:sp>
        <p:nvSpPr>
          <p:cNvPr id="4" name="Slide Number Placeholder 3"/>
          <p:cNvSpPr>
            <a:spLocks noGrp="1"/>
          </p:cNvSpPr>
          <p:nvPr>
            <p:ph type="sldNum" sz="quarter" idx="12"/>
          </p:nvPr>
        </p:nvSpPr>
        <p:spPr/>
        <p:txBody>
          <a:bodyPr/>
          <a:lstStyle/>
          <a:p>
            <a:fld id="{EE645454-5A07-423E-8617-7239B6B66F68}" type="slidenum">
              <a:rPr lang="en-US" smtClean="0"/>
              <a:t>86</a:t>
            </a:fld>
            <a:endParaRPr lang="en-US"/>
          </a:p>
        </p:txBody>
      </p:sp>
      <p:pic>
        <p:nvPicPr>
          <p:cNvPr id="3" name="Picture 2"/>
          <p:cNvPicPr>
            <a:picLocks noChangeAspect="1"/>
          </p:cNvPicPr>
          <p:nvPr/>
        </p:nvPicPr>
        <p:blipFill>
          <a:blip r:embed="rId2"/>
          <a:stretch>
            <a:fillRect/>
          </a:stretch>
        </p:blipFill>
        <p:spPr>
          <a:xfrm>
            <a:off x="2295244" y="1909193"/>
            <a:ext cx="8153121" cy="4447157"/>
          </a:xfrm>
          <a:prstGeom prst="rect">
            <a:avLst/>
          </a:prstGeom>
          <a:ln w="19050">
            <a:solidFill>
              <a:schemeClr val="accent4">
                <a:lumMod val="75000"/>
              </a:schemeClr>
            </a:solidFill>
            <a:prstDash val="dash"/>
          </a:ln>
        </p:spPr>
      </p:pic>
      <p:sp>
        <p:nvSpPr>
          <p:cNvPr id="6" name="TextBox 5"/>
          <p:cNvSpPr txBox="1"/>
          <p:nvPr/>
        </p:nvSpPr>
        <p:spPr>
          <a:xfrm>
            <a:off x="3154229" y="1077998"/>
            <a:ext cx="6108275" cy="461665"/>
          </a:xfrm>
          <a:prstGeom prst="rect">
            <a:avLst/>
          </a:prstGeom>
          <a:noFill/>
        </p:spPr>
        <p:txBody>
          <a:bodyPr wrap="none" rtlCol="0">
            <a:spAutoFit/>
          </a:bodyPr>
          <a:lstStyle/>
          <a:p>
            <a:pPr algn="ctr"/>
            <a:r>
              <a:rPr lang="en-US" sz="2400" i="1" dirty="0">
                <a:solidFill>
                  <a:srgbClr val="0070C0"/>
                </a:solidFill>
              </a:rPr>
              <a:t>Garbage Collector initiated. Start of mark phase</a:t>
            </a:r>
          </a:p>
        </p:txBody>
      </p:sp>
      <p:sp>
        <p:nvSpPr>
          <p:cNvPr id="8" name="TextBox 7"/>
          <p:cNvSpPr txBox="1"/>
          <p:nvPr/>
        </p:nvSpPr>
        <p:spPr>
          <a:xfrm>
            <a:off x="3133165" y="2211915"/>
            <a:ext cx="2111188" cy="400110"/>
          </a:xfrm>
          <a:prstGeom prst="rect">
            <a:avLst/>
          </a:prstGeom>
          <a:noFill/>
        </p:spPr>
        <p:txBody>
          <a:bodyPr wrap="square" rtlCol="0">
            <a:spAutoFit/>
          </a:bodyPr>
          <a:lstStyle/>
          <a:p>
            <a:pPr algn="ctr"/>
            <a:r>
              <a:rPr lang="en-US" sz="2000" b="1" dirty="0">
                <a:solidFill>
                  <a:schemeClr val="accent2">
                    <a:lumMod val="50000"/>
                  </a:schemeClr>
                </a:solidFill>
              </a:rPr>
              <a:t>From Semispace</a:t>
            </a:r>
          </a:p>
        </p:txBody>
      </p:sp>
      <p:sp>
        <p:nvSpPr>
          <p:cNvPr id="9" name="TextBox 8"/>
          <p:cNvSpPr txBox="1"/>
          <p:nvPr/>
        </p:nvSpPr>
        <p:spPr>
          <a:xfrm>
            <a:off x="7393641" y="2211915"/>
            <a:ext cx="2111188" cy="400110"/>
          </a:xfrm>
          <a:prstGeom prst="rect">
            <a:avLst/>
          </a:prstGeom>
          <a:noFill/>
        </p:spPr>
        <p:txBody>
          <a:bodyPr wrap="square" rtlCol="0">
            <a:spAutoFit/>
          </a:bodyPr>
          <a:lstStyle/>
          <a:p>
            <a:pPr algn="ctr"/>
            <a:r>
              <a:rPr lang="en-US" sz="2000" b="1" dirty="0">
                <a:solidFill>
                  <a:srgbClr val="002060"/>
                </a:solidFill>
              </a:rPr>
              <a:t>To Semispace</a:t>
            </a:r>
          </a:p>
        </p:txBody>
      </p:sp>
      <p:sp>
        <p:nvSpPr>
          <p:cNvPr id="5" name="TextBox 4">
            <a:extLst>
              <a:ext uri="{FF2B5EF4-FFF2-40B4-BE49-F238E27FC236}">
                <a16:creationId xmlns:a16="http://schemas.microsoft.com/office/drawing/2014/main" id="{2AD3B823-FBA5-830E-6F1D-00FECF57AEC8}"/>
              </a:ext>
            </a:extLst>
          </p:cNvPr>
          <p:cNvSpPr txBox="1"/>
          <p:nvPr/>
        </p:nvSpPr>
        <p:spPr>
          <a:xfrm>
            <a:off x="-33748" y="6639338"/>
            <a:ext cx="10515599" cy="246221"/>
          </a:xfrm>
          <a:prstGeom prst="rect">
            <a:avLst/>
          </a:prstGeom>
          <a:noFill/>
        </p:spPr>
        <p:txBody>
          <a:bodyPr wrap="square">
            <a:spAutoFit/>
          </a:bodyPr>
          <a:lstStyle/>
          <a:p>
            <a:r>
              <a:rPr lang="en-US" sz="1000" dirty="0">
                <a:solidFill>
                  <a:schemeClr val="bg1">
                    <a:lumMod val="65000"/>
                  </a:schemeClr>
                </a:solidFill>
              </a:rPr>
              <a:t>Image ref: https://web.stanford.edu/class/archive/cs/cs143/cs143.1128/lectures/18/Slides18.pdf</a:t>
            </a:r>
          </a:p>
        </p:txBody>
      </p:sp>
    </p:spTree>
    <p:extLst>
      <p:ext uri="{BB962C8B-B14F-4D97-AF65-F5344CB8AC3E}">
        <p14:creationId xmlns:p14="http://schemas.microsoft.com/office/powerpoint/2010/main" val="25396719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Copying Garbage Collectors in Action</a:t>
            </a:r>
          </a:p>
        </p:txBody>
      </p:sp>
      <p:sp>
        <p:nvSpPr>
          <p:cNvPr id="4" name="Slide Number Placeholder 3"/>
          <p:cNvSpPr>
            <a:spLocks noGrp="1"/>
          </p:cNvSpPr>
          <p:nvPr>
            <p:ph type="sldNum" sz="quarter" idx="12"/>
          </p:nvPr>
        </p:nvSpPr>
        <p:spPr/>
        <p:txBody>
          <a:bodyPr/>
          <a:lstStyle/>
          <a:p>
            <a:fld id="{EE645454-5A07-423E-8617-7239B6B66F68}" type="slidenum">
              <a:rPr lang="en-US" smtClean="0"/>
              <a:t>87</a:t>
            </a:fld>
            <a:endParaRPr lang="en-US"/>
          </a:p>
        </p:txBody>
      </p:sp>
      <p:pic>
        <p:nvPicPr>
          <p:cNvPr id="5" name="Picture 4"/>
          <p:cNvPicPr>
            <a:picLocks noChangeAspect="1"/>
          </p:cNvPicPr>
          <p:nvPr/>
        </p:nvPicPr>
        <p:blipFill rotWithShape="1">
          <a:blip r:embed="rId2"/>
          <a:srcRect b="10127"/>
          <a:stretch/>
        </p:blipFill>
        <p:spPr>
          <a:xfrm>
            <a:off x="2213722" y="2078037"/>
            <a:ext cx="8281992" cy="4295869"/>
          </a:xfrm>
          <a:prstGeom prst="rect">
            <a:avLst/>
          </a:prstGeom>
          <a:ln w="19050">
            <a:solidFill>
              <a:schemeClr val="accent4">
                <a:lumMod val="75000"/>
              </a:schemeClr>
            </a:solidFill>
            <a:prstDash val="dash"/>
          </a:ln>
        </p:spPr>
      </p:pic>
      <p:sp>
        <p:nvSpPr>
          <p:cNvPr id="6" name="TextBox 5"/>
          <p:cNvSpPr txBox="1"/>
          <p:nvPr/>
        </p:nvSpPr>
        <p:spPr>
          <a:xfrm>
            <a:off x="2159934" y="1014048"/>
            <a:ext cx="8435789" cy="830997"/>
          </a:xfrm>
          <a:prstGeom prst="rect">
            <a:avLst/>
          </a:prstGeom>
          <a:noFill/>
        </p:spPr>
        <p:txBody>
          <a:bodyPr wrap="square" rtlCol="0">
            <a:spAutoFit/>
          </a:bodyPr>
          <a:lstStyle/>
          <a:p>
            <a:pPr algn="ctr"/>
            <a:r>
              <a:rPr lang="en-US" sz="2400" i="1" dirty="0">
                <a:solidFill>
                  <a:srgbClr val="0070C0"/>
                </a:solidFill>
              </a:rPr>
              <a:t>GC running: reachable objects copied from ‘From’ semispace to ‘To’ semispace and all the relevant links are updated</a:t>
            </a:r>
          </a:p>
        </p:txBody>
      </p:sp>
      <p:sp>
        <p:nvSpPr>
          <p:cNvPr id="7" name="TextBox 6"/>
          <p:cNvSpPr txBox="1"/>
          <p:nvPr/>
        </p:nvSpPr>
        <p:spPr>
          <a:xfrm>
            <a:off x="2998693" y="2312895"/>
            <a:ext cx="2111188" cy="400110"/>
          </a:xfrm>
          <a:prstGeom prst="rect">
            <a:avLst/>
          </a:prstGeom>
          <a:noFill/>
        </p:spPr>
        <p:txBody>
          <a:bodyPr wrap="square" rtlCol="0">
            <a:spAutoFit/>
          </a:bodyPr>
          <a:lstStyle/>
          <a:p>
            <a:pPr algn="ctr"/>
            <a:r>
              <a:rPr lang="en-US" sz="2000" b="1" dirty="0">
                <a:solidFill>
                  <a:schemeClr val="accent2">
                    <a:lumMod val="50000"/>
                  </a:schemeClr>
                </a:solidFill>
              </a:rPr>
              <a:t>From Semispace</a:t>
            </a:r>
          </a:p>
        </p:txBody>
      </p:sp>
      <p:sp>
        <p:nvSpPr>
          <p:cNvPr id="8" name="TextBox 7"/>
          <p:cNvSpPr txBox="1"/>
          <p:nvPr/>
        </p:nvSpPr>
        <p:spPr>
          <a:xfrm>
            <a:off x="7837393" y="2312895"/>
            <a:ext cx="2111188" cy="400110"/>
          </a:xfrm>
          <a:prstGeom prst="rect">
            <a:avLst/>
          </a:prstGeom>
          <a:noFill/>
        </p:spPr>
        <p:txBody>
          <a:bodyPr wrap="square" rtlCol="0">
            <a:spAutoFit/>
          </a:bodyPr>
          <a:lstStyle/>
          <a:p>
            <a:pPr algn="ctr"/>
            <a:r>
              <a:rPr lang="en-US" sz="2000" b="1" dirty="0">
                <a:solidFill>
                  <a:srgbClr val="002060"/>
                </a:solidFill>
              </a:rPr>
              <a:t>To Semispace</a:t>
            </a:r>
          </a:p>
        </p:txBody>
      </p:sp>
      <p:sp>
        <p:nvSpPr>
          <p:cNvPr id="3" name="TextBox 2">
            <a:extLst>
              <a:ext uri="{FF2B5EF4-FFF2-40B4-BE49-F238E27FC236}">
                <a16:creationId xmlns:a16="http://schemas.microsoft.com/office/drawing/2014/main" id="{3ACC76D8-42D6-5CBD-176C-CC667D97FBDD}"/>
              </a:ext>
            </a:extLst>
          </p:cNvPr>
          <p:cNvSpPr txBox="1"/>
          <p:nvPr/>
        </p:nvSpPr>
        <p:spPr>
          <a:xfrm>
            <a:off x="-33748" y="6639338"/>
            <a:ext cx="10515599" cy="246221"/>
          </a:xfrm>
          <a:prstGeom prst="rect">
            <a:avLst/>
          </a:prstGeom>
          <a:noFill/>
        </p:spPr>
        <p:txBody>
          <a:bodyPr wrap="square">
            <a:spAutoFit/>
          </a:bodyPr>
          <a:lstStyle/>
          <a:p>
            <a:r>
              <a:rPr lang="en-US" sz="1000" dirty="0">
                <a:solidFill>
                  <a:schemeClr val="bg1">
                    <a:lumMod val="65000"/>
                  </a:schemeClr>
                </a:solidFill>
              </a:rPr>
              <a:t>Image ref: https://web.stanford.edu/class/archive/cs/cs143/cs143.1128/lectures/18/Slides18.pdf</a:t>
            </a:r>
          </a:p>
        </p:txBody>
      </p:sp>
    </p:spTree>
    <p:extLst>
      <p:ext uri="{BB962C8B-B14F-4D97-AF65-F5344CB8AC3E}">
        <p14:creationId xmlns:p14="http://schemas.microsoft.com/office/powerpoint/2010/main" val="110446160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Copying Garbage Collectors in Action</a:t>
            </a:r>
          </a:p>
        </p:txBody>
      </p:sp>
      <p:sp>
        <p:nvSpPr>
          <p:cNvPr id="4" name="Slide Number Placeholder 3"/>
          <p:cNvSpPr>
            <a:spLocks noGrp="1"/>
          </p:cNvSpPr>
          <p:nvPr>
            <p:ph type="sldNum" sz="quarter" idx="12"/>
          </p:nvPr>
        </p:nvSpPr>
        <p:spPr/>
        <p:txBody>
          <a:bodyPr/>
          <a:lstStyle/>
          <a:p>
            <a:fld id="{EE645454-5A07-423E-8617-7239B6B66F68}" type="slidenum">
              <a:rPr lang="en-US" smtClean="0"/>
              <a:t>88</a:t>
            </a:fld>
            <a:endParaRPr lang="en-US"/>
          </a:p>
        </p:txBody>
      </p:sp>
      <p:pic>
        <p:nvPicPr>
          <p:cNvPr id="3" name="Picture 2"/>
          <p:cNvPicPr>
            <a:picLocks noChangeAspect="1"/>
          </p:cNvPicPr>
          <p:nvPr/>
        </p:nvPicPr>
        <p:blipFill rotWithShape="1">
          <a:blip r:embed="rId2"/>
          <a:srcRect t="2584" b="5953"/>
          <a:stretch/>
        </p:blipFill>
        <p:spPr>
          <a:xfrm>
            <a:off x="1856783" y="1792549"/>
            <a:ext cx="8906435" cy="4719918"/>
          </a:xfrm>
          <a:prstGeom prst="rect">
            <a:avLst/>
          </a:prstGeom>
          <a:ln w="19050">
            <a:solidFill>
              <a:schemeClr val="accent4">
                <a:lumMod val="75000"/>
              </a:schemeClr>
            </a:solidFill>
            <a:prstDash val="dash"/>
          </a:ln>
        </p:spPr>
      </p:pic>
      <p:sp>
        <p:nvSpPr>
          <p:cNvPr id="8" name="TextBox 7"/>
          <p:cNvSpPr txBox="1"/>
          <p:nvPr/>
        </p:nvSpPr>
        <p:spPr>
          <a:xfrm>
            <a:off x="1555375" y="1049836"/>
            <a:ext cx="9430871" cy="461665"/>
          </a:xfrm>
          <a:prstGeom prst="rect">
            <a:avLst/>
          </a:prstGeom>
          <a:noFill/>
        </p:spPr>
        <p:txBody>
          <a:bodyPr wrap="square" rtlCol="0">
            <a:spAutoFit/>
          </a:bodyPr>
          <a:lstStyle/>
          <a:p>
            <a:pPr algn="ctr"/>
            <a:r>
              <a:rPr lang="en-US" sz="2400" i="1" dirty="0">
                <a:solidFill>
                  <a:srgbClr val="0070C0"/>
                </a:solidFill>
              </a:rPr>
              <a:t>One run of GC complete. Roles of ‘From’ and ‘To’ semispaces are reversed</a:t>
            </a:r>
          </a:p>
        </p:txBody>
      </p:sp>
      <p:sp>
        <p:nvSpPr>
          <p:cNvPr id="9" name="TextBox 8"/>
          <p:cNvSpPr txBox="1"/>
          <p:nvPr/>
        </p:nvSpPr>
        <p:spPr>
          <a:xfrm>
            <a:off x="2998693" y="2312895"/>
            <a:ext cx="2111188" cy="400110"/>
          </a:xfrm>
          <a:prstGeom prst="rect">
            <a:avLst/>
          </a:prstGeom>
          <a:noFill/>
        </p:spPr>
        <p:txBody>
          <a:bodyPr wrap="square" rtlCol="0">
            <a:spAutoFit/>
          </a:bodyPr>
          <a:lstStyle/>
          <a:p>
            <a:pPr algn="ctr"/>
            <a:r>
              <a:rPr lang="en-US" sz="2000" b="1" dirty="0">
                <a:solidFill>
                  <a:schemeClr val="accent2">
                    <a:lumMod val="50000"/>
                  </a:schemeClr>
                </a:solidFill>
              </a:rPr>
              <a:t>To Semispace</a:t>
            </a:r>
          </a:p>
        </p:txBody>
      </p:sp>
      <p:sp>
        <p:nvSpPr>
          <p:cNvPr id="10" name="TextBox 9"/>
          <p:cNvSpPr txBox="1"/>
          <p:nvPr/>
        </p:nvSpPr>
        <p:spPr>
          <a:xfrm>
            <a:off x="7837393" y="2312895"/>
            <a:ext cx="2111188" cy="400110"/>
          </a:xfrm>
          <a:prstGeom prst="rect">
            <a:avLst/>
          </a:prstGeom>
          <a:noFill/>
        </p:spPr>
        <p:txBody>
          <a:bodyPr wrap="square" rtlCol="0">
            <a:spAutoFit/>
          </a:bodyPr>
          <a:lstStyle/>
          <a:p>
            <a:pPr algn="ctr"/>
            <a:r>
              <a:rPr lang="en-US" sz="2000" b="1" dirty="0">
                <a:solidFill>
                  <a:srgbClr val="002060"/>
                </a:solidFill>
              </a:rPr>
              <a:t>From Semispace</a:t>
            </a:r>
          </a:p>
        </p:txBody>
      </p:sp>
      <p:sp>
        <p:nvSpPr>
          <p:cNvPr id="5" name="TextBox 4">
            <a:extLst>
              <a:ext uri="{FF2B5EF4-FFF2-40B4-BE49-F238E27FC236}">
                <a16:creationId xmlns:a16="http://schemas.microsoft.com/office/drawing/2014/main" id="{6DAAE635-397D-1B21-CE4B-F904792E9573}"/>
              </a:ext>
            </a:extLst>
          </p:cNvPr>
          <p:cNvSpPr txBox="1"/>
          <p:nvPr/>
        </p:nvSpPr>
        <p:spPr>
          <a:xfrm>
            <a:off x="-33748" y="6639338"/>
            <a:ext cx="10515599" cy="246221"/>
          </a:xfrm>
          <a:prstGeom prst="rect">
            <a:avLst/>
          </a:prstGeom>
          <a:noFill/>
        </p:spPr>
        <p:txBody>
          <a:bodyPr wrap="square">
            <a:spAutoFit/>
          </a:bodyPr>
          <a:lstStyle/>
          <a:p>
            <a:r>
              <a:rPr lang="en-US" sz="1000" dirty="0">
                <a:solidFill>
                  <a:schemeClr val="bg1">
                    <a:lumMod val="65000"/>
                  </a:schemeClr>
                </a:solidFill>
              </a:rPr>
              <a:t>Image ref: https://web.stanford.edu/class/archive/cs/cs143/cs143.1128/lectures/18/Slides18.pdf</a:t>
            </a:r>
          </a:p>
        </p:txBody>
      </p:sp>
    </p:spTree>
    <p:extLst>
      <p:ext uri="{BB962C8B-B14F-4D97-AF65-F5344CB8AC3E}">
        <p14:creationId xmlns:p14="http://schemas.microsoft.com/office/powerpoint/2010/main" val="64604189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236"/>
            <a:ext cx="10515600" cy="578223"/>
          </a:xfrm>
        </p:spPr>
        <p:txBody>
          <a:bodyPr vert="horz" lIns="91440" tIns="45720" rIns="91440" bIns="45720" rtlCol="0" anchor="ctr">
            <a:normAutofit fontScale="90000"/>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Cheney’s Copying Collector</a:t>
            </a:r>
          </a:p>
        </p:txBody>
      </p:sp>
      <p:sp>
        <p:nvSpPr>
          <p:cNvPr id="6" name="Content Placeholder 2"/>
          <p:cNvSpPr>
            <a:spLocks noGrp="1"/>
          </p:cNvSpPr>
          <p:nvPr>
            <p:ph idx="1"/>
          </p:nvPr>
        </p:nvSpPr>
        <p:spPr>
          <a:xfrm>
            <a:off x="179296" y="810466"/>
            <a:ext cx="5562598" cy="5728446"/>
          </a:xfrm>
          <a:ln>
            <a:solidFill>
              <a:srgbClr val="7030A0"/>
            </a:solidFill>
            <a:prstDash val="dash"/>
          </a:ln>
        </p:spPr>
        <p:txBody>
          <a:bodyPr vert="horz" lIns="91440" tIns="45720" rIns="91440" bIns="45720" rtlCol="0">
            <a:noAutofit/>
          </a:bodyPr>
          <a:lstStyle/>
          <a:p>
            <a:pPr>
              <a:lnSpc>
                <a:spcPct val="100000"/>
              </a:lnSpc>
              <a:spcBef>
                <a:spcPts val="0"/>
              </a:spcBef>
              <a:spcAft>
                <a:spcPts val="600"/>
              </a:spcAft>
            </a:pPr>
            <a:r>
              <a:rPr lang="en-US" sz="2400" dirty="0">
                <a:solidFill>
                  <a:schemeClr val="accent5">
                    <a:lumMod val="75000"/>
                  </a:schemeClr>
                </a:solidFill>
              </a:rPr>
              <a:t>Algorithm</a:t>
            </a:r>
            <a:r>
              <a:rPr lang="en-US" sz="2400" dirty="0"/>
              <a:t>:  Cheney’s Copying Collector</a:t>
            </a:r>
          </a:p>
          <a:p>
            <a:pPr>
              <a:lnSpc>
                <a:spcPct val="100000"/>
              </a:lnSpc>
              <a:spcBef>
                <a:spcPts val="0"/>
              </a:spcBef>
              <a:spcAft>
                <a:spcPts val="600"/>
              </a:spcAft>
            </a:pPr>
            <a:r>
              <a:rPr lang="en-US" sz="2400" dirty="0">
                <a:solidFill>
                  <a:schemeClr val="accent6">
                    <a:lumMod val="75000"/>
                  </a:schemeClr>
                </a:solidFill>
              </a:rPr>
              <a:t>Input</a:t>
            </a:r>
          </a:p>
          <a:p>
            <a:pPr lvl="1">
              <a:lnSpc>
                <a:spcPct val="100000"/>
              </a:lnSpc>
              <a:spcBef>
                <a:spcPts val="0"/>
              </a:spcBef>
            </a:pPr>
            <a:r>
              <a:rPr lang="en-US" dirty="0"/>
              <a:t>A root set of objects,</a:t>
            </a:r>
          </a:p>
          <a:p>
            <a:pPr lvl="1">
              <a:lnSpc>
                <a:spcPct val="100000"/>
              </a:lnSpc>
              <a:spcBef>
                <a:spcPts val="0"/>
              </a:spcBef>
            </a:pPr>
            <a:r>
              <a:rPr lang="en-US" dirty="0"/>
              <a:t>a heap consisting of two semispaces</a:t>
            </a:r>
          </a:p>
          <a:p>
            <a:pPr lvl="2">
              <a:lnSpc>
                <a:spcPct val="100000"/>
              </a:lnSpc>
              <a:spcBef>
                <a:spcPts val="0"/>
              </a:spcBef>
            </a:pPr>
            <a:r>
              <a:rPr lang="en-US" sz="2400" i="1" dirty="0">
                <a:solidFill>
                  <a:schemeClr val="accent2">
                    <a:lumMod val="75000"/>
                  </a:schemeClr>
                </a:solidFill>
              </a:rPr>
              <a:t>From</a:t>
            </a:r>
            <a:r>
              <a:rPr lang="en-US" sz="2400" dirty="0">
                <a:solidFill>
                  <a:schemeClr val="accent2">
                    <a:lumMod val="75000"/>
                  </a:schemeClr>
                </a:solidFill>
              </a:rPr>
              <a:t> </a:t>
            </a:r>
            <a:r>
              <a:rPr lang="en-US" sz="2400" dirty="0"/>
              <a:t>semispace containing allocated objects</a:t>
            </a:r>
          </a:p>
          <a:p>
            <a:pPr lvl="2">
              <a:lnSpc>
                <a:spcPct val="100000"/>
              </a:lnSpc>
              <a:spcBef>
                <a:spcPts val="0"/>
              </a:spcBef>
            </a:pPr>
            <a:r>
              <a:rPr lang="en-US" sz="2400" i="1" dirty="0">
                <a:solidFill>
                  <a:schemeClr val="accent6">
                    <a:lumMod val="75000"/>
                  </a:schemeClr>
                </a:solidFill>
              </a:rPr>
              <a:t>To</a:t>
            </a:r>
            <a:r>
              <a:rPr lang="en-US" sz="2400" dirty="0">
                <a:solidFill>
                  <a:schemeClr val="accent6">
                    <a:lumMod val="75000"/>
                  </a:schemeClr>
                </a:solidFill>
              </a:rPr>
              <a:t> </a:t>
            </a:r>
            <a:r>
              <a:rPr lang="en-US" sz="2400" dirty="0"/>
              <a:t>semispace which is free</a:t>
            </a:r>
            <a:endParaRPr lang="en-US" dirty="0"/>
          </a:p>
          <a:p>
            <a:pPr>
              <a:lnSpc>
                <a:spcPct val="100000"/>
              </a:lnSpc>
              <a:spcBef>
                <a:spcPts val="0"/>
              </a:spcBef>
              <a:spcAft>
                <a:spcPts val="600"/>
              </a:spcAft>
            </a:pPr>
            <a:r>
              <a:rPr lang="en-US" dirty="0">
                <a:solidFill>
                  <a:srgbClr val="7030A0"/>
                </a:solidFill>
              </a:rPr>
              <a:t>Output</a:t>
            </a:r>
          </a:p>
          <a:p>
            <a:pPr lvl="1">
              <a:lnSpc>
                <a:spcPct val="100000"/>
              </a:lnSpc>
              <a:spcBef>
                <a:spcPts val="0"/>
              </a:spcBef>
              <a:spcAft>
                <a:spcPts val="600"/>
              </a:spcAft>
            </a:pPr>
            <a:r>
              <a:rPr lang="en-US" i="1" dirty="0">
                <a:solidFill>
                  <a:schemeClr val="accent6">
                    <a:lumMod val="75000"/>
                  </a:schemeClr>
                </a:solidFill>
              </a:rPr>
              <a:t>To</a:t>
            </a:r>
            <a:r>
              <a:rPr lang="en-US" dirty="0">
                <a:solidFill>
                  <a:schemeClr val="accent6">
                    <a:lumMod val="75000"/>
                  </a:schemeClr>
                </a:solidFill>
              </a:rPr>
              <a:t> </a:t>
            </a:r>
            <a:r>
              <a:rPr lang="en-US" dirty="0"/>
              <a:t>semispace holds all the allocated objects</a:t>
            </a:r>
          </a:p>
          <a:p>
            <a:pPr lvl="1">
              <a:lnSpc>
                <a:spcPct val="100000"/>
              </a:lnSpc>
              <a:spcBef>
                <a:spcPts val="0"/>
              </a:spcBef>
              <a:spcAft>
                <a:spcPts val="600"/>
              </a:spcAft>
            </a:pPr>
            <a:r>
              <a:rPr lang="en-US" dirty="0"/>
              <a:t>A free pointer pointing to the start of free space in the </a:t>
            </a:r>
            <a:r>
              <a:rPr lang="en-US" i="1" dirty="0">
                <a:solidFill>
                  <a:schemeClr val="accent6">
                    <a:lumMod val="75000"/>
                  </a:schemeClr>
                </a:solidFill>
              </a:rPr>
              <a:t>To</a:t>
            </a:r>
            <a:r>
              <a:rPr lang="en-US" dirty="0">
                <a:solidFill>
                  <a:schemeClr val="accent6">
                    <a:lumMod val="75000"/>
                  </a:schemeClr>
                </a:solidFill>
              </a:rPr>
              <a:t> </a:t>
            </a:r>
            <a:r>
              <a:rPr lang="en-US" dirty="0"/>
              <a:t>semispace</a:t>
            </a:r>
          </a:p>
          <a:p>
            <a:pPr lvl="1">
              <a:lnSpc>
                <a:spcPct val="100000"/>
              </a:lnSpc>
              <a:spcBef>
                <a:spcPts val="0"/>
              </a:spcBef>
              <a:spcAft>
                <a:spcPts val="600"/>
              </a:spcAft>
            </a:pPr>
            <a:r>
              <a:rPr lang="en-US" i="1" dirty="0">
                <a:solidFill>
                  <a:schemeClr val="accent2">
                    <a:lumMod val="75000"/>
                  </a:schemeClr>
                </a:solidFill>
              </a:rPr>
              <a:t>From</a:t>
            </a:r>
            <a:r>
              <a:rPr lang="en-US" dirty="0">
                <a:solidFill>
                  <a:schemeClr val="accent2">
                    <a:lumMod val="75000"/>
                  </a:schemeClr>
                </a:solidFill>
              </a:rPr>
              <a:t> </a:t>
            </a:r>
            <a:r>
              <a:rPr lang="en-US" dirty="0"/>
              <a:t>semispace is completely free</a:t>
            </a:r>
          </a:p>
        </p:txBody>
      </p:sp>
      <p:sp>
        <p:nvSpPr>
          <p:cNvPr id="7" name="Slide Number Placeholder 6"/>
          <p:cNvSpPr>
            <a:spLocks noGrp="1"/>
          </p:cNvSpPr>
          <p:nvPr>
            <p:ph type="sldNum" sz="quarter" idx="12"/>
          </p:nvPr>
        </p:nvSpPr>
        <p:spPr/>
        <p:txBody>
          <a:bodyPr/>
          <a:lstStyle/>
          <a:p>
            <a:fld id="{EE645454-5A07-423E-8617-7239B6B66F68}" type="slidenum">
              <a:rPr lang="en-US" smtClean="0"/>
              <a:t>89</a:t>
            </a:fld>
            <a:endParaRPr lang="en-US"/>
          </a:p>
        </p:txBody>
      </p:sp>
      <p:pic>
        <p:nvPicPr>
          <p:cNvPr id="5" name="Picture 4"/>
          <p:cNvPicPr>
            <a:picLocks noChangeAspect="1"/>
          </p:cNvPicPr>
          <p:nvPr/>
        </p:nvPicPr>
        <p:blipFill>
          <a:blip r:embed="rId2"/>
          <a:stretch>
            <a:fillRect/>
          </a:stretch>
        </p:blipFill>
        <p:spPr>
          <a:xfrm>
            <a:off x="5926618" y="821112"/>
            <a:ext cx="6162288" cy="5588592"/>
          </a:xfrm>
          <a:prstGeom prst="rect">
            <a:avLst/>
          </a:prstGeom>
          <a:ln w="19050">
            <a:solidFill>
              <a:schemeClr val="accent4">
                <a:lumMod val="75000"/>
              </a:schemeClr>
            </a:solidFill>
            <a:prstDash val="dash"/>
          </a:ln>
        </p:spPr>
      </p:pic>
    </p:spTree>
    <p:extLst>
      <p:ext uri="{BB962C8B-B14F-4D97-AF65-F5344CB8AC3E}">
        <p14:creationId xmlns:p14="http://schemas.microsoft.com/office/powerpoint/2010/main" val="107127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wipe(down)">
                                      <p:cBhvr>
                                        <p:cTn id="7" dur="500"/>
                                        <p:tgtEl>
                                          <p:spTgt spid="6">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down)">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down)">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down)">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ipe(down)">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wipe(down)">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wipe(down)">
                                      <p:cBhvr>
                                        <p:cTn id="37" dur="500"/>
                                        <p:tgtEl>
                                          <p:spTgt spid="6">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wipe(down)">
                                      <p:cBhvr>
                                        <p:cTn id="42" dur="500"/>
                                        <p:tgtEl>
                                          <p:spTgt spid="6">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animEffect transition="in" filter="wipe(down)">
                                      <p:cBhvr>
                                        <p:cTn id="47" dur="500"/>
                                        <p:tgtEl>
                                          <p:spTgt spid="6">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6">
                                            <p:txEl>
                                              <p:pRg st="8" end="8"/>
                                            </p:txEl>
                                          </p:spTgt>
                                        </p:tgtEl>
                                        <p:attrNameLst>
                                          <p:attrName>style.visibility</p:attrName>
                                        </p:attrNameLst>
                                      </p:cBhvr>
                                      <p:to>
                                        <p:strVal val="visible"/>
                                      </p:to>
                                    </p:set>
                                    <p:animEffect transition="in" filter="wipe(down)">
                                      <p:cBhvr>
                                        <p:cTn id="52" dur="500"/>
                                        <p:tgtEl>
                                          <p:spTgt spid="6">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6">
                                            <p:txEl>
                                              <p:pRg st="9" end="9"/>
                                            </p:txEl>
                                          </p:spTgt>
                                        </p:tgtEl>
                                        <p:attrNameLst>
                                          <p:attrName>style.visibility</p:attrName>
                                        </p:attrNameLst>
                                      </p:cBhvr>
                                      <p:to>
                                        <p:strVal val="visible"/>
                                      </p:to>
                                    </p:set>
                                    <p:animEffect transition="in" filter="wipe(down)">
                                      <p:cBhvr>
                                        <p:cTn id="57" dur="500"/>
                                        <p:tgtEl>
                                          <p:spTgt spid="6">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fade">
                                      <p:cBhvr>
                                        <p:cTn id="62" dur="1000"/>
                                        <p:tgtEl>
                                          <p:spTgt spid="5"/>
                                        </p:tgtEl>
                                      </p:cBhvr>
                                    </p:animEffect>
                                    <p:anim calcmode="lin" valueType="num">
                                      <p:cBhvr>
                                        <p:cTn id="63" dur="1000" fill="hold"/>
                                        <p:tgtEl>
                                          <p:spTgt spid="5"/>
                                        </p:tgtEl>
                                        <p:attrNameLst>
                                          <p:attrName>ppt_x</p:attrName>
                                        </p:attrNameLst>
                                      </p:cBhvr>
                                      <p:tavLst>
                                        <p:tav tm="0">
                                          <p:val>
                                            <p:strVal val="#ppt_x"/>
                                          </p:val>
                                        </p:tav>
                                        <p:tav tm="100000">
                                          <p:val>
                                            <p:strVal val="#ppt_x"/>
                                          </p:val>
                                        </p:tav>
                                      </p:tavLst>
                                    </p:anim>
                                    <p:anim calcmode="lin" valueType="num">
                                      <p:cBhvr>
                                        <p:cTn id="6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Cheney’s Copying Collector</a:t>
            </a:r>
          </a:p>
        </p:txBody>
      </p:sp>
      <p:sp>
        <p:nvSpPr>
          <p:cNvPr id="6" name="Content Placeholder 2"/>
          <p:cNvSpPr>
            <a:spLocks noGrp="1"/>
          </p:cNvSpPr>
          <p:nvPr>
            <p:ph idx="1"/>
          </p:nvPr>
        </p:nvSpPr>
        <p:spPr>
          <a:xfrm>
            <a:off x="457199" y="914401"/>
            <a:ext cx="11481547" cy="5728446"/>
          </a:xfrm>
          <a:ln>
            <a:noFill/>
            <a:prstDash val="dash"/>
          </a:ln>
        </p:spPr>
        <p:txBody>
          <a:bodyPr>
            <a:noAutofit/>
          </a:bodyPr>
          <a:lstStyle/>
          <a:p>
            <a:pPr>
              <a:lnSpc>
                <a:spcPct val="100000"/>
              </a:lnSpc>
              <a:spcBef>
                <a:spcPts val="0"/>
              </a:spcBef>
              <a:spcAft>
                <a:spcPts val="600"/>
              </a:spcAft>
            </a:pPr>
            <a:r>
              <a:rPr lang="en-US" sz="3200" dirty="0">
                <a:solidFill>
                  <a:srgbClr val="00B0F0"/>
                </a:solidFill>
              </a:rPr>
              <a:t>Advantage</a:t>
            </a:r>
            <a:endParaRPr lang="en-US" sz="3600" dirty="0">
              <a:solidFill>
                <a:srgbClr val="00B0F0"/>
              </a:solidFill>
            </a:endParaRPr>
          </a:p>
          <a:p>
            <a:pPr lvl="1">
              <a:lnSpc>
                <a:spcPct val="100000"/>
              </a:lnSpc>
              <a:spcBef>
                <a:spcPts val="0"/>
              </a:spcBef>
              <a:spcAft>
                <a:spcPts val="600"/>
              </a:spcAft>
            </a:pPr>
            <a:r>
              <a:rPr lang="en-US" sz="2800" dirty="0"/>
              <a:t>Does not touch any of the unreachable objects. </a:t>
            </a:r>
          </a:p>
          <a:p>
            <a:pPr>
              <a:lnSpc>
                <a:spcPct val="100000"/>
              </a:lnSpc>
              <a:spcBef>
                <a:spcPts val="0"/>
              </a:spcBef>
              <a:spcAft>
                <a:spcPts val="600"/>
              </a:spcAft>
            </a:pPr>
            <a:r>
              <a:rPr lang="en-US" sz="3200" dirty="0">
                <a:solidFill>
                  <a:srgbClr val="FF0000"/>
                </a:solidFill>
              </a:rPr>
              <a:t>Disadvantage</a:t>
            </a:r>
            <a:endParaRPr lang="en-US" sz="3600" dirty="0">
              <a:solidFill>
                <a:srgbClr val="FF0000"/>
              </a:solidFill>
            </a:endParaRPr>
          </a:p>
          <a:p>
            <a:pPr lvl="1">
              <a:lnSpc>
                <a:spcPct val="100000"/>
              </a:lnSpc>
              <a:spcBef>
                <a:spcPts val="0"/>
              </a:spcBef>
              <a:spcAft>
                <a:spcPts val="600"/>
              </a:spcAft>
            </a:pPr>
            <a:r>
              <a:rPr lang="en-US" sz="2800" dirty="0"/>
              <a:t>Moving the contents of all the reachable objects expensive especially for </a:t>
            </a:r>
          </a:p>
          <a:p>
            <a:pPr lvl="2">
              <a:lnSpc>
                <a:spcPct val="100000"/>
              </a:lnSpc>
              <a:spcBef>
                <a:spcPts val="0"/>
              </a:spcBef>
              <a:spcAft>
                <a:spcPts val="600"/>
              </a:spcAft>
            </a:pPr>
            <a:r>
              <a:rPr lang="en-US" sz="2800" dirty="0"/>
              <a:t>large objects and </a:t>
            </a:r>
          </a:p>
          <a:p>
            <a:pPr lvl="2">
              <a:lnSpc>
                <a:spcPct val="100000"/>
              </a:lnSpc>
              <a:spcBef>
                <a:spcPts val="0"/>
              </a:spcBef>
              <a:spcAft>
                <a:spcPts val="600"/>
              </a:spcAft>
            </a:pPr>
            <a:r>
              <a:rPr lang="en-US" sz="2800" dirty="0"/>
              <a:t>long-lived objects that survive multiple rounds of garbage collection. </a:t>
            </a:r>
            <a:br>
              <a:rPr lang="en-US" sz="2800" dirty="0"/>
            </a:br>
            <a:br>
              <a:rPr lang="en-US" sz="2800" dirty="0"/>
            </a:br>
            <a:br>
              <a:rPr lang="en-US" sz="2800" dirty="0"/>
            </a:br>
            <a:br>
              <a:rPr lang="en-US" sz="2800" dirty="0"/>
            </a:br>
            <a:br>
              <a:rPr lang="en-US" sz="2800" dirty="0"/>
            </a:br>
            <a:r>
              <a:rPr lang="en-US" sz="2800" dirty="0"/>
              <a:t> </a:t>
            </a:r>
          </a:p>
        </p:txBody>
      </p:sp>
      <p:sp>
        <p:nvSpPr>
          <p:cNvPr id="4" name="Slide Number Placeholder 3"/>
          <p:cNvSpPr>
            <a:spLocks noGrp="1"/>
          </p:cNvSpPr>
          <p:nvPr>
            <p:ph type="sldNum" sz="quarter" idx="12"/>
          </p:nvPr>
        </p:nvSpPr>
        <p:spPr/>
        <p:txBody>
          <a:bodyPr/>
          <a:lstStyle/>
          <a:p>
            <a:fld id="{EE645454-5A07-423E-8617-7239B6B66F68}" type="slidenum">
              <a:rPr lang="en-US" smtClean="0"/>
              <a:t>90</a:t>
            </a:fld>
            <a:endParaRPr lang="en-US"/>
          </a:p>
        </p:txBody>
      </p:sp>
    </p:spTree>
    <p:extLst>
      <p:ext uri="{BB962C8B-B14F-4D97-AF65-F5344CB8AC3E}">
        <p14:creationId xmlns:p14="http://schemas.microsoft.com/office/powerpoint/2010/main" val="1827471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wipe(down)">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wipe(down)">
                                      <p:cBhvr>
                                        <p:cTn id="3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918"/>
            <a:ext cx="10515600" cy="699248"/>
          </a:xfrm>
        </p:spPr>
        <p:txBody>
          <a:bodyPr vert="horz" lIns="91440" tIns="45720" rIns="91440" bIns="45720" rtlCol="0" anchor="ctr">
            <a:normAutofit/>
          </a:bodyPr>
          <a:lstStyle/>
          <a:p>
            <a:pPr algn="ctr"/>
            <a:r>
              <a:rPr lang="en-US" dirty="0">
                <a:solidFill>
                  <a:schemeClr val="accent5">
                    <a:lumMod val="50000"/>
                  </a:schemeClr>
                </a:solidFill>
                <a:effectLst>
                  <a:outerShdw blurRad="50800" dist="38100" dir="2700000" algn="tl" rotWithShape="0">
                    <a:prstClr val="black">
                      <a:alpha val="40000"/>
                    </a:prstClr>
                  </a:outerShdw>
                </a:effectLst>
              </a:rPr>
              <a:t> Comparing Costs </a:t>
            </a:r>
          </a:p>
        </p:txBody>
      </p:sp>
      <p:sp>
        <p:nvSpPr>
          <p:cNvPr id="6" name="Content Placeholder 2"/>
          <p:cNvSpPr>
            <a:spLocks noGrp="1"/>
          </p:cNvSpPr>
          <p:nvPr>
            <p:ph idx="1"/>
          </p:nvPr>
        </p:nvSpPr>
        <p:spPr>
          <a:xfrm>
            <a:off x="242047" y="993122"/>
            <a:ext cx="11712387" cy="5728446"/>
          </a:xfrm>
          <a:ln>
            <a:noFill/>
            <a:prstDash val="dash"/>
          </a:ln>
        </p:spPr>
        <p:txBody>
          <a:bodyPr>
            <a:noAutofit/>
          </a:bodyPr>
          <a:lstStyle/>
          <a:p>
            <a:pPr>
              <a:lnSpc>
                <a:spcPct val="150000"/>
              </a:lnSpc>
              <a:spcBef>
                <a:spcPts val="600"/>
              </a:spcBef>
              <a:spcAft>
                <a:spcPts val="600"/>
              </a:spcAft>
            </a:pPr>
            <a:r>
              <a:rPr lang="en-US" dirty="0">
                <a:solidFill>
                  <a:schemeClr val="accent5">
                    <a:lumMod val="75000"/>
                  </a:schemeClr>
                </a:solidFill>
              </a:rPr>
              <a:t>Basic Mark-and-Sweep</a:t>
            </a:r>
            <a:r>
              <a:rPr lang="en-US" dirty="0"/>
              <a:t>: Proportional to the number of chunks in the heap.</a:t>
            </a:r>
          </a:p>
          <a:p>
            <a:pPr>
              <a:lnSpc>
                <a:spcPct val="150000"/>
              </a:lnSpc>
              <a:spcBef>
                <a:spcPts val="600"/>
              </a:spcBef>
              <a:spcAft>
                <a:spcPts val="600"/>
              </a:spcAft>
            </a:pPr>
            <a:r>
              <a:rPr lang="en-US" dirty="0">
                <a:solidFill>
                  <a:schemeClr val="accent6">
                    <a:lumMod val="75000"/>
                  </a:schemeClr>
                </a:solidFill>
              </a:rPr>
              <a:t>Baker's Mark-and-Sweep</a:t>
            </a:r>
            <a:r>
              <a:rPr lang="en-US" dirty="0"/>
              <a:t>: Proportional to the number of reached objects.</a:t>
            </a:r>
          </a:p>
          <a:p>
            <a:pPr>
              <a:lnSpc>
                <a:spcPct val="100000"/>
              </a:lnSpc>
              <a:spcBef>
                <a:spcPts val="600"/>
              </a:spcBef>
              <a:spcAft>
                <a:spcPts val="600"/>
              </a:spcAft>
            </a:pPr>
            <a:r>
              <a:rPr lang="en-US" dirty="0">
                <a:solidFill>
                  <a:schemeClr val="accent5">
                    <a:lumMod val="50000"/>
                  </a:schemeClr>
                </a:solidFill>
              </a:rPr>
              <a:t>Basic Mark-and-Compact</a:t>
            </a:r>
            <a:r>
              <a:rPr lang="en-US" dirty="0"/>
              <a:t>: Proportional to the number of chunks in the heap plus the total size of the reached objects</a:t>
            </a:r>
          </a:p>
          <a:p>
            <a:pPr>
              <a:lnSpc>
                <a:spcPct val="100000"/>
              </a:lnSpc>
              <a:spcBef>
                <a:spcPts val="600"/>
              </a:spcBef>
              <a:spcAft>
                <a:spcPts val="600"/>
              </a:spcAft>
            </a:pPr>
            <a:r>
              <a:rPr lang="en-US" dirty="0">
                <a:solidFill>
                  <a:schemeClr val="accent6">
                    <a:lumMod val="50000"/>
                  </a:schemeClr>
                </a:solidFill>
              </a:rPr>
              <a:t>Cheney's Copying Collector</a:t>
            </a:r>
            <a:r>
              <a:rPr lang="en-US" dirty="0"/>
              <a:t>: Proportional to the total size of the reached objects </a:t>
            </a:r>
            <a:br>
              <a:rPr lang="en-US" dirty="0"/>
            </a:br>
            <a:endParaRPr lang="en-US" sz="2400" dirty="0"/>
          </a:p>
        </p:txBody>
      </p:sp>
      <p:sp>
        <p:nvSpPr>
          <p:cNvPr id="4" name="Slide Number Placeholder 3"/>
          <p:cNvSpPr>
            <a:spLocks noGrp="1"/>
          </p:cNvSpPr>
          <p:nvPr>
            <p:ph type="sldNum" sz="quarter" idx="12"/>
          </p:nvPr>
        </p:nvSpPr>
        <p:spPr/>
        <p:txBody>
          <a:bodyPr/>
          <a:lstStyle/>
          <a:p>
            <a:fld id="{EE645454-5A07-423E-8617-7239B6B66F68}" type="slidenum">
              <a:rPr lang="en-US" smtClean="0"/>
              <a:t>91</a:t>
            </a:fld>
            <a:endParaRPr lang="en-US"/>
          </a:p>
        </p:txBody>
      </p:sp>
    </p:spTree>
    <p:extLst>
      <p:ext uri="{BB962C8B-B14F-4D97-AF65-F5344CB8AC3E}">
        <p14:creationId xmlns:p14="http://schemas.microsoft.com/office/powerpoint/2010/main" val="3780467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down)">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down)">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down)">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926"/>
            <a:ext cx="10515600" cy="1325563"/>
          </a:xfrm>
          <a:effectLst>
            <a:outerShdw blurRad="50800" dist="38100" dir="2700000" algn="tl" rotWithShape="0">
              <a:prstClr val="black">
                <a:alpha val="40000"/>
              </a:prstClr>
            </a:outerShdw>
          </a:effectLst>
        </p:spPr>
        <p:txBody>
          <a:bodyPr>
            <a:normAutofit/>
          </a:bodyPr>
          <a:lstStyle/>
          <a:p>
            <a:pPr algn="ctr"/>
            <a:r>
              <a:rPr lang="en-US" sz="5000" dirty="0">
                <a:solidFill>
                  <a:schemeClr val="tx2">
                    <a:lumMod val="50000"/>
                  </a:schemeClr>
                </a:solidFill>
                <a:latin typeface="Candara" panose="020E0502030303020204" pitchFamily="34" charset="0"/>
              </a:rPr>
              <a:t>Reference</a:t>
            </a:r>
          </a:p>
        </p:txBody>
      </p:sp>
      <p:sp>
        <p:nvSpPr>
          <p:cNvPr id="3" name="Content Placeholder 2"/>
          <p:cNvSpPr>
            <a:spLocks noGrp="1"/>
          </p:cNvSpPr>
          <p:nvPr>
            <p:ph idx="1"/>
          </p:nvPr>
        </p:nvSpPr>
        <p:spPr>
          <a:xfrm>
            <a:off x="838200" y="1349490"/>
            <a:ext cx="10515600" cy="4827474"/>
          </a:xfrm>
        </p:spPr>
        <p:txBody>
          <a:bodyPr>
            <a:normAutofit/>
          </a:bodyPr>
          <a:lstStyle/>
          <a:p>
            <a:r>
              <a:rPr lang="en-US" dirty="0">
                <a:latin typeface="Candara" pitchFamily="34" charset="0"/>
              </a:rPr>
              <a:t>Compilers: Principles, Techniques, &amp; Tools, by</a:t>
            </a:r>
          </a:p>
          <a:p>
            <a:pPr marL="457200" lvl="1" indent="0">
              <a:buNone/>
            </a:pPr>
            <a:r>
              <a:rPr lang="en-US" dirty="0">
                <a:latin typeface="Candara" pitchFamily="34" charset="0"/>
              </a:rPr>
              <a:t>Alfred B. </a:t>
            </a:r>
            <a:r>
              <a:rPr lang="en-US" dirty="0" err="1">
                <a:latin typeface="Candara" pitchFamily="34" charset="0"/>
              </a:rPr>
              <a:t>Aho</a:t>
            </a:r>
            <a:r>
              <a:rPr lang="en-US" dirty="0">
                <a:latin typeface="Candara" pitchFamily="34" charset="0"/>
              </a:rPr>
              <a:t>, Monica S. Lam, Ravi </a:t>
            </a:r>
            <a:r>
              <a:rPr lang="en-US" dirty="0" err="1">
                <a:latin typeface="Candara" pitchFamily="34" charset="0"/>
              </a:rPr>
              <a:t>Sethi</a:t>
            </a:r>
            <a:r>
              <a:rPr lang="en-US" dirty="0">
                <a:latin typeface="Candara" pitchFamily="34" charset="0"/>
              </a:rPr>
              <a:t>, Jeffrey D. Ullman</a:t>
            </a:r>
          </a:p>
          <a:p>
            <a:pPr lvl="1"/>
            <a:endParaRPr lang="en-US" dirty="0">
              <a:latin typeface="Candara" pitchFamily="34" charset="0"/>
            </a:endParaRPr>
          </a:p>
          <a:p>
            <a:pPr lvl="1"/>
            <a:r>
              <a:rPr lang="en-US" dirty="0">
                <a:latin typeface="Candara" pitchFamily="34" charset="0"/>
              </a:rPr>
              <a:t>Chapter 7</a:t>
            </a:r>
          </a:p>
          <a:p>
            <a:pPr lvl="2"/>
            <a:r>
              <a:rPr lang="en-US" dirty="0">
                <a:latin typeface="Candara" pitchFamily="34" charset="0"/>
              </a:rPr>
              <a:t>7.1</a:t>
            </a:r>
          </a:p>
          <a:p>
            <a:pPr lvl="2"/>
            <a:r>
              <a:rPr lang="en-US" dirty="0">
                <a:latin typeface="Candara" pitchFamily="34" charset="0"/>
              </a:rPr>
              <a:t>7.2.1-7.2.3</a:t>
            </a:r>
          </a:p>
          <a:p>
            <a:pPr lvl="2"/>
            <a:r>
              <a:rPr lang="en-US" dirty="0">
                <a:latin typeface="Candara" pitchFamily="34" charset="0"/>
              </a:rPr>
              <a:t>7.4</a:t>
            </a:r>
          </a:p>
          <a:p>
            <a:pPr lvl="2"/>
            <a:r>
              <a:rPr lang="en-US" dirty="0">
                <a:latin typeface="Candara" pitchFamily="34" charset="0"/>
              </a:rPr>
              <a:t>7.5</a:t>
            </a:r>
          </a:p>
          <a:p>
            <a:pPr lvl="2"/>
            <a:r>
              <a:rPr lang="en-US" dirty="0">
                <a:latin typeface="Candara" pitchFamily="34" charset="0"/>
              </a:rPr>
              <a:t>7.6</a:t>
            </a:r>
          </a:p>
        </p:txBody>
      </p:sp>
      <p:sp>
        <p:nvSpPr>
          <p:cNvPr id="11" name="Footer Placeholder 10"/>
          <p:cNvSpPr>
            <a:spLocks noGrp="1"/>
          </p:cNvSpPr>
          <p:nvPr>
            <p:ph type="ftr" sz="quarter" idx="11"/>
          </p:nvPr>
        </p:nvSpPr>
        <p:spPr/>
        <p:txBody>
          <a:bodyPr/>
          <a:lstStyle/>
          <a:p>
            <a:r>
              <a:rPr lang="en-US"/>
              <a:t>Dept of CSE, BUET</a:t>
            </a:r>
            <a:endParaRPr lang="en-US" dirty="0"/>
          </a:p>
        </p:txBody>
      </p:sp>
      <p:sp>
        <p:nvSpPr>
          <p:cNvPr id="12" name="Slide Number Placeholder 11"/>
          <p:cNvSpPr>
            <a:spLocks noGrp="1"/>
          </p:cNvSpPr>
          <p:nvPr>
            <p:ph type="sldNum" sz="quarter" idx="12"/>
          </p:nvPr>
        </p:nvSpPr>
        <p:spPr/>
        <p:txBody>
          <a:bodyPr/>
          <a:lstStyle/>
          <a:p>
            <a:fld id="{48F63A3B-78C7-47BE-AE5E-E10140E04643}" type="slidenum">
              <a:rPr lang="en-US" smtClean="0"/>
              <a:pPr/>
              <a:t>92</a:t>
            </a:fld>
            <a:endParaRPr lang="en-US" dirty="0"/>
          </a:p>
        </p:txBody>
      </p:sp>
    </p:spTree>
    <p:extLst>
      <p:ext uri="{BB962C8B-B14F-4D97-AF65-F5344CB8AC3E}">
        <p14:creationId xmlns:p14="http://schemas.microsoft.com/office/powerpoint/2010/main" val="300714104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4455" y="2498722"/>
            <a:ext cx="10515600" cy="1228151"/>
          </a:xfrm>
          <a:effectLst>
            <a:outerShdw blurRad="50800" dist="38100" dir="2700000" algn="tl" rotWithShape="0">
              <a:prstClr val="black">
                <a:alpha val="40000"/>
              </a:prstClr>
            </a:outerShdw>
          </a:effectLst>
        </p:spPr>
        <p:txBody>
          <a:bodyPr>
            <a:normAutofit/>
          </a:bodyPr>
          <a:lstStyle/>
          <a:p>
            <a:pPr algn="ctr"/>
            <a:r>
              <a:rPr lang="en-US" sz="7200" dirty="0">
                <a:solidFill>
                  <a:schemeClr val="tx2">
                    <a:lumMod val="50000"/>
                  </a:schemeClr>
                </a:solidFill>
                <a:latin typeface="Candara" panose="020E0502030303020204" pitchFamily="34" charset="0"/>
              </a:rPr>
              <a:t>Thank You!</a:t>
            </a:r>
          </a:p>
        </p:txBody>
      </p:sp>
    </p:spTree>
    <p:extLst>
      <p:ext uri="{BB962C8B-B14F-4D97-AF65-F5344CB8AC3E}">
        <p14:creationId xmlns:p14="http://schemas.microsoft.com/office/powerpoint/2010/main" val="18392054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31796</TotalTime>
  <Words>6970</Words>
  <Application>Microsoft Office PowerPoint</Application>
  <PresentationFormat>Widescreen</PresentationFormat>
  <Paragraphs>940</Paragraphs>
  <Slides>93</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93</vt:i4>
      </vt:variant>
    </vt:vector>
  </HeadingPairs>
  <TitlesOfParts>
    <vt:vector size="103" baseType="lpstr">
      <vt:lpstr>Arial</vt:lpstr>
      <vt:lpstr>Calibri</vt:lpstr>
      <vt:lpstr>Calibri Light</vt:lpstr>
      <vt:lpstr>Cambria Math</vt:lpstr>
      <vt:lpstr>Candara</vt:lpstr>
      <vt:lpstr>Courier New</vt:lpstr>
      <vt:lpstr>DejaVuSerif</vt:lpstr>
      <vt:lpstr>Times New Roman</vt:lpstr>
      <vt:lpstr>Wingdings</vt:lpstr>
      <vt:lpstr>Office Theme</vt:lpstr>
      <vt:lpstr>Run-Time Environments</vt:lpstr>
      <vt:lpstr>Run-Time Environments</vt:lpstr>
      <vt:lpstr>Run-Time Environments</vt:lpstr>
      <vt:lpstr>Run-Time Environments</vt:lpstr>
      <vt:lpstr>Storage Organization</vt:lpstr>
      <vt:lpstr>Storage Organization</vt:lpstr>
      <vt:lpstr>Run-Time Environments</vt:lpstr>
      <vt:lpstr>Static vs Dynamic Storage Allocation</vt:lpstr>
      <vt:lpstr>Stack Allocation</vt:lpstr>
      <vt:lpstr>Nesting of Procedure</vt:lpstr>
      <vt:lpstr>Nested Procedure Call</vt:lpstr>
      <vt:lpstr>Representing Procedure Call</vt:lpstr>
      <vt:lpstr>Activation Tree</vt:lpstr>
      <vt:lpstr>Activation Tree</vt:lpstr>
      <vt:lpstr>Activation Tree</vt:lpstr>
      <vt:lpstr>Control Stack</vt:lpstr>
      <vt:lpstr>Activation Records (AR)</vt:lpstr>
      <vt:lpstr>Activation Records (AR)</vt:lpstr>
      <vt:lpstr>Calling and Return Sequence</vt:lpstr>
      <vt:lpstr>Calling Sequence</vt:lpstr>
      <vt:lpstr>Principles of Designing Calling Sequences</vt:lpstr>
      <vt:lpstr>Principles of Designing Calling Sequences</vt:lpstr>
      <vt:lpstr>Principles of Designing Calling Sequences</vt:lpstr>
      <vt:lpstr>Example of Task Division Between Caller and Callee</vt:lpstr>
      <vt:lpstr>Example of Task Division Between Caller and Callee</vt:lpstr>
      <vt:lpstr>Example of Return Sequence</vt:lpstr>
      <vt:lpstr>Example of Return Sequence</vt:lpstr>
      <vt:lpstr>Procedures Not Nesting in Time </vt:lpstr>
      <vt:lpstr>Runtime Memory Management</vt:lpstr>
      <vt:lpstr>Heap Memory Management</vt:lpstr>
      <vt:lpstr>Memory Manager</vt:lpstr>
      <vt:lpstr>Memory Manager (2)</vt:lpstr>
      <vt:lpstr>Memory Manager (3)</vt:lpstr>
      <vt:lpstr>Locality in Programs</vt:lpstr>
      <vt:lpstr>Heap Fragmentation</vt:lpstr>
      <vt:lpstr>Heap Fragmentation</vt:lpstr>
      <vt:lpstr>Heap Allocation Strategies </vt:lpstr>
      <vt:lpstr>Bin-based Heap</vt:lpstr>
      <vt:lpstr>Bin-based Heap</vt:lpstr>
      <vt:lpstr>Heap Allocation Strategies </vt:lpstr>
      <vt:lpstr>Managing and Coalescing Free Space </vt:lpstr>
      <vt:lpstr>Boundary Tags and Doubly Linked List </vt:lpstr>
      <vt:lpstr>Manual Memory Management</vt:lpstr>
      <vt:lpstr>Automatic Memory Management</vt:lpstr>
      <vt:lpstr>Preliminaries </vt:lpstr>
      <vt:lpstr>Preliminaries </vt:lpstr>
      <vt:lpstr>A Basic Requirement: Type Safety</vt:lpstr>
      <vt:lpstr>A Basic Requirement: Type Safety</vt:lpstr>
      <vt:lpstr>GC Performance Metrics </vt:lpstr>
      <vt:lpstr>Performance Metrics </vt:lpstr>
      <vt:lpstr>Performance Metrics </vt:lpstr>
      <vt:lpstr>Reachability </vt:lpstr>
      <vt:lpstr> Reachability (2)</vt:lpstr>
      <vt:lpstr>Reachability Changing Operations</vt:lpstr>
      <vt:lpstr>PowerPoint Presentation</vt:lpstr>
      <vt:lpstr> Finding Unreachable Objects</vt:lpstr>
      <vt:lpstr> Finding Unreachable Objects (2)</vt:lpstr>
      <vt:lpstr> Reference Counting Garbage Collectors</vt:lpstr>
      <vt:lpstr> Tracking Reference Count</vt:lpstr>
      <vt:lpstr> Reference Counting in Action</vt:lpstr>
      <vt:lpstr> Problem with Reference Counting</vt:lpstr>
      <vt:lpstr> Reference Cycles</vt:lpstr>
      <vt:lpstr> Analysis of Reference Counting</vt:lpstr>
      <vt:lpstr> Trace-Based Collection</vt:lpstr>
      <vt:lpstr>Basic Abstraction</vt:lpstr>
      <vt:lpstr>Memory States in a Garbage Collection Cycle</vt:lpstr>
      <vt:lpstr>Memory States in a Garbage Collection Cycle</vt:lpstr>
      <vt:lpstr>Memory States in a Garbage Collection Cycle</vt:lpstr>
      <vt:lpstr>Memory States in a Garbage Collection Cycle</vt:lpstr>
      <vt:lpstr>Memory States in a Garbage Collection Cycle</vt:lpstr>
      <vt:lpstr> Basic Mark-and-Sweep Collector</vt:lpstr>
      <vt:lpstr>Mark-and-Sweep in Action</vt:lpstr>
      <vt:lpstr>Mark-and-Sweep Garbage Collector</vt:lpstr>
      <vt:lpstr> Optimizing Mark-and-Sweep Collector</vt:lpstr>
      <vt:lpstr>Baker’s Mark-and-Sweep in Action</vt:lpstr>
      <vt:lpstr>Baker’s Mark-and-Sweep Collector</vt:lpstr>
      <vt:lpstr> Relocating Garbage Collectors</vt:lpstr>
      <vt:lpstr> Relocating Garbage Collectors</vt:lpstr>
      <vt:lpstr> Mark-and-Compact Garbage Collectors</vt:lpstr>
      <vt:lpstr> Mark-and-Compact Garbage Collectors</vt:lpstr>
      <vt:lpstr> A Mark-and-Compact Garbage Collector</vt:lpstr>
      <vt:lpstr> A Mark-and-Compact Garbage Collector</vt:lpstr>
      <vt:lpstr> Copying Garbage Collectors</vt:lpstr>
      <vt:lpstr> Copying Garbage Collectors in Action</vt:lpstr>
      <vt:lpstr> Copying Garbage Collectors in Action</vt:lpstr>
      <vt:lpstr> Copying Garbage Collectors in Action</vt:lpstr>
      <vt:lpstr> Copying Garbage Collectors in Action</vt:lpstr>
      <vt:lpstr> Copying Garbage Collectors in Action</vt:lpstr>
      <vt:lpstr> Cheney’s Copying Collector</vt:lpstr>
      <vt:lpstr> Cheney’s Copying Collector</vt:lpstr>
      <vt:lpstr> Comparing Costs </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 Time Environment</dc:title>
  <dc:creator>TAMAL</dc:creator>
  <cp:lastModifiedBy>khaled mahmud</cp:lastModifiedBy>
  <cp:revision>128</cp:revision>
  <dcterms:created xsi:type="dcterms:W3CDTF">2017-05-25T09:51:30Z</dcterms:created>
  <dcterms:modified xsi:type="dcterms:W3CDTF">2023-03-03T14:03:52Z</dcterms:modified>
</cp:coreProperties>
</file>