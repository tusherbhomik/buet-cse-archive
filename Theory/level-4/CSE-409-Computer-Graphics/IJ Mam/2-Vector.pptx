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oleObject" PartName="/ppt/embeddings/oleObject3.bin"/>
  <Override ContentType="application/vnd.openxmlformats-officedocument.oleObject" PartName="/ppt/embeddings/oleObject4.bin"/>
  <Override ContentType="application/vnd.openxmlformats-officedocument.oleObject" PartName="/ppt/embeddings/oleObject2.bin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6858000" cx="9144000"/>
  <p:notesSz cx="6781800" cy="9918700"/>
  <p:embeddedFontLst>
    <p:embeddedFont>
      <p:font typeface="Tahoma"/>
      <p:regular r:id="rId42"/>
      <p:bold r:id="rId43"/>
    </p:embeddedFont>
    <p:embeddedFont>
      <p:font typeface="Noto Sans Symbols"/>
      <p:regular r:id="rId44"/>
      <p:bold r:id="rId45"/>
    </p:embeddedFont>
    <p:embeddedFont>
      <p:font typeface="Arial Black"/>
      <p:regular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47" roundtripDataSignature="AMtx7miBWg0W79QhIoZXQo1lIYKkGscQ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font" Target="fonts/Tahoma-regular.fntdata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font" Target="fonts/NotoSansSymbols-regular.fntdata"/><Relationship Id="rId21" Type="http://schemas.openxmlformats.org/officeDocument/2006/relationships/slide" Target="slides/slide15.xml"/><Relationship Id="rId43" Type="http://schemas.openxmlformats.org/officeDocument/2006/relationships/font" Target="fonts/Tahoma-bold.fntdata"/><Relationship Id="rId24" Type="http://schemas.openxmlformats.org/officeDocument/2006/relationships/slide" Target="slides/slide18.xml"/><Relationship Id="rId46" Type="http://schemas.openxmlformats.org/officeDocument/2006/relationships/font" Target="fonts/ArialBlack-regular.fntdata"/><Relationship Id="rId23" Type="http://schemas.openxmlformats.org/officeDocument/2006/relationships/slide" Target="slides/slide17.xml"/><Relationship Id="rId45" Type="http://schemas.openxmlformats.org/officeDocument/2006/relationships/font" Target="fonts/NotoSansSymbol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customschemas.google.com/relationships/presentationmetadata" Target="meta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6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3.v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6781800" cy="9918700"/>
          </a:xfrm>
          <a:prstGeom prst="roundRect">
            <a:avLst>
              <a:gd fmla="val 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4;n"/>
          <p:cNvSpPr txBox="1"/>
          <p:nvPr/>
        </p:nvSpPr>
        <p:spPr>
          <a:xfrm>
            <a:off x="0" y="0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5;n"/>
          <p:cNvSpPr txBox="1"/>
          <p:nvPr/>
        </p:nvSpPr>
        <p:spPr>
          <a:xfrm>
            <a:off x="3841750" y="0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6;n"/>
          <p:cNvSpPr/>
          <p:nvPr>
            <p:ph idx="2" type="sldImg"/>
          </p:nvPr>
        </p:nvSpPr>
        <p:spPr>
          <a:xfrm>
            <a:off x="911225" y="744538"/>
            <a:ext cx="4957763" cy="371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" name="Google Shape;7;n"/>
          <p:cNvSpPr txBox="1"/>
          <p:nvPr>
            <p:ph idx="1" type="body"/>
          </p:nvPr>
        </p:nvSpPr>
        <p:spPr>
          <a:xfrm>
            <a:off x="677863" y="4711700"/>
            <a:ext cx="5424487" cy="446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/>
        </p:nvSpPr>
        <p:spPr>
          <a:xfrm>
            <a:off x="0" y="9421813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n"/>
          <p:cNvSpPr txBox="1"/>
          <p:nvPr>
            <p:ph idx="12" type="sldNum"/>
          </p:nvPr>
        </p:nvSpPr>
        <p:spPr>
          <a:xfrm>
            <a:off x="3841750" y="9421813"/>
            <a:ext cx="29368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:notes"/>
          <p:cNvSpPr txBox="1"/>
          <p:nvPr>
            <p:ph idx="12" type="sldNum"/>
          </p:nvPr>
        </p:nvSpPr>
        <p:spPr>
          <a:xfrm>
            <a:off x="3841750" y="9421813"/>
            <a:ext cx="29368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1:notes"/>
          <p:cNvSpPr/>
          <p:nvPr>
            <p:ph idx="2" type="sldImg"/>
          </p:nvPr>
        </p:nvSpPr>
        <p:spPr>
          <a:xfrm>
            <a:off x="911225" y="744538"/>
            <a:ext cx="4959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3" name="Google Shape;153;p1:notes"/>
          <p:cNvSpPr txBox="1"/>
          <p:nvPr>
            <p:ph idx="1" type="body"/>
          </p:nvPr>
        </p:nvSpPr>
        <p:spPr>
          <a:xfrm>
            <a:off x="677863" y="4711700"/>
            <a:ext cx="5426075" cy="446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:notes"/>
          <p:cNvSpPr txBox="1"/>
          <p:nvPr>
            <p:ph idx="12" type="sldNum"/>
          </p:nvPr>
        </p:nvSpPr>
        <p:spPr>
          <a:xfrm>
            <a:off x="3841750" y="9421813"/>
            <a:ext cx="29368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2:notes"/>
          <p:cNvSpPr/>
          <p:nvPr>
            <p:ph idx="2" type="sldImg"/>
          </p:nvPr>
        </p:nvSpPr>
        <p:spPr>
          <a:xfrm>
            <a:off x="911225" y="744538"/>
            <a:ext cx="4959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0" name="Google Shape;160;p2:notes"/>
          <p:cNvSpPr txBox="1"/>
          <p:nvPr>
            <p:ph idx="1" type="body"/>
          </p:nvPr>
        </p:nvSpPr>
        <p:spPr>
          <a:xfrm>
            <a:off x="677863" y="4711700"/>
            <a:ext cx="5426075" cy="446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:notes"/>
          <p:cNvSpPr txBox="1"/>
          <p:nvPr>
            <p:ph idx="12" type="sldNum"/>
          </p:nvPr>
        </p:nvSpPr>
        <p:spPr>
          <a:xfrm>
            <a:off x="3841750" y="9421813"/>
            <a:ext cx="29368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3:notes"/>
          <p:cNvSpPr/>
          <p:nvPr>
            <p:ph idx="2" type="sldImg"/>
          </p:nvPr>
        </p:nvSpPr>
        <p:spPr>
          <a:xfrm>
            <a:off x="911225" y="744538"/>
            <a:ext cx="4959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8" name="Google Shape;168;p3:notes"/>
          <p:cNvSpPr txBox="1"/>
          <p:nvPr>
            <p:ph idx="1" type="body"/>
          </p:nvPr>
        </p:nvSpPr>
        <p:spPr>
          <a:xfrm>
            <a:off x="677863" y="4711700"/>
            <a:ext cx="5426075" cy="446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Vectors are "directed quantity." For example: 5 steps in the east.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:notes"/>
          <p:cNvSpPr txBox="1"/>
          <p:nvPr>
            <p:ph idx="12" type="sldNum"/>
          </p:nvPr>
        </p:nvSpPr>
        <p:spPr>
          <a:xfrm>
            <a:off x="3841750" y="9421813"/>
            <a:ext cx="29368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4:notes"/>
          <p:cNvSpPr/>
          <p:nvPr>
            <p:ph idx="2" type="sldImg"/>
          </p:nvPr>
        </p:nvSpPr>
        <p:spPr>
          <a:xfrm>
            <a:off x="911225" y="744538"/>
            <a:ext cx="4959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96" name="Google Shape;196;p4:notes"/>
          <p:cNvSpPr txBox="1"/>
          <p:nvPr>
            <p:ph idx="1" type="body"/>
          </p:nvPr>
        </p:nvSpPr>
        <p:spPr>
          <a:xfrm>
            <a:off x="677863" y="4711700"/>
            <a:ext cx="5426075" cy="446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:notes"/>
          <p:cNvSpPr txBox="1"/>
          <p:nvPr>
            <p:ph idx="12" type="sldNum"/>
          </p:nvPr>
        </p:nvSpPr>
        <p:spPr>
          <a:xfrm>
            <a:off x="3841750" y="9421813"/>
            <a:ext cx="29368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5:notes"/>
          <p:cNvSpPr/>
          <p:nvPr>
            <p:ph idx="2" type="sldImg"/>
          </p:nvPr>
        </p:nvSpPr>
        <p:spPr>
          <a:xfrm>
            <a:off x="911225" y="744538"/>
            <a:ext cx="4959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07" name="Google Shape;207;p5:notes"/>
          <p:cNvSpPr txBox="1"/>
          <p:nvPr>
            <p:ph idx="1" type="body"/>
          </p:nvPr>
        </p:nvSpPr>
        <p:spPr>
          <a:xfrm>
            <a:off x="677863" y="4711700"/>
            <a:ext cx="5426075" cy="446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6:notes"/>
          <p:cNvSpPr txBox="1"/>
          <p:nvPr>
            <p:ph idx="12" type="sldNum"/>
          </p:nvPr>
        </p:nvSpPr>
        <p:spPr>
          <a:xfrm>
            <a:off x="3841750" y="9421813"/>
            <a:ext cx="29368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p6:notes"/>
          <p:cNvSpPr/>
          <p:nvPr>
            <p:ph idx="2" type="sldImg"/>
          </p:nvPr>
        </p:nvSpPr>
        <p:spPr>
          <a:xfrm>
            <a:off x="911225" y="744538"/>
            <a:ext cx="4959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38" name="Google Shape;238;p6:notes"/>
          <p:cNvSpPr txBox="1"/>
          <p:nvPr>
            <p:ph idx="1" type="body"/>
          </p:nvPr>
        </p:nvSpPr>
        <p:spPr>
          <a:xfrm>
            <a:off x="677863" y="4711700"/>
            <a:ext cx="5426075" cy="446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7:notes"/>
          <p:cNvSpPr txBox="1"/>
          <p:nvPr>
            <p:ph idx="12" type="sldNum"/>
          </p:nvPr>
        </p:nvSpPr>
        <p:spPr>
          <a:xfrm>
            <a:off x="3841750" y="9421813"/>
            <a:ext cx="29368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p7:notes"/>
          <p:cNvSpPr/>
          <p:nvPr>
            <p:ph idx="2" type="sldImg"/>
          </p:nvPr>
        </p:nvSpPr>
        <p:spPr>
          <a:xfrm>
            <a:off x="911225" y="744538"/>
            <a:ext cx="4959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62" name="Google Shape;262;p7:notes"/>
          <p:cNvSpPr txBox="1"/>
          <p:nvPr>
            <p:ph idx="1" type="body"/>
          </p:nvPr>
        </p:nvSpPr>
        <p:spPr>
          <a:xfrm>
            <a:off x="677863" y="4711700"/>
            <a:ext cx="5426075" cy="446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8:notes"/>
          <p:cNvSpPr txBox="1"/>
          <p:nvPr>
            <p:ph idx="12" type="sldNum"/>
          </p:nvPr>
        </p:nvSpPr>
        <p:spPr>
          <a:xfrm>
            <a:off x="3841750" y="9421813"/>
            <a:ext cx="29368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8:notes"/>
          <p:cNvSpPr/>
          <p:nvPr>
            <p:ph idx="2" type="sldImg"/>
          </p:nvPr>
        </p:nvSpPr>
        <p:spPr>
          <a:xfrm>
            <a:off x="911225" y="744538"/>
            <a:ext cx="4959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79" name="Google Shape;279;p8:notes"/>
          <p:cNvSpPr txBox="1"/>
          <p:nvPr>
            <p:ph idx="1" type="body"/>
          </p:nvPr>
        </p:nvSpPr>
        <p:spPr>
          <a:xfrm>
            <a:off x="677863" y="4711700"/>
            <a:ext cx="5426075" cy="446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dot product is literally measuring </a:t>
            </a:r>
            <a:r>
              <a:rPr b="1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aligned two vectors are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they point the same way → dot product is big and positive.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they’re perpendicular → dot product is zero.</a:t>
            </a:r>
            <a:b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they point opposite → dot product is negative.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:notes"/>
          <p:cNvSpPr txBox="1"/>
          <p:nvPr>
            <p:ph idx="12" type="sldNum"/>
          </p:nvPr>
        </p:nvSpPr>
        <p:spPr>
          <a:xfrm>
            <a:off x="3841750" y="9421813"/>
            <a:ext cx="29368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" name="Google Shape;287;p9:notes"/>
          <p:cNvSpPr/>
          <p:nvPr>
            <p:ph idx="2" type="sldImg"/>
          </p:nvPr>
        </p:nvSpPr>
        <p:spPr>
          <a:xfrm>
            <a:off x="911225" y="744538"/>
            <a:ext cx="4959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88" name="Google Shape;288;p9:notes"/>
          <p:cNvSpPr txBox="1"/>
          <p:nvPr>
            <p:ph idx="1" type="body"/>
          </p:nvPr>
        </p:nvSpPr>
        <p:spPr>
          <a:xfrm>
            <a:off x="677863" y="4711700"/>
            <a:ext cx="5426075" cy="446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0:notes"/>
          <p:cNvSpPr txBox="1"/>
          <p:nvPr>
            <p:ph idx="12" type="sldNum"/>
          </p:nvPr>
        </p:nvSpPr>
        <p:spPr>
          <a:xfrm>
            <a:off x="3841750" y="9421813"/>
            <a:ext cx="29368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2" name="Google Shape;312;p10:notes"/>
          <p:cNvSpPr/>
          <p:nvPr>
            <p:ph idx="2" type="sldImg"/>
          </p:nvPr>
        </p:nvSpPr>
        <p:spPr>
          <a:xfrm>
            <a:off x="911225" y="744538"/>
            <a:ext cx="4959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13" name="Google Shape;313;p10:notes"/>
          <p:cNvSpPr txBox="1"/>
          <p:nvPr>
            <p:ph idx="1" type="body"/>
          </p:nvPr>
        </p:nvSpPr>
        <p:spPr>
          <a:xfrm>
            <a:off x="677863" y="4711700"/>
            <a:ext cx="5426075" cy="446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1:notes"/>
          <p:cNvSpPr txBox="1"/>
          <p:nvPr>
            <p:ph idx="12" type="sldNum"/>
          </p:nvPr>
        </p:nvSpPr>
        <p:spPr>
          <a:xfrm>
            <a:off x="3841750" y="9421813"/>
            <a:ext cx="29368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9" name="Google Shape;339;p11:notes"/>
          <p:cNvSpPr/>
          <p:nvPr>
            <p:ph idx="2" type="sldImg"/>
          </p:nvPr>
        </p:nvSpPr>
        <p:spPr>
          <a:xfrm>
            <a:off x="911225" y="744538"/>
            <a:ext cx="4959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40" name="Google Shape;340;p11:notes"/>
          <p:cNvSpPr txBox="1"/>
          <p:nvPr>
            <p:ph idx="1" type="body"/>
          </p:nvPr>
        </p:nvSpPr>
        <p:spPr>
          <a:xfrm>
            <a:off x="677863" y="4711700"/>
            <a:ext cx="5426075" cy="446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2:notes"/>
          <p:cNvSpPr txBox="1"/>
          <p:nvPr>
            <p:ph idx="12" type="sldNum"/>
          </p:nvPr>
        </p:nvSpPr>
        <p:spPr>
          <a:xfrm>
            <a:off x="3841750" y="9421813"/>
            <a:ext cx="29368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" name="Google Shape;361;p12:notes"/>
          <p:cNvSpPr/>
          <p:nvPr>
            <p:ph idx="2" type="sldImg"/>
          </p:nvPr>
        </p:nvSpPr>
        <p:spPr>
          <a:xfrm>
            <a:off x="911225" y="744538"/>
            <a:ext cx="4959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62" name="Google Shape;362;p12:notes"/>
          <p:cNvSpPr txBox="1"/>
          <p:nvPr>
            <p:ph idx="1" type="body"/>
          </p:nvPr>
        </p:nvSpPr>
        <p:spPr>
          <a:xfrm>
            <a:off x="677863" y="4711700"/>
            <a:ext cx="5426075" cy="446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3:notes"/>
          <p:cNvSpPr txBox="1"/>
          <p:nvPr>
            <p:ph idx="12" type="sldNum"/>
          </p:nvPr>
        </p:nvSpPr>
        <p:spPr>
          <a:xfrm>
            <a:off x="3841750" y="9421813"/>
            <a:ext cx="29368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6" name="Google Shape;386;p13:notes"/>
          <p:cNvSpPr/>
          <p:nvPr>
            <p:ph idx="2" type="sldImg"/>
          </p:nvPr>
        </p:nvSpPr>
        <p:spPr>
          <a:xfrm>
            <a:off x="911225" y="744538"/>
            <a:ext cx="4959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87" name="Google Shape;387;p13:notes"/>
          <p:cNvSpPr txBox="1"/>
          <p:nvPr>
            <p:ph idx="1" type="body"/>
          </p:nvPr>
        </p:nvSpPr>
        <p:spPr>
          <a:xfrm>
            <a:off x="677863" y="4711700"/>
            <a:ext cx="5426075" cy="446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4:notes"/>
          <p:cNvSpPr txBox="1"/>
          <p:nvPr>
            <p:ph idx="12" type="sldNum"/>
          </p:nvPr>
        </p:nvSpPr>
        <p:spPr>
          <a:xfrm>
            <a:off x="3841750" y="9421813"/>
            <a:ext cx="29368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9" name="Google Shape;409;p14:notes"/>
          <p:cNvSpPr/>
          <p:nvPr>
            <p:ph idx="2" type="sldImg"/>
          </p:nvPr>
        </p:nvSpPr>
        <p:spPr>
          <a:xfrm>
            <a:off x="911225" y="744538"/>
            <a:ext cx="4959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10" name="Google Shape;410;p14:notes"/>
          <p:cNvSpPr txBox="1"/>
          <p:nvPr>
            <p:ph idx="1" type="body"/>
          </p:nvPr>
        </p:nvSpPr>
        <p:spPr>
          <a:xfrm>
            <a:off x="677863" y="4711700"/>
            <a:ext cx="5426075" cy="446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5:notes"/>
          <p:cNvSpPr txBox="1"/>
          <p:nvPr>
            <p:ph idx="12" type="sldNum"/>
          </p:nvPr>
        </p:nvSpPr>
        <p:spPr>
          <a:xfrm>
            <a:off x="3841750" y="9421813"/>
            <a:ext cx="29368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7" name="Google Shape;427;p15:notes"/>
          <p:cNvSpPr/>
          <p:nvPr>
            <p:ph idx="2" type="sldImg"/>
          </p:nvPr>
        </p:nvSpPr>
        <p:spPr>
          <a:xfrm>
            <a:off x="911225" y="744538"/>
            <a:ext cx="4959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28" name="Google Shape;428;p15:notes"/>
          <p:cNvSpPr txBox="1"/>
          <p:nvPr>
            <p:ph idx="1" type="body"/>
          </p:nvPr>
        </p:nvSpPr>
        <p:spPr>
          <a:xfrm>
            <a:off x="677863" y="4711700"/>
            <a:ext cx="5426075" cy="446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 = a - m , e = r +m, a-m = r+m, r = a -2m,  m is the horizontal component of a vector. And n is the  negative unit vector along m.  m= acosA*(-n) = ((-a).n) (-</a:t>
            </a:r>
            <a:r>
              <a:rPr b="1" lang="en-US"/>
              <a:t>n) </a:t>
            </a:r>
            <a:endParaRPr b="1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6:notes"/>
          <p:cNvSpPr txBox="1"/>
          <p:nvPr>
            <p:ph idx="12" type="sldNum"/>
          </p:nvPr>
        </p:nvSpPr>
        <p:spPr>
          <a:xfrm>
            <a:off x="3841750" y="9421813"/>
            <a:ext cx="29368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7" name="Google Shape;507;p16:notes"/>
          <p:cNvSpPr/>
          <p:nvPr>
            <p:ph idx="2" type="sldImg"/>
          </p:nvPr>
        </p:nvSpPr>
        <p:spPr>
          <a:xfrm>
            <a:off x="911225" y="744538"/>
            <a:ext cx="4959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08" name="Google Shape;508;p16:notes"/>
          <p:cNvSpPr txBox="1"/>
          <p:nvPr>
            <p:ph idx="1" type="body"/>
          </p:nvPr>
        </p:nvSpPr>
        <p:spPr>
          <a:xfrm>
            <a:off x="677863" y="4711700"/>
            <a:ext cx="5426075" cy="446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7:notes"/>
          <p:cNvSpPr txBox="1"/>
          <p:nvPr>
            <p:ph idx="12" type="sldNum"/>
          </p:nvPr>
        </p:nvSpPr>
        <p:spPr>
          <a:xfrm>
            <a:off x="3841750" y="9421813"/>
            <a:ext cx="29368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8" name="Google Shape;518;p17:notes"/>
          <p:cNvSpPr/>
          <p:nvPr>
            <p:ph idx="2" type="sldImg"/>
          </p:nvPr>
        </p:nvSpPr>
        <p:spPr>
          <a:xfrm>
            <a:off x="911225" y="744538"/>
            <a:ext cx="4959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19" name="Google Shape;519;p17:notes"/>
          <p:cNvSpPr txBox="1"/>
          <p:nvPr>
            <p:ph idx="1" type="body"/>
          </p:nvPr>
        </p:nvSpPr>
        <p:spPr>
          <a:xfrm>
            <a:off x="677863" y="4711700"/>
            <a:ext cx="5426075" cy="446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8:notes"/>
          <p:cNvSpPr txBox="1"/>
          <p:nvPr>
            <p:ph idx="12" type="sldNum"/>
          </p:nvPr>
        </p:nvSpPr>
        <p:spPr>
          <a:xfrm>
            <a:off x="3841750" y="9421813"/>
            <a:ext cx="29368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7" name="Google Shape;547;p18:notes"/>
          <p:cNvSpPr/>
          <p:nvPr>
            <p:ph idx="2" type="sldImg"/>
          </p:nvPr>
        </p:nvSpPr>
        <p:spPr>
          <a:xfrm>
            <a:off x="911225" y="744538"/>
            <a:ext cx="4959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48" name="Google Shape;548;p18:notes"/>
          <p:cNvSpPr txBox="1"/>
          <p:nvPr>
            <p:ph idx="1" type="body"/>
          </p:nvPr>
        </p:nvSpPr>
        <p:spPr>
          <a:xfrm>
            <a:off x="677863" y="4711700"/>
            <a:ext cx="5426075" cy="446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9:notes"/>
          <p:cNvSpPr txBox="1"/>
          <p:nvPr>
            <p:ph idx="12" type="sldNum"/>
          </p:nvPr>
        </p:nvSpPr>
        <p:spPr>
          <a:xfrm>
            <a:off x="3841750" y="9421813"/>
            <a:ext cx="29368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1" name="Google Shape;561;p19:notes"/>
          <p:cNvSpPr/>
          <p:nvPr>
            <p:ph idx="2" type="sldImg"/>
          </p:nvPr>
        </p:nvSpPr>
        <p:spPr>
          <a:xfrm>
            <a:off x="911225" y="744538"/>
            <a:ext cx="4959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62" name="Google Shape;562;p19:notes"/>
          <p:cNvSpPr txBox="1"/>
          <p:nvPr>
            <p:ph idx="1" type="body"/>
          </p:nvPr>
        </p:nvSpPr>
        <p:spPr>
          <a:xfrm>
            <a:off x="677863" y="4711700"/>
            <a:ext cx="5426075" cy="446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0:notes"/>
          <p:cNvSpPr txBox="1"/>
          <p:nvPr>
            <p:ph idx="12" type="sldNum"/>
          </p:nvPr>
        </p:nvSpPr>
        <p:spPr>
          <a:xfrm>
            <a:off x="3841750" y="9421813"/>
            <a:ext cx="29368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3" name="Google Shape;583;p20:notes"/>
          <p:cNvSpPr/>
          <p:nvPr>
            <p:ph idx="2" type="sldImg"/>
          </p:nvPr>
        </p:nvSpPr>
        <p:spPr>
          <a:xfrm>
            <a:off x="911225" y="744538"/>
            <a:ext cx="4959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84" name="Google Shape;584;p20:notes"/>
          <p:cNvSpPr txBox="1"/>
          <p:nvPr>
            <p:ph idx="1" type="body"/>
          </p:nvPr>
        </p:nvSpPr>
        <p:spPr>
          <a:xfrm>
            <a:off x="677863" y="4711700"/>
            <a:ext cx="5426075" cy="446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1:notes"/>
          <p:cNvSpPr txBox="1"/>
          <p:nvPr>
            <p:ph idx="12" type="sldNum"/>
          </p:nvPr>
        </p:nvSpPr>
        <p:spPr>
          <a:xfrm>
            <a:off x="3841750" y="9421813"/>
            <a:ext cx="29368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0" name="Google Shape;590;p21:notes"/>
          <p:cNvSpPr/>
          <p:nvPr>
            <p:ph idx="2" type="sldImg"/>
          </p:nvPr>
        </p:nvSpPr>
        <p:spPr>
          <a:xfrm>
            <a:off x="911225" y="744538"/>
            <a:ext cx="4959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91" name="Google Shape;591;p21:notes"/>
          <p:cNvSpPr txBox="1"/>
          <p:nvPr>
            <p:ph idx="1" type="body"/>
          </p:nvPr>
        </p:nvSpPr>
        <p:spPr>
          <a:xfrm>
            <a:off x="677863" y="4711700"/>
            <a:ext cx="5426075" cy="446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2:notes"/>
          <p:cNvSpPr txBox="1"/>
          <p:nvPr>
            <p:ph idx="12" type="sldNum"/>
          </p:nvPr>
        </p:nvSpPr>
        <p:spPr>
          <a:xfrm>
            <a:off x="3841750" y="9421813"/>
            <a:ext cx="29368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8" name="Google Shape;608;p22:notes"/>
          <p:cNvSpPr/>
          <p:nvPr>
            <p:ph idx="2" type="sldImg"/>
          </p:nvPr>
        </p:nvSpPr>
        <p:spPr>
          <a:xfrm>
            <a:off x="911225" y="744538"/>
            <a:ext cx="4959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09" name="Google Shape;609;p22:notes"/>
          <p:cNvSpPr txBox="1"/>
          <p:nvPr>
            <p:ph idx="1" type="body"/>
          </p:nvPr>
        </p:nvSpPr>
        <p:spPr>
          <a:xfrm>
            <a:off x="677863" y="4711700"/>
            <a:ext cx="5426075" cy="446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3:notes"/>
          <p:cNvSpPr txBox="1"/>
          <p:nvPr>
            <p:ph idx="12" type="sldNum"/>
          </p:nvPr>
        </p:nvSpPr>
        <p:spPr>
          <a:xfrm>
            <a:off x="3841750" y="9421813"/>
            <a:ext cx="29368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2" name="Google Shape;622;p23:notes"/>
          <p:cNvSpPr/>
          <p:nvPr>
            <p:ph idx="2" type="sldImg"/>
          </p:nvPr>
        </p:nvSpPr>
        <p:spPr>
          <a:xfrm>
            <a:off x="911225" y="744538"/>
            <a:ext cx="4959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23" name="Google Shape;623;p23:notes"/>
          <p:cNvSpPr txBox="1"/>
          <p:nvPr>
            <p:ph idx="1" type="body"/>
          </p:nvPr>
        </p:nvSpPr>
        <p:spPr>
          <a:xfrm>
            <a:off x="677863" y="4711700"/>
            <a:ext cx="5426075" cy="446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Parametric form of a plane P(s,t)=as+bt+C. 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pt normal to 3pt, pt normal to param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24:notes"/>
          <p:cNvSpPr txBox="1"/>
          <p:nvPr>
            <p:ph idx="12" type="sldNum"/>
          </p:nvPr>
        </p:nvSpPr>
        <p:spPr>
          <a:xfrm>
            <a:off x="3841750" y="9421813"/>
            <a:ext cx="29368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7" name="Google Shape;647;p24:notes"/>
          <p:cNvSpPr/>
          <p:nvPr>
            <p:ph idx="2" type="sldImg"/>
          </p:nvPr>
        </p:nvSpPr>
        <p:spPr>
          <a:xfrm>
            <a:off x="911225" y="744538"/>
            <a:ext cx="4959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48" name="Google Shape;648;p24:notes"/>
          <p:cNvSpPr txBox="1"/>
          <p:nvPr>
            <p:ph idx="1" type="body"/>
          </p:nvPr>
        </p:nvSpPr>
        <p:spPr>
          <a:xfrm>
            <a:off x="677863" y="4711700"/>
            <a:ext cx="5426075" cy="446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5:notes"/>
          <p:cNvSpPr txBox="1"/>
          <p:nvPr>
            <p:ph idx="12" type="sldNum"/>
          </p:nvPr>
        </p:nvSpPr>
        <p:spPr>
          <a:xfrm>
            <a:off x="3841750" y="9421813"/>
            <a:ext cx="29368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5" name="Google Shape;675;p25:notes"/>
          <p:cNvSpPr/>
          <p:nvPr>
            <p:ph idx="2" type="sldImg"/>
          </p:nvPr>
        </p:nvSpPr>
        <p:spPr>
          <a:xfrm>
            <a:off x="911225" y="744538"/>
            <a:ext cx="4959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76" name="Google Shape;676;p25:notes"/>
          <p:cNvSpPr txBox="1"/>
          <p:nvPr>
            <p:ph idx="1" type="body"/>
          </p:nvPr>
        </p:nvSpPr>
        <p:spPr>
          <a:xfrm>
            <a:off x="677863" y="4711700"/>
            <a:ext cx="5426075" cy="446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6:notes"/>
          <p:cNvSpPr txBox="1"/>
          <p:nvPr>
            <p:ph idx="12" type="sldNum"/>
          </p:nvPr>
        </p:nvSpPr>
        <p:spPr>
          <a:xfrm>
            <a:off x="3841750" y="9421813"/>
            <a:ext cx="29368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3" name="Google Shape;683;p26:notes"/>
          <p:cNvSpPr/>
          <p:nvPr>
            <p:ph idx="2" type="sldImg"/>
          </p:nvPr>
        </p:nvSpPr>
        <p:spPr>
          <a:xfrm>
            <a:off x="911225" y="744538"/>
            <a:ext cx="4959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84" name="Google Shape;684;p26:notes"/>
          <p:cNvSpPr txBox="1"/>
          <p:nvPr>
            <p:ph idx="1" type="body"/>
          </p:nvPr>
        </p:nvSpPr>
        <p:spPr>
          <a:xfrm>
            <a:off x="677863" y="4711700"/>
            <a:ext cx="5426075" cy="446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skew lines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27:notes"/>
          <p:cNvSpPr txBox="1"/>
          <p:nvPr>
            <p:ph idx="12" type="sldNum"/>
          </p:nvPr>
        </p:nvSpPr>
        <p:spPr>
          <a:xfrm>
            <a:off x="3841750" y="9421813"/>
            <a:ext cx="29368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0" name="Google Shape;690;p27:notes"/>
          <p:cNvSpPr/>
          <p:nvPr>
            <p:ph idx="2" type="sldImg"/>
          </p:nvPr>
        </p:nvSpPr>
        <p:spPr>
          <a:xfrm>
            <a:off x="911225" y="744538"/>
            <a:ext cx="4959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91" name="Google Shape;691;p27:notes"/>
          <p:cNvSpPr txBox="1"/>
          <p:nvPr>
            <p:ph idx="1" type="body"/>
          </p:nvPr>
        </p:nvSpPr>
        <p:spPr>
          <a:xfrm>
            <a:off x="677863" y="4711700"/>
            <a:ext cx="5426075" cy="446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Parallel if cross product 0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28:notes"/>
          <p:cNvSpPr txBox="1"/>
          <p:nvPr>
            <p:ph idx="12" type="sldNum"/>
          </p:nvPr>
        </p:nvSpPr>
        <p:spPr>
          <a:xfrm>
            <a:off x="3841750" y="9421813"/>
            <a:ext cx="29368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7" name="Google Shape;697;p28:notes"/>
          <p:cNvSpPr/>
          <p:nvPr>
            <p:ph idx="2" type="sldImg"/>
          </p:nvPr>
        </p:nvSpPr>
        <p:spPr>
          <a:xfrm>
            <a:off x="911225" y="744538"/>
            <a:ext cx="4959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98" name="Google Shape;698;p28:notes"/>
          <p:cNvSpPr txBox="1"/>
          <p:nvPr>
            <p:ph idx="1" type="body"/>
          </p:nvPr>
        </p:nvSpPr>
        <p:spPr>
          <a:xfrm>
            <a:off x="677863" y="4711700"/>
            <a:ext cx="5426075" cy="446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29:notes"/>
          <p:cNvSpPr txBox="1"/>
          <p:nvPr>
            <p:ph idx="12" type="sldNum"/>
          </p:nvPr>
        </p:nvSpPr>
        <p:spPr>
          <a:xfrm>
            <a:off x="3841750" y="9421813"/>
            <a:ext cx="29368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4" name="Google Shape;704;p29:notes"/>
          <p:cNvSpPr/>
          <p:nvPr>
            <p:ph idx="2" type="sldImg"/>
          </p:nvPr>
        </p:nvSpPr>
        <p:spPr>
          <a:xfrm>
            <a:off x="911225" y="744538"/>
            <a:ext cx="4959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05" name="Google Shape;705;p29:notes"/>
          <p:cNvSpPr txBox="1"/>
          <p:nvPr>
            <p:ph idx="1" type="body"/>
          </p:nvPr>
        </p:nvSpPr>
        <p:spPr>
          <a:xfrm>
            <a:off x="677863" y="4711700"/>
            <a:ext cx="5426075" cy="446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30:notes"/>
          <p:cNvSpPr txBox="1"/>
          <p:nvPr>
            <p:ph idx="12" type="sldNum"/>
          </p:nvPr>
        </p:nvSpPr>
        <p:spPr>
          <a:xfrm>
            <a:off x="3841750" y="9421813"/>
            <a:ext cx="29368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1" name="Google Shape;711;p30:notes"/>
          <p:cNvSpPr/>
          <p:nvPr>
            <p:ph idx="2" type="sldImg"/>
          </p:nvPr>
        </p:nvSpPr>
        <p:spPr>
          <a:xfrm>
            <a:off x="911225" y="744538"/>
            <a:ext cx="4959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12" name="Google Shape;712;p30:notes"/>
          <p:cNvSpPr txBox="1"/>
          <p:nvPr>
            <p:ph idx="1" type="body"/>
          </p:nvPr>
        </p:nvSpPr>
        <p:spPr>
          <a:xfrm>
            <a:off x="677863" y="4711700"/>
            <a:ext cx="5426075" cy="446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31:notes"/>
          <p:cNvSpPr txBox="1"/>
          <p:nvPr>
            <p:ph idx="12" type="sldNum"/>
          </p:nvPr>
        </p:nvSpPr>
        <p:spPr>
          <a:xfrm>
            <a:off x="3841750" y="9421813"/>
            <a:ext cx="29368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9" name="Google Shape;719;p31:notes"/>
          <p:cNvSpPr/>
          <p:nvPr>
            <p:ph idx="2" type="sldImg"/>
          </p:nvPr>
        </p:nvSpPr>
        <p:spPr>
          <a:xfrm>
            <a:off x="911225" y="744538"/>
            <a:ext cx="4959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20" name="Google Shape;720;p31:notes"/>
          <p:cNvSpPr txBox="1"/>
          <p:nvPr>
            <p:ph idx="1" type="body"/>
          </p:nvPr>
        </p:nvSpPr>
        <p:spPr>
          <a:xfrm>
            <a:off x="677863" y="4711700"/>
            <a:ext cx="5426075" cy="446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32:notes"/>
          <p:cNvSpPr txBox="1"/>
          <p:nvPr>
            <p:ph idx="12" type="sldNum"/>
          </p:nvPr>
        </p:nvSpPr>
        <p:spPr>
          <a:xfrm>
            <a:off x="3841750" y="9421813"/>
            <a:ext cx="29368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6" name="Google Shape;726;p32:notes"/>
          <p:cNvSpPr/>
          <p:nvPr>
            <p:ph idx="2" type="sldImg"/>
          </p:nvPr>
        </p:nvSpPr>
        <p:spPr>
          <a:xfrm>
            <a:off x="911225" y="744538"/>
            <a:ext cx="4959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27" name="Google Shape;727;p32:notes"/>
          <p:cNvSpPr txBox="1"/>
          <p:nvPr>
            <p:ph idx="1" type="body"/>
          </p:nvPr>
        </p:nvSpPr>
        <p:spPr>
          <a:xfrm>
            <a:off x="677863" y="4711700"/>
            <a:ext cx="5426075" cy="446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33:notes"/>
          <p:cNvSpPr txBox="1"/>
          <p:nvPr>
            <p:ph idx="12" type="sldNum"/>
          </p:nvPr>
        </p:nvSpPr>
        <p:spPr>
          <a:xfrm>
            <a:off x="3841750" y="9421813"/>
            <a:ext cx="29368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4" name="Google Shape;734;p33:notes"/>
          <p:cNvSpPr/>
          <p:nvPr>
            <p:ph idx="2" type="sldImg"/>
          </p:nvPr>
        </p:nvSpPr>
        <p:spPr>
          <a:xfrm>
            <a:off x="911225" y="744538"/>
            <a:ext cx="4959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35" name="Google Shape;735;p33:notes"/>
          <p:cNvSpPr txBox="1"/>
          <p:nvPr>
            <p:ph idx="1" type="body"/>
          </p:nvPr>
        </p:nvSpPr>
        <p:spPr>
          <a:xfrm>
            <a:off x="677863" y="4711700"/>
            <a:ext cx="5426075" cy="446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34:notes"/>
          <p:cNvSpPr txBox="1"/>
          <p:nvPr>
            <p:ph idx="12" type="sldNum"/>
          </p:nvPr>
        </p:nvSpPr>
        <p:spPr>
          <a:xfrm>
            <a:off x="3841750" y="9421813"/>
            <a:ext cx="29368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2" name="Google Shape;742;p34:notes"/>
          <p:cNvSpPr/>
          <p:nvPr>
            <p:ph idx="2" type="sldImg"/>
          </p:nvPr>
        </p:nvSpPr>
        <p:spPr>
          <a:xfrm>
            <a:off x="911225" y="744538"/>
            <a:ext cx="4959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43" name="Google Shape;743;p34:notes"/>
          <p:cNvSpPr txBox="1"/>
          <p:nvPr>
            <p:ph idx="1" type="body"/>
          </p:nvPr>
        </p:nvSpPr>
        <p:spPr>
          <a:xfrm>
            <a:off x="677863" y="4711700"/>
            <a:ext cx="5426075" cy="446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35:notes"/>
          <p:cNvSpPr txBox="1"/>
          <p:nvPr>
            <p:ph idx="12" type="sldNum"/>
          </p:nvPr>
        </p:nvSpPr>
        <p:spPr>
          <a:xfrm>
            <a:off x="3841750" y="9421813"/>
            <a:ext cx="2936875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9" name="Google Shape;749;p35:notes"/>
          <p:cNvSpPr/>
          <p:nvPr>
            <p:ph idx="2" type="sldImg"/>
          </p:nvPr>
        </p:nvSpPr>
        <p:spPr>
          <a:xfrm>
            <a:off x="911225" y="744538"/>
            <a:ext cx="4959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50" name="Google Shape;750;p35:notes"/>
          <p:cNvSpPr txBox="1"/>
          <p:nvPr>
            <p:ph idx="1" type="body"/>
          </p:nvPr>
        </p:nvSpPr>
        <p:spPr>
          <a:xfrm>
            <a:off x="677863" y="4711700"/>
            <a:ext cx="5426075" cy="4464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7"/>
          <p:cNvSpPr txBox="1"/>
          <p:nvPr>
            <p:ph idx="11" type="ftr"/>
          </p:nvPr>
        </p:nvSpPr>
        <p:spPr>
          <a:xfrm>
            <a:off x="3124200" y="6248400"/>
            <a:ext cx="2894013" cy="45561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7"/>
          <p:cNvSpPr txBox="1"/>
          <p:nvPr>
            <p:ph idx="12" type="sldNum"/>
          </p:nvPr>
        </p:nvSpPr>
        <p:spPr>
          <a:xfrm>
            <a:off x="6553200" y="6248400"/>
            <a:ext cx="2132013" cy="45561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6" name="Google Shape;36;p50"/>
          <p:cNvSpPr txBox="1"/>
          <p:nvPr>
            <p:ph idx="11" type="ftr"/>
          </p:nvPr>
        </p:nvSpPr>
        <p:spPr>
          <a:xfrm>
            <a:off x="3124200" y="6248400"/>
            <a:ext cx="2894013" cy="45561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0"/>
          <p:cNvSpPr txBox="1"/>
          <p:nvPr>
            <p:ph idx="12" type="sldNum"/>
          </p:nvPr>
        </p:nvSpPr>
        <p:spPr>
          <a:xfrm>
            <a:off x="6553200" y="6248400"/>
            <a:ext cx="2132013" cy="45561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1"/>
          <p:cNvSpPr txBox="1"/>
          <p:nvPr>
            <p:ph type="title"/>
          </p:nvPr>
        </p:nvSpPr>
        <p:spPr>
          <a:xfrm>
            <a:off x="447675" y="0"/>
            <a:ext cx="8228013" cy="137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1"/>
          <p:cNvSpPr txBox="1"/>
          <p:nvPr>
            <p:ph idx="1" type="body"/>
          </p:nvPr>
        </p:nvSpPr>
        <p:spPr>
          <a:xfrm>
            <a:off x="457200" y="1562100"/>
            <a:ext cx="8228013" cy="4303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1"/>
          <p:cNvSpPr txBox="1"/>
          <p:nvPr>
            <p:ph idx="11" type="ftr"/>
          </p:nvPr>
        </p:nvSpPr>
        <p:spPr>
          <a:xfrm>
            <a:off x="3124200" y="6248400"/>
            <a:ext cx="2894013" cy="45561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1"/>
          <p:cNvSpPr txBox="1"/>
          <p:nvPr>
            <p:ph idx="12" type="sldNum"/>
          </p:nvPr>
        </p:nvSpPr>
        <p:spPr>
          <a:xfrm>
            <a:off x="6553200" y="6248400"/>
            <a:ext cx="2132013" cy="45561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6" name="Google Shape;46;p52"/>
          <p:cNvSpPr txBox="1"/>
          <p:nvPr>
            <p:ph idx="11" type="ftr"/>
          </p:nvPr>
        </p:nvSpPr>
        <p:spPr>
          <a:xfrm>
            <a:off x="3124200" y="6248400"/>
            <a:ext cx="2894013" cy="45561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2"/>
          <p:cNvSpPr txBox="1"/>
          <p:nvPr>
            <p:ph idx="12" type="sldNum"/>
          </p:nvPr>
        </p:nvSpPr>
        <p:spPr>
          <a:xfrm>
            <a:off x="6553200" y="6248400"/>
            <a:ext cx="2132013" cy="45561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3"/>
          <p:cNvSpPr txBox="1"/>
          <p:nvPr>
            <p:ph type="title"/>
          </p:nvPr>
        </p:nvSpPr>
        <p:spPr>
          <a:xfrm>
            <a:off x="447675" y="0"/>
            <a:ext cx="8228013" cy="137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3"/>
          <p:cNvSpPr txBox="1"/>
          <p:nvPr>
            <p:ph idx="1" type="body"/>
          </p:nvPr>
        </p:nvSpPr>
        <p:spPr>
          <a:xfrm>
            <a:off x="457200" y="1562100"/>
            <a:ext cx="4037013" cy="4303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1" name="Google Shape;51;p53"/>
          <p:cNvSpPr txBox="1"/>
          <p:nvPr>
            <p:ph idx="2" type="body"/>
          </p:nvPr>
        </p:nvSpPr>
        <p:spPr>
          <a:xfrm>
            <a:off x="4646613" y="1562100"/>
            <a:ext cx="4038600" cy="4303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53"/>
          <p:cNvSpPr txBox="1"/>
          <p:nvPr>
            <p:ph idx="11" type="ftr"/>
          </p:nvPr>
        </p:nvSpPr>
        <p:spPr>
          <a:xfrm>
            <a:off x="3124200" y="6248400"/>
            <a:ext cx="2894013" cy="45561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3"/>
          <p:cNvSpPr txBox="1"/>
          <p:nvPr>
            <p:ph idx="12" type="sldNum"/>
          </p:nvPr>
        </p:nvSpPr>
        <p:spPr>
          <a:xfrm>
            <a:off x="6553200" y="6248400"/>
            <a:ext cx="2132013" cy="45561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5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58" name="Google Shape;58;p5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5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60" name="Google Shape;60;p54"/>
          <p:cNvSpPr txBox="1"/>
          <p:nvPr>
            <p:ph idx="11" type="ftr"/>
          </p:nvPr>
        </p:nvSpPr>
        <p:spPr>
          <a:xfrm>
            <a:off x="3124200" y="6248400"/>
            <a:ext cx="2894013" cy="45561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4"/>
          <p:cNvSpPr txBox="1"/>
          <p:nvPr>
            <p:ph idx="12" type="sldNum"/>
          </p:nvPr>
        </p:nvSpPr>
        <p:spPr>
          <a:xfrm>
            <a:off x="6553200" y="6248400"/>
            <a:ext cx="2132013" cy="45561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5"/>
          <p:cNvSpPr txBox="1"/>
          <p:nvPr>
            <p:ph type="title"/>
          </p:nvPr>
        </p:nvSpPr>
        <p:spPr>
          <a:xfrm>
            <a:off x="447675" y="0"/>
            <a:ext cx="8228013" cy="137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5"/>
          <p:cNvSpPr txBox="1"/>
          <p:nvPr>
            <p:ph idx="11" type="ftr"/>
          </p:nvPr>
        </p:nvSpPr>
        <p:spPr>
          <a:xfrm>
            <a:off x="3124200" y="6248400"/>
            <a:ext cx="2894013" cy="45561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5"/>
          <p:cNvSpPr txBox="1"/>
          <p:nvPr>
            <p:ph idx="12" type="sldNum"/>
          </p:nvPr>
        </p:nvSpPr>
        <p:spPr>
          <a:xfrm>
            <a:off x="6553200" y="6248400"/>
            <a:ext cx="2132013" cy="45561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»"/>
              <a:defRPr sz="20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/>
        </p:txBody>
      </p:sp>
      <p:sp>
        <p:nvSpPr>
          <p:cNvPr id="69" name="Google Shape;69;p5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0" name="Google Shape;70;p56"/>
          <p:cNvSpPr txBox="1"/>
          <p:nvPr>
            <p:ph idx="11" type="ftr"/>
          </p:nvPr>
        </p:nvSpPr>
        <p:spPr>
          <a:xfrm>
            <a:off x="3124200" y="6248400"/>
            <a:ext cx="2894013" cy="45561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6"/>
          <p:cNvSpPr txBox="1"/>
          <p:nvPr>
            <p:ph idx="12" type="sldNum"/>
          </p:nvPr>
        </p:nvSpPr>
        <p:spPr>
          <a:xfrm>
            <a:off x="6553200" y="6248400"/>
            <a:ext cx="2132013" cy="45561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5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6" name="Google Shape;76;p57"/>
          <p:cNvSpPr txBox="1"/>
          <p:nvPr>
            <p:ph idx="11" type="ftr"/>
          </p:nvPr>
        </p:nvSpPr>
        <p:spPr>
          <a:xfrm>
            <a:off x="3124200" y="6248400"/>
            <a:ext cx="2894013" cy="45561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7"/>
          <p:cNvSpPr txBox="1"/>
          <p:nvPr>
            <p:ph idx="12" type="sldNum"/>
          </p:nvPr>
        </p:nvSpPr>
        <p:spPr>
          <a:xfrm>
            <a:off x="6553200" y="6248400"/>
            <a:ext cx="2132013" cy="45561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8"/>
          <p:cNvSpPr txBox="1"/>
          <p:nvPr>
            <p:ph type="title"/>
          </p:nvPr>
        </p:nvSpPr>
        <p:spPr>
          <a:xfrm>
            <a:off x="447675" y="0"/>
            <a:ext cx="8228013" cy="137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8"/>
          <p:cNvSpPr txBox="1"/>
          <p:nvPr>
            <p:ph idx="1" type="body"/>
          </p:nvPr>
        </p:nvSpPr>
        <p:spPr>
          <a:xfrm rot="5400000">
            <a:off x="2419350" y="-400050"/>
            <a:ext cx="4303713" cy="82280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58"/>
          <p:cNvSpPr txBox="1"/>
          <p:nvPr>
            <p:ph idx="11" type="ftr"/>
          </p:nvPr>
        </p:nvSpPr>
        <p:spPr>
          <a:xfrm>
            <a:off x="3124200" y="6248400"/>
            <a:ext cx="2894013" cy="45561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8"/>
          <p:cNvSpPr txBox="1"/>
          <p:nvPr>
            <p:ph idx="12" type="sldNum"/>
          </p:nvPr>
        </p:nvSpPr>
        <p:spPr>
          <a:xfrm>
            <a:off x="6553200" y="6248400"/>
            <a:ext cx="2132013" cy="45561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9"/>
          <p:cNvSpPr txBox="1"/>
          <p:nvPr>
            <p:ph type="title"/>
          </p:nvPr>
        </p:nvSpPr>
        <p:spPr>
          <a:xfrm rot="5400000">
            <a:off x="4722813" y="1903412"/>
            <a:ext cx="5865813" cy="2058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59"/>
          <p:cNvSpPr txBox="1"/>
          <p:nvPr>
            <p:ph idx="1" type="body"/>
          </p:nvPr>
        </p:nvSpPr>
        <p:spPr>
          <a:xfrm rot="5400000">
            <a:off x="527844" y="-80168"/>
            <a:ext cx="5865813" cy="60261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59"/>
          <p:cNvSpPr txBox="1"/>
          <p:nvPr>
            <p:ph idx="11" type="ftr"/>
          </p:nvPr>
        </p:nvSpPr>
        <p:spPr>
          <a:xfrm>
            <a:off x="3124200" y="6248400"/>
            <a:ext cx="2894013" cy="45561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59"/>
          <p:cNvSpPr txBox="1"/>
          <p:nvPr>
            <p:ph idx="12" type="sldNum"/>
          </p:nvPr>
        </p:nvSpPr>
        <p:spPr>
          <a:xfrm>
            <a:off x="6553200" y="6248400"/>
            <a:ext cx="2132013" cy="45561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9"/>
          <p:cNvSpPr txBox="1"/>
          <p:nvPr>
            <p:ph idx="12" type="sldNum"/>
          </p:nvPr>
        </p:nvSpPr>
        <p:spPr>
          <a:xfrm>
            <a:off x="6924675" y="117475"/>
            <a:ext cx="2132013" cy="45561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4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08" name="Google Shape;108;p40"/>
          <p:cNvSpPr txBox="1"/>
          <p:nvPr>
            <p:ph idx="12" type="sldNum"/>
          </p:nvPr>
        </p:nvSpPr>
        <p:spPr>
          <a:xfrm>
            <a:off x="6924675" y="117475"/>
            <a:ext cx="2132013" cy="45561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1"/>
          <p:cNvSpPr txBox="1"/>
          <p:nvPr>
            <p:ph type="title"/>
          </p:nvPr>
        </p:nvSpPr>
        <p:spPr>
          <a:xfrm>
            <a:off x="447675" y="0"/>
            <a:ext cx="8228013" cy="137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41"/>
          <p:cNvSpPr txBox="1"/>
          <p:nvPr>
            <p:ph idx="1" type="body"/>
          </p:nvPr>
        </p:nvSpPr>
        <p:spPr>
          <a:xfrm>
            <a:off x="457200" y="1562100"/>
            <a:ext cx="8228013" cy="4303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41"/>
          <p:cNvSpPr txBox="1"/>
          <p:nvPr>
            <p:ph idx="12" type="sldNum"/>
          </p:nvPr>
        </p:nvSpPr>
        <p:spPr>
          <a:xfrm>
            <a:off x="6924675" y="117475"/>
            <a:ext cx="2132013" cy="45561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4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16" name="Google Shape;116;p42"/>
          <p:cNvSpPr txBox="1"/>
          <p:nvPr>
            <p:ph idx="12" type="sldNum"/>
          </p:nvPr>
        </p:nvSpPr>
        <p:spPr>
          <a:xfrm>
            <a:off x="6924675" y="117475"/>
            <a:ext cx="2132013" cy="45561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3"/>
          <p:cNvSpPr txBox="1"/>
          <p:nvPr>
            <p:ph type="title"/>
          </p:nvPr>
        </p:nvSpPr>
        <p:spPr>
          <a:xfrm>
            <a:off x="447675" y="0"/>
            <a:ext cx="8228013" cy="137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43"/>
          <p:cNvSpPr txBox="1"/>
          <p:nvPr>
            <p:ph idx="1" type="body"/>
          </p:nvPr>
        </p:nvSpPr>
        <p:spPr>
          <a:xfrm>
            <a:off x="457200" y="1562100"/>
            <a:ext cx="4037013" cy="4303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0" name="Google Shape;120;p43"/>
          <p:cNvSpPr txBox="1"/>
          <p:nvPr>
            <p:ph idx="2" type="body"/>
          </p:nvPr>
        </p:nvSpPr>
        <p:spPr>
          <a:xfrm>
            <a:off x="4646613" y="1562100"/>
            <a:ext cx="4038600" cy="4303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1" name="Google Shape;121;p43"/>
          <p:cNvSpPr txBox="1"/>
          <p:nvPr>
            <p:ph idx="12" type="sldNum"/>
          </p:nvPr>
        </p:nvSpPr>
        <p:spPr>
          <a:xfrm>
            <a:off x="6924675" y="117475"/>
            <a:ext cx="2132013" cy="45561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4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5" name="Google Shape;125;p4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126" name="Google Shape;126;p4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7" name="Google Shape;127;p4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128" name="Google Shape;128;p44"/>
          <p:cNvSpPr txBox="1"/>
          <p:nvPr>
            <p:ph idx="12" type="sldNum"/>
          </p:nvPr>
        </p:nvSpPr>
        <p:spPr>
          <a:xfrm>
            <a:off x="6924675" y="117475"/>
            <a:ext cx="2132013" cy="45561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5"/>
          <p:cNvSpPr txBox="1"/>
          <p:nvPr>
            <p:ph type="title"/>
          </p:nvPr>
        </p:nvSpPr>
        <p:spPr>
          <a:xfrm>
            <a:off x="447675" y="0"/>
            <a:ext cx="8228013" cy="137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45"/>
          <p:cNvSpPr txBox="1"/>
          <p:nvPr>
            <p:ph idx="12" type="sldNum"/>
          </p:nvPr>
        </p:nvSpPr>
        <p:spPr>
          <a:xfrm>
            <a:off x="6924675" y="117475"/>
            <a:ext cx="2132013" cy="45561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4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»"/>
              <a:defRPr sz="20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/>
        </p:txBody>
      </p:sp>
      <p:sp>
        <p:nvSpPr>
          <p:cNvPr id="135" name="Google Shape;135;p4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36" name="Google Shape;136;p46"/>
          <p:cNvSpPr txBox="1"/>
          <p:nvPr>
            <p:ph idx="12" type="sldNum"/>
          </p:nvPr>
        </p:nvSpPr>
        <p:spPr>
          <a:xfrm>
            <a:off x="6924675" y="117475"/>
            <a:ext cx="2132013" cy="45561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4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4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41" name="Google Shape;141;p47"/>
          <p:cNvSpPr txBox="1"/>
          <p:nvPr>
            <p:ph idx="12" type="sldNum"/>
          </p:nvPr>
        </p:nvSpPr>
        <p:spPr>
          <a:xfrm>
            <a:off x="6924675" y="117475"/>
            <a:ext cx="2132013" cy="45561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8"/>
          <p:cNvSpPr txBox="1"/>
          <p:nvPr>
            <p:ph type="title"/>
          </p:nvPr>
        </p:nvSpPr>
        <p:spPr>
          <a:xfrm>
            <a:off x="447675" y="0"/>
            <a:ext cx="8228013" cy="137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48"/>
          <p:cNvSpPr txBox="1"/>
          <p:nvPr>
            <p:ph idx="1" type="body"/>
          </p:nvPr>
        </p:nvSpPr>
        <p:spPr>
          <a:xfrm rot="5400000">
            <a:off x="2419350" y="-400050"/>
            <a:ext cx="4303713" cy="82280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48"/>
          <p:cNvSpPr txBox="1"/>
          <p:nvPr>
            <p:ph idx="12" type="sldNum"/>
          </p:nvPr>
        </p:nvSpPr>
        <p:spPr>
          <a:xfrm>
            <a:off x="6924675" y="117475"/>
            <a:ext cx="2132013" cy="45561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9"/>
          <p:cNvSpPr txBox="1"/>
          <p:nvPr>
            <p:ph type="title"/>
          </p:nvPr>
        </p:nvSpPr>
        <p:spPr>
          <a:xfrm rot="5400000">
            <a:off x="4722813" y="1903412"/>
            <a:ext cx="5865813" cy="2058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49"/>
          <p:cNvSpPr txBox="1"/>
          <p:nvPr>
            <p:ph idx="1" type="body"/>
          </p:nvPr>
        </p:nvSpPr>
        <p:spPr>
          <a:xfrm rot="5400000">
            <a:off x="527844" y="-80168"/>
            <a:ext cx="5865813" cy="60261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49"/>
          <p:cNvSpPr txBox="1"/>
          <p:nvPr>
            <p:ph idx="12" type="sldNum"/>
          </p:nvPr>
        </p:nvSpPr>
        <p:spPr>
          <a:xfrm>
            <a:off x="6924675" y="117475"/>
            <a:ext cx="2132013" cy="45561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36"/>
          <p:cNvGrpSpPr/>
          <p:nvPr/>
        </p:nvGrpSpPr>
        <p:grpSpPr>
          <a:xfrm>
            <a:off x="0" y="0"/>
            <a:ext cx="9144001" cy="6858001"/>
            <a:chOff x="0" y="0"/>
            <a:chExt cx="5760" cy="4320"/>
          </a:xfrm>
        </p:grpSpPr>
        <p:sp>
          <p:nvSpPr>
            <p:cNvPr id="12" name="Google Shape;12;p36"/>
            <p:cNvSpPr/>
            <p:nvPr/>
          </p:nvSpPr>
          <p:spPr>
            <a:xfrm>
              <a:off x="0" y="0"/>
              <a:ext cx="2208" cy="432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CCCC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36"/>
            <p:cNvSpPr/>
            <p:nvPr/>
          </p:nvSpPr>
          <p:spPr>
            <a:xfrm>
              <a:off x="1081" y="1065"/>
              <a:ext cx="4679" cy="1596"/>
            </a:xfrm>
            <a:prstGeom prst="rect">
              <a:avLst/>
            </a:prstGeom>
            <a:solidFill>
              <a:srgbClr val="00007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" name="Google Shape;14;p36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15" name="Google Shape;15;p36"/>
              <p:cNvSpPr/>
              <p:nvPr/>
            </p:nvSpPr>
            <p:spPr>
              <a:xfrm>
                <a:off x="361" y="2257"/>
                <a:ext cx="363" cy="404"/>
              </a:xfrm>
              <a:prstGeom prst="rect">
                <a:avLst/>
              </a:prstGeom>
              <a:solidFill>
                <a:srgbClr val="99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Times New Roman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36"/>
              <p:cNvSpPr/>
              <p:nvPr/>
            </p:nvSpPr>
            <p:spPr>
              <a:xfrm>
                <a:off x="1081" y="1065"/>
                <a:ext cx="362" cy="405"/>
              </a:xfrm>
              <a:prstGeom prst="rect">
                <a:avLst/>
              </a:prstGeom>
              <a:solidFill>
                <a:srgbClr val="CCCCE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Times New Roman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36"/>
              <p:cNvSpPr/>
              <p:nvPr/>
            </p:nvSpPr>
            <p:spPr>
              <a:xfrm>
                <a:off x="1437" y="672"/>
                <a:ext cx="369" cy="400"/>
              </a:xfrm>
              <a:prstGeom prst="rect">
                <a:avLst/>
              </a:prstGeom>
              <a:solidFill>
                <a:srgbClr val="CCCCE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Times New Roman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36"/>
              <p:cNvSpPr/>
              <p:nvPr/>
            </p:nvSpPr>
            <p:spPr>
              <a:xfrm>
                <a:off x="719" y="2257"/>
                <a:ext cx="368" cy="404"/>
              </a:xfrm>
              <a:prstGeom prst="rect">
                <a:avLst/>
              </a:prstGeom>
              <a:solidFill>
                <a:srgbClr val="00007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Times New Roman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p36"/>
              <p:cNvSpPr/>
              <p:nvPr/>
            </p:nvSpPr>
            <p:spPr>
              <a:xfrm>
                <a:off x="1437" y="1065"/>
                <a:ext cx="369" cy="405"/>
              </a:xfrm>
              <a:prstGeom prst="rect">
                <a:avLst/>
              </a:prstGeom>
              <a:solidFill>
                <a:srgbClr val="99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Times New Roman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36"/>
              <p:cNvSpPr/>
              <p:nvPr/>
            </p:nvSpPr>
            <p:spPr>
              <a:xfrm>
                <a:off x="719" y="1464"/>
                <a:ext cx="368" cy="399"/>
              </a:xfrm>
              <a:prstGeom prst="rect">
                <a:avLst/>
              </a:prstGeom>
              <a:solidFill>
                <a:srgbClr val="CCCCE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Times New Roman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36"/>
              <p:cNvSpPr/>
              <p:nvPr/>
            </p:nvSpPr>
            <p:spPr>
              <a:xfrm>
                <a:off x="0" y="1464"/>
                <a:ext cx="367" cy="399"/>
              </a:xfrm>
              <a:prstGeom prst="rect">
                <a:avLst/>
              </a:prstGeom>
              <a:solidFill>
                <a:srgbClr val="00007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Times New Roman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36"/>
              <p:cNvSpPr/>
              <p:nvPr/>
            </p:nvSpPr>
            <p:spPr>
              <a:xfrm>
                <a:off x="1081" y="1464"/>
                <a:ext cx="362" cy="399"/>
              </a:xfrm>
              <a:prstGeom prst="rect">
                <a:avLst/>
              </a:prstGeom>
              <a:solidFill>
                <a:srgbClr val="99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Times New Roman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36"/>
              <p:cNvSpPr/>
              <p:nvPr/>
            </p:nvSpPr>
            <p:spPr>
              <a:xfrm>
                <a:off x="361" y="1857"/>
                <a:ext cx="363" cy="406"/>
              </a:xfrm>
              <a:prstGeom prst="rect">
                <a:avLst/>
              </a:prstGeom>
              <a:solidFill>
                <a:srgbClr val="CCCCE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Times New Roman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24;p36"/>
              <p:cNvSpPr/>
              <p:nvPr/>
            </p:nvSpPr>
            <p:spPr>
              <a:xfrm>
                <a:off x="719" y="1857"/>
                <a:ext cx="368" cy="406"/>
              </a:xfrm>
              <a:prstGeom prst="rect">
                <a:avLst/>
              </a:prstGeom>
              <a:solidFill>
                <a:srgbClr val="99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Times New Roman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5" name="Google Shape;25;p36"/>
          <p:cNvSpPr txBox="1"/>
          <p:nvPr>
            <p:ph type="title"/>
          </p:nvPr>
        </p:nvSpPr>
        <p:spPr>
          <a:xfrm>
            <a:off x="447675" y="0"/>
            <a:ext cx="8228013" cy="137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36"/>
          <p:cNvSpPr txBox="1"/>
          <p:nvPr>
            <p:ph idx="1" type="body"/>
          </p:nvPr>
        </p:nvSpPr>
        <p:spPr>
          <a:xfrm>
            <a:off x="457200" y="1562100"/>
            <a:ext cx="8228013" cy="4303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36"/>
          <p:cNvSpPr txBox="1"/>
          <p:nvPr/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6"/>
          <p:cNvSpPr txBox="1"/>
          <p:nvPr>
            <p:ph idx="11" type="ftr"/>
          </p:nvPr>
        </p:nvSpPr>
        <p:spPr>
          <a:xfrm>
            <a:off x="3124200" y="6248400"/>
            <a:ext cx="2894013" cy="45561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36"/>
          <p:cNvSpPr txBox="1"/>
          <p:nvPr>
            <p:ph idx="12" type="sldNum"/>
          </p:nvPr>
        </p:nvSpPr>
        <p:spPr>
          <a:xfrm>
            <a:off x="6553200" y="6248400"/>
            <a:ext cx="2132013" cy="45561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8"/>
          <p:cNvSpPr txBox="1"/>
          <p:nvPr>
            <p:ph idx="12" type="sldNum"/>
          </p:nvPr>
        </p:nvSpPr>
        <p:spPr>
          <a:xfrm>
            <a:off x="6924675" y="117475"/>
            <a:ext cx="2132013" cy="45561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90" name="Google Shape;90;p38"/>
          <p:cNvGrpSpPr/>
          <p:nvPr/>
        </p:nvGrpSpPr>
        <p:grpSpPr>
          <a:xfrm>
            <a:off x="0" y="962025"/>
            <a:ext cx="9144001" cy="546101"/>
            <a:chOff x="0" y="606"/>
            <a:chExt cx="5760" cy="344"/>
          </a:xfrm>
        </p:grpSpPr>
        <p:sp>
          <p:nvSpPr>
            <p:cNvPr id="91" name="Google Shape;91;p38"/>
            <p:cNvSpPr/>
            <p:nvPr/>
          </p:nvSpPr>
          <p:spPr>
            <a:xfrm>
              <a:off x="0" y="606"/>
              <a:ext cx="180" cy="336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CCCC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38"/>
            <p:cNvSpPr/>
            <p:nvPr/>
          </p:nvSpPr>
          <p:spPr>
            <a:xfrm>
              <a:off x="260" y="691"/>
              <a:ext cx="5500" cy="173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00007D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38"/>
            <p:cNvSpPr/>
            <p:nvPr/>
          </p:nvSpPr>
          <p:spPr>
            <a:xfrm>
              <a:off x="258" y="691"/>
              <a:ext cx="87" cy="89"/>
            </a:xfrm>
            <a:prstGeom prst="rect">
              <a:avLst/>
            </a:prstGeom>
            <a:solidFill>
              <a:srgbClr val="CCCCE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38"/>
            <p:cNvSpPr/>
            <p:nvPr/>
          </p:nvSpPr>
          <p:spPr>
            <a:xfrm>
              <a:off x="345" y="606"/>
              <a:ext cx="88" cy="87"/>
            </a:xfrm>
            <a:prstGeom prst="rect">
              <a:avLst/>
            </a:prstGeom>
            <a:solidFill>
              <a:srgbClr val="CCCCE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38"/>
            <p:cNvSpPr/>
            <p:nvPr/>
          </p:nvSpPr>
          <p:spPr>
            <a:xfrm>
              <a:off x="345" y="691"/>
              <a:ext cx="88" cy="89"/>
            </a:xfrm>
            <a:prstGeom prst="rect">
              <a:avLst/>
            </a:prstGeom>
            <a:solidFill>
              <a:srgbClr val="9999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38"/>
            <p:cNvSpPr/>
            <p:nvPr/>
          </p:nvSpPr>
          <p:spPr>
            <a:xfrm>
              <a:off x="173" y="779"/>
              <a:ext cx="86" cy="87"/>
            </a:xfrm>
            <a:prstGeom prst="rect">
              <a:avLst/>
            </a:prstGeom>
            <a:solidFill>
              <a:srgbClr val="CCCCE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38"/>
            <p:cNvSpPr/>
            <p:nvPr/>
          </p:nvSpPr>
          <p:spPr>
            <a:xfrm>
              <a:off x="83" y="692"/>
              <a:ext cx="89" cy="87"/>
            </a:xfrm>
            <a:prstGeom prst="rect">
              <a:avLst/>
            </a:prstGeom>
            <a:solidFill>
              <a:srgbClr val="00007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38"/>
            <p:cNvSpPr/>
            <p:nvPr/>
          </p:nvSpPr>
          <p:spPr>
            <a:xfrm>
              <a:off x="258" y="777"/>
              <a:ext cx="87" cy="87"/>
            </a:xfrm>
            <a:prstGeom prst="rect">
              <a:avLst/>
            </a:prstGeom>
            <a:solidFill>
              <a:srgbClr val="9999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38"/>
            <p:cNvSpPr/>
            <p:nvPr/>
          </p:nvSpPr>
          <p:spPr>
            <a:xfrm>
              <a:off x="173" y="864"/>
              <a:ext cx="86" cy="86"/>
            </a:xfrm>
            <a:prstGeom prst="rect">
              <a:avLst/>
            </a:prstGeom>
            <a:solidFill>
              <a:srgbClr val="9999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38"/>
          <p:cNvSpPr txBox="1"/>
          <p:nvPr>
            <p:ph type="title"/>
          </p:nvPr>
        </p:nvSpPr>
        <p:spPr>
          <a:xfrm>
            <a:off x="447675" y="0"/>
            <a:ext cx="8228013" cy="137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1" name="Google Shape;101;p38"/>
          <p:cNvSpPr txBox="1"/>
          <p:nvPr>
            <p:ph idx="1" type="body"/>
          </p:nvPr>
        </p:nvSpPr>
        <p:spPr>
          <a:xfrm>
            <a:off x="457200" y="1562100"/>
            <a:ext cx="8228013" cy="4303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" name="Google Shape;102;p38"/>
          <p:cNvSpPr txBox="1"/>
          <p:nvPr/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png"/><Relationship Id="rId5" Type="http://schemas.openxmlformats.org/officeDocument/2006/relationships/oleObject" Target="../embeddings/oleObject1.bin"/><Relationship Id="rId6" Type="http://schemas.openxmlformats.org/officeDocument/2006/relationships/image" Target="../media/image3.png"/><Relationship Id="rId7" Type="http://schemas.openxmlformats.org/officeDocument/2006/relationships/oleObject" Target="../embeddings/oleObject2.bin"/><Relationship Id="rId8" Type="http://schemas.openxmlformats.org/officeDocument/2006/relationships/oleObject" Target="../embeddings/oleObject2.bin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3.bin"/><Relationship Id="rId5" Type="http://schemas.openxmlformats.org/officeDocument/2006/relationships/oleObject" Target="../embeddings/oleObject3.bin"/><Relationship Id="rId6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vmlDrawing" Target="../drawings/vmlDrawing3.vml"/><Relationship Id="rId4" Type="http://schemas.openxmlformats.org/officeDocument/2006/relationships/oleObject" Target="../embeddings/oleObject4.bin"/><Relationship Id="rId5" Type="http://schemas.openxmlformats.org/officeDocument/2006/relationships/oleObject" Target="../embeddings/oleObject4.bin"/><Relationship Id="rId6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"/>
          <p:cNvSpPr txBox="1"/>
          <p:nvPr/>
        </p:nvSpPr>
        <p:spPr>
          <a:xfrm>
            <a:off x="2971800" y="1828800"/>
            <a:ext cx="60198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Times New Roman"/>
              <a:buNone/>
            </a:pPr>
            <a:r>
              <a:rPr b="0" i="0" lang="en-US" sz="4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Vector Tools for</a:t>
            </a:r>
            <a:br>
              <a:rPr b="0" i="0" lang="en-US" sz="4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Computer Graphics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"/>
          <p:cNvSpPr txBox="1"/>
          <p:nvPr/>
        </p:nvSpPr>
        <p:spPr>
          <a:xfrm>
            <a:off x="3581400" y="4419600"/>
            <a:ext cx="53340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Computer Graphics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"/>
          <p:cNvSpPr txBox="1"/>
          <p:nvPr/>
        </p:nvSpPr>
        <p:spPr>
          <a:xfrm>
            <a:off x="447675" y="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Basic Definitions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"/>
          <p:cNvSpPr txBox="1"/>
          <p:nvPr/>
        </p:nvSpPr>
        <p:spPr>
          <a:xfrm>
            <a:off x="457200" y="1562100"/>
            <a:ext cx="8229600" cy="2271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3" lvl="0" marL="341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ts val="210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Points specify </a:t>
            </a:r>
            <a:r>
              <a:rPr b="0" i="0" lang="en-US" sz="2800" u="sng" cap="none" strike="noStrike">
                <a:solidFill>
                  <a:srgbClr val="965D36"/>
                </a:solidFill>
                <a:latin typeface="Arial"/>
                <a:ea typeface="Arial"/>
                <a:cs typeface="Arial"/>
                <a:sym typeface="Arial"/>
              </a:rPr>
              <a:t>location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space (or in the plane).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3" lvl="0" marL="341313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7D"/>
              </a:buClr>
              <a:buSzPts val="210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Vectors have </a:t>
            </a:r>
            <a:r>
              <a:rPr b="0" i="0" lang="en-US" sz="2800" u="sng" cap="none" strike="noStrike">
                <a:solidFill>
                  <a:srgbClr val="965D36"/>
                </a:solidFill>
                <a:latin typeface="Arial"/>
                <a:ea typeface="Arial"/>
                <a:cs typeface="Arial"/>
                <a:sym typeface="Arial"/>
              </a:rPr>
              <a:t>magnitude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0" lang="en-US" sz="2800" u="sng" cap="none" strike="noStrike">
                <a:solidFill>
                  <a:srgbClr val="965D36"/>
                </a:solidFill>
                <a:latin typeface="Arial"/>
                <a:ea typeface="Arial"/>
                <a:cs typeface="Arial"/>
                <a:sym typeface="Arial"/>
              </a:rPr>
              <a:t>direction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(like velocity).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"/>
          <p:cNvSpPr txBox="1"/>
          <p:nvPr/>
        </p:nvSpPr>
        <p:spPr>
          <a:xfrm>
            <a:off x="3132138" y="3648075"/>
            <a:ext cx="2706687" cy="520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Points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≠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Vectors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"/>
          <p:cNvSpPr txBox="1"/>
          <p:nvPr/>
        </p:nvSpPr>
        <p:spPr>
          <a:xfrm>
            <a:off x="447675" y="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Basics of Vectors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1" name="Google Shape;171;p3"/>
          <p:cNvCxnSpPr/>
          <p:nvPr/>
        </p:nvCxnSpPr>
        <p:spPr>
          <a:xfrm rot="10800000">
            <a:off x="684213" y="1827213"/>
            <a:ext cx="4762" cy="1693862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2" name="Google Shape;172;p3"/>
          <p:cNvCxnSpPr/>
          <p:nvPr/>
        </p:nvCxnSpPr>
        <p:spPr>
          <a:xfrm>
            <a:off x="685800" y="3505200"/>
            <a:ext cx="2133600" cy="1588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3" name="Google Shape;173;p3"/>
          <p:cNvSpPr/>
          <p:nvPr/>
        </p:nvSpPr>
        <p:spPr>
          <a:xfrm>
            <a:off x="990600" y="2362200"/>
            <a:ext cx="152400" cy="152400"/>
          </a:xfrm>
          <a:prstGeom prst="ellipse">
            <a:avLst/>
          </a:prstGeom>
          <a:solidFill>
            <a:srgbClr val="9999FF"/>
          </a:solidFill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"/>
          <p:cNvSpPr/>
          <p:nvPr/>
        </p:nvSpPr>
        <p:spPr>
          <a:xfrm>
            <a:off x="2133600" y="2971800"/>
            <a:ext cx="152400" cy="152400"/>
          </a:xfrm>
          <a:prstGeom prst="ellipse">
            <a:avLst/>
          </a:prstGeom>
          <a:solidFill>
            <a:srgbClr val="9999FF"/>
          </a:solidFill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" name="Google Shape;175;p3"/>
          <p:cNvCxnSpPr/>
          <p:nvPr/>
        </p:nvCxnSpPr>
        <p:spPr>
          <a:xfrm>
            <a:off x="1143000" y="2470150"/>
            <a:ext cx="990600" cy="533400"/>
          </a:xfrm>
          <a:prstGeom prst="straightConnector1">
            <a:avLst/>
          </a:prstGeom>
          <a:noFill/>
          <a:ln cap="flat" cmpd="sng" w="38150">
            <a:solidFill>
              <a:srgbClr val="9933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6" name="Google Shape;176;p3"/>
          <p:cNvCxnSpPr/>
          <p:nvPr/>
        </p:nvCxnSpPr>
        <p:spPr>
          <a:xfrm>
            <a:off x="1600200" y="1981200"/>
            <a:ext cx="990600" cy="533400"/>
          </a:xfrm>
          <a:prstGeom prst="straightConnector1">
            <a:avLst/>
          </a:prstGeom>
          <a:noFill/>
          <a:ln cap="flat" cmpd="sng" w="38150">
            <a:solidFill>
              <a:srgbClr val="9933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7" name="Google Shape;177;p3"/>
          <p:cNvSpPr txBox="1"/>
          <p:nvPr/>
        </p:nvSpPr>
        <p:spPr>
          <a:xfrm>
            <a:off x="1447800" y="2286000"/>
            <a:ext cx="2286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"/>
          <p:cNvSpPr txBox="1"/>
          <p:nvPr/>
        </p:nvSpPr>
        <p:spPr>
          <a:xfrm>
            <a:off x="1981200" y="1828800"/>
            <a:ext cx="2286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"/>
          <p:cNvSpPr txBox="1"/>
          <p:nvPr/>
        </p:nvSpPr>
        <p:spPr>
          <a:xfrm>
            <a:off x="2362200" y="30480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"/>
          <p:cNvSpPr txBox="1"/>
          <p:nvPr/>
        </p:nvSpPr>
        <p:spPr>
          <a:xfrm>
            <a:off x="2209800" y="2971800"/>
            <a:ext cx="3810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"/>
          <p:cNvSpPr txBox="1"/>
          <p:nvPr/>
        </p:nvSpPr>
        <p:spPr>
          <a:xfrm>
            <a:off x="762000" y="2133600"/>
            <a:ext cx="2286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"/>
          <p:cNvSpPr txBox="1"/>
          <p:nvPr/>
        </p:nvSpPr>
        <p:spPr>
          <a:xfrm>
            <a:off x="3505200" y="1905000"/>
            <a:ext cx="4343400" cy="7858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 as displacement: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v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a vector from point P to point Q.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"/>
          <p:cNvSpPr/>
          <p:nvPr/>
        </p:nvSpPr>
        <p:spPr>
          <a:xfrm>
            <a:off x="1143000" y="3733800"/>
            <a:ext cx="6553200" cy="685800"/>
          </a:xfrm>
          <a:prstGeom prst="rect">
            <a:avLst/>
          </a:prstGeom>
          <a:solidFill>
            <a:srgbClr val="CCCCE6">
              <a:alpha val="40392"/>
            </a:srgbClr>
          </a:solidFill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difference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between two points is a vector: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v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Q - 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"/>
          <p:cNvSpPr txBox="1"/>
          <p:nvPr/>
        </p:nvSpPr>
        <p:spPr>
          <a:xfrm>
            <a:off x="457200" y="4572000"/>
            <a:ext cx="16764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Another way: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"/>
          <p:cNvSpPr/>
          <p:nvPr/>
        </p:nvSpPr>
        <p:spPr>
          <a:xfrm>
            <a:off x="1143000" y="5105400"/>
            <a:ext cx="6553200" cy="685800"/>
          </a:xfrm>
          <a:prstGeom prst="rect">
            <a:avLst/>
          </a:prstGeom>
          <a:solidFill>
            <a:srgbClr val="CCCCE6">
              <a:alpha val="40392"/>
            </a:srgbClr>
          </a:solidFill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sum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a point and a vector is a point : P +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v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6" name="Google Shape;186;p3"/>
          <p:cNvGrpSpPr/>
          <p:nvPr/>
        </p:nvGrpSpPr>
        <p:grpSpPr>
          <a:xfrm>
            <a:off x="6553200" y="5195888"/>
            <a:ext cx="2362201" cy="1231899"/>
            <a:chOff x="4128" y="3273"/>
            <a:chExt cx="1488" cy="776"/>
          </a:xfrm>
        </p:grpSpPr>
        <p:sp>
          <p:nvSpPr>
            <p:cNvPr id="187" name="Google Shape;187;p3"/>
            <p:cNvSpPr/>
            <p:nvPr/>
          </p:nvSpPr>
          <p:spPr>
            <a:xfrm>
              <a:off x="4280" y="3913"/>
              <a:ext cx="136" cy="136"/>
            </a:xfrm>
            <a:prstGeom prst="ellipse">
              <a:avLst/>
            </a:prstGeom>
            <a:solidFill>
              <a:srgbClr val="9999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8" name="Google Shape;188;p3"/>
            <p:cNvCxnSpPr/>
            <p:nvPr/>
          </p:nvCxnSpPr>
          <p:spPr>
            <a:xfrm flipH="1" rot="10800000">
              <a:off x="4416" y="3551"/>
              <a:ext cx="912" cy="411"/>
            </a:xfrm>
            <a:prstGeom prst="straightConnector1">
              <a:avLst/>
            </a:prstGeom>
            <a:noFill/>
            <a:ln cap="flat" cmpd="sng" w="57225">
              <a:solidFill>
                <a:srgbClr val="666699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89" name="Google Shape;189;p3"/>
            <p:cNvSpPr/>
            <p:nvPr/>
          </p:nvSpPr>
          <p:spPr>
            <a:xfrm>
              <a:off x="5328" y="3457"/>
              <a:ext cx="144" cy="144"/>
            </a:xfrm>
            <a:prstGeom prst="ellipse">
              <a:avLst/>
            </a:prstGeom>
            <a:solidFill>
              <a:srgbClr val="9999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3"/>
            <p:cNvSpPr txBox="1"/>
            <p:nvPr/>
          </p:nvSpPr>
          <p:spPr>
            <a:xfrm>
              <a:off x="4848" y="3792"/>
              <a:ext cx="192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v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3"/>
            <p:cNvSpPr txBox="1"/>
            <p:nvPr/>
          </p:nvSpPr>
          <p:spPr>
            <a:xfrm>
              <a:off x="5376" y="3273"/>
              <a:ext cx="240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4128" y="3801"/>
              <a:ext cx="144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"/>
          <p:cNvSpPr txBox="1"/>
          <p:nvPr/>
        </p:nvSpPr>
        <p:spPr>
          <a:xfrm>
            <a:off x="447675" y="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Operations on Vectors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"/>
          <p:cNvSpPr txBox="1"/>
          <p:nvPr/>
        </p:nvSpPr>
        <p:spPr>
          <a:xfrm>
            <a:off x="2286000" y="1447800"/>
            <a:ext cx="41148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Two operations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0" name="Google Shape;200;p4"/>
          <p:cNvCxnSpPr/>
          <p:nvPr/>
        </p:nvCxnSpPr>
        <p:spPr>
          <a:xfrm>
            <a:off x="4114800" y="2133600"/>
            <a:ext cx="1588" cy="2743200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1" name="Google Shape;201;p4"/>
          <p:cNvSpPr txBox="1"/>
          <p:nvPr/>
        </p:nvSpPr>
        <p:spPr>
          <a:xfrm>
            <a:off x="609600" y="2133600"/>
            <a:ext cx="3124200" cy="178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2C63"/>
              </a:buClr>
              <a:buSzPts val="2000"/>
              <a:buFont typeface="Times New Roman"/>
              <a:buNone/>
            </a:pPr>
            <a:r>
              <a:rPr b="1" i="0" lang="en-US" sz="2000" u="sng" cap="none" strike="noStrike">
                <a:solidFill>
                  <a:srgbClr val="7C2C63"/>
                </a:solidFill>
                <a:latin typeface="Arial"/>
                <a:ea typeface="Arial"/>
                <a:cs typeface="Arial"/>
                <a:sym typeface="Arial"/>
              </a:rPr>
              <a:t>Addition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(3,5,8),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(-1,2,-4)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(2,7,4)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"/>
          <p:cNvSpPr txBox="1"/>
          <p:nvPr/>
        </p:nvSpPr>
        <p:spPr>
          <a:xfrm>
            <a:off x="4800600" y="2209800"/>
            <a:ext cx="3581400" cy="178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2C63"/>
              </a:buClr>
              <a:buSzPts val="2000"/>
              <a:buFont typeface="Times New Roman"/>
              <a:buNone/>
            </a:pPr>
            <a:r>
              <a:rPr b="1" i="0" lang="en-US" sz="2000" u="sng" cap="none" strike="noStrike">
                <a:solidFill>
                  <a:srgbClr val="7C2C63"/>
                </a:solidFill>
                <a:latin typeface="Arial"/>
                <a:ea typeface="Arial"/>
                <a:cs typeface="Arial"/>
                <a:sym typeface="Arial"/>
              </a:rPr>
              <a:t>Multiplication be scalars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(3,-5,8), s =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(15,-25,40)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4"/>
          <p:cNvSpPr txBox="1"/>
          <p:nvPr/>
        </p:nvSpPr>
        <p:spPr>
          <a:xfrm>
            <a:off x="1219200" y="5105400"/>
            <a:ext cx="57912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operations are done</a:t>
            </a:r>
            <a:r>
              <a:rPr b="1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componentwise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"/>
          <p:cNvSpPr txBox="1"/>
          <p:nvPr/>
        </p:nvSpPr>
        <p:spPr>
          <a:xfrm>
            <a:off x="447675" y="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Operations on vectors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5"/>
          <p:cNvSpPr txBox="1"/>
          <p:nvPr/>
        </p:nvSpPr>
        <p:spPr>
          <a:xfrm>
            <a:off x="3352800" y="1524000"/>
            <a:ext cx="19812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1" name="Google Shape;211;p5"/>
          <p:cNvGrpSpPr/>
          <p:nvPr/>
        </p:nvGrpSpPr>
        <p:grpSpPr>
          <a:xfrm>
            <a:off x="609600" y="2055812"/>
            <a:ext cx="3352801" cy="1360488"/>
            <a:chOff x="384" y="1295"/>
            <a:chExt cx="2112" cy="857"/>
          </a:xfrm>
        </p:grpSpPr>
        <p:cxnSp>
          <p:nvCxnSpPr>
            <p:cNvPr id="212" name="Google Shape;212;p5"/>
            <p:cNvCxnSpPr/>
            <p:nvPr/>
          </p:nvCxnSpPr>
          <p:spPr>
            <a:xfrm flipH="1" rot="10800000">
              <a:off x="384" y="1295"/>
              <a:ext cx="1248" cy="434"/>
            </a:xfrm>
            <a:prstGeom prst="straightConnector1">
              <a:avLst/>
            </a:prstGeom>
            <a:noFill/>
            <a:ln cap="flat" cmpd="sng" w="38150">
              <a:solidFill>
                <a:srgbClr val="666699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13" name="Google Shape;213;p5"/>
            <p:cNvCxnSpPr/>
            <p:nvPr/>
          </p:nvCxnSpPr>
          <p:spPr>
            <a:xfrm>
              <a:off x="384" y="1728"/>
              <a:ext cx="912" cy="384"/>
            </a:xfrm>
            <a:prstGeom prst="straightConnector1">
              <a:avLst/>
            </a:prstGeom>
            <a:noFill/>
            <a:ln cap="flat" cmpd="sng" w="38150">
              <a:solidFill>
                <a:srgbClr val="666699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214" name="Google Shape;214;p5"/>
            <p:cNvGrpSpPr/>
            <p:nvPr/>
          </p:nvGrpSpPr>
          <p:grpSpPr>
            <a:xfrm>
              <a:off x="1248" y="1296"/>
              <a:ext cx="1248" cy="817"/>
              <a:chOff x="1248" y="1296"/>
              <a:chExt cx="1248" cy="817"/>
            </a:xfrm>
          </p:grpSpPr>
          <p:cxnSp>
            <p:nvCxnSpPr>
              <p:cNvPr id="215" name="Google Shape;215;p5"/>
              <p:cNvCxnSpPr/>
              <p:nvPr/>
            </p:nvCxnSpPr>
            <p:spPr>
              <a:xfrm>
                <a:off x="1584" y="1296"/>
                <a:ext cx="912" cy="384"/>
              </a:xfrm>
              <a:prstGeom prst="straightConnector1">
                <a:avLst/>
              </a:prstGeom>
              <a:noFill/>
              <a:ln cap="flat" cmpd="sng" w="12600">
                <a:solidFill>
                  <a:srgbClr val="666699"/>
                </a:solidFill>
                <a:prstDash val="dot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6" name="Google Shape;216;p5"/>
              <p:cNvCxnSpPr/>
              <p:nvPr/>
            </p:nvCxnSpPr>
            <p:spPr>
              <a:xfrm flipH="1" rot="10800000">
                <a:off x="1248" y="1679"/>
                <a:ext cx="1248" cy="434"/>
              </a:xfrm>
              <a:prstGeom prst="straightConnector1">
                <a:avLst/>
              </a:prstGeom>
              <a:noFill/>
              <a:ln cap="flat" cmpd="sng" w="12600">
                <a:solidFill>
                  <a:srgbClr val="666699"/>
                </a:solidFill>
                <a:prstDash val="dot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217" name="Google Shape;217;p5"/>
            <p:cNvCxnSpPr/>
            <p:nvPr/>
          </p:nvCxnSpPr>
          <p:spPr>
            <a:xfrm flipH="1" rot="10800000">
              <a:off x="384" y="1679"/>
              <a:ext cx="2064" cy="50"/>
            </a:xfrm>
            <a:prstGeom prst="straightConnector1">
              <a:avLst/>
            </a:prstGeom>
            <a:noFill/>
            <a:ln cap="flat" cmpd="sng" w="38150">
              <a:solidFill>
                <a:srgbClr val="9933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18" name="Google Shape;218;p5"/>
            <p:cNvSpPr txBox="1"/>
            <p:nvPr/>
          </p:nvSpPr>
          <p:spPr>
            <a:xfrm>
              <a:off x="576" y="1920"/>
              <a:ext cx="192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5"/>
            <p:cNvSpPr txBox="1"/>
            <p:nvPr/>
          </p:nvSpPr>
          <p:spPr>
            <a:xfrm>
              <a:off x="768" y="1296"/>
              <a:ext cx="192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5"/>
            <p:cNvSpPr txBox="1"/>
            <p:nvPr/>
          </p:nvSpPr>
          <p:spPr>
            <a:xfrm>
              <a:off x="1296" y="1536"/>
              <a:ext cx="384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a+ 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1" name="Google Shape;221;p5"/>
          <p:cNvGrpSpPr/>
          <p:nvPr/>
        </p:nvGrpSpPr>
        <p:grpSpPr>
          <a:xfrm>
            <a:off x="4495800" y="2438400"/>
            <a:ext cx="3352801" cy="977901"/>
            <a:chOff x="2832" y="1536"/>
            <a:chExt cx="2112" cy="616"/>
          </a:xfrm>
        </p:grpSpPr>
        <p:cxnSp>
          <p:nvCxnSpPr>
            <p:cNvPr id="222" name="Google Shape;222;p5"/>
            <p:cNvCxnSpPr/>
            <p:nvPr/>
          </p:nvCxnSpPr>
          <p:spPr>
            <a:xfrm flipH="1" rot="10800000">
              <a:off x="3696" y="1689"/>
              <a:ext cx="1248" cy="434"/>
            </a:xfrm>
            <a:prstGeom prst="straightConnector1">
              <a:avLst/>
            </a:prstGeom>
            <a:noFill/>
            <a:ln cap="flat" cmpd="sng" w="38150">
              <a:solidFill>
                <a:srgbClr val="666699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23" name="Google Shape;223;p5"/>
            <p:cNvCxnSpPr/>
            <p:nvPr/>
          </p:nvCxnSpPr>
          <p:spPr>
            <a:xfrm>
              <a:off x="2832" y="1728"/>
              <a:ext cx="912" cy="384"/>
            </a:xfrm>
            <a:prstGeom prst="straightConnector1">
              <a:avLst/>
            </a:prstGeom>
            <a:noFill/>
            <a:ln cap="flat" cmpd="sng" w="38150">
              <a:solidFill>
                <a:srgbClr val="666699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24" name="Google Shape;224;p5"/>
            <p:cNvCxnSpPr/>
            <p:nvPr/>
          </p:nvCxnSpPr>
          <p:spPr>
            <a:xfrm flipH="1" rot="10800000">
              <a:off x="2832" y="1679"/>
              <a:ext cx="2064" cy="50"/>
            </a:xfrm>
            <a:prstGeom prst="straightConnector1">
              <a:avLst/>
            </a:prstGeom>
            <a:noFill/>
            <a:ln cap="flat" cmpd="sng" w="38150">
              <a:solidFill>
                <a:srgbClr val="9933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25" name="Google Shape;225;p5"/>
            <p:cNvSpPr txBox="1"/>
            <p:nvPr/>
          </p:nvSpPr>
          <p:spPr>
            <a:xfrm>
              <a:off x="3024" y="1920"/>
              <a:ext cx="192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5"/>
            <p:cNvSpPr txBox="1"/>
            <p:nvPr/>
          </p:nvSpPr>
          <p:spPr>
            <a:xfrm>
              <a:off x="3888" y="1776"/>
              <a:ext cx="192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5"/>
            <p:cNvSpPr txBox="1"/>
            <p:nvPr/>
          </p:nvSpPr>
          <p:spPr>
            <a:xfrm>
              <a:off x="3744" y="1536"/>
              <a:ext cx="384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a+ 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8" name="Google Shape;228;p5"/>
          <p:cNvSpPr txBox="1"/>
          <p:nvPr/>
        </p:nvSpPr>
        <p:spPr>
          <a:xfrm>
            <a:off x="2667000" y="3733800"/>
            <a:ext cx="38100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Multiplication by scalar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9" name="Google Shape;229;p5"/>
          <p:cNvCxnSpPr/>
          <p:nvPr/>
        </p:nvCxnSpPr>
        <p:spPr>
          <a:xfrm flipH="1" rot="10800000">
            <a:off x="2590800" y="4799013"/>
            <a:ext cx="1371600" cy="612775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0" name="Google Shape;230;p5"/>
          <p:cNvCxnSpPr/>
          <p:nvPr/>
        </p:nvCxnSpPr>
        <p:spPr>
          <a:xfrm flipH="1" rot="10800000">
            <a:off x="2895600" y="4570413"/>
            <a:ext cx="2667000" cy="1298575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31" name="Google Shape;231;p5"/>
          <p:cNvSpPr txBox="1"/>
          <p:nvPr/>
        </p:nvSpPr>
        <p:spPr>
          <a:xfrm>
            <a:off x="2667000" y="4876800"/>
            <a:ext cx="3810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5"/>
          <p:cNvSpPr txBox="1"/>
          <p:nvPr/>
        </p:nvSpPr>
        <p:spPr>
          <a:xfrm>
            <a:off x="4191000" y="5195888"/>
            <a:ext cx="6858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3" name="Google Shape;233;p5"/>
          <p:cNvCxnSpPr/>
          <p:nvPr/>
        </p:nvCxnSpPr>
        <p:spPr>
          <a:xfrm flipH="1" rot="10800000">
            <a:off x="3886200" y="5561013"/>
            <a:ext cx="1371600" cy="612775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solid"/>
            <a:miter lim="800000"/>
            <a:headEnd len="med" w="med" type="triangle"/>
            <a:tailEnd len="sm" w="sm" type="none"/>
          </a:ln>
        </p:spPr>
      </p:cxnSp>
      <p:sp>
        <p:nvSpPr>
          <p:cNvPr id="234" name="Google Shape;234;p5"/>
          <p:cNvSpPr txBox="1"/>
          <p:nvPr/>
        </p:nvSpPr>
        <p:spPr>
          <a:xfrm>
            <a:off x="4495800" y="6019800"/>
            <a:ext cx="6096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6"/>
          <p:cNvSpPr txBox="1"/>
          <p:nvPr/>
        </p:nvSpPr>
        <p:spPr>
          <a:xfrm>
            <a:off x="447675" y="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Operations on vectors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6"/>
          <p:cNvSpPr txBox="1"/>
          <p:nvPr/>
        </p:nvSpPr>
        <p:spPr>
          <a:xfrm>
            <a:off x="3200400" y="1676400"/>
            <a:ext cx="28956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Subtraction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2" name="Google Shape;242;p6"/>
          <p:cNvGrpSpPr/>
          <p:nvPr/>
        </p:nvGrpSpPr>
        <p:grpSpPr>
          <a:xfrm>
            <a:off x="685800" y="2741612"/>
            <a:ext cx="7543801" cy="1589088"/>
            <a:chOff x="432" y="1727"/>
            <a:chExt cx="4752" cy="1001"/>
          </a:xfrm>
        </p:grpSpPr>
        <p:cxnSp>
          <p:nvCxnSpPr>
            <p:cNvPr id="243" name="Google Shape;243;p6"/>
            <p:cNvCxnSpPr/>
            <p:nvPr/>
          </p:nvCxnSpPr>
          <p:spPr>
            <a:xfrm flipH="1" rot="10800000">
              <a:off x="432" y="1775"/>
              <a:ext cx="624" cy="866"/>
            </a:xfrm>
            <a:prstGeom prst="straightConnector1">
              <a:avLst/>
            </a:prstGeom>
            <a:noFill/>
            <a:ln cap="flat" cmpd="sng" w="38150">
              <a:solidFill>
                <a:srgbClr val="666699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44" name="Google Shape;244;p6"/>
            <p:cNvCxnSpPr/>
            <p:nvPr/>
          </p:nvCxnSpPr>
          <p:spPr>
            <a:xfrm flipH="1" rot="10800000">
              <a:off x="432" y="2255"/>
              <a:ext cx="912" cy="386"/>
            </a:xfrm>
            <a:prstGeom prst="straightConnector1">
              <a:avLst/>
            </a:prstGeom>
            <a:noFill/>
            <a:ln cap="flat" cmpd="sng" w="38150">
              <a:solidFill>
                <a:srgbClr val="666699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45" name="Google Shape;245;p6"/>
            <p:cNvCxnSpPr/>
            <p:nvPr/>
          </p:nvCxnSpPr>
          <p:spPr>
            <a:xfrm flipH="1" rot="10800000">
              <a:off x="2112" y="1727"/>
              <a:ext cx="624" cy="866"/>
            </a:xfrm>
            <a:prstGeom prst="straightConnector1">
              <a:avLst/>
            </a:prstGeom>
            <a:noFill/>
            <a:ln cap="flat" cmpd="sng" w="38150">
              <a:solidFill>
                <a:srgbClr val="666699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46" name="Google Shape;246;p6"/>
            <p:cNvCxnSpPr/>
            <p:nvPr/>
          </p:nvCxnSpPr>
          <p:spPr>
            <a:xfrm flipH="1" rot="10800000">
              <a:off x="2112" y="2207"/>
              <a:ext cx="912" cy="386"/>
            </a:xfrm>
            <a:prstGeom prst="straightConnector1">
              <a:avLst/>
            </a:prstGeom>
            <a:noFill/>
            <a:ln cap="flat" cmpd="sng" w="38150">
              <a:solidFill>
                <a:srgbClr val="666699"/>
              </a:solidFill>
              <a:prstDash val="solid"/>
              <a:miter lim="800000"/>
              <a:headEnd len="med" w="med" type="triangle"/>
              <a:tailEnd len="sm" w="sm" type="none"/>
            </a:ln>
          </p:spPr>
        </p:cxnSp>
        <p:cxnSp>
          <p:nvCxnSpPr>
            <p:cNvPr id="247" name="Google Shape;247;p6"/>
            <p:cNvCxnSpPr/>
            <p:nvPr/>
          </p:nvCxnSpPr>
          <p:spPr>
            <a:xfrm rot="10800000">
              <a:off x="2735" y="1775"/>
              <a:ext cx="290" cy="434"/>
            </a:xfrm>
            <a:prstGeom prst="straightConnector1">
              <a:avLst/>
            </a:prstGeom>
            <a:noFill/>
            <a:ln cap="flat" cmpd="sng" w="38150">
              <a:solidFill>
                <a:srgbClr val="9933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48" name="Google Shape;248;p6"/>
            <p:cNvCxnSpPr/>
            <p:nvPr/>
          </p:nvCxnSpPr>
          <p:spPr>
            <a:xfrm flipH="1" rot="10800000">
              <a:off x="3984" y="1727"/>
              <a:ext cx="624" cy="866"/>
            </a:xfrm>
            <a:prstGeom prst="straightConnector1">
              <a:avLst/>
            </a:prstGeom>
            <a:noFill/>
            <a:ln cap="flat" cmpd="sng" w="38150">
              <a:solidFill>
                <a:srgbClr val="666699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49" name="Google Shape;249;p6"/>
            <p:cNvCxnSpPr/>
            <p:nvPr/>
          </p:nvCxnSpPr>
          <p:spPr>
            <a:xfrm flipH="1" rot="10800000">
              <a:off x="3984" y="2197"/>
              <a:ext cx="912" cy="386"/>
            </a:xfrm>
            <a:prstGeom prst="straightConnector1">
              <a:avLst/>
            </a:prstGeom>
            <a:noFill/>
            <a:ln cap="flat" cmpd="sng" w="38150">
              <a:solidFill>
                <a:srgbClr val="666699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50" name="Google Shape;250;p6"/>
            <p:cNvCxnSpPr/>
            <p:nvPr/>
          </p:nvCxnSpPr>
          <p:spPr>
            <a:xfrm rot="10800000">
              <a:off x="4599" y="1765"/>
              <a:ext cx="290" cy="434"/>
            </a:xfrm>
            <a:prstGeom prst="straightConnector1">
              <a:avLst/>
            </a:prstGeom>
            <a:noFill/>
            <a:ln cap="flat" cmpd="sng" w="38150">
              <a:solidFill>
                <a:srgbClr val="9933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51" name="Google Shape;251;p6"/>
            <p:cNvSpPr txBox="1"/>
            <p:nvPr/>
          </p:nvSpPr>
          <p:spPr>
            <a:xfrm>
              <a:off x="528" y="1968"/>
              <a:ext cx="192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6"/>
            <p:cNvSpPr txBox="1"/>
            <p:nvPr/>
          </p:nvSpPr>
          <p:spPr>
            <a:xfrm>
              <a:off x="816" y="2496"/>
              <a:ext cx="192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6"/>
            <p:cNvSpPr txBox="1"/>
            <p:nvPr/>
          </p:nvSpPr>
          <p:spPr>
            <a:xfrm>
              <a:off x="2112" y="2016"/>
              <a:ext cx="192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6"/>
            <p:cNvSpPr txBox="1"/>
            <p:nvPr/>
          </p:nvSpPr>
          <p:spPr>
            <a:xfrm>
              <a:off x="2496" y="2496"/>
              <a:ext cx="384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6"/>
            <p:cNvSpPr txBox="1"/>
            <p:nvPr/>
          </p:nvSpPr>
          <p:spPr>
            <a:xfrm>
              <a:off x="2928" y="1824"/>
              <a:ext cx="432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a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6"/>
            <p:cNvSpPr txBox="1"/>
            <p:nvPr/>
          </p:nvSpPr>
          <p:spPr>
            <a:xfrm>
              <a:off x="3936" y="1968"/>
              <a:ext cx="192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6"/>
            <p:cNvSpPr txBox="1"/>
            <p:nvPr/>
          </p:nvSpPr>
          <p:spPr>
            <a:xfrm>
              <a:off x="4320" y="2448"/>
              <a:ext cx="384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6"/>
            <p:cNvSpPr txBox="1"/>
            <p:nvPr/>
          </p:nvSpPr>
          <p:spPr>
            <a:xfrm>
              <a:off x="4752" y="1776"/>
              <a:ext cx="432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a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7"/>
          <p:cNvSpPr txBox="1"/>
          <p:nvPr/>
        </p:nvSpPr>
        <p:spPr>
          <a:xfrm>
            <a:off x="447675" y="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Properties of vectors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7"/>
          <p:cNvSpPr txBox="1"/>
          <p:nvPr/>
        </p:nvSpPr>
        <p:spPr>
          <a:xfrm>
            <a:off x="2514600" y="1392238"/>
            <a:ext cx="4038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3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US" sz="2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Length or size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6" name="Google Shape;266;p7"/>
          <p:cNvGrpSpPr/>
          <p:nvPr/>
        </p:nvGrpSpPr>
        <p:grpSpPr>
          <a:xfrm>
            <a:off x="2590800" y="2459038"/>
            <a:ext cx="3276601" cy="588963"/>
            <a:chOff x="1632" y="1549"/>
            <a:chExt cx="2064" cy="371"/>
          </a:xfrm>
        </p:grpSpPr>
        <p:graphicFrame>
          <p:nvGraphicFramePr>
            <p:cNvPr id="267" name="Google Shape;267;p7"/>
            <p:cNvGraphicFramePr/>
            <p:nvPr/>
          </p:nvGraphicFramePr>
          <p:xfrm>
            <a:off x="1632" y="1549"/>
            <a:ext cx="2064" cy="371"/>
          </p:xfrm>
          <a:graphic>
            <a:graphicData uri="http://schemas.openxmlformats.org/presentationml/2006/ole">
              <mc:AlternateContent>
                <mc:Choice Requires="v">
                  <p:oleObj r:id="rId4" imgH="371" imgW="2064" progId="" spid="_x0000_s1">
                    <p:embed/>
                  </p:oleObj>
                </mc:Choice>
                <mc:Fallback>
                  <p:oleObj r:id="rId5" imgH="371" imgW="2064" progId="">
                    <p:embed/>
                    <p:pic>
                      <p:nvPicPr>
                        <p:cNvPr id="267" name="Google Shape;267;p7"/>
                        <p:cNvPicPr preferRelativeResize="0"/>
                        <p:nvPr/>
                      </p:nvPicPr>
                      <p:blipFill rotWithShape="1">
                        <a:blip r:embed="rId6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1632" y="1549"/>
                          <a:ext cx="2064" cy="3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8" name="Google Shape;268;p7"/>
            <p:cNvSpPr txBox="1"/>
            <p:nvPr/>
          </p:nvSpPr>
          <p:spPr>
            <a:xfrm>
              <a:off x="1632" y="1549"/>
              <a:ext cx="2064" cy="3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9" name="Google Shape;269;p7"/>
          <p:cNvSpPr txBox="1"/>
          <p:nvPr/>
        </p:nvSpPr>
        <p:spPr>
          <a:xfrm>
            <a:off x="3276600" y="2001838"/>
            <a:ext cx="24384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w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(w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,w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,…,w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7"/>
          <p:cNvSpPr txBox="1"/>
          <p:nvPr/>
        </p:nvSpPr>
        <p:spPr>
          <a:xfrm>
            <a:off x="3276600" y="3184525"/>
            <a:ext cx="25908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Unit vector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1" name="Google Shape;271;p7"/>
          <p:cNvGrpSpPr/>
          <p:nvPr/>
        </p:nvGrpSpPr>
        <p:grpSpPr>
          <a:xfrm>
            <a:off x="3886200" y="3870325"/>
            <a:ext cx="762001" cy="720726"/>
            <a:chOff x="2448" y="2438"/>
            <a:chExt cx="480" cy="454"/>
          </a:xfrm>
        </p:grpSpPr>
        <p:graphicFrame>
          <p:nvGraphicFramePr>
            <p:cNvPr id="272" name="Google Shape;272;p7"/>
            <p:cNvGraphicFramePr/>
            <p:nvPr/>
          </p:nvGraphicFramePr>
          <p:xfrm>
            <a:off x="2448" y="2438"/>
            <a:ext cx="480" cy="454"/>
          </p:xfrm>
          <a:graphic>
            <a:graphicData uri="http://schemas.openxmlformats.org/presentationml/2006/ole">
              <mc:AlternateContent>
                <mc:Choice Requires="v">
                  <p:oleObj r:id="rId7" imgH="454" imgW="480" progId="" spid="_x0000_s2">
                    <p:embed/>
                  </p:oleObj>
                </mc:Choice>
                <mc:Fallback>
                  <p:oleObj r:id="rId8" imgH="454" imgW="480" progId="">
                    <p:embed/>
                    <p:pic>
                      <p:nvPicPr>
                        <p:cNvPr id="272" name="Google Shape;272;p7"/>
                        <p:cNvPicPr preferRelativeResize="0"/>
                        <p:nvPr/>
                      </p:nvPicPr>
                      <p:blipFill rotWithShape="1">
                        <a:blip r:embed="rId9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2448" y="2438"/>
                          <a:ext cx="480" cy="4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3" name="Google Shape;273;p7"/>
            <p:cNvSpPr txBox="1"/>
            <p:nvPr/>
          </p:nvSpPr>
          <p:spPr>
            <a:xfrm>
              <a:off x="2448" y="2438"/>
              <a:ext cx="480" cy="4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4" name="Google Shape;274;p7"/>
          <p:cNvSpPr txBox="1"/>
          <p:nvPr/>
        </p:nvSpPr>
        <p:spPr>
          <a:xfrm>
            <a:off x="2286000" y="4648200"/>
            <a:ext cx="4876800" cy="8620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process is called </a:t>
            </a:r>
            <a:r>
              <a:rPr b="1" i="0" lang="en-US" sz="2000" u="none" cap="none" strike="noStrike">
                <a:solidFill>
                  <a:srgbClr val="965D36"/>
                </a:solidFill>
                <a:latin typeface="Arial"/>
                <a:ea typeface="Arial"/>
                <a:cs typeface="Arial"/>
                <a:sym typeface="Arial"/>
              </a:rPr>
              <a:t>normalizing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Used to refer </a:t>
            </a:r>
            <a:r>
              <a:rPr b="1" i="0" lang="en-US" sz="2000" u="none" cap="none" strike="noStrike">
                <a:solidFill>
                  <a:srgbClr val="965D36"/>
                </a:solidFill>
                <a:latin typeface="Arial"/>
                <a:ea typeface="Arial"/>
                <a:cs typeface="Arial"/>
                <a:sym typeface="Arial"/>
              </a:rPr>
              <a:t>direction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457200" y="5638800"/>
            <a:ext cx="8153400" cy="685800"/>
          </a:xfrm>
          <a:prstGeom prst="rect">
            <a:avLst/>
          </a:prstGeom>
          <a:solidFill>
            <a:srgbClr val="C0C0C0">
              <a:alpha val="40392"/>
            </a:srgbClr>
          </a:solidFill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standard unit vectors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i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(1,0,0),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j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(0,1,0) and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k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(0,0,1)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"/>
          <p:cNvSpPr txBox="1"/>
          <p:nvPr/>
        </p:nvSpPr>
        <p:spPr>
          <a:xfrm>
            <a:off x="447675" y="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Dot Product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8"/>
          <p:cNvSpPr txBox="1"/>
          <p:nvPr/>
        </p:nvSpPr>
        <p:spPr>
          <a:xfrm>
            <a:off x="2820400" y="2302025"/>
            <a:ext cx="2667000" cy="9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8"/>
          <p:cNvSpPr txBox="1"/>
          <p:nvPr/>
        </p:nvSpPr>
        <p:spPr>
          <a:xfrm>
            <a:off x="1143000" y="1752600"/>
            <a:ext cx="6858000" cy="9255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dot product </a:t>
            </a:r>
            <a:r>
              <a:rPr b="1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two vectors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v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(v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,v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,…,v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and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w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(w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,w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,…w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8"/>
          <p:cNvSpPr txBox="1"/>
          <p:nvPr/>
        </p:nvSpPr>
        <p:spPr>
          <a:xfrm>
            <a:off x="1143000" y="3657600"/>
            <a:ext cx="7239000" cy="20351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-341313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Properties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3" lvl="0" marL="342900" marR="0" rtl="0" algn="l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Symmetry: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3" lvl="0" marL="342900" marR="0" rtl="0" algn="l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Linearity: (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·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3" lvl="0" marL="342900" marR="0" rtl="0" algn="l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Homogeneity: (s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·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s(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3" lvl="0" marL="342900" marR="0" rtl="0" algn="l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AutoNum type="arabicPeriod"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b="0" i="0" lang="en-US" sz="18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b="0" baseline="30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r>
              <a:rPr b="0" i="0" lang="en-US" sz="18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9"/>
          <p:cNvSpPr txBox="1"/>
          <p:nvPr/>
        </p:nvSpPr>
        <p:spPr>
          <a:xfrm>
            <a:off x="447675" y="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Application of Dot Product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9"/>
          <p:cNvSpPr txBox="1"/>
          <p:nvPr/>
        </p:nvSpPr>
        <p:spPr>
          <a:xfrm>
            <a:off x="457200" y="1562100"/>
            <a:ext cx="5122863" cy="43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3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Angle between two unit vectors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2" name="Google Shape;292;p9"/>
          <p:cNvCxnSpPr/>
          <p:nvPr/>
        </p:nvCxnSpPr>
        <p:spPr>
          <a:xfrm flipH="1" rot="10800000">
            <a:off x="1676400" y="2513013"/>
            <a:ext cx="1588" cy="1984375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93" name="Google Shape;293;p9"/>
          <p:cNvCxnSpPr/>
          <p:nvPr/>
        </p:nvCxnSpPr>
        <p:spPr>
          <a:xfrm>
            <a:off x="1676400" y="4495800"/>
            <a:ext cx="2743200" cy="1588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94" name="Google Shape;294;p9"/>
          <p:cNvCxnSpPr/>
          <p:nvPr/>
        </p:nvCxnSpPr>
        <p:spPr>
          <a:xfrm flipH="1" rot="10800000">
            <a:off x="1676400" y="2817813"/>
            <a:ext cx="914400" cy="1679575"/>
          </a:xfrm>
          <a:prstGeom prst="straightConnector1">
            <a:avLst/>
          </a:prstGeom>
          <a:noFill/>
          <a:ln cap="flat" cmpd="sng" w="28425">
            <a:solidFill>
              <a:srgbClr val="9933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95" name="Google Shape;295;p9"/>
          <p:cNvCxnSpPr/>
          <p:nvPr/>
        </p:nvCxnSpPr>
        <p:spPr>
          <a:xfrm flipH="1" rot="10800000">
            <a:off x="1676400" y="3427413"/>
            <a:ext cx="1676400" cy="1069975"/>
          </a:xfrm>
          <a:prstGeom prst="straightConnector1">
            <a:avLst/>
          </a:prstGeom>
          <a:noFill/>
          <a:ln cap="flat" cmpd="sng" w="28425">
            <a:solidFill>
              <a:srgbClr val="9933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96" name="Google Shape;296;p9"/>
          <p:cNvSpPr/>
          <p:nvPr/>
        </p:nvSpPr>
        <p:spPr>
          <a:xfrm flipH="1" rot="9600000">
            <a:off x="1717675" y="4083050"/>
            <a:ext cx="485775" cy="485775"/>
          </a:xfrm>
          <a:custGeom>
            <a:rect b="b" l="l" r="r" t="t"/>
            <a:pathLst>
              <a:path extrusionOk="0" fill="none" h="25298" w="21600">
                <a:moveTo>
                  <a:pt x="20071" y="-1"/>
                </a:moveTo>
                <a:cubicBezTo>
                  <a:pt x="21081" y="2539"/>
                  <a:pt x="21600" y="5248"/>
                  <a:pt x="21600" y="7982"/>
                </a:cubicBezTo>
                <a:cubicBezTo>
                  <a:pt x="21600" y="14801"/>
                  <a:pt x="18379" y="21221"/>
                  <a:pt x="12911" y="25297"/>
                </a:cubicBezTo>
              </a:path>
              <a:path extrusionOk="0" h="25298" w="21600">
                <a:moveTo>
                  <a:pt x="20071" y="-1"/>
                </a:moveTo>
                <a:cubicBezTo>
                  <a:pt x="21081" y="2539"/>
                  <a:pt x="21600" y="5248"/>
                  <a:pt x="21600" y="7982"/>
                </a:cubicBezTo>
                <a:cubicBezTo>
                  <a:pt x="21600" y="14801"/>
                  <a:pt x="18379" y="21221"/>
                  <a:pt x="12911" y="25297"/>
                </a:cubicBezTo>
                <a:lnTo>
                  <a:pt x="0" y="7982"/>
                </a:lnTo>
                <a:lnTo>
                  <a:pt x="20071" y="-1"/>
                </a:lnTo>
                <a:close/>
              </a:path>
            </a:pathLst>
          </a:custGeom>
          <a:noFill/>
          <a:ln cap="flat" cmpd="sng" w="190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9"/>
          <p:cNvSpPr/>
          <p:nvPr/>
        </p:nvSpPr>
        <p:spPr>
          <a:xfrm flipH="1" rot="9960000">
            <a:off x="2139950" y="4124325"/>
            <a:ext cx="381000" cy="457200"/>
          </a:xfrm>
          <a:custGeom>
            <a:rect b="b" l="l" r="r" t="t"/>
            <a:pathLst>
              <a:path extrusionOk="0" fill="none" h="25298" w="21600">
                <a:moveTo>
                  <a:pt x="20071" y="-1"/>
                </a:moveTo>
                <a:cubicBezTo>
                  <a:pt x="21081" y="2539"/>
                  <a:pt x="21600" y="5248"/>
                  <a:pt x="21600" y="7982"/>
                </a:cubicBezTo>
                <a:cubicBezTo>
                  <a:pt x="21600" y="14801"/>
                  <a:pt x="18379" y="21221"/>
                  <a:pt x="12911" y="25297"/>
                </a:cubicBezTo>
              </a:path>
              <a:path extrusionOk="0" h="25298" w="21600">
                <a:moveTo>
                  <a:pt x="20071" y="-1"/>
                </a:moveTo>
                <a:cubicBezTo>
                  <a:pt x="21081" y="2539"/>
                  <a:pt x="21600" y="5248"/>
                  <a:pt x="21600" y="7982"/>
                </a:cubicBezTo>
                <a:cubicBezTo>
                  <a:pt x="21600" y="14801"/>
                  <a:pt x="18379" y="21221"/>
                  <a:pt x="12911" y="25297"/>
                </a:cubicBezTo>
                <a:lnTo>
                  <a:pt x="0" y="7982"/>
                </a:lnTo>
                <a:lnTo>
                  <a:pt x="20071" y="-1"/>
                </a:lnTo>
                <a:close/>
              </a:path>
            </a:pathLst>
          </a:custGeom>
          <a:noFill/>
          <a:ln cap="flat" cmpd="sng" w="190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9"/>
          <p:cNvSpPr txBox="1"/>
          <p:nvPr/>
        </p:nvSpPr>
        <p:spPr>
          <a:xfrm>
            <a:off x="2514600" y="2590800"/>
            <a:ext cx="3048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9"/>
          <p:cNvSpPr txBox="1"/>
          <p:nvPr/>
        </p:nvSpPr>
        <p:spPr>
          <a:xfrm>
            <a:off x="3429000" y="3200400"/>
            <a:ext cx="3048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9"/>
          <p:cNvSpPr txBox="1"/>
          <p:nvPr/>
        </p:nvSpPr>
        <p:spPr>
          <a:xfrm>
            <a:off x="1219200" y="2438400"/>
            <a:ext cx="3048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9"/>
          <p:cNvSpPr txBox="1"/>
          <p:nvPr/>
        </p:nvSpPr>
        <p:spPr>
          <a:xfrm>
            <a:off x="4419600" y="4343400"/>
            <a:ext cx="3048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9"/>
          <p:cNvSpPr txBox="1"/>
          <p:nvPr/>
        </p:nvSpPr>
        <p:spPr>
          <a:xfrm>
            <a:off x="2428875" y="4038600"/>
            <a:ext cx="5334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Φ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9"/>
          <p:cNvSpPr txBox="1"/>
          <p:nvPr/>
        </p:nvSpPr>
        <p:spPr>
          <a:xfrm>
            <a:off x="1920875" y="3748088"/>
            <a:ext cx="5334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Φ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9"/>
          <p:cNvSpPr txBox="1"/>
          <p:nvPr/>
        </p:nvSpPr>
        <p:spPr>
          <a:xfrm>
            <a:off x="2286000" y="3505200"/>
            <a:ext cx="3048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9"/>
          <p:cNvSpPr txBox="1"/>
          <p:nvPr/>
        </p:nvSpPr>
        <p:spPr>
          <a:xfrm>
            <a:off x="4572000" y="3200400"/>
            <a:ext cx="3276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6" name="Google Shape;306;p9"/>
          <p:cNvGrpSpPr/>
          <p:nvPr/>
        </p:nvGrpSpPr>
        <p:grpSpPr>
          <a:xfrm>
            <a:off x="4953000" y="3276600"/>
            <a:ext cx="1970088" cy="685801"/>
            <a:chOff x="3120" y="2064"/>
            <a:chExt cx="1241" cy="432"/>
          </a:xfrm>
        </p:grpSpPr>
        <p:graphicFrame>
          <p:nvGraphicFramePr>
            <p:cNvPr id="307" name="Google Shape;307;p9"/>
            <p:cNvGraphicFramePr/>
            <p:nvPr/>
          </p:nvGraphicFramePr>
          <p:xfrm>
            <a:off x="3120" y="2064"/>
            <a:ext cx="1241" cy="432"/>
          </p:xfrm>
          <a:graphic>
            <a:graphicData uri="http://schemas.openxmlformats.org/presentationml/2006/ole">
              <mc:AlternateContent>
                <mc:Choice Requires="v">
                  <p:oleObj r:id="rId4" imgH="432" imgW="1241" progId="" spid="_x0000_s1">
                    <p:embed/>
                  </p:oleObj>
                </mc:Choice>
                <mc:Fallback>
                  <p:oleObj r:id="rId5" imgH="432" imgW="1241" progId="">
                    <p:embed/>
                    <p:pic>
                      <p:nvPicPr>
                        <p:cNvPr id="307" name="Google Shape;307;p9"/>
                        <p:cNvPicPr preferRelativeResize="0"/>
                        <p:nvPr/>
                      </p:nvPicPr>
                      <p:blipFill rotWithShape="1">
                        <a:blip r:embed="rId6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3120" y="2064"/>
                          <a:ext cx="1241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" name="Google Shape;308;p9"/>
            <p:cNvSpPr txBox="1"/>
            <p:nvPr/>
          </p:nvSpPr>
          <p:spPr>
            <a:xfrm>
              <a:off x="3120" y="2064"/>
              <a:ext cx="1241" cy="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9" name="Google Shape;309;p9"/>
          <p:cNvSpPr/>
          <p:nvPr/>
        </p:nvSpPr>
        <p:spPr>
          <a:xfrm>
            <a:off x="609600" y="5257800"/>
            <a:ext cx="7924800" cy="685800"/>
          </a:xfrm>
          <a:prstGeom prst="rect">
            <a:avLst/>
          </a:prstGeom>
          <a:solidFill>
            <a:srgbClr val="CCCCE6">
              <a:alpha val="40392"/>
            </a:srgbClr>
          </a:solidFill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Two vectors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are </a:t>
            </a:r>
            <a:r>
              <a:rPr b="1" i="0" lang="en-US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perpendicular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orthogonal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normal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if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0"/>
          <p:cNvSpPr txBox="1"/>
          <p:nvPr/>
        </p:nvSpPr>
        <p:spPr>
          <a:xfrm>
            <a:off x="447675" y="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2D perp Vector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0"/>
          <p:cNvSpPr txBox="1"/>
          <p:nvPr/>
        </p:nvSpPr>
        <p:spPr>
          <a:xfrm>
            <a:off x="914400" y="1600200"/>
            <a:ext cx="73914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Which vector is perpendicular to the 2D vector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(a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,a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7" name="Google Shape;317;p10"/>
          <p:cNvGrpSpPr/>
          <p:nvPr/>
        </p:nvGrpSpPr>
        <p:grpSpPr>
          <a:xfrm>
            <a:off x="304800" y="2360612"/>
            <a:ext cx="7239001" cy="3125788"/>
            <a:chOff x="192" y="1487"/>
            <a:chExt cx="4560" cy="1969"/>
          </a:xfrm>
        </p:grpSpPr>
        <p:sp>
          <p:nvSpPr>
            <p:cNvPr id="318" name="Google Shape;318;p10"/>
            <p:cNvSpPr/>
            <p:nvPr/>
          </p:nvSpPr>
          <p:spPr>
            <a:xfrm>
              <a:off x="192" y="1632"/>
              <a:ext cx="1920" cy="1824"/>
            </a:xfrm>
            <a:prstGeom prst="wedgeRoundRectCallout">
              <a:avLst>
                <a:gd fmla="val 59009" name="adj1"/>
                <a:gd fmla="val -6634" name="adj2"/>
                <a:gd fmla="val 16667" name="adj3"/>
              </a:avLst>
            </a:prstGeom>
            <a:solidFill>
              <a:srgbClr val="99CC00">
                <a:alpha val="15294"/>
              </a:srgbClr>
            </a:solidFill>
            <a:ln cap="flat" cmpd="sng" w="38150">
              <a:solidFill>
                <a:srgbClr val="99CC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800" lIns="90000" spcFirstLastPara="1" rIns="90000" wrap="square" tIns="46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Times New Roman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Let </a:t>
              </a:r>
              <a:r>
                <a:rPr b="0" i="0" lang="en-US" sz="22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a</a:t>
              </a:r>
              <a:r>
                <a:rPr b="0" i="0" lang="en-US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= (a</a:t>
              </a:r>
              <a:r>
                <a:rPr b="0" baseline="-25000" i="0" lang="en-US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i="0" lang="en-US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,a</a:t>
              </a:r>
              <a:r>
                <a:rPr b="0" baseline="-25000" i="0" lang="en-US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i="0" lang="en-US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).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Times New Roman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Then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Times New Roman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a</a:t>
              </a:r>
              <a:r>
                <a:rPr b="0" i="0" lang="en-US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┴ = (-a</a:t>
              </a:r>
              <a:r>
                <a:rPr b="0" baseline="-25000" i="0" lang="en-US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i="0" lang="en-US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,a</a:t>
              </a:r>
              <a:r>
                <a:rPr b="0" baseline="-25000" i="0" lang="en-US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i="0" lang="en-US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Times New Roman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is the </a:t>
              </a:r>
              <a:r>
                <a:rPr b="1" i="0" lang="en-US" sz="2200" u="none" cap="none" strike="noStrike">
                  <a:solidFill>
                    <a:srgbClr val="965D36"/>
                  </a:solidFill>
                  <a:latin typeface="Arial"/>
                  <a:ea typeface="Arial"/>
                  <a:cs typeface="Arial"/>
                  <a:sym typeface="Arial"/>
                </a:rPr>
                <a:t>counterclockwise perpendicular</a:t>
              </a:r>
              <a:r>
                <a:rPr b="0" i="0" lang="en-US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to </a:t>
              </a:r>
              <a:r>
                <a:rPr b="0" i="0" lang="en-US" sz="22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a</a:t>
              </a:r>
              <a:r>
                <a:rPr b="0" i="0" lang="en-US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9" name="Google Shape;319;p10"/>
            <p:cNvCxnSpPr/>
            <p:nvPr/>
          </p:nvCxnSpPr>
          <p:spPr>
            <a:xfrm flipH="1" rot="10800000">
              <a:off x="2736" y="1631"/>
              <a:ext cx="624" cy="530"/>
            </a:xfrm>
            <a:prstGeom prst="straightConnector1">
              <a:avLst/>
            </a:prstGeom>
            <a:noFill/>
            <a:ln cap="flat" cmpd="sng" w="38150">
              <a:solidFill>
                <a:srgbClr val="9933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20" name="Google Shape;320;p10"/>
            <p:cNvCxnSpPr/>
            <p:nvPr/>
          </p:nvCxnSpPr>
          <p:spPr>
            <a:xfrm rot="10800000">
              <a:off x="3983" y="1487"/>
              <a:ext cx="530" cy="578"/>
            </a:xfrm>
            <a:prstGeom prst="straightConnector1">
              <a:avLst/>
            </a:prstGeom>
            <a:noFill/>
            <a:ln cap="flat" cmpd="sng" w="38150">
              <a:solidFill>
                <a:srgbClr val="666699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21" name="Google Shape;321;p10"/>
            <p:cNvCxnSpPr/>
            <p:nvPr/>
          </p:nvCxnSpPr>
          <p:spPr>
            <a:xfrm rot="10800000">
              <a:off x="3839" y="1775"/>
              <a:ext cx="530" cy="578"/>
            </a:xfrm>
            <a:prstGeom prst="straightConnector1">
              <a:avLst/>
            </a:prstGeom>
            <a:noFill/>
            <a:ln cap="flat" cmpd="sng" w="38150">
              <a:solidFill>
                <a:srgbClr val="666699"/>
              </a:solidFill>
              <a:prstDash val="solid"/>
              <a:miter lim="800000"/>
              <a:headEnd len="med" w="med" type="triangle"/>
              <a:tailEnd len="sm" w="sm" type="none"/>
            </a:ln>
          </p:spPr>
        </p:cxnSp>
        <p:sp>
          <p:nvSpPr>
            <p:cNvPr id="322" name="Google Shape;322;p10"/>
            <p:cNvSpPr txBox="1"/>
            <p:nvPr/>
          </p:nvSpPr>
          <p:spPr>
            <a:xfrm>
              <a:off x="4272" y="1584"/>
              <a:ext cx="480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a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┴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10"/>
            <p:cNvSpPr txBox="1"/>
            <p:nvPr/>
          </p:nvSpPr>
          <p:spPr>
            <a:xfrm>
              <a:off x="3600" y="1872"/>
              <a:ext cx="480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a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┴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10"/>
            <p:cNvSpPr txBox="1"/>
            <p:nvPr/>
          </p:nvSpPr>
          <p:spPr>
            <a:xfrm>
              <a:off x="2784" y="1584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10"/>
            <p:cNvSpPr txBox="1"/>
            <p:nvPr/>
          </p:nvSpPr>
          <p:spPr>
            <a:xfrm>
              <a:off x="2832" y="1689"/>
              <a:ext cx="480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6" name="Google Shape;326;p10"/>
          <p:cNvGrpSpPr/>
          <p:nvPr/>
        </p:nvGrpSpPr>
        <p:grpSpPr>
          <a:xfrm>
            <a:off x="3810000" y="3735388"/>
            <a:ext cx="5334000" cy="2225675"/>
            <a:chOff x="2400" y="2353"/>
            <a:chExt cx="3360" cy="1402"/>
          </a:xfrm>
        </p:grpSpPr>
        <p:grpSp>
          <p:nvGrpSpPr>
            <p:cNvPr id="327" name="Google Shape;327;p10"/>
            <p:cNvGrpSpPr/>
            <p:nvPr/>
          </p:nvGrpSpPr>
          <p:grpSpPr>
            <a:xfrm>
              <a:off x="2400" y="2353"/>
              <a:ext cx="1872" cy="1343"/>
              <a:chOff x="2400" y="2353"/>
              <a:chExt cx="1872" cy="1343"/>
            </a:xfrm>
          </p:grpSpPr>
          <p:grpSp>
            <p:nvGrpSpPr>
              <p:cNvPr id="328" name="Google Shape;328;p10"/>
              <p:cNvGrpSpPr/>
              <p:nvPr/>
            </p:nvGrpSpPr>
            <p:grpSpPr>
              <a:xfrm>
                <a:off x="2400" y="2353"/>
                <a:ext cx="1536" cy="1343"/>
                <a:chOff x="2400" y="2353"/>
                <a:chExt cx="1536" cy="1343"/>
              </a:xfrm>
            </p:grpSpPr>
            <p:sp>
              <p:nvSpPr>
                <p:cNvPr id="329" name="Google Shape;329;p10"/>
                <p:cNvSpPr/>
                <p:nvPr/>
              </p:nvSpPr>
              <p:spPr>
                <a:xfrm>
                  <a:off x="2400" y="2592"/>
                  <a:ext cx="1536" cy="1104"/>
                </a:xfrm>
                <a:custGeom>
                  <a:rect b="b" l="l" r="r" t="t"/>
                  <a:pathLst>
                    <a:path extrusionOk="0" h="1104" w="1536">
                      <a:moveTo>
                        <a:pt x="0" y="528"/>
                      </a:moveTo>
                      <a:lnTo>
                        <a:pt x="480" y="0"/>
                      </a:lnTo>
                      <a:lnTo>
                        <a:pt x="1536" y="432"/>
                      </a:lnTo>
                      <a:lnTo>
                        <a:pt x="1056" y="1104"/>
                      </a:lnTo>
                      <a:lnTo>
                        <a:pt x="0" y="528"/>
                      </a:lnTo>
                      <a:close/>
                    </a:path>
                  </a:pathLst>
                </a:custGeom>
                <a:solidFill>
                  <a:srgbClr val="9999FF">
                    <a:alpha val="14509"/>
                  </a:srgbClr>
                </a:solidFill>
                <a:ln cap="flat" cmpd="sng" w="38150">
                  <a:solidFill>
                    <a:srgbClr val="3333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30" name="Google Shape;330;p10"/>
                <p:cNvCxnSpPr/>
                <p:nvPr/>
              </p:nvCxnSpPr>
              <p:spPr>
                <a:xfrm flipH="1" rot="10800000">
                  <a:off x="3312" y="2353"/>
                  <a:ext cx="480" cy="720"/>
                </a:xfrm>
                <a:prstGeom prst="straightConnector1">
                  <a:avLst/>
                </a:prstGeom>
                <a:noFill/>
                <a:ln cap="flat" cmpd="sng" w="38150">
                  <a:solidFill>
                    <a:srgbClr val="9933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331" name="Google Shape;331;p10"/>
                <p:cNvCxnSpPr/>
                <p:nvPr/>
              </p:nvCxnSpPr>
              <p:spPr>
                <a:xfrm rot="10800000">
                  <a:off x="3071" y="2830"/>
                  <a:ext cx="242" cy="242"/>
                </a:xfrm>
                <a:prstGeom prst="straightConnector1">
                  <a:avLst/>
                </a:prstGeom>
                <a:noFill/>
                <a:ln cap="flat" cmpd="sng" w="38150">
                  <a:solidFill>
                    <a:srgbClr val="666699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332" name="Google Shape;332;p10"/>
                <p:cNvCxnSpPr/>
                <p:nvPr/>
              </p:nvCxnSpPr>
              <p:spPr>
                <a:xfrm flipH="1">
                  <a:off x="2735" y="3072"/>
                  <a:ext cx="578" cy="1"/>
                </a:xfrm>
                <a:prstGeom prst="straightConnector1">
                  <a:avLst/>
                </a:prstGeom>
                <a:noFill/>
                <a:ln cap="flat" cmpd="sng" w="38150">
                  <a:solidFill>
                    <a:srgbClr val="666699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333" name="Google Shape;333;p10"/>
                <p:cNvCxnSpPr/>
                <p:nvPr/>
              </p:nvCxnSpPr>
              <p:spPr>
                <a:xfrm flipH="1">
                  <a:off x="3263" y="3072"/>
                  <a:ext cx="50" cy="288"/>
                </a:xfrm>
                <a:prstGeom prst="straightConnector1">
                  <a:avLst/>
                </a:prstGeom>
                <a:noFill/>
                <a:ln cap="flat" cmpd="sng" w="38150">
                  <a:solidFill>
                    <a:srgbClr val="666699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334" name="Google Shape;334;p10"/>
                <p:cNvCxnSpPr/>
                <p:nvPr/>
              </p:nvCxnSpPr>
              <p:spPr>
                <a:xfrm>
                  <a:off x="3312" y="3072"/>
                  <a:ext cx="384" cy="96"/>
                </a:xfrm>
                <a:prstGeom prst="straightConnector1">
                  <a:avLst/>
                </a:prstGeom>
                <a:noFill/>
                <a:ln cap="flat" cmpd="sng" w="38150">
                  <a:solidFill>
                    <a:srgbClr val="666699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335" name="Google Shape;335;p10"/>
              <p:cNvSpPr txBox="1"/>
              <p:nvPr/>
            </p:nvSpPr>
            <p:spPr>
              <a:xfrm>
                <a:off x="3792" y="2640"/>
                <a:ext cx="480" cy="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6800" lIns="90000" spcFirstLastPara="1" rIns="90000" wrap="square" tIns="468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Times New Roman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 Black"/>
                    <a:ea typeface="Arial Black"/>
                    <a:cs typeface="Arial Black"/>
                    <a:sym typeface="Arial Black"/>
                  </a:rPr>
                  <a:t>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6" name="Google Shape;336;p10"/>
            <p:cNvSpPr txBox="1"/>
            <p:nvPr/>
          </p:nvSpPr>
          <p:spPr>
            <a:xfrm>
              <a:off x="3840" y="3504"/>
              <a:ext cx="1920" cy="2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What about 3D case?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1"/>
          <p:cNvSpPr txBox="1"/>
          <p:nvPr/>
        </p:nvSpPr>
        <p:spPr>
          <a:xfrm>
            <a:off x="447675" y="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Rotation in 2d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3" name="Google Shape;343;p11"/>
          <p:cNvCxnSpPr/>
          <p:nvPr/>
        </p:nvCxnSpPr>
        <p:spPr>
          <a:xfrm flipH="1" rot="10800000">
            <a:off x="3817938" y="5105400"/>
            <a:ext cx="2266950" cy="536575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44" name="Google Shape;344;p11"/>
          <p:cNvSpPr/>
          <p:nvPr/>
        </p:nvSpPr>
        <p:spPr>
          <a:xfrm>
            <a:off x="3722688" y="5567363"/>
            <a:ext cx="152400" cy="152400"/>
          </a:xfrm>
          <a:prstGeom prst="ellipse">
            <a:avLst/>
          </a:prstGeom>
          <a:solidFill>
            <a:srgbClr val="9999FF"/>
          </a:solidFill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1"/>
          <p:cNvSpPr txBox="1"/>
          <p:nvPr/>
        </p:nvSpPr>
        <p:spPr>
          <a:xfrm>
            <a:off x="6084888" y="4903788"/>
            <a:ext cx="3810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p11"/>
          <p:cNvCxnSpPr/>
          <p:nvPr/>
        </p:nvCxnSpPr>
        <p:spPr>
          <a:xfrm rot="10800000">
            <a:off x="3330575" y="3644900"/>
            <a:ext cx="457200" cy="2016125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47" name="Google Shape;347;p11"/>
          <p:cNvSpPr txBox="1"/>
          <p:nvPr/>
        </p:nvSpPr>
        <p:spPr>
          <a:xfrm>
            <a:off x="2946400" y="3421063"/>
            <a:ext cx="7620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v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1"/>
          <p:cNvSpPr txBox="1"/>
          <p:nvPr/>
        </p:nvSpPr>
        <p:spPr>
          <a:xfrm>
            <a:off x="684213" y="1700213"/>
            <a:ext cx="7993062" cy="12938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want to rotate a 2d vector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counterclockwise by an angle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 we determine perp(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),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Then we scale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by cos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scale v┴ by sin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take their sum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9" name="Google Shape;349;p11"/>
          <p:cNvCxnSpPr/>
          <p:nvPr/>
        </p:nvCxnSpPr>
        <p:spPr>
          <a:xfrm flipH="1" rot="10800000">
            <a:off x="3787775" y="4076700"/>
            <a:ext cx="1792288" cy="1584325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50" name="Google Shape;350;p11"/>
          <p:cNvCxnSpPr/>
          <p:nvPr/>
        </p:nvCxnSpPr>
        <p:spPr>
          <a:xfrm flipH="1" rot="10800000">
            <a:off x="3875088" y="5416550"/>
            <a:ext cx="1992312" cy="4603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51" name="Google Shape;351;p11"/>
          <p:cNvCxnSpPr/>
          <p:nvPr/>
        </p:nvCxnSpPr>
        <p:spPr>
          <a:xfrm rot="10800000">
            <a:off x="3330575" y="4632325"/>
            <a:ext cx="233363" cy="10874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52" name="Google Shape;352;p11"/>
          <p:cNvCxnSpPr/>
          <p:nvPr/>
        </p:nvCxnSpPr>
        <p:spPr>
          <a:xfrm flipH="1" rot="10800000">
            <a:off x="3522663" y="4076700"/>
            <a:ext cx="2057400" cy="504825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353" name="Google Shape;353;p11"/>
          <p:cNvCxnSpPr/>
          <p:nvPr/>
        </p:nvCxnSpPr>
        <p:spPr>
          <a:xfrm rot="10800000">
            <a:off x="5580063" y="4076700"/>
            <a:ext cx="215900" cy="1109663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dot"/>
            <a:miter lim="800000"/>
            <a:headEnd len="sm" w="sm" type="none"/>
            <a:tailEnd len="sm" w="sm" type="none"/>
          </a:ln>
        </p:spPr>
      </p:cxnSp>
      <p:sp>
        <p:nvSpPr>
          <p:cNvPr id="354" name="Google Shape;354;p11"/>
          <p:cNvSpPr txBox="1"/>
          <p:nvPr/>
        </p:nvSpPr>
        <p:spPr>
          <a:xfrm>
            <a:off x="4551363" y="5719763"/>
            <a:ext cx="8382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1"/>
          <p:cNvSpPr txBox="1"/>
          <p:nvPr/>
        </p:nvSpPr>
        <p:spPr>
          <a:xfrm>
            <a:off x="2481263" y="5048250"/>
            <a:ext cx="950912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v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┴sin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1"/>
          <p:cNvSpPr txBox="1"/>
          <p:nvPr/>
        </p:nvSpPr>
        <p:spPr>
          <a:xfrm>
            <a:off x="4437063" y="5075238"/>
            <a:ext cx="3508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3330575" y="5105400"/>
            <a:ext cx="1096963" cy="1017588"/>
          </a:xfrm>
          <a:prstGeom prst="arc">
            <a:avLst>
              <a:gd fmla="val 19177799" name="adj1"/>
              <a:gd fmla="val 20607661" name="adj2"/>
            </a:avLst>
          </a:prstGeom>
          <a:solidFill>
            <a:srgbClr val="00B8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1"/>
          <p:cNvSpPr txBox="1"/>
          <p:nvPr/>
        </p:nvSpPr>
        <p:spPr>
          <a:xfrm>
            <a:off x="5607051" y="3810001"/>
            <a:ext cx="18592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v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┴sin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2"/>
          <p:cNvSpPr txBox="1"/>
          <p:nvPr/>
        </p:nvSpPr>
        <p:spPr>
          <a:xfrm>
            <a:off x="447675" y="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Rotation in 3d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5" name="Google Shape;365;p12"/>
          <p:cNvCxnSpPr/>
          <p:nvPr/>
        </p:nvCxnSpPr>
        <p:spPr>
          <a:xfrm>
            <a:off x="2454275" y="5815013"/>
            <a:ext cx="749300" cy="273050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66" name="Google Shape;366;p12"/>
          <p:cNvCxnSpPr/>
          <p:nvPr/>
        </p:nvCxnSpPr>
        <p:spPr>
          <a:xfrm rot="10800000">
            <a:off x="2454275" y="4325938"/>
            <a:ext cx="9525" cy="1517650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67" name="Google Shape;367;p12"/>
          <p:cNvSpPr txBox="1"/>
          <p:nvPr/>
        </p:nvSpPr>
        <p:spPr>
          <a:xfrm>
            <a:off x="684213" y="1458913"/>
            <a:ext cx="7993062" cy="22463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want to rotate a 3d vector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counterclockwise with respect to a 3d unit vector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by an angle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A,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perpendicular to each other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 we determine the vector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that is perpendicular to both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have a length equal to that of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So,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X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Then we scale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by cos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scale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by sin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take their sum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8" name="Google Shape;368;p12"/>
          <p:cNvCxnSpPr/>
          <p:nvPr/>
        </p:nvCxnSpPr>
        <p:spPr>
          <a:xfrm flipH="1" rot="10800000">
            <a:off x="2463800" y="4325938"/>
            <a:ext cx="1160463" cy="1474787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69" name="Google Shape;369;p12"/>
          <p:cNvCxnSpPr/>
          <p:nvPr/>
        </p:nvCxnSpPr>
        <p:spPr>
          <a:xfrm rot="10800000">
            <a:off x="2411413" y="4776788"/>
            <a:ext cx="0" cy="106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70" name="Google Shape;370;p12"/>
          <p:cNvCxnSpPr/>
          <p:nvPr/>
        </p:nvCxnSpPr>
        <p:spPr>
          <a:xfrm flipH="1" rot="10800000">
            <a:off x="2454275" y="5343525"/>
            <a:ext cx="1254125" cy="5413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71" name="Google Shape;371;p12"/>
          <p:cNvCxnSpPr/>
          <p:nvPr/>
        </p:nvCxnSpPr>
        <p:spPr>
          <a:xfrm flipH="1" rot="10800000">
            <a:off x="2487613" y="4325938"/>
            <a:ext cx="1136650" cy="450850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372" name="Google Shape;372;p12"/>
          <p:cNvCxnSpPr/>
          <p:nvPr/>
        </p:nvCxnSpPr>
        <p:spPr>
          <a:xfrm rot="10800000">
            <a:off x="3624263" y="4325938"/>
            <a:ext cx="0" cy="971550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dot"/>
            <a:miter lim="800000"/>
            <a:headEnd len="sm" w="sm" type="none"/>
            <a:tailEnd len="sm" w="sm" type="none"/>
          </a:ln>
        </p:spPr>
      </p:cxnSp>
      <p:sp>
        <p:nvSpPr>
          <p:cNvPr id="373" name="Google Shape;373;p12"/>
          <p:cNvSpPr txBox="1"/>
          <p:nvPr/>
        </p:nvSpPr>
        <p:spPr>
          <a:xfrm>
            <a:off x="3132138" y="5516563"/>
            <a:ext cx="7747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2"/>
          <p:cNvSpPr txBox="1"/>
          <p:nvPr/>
        </p:nvSpPr>
        <p:spPr>
          <a:xfrm>
            <a:off x="1538288" y="5216525"/>
            <a:ext cx="80010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u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2"/>
          <p:cNvSpPr txBox="1"/>
          <p:nvPr/>
        </p:nvSpPr>
        <p:spPr>
          <a:xfrm>
            <a:off x="2946400" y="5159375"/>
            <a:ext cx="350838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1998663" y="5237163"/>
            <a:ext cx="1098550" cy="1019175"/>
          </a:xfrm>
          <a:prstGeom prst="arc">
            <a:avLst>
              <a:gd fmla="val 18565188" name="adj1"/>
              <a:gd fmla="val 20080075" name="adj2"/>
            </a:avLst>
          </a:prstGeom>
          <a:solidFill>
            <a:srgbClr val="00B8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7" name="Google Shape;377;p12"/>
          <p:cNvCxnSpPr/>
          <p:nvPr/>
        </p:nvCxnSpPr>
        <p:spPr>
          <a:xfrm flipH="1" rot="10800000">
            <a:off x="2454275" y="5199063"/>
            <a:ext cx="1397000" cy="615950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78" name="Google Shape;378;p12"/>
          <p:cNvSpPr txBox="1"/>
          <p:nvPr/>
        </p:nvSpPr>
        <p:spPr>
          <a:xfrm>
            <a:off x="3830638" y="5021263"/>
            <a:ext cx="3810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2"/>
          <p:cNvSpPr txBox="1"/>
          <p:nvPr/>
        </p:nvSpPr>
        <p:spPr>
          <a:xfrm>
            <a:off x="3203575" y="5876925"/>
            <a:ext cx="3810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2"/>
          <p:cNvSpPr txBox="1"/>
          <p:nvPr/>
        </p:nvSpPr>
        <p:spPr>
          <a:xfrm>
            <a:off x="2268538" y="4005263"/>
            <a:ext cx="3810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2"/>
          <p:cNvSpPr txBox="1"/>
          <p:nvPr/>
        </p:nvSpPr>
        <p:spPr>
          <a:xfrm>
            <a:off x="5581650" y="4524375"/>
            <a:ext cx="3095625" cy="4000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5226050" y="4524375"/>
            <a:ext cx="3422650" cy="1938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note that, this method is applicable only in cases where the axis of rotation and the vector which is to be rotated are perpendicular to each other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2"/>
          <p:cNvSpPr/>
          <p:nvPr/>
        </p:nvSpPr>
        <p:spPr>
          <a:xfrm rot="-6827638">
            <a:off x="3810146" y="4452112"/>
            <a:ext cx="654819" cy="222511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00B8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3"/>
          <p:cNvSpPr txBox="1"/>
          <p:nvPr/>
        </p:nvSpPr>
        <p:spPr>
          <a:xfrm>
            <a:off x="447675" y="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Rotation in 3d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3"/>
          <p:cNvSpPr txBox="1"/>
          <p:nvPr/>
        </p:nvSpPr>
        <p:spPr>
          <a:xfrm>
            <a:off x="684213" y="1458913"/>
            <a:ext cx="7993062" cy="2554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576" l="-684" r="0" t="-95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1" name="Google Shape;391;p13"/>
          <p:cNvCxnSpPr/>
          <p:nvPr/>
        </p:nvCxnSpPr>
        <p:spPr>
          <a:xfrm>
            <a:off x="6626894" y="6070203"/>
            <a:ext cx="749300" cy="273050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2" name="Google Shape;392;p13"/>
          <p:cNvCxnSpPr/>
          <p:nvPr/>
        </p:nvCxnSpPr>
        <p:spPr>
          <a:xfrm rot="10800000">
            <a:off x="6626894" y="4581128"/>
            <a:ext cx="9525" cy="1517650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3" name="Google Shape;393;p13"/>
          <p:cNvCxnSpPr/>
          <p:nvPr/>
        </p:nvCxnSpPr>
        <p:spPr>
          <a:xfrm flipH="1" rot="10800000">
            <a:off x="6636419" y="4581128"/>
            <a:ext cx="1160463" cy="1474787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4" name="Google Shape;394;p13"/>
          <p:cNvCxnSpPr/>
          <p:nvPr/>
        </p:nvCxnSpPr>
        <p:spPr>
          <a:xfrm rot="10800000">
            <a:off x="6584032" y="5031978"/>
            <a:ext cx="0" cy="106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95" name="Google Shape;395;p13"/>
          <p:cNvCxnSpPr/>
          <p:nvPr/>
        </p:nvCxnSpPr>
        <p:spPr>
          <a:xfrm flipH="1" rot="10800000">
            <a:off x="6626894" y="5598715"/>
            <a:ext cx="1254125" cy="5413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96" name="Google Shape;396;p13"/>
          <p:cNvCxnSpPr/>
          <p:nvPr/>
        </p:nvCxnSpPr>
        <p:spPr>
          <a:xfrm flipH="1" rot="10800000">
            <a:off x="6660232" y="4581128"/>
            <a:ext cx="1136650" cy="450850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397" name="Google Shape;397;p13"/>
          <p:cNvCxnSpPr/>
          <p:nvPr/>
        </p:nvCxnSpPr>
        <p:spPr>
          <a:xfrm rot="10800000">
            <a:off x="7796882" y="4581128"/>
            <a:ext cx="0" cy="971550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dot"/>
            <a:miter lim="800000"/>
            <a:headEnd len="sm" w="sm" type="none"/>
            <a:tailEnd len="sm" w="sm" type="none"/>
          </a:ln>
        </p:spPr>
      </p:cxnSp>
      <p:sp>
        <p:nvSpPr>
          <p:cNvPr id="398" name="Google Shape;398;p13"/>
          <p:cNvSpPr txBox="1"/>
          <p:nvPr/>
        </p:nvSpPr>
        <p:spPr>
          <a:xfrm>
            <a:off x="7304757" y="5771753"/>
            <a:ext cx="7747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3"/>
          <p:cNvSpPr txBox="1"/>
          <p:nvPr/>
        </p:nvSpPr>
        <p:spPr>
          <a:xfrm>
            <a:off x="5710907" y="5471715"/>
            <a:ext cx="80010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u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3"/>
          <p:cNvSpPr txBox="1"/>
          <p:nvPr/>
        </p:nvSpPr>
        <p:spPr>
          <a:xfrm>
            <a:off x="7119019" y="5414565"/>
            <a:ext cx="350838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6171282" y="5492353"/>
            <a:ext cx="1098550" cy="1019175"/>
          </a:xfrm>
          <a:prstGeom prst="arc">
            <a:avLst>
              <a:gd fmla="val 18565188" name="adj1"/>
              <a:gd fmla="val 20080075" name="adj2"/>
            </a:avLst>
          </a:prstGeom>
          <a:solidFill>
            <a:srgbClr val="00B8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2" name="Google Shape;402;p13"/>
          <p:cNvCxnSpPr/>
          <p:nvPr/>
        </p:nvCxnSpPr>
        <p:spPr>
          <a:xfrm flipH="1" rot="10800000">
            <a:off x="6626894" y="5454253"/>
            <a:ext cx="1397000" cy="615950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03" name="Google Shape;403;p13"/>
          <p:cNvSpPr txBox="1"/>
          <p:nvPr/>
        </p:nvSpPr>
        <p:spPr>
          <a:xfrm>
            <a:off x="8003257" y="5276453"/>
            <a:ext cx="3810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3"/>
          <p:cNvSpPr txBox="1"/>
          <p:nvPr/>
        </p:nvSpPr>
        <p:spPr>
          <a:xfrm>
            <a:off x="7376194" y="6132115"/>
            <a:ext cx="3810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3"/>
          <p:cNvSpPr txBox="1"/>
          <p:nvPr/>
        </p:nvSpPr>
        <p:spPr>
          <a:xfrm>
            <a:off x="6441157" y="4260453"/>
            <a:ext cx="3810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3"/>
          <p:cNvSpPr/>
          <p:nvPr/>
        </p:nvSpPr>
        <p:spPr>
          <a:xfrm rot="-6827638">
            <a:off x="7982765" y="4707302"/>
            <a:ext cx="654819" cy="222511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00B8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4"/>
          <p:cNvSpPr txBox="1"/>
          <p:nvPr/>
        </p:nvSpPr>
        <p:spPr>
          <a:xfrm>
            <a:off x="447675" y="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Orthogonal Projection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3" name="Google Shape;413;p14"/>
          <p:cNvCxnSpPr/>
          <p:nvPr/>
        </p:nvCxnSpPr>
        <p:spPr>
          <a:xfrm flipH="1" rot="10800000">
            <a:off x="3252788" y="5137150"/>
            <a:ext cx="3048000" cy="612775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414" name="Google Shape;414;p14"/>
          <p:cNvCxnSpPr/>
          <p:nvPr/>
        </p:nvCxnSpPr>
        <p:spPr>
          <a:xfrm flipH="1" rot="10800000">
            <a:off x="3817938" y="5443538"/>
            <a:ext cx="882650" cy="198437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15" name="Google Shape;415;p14"/>
          <p:cNvSpPr/>
          <p:nvPr/>
        </p:nvSpPr>
        <p:spPr>
          <a:xfrm>
            <a:off x="3722688" y="5567363"/>
            <a:ext cx="152400" cy="152400"/>
          </a:xfrm>
          <a:prstGeom prst="ellipse">
            <a:avLst/>
          </a:prstGeom>
          <a:solidFill>
            <a:srgbClr val="9999FF"/>
          </a:solidFill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6" name="Google Shape;416;p14"/>
          <p:cNvCxnSpPr/>
          <p:nvPr/>
        </p:nvCxnSpPr>
        <p:spPr>
          <a:xfrm flipH="1" rot="10800000">
            <a:off x="3830638" y="4270375"/>
            <a:ext cx="990600" cy="1298575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17" name="Google Shape;417;p14"/>
          <p:cNvSpPr txBox="1"/>
          <p:nvPr/>
        </p:nvSpPr>
        <p:spPr>
          <a:xfrm>
            <a:off x="4211638" y="5508625"/>
            <a:ext cx="3810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4"/>
          <p:cNvSpPr txBox="1"/>
          <p:nvPr/>
        </p:nvSpPr>
        <p:spPr>
          <a:xfrm>
            <a:off x="4319588" y="4681538"/>
            <a:ext cx="3810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9" name="Google Shape;419;p14"/>
          <p:cNvCxnSpPr/>
          <p:nvPr/>
        </p:nvCxnSpPr>
        <p:spPr>
          <a:xfrm rot="10800000">
            <a:off x="4773613" y="4284663"/>
            <a:ext cx="230187" cy="1019175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dot"/>
            <a:miter lim="800000"/>
            <a:headEnd len="sm" w="sm" type="none"/>
            <a:tailEnd len="med" w="med" type="triangle"/>
          </a:ln>
        </p:spPr>
      </p:cxnSp>
      <p:cxnSp>
        <p:nvCxnSpPr>
          <p:cNvPr id="420" name="Google Shape;420;p14"/>
          <p:cNvCxnSpPr/>
          <p:nvPr/>
        </p:nvCxnSpPr>
        <p:spPr>
          <a:xfrm rot="10800000">
            <a:off x="3557588" y="4759325"/>
            <a:ext cx="230187" cy="901700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21" name="Google Shape;421;p14"/>
          <p:cNvSpPr txBox="1"/>
          <p:nvPr/>
        </p:nvSpPr>
        <p:spPr>
          <a:xfrm>
            <a:off x="3233738" y="5048250"/>
            <a:ext cx="7620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v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4"/>
          <p:cNvSpPr txBox="1"/>
          <p:nvPr/>
        </p:nvSpPr>
        <p:spPr>
          <a:xfrm>
            <a:off x="684213" y="1700213"/>
            <a:ext cx="8280300" cy="249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want to decompose the vector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into two vectors, one along the direction of a unit vector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another along perp(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length of the orthogonal projection of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along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c.v </a:t>
            </a:r>
            <a:b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(as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 unit vector)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Thus the component (or orthogonal projection) of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along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(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c.v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 the component of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along perp(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is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-(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c.v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3" name="Google Shape;423;p14"/>
          <p:cNvCxnSpPr/>
          <p:nvPr/>
        </p:nvCxnSpPr>
        <p:spPr>
          <a:xfrm flipH="1" rot="10800000">
            <a:off x="3830638" y="5765800"/>
            <a:ext cx="1317625" cy="3270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424" name="Google Shape;424;p14"/>
          <p:cNvSpPr txBox="1"/>
          <p:nvPr/>
        </p:nvSpPr>
        <p:spPr>
          <a:xfrm>
            <a:off x="4354513" y="5876925"/>
            <a:ext cx="504825" cy="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5"/>
          <p:cNvSpPr txBox="1"/>
          <p:nvPr/>
        </p:nvSpPr>
        <p:spPr>
          <a:xfrm>
            <a:off x="447675" y="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Reflection [13]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1" name="Google Shape;431;p15"/>
          <p:cNvGrpSpPr/>
          <p:nvPr/>
        </p:nvGrpSpPr>
        <p:grpSpPr>
          <a:xfrm>
            <a:off x="4648200" y="1844675"/>
            <a:ext cx="3657601" cy="2716213"/>
            <a:chOff x="2928" y="1353"/>
            <a:chExt cx="2304" cy="1711"/>
          </a:xfrm>
        </p:grpSpPr>
        <p:grpSp>
          <p:nvGrpSpPr>
            <p:cNvPr id="432" name="Google Shape;432;p15"/>
            <p:cNvGrpSpPr/>
            <p:nvPr/>
          </p:nvGrpSpPr>
          <p:grpSpPr>
            <a:xfrm>
              <a:off x="3023" y="2594"/>
              <a:ext cx="2209" cy="114"/>
              <a:chOff x="3023" y="2594"/>
              <a:chExt cx="2209" cy="114"/>
            </a:xfrm>
          </p:grpSpPr>
          <p:cxnSp>
            <p:nvCxnSpPr>
              <p:cNvPr id="433" name="Google Shape;433;p15"/>
              <p:cNvCxnSpPr/>
              <p:nvPr/>
            </p:nvCxnSpPr>
            <p:spPr>
              <a:xfrm>
                <a:off x="3024" y="2594"/>
                <a:ext cx="2208" cy="1"/>
              </a:xfrm>
              <a:prstGeom prst="straightConnector1">
                <a:avLst/>
              </a:prstGeom>
              <a:noFill/>
              <a:ln cap="flat" cmpd="sng" w="381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434" name="Google Shape;434;p15"/>
              <p:cNvGrpSpPr/>
              <p:nvPr/>
            </p:nvGrpSpPr>
            <p:grpSpPr>
              <a:xfrm>
                <a:off x="3023" y="2594"/>
                <a:ext cx="558" cy="114"/>
                <a:chOff x="3023" y="2594"/>
                <a:chExt cx="558" cy="114"/>
              </a:xfrm>
            </p:grpSpPr>
            <p:cxnSp>
              <p:nvCxnSpPr>
                <p:cNvPr id="435" name="Google Shape;435;p15"/>
                <p:cNvCxnSpPr/>
                <p:nvPr/>
              </p:nvCxnSpPr>
              <p:spPr>
                <a:xfrm flipH="1">
                  <a:off x="3023" y="2594"/>
                  <a:ext cx="146" cy="96"/>
                </a:xfrm>
                <a:prstGeom prst="straightConnector1">
                  <a:avLst/>
                </a:prstGeom>
                <a:noFill/>
                <a:ln cap="flat" cmpd="sng" w="1907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6" name="Google Shape;436;p15"/>
                <p:cNvCxnSpPr/>
                <p:nvPr/>
              </p:nvCxnSpPr>
              <p:spPr>
                <a:xfrm flipH="1">
                  <a:off x="3157" y="2604"/>
                  <a:ext cx="146" cy="96"/>
                </a:xfrm>
                <a:prstGeom prst="straightConnector1">
                  <a:avLst/>
                </a:prstGeom>
                <a:noFill/>
                <a:ln cap="flat" cmpd="sng" w="1907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7" name="Google Shape;437;p15"/>
                <p:cNvCxnSpPr/>
                <p:nvPr/>
              </p:nvCxnSpPr>
              <p:spPr>
                <a:xfrm flipH="1">
                  <a:off x="3293" y="2612"/>
                  <a:ext cx="146" cy="96"/>
                </a:xfrm>
                <a:prstGeom prst="straightConnector1">
                  <a:avLst/>
                </a:prstGeom>
                <a:noFill/>
                <a:ln cap="flat" cmpd="sng" w="1907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8" name="Google Shape;438;p15"/>
                <p:cNvCxnSpPr/>
                <p:nvPr/>
              </p:nvCxnSpPr>
              <p:spPr>
                <a:xfrm flipH="1">
                  <a:off x="3435" y="2604"/>
                  <a:ext cx="146" cy="96"/>
                </a:xfrm>
                <a:prstGeom prst="straightConnector1">
                  <a:avLst/>
                </a:prstGeom>
                <a:noFill/>
                <a:ln cap="flat" cmpd="sng" w="1907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439" name="Google Shape;439;p15"/>
              <p:cNvGrpSpPr/>
              <p:nvPr/>
            </p:nvGrpSpPr>
            <p:grpSpPr>
              <a:xfrm>
                <a:off x="3571" y="2594"/>
                <a:ext cx="558" cy="114"/>
                <a:chOff x="3571" y="2594"/>
                <a:chExt cx="558" cy="114"/>
              </a:xfrm>
            </p:grpSpPr>
            <p:cxnSp>
              <p:nvCxnSpPr>
                <p:cNvPr id="440" name="Google Shape;440;p15"/>
                <p:cNvCxnSpPr/>
                <p:nvPr/>
              </p:nvCxnSpPr>
              <p:spPr>
                <a:xfrm flipH="1">
                  <a:off x="3571" y="2594"/>
                  <a:ext cx="146" cy="96"/>
                </a:xfrm>
                <a:prstGeom prst="straightConnector1">
                  <a:avLst/>
                </a:prstGeom>
                <a:noFill/>
                <a:ln cap="flat" cmpd="sng" w="1907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41" name="Google Shape;441;p15"/>
                <p:cNvCxnSpPr/>
                <p:nvPr/>
              </p:nvCxnSpPr>
              <p:spPr>
                <a:xfrm flipH="1">
                  <a:off x="3705" y="2604"/>
                  <a:ext cx="146" cy="96"/>
                </a:xfrm>
                <a:prstGeom prst="straightConnector1">
                  <a:avLst/>
                </a:prstGeom>
                <a:noFill/>
                <a:ln cap="flat" cmpd="sng" w="1907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42" name="Google Shape;442;p15"/>
                <p:cNvCxnSpPr/>
                <p:nvPr/>
              </p:nvCxnSpPr>
              <p:spPr>
                <a:xfrm flipH="1">
                  <a:off x="3841" y="2612"/>
                  <a:ext cx="146" cy="96"/>
                </a:xfrm>
                <a:prstGeom prst="straightConnector1">
                  <a:avLst/>
                </a:prstGeom>
                <a:noFill/>
                <a:ln cap="flat" cmpd="sng" w="1907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43" name="Google Shape;443;p15"/>
                <p:cNvCxnSpPr/>
                <p:nvPr/>
              </p:nvCxnSpPr>
              <p:spPr>
                <a:xfrm flipH="1">
                  <a:off x="3983" y="2604"/>
                  <a:ext cx="146" cy="96"/>
                </a:xfrm>
                <a:prstGeom prst="straightConnector1">
                  <a:avLst/>
                </a:prstGeom>
                <a:noFill/>
                <a:ln cap="flat" cmpd="sng" w="1907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444" name="Google Shape;444;p15"/>
              <p:cNvGrpSpPr/>
              <p:nvPr/>
            </p:nvGrpSpPr>
            <p:grpSpPr>
              <a:xfrm>
                <a:off x="4147" y="2594"/>
                <a:ext cx="558" cy="114"/>
                <a:chOff x="4147" y="2594"/>
                <a:chExt cx="558" cy="114"/>
              </a:xfrm>
            </p:grpSpPr>
            <p:cxnSp>
              <p:nvCxnSpPr>
                <p:cNvPr id="445" name="Google Shape;445;p15"/>
                <p:cNvCxnSpPr/>
                <p:nvPr/>
              </p:nvCxnSpPr>
              <p:spPr>
                <a:xfrm flipH="1">
                  <a:off x="4147" y="2594"/>
                  <a:ext cx="146" cy="96"/>
                </a:xfrm>
                <a:prstGeom prst="straightConnector1">
                  <a:avLst/>
                </a:prstGeom>
                <a:noFill/>
                <a:ln cap="flat" cmpd="sng" w="1907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46" name="Google Shape;446;p15"/>
                <p:cNvCxnSpPr/>
                <p:nvPr/>
              </p:nvCxnSpPr>
              <p:spPr>
                <a:xfrm flipH="1">
                  <a:off x="4281" y="2604"/>
                  <a:ext cx="146" cy="96"/>
                </a:xfrm>
                <a:prstGeom prst="straightConnector1">
                  <a:avLst/>
                </a:prstGeom>
                <a:noFill/>
                <a:ln cap="flat" cmpd="sng" w="1907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47" name="Google Shape;447;p15"/>
                <p:cNvCxnSpPr/>
                <p:nvPr/>
              </p:nvCxnSpPr>
              <p:spPr>
                <a:xfrm flipH="1">
                  <a:off x="4417" y="2612"/>
                  <a:ext cx="146" cy="96"/>
                </a:xfrm>
                <a:prstGeom prst="straightConnector1">
                  <a:avLst/>
                </a:prstGeom>
                <a:noFill/>
                <a:ln cap="flat" cmpd="sng" w="1907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48" name="Google Shape;448;p15"/>
                <p:cNvCxnSpPr/>
                <p:nvPr/>
              </p:nvCxnSpPr>
              <p:spPr>
                <a:xfrm flipH="1">
                  <a:off x="4559" y="2604"/>
                  <a:ext cx="146" cy="96"/>
                </a:xfrm>
                <a:prstGeom prst="straightConnector1">
                  <a:avLst/>
                </a:prstGeom>
                <a:noFill/>
                <a:ln cap="flat" cmpd="sng" w="1907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449" name="Google Shape;449;p15"/>
              <p:cNvCxnSpPr/>
              <p:nvPr/>
            </p:nvCxnSpPr>
            <p:spPr>
              <a:xfrm flipH="1">
                <a:off x="4723" y="2594"/>
                <a:ext cx="146" cy="96"/>
              </a:xfrm>
              <a:prstGeom prst="straightConnector1">
                <a:avLst/>
              </a:prstGeom>
              <a:noFill/>
              <a:ln cap="flat" cmpd="sng" w="190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50" name="Google Shape;450;p15"/>
              <p:cNvCxnSpPr/>
              <p:nvPr/>
            </p:nvCxnSpPr>
            <p:spPr>
              <a:xfrm flipH="1">
                <a:off x="4857" y="2604"/>
                <a:ext cx="146" cy="96"/>
              </a:xfrm>
              <a:prstGeom prst="straightConnector1">
                <a:avLst/>
              </a:prstGeom>
              <a:noFill/>
              <a:ln cap="flat" cmpd="sng" w="190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51" name="Google Shape;451;p15"/>
              <p:cNvCxnSpPr/>
              <p:nvPr/>
            </p:nvCxnSpPr>
            <p:spPr>
              <a:xfrm flipH="1">
                <a:off x="4993" y="2612"/>
                <a:ext cx="146" cy="96"/>
              </a:xfrm>
              <a:prstGeom prst="straightConnector1">
                <a:avLst/>
              </a:prstGeom>
              <a:noFill/>
              <a:ln cap="flat" cmpd="sng" w="190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452" name="Google Shape;452;p15"/>
            <p:cNvCxnSpPr/>
            <p:nvPr/>
          </p:nvCxnSpPr>
          <p:spPr>
            <a:xfrm flipH="1" rot="10800000">
              <a:off x="4032" y="1537"/>
              <a:ext cx="1" cy="1058"/>
            </a:xfrm>
            <a:prstGeom prst="straightConnector1">
              <a:avLst/>
            </a:prstGeom>
            <a:noFill/>
            <a:ln cap="flat" cmpd="sng" w="38150">
              <a:solidFill>
                <a:srgbClr val="666699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53" name="Google Shape;453;p15"/>
            <p:cNvCxnSpPr/>
            <p:nvPr/>
          </p:nvCxnSpPr>
          <p:spPr>
            <a:xfrm>
              <a:off x="3216" y="1682"/>
              <a:ext cx="816" cy="912"/>
            </a:xfrm>
            <a:prstGeom prst="straightConnector1">
              <a:avLst/>
            </a:prstGeom>
            <a:noFill/>
            <a:ln cap="flat" cmpd="sng" w="38150">
              <a:solidFill>
                <a:srgbClr val="666699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54" name="Google Shape;454;p15"/>
            <p:cNvCxnSpPr/>
            <p:nvPr/>
          </p:nvCxnSpPr>
          <p:spPr>
            <a:xfrm flipH="1" rot="10800000">
              <a:off x="4032" y="1681"/>
              <a:ext cx="768" cy="914"/>
            </a:xfrm>
            <a:prstGeom prst="straightConnector1">
              <a:avLst/>
            </a:prstGeom>
            <a:noFill/>
            <a:ln cap="flat" cmpd="sng" w="38150">
              <a:solidFill>
                <a:srgbClr val="666699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455" name="Google Shape;455;p15"/>
            <p:cNvSpPr txBox="1"/>
            <p:nvPr/>
          </p:nvSpPr>
          <p:spPr>
            <a:xfrm>
              <a:off x="3408" y="1728"/>
              <a:ext cx="240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15"/>
            <p:cNvSpPr txBox="1"/>
            <p:nvPr/>
          </p:nvSpPr>
          <p:spPr>
            <a:xfrm>
              <a:off x="4128" y="1353"/>
              <a:ext cx="240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15"/>
            <p:cNvSpPr txBox="1"/>
            <p:nvPr/>
          </p:nvSpPr>
          <p:spPr>
            <a:xfrm>
              <a:off x="4416" y="1776"/>
              <a:ext cx="240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58" name="Google Shape;458;p15"/>
            <p:cNvCxnSpPr/>
            <p:nvPr/>
          </p:nvCxnSpPr>
          <p:spPr>
            <a:xfrm>
              <a:off x="3216" y="1680"/>
              <a:ext cx="1" cy="912"/>
            </a:xfrm>
            <a:prstGeom prst="straightConnector1">
              <a:avLst/>
            </a:prstGeom>
            <a:noFill/>
            <a:ln cap="flat" cmpd="sng" w="38150">
              <a:solidFill>
                <a:srgbClr val="666699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59" name="Google Shape;459;p15"/>
            <p:cNvCxnSpPr/>
            <p:nvPr/>
          </p:nvCxnSpPr>
          <p:spPr>
            <a:xfrm flipH="1" rot="10800000">
              <a:off x="4790" y="1707"/>
              <a:ext cx="1" cy="866"/>
            </a:xfrm>
            <a:prstGeom prst="straightConnector1">
              <a:avLst/>
            </a:prstGeom>
            <a:noFill/>
            <a:ln cap="flat" cmpd="sng" w="38150">
              <a:solidFill>
                <a:srgbClr val="666699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460" name="Google Shape;460;p15"/>
            <p:cNvSpPr txBox="1"/>
            <p:nvPr/>
          </p:nvSpPr>
          <p:spPr>
            <a:xfrm>
              <a:off x="2928" y="2016"/>
              <a:ext cx="240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15"/>
            <p:cNvSpPr txBox="1"/>
            <p:nvPr/>
          </p:nvSpPr>
          <p:spPr>
            <a:xfrm>
              <a:off x="4800" y="2016"/>
              <a:ext cx="384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-m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2" name="Google Shape;462;p15"/>
            <p:cNvCxnSpPr/>
            <p:nvPr/>
          </p:nvCxnSpPr>
          <p:spPr>
            <a:xfrm>
              <a:off x="3216" y="2736"/>
              <a:ext cx="816" cy="1"/>
            </a:xfrm>
            <a:prstGeom prst="straightConnector1">
              <a:avLst/>
            </a:prstGeom>
            <a:noFill/>
            <a:ln cap="flat" cmpd="sng" w="38150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63" name="Google Shape;463;p15"/>
            <p:cNvCxnSpPr/>
            <p:nvPr/>
          </p:nvCxnSpPr>
          <p:spPr>
            <a:xfrm>
              <a:off x="4002" y="2736"/>
              <a:ext cx="816" cy="1"/>
            </a:xfrm>
            <a:prstGeom prst="straightConnector1">
              <a:avLst/>
            </a:prstGeom>
            <a:noFill/>
            <a:ln cap="flat" cmpd="sng" w="38150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464" name="Google Shape;464;p15"/>
            <p:cNvSpPr txBox="1"/>
            <p:nvPr/>
          </p:nvSpPr>
          <p:spPr>
            <a:xfrm>
              <a:off x="3456" y="2832"/>
              <a:ext cx="240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15"/>
            <p:cNvSpPr txBox="1"/>
            <p:nvPr/>
          </p:nvSpPr>
          <p:spPr>
            <a:xfrm>
              <a:off x="4272" y="2832"/>
              <a:ext cx="240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6" name="Google Shape;466;p15"/>
          <p:cNvGrpSpPr/>
          <p:nvPr/>
        </p:nvGrpSpPr>
        <p:grpSpPr>
          <a:xfrm>
            <a:off x="836612" y="1982788"/>
            <a:ext cx="3506788" cy="2009774"/>
            <a:chOff x="527" y="1440"/>
            <a:chExt cx="2209" cy="1266"/>
          </a:xfrm>
        </p:grpSpPr>
        <p:grpSp>
          <p:nvGrpSpPr>
            <p:cNvPr id="467" name="Google Shape;467;p15"/>
            <p:cNvGrpSpPr/>
            <p:nvPr/>
          </p:nvGrpSpPr>
          <p:grpSpPr>
            <a:xfrm>
              <a:off x="527" y="2592"/>
              <a:ext cx="2209" cy="114"/>
              <a:chOff x="527" y="2592"/>
              <a:chExt cx="2209" cy="114"/>
            </a:xfrm>
          </p:grpSpPr>
          <p:cxnSp>
            <p:nvCxnSpPr>
              <p:cNvPr id="468" name="Google Shape;468;p15"/>
              <p:cNvCxnSpPr/>
              <p:nvPr/>
            </p:nvCxnSpPr>
            <p:spPr>
              <a:xfrm>
                <a:off x="528" y="2592"/>
                <a:ext cx="2208" cy="1"/>
              </a:xfrm>
              <a:prstGeom prst="straightConnector1">
                <a:avLst/>
              </a:prstGeom>
              <a:noFill/>
              <a:ln cap="flat" cmpd="sng" w="3815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469" name="Google Shape;469;p15"/>
              <p:cNvGrpSpPr/>
              <p:nvPr/>
            </p:nvGrpSpPr>
            <p:grpSpPr>
              <a:xfrm>
                <a:off x="527" y="2592"/>
                <a:ext cx="558" cy="114"/>
                <a:chOff x="527" y="2592"/>
                <a:chExt cx="558" cy="114"/>
              </a:xfrm>
            </p:grpSpPr>
            <p:cxnSp>
              <p:nvCxnSpPr>
                <p:cNvPr id="470" name="Google Shape;470;p15"/>
                <p:cNvCxnSpPr/>
                <p:nvPr/>
              </p:nvCxnSpPr>
              <p:spPr>
                <a:xfrm flipH="1">
                  <a:off x="527" y="2592"/>
                  <a:ext cx="146" cy="96"/>
                </a:xfrm>
                <a:prstGeom prst="straightConnector1">
                  <a:avLst/>
                </a:prstGeom>
                <a:noFill/>
                <a:ln cap="flat" cmpd="sng" w="1907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71" name="Google Shape;471;p15"/>
                <p:cNvCxnSpPr/>
                <p:nvPr/>
              </p:nvCxnSpPr>
              <p:spPr>
                <a:xfrm flipH="1">
                  <a:off x="661" y="2602"/>
                  <a:ext cx="146" cy="96"/>
                </a:xfrm>
                <a:prstGeom prst="straightConnector1">
                  <a:avLst/>
                </a:prstGeom>
                <a:noFill/>
                <a:ln cap="flat" cmpd="sng" w="1907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72" name="Google Shape;472;p15"/>
                <p:cNvCxnSpPr/>
                <p:nvPr/>
              </p:nvCxnSpPr>
              <p:spPr>
                <a:xfrm flipH="1">
                  <a:off x="797" y="2610"/>
                  <a:ext cx="146" cy="96"/>
                </a:xfrm>
                <a:prstGeom prst="straightConnector1">
                  <a:avLst/>
                </a:prstGeom>
                <a:noFill/>
                <a:ln cap="flat" cmpd="sng" w="1907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73" name="Google Shape;473;p15"/>
                <p:cNvCxnSpPr/>
                <p:nvPr/>
              </p:nvCxnSpPr>
              <p:spPr>
                <a:xfrm flipH="1">
                  <a:off x="939" y="2602"/>
                  <a:ext cx="146" cy="96"/>
                </a:xfrm>
                <a:prstGeom prst="straightConnector1">
                  <a:avLst/>
                </a:prstGeom>
                <a:noFill/>
                <a:ln cap="flat" cmpd="sng" w="1907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474" name="Google Shape;474;p15"/>
              <p:cNvGrpSpPr/>
              <p:nvPr/>
            </p:nvGrpSpPr>
            <p:grpSpPr>
              <a:xfrm>
                <a:off x="1075" y="2592"/>
                <a:ext cx="558" cy="114"/>
                <a:chOff x="1075" y="2592"/>
                <a:chExt cx="558" cy="114"/>
              </a:xfrm>
            </p:grpSpPr>
            <p:cxnSp>
              <p:nvCxnSpPr>
                <p:cNvPr id="475" name="Google Shape;475;p15"/>
                <p:cNvCxnSpPr/>
                <p:nvPr/>
              </p:nvCxnSpPr>
              <p:spPr>
                <a:xfrm flipH="1">
                  <a:off x="1075" y="2592"/>
                  <a:ext cx="146" cy="96"/>
                </a:xfrm>
                <a:prstGeom prst="straightConnector1">
                  <a:avLst/>
                </a:prstGeom>
                <a:noFill/>
                <a:ln cap="flat" cmpd="sng" w="1907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76" name="Google Shape;476;p15"/>
                <p:cNvCxnSpPr/>
                <p:nvPr/>
              </p:nvCxnSpPr>
              <p:spPr>
                <a:xfrm flipH="1">
                  <a:off x="1209" y="2602"/>
                  <a:ext cx="146" cy="96"/>
                </a:xfrm>
                <a:prstGeom prst="straightConnector1">
                  <a:avLst/>
                </a:prstGeom>
                <a:noFill/>
                <a:ln cap="flat" cmpd="sng" w="1907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77" name="Google Shape;477;p15"/>
                <p:cNvCxnSpPr/>
                <p:nvPr/>
              </p:nvCxnSpPr>
              <p:spPr>
                <a:xfrm flipH="1">
                  <a:off x="1345" y="2610"/>
                  <a:ext cx="146" cy="96"/>
                </a:xfrm>
                <a:prstGeom prst="straightConnector1">
                  <a:avLst/>
                </a:prstGeom>
                <a:noFill/>
                <a:ln cap="flat" cmpd="sng" w="1907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78" name="Google Shape;478;p15"/>
                <p:cNvCxnSpPr/>
                <p:nvPr/>
              </p:nvCxnSpPr>
              <p:spPr>
                <a:xfrm flipH="1">
                  <a:off x="1487" y="2602"/>
                  <a:ext cx="146" cy="96"/>
                </a:xfrm>
                <a:prstGeom prst="straightConnector1">
                  <a:avLst/>
                </a:prstGeom>
                <a:noFill/>
                <a:ln cap="flat" cmpd="sng" w="1907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479" name="Google Shape;479;p15"/>
              <p:cNvGrpSpPr/>
              <p:nvPr/>
            </p:nvGrpSpPr>
            <p:grpSpPr>
              <a:xfrm>
                <a:off x="1651" y="2592"/>
                <a:ext cx="558" cy="114"/>
                <a:chOff x="1651" y="2592"/>
                <a:chExt cx="558" cy="114"/>
              </a:xfrm>
            </p:grpSpPr>
            <p:cxnSp>
              <p:nvCxnSpPr>
                <p:cNvPr id="480" name="Google Shape;480;p15"/>
                <p:cNvCxnSpPr/>
                <p:nvPr/>
              </p:nvCxnSpPr>
              <p:spPr>
                <a:xfrm flipH="1">
                  <a:off x="1651" y="2592"/>
                  <a:ext cx="146" cy="96"/>
                </a:xfrm>
                <a:prstGeom prst="straightConnector1">
                  <a:avLst/>
                </a:prstGeom>
                <a:noFill/>
                <a:ln cap="flat" cmpd="sng" w="1907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81" name="Google Shape;481;p15"/>
                <p:cNvCxnSpPr/>
                <p:nvPr/>
              </p:nvCxnSpPr>
              <p:spPr>
                <a:xfrm flipH="1">
                  <a:off x="1785" y="2602"/>
                  <a:ext cx="146" cy="96"/>
                </a:xfrm>
                <a:prstGeom prst="straightConnector1">
                  <a:avLst/>
                </a:prstGeom>
                <a:noFill/>
                <a:ln cap="flat" cmpd="sng" w="1907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82" name="Google Shape;482;p15"/>
                <p:cNvCxnSpPr/>
                <p:nvPr/>
              </p:nvCxnSpPr>
              <p:spPr>
                <a:xfrm flipH="1">
                  <a:off x="1921" y="2610"/>
                  <a:ext cx="146" cy="96"/>
                </a:xfrm>
                <a:prstGeom prst="straightConnector1">
                  <a:avLst/>
                </a:prstGeom>
                <a:noFill/>
                <a:ln cap="flat" cmpd="sng" w="1907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83" name="Google Shape;483;p15"/>
                <p:cNvCxnSpPr/>
                <p:nvPr/>
              </p:nvCxnSpPr>
              <p:spPr>
                <a:xfrm flipH="1">
                  <a:off x="2063" y="2602"/>
                  <a:ext cx="146" cy="96"/>
                </a:xfrm>
                <a:prstGeom prst="straightConnector1">
                  <a:avLst/>
                </a:prstGeom>
                <a:noFill/>
                <a:ln cap="flat" cmpd="sng" w="1907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484" name="Google Shape;484;p15"/>
              <p:cNvCxnSpPr/>
              <p:nvPr/>
            </p:nvCxnSpPr>
            <p:spPr>
              <a:xfrm flipH="1">
                <a:off x="2227" y="2592"/>
                <a:ext cx="146" cy="96"/>
              </a:xfrm>
              <a:prstGeom prst="straightConnector1">
                <a:avLst/>
              </a:prstGeom>
              <a:noFill/>
              <a:ln cap="flat" cmpd="sng" w="190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85" name="Google Shape;485;p15"/>
              <p:cNvCxnSpPr/>
              <p:nvPr/>
            </p:nvCxnSpPr>
            <p:spPr>
              <a:xfrm flipH="1">
                <a:off x="2361" y="2602"/>
                <a:ext cx="146" cy="96"/>
              </a:xfrm>
              <a:prstGeom prst="straightConnector1">
                <a:avLst/>
              </a:prstGeom>
              <a:noFill/>
              <a:ln cap="flat" cmpd="sng" w="190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86" name="Google Shape;486;p15"/>
              <p:cNvCxnSpPr/>
              <p:nvPr/>
            </p:nvCxnSpPr>
            <p:spPr>
              <a:xfrm flipH="1">
                <a:off x="2497" y="2610"/>
                <a:ext cx="146" cy="96"/>
              </a:xfrm>
              <a:prstGeom prst="straightConnector1">
                <a:avLst/>
              </a:prstGeom>
              <a:noFill/>
              <a:ln cap="flat" cmpd="sng" w="190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487" name="Google Shape;487;p15"/>
            <p:cNvCxnSpPr/>
            <p:nvPr/>
          </p:nvCxnSpPr>
          <p:spPr>
            <a:xfrm flipH="1" rot="10800000">
              <a:off x="1536" y="1535"/>
              <a:ext cx="1" cy="1058"/>
            </a:xfrm>
            <a:prstGeom prst="straightConnector1">
              <a:avLst/>
            </a:prstGeom>
            <a:noFill/>
            <a:ln cap="flat" cmpd="sng" w="38150">
              <a:solidFill>
                <a:srgbClr val="666699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88" name="Google Shape;488;p15"/>
            <p:cNvCxnSpPr/>
            <p:nvPr/>
          </p:nvCxnSpPr>
          <p:spPr>
            <a:xfrm>
              <a:off x="720" y="1680"/>
              <a:ext cx="816" cy="912"/>
            </a:xfrm>
            <a:prstGeom prst="straightConnector1">
              <a:avLst/>
            </a:prstGeom>
            <a:noFill/>
            <a:ln cap="flat" cmpd="sng" w="38150">
              <a:solidFill>
                <a:srgbClr val="666699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89" name="Google Shape;489;p15"/>
            <p:cNvCxnSpPr/>
            <p:nvPr/>
          </p:nvCxnSpPr>
          <p:spPr>
            <a:xfrm flipH="1" rot="10800000">
              <a:off x="1536" y="1679"/>
              <a:ext cx="768" cy="914"/>
            </a:xfrm>
            <a:prstGeom prst="straightConnector1">
              <a:avLst/>
            </a:prstGeom>
            <a:noFill/>
            <a:ln cap="flat" cmpd="sng" w="38150">
              <a:solidFill>
                <a:srgbClr val="666699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490" name="Google Shape;490;p15"/>
            <p:cNvSpPr txBox="1"/>
            <p:nvPr/>
          </p:nvSpPr>
          <p:spPr>
            <a:xfrm>
              <a:off x="528" y="1728"/>
              <a:ext cx="240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15"/>
            <p:cNvSpPr txBox="1"/>
            <p:nvPr/>
          </p:nvSpPr>
          <p:spPr>
            <a:xfrm>
              <a:off x="1632" y="1440"/>
              <a:ext cx="240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15"/>
            <p:cNvSpPr txBox="1"/>
            <p:nvPr/>
          </p:nvSpPr>
          <p:spPr>
            <a:xfrm>
              <a:off x="2304" y="1776"/>
              <a:ext cx="240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15"/>
            <p:cNvSpPr txBox="1"/>
            <p:nvPr/>
          </p:nvSpPr>
          <p:spPr>
            <a:xfrm>
              <a:off x="1248" y="2064"/>
              <a:ext cx="288" cy="2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θ</a:t>
              </a:r>
              <a:endParaRPr b="0" baseline="-2500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15"/>
            <p:cNvSpPr txBox="1"/>
            <p:nvPr/>
          </p:nvSpPr>
          <p:spPr>
            <a:xfrm>
              <a:off x="1584" y="2064"/>
              <a:ext cx="288" cy="2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θ</a:t>
              </a:r>
              <a:endParaRPr b="0" baseline="-2500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5" name="Google Shape;495;p15"/>
          <p:cNvSpPr txBox="1"/>
          <p:nvPr/>
        </p:nvSpPr>
        <p:spPr>
          <a:xfrm>
            <a:off x="2743200" y="4724400"/>
            <a:ext cx="4876800" cy="64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a  -  2 ( a . n) n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6" name="Google Shape;496;p15"/>
          <p:cNvGrpSpPr/>
          <p:nvPr/>
        </p:nvGrpSpPr>
        <p:grpSpPr>
          <a:xfrm>
            <a:off x="2757488" y="4722813"/>
            <a:ext cx="3797300" cy="176212"/>
            <a:chOff x="1737" y="3263"/>
            <a:chExt cx="2392" cy="111"/>
          </a:xfrm>
        </p:grpSpPr>
        <p:cxnSp>
          <p:nvCxnSpPr>
            <p:cNvPr id="497" name="Google Shape;497;p15"/>
            <p:cNvCxnSpPr/>
            <p:nvPr/>
          </p:nvCxnSpPr>
          <p:spPr>
            <a:xfrm>
              <a:off x="2182" y="3312"/>
              <a:ext cx="240" cy="1"/>
            </a:xfrm>
            <a:prstGeom prst="straightConnector1">
              <a:avLst/>
            </a:prstGeom>
            <a:noFill/>
            <a:ln cap="flat" cmpd="sng" w="38150">
              <a:solidFill>
                <a:srgbClr val="666699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8" name="Google Shape;498;p15"/>
            <p:cNvCxnSpPr/>
            <p:nvPr/>
          </p:nvCxnSpPr>
          <p:spPr>
            <a:xfrm>
              <a:off x="3173" y="3312"/>
              <a:ext cx="240" cy="1"/>
            </a:xfrm>
            <a:prstGeom prst="straightConnector1">
              <a:avLst/>
            </a:prstGeom>
            <a:noFill/>
            <a:ln cap="flat" cmpd="sng" w="38150">
              <a:solidFill>
                <a:srgbClr val="666699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9" name="Google Shape;499;p15"/>
            <p:cNvCxnSpPr/>
            <p:nvPr/>
          </p:nvCxnSpPr>
          <p:spPr>
            <a:xfrm>
              <a:off x="1737" y="3312"/>
              <a:ext cx="240" cy="1"/>
            </a:xfrm>
            <a:prstGeom prst="straightConnector1">
              <a:avLst/>
            </a:prstGeom>
            <a:noFill/>
            <a:ln cap="flat" cmpd="sng" w="38150">
              <a:solidFill>
                <a:srgbClr val="666699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0" name="Google Shape;500;p15"/>
            <p:cNvCxnSpPr/>
            <p:nvPr/>
          </p:nvCxnSpPr>
          <p:spPr>
            <a:xfrm flipH="1" rot="10800000">
              <a:off x="3936" y="3263"/>
              <a:ext cx="96" cy="98"/>
            </a:xfrm>
            <a:prstGeom prst="straightConnector1">
              <a:avLst/>
            </a:prstGeom>
            <a:noFill/>
            <a:ln cap="flat" cmpd="sng" w="38150">
              <a:solidFill>
                <a:srgbClr val="666699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1" name="Google Shape;501;p15"/>
            <p:cNvCxnSpPr/>
            <p:nvPr/>
          </p:nvCxnSpPr>
          <p:spPr>
            <a:xfrm rot="10800000">
              <a:off x="4031" y="3285"/>
              <a:ext cx="98" cy="76"/>
            </a:xfrm>
            <a:prstGeom prst="straightConnector1">
              <a:avLst/>
            </a:prstGeom>
            <a:noFill/>
            <a:ln cap="flat" cmpd="sng" w="38150">
              <a:solidFill>
                <a:srgbClr val="666699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2" name="Google Shape;502;p15"/>
            <p:cNvCxnSpPr/>
            <p:nvPr/>
          </p:nvCxnSpPr>
          <p:spPr>
            <a:xfrm flipH="1" rot="10800000">
              <a:off x="3600" y="3276"/>
              <a:ext cx="96" cy="98"/>
            </a:xfrm>
            <a:prstGeom prst="straightConnector1">
              <a:avLst/>
            </a:prstGeom>
            <a:noFill/>
            <a:ln cap="flat" cmpd="sng" w="38150">
              <a:solidFill>
                <a:srgbClr val="666699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3" name="Google Shape;503;p15"/>
            <p:cNvCxnSpPr/>
            <p:nvPr/>
          </p:nvCxnSpPr>
          <p:spPr>
            <a:xfrm rot="10800000">
              <a:off x="3695" y="3298"/>
              <a:ext cx="98" cy="76"/>
            </a:xfrm>
            <a:prstGeom prst="straightConnector1">
              <a:avLst/>
            </a:prstGeom>
            <a:noFill/>
            <a:ln cap="flat" cmpd="sng" w="38150">
              <a:solidFill>
                <a:srgbClr val="666699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04" name="Google Shape;504;p15"/>
          <p:cNvSpPr txBox="1"/>
          <p:nvPr/>
        </p:nvSpPr>
        <p:spPr>
          <a:xfrm>
            <a:off x="836613" y="5661025"/>
            <a:ext cx="5970587" cy="7080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the orthogonal projection of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along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equals (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a.n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 unit vector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6"/>
          <p:cNvSpPr txBox="1"/>
          <p:nvPr/>
        </p:nvSpPr>
        <p:spPr>
          <a:xfrm>
            <a:off x="447675" y="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Cross Product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6"/>
          <p:cNvSpPr txBox="1"/>
          <p:nvPr/>
        </p:nvSpPr>
        <p:spPr>
          <a:xfrm>
            <a:off x="457200" y="1562100"/>
            <a:ext cx="4038600" cy="43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3" lvl="0" marL="341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ts val="15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Also called </a:t>
            </a:r>
            <a:r>
              <a:rPr b="1" i="0" lang="en-US" sz="2000" u="none" cap="none" strike="noStrike">
                <a:solidFill>
                  <a:srgbClr val="965D36"/>
                </a:solidFill>
                <a:latin typeface="Arial"/>
                <a:ea typeface="Arial"/>
                <a:cs typeface="Arial"/>
                <a:sym typeface="Arial"/>
              </a:rPr>
              <a:t>vector product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3" lvl="0" marL="341313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7D"/>
              </a:buClr>
              <a:buSzPts val="15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Defined for </a:t>
            </a:r>
            <a:r>
              <a:rPr b="1" i="0" lang="en-US" sz="2000" u="none" cap="none" strike="noStrike">
                <a:solidFill>
                  <a:srgbClr val="965D36"/>
                </a:solidFill>
                <a:latin typeface="Arial"/>
                <a:ea typeface="Arial"/>
                <a:cs typeface="Arial"/>
                <a:sym typeface="Arial"/>
              </a:rPr>
              <a:t>3D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vectors only.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2" name="Google Shape;512;p16"/>
          <p:cNvGrpSpPr/>
          <p:nvPr/>
        </p:nvGrpSpPr>
        <p:grpSpPr>
          <a:xfrm>
            <a:off x="2743200" y="2362200"/>
            <a:ext cx="1828801" cy="1366838"/>
            <a:chOff x="1728" y="1488"/>
            <a:chExt cx="1152" cy="861"/>
          </a:xfrm>
        </p:grpSpPr>
        <p:graphicFrame>
          <p:nvGraphicFramePr>
            <p:cNvPr id="513" name="Google Shape;513;p16"/>
            <p:cNvGraphicFramePr/>
            <p:nvPr/>
          </p:nvGraphicFramePr>
          <p:xfrm>
            <a:off x="1728" y="1488"/>
            <a:ext cx="1152" cy="861"/>
          </p:xfrm>
          <a:graphic>
            <a:graphicData uri="http://schemas.openxmlformats.org/presentationml/2006/ole">
              <mc:AlternateContent>
                <mc:Choice Requires="v">
                  <p:oleObj r:id="rId4" imgH="861" imgW="1152" progId="" spid="_x0000_s1">
                    <p:embed/>
                  </p:oleObj>
                </mc:Choice>
                <mc:Fallback>
                  <p:oleObj r:id="rId5" imgH="861" imgW="1152" progId="">
                    <p:embed/>
                    <p:pic>
                      <p:nvPicPr>
                        <p:cNvPr id="513" name="Google Shape;513;p16"/>
                        <p:cNvPicPr preferRelativeResize="0"/>
                        <p:nvPr/>
                      </p:nvPicPr>
                      <p:blipFill rotWithShape="1">
                        <a:blip r:embed="rId6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1728" y="1488"/>
                          <a:ext cx="1152" cy="8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4" name="Google Shape;514;p16"/>
            <p:cNvSpPr txBox="1"/>
            <p:nvPr/>
          </p:nvSpPr>
          <p:spPr>
            <a:xfrm>
              <a:off x="1728" y="1488"/>
              <a:ext cx="1152" cy="8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5" name="Google Shape;515;p16"/>
          <p:cNvSpPr txBox="1"/>
          <p:nvPr/>
        </p:nvSpPr>
        <p:spPr>
          <a:xfrm>
            <a:off x="914400" y="4114800"/>
            <a:ext cx="7239000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-341313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Properties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3" lvl="0" marL="342900" marR="0" rtl="0" algn="l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Antisymmetry: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Χ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-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Χ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3" lvl="0" marL="342900" marR="0" rtl="0" algn="l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Linearity: (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 +c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Χ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Χ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Χ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3" lvl="0" marL="342900" marR="0" rtl="0" algn="l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AutoNum type="arabicPeriod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Homogeneity: (s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Χ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s(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Χ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7"/>
          <p:cNvSpPr txBox="1"/>
          <p:nvPr/>
        </p:nvSpPr>
        <p:spPr>
          <a:xfrm>
            <a:off x="447675" y="0"/>
            <a:ext cx="839152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Geometric Interpretation of Cross Product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2" name="Google Shape;522;p17"/>
          <p:cNvGrpSpPr/>
          <p:nvPr/>
        </p:nvGrpSpPr>
        <p:grpSpPr>
          <a:xfrm>
            <a:off x="762000" y="1446212"/>
            <a:ext cx="6858001" cy="3582988"/>
            <a:chOff x="480" y="911"/>
            <a:chExt cx="4320" cy="2257"/>
          </a:xfrm>
        </p:grpSpPr>
        <p:cxnSp>
          <p:nvCxnSpPr>
            <p:cNvPr id="523" name="Google Shape;523;p17"/>
            <p:cNvCxnSpPr/>
            <p:nvPr/>
          </p:nvCxnSpPr>
          <p:spPr>
            <a:xfrm>
              <a:off x="1842" y="2626"/>
              <a:ext cx="2629" cy="1"/>
            </a:xfrm>
            <a:prstGeom prst="straightConnector1">
              <a:avLst/>
            </a:prstGeom>
            <a:noFill/>
            <a:ln cap="flat" cmpd="sng" w="38150">
              <a:solidFill>
                <a:srgbClr val="808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524" name="Google Shape;524;p17"/>
            <p:cNvCxnSpPr/>
            <p:nvPr/>
          </p:nvCxnSpPr>
          <p:spPr>
            <a:xfrm flipH="1" rot="10800000">
              <a:off x="1842" y="1181"/>
              <a:ext cx="1" cy="1446"/>
            </a:xfrm>
            <a:prstGeom prst="straightConnector1">
              <a:avLst/>
            </a:prstGeom>
            <a:noFill/>
            <a:ln cap="flat" cmpd="sng" w="38150">
              <a:solidFill>
                <a:srgbClr val="808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525" name="Google Shape;525;p17"/>
            <p:cNvCxnSpPr/>
            <p:nvPr/>
          </p:nvCxnSpPr>
          <p:spPr>
            <a:xfrm flipH="1">
              <a:off x="713" y="2626"/>
              <a:ext cx="1129" cy="361"/>
            </a:xfrm>
            <a:prstGeom prst="straightConnector1">
              <a:avLst/>
            </a:prstGeom>
            <a:noFill/>
            <a:ln cap="flat" cmpd="sng" w="38150">
              <a:solidFill>
                <a:srgbClr val="808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526" name="Google Shape;526;p17"/>
            <p:cNvSpPr/>
            <p:nvPr/>
          </p:nvSpPr>
          <p:spPr>
            <a:xfrm>
              <a:off x="1419" y="1183"/>
              <a:ext cx="2394" cy="1985"/>
            </a:xfrm>
            <a:custGeom>
              <a:rect b="b" l="l" r="r" t="t"/>
              <a:pathLst>
                <a:path extrusionOk="0" h="1824" w="2304">
                  <a:moveTo>
                    <a:pt x="864" y="0"/>
                  </a:moveTo>
                  <a:lnTo>
                    <a:pt x="0" y="576"/>
                  </a:lnTo>
                  <a:lnTo>
                    <a:pt x="2304" y="1824"/>
                  </a:lnTo>
                  <a:lnTo>
                    <a:pt x="2208" y="336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rgbClr val="E7E7FF"/>
            </a:solidFill>
            <a:ln cap="flat" cmpd="sng" w="38150">
              <a:solidFill>
                <a:srgbClr val="66669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7" name="Google Shape;527;p17"/>
            <p:cNvCxnSpPr/>
            <p:nvPr/>
          </p:nvCxnSpPr>
          <p:spPr>
            <a:xfrm flipH="1">
              <a:off x="2122" y="1498"/>
              <a:ext cx="800" cy="135"/>
            </a:xfrm>
            <a:prstGeom prst="straightConnector1">
              <a:avLst/>
            </a:prstGeom>
            <a:noFill/>
            <a:ln cap="flat" cmpd="sng" w="38150">
              <a:solidFill>
                <a:srgbClr val="619D43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528" name="Google Shape;528;p17"/>
            <p:cNvCxnSpPr/>
            <p:nvPr/>
          </p:nvCxnSpPr>
          <p:spPr>
            <a:xfrm>
              <a:off x="2922" y="1498"/>
              <a:ext cx="422" cy="586"/>
            </a:xfrm>
            <a:prstGeom prst="straightConnector1">
              <a:avLst/>
            </a:prstGeom>
            <a:noFill/>
            <a:ln cap="flat" cmpd="sng" w="38150">
              <a:solidFill>
                <a:srgbClr val="619D43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529" name="Google Shape;529;p17"/>
            <p:cNvSpPr/>
            <p:nvPr/>
          </p:nvSpPr>
          <p:spPr>
            <a:xfrm>
              <a:off x="3297" y="2076"/>
              <a:ext cx="94" cy="90"/>
            </a:xfrm>
            <a:prstGeom prst="ellipse">
              <a:avLst/>
            </a:prstGeom>
            <a:solidFill>
              <a:srgbClr val="9999FF"/>
            </a:solidFill>
            <a:ln cap="flat" cmpd="sng" w="38150">
              <a:solidFill>
                <a:srgbClr val="66669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17"/>
            <p:cNvSpPr/>
            <p:nvPr/>
          </p:nvSpPr>
          <p:spPr>
            <a:xfrm>
              <a:off x="2057" y="1598"/>
              <a:ext cx="94" cy="90"/>
            </a:xfrm>
            <a:prstGeom prst="ellipse">
              <a:avLst/>
            </a:prstGeom>
            <a:solidFill>
              <a:srgbClr val="9999FF"/>
            </a:solidFill>
            <a:ln cap="flat" cmpd="sng" w="38150">
              <a:solidFill>
                <a:srgbClr val="66669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17"/>
            <p:cNvSpPr/>
            <p:nvPr/>
          </p:nvSpPr>
          <p:spPr>
            <a:xfrm>
              <a:off x="2875" y="1472"/>
              <a:ext cx="94" cy="90"/>
            </a:xfrm>
            <a:prstGeom prst="ellipse">
              <a:avLst/>
            </a:prstGeom>
            <a:solidFill>
              <a:srgbClr val="9999FF"/>
            </a:solidFill>
            <a:ln cap="flat" cmpd="sng" w="38150">
              <a:solidFill>
                <a:srgbClr val="66669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2" name="Google Shape;532;p17"/>
            <p:cNvCxnSpPr/>
            <p:nvPr/>
          </p:nvCxnSpPr>
          <p:spPr>
            <a:xfrm flipH="1" rot="10800000">
              <a:off x="2922" y="911"/>
              <a:ext cx="329" cy="588"/>
            </a:xfrm>
            <a:prstGeom prst="straightConnector1">
              <a:avLst/>
            </a:prstGeom>
            <a:noFill/>
            <a:ln cap="flat" cmpd="sng" w="38150">
              <a:solidFill>
                <a:srgbClr val="619D43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533" name="Google Shape;533;p17"/>
            <p:cNvSpPr txBox="1"/>
            <p:nvPr/>
          </p:nvSpPr>
          <p:spPr>
            <a:xfrm>
              <a:off x="3156" y="1137"/>
              <a:ext cx="517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a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17"/>
            <p:cNvSpPr txBox="1"/>
            <p:nvPr/>
          </p:nvSpPr>
          <p:spPr>
            <a:xfrm>
              <a:off x="2311" y="1363"/>
              <a:ext cx="235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17"/>
            <p:cNvSpPr txBox="1"/>
            <p:nvPr/>
          </p:nvSpPr>
          <p:spPr>
            <a:xfrm>
              <a:off x="3203" y="1679"/>
              <a:ext cx="234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17"/>
            <p:cNvSpPr txBox="1"/>
            <p:nvPr/>
          </p:nvSpPr>
          <p:spPr>
            <a:xfrm>
              <a:off x="4565" y="2581"/>
              <a:ext cx="235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17"/>
            <p:cNvSpPr txBox="1"/>
            <p:nvPr/>
          </p:nvSpPr>
          <p:spPr>
            <a:xfrm>
              <a:off x="1795" y="957"/>
              <a:ext cx="234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17"/>
            <p:cNvSpPr txBox="1"/>
            <p:nvPr/>
          </p:nvSpPr>
          <p:spPr>
            <a:xfrm>
              <a:off x="480" y="2852"/>
              <a:ext cx="235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17"/>
            <p:cNvSpPr txBox="1"/>
            <p:nvPr/>
          </p:nvSpPr>
          <p:spPr>
            <a:xfrm>
              <a:off x="3438" y="2130"/>
              <a:ext cx="329" cy="2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17"/>
            <p:cNvSpPr txBox="1"/>
            <p:nvPr/>
          </p:nvSpPr>
          <p:spPr>
            <a:xfrm>
              <a:off x="3016" y="1408"/>
              <a:ext cx="329" cy="2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17"/>
            <p:cNvSpPr txBox="1"/>
            <p:nvPr/>
          </p:nvSpPr>
          <p:spPr>
            <a:xfrm>
              <a:off x="1842" y="1544"/>
              <a:ext cx="328" cy="2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2" name="Google Shape;542;p17"/>
          <p:cNvSpPr/>
          <p:nvPr/>
        </p:nvSpPr>
        <p:spPr>
          <a:xfrm flipH="1">
            <a:off x="533400" y="51054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-512763" lvl="0" marL="51276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ts val="2400"/>
              <a:buFont typeface="Times New Roman"/>
              <a:buAutoNum type="arabicPeriod"/>
            </a:pPr>
            <a:r>
              <a:rPr b="1" i="0" lang="en-US" sz="24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4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i="0" lang="en-US" sz="24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24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 is perpendicular to both </a:t>
            </a:r>
            <a:r>
              <a:rPr b="1" i="0" lang="en-US" sz="24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4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US" sz="24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en-US" sz="24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2763" lvl="0" marL="51276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ts val="2400"/>
              <a:buFont typeface="Times New Roman"/>
              <a:buAutoNum type="arabicPeriod"/>
            </a:pPr>
            <a:r>
              <a:rPr b="0" i="0" lang="en-US" sz="24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b="1" i="0" lang="en-US" sz="24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 a</a:t>
            </a:r>
            <a:r>
              <a:rPr b="0" i="0" lang="en-US" sz="24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i="0" lang="en-US" sz="24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b | </a:t>
            </a:r>
            <a:r>
              <a:rPr b="0" i="0" lang="en-US" sz="24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= area of the parallelogram defined by </a:t>
            </a:r>
            <a:r>
              <a:rPr b="1" i="0" lang="en-US" sz="24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0" lang="en-US" sz="24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1" i="0" lang="en-US" sz="24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3" name="Google Shape;543;p17"/>
          <p:cNvCxnSpPr/>
          <p:nvPr/>
        </p:nvCxnSpPr>
        <p:spPr>
          <a:xfrm>
            <a:off x="3392488" y="2659063"/>
            <a:ext cx="722312" cy="998537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4" name="Google Shape;544;p17"/>
          <p:cNvCxnSpPr/>
          <p:nvPr/>
        </p:nvCxnSpPr>
        <p:spPr>
          <a:xfrm flipH="1" rot="10800000">
            <a:off x="4114800" y="3436938"/>
            <a:ext cx="1193800" cy="222250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/>
          <p:nvPr/>
        </p:nvSpPr>
        <p:spPr>
          <a:xfrm>
            <a:off x="447675" y="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Representing Lines [11][12]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1" name="Google Shape;551;p18"/>
          <p:cNvCxnSpPr/>
          <p:nvPr/>
        </p:nvCxnSpPr>
        <p:spPr>
          <a:xfrm flipH="1" rot="10800000">
            <a:off x="1816100" y="1700213"/>
            <a:ext cx="1676400" cy="1679575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2" name="Google Shape;552;p18"/>
          <p:cNvCxnSpPr/>
          <p:nvPr/>
        </p:nvCxnSpPr>
        <p:spPr>
          <a:xfrm flipH="1" rot="10800000">
            <a:off x="4694238" y="1776413"/>
            <a:ext cx="1524000" cy="1679575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53" name="Google Shape;553;p18"/>
          <p:cNvSpPr txBox="1"/>
          <p:nvPr/>
        </p:nvSpPr>
        <p:spPr>
          <a:xfrm>
            <a:off x="2120900" y="3352800"/>
            <a:ext cx="838200" cy="3984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8"/>
          <p:cNvSpPr txBox="1"/>
          <p:nvPr/>
        </p:nvSpPr>
        <p:spPr>
          <a:xfrm>
            <a:off x="5532438" y="3276600"/>
            <a:ext cx="838200" cy="3984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8"/>
          <p:cNvSpPr/>
          <p:nvPr/>
        </p:nvSpPr>
        <p:spPr>
          <a:xfrm>
            <a:off x="2197100" y="2844800"/>
            <a:ext cx="152400" cy="152400"/>
          </a:xfrm>
          <a:prstGeom prst="ellipse">
            <a:avLst/>
          </a:prstGeom>
          <a:solidFill>
            <a:srgbClr val="9999FF"/>
          </a:solidFill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18"/>
          <p:cNvSpPr/>
          <p:nvPr/>
        </p:nvSpPr>
        <p:spPr>
          <a:xfrm>
            <a:off x="3035300" y="2006600"/>
            <a:ext cx="152400" cy="152400"/>
          </a:xfrm>
          <a:prstGeom prst="ellipse">
            <a:avLst/>
          </a:prstGeom>
          <a:solidFill>
            <a:srgbClr val="9999FF"/>
          </a:solidFill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18"/>
          <p:cNvSpPr/>
          <p:nvPr/>
        </p:nvSpPr>
        <p:spPr>
          <a:xfrm>
            <a:off x="4643438" y="3340100"/>
            <a:ext cx="152400" cy="152400"/>
          </a:xfrm>
          <a:prstGeom prst="ellipse">
            <a:avLst/>
          </a:prstGeom>
          <a:solidFill>
            <a:srgbClr val="9999FF"/>
          </a:solidFill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8"/>
          <p:cNvSpPr txBox="1"/>
          <p:nvPr/>
        </p:nvSpPr>
        <p:spPr>
          <a:xfrm>
            <a:off x="762000" y="4419600"/>
            <a:ext cx="6400800" cy="14747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-341313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types of representations: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3" lvl="0" marL="342900" marR="0" rtl="0" algn="l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rabicPeriod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Two point form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3" lvl="0" marL="342900" marR="0" rtl="0" algn="l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rabicPeriod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Parametric representation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9"/>
          <p:cNvSpPr txBox="1"/>
          <p:nvPr/>
        </p:nvSpPr>
        <p:spPr>
          <a:xfrm>
            <a:off x="447675" y="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684213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Parametric Representation of a Line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5" name="Google Shape;565;p19"/>
          <p:cNvCxnSpPr/>
          <p:nvPr/>
        </p:nvCxnSpPr>
        <p:spPr>
          <a:xfrm>
            <a:off x="1981200" y="5105400"/>
            <a:ext cx="4191000" cy="1588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66" name="Google Shape;566;p19"/>
          <p:cNvCxnSpPr/>
          <p:nvPr/>
        </p:nvCxnSpPr>
        <p:spPr>
          <a:xfrm flipH="1" rot="10800000">
            <a:off x="1981200" y="2665413"/>
            <a:ext cx="1588" cy="2441575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67" name="Google Shape;567;p19"/>
          <p:cNvCxnSpPr/>
          <p:nvPr/>
        </p:nvCxnSpPr>
        <p:spPr>
          <a:xfrm flipH="1" rot="10800000">
            <a:off x="1676400" y="2284413"/>
            <a:ext cx="3886200" cy="2212975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568" name="Google Shape;568;p19"/>
          <p:cNvCxnSpPr/>
          <p:nvPr/>
        </p:nvCxnSpPr>
        <p:spPr>
          <a:xfrm flipH="1" rot="10800000">
            <a:off x="3048000" y="2970213"/>
            <a:ext cx="1295400" cy="742950"/>
          </a:xfrm>
          <a:prstGeom prst="straightConnector1">
            <a:avLst/>
          </a:prstGeom>
          <a:noFill/>
          <a:ln cap="flat" cmpd="sng" w="38150">
            <a:solidFill>
              <a:srgbClr val="9933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69" name="Google Shape;569;p19"/>
          <p:cNvSpPr/>
          <p:nvPr/>
        </p:nvSpPr>
        <p:spPr>
          <a:xfrm>
            <a:off x="2971800" y="3657600"/>
            <a:ext cx="152400" cy="152400"/>
          </a:xfrm>
          <a:prstGeom prst="ellipse">
            <a:avLst/>
          </a:prstGeom>
          <a:solidFill>
            <a:srgbClr val="9999FF"/>
          </a:solidFill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19"/>
          <p:cNvSpPr/>
          <p:nvPr/>
        </p:nvSpPr>
        <p:spPr>
          <a:xfrm>
            <a:off x="4330700" y="2857500"/>
            <a:ext cx="152400" cy="152400"/>
          </a:xfrm>
          <a:prstGeom prst="ellipse">
            <a:avLst/>
          </a:prstGeom>
          <a:solidFill>
            <a:srgbClr val="9999FF"/>
          </a:solidFill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19"/>
          <p:cNvSpPr txBox="1"/>
          <p:nvPr/>
        </p:nvSpPr>
        <p:spPr>
          <a:xfrm>
            <a:off x="1676400" y="2286000"/>
            <a:ext cx="3810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19"/>
          <p:cNvSpPr txBox="1"/>
          <p:nvPr/>
        </p:nvSpPr>
        <p:spPr>
          <a:xfrm>
            <a:off x="6172200" y="4876800"/>
            <a:ext cx="3810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19"/>
          <p:cNvSpPr txBox="1"/>
          <p:nvPr/>
        </p:nvSpPr>
        <p:spPr>
          <a:xfrm>
            <a:off x="4419600" y="3048000"/>
            <a:ext cx="5334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19"/>
          <p:cNvSpPr txBox="1"/>
          <p:nvPr/>
        </p:nvSpPr>
        <p:spPr>
          <a:xfrm>
            <a:off x="3962400" y="2590800"/>
            <a:ext cx="3810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19"/>
          <p:cNvSpPr txBox="1"/>
          <p:nvPr/>
        </p:nvSpPr>
        <p:spPr>
          <a:xfrm>
            <a:off x="2819400" y="3200400"/>
            <a:ext cx="3810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19"/>
          <p:cNvSpPr txBox="1"/>
          <p:nvPr/>
        </p:nvSpPr>
        <p:spPr>
          <a:xfrm>
            <a:off x="3429000" y="2895600"/>
            <a:ext cx="3810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19"/>
          <p:cNvSpPr txBox="1"/>
          <p:nvPr/>
        </p:nvSpPr>
        <p:spPr>
          <a:xfrm>
            <a:off x="3200400" y="3810000"/>
            <a:ext cx="5334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19"/>
          <p:cNvSpPr txBox="1"/>
          <p:nvPr/>
        </p:nvSpPr>
        <p:spPr>
          <a:xfrm>
            <a:off x="2286000" y="4191000"/>
            <a:ext cx="5334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&lt;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19"/>
          <p:cNvSpPr txBox="1"/>
          <p:nvPr/>
        </p:nvSpPr>
        <p:spPr>
          <a:xfrm>
            <a:off x="5181600" y="2438400"/>
            <a:ext cx="5334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&gt;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19"/>
          <p:cNvSpPr txBox="1"/>
          <p:nvPr/>
        </p:nvSpPr>
        <p:spPr>
          <a:xfrm>
            <a:off x="3237384" y="5876231"/>
            <a:ext cx="1944216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0"/>
          <p:cNvSpPr txBox="1"/>
          <p:nvPr/>
        </p:nvSpPr>
        <p:spPr>
          <a:xfrm>
            <a:off x="447675" y="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Planes in 3D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20"/>
          <p:cNvSpPr txBox="1"/>
          <p:nvPr/>
        </p:nvSpPr>
        <p:spPr>
          <a:xfrm>
            <a:off x="457200" y="1562100"/>
            <a:ext cx="8229600" cy="43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ts val="210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 fundamental forms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9413" lvl="1" marL="83661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99CC"/>
              </a:buClr>
              <a:buSzPts val="1920"/>
              <a:buFont typeface="Noto Sans Symbols"/>
              <a:buChar char="◻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Three-point form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9413" lvl="1" marL="83661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99CC"/>
              </a:buClr>
              <a:buSzPts val="1920"/>
              <a:buFont typeface="Noto Sans Symbols"/>
              <a:buChar char="◻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Parametric representation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9413" lvl="1" marL="83661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99CC"/>
              </a:buClr>
              <a:buSzPts val="1920"/>
              <a:buFont typeface="Noto Sans Symbols"/>
              <a:buChar char="◻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Point normal form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9413" lvl="1" marL="83661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99CC"/>
              </a:buClr>
              <a:buSzPts val="1920"/>
              <a:buFont typeface="Noto Sans Symbols"/>
              <a:buChar char="◻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Equation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1"/>
          <p:cNvSpPr txBox="1"/>
          <p:nvPr/>
        </p:nvSpPr>
        <p:spPr>
          <a:xfrm>
            <a:off x="447675" y="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Parametric Representation of Plane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4" name="Google Shape;594;p21"/>
          <p:cNvGrpSpPr/>
          <p:nvPr/>
        </p:nvGrpSpPr>
        <p:grpSpPr>
          <a:xfrm>
            <a:off x="1827213" y="2132013"/>
            <a:ext cx="5030787" cy="3201987"/>
            <a:chOff x="1151" y="1343"/>
            <a:chExt cx="3169" cy="2017"/>
          </a:xfrm>
        </p:grpSpPr>
        <p:cxnSp>
          <p:nvCxnSpPr>
            <p:cNvPr id="595" name="Google Shape;595;p21"/>
            <p:cNvCxnSpPr/>
            <p:nvPr/>
          </p:nvCxnSpPr>
          <p:spPr>
            <a:xfrm flipH="1" rot="10800000">
              <a:off x="2064" y="1343"/>
              <a:ext cx="1" cy="1346"/>
            </a:xfrm>
            <a:prstGeom prst="straightConnector1">
              <a:avLst/>
            </a:prstGeom>
            <a:noFill/>
            <a:ln cap="flat" cmpd="sng" w="38150">
              <a:solidFill>
                <a:srgbClr val="666699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596" name="Google Shape;596;p21"/>
            <p:cNvCxnSpPr/>
            <p:nvPr/>
          </p:nvCxnSpPr>
          <p:spPr>
            <a:xfrm flipH="1">
              <a:off x="1151" y="2688"/>
              <a:ext cx="914" cy="672"/>
            </a:xfrm>
            <a:prstGeom prst="straightConnector1">
              <a:avLst/>
            </a:prstGeom>
            <a:noFill/>
            <a:ln cap="flat" cmpd="sng" w="38150">
              <a:solidFill>
                <a:srgbClr val="666699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597" name="Google Shape;597;p21"/>
            <p:cNvCxnSpPr/>
            <p:nvPr/>
          </p:nvCxnSpPr>
          <p:spPr>
            <a:xfrm>
              <a:off x="2064" y="2688"/>
              <a:ext cx="1968" cy="1"/>
            </a:xfrm>
            <a:prstGeom prst="straightConnector1">
              <a:avLst/>
            </a:prstGeom>
            <a:noFill/>
            <a:ln cap="flat" cmpd="sng" w="38150">
              <a:solidFill>
                <a:srgbClr val="666699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598" name="Google Shape;598;p21"/>
            <p:cNvSpPr/>
            <p:nvPr/>
          </p:nvSpPr>
          <p:spPr>
            <a:xfrm>
              <a:off x="1920" y="1392"/>
              <a:ext cx="2400" cy="1104"/>
            </a:xfrm>
            <a:custGeom>
              <a:rect b="b" l="l" r="r" t="t"/>
              <a:pathLst>
                <a:path extrusionOk="0" h="1104" w="2400">
                  <a:moveTo>
                    <a:pt x="0" y="624"/>
                  </a:moveTo>
                  <a:lnTo>
                    <a:pt x="720" y="0"/>
                  </a:lnTo>
                  <a:lnTo>
                    <a:pt x="2400" y="192"/>
                  </a:lnTo>
                  <a:lnTo>
                    <a:pt x="1920" y="1104"/>
                  </a:lnTo>
                  <a:lnTo>
                    <a:pt x="0" y="624"/>
                  </a:lnTo>
                  <a:close/>
                </a:path>
              </a:pathLst>
            </a:custGeom>
            <a:solidFill>
              <a:srgbClr val="D6D6EA"/>
            </a:solidFill>
            <a:ln cap="flat" cmpd="sng" w="38150">
              <a:solidFill>
                <a:srgbClr val="66669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99" name="Google Shape;599;p21"/>
            <p:cNvCxnSpPr/>
            <p:nvPr/>
          </p:nvCxnSpPr>
          <p:spPr>
            <a:xfrm flipH="1" rot="10800000">
              <a:off x="2832" y="1656"/>
              <a:ext cx="624" cy="73"/>
            </a:xfrm>
            <a:prstGeom prst="straightConnector1">
              <a:avLst/>
            </a:prstGeom>
            <a:noFill/>
            <a:ln cap="flat" cmpd="sng" w="38150">
              <a:solidFill>
                <a:srgbClr val="619D43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600" name="Google Shape;600;p21"/>
            <p:cNvCxnSpPr/>
            <p:nvPr/>
          </p:nvCxnSpPr>
          <p:spPr>
            <a:xfrm>
              <a:off x="2840" y="1728"/>
              <a:ext cx="480" cy="336"/>
            </a:xfrm>
            <a:prstGeom prst="straightConnector1">
              <a:avLst/>
            </a:prstGeom>
            <a:noFill/>
            <a:ln cap="flat" cmpd="sng" w="38150">
              <a:solidFill>
                <a:srgbClr val="619D43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601" name="Google Shape;601;p21"/>
            <p:cNvSpPr/>
            <p:nvPr/>
          </p:nvSpPr>
          <p:spPr>
            <a:xfrm>
              <a:off x="2784" y="1688"/>
              <a:ext cx="96" cy="96"/>
            </a:xfrm>
            <a:prstGeom prst="ellipse">
              <a:avLst/>
            </a:prstGeom>
            <a:solidFill>
              <a:srgbClr val="619D43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21"/>
            <p:cNvSpPr txBox="1"/>
            <p:nvPr/>
          </p:nvSpPr>
          <p:spPr>
            <a:xfrm>
              <a:off x="2544" y="1632"/>
              <a:ext cx="192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21"/>
            <p:cNvSpPr txBox="1"/>
            <p:nvPr/>
          </p:nvSpPr>
          <p:spPr>
            <a:xfrm>
              <a:off x="3360" y="2016"/>
              <a:ext cx="192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21"/>
            <p:cNvSpPr txBox="1"/>
            <p:nvPr/>
          </p:nvSpPr>
          <p:spPr>
            <a:xfrm>
              <a:off x="3504" y="1584"/>
              <a:ext cx="192" cy="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imes New Roman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5" name="Google Shape;605;p21"/>
          <p:cNvSpPr txBox="1"/>
          <p:nvPr/>
        </p:nvSpPr>
        <p:spPr>
          <a:xfrm>
            <a:off x="2627784" y="5229200"/>
            <a:ext cx="3771429" cy="92333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9932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22"/>
          <p:cNvSpPr txBox="1"/>
          <p:nvPr/>
        </p:nvSpPr>
        <p:spPr>
          <a:xfrm>
            <a:off x="447675" y="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Point Normal Form of a Plane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2" name="Google Shape;612;p22"/>
          <p:cNvCxnSpPr/>
          <p:nvPr/>
        </p:nvCxnSpPr>
        <p:spPr>
          <a:xfrm flipH="1" rot="10800000">
            <a:off x="3276600" y="2132013"/>
            <a:ext cx="1588" cy="2136775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13" name="Google Shape;613;p22"/>
          <p:cNvCxnSpPr/>
          <p:nvPr/>
        </p:nvCxnSpPr>
        <p:spPr>
          <a:xfrm flipH="1">
            <a:off x="1827213" y="4267200"/>
            <a:ext cx="1450975" cy="1066800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14" name="Google Shape;614;p22"/>
          <p:cNvCxnSpPr/>
          <p:nvPr/>
        </p:nvCxnSpPr>
        <p:spPr>
          <a:xfrm>
            <a:off x="3276600" y="4267200"/>
            <a:ext cx="3124200" cy="1588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15" name="Google Shape;615;p22"/>
          <p:cNvSpPr/>
          <p:nvPr/>
        </p:nvSpPr>
        <p:spPr>
          <a:xfrm>
            <a:off x="3048000" y="2209800"/>
            <a:ext cx="3810000" cy="1752600"/>
          </a:xfrm>
          <a:custGeom>
            <a:rect b="b" l="l" r="r" t="t"/>
            <a:pathLst>
              <a:path extrusionOk="0" h="1104" w="2400">
                <a:moveTo>
                  <a:pt x="0" y="624"/>
                </a:moveTo>
                <a:lnTo>
                  <a:pt x="720" y="0"/>
                </a:lnTo>
                <a:lnTo>
                  <a:pt x="2400" y="192"/>
                </a:lnTo>
                <a:lnTo>
                  <a:pt x="1920" y="1104"/>
                </a:lnTo>
                <a:lnTo>
                  <a:pt x="0" y="624"/>
                </a:lnTo>
                <a:close/>
              </a:path>
            </a:pathLst>
          </a:custGeom>
          <a:solidFill>
            <a:srgbClr val="D6D6EA"/>
          </a:solidFill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6" name="Google Shape;616;p22"/>
          <p:cNvCxnSpPr/>
          <p:nvPr/>
        </p:nvCxnSpPr>
        <p:spPr>
          <a:xfrm flipH="1" rot="10800000">
            <a:off x="4495800" y="1484313"/>
            <a:ext cx="342900" cy="1260475"/>
          </a:xfrm>
          <a:prstGeom prst="straightConnector1">
            <a:avLst/>
          </a:prstGeom>
          <a:noFill/>
          <a:ln cap="flat" cmpd="sng" w="38150">
            <a:solidFill>
              <a:srgbClr val="619D4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17" name="Google Shape;617;p22"/>
          <p:cNvSpPr/>
          <p:nvPr/>
        </p:nvSpPr>
        <p:spPr>
          <a:xfrm>
            <a:off x="4419600" y="2679700"/>
            <a:ext cx="152400" cy="152400"/>
          </a:xfrm>
          <a:prstGeom prst="ellipse">
            <a:avLst/>
          </a:prstGeom>
          <a:solidFill>
            <a:srgbClr val="619D43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22"/>
          <p:cNvSpPr txBox="1"/>
          <p:nvPr/>
        </p:nvSpPr>
        <p:spPr>
          <a:xfrm>
            <a:off x="4038600" y="2590800"/>
            <a:ext cx="3048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22"/>
          <p:cNvSpPr txBox="1"/>
          <p:nvPr/>
        </p:nvSpPr>
        <p:spPr>
          <a:xfrm>
            <a:off x="4953000" y="1800225"/>
            <a:ext cx="3810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3"/>
          <p:cNvSpPr txBox="1"/>
          <p:nvPr/>
        </p:nvSpPr>
        <p:spPr>
          <a:xfrm>
            <a:off x="447675" y="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Representations of Plane [13]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23"/>
          <p:cNvSpPr/>
          <p:nvPr/>
        </p:nvSpPr>
        <p:spPr>
          <a:xfrm>
            <a:off x="1447800" y="2452688"/>
            <a:ext cx="1295400" cy="1219200"/>
          </a:xfrm>
          <a:prstGeom prst="ellipse">
            <a:avLst/>
          </a:prstGeom>
          <a:solidFill>
            <a:srgbClr val="9999FF">
              <a:alpha val="16078"/>
            </a:srgbClr>
          </a:solidFill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Three Point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23"/>
          <p:cNvSpPr/>
          <p:nvPr/>
        </p:nvSpPr>
        <p:spPr>
          <a:xfrm>
            <a:off x="5638800" y="2300288"/>
            <a:ext cx="1219200" cy="1219200"/>
          </a:xfrm>
          <a:prstGeom prst="ellipse">
            <a:avLst/>
          </a:prstGeom>
          <a:solidFill>
            <a:srgbClr val="9999FF">
              <a:alpha val="16078"/>
            </a:srgbClr>
          </a:solidFill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Normal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3"/>
          <p:cNvSpPr/>
          <p:nvPr/>
        </p:nvSpPr>
        <p:spPr>
          <a:xfrm>
            <a:off x="3581400" y="4814888"/>
            <a:ext cx="1219200" cy="1219200"/>
          </a:xfrm>
          <a:prstGeom prst="ellipse">
            <a:avLst/>
          </a:prstGeom>
          <a:solidFill>
            <a:srgbClr val="9999FF">
              <a:alpha val="16078"/>
            </a:srgbClr>
          </a:solidFill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Parametric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3"/>
          <p:cNvSpPr/>
          <p:nvPr/>
        </p:nvSpPr>
        <p:spPr>
          <a:xfrm flipH="1" rot="-8760000">
            <a:off x="3230563" y="2147888"/>
            <a:ext cx="1827212" cy="1450975"/>
          </a:xfrm>
          <a:custGeom>
            <a:rect b="b" l="l" r="r" t="t"/>
            <a:pathLst>
              <a:path extrusionOk="0" fill="none" h="21599" w="21480">
                <a:moveTo>
                  <a:pt x="205" y="-1"/>
                </a:moveTo>
                <a:cubicBezTo>
                  <a:pt x="11175" y="104"/>
                  <a:pt x="20325" y="8415"/>
                  <a:pt x="21480" y="19325"/>
                </a:cubicBezTo>
              </a:path>
              <a:path extrusionOk="0" h="21599" w="21480">
                <a:moveTo>
                  <a:pt x="205" y="-1"/>
                </a:moveTo>
                <a:cubicBezTo>
                  <a:pt x="11175" y="104"/>
                  <a:pt x="20325" y="8415"/>
                  <a:pt x="21480" y="19325"/>
                </a:cubicBezTo>
                <a:lnTo>
                  <a:pt x="0" y="21599"/>
                </a:lnTo>
                <a:lnTo>
                  <a:pt x="205" y="-1"/>
                </a:lnTo>
                <a:close/>
              </a:path>
            </a:pathLst>
          </a:custGeom>
          <a:noFill/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23"/>
          <p:cNvSpPr/>
          <p:nvPr/>
        </p:nvSpPr>
        <p:spPr>
          <a:xfrm flipH="1">
            <a:off x="4878388" y="3595688"/>
            <a:ext cx="1066800" cy="12954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23"/>
          <p:cNvSpPr/>
          <p:nvPr/>
        </p:nvSpPr>
        <p:spPr>
          <a:xfrm flipH="1" rot="2040000">
            <a:off x="3125788" y="1997075"/>
            <a:ext cx="1827212" cy="1450975"/>
          </a:xfrm>
          <a:custGeom>
            <a:rect b="b" l="l" r="r" t="t"/>
            <a:pathLst>
              <a:path extrusionOk="0" fill="none" h="21599" w="21480">
                <a:moveTo>
                  <a:pt x="205" y="-1"/>
                </a:moveTo>
                <a:cubicBezTo>
                  <a:pt x="11175" y="104"/>
                  <a:pt x="20325" y="8415"/>
                  <a:pt x="21480" y="19325"/>
                </a:cubicBezTo>
              </a:path>
              <a:path extrusionOk="0" h="21599" w="21480">
                <a:moveTo>
                  <a:pt x="205" y="-1"/>
                </a:moveTo>
                <a:cubicBezTo>
                  <a:pt x="11175" y="104"/>
                  <a:pt x="20325" y="8415"/>
                  <a:pt x="21480" y="19325"/>
                </a:cubicBezTo>
                <a:lnTo>
                  <a:pt x="0" y="21599"/>
                </a:lnTo>
                <a:lnTo>
                  <a:pt x="205" y="-1"/>
                </a:lnTo>
                <a:close/>
              </a:path>
            </a:pathLst>
          </a:custGeom>
          <a:noFill/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23"/>
          <p:cNvSpPr/>
          <p:nvPr/>
        </p:nvSpPr>
        <p:spPr>
          <a:xfrm flipH="1" rot="10500000">
            <a:off x="5181600" y="3749675"/>
            <a:ext cx="1066800" cy="12954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23"/>
          <p:cNvSpPr/>
          <p:nvPr/>
        </p:nvSpPr>
        <p:spPr>
          <a:xfrm flipH="1" rot="6240000">
            <a:off x="2324100" y="3940175"/>
            <a:ext cx="1066800" cy="12954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23"/>
          <p:cNvSpPr/>
          <p:nvPr/>
        </p:nvSpPr>
        <p:spPr>
          <a:xfrm flipH="1" rot="-4860000">
            <a:off x="2097088" y="4016375"/>
            <a:ext cx="1066800" cy="12954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23"/>
          <p:cNvSpPr txBox="1"/>
          <p:nvPr/>
        </p:nvSpPr>
        <p:spPr>
          <a:xfrm>
            <a:off x="3352800" y="1614488"/>
            <a:ext cx="3429000" cy="717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A=(0,0,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n.C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 n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   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=(C-0)  B=(0,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n.C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 n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23"/>
          <p:cNvSpPr txBox="1"/>
          <p:nvPr/>
        </p:nvSpPr>
        <p:spPr>
          <a:xfrm>
            <a:off x="3048000" y="2757488"/>
            <a:ext cx="21336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(A-C)x(B – C)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23"/>
          <p:cNvSpPr txBox="1"/>
          <p:nvPr/>
        </p:nvSpPr>
        <p:spPr>
          <a:xfrm rot="-3240000">
            <a:off x="5588000" y="4308475"/>
            <a:ext cx="15240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a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23"/>
          <p:cNvSpPr txBox="1"/>
          <p:nvPr/>
        </p:nvSpPr>
        <p:spPr>
          <a:xfrm rot="-3000000">
            <a:off x="4705350" y="3854450"/>
            <a:ext cx="15240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23"/>
          <p:cNvSpPr txBox="1"/>
          <p:nvPr/>
        </p:nvSpPr>
        <p:spPr>
          <a:xfrm rot="2760000">
            <a:off x="2774157" y="3871118"/>
            <a:ext cx="1524000" cy="7858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= C +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 = C +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23"/>
          <p:cNvSpPr txBox="1"/>
          <p:nvPr/>
        </p:nvSpPr>
        <p:spPr>
          <a:xfrm rot="3720000">
            <a:off x="1204119" y="4896644"/>
            <a:ext cx="1524000" cy="78581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a=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– 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B – 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23"/>
          <p:cNvSpPr txBox="1"/>
          <p:nvPr/>
        </p:nvSpPr>
        <p:spPr>
          <a:xfrm>
            <a:off x="304800" y="2833688"/>
            <a:ext cx="13716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{A,C, B}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23"/>
          <p:cNvSpPr txBox="1"/>
          <p:nvPr/>
        </p:nvSpPr>
        <p:spPr>
          <a:xfrm>
            <a:off x="6781800" y="2438400"/>
            <a:ext cx="1524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23"/>
          <p:cNvSpPr txBox="1"/>
          <p:nvPr/>
        </p:nvSpPr>
        <p:spPr>
          <a:xfrm>
            <a:off x="3657600" y="6110288"/>
            <a:ext cx="15240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{C,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23"/>
          <p:cNvSpPr txBox="1"/>
          <p:nvPr/>
        </p:nvSpPr>
        <p:spPr>
          <a:xfrm rot="-3000000">
            <a:off x="4025106" y="3628232"/>
            <a:ext cx="1846263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(0,0,1)x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24"/>
          <p:cNvSpPr txBox="1"/>
          <p:nvPr/>
        </p:nvSpPr>
        <p:spPr>
          <a:xfrm>
            <a:off x="447675" y="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Equation of a Plane [1][2][3][4]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24"/>
          <p:cNvSpPr txBox="1"/>
          <p:nvPr/>
        </p:nvSpPr>
        <p:spPr>
          <a:xfrm>
            <a:off x="755650" y="1412875"/>
            <a:ext cx="7921625" cy="16303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ax + by + cz + d = 0 is the standard equation of a plane in 3d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sqrt(a^2 + b^2 + c^2) = 1, then it is called the normalized form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normalized form, |d| equals the distance of the plane from the origin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2" name="Google Shape;652;p24"/>
          <p:cNvCxnSpPr/>
          <p:nvPr/>
        </p:nvCxnSpPr>
        <p:spPr>
          <a:xfrm flipH="1" rot="10800000">
            <a:off x="2543175" y="5783263"/>
            <a:ext cx="3524250" cy="38100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53" name="Google Shape;653;p24"/>
          <p:cNvSpPr/>
          <p:nvPr/>
        </p:nvSpPr>
        <p:spPr>
          <a:xfrm>
            <a:off x="2447925" y="5746750"/>
            <a:ext cx="152400" cy="152400"/>
          </a:xfrm>
          <a:prstGeom prst="ellipse">
            <a:avLst/>
          </a:prstGeom>
          <a:solidFill>
            <a:srgbClr val="9999FF"/>
          </a:solidFill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24"/>
          <p:cNvSpPr txBox="1"/>
          <p:nvPr/>
        </p:nvSpPr>
        <p:spPr>
          <a:xfrm>
            <a:off x="4329113" y="4814888"/>
            <a:ext cx="134461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 = (p</a:t>
            </a:r>
            <a:r>
              <a:rPr b="1" baseline="-2500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p</a:t>
            </a:r>
            <a:r>
              <a:rPr b="1" baseline="-2500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5" name="Google Shape;655;p24"/>
          <p:cNvCxnSpPr/>
          <p:nvPr/>
        </p:nvCxnSpPr>
        <p:spPr>
          <a:xfrm flipH="1" rot="10800000">
            <a:off x="2513013" y="3321050"/>
            <a:ext cx="11112" cy="2519363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56" name="Google Shape;656;p24"/>
          <p:cNvCxnSpPr/>
          <p:nvPr/>
        </p:nvCxnSpPr>
        <p:spPr>
          <a:xfrm flipH="1" rot="10800000">
            <a:off x="3579813" y="3668713"/>
            <a:ext cx="633412" cy="1060450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57" name="Google Shape;657;p24"/>
          <p:cNvCxnSpPr>
            <a:endCxn id="658" idx="3"/>
          </p:cNvCxnSpPr>
          <p:nvPr/>
        </p:nvCxnSpPr>
        <p:spPr>
          <a:xfrm flipH="1" rot="10800000">
            <a:off x="2532256" y="5178332"/>
            <a:ext cx="1650900" cy="658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59" name="Google Shape;659;p24"/>
          <p:cNvCxnSpPr/>
          <p:nvPr/>
        </p:nvCxnSpPr>
        <p:spPr>
          <a:xfrm flipH="1" rot="10800000">
            <a:off x="2500313" y="4575175"/>
            <a:ext cx="787400" cy="12255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0" name="Google Shape;660;p24"/>
          <p:cNvCxnSpPr/>
          <p:nvPr/>
        </p:nvCxnSpPr>
        <p:spPr>
          <a:xfrm flipH="1" rot="10800000">
            <a:off x="3609975" y="4729163"/>
            <a:ext cx="603250" cy="4762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661" name="Google Shape;661;p24"/>
          <p:cNvCxnSpPr/>
          <p:nvPr/>
        </p:nvCxnSpPr>
        <p:spPr>
          <a:xfrm rot="10800000">
            <a:off x="4213225" y="3781425"/>
            <a:ext cx="0" cy="960438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dot"/>
            <a:miter lim="800000"/>
            <a:headEnd len="sm" w="sm" type="none"/>
            <a:tailEnd len="sm" w="sm" type="none"/>
          </a:ln>
        </p:spPr>
      </p:cxnSp>
      <p:sp>
        <p:nvSpPr>
          <p:cNvPr id="662" name="Google Shape;662;p24"/>
          <p:cNvSpPr txBox="1"/>
          <p:nvPr/>
        </p:nvSpPr>
        <p:spPr>
          <a:xfrm>
            <a:off x="2551113" y="4751388"/>
            <a:ext cx="5302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p.n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3" name="Google Shape;663;p24"/>
          <p:cNvCxnSpPr/>
          <p:nvPr/>
        </p:nvCxnSpPr>
        <p:spPr>
          <a:xfrm>
            <a:off x="1641475" y="3587750"/>
            <a:ext cx="4730750" cy="2824163"/>
          </a:xfrm>
          <a:prstGeom prst="straightConnector1">
            <a:avLst/>
          </a:prstGeom>
          <a:noFill/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4" name="Google Shape;664;p24"/>
          <p:cNvSpPr txBox="1"/>
          <p:nvPr/>
        </p:nvSpPr>
        <p:spPr>
          <a:xfrm>
            <a:off x="2382838" y="3022600"/>
            <a:ext cx="338137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24"/>
          <p:cNvSpPr txBox="1"/>
          <p:nvPr/>
        </p:nvSpPr>
        <p:spPr>
          <a:xfrm>
            <a:off x="6034088" y="5614988"/>
            <a:ext cx="3381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24"/>
          <p:cNvSpPr txBox="1"/>
          <p:nvPr/>
        </p:nvSpPr>
        <p:spPr>
          <a:xfrm>
            <a:off x="5789613" y="6227763"/>
            <a:ext cx="3270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24"/>
          <p:cNvSpPr/>
          <p:nvPr/>
        </p:nvSpPr>
        <p:spPr>
          <a:xfrm>
            <a:off x="4160838" y="5048250"/>
            <a:ext cx="152400" cy="152400"/>
          </a:xfrm>
          <a:prstGeom prst="ellipse">
            <a:avLst/>
          </a:prstGeom>
          <a:solidFill>
            <a:srgbClr val="9999FF"/>
          </a:solidFill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24"/>
          <p:cNvSpPr txBox="1"/>
          <p:nvPr/>
        </p:nvSpPr>
        <p:spPr>
          <a:xfrm>
            <a:off x="3729038" y="4389438"/>
            <a:ext cx="4953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1" baseline="-2500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24"/>
          <p:cNvSpPr txBox="1"/>
          <p:nvPr/>
        </p:nvSpPr>
        <p:spPr>
          <a:xfrm>
            <a:off x="4243388" y="4040188"/>
            <a:ext cx="49371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1" baseline="-2500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24"/>
          <p:cNvSpPr txBox="1"/>
          <p:nvPr/>
        </p:nvSpPr>
        <p:spPr>
          <a:xfrm>
            <a:off x="1673225" y="3990975"/>
            <a:ext cx="8318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(x, 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24"/>
          <p:cNvSpPr/>
          <p:nvPr/>
        </p:nvSpPr>
        <p:spPr>
          <a:xfrm>
            <a:off x="2289175" y="3914775"/>
            <a:ext cx="152400" cy="152400"/>
          </a:xfrm>
          <a:prstGeom prst="ellipse">
            <a:avLst/>
          </a:prstGeom>
          <a:solidFill>
            <a:srgbClr val="9999FF"/>
          </a:solidFill>
          <a:ln cap="flat" cmpd="sng" w="38150">
            <a:solidFill>
              <a:srgbClr val="6666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24"/>
          <p:cNvSpPr txBox="1"/>
          <p:nvPr/>
        </p:nvSpPr>
        <p:spPr>
          <a:xfrm>
            <a:off x="6155432" y="4676775"/>
            <a:ext cx="2663825" cy="6461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about distance from an arbitrary point?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24"/>
          <p:cNvSpPr txBox="1"/>
          <p:nvPr/>
        </p:nvSpPr>
        <p:spPr>
          <a:xfrm>
            <a:off x="6116638" y="3165475"/>
            <a:ext cx="2752725" cy="9239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convert between equation and the other forms?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25"/>
          <p:cNvSpPr txBox="1"/>
          <p:nvPr/>
        </p:nvSpPr>
        <p:spPr>
          <a:xfrm>
            <a:off x="447675" y="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Line-Plane Intersection [8]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25"/>
          <p:cNvSpPr txBox="1"/>
          <p:nvPr/>
        </p:nvSpPr>
        <p:spPr>
          <a:xfrm>
            <a:off x="755650" y="1412875"/>
            <a:ext cx="7921625" cy="16303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Plane: ax + by + cz + d = 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Line: P + tV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Determine the specific value of t (say t’) for which the equation of the plane is satisfied, i.e., the point on the line lies on the plane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25"/>
          <p:cNvSpPr txBox="1"/>
          <p:nvPr/>
        </p:nvSpPr>
        <p:spPr>
          <a:xfrm>
            <a:off x="755650" y="3789040"/>
            <a:ext cx="7704782" cy="92333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9931" l="-708" r="0" t="-397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6"/>
          <p:cNvSpPr txBox="1"/>
          <p:nvPr/>
        </p:nvSpPr>
        <p:spPr>
          <a:xfrm>
            <a:off x="447675" y="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Line-Line Intersection [5][6][7]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26"/>
          <p:cNvSpPr txBox="1"/>
          <p:nvPr/>
        </p:nvSpPr>
        <p:spPr>
          <a:xfrm>
            <a:off x="755650" y="1412875"/>
            <a:ext cx="8208963" cy="2343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Four possible cases: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1028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Coincident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1028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Parallel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1028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parallel and do not intersect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1028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parallel and intersect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7"/>
          <p:cNvSpPr txBox="1"/>
          <p:nvPr/>
        </p:nvSpPr>
        <p:spPr>
          <a:xfrm>
            <a:off x="447675" y="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Line-Line Intersection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27"/>
          <p:cNvSpPr txBox="1"/>
          <p:nvPr/>
        </p:nvSpPr>
        <p:spPr>
          <a:xfrm>
            <a:off x="755650" y="1412875"/>
            <a:ext cx="8208963" cy="28622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tV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sV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Parallel if 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in the same or opposite direction (i.e., the angle between them are 0 degree or 180 degree)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Coincident if they are parallel and have at least one point in common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they are not parallel, how to decide whether they intersect or not?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28"/>
          <p:cNvSpPr txBox="1"/>
          <p:nvPr/>
        </p:nvSpPr>
        <p:spPr>
          <a:xfrm>
            <a:off x="447675" y="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Line-Line Intersection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28"/>
          <p:cNvSpPr txBox="1"/>
          <p:nvPr/>
        </p:nvSpPr>
        <p:spPr>
          <a:xfrm>
            <a:off x="755650" y="1412875"/>
            <a:ext cx="8208963" cy="42465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they are not parallel, how to decide whether they intersect or not?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solution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1028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Generate three equations for two unknowns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1028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Solve the first two equations to find a solution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1028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 whether the solution satisfies the third equation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Another solution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1028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 whether (P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P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).(V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X 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= 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1028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lines intersect this condition must hold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1028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lines do not intersect, is it sure not to hold?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29"/>
          <p:cNvSpPr txBox="1"/>
          <p:nvPr/>
        </p:nvSpPr>
        <p:spPr>
          <a:xfrm>
            <a:off x="447675" y="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Line-Line Intersection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29"/>
          <p:cNvSpPr txBox="1"/>
          <p:nvPr/>
        </p:nvSpPr>
        <p:spPr>
          <a:xfrm>
            <a:off x="755650" y="1412875"/>
            <a:ext cx="8208900" cy="1420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6862" l="-815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30"/>
          <p:cNvSpPr txBox="1"/>
          <p:nvPr/>
        </p:nvSpPr>
        <p:spPr>
          <a:xfrm>
            <a:off x="447675" y="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Plane-Plane Intersection [9][10]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30"/>
          <p:cNvSpPr txBox="1"/>
          <p:nvPr/>
        </p:nvSpPr>
        <p:spPr>
          <a:xfrm>
            <a:off x="755650" y="1412875"/>
            <a:ext cx="8208963" cy="240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Intersection is a 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 we need two points on the line, or one point and the direction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get a point on the intersecting line?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get the direction of the intersecting line?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6" name="Google Shape;71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7513" y="3500438"/>
            <a:ext cx="3143250" cy="282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31"/>
          <p:cNvSpPr txBox="1"/>
          <p:nvPr/>
        </p:nvSpPr>
        <p:spPr>
          <a:xfrm>
            <a:off x="447675" y="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Plane-Plane Intersection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31"/>
          <p:cNvSpPr txBox="1"/>
          <p:nvPr/>
        </p:nvSpPr>
        <p:spPr>
          <a:xfrm>
            <a:off x="755650" y="1412875"/>
            <a:ext cx="8208963" cy="28051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get a point on the intersecting line?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685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Imagine another plane not parallel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the intersecting line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for example the plane z = 0 (the XY plane).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685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solve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three equations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find their common intersection point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1" marL="1028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32"/>
          <p:cNvSpPr txBox="1"/>
          <p:nvPr/>
        </p:nvSpPr>
        <p:spPr>
          <a:xfrm>
            <a:off x="447675" y="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Plane-Plane Intersection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32"/>
          <p:cNvSpPr txBox="1"/>
          <p:nvPr/>
        </p:nvSpPr>
        <p:spPr>
          <a:xfrm>
            <a:off x="755650" y="1412875"/>
            <a:ext cx="4968875" cy="47085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get the direction of the intersecting line?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the planes in point-normal form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Plane 1: P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n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Plane 2: P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n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n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both perpendicular to the intersecting 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 the direction of the line of intersection is along n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X n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1" name="Google Shape;73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24525" y="2636838"/>
            <a:ext cx="3171825" cy="26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3"/>
          <p:cNvSpPr txBox="1"/>
          <p:nvPr/>
        </p:nvSpPr>
        <p:spPr>
          <a:xfrm>
            <a:off x="447675" y="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Plane-Plane Intersection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33"/>
          <p:cNvSpPr txBox="1"/>
          <p:nvPr/>
        </p:nvSpPr>
        <p:spPr>
          <a:xfrm>
            <a:off x="755650" y="1412875"/>
            <a:ext cx="4968875" cy="170303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5014" l="-110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9" name="Google Shape;73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24525" y="2636838"/>
            <a:ext cx="3171825" cy="26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4"/>
          <p:cNvSpPr txBox="1"/>
          <p:nvPr/>
        </p:nvSpPr>
        <p:spPr>
          <a:xfrm>
            <a:off x="447675" y="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Links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34"/>
          <p:cNvSpPr txBox="1"/>
          <p:nvPr/>
        </p:nvSpPr>
        <p:spPr>
          <a:xfrm>
            <a:off x="447675" y="1412875"/>
            <a:ext cx="8516938" cy="51704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[1] http://www.songho.ca/math/plane/plane.html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[2] http://mathinsight.org/distance_point_plane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[3] https://www.youtube.com/watch?v=gw-4wltP5tY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[4] https://www.youtube.com/watch?v=7rIFO8hct9g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[5] https://www.youtube.com/watch?v=nKVCvY-FW5Q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[6] https://www.youtube.com/watch?v=bJ56Xr9081k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[7] https://www.youtube.com/watch?v=r5DwyBFxD7Q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[8] https://www.youtube.com/watch?v=Td9CZGkqrSg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[9] https://www.youtube.com/watch?v=SoSTdgqknvY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[10] https://www.youtube.com/watch?v=LpardiBTAvU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35"/>
          <p:cNvSpPr txBox="1"/>
          <p:nvPr/>
        </p:nvSpPr>
        <p:spPr>
          <a:xfrm>
            <a:off x="447675" y="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7D"/>
                </a:solidFill>
                <a:latin typeface="Arial"/>
                <a:ea typeface="Arial"/>
                <a:cs typeface="Arial"/>
                <a:sym typeface="Arial"/>
              </a:rPr>
              <a:t>Links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35"/>
          <p:cNvSpPr txBox="1"/>
          <p:nvPr/>
        </p:nvSpPr>
        <p:spPr>
          <a:xfrm>
            <a:off x="447675" y="1412875"/>
            <a:ext cx="8516938" cy="28622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[11] https://www.youtube.com/watch?v=FlLbI7DB0SM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[12] https://www.youtube.com/watch?v=nZ2mS5M4fcQ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[13] (textbook) Chapter 4, Computer Graphics using OpenGL (2</a:t>
            </a:r>
            <a:r>
              <a:rPr b="0" baseline="3000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nd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edition) by Francis S Hill, Jr.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2004-03-04T08:47:48Z</dcterms:created>
  <dc:creator>MTP</dc:creator>
</cp:coreProperties>
</file>