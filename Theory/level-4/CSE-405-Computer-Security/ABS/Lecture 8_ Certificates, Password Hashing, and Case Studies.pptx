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hLLZF7XoNOlck2JtsQFRe2Z0NQ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ols.ietf.org/html/rfc5280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Ask: Why not just Sign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Ask at the end of the slide: What are some problems with this?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76791451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576791451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https://tools.ietf.org/html/rfc5280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Revealed inadvertently by Struck and analyzed by Matt Blaze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TODO Nick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0"/>
          <p:cNvSpPr txBox="1"/>
          <p:nvPr>
            <p:ph type="ctrTitle"/>
          </p:nvPr>
        </p:nvSpPr>
        <p:spPr>
          <a:xfrm>
            <a:off x="311700" y="1429000"/>
            <a:ext cx="8520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0"/>
          <p:cNvSpPr txBox="1"/>
          <p:nvPr>
            <p:ph idx="1" type="subTitle"/>
          </p:nvPr>
        </p:nvSpPr>
        <p:spPr>
          <a:xfrm>
            <a:off x="311700" y="2917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6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Optional">
  <p:cSld name="TITLE_AND_BODY_1">
    <p:bg>
      <p:bgPr>
        <a:solidFill>
          <a:srgbClr val="A4C2F4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6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Optional">
  <p:cSld name="SECTION_HEADER_1">
    <p:bg>
      <p:bgPr>
        <a:solidFill>
          <a:srgbClr val="A4C2F4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Optional">
  <p:cSld name="CUSTOM_1">
    <p:bg>
      <p:bgPr>
        <a:solidFill>
          <a:srgbClr val="A4C2F4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5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Optional">
  <p:cSld name="TITLE_ONLY_1">
    <p:bg>
      <p:bgPr>
        <a:solidFill>
          <a:srgbClr val="A4C2F4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67"/>
          <p:cNvSpPr txBox="1"/>
          <p:nvPr>
            <p:ph idx="1" type="body"/>
          </p:nvPr>
        </p:nvSpPr>
        <p:spPr>
          <a:xfrm>
            <a:off x="198500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2" type="body"/>
          </p:nvPr>
        </p:nvSpPr>
        <p:spPr>
          <a:xfrm>
            <a:off x="4588175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6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69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Optional">
  <p:cSld name="TITLE_AND_TWO_COLUMNS_1">
    <p:bg>
      <p:bgPr>
        <a:solidFill>
          <a:srgbClr val="A4C2F4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71"/>
          <p:cNvSpPr txBox="1"/>
          <p:nvPr>
            <p:ph idx="1" type="body"/>
          </p:nvPr>
        </p:nvSpPr>
        <p:spPr>
          <a:xfrm>
            <a:off x="198500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71"/>
          <p:cNvSpPr txBox="1"/>
          <p:nvPr>
            <p:ph idx="2" type="body"/>
          </p:nvPr>
        </p:nvSpPr>
        <p:spPr>
          <a:xfrm>
            <a:off x="4588175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Optional">
  <p:cSld name="ONE_COLUMN_TEXT_1">
    <p:bg>
      <p:bgPr>
        <a:solidFill>
          <a:srgbClr val="A4C2F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7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72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9"/>
          <p:cNvSpPr txBox="1"/>
          <p:nvPr>
            <p:ph idx="1" type="body"/>
          </p:nvPr>
        </p:nvSpPr>
        <p:spPr>
          <a:xfrm>
            <a:off x="1985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9" name="Google Shape;9;p59"/>
          <p:cNvSpPr/>
          <p:nvPr/>
        </p:nvSpPr>
        <p:spPr>
          <a:xfrm>
            <a:off x="0" y="1017725"/>
            <a:ext cx="9144000" cy="1116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E85C5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CSE 405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/>
        </p:nvSpPr>
        <p:spPr>
          <a:xfrm>
            <a:off x="311700" y="1429000"/>
            <a:ext cx="8520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Certificates, Password Hashing,</a:t>
            </a:r>
            <a:br>
              <a:rPr b="0" i="0" lang="en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Case Studies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311700" y="2917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405 </a:t>
            </a:r>
            <a:r>
              <a:rPr lang="en" sz="2400"/>
              <a:t>January 2025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 8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75" y="2571750"/>
            <a:ext cx="2397751" cy="22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Last Time: Public-Key Encryption and Digital Signatures</a:t>
            </a:r>
            <a:endParaRPr/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Public-key cryptography: Two keys; one undoes the other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Public-key encryption: One key encrypts, the other decrypts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 properties similar to symmetric encryption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ElGamal: Based on Diffie-Hellman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public key is </a:t>
            </a:r>
            <a:r>
              <a:rPr i="1" lang="en"/>
              <a:t>g</a:t>
            </a:r>
            <a:r>
              <a:rPr baseline="30000" i="1" lang="en"/>
              <a:t>b</a:t>
            </a:r>
            <a:r>
              <a:rPr lang="en"/>
              <a:t>, and </a:t>
            </a:r>
            <a:r>
              <a:rPr i="1" lang="en"/>
              <a:t>C</a:t>
            </a:r>
            <a:r>
              <a:rPr lang="en" sz="900"/>
              <a:t>1</a:t>
            </a:r>
            <a:r>
              <a:rPr lang="en"/>
              <a:t> is </a:t>
            </a:r>
            <a:r>
              <a:rPr i="1" lang="en"/>
              <a:t>g</a:t>
            </a:r>
            <a:r>
              <a:rPr baseline="30000" i="1" lang="en"/>
              <a:t>r</a:t>
            </a:r>
            <a:r>
              <a:rPr lang="en"/>
              <a:t>.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IND-CPA secure on its own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RSA: Produce a pair </a:t>
            </a:r>
            <a:r>
              <a:rPr i="1" lang="en"/>
              <a:t>e</a:t>
            </a:r>
            <a:r>
              <a:rPr lang="en"/>
              <a:t> and </a:t>
            </a:r>
            <a:r>
              <a:rPr i="1" lang="en"/>
              <a:t>d</a:t>
            </a:r>
            <a:r>
              <a:rPr lang="en"/>
              <a:t> such that </a:t>
            </a:r>
            <a:r>
              <a:rPr i="1" lang="en"/>
              <a:t>M</a:t>
            </a:r>
            <a:r>
              <a:rPr baseline="30000" i="1" lang="en"/>
              <a:t>ed</a:t>
            </a:r>
            <a:r>
              <a:rPr lang="en"/>
              <a:t> = </a:t>
            </a:r>
            <a:r>
              <a:rPr i="1" lang="en"/>
              <a:t>M</a:t>
            </a:r>
            <a:r>
              <a:rPr lang="en"/>
              <a:t> mod </a:t>
            </a:r>
            <a:r>
              <a:rPr i="1" lang="en"/>
              <a:t>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IND-CPA secure on its own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Hybrid encryption: Encrypt a symmetric key, and use the symmetric key to encrypt the message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Digital signatures: Integrity and authenticity for asymmetric schemes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RSA: Same as RSA encryption, but encrypt the hash with the private key</a:t>
            </a:r>
            <a:endParaRPr/>
          </a:p>
        </p:txBody>
      </p:sp>
      <p:sp>
        <p:nvSpPr>
          <p:cNvPr id="73" name="Google Shape;7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Certificates: How do we distribute public keys securely?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Password Hashing: How do we securely store passwords?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Case studies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can we discover bad cryptography?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do we securely send messages in practice?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can we report abusive behavior?</a:t>
            </a:r>
            <a:endParaRPr/>
          </a:p>
        </p:txBody>
      </p:sp>
      <p:sp>
        <p:nvSpPr>
          <p:cNvPr id="80" name="Google Shape;8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Certificates</a:t>
            </a:r>
            <a:endParaRPr/>
          </a:p>
        </p:txBody>
      </p:sp>
      <p:sp>
        <p:nvSpPr>
          <p:cNvPr id="86" name="Google Shape;86;p4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Review: Public-Key Cryptography</a:t>
            </a:r>
            <a:endParaRPr/>
          </a:p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Public-key cryptography is great! We can communicate securely without a shared secret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Public-key encryption: Everybody encrypts with the public key, but only the owner of the private key can decrypt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Digital signatures: Only the owner of the private key can sign, but everybody can verify with the public key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What’s the catch?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Problem: Distributing Public Keys</a:t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Public-key cryptography alone is not secure against man-in-the-middle attacks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wants to send a message to Bob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asks Bob for his public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Bob sends his public key to Alice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encrypts her message with Bob’s public key and sends it to Bob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can Mallory do?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Replace Bob's public key with Mallory’s public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Now Alice has encrypted the message with Mallory’s public key, and Mallory can read it!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 b="65158" l="10446" r="69908" t="13697"/>
          <a:stretch/>
        </p:blipFill>
        <p:spPr>
          <a:xfrm>
            <a:off x="4246550" y="1320250"/>
            <a:ext cx="650926" cy="70063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Problem: Distributing Public Keys</a:t>
            </a:r>
            <a:endParaRPr/>
          </a:p>
        </p:txBody>
      </p:sp>
      <p:cxnSp>
        <p:nvCxnSpPr>
          <p:cNvPr id="105" name="Google Shape;105;p7"/>
          <p:cNvCxnSpPr/>
          <p:nvPr/>
        </p:nvCxnSpPr>
        <p:spPr>
          <a:xfrm>
            <a:off x="2499375" y="1463025"/>
            <a:ext cx="0" cy="33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7"/>
          <p:cNvCxnSpPr/>
          <p:nvPr/>
        </p:nvCxnSpPr>
        <p:spPr>
          <a:xfrm>
            <a:off x="6644650" y="1463025"/>
            <a:ext cx="0" cy="33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7"/>
          <p:cNvSpPr txBox="1"/>
          <p:nvPr/>
        </p:nvSpPr>
        <p:spPr>
          <a:xfrm>
            <a:off x="830126" y="10820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7502965" y="10820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264325" y="2894775"/>
            <a:ext cx="194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 {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r>
              <a:rPr b="0" i="1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1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6937175" y="1602075"/>
            <a:ext cx="194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</a:t>
            </a: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1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4166551" y="10820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Mallory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3563350" y="2463975"/>
            <a:ext cx="194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1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7"/>
          <p:cNvCxnSpPr/>
          <p:nvPr/>
        </p:nvCxnSpPr>
        <p:spPr>
          <a:xfrm flipH="1">
            <a:off x="2031350" y="2657025"/>
            <a:ext cx="1816800" cy="4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7"/>
          <p:cNvCxnSpPr/>
          <p:nvPr/>
        </p:nvCxnSpPr>
        <p:spPr>
          <a:xfrm flipH="1">
            <a:off x="5140750" y="2256675"/>
            <a:ext cx="1892400" cy="4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p7"/>
          <p:cNvCxnSpPr/>
          <p:nvPr/>
        </p:nvCxnSpPr>
        <p:spPr>
          <a:xfrm>
            <a:off x="2053550" y="3492975"/>
            <a:ext cx="1772400" cy="25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" name="Google Shape;116;p7"/>
          <p:cNvSpPr txBox="1"/>
          <p:nvPr/>
        </p:nvSpPr>
        <p:spPr>
          <a:xfrm>
            <a:off x="3563350" y="3569175"/>
            <a:ext cx="194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Decrypt {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r>
              <a:rPr b="0" i="1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 {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r>
              <a:rPr b="0" i="1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1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7"/>
          <p:cNvCxnSpPr/>
          <p:nvPr/>
        </p:nvCxnSpPr>
        <p:spPr>
          <a:xfrm>
            <a:off x="5200750" y="4242325"/>
            <a:ext cx="1772400" cy="25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7"/>
          <p:cNvSpPr txBox="1"/>
          <p:nvPr/>
        </p:nvSpPr>
        <p:spPr>
          <a:xfrm>
            <a:off x="6937175" y="4296225"/>
            <a:ext cx="194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Decrypt {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r>
              <a:rPr b="0" i="1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1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4">
            <a:alphaModFix/>
          </a:blip>
          <a:srcRect b="57590" l="5310" r="80092" t="16627"/>
          <a:stretch/>
        </p:blipFill>
        <p:spPr>
          <a:xfrm>
            <a:off x="439900" y="1144634"/>
            <a:ext cx="591227" cy="65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7"/>
          <p:cNvPicPr preferRelativeResize="0"/>
          <p:nvPr/>
        </p:nvPicPr>
        <p:blipFill rotWithShape="1">
          <a:blip r:embed="rId4">
            <a:alphaModFix/>
          </a:blip>
          <a:srcRect b="62908" l="28433" r="61202" t="16958"/>
          <a:stretch/>
        </p:blipFill>
        <p:spPr>
          <a:xfrm>
            <a:off x="8089873" y="1144633"/>
            <a:ext cx="466959" cy="57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Problem: Distributing Public Keys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Idea: Sign Bob’s public key to prevent tampering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Bob signs his public key, we need his public key to verify the signature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Bob’s public key is what we were trying to verify in the first place!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Circular problem: Alice can never trust any public key she receives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cannot gain trust if you trust nothing. You need a root of trust! 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Trust anchor</a:t>
            </a:r>
            <a:r>
              <a:rPr lang="en"/>
              <a:t>: Someone that we implicitly trust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From our trust anchor, we can begin to trust others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Trust-on-First-Use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Trust-on-first-use</a:t>
            </a:r>
            <a:r>
              <a:rPr lang="en"/>
              <a:t>: The first time you communicate, trust the public key that is used and warn the user if it changes in the future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in SSH and a couple other protocols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Idea: Attacks aren’t frequent, so assume that you aren’t being attacked the first time communicate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known as “</a:t>
            </a:r>
            <a:r>
              <a:rPr b="1" lang="en"/>
              <a:t>Leap of Faith</a:t>
            </a:r>
            <a:r>
              <a:rPr lang="en"/>
              <a:t>”</a:t>
            </a:r>
            <a:endParaRPr/>
          </a:p>
        </p:txBody>
      </p:sp>
      <p:pic>
        <p:nvPicPr>
          <p:cNvPr id="133" name="Google Shape;13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345" y="4438727"/>
            <a:ext cx="7084931" cy="42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2353" y="2996073"/>
            <a:ext cx="5992898" cy="128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Certificates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Certificate</a:t>
            </a:r>
            <a:r>
              <a:rPr lang="en"/>
              <a:t>: A signed endorsement of someone’s public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certificate contains at least two things: The </a:t>
            </a:r>
            <a:r>
              <a:rPr b="1" lang="en"/>
              <a:t>identity</a:t>
            </a:r>
            <a:r>
              <a:rPr lang="en"/>
              <a:t> of the person, and the </a:t>
            </a:r>
            <a:r>
              <a:rPr b="1" lang="en"/>
              <a:t>key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Abbreviated notation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Encryption under a public key </a:t>
            </a:r>
            <a:r>
              <a:rPr i="1" lang="en"/>
              <a:t>PK</a:t>
            </a:r>
            <a:r>
              <a:rPr lang="en"/>
              <a:t>: {“Message”}</a:t>
            </a:r>
            <a:r>
              <a:rPr i="1" lang="en" sz="1000"/>
              <a:t>PK</a:t>
            </a:r>
            <a:endParaRPr sz="15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Signing with a private key </a:t>
            </a:r>
            <a:r>
              <a:rPr i="1" lang="en"/>
              <a:t>SK</a:t>
            </a:r>
            <a:r>
              <a:rPr lang="en"/>
              <a:t>: {“Message”}</a:t>
            </a:r>
            <a:r>
              <a:rPr i="1" lang="en" sz="1000"/>
              <a:t>SK</a:t>
            </a:r>
            <a:r>
              <a:rPr baseline="30000" lang="en" sz="1000"/>
              <a:t>-1</a:t>
            </a:r>
            <a:endParaRPr sz="15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Recall: A signed message must contain the message along with the signature; you can’t send the signature by itself!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Scenario: Alice wants Bob’s public key. Alice trusts EvanBot (</a:t>
            </a:r>
            <a:r>
              <a:rPr i="1" lang="en"/>
              <a:t>PK</a:t>
            </a:r>
            <a:r>
              <a:rPr i="1" lang="en" sz="1200"/>
              <a:t>E</a:t>
            </a:r>
            <a:r>
              <a:rPr lang="en"/>
              <a:t>, </a:t>
            </a:r>
            <a:r>
              <a:rPr i="1" lang="en"/>
              <a:t>SK</a:t>
            </a:r>
            <a:r>
              <a:rPr i="1" lang="en" sz="1200"/>
              <a:t>E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EvanBot is our trust anchor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we trust </a:t>
            </a:r>
            <a:r>
              <a:rPr i="1" lang="en"/>
              <a:t>PK</a:t>
            </a:r>
            <a:r>
              <a:rPr i="1" lang="en" sz="900"/>
              <a:t>E</a:t>
            </a:r>
            <a:r>
              <a:rPr lang="en"/>
              <a:t>, a certificate we would trust is {“Bob’s public key is </a:t>
            </a:r>
            <a:r>
              <a:rPr i="1" lang="en"/>
              <a:t>PK</a:t>
            </a:r>
            <a:r>
              <a:rPr i="1" lang="en" sz="900"/>
              <a:t>B</a:t>
            </a:r>
            <a:r>
              <a:rPr lang="en"/>
              <a:t>”}</a:t>
            </a:r>
            <a:r>
              <a:rPr i="1" lang="en" sz="1000"/>
              <a:t>SK</a:t>
            </a:r>
            <a:r>
              <a:rPr i="1" lang="en" sz="700"/>
              <a:t>E</a:t>
            </a:r>
            <a:r>
              <a:rPr baseline="30000" lang="en" sz="1000"/>
              <a:t>-1</a:t>
            </a:r>
            <a:endParaRPr baseline="30000"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Attempt #1: The Trusted Directory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Idea: Make a central, trusted directory (TD) from where you can fetch anybody’s public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TD has a public/private keypair </a:t>
            </a:r>
            <a:r>
              <a:rPr i="1" lang="en"/>
              <a:t>PK</a:t>
            </a:r>
            <a:r>
              <a:rPr lang="en" sz="900"/>
              <a:t>TD</a:t>
            </a:r>
            <a:r>
              <a:rPr lang="en"/>
              <a:t>, </a:t>
            </a:r>
            <a:r>
              <a:rPr i="1" lang="en"/>
              <a:t>SK</a:t>
            </a:r>
            <a:r>
              <a:rPr lang="en" sz="900"/>
              <a:t>TD</a:t>
            </a:r>
            <a:endParaRPr sz="9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directory publishes </a:t>
            </a:r>
            <a:r>
              <a:rPr i="1" lang="en"/>
              <a:t>PK</a:t>
            </a:r>
            <a:r>
              <a:rPr lang="en" sz="900"/>
              <a:t>TD</a:t>
            </a:r>
            <a:r>
              <a:rPr lang="en"/>
              <a:t> so that everyone knows it (baked into computers, phones, OS, etc.)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you request Bob’s public key, the directory sends a certificate for Bob’s public key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{“Bob’s public key is </a:t>
            </a:r>
            <a:r>
              <a:rPr i="1" lang="en"/>
              <a:t>PK</a:t>
            </a:r>
            <a:r>
              <a:rPr i="1" lang="en" sz="900"/>
              <a:t>B</a:t>
            </a:r>
            <a:r>
              <a:rPr lang="en"/>
              <a:t>”}</a:t>
            </a:r>
            <a:r>
              <a:rPr i="1" lang="en" sz="900"/>
              <a:t>SK</a:t>
            </a:r>
            <a:r>
              <a:rPr lang="en" sz="600"/>
              <a:t>TD</a:t>
            </a:r>
            <a:r>
              <a:rPr baseline="30000" lang="en" sz="900"/>
              <a:t>-1</a:t>
            </a:r>
            <a:endParaRPr baseline="30000" sz="9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trust the directory, then now you trust every public key from the directory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 we have to trust?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have received TD’s key correctly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TD won’t sign a key without verifying the identity of the owner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Attempt #1: The Trusted Directory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Problems: Scalability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directory won’t have enough compute power to serve the entire world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Single point of failure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directory fails, </a:t>
            </a:r>
            <a:r>
              <a:rPr i="1" lang="en"/>
              <a:t>cryptography stops working</a:t>
            </a:r>
            <a:endParaRPr i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directory is compromised, you can’t trust anyone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directory is compromised, it is difficult to recover</a:t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3714250" y="3605825"/>
            <a:ext cx="1101654" cy="572724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TD</a:t>
            </a:r>
            <a:endParaRPr/>
          </a:p>
        </p:txBody>
      </p:sp>
      <p:cxnSp>
        <p:nvCxnSpPr>
          <p:cNvPr id="154" name="Google Shape;154;p12"/>
          <p:cNvCxnSpPr/>
          <p:nvPr/>
        </p:nvCxnSpPr>
        <p:spPr>
          <a:xfrm flipH="1" rot="10800000">
            <a:off x="1565975" y="4076425"/>
            <a:ext cx="2061900" cy="66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12"/>
          <p:cNvSpPr txBox="1"/>
          <p:nvPr/>
        </p:nvSpPr>
        <p:spPr>
          <a:xfrm rot="-959412">
            <a:off x="1616369" y="4030555"/>
            <a:ext cx="1739191" cy="338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Give me Alice’s public key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56" name="Google Shape;156;p12"/>
          <p:cNvCxnSpPr/>
          <p:nvPr/>
        </p:nvCxnSpPr>
        <p:spPr>
          <a:xfrm flipH="1">
            <a:off x="4918200" y="3100450"/>
            <a:ext cx="983700" cy="4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2"/>
          <p:cNvCxnSpPr/>
          <p:nvPr/>
        </p:nvCxnSpPr>
        <p:spPr>
          <a:xfrm rot="10800000">
            <a:off x="4760900" y="4092175"/>
            <a:ext cx="12669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2"/>
          <p:cNvCxnSpPr/>
          <p:nvPr/>
        </p:nvCxnSpPr>
        <p:spPr>
          <a:xfrm>
            <a:off x="2659775" y="3149225"/>
            <a:ext cx="910800" cy="4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12"/>
          <p:cNvSpPr txBox="1"/>
          <p:nvPr/>
        </p:nvSpPr>
        <p:spPr>
          <a:xfrm rot="1872674">
            <a:off x="4722802" y="4143656"/>
            <a:ext cx="1739115" cy="3385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Give me Bob’s public key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60" name="Google Shape;160;p12"/>
          <p:cNvSpPr txBox="1"/>
          <p:nvPr/>
        </p:nvSpPr>
        <p:spPr>
          <a:xfrm rot="-1393551">
            <a:off x="4812188" y="2865696"/>
            <a:ext cx="1739036" cy="338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…….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61" name="Google Shape;161;p12"/>
          <p:cNvSpPr txBox="1"/>
          <p:nvPr/>
        </p:nvSpPr>
        <p:spPr>
          <a:xfrm rot="1467959">
            <a:off x="3003608" y="3028921"/>
            <a:ext cx="516476" cy="3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…….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62" name="Google Shape;16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975" y="4490425"/>
            <a:ext cx="522001" cy="52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100" y="4602125"/>
            <a:ext cx="522001" cy="52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900" y="2808150"/>
            <a:ext cx="522001" cy="52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975" y="2868625"/>
            <a:ext cx="522001" cy="52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Certificate Authorities</a:t>
            </a:r>
            <a:endParaRPr/>
          </a:p>
        </p:txBody>
      </p:sp>
      <p:sp>
        <p:nvSpPr>
          <p:cNvPr id="171" name="Google Shape;171;p1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Addressing scalability: Hierarchical trust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roots of trust may </a:t>
            </a:r>
            <a:r>
              <a:rPr b="1" lang="en"/>
              <a:t>delegate</a:t>
            </a:r>
            <a:r>
              <a:rPr lang="en"/>
              <a:t> trust and signing power to other authoritie</a:t>
            </a:r>
            <a:r>
              <a:rPr lang="en"/>
              <a:t>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 of the hierarchy:</a:t>
            </a:r>
            <a:r>
              <a:rPr lang="en"/>
              <a:t> (</a:t>
            </a:r>
            <a:r>
              <a:rPr b="1" lang="en"/>
              <a:t>root certificate authority</a:t>
            </a:r>
            <a:r>
              <a:rPr lang="en"/>
              <a:t>, or </a:t>
            </a:r>
            <a:r>
              <a:rPr b="1" lang="en"/>
              <a:t>root CA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CA#1 and CA#2 receive delegated trust (</a:t>
            </a:r>
            <a:r>
              <a:rPr b="1" lang="en"/>
              <a:t>intermediate CAs</a:t>
            </a: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049" y="2753775"/>
            <a:ext cx="3443500" cy="21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767914510_0_1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Certificate Authorities</a:t>
            </a:r>
            <a:endParaRPr/>
          </a:p>
        </p:txBody>
      </p:sp>
      <p:sp>
        <p:nvSpPr>
          <p:cNvPr id="178" name="Google Shape;178;g35767914510_0_1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Addressing scalability: Multiple trust anchors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~150 root CAs who are implicitly trusted by most devices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Public keys are hard-coded into operating systems and devices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delegation step can restrict the scope of a certificate’s validity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Creating the certificates is an </a:t>
            </a:r>
            <a:r>
              <a:rPr i="1" lang="en"/>
              <a:t>offline</a:t>
            </a:r>
            <a:r>
              <a:rPr lang="en"/>
              <a:t> task: The certificate is created once in advance, and then served to users when requested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Revocation</a:t>
            </a:r>
            <a:endParaRPr/>
          </a:p>
        </p:txBody>
      </p:sp>
      <p:sp>
        <p:nvSpPr>
          <p:cNvPr id="184" name="Google Shape;184;p1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a certificate authority messes up and issues a bad certificate?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{“Bob’s public key is </a:t>
            </a:r>
            <a:r>
              <a:rPr i="1" lang="en"/>
              <a:t>PK</a:t>
            </a:r>
            <a:r>
              <a:rPr i="1" lang="en" sz="900"/>
              <a:t>M</a:t>
            </a:r>
            <a:r>
              <a:rPr lang="en"/>
              <a:t>”}</a:t>
            </a:r>
            <a:r>
              <a:rPr i="1" lang="en" sz="900"/>
              <a:t>SK</a:t>
            </a:r>
            <a:r>
              <a:rPr lang="en" sz="600"/>
              <a:t>CA</a:t>
            </a:r>
            <a:r>
              <a:rPr baseline="30000" lang="en" sz="900"/>
              <a:t>-1</a:t>
            </a:r>
            <a:endParaRPr baseline="30000" sz="9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Verisign (a certificate authority) accidentally issued a certificate saying that an average Internet user’s public key belonged to Microsoft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Revocation: Expiration Dates</a:t>
            </a:r>
            <a:endParaRPr/>
          </a:p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 #1: Each certificate has an expiration date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certificate expires, request a new certificate from the certificate authority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bad certificate will eventually become invalid once it expires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Mitigates damage: Eventually, the bad certificate will become harmless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Drawbacks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Adds management burden: Everybody has to renew their certificates frequently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someone forgets to renew a certificate, their website might stop working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Tradeoff: How often should certificates be renewed?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Frequent renewal: More secure, less usable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Infrequent renewal: Less secure, more usable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LetsEncrypt (a certificate authority) chose very frequent renewal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turns out frequent renewal is more usable:</a:t>
            </a:r>
            <a:br>
              <a:rPr lang="en"/>
            </a:br>
            <a:r>
              <a:rPr lang="en"/>
              <a:t>It forces automated renewal instead of a once-every 3 year task that gets forgotten!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Revocation: Announcing Revoked Certificates</a:t>
            </a:r>
            <a:endParaRPr/>
          </a:p>
        </p:txBody>
      </p:sp>
      <p:sp>
        <p:nvSpPr>
          <p:cNvPr id="196" name="Google Shape;196;p1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 #2: Periodically release a list of invalidated certificates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Users must periodically download a Certification Revocation List (CRL)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authenticate the list?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certificate authority signs the list!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{“The certificate with serial number 0xdeadbeef is now revoked”}</a:t>
            </a:r>
            <a:r>
              <a:rPr i="1" lang="en" sz="900"/>
              <a:t>SK</a:t>
            </a:r>
            <a:r>
              <a:rPr lang="en" sz="600"/>
              <a:t>CA</a:t>
            </a:r>
            <a:r>
              <a:rPr baseline="30000" lang="en" sz="900"/>
              <a:t>-1</a:t>
            </a:r>
            <a:endParaRPr baseline="30000" sz="9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Drawbacks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Lists can get large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Mitigated by shorter expiration dates (don’t have to list them once they expire)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Until a user downloads a list, they won’t know which certificates are revoked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the certificate authority is unavailable?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Fail-safe default: Assume all certificates are invalid? Now we can’t trust anybody!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Possible attack: Attacker forces the CA to be unavailable (denial of service attack)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old list: Potentially dangerous if the old list is missing newly revoked certificates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Certificates: Complexity</a:t>
            </a:r>
            <a:endParaRPr/>
          </a:p>
        </p:txBody>
      </p:sp>
      <p:sp>
        <p:nvSpPr>
          <p:cNvPr id="202" name="Google Shape;202;p17"/>
          <p:cNvSpPr txBox="1"/>
          <p:nvPr>
            <p:ph idx="1" type="body"/>
          </p:nvPr>
        </p:nvSpPr>
        <p:spPr>
          <a:xfrm>
            <a:off x="198500" y="1246825"/>
            <a:ext cx="33483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Certificate protocols can get very complicated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X.509 is incredibly complicated (a 236 page standard!) because it tried to do everything</a:t>
            </a:r>
            <a:endParaRPr/>
          </a:p>
        </p:txBody>
      </p:sp>
      <p:pic>
        <p:nvPicPr>
          <p:cNvPr id="203" name="Google Shape;203;p17" title="Cover of the complicated 236-page X.506 certificate standard.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9075" y="1132063"/>
            <a:ext cx="4324914" cy="3995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Alternative: Web of Trust</a:t>
            </a:r>
            <a:endParaRPr/>
          </a:p>
        </p:txBody>
      </p:sp>
      <p:sp>
        <p:nvSpPr>
          <p:cNvPr id="209" name="Google Shape;209;p1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public-key infrastructures are structured like trees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Originally, public-key infrastructures looked like graphs instead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Everybody can issue certificates for anyone else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Alice signs Bob’s key. Bob signs Carol’s key. If Dave trusts Alice, he trusts Bob and Carol.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Benefit: You know the trust anchor personally (e.g. because you met them in-person, or because you signed their key)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Problem: Graphs get far more complex than trees!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OpenPGP (Pretty Good Privacy) originally used the web of trust model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Key-signing parties: meeting in-person to sign each other’s public keys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quickly proved to be a disaster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Instead, everyone just relies on MIT’s central keyserver which is broken!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Takeaway</a:t>
            </a:r>
            <a:r>
              <a:rPr lang="en"/>
              <a:t>: Trust anchors make public-key infrastructures much simpler!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Summary: Certificates</a:t>
            </a:r>
            <a:endParaRPr/>
          </a:p>
        </p:txBody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Certificates: A signed attestation of identity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Trusted directory: One server holds all the keys, and everyone has the TD’s public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scalable: Doesn’t work for billions of keys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Single point of failure: If the TD is hacked or is down, cryptography is broken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Certificate authorities: Delegated trust from a pool of multiple root CAs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Root CAs can sign certificates for intermediate CAs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Revocation: Certificates contain an expiration date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Revocation: CAs sign a list of revoked certificates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Password Hashing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Review: Cryptographic Hashes</a:t>
            </a:r>
            <a:endParaRPr/>
          </a:p>
        </p:txBody>
      </p:sp>
      <p:sp>
        <p:nvSpPr>
          <p:cNvPr id="227" name="Google Shape;227;p2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Hashes accept arbitrarily large inputs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Hashes “look” random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a single bit on the input and each output bit has a 50% chance of flipping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until you change the input, you can't predict which output bits are going to change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ones we talked about are </a:t>
            </a:r>
            <a:r>
              <a:rPr i="1" lang="en"/>
              <a:t>fast</a:t>
            </a:r>
            <a:endParaRPr i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operate at many many MB/s: Faster at processing data than block ciphers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Security properties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way: Given an output </a:t>
            </a:r>
            <a:r>
              <a:rPr i="1" lang="en"/>
              <a:t>y</a:t>
            </a:r>
            <a:r>
              <a:rPr lang="en"/>
              <a:t>, it is infeasible to find any input </a:t>
            </a:r>
            <a:r>
              <a:rPr i="1" lang="en"/>
              <a:t>x</a:t>
            </a:r>
            <a:r>
              <a:rPr lang="en"/>
              <a:t> such that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= </a:t>
            </a:r>
            <a:r>
              <a:rPr i="1" lang="en"/>
              <a:t>y</a:t>
            </a:r>
            <a:r>
              <a:rPr lang="en"/>
              <a:t>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Collision resistant: It is infeasible to find another any pair of inputs </a:t>
            </a:r>
            <a:r>
              <a:rPr i="1" lang="en"/>
              <a:t>x'</a:t>
            </a:r>
            <a:r>
              <a:rPr lang="en"/>
              <a:t> ≠ </a:t>
            </a:r>
            <a:r>
              <a:rPr i="1" lang="en"/>
              <a:t>x</a:t>
            </a:r>
            <a:r>
              <a:rPr lang="en"/>
              <a:t> such that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=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x'</a:t>
            </a:r>
            <a:r>
              <a:rPr lang="en"/>
              <a:t>).</a:t>
            </a:r>
            <a:endParaRPr/>
          </a:p>
        </p:txBody>
      </p:sp>
      <p:sp>
        <p:nvSpPr>
          <p:cNvPr id="228" name="Google Shape;22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Storing Passwords</a:t>
            </a:r>
            <a:endParaRPr/>
          </a:p>
        </p:txBody>
      </p:sp>
      <p:sp>
        <p:nvSpPr>
          <p:cNvPr id="234" name="Google Shape;234;p2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Password: A secret string a user types in to prove their identity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you create an account with a service: Create a password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you later want to log in to the service: Type in the same password again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the service check that your password is correct?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 idea #1: Store a file listing every user’s password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Problem: What if an attacker hacks into the service? Now the attacker knows everyone’s passwords!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 idea #2: Encrypt every user’s password before storing it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Problem: The attacker could steal the passwords file </a:t>
            </a:r>
            <a:r>
              <a:rPr i="1" lang="en"/>
              <a:t>and</a:t>
            </a:r>
            <a:r>
              <a:rPr lang="en"/>
              <a:t> the key and decrypt everyone’s passwords!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a way to verify passwords </a:t>
            </a:r>
            <a:r>
              <a:rPr i="1" lang="en"/>
              <a:t>without</a:t>
            </a:r>
            <a:r>
              <a:rPr lang="en"/>
              <a:t> storing any information that would allow someone to recover the original password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Password Hashing</a:t>
            </a:r>
            <a:endParaRPr/>
          </a:p>
        </p:txBody>
      </p:sp>
      <p:sp>
        <p:nvSpPr>
          <p:cNvPr id="240" name="Google Shape;240;p2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user, store a </a:t>
            </a:r>
            <a:r>
              <a:rPr i="1" lang="en"/>
              <a:t>hash</a:t>
            </a:r>
            <a:r>
              <a:rPr lang="en"/>
              <a:t> of their password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Verification process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Hash the password submitted by the user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 if it matches the password hash in the file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properties do we need in the hash?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Deterministic: To verify a password, it has to hash to the same value every time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One-way: We don’t want the attacker to reverse hashes into original passwords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Password Hashing: Attacks</a:t>
            </a:r>
            <a:endParaRPr/>
          </a:p>
        </p:txBody>
      </p:sp>
      <p:sp>
        <p:nvSpPr>
          <p:cNvPr id="246" name="Google Shape;246;p2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two different users decide to use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password123</a:t>
            </a:r>
            <a:r>
              <a:rPr lang="en"/>
              <a:t> as their password?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Hashes are deterministic: They’ll have the same password hash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attacker can see which users are using the same password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Brute-force attacks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people use insecure, common passwords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attacker can pre-compute hashes for common passwords: </a:t>
            </a:r>
            <a:r>
              <a:rPr i="1" lang="en"/>
              <a:t>H</a:t>
            </a:r>
            <a:r>
              <a:rPr lang="en"/>
              <a:t>(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"password123"</a:t>
            </a:r>
            <a:r>
              <a:rPr lang="en"/>
              <a:t>), </a:t>
            </a:r>
            <a:r>
              <a:rPr i="1" lang="en"/>
              <a:t>H</a:t>
            </a:r>
            <a:r>
              <a:rPr lang="en"/>
              <a:t>(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"password1234"</a:t>
            </a:r>
            <a:r>
              <a:rPr lang="en"/>
              <a:t>), </a:t>
            </a:r>
            <a:r>
              <a:rPr i="1" lang="en"/>
              <a:t>H</a:t>
            </a:r>
            <a:r>
              <a:rPr lang="en"/>
              <a:t>(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"1234567890"</a:t>
            </a:r>
            <a:r>
              <a:rPr lang="en"/>
              <a:t>), etc.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Dictionary attack</a:t>
            </a:r>
            <a:r>
              <a:rPr lang="en"/>
              <a:t>: Hash an entire dictionary of common passwords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Rainbow tables</a:t>
            </a:r>
            <a:r>
              <a:rPr lang="en"/>
              <a:t>: An algorithm for computing hashes that makes brute-force attacks easier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Salted Hashes</a:t>
            </a:r>
            <a:endParaRPr/>
          </a:p>
        </p:txBody>
      </p:sp>
      <p:sp>
        <p:nvSpPr>
          <p:cNvPr id="252" name="Google Shape;252;p25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 #1: Add a unique, random salt for each user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Salt</a:t>
            </a:r>
            <a:r>
              <a:rPr lang="en"/>
              <a:t>: A random, public value designed to make brute-force attacks harder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each user, store: username, salt, </a:t>
            </a:r>
            <a:r>
              <a:rPr i="1" lang="en"/>
              <a:t>H</a:t>
            </a:r>
            <a:r>
              <a:rPr lang="en"/>
              <a:t>(password || salt)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verify a user: look up their salt in the passwords file, compute </a:t>
            </a:r>
            <a:r>
              <a:rPr i="1" lang="en"/>
              <a:t>H</a:t>
            </a:r>
            <a:r>
              <a:rPr lang="en"/>
              <a:t>(password || salt), and check it matches the hash in the file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Salts should be long and random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Salts are not secret (think of them like nonces or IVs)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Brute-force attacks are now harder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 there are </a:t>
            </a:r>
            <a:r>
              <a:rPr i="1" lang="en"/>
              <a:t>M</a:t>
            </a:r>
            <a:r>
              <a:rPr lang="en"/>
              <a:t> possible passwords and </a:t>
            </a:r>
            <a:r>
              <a:rPr i="1" lang="en"/>
              <a:t>N</a:t>
            </a:r>
            <a:r>
              <a:rPr lang="en"/>
              <a:t> users in the database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Unsalted database: Hash all possible passwords, then lookup all users’ hashes ⇒ </a:t>
            </a:r>
            <a:r>
              <a:rPr i="1" lang="en"/>
              <a:t>O</a:t>
            </a:r>
            <a:r>
              <a:rPr lang="en"/>
              <a:t>(</a:t>
            </a:r>
            <a:r>
              <a:rPr i="1" lang="en"/>
              <a:t>M</a:t>
            </a:r>
            <a:r>
              <a:rPr lang="en"/>
              <a:t> + </a:t>
            </a:r>
            <a:r>
              <a:rPr i="1" lang="en"/>
              <a:t>N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Salted database: Hash all passwords for each user’s salt ⇒ </a:t>
            </a:r>
            <a:r>
              <a:rPr i="1" lang="en"/>
              <a:t>O</a:t>
            </a:r>
            <a:r>
              <a:rPr lang="en"/>
              <a:t>(</a:t>
            </a:r>
            <a:r>
              <a:rPr i="1" lang="en"/>
              <a:t>MN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 #2: Use slower hashes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Cryptographic hashes are usually designed to be fast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 is designed to produce a checksum of your 1 GB document as fast as possible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Password hashes are usually designed to be slow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Legitimate users only need to submit a few password tries. Users won’t notice if it takes 0.0001 seconds or 0.1 seconds for the server to check a password.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Attackers need to compute millions of hashes. Using a slow hash can slow the attacker by a factor of 1,000 or more!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Note: We are not changing the asymptotic difficulty of attacks. We’re adding a large constant factor, which can have a huge practical impact for the attacker</a:t>
            </a:r>
            <a:endParaRPr/>
          </a:p>
        </p:txBody>
      </p:sp>
      <p:sp>
        <p:nvSpPr>
          <p:cNvPr id="258" name="Google Shape;258;p2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Slow Hashes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Slow Hashes: PBKDF2</a:t>
            </a:r>
            <a:endParaRPr/>
          </a:p>
        </p:txBody>
      </p:sp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Password-based key derivation function 2 (PBKDF2)</a:t>
            </a:r>
            <a:r>
              <a:rPr lang="en"/>
              <a:t>: A slow hash function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Setting: An underlying function that outputs random-looking bits (e.g. HMAC-SHA256)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Setting: The desired length of the output (</a:t>
            </a:r>
            <a:r>
              <a:rPr i="1" lang="en"/>
              <a:t>n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Setting: Iteration count (higher = hash is slower, lower = hash is faster)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A password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A salt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A long, random-looking </a:t>
            </a:r>
            <a:r>
              <a:rPr i="1" lang="en"/>
              <a:t>n</a:t>
            </a:r>
            <a:r>
              <a:rPr lang="en"/>
              <a:t>-bit string derived from the password and salt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Implementation: Basically computing HMAC 10,000 times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Benefits (assuming the user password is strong)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Derives an arbitrarily long string from the user's password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can be directly used as a symmetric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can also be used to seed a PRNG or generate a public/private key pair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Algorithm is slow, but doesn't use a lot of memory (alternatives like Scrypt and Argon2 use more memory)</a:t>
            </a:r>
            <a:endParaRPr/>
          </a:p>
        </p:txBody>
      </p:sp>
      <p:sp>
        <p:nvSpPr>
          <p:cNvPr id="265" name="Google Shape;26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Offline and Online Attacks</a:t>
            </a:r>
            <a:endParaRPr/>
          </a:p>
        </p:txBody>
      </p:sp>
      <p:sp>
        <p:nvSpPr>
          <p:cNvPr id="271" name="Google Shape;271;p2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Offline attack</a:t>
            </a:r>
            <a:r>
              <a:rPr lang="en"/>
              <a:t>: The attacker performs all the computation themselves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Mallory steals the password file, and then computes hashes herself to check for matches.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attacker can try a huge number of passwords (e.g. use many GPUs in parallel)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Defenses: Salt passwords, use slow hashes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attacker can do an offline attack, you need a really strong password (e.g. 7 or more random words)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Online attack</a:t>
            </a:r>
            <a:r>
              <a:rPr lang="en"/>
              <a:t>: The attacker interacts with the service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Mallory tries to log in to a website by trying every different password. Mallory is forcing the server to compute the hashes.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attacker can usually only try a few times per second, with no parallelism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Defenses: Add a timeout or rate limit the number of tries to prevent the attacker from trying too many times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Summary: Password Hashing</a:t>
            </a:r>
            <a:endParaRPr/>
          </a:p>
        </p:txBody>
      </p:sp>
      <p:sp>
        <p:nvSpPr>
          <p:cNvPr id="277" name="Google Shape;277;p2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 hashes of passwords so that you can verify a user’s identity without storing their password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Attackers can use brute-force attacks to learn passwords (especially when users use weak passwords)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Defense: Add a different </a:t>
            </a:r>
            <a:r>
              <a:rPr b="1" lang="en"/>
              <a:t>salt</a:t>
            </a:r>
            <a:r>
              <a:rPr lang="en"/>
              <a:t> for each user: A random, public value designed to make brute-force attacks harder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Offline attack</a:t>
            </a:r>
            <a:r>
              <a:rPr lang="en"/>
              <a:t>: The attacker performs all the computation themselves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Defense: Use salted slow hashes instead of unsalted fast hashes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Online attack</a:t>
            </a:r>
            <a:r>
              <a:rPr lang="en"/>
              <a:t>: The attacker interacts with the service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Defense: Use timeouts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7825" y="2777975"/>
            <a:ext cx="4083801" cy="23655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Traffic Analysis &amp; Side Channels</a:t>
            </a:r>
            <a:endParaRPr/>
          </a:p>
        </p:txBody>
      </p:sp>
      <p:sp>
        <p:nvSpPr>
          <p:cNvPr id="284" name="Google Shape;28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Traffic Analysis &amp; Side Channels</a:t>
            </a:r>
            <a:endParaRPr/>
          </a:p>
        </p:txBody>
      </p:sp>
      <p:sp>
        <p:nvSpPr>
          <p:cNvPr id="290" name="Google Shape;290;p3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Traffic analysis</a:t>
            </a:r>
            <a:r>
              <a:rPr lang="en"/>
              <a:t>: Analyzing who is talking to whom and when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encryption schemes we’ll be studying do not hide the identity of who you’re t​​alking to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information used for this analysis is often referred to as </a:t>
            </a:r>
            <a:r>
              <a:rPr b="1" lang="en"/>
              <a:t>metadata</a:t>
            </a:r>
            <a:r>
              <a:rPr lang="en"/>
              <a:t>: Data </a:t>
            </a:r>
            <a:r>
              <a:rPr i="1" lang="en"/>
              <a:t>about</a:t>
            </a:r>
            <a:r>
              <a:rPr lang="en"/>
              <a:t> the message and its context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Side channels</a:t>
            </a:r>
            <a:r>
              <a:rPr lang="en"/>
              <a:t>: Information about the plaintext revealed as a result of the </a:t>
            </a:r>
            <a:r>
              <a:rPr i="1" lang="en"/>
              <a:t>implementation</a:t>
            </a:r>
            <a:r>
              <a:rPr lang="en"/>
              <a:t> of the scheme, not the scheme itself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Modern crypto systems are usually broken through side channels</a:t>
            </a:r>
            <a:endParaRPr/>
          </a:p>
        </p:txBody>
      </p:sp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Traffic Analysis &amp; Side Channels in Practice: Spies</a:t>
            </a:r>
            <a:endParaRPr/>
          </a:p>
        </p:txBody>
      </p:sp>
      <p:sp>
        <p:nvSpPr>
          <p:cNvPr id="297" name="Google Shape;297;p3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1990s, there were some Russian spies in the US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TV series “The Americans” was based on this incident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Cuban number station had a bug: some nights it never broadcasted “9”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Normally, 0–9 would be equally frequent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turns out this corresponded to when the Russian spies were on vacation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way that random numbers were generated for cover traffic had a bug in it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FBI used this as part of their investigation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Takeaway</a:t>
            </a:r>
            <a:r>
              <a:rPr lang="en"/>
              <a:t>: Secure algorithms can be broken in insecure implementations, leaking information</a:t>
            </a:r>
            <a:endParaRPr/>
          </a:p>
        </p:txBody>
      </p:sp>
      <p:sp>
        <p:nvSpPr>
          <p:cNvPr id="298" name="Google Shape;29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>
            <p:ph type="title"/>
          </p:nvPr>
        </p:nvSpPr>
        <p:spPr>
          <a:xfrm>
            <a:off x="311700" y="1642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Nothing-Up-My-Sleeve-Numbers</a:t>
            </a:r>
            <a:endParaRPr/>
          </a:p>
        </p:txBody>
      </p:sp>
      <p:pic>
        <p:nvPicPr>
          <p:cNvPr id="304" name="Google Shape;304;p33"/>
          <p:cNvPicPr preferRelativeResize="0"/>
          <p:nvPr/>
        </p:nvPicPr>
        <p:blipFill rotWithShape="1">
          <a:blip r:embed="rId3">
            <a:alphaModFix/>
          </a:blip>
          <a:srcRect b="6544" l="15479" r="15479" t="6543"/>
          <a:stretch/>
        </p:blipFill>
        <p:spPr>
          <a:xfrm>
            <a:off x="3236925" y="2484225"/>
            <a:ext cx="2381099" cy="233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Cryptography uses a lot of constants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state for SHA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Prime </a:t>
            </a:r>
            <a:r>
              <a:rPr i="1" lang="en"/>
              <a:t>p</a:t>
            </a:r>
            <a:r>
              <a:rPr lang="en"/>
              <a:t> and generator </a:t>
            </a:r>
            <a:r>
              <a:rPr i="1" lang="en"/>
              <a:t>g</a:t>
            </a:r>
            <a:r>
              <a:rPr lang="en"/>
              <a:t> in Diffie-Hellman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Parameters for elliptic-curve cryptography (curve equations, points on the curve like </a:t>
            </a:r>
            <a:r>
              <a:rPr i="1" lang="en"/>
              <a:t>P</a:t>
            </a:r>
            <a:r>
              <a:rPr lang="en"/>
              <a:t> and </a:t>
            </a:r>
            <a:r>
              <a:rPr i="1" lang="en"/>
              <a:t>Q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ipad</a:t>
            </a:r>
            <a:r>
              <a:rPr lang="en"/>
              <a:t> and </a:t>
            </a:r>
            <a:r>
              <a:rPr i="1" lang="en"/>
              <a:t>opad</a:t>
            </a:r>
            <a:r>
              <a:rPr lang="en"/>
              <a:t> in HMAC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Usually, any value could work, but the designer needed to choose </a:t>
            </a:r>
            <a:r>
              <a:rPr i="1" lang="en"/>
              <a:t>some</a:t>
            </a:r>
            <a:r>
              <a:rPr lang="en"/>
              <a:t> constant for the algorithm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In Diffie-Hellman, any large prime </a:t>
            </a:r>
            <a:r>
              <a:rPr i="1" lang="en"/>
              <a:t>p</a:t>
            </a:r>
            <a:r>
              <a:rPr lang="en"/>
              <a:t> and generator </a:t>
            </a:r>
            <a:r>
              <a:rPr i="1" lang="en"/>
              <a:t>g</a:t>
            </a:r>
            <a:r>
              <a:rPr lang="en"/>
              <a:t> works, but there’s a default </a:t>
            </a:r>
            <a:r>
              <a:rPr i="1" lang="en"/>
              <a:t>p</a:t>
            </a:r>
            <a:r>
              <a:rPr lang="en"/>
              <a:t> and </a:t>
            </a:r>
            <a:r>
              <a:rPr i="1" lang="en"/>
              <a:t>g</a:t>
            </a:r>
            <a:r>
              <a:rPr lang="en"/>
              <a:t> that everyone uses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do these default parameter values come from?</a:t>
            </a:r>
            <a:endParaRPr/>
          </a:p>
        </p:txBody>
      </p:sp>
      <p:sp>
        <p:nvSpPr>
          <p:cNvPr id="310" name="Google Shape;310;p3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Nothing-Up-My-Sleeve-Numbers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Takeaway: Nothing-Up-My-Sleeve-Numbers</a:t>
            </a:r>
            <a:endParaRPr/>
          </a:p>
        </p:txBody>
      </p:sp>
      <p:sp>
        <p:nvSpPr>
          <p:cNvPr id="316" name="Google Shape;316;p4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systems should clearly and transparently describe how public parameters are generated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Argue about why these values provide good security (e.g. AES designers argued this for the values in their S-boxes)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Choose values with obvious human significance: The developer probably doesn’t have millions of values of obvious significance to brute-force and pick a value with a backdoor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Seed a PRNG with your name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first few digits of π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0x67452301, 0xefcdab89, … (SHA-1)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Fractional parts of the square/cube roots of prime numbers (SHA-2)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 16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