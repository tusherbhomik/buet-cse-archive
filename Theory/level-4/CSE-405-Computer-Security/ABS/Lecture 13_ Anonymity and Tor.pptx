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5143500" cx="9144000"/>
  <p:notesSz cx="6858000" cy="9144000"/>
  <p:embeddedFontLst>
    <p:embeddedFont>
      <p:font typeface="Courier Prime"/>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57E359-049A-455A-BB7E-DE297C550A72}">
  <a:tblStyle styleId="{2957E359-049A-455A-BB7E-DE297C550A7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46" Type="http://schemas.openxmlformats.org/officeDocument/2006/relationships/font" Target="fonts/CourierPrime-bold.fntdata"/><Relationship Id="rId23" Type="http://schemas.openxmlformats.org/officeDocument/2006/relationships/slide" Target="slides/slide17.xml"/><Relationship Id="rId45" Type="http://schemas.openxmlformats.org/officeDocument/2006/relationships/font" Target="fonts/CourierPrime-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schemas.openxmlformats.org/officeDocument/2006/relationships/font" Target="fonts/CourierPrime-boldItalic.fntdata"/><Relationship Id="rId25" Type="http://schemas.openxmlformats.org/officeDocument/2006/relationships/slide" Target="slides/slide19.xml"/><Relationship Id="rId47" Type="http://schemas.openxmlformats.org/officeDocument/2006/relationships/font" Target="fonts/CourierPrime-italic.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dce61f0a8f_1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dce61f0a8f_1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256f3062f3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256f3062f3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 min - 12:45</a:t>
            </a:r>
            <a:endParaRPr/>
          </a:p>
          <a:p>
            <a:pPr indent="0" lvl="0" marL="0" rtl="0" algn="l">
              <a:spcBef>
                <a:spcPts val="0"/>
              </a:spcBef>
              <a:spcAft>
                <a:spcPts val="0"/>
              </a:spcAft>
              <a:buNone/>
            </a:pPr>
            <a:r>
              <a:rPr lang="en"/>
              <a:t>We’ve skimmed over anonymity in the past, but we can finally try to solve for it now!</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e0a3cb3ae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e0a3cb3ae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Talked briefly in TLS about the fact that TLS is not anonymous</a:t>
            </a:r>
            <a:endParaRPr/>
          </a:p>
          <a:p>
            <a:pPr indent="-298450" lvl="1" marL="914400" rtl="0" algn="l">
              <a:spcBef>
                <a:spcPts val="0"/>
              </a:spcBef>
              <a:spcAft>
                <a:spcPts val="0"/>
              </a:spcAft>
              <a:buSzPts val="1100"/>
              <a:buChar char="-"/>
            </a:pPr>
            <a:r>
              <a:rPr lang="en"/>
              <a:t>IP addresses are public!</a:t>
            </a:r>
            <a:endParaRPr/>
          </a:p>
          <a:p>
            <a:pPr indent="-298450" lvl="0" marL="457200" rtl="0" algn="l">
              <a:spcBef>
                <a:spcPts val="0"/>
              </a:spcBef>
              <a:spcAft>
                <a:spcPts val="0"/>
              </a:spcAft>
              <a:buSzPts val="1100"/>
              <a:buChar char="-"/>
            </a:pPr>
            <a:r>
              <a:rPr lang="en"/>
              <a:t>Maybe there are situations where you don’t want people to know that you’re sending the message or that you’re receiving the message</a:t>
            </a:r>
            <a:endParaRPr/>
          </a:p>
          <a:p>
            <a:pPr indent="-298450" lvl="0" marL="457200" rtl="0" algn="l">
              <a:spcBef>
                <a:spcPts val="0"/>
              </a:spcBef>
              <a:spcAft>
                <a:spcPts val="0"/>
              </a:spcAft>
              <a:buSzPts val="1100"/>
              <a:buChar char="-"/>
            </a:pPr>
            <a:r>
              <a:rPr lang="en"/>
              <a:t>Confidentiality over </a:t>
            </a:r>
            <a:r>
              <a:rPr i="1" lang="en"/>
              <a:t>messages</a:t>
            </a:r>
            <a:r>
              <a:rPr lang="en"/>
              <a:t>, anonymity over </a:t>
            </a:r>
            <a:r>
              <a:rPr i="1" lang="en"/>
              <a:t>identity</a:t>
            </a:r>
            <a:endParaRPr i="1"/>
          </a:p>
          <a:p>
            <a:pPr indent="-298450" lvl="1" marL="914400" rtl="0" algn="l">
              <a:spcBef>
                <a:spcPts val="0"/>
              </a:spcBef>
              <a:spcAft>
                <a:spcPts val="0"/>
              </a:spcAft>
              <a:buSzPts val="1100"/>
              <a:buChar char="-"/>
            </a:pPr>
            <a:r>
              <a:rPr lang="en"/>
              <a:t>In both cases, we don’t want people to learn stuff, but there’s a subtle difference!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ddd5d26e9f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ddd5d26e9f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IP protocol is used by everyone: includes the unencrypted source and destination IP address</a:t>
            </a:r>
            <a:endParaRPr/>
          </a:p>
          <a:p>
            <a:pPr indent="-298450" lvl="1" marL="914400" rtl="0" algn="l">
              <a:spcBef>
                <a:spcPts val="0"/>
              </a:spcBef>
              <a:spcAft>
                <a:spcPts val="0"/>
              </a:spcAft>
              <a:buSzPts val="1100"/>
              <a:buChar char="-"/>
            </a:pPr>
            <a:r>
              <a:rPr lang="en"/>
              <a:t>By yourself, you cannot be anonymous!</a:t>
            </a:r>
            <a:endParaRPr/>
          </a:p>
          <a:p>
            <a:pPr indent="-298450" lvl="0" marL="457200" rtl="0" algn="l">
              <a:spcBef>
                <a:spcPts val="0"/>
              </a:spcBef>
              <a:spcAft>
                <a:spcPts val="0"/>
              </a:spcAft>
              <a:buSzPts val="1100"/>
              <a:buChar char="-"/>
            </a:pPr>
            <a:r>
              <a:rPr lang="en"/>
              <a:t>Attackers can hack, but in reality…</a:t>
            </a:r>
            <a:endParaRPr/>
          </a:p>
          <a:p>
            <a:pPr indent="-298450" lvl="1" marL="914400" rtl="0" algn="l">
              <a:spcBef>
                <a:spcPts val="0"/>
              </a:spcBef>
              <a:spcAft>
                <a:spcPts val="0"/>
              </a:spcAft>
              <a:buSzPts val="1100"/>
              <a:buChar char="-"/>
            </a:pPr>
            <a:r>
              <a:rPr lang="en"/>
              <a:t>Attackers can spoof!</a:t>
            </a:r>
            <a:endParaRPr/>
          </a:p>
          <a:p>
            <a:pPr indent="-298450" lvl="0" marL="457200" rtl="0" algn="l">
              <a:spcBef>
                <a:spcPts val="0"/>
              </a:spcBef>
              <a:spcAft>
                <a:spcPts val="0"/>
              </a:spcAft>
              <a:buSzPts val="1100"/>
              <a:buChar char="-"/>
            </a:pPr>
            <a:r>
              <a:rPr lang="en"/>
              <a:t>If you’re on the internet alone, you can’t do much–you have to tell people who you are. To make yourself anonymous, ask someone else to send messages for you</a:t>
            </a:r>
            <a:endParaRPr/>
          </a:p>
          <a:p>
            <a:pPr indent="-298450" lvl="0" marL="457200" rtl="0" algn="l">
              <a:spcBef>
                <a:spcPts val="0"/>
              </a:spcBef>
              <a:spcAft>
                <a:spcPts val="0"/>
              </a:spcAft>
              <a:buSzPts val="1100"/>
              <a:buChar char="-"/>
            </a:pPr>
            <a:r>
              <a:rPr lang="en"/>
              <a:t>Secret santa example</a:t>
            </a:r>
            <a:endParaRPr/>
          </a:p>
          <a:p>
            <a:pPr indent="-298450" lvl="1" marL="914400" rtl="0" algn="l">
              <a:spcBef>
                <a:spcPts val="0"/>
              </a:spcBef>
              <a:spcAft>
                <a:spcPts val="0"/>
              </a:spcAft>
              <a:buSzPts val="1100"/>
              <a:buChar char="-"/>
            </a:pPr>
            <a:r>
              <a:rPr lang="en"/>
              <a:t>If you give the gift to your friend directly, they know</a:t>
            </a:r>
            <a:endParaRPr/>
          </a:p>
          <a:p>
            <a:pPr indent="-298450" lvl="1" marL="914400" rtl="0" algn="l">
              <a:spcBef>
                <a:spcPts val="0"/>
              </a:spcBef>
              <a:spcAft>
                <a:spcPts val="0"/>
              </a:spcAft>
              <a:buSzPts val="1100"/>
              <a:buChar char="-"/>
            </a:pPr>
            <a:r>
              <a:rPr lang="en"/>
              <a:t>If you give it to another </a:t>
            </a:r>
            <a:r>
              <a:rPr lang="en"/>
              <a:t>friend, to give to another friend….</a:t>
            </a:r>
            <a:endParaRPr/>
          </a:p>
          <a:p>
            <a:pPr indent="-298450" lvl="2" marL="1371600" rtl="0" algn="l">
              <a:spcBef>
                <a:spcPts val="0"/>
              </a:spcBef>
              <a:spcAft>
                <a:spcPts val="0"/>
              </a:spcAft>
              <a:buSzPts val="1100"/>
              <a:buChar char="-"/>
            </a:pPr>
            <a:r>
              <a:rPr lang="en"/>
              <a:t>No one knows who you were assigned!</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ddd5d26e9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ddd5d26e9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first attempt at anonymity is through a proxy!</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ddd5d26e9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ddd5d26e9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[Threat model] In this scenario, we don’t care if the message is confidential or not, we just don’t want Bob to know that Alice sent him the message</a:t>
            </a:r>
            <a:endParaRPr/>
          </a:p>
          <a:p>
            <a:pPr indent="-298450" lvl="1" marL="914400" rtl="0" algn="l">
              <a:spcBef>
                <a:spcPts val="0"/>
              </a:spcBef>
              <a:spcAft>
                <a:spcPts val="0"/>
              </a:spcAft>
              <a:buSzPts val="1100"/>
              <a:buChar char="-"/>
            </a:pPr>
            <a:r>
              <a:rPr lang="en"/>
              <a:t>Maybe it’s a diss track about him, maybe a love letter…</a:t>
            </a:r>
            <a:endParaRPr/>
          </a:p>
          <a:p>
            <a:pPr indent="-298450" lvl="0" marL="457200" rtl="0" algn="l">
              <a:spcBef>
                <a:spcPts val="0"/>
              </a:spcBef>
              <a:spcAft>
                <a:spcPts val="0"/>
              </a:spcAft>
              <a:buSzPts val="1100"/>
              <a:buChar char="-"/>
            </a:pPr>
            <a:r>
              <a:rPr lang="en"/>
              <a:t>[Threat model] Also don’t want Eve to know</a:t>
            </a:r>
            <a:endParaRPr/>
          </a:p>
          <a:p>
            <a:pPr indent="-298450" lvl="1" marL="914400" rtl="0" algn="l">
              <a:spcBef>
                <a:spcPts val="0"/>
              </a:spcBef>
              <a:spcAft>
                <a:spcPts val="0"/>
              </a:spcAft>
              <a:buSzPts val="1100"/>
              <a:buChar char="-"/>
            </a:pPr>
            <a:r>
              <a:rPr lang="en"/>
              <a:t>Eve sees two messages, shouldn’t piece together that they’re for the same message technically</a:t>
            </a:r>
            <a:endParaRPr/>
          </a:p>
          <a:p>
            <a:pPr indent="-298450" lvl="0" marL="457200" rtl="0" algn="l">
              <a:spcBef>
                <a:spcPts val="0"/>
              </a:spcBef>
              <a:spcAft>
                <a:spcPts val="0"/>
              </a:spcAft>
              <a:buSzPts val="1100"/>
              <a:buChar char="-"/>
            </a:pPr>
            <a:r>
              <a:rPr lang="en"/>
              <a:t>When Bob gets the packet: It just says “From Proxy, To Bob” -&gt; he has no idea it came from Alice!</a:t>
            </a:r>
            <a:endParaRPr/>
          </a:p>
          <a:p>
            <a:pPr indent="-298450" lvl="0" marL="457200" rtl="0" algn="l">
              <a:spcBef>
                <a:spcPts val="0"/>
              </a:spcBef>
              <a:spcAft>
                <a:spcPts val="0"/>
              </a:spcAft>
              <a:buSzPts val="1100"/>
              <a:buChar char="-"/>
            </a:pPr>
            <a:r>
              <a:rPr lang="en"/>
              <a:t>When Eve looks at the second packet, she gets nothing</a:t>
            </a:r>
            <a:endParaRPr/>
          </a:p>
          <a:p>
            <a:pPr indent="-298450" lvl="0" marL="457200" rtl="0" algn="l">
              <a:spcBef>
                <a:spcPts val="0"/>
              </a:spcBef>
              <a:spcAft>
                <a:spcPts val="0"/>
              </a:spcAft>
              <a:buSzPts val="1100"/>
              <a:buChar char="-"/>
            </a:pPr>
            <a:r>
              <a:rPr lang="en"/>
              <a:t>If the first one is not encrypted, Eve can see in plaintext “From Alice, To Proxy” and then inside would be something like “Hi Proxy, Please send this message to Bob, Love, Alice”</a:t>
            </a:r>
            <a:endParaRPr/>
          </a:p>
          <a:p>
            <a:pPr indent="-298450" lvl="1" marL="914400" rtl="0" algn="l">
              <a:spcBef>
                <a:spcPts val="0"/>
              </a:spcBef>
              <a:spcAft>
                <a:spcPts val="0"/>
              </a:spcAft>
              <a:buSzPts val="1100"/>
              <a:buChar char="-"/>
            </a:pPr>
            <a:r>
              <a:rPr lang="en"/>
              <a:t>She can link the two messages together -&gt; that’s bad, so encrypt (maybe with the proxy’s PK for example)!</a:t>
            </a:r>
            <a:endParaRPr/>
          </a:p>
          <a:p>
            <a:pPr indent="-298450" lvl="2" marL="1371600" rtl="0" algn="l">
              <a:spcBef>
                <a:spcPts val="0"/>
              </a:spcBef>
              <a:spcAft>
                <a:spcPts val="0"/>
              </a:spcAft>
              <a:buSzPts val="1100"/>
              <a:buChar char="-"/>
            </a:pPr>
            <a:r>
              <a:rPr lang="en"/>
              <a:t>Now, there’s just a bunch of gibberish -&gt; this stops Eve (since Eve is in our threat model)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ddd5d26e9f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ddd5d26e9f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Talked about VPNs with Firewalls, and VPNs are effectively a proxy!</a:t>
            </a:r>
            <a:endParaRPr/>
          </a:p>
          <a:p>
            <a:pPr indent="-298450" lvl="1" marL="914400" rtl="0" algn="l">
              <a:spcBef>
                <a:spcPts val="0"/>
              </a:spcBef>
              <a:spcAft>
                <a:spcPts val="0"/>
              </a:spcAft>
              <a:buSzPts val="1100"/>
              <a:buChar char="-"/>
            </a:pPr>
            <a:r>
              <a:rPr lang="en"/>
              <a:t>You’re making a request, but trying to make it look like it came in from within the network when you’re outside the network</a:t>
            </a:r>
            <a:endParaRPr/>
          </a:p>
          <a:p>
            <a:pPr indent="-298450" lvl="0" marL="457200" rtl="0" algn="l">
              <a:spcBef>
                <a:spcPts val="0"/>
              </a:spcBef>
              <a:spcAft>
                <a:spcPts val="0"/>
              </a:spcAft>
              <a:buSzPts val="1100"/>
              <a:buChar char="-"/>
            </a:pPr>
            <a:r>
              <a:rPr lang="en"/>
              <a:t>Alice creates a secure tunnel connection (like ssh) -&gt; now if she’s on a company trip to the Bahamas and needs to work, she’s fine (or she can pretend to be in France so she can still watch Friends on Netflix)</a:t>
            </a:r>
            <a:endParaRPr/>
          </a:p>
          <a:p>
            <a:pPr indent="-298450" lvl="0" marL="457200" rtl="0" algn="l">
              <a:spcBef>
                <a:spcPts val="0"/>
              </a:spcBef>
              <a:spcAft>
                <a:spcPts val="0"/>
              </a:spcAft>
              <a:buSzPts val="1100"/>
              <a:buChar char="-"/>
            </a:pPr>
            <a:r>
              <a:rPr lang="en"/>
              <a:t>Proxies can send entire HTTP packets whereas VPNs usually forward by IP packets one-by-one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ddd5d26e9f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ddd5d26e9f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Now this message needs to be sent twice instead of once (directly to Bob)... that’s slow!</a:t>
            </a:r>
            <a:endParaRPr/>
          </a:p>
          <a:p>
            <a:pPr indent="-298450" lvl="0" marL="457200" rtl="0" algn="l">
              <a:spcBef>
                <a:spcPts val="0"/>
              </a:spcBef>
              <a:spcAft>
                <a:spcPts val="0"/>
              </a:spcAft>
              <a:buSzPts val="1100"/>
              <a:buChar char="-"/>
            </a:pPr>
            <a:r>
              <a:rPr lang="en"/>
              <a:t>The proxy is a full man-in-the-middle–if they gossip and leak that Alice sent a message to Bob, that destroys any anonymity!</a:t>
            </a:r>
            <a:endParaRPr/>
          </a:p>
          <a:p>
            <a:pPr indent="-298450" lvl="1" marL="914400" rtl="0" algn="l">
              <a:spcBef>
                <a:spcPts val="0"/>
              </a:spcBef>
              <a:spcAft>
                <a:spcPts val="0"/>
              </a:spcAft>
              <a:buSzPts val="1100"/>
              <a:buChar char="-"/>
            </a:pPr>
            <a:r>
              <a:rPr lang="en"/>
              <a:t>Depends on your threat model: are you using a shady VPN?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ddd5d26e9f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ddd5d26e9f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15 min - 12:55</a:t>
            </a:r>
            <a:endParaRPr/>
          </a:p>
          <a:p>
            <a:pPr indent="0" lvl="0" marL="0" rtl="0" algn="l">
              <a:spcBef>
                <a:spcPts val="0"/>
              </a:spcBef>
              <a:spcAft>
                <a:spcPts val="0"/>
              </a:spcAft>
              <a:buNone/>
            </a:pPr>
            <a:r>
              <a:rPr lang="en"/>
              <a:t>Image courtesy of mr. gene pan and huy tran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“Onions have layers. Ogres have layers... You get it? We both have layers.” (Shrek 2001)</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ddd5d26e9f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ddd5d26e9f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Okay, so we had a problem where we couldn’t trust one proxy? We’re worried that the proxy will gossip and tell people who I am, so what do I do?</a:t>
            </a:r>
            <a:endParaRPr/>
          </a:p>
          <a:p>
            <a:pPr indent="-298450" lvl="1" marL="914400" rtl="0" algn="l">
              <a:spcBef>
                <a:spcPts val="0"/>
              </a:spcBef>
              <a:spcAft>
                <a:spcPts val="0"/>
              </a:spcAft>
              <a:buSzPts val="1100"/>
              <a:buChar char="-"/>
            </a:pPr>
            <a:r>
              <a:rPr lang="en"/>
              <a:t>Our solution: More proxies!</a:t>
            </a:r>
            <a:endParaRPr/>
          </a:p>
          <a:p>
            <a:pPr indent="-298450" lvl="1" marL="914400" rtl="0" algn="l">
              <a:spcBef>
                <a:spcPts val="0"/>
              </a:spcBef>
              <a:spcAft>
                <a:spcPts val="0"/>
              </a:spcAft>
              <a:buSzPts val="1100"/>
              <a:buChar char="-"/>
            </a:pPr>
            <a:r>
              <a:rPr lang="en"/>
              <a:t>Instead of just saying, “Hey Proxy, can you send this message to Bob for me?”, now you relay and rope in more people</a:t>
            </a:r>
            <a:endParaRPr/>
          </a:p>
          <a:p>
            <a:pPr indent="-298450" lvl="0" marL="457200" rtl="0" algn="l">
              <a:spcBef>
                <a:spcPts val="0"/>
              </a:spcBef>
              <a:spcAft>
                <a:spcPts val="0"/>
              </a:spcAft>
              <a:buSzPts val="1100"/>
              <a:buChar char="-"/>
            </a:pPr>
            <a:r>
              <a:rPr lang="en"/>
              <a:t>Relays: Sole job in life is to forward packets based on who they’re instructed to</a:t>
            </a:r>
            <a:endParaRPr/>
          </a:p>
          <a:p>
            <a:pPr indent="-298450" lvl="0" marL="457200" rtl="0" algn="l">
              <a:spcBef>
                <a:spcPts val="0"/>
              </a:spcBef>
              <a:spcAft>
                <a:spcPts val="0"/>
              </a:spcAft>
              <a:buSzPts val="1100"/>
              <a:buChar char="-"/>
            </a:pPr>
            <a:r>
              <a:rPr lang="en"/>
              <a:t>Tor protocol is a new </a:t>
            </a:r>
            <a:r>
              <a:rPr lang="en"/>
              <a:t>protocol</a:t>
            </a:r>
            <a:r>
              <a:rPr lang="en"/>
              <a:t> to send messages through relays: utilizes Tor Browser (regular browsers like Firefox and Chrome don’t support Tor)</a:t>
            </a:r>
            <a:endParaRPr/>
          </a:p>
          <a:p>
            <a:pPr indent="-298450" lvl="0" marL="457200" rtl="0" algn="l">
              <a:spcBef>
                <a:spcPts val="0"/>
              </a:spcBef>
              <a:spcAft>
                <a:spcPts val="0"/>
              </a:spcAft>
              <a:buSzPts val="1100"/>
              <a:buChar char="-"/>
            </a:pPr>
            <a:r>
              <a:rPr lang="en"/>
              <a:t>Tor can allow you to communicate between two people (Alice and Bob), a client and server (if you don’t want netflix.com to know who you are), but there’s also services that do not want </a:t>
            </a:r>
            <a:r>
              <a:rPr lang="en"/>
              <a:t>their presence to be known (</a:t>
            </a:r>
            <a:r>
              <a:rPr lang="en" strike="sngStrike"/>
              <a:t>shady</a:t>
            </a:r>
            <a:r>
              <a:rPr lang="en"/>
              <a:t>)</a:t>
            </a:r>
            <a:endParaRPr/>
          </a:p>
          <a:p>
            <a:pPr indent="-298450" lvl="1" marL="914400" rtl="0" algn="l">
              <a:spcBef>
                <a:spcPts val="0"/>
              </a:spcBef>
              <a:spcAft>
                <a:spcPts val="0"/>
              </a:spcAft>
              <a:buSzPts val="1100"/>
              <a:buChar char="-"/>
            </a:pPr>
            <a:r>
              <a:rPr lang="en"/>
              <a:t>They’ll only communicate with you if you’re anonymous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ddd5d26e9f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ddd5d26e9f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Like in all protocols, we need to define our threat model!</a:t>
            </a:r>
            <a:endParaRPr/>
          </a:p>
          <a:p>
            <a:pPr indent="-298450" lvl="0" marL="457200" rtl="0" algn="l">
              <a:spcBef>
                <a:spcPts val="0"/>
              </a:spcBef>
              <a:spcAft>
                <a:spcPts val="0"/>
              </a:spcAft>
              <a:buSzPts val="1100"/>
              <a:buChar char="-"/>
            </a:pPr>
            <a:r>
              <a:rPr lang="en"/>
              <a:t>Security: We want client anonymity (don’t want Bob to know who Alice is, or that google.com doesn’t know that I’m the one connecting)</a:t>
            </a:r>
            <a:endParaRPr/>
          </a:p>
          <a:p>
            <a:pPr indent="-298450" lvl="1" marL="914400" rtl="0" algn="l">
              <a:spcBef>
                <a:spcPts val="0"/>
              </a:spcBef>
              <a:spcAft>
                <a:spcPts val="0"/>
              </a:spcAft>
              <a:buSzPts val="1100"/>
              <a:buChar char="-"/>
            </a:pPr>
            <a:r>
              <a:rPr lang="en"/>
              <a:t>However, can also have server anonymity (server doesn’t know who you are = client anonymity AND you don’t know who the server is = server anonymity)</a:t>
            </a:r>
            <a:endParaRPr/>
          </a:p>
          <a:p>
            <a:pPr indent="-298450" lvl="1" marL="914400" rtl="0" algn="l">
              <a:spcBef>
                <a:spcPts val="0"/>
              </a:spcBef>
              <a:spcAft>
                <a:spcPts val="0"/>
              </a:spcAft>
              <a:buSzPts val="1100"/>
              <a:buChar char="-"/>
            </a:pPr>
            <a:r>
              <a:rPr lang="en"/>
              <a:t>Real-world analogy: you’re buying something that’s totally legal in a super dark </a:t>
            </a:r>
            <a:r>
              <a:rPr lang="en"/>
              <a:t>alleyway</a:t>
            </a:r>
            <a:r>
              <a:rPr lang="en"/>
              <a:t> where neither you nor the seller knows who the other person is</a:t>
            </a:r>
            <a:endParaRPr/>
          </a:p>
          <a:p>
            <a:pPr indent="-298450" lvl="0" marL="457200" rtl="0" algn="l">
              <a:spcBef>
                <a:spcPts val="0"/>
              </a:spcBef>
              <a:spcAft>
                <a:spcPts val="0"/>
              </a:spcAft>
              <a:buSzPts val="1100"/>
              <a:buChar char="-"/>
            </a:pPr>
            <a:r>
              <a:rPr lang="en"/>
              <a:t>Performance: Even with a bunch of relays, we want to be fast (no free lunch = you need to pay for anonymity and what you sacrifice is a bit of </a:t>
            </a:r>
            <a:r>
              <a:rPr lang="en"/>
              <a:t>performance</a:t>
            </a:r>
            <a:r>
              <a:rPr lang="en"/>
              <a:t>)</a:t>
            </a:r>
            <a:endParaRPr/>
          </a:p>
          <a:p>
            <a:pPr indent="-298450" lvl="1" marL="914400" rtl="0" algn="l">
              <a:spcBef>
                <a:spcPts val="0"/>
              </a:spcBef>
              <a:spcAft>
                <a:spcPts val="0"/>
              </a:spcAft>
              <a:buSzPts val="1100"/>
              <a:buChar char="-"/>
            </a:pPr>
            <a:r>
              <a:rPr lang="en"/>
              <a:t>However, don’t want it to be painfully or unusably slow</a:t>
            </a:r>
            <a:endParaRPr/>
          </a:p>
          <a:p>
            <a:pPr indent="-298450" lvl="0" marL="457200" rtl="0" algn="l">
              <a:spcBef>
                <a:spcPts val="0"/>
              </a:spcBef>
              <a:spcAft>
                <a:spcPts val="0"/>
              </a:spcAft>
              <a:buSzPts val="1100"/>
              <a:buChar char="-"/>
            </a:pPr>
            <a:r>
              <a:rPr lang="en"/>
              <a:t>Local adversaries: like project 2 RUA (they could only see part of the datastore) -&gt; local adversary can only see part of the network</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e6a067590e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e6a067590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can abstract out how the relays are chosen/how you find the relays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ddd5d26e9f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ddd5d26e9f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20 min - 1:00</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gddd5d26e9f_0_2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5" name="Google Shape;195;gddd5d26e9f_0_2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f0c4c5e51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f0c4c5e51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Second approach, she wants to send a message “Hello world”</a:t>
            </a:r>
            <a:endParaRPr/>
          </a:p>
          <a:p>
            <a:pPr indent="-298450" lvl="1" marL="914400" rtl="0" algn="l">
              <a:spcBef>
                <a:spcPts val="0"/>
              </a:spcBef>
              <a:spcAft>
                <a:spcPts val="0"/>
              </a:spcAft>
              <a:buSzPts val="1100"/>
              <a:buChar char="-"/>
            </a:pPr>
            <a:r>
              <a:rPr lang="en"/>
              <a:t>Can’t send it directly (doesn’t want on-path attackers to see that she’s communicating with Bob)</a:t>
            </a:r>
            <a:endParaRPr/>
          </a:p>
          <a:p>
            <a:pPr indent="-298450" lvl="1" marL="914400" rtl="0" algn="l">
              <a:spcBef>
                <a:spcPts val="0"/>
              </a:spcBef>
              <a:spcAft>
                <a:spcPts val="0"/>
              </a:spcAft>
              <a:buSzPts val="1100"/>
              <a:buChar char="-"/>
            </a:pPr>
            <a:r>
              <a:rPr lang="en"/>
              <a:t>Relay 3 is the real one who’s sending it to Bob -&gt; only Relay 3 knows this message is going to Bob</a:t>
            </a:r>
            <a:endParaRPr/>
          </a:p>
          <a:p>
            <a:pPr indent="-298450" lvl="1" marL="914400" rtl="0" algn="l">
              <a:spcBef>
                <a:spcPts val="0"/>
              </a:spcBef>
              <a:spcAft>
                <a:spcPts val="0"/>
              </a:spcAft>
              <a:buSzPts val="1100"/>
              <a:buChar char="-"/>
            </a:pPr>
            <a:r>
              <a:rPr lang="en"/>
              <a:t>Okay, but how does the message get to Relay 3 -&gt; Relay 2 sends it!</a:t>
            </a:r>
            <a:endParaRPr/>
          </a:p>
          <a:p>
            <a:pPr indent="-298450" lvl="2" marL="1371600" rtl="0" algn="l">
              <a:spcBef>
                <a:spcPts val="0"/>
              </a:spcBef>
              <a:spcAft>
                <a:spcPts val="0"/>
              </a:spcAft>
              <a:buSzPts val="1100"/>
              <a:buChar char="-"/>
            </a:pPr>
            <a:r>
              <a:rPr lang="en"/>
              <a:t>We can’t have Alice directly send the message to Relay 3 (that would be like a proxy who knows everything!)</a:t>
            </a:r>
            <a:endParaRPr/>
          </a:p>
          <a:p>
            <a:pPr indent="-298450" lvl="0" marL="457200" rtl="0" algn="l">
              <a:spcBef>
                <a:spcPts val="0"/>
              </a:spcBef>
              <a:spcAft>
                <a:spcPts val="0"/>
              </a:spcAft>
              <a:buSzPts val="1100"/>
              <a:buChar char="-"/>
            </a:pPr>
            <a:r>
              <a:rPr lang="en"/>
              <a:t>She doesn’t want the any of the relays or Bob to know she’s talking to Bob</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f0c4c5e51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f0c4c5e51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If the first one is not encrypted, Eve can see in plaintext “From Alice, To Proxy” and then inside would be something like “Hi Proxy, Please send this message to Bob, Love, Alice”</a:t>
            </a:r>
            <a:endParaRPr/>
          </a:p>
          <a:p>
            <a:pPr indent="-298450" lvl="1" marL="914400" rtl="0" algn="l">
              <a:spcBef>
                <a:spcPts val="0"/>
              </a:spcBef>
              <a:spcAft>
                <a:spcPts val="0"/>
              </a:spcAft>
              <a:buSzPts val="1100"/>
              <a:buChar char="-"/>
            </a:pPr>
            <a:r>
              <a:rPr lang="en"/>
              <a:t>She can link the two messages together -&gt; that’s bad, so encrypt (maybe with the proxy’s PK for example)!</a:t>
            </a:r>
            <a:endParaRPr/>
          </a:p>
          <a:p>
            <a:pPr indent="-298450" lvl="2" marL="1371600" rtl="0" algn="l">
              <a:spcBef>
                <a:spcPts val="0"/>
              </a:spcBef>
              <a:spcAft>
                <a:spcPts val="0"/>
              </a:spcAft>
              <a:buSzPts val="1100"/>
              <a:buChar char="-"/>
            </a:pPr>
            <a:r>
              <a:rPr lang="en"/>
              <a:t>Now, there’s just a bunch of gibberish -&gt; this stops Eve (since Eve is in our threat model)</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e6a067590e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e6a067590e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apply the proxy encryption logic multiple times</a:t>
            </a:r>
            <a:endParaRPr/>
          </a:p>
          <a:p>
            <a:pPr indent="-298450" lvl="0" marL="457200" rtl="0" algn="l">
              <a:spcBef>
                <a:spcPts val="0"/>
              </a:spcBef>
              <a:spcAft>
                <a:spcPts val="0"/>
              </a:spcAft>
              <a:buSzPts val="1100"/>
              <a:buChar char="-"/>
            </a:pPr>
            <a:r>
              <a:rPr lang="en"/>
              <a:t>Alice wants to send the message to Bob “Hello world”</a:t>
            </a:r>
            <a:endParaRPr/>
          </a:p>
          <a:p>
            <a:pPr indent="-298450" lvl="0" marL="457200" rtl="0" algn="l">
              <a:spcBef>
                <a:spcPts val="0"/>
              </a:spcBef>
              <a:spcAft>
                <a:spcPts val="0"/>
              </a:spcAft>
              <a:buSzPts val="1100"/>
              <a:buChar char="-"/>
            </a:pPr>
            <a:r>
              <a:rPr lang="en"/>
              <a:t>Relay 3 is the one that sends it to Bob, so encrypt the packet meant for Bob under the shared K3 Alice has with Relay 3</a:t>
            </a:r>
            <a:endParaRPr/>
          </a:p>
          <a:p>
            <a:pPr indent="-298450" lvl="1" marL="914400" rtl="0" algn="l">
              <a:spcBef>
                <a:spcPts val="0"/>
              </a:spcBef>
              <a:spcAft>
                <a:spcPts val="0"/>
              </a:spcAft>
              <a:buSzPts val="1100"/>
              <a:buChar char="-"/>
            </a:pPr>
            <a:r>
              <a:rPr lang="en"/>
              <a:t>Now, no one else can read this message (and the fact that it’s sent to Bob), and no one can tamper (it’s sent over a TLS connection)</a:t>
            </a:r>
            <a:endParaRPr/>
          </a:p>
          <a:p>
            <a:pPr indent="-298450" lvl="0" marL="457200" rtl="0" algn="l">
              <a:spcBef>
                <a:spcPts val="0"/>
              </a:spcBef>
              <a:spcAft>
                <a:spcPts val="0"/>
              </a:spcAft>
              <a:buSzPts val="1100"/>
              <a:buChar char="-"/>
            </a:pPr>
            <a:r>
              <a:rPr lang="en"/>
              <a:t>Rinse and repeat (you’re wrapping and constructing the onion)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e6a067590e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e6a067590e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Relay 1 peels off the first layer (knows it’s meant for them). Sees that the second layer is meant for relay 2 and forwards the packet</a:t>
            </a:r>
            <a:endParaRPr/>
          </a:p>
          <a:p>
            <a:pPr indent="-298450" lvl="1" marL="914400" rtl="0" algn="l">
              <a:spcBef>
                <a:spcPts val="0"/>
              </a:spcBef>
              <a:spcAft>
                <a:spcPts val="0"/>
              </a:spcAft>
              <a:buSzPts val="1100"/>
              <a:buChar char="-"/>
            </a:pPr>
            <a:r>
              <a:rPr lang="en"/>
              <a:t>Can’t read what the contents for Relay 2 is for (since it’s encrypted!) -&gt; it’s just gibberish to them!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2f0c4c5e512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2f0c4c5e51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apply the proxy encryption logic multiple times</a:t>
            </a:r>
            <a:endParaRPr/>
          </a:p>
          <a:p>
            <a:pPr indent="-298450" lvl="0" marL="457200" rtl="0" algn="l">
              <a:spcBef>
                <a:spcPts val="0"/>
              </a:spcBef>
              <a:spcAft>
                <a:spcPts val="0"/>
              </a:spcAft>
              <a:buSzPts val="1100"/>
              <a:buChar char="-"/>
            </a:pPr>
            <a:r>
              <a:rPr lang="en"/>
              <a:t>Alice wants to send the message to Bob “Hello world”</a:t>
            </a:r>
            <a:endParaRPr/>
          </a:p>
          <a:p>
            <a:pPr indent="-298450" lvl="0" marL="457200" rtl="0" algn="l">
              <a:spcBef>
                <a:spcPts val="0"/>
              </a:spcBef>
              <a:spcAft>
                <a:spcPts val="0"/>
              </a:spcAft>
              <a:buSzPts val="1100"/>
              <a:buChar char="-"/>
            </a:pPr>
            <a:r>
              <a:rPr lang="en"/>
              <a:t>Relay 3 is the one that sends it to Bob, so encrypt the packet meant for Bob under the shared K3 Alice has with Relay 3</a:t>
            </a:r>
            <a:endParaRPr/>
          </a:p>
          <a:p>
            <a:pPr indent="-298450" lvl="1" marL="914400" rtl="0" algn="l">
              <a:spcBef>
                <a:spcPts val="0"/>
              </a:spcBef>
              <a:spcAft>
                <a:spcPts val="0"/>
              </a:spcAft>
              <a:buSzPts val="1100"/>
              <a:buChar char="-"/>
            </a:pPr>
            <a:r>
              <a:rPr lang="en"/>
              <a:t>Now, no one else can read this message (and the fact that it’s sent to Bob), and no one can tamper (it’s sent over a TLS connection)</a:t>
            </a:r>
            <a:endParaRPr/>
          </a:p>
          <a:p>
            <a:pPr indent="-298450" lvl="0" marL="457200" rtl="0" algn="l">
              <a:spcBef>
                <a:spcPts val="0"/>
              </a:spcBef>
              <a:spcAft>
                <a:spcPts val="0"/>
              </a:spcAft>
              <a:buSzPts val="1100"/>
              <a:buChar char="-"/>
            </a:pPr>
            <a:r>
              <a:rPr lang="en"/>
              <a:t>Rinse and repeat (you’re wrapping and constructing the onion)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e6a067590e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e6a067590e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Now, that top </a:t>
            </a:r>
            <a:r>
              <a:rPr lang="en"/>
              <a:t>layer of the message was peeled off</a:t>
            </a:r>
            <a:endParaRPr/>
          </a:p>
          <a:p>
            <a:pPr indent="-298450" lvl="0" marL="457200" rtl="0" algn="l">
              <a:spcBef>
                <a:spcPts val="0"/>
              </a:spcBef>
              <a:spcAft>
                <a:spcPts val="0"/>
              </a:spcAft>
              <a:buSzPts val="1100"/>
              <a:buChar char="-"/>
            </a:pPr>
            <a:r>
              <a:rPr lang="en"/>
              <a:t>Now, Relay 2 receives this packet and it’s encrypted with K2</a:t>
            </a:r>
            <a:endParaRPr/>
          </a:p>
          <a:p>
            <a:pPr indent="-298450" lvl="1" marL="914400" rtl="0" algn="l">
              <a:spcBef>
                <a:spcPts val="0"/>
              </a:spcBef>
              <a:spcAft>
                <a:spcPts val="0"/>
              </a:spcAft>
              <a:buSzPts val="1100"/>
              <a:buChar char="-"/>
            </a:pPr>
            <a:r>
              <a:rPr lang="en"/>
              <a:t>How do Alice and Relay 2 know K2? They set up their TLS connection before!</a:t>
            </a:r>
            <a:endParaRPr/>
          </a:p>
          <a:p>
            <a:pPr indent="-298450" lvl="0" marL="457200" rtl="0" algn="l">
              <a:spcBef>
                <a:spcPts val="0"/>
              </a:spcBef>
              <a:spcAft>
                <a:spcPts val="0"/>
              </a:spcAft>
              <a:buSzPts val="1100"/>
              <a:buChar char="-"/>
            </a:pPr>
            <a:r>
              <a:rPr lang="en"/>
              <a:t>Relay 2 peels off that message and decrypts to see that they need to send their message to Relay 3</a:t>
            </a:r>
            <a:endParaRPr/>
          </a:p>
          <a:p>
            <a:pPr indent="-298450" lvl="1" marL="914400" rtl="0" algn="l">
              <a:spcBef>
                <a:spcPts val="0"/>
              </a:spcBef>
              <a:spcAft>
                <a:spcPts val="0"/>
              </a:spcAft>
              <a:buSzPts val="1100"/>
              <a:buChar char="-"/>
            </a:pPr>
            <a:r>
              <a:rPr lang="en"/>
              <a:t>But whatever Relay 3 receives is encrypted with K3 so Relay 2 can’t read it (so Relay 2 doesn’t know this message is meant for Bob)</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2f0c4c5e512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2f0c4c5e512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apply the proxy encryption logic multiple times</a:t>
            </a:r>
            <a:endParaRPr/>
          </a:p>
          <a:p>
            <a:pPr indent="-298450" lvl="0" marL="457200" rtl="0" algn="l">
              <a:spcBef>
                <a:spcPts val="0"/>
              </a:spcBef>
              <a:spcAft>
                <a:spcPts val="0"/>
              </a:spcAft>
              <a:buSzPts val="1100"/>
              <a:buChar char="-"/>
            </a:pPr>
            <a:r>
              <a:rPr lang="en"/>
              <a:t>Alice wants to send the message to Bob “Hello world”</a:t>
            </a:r>
            <a:endParaRPr/>
          </a:p>
          <a:p>
            <a:pPr indent="-298450" lvl="0" marL="457200" rtl="0" algn="l">
              <a:spcBef>
                <a:spcPts val="0"/>
              </a:spcBef>
              <a:spcAft>
                <a:spcPts val="0"/>
              </a:spcAft>
              <a:buSzPts val="1100"/>
              <a:buChar char="-"/>
            </a:pPr>
            <a:r>
              <a:rPr lang="en"/>
              <a:t>Relay 3 is the one that sends it to Bob, so encrypt the packet meant for Bob under the shared K3 Alice has with Relay 3</a:t>
            </a:r>
            <a:endParaRPr/>
          </a:p>
          <a:p>
            <a:pPr indent="-298450" lvl="1" marL="914400" rtl="0" algn="l">
              <a:spcBef>
                <a:spcPts val="0"/>
              </a:spcBef>
              <a:spcAft>
                <a:spcPts val="0"/>
              </a:spcAft>
              <a:buSzPts val="1100"/>
              <a:buChar char="-"/>
            </a:pPr>
            <a:r>
              <a:rPr lang="en"/>
              <a:t>Now, no one else can read this message (and the fact that it’s sent to Bob), and no one can tamper (it’s sent over a TLS connection)</a:t>
            </a:r>
            <a:endParaRPr/>
          </a:p>
          <a:p>
            <a:pPr indent="-298450" lvl="0" marL="457200" rtl="0" algn="l">
              <a:spcBef>
                <a:spcPts val="0"/>
              </a:spcBef>
              <a:spcAft>
                <a:spcPts val="0"/>
              </a:spcAft>
              <a:buSzPts val="1100"/>
              <a:buChar char="-"/>
            </a:pPr>
            <a:r>
              <a:rPr lang="en"/>
              <a:t>Rinse and repeat (you’re wrapping and constructing the onion)</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e6a067590e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e6a067590e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Finally, Relay 3 decrypts what they </a:t>
            </a:r>
            <a:r>
              <a:rPr lang="en"/>
              <a:t>receive</a:t>
            </a:r>
            <a:r>
              <a:rPr lang="en"/>
              <a:t> and they see a message “Tell Bob “hello world””, and so Relay 3 forwards that message to Bob</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f0c4c5e512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2f0c4c5e512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We apply the proxy encryption logic multiple times</a:t>
            </a:r>
            <a:endParaRPr/>
          </a:p>
          <a:p>
            <a:pPr indent="-298450" lvl="0" marL="457200" rtl="0" algn="l">
              <a:spcBef>
                <a:spcPts val="0"/>
              </a:spcBef>
              <a:spcAft>
                <a:spcPts val="0"/>
              </a:spcAft>
              <a:buSzPts val="1100"/>
              <a:buChar char="-"/>
            </a:pPr>
            <a:r>
              <a:rPr lang="en"/>
              <a:t>Alice wants to send the message to Bob “Hello world”</a:t>
            </a:r>
            <a:endParaRPr/>
          </a:p>
          <a:p>
            <a:pPr indent="-298450" lvl="0" marL="457200" rtl="0" algn="l">
              <a:spcBef>
                <a:spcPts val="0"/>
              </a:spcBef>
              <a:spcAft>
                <a:spcPts val="0"/>
              </a:spcAft>
              <a:buSzPts val="1100"/>
              <a:buChar char="-"/>
            </a:pPr>
            <a:r>
              <a:rPr lang="en"/>
              <a:t>Relay 3 is the one that sends it to Bob, so encrypt the packet meant for Bob under the shared K3 Alice has with Relay 3</a:t>
            </a:r>
            <a:endParaRPr/>
          </a:p>
          <a:p>
            <a:pPr indent="-298450" lvl="1" marL="914400" rtl="0" algn="l">
              <a:spcBef>
                <a:spcPts val="0"/>
              </a:spcBef>
              <a:spcAft>
                <a:spcPts val="0"/>
              </a:spcAft>
              <a:buSzPts val="1100"/>
              <a:buChar char="-"/>
            </a:pPr>
            <a:r>
              <a:rPr lang="en"/>
              <a:t>Now, no one else can read this message (and the fact that it’s sent to Bob), and no one can tamper (it’s sent over a TLS connection)</a:t>
            </a:r>
            <a:endParaRPr/>
          </a:p>
          <a:p>
            <a:pPr indent="-298450" lvl="0" marL="457200" rtl="0" algn="l">
              <a:spcBef>
                <a:spcPts val="0"/>
              </a:spcBef>
              <a:spcAft>
                <a:spcPts val="0"/>
              </a:spcAft>
              <a:buSzPts val="1100"/>
              <a:buChar char="-"/>
            </a:pPr>
            <a:r>
              <a:rPr lang="en"/>
              <a:t>Rinse and repeat (you’re wrapping and constructing the onion)</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e6a067590e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e6a067590e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Yippee!!</a:t>
            </a:r>
            <a:endParaRPr/>
          </a:p>
          <a:p>
            <a:pPr indent="-298450" lvl="0" marL="457200" rtl="0" algn="l">
              <a:spcBef>
                <a:spcPts val="0"/>
              </a:spcBef>
              <a:spcAft>
                <a:spcPts val="0"/>
              </a:spcAft>
              <a:buSzPts val="1100"/>
              <a:buChar char="-"/>
            </a:pPr>
            <a:r>
              <a:rPr lang="en"/>
              <a:t>Next slide: What good is this though? What’s stopping Relay 2 for instance from knowing that Alice was communicating with Bob?</a:t>
            </a:r>
            <a:endParaRPr/>
          </a:p>
          <a:p>
            <a:pPr indent="-298450" lvl="0" marL="457200" rtl="0" algn="l">
              <a:spcBef>
                <a:spcPts val="0"/>
              </a:spcBef>
              <a:spcAft>
                <a:spcPts val="0"/>
              </a:spcAft>
              <a:buSzPts val="1100"/>
              <a:buChar char="-"/>
            </a:pPr>
            <a:r>
              <a:rPr lang="en"/>
              <a:t>Relay 3 could know what the message to Bob is (if Alice doesn’t encrypt the message to Bob).</a:t>
            </a:r>
            <a:endParaRPr/>
          </a:p>
          <a:p>
            <a:pPr indent="-298450" lvl="1" marL="914400" rtl="0" algn="l">
              <a:spcBef>
                <a:spcPts val="0"/>
              </a:spcBef>
              <a:spcAft>
                <a:spcPts val="0"/>
              </a:spcAft>
              <a:buSzPts val="1100"/>
              <a:buChar char="-"/>
            </a:pPr>
            <a:r>
              <a:rPr lang="en"/>
              <a:t>Tor ensures that there’s encryption between the nodes, but if Alice wants to encrypt the message for Bob, she has to do that herself!</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e6a067590e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e6a067590e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Every relay knows where the message they received came from because IP packets have source and destination IPs and they know where the next jump is to</a:t>
            </a:r>
            <a:endParaRPr/>
          </a:p>
          <a:p>
            <a:pPr indent="-298450" lvl="0" marL="457200" rtl="0" algn="l">
              <a:spcBef>
                <a:spcPts val="0"/>
              </a:spcBef>
              <a:spcAft>
                <a:spcPts val="0"/>
              </a:spcAft>
              <a:buSzPts val="1100"/>
              <a:buChar char="-"/>
            </a:pPr>
            <a:r>
              <a:rPr lang="en"/>
              <a:t>Go through the past couple slides (via encryption, you only know the person in front and person after you)</a:t>
            </a:r>
            <a:endParaRPr/>
          </a:p>
          <a:p>
            <a:pPr indent="-298450" lvl="0" marL="457200" rtl="0" algn="l">
              <a:spcBef>
                <a:spcPts val="0"/>
              </a:spcBef>
              <a:spcAft>
                <a:spcPts val="0"/>
              </a:spcAft>
              <a:buSzPts val="1100"/>
              <a:buChar char="-"/>
            </a:pPr>
            <a:r>
              <a:rPr lang="en"/>
              <a:t>No single proxy knows everyone’s identity</a:t>
            </a:r>
            <a:endParaRPr/>
          </a:p>
          <a:p>
            <a:pPr indent="-298450" lvl="1" marL="914400" rtl="0" algn="l">
              <a:spcBef>
                <a:spcPts val="0"/>
              </a:spcBef>
              <a:spcAft>
                <a:spcPts val="0"/>
              </a:spcAft>
              <a:buSzPts val="1100"/>
              <a:buChar char="-"/>
            </a:pPr>
            <a:r>
              <a:rPr lang="en"/>
              <a:t>This differs from the one proxy approach!</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gddd5d26e9f_0_2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8" name="Google Shape;508;gddd5d26e9f_0_2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35 min - 1:15</a:t>
            </a:r>
            <a:endParaRPr/>
          </a:p>
          <a:p>
            <a:pPr indent="-298450" lvl="0" marL="457200" rtl="0" algn="l">
              <a:spcBef>
                <a:spcPts val="0"/>
              </a:spcBef>
              <a:spcAft>
                <a:spcPts val="0"/>
              </a:spcAft>
              <a:buSzPts val="1100"/>
              <a:buChar char="-"/>
            </a:pPr>
            <a:r>
              <a:rPr lang="en"/>
              <a:t>Exit node doesn’t know sender, but knows </a:t>
            </a:r>
            <a:r>
              <a:rPr lang="en"/>
              <a:t>recipient</a:t>
            </a:r>
            <a:r>
              <a:rPr lang="en"/>
              <a:t> and if unencrypted, the message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ddd5d26e9f_0_3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5" name="Google Shape;515;gddd5d26e9f_0_3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Nick knew a colleague who ran an exit node for research...and got a visit from the FBI!</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ddd5d26e9f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ddd5d26e9f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This is a critical weakness of Tor!</a:t>
            </a:r>
            <a:endParaRPr/>
          </a:p>
          <a:p>
            <a:pPr indent="-298450" lvl="0" marL="457200" rtl="0" algn="l">
              <a:spcBef>
                <a:spcPts val="0"/>
              </a:spcBef>
              <a:spcAft>
                <a:spcPts val="0"/>
              </a:spcAft>
              <a:buSzPts val="1100"/>
              <a:buChar char="-"/>
            </a:pPr>
            <a:r>
              <a:rPr lang="en"/>
              <a:t>Tor is secure against local adversaries (like our Project 2 Revoked User Adversary): an adversary between Alice and Relay 1 sees encrypted gibberish, but no extra information (and knows Alice and Relay 1 are talking)</a:t>
            </a:r>
            <a:endParaRPr/>
          </a:p>
          <a:p>
            <a:pPr indent="-298450" lvl="0" marL="457200" rtl="0" algn="l">
              <a:spcBef>
                <a:spcPts val="0"/>
              </a:spcBef>
              <a:spcAft>
                <a:spcPts val="0"/>
              </a:spcAft>
              <a:buSzPts val="1100"/>
              <a:buChar char="-"/>
            </a:pPr>
            <a:r>
              <a:rPr lang="en"/>
              <a:t>Unfortunately</a:t>
            </a:r>
            <a:r>
              <a:rPr lang="en"/>
              <a:t>, this is not true for global adversary (like our Datastore adversary) -&gt; side channel attack! The actual </a:t>
            </a:r>
            <a:r>
              <a:rPr lang="en"/>
              <a:t>protocol</a:t>
            </a:r>
            <a:r>
              <a:rPr lang="en"/>
              <a:t> itself is theoretically secure, but the implementation allows this weakness</a:t>
            </a:r>
            <a:endParaRPr/>
          </a:p>
          <a:p>
            <a:pPr indent="-298450" lvl="0" marL="457200" rtl="0" algn="l">
              <a:spcBef>
                <a:spcPts val="0"/>
              </a:spcBef>
              <a:spcAft>
                <a:spcPts val="0"/>
              </a:spcAft>
              <a:buSzPts val="1100"/>
              <a:buChar char="-"/>
            </a:pPr>
            <a:r>
              <a:rPr lang="en"/>
              <a:t>Attacker can see that Alice sent a message and Bob received it one second later… interesting!</a:t>
            </a:r>
            <a:endParaRPr/>
          </a:p>
          <a:p>
            <a:pPr indent="-298450" lvl="0" marL="457200" rtl="0" algn="l">
              <a:spcBef>
                <a:spcPts val="0"/>
              </a:spcBef>
              <a:spcAft>
                <a:spcPts val="0"/>
              </a:spcAft>
              <a:buSzPts val="1100"/>
              <a:buChar char="-"/>
            </a:pPr>
            <a:r>
              <a:rPr lang="en"/>
              <a:t>We don’t care about global adversaries right now because the main way to defend against them would be timing attacks, so at least in our course, we don’t care about Tor global adversaries</a:t>
            </a:r>
            <a:endParaRPr/>
          </a:p>
          <a:p>
            <a:pPr indent="-298450" lvl="1" marL="914400" rtl="0" algn="l">
              <a:spcBef>
                <a:spcPts val="0"/>
              </a:spcBef>
              <a:spcAft>
                <a:spcPts val="0"/>
              </a:spcAft>
              <a:buSzPts val="1100"/>
              <a:buChar char="-"/>
            </a:pPr>
            <a:r>
              <a:rPr lang="en"/>
              <a:t>We don’t want to intentionally add </a:t>
            </a:r>
            <a:r>
              <a:rPr lang="en"/>
              <a:t>random</a:t>
            </a:r>
            <a:r>
              <a:rPr lang="en"/>
              <a:t> delays!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7" name="Shape 527"/>
        <p:cNvGrpSpPr/>
        <p:nvPr/>
      </p:nvGrpSpPr>
      <p:grpSpPr>
        <a:xfrm>
          <a:off x="0" y="0"/>
          <a:ext cx="0" cy="0"/>
          <a:chOff x="0" y="0"/>
          <a:chExt cx="0" cy="0"/>
        </a:xfrm>
      </p:grpSpPr>
      <p:sp>
        <p:nvSpPr>
          <p:cNvPr id="528" name="Google Shape;528;gddd5d26e9f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9" name="Google Shape;529;gddd5d26e9f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Each relay has a list of information that’s incomplete/partial, but what if they combine their information</a:t>
            </a:r>
            <a:endParaRPr/>
          </a:p>
          <a:p>
            <a:pPr indent="-298450" lvl="1" marL="914400" rtl="0" algn="l">
              <a:spcBef>
                <a:spcPts val="0"/>
              </a:spcBef>
              <a:spcAft>
                <a:spcPts val="0"/>
              </a:spcAft>
              <a:buSzPts val="1100"/>
              <a:buChar char="-"/>
            </a:pPr>
            <a:r>
              <a:rPr lang="en"/>
              <a:t>Relay 1: “I don’t know everything, but Alice sent me something for Relay 2.”</a:t>
            </a:r>
            <a:endParaRPr/>
          </a:p>
          <a:p>
            <a:pPr indent="-298450" lvl="1" marL="914400" rtl="0" algn="l">
              <a:spcBef>
                <a:spcPts val="0"/>
              </a:spcBef>
              <a:spcAft>
                <a:spcPts val="0"/>
              </a:spcAft>
              <a:buSzPts val="1100"/>
              <a:buChar char="-"/>
            </a:pPr>
            <a:r>
              <a:rPr lang="en"/>
              <a:t>Relay 2: “I don’t know everything, but Relay 1 sent me something for Relay 3”</a:t>
            </a:r>
            <a:endParaRPr/>
          </a:p>
          <a:p>
            <a:pPr indent="-298450" lvl="1" marL="914400" rtl="0" algn="l">
              <a:spcBef>
                <a:spcPts val="0"/>
              </a:spcBef>
              <a:spcAft>
                <a:spcPts val="0"/>
              </a:spcAft>
              <a:buSzPts val="1100"/>
              <a:buChar char="-"/>
            </a:pPr>
            <a:r>
              <a:rPr lang="en"/>
              <a:t>Relay 3: “I don’t know everything, but Relay 2 sent me </a:t>
            </a:r>
            <a:r>
              <a:rPr lang="en"/>
              <a:t>something</a:t>
            </a:r>
            <a:r>
              <a:rPr lang="en"/>
              <a:t> for Bob”</a:t>
            </a:r>
            <a:endParaRPr/>
          </a:p>
          <a:p>
            <a:pPr indent="-298450" lvl="0" marL="457200" rtl="0" algn="l">
              <a:spcBef>
                <a:spcPts val="0"/>
              </a:spcBef>
              <a:spcAft>
                <a:spcPts val="0"/>
              </a:spcAft>
              <a:buSzPts val="1100"/>
              <a:buChar char="-"/>
            </a:pPr>
            <a:r>
              <a:rPr lang="en"/>
              <a:t>Now, if they combined this information (colluded), they would find out Alice was sending a message to Bob</a:t>
            </a:r>
            <a:endParaRPr/>
          </a:p>
          <a:p>
            <a:pPr indent="-298450" lvl="0" marL="457200" rtl="0" algn="l">
              <a:spcBef>
                <a:spcPts val="0"/>
              </a:spcBef>
              <a:spcAft>
                <a:spcPts val="0"/>
              </a:spcAft>
              <a:buSzPts val="1100"/>
              <a:buChar char="-"/>
            </a:pPr>
            <a:r>
              <a:rPr lang="en"/>
              <a:t>Tor protocol forbids this</a:t>
            </a:r>
            <a:endParaRPr/>
          </a:p>
          <a:p>
            <a:pPr indent="-298450" lvl="0" marL="457200" rtl="0" algn="l">
              <a:spcBef>
                <a:spcPts val="0"/>
              </a:spcBef>
              <a:spcAft>
                <a:spcPts val="0"/>
              </a:spcAft>
              <a:buSzPts val="1100"/>
              <a:buChar char="-"/>
            </a:pPr>
            <a:r>
              <a:rPr lang="en"/>
              <a:t>You don’t even have to talk to someone else to collude if you own many nodes!</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e6a067590e_0_3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e6a067590e_0_3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There’s like a ranking system: abstract out how this is defined, but there are just some nodes that have been trusted for a long time so you should use at least one!</a:t>
            </a:r>
            <a:endParaRPr/>
          </a:p>
          <a:p>
            <a:pPr indent="-298450" lvl="1" marL="914400" rtl="0" algn="l">
              <a:spcBef>
                <a:spcPts val="0"/>
              </a:spcBef>
              <a:spcAft>
                <a:spcPts val="0"/>
              </a:spcAft>
              <a:buSzPts val="1100"/>
              <a:buChar char="-"/>
            </a:pPr>
            <a:r>
              <a:rPr lang="en"/>
              <a:t>That way, as long as they don’t give up information, then at least one node isn’t colluding (so anonymity holds!)</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ddd5d26e9f_0_2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ddd5d26e9f_0_2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If you’re constantly sending messages to relays, then people know that you’re sending messages over Tor</a:t>
            </a:r>
            <a:endParaRPr/>
          </a:p>
          <a:p>
            <a:pPr indent="-298450" lvl="1" marL="914400" rtl="0" algn="l">
              <a:spcBef>
                <a:spcPts val="0"/>
              </a:spcBef>
              <a:spcAft>
                <a:spcPts val="0"/>
              </a:spcAft>
              <a:buSzPts val="1100"/>
              <a:buChar char="-"/>
            </a:pPr>
            <a:r>
              <a:rPr lang="en"/>
              <a:t>There’s a directory server of all the relays!</a:t>
            </a:r>
            <a:endParaRPr/>
          </a:p>
          <a:p>
            <a:pPr indent="-298450" lvl="0" marL="457200" rtl="0" algn="l">
              <a:spcBef>
                <a:spcPts val="0"/>
              </a:spcBef>
              <a:spcAft>
                <a:spcPts val="0"/>
              </a:spcAft>
              <a:buSzPts val="1100"/>
              <a:buChar char="-"/>
            </a:pPr>
            <a:r>
              <a:rPr lang="en"/>
              <a:t>Anonymity only works in a crowd!</a:t>
            </a:r>
            <a:endParaRPr/>
          </a:p>
          <a:p>
            <a:pPr indent="-298450" lvl="1" marL="914400" rtl="0" algn="l">
              <a:spcBef>
                <a:spcPts val="0"/>
              </a:spcBef>
              <a:spcAft>
                <a:spcPts val="0"/>
              </a:spcAft>
              <a:buSzPts val="1100"/>
              <a:buChar char="-"/>
            </a:pPr>
            <a:r>
              <a:rPr lang="en"/>
              <a:t>Sent a threat to avoid taking an exam (don’t do this :’))</a:t>
            </a:r>
            <a:endParaRPr/>
          </a:p>
          <a:p>
            <a:pPr indent="-298450" lvl="1" marL="914400" rtl="0" algn="l">
              <a:spcBef>
                <a:spcPts val="0"/>
              </a:spcBef>
              <a:spcAft>
                <a:spcPts val="0"/>
              </a:spcAft>
              <a:buSzPts val="1100"/>
              <a:buChar char="-"/>
            </a:pPr>
            <a:r>
              <a:rPr lang="en"/>
              <a:t>Harvard admin saw that </a:t>
            </a:r>
            <a:r>
              <a:rPr lang="en"/>
              <a:t>the</a:t>
            </a:r>
            <a:r>
              <a:rPr lang="en"/>
              <a:t> person sending them this message was a Tor exit node (means that the message was sent via Tor)</a:t>
            </a:r>
            <a:endParaRPr/>
          </a:p>
          <a:p>
            <a:pPr indent="-298450" lvl="1" marL="914400" rtl="0" algn="l">
              <a:spcBef>
                <a:spcPts val="0"/>
              </a:spcBef>
              <a:spcAft>
                <a:spcPts val="0"/>
              </a:spcAft>
              <a:buSzPts val="1100"/>
              <a:buChar char="-"/>
            </a:pPr>
            <a:r>
              <a:rPr lang="en"/>
              <a:t>There needs to be other Tor users in the network to disguise your traffic</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ddd5d26e9f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ddd5d26e9f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55 min - 1:35</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ddd5d26e9f_0_3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ddd5d26e9f_0_3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spcBef>
                <a:spcPts val="0"/>
              </a:spcBef>
              <a:spcAft>
                <a:spcPts val="0"/>
              </a:spcAft>
              <a:buSzPts val="1100"/>
              <a:buChar char="-"/>
            </a:pPr>
            <a:r>
              <a:rPr lang="en"/>
              <a:t>You need other people using Tor in order to have anonymity</a:t>
            </a:r>
            <a:endParaRPr/>
          </a:p>
          <a:p>
            <a:pPr indent="-298450" lvl="0" marL="457200" rtl="0" algn="l">
              <a:spcBef>
                <a:spcPts val="0"/>
              </a:spcBef>
              <a:spcAft>
                <a:spcPts val="0"/>
              </a:spcAft>
              <a:buSzPts val="1100"/>
              <a:buChar char="-"/>
            </a:pPr>
            <a:r>
              <a:rPr lang="en"/>
              <a:t>Exit node is MITM unless you’re using TLS to communicate between the two people</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ddd5d26e9f_0_3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ddd5d26e9f_0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“Aggressively illegal activities”</a:t>
            </a:r>
            <a:endParaRPr/>
          </a:p>
          <a:p>
            <a:pPr indent="-298450" lvl="0" marL="457200" rtl="0" algn="l">
              <a:spcBef>
                <a:spcPts val="0"/>
              </a:spcBef>
              <a:spcAft>
                <a:spcPts val="0"/>
              </a:spcAft>
              <a:buSzPts val="1100"/>
              <a:buChar char="-"/>
            </a:pPr>
            <a:r>
              <a:rPr lang="en"/>
              <a:t>Tor allows you to make these transactions in a way where the seller doesn’t know who you are, and you don’t know who the seller is</a:t>
            </a:r>
            <a:endParaRPr/>
          </a:p>
          <a:p>
            <a:pPr indent="-298450" lvl="0" marL="457200" rtl="0" algn="l">
              <a:spcBef>
                <a:spcPts val="0"/>
              </a:spcBef>
              <a:spcAft>
                <a:spcPts val="0"/>
              </a:spcAft>
              <a:buSzPts val="1100"/>
              <a:buChar char="-"/>
            </a:pPr>
            <a:r>
              <a:rPr lang="en"/>
              <a:t>“Allows you to make your </a:t>
            </a:r>
            <a:r>
              <a:rPr lang="en"/>
              <a:t>transactions</a:t>
            </a:r>
            <a:r>
              <a:rPr lang="en"/>
              <a:t> in peace, unless you’re like buying weapons”</a:t>
            </a:r>
            <a:endParaRPr/>
          </a:p>
          <a:p>
            <a:pPr indent="-298450" lvl="0" marL="457200" rtl="0" algn="l">
              <a:spcBef>
                <a:spcPts val="0"/>
              </a:spcBef>
              <a:spcAft>
                <a:spcPts val="0"/>
              </a:spcAft>
              <a:buSzPts val="1100"/>
              <a:buChar char="-"/>
            </a:pPr>
            <a:r>
              <a:rPr lang="en"/>
              <a:t>Apparently you can also discuss crimes over Tor, haven’t done that, don’t plan to, but if you wanted to be aware of it (this is highly illegal and legally we need to say you shouldn’t be doing this)</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368443fcef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368443fcef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e6a067590e_0_1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e6a067590e_0_1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 hr 5 min - 1:45</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e6a067590e_0_10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e6a067590e_0_10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Two common reasons why Tor isn't used for all network communications are:</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Tor has a poor reputation</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Since traffic must be encrypted multiple times and sent around to different proxies, Tor is slower.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 name="Google Shape;12;p2"/>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400"/>
              <a:buNone/>
              <a:defRPr sz="2400"/>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r>
              <a:rPr lang="en"/>
              <a:t>#</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 name="Google Shape;19;p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3" name="Google Shape;23;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4" name="Google Shape;24;p5"/>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25" name="Google Shape;25;p5"/>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1" name="Google Shape;31;p7"/>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7"/>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
    <p:spTree>
      <p:nvGrpSpPr>
        <p:cNvPr id="33" name="Shape 33"/>
        <p:cNvGrpSpPr/>
        <p:nvPr/>
      </p:nvGrpSpPr>
      <p:grpSpPr>
        <a:xfrm>
          <a:off x="0" y="0"/>
          <a:ext cx="0" cy="0"/>
          <a:chOff x="0" y="0"/>
          <a:chExt cx="0" cy="0"/>
        </a:xfrm>
      </p:grpSpPr>
      <p:sp>
        <p:nvSpPr>
          <p:cNvPr id="34" name="Google Shape;34;p8"/>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8"/>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Optional">
  <p:cSld name="SECTION_HEADER_1">
    <p:bg>
      <p:bgPr>
        <a:solidFill>
          <a:srgbClr val="A4C2F4"/>
        </a:solidFill>
      </p:bgPr>
    </p:bg>
    <p:spTree>
      <p:nvGrpSpPr>
        <p:cNvPr id="37" name="Shape 37"/>
        <p:cNvGrpSpPr/>
        <p:nvPr/>
      </p:nvGrpSpPr>
      <p:grpSpPr>
        <a:xfrm>
          <a:off x="0" y="0"/>
          <a:ext cx="0" cy="0"/>
          <a:chOff x="0" y="0"/>
          <a:chExt cx="0" cy="0"/>
        </a:xfrm>
      </p:grpSpPr>
      <p:sp>
        <p:nvSpPr>
          <p:cNvPr id="38" name="Google Shape;38;p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39" name="Google Shape;39;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Optional">
  <p:cSld name="TITLE_AND_BODY_1">
    <p:bg>
      <p:bgPr>
        <a:solidFill>
          <a:srgbClr val="A4C2F4"/>
        </a:solidFill>
      </p:bgPr>
    </p:bg>
    <p:spTree>
      <p:nvGrpSpPr>
        <p:cNvPr id="40" name="Shape 40"/>
        <p:cNvGrpSpPr/>
        <p:nvPr/>
      </p:nvGrpSpPr>
      <p:grpSpPr>
        <a:xfrm>
          <a:off x="0" y="0"/>
          <a:ext cx="0" cy="0"/>
          <a:chOff x="0" y="0"/>
          <a:chExt cx="0" cy="0"/>
        </a:xfrm>
      </p:grpSpPr>
      <p:sp>
        <p:nvSpPr>
          <p:cNvPr id="41" name="Google Shape;41;p10"/>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3" name="Google Shape;43;p1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 Optional">
  <p:cSld name="TITLE_AND_TWO_COLUMNS_1">
    <p:bg>
      <p:bgPr>
        <a:solidFill>
          <a:srgbClr val="A4C2F4"/>
        </a:solidFill>
      </p:bgPr>
    </p:bg>
    <p:spTree>
      <p:nvGrpSpPr>
        <p:cNvPr id="44" name="Shape 44"/>
        <p:cNvGrpSpPr/>
        <p:nvPr/>
      </p:nvGrpSpPr>
      <p:grpSpPr>
        <a:xfrm>
          <a:off x="0" y="0"/>
          <a:ext cx="0" cy="0"/>
          <a:chOff x="0" y="0"/>
          <a:chExt cx="0" cy="0"/>
        </a:xfrm>
      </p:grpSpPr>
      <p:sp>
        <p:nvSpPr>
          <p:cNvPr id="45" name="Google Shape;45;p11"/>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7" name="Google Shape;47;p11"/>
          <p:cNvSpPr txBox="1"/>
          <p:nvPr>
            <p:ph idx="1" type="body"/>
          </p:nvPr>
        </p:nvSpPr>
        <p:spPr>
          <a:xfrm>
            <a:off x="198500"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48" name="Google Shape;48;p11"/>
          <p:cNvSpPr txBox="1"/>
          <p:nvPr>
            <p:ph idx="2" type="body"/>
          </p:nvPr>
        </p:nvSpPr>
        <p:spPr>
          <a:xfrm>
            <a:off x="4588175" y="1246825"/>
            <a:ext cx="41310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Optional">
  <p:cSld name="TITLE_ONLY_1">
    <p:bg>
      <p:bgPr>
        <a:solidFill>
          <a:srgbClr val="A4C2F4"/>
        </a:solidFill>
      </p:bgPr>
    </p:bg>
    <p:spTree>
      <p:nvGrpSpPr>
        <p:cNvPr id="49" name="Shape 49"/>
        <p:cNvGrpSpPr/>
        <p:nvPr/>
      </p:nvGrpSpPr>
      <p:grpSpPr>
        <a:xfrm>
          <a:off x="0" y="0"/>
          <a:ext cx="0" cy="0"/>
          <a:chOff x="0" y="0"/>
          <a:chExt cx="0" cy="0"/>
        </a:xfrm>
      </p:grpSpPr>
      <p:sp>
        <p:nvSpPr>
          <p:cNvPr id="50" name="Google Shape;50;p12"/>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 Optional">
  <p:cSld name="ONE_COLUMN_TEXT_1">
    <p:bg>
      <p:bgPr>
        <a:solidFill>
          <a:srgbClr val="A4C2F4"/>
        </a:solidFill>
      </p:bgPr>
    </p:bg>
    <p:spTree>
      <p:nvGrpSpPr>
        <p:cNvPr id="52" name="Shape 52"/>
        <p:cNvGrpSpPr/>
        <p:nvPr/>
      </p:nvGrpSpPr>
      <p:grpSpPr>
        <a:xfrm>
          <a:off x="0" y="0"/>
          <a:ext cx="0" cy="0"/>
          <a:chOff x="0" y="0"/>
          <a:chExt cx="0" cy="0"/>
        </a:xfrm>
      </p:grpSpPr>
      <p:sp>
        <p:nvSpPr>
          <p:cNvPr id="53" name="Google Shape;53;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 name="Google Shape;55;p13"/>
          <p:cNvSpPr txBox="1"/>
          <p:nvPr>
            <p:ph idx="1" type="body"/>
          </p:nvPr>
        </p:nvSpPr>
        <p:spPr>
          <a:xfrm>
            <a:off x="198500" y="1246825"/>
            <a:ext cx="5142600" cy="37656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 Optional">
  <p:cSld name="CUSTOM_1">
    <p:bg>
      <p:bgPr>
        <a:solidFill>
          <a:srgbClr val="A4C2F4"/>
        </a:solidFill>
      </p:bgPr>
    </p:bg>
    <p:spTree>
      <p:nvGrpSpPr>
        <p:cNvPr id="56" name="Shape 56"/>
        <p:cNvGrpSpPr/>
        <p:nvPr/>
      </p:nvGrpSpPr>
      <p:grpSpPr>
        <a:xfrm>
          <a:off x="0" y="0"/>
          <a:ext cx="0" cy="0"/>
          <a:chOff x="0" y="0"/>
          <a:chExt cx="0" cy="0"/>
        </a:xfrm>
      </p:grpSpPr>
      <p:sp>
        <p:nvSpPr>
          <p:cNvPr id="57" name="Google Shape;57;p14"/>
          <p:cNvSpPr txBox="1"/>
          <p:nvPr>
            <p:ph type="title"/>
          </p:nvPr>
        </p:nvSpPr>
        <p:spPr>
          <a:xfrm>
            <a:off x="102700" y="27087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 name="Google Shape;58;p14"/>
          <p:cNvSpPr txBox="1"/>
          <p:nvPr>
            <p:ph idx="1" type="body"/>
          </p:nvPr>
        </p:nvSpPr>
        <p:spPr>
          <a:xfrm>
            <a:off x="512100" y="4520775"/>
            <a:ext cx="8119800" cy="572700"/>
          </a:xfrm>
          <a:prstGeom prst="rect">
            <a:avLst/>
          </a:prstGeom>
        </p:spPr>
        <p:txBody>
          <a:bodyPr anchorCtr="0" anchor="t" bIns="91425" lIns="91425" spcFirstLastPara="1" rIns="91425" wrap="square" tIns="91425">
            <a:normAutofit/>
          </a:bodyPr>
          <a:lstStyle>
            <a:lvl1pPr indent="-317500" lvl="0" marL="457200" rtl="0" algn="ctr">
              <a:spcBef>
                <a:spcPts val="0"/>
              </a:spcBef>
              <a:spcAft>
                <a:spcPts val="0"/>
              </a:spcAft>
              <a:buSzPts val="1400"/>
              <a:buChar char="●"/>
              <a:defRPr sz="14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02700" y="27087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198500" y="124682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1"/>
              </a:buClr>
              <a:buSzPts val="1800"/>
              <a:buChar char="●"/>
              <a:defRPr sz="1800">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9" name="Google Shape;9;p1"/>
          <p:cNvSpPr/>
          <p:nvPr/>
        </p:nvSpPr>
        <p:spPr>
          <a:xfrm>
            <a:off x="0" y="1017725"/>
            <a:ext cx="9144000" cy="111600"/>
          </a:xfrm>
          <a:prstGeom prst="rect">
            <a:avLst/>
          </a:prstGeom>
          <a:gradFill>
            <a:gsLst>
              <a:gs pos="0">
                <a:schemeClr val="dk1"/>
              </a:gs>
              <a:gs pos="100000">
                <a:srgbClr val="E85C54"/>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600">
                <a:solidFill>
                  <a:schemeClr val="lt1"/>
                </a:solidFill>
              </a:rPr>
              <a:t>CSE 405</a:t>
            </a:r>
            <a:endParaRPr b="1" sz="600">
              <a:solidFill>
                <a:schemeClr val="lt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community.torproject.org/onion-services/overview/"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type="ctrTitle"/>
          </p:nvPr>
        </p:nvSpPr>
        <p:spPr>
          <a:xfrm>
            <a:off x="311700" y="1429000"/>
            <a:ext cx="8520600" cy="1410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Anonymity and Tor</a:t>
            </a:r>
            <a:endParaRPr/>
          </a:p>
        </p:txBody>
      </p:sp>
      <p:sp>
        <p:nvSpPr>
          <p:cNvPr id="65" name="Google Shape;65;p15"/>
          <p:cNvSpPr txBox="1"/>
          <p:nvPr>
            <p:ph idx="1" type="subTitle"/>
          </p:nvPr>
        </p:nvSpPr>
        <p:spPr>
          <a:xfrm>
            <a:off x="311700" y="291790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CSE 405 - Lecture 13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Outline</a:t>
            </a:r>
            <a:endParaRPr/>
          </a:p>
        </p:txBody>
      </p:sp>
      <p:sp>
        <p:nvSpPr>
          <p:cNvPr id="71" name="Google Shape;71;p1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Anonymity</a:t>
            </a:r>
            <a:endParaRPr/>
          </a:p>
          <a:p>
            <a:pPr indent="-342900" lvl="0" marL="457200" rtl="0" algn="l">
              <a:spcBef>
                <a:spcPts val="0"/>
              </a:spcBef>
              <a:spcAft>
                <a:spcPts val="0"/>
              </a:spcAft>
              <a:buSzPts val="1800"/>
              <a:buChar char="●"/>
            </a:pPr>
            <a:r>
              <a:rPr lang="en"/>
              <a:t>Proxies and VPNs</a:t>
            </a:r>
            <a:endParaRPr/>
          </a:p>
          <a:p>
            <a:pPr indent="-342900" lvl="0" marL="457200" rtl="0" algn="l">
              <a:spcBef>
                <a:spcPts val="0"/>
              </a:spcBef>
              <a:spcAft>
                <a:spcPts val="0"/>
              </a:spcAft>
              <a:buSzPts val="1800"/>
              <a:buChar char="●"/>
            </a:pPr>
            <a:r>
              <a:rPr lang="en"/>
              <a:t>Tor</a:t>
            </a:r>
            <a:endParaRPr/>
          </a:p>
          <a:p>
            <a:pPr indent="-317500" lvl="1" marL="914400" rtl="0" algn="l">
              <a:spcBef>
                <a:spcPts val="0"/>
              </a:spcBef>
              <a:spcAft>
                <a:spcPts val="0"/>
              </a:spcAft>
              <a:buSzPts val="1400"/>
              <a:buChar char="○"/>
            </a:pPr>
            <a:r>
              <a:rPr lang="en"/>
              <a:t>Weaknesses: Timing attacks</a:t>
            </a:r>
            <a:endParaRPr/>
          </a:p>
          <a:p>
            <a:pPr indent="-317500" lvl="1" marL="914400" rtl="0" algn="l">
              <a:spcBef>
                <a:spcPts val="0"/>
              </a:spcBef>
              <a:spcAft>
                <a:spcPts val="0"/>
              </a:spcAft>
              <a:buSzPts val="1400"/>
              <a:buChar char="○"/>
            </a:pPr>
            <a:r>
              <a:rPr lang="en"/>
              <a:t>Weaknesses: Collusion</a:t>
            </a:r>
            <a:endParaRPr/>
          </a:p>
          <a:p>
            <a:pPr indent="-317500" lvl="1" marL="914400" rtl="0" algn="l">
              <a:spcBef>
                <a:spcPts val="0"/>
              </a:spcBef>
              <a:spcAft>
                <a:spcPts val="0"/>
              </a:spcAft>
              <a:buSzPts val="1400"/>
              <a:buChar char="○"/>
            </a:pPr>
            <a:r>
              <a:rPr lang="en"/>
              <a:t>Weaknesses: Distinguishable traffic</a:t>
            </a:r>
            <a:endParaRPr/>
          </a:p>
          <a:p>
            <a:pPr indent="-342900" lvl="0" marL="457200" rtl="0" algn="l">
              <a:spcBef>
                <a:spcPts val="0"/>
              </a:spcBef>
              <a:spcAft>
                <a:spcPts val="0"/>
              </a:spcAft>
              <a:buSzPts val="1800"/>
              <a:buChar char="●"/>
            </a:pPr>
            <a:r>
              <a:rPr lang="en"/>
              <a:t>Tor in Practice</a:t>
            </a:r>
            <a:endParaRPr/>
          </a:p>
        </p:txBody>
      </p:sp>
      <p:sp>
        <p:nvSpPr>
          <p:cNvPr id="72" name="Google Shape;7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7"/>
          <p:cNvSpPr txBox="1"/>
          <p:nvPr>
            <p:ph type="title"/>
          </p:nvPr>
        </p:nvSpPr>
        <p:spPr>
          <a:xfrm>
            <a:off x="311700" y="15994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Anonymity</a:t>
            </a:r>
            <a:endParaRPr/>
          </a:p>
        </p:txBody>
      </p:sp>
      <p:sp>
        <p:nvSpPr>
          <p:cNvPr id="78" name="Google Shape;78;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pic>
        <p:nvPicPr>
          <p:cNvPr id="79" name="Google Shape;79;p17"/>
          <p:cNvPicPr preferRelativeResize="0"/>
          <p:nvPr/>
        </p:nvPicPr>
        <p:blipFill rotWithShape="1">
          <a:blip r:embed="rId3">
            <a:alphaModFix/>
          </a:blip>
          <a:srcRect b="0" l="14543" r="17211" t="6681"/>
          <a:stretch/>
        </p:blipFill>
        <p:spPr>
          <a:xfrm>
            <a:off x="3483575" y="2521000"/>
            <a:ext cx="2176848" cy="23152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Anonymity</a:t>
            </a:r>
            <a:endParaRPr/>
          </a:p>
        </p:txBody>
      </p:sp>
      <p:sp>
        <p:nvSpPr>
          <p:cNvPr id="85" name="Google Shape;85;p1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Anonymity</a:t>
            </a:r>
            <a:r>
              <a:rPr lang="en"/>
              <a:t>: Concealing your identity</a:t>
            </a:r>
            <a:endParaRPr/>
          </a:p>
          <a:p>
            <a:pPr indent="-317500" lvl="1" marL="914400" rtl="0" algn="l">
              <a:spcBef>
                <a:spcPts val="0"/>
              </a:spcBef>
              <a:spcAft>
                <a:spcPts val="0"/>
              </a:spcAft>
              <a:buSzPts val="1400"/>
              <a:buChar char="○"/>
            </a:pPr>
            <a:r>
              <a:rPr lang="en"/>
              <a:t>Anonymous communication on the Internet: The identity of the source and/or destination are concealed</a:t>
            </a:r>
            <a:endParaRPr/>
          </a:p>
          <a:p>
            <a:pPr indent="-342900" lvl="0" marL="457200" rtl="0" algn="l">
              <a:spcBef>
                <a:spcPts val="0"/>
              </a:spcBef>
              <a:spcAft>
                <a:spcPts val="0"/>
              </a:spcAft>
              <a:buSzPts val="1800"/>
              <a:buChar char="●"/>
            </a:pPr>
            <a:r>
              <a:rPr lang="en"/>
              <a:t>Anonymity is not confidentiality</a:t>
            </a:r>
            <a:endParaRPr/>
          </a:p>
          <a:p>
            <a:pPr indent="-317500" lvl="1" marL="914400" rtl="0" algn="l">
              <a:spcBef>
                <a:spcPts val="0"/>
              </a:spcBef>
              <a:spcAft>
                <a:spcPts val="0"/>
              </a:spcAft>
              <a:buSzPts val="1400"/>
              <a:buChar char="○"/>
            </a:pPr>
            <a:r>
              <a:rPr lang="en"/>
              <a:t>Confidentiality hides the contents of the communication</a:t>
            </a:r>
            <a:endParaRPr/>
          </a:p>
          <a:p>
            <a:pPr indent="-317500" lvl="1" marL="914400" rtl="0" algn="l">
              <a:spcBef>
                <a:spcPts val="0"/>
              </a:spcBef>
              <a:spcAft>
                <a:spcPts val="0"/>
              </a:spcAft>
              <a:buSzPts val="1400"/>
              <a:buChar char="○"/>
            </a:pPr>
            <a:r>
              <a:rPr lang="en"/>
              <a:t>Anonymity hides the identities of who is communicating with whom</a:t>
            </a:r>
            <a:endParaRPr/>
          </a:p>
        </p:txBody>
      </p:sp>
      <p:sp>
        <p:nvSpPr>
          <p:cNvPr id="86" name="Google Shape;8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Anonymity on the Internet</a:t>
            </a:r>
            <a:endParaRPr/>
          </a:p>
        </p:txBody>
      </p:sp>
      <p:sp>
        <p:nvSpPr>
          <p:cNvPr id="92" name="Google Shape;92;p1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Anonymity on the Internet is hard</a:t>
            </a:r>
            <a:endParaRPr/>
          </a:p>
          <a:p>
            <a:pPr indent="-317500" lvl="1" marL="914400" rtl="0" algn="l">
              <a:spcBef>
                <a:spcPts val="0"/>
              </a:spcBef>
              <a:spcAft>
                <a:spcPts val="0"/>
              </a:spcAft>
              <a:buSzPts val="1400"/>
              <a:buChar char="○"/>
            </a:pPr>
            <a:r>
              <a:rPr lang="en"/>
              <a:t>Difficult, if not impossible, to achieve on your own</a:t>
            </a:r>
            <a:endParaRPr/>
          </a:p>
          <a:p>
            <a:pPr indent="-317500" lvl="1" marL="914400" rtl="0" algn="l">
              <a:spcBef>
                <a:spcPts val="0"/>
              </a:spcBef>
              <a:spcAft>
                <a:spcPts val="0"/>
              </a:spcAft>
              <a:buSzPts val="1400"/>
              <a:buChar char="○"/>
            </a:pPr>
            <a:r>
              <a:rPr lang="en"/>
              <a:t>Packets contain the source IP address and destination IP address</a:t>
            </a:r>
            <a:endParaRPr/>
          </a:p>
          <a:p>
            <a:pPr indent="-342900" lvl="0" marL="457200" rtl="0" algn="l">
              <a:spcBef>
                <a:spcPts val="0"/>
              </a:spcBef>
              <a:spcAft>
                <a:spcPts val="0"/>
              </a:spcAft>
              <a:buSzPts val="1800"/>
              <a:buChar char="●"/>
            </a:pPr>
            <a:r>
              <a:rPr lang="en"/>
              <a:t>Anonymity is easier for attackers</a:t>
            </a:r>
            <a:endParaRPr/>
          </a:p>
          <a:p>
            <a:pPr indent="-317500" lvl="1" marL="914400" rtl="0" algn="l">
              <a:spcBef>
                <a:spcPts val="0"/>
              </a:spcBef>
              <a:spcAft>
                <a:spcPts val="0"/>
              </a:spcAft>
              <a:buSzPts val="1400"/>
              <a:buChar char="○"/>
            </a:pPr>
            <a:r>
              <a:rPr lang="en"/>
              <a:t>An attacker can hack into someone else’s computer and send communications from that computer</a:t>
            </a:r>
            <a:endParaRPr/>
          </a:p>
          <a:p>
            <a:pPr indent="-317500" lvl="1" marL="914400" rtl="0" algn="l">
              <a:spcBef>
                <a:spcPts val="0"/>
              </a:spcBef>
              <a:spcAft>
                <a:spcPts val="0"/>
              </a:spcAft>
              <a:buSzPts val="1400"/>
              <a:buChar char="○"/>
            </a:pPr>
            <a:r>
              <a:rPr lang="en"/>
              <a:t>We assume honest users won’t hack into other computers</a:t>
            </a:r>
            <a:endParaRPr/>
          </a:p>
          <a:p>
            <a:pPr indent="-342900" lvl="0" marL="457200" rtl="0" algn="l">
              <a:spcBef>
                <a:spcPts val="0"/>
              </a:spcBef>
              <a:spcAft>
                <a:spcPts val="0"/>
              </a:spcAft>
              <a:buSzPts val="1800"/>
              <a:buChar char="●"/>
            </a:pPr>
            <a:r>
              <a:rPr lang="en"/>
              <a:t>Main strategy for anonymity: Ask someone else to send messages for you</a:t>
            </a:r>
            <a:endParaRPr/>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Proxies and VPNs</a:t>
            </a:r>
            <a:endParaRPr/>
          </a:p>
        </p:txBody>
      </p:sp>
      <p:sp>
        <p:nvSpPr>
          <p:cNvPr id="99" name="Google Shape;9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Proxies</a:t>
            </a:r>
            <a:endParaRPr/>
          </a:p>
        </p:txBody>
      </p:sp>
      <p:sp>
        <p:nvSpPr>
          <p:cNvPr id="105" name="Google Shape;105;p21"/>
          <p:cNvSpPr txBox="1"/>
          <p:nvPr>
            <p:ph idx="1" type="body"/>
          </p:nvPr>
        </p:nvSpPr>
        <p:spPr>
          <a:xfrm>
            <a:off x="198500" y="1170625"/>
            <a:ext cx="8520600" cy="3178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Alice wants to send a message to Bob</a:t>
            </a:r>
            <a:endParaRPr/>
          </a:p>
          <a:p>
            <a:pPr indent="-317500" lvl="1" marL="914400" rtl="0" algn="l">
              <a:spcBef>
                <a:spcPts val="0"/>
              </a:spcBef>
              <a:spcAft>
                <a:spcPts val="0"/>
              </a:spcAft>
              <a:buSzPts val="1400"/>
              <a:buChar char="○"/>
            </a:pPr>
            <a:r>
              <a:rPr lang="en"/>
              <a:t>Bob shouldn’t know the message is from Alice</a:t>
            </a:r>
            <a:endParaRPr/>
          </a:p>
          <a:p>
            <a:pPr indent="-317500" lvl="1" marL="914400" rtl="0" algn="l">
              <a:spcBef>
                <a:spcPts val="0"/>
              </a:spcBef>
              <a:spcAft>
                <a:spcPts val="0"/>
              </a:spcAft>
              <a:buSzPts val="1400"/>
              <a:buChar char="○"/>
            </a:pPr>
            <a:r>
              <a:rPr lang="en"/>
              <a:t>An eavesdropper (Eve) cannot deduce that Alice is talking to Bob</a:t>
            </a:r>
            <a:endParaRPr/>
          </a:p>
          <a:p>
            <a:pPr indent="-342900" lvl="0" marL="457200" rtl="0" algn="l">
              <a:spcBef>
                <a:spcPts val="0"/>
              </a:spcBef>
              <a:spcAft>
                <a:spcPts val="0"/>
              </a:spcAft>
              <a:buSzPts val="1800"/>
              <a:buChar char="●"/>
            </a:pPr>
            <a:r>
              <a:rPr b="1" lang="en"/>
              <a:t>Proxy</a:t>
            </a:r>
            <a:r>
              <a:rPr lang="en"/>
              <a:t>: A third party that relays our Internet traffic</a:t>
            </a:r>
            <a:endParaRPr/>
          </a:p>
          <a:p>
            <a:pPr indent="-317500" lvl="1" marL="914400" rtl="0" algn="l">
              <a:spcBef>
                <a:spcPts val="0"/>
              </a:spcBef>
              <a:spcAft>
                <a:spcPts val="0"/>
              </a:spcAft>
              <a:buSzPts val="1400"/>
              <a:buChar char="○"/>
            </a:pPr>
            <a:r>
              <a:rPr lang="en"/>
              <a:t>Alice sends the message and the recipient (Bob) to the proxy, and the proxy forwards the message to Bob</a:t>
            </a:r>
            <a:endParaRPr/>
          </a:p>
          <a:p>
            <a:pPr indent="-317500" lvl="2" marL="1371600" rtl="0" algn="l">
              <a:spcBef>
                <a:spcPts val="0"/>
              </a:spcBef>
              <a:spcAft>
                <a:spcPts val="0"/>
              </a:spcAft>
              <a:buSzPts val="1400"/>
              <a:buChar char="■"/>
            </a:pPr>
            <a:r>
              <a:rPr lang="en"/>
              <a:t>The recipient’s name (and optionally the message) is encrypted, so an eavesdropper does not see a packet with both Alice and Bob’s identities in plaintext</a:t>
            </a:r>
            <a:endParaRPr/>
          </a:p>
          <a:p>
            <a:pPr indent="-317500" lvl="1" marL="914400" rtl="0" algn="l">
              <a:spcBef>
                <a:spcPts val="0"/>
              </a:spcBef>
              <a:spcAft>
                <a:spcPts val="0"/>
              </a:spcAft>
              <a:buSzPts val="1400"/>
              <a:buChar char="○"/>
            </a:pPr>
            <a:r>
              <a:rPr lang="en"/>
              <a:t>Bob receives the message from the proxy, with no indication it came from Alice</a:t>
            </a:r>
            <a:endParaRPr/>
          </a:p>
        </p:txBody>
      </p:sp>
      <p:sp>
        <p:nvSpPr>
          <p:cNvPr id="106" name="Google Shape;106;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07" name="Google Shape;107;p21"/>
          <p:cNvSpPr/>
          <p:nvPr/>
        </p:nvSpPr>
        <p:spPr>
          <a:xfrm>
            <a:off x="470975"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108" name="Google Shape;108;p21"/>
          <p:cNvSpPr/>
          <p:nvPr/>
        </p:nvSpPr>
        <p:spPr>
          <a:xfrm>
            <a:off x="3846250"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Proxy</a:t>
            </a:r>
            <a:endParaRPr/>
          </a:p>
        </p:txBody>
      </p:sp>
      <p:sp>
        <p:nvSpPr>
          <p:cNvPr id="109" name="Google Shape;109;p21"/>
          <p:cNvSpPr/>
          <p:nvPr/>
        </p:nvSpPr>
        <p:spPr>
          <a:xfrm>
            <a:off x="7221525"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cxnSp>
        <p:nvCxnSpPr>
          <p:cNvPr id="110" name="Google Shape;110;p21"/>
          <p:cNvCxnSpPr/>
          <p:nvPr/>
        </p:nvCxnSpPr>
        <p:spPr>
          <a:xfrm>
            <a:off x="1436075" y="4774700"/>
            <a:ext cx="2410200" cy="0"/>
          </a:xfrm>
          <a:prstGeom prst="straightConnector1">
            <a:avLst/>
          </a:prstGeom>
          <a:noFill/>
          <a:ln cap="flat" cmpd="sng" w="19050">
            <a:solidFill>
              <a:schemeClr val="dk2"/>
            </a:solidFill>
            <a:prstDash val="solid"/>
            <a:round/>
            <a:headEnd len="med" w="med" type="none"/>
            <a:tailEnd len="med" w="med" type="triangle"/>
          </a:ln>
        </p:spPr>
      </p:cxnSp>
      <p:cxnSp>
        <p:nvCxnSpPr>
          <p:cNvPr id="111" name="Google Shape;111;p21"/>
          <p:cNvCxnSpPr/>
          <p:nvPr/>
        </p:nvCxnSpPr>
        <p:spPr>
          <a:xfrm>
            <a:off x="4811350" y="4774700"/>
            <a:ext cx="2410200" cy="0"/>
          </a:xfrm>
          <a:prstGeom prst="straightConnector1">
            <a:avLst/>
          </a:prstGeom>
          <a:noFill/>
          <a:ln cap="flat" cmpd="sng" w="19050">
            <a:solidFill>
              <a:schemeClr val="dk2"/>
            </a:solidFill>
            <a:prstDash val="solid"/>
            <a:round/>
            <a:headEnd len="med" w="med" type="none"/>
            <a:tailEnd len="med" w="med" type="triangle"/>
          </a:ln>
        </p:spPr>
      </p:cxnSp>
      <p:graphicFrame>
        <p:nvGraphicFramePr>
          <p:cNvPr id="112" name="Google Shape;112;p21"/>
          <p:cNvGraphicFramePr/>
          <p:nvPr/>
        </p:nvGraphicFramePr>
        <p:xfrm>
          <a:off x="1640125" y="3890250"/>
          <a:ext cx="3000000" cy="3000000"/>
        </p:xfrm>
        <a:graphic>
          <a:graphicData uri="http://schemas.openxmlformats.org/drawingml/2006/table">
            <a:tbl>
              <a:tblPr>
                <a:noFill/>
                <a:tableStyleId>{2957E359-049A-455A-BB7E-DE297C550A72}</a:tableStyleId>
              </a:tblPr>
              <a:tblGrid>
                <a:gridCol w="1014975"/>
                <a:gridCol w="987100"/>
              </a:tblGrid>
              <a:tr h="258575">
                <a:tc>
                  <a:txBody>
                    <a:bodyPr/>
                    <a:lstStyle/>
                    <a:p>
                      <a:pPr indent="0" lvl="0" marL="0" rtl="0" algn="l">
                        <a:spcBef>
                          <a:spcPts val="0"/>
                        </a:spcBef>
                        <a:spcAft>
                          <a:spcPts val="0"/>
                        </a:spcAft>
                        <a:buNone/>
                      </a:pPr>
                      <a:r>
                        <a:rPr lang="en" sz="1200"/>
                        <a:t>From: Alice</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To: Proxy</a:t>
                      </a:r>
                      <a:endParaRPr sz="1200"/>
                    </a:p>
                  </a:txBody>
                  <a:tcPr marT="91425" marB="91425" marR="91425" marL="91425">
                    <a:solidFill>
                      <a:schemeClr val="lt1"/>
                    </a:solidFill>
                  </a:tcPr>
                </a:tc>
              </a:tr>
              <a:tr h="281075">
                <a:tc gridSpan="2">
                  <a:txBody>
                    <a:bodyPr/>
                    <a:lstStyle/>
                    <a:p>
                      <a:pPr indent="0" lvl="0" marL="0" rtl="0" algn="l">
                        <a:spcBef>
                          <a:spcPts val="0"/>
                        </a:spcBef>
                        <a:spcAft>
                          <a:spcPts val="0"/>
                        </a:spcAft>
                        <a:buNone/>
                      </a:pPr>
                      <a:r>
                        <a:rPr lang="en" sz="1200"/>
                        <a:t> </a:t>
                      </a:r>
                      <a:r>
                        <a:rPr lang="en" sz="1200"/>
                        <a:t>Message, Bob</a:t>
                      </a:r>
                      <a:endParaRPr sz="800"/>
                    </a:p>
                  </a:txBody>
                  <a:tcPr marT="91425" marB="91425" marR="91425" marL="91425">
                    <a:solidFill>
                      <a:schemeClr val="lt1"/>
                    </a:solidFill>
                  </a:tcPr>
                </a:tc>
                <a:tc hMerge="1"/>
              </a:tr>
            </a:tbl>
          </a:graphicData>
        </a:graphic>
      </p:graphicFrame>
      <p:graphicFrame>
        <p:nvGraphicFramePr>
          <p:cNvPr id="113" name="Google Shape;113;p21"/>
          <p:cNvGraphicFramePr/>
          <p:nvPr/>
        </p:nvGraphicFramePr>
        <p:xfrm>
          <a:off x="5015400" y="3890250"/>
          <a:ext cx="3000000" cy="3000000"/>
        </p:xfrm>
        <a:graphic>
          <a:graphicData uri="http://schemas.openxmlformats.org/drawingml/2006/table">
            <a:tbl>
              <a:tblPr>
                <a:noFill/>
                <a:tableStyleId>{2957E359-049A-455A-BB7E-DE297C550A72}</a:tableStyleId>
              </a:tblPr>
              <a:tblGrid>
                <a:gridCol w="1014975"/>
                <a:gridCol w="987100"/>
              </a:tblGrid>
              <a:tr h="258575">
                <a:tc>
                  <a:txBody>
                    <a:bodyPr/>
                    <a:lstStyle/>
                    <a:p>
                      <a:pPr indent="0" lvl="0" marL="0" rtl="0" algn="l">
                        <a:spcBef>
                          <a:spcPts val="0"/>
                        </a:spcBef>
                        <a:spcAft>
                          <a:spcPts val="0"/>
                        </a:spcAft>
                        <a:buNone/>
                      </a:pPr>
                      <a:r>
                        <a:rPr lang="en" sz="1200"/>
                        <a:t>From: Proxy</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To: Bob</a:t>
                      </a:r>
                      <a:endParaRPr sz="1200"/>
                    </a:p>
                  </a:txBody>
                  <a:tcPr marT="91425" marB="91425" marR="91425" marL="91425">
                    <a:solidFill>
                      <a:schemeClr val="lt1"/>
                    </a:solidFill>
                  </a:tcPr>
                </a:tc>
              </a:tr>
              <a:tr h="271700">
                <a:tc gridSpan="2">
                  <a:txBody>
                    <a:bodyPr/>
                    <a:lstStyle/>
                    <a:p>
                      <a:pPr indent="0" lvl="0" marL="0" rtl="0" algn="l">
                        <a:spcBef>
                          <a:spcPts val="0"/>
                        </a:spcBef>
                        <a:spcAft>
                          <a:spcPts val="0"/>
                        </a:spcAft>
                        <a:buNone/>
                      </a:pPr>
                      <a:r>
                        <a:rPr lang="en" sz="1200"/>
                        <a:t>Message</a:t>
                      </a:r>
                      <a:endParaRPr sz="1200"/>
                    </a:p>
                  </a:txBody>
                  <a:tcPr marT="91425" marB="91425" marR="91425" marL="91425">
                    <a:solidFill>
                      <a:schemeClr val="lt1"/>
                    </a:solidFill>
                  </a:tcPr>
                </a:tc>
                <a:tc hMerge="1"/>
              </a:tr>
            </a:tbl>
          </a:graphicData>
        </a:graphic>
      </p:graphicFrame>
      <p:sp>
        <p:nvSpPr>
          <p:cNvPr id="114" name="Google Shape;114;p21"/>
          <p:cNvSpPr txBox="1"/>
          <p:nvPr/>
        </p:nvSpPr>
        <p:spPr>
          <a:xfrm>
            <a:off x="1628900" y="4255975"/>
            <a:ext cx="200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t>
            </a:r>
            <a:r>
              <a:rPr lang="en" sz="1200">
                <a:solidFill>
                  <a:schemeClr val="dk1"/>
                </a:solidFill>
              </a:rPr>
              <a:t>Message, Bob</a:t>
            </a:r>
            <a:r>
              <a:rPr lang="en" sz="1200">
                <a:solidFill>
                  <a:srgbClr val="0000FF"/>
                </a:solidFill>
              </a:rPr>
              <a:t>}</a:t>
            </a:r>
            <a:r>
              <a:rPr lang="en" sz="1000">
                <a:solidFill>
                  <a:srgbClr val="0000FF"/>
                </a:solidFill>
              </a:rPr>
              <a:t>K</a:t>
            </a:r>
            <a:r>
              <a:rPr lang="en" sz="800">
                <a:solidFill>
                  <a:srgbClr val="0000FF"/>
                </a:solidFill>
              </a:rPr>
              <a:t>proxy</a:t>
            </a:r>
            <a:endParaRPr>
              <a:solidFill>
                <a:srgbClr val="0000FF"/>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Virtual Private Networks (VPNs)</a:t>
            </a:r>
            <a:endParaRPr/>
          </a:p>
        </p:txBody>
      </p:sp>
      <p:sp>
        <p:nvSpPr>
          <p:cNvPr id="120" name="Google Shape;120;p2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VPNs: A virtual connection to an internal network</a:t>
            </a:r>
            <a:endParaRPr/>
          </a:p>
          <a:p>
            <a:pPr indent="-317500" lvl="1" marL="914400" rtl="0" algn="l">
              <a:spcBef>
                <a:spcPts val="0"/>
              </a:spcBef>
              <a:spcAft>
                <a:spcPts val="0"/>
              </a:spcAft>
              <a:buSzPts val="1400"/>
              <a:buChar char="○"/>
            </a:pPr>
            <a:r>
              <a:rPr lang="en"/>
              <a:t>Allows access to an internal network through an encrypted tunnel</a:t>
            </a:r>
            <a:endParaRPr/>
          </a:p>
          <a:p>
            <a:pPr indent="-317500" lvl="1" marL="914400" rtl="0" algn="l">
              <a:spcBef>
                <a:spcPts val="0"/>
              </a:spcBef>
              <a:spcAft>
                <a:spcPts val="0"/>
              </a:spcAft>
              <a:buSzPts val="1400"/>
              <a:buChar char="○"/>
            </a:pPr>
            <a:r>
              <a:rPr lang="en"/>
              <a:t>Creates an alternative use case: Appear as though you are coming from the virtually connected network instead of your real network!</a:t>
            </a:r>
            <a:endParaRPr/>
          </a:p>
          <a:p>
            <a:pPr indent="-317500" lvl="2" marL="1371600" rtl="0" algn="l">
              <a:spcBef>
                <a:spcPts val="0"/>
              </a:spcBef>
              <a:spcAft>
                <a:spcPts val="0"/>
              </a:spcAft>
              <a:buSzPts val="1400"/>
              <a:buChar char="■"/>
            </a:pPr>
            <a:r>
              <a:rPr lang="en"/>
              <a:t>Similar concept to proxies, but Alice directly sends packets as though coming from the VPN, wrapped in the VPN’s layer of encryption</a:t>
            </a:r>
            <a:endParaRPr/>
          </a:p>
          <a:p>
            <a:pPr indent="-317500" lvl="2" marL="1371600" rtl="0" algn="l">
              <a:spcBef>
                <a:spcPts val="0"/>
              </a:spcBef>
              <a:spcAft>
                <a:spcPts val="0"/>
              </a:spcAft>
              <a:buSzPts val="1400"/>
              <a:buChar char="■"/>
            </a:pPr>
            <a:r>
              <a:rPr b="1" lang="en"/>
              <a:t>Proxies operate at the application layer, while VPNs operate at the network layer</a:t>
            </a:r>
            <a:endParaRPr b="1"/>
          </a:p>
        </p:txBody>
      </p:sp>
      <p:sp>
        <p:nvSpPr>
          <p:cNvPr id="121" name="Google Shape;121;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22" name="Google Shape;122;p22"/>
          <p:cNvSpPr/>
          <p:nvPr/>
        </p:nvSpPr>
        <p:spPr>
          <a:xfrm>
            <a:off x="470975"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123" name="Google Shape;123;p22"/>
          <p:cNvSpPr/>
          <p:nvPr/>
        </p:nvSpPr>
        <p:spPr>
          <a:xfrm>
            <a:off x="3846250"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VPN</a:t>
            </a:r>
            <a:endParaRPr/>
          </a:p>
        </p:txBody>
      </p:sp>
      <p:sp>
        <p:nvSpPr>
          <p:cNvPr id="124" name="Google Shape;124;p22"/>
          <p:cNvSpPr/>
          <p:nvPr/>
        </p:nvSpPr>
        <p:spPr>
          <a:xfrm>
            <a:off x="7221525"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cxnSp>
        <p:nvCxnSpPr>
          <p:cNvPr id="125" name="Google Shape;125;p22"/>
          <p:cNvCxnSpPr/>
          <p:nvPr/>
        </p:nvCxnSpPr>
        <p:spPr>
          <a:xfrm>
            <a:off x="1436063" y="4695275"/>
            <a:ext cx="2410200" cy="0"/>
          </a:xfrm>
          <a:prstGeom prst="straightConnector1">
            <a:avLst/>
          </a:prstGeom>
          <a:noFill/>
          <a:ln cap="flat" cmpd="sng" w="19050">
            <a:solidFill>
              <a:schemeClr val="dk2"/>
            </a:solidFill>
            <a:prstDash val="dash"/>
            <a:round/>
            <a:headEnd len="med" w="med" type="none"/>
            <a:tailEnd len="med" w="med" type="none"/>
          </a:ln>
        </p:spPr>
      </p:cxnSp>
      <p:cxnSp>
        <p:nvCxnSpPr>
          <p:cNvPr id="126" name="Google Shape;126;p22"/>
          <p:cNvCxnSpPr/>
          <p:nvPr/>
        </p:nvCxnSpPr>
        <p:spPr>
          <a:xfrm>
            <a:off x="1434200" y="4774700"/>
            <a:ext cx="5787300" cy="0"/>
          </a:xfrm>
          <a:prstGeom prst="straightConnector1">
            <a:avLst/>
          </a:prstGeom>
          <a:noFill/>
          <a:ln cap="flat" cmpd="sng" w="19050">
            <a:solidFill>
              <a:schemeClr val="dk2"/>
            </a:solidFill>
            <a:prstDash val="solid"/>
            <a:round/>
            <a:headEnd len="med" w="med" type="none"/>
            <a:tailEnd len="med" w="med" type="triangle"/>
          </a:ln>
        </p:spPr>
      </p:cxnSp>
      <p:sp>
        <p:nvSpPr>
          <p:cNvPr id="127" name="Google Shape;127;p22"/>
          <p:cNvSpPr/>
          <p:nvPr/>
        </p:nvSpPr>
        <p:spPr>
          <a:xfrm>
            <a:off x="1516750" y="3631825"/>
            <a:ext cx="2248800" cy="9435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28" name="Google Shape;128;p22"/>
          <p:cNvGraphicFramePr/>
          <p:nvPr/>
        </p:nvGraphicFramePr>
        <p:xfrm>
          <a:off x="1640125" y="3737850"/>
          <a:ext cx="3000000" cy="3000000"/>
        </p:xfrm>
        <a:graphic>
          <a:graphicData uri="http://schemas.openxmlformats.org/drawingml/2006/table">
            <a:tbl>
              <a:tblPr>
                <a:noFill/>
                <a:tableStyleId>{2957E359-049A-455A-BB7E-DE297C550A72}</a:tableStyleId>
              </a:tblPr>
              <a:tblGrid>
                <a:gridCol w="1014975"/>
                <a:gridCol w="987100"/>
              </a:tblGrid>
              <a:tr h="258575">
                <a:tc>
                  <a:txBody>
                    <a:bodyPr/>
                    <a:lstStyle/>
                    <a:p>
                      <a:pPr indent="0" lvl="0" marL="0" rtl="0" algn="l">
                        <a:spcBef>
                          <a:spcPts val="0"/>
                        </a:spcBef>
                        <a:spcAft>
                          <a:spcPts val="0"/>
                        </a:spcAft>
                        <a:buNone/>
                      </a:pPr>
                      <a:r>
                        <a:rPr lang="en" sz="1200"/>
                        <a:t>From: VPN</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To: </a:t>
                      </a:r>
                      <a:r>
                        <a:rPr lang="en" sz="1200">
                          <a:solidFill>
                            <a:schemeClr val="dk1"/>
                          </a:solidFill>
                        </a:rPr>
                        <a:t>Bob</a:t>
                      </a:r>
                      <a:endParaRPr sz="1200"/>
                    </a:p>
                  </a:txBody>
                  <a:tcPr marT="91425" marB="91425" marR="91425" marL="91425">
                    <a:solidFill>
                      <a:schemeClr val="lt1"/>
                    </a:solidFill>
                  </a:tcPr>
                </a:tc>
              </a:tr>
              <a:tr h="281075">
                <a:tc gridSpan="2">
                  <a:txBody>
                    <a:bodyPr/>
                    <a:lstStyle/>
                    <a:p>
                      <a:pPr indent="0" lvl="0" marL="0" rtl="0" algn="l">
                        <a:spcBef>
                          <a:spcPts val="0"/>
                        </a:spcBef>
                        <a:spcAft>
                          <a:spcPts val="0"/>
                        </a:spcAft>
                        <a:buNone/>
                      </a:pPr>
                      <a:r>
                        <a:rPr lang="en" sz="1200"/>
                        <a:t>Message</a:t>
                      </a:r>
                      <a:endParaRPr sz="800"/>
                    </a:p>
                  </a:txBody>
                  <a:tcPr marT="91425" marB="91425" marR="91425" marL="91425">
                    <a:solidFill>
                      <a:schemeClr val="lt1"/>
                    </a:solidFill>
                  </a:tcPr>
                </a:tc>
                <a:tc hMerge="1"/>
              </a:tr>
            </a:tbl>
          </a:graphicData>
        </a:graphic>
      </p:graphicFrame>
      <p:graphicFrame>
        <p:nvGraphicFramePr>
          <p:cNvPr id="129" name="Google Shape;129;p22"/>
          <p:cNvGraphicFramePr/>
          <p:nvPr/>
        </p:nvGraphicFramePr>
        <p:xfrm>
          <a:off x="5015400" y="3890250"/>
          <a:ext cx="3000000" cy="3000000"/>
        </p:xfrm>
        <a:graphic>
          <a:graphicData uri="http://schemas.openxmlformats.org/drawingml/2006/table">
            <a:tbl>
              <a:tblPr>
                <a:noFill/>
                <a:tableStyleId>{2957E359-049A-455A-BB7E-DE297C550A72}</a:tableStyleId>
              </a:tblPr>
              <a:tblGrid>
                <a:gridCol w="1014975"/>
                <a:gridCol w="987100"/>
              </a:tblGrid>
              <a:tr h="258575">
                <a:tc>
                  <a:txBody>
                    <a:bodyPr/>
                    <a:lstStyle/>
                    <a:p>
                      <a:pPr indent="0" lvl="0" marL="0" rtl="0" algn="l">
                        <a:spcBef>
                          <a:spcPts val="0"/>
                        </a:spcBef>
                        <a:spcAft>
                          <a:spcPts val="0"/>
                        </a:spcAft>
                        <a:buNone/>
                      </a:pPr>
                      <a:r>
                        <a:rPr lang="en" sz="1200"/>
                        <a:t>From: </a:t>
                      </a:r>
                      <a:r>
                        <a:rPr lang="en" sz="1200">
                          <a:solidFill>
                            <a:schemeClr val="dk1"/>
                          </a:solidFill>
                        </a:rPr>
                        <a:t>VPN</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To: Bob</a:t>
                      </a:r>
                      <a:endParaRPr sz="1200"/>
                    </a:p>
                  </a:txBody>
                  <a:tcPr marT="91425" marB="91425" marR="91425" marL="91425">
                    <a:solidFill>
                      <a:schemeClr val="lt1"/>
                    </a:solidFill>
                  </a:tcPr>
                </a:tc>
              </a:tr>
              <a:tr h="271700">
                <a:tc gridSpan="2">
                  <a:txBody>
                    <a:bodyPr/>
                    <a:lstStyle/>
                    <a:p>
                      <a:pPr indent="0" lvl="0" marL="0" rtl="0" algn="l">
                        <a:spcBef>
                          <a:spcPts val="0"/>
                        </a:spcBef>
                        <a:spcAft>
                          <a:spcPts val="0"/>
                        </a:spcAft>
                        <a:buNone/>
                      </a:pPr>
                      <a:r>
                        <a:rPr lang="en" sz="1200"/>
                        <a:t>Message</a:t>
                      </a:r>
                      <a:endParaRPr sz="1200"/>
                    </a:p>
                  </a:txBody>
                  <a:tcPr marT="91425" marB="91425" marR="91425" marL="91425">
                    <a:solidFill>
                      <a:schemeClr val="lt1"/>
                    </a:solidFill>
                  </a:tcPr>
                </a:tc>
                <a:tc hMerge="1"/>
              </a:tr>
            </a:tbl>
          </a:graphicData>
        </a:graphic>
      </p:graphicFrame>
      <p:cxnSp>
        <p:nvCxnSpPr>
          <p:cNvPr id="130" name="Google Shape;130;p22"/>
          <p:cNvCxnSpPr/>
          <p:nvPr/>
        </p:nvCxnSpPr>
        <p:spPr>
          <a:xfrm>
            <a:off x="1436063" y="4860025"/>
            <a:ext cx="2410200" cy="0"/>
          </a:xfrm>
          <a:prstGeom prst="straightConnector1">
            <a:avLst/>
          </a:prstGeom>
          <a:noFill/>
          <a:ln cap="flat" cmpd="sng" w="19050">
            <a:solidFill>
              <a:schemeClr val="dk2"/>
            </a:solidFill>
            <a:prstDash val="dash"/>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Proxies and VPNs: Issues</a:t>
            </a:r>
            <a:endParaRPr/>
          </a:p>
        </p:txBody>
      </p:sp>
      <p:sp>
        <p:nvSpPr>
          <p:cNvPr id="136" name="Google Shape;136;p2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Performance</a:t>
            </a:r>
            <a:endParaRPr/>
          </a:p>
          <a:p>
            <a:pPr indent="-317500" lvl="1" marL="914400" rtl="0" algn="l">
              <a:spcBef>
                <a:spcPts val="0"/>
              </a:spcBef>
              <a:spcAft>
                <a:spcPts val="0"/>
              </a:spcAft>
              <a:buSzPts val="1400"/>
              <a:buChar char="○"/>
            </a:pPr>
            <a:r>
              <a:rPr lang="en"/>
              <a:t>Sending a packet requires additional hops across the network</a:t>
            </a:r>
            <a:endParaRPr/>
          </a:p>
          <a:p>
            <a:pPr indent="-342900" lvl="0" marL="457200" rtl="0" algn="l">
              <a:spcBef>
                <a:spcPts val="0"/>
              </a:spcBef>
              <a:spcAft>
                <a:spcPts val="0"/>
              </a:spcAft>
              <a:buSzPts val="1800"/>
              <a:buChar char="●"/>
            </a:pPr>
            <a:r>
              <a:rPr lang="en"/>
              <a:t>Cost</a:t>
            </a:r>
            <a:endParaRPr/>
          </a:p>
          <a:p>
            <a:pPr indent="-317500" lvl="1" marL="914400" rtl="0" algn="l">
              <a:spcBef>
                <a:spcPts val="0"/>
              </a:spcBef>
              <a:spcAft>
                <a:spcPts val="0"/>
              </a:spcAft>
              <a:buSzPts val="1400"/>
              <a:buChar char="○"/>
            </a:pPr>
            <a:r>
              <a:rPr lang="en"/>
              <a:t>VPNs can cost $80 to $200 per year</a:t>
            </a:r>
            <a:endParaRPr/>
          </a:p>
          <a:p>
            <a:pPr indent="-342900" lvl="0" marL="457200" rtl="0" algn="l">
              <a:spcBef>
                <a:spcPts val="0"/>
              </a:spcBef>
              <a:spcAft>
                <a:spcPts val="0"/>
              </a:spcAft>
              <a:buSzPts val="1800"/>
              <a:buChar char="●"/>
            </a:pPr>
            <a:r>
              <a:rPr lang="en"/>
              <a:t>Trusting the proxy</a:t>
            </a:r>
            <a:endParaRPr/>
          </a:p>
          <a:p>
            <a:pPr indent="-317500" lvl="1" marL="914400" rtl="0" algn="l">
              <a:spcBef>
                <a:spcPts val="0"/>
              </a:spcBef>
              <a:spcAft>
                <a:spcPts val="0"/>
              </a:spcAft>
              <a:buSzPts val="1400"/>
              <a:buChar char="○"/>
            </a:pPr>
            <a:r>
              <a:rPr lang="en"/>
              <a:t>The proxy can see the sender and recipient’s identities</a:t>
            </a:r>
            <a:endParaRPr/>
          </a:p>
          <a:p>
            <a:pPr indent="-317500" lvl="1" marL="914400" rtl="0" algn="l">
              <a:spcBef>
                <a:spcPts val="0"/>
              </a:spcBef>
              <a:spcAft>
                <a:spcPts val="0"/>
              </a:spcAft>
              <a:buSzPts val="1400"/>
              <a:buChar char="○"/>
            </a:pPr>
            <a:r>
              <a:rPr lang="en"/>
              <a:t>Attackers</a:t>
            </a:r>
            <a:r>
              <a:rPr lang="en"/>
              <a:t> might convince the proxy to tell them about your identity</a:t>
            </a:r>
            <a:endParaRPr/>
          </a:p>
        </p:txBody>
      </p:sp>
      <p:sp>
        <p:nvSpPr>
          <p:cNvPr id="137" name="Google Shape;137;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Tor</a:t>
            </a:r>
            <a:endParaRPr/>
          </a:p>
        </p:txBody>
      </p:sp>
      <p:sp>
        <p:nvSpPr>
          <p:cNvPr id="143" name="Google Shape;143;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a:t>
            </a:r>
            <a:endParaRPr/>
          </a:p>
        </p:txBody>
      </p:sp>
      <p:sp>
        <p:nvSpPr>
          <p:cNvPr id="149" name="Google Shape;149;p2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Idea: Send the packet through multiple proxies instead of just one proxy</a:t>
            </a:r>
            <a:endParaRPr/>
          </a:p>
          <a:p>
            <a:pPr indent="-342900" lvl="0" marL="457200" rtl="0" algn="l">
              <a:spcBef>
                <a:spcPts val="0"/>
              </a:spcBef>
              <a:spcAft>
                <a:spcPts val="0"/>
              </a:spcAft>
              <a:buSzPts val="1800"/>
              <a:buChar char="●"/>
            </a:pPr>
            <a:r>
              <a:rPr b="1" lang="en"/>
              <a:t>Tor</a:t>
            </a:r>
            <a:r>
              <a:rPr lang="en"/>
              <a:t>: A network that uses multiple proxies (relays) to enable anonymous communications</a:t>
            </a:r>
            <a:endParaRPr/>
          </a:p>
          <a:p>
            <a:pPr indent="-317500" lvl="1" marL="914400" rtl="0" algn="l">
              <a:spcBef>
                <a:spcPts val="0"/>
              </a:spcBef>
              <a:spcAft>
                <a:spcPts val="0"/>
              </a:spcAft>
              <a:buSzPts val="1400"/>
              <a:buChar char="○"/>
            </a:pPr>
            <a:r>
              <a:rPr lang="en"/>
              <a:t>Stands for </a:t>
            </a:r>
            <a:r>
              <a:rPr b="1" lang="en"/>
              <a:t>T</a:t>
            </a:r>
            <a:r>
              <a:rPr lang="en"/>
              <a:t>he </a:t>
            </a:r>
            <a:r>
              <a:rPr b="1" lang="en"/>
              <a:t>O</a:t>
            </a:r>
            <a:r>
              <a:rPr lang="en"/>
              <a:t>nion </a:t>
            </a:r>
            <a:r>
              <a:rPr b="1" lang="en"/>
              <a:t>R</a:t>
            </a:r>
            <a:r>
              <a:rPr lang="en"/>
              <a:t>outer</a:t>
            </a:r>
            <a:endParaRPr/>
          </a:p>
          <a:p>
            <a:pPr indent="-342900" lvl="0" marL="457200" rtl="0" algn="l">
              <a:spcBef>
                <a:spcPts val="0"/>
              </a:spcBef>
              <a:spcAft>
                <a:spcPts val="0"/>
              </a:spcAft>
              <a:buSzPts val="1800"/>
              <a:buChar char="●"/>
            </a:pPr>
            <a:r>
              <a:rPr lang="en"/>
              <a:t>Components of Tor</a:t>
            </a:r>
            <a:endParaRPr/>
          </a:p>
          <a:p>
            <a:pPr indent="-317500" lvl="1" marL="914400" rtl="0" algn="l">
              <a:spcBef>
                <a:spcPts val="0"/>
              </a:spcBef>
              <a:spcAft>
                <a:spcPts val="0"/>
              </a:spcAft>
              <a:buSzPts val="1400"/>
              <a:buChar char="○"/>
            </a:pPr>
            <a:r>
              <a:rPr lang="en"/>
              <a:t>Tor network: A network of many </a:t>
            </a:r>
            <a:r>
              <a:rPr b="1" lang="en"/>
              <a:t>Tor relays</a:t>
            </a:r>
            <a:r>
              <a:rPr lang="en"/>
              <a:t> (proxies) for forwarding packets</a:t>
            </a:r>
            <a:endParaRPr/>
          </a:p>
          <a:p>
            <a:pPr indent="-317500" lvl="1" marL="914400" rtl="0" algn="l">
              <a:spcBef>
                <a:spcPts val="0"/>
              </a:spcBef>
              <a:spcAft>
                <a:spcPts val="0"/>
              </a:spcAft>
              <a:buSzPts val="1400"/>
              <a:buChar char="○"/>
            </a:pPr>
            <a:r>
              <a:rPr lang="en"/>
              <a:t>Directory server: Lists all Tor relays and their public keys</a:t>
            </a:r>
            <a:endParaRPr/>
          </a:p>
          <a:p>
            <a:pPr indent="-317500" lvl="1" marL="914400" rtl="0" algn="l">
              <a:spcBef>
                <a:spcPts val="0"/>
              </a:spcBef>
              <a:spcAft>
                <a:spcPts val="0"/>
              </a:spcAft>
              <a:buSzPts val="1400"/>
              <a:buChar char="○"/>
            </a:pPr>
            <a:r>
              <a:rPr lang="en"/>
              <a:t>Tor Browser: A web browser configured to connect to the Tor network (based on Firefox)</a:t>
            </a:r>
            <a:endParaRPr/>
          </a:p>
          <a:p>
            <a:pPr indent="-317500" lvl="1" marL="914400" rtl="0" algn="l">
              <a:spcBef>
                <a:spcPts val="0"/>
              </a:spcBef>
              <a:spcAft>
                <a:spcPts val="0"/>
              </a:spcAft>
              <a:buSzPts val="1400"/>
              <a:buChar char="○"/>
            </a:pPr>
            <a:r>
              <a:rPr lang="en"/>
              <a:t>Tor onion services: Servers that can only be reached through the Tor network</a:t>
            </a:r>
            <a:endParaRPr/>
          </a:p>
          <a:p>
            <a:pPr indent="-317500" lvl="1" marL="914400" rtl="0" algn="l">
              <a:spcBef>
                <a:spcPts val="0"/>
              </a:spcBef>
              <a:spcAft>
                <a:spcPts val="0"/>
              </a:spcAft>
              <a:buSzPts val="1400"/>
              <a:buChar char="○"/>
            </a:pPr>
            <a:r>
              <a:rPr lang="en"/>
              <a:t>Tor bridges: Tor relays that try to hide the fact that a user is connecting to the Tor network</a:t>
            </a:r>
            <a:endParaRPr/>
          </a:p>
        </p:txBody>
      </p:sp>
      <p:sp>
        <p:nvSpPr>
          <p:cNvPr id="150" name="Google Shape;150;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51" name="Google Shape;151;p25"/>
          <p:cNvSpPr/>
          <p:nvPr/>
        </p:nvSpPr>
        <p:spPr>
          <a:xfrm>
            <a:off x="968725" y="4327250"/>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Tor Browser</a:t>
            </a:r>
            <a:endParaRPr/>
          </a:p>
        </p:txBody>
      </p:sp>
      <p:sp>
        <p:nvSpPr>
          <p:cNvPr id="152" name="Google Shape;152;p25"/>
          <p:cNvSpPr/>
          <p:nvPr/>
        </p:nvSpPr>
        <p:spPr>
          <a:xfrm>
            <a:off x="2704475" y="44168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53" name="Google Shape;153;p25"/>
          <p:cNvSpPr/>
          <p:nvPr/>
        </p:nvSpPr>
        <p:spPr>
          <a:xfrm>
            <a:off x="4206000" y="44168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54" name="Google Shape;154;p25"/>
          <p:cNvSpPr/>
          <p:nvPr/>
        </p:nvSpPr>
        <p:spPr>
          <a:xfrm>
            <a:off x="5707525" y="44168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55" name="Google Shape;155;p25"/>
          <p:cNvSpPr/>
          <p:nvPr/>
        </p:nvSpPr>
        <p:spPr>
          <a:xfrm>
            <a:off x="7109675" y="4327250"/>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Website</a:t>
            </a:r>
            <a:endParaRPr/>
          </a:p>
        </p:txBody>
      </p:sp>
      <p:cxnSp>
        <p:nvCxnSpPr>
          <p:cNvPr id="156" name="Google Shape;156;p25"/>
          <p:cNvCxnSpPr>
            <a:endCxn id="152" idx="1"/>
          </p:cNvCxnSpPr>
          <p:nvPr/>
        </p:nvCxnSpPr>
        <p:spPr>
          <a:xfrm>
            <a:off x="2034275" y="4613600"/>
            <a:ext cx="670200" cy="0"/>
          </a:xfrm>
          <a:prstGeom prst="straightConnector1">
            <a:avLst/>
          </a:prstGeom>
          <a:noFill/>
          <a:ln cap="flat" cmpd="sng" w="9525">
            <a:solidFill>
              <a:schemeClr val="dk2"/>
            </a:solidFill>
            <a:prstDash val="solid"/>
            <a:round/>
            <a:headEnd len="med" w="med" type="none"/>
            <a:tailEnd len="med" w="med" type="triangle"/>
          </a:ln>
        </p:spPr>
      </p:cxnSp>
      <p:cxnSp>
        <p:nvCxnSpPr>
          <p:cNvPr id="157" name="Google Shape;157;p25"/>
          <p:cNvCxnSpPr>
            <a:stCxn id="152" idx="3"/>
            <a:endCxn id="153" idx="1"/>
          </p:cNvCxnSpPr>
          <p:nvPr/>
        </p:nvCxnSpPr>
        <p:spPr>
          <a:xfrm>
            <a:off x="3436475" y="4613600"/>
            <a:ext cx="769500" cy="0"/>
          </a:xfrm>
          <a:prstGeom prst="straightConnector1">
            <a:avLst/>
          </a:prstGeom>
          <a:noFill/>
          <a:ln cap="flat" cmpd="sng" w="9525">
            <a:solidFill>
              <a:schemeClr val="dk2"/>
            </a:solidFill>
            <a:prstDash val="solid"/>
            <a:round/>
            <a:headEnd len="med" w="med" type="none"/>
            <a:tailEnd len="med" w="med" type="triangle"/>
          </a:ln>
        </p:spPr>
      </p:cxnSp>
      <p:cxnSp>
        <p:nvCxnSpPr>
          <p:cNvPr id="158" name="Google Shape;158;p25"/>
          <p:cNvCxnSpPr>
            <a:stCxn id="153" idx="3"/>
            <a:endCxn id="154" idx="1"/>
          </p:cNvCxnSpPr>
          <p:nvPr/>
        </p:nvCxnSpPr>
        <p:spPr>
          <a:xfrm>
            <a:off x="4938000" y="4613600"/>
            <a:ext cx="769500" cy="0"/>
          </a:xfrm>
          <a:prstGeom prst="straightConnector1">
            <a:avLst/>
          </a:prstGeom>
          <a:noFill/>
          <a:ln cap="flat" cmpd="sng" w="9525">
            <a:solidFill>
              <a:schemeClr val="dk2"/>
            </a:solidFill>
            <a:prstDash val="solid"/>
            <a:round/>
            <a:headEnd len="med" w="med" type="none"/>
            <a:tailEnd len="med" w="med" type="triangle"/>
          </a:ln>
        </p:spPr>
      </p:cxnSp>
      <p:cxnSp>
        <p:nvCxnSpPr>
          <p:cNvPr id="159" name="Google Shape;159;p25"/>
          <p:cNvCxnSpPr>
            <a:stCxn id="154" idx="3"/>
            <a:endCxn id="155" idx="1"/>
          </p:cNvCxnSpPr>
          <p:nvPr/>
        </p:nvCxnSpPr>
        <p:spPr>
          <a:xfrm>
            <a:off x="6439525" y="4613600"/>
            <a:ext cx="670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Threat Model</a:t>
            </a:r>
            <a:endParaRPr/>
          </a:p>
        </p:txBody>
      </p:sp>
      <p:sp>
        <p:nvSpPr>
          <p:cNvPr id="165" name="Google Shape;165;p26"/>
          <p:cNvSpPr txBox="1"/>
          <p:nvPr>
            <p:ph idx="1" type="body"/>
          </p:nvPr>
        </p:nvSpPr>
        <p:spPr>
          <a:xfrm>
            <a:off x="198500" y="1246825"/>
            <a:ext cx="8520600" cy="38100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Security: C</a:t>
            </a:r>
            <a:r>
              <a:rPr lang="en"/>
              <a:t>lient anonymity and censorship resistance</a:t>
            </a:r>
            <a:endParaRPr/>
          </a:p>
          <a:p>
            <a:pPr indent="-317500" lvl="1" marL="914400" rtl="0" algn="l">
              <a:spcBef>
                <a:spcPts val="0"/>
              </a:spcBef>
              <a:spcAft>
                <a:spcPts val="0"/>
              </a:spcAft>
              <a:buSzPts val="1400"/>
              <a:buChar char="○"/>
            </a:pPr>
            <a:r>
              <a:rPr lang="en"/>
              <a:t>Optional: Server anonymity with onion services</a:t>
            </a:r>
            <a:endParaRPr/>
          </a:p>
          <a:p>
            <a:pPr indent="-342900" lvl="0" marL="457200" rtl="0" algn="l">
              <a:spcBef>
                <a:spcPts val="0"/>
              </a:spcBef>
              <a:spcAft>
                <a:spcPts val="0"/>
              </a:spcAft>
              <a:buSzPts val="1800"/>
              <a:buChar char="●"/>
            </a:pPr>
            <a:r>
              <a:rPr lang="en"/>
              <a:t>Performance: Low latency (communication should be fast)</a:t>
            </a:r>
            <a:endParaRPr/>
          </a:p>
          <a:p>
            <a:pPr indent="-342900" lvl="0" marL="457200" rtl="0" algn="l">
              <a:spcBef>
                <a:spcPts val="0"/>
              </a:spcBef>
              <a:spcAft>
                <a:spcPts val="0"/>
              </a:spcAft>
              <a:buSzPts val="1800"/>
              <a:buChar char="●"/>
            </a:pPr>
            <a:r>
              <a:rPr lang="en"/>
              <a:t>Tor preserves anonymity against local adversaries</a:t>
            </a:r>
            <a:endParaRPr/>
          </a:p>
          <a:p>
            <a:pPr indent="-317500" lvl="1" marL="914400" rtl="0" algn="l">
              <a:spcBef>
                <a:spcPts val="0"/>
              </a:spcBef>
              <a:spcAft>
                <a:spcPts val="0"/>
              </a:spcAft>
              <a:buSzPts val="1400"/>
              <a:buChar char="○"/>
            </a:pPr>
            <a:r>
              <a:rPr lang="en"/>
              <a:t>Example: An on-path attacker sees Alice send a message to a Tor relay, but not the final destination of the message</a:t>
            </a:r>
            <a:endParaRPr/>
          </a:p>
          <a:p>
            <a:pPr indent="-317500" lvl="1" marL="914400" rtl="0" algn="l">
              <a:spcBef>
                <a:spcPts val="0"/>
              </a:spcBef>
              <a:spcAft>
                <a:spcPts val="0"/>
              </a:spcAft>
              <a:buSzPts val="1400"/>
              <a:buChar char="○"/>
            </a:pPr>
            <a:r>
              <a:rPr lang="en"/>
              <a:t>Example: The server should not know the identity of the client</a:t>
            </a:r>
            <a:endParaRPr/>
          </a:p>
        </p:txBody>
      </p:sp>
      <p:sp>
        <p:nvSpPr>
          <p:cNvPr id="166" name="Google Shape;166;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172" name="Google Shape;172;p27"/>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 communicate anonymously with a server, the Tor client forms a </a:t>
            </a:r>
            <a:r>
              <a:rPr b="1" lang="en"/>
              <a:t>circuit</a:t>
            </a:r>
            <a:r>
              <a:rPr lang="en"/>
              <a:t> consisting of 3 relays</a:t>
            </a:r>
            <a:r>
              <a:rPr lang="en"/>
              <a:t> (by default)</a:t>
            </a:r>
            <a:endParaRPr/>
          </a:p>
          <a:p>
            <a:pPr indent="-317500" lvl="1" marL="914400" rtl="0" algn="l">
              <a:spcBef>
                <a:spcPts val="0"/>
              </a:spcBef>
              <a:spcAft>
                <a:spcPts val="0"/>
              </a:spcAft>
              <a:buSzPts val="1400"/>
              <a:buChar char="○"/>
            </a:pPr>
            <a:r>
              <a:rPr lang="en"/>
              <a:t>Step 1: Query the directory server for a list of relays</a:t>
            </a:r>
            <a:endParaRPr/>
          </a:p>
          <a:p>
            <a:pPr indent="-317500" lvl="1" marL="914400" rtl="0" algn="l">
              <a:spcBef>
                <a:spcPts val="0"/>
              </a:spcBef>
              <a:spcAft>
                <a:spcPts val="0"/>
              </a:spcAft>
              <a:buSzPts val="1400"/>
              <a:buChar char="○"/>
            </a:pPr>
            <a:r>
              <a:rPr lang="en"/>
              <a:t>Step 2: Choose 3 relays to form a Tor circuit</a:t>
            </a:r>
            <a:endParaRPr/>
          </a:p>
          <a:p>
            <a:pPr indent="-317500" lvl="1" marL="914400" rtl="0" algn="l">
              <a:spcBef>
                <a:spcPts val="0"/>
              </a:spcBef>
              <a:spcAft>
                <a:spcPts val="0"/>
              </a:spcAft>
              <a:buSzPts val="1400"/>
              <a:buChar char="○"/>
            </a:pPr>
            <a:r>
              <a:rPr lang="en"/>
              <a:t>Step 3: Connect to the first relay, forming an end-to-end TLS connection</a:t>
            </a:r>
            <a:endParaRPr/>
          </a:p>
          <a:p>
            <a:pPr indent="-317500" lvl="1" marL="914400" rtl="0" algn="l">
              <a:spcBef>
                <a:spcPts val="0"/>
              </a:spcBef>
              <a:spcAft>
                <a:spcPts val="0"/>
              </a:spcAft>
              <a:buSzPts val="1400"/>
              <a:buChar char="○"/>
            </a:pPr>
            <a:r>
              <a:rPr lang="en"/>
              <a:t>Step 4: Connect to the second relay </a:t>
            </a:r>
            <a:r>
              <a:rPr i="1" lang="en"/>
              <a:t>through</a:t>
            </a:r>
            <a:r>
              <a:rPr lang="en"/>
              <a:t> the first relay, forming an end-to-end TLS connection</a:t>
            </a:r>
            <a:endParaRPr/>
          </a:p>
          <a:p>
            <a:pPr indent="-317500" lvl="1" marL="914400" rtl="0" algn="l">
              <a:spcBef>
                <a:spcPts val="0"/>
              </a:spcBef>
              <a:spcAft>
                <a:spcPts val="0"/>
              </a:spcAft>
              <a:buSzPts val="1400"/>
              <a:buChar char="○"/>
            </a:pPr>
            <a:r>
              <a:rPr lang="en"/>
              <a:t>Step 5: Connect to the third relay </a:t>
            </a:r>
            <a:r>
              <a:rPr i="1" lang="en"/>
              <a:t>through</a:t>
            </a:r>
            <a:r>
              <a:rPr lang="en"/>
              <a:t> the second relay, forming an end-to-end TLS connection</a:t>
            </a:r>
            <a:endParaRPr/>
          </a:p>
          <a:p>
            <a:pPr indent="-317500" lvl="1" marL="914400" rtl="0" algn="l">
              <a:spcBef>
                <a:spcPts val="0"/>
              </a:spcBef>
              <a:spcAft>
                <a:spcPts val="0"/>
              </a:spcAft>
              <a:buSzPts val="1400"/>
              <a:buChar char="○"/>
            </a:pPr>
            <a:r>
              <a:rPr lang="en"/>
              <a:t>Step 6: Connect to the web server using HTTPS (so an end-to-end TLS connection is formed through the third relay)</a:t>
            </a:r>
            <a:endParaRPr/>
          </a:p>
        </p:txBody>
      </p:sp>
      <p:sp>
        <p:nvSpPr>
          <p:cNvPr id="173" name="Google Shape;173;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179" name="Google Shape;17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180" name="Google Shape;180;p28"/>
          <p:cNvSpPr/>
          <p:nvPr/>
        </p:nvSpPr>
        <p:spPr>
          <a:xfrm>
            <a:off x="434725"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181" name="Google Shape;181;p28"/>
          <p:cNvSpPr/>
          <p:nvPr/>
        </p:nvSpPr>
        <p:spPr>
          <a:xfrm>
            <a:off x="2407800" y="16565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2" name="Google Shape;182;p28"/>
          <p:cNvSpPr/>
          <p:nvPr/>
        </p:nvSpPr>
        <p:spPr>
          <a:xfrm>
            <a:off x="2288500" y="27723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3" name="Google Shape;183;p28"/>
          <p:cNvSpPr/>
          <p:nvPr/>
        </p:nvSpPr>
        <p:spPr>
          <a:xfrm>
            <a:off x="3533325" y="17584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4" name="Google Shape;184;p28"/>
          <p:cNvSpPr/>
          <p:nvPr/>
        </p:nvSpPr>
        <p:spPr>
          <a:xfrm>
            <a:off x="3996988" y="24801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5" name="Google Shape;185;p28"/>
          <p:cNvSpPr/>
          <p:nvPr/>
        </p:nvSpPr>
        <p:spPr>
          <a:xfrm>
            <a:off x="4337150" y="12189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6" name="Google Shape;186;p28"/>
          <p:cNvSpPr/>
          <p:nvPr/>
        </p:nvSpPr>
        <p:spPr>
          <a:xfrm>
            <a:off x="5551975" y="31026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7" name="Google Shape;187;p28"/>
          <p:cNvSpPr/>
          <p:nvPr/>
        </p:nvSpPr>
        <p:spPr>
          <a:xfrm>
            <a:off x="5551975" y="21520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8" name="Google Shape;188;p28"/>
          <p:cNvSpPr/>
          <p:nvPr/>
        </p:nvSpPr>
        <p:spPr>
          <a:xfrm>
            <a:off x="5551975" y="12629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189" name="Google Shape;189;p28"/>
          <p:cNvSpPr/>
          <p:nvPr/>
        </p:nvSpPr>
        <p:spPr>
          <a:xfrm>
            <a:off x="7406850"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sp>
        <p:nvSpPr>
          <p:cNvPr id="190" name="Google Shape;190;p28"/>
          <p:cNvSpPr txBox="1"/>
          <p:nvPr/>
        </p:nvSpPr>
        <p:spPr>
          <a:xfrm>
            <a:off x="364500" y="3667500"/>
            <a:ext cx="4161000" cy="4002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Suppose Alice wants to talk to Bob anonymously.</a:t>
            </a:r>
            <a:endParaRPr/>
          </a:p>
        </p:txBody>
      </p:sp>
      <p:sp>
        <p:nvSpPr>
          <p:cNvPr id="191" name="Google Shape;191;p28"/>
          <p:cNvSpPr txBox="1"/>
          <p:nvPr/>
        </p:nvSpPr>
        <p:spPr>
          <a:xfrm>
            <a:off x="1082850" y="4206375"/>
            <a:ext cx="33819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Alice queries the </a:t>
            </a:r>
            <a:r>
              <a:rPr lang="en"/>
              <a:t>directory</a:t>
            </a:r>
            <a:r>
              <a:rPr lang="en"/>
              <a:t> server and chooses 3 relays</a:t>
            </a:r>
            <a:endParaRPr/>
          </a:p>
        </p:txBody>
      </p:sp>
      <p:sp>
        <p:nvSpPr>
          <p:cNvPr id="192" name="Google Shape;192;p28"/>
          <p:cNvSpPr/>
          <p:nvPr/>
        </p:nvSpPr>
        <p:spPr>
          <a:xfrm>
            <a:off x="1078638" y="13648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a Relay Does</a:t>
            </a:r>
            <a:endParaRPr/>
          </a:p>
        </p:txBody>
      </p:sp>
      <p:sp>
        <p:nvSpPr>
          <p:cNvPr id="198" name="Google Shape;198;p2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Listen for someone to initiate a TLS connection</a:t>
            </a:r>
            <a:endParaRPr/>
          </a:p>
          <a:p>
            <a:pPr indent="-342900" lvl="0" marL="457200" rtl="0" algn="l">
              <a:spcBef>
                <a:spcPts val="0"/>
              </a:spcBef>
              <a:spcAft>
                <a:spcPts val="0"/>
              </a:spcAft>
              <a:buSzPts val="1800"/>
              <a:buChar char="●"/>
            </a:pPr>
            <a:r>
              <a:rPr lang="en"/>
              <a:t>When receiving a packet, decrypt using the key obtained through TLS</a:t>
            </a:r>
            <a:endParaRPr/>
          </a:p>
          <a:p>
            <a:pPr indent="-342900" lvl="0" marL="457200" rtl="0" algn="l">
              <a:spcBef>
                <a:spcPts val="0"/>
              </a:spcBef>
              <a:spcAft>
                <a:spcPts val="0"/>
              </a:spcAft>
              <a:buSzPts val="1800"/>
              <a:buChar char="●"/>
            </a:pPr>
            <a:r>
              <a:rPr lang="en"/>
              <a:t>Forward the packet to its destination (and forget who sent it to you)</a:t>
            </a:r>
            <a:endParaRPr/>
          </a:p>
        </p:txBody>
      </p:sp>
      <p:sp>
        <p:nvSpPr>
          <p:cNvPr id="199" name="Google Shape;19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205" name="Google Shape;205;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06" name="Google Shape;206;p30"/>
          <p:cNvSpPr/>
          <p:nvPr/>
        </p:nvSpPr>
        <p:spPr>
          <a:xfrm>
            <a:off x="434725"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r>
              <a:rPr i="1" lang="en"/>
              <a:t>, </a:t>
            </a:r>
            <a:r>
              <a:rPr i="1" lang="en">
                <a:solidFill>
                  <a:srgbClr val="BF9000"/>
                </a:solidFill>
              </a:rPr>
              <a:t>K</a:t>
            </a:r>
            <a:r>
              <a:rPr i="1" lang="en" sz="900">
                <a:solidFill>
                  <a:srgbClr val="BF9000"/>
                </a:solidFill>
              </a:rPr>
              <a:t>2</a:t>
            </a:r>
            <a:r>
              <a:rPr i="1" lang="en"/>
              <a:t>, </a:t>
            </a:r>
            <a:r>
              <a:rPr i="1" lang="en">
                <a:solidFill>
                  <a:srgbClr val="38761D"/>
                </a:solidFill>
              </a:rPr>
              <a:t>K</a:t>
            </a:r>
            <a:r>
              <a:rPr i="1" lang="en" sz="900">
                <a:solidFill>
                  <a:srgbClr val="38761D"/>
                </a:solidFill>
              </a:rPr>
              <a:t>3</a:t>
            </a:r>
            <a:endParaRPr i="1" sz="900">
              <a:solidFill>
                <a:srgbClr val="38761D"/>
              </a:solidFill>
            </a:endParaRPr>
          </a:p>
        </p:txBody>
      </p:sp>
      <p:sp>
        <p:nvSpPr>
          <p:cNvPr id="207" name="Google Shape;207;p30"/>
          <p:cNvSpPr/>
          <p:nvPr/>
        </p:nvSpPr>
        <p:spPr>
          <a:xfrm>
            <a:off x="2407800" y="16565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08" name="Google Shape;208;p30"/>
          <p:cNvSpPr/>
          <p:nvPr/>
        </p:nvSpPr>
        <p:spPr>
          <a:xfrm>
            <a:off x="3533325" y="17584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09" name="Google Shape;209;p30"/>
          <p:cNvSpPr/>
          <p:nvPr/>
        </p:nvSpPr>
        <p:spPr>
          <a:xfrm>
            <a:off x="4337150" y="12189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10" name="Google Shape;210;p30"/>
          <p:cNvSpPr/>
          <p:nvPr/>
        </p:nvSpPr>
        <p:spPr>
          <a:xfrm>
            <a:off x="5551975" y="21520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11" name="Google Shape;211;p30"/>
          <p:cNvSpPr/>
          <p:nvPr/>
        </p:nvSpPr>
        <p:spPr>
          <a:xfrm>
            <a:off x="5551975" y="12629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12" name="Google Shape;212;p30"/>
          <p:cNvSpPr/>
          <p:nvPr/>
        </p:nvSpPr>
        <p:spPr>
          <a:xfrm>
            <a:off x="7406850"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213" name="Google Shape;213;p30"/>
          <p:cNvSpPr/>
          <p:nvPr/>
        </p:nvSpPr>
        <p:spPr>
          <a:xfrm>
            <a:off x="2288500" y="2772325"/>
            <a:ext cx="732000" cy="8097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endParaRPr i="1" sz="900">
              <a:solidFill>
                <a:srgbClr val="CC0000"/>
              </a:solidFill>
            </a:endParaRPr>
          </a:p>
        </p:txBody>
      </p:sp>
      <p:sp>
        <p:nvSpPr>
          <p:cNvPr id="214" name="Google Shape;214;p30"/>
          <p:cNvSpPr/>
          <p:nvPr/>
        </p:nvSpPr>
        <p:spPr>
          <a:xfrm>
            <a:off x="3997000" y="2480100"/>
            <a:ext cx="732000" cy="8097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BF9000"/>
                </a:solidFill>
              </a:rPr>
              <a:t>K</a:t>
            </a:r>
            <a:r>
              <a:rPr i="1" lang="en" sz="900">
                <a:solidFill>
                  <a:srgbClr val="BF9000"/>
                </a:solidFill>
              </a:rPr>
              <a:t>2</a:t>
            </a:r>
            <a:endParaRPr i="1" sz="900">
              <a:solidFill>
                <a:srgbClr val="BF9000"/>
              </a:solidFill>
            </a:endParaRPr>
          </a:p>
        </p:txBody>
      </p:sp>
      <p:sp>
        <p:nvSpPr>
          <p:cNvPr id="215" name="Google Shape;215;p30"/>
          <p:cNvSpPr/>
          <p:nvPr/>
        </p:nvSpPr>
        <p:spPr>
          <a:xfrm>
            <a:off x="5551975" y="3102675"/>
            <a:ext cx="732000" cy="8097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38761D"/>
                </a:solidFill>
              </a:rPr>
              <a:t>K</a:t>
            </a:r>
            <a:r>
              <a:rPr i="1" lang="en" sz="900">
                <a:solidFill>
                  <a:srgbClr val="38761D"/>
                </a:solidFill>
              </a:rPr>
              <a:t>3</a:t>
            </a:r>
            <a:endParaRPr i="1" sz="900">
              <a:solidFill>
                <a:srgbClr val="38761D"/>
              </a:solidFill>
            </a:endParaRPr>
          </a:p>
        </p:txBody>
      </p:sp>
      <p:grpSp>
        <p:nvGrpSpPr>
          <p:cNvPr id="216" name="Google Shape;216;p30"/>
          <p:cNvGrpSpPr/>
          <p:nvPr/>
        </p:nvGrpSpPr>
        <p:grpSpPr>
          <a:xfrm>
            <a:off x="718625" y="2530300"/>
            <a:ext cx="1577700" cy="636000"/>
            <a:chOff x="718625" y="2758900"/>
            <a:chExt cx="1577700" cy="636000"/>
          </a:xfrm>
        </p:grpSpPr>
        <p:cxnSp>
          <p:nvCxnSpPr>
            <p:cNvPr id="217" name="Google Shape;217;p30"/>
            <p:cNvCxnSpPr/>
            <p:nvPr/>
          </p:nvCxnSpPr>
          <p:spPr>
            <a:xfrm>
              <a:off x="718625" y="2882800"/>
              <a:ext cx="1577700" cy="512100"/>
            </a:xfrm>
            <a:prstGeom prst="straightConnector1">
              <a:avLst/>
            </a:prstGeom>
            <a:noFill/>
            <a:ln cap="flat" cmpd="sng" w="19050">
              <a:solidFill>
                <a:srgbClr val="CC0000"/>
              </a:solidFill>
              <a:prstDash val="solid"/>
              <a:round/>
              <a:headEnd len="med" w="med" type="none"/>
              <a:tailEnd len="med" w="med" type="none"/>
            </a:ln>
          </p:spPr>
        </p:cxnSp>
        <p:cxnSp>
          <p:nvCxnSpPr>
            <p:cNvPr id="218" name="Google Shape;218;p30"/>
            <p:cNvCxnSpPr/>
            <p:nvPr/>
          </p:nvCxnSpPr>
          <p:spPr>
            <a:xfrm>
              <a:off x="1519875" y="2758900"/>
              <a:ext cx="768300" cy="247800"/>
            </a:xfrm>
            <a:prstGeom prst="straightConnector1">
              <a:avLst/>
            </a:prstGeom>
            <a:noFill/>
            <a:ln cap="flat" cmpd="sng" w="19050">
              <a:solidFill>
                <a:srgbClr val="CC0000"/>
              </a:solidFill>
              <a:prstDash val="solid"/>
              <a:round/>
              <a:headEnd len="med" w="med" type="none"/>
              <a:tailEnd len="med" w="med" type="none"/>
            </a:ln>
          </p:spPr>
        </p:cxnSp>
      </p:grpSp>
      <p:grpSp>
        <p:nvGrpSpPr>
          <p:cNvPr id="219" name="Google Shape;219;p30"/>
          <p:cNvGrpSpPr/>
          <p:nvPr/>
        </p:nvGrpSpPr>
        <p:grpSpPr>
          <a:xfrm>
            <a:off x="883825" y="2522025"/>
            <a:ext cx="3122350" cy="662575"/>
            <a:chOff x="883825" y="2750625"/>
            <a:chExt cx="3122350" cy="662575"/>
          </a:xfrm>
        </p:grpSpPr>
        <p:sp>
          <p:nvSpPr>
            <p:cNvPr id="220" name="Google Shape;220;p30"/>
            <p:cNvSpPr/>
            <p:nvPr/>
          </p:nvSpPr>
          <p:spPr>
            <a:xfrm>
              <a:off x="1495100" y="2750625"/>
              <a:ext cx="2502825" cy="355650"/>
            </a:xfrm>
            <a:custGeom>
              <a:rect b="b" l="l" r="r" t="t"/>
              <a:pathLst>
                <a:path extrusionOk="0" h="14226" w="100113">
                  <a:moveTo>
                    <a:pt x="0" y="2974"/>
                  </a:moveTo>
                  <a:cubicBezTo>
                    <a:pt x="7875" y="4846"/>
                    <a:pt x="30563" y="14704"/>
                    <a:pt x="47248" y="14208"/>
                  </a:cubicBezTo>
                  <a:cubicBezTo>
                    <a:pt x="63934" y="13712"/>
                    <a:pt x="91302" y="2368"/>
                    <a:pt x="100113" y="0"/>
                  </a:cubicBezTo>
                </a:path>
              </a:pathLst>
            </a:custGeom>
            <a:noFill/>
            <a:ln cap="flat" cmpd="sng" w="19050">
              <a:solidFill>
                <a:srgbClr val="E69138"/>
              </a:solidFill>
              <a:prstDash val="solid"/>
              <a:round/>
              <a:headEnd len="med" w="med" type="none"/>
              <a:tailEnd len="med" w="med" type="none"/>
            </a:ln>
          </p:spPr>
        </p:sp>
        <p:sp>
          <p:nvSpPr>
            <p:cNvPr id="221" name="Google Shape;221;p30"/>
            <p:cNvSpPr/>
            <p:nvPr/>
          </p:nvSpPr>
          <p:spPr>
            <a:xfrm>
              <a:off x="883825" y="2866275"/>
              <a:ext cx="3122350" cy="546925"/>
            </a:xfrm>
            <a:custGeom>
              <a:rect b="b" l="l" r="r" t="t"/>
              <a:pathLst>
                <a:path extrusionOk="0" h="21877" w="124894">
                  <a:moveTo>
                    <a:pt x="0" y="0"/>
                  </a:moveTo>
                  <a:cubicBezTo>
                    <a:pt x="12445" y="3635"/>
                    <a:pt x="53856" y="20651"/>
                    <a:pt x="74672" y="21807"/>
                  </a:cubicBezTo>
                  <a:cubicBezTo>
                    <a:pt x="95488" y="22964"/>
                    <a:pt x="116524" y="9417"/>
                    <a:pt x="124894" y="6939"/>
                  </a:cubicBezTo>
                </a:path>
              </a:pathLst>
            </a:custGeom>
            <a:noFill/>
            <a:ln cap="flat" cmpd="sng" w="19050">
              <a:solidFill>
                <a:srgbClr val="E69138"/>
              </a:solidFill>
              <a:prstDash val="solid"/>
              <a:round/>
              <a:headEnd len="med" w="med" type="none"/>
              <a:tailEnd len="med" w="med" type="none"/>
            </a:ln>
          </p:spPr>
        </p:sp>
      </p:grpSp>
      <p:grpSp>
        <p:nvGrpSpPr>
          <p:cNvPr id="222" name="Google Shape;222;p30"/>
          <p:cNvGrpSpPr/>
          <p:nvPr/>
        </p:nvGrpSpPr>
        <p:grpSpPr>
          <a:xfrm>
            <a:off x="1065550" y="2520087"/>
            <a:ext cx="4501800" cy="918813"/>
            <a:chOff x="1065550" y="2748687"/>
            <a:chExt cx="4501800" cy="918813"/>
          </a:xfrm>
        </p:grpSpPr>
        <p:sp>
          <p:nvSpPr>
            <p:cNvPr id="223" name="Google Shape;223;p30"/>
            <p:cNvSpPr/>
            <p:nvPr/>
          </p:nvSpPr>
          <p:spPr>
            <a:xfrm>
              <a:off x="1495100" y="2748687"/>
              <a:ext cx="4055725" cy="629725"/>
            </a:xfrm>
            <a:custGeom>
              <a:rect b="b" l="l" r="r" t="t"/>
              <a:pathLst>
                <a:path extrusionOk="0" h="25189" w="162229">
                  <a:moveTo>
                    <a:pt x="0" y="5034"/>
                  </a:moveTo>
                  <a:cubicBezTo>
                    <a:pt x="8480" y="7017"/>
                    <a:pt x="31719" y="17755"/>
                    <a:pt x="50882" y="16929"/>
                  </a:cubicBezTo>
                  <a:cubicBezTo>
                    <a:pt x="70046" y="16103"/>
                    <a:pt x="96423" y="-1299"/>
                    <a:pt x="114981" y="78"/>
                  </a:cubicBezTo>
                  <a:cubicBezTo>
                    <a:pt x="133539" y="1455"/>
                    <a:pt x="154354" y="21004"/>
                    <a:pt x="162229" y="25189"/>
                  </a:cubicBezTo>
                </a:path>
              </a:pathLst>
            </a:custGeom>
            <a:noFill/>
            <a:ln cap="flat" cmpd="sng" w="19050">
              <a:solidFill>
                <a:srgbClr val="38761D"/>
              </a:solidFill>
              <a:prstDash val="solid"/>
              <a:round/>
              <a:headEnd len="med" w="med" type="none"/>
              <a:tailEnd len="med" w="med" type="none"/>
            </a:ln>
          </p:spPr>
        </p:sp>
        <p:sp>
          <p:nvSpPr>
            <p:cNvPr id="224" name="Google Shape;224;p30"/>
            <p:cNvSpPr/>
            <p:nvPr/>
          </p:nvSpPr>
          <p:spPr>
            <a:xfrm>
              <a:off x="1065550" y="2882800"/>
              <a:ext cx="4501800" cy="784700"/>
            </a:xfrm>
            <a:custGeom>
              <a:rect b="b" l="l" r="r" t="t"/>
              <a:pathLst>
                <a:path extrusionOk="0" h="31388" w="180072">
                  <a:moveTo>
                    <a:pt x="0" y="0"/>
                  </a:moveTo>
                  <a:cubicBezTo>
                    <a:pt x="11619" y="3139"/>
                    <a:pt x="48074" y="18227"/>
                    <a:pt x="69716" y="18833"/>
                  </a:cubicBezTo>
                  <a:cubicBezTo>
                    <a:pt x="91358" y="19439"/>
                    <a:pt x="111457" y="1542"/>
                    <a:pt x="129850" y="3634"/>
                  </a:cubicBezTo>
                  <a:cubicBezTo>
                    <a:pt x="148243" y="5727"/>
                    <a:pt x="171702" y="26762"/>
                    <a:pt x="180072" y="31388"/>
                  </a:cubicBezTo>
                </a:path>
              </a:pathLst>
            </a:custGeom>
            <a:noFill/>
            <a:ln cap="flat" cmpd="sng" w="19050">
              <a:solidFill>
                <a:srgbClr val="38761D"/>
              </a:solidFill>
              <a:prstDash val="solid"/>
              <a:round/>
              <a:headEnd len="med" w="med" type="none"/>
              <a:tailEnd len="med" w="med" type="none"/>
            </a:ln>
          </p:spPr>
        </p:sp>
      </p:grpSp>
      <p:sp>
        <p:nvSpPr>
          <p:cNvPr id="225" name="Google Shape;225;p30"/>
          <p:cNvSpPr/>
          <p:nvPr/>
        </p:nvSpPr>
        <p:spPr>
          <a:xfrm>
            <a:off x="1321625" y="2555075"/>
            <a:ext cx="6038175" cy="809750"/>
          </a:xfrm>
          <a:custGeom>
            <a:rect b="b" l="l" r="r" t="t"/>
            <a:pathLst>
              <a:path extrusionOk="0" h="32390" w="241527">
                <a:moveTo>
                  <a:pt x="0" y="3634"/>
                </a:moveTo>
                <a:cubicBezTo>
                  <a:pt x="9747" y="6332"/>
                  <a:pt x="37997" y="19824"/>
                  <a:pt x="58482" y="19824"/>
                </a:cubicBezTo>
                <a:cubicBezTo>
                  <a:pt x="78967" y="19824"/>
                  <a:pt x="101820" y="1541"/>
                  <a:pt x="122911" y="3634"/>
                </a:cubicBezTo>
                <a:cubicBezTo>
                  <a:pt x="144002" y="5727"/>
                  <a:pt x="165259" y="32986"/>
                  <a:pt x="185028" y="32380"/>
                </a:cubicBezTo>
                <a:cubicBezTo>
                  <a:pt x="204797" y="31774"/>
                  <a:pt x="232111" y="5397"/>
                  <a:pt x="241527" y="0"/>
                </a:cubicBezTo>
              </a:path>
            </a:pathLst>
          </a:custGeom>
          <a:noFill/>
          <a:ln cap="flat" cmpd="sng" w="38100">
            <a:solidFill>
              <a:srgbClr val="1155CC"/>
            </a:solidFill>
            <a:prstDash val="solid"/>
            <a:round/>
            <a:headEnd len="med" w="med" type="none"/>
            <a:tailEnd len="med" w="med" type="triangle"/>
          </a:ln>
        </p:spPr>
      </p:sp>
      <p:sp>
        <p:nvSpPr>
          <p:cNvPr id="226" name="Google Shape;226;p30"/>
          <p:cNvSpPr/>
          <p:nvPr/>
        </p:nvSpPr>
        <p:spPr>
          <a:xfrm>
            <a:off x="63000" y="3017225"/>
            <a:ext cx="1718100" cy="17034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1</a:t>
            </a:r>
            <a:endParaRPr sz="1000"/>
          </a:p>
        </p:txBody>
      </p:sp>
      <p:sp>
        <p:nvSpPr>
          <p:cNvPr id="227" name="Google Shape;227;p30"/>
          <p:cNvSpPr/>
          <p:nvPr/>
        </p:nvSpPr>
        <p:spPr>
          <a:xfrm>
            <a:off x="133200" y="3347825"/>
            <a:ext cx="1577700" cy="1304400"/>
          </a:xfrm>
          <a:prstGeom prst="rect">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2</a:t>
            </a:r>
            <a:endParaRPr sz="1000"/>
          </a:p>
        </p:txBody>
      </p:sp>
      <p:sp>
        <p:nvSpPr>
          <p:cNvPr id="228" name="Google Shape;228;p30"/>
          <p:cNvSpPr/>
          <p:nvPr/>
        </p:nvSpPr>
        <p:spPr>
          <a:xfrm>
            <a:off x="203400" y="3665326"/>
            <a:ext cx="1437300" cy="9189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3</a:t>
            </a:r>
            <a:endParaRPr sz="1000"/>
          </a:p>
        </p:txBody>
      </p:sp>
      <p:sp>
        <p:nvSpPr>
          <p:cNvPr id="229" name="Google Shape;229;p30"/>
          <p:cNvSpPr/>
          <p:nvPr/>
        </p:nvSpPr>
        <p:spPr>
          <a:xfrm>
            <a:off x="252900" y="3975600"/>
            <a:ext cx="1338300" cy="5316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sp>
        <p:nvSpPr>
          <p:cNvPr id="230" name="Google Shape;230;p30"/>
          <p:cNvSpPr/>
          <p:nvPr/>
        </p:nvSpPr>
        <p:spPr>
          <a:xfrm>
            <a:off x="1078638" y="13648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Recall: </a:t>
            </a:r>
            <a:r>
              <a:rPr lang="en"/>
              <a:t>Proxy Message Encryption</a:t>
            </a:r>
            <a:endParaRPr/>
          </a:p>
        </p:txBody>
      </p:sp>
      <p:sp>
        <p:nvSpPr>
          <p:cNvPr id="236" name="Google Shape;236;p31"/>
          <p:cNvSpPr txBox="1"/>
          <p:nvPr>
            <p:ph idx="1" type="body"/>
          </p:nvPr>
        </p:nvSpPr>
        <p:spPr>
          <a:xfrm>
            <a:off x="198500" y="1170625"/>
            <a:ext cx="8520600" cy="31788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Alice wants to send a message to Bob</a:t>
            </a:r>
            <a:endParaRPr/>
          </a:p>
          <a:p>
            <a:pPr indent="-342900" lvl="0" marL="457200" rtl="0" algn="l">
              <a:spcBef>
                <a:spcPts val="0"/>
              </a:spcBef>
              <a:spcAft>
                <a:spcPts val="0"/>
              </a:spcAft>
              <a:buSzPts val="1800"/>
              <a:buChar char="●"/>
            </a:pPr>
            <a:r>
              <a:rPr lang="en"/>
              <a:t>She </a:t>
            </a:r>
            <a:r>
              <a:rPr b="1" lang="en"/>
              <a:t>encrypts</a:t>
            </a:r>
            <a:r>
              <a:rPr lang="en"/>
              <a:t> the recipient’s name (and message) so an eavesdropper does not see a packet with both Alice and Bob’s identities in plaintext</a:t>
            </a:r>
            <a:endParaRPr/>
          </a:p>
        </p:txBody>
      </p:sp>
      <p:sp>
        <p:nvSpPr>
          <p:cNvPr id="237" name="Google Shape;237;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1"/>
          <p:cNvSpPr/>
          <p:nvPr/>
        </p:nvSpPr>
        <p:spPr>
          <a:xfrm>
            <a:off x="470975"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239" name="Google Shape;239;p31"/>
          <p:cNvSpPr/>
          <p:nvPr/>
        </p:nvSpPr>
        <p:spPr>
          <a:xfrm>
            <a:off x="3846250"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Proxy</a:t>
            </a:r>
            <a:endParaRPr/>
          </a:p>
        </p:txBody>
      </p:sp>
      <p:sp>
        <p:nvSpPr>
          <p:cNvPr id="240" name="Google Shape;240;p31"/>
          <p:cNvSpPr/>
          <p:nvPr/>
        </p:nvSpPr>
        <p:spPr>
          <a:xfrm>
            <a:off x="7221525" y="3756900"/>
            <a:ext cx="965100" cy="11898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a:p>
        </p:txBody>
      </p:sp>
      <p:cxnSp>
        <p:nvCxnSpPr>
          <p:cNvPr id="241" name="Google Shape;241;p31"/>
          <p:cNvCxnSpPr/>
          <p:nvPr/>
        </p:nvCxnSpPr>
        <p:spPr>
          <a:xfrm>
            <a:off x="1436075" y="4774700"/>
            <a:ext cx="2410200" cy="0"/>
          </a:xfrm>
          <a:prstGeom prst="straightConnector1">
            <a:avLst/>
          </a:prstGeom>
          <a:noFill/>
          <a:ln cap="flat" cmpd="sng" w="19050">
            <a:solidFill>
              <a:schemeClr val="dk2"/>
            </a:solidFill>
            <a:prstDash val="solid"/>
            <a:round/>
            <a:headEnd len="med" w="med" type="none"/>
            <a:tailEnd len="med" w="med" type="triangle"/>
          </a:ln>
        </p:spPr>
      </p:cxnSp>
      <p:cxnSp>
        <p:nvCxnSpPr>
          <p:cNvPr id="242" name="Google Shape;242;p31"/>
          <p:cNvCxnSpPr/>
          <p:nvPr/>
        </p:nvCxnSpPr>
        <p:spPr>
          <a:xfrm>
            <a:off x="4811350" y="4774700"/>
            <a:ext cx="2410200" cy="0"/>
          </a:xfrm>
          <a:prstGeom prst="straightConnector1">
            <a:avLst/>
          </a:prstGeom>
          <a:noFill/>
          <a:ln cap="flat" cmpd="sng" w="19050">
            <a:solidFill>
              <a:schemeClr val="dk2"/>
            </a:solidFill>
            <a:prstDash val="solid"/>
            <a:round/>
            <a:headEnd len="med" w="med" type="none"/>
            <a:tailEnd len="med" w="med" type="triangle"/>
          </a:ln>
        </p:spPr>
      </p:cxnSp>
      <p:graphicFrame>
        <p:nvGraphicFramePr>
          <p:cNvPr id="243" name="Google Shape;243;p31"/>
          <p:cNvGraphicFramePr/>
          <p:nvPr/>
        </p:nvGraphicFramePr>
        <p:xfrm>
          <a:off x="1640125" y="3890250"/>
          <a:ext cx="3000000" cy="3000000"/>
        </p:xfrm>
        <a:graphic>
          <a:graphicData uri="http://schemas.openxmlformats.org/drawingml/2006/table">
            <a:tbl>
              <a:tblPr>
                <a:noFill/>
                <a:tableStyleId>{2957E359-049A-455A-BB7E-DE297C550A72}</a:tableStyleId>
              </a:tblPr>
              <a:tblGrid>
                <a:gridCol w="1014975"/>
                <a:gridCol w="987100"/>
              </a:tblGrid>
              <a:tr h="258575">
                <a:tc>
                  <a:txBody>
                    <a:bodyPr/>
                    <a:lstStyle/>
                    <a:p>
                      <a:pPr indent="0" lvl="0" marL="0" rtl="0" algn="l">
                        <a:spcBef>
                          <a:spcPts val="0"/>
                        </a:spcBef>
                        <a:spcAft>
                          <a:spcPts val="0"/>
                        </a:spcAft>
                        <a:buNone/>
                      </a:pPr>
                      <a:r>
                        <a:rPr lang="en" sz="1200"/>
                        <a:t>From: Alice</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To: Proxy</a:t>
                      </a:r>
                      <a:endParaRPr sz="1200"/>
                    </a:p>
                  </a:txBody>
                  <a:tcPr marT="91425" marB="91425" marR="91425" marL="91425">
                    <a:solidFill>
                      <a:schemeClr val="lt1"/>
                    </a:solidFill>
                  </a:tcPr>
                </a:tc>
              </a:tr>
              <a:tr h="281075">
                <a:tc gridSpan="2">
                  <a:txBody>
                    <a:bodyPr/>
                    <a:lstStyle/>
                    <a:p>
                      <a:pPr indent="0" lvl="0" marL="0" rtl="0" algn="l">
                        <a:spcBef>
                          <a:spcPts val="0"/>
                        </a:spcBef>
                        <a:spcAft>
                          <a:spcPts val="0"/>
                        </a:spcAft>
                        <a:buNone/>
                      </a:pPr>
                      <a:r>
                        <a:rPr lang="en" sz="1200"/>
                        <a:t> Message, Bob</a:t>
                      </a:r>
                      <a:endParaRPr sz="800"/>
                    </a:p>
                  </a:txBody>
                  <a:tcPr marT="91425" marB="91425" marR="91425" marL="91425">
                    <a:solidFill>
                      <a:schemeClr val="lt1"/>
                    </a:solidFill>
                  </a:tcPr>
                </a:tc>
                <a:tc hMerge="1"/>
              </a:tr>
            </a:tbl>
          </a:graphicData>
        </a:graphic>
      </p:graphicFrame>
      <p:graphicFrame>
        <p:nvGraphicFramePr>
          <p:cNvPr id="244" name="Google Shape;244;p31"/>
          <p:cNvGraphicFramePr/>
          <p:nvPr/>
        </p:nvGraphicFramePr>
        <p:xfrm>
          <a:off x="5015400" y="3890250"/>
          <a:ext cx="3000000" cy="3000000"/>
        </p:xfrm>
        <a:graphic>
          <a:graphicData uri="http://schemas.openxmlformats.org/drawingml/2006/table">
            <a:tbl>
              <a:tblPr>
                <a:noFill/>
                <a:tableStyleId>{2957E359-049A-455A-BB7E-DE297C550A72}</a:tableStyleId>
              </a:tblPr>
              <a:tblGrid>
                <a:gridCol w="1014975"/>
                <a:gridCol w="987100"/>
              </a:tblGrid>
              <a:tr h="258575">
                <a:tc>
                  <a:txBody>
                    <a:bodyPr/>
                    <a:lstStyle/>
                    <a:p>
                      <a:pPr indent="0" lvl="0" marL="0" rtl="0" algn="l">
                        <a:spcBef>
                          <a:spcPts val="0"/>
                        </a:spcBef>
                        <a:spcAft>
                          <a:spcPts val="0"/>
                        </a:spcAft>
                        <a:buNone/>
                      </a:pPr>
                      <a:r>
                        <a:rPr lang="en" sz="1200"/>
                        <a:t>From: Proxy</a:t>
                      </a:r>
                      <a:endParaRPr sz="1200"/>
                    </a:p>
                  </a:txBody>
                  <a:tcPr marT="91425" marB="91425" marR="91425" marL="91425">
                    <a:solidFill>
                      <a:schemeClr val="lt1"/>
                    </a:solidFill>
                  </a:tcPr>
                </a:tc>
                <a:tc>
                  <a:txBody>
                    <a:bodyPr/>
                    <a:lstStyle/>
                    <a:p>
                      <a:pPr indent="0" lvl="0" marL="0" rtl="0" algn="l">
                        <a:spcBef>
                          <a:spcPts val="0"/>
                        </a:spcBef>
                        <a:spcAft>
                          <a:spcPts val="0"/>
                        </a:spcAft>
                        <a:buNone/>
                      </a:pPr>
                      <a:r>
                        <a:rPr lang="en" sz="1200"/>
                        <a:t>To: Bob</a:t>
                      </a:r>
                      <a:endParaRPr sz="1200"/>
                    </a:p>
                  </a:txBody>
                  <a:tcPr marT="91425" marB="91425" marR="91425" marL="91425">
                    <a:solidFill>
                      <a:schemeClr val="lt1"/>
                    </a:solidFill>
                  </a:tcPr>
                </a:tc>
              </a:tr>
              <a:tr h="271700">
                <a:tc gridSpan="2">
                  <a:txBody>
                    <a:bodyPr/>
                    <a:lstStyle/>
                    <a:p>
                      <a:pPr indent="0" lvl="0" marL="0" rtl="0" algn="l">
                        <a:spcBef>
                          <a:spcPts val="0"/>
                        </a:spcBef>
                        <a:spcAft>
                          <a:spcPts val="0"/>
                        </a:spcAft>
                        <a:buNone/>
                      </a:pPr>
                      <a:r>
                        <a:rPr lang="en" sz="1200"/>
                        <a:t>Message</a:t>
                      </a:r>
                      <a:endParaRPr sz="1200"/>
                    </a:p>
                  </a:txBody>
                  <a:tcPr marT="91425" marB="91425" marR="91425" marL="91425">
                    <a:solidFill>
                      <a:schemeClr val="lt1"/>
                    </a:solidFill>
                  </a:tcPr>
                </a:tc>
                <a:tc hMerge="1"/>
              </a:tr>
            </a:tbl>
          </a:graphicData>
        </a:graphic>
      </p:graphicFrame>
      <p:sp>
        <p:nvSpPr>
          <p:cNvPr id="245" name="Google Shape;245;p31"/>
          <p:cNvSpPr txBox="1"/>
          <p:nvPr/>
        </p:nvSpPr>
        <p:spPr>
          <a:xfrm>
            <a:off x="1628900" y="4255975"/>
            <a:ext cx="200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solidFill>
                  <a:srgbClr val="0000FF"/>
                </a:solidFill>
              </a:rPr>
              <a:t>{</a:t>
            </a:r>
            <a:r>
              <a:rPr lang="en" sz="1200">
                <a:solidFill>
                  <a:schemeClr val="dk1"/>
                </a:solidFill>
              </a:rPr>
              <a:t>Message, Bob</a:t>
            </a:r>
            <a:r>
              <a:rPr lang="en" sz="1200">
                <a:solidFill>
                  <a:srgbClr val="0000FF"/>
                </a:solidFill>
              </a:rPr>
              <a:t>}</a:t>
            </a:r>
            <a:r>
              <a:rPr lang="en" sz="1000">
                <a:solidFill>
                  <a:srgbClr val="0000FF"/>
                </a:solidFill>
              </a:rPr>
              <a:t>K</a:t>
            </a:r>
            <a:r>
              <a:rPr lang="en" sz="800">
                <a:solidFill>
                  <a:srgbClr val="0000FF"/>
                </a:solidFill>
              </a:rPr>
              <a:t>proxy</a:t>
            </a:r>
            <a:endParaRPr>
              <a:solidFill>
                <a:srgbClr val="0000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Packet Construction</a:t>
            </a:r>
            <a:endParaRPr/>
          </a:p>
        </p:txBody>
      </p:sp>
      <p:sp>
        <p:nvSpPr>
          <p:cNvPr id="251" name="Google Shape;251;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52" name="Google Shape;252;p32"/>
          <p:cNvSpPr/>
          <p:nvPr/>
        </p:nvSpPr>
        <p:spPr>
          <a:xfrm>
            <a:off x="7151900" y="12707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253" name="Google Shape;253;p32"/>
          <p:cNvSpPr/>
          <p:nvPr/>
        </p:nvSpPr>
        <p:spPr>
          <a:xfrm>
            <a:off x="7151900" y="416568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254" name="Google Shape;254;p32"/>
          <p:cNvSpPr/>
          <p:nvPr/>
        </p:nvSpPr>
        <p:spPr>
          <a:xfrm>
            <a:off x="6936200" y="2226325"/>
            <a:ext cx="14970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1: </a:t>
            </a:r>
            <a:r>
              <a:rPr i="1" lang="en">
                <a:solidFill>
                  <a:srgbClr val="CC0000"/>
                </a:solidFill>
              </a:rPr>
              <a:t>K</a:t>
            </a:r>
            <a:r>
              <a:rPr i="1" lang="en" sz="900">
                <a:solidFill>
                  <a:srgbClr val="CC0000"/>
                </a:solidFill>
              </a:rPr>
              <a:t>1</a:t>
            </a:r>
            <a:endParaRPr i="1" sz="900">
              <a:solidFill>
                <a:srgbClr val="CC0000"/>
              </a:solidFill>
            </a:endParaRPr>
          </a:p>
        </p:txBody>
      </p:sp>
      <p:sp>
        <p:nvSpPr>
          <p:cNvPr id="255" name="Google Shape;255;p32"/>
          <p:cNvSpPr/>
          <p:nvPr/>
        </p:nvSpPr>
        <p:spPr>
          <a:xfrm>
            <a:off x="6936200" y="2820075"/>
            <a:ext cx="14970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2: </a:t>
            </a:r>
            <a:r>
              <a:rPr i="1" lang="en">
                <a:solidFill>
                  <a:srgbClr val="BF9000"/>
                </a:solidFill>
              </a:rPr>
              <a:t>K</a:t>
            </a:r>
            <a:r>
              <a:rPr i="1" lang="en" sz="900">
                <a:solidFill>
                  <a:srgbClr val="BF9000"/>
                </a:solidFill>
              </a:rPr>
              <a:t>2</a:t>
            </a:r>
            <a:endParaRPr i="1" sz="900">
              <a:solidFill>
                <a:srgbClr val="BF9000"/>
              </a:solidFill>
            </a:endParaRPr>
          </a:p>
        </p:txBody>
      </p:sp>
      <p:sp>
        <p:nvSpPr>
          <p:cNvPr id="256" name="Google Shape;256;p32"/>
          <p:cNvSpPr/>
          <p:nvPr/>
        </p:nvSpPr>
        <p:spPr>
          <a:xfrm>
            <a:off x="6936200" y="3413825"/>
            <a:ext cx="1497000" cy="3690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a:t>
            </a:r>
            <a:r>
              <a:rPr i="1" lang="en">
                <a:solidFill>
                  <a:srgbClr val="38761D"/>
                </a:solidFill>
              </a:rPr>
              <a:t>K</a:t>
            </a:r>
            <a:r>
              <a:rPr i="1" lang="en" sz="900">
                <a:solidFill>
                  <a:srgbClr val="38761D"/>
                </a:solidFill>
              </a:rPr>
              <a:t>3</a:t>
            </a:r>
            <a:endParaRPr i="1" sz="900">
              <a:solidFill>
                <a:srgbClr val="38761D"/>
              </a:solidFill>
            </a:endParaRPr>
          </a:p>
        </p:txBody>
      </p:sp>
      <p:cxnSp>
        <p:nvCxnSpPr>
          <p:cNvPr id="257" name="Google Shape;257;p32"/>
          <p:cNvCxnSpPr>
            <a:stCxn id="252" idx="2"/>
            <a:endCxn id="254" idx="0"/>
          </p:cNvCxnSpPr>
          <p:nvPr/>
        </p:nvCxnSpPr>
        <p:spPr>
          <a:xfrm>
            <a:off x="7684700" y="1843438"/>
            <a:ext cx="0" cy="382800"/>
          </a:xfrm>
          <a:prstGeom prst="straightConnector1">
            <a:avLst/>
          </a:prstGeom>
          <a:noFill/>
          <a:ln cap="flat" cmpd="sng" w="9525">
            <a:solidFill>
              <a:schemeClr val="dk2"/>
            </a:solidFill>
            <a:prstDash val="solid"/>
            <a:round/>
            <a:headEnd len="med" w="med" type="none"/>
            <a:tailEnd len="med" w="med" type="triangle"/>
          </a:ln>
        </p:spPr>
      </p:cxnSp>
      <p:cxnSp>
        <p:nvCxnSpPr>
          <p:cNvPr id="258" name="Google Shape;258;p32"/>
          <p:cNvCxnSpPr>
            <a:stCxn id="254" idx="2"/>
            <a:endCxn id="255" idx="0"/>
          </p:cNvCxnSpPr>
          <p:nvPr/>
        </p:nvCxnSpPr>
        <p:spPr>
          <a:xfrm>
            <a:off x="7684700" y="261992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259" name="Google Shape;259;p32"/>
          <p:cNvCxnSpPr>
            <a:stCxn id="255" idx="2"/>
            <a:endCxn id="256" idx="0"/>
          </p:cNvCxnSpPr>
          <p:nvPr/>
        </p:nvCxnSpPr>
        <p:spPr>
          <a:xfrm>
            <a:off x="7684700" y="321367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260" name="Google Shape;260;p32"/>
          <p:cNvCxnSpPr>
            <a:stCxn id="256" idx="2"/>
            <a:endCxn id="253" idx="0"/>
          </p:cNvCxnSpPr>
          <p:nvPr/>
        </p:nvCxnSpPr>
        <p:spPr>
          <a:xfrm>
            <a:off x="7684700" y="3782825"/>
            <a:ext cx="0" cy="382800"/>
          </a:xfrm>
          <a:prstGeom prst="straightConnector1">
            <a:avLst/>
          </a:prstGeom>
          <a:noFill/>
          <a:ln cap="flat" cmpd="sng" w="9525">
            <a:solidFill>
              <a:schemeClr val="dk2"/>
            </a:solidFill>
            <a:prstDash val="solid"/>
            <a:round/>
            <a:headEnd len="med" w="med" type="none"/>
            <a:tailEnd len="med" w="med" type="triangle"/>
          </a:ln>
        </p:spPr>
      </p:cxnSp>
      <p:sp>
        <p:nvSpPr>
          <p:cNvPr id="261" name="Google Shape;261;p32"/>
          <p:cNvSpPr/>
          <p:nvPr/>
        </p:nvSpPr>
        <p:spPr>
          <a:xfrm>
            <a:off x="1291525" y="2883075"/>
            <a:ext cx="2133000" cy="20949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1</a:t>
            </a:r>
            <a:endParaRPr sz="1000"/>
          </a:p>
        </p:txBody>
      </p:sp>
      <p:sp>
        <p:nvSpPr>
          <p:cNvPr id="262" name="Google Shape;262;p32"/>
          <p:cNvSpPr/>
          <p:nvPr/>
        </p:nvSpPr>
        <p:spPr>
          <a:xfrm>
            <a:off x="1416250" y="3210525"/>
            <a:ext cx="1883100" cy="1596300"/>
          </a:xfrm>
          <a:prstGeom prst="rect">
            <a:avLst/>
          </a:prstGeom>
          <a:solidFill>
            <a:srgbClr val="FFF2CC"/>
          </a:solidFill>
          <a:ln cap="flat" cmpd="sng" w="1905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2</a:t>
            </a:r>
            <a:endParaRPr sz="1000"/>
          </a:p>
        </p:txBody>
      </p:sp>
      <p:sp>
        <p:nvSpPr>
          <p:cNvPr id="263" name="Google Shape;263;p32"/>
          <p:cNvSpPr/>
          <p:nvPr/>
        </p:nvSpPr>
        <p:spPr>
          <a:xfrm>
            <a:off x="1544300" y="3534050"/>
            <a:ext cx="1627800" cy="1142700"/>
          </a:xfrm>
          <a:prstGeom prst="rect">
            <a:avLst/>
          </a:prstGeom>
          <a:solidFill>
            <a:srgbClr val="D9EAD3"/>
          </a:solidFill>
          <a:ln cap="flat" cmpd="sng" w="19050">
            <a:solidFill>
              <a:srgbClr val="BF9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3</a:t>
            </a:r>
            <a:endParaRPr sz="1000"/>
          </a:p>
        </p:txBody>
      </p:sp>
      <p:sp>
        <p:nvSpPr>
          <p:cNvPr id="264" name="Google Shape;264;p32"/>
          <p:cNvSpPr/>
          <p:nvPr/>
        </p:nvSpPr>
        <p:spPr>
          <a:xfrm>
            <a:off x="1640600" y="3850725"/>
            <a:ext cx="1435200" cy="703800"/>
          </a:xfrm>
          <a:prstGeom prst="rect">
            <a:avLst/>
          </a:prstGeom>
          <a:solidFill>
            <a:srgbClr val="C9DAF8"/>
          </a:solid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grpSp>
        <p:nvGrpSpPr>
          <p:cNvPr id="265" name="Google Shape;265;p32"/>
          <p:cNvGrpSpPr/>
          <p:nvPr/>
        </p:nvGrpSpPr>
        <p:grpSpPr>
          <a:xfrm>
            <a:off x="3171950" y="3537975"/>
            <a:ext cx="2778900" cy="567300"/>
            <a:chOff x="5128700" y="2716950"/>
            <a:chExt cx="2778900" cy="567300"/>
          </a:xfrm>
        </p:grpSpPr>
        <p:cxnSp>
          <p:nvCxnSpPr>
            <p:cNvPr id="266" name="Google Shape;266;p32"/>
            <p:cNvCxnSpPr>
              <a:stCxn id="267" idx="1"/>
              <a:endCxn id="263" idx="3"/>
            </p:cNvCxnSpPr>
            <p:nvPr/>
          </p:nvCxnSpPr>
          <p:spPr>
            <a:xfrm flipH="1">
              <a:off x="5128700" y="2913750"/>
              <a:ext cx="895800" cy="370500"/>
            </a:xfrm>
            <a:prstGeom prst="straightConnector1">
              <a:avLst/>
            </a:prstGeom>
            <a:noFill/>
            <a:ln cap="flat" cmpd="sng" w="9525">
              <a:solidFill>
                <a:srgbClr val="BF9000"/>
              </a:solidFill>
              <a:prstDash val="solid"/>
              <a:round/>
              <a:headEnd len="med" w="med" type="none"/>
              <a:tailEnd len="med" w="med" type="triangle"/>
            </a:ln>
          </p:spPr>
        </p:cxnSp>
        <p:sp>
          <p:nvSpPr>
            <p:cNvPr id="267" name="Google Shape;267;p32"/>
            <p:cNvSpPr/>
            <p:nvPr/>
          </p:nvSpPr>
          <p:spPr>
            <a:xfrm>
              <a:off x="6024500" y="2716950"/>
              <a:ext cx="18831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 </a:t>
              </a:r>
              <a:r>
                <a:rPr i="1" lang="en">
                  <a:solidFill>
                    <a:srgbClr val="BF9000"/>
                  </a:solidFill>
                </a:rPr>
                <a:t>K</a:t>
              </a:r>
              <a:r>
                <a:rPr i="1" lang="en" sz="900">
                  <a:solidFill>
                    <a:srgbClr val="BF9000"/>
                  </a:solidFill>
                </a:rPr>
                <a:t>2</a:t>
              </a:r>
              <a:endParaRPr i="1" sz="900">
                <a:solidFill>
                  <a:srgbClr val="BF9000"/>
                </a:solidFill>
              </a:endParaRPr>
            </a:p>
          </p:txBody>
        </p:sp>
      </p:grpSp>
      <p:grpSp>
        <p:nvGrpSpPr>
          <p:cNvPr id="268" name="Google Shape;268;p32"/>
          <p:cNvGrpSpPr/>
          <p:nvPr/>
        </p:nvGrpSpPr>
        <p:grpSpPr>
          <a:xfrm>
            <a:off x="3299300" y="2820075"/>
            <a:ext cx="2651400" cy="1188600"/>
            <a:chOff x="5256050" y="1999050"/>
            <a:chExt cx="2651400" cy="1188600"/>
          </a:xfrm>
        </p:grpSpPr>
        <p:cxnSp>
          <p:nvCxnSpPr>
            <p:cNvPr id="269" name="Google Shape;269;p32"/>
            <p:cNvCxnSpPr>
              <a:stCxn id="270" idx="1"/>
              <a:endCxn id="262" idx="3"/>
            </p:cNvCxnSpPr>
            <p:nvPr/>
          </p:nvCxnSpPr>
          <p:spPr>
            <a:xfrm flipH="1">
              <a:off x="5256050" y="2195850"/>
              <a:ext cx="768300" cy="991800"/>
            </a:xfrm>
            <a:prstGeom prst="straightConnector1">
              <a:avLst/>
            </a:prstGeom>
            <a:noFill/>
            <a:ln cap="flat" cmpd="sng" w="9525">
              <a:solidFill>
                <a:srgbClr val="990000"/>
              </a:solidFill>
              <a:prstDash val="solid"/>
              <a:round/>
              <a:headEnd len="med" w="med" type="none"/>
              <a:tailEnd len="med" w="med" type="triangle"/>
            </a:ln>
          </p:spPr>
        </p:cxnSp>
        <p:sp>
          <p:nvSpPr>
            <p:cNvPr id="270" name="Google Shape;270;p32"/>
            <p:cNvSpPr/>
            <p:nvPr/>
          </p:nvSpPr>
          <p:spPr>
            <a:xfrm>
              <a:off x="6024350" y="1999050"/>
              <a:ext cx="18831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a:t>
              </a:r>
              <a:r>
                <a:rPr lang="en"/>
                <a:t> </a:t>
              </a:r>
              <a:r>
                <a:rPr i="1" lang="en">
                  <a:solidFill>
                    <a:srgbClr val="CC0000"/>
                  </a:solidFill>
                </a:rPr>
                <a:t>K</a:t>
              </a:r>
              <a:r>
                <a:rPr i="1" lang="en" sz="900">
                  <a:solidFill>
                    <a:srgbClr val="CC0000"/>
                  </a:solidFill>
                </a:rPr>
                <a:t>1</a:t>
              </a:r>
              <a:endParaRPr i="1" sz="900">
                <a:solidFill>
                  <a:srgbClr val="CC0000"/>
                </a:solidFill>
              </a:endParaRPr>
            </a:p>
          </p:txBody>
        </p:sp>
      </p:grpSp>
      <p:grpSp>
        <p:nvGrpSpPr>
          <p:cNvPr id="271" name="Google Shape;271;p32"/>
          <p:cNvGrpSpPr/>
          <p:nvPr/>
        </p:nvGrpSpPr>
        <p:grpSpPr>
          <a:xfrm>
            <a:off x="3075800" y="4202775"/>
            <a:ext cx="2874900" cy="422100"/>
            <a:chOff x="5032550" y="3381750"/>
            <a:chExt cx="2874900" cy="422100"/>
          </a:xfrm>
        </p:grpSpPr>
        <p:cxnSp>
          <p:nvCxnSpPr>
            <p:cNvPr id="272" name="Google Shape;272;p32"/>
            <p:cNvCxnSpPr>
              <a:stCxn id="273" idx="1"/>
              <a:endCxn id="264" idx="3"/>
            </p:cNvCxnSpPr>
            <p:nvPr/>
          </p:nvCxnSpPr>
          <p:spPr>
            <a:xfrm rot="10800000">
              <a:off x="5032550" y="3381750"/>
              <a:ext cx="991800" cy="237600"/>
            </a:xfrm>
            <a:prstGeom prst="straightConnector1">
              <a:avLst/>
            </a:prstGeom>
            <a:noFill/>
            <a:ln cap="flat" cmpd="sng" w="9525">
              <a:solidFill>
                <a:srgbClr val="38761D"/>
              </a:solidFill>
              <a:prstDash val="solid"/>
              <a:round/>
              <a:headEnd len="med" w="med" type="none"/>
              <a:tailEnd len="med" w="med" type="triangle"/>
            </a:ln>
          </p:spPr>
        </p:cxnSp>
        <p:sp>
          <p:nvSpPr>
            <p:cNvPr id="273" name="Google Shape;273;p32"/>
            <p:cNvSpPr/>
            <p:nvPr/>
          </p:nvSpPr>
          <p:spPr>
            <a:xfrm>
              <a:off x="6024350" y="3434850"/>
              <a:ext cx="1883100" cy="3690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a:t>
              </a:r>
              <a:r>
                <a:rPr lang="en"/>
                <a:t> </a:t>
              </a:r>
              <a:r>
                <a:rPr i="1" lang="en">
                  <a:solidFill>
                    <a:srgbClr val="38761D"/>
                  </a:solidFill>
                </a:rPr>
                <a:t>K</a:t>
              </a:r>
              <a:r>
                <a:rPr i="1" lang="en" sz="900">
                  <a:solidFill>
                    <a:srgbClr val="38761D"/>
                  </a:solidFill>
                </a:rPr>
                <a:t>3</a:t>
              </a:r>
              <a:endParaRPr i="1" sz="900">
                <a:solidFill>
                  <a:srgbClr val="38761D"/>
                </a:solidFill>
              </a:endParaRPr>
            </a:p>
          </p:txBody>
        </p:sp>
      </p:grpSp>
      <p:sp>
        <p:nvSpPr>
          <p:cNvPr id="274" name="Google Shape;274;p32"/>
          <p:cNvSpPr txBox="1"/>
          <p:nvPr>
            <p:ph idx="4294967295" type="body"/>
          </p:nvPr>
        </p:nvSpPr>
        <p:spPr>
          <a:xfrm>
            <a:off x="198500" y="1170625"/>
            <a:ext cx="6737700" cy="15567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Wrap the packets via encryption</a:t>
            </a:r>
            <a:endParaRPr/>
          </a:p>
          <a:p>
            <a:pPr indent="-317500" lvl="1" marL="914400" rtl="0" algn="l">
              <a:spcBef>
                <a:spcPts val="0"/>
              </a:spcBef>
              <a:spcAft>
                <a:spcPts val="0"/>
              </a:spcAft>
              <a:buSzPts val="1400"/>
              <a:buChar char="○"/>
            </a:pPr>
            <a:r>
              <a:rPr lang="en"/>
              <a:t>For example, t</a:t>
            </a:r>
            <a:r>
              <a:rPr lang="en"/>
              <a:t>he packet sent to Bob is encrypted under </a:t>
            </a:r>
            <a:r>
              <a:rPr i="1" lang="en">
                <a:solidFill>
                  <a:srgbClr val="38761D"/>
                </a:solidFill>
              </a:rPr>
              <a:t>K</a:t>
            </a:r>
            <a:r>
              <a:rPr baseline="-25000" i="1" lang="en">
                <a:solidFill>
                  <a:srgbClr val="38761D"/>
                </a:solidFill>
              </a:rPr>
              <a:t>3</a:t>
            </a:r>
            <a:r>
              <a:rPr i="1" lang="en">
                <a:solidFill>
                  <a:srgbClr val="38761D"/>
                </a:solidFill>
              </a:rPr>
              <a:t> </a:t>
            </a:r>
            <a:r>
              <a:rPr lang="en"/>
              <a:t>since Relay 3 is the one to forward that information to Bob</a:t>
            </a:r>
            <a:r>
              <a:rPr lang="en"/>
              <a:t> </a:t>
            </a:r>
            <a:endParaRPr/>
          </a:p>
          <a:p>
            <a:pPr indent="-342900" lvl="0" marL="457200" rtl="0" algn="l">
              <a:spcBef>
                <a:spcPts val="0"/>
              </a:spcBef>
              <a:spcAft>
                <a:spcPts val="0"/>
              </a:spcAft>
              <a:buSzPts val="1800"/>
              <a:buChar char="●"/>
            </a:pPr>
            <a:r>
              <a:rPr lang="en"/>
              <a:t>Ensures that no one can read or tamper with the messages, since these are all sent over TLS connections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280" name="Google Shape;28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281" name="Google Shape;281;p33"/>
          <p:cNvSpPr/>
          <p:nvPr/>
        </p:nvSpPr>
        <p:spPr>
          <a:xfrm>
            <a:off x="434725"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r>
              <a:rPr i="1" lang="en"/>
              <a:t>, </a:t>
            </a:r>
            <a:r>
              <a:rPr i="1" lang="en">
                <a:solidFill>
                  <a:srgbClr val="BF9000"/>
                </a:solidFill>
              </a:rPr>
              <a:t>K</a:t>
            </a:r>
            <a:r>
              <a:rPr i="1" lang="en" sz="900">
                <a:solidFill>
                  <a:srgbClr val="BF9000"/>
                </a:solidFill>
              </a:rPr>
              <a:t>2</a:t>
            </a:r>
            <a:r>
              <a:rPr i="1" lang="en"/>
              <a:t>, </a:t>
            </a:r>
            <a:r>
              <a:rPr i="1" lang="en">
                <a:solidFill>
                  <a:srgbClr val="38761D"/>
                </a:solidFill>
              </a:rPr>
              <a:t>K</a:t>
            </a:r>
            <a:r>
              <a:rPr i="1" lang="en" sz="900">
                <a:solidFill>
                  <a:srgbClr val="38761D"/>
                </a:solidFill>
              </a:rPr>
              <a:t>3</a:t>
            </a:r>
            <a:endParaRPr i="1" sz="900">
              <a:solidFill>
                <a:srgbClr val="38761D"/>
              </a:solidFill>
            </a:endParaRPr>
          </a:p>
        </p:txBody>
      </p:sp>
      <p:sp>
        <p:nvSpPr>
          <p:cNvPr id="282" name="Google Shape;282;p33"/>
          <p:cNvSpPr/>
          <p:nvPr/>
        </p:nvSpPr>
        <p:spPr>
          <a:xfrm>
            <a:off x="2407800" y="16565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83" name="Google Shape;283;p33"/>
          <p:cNvSpPr/>
          <p:nvPr/>
        </p:nvSpPr>
        <p:spPr>
          <a:xfrm>
            <a:off x="3533325" y="17584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84" name="Google Shape;284;p33"/>
          <p:cNvSpPr/>
          <p:nvPr/>
        </p:nvSpPr>
        <p:spPr>
          <a:xfrm>
            <a:off x="4337150" y="12189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85" name="Google Shape;285;p33"/>
          <p:cNvSpPr/>
          <p:nvPr/>
        </p:nvSpPr>
        <p:spPr>
          <a:xfrm>
            <a:off x="5551975" y="21520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86" name="Google Shape;286;p33"/>
          <p:cNvSpPr/>
          <p:nvPr/>
        </p:nvSpPr>
        <p:spPr>
          <a:xfrm>
            <a:off x="5551975" y="12629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287" name="Google Shape;287;p33"/>
          <p:cNvSpPr/>
          <p:nvPr/>
        </p:nvSpPr>
        <p:spPr>
          <a:xfrm>
            <a:off x="7406850"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288" name="Google Shape;288;p33"/>
          <p:cNvSpPr/>
          <p:nvPr/>
        </p:nvSpPr>
        <p:spPr>
          <a:xfrm>
            <a:off x="2288500" y="2772325"/>
            <a:ext cx="732000" cy="8097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endParaRPr i="1" sz="900">
              <a:solidFill>
                <a:srgbClr val="CC0000"/>
              </a:solidFill>
            </a:endParaRPr>
          </a:p>
        </p:txBody>
      </p:sp>
      <p:sp>
        <p:nvSpPr>
          <p:cNvPr id="289" name="Google Shape;289;p33"/>
          <p:cNvSpPr/>
          <p:nvPr/>
        </p:nvSpPr>
        <p:spPr>
          <a:xfrm>
            <a:off x="3997000" y="2480100"/>
            <a:ext cx="732000" cy="8097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BF9000"/>
                </a:solidFill>
              </a:rPr>
              <a:t>K</a:t>
            </a:r>
            <a:r>
              <a:rPr i="1" lang="en" sz="900">
                <a:solidFill>
                  <a:srgbClr val="BF9000"/>
                </a:solidFill>
              </a:rPr>
              <a:t>2</a:t>
            </a:r>
            <a:endParaRPr i="1" sz="900">
              <a:solidFill>
                <a:srgbClr val="BF9000"/>
              </a:solidFill>
            </a:endParaRPr>
          </a:p>
        </p:txBody>
      </p:sp>
      <p:sp>
        <p:nvSpPr>
          <p:cNvPr id="290" name="Google Shape;290;p33"/>
          <p:cNvSpPr/>
          <p:nvPr/>
        </p:nvSpPr>
        <p:spPr>
          <a:xfrm>
            <a:off x="5551975" y="3102675"/>
            <a:ext cx="732000" cy="8097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38761D"/>
                </a:solidFill>
              </a:rPr>
              <a:t>K</a:t>
            </a:r>
            <a:r>
              <a:rPr i="1" lang="en" sz="900">
                <a:solidFill>
                  <a:srgbClr val="38761D"/>
                </a:solidFill>
              </a:rPr>
              <a:t>3</a:t>
            </a:r>
            <a:endParaRPr i="1" sz="900">
              <a:solidFill>
                <a:srgbClr val="38761D"/>
              </a:solidFill>
            </a:endParaRPr>
          </a:p>
        </p:txBody>
      </p:sp>
      <p:grpSp>
        <p:nvGrpSpPr>
          <p:cNvPr id="291" name="Google Shape;291;p33"/>
          <p:cNvGrpSpPr/>
          <p:nvPr/>
        </p:nvGrpSpPr>
        <p:grpSpPr>
          <a:xfrm>
            <a:off x="718625" y="2530300"/>
            <a:ext cx="1577700" cy="636000"/>
            <a:chOff x="718625" y="2758900"/>
            <a:chExt cx="1577700" cy="636000"/>
          </a:xfrm>
        </p:grpSpPr>
        <p:cxnSp>
          <p:nvCxnSpPr>
            <p:cNvPr id="292" name="Google Shape;292;p33"/>
            <p:cNvCxnSpPr/>
            <p:nvPr/>
          </p:nvCxnSpPr>
          <p:spPr>
            <a:xfrm>
              <a:off x="718625" y="2882800"/>
              <a:ext cx="1577700" cy="512100"/>
            </a:xfrm>
            <a:prstGeom prst="straightConnector1">
              <a:avLst/>
            </a:prstGeom>
            <a:noFill/>
            <a:ln cap="flat" cmpd="sng" w="19050">
              <a:solidFill>
                <a:srgbClr val="CC0000"/>
              </a:solidFill>
              <a:prstDash val="solid"/>
              <a:round/>
              <a:headEnd len="med" w="med" type="none"/>
              <a:tailEnd len="med" w="med" type="none"/>
            </a:ln>
          </p:spPr>
        </p:cxnSp>
        <p:cxnSp>
          <p:nvCxnSpPr>
            <p:cNvPr id="293" name="Google Shape;293;p33"/>
            <p:cNvCxnSpPr/>
            <p:nvPr/>
          </p:nvCxnSpPr>
          <p:spPr>
            <a:xfrm>
              <a:off x="1519875" y="2758900"/>
              <a:ext cx="768300" cy="247800"/>
            </a:xfrm>
            <a:prstGeom prst="straightConnector1">
              <a:avLst/>
            </a:prstGeom>
            <a:noFill/>
            <a:ln cap="flat" cmpd="sng" w="19050">
              <a:solidFill>
                <a:srgbClr val="CC0000"/>
              </a:solidFill>
              <a:prstDash val="solid"/>
              <a:round/>
              <a:headEnd len="med" w="med" type="none"/>
              <a:tailEnd len="med" w="med" type="none"/>
            </a:ln>
          </p:spPr>
        </p:cxnSp>
      </p:grpSp>
      <p:grpSp>
        <p:nvGrpSpPr>
          <p:cNvPr id="294" name="Google Shape;294;p33"/>
          <p:cNvGrpSpPr/>
          <p:nvPr/>
        </p:nvGrpSpPr>
        <p:grpSpPr>
          <a:xfrm>
            <a:off x="883825" y="2522025"/>
            <a:ext cx="3122350" cy="662575"/>
            <a:chOff x="883825" y="2750625"/>
            <a:chExt cx="3122350" cy="662575"/>
          </a:xfrm>
        </p:grpSpPr>
        <p:sp>
          <p:nvSpPr>
            <p:cNvPr id="295" name="Google Shape;295;p33"/>
            <p:cNvSpPr/>
            <p:nvPr/>
          </p:nvSpPr>
          <p:spPr>
            <a:xfrm>
              <a:off x="1495100" y="2750625"/>
              <a:ext cx="2502825" cy="355650"/>
            </a:xfrm>
            <a:custGeom>
              <a:rect b="b" l="l" r="r" t="t"/>
              <a:pathLst>
                <a:path extrusionOk="0" h="14226" w="100113">
                  <a:moveTo>
                    <a:pt x="0" y="2974"/>
                  </a:moveTo>
                  <a:cubicBezTo>
                    <a:pt x="7875" y="4846"/>
                    <a:pt x="30563" y="14704"/>
                    <a:pt x="47248" y="14208"/>
                  </a:cubicBezTo>
                  <a:cubicBezTo>
                    <a:pt x="63934" y="13712"/>
                    <a:pt x="91302" y="2368"/>
                    <a:pt x="100113" y="0"/>
                  </a:cubicBezTo>
                </a:path>
              </a:pathLst>
            </a:custGeom>
            <a:noFill/>
            <a:ln cap="flat" cmpd="sng" w="19050">
              <a:solidFill>
                <a:srgbClr val="E69138"/>
              </a:solidFill>
              <a:prstDash val="solid"/>
              <a:round/>
              <a:headEnd len="med" w="med" type="none"/>
              <a:tailEnd len="med" w="med" type="none"/>
            </a:ln>
          </p:spPr>
        </p:sp>
        <p:sp>
          <p:nvSpPr>
            <p:cNvPr id="296" name="Google Shape;296;p33"/>
            <p:cNvSpPr/>
            <p:nvPr/>
          </p:nvSpPr>
          <p:spPr>
            <a:xfrm>
              <a:off x="883825" y="2866275"/>
              <a:ext cx="3122350" cy="546925"/>
            </a:xfrm>
            <a:custGeom>
              <a:rect b="b" l="l" r="r" t="t"/>
              <a:pathLst>
                <a:path extrusionOk="0" h="21877" w="124894">
                  <a:moveTo>
                    <a:pt x="0" y="0"/>
                  </a:moveTo>
                  <a:cubicBezTo>
                    <a:pt x="12445" y="3635"/>
                    <a:pt x="53856" y="20651"/>
                    <a:pt x="74672" y="21807"/>
                  </a:cubicBezTo>
                  <a:cubicBezTo>
                    <a:pt x="95488" y="22964"/>
                    <a:pt x="116524" y="9417"/>
                    <a:pt x="124894" y="6939"/>
                  </a:cubicBezTo>
                </a:path>
              </a:pathLst>
            </a:custGeom>
            <a:noFill/>
            <a:ln cap="flat" cmpd="sng" w="19050">
              <a:solidFill>
                <a:srgbClr val="E69138"/>
              </a:solidFill>
              <a:prstDash val="solid"/>
              <a:round/>
              <a:headEnd len="med" w="med" type="none"/>
              <a:tailEnd len="med" w="med" type="none"/>
            </a:ln>
          </p:spPr>
        </p:sp>
      </p:grpSp>
      <p:grpSp>
        <p:nvGrpSpPr>
          <p:cNvPr id="297" name="Google Shape;297;p33"/>
          <p:cNvGrpSpPr/>
          <p:nvPr/>
        </p:nvGrpSpPr>
        <p:grpSpPr>
          <a:xfrm>
            <a:off x="1065550" y="2520087"/>
            <a:ext cx="4501800" cy="918813"/>
            <a:chOff x="1065550" y="2748687"/>
            <a:chExt cx="4501800" cy="918813"/>
          </a:xfrm>
        </p:grpSpPr>
        <p:sp>
          <p:nvSpPr>
            <p:cNvPr id="298" name="Google Shape;298;p33"/>
            <p:cNvSpPr/>
            <p:nvPr/>
          </p:nvSpPr>
          <p:spPr>
            <a:xfrm>
              <a:off x="1495100" y="2748687"/>
              <a:ext cx="4055725" cy="629725"/>
            </a:xfrm>
            <a:custGeom>
              <a:rect b="b" l="l" r="r" t="t"/>
              <a:pathLst>
                <a:path extrusionOk="0" h="25189" w="162229">
                  <a:moveTo>
                    <a:pt x="0" y="5034"/>
                  </a:moveTo>
                  <a:cubicBezTo>
                    <a:pt x="8480" y="7017"/>
                    <a:pt x="31719" y="17755"/>
                    <a:pt x="50882" y="16929"/>
                  </a:cubicBezTo>
                  <a:cubicBezTo>
                    <a:pt x="70046" y="16103"/>
                    <a:pt x="96423" y="-1299"/>
                    <a:pt x="114981" y="78"/>
                  </a:cubicBezTo>
                  <a:cubicBezTo>
                    <a:pt x="133539" y="1455"/>
                    <a:pt x="154354" y="21004"/>
                    <a:pt x="162229" y="25189"/>
                  </a:cubicBezTo>
                </a:path>
              </a:pathLst>
            </a:custGeom>
            <a:noFill/>
            <a:ln cap="flat" cmpd="sng" w="19050">
              <a:solidFill>
                <a:srgbClr val="38761D"/>
              </a:solidFill>
              <a:prstDash val="solid"/>
              <a:round/>
              <a:headEnd len="med" w="med" type="none"/>
              <a:tailEnd len="med" w="med" type="none"/>
            </a:ln>
          </p:spPr>
        </p:sp>
        <p:sp>
          <p:nvSpPr>
            <p:cNvPr id="299" name="Google Shape;299;p33"/>
            <p:cNvSpPr/>
            <p:nvPr/>
          </p:nvSpPr>
          <p:spPr>
            <a:xfrm>
              <a:off x="1065550" y="2882800"/>
              <a:ext cx="4501800" cy="784700"/>
            </a:xfrm>
            <a:custGeom>
              <a:rect b="b" l="l" r="r" t="t"/>
              <a:pathLst>
                <a:path extrusionOk="0" h="31388" w="180072">
                  <a:moveTo>
                    <a:pt x="0" y="0"/>
                  </a:moveTo>
                  <a:cubicBezTo>
                    <a:pt x="11619" y="3139"/>
                    <a:pt x="48074" y="18227"/>
                    <a:pt x="69716" y="18833"/>
                  </a:cubicBezTo>
                  <a:cubicBezTo>
                    <a:pt x="91358" y="19439"/>
                    <a:pt x="111457" y="1542"/>
                    <a:pt x="129850" y="3634"/>
                  </a:cubicBezTo>
                  <a:cubicBezTo>
                    <a:pt x="148243" y="5727"/>
                    <a:pt x="171702" y="26762"/>
                    <a:pt x="180072" y="31388"/>
                  </a:cubicBezTo>
                </a:path>
              </a:pathLst>
            </a:custGeom>
            <a:noFill/>
            <a:ln cap="flat" cmpd="sng" w="19050">
              <a:solidFill>
                <a:srgbClr val="38761D"/>
              </a:solidFill>
              <a:prstDash val="solid"/>
              <a:round/>
              <a:headEnd len="med" w="med" type="none"/>
              <a:tailEnd len="med" w="med" type="none"/>
            </a:ln>
          </p:spPr>
        </p:sp>
      </p:grpSp>
      <p:sp>
        <p:nvSpPr>
          <p:cNvPr id="300" name="Google Shape;300;p33"/>
          <p:cNvSpPr/>
          <p:nvPr/>
        </p:nvSpPr>
        <p:spPr>
          <a:xfrm>
            <a:off x="1321625" y="2555075"/>
            <a:ext cx="6038175" cy="809750"/>
          </a:xfrm>
          <a:custGeom>
            <a:rect b="b" l="l" r="r" t="t"/>
            <a:pathLst>
              <a:path extrusionOk="0" h="32390" w="241527">
                <a:moveTo>
                  <a:pt x="0" y="3634"/>
                </a:moveTo>
                <a:cubicBezTo>
                  <a:pt x="9747" y="6332"/>
                  <a:pt x="37997" y="19824"/>
                  <a:pt x="58482" y="19824"/>
                </a:cubicBezTo>
                <a:cubicBezTo>
                  <a:pt x="78967" y="19824"/>
                  <a:pt x="101820" y="1541"/>
                  <a:pt x="122911" y="3634"/>
                </a:cubicBezTo>
                <a:cubicBezTo>
                  <a:pt x="144002" y="5727"/>
                  <a:pt x="165259" y="32986"/>
                  <a:pt x="185028" y="32380"/>
                </a:cubicBezTo>
                <a:cubicBezTo>
                  <a:pt x="204797" y="31774"/>
                  <a:pt x="232111" y="5397"/>
                  <a:pt x="241527" y="0"/>
                </a:cubicBezTo>
              </a:path>
            </a:pathLst>
          </a:custGeom>
          <a:noFill/>
          <a:ln cap="flat" cmpd="sng" w="38100">
            <a:solidFill>
              <a:srgbClr val="1155CC"/>
            </a:solidFill>
            <a:prstDash val="solid"/>
            <a:round/>
            <a:headEnd len="med" w="med" type="none"/>
            <a:tailEnd len="med" w="med" type="triangle"/>
          </a:ln>
        </p:spPr>
      </p:sp>
      <p:sp>
        <p:nvSpPr>
          <p:cNvPr id="301" name="Google Shape;301;p33"/>
          <p:cNvSpPr/>
          <p:nvPr/>
        </p:nvSpPr>
        <p:spPr>
          <a:xfrm>
            <a:off x="533825" y="3405450"/>
            <a:ext cx="1718100" cy="17034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1</a:t>
            </a:r>
            <a:endParaRPr sz="1000"/>
          </a:p>
        </p:txBody>
      </p:sp>
      <p:sp>
        <p:nvSpPr>
          <p:cNvPr id="302" name="Google Shape;302;p33"/>
          <p:cNvSpPr/>
          <p:nvPr/>
        </p:nvSpPr>
        <p:spPr>
          <a:xfrm>
            <a:off x="604025" y="3736050"/>
            <a:ext cx="1577700" cy="1304400"/>
          </a:xfrm>
          <a:prstGeom prst="rect">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2</a:t>
            </a:r>
            <a:endParaRPr sz="1000"/>
          </a:p>
        </p:txBody>
      </p:sp>
      <p:sp>
        <p:nvSpPr>
          <p:cNvPr id="303" name="Google Shape;303;p33"/>
          <p:cNvSpPr/>
          <p:nvPr/>
        </p:nvSpPr>
        <p:spPr>
          <a:xfrm>
            <a:off x="674225" y="4053551"/>
            <a:ext cx="1437300" cy="9189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3</a:t>
            </a:r>
            <a:endParaRPr sz="1000"/>
          </a:p>
        </p:txBody>
      </p:sp>
      <p:sp>
        <p:nvSpPr>
          <p:cNvPr id="304" name="Google Shape;304;p33"/>
          <p:cNvSpPr/>
          <p:nvPr/>
        </p:nvSpPr>
        <p:spPr>
          <a:xfrm>
            <a:off x="723725" y="4363825"/>
            <a:ext cx="1338300" cy="5316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sp>
        <p:nvSpPr>
          <p:cNvPr id="305" name="Google Shape;305;p33"/>
          <p:cNvSpPr/>
          <p:nvPr/>
        </p:nvSpPr>
        <p:spPr>
          <a:xfrm>
            <a:off x="1078638" y="13648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Packet Construction</a:t>
            </a:r>
            <a:endParaRPr/>
          </a:p>
        </p:txBody>
      </p:sp>
      <p:sp>
        <p:nvSpPr>
          <p:cNvPr id="311" name="Google Shape;311;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34"/>
          <p:cNvSpPr/>
          <p:nvPr/>
        </p:nvSpPr>
        <p:spPr>
          <a:xfrm>
            <a:off x="7151900" y="12707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313" name="Google Shape;313;p34"/>
          <p:cNvSpPr/>
          <p:nvPr/>
        </p:nvSpPr>
        <p:spPr>
          <a:xfrm>
            <a:off x="7151900" y="416568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314" name="Google Shape;314;p34"/>
          <p:cNvSpPr/>
          <p:nvPr/>
        </p:nvSpPr>
        <p:spPr>
          <a:xfrm>
            <a:off x="6936200" y="2226325"/>
            <a:ext cx="14970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1: </a:t>
            </a:r>
            <a:r>
              <a:rPr i="1" lang="en">
                <a:solidFill>
                  <a:srgbClr val="CC0000"/>
                </a:solidFill>
              </a:rPr>
              <a:t>K</a:t>
            </a:r>
            <a:r>
              <a:rPr i="1" lang="en" sz="900">
                <a:solidFill>
                  <a:srgbClr val="CC0000"/>
                </a:solidFill>
              </a:rPr>
              <a:t>1</a:t>
            </a:r>
            <a:endParaRPr i="1" sz="900">
              <a:solidFill>
                <a:srgbClr val="CC0000"/>
              </a:solidFill>
            </a:endParaRPr>
          </a:p>
        </p:txBody>
      </p:sp>
      <p:sp>
        <p:nvSpPr>
          <p:cNvPr id="315" name="Google Shape;315;p34"/>
          <p:cNvSpPr/>
          <p:nvPr/>
        </p:nvSpPr>
        <p:spPr>
          <a:xfrm>
            <a:off x="6936200" y="2820075"/>
            <a:ext cx="14970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2: </a:t>
            </a:r>
            <a:r>
              <a:rPr i="1" lang="en">
                <a:solidFill>
                  <a:srgbClr val="BF9000"/>
                </a:solidFill>
              </a:rPr>
              <a:t>K</a:t>
            </a:r>
            <a:r>
              <a:rPr i="1" lang="en" sz="900">
                <a:solidFill>
                  <a:srgbClr val="BF9000"/>
                </a:solidFill>
              </a:rPr>
              <a:t>2</a:t>
            </a:r>
            <a:endParaRPr i="1" sz="900">
              <a:solidFill>
                <a:srgbClr val="BF9000"/>
              </a:solidFill>
            </a:endParaRPr>
          </a:p>
        </p:txBody>
      </p:sp>
      <p:sp>
        <p:nvSpPr>
          <p:cNvPr id="316" name="Google Shape;316;p34"/>
          <p:cNvSpPr/>
          <p:nvPr/>
        </p:nvSpPr>
        <p:spPr>
          <a:xfrm>
            <a:off x="6936200" y="3413825"/>
            <a:ext cx="1497000" cy="3690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a:t>
            </a:r>
            <a:r>
              <a:rPr i="1" lang="en">
                <a:solidFill>
                  <a:srgbClr val="38761D"/>
                </a:solidFill>
              </a:rPr>
              <a:t>K</a:t>
            </a:r>
            <a:r>
              <a:rPr i="1" lang="en" sz="900">
                <a:solidFill>
                  <a:srgbClr val="38761D"/>
                </a:solidFill>
              </a:rPr>
              <a:t>3</a:t>
            </a:r>
            <a:endParaRPr i="1" sz="900">
              <a:solidFill>
                <a:srgbClr val="38761D"/>
              </a:solidFill>
            </a:endParaRPr>
          </a:p>
        </p:txBody>
      </p:sp>
      <p:cxnSp>
        <p:nvCxnSpPr>
          <p:cNvPr id="317" name="Google Shape;317;p34"/>
          <p:cNvCxnSpPr>
            <a:stCxn id="312" idx="2"/>
            <a:endCxn id="314" idx="0"/>
          </p:cNvCxnSpPr>
          <p:nvPr/>
        </p:nvCxnSpPr>
        <p:spPr>
          <a:xfrm>
            <a:off x="7684700" y="1843438"/>
            <a:ext cx="0" cy="382800"/>
          </a:xfrm>
          <a:prstGeom prst="straightConnector1">
            <a:avLst/>
          </a:prstGeom>
          <a:noFill/>
          <a:ln cap="flat" cmpd="sng" w="9525">
            <a:solidFill>
              <a:schemeClr val="dk2"/>
            </a:solidFill>
            <a:prstDash val="solid"/>
            <a:round/>
            <a:headEnd len="med" w="med" type="none"/>
            <a:tailEnd len="med" w="med" type="triangle"/>
          </a:ln>
        </p:spPr>
      </p:cxnSp>
      <p:cxnSp>
        <p:nvCxnSpPr>
          <p:cNvPr id="318" name="Google Shape;318;p34"/>
          <p:cNvCxnSpPr>
            <a:stCxn id="314" idx="2"/>
            <a:endCxn id="315" idx="0"/>
          </p:cNvCxnSpPr>
          <p:nvPr/>
        </p:nvCxnSpPr>
        <p:spPr>
          <a:xfrm>
            <a:off x="7684700" y="261992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319" name="Google Shape;319;p34"/>
          <p:cNvCxnSpPr>
            <a:stCxn id="315" idx="2"/>
            <a:endCxn id="316" idx="0"/>
          </p:cNvCxnSpPr>
          <p:nvPr/>
        </p:nvCxnSpPr>
        <p:spPr>
          <a:xfrm>
            <a:off x="7684700" y="321367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320" name="Google Shape;320;p34"/>
          <p:cNvCxnSpPr>
            <a:stCxn id="316" idx="2"/>
            <a:endCxn id="313" idx="0"/>
          </p:cNvCxnSpPr>
          <p:nvPr/>
        </p:nvCxnSpPr>
        <p:spPr>
          <a:xfrm>
            <a:off x="7684700" y="3782825"/>
            <a:ext cx="0" cy="382800"/>
          </a:xfrm>
          <a:prstGeom prst="straightConnector1">
            <a:avLst/>
          </a:prstGeom>
          <a:noFill/>
          <a:ln cap="flat" cmpd="sng" w="9525">
            <a:solidFill>
              <a:schemeClr val="dk2"/>
            </a:solidFill>
            <a:prstDash val="solid"/>
            <a:round/>
            <a:headEnd len="med" w="med" type="none"/>
            <a:tailEnd len="med" w="med" type="triangle"/>
          </a:ln>
        </p:spPr>
      </p:cxnSp>
      <p:sp>
        <p:nvSpPr>
          <p:cNvPr id="321" name="Google Shape;321;p34"/>
          <p:cNvSpPr/>
          <p:nvPr/>
        </p:nvSpPr>
        <p:spPr>
          <a:xfrm>
            <a:off x="1291525" y="2121075"/>
            <a:ext cx="2133000" cy="20949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1, From: Alice</a:t>
            </a:r>
            <a:endParaRPr sz="1000"/>
          </a:p>
        </p:txBody>
      </p:sp>
      <p:sp>
        <p:nvSpPr>
          <p:cNvPr id="322" name="Google Shape;322;p34"/>
          <p:cNvSpPr/>
          <p:nvPr/>
        </p:nvSpPr>
        <p:spPr>
          <a:xfrm>
            <a:off x="1416250" y="2448525"/>
            <a:ext cx="1883100" cy="1596300"/>
          </a:xfrm>
          <a:prstGeom prst="rect">
            <a:avLst/>
          </a:prstGeom>
          <a:solidFill>
            <a:srgbClr val="FFF2CC"/>
          </a:solidFill>
          <a:ln cap="flat" cmpd="sng" w="1905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2, From: Relay 1</a:t>
            </a:r>
            <a:endParaRPr sz="1000"/>
          </a:p>
        </p:txBody>
      </p:sp>
      <p:sp>
        <p:nvSpPr>
          <p:cNvPr id="323" name="Google Shape;323;p34"/>
          <p:cNvSpPr/>
          <p:nvPr/>
        </p:nvSpPr>
        <p:spPr>
          <a:xfrm>
            <a:off x="1544300" y="2772050"/>
            <a:ext cx="1627800" cy="1142700"/>
          </a:xfrm>
          <a:prstGeom prst="rect">
            <a:avLst/>
          </a:prstGeom>
          <a:solidFill>
            <a:srgbClr val="D9EAD3"/>
          </a:solidFill>
          <a:ln cap="flat" cmpd="sng" w="19050">
            <a:solidFill>
              <a:srgbClr val="BF9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900">
                <a:solidFill>
                  <a:schemeClr val="dk1"/>
                </a:solidFill>
              </a:rPr>
              <a:t>To: Relay 3, From: Relay 2</a:t>
            </a:r>
            <a:endParaRPr sz="900">
              <a:solidFill>
                <a:schemeClr val="dk1"/>
              </a:solidFill>
            </a:endParaRPr>
          </a:p>
          <a:p>
            <a:pPr indent="0" lvl="0" marL="0" rtl="0" algn="l">
              <a:spcBef>
                <a:spcPts val="0"/>
              </a:spcBef>
              <a:spcAft>
                <a:spcPts val="0"/>
              </a:spcAft>
              <a:buNone/>
            </a:pPr>
            <a:r>
              <a:t/>
            </a:r>
            <a:endParaRPr sz="1000"/>
          </a:p>
        </p:txBody>
      </p:sp>
      <p:sp>
        <p:nvSpPr>
          <p:cNvPr id="324" name="Google Shape;324;p34"/>
          <p:cNvSpPr/>
          <p:nvPr/>
        </p:nvSpPr>
        <p:spPr>
          <a:xfrm>
            <a:off x="1640600" y="3088725"/>
            <a:ext cx="1435200" cy="703800"/>
          </a:xfrm>
          <a:prstGeom prst="rect">
            <a:avLst/>
          </a:prstGeom>
          <a:solidFill>
            <a:srgbClr val="C9DAF8"/>
          </a:solid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grpSp>
        <p:nvGrpSpPr>
          <p:cNvPr id="325" name="Google Shape;325;p34"/>
          <p:cNvGrpSpPr/>
          <p:nvPr/>
        </p:nvGrpSpPr>
        <p:grpSpPr>
          <a:xfrm>
            <a:off x="3299300" y="2058075"/>
            <a:ext cx="2651400" cy="1188600"/>
            <a:chOff x="5256050" y="1999050"/>
            <a:chExt cx="2651400" cy="1188600"/>
          </a:xfrm>
        </p:grpSpPr>
        <p:cxnSp>
          <p:nvCxnSpPr>
            <p:cNvPr id="326" name="Google Shape;326;p34"/>
            <p:cNvCxnSpPr>
              <a:stCxn id="327" idx="1"/>
              <a:endCxn id="322" idx="3"/>
            </p:cNvCxnSpPr>
            <p:nvPr/>
          </p:nvCxnSpPr>
          <p:spPr>
            <a:xfrm flipH="1">
              <a:off x="5256050" y="2195850"/>
              <a:ext cx="768300" cy="991800"/>
            </a:xfrm>
            <a:prstGeom prst="straightConnector1">
              <a:avLst/>
            </a:prstGeom>
            <a:noFill/>
            <a:ln cap="flat" cmpd="sng" w="9525">
              <a:solidFill>
                <a:srgbClr val="990000"/>
              </a:solidFill>
              <a:prstDash val="solid"/>
              <a:round/>
              <a:headEnd len="med" w="med" type="none"/>
              <a:tailEnd len="med" w="med" type="triangle"/>
            </a:ln>
          </p:spPr>
        </p:cxnSp>
        <p:sp>
          <p:nvSpPr>
            <p:cNvPr id="327" name="Google Shape;327;p34"/>
            <p:cNvSpPr/>
            <p:nvPr/>
          </p:nvSpPr>
          <p:spPr>
            <a:xfrm>
              <a:off x="6024350" y="1999050"/>
              <a:ext cx="18831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 </a:t>
              </a:r>
              <a:r>
                <a:rPr i="1" lang="en">
                  <a:solidFill>
                    <a:srgbClr val="CC0000"/>
                  </a:solidFill>
                </a:rPr>
                <a:t>K</a:t>
              </a:r>
              <a:r>
                <a:rPr i="1" lang="en" sz="900">
                  <a:solidFill>
                    <a:srgbClr val="CC0000"/>
                  </a:solidFill>
                </a:rPr>
                <a:t>1</a:t>
              </a:r>
              <a:endParaRPr i="1" sz="900">
                <a:solidFill>
                  <a:srgbClr val="CC0000"/>
                </a:solidFill>
              </a:endParaRPr>
            </a:p>
          </p:txBody>
        </p:sp>
      </p:grpSp>
      <p:grpSp>
        <p:nvGrpSpPr>
          <p:cNvPr id="328" name="Google Shape;328;p34"/>
          <p:cNvGrpSpPr/>
          <p:nvPr/>
        </p:nvGrpSpPr>
        <p:grpSpPr>
          <a:xfrm>
            <a:off x="3171950" y="2775975"/>
            <a:ext cx="2778900" cy="567300"/>
            <a:chOff x="5128700" y="2716950"/>
            <a:chExt cx="2778900" cy="567300"/>
          </a:xfrm>
        </p:grpSpPr>
        <p:cxnSp>
          <p:nvCxnSpPr>
            <p:cNvPr id="329" name="Google Shape;329;p34"/>
            <p:cNvCxnSpPr>
              <a:stCxn id="330" idx="1"/>
              <a:endCxn id="323" idx="3"/>
            </p:cNvCxnSpPr>
            <p:nvPr/>
          </p:nvCxnSpPr>
          <p:spPr>
            <a:xfrm flipH="1">
              <a:off x="5128700" y="2913750"/>
              <a:ext cx="895800" cy="370500"/>
            </a:xfrm>
            <a:prstGeom prst="straightConnector1">
              <a:avLst/>
            </a:prstGeom>
            <a:noFill/>
            <a:ln cap="flat" cmpd="sng" w="9525">
              <a:solidFill>
                <a:srgbClr val="BF9000"/>
              </a:solidFill>
              <a:prstDash val="solid"/>
              <a:round/>
              <a:headEnd len="med" w="med" type="none"/>
              <a:tailEnd len="med" w="med" type="triangle"/>
            </a:ln>
          </p:spPr>
        </p:cxnSp>
        <p:sp>
          <p:nvSpPr>
            <p:cNvPr id="330" name="Google Shape;330;p34"/>
            <p:cNvSpPr/>
            <p:nvPr/>
          </p:nvSpPr>
          <p:spPr>
            <a:xfrm>
              <a:off x="6024500" y="2716950"/>
              <a:ext cx="18831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 </a:t>
              </a:r>
              <a:r>
                <a:rPr i="1" lang="en">
                  <a:solidFill>
                    <a:srgbClr val="BF9000"/>
                  </a:solidFill>
                </a:rPr>
                <a:t>K</a:t>
              </a:r>
              <a:r>
                <a:rPr i="1" lang="en" sz="900">
                  <a:solidFill>
                    <a:srgbClr val="BF9000"/>
                  </a:solidFill>
                </a:rPr>
                <a:t>2</a:t>
              </a:r>
              <a:endParaRPr i="1" sz="900">
                <a:solidFill>
                  <a:srgbClr val="BF9000"/>
                </a:solidFill>
              </a:endParaRPr>
            </a:p>
          </p:txBody>
        </p:sp>
      </p:grpSp>
      <p:sp>
        <p:nvSpPr>
          <p:cNvPr id="331" name="Google Shape;331;p34"/>
          <p:cNvSpPr txBox="1"/>
          <p:nvPr>
            <p:ph idx="4294967295" type="body"/>
          </p:nvPr>
        </p:nvSpPr>
        <p:spPr>
          <a:xfrm>
            <a:off x="198500" y="1170625"/>
            <a:ext cx="6737700" cy="620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does Relay 1 see?</a:t>
            </a:r>
            <a:endParaRPr/>
          </a:p>
        </p:txBody>
      </p:sp>
      <p:sp>
        <p:nvSpPr>
          <p:cNvPr id="332" name="Google Shape;332;p34"/>
          <p:cNvSpPr/>
          <p:nvPr/>
        </p:nvSpPr>
        <p:spPr>
          <a:xfrm>
            <a:off x="1544300" y="2772050"/>
            <a:ext cx="1627800" cy="1142700"/>
          </a:xfrm>
          <a:prstGeom prst="rect">
            <a:avLst/>
          </a:prstGeom>
          <a:solidFill>
            <a:srgbClr val="BF9000"/>
          </a:solidFill>
          <a:ln cap="flat" cmpd="sng" w="19050">
            <a:solidFill>
              <a:srgbClr val="BF9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a:t>
            </a:r>
            <a:endParaRPr b="1" sz="1000">
              <a:solidFill>
                <a:srgbClr val="FFFFFF"/>
              </a:solidFill>
            </a:endParaRPr>
          </a:p>
        </p:txBody>
      </p:sp>
      <p:sp>
        <p:nvSpPr>
          <p:cNvPr id="333" name="Google Shape;333;p34"/>
          <p:cNvSpPr txBox="1"/>
          <p:nvPr/>
        </p:nvSpPr>
        <p:spPr>
          <a:xfrm>
            <a:off x="1835575" y="4338200"/>
            <a:ext cx="50118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All Relay 1 knows is the message came from Alice and is going to Relay 2. They don’t know Alice is talking to Bob!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3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339" name="Google Shape;339;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40" name="Google Shape;340;p35"/>
          <p:cNvSpPr/>
          <p:nvPr/>
        </p:nvSpPr>
        <p:spPr>
          <a:xfrm>
            <a:off x="434725"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r>
              <a:rPr i="1" lang="en"/>
              <a:t>, </a:t>
            </a:r>
            <a:r>
              <a:rPr i="1" lang="en">
                <a:solidFill>
                  <a:srgbClr val="BF9000"/>
                </a:solidFill>
              </a:rPr>
              <a:t>K</a:t>
            </a:r>
            <a:r>
              <a:rPr i="1" lang="en" sz="900">
                <a:solidFill>
                  <a:srgbClr val="BF9000"/>
                </a:solidFill>
              </a:rPr>
              <a:t>2</a:t>
            </a:r>
            <a:r>
              <a:rPr i="1" lang="en"/>
              <a:t>, </a:t>
            </a:r>
            <a:r>
              <a:rPr i="1" lang="en">
                <a:solidFill>
                  <a:srgbClr val="38761D"/>
                </a:solidFill>
              </a:rPr>
              <a:t>K</a:t>
            </a:r>
            <a:r>
              <a:rPr i="1" lang="en" sz="900">
                <a:solidFill>
                  <a:srgbClr val="38761D"/>
                </a:solidFill>
              </a:rPr>
              <a:t>3</a:t>
            </a:r>
            <a:endParaRPr i="1" sz="900">
              <a:solidFill>
                <a:srgbClr val="38761D"/>
              </a:solidFill>
            </a:endParaRPr>
          </a:p>
        </p:txBody>
      </p:sp>
      <p:sp>
        <p:nvSpPr>
          <p:cNvPr id="341" name="Google Shape;341;p35"/>
          <p:cNvSpPr/>
          <p:nvPr/>
        </p:nvSpPr>
        <p:spPr>
          <a:xfrm>
            <a:off x="2407800" y="16565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342" name="Google Shape;342;p35"/>
          <p:cNvSpPr/>
          <p:nvPr/>
        </p:nvSpPr>
        <p:spPr>
          <a:xfrm>
            <a:off x="3533325" y="17584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343" name="Google Shape;343;p35"/>
          <p:cNvSpPr/>
          <p:nvPr/>
        </p:nvSpPr>
        <p:spPr>
          <a:xfrm>
            <a:off x="4337150" y="12189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344" name="Google Shape;344;p35"/>
          <p:cNvSpPr/>
          <p:nvPr/>
        </p:nvSpPr>
        <p:spPr>
          <a:xfrm>
            <a:off x="5551975" y="21520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345" name="Google Shape;345;p35"/>
          <p:cNvSpPr/>
          <p:nvPr/>
        </p:nvSpPr>
        <p:spPr>
          <a:xfrm>
            <a:off x="5551975" y="12629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346" name="Google Shape;346;p35"/>
          <p:cNvSpPr/>
          <p:nvPr/>
        </p:nvSpPr>
        <p:spPr>
          <a:xfrm>
            <a:off x="7406850"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347" name="Google Shape;347;p35"/>
          <p:cNvSpPr/>
          <p:nvPr/>
        </p:nvSpPr>
        <p:spPr>
          <a:xfrm>
            <a:off x="2288500" y="2772325"/>
            <a:ext cx="732000" cy="8097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endParaRPr i="1" sz="900">
              <a:solidFill>
                <a:srgbClr val="CC0000"/>
              </a:solidFill>
            </a:endParaRPr>
          </a:p>
        </p:txBody>
      </p:sp>
      <p:sp>
        <p:nvSpPr>
          <p:cNvPr id="348" name="Google Shape;348;p35"/>
          <p:cNvSpPr/>
          <p:nvPr/>
        </p:nvSpPr>
        <p:spPr>
          <a:xfrm>
            <a:off x="3997000" y="2480100"/>
            <a:ext cx="732000" cy="8097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BF9000"/>
                </a:solidFill>
              </a:rPr>
              <a:t>K</a:t>
            </a:r>
            <a:r>
              <a:rPr i="1" lang="en" sz="900">
                <a:solidFill>
                  <a:srgbClr val="BF9000"/>
                </a:solidFill>
              </a:rPr>
              <a:t>2</a:t>
            </a:r>
            <a:endParaRPr i="1" sz="900">
              <a:solidFill>
                <a:srgbClr val="BF9000"/>
              </a:solidFill>
            </a:endParaRPr>
          </a:p>
        </p:txBody>
      </p:sp>
      <p:sp>
        <p:nvSpPr>
          <p:cNvPr id="349" name="Google Shape;349;p35"/>
          <p:cNvSpPr/>
          <p:nvPr/>
        </p:nvSpPr>
        <p:spPr>
          <a:xfrm>
            <a:off x="5551975" y="3102675"/>
            <a:ext cx="732000" cy="8097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38761D"/>
                </a:solidFill>
              </a:rPr>
              <a:t>K</a:t>
            </a:r>
            <a:r>
              <a:rPr i="1" lang="en" sz="900">
                <a:solidFill>
                  <a:srgbClr val="38761D"/>
                </a:solidFill>
              </a:rPr>
              <a:t>3</a:t>
            </a:r>
            <a:endParaRPr i="1" sz="900">
              <a:solidFill>
                <a:srgbClr val="38761D"/>
              </a:solidFill>
            </a:endParaRPr>
          </a:p>
        </p:txBody>
      </p:sp>
      <p:grpSp>
        <p:nvGrpSpPr>
          <p:cNvPr id="350" name="Google Shape;350;p35"/>
          <p:cNvGrpSpPr/>
          <p:nvPr/>
        </p:nvGrpSpPr>
        <p:grpSpPr>
          <a:xfrm>
            <a:off x="718625" y="2530300"/>
            <a:ext cx="1577700" cy="636000"/>
            <a:chOff x="718625" y="2758900"/>
            <a:chExt cx="1577700" cy="636000"/>
          </a:xfrm>
        </p:grpSpPr>
        <p:cxnSp>
          <p:nvCxnSpPr>
            <p:cNvPr id="351" name="Google Shape;351;p35"/>
            <p:cNvCxnSpPr/>
            <p:nvPr/>
          </p:nvCxnSpPr>
          <p:spPr>
            <a:xfrm>
              <a:off x="718625" y="2882800"/>
              <a:ext cx="1577700" cy="512100"/>
            </a:xfrm>
            <a:prstGeom prst="straightConnector1">
              <a:avLst/>
            </a:prstGeom>
            <a:noFill/>
            <a:ln cap="flat" cmpd="sng" w="19050">
              <a:solidFill>
                <a:srgbClr val="CC0000"/>
              </a:solidFill>
              <a:prstDash val="solid"/>
              <a:round/>
              <a:headEnd len="med" w="med" type="none"/>
              <a:tailEnd len="med" w="med" type="none"/>
            </a:ln>
          </p:spPr>
        </p:cxnSp>
        <p:cxnSp>
          <p:nvCxnSpPr>
            <p:cNvPr id="352" name="Google Shape;352;p35"/>
            <p:cNvCxnSpPr/>
            <p:nvPr/>
          </p:nvCxnSpPr>
          <p:spPr>
            <a:xfrm>
              <a:off x="1519875" y="2758900"/>
              <a:ext cx="768300" cy="247800"/>
            </a:xfrm>
            <a:prstGeom prst="straightConnector1">
              <a:avLst/>
            </a:prstGeom>
            <a:noFill/>
            <a:ln cap="flat" cmpd="sng" w="19050">
              <a:solidFill>
                <a:srgbClr val="CC0000"/>
              </a:solidFill>
              <a:prstDash val="solid"/>
              <a:round/>
              <a:headEnd len="med" w="med" type="none"/>
              <a:tailEnd len="med" w="med" type="none"/>
            </a:ln>
          </p:spPr>
        </p:cxnSp>
      </p:grpSp>
      <p:grpSp>
        <p:nvGrpSpPr>
          <p:cNvPr id="353" name="Google Shape;353;p35"/>
          <p:cNvGrpSpPr/>
          <p:nvPr/>
        </p:nvGrpSpPr>
        <p:grpSpPr>
          <a:xfrm>
            <a:off x="883825" y="2522025"/>
            <a:ext cx="3122350" cy="662575"/>
            <a:chOff x="883825" y="2750625"/>
            <a:chExt cx="3122350" cy="662575"/>
          </a:xfrm>
        </p:grpSpPr>
        <p:sp>
          <p:nvSpPr>
            <p:cNvPr id="354" name="Google Shape;354;p35"/>
            <p:cNvSpPr/>
            <p:nvPr/>
          </p:nvSpPr>
          <p:spPr>
            <a:xfrm>
              <a:off x="1495100" y="2750625"/>
              <a:ext cx="2502825" cy="355650"/>
            </a:xfrm>
            <a:custGeom>
              <a:rect b="b" l="l" r="r" t="t"/>
              <a:pathLst>
                <a:path extrusionOk="0" h="14226" w="100113">
                  <a:moveTo>
                    <a:pt x="0" y="2974"/>
                  </a:moveTo>
                  <a:cubicBezTo>
                    <a:pt x="7875" y="4846"/>
                    <a:pt x="30563" y="14704"/>
                    <a:pt x="47248" y="14208"/>
                  </a:cubicBezTo>
                  <a:cubicBezTo>
                    <a:pt x="63934" y="13712"/>
                    <a:pt x="91302" y="2368"/>
                    <a:pt x="100113" y="0"/>
                  </a:cubicBezTo>
                </a:path>
              </a:pathLst>
            </a:custGeom>
            <a:noFill/>
            <a:ln cap="flat" cmpd="sng" w="19050">
              <a:solidFill>
                <a:srgbClr val="E69138"/>
              </a:solidFill>
              <a:prstDash val="solid"/>
              <a:round/>
              <a:headEnd len="med" w="med" type="none"/>
              <a:tailEnd len="med" w="med" type="none"/>
            </a:ln>
          </p:spPr>
        </p:sp>
        <p:sp>
          <p:nvSpPr>
            <p:cNvPr id="355" name="Google Shape;355;p35"/>
            <p:cNvSpPr/>
            <p:nvPr/>
          </p:nvSpPr>
          <p:spPr>
            <a:xfrm>
              <a:off x="883825" y="2866275"/>
              <a:ext cx="3122350" cy="546925"/>
            </a:xfrm>
            <a:custGeom>
              <a:rect b="b" l="l" r="r" t="t"/>
              <a:pathLst>
                <a:path extrusionOk="0" h="21877" w="124894">
                  <a:moveTo>
                    <a:pt x="0" y="0"/>
                  </a:moveTo>
                  <a:cubicBezTo>
                    <a:pt x="12445" y="3635"/>
                    <a:pt x="53856" y="20651"/>
                    <a:pt x="74672" y="21807"/>
                  </a:cubicBezTo>
                  <a:cubicBezTo>
                    <a:pt x="95488" y="22964"/>
                    <a:pt x="116524" y="9417"/>
                    <a:pt x="124894" y="6939"/>
                  </a:cubicBezTo>
                </a:path>
              </a:pathLst>
            </a:custGeom>
            <a:noFill/>
            <a:ln cap="flat" cmpd="sng" w="19050">
              <a:solidFill>
                <a:srgbClr val="E69138"/>
              </a:solidFill>
              <a:prstDash val="solid"/>
              <a:round/>
              <a:headEnd len="med" w="med" type="none"/>
              <a:tailEnd len="med" w="med" type="none"/>
            </a:ln>
          </p:spPr>
        </p:sp>
      </p:grpSp>
      <p:grpSp>
        <p:nvGrpSpPr>
          <p:cNvPr id="356" name="Google Shape;356;p35"/>
          <p:cNvGrpSpPr/>
          <p:nvPr/>
        </p:nvGrpSpPr>
        <p:grpSpPr>
          <a:xfrm>
            <a:off x="1065550" y="2520087"/>
            <a:ext cx="4501800" cy="918813"/>
            <a:chOff x="1065550" y="2748687"/>
            <a:chExt cx="4501800" cy="918813"/>
          </a:xfrm>
        </p:grpSpPr>
        <p:sp>
          <p:nvSpPr>
            <p:cNvPr id="357" name="Google Shape;357;p35"/>
            <p:cNvSpPr/>
            <p:nvPr/>
          </p:nvSpPr>
          <p:spPr>
            <a:xfrm>
              <a:off x="1495100" y="2748687"/>
              <a:ext cx="4055725" cy="629725"/>
            </a:xfrm>
            <a:custGeom>
              <a:rect b="b" l="l" r="r" t="t"/>
              <a:pathLst>
                <a:path extrusionOk="0" h="25189" w="162229">
                  <a:moveTo>
                    <a:pt x="0" y="5034"/>
                  </a:moveTo>
                  <a:cubicBezTo>
                    <a:pt x="8480" y="7017"/>
                    <a:pt x="31719" y="17755"/>
                    <a:pt x="50882" y="16929"/>
                  </a:cubicBezTo>
                  <a:cubicBezTo>
                    <a:pt x="70046" y="16103"/>
                    <a:pt x="96423" y="-1299"/>
                    <a:pt x="114981" y="78"/>
                  </a:cubicBezTo>
                  <a:cubicBezTo>
                    <a:pt x="133539" y="1455"/>
                    <a:pt x="154354" y="21004"/>
                    <a:pt x="162229" y="25189"/>
                  </a:cubicBezTo>
                </a:path>
              </a:pathLst>
            </a:custGeom>
            <a:noFill/>
            <a:ln cap="flat" cmpd="sng" w="19050">
              <a:solidFill>
                <a:srgbClr val="38761D"/>
              </a:solidFill>
              <a:prstDash val="solid"/>
              <a:round/>
              <a:headEnd len="med" w="med" type="none"/>
              <a:tailEnd len="med" w="med" type="none"/>
            </a:ln>
          </p:spPr>
        </p:sp>
        <p:sp>
          <p:nvSpPr>
            <p:cNvPr id="358" name="Google Shape;358;p35"/>
            <p:cNvSpPr/>
            <p:nvPr/>
          </p:nvSpPr>
          <p:spPr>
            <a:xfrm>
              <a:off x="1065550" y="2882800"/>
              <a:ext cx="4501800" cy="784700"/>
            </a:xfrm>
            <a:custGeom>
              <a:rect b="b" l="l" r="r" t="t"/>
              <a:pathLst>
                <a:path extrusionOk="0" h="31388" w="180072">
                  <a:moveTo>
                    <a:pt x="0" y="0"/>
                  </a:moveTo>
                  <a:cubicBezTo>
                    <a:pt x="11619" y="3139"/>
                    <a:pt x="48074" y="18227"/>
                    <a:pt x="69716" y="18833"/>
                  </a:cubicBezTo>
                  <a:cubicBezTo>
                    <a:pt x="91358" y="19439"/>
                    <a:pt x="111457" y="1542"/>
                    <a:pt x="129850" y="3634"/>
                  </a:cubicBezTo>
                  <a:cubicBezTo>
                    <a:pt x="148243" y="5727"/>
                    <a:pt x="171702" y="26762"/>
                    <a:pt x="180072" y="31388"/>
                  </a:cubicBezTo>
                </a:path>
              </a:pathLst>
            </a:custGeom>
            <a:noFill/>
            <a:ln cap="flat" cmpd="sng" w="19050">
              <a:solidFill>
                <a:srgbClr val="38761D"/>
              </a:solidFill>
              <a:prstDash val="solid"/>
              <a:round/>
              <a:headEnd len="med" w="med" type="none"/>
              <a:tailEnd len="med" w="med" type="none"/>
            </a:ln>
          </p:spPr>
        </p:sp>
      </p:grpSp>
      <p:sp>
        <p:nvSpPr>
          <p:cNvPr id="359" name="Google Shape;359;p35"/>
          <p:cNvSpPr/>
          <p:nvPr/>
        </p:nvSpPr>
        <p:spPr>
          <a:xfrm>
            <a:off x="1321625" y="2555075"/>
            <a:ext cx="6038175" cy="809750"/>
          </a:xfrm>
          <a:custGeom>
            <a:rect b="b" l="l" r="r" t="t"/>
            <a:pathLst>
              <a:path extrusionOk="0" h="32390" w="241527">
                <a:moveTo>
                  <a:pt x="0" y="3634"/>
                </a:moveTo>
                <a:cubicBezTo>
                  <a:pt x="9747" y="6332"/>
                  <a:pt x="37997" y="19824"/>
                  <a:pt x="58482" y="19824"/>
                </a:cubicBezTo>
                <a:cubicBezTo>
                  <a:pt x="78967" y="19824"/>
                  <a:pt x="101820" y="1541"/>
                  <a:pt x="122911" y="3634"/>
                </a:cubicBezTo>
                <a:cubicBezTo>
                  <a:pt x="144002" y="5727"/>
                  <a:pt x="165259" y="32986"/>
                  <a:pt x="185028" y="32380"/>
                </a:cubicBezTo>
                <a:cubicBezTo>
                  <a:pt x="204797" y="31774"/>
                  <a:pt x="232111" y="5397"/>
                  <a:pt x="241527" y="0"/>
                </a:cubicBezTo>
              </a:path>
            </a:pathLst>
          </a:custGeom>
          <a:noFill/>
          <a:ln cap="flat" cmpd="sng" w="38100">
            <a:solidFill>
              <a:srgbClr val="1155CC"/>
            </a:solidFill>
            <a:prstDash val="solid"/>
            <a:round/>
            <a:headEnd len="med" w="med" type="none"/>
            <a:tailEnd len="med" w="med" type="triangle"/>
          </a:ln>
        </p:spPr>
      </p:sp>
      <p:sp>
        <p:nvSpPr>
          <p:cNvPr id="360" name="Google Shape;360;p35"/>
          <p:cNvSpPr/>
          <p:nvPr/>
        </p:nvSpPr>
        <p:spPr>
          <a:xfrm>
            <a:off x="3222400" y="3364825"/>
            <a:ext cx="1577700" cy="1304400"/>
          </a:xfrm>
          <a:prstGeom prst="rect">
            <a:avLst/>
          </a:prstGeom>
          <a:solidFill>
            <a:srgbClr val="FFF2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2</a:t>
            </a:r>
            <a:endParaRPr sz="1000"/>
          </a:p>
        </p:txBody>
      </p:sp>
      <p:sp>
        <p:nvSpPr>
          <p:cNvPr id="361" name="Google Shape;361;p35"/>
          <p:cNvSpPr/>
          <p:nvPr/>
        </p:nvSpPr>
        <p:spPr>
          <a:xfrm>
            <a:off x="3292600" y="3682326"/>
            <a:ext cx="1437300" cy="9189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3</a:t>
            </a:r>
            <a:endParaRPr sz="1000"/>
          </a:p>
        </p:txBody>
      </p:sp>
      <p:sp>
        <p:nvSpPr>
          <p:cNvPr id="362" name="Google Shape;362;p35"/>
          <p:cNvSpPr/>
          <p:nvPr/>
        </p:nvSpPr>
        <p:spPr>
          <a:xfrm>
            <a:off x="3342100" y="3992600"/>
            <a:ext cx="1338300" cy="5316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sp>
        <p:nvSpPr>
          <p:cNvPr id="363" name="Google Shape;363;p35"/>
          <p:cNvSpPr/>
          <p:nvPr/>
        </p:nvSpPr>
        <p:spPr>
          <a:xfrm>
            <a:off x="1078638" y="13648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3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Packet Construction</a:t>
            </a:r>
            <a:endParaRPr/>
          </a:p>
        </p:txBody>
      </p:sp>
      <p:sp>
        <p:nvSpPr>
          <p:cNvPr id="369" name="Google Shape;36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70" name="Google Shape;370;p36"/>
          <p:cNvSpPr/>
          <p:nvPr/>
        </p:nvSpPr>
        <p:spPr>
          <a:xfrm>
            <a:off x="7151900" y="12707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371" name="Google Shape;371;p36"/>
          <p:cNvSpPr/>
          <p:nvPr/>
        </p:nvSpPr>
        <p:spPr>
          <a:xfrm>
            <a:off x="7151900" y="416568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372" name="Google Shape;372;p36"/>
          <p:cNvSpPr/>
          <p:nvPr/>
        </p:nvSpPr>
        <p:spPr>
          <a:xfrm>
            <a:off x="6936200" y="2226325"/>
            <a:ext cx="14970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1: </a:t>
            </a:r>
            <a:r>
              <a:rPr i="1" lang="en">
                <a:solidFill>
                  <a:srgbClr val="CC0000"/>
                </a:solidFill>
              </a:rPr>
              <a:t>K</a:t>
            </a:r>
            <a:r>
              <a:rPr i="1" lang="en" sz="900">
                <a:solidFill>
                  <a:srgbClr val="CC0000"/>
                </a:solidFill>
              </a:rPr>
              <a:t>1</a:t>
            </a:r>
            <a:endParaRPr i="1" sz="900">
              <a:solidFill>
                <a:srgbClr val="CC0000"/>
              </a:solidFill>
            </a:endParaRPr>
          </a:p>
        </p:txBody>
      </p:sp>
      <p:sp>
        <p:nvSpPr>
          <p:cNvPr id="373" name="Google Shape;373;p36"/>
          <p:cNvSpPr/>
          <p:nvPr/>
        </p:nvSpPr>
        <p:spPr>
          <a:xfrm>
            <a:off x="6936200" y="2820075"/>
            <a:ext cx="14970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2: </a:t>
            </a:r>
            <a:r>
              <a:rPr i="1" lang="en">
                <a:solidFill>
                  <a:srgbClr val="BF9000"/>
                </a:solidFill>
              </a:rPr>
              <a:t>K</a:t>
            </a:r>
            <a:r>
              <a:rPr i="1" lang="en" sz="900">
                <a:solidFill>
                  <a:srgbClr val="BF9000"/>
                </a:solidFill>
              </a:rPr>
              <a:t>2</a:t>
            </a:r>
            <a:endParaRPr i="1" sz="900">
              <a:solidFill>
                <a:srgbClr val="BF9000"/>
              </a:solidFill>
            </a:endParaRPr>
          </a:p>
        </p:txBody>
      </p:sp>
      <p:sp>
        <p:nvSpPr>
          <p:cNvPr id="374" name="Google Shape;374;p36"/>
          <p:cNvSpPr/>
          <p:nvPr/>
        </p:nvSpPr>
        <p:spPr>
          <a:xfrm>
            <a:off x="6936200" y="3413825"/>
            <a:ext cx="1497000" cy="3690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a:t>
            </a:r>
            <a:r>
              <a:rPr i="1" lang="en">
                <a:solidFill>
                  <a:srgbClr val="38761D"/>
                </a:solidFill>
              </a:rPr>
              <a:t>K</a:t>
            </a:r>
            <a:r>
              <a:rPr i="1" lang="en" sz="900">
                <a:solidFill>
                  <a:srgbClr val="38761D"/>
                </a:solidFill>
              </a:rPr>
              <a:t>3</a:t>
            </a:r>
            <a:endParaRPr i="1" sz="900">
              <a:solidFill>
                <a:srgbClr val="38761D"/>
              </a:solidFill>
            </a:endParaRPr>
          </a:p>
        </p:txBody>
      </p:sp>
      <p:cxnSp>
        <p:nvCxnSpPr>
          <p:cNvPr id="375" name="Google Shape;375;p36"/>
          <p:cNvCxnSpPr>
            <a:stCxn id="370" idx="2"/>
            <a:endCxn id="372" idx="0"/>
          </p:cNvCxnSpPr>
          <p:nvPr/>
        </p:nvCxnSpPr>
        <p:spPr>
          <a:xfrm>
            <a:off x="7684700" y="1843438"/>
            <a:ext cx="0" cy="382800"/>
          </a:xfrm>
          <a:prstGeom prst="straightConnector1">
            <a:avLst/>
          </a:prstGeom>
          <a:noFill/>
          <a:ln cap="flat" cmpd="sng" w="9525">
            <a:solidFill>
              <a:schemeClr val="dk2"/>
            </a:solidFill>
            <a:prstDash val="solid"/>
            <a:round/>
            <a:headEnd len="med" w="med" type="none"/>
            <a:tailEnd len="med" w="med" type="triangle"/>
          </a:ln>
        </p:spPr>
      </p:cxnSp>
      <p:cxnSp>
        <p:nvCxnSpPr>
          <p:cNvPr id="376" name="Google Shape;376;p36"/>
          <p:cNvCxnSpPr>
            <a:stCxn id="372" idx="2"/>
            <a:endCxn id="373" idx="0"/>
          </p:cNvCxnSpPr>
          <p:nvPr/>
        </p:nvCxnSpPr>
        <p:spPr>
          <a:xfrm>
            <a:off x="7684700" y="261992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377" name="Google Shape;377;p36"/>
          <p:cNvCxnSpPr>
            <a:stCxn id="373" idx="2"/>
            <a:endCxn id="374" idx="0"/>
          </p:cNvCxnSpPr>
          <p:nvPr/>
        </p:nvCxnSpPr>
        <p:spPr>
          <a:xfrm>
            <a:off x="7684700" y="321367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378" name="Google Shape;378;p36"/>
          <p:cNvCxnSpPr>
            <a:stCxn id="374" idx="2"/>
            <a:endCxn id="371" idx="0"/>
          </p:cNvCxnSpPr>
          <p:nvPr/>
        </p:nvCxnSpPr>
        <p:spPr>
          <a:xfrm>
            <a:off x="7684700" y="3782825"/>
            <a:ext cx="0" cy="382800"/>
          </a:xfrm>
          <a:prstGeom prst="straightConnector1">
            <a:avLst/>
          </a:prstGeom>
          <a:noFill/>
          <a:ln cap="flat" cmpd="sng" w="9525">
            <a:solidFill>
              <a:schemeClr val="dk2"/>
            </a:solidFill>
            <a:prstDash val="solid"/>
            <a:round/>
            <a:headEnd len="med" w="med" type="none"/>
            <a:tailEnd len="med" w="med" type="triangle"/>
          </a:ln>
        </p:spPr>
      </p:cxnSp>
      <p:sp>
        <p:nvSpPr>
          <p:cNvPr id="379" name="Google Shape;379;p36"/>
          <p:cNvSpPr/>
          <p:nvPr/>
        </p:nvSpPr>
        <p:spPr>
          <a:xfrm>
            <a:off x="1416250" y="2448525"/>
            <a:ext cx="1883100" cy="1596300"/>
          </a:xfrm>
          <a:prstGeom prst="rect">
            <a:avLst/>
          </a:prstGeom>
          <a:solidFill>
            <a:srgbClr val="FFF2CC"/>
          </a:solidFill>
          <a:ln cap="flat" cmpd="sng" w="19050">
            <a:solidFill>
              <a:srgbClr val="99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2, From: Relay 1</a:t>
            </a:r>
            <a:endParaRPr sz="1000"/>
          </a:p>
        </p:txBody>
      </p:sp>
      <p:sp>
        <p:nvSpPr>
          <p:cNvPr id="380" name="Google Shape;380;p36"/>
          <p:cNvSpPr/>
          <p:nvPr/>
        </p:nvSpPr>
        <p:spPr>
          <a:xfrm>
            <a:off x="1544300" y="2772050"/>
            <a:ext cx="1627800" cy="1142700"/>
          </a:xfrm>
          <a:prstGeom prst="rect">
            <a:avLst/>
          </a:prstGeom>
          <a:solidFill>
            <a:srgbClr val="D9EAD3"/>
          </a:solidFill>
          <a:ln cap="flat" cmpd="sng" w="19050">
            <a:solidFill>
              <a:srgbClr val="BF9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t>To: Relay 3, From: Relay 2</a:t>
            </a:r>
            <a:endParaRPr sz="900"/>
          </a:p>
        </p:txBody>
      </p:sp>
      <p:sp>
        <p:nvSpPr>
          <p:cNvPr id="381" name="Google Shape;381;p36"/>
          <p:cNvSpPr/>
          <p:nvPr/>
        </p:nvSpPr>
        <p:spPr>
          <a:xfrm>
            <a:off x="1640600" y="3088725"/>
            <a:ext cx="1435200" cy="703800"/>
          </a:xfrm>
          <a:prstGeom prst="rect">
            <a:avLst/>
          </a:prstGeom>
          <a:solidFill>
            <a:srgbClr val="C9DAF8"/>
          </a:solid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grpSp>
        <p:nvGrpSpPr>
          <p:cNvPr id="382" name="Google Shape;382;p36"/>
          <p:cNvGrpSpPr/>
          <p:nvPr/>
        </p:nvGrpSpPr>
        <p:grpSpPr>
          <a:xfrm>
            <a:off x="3171950" y="2775975"/>
            <a:ext cx="2778900" cy="567300"/>
            <a:chOff x="5128700" y="2716950"/>
            <a:chExt cx="2778900" cy="567300"/>
          </a:xfrm>
        </p:grpSpPr>
        <p:cxnSp>
          <p:nvCxnSpPr>
            <p:cNvPr id="383" name="Google Shape;383;p36"/>
            <p:cNvCxnSpPr>
              <a:stCxn id="384" idx="1"/>
              <a:endCxn id="380" idx="3"/>
            </p:cNvCxnSpPr>
            <p:nvPr/>
          </p:nvCxnSpPr>
          <p:spPr>
            <a:xfrm flipH="1">
              <a:off x="5128700" y="2913750"/>
              <a:ext cx="895800" cy="370500"/>
            </a:xfrm>
            <a:prstGeom prst="straightConnector1">
              <a:avLst/>
            </a:prstGeom>
            <a:noFill/>
            <a:ln cap="flat" cmpd="sng" w="9525">
              <a:solidFill>
                <a:srgbClr val="BF9000"/>
              </a:solidFill>
              <a:prstDash val="solid"/>
              <a:round/>
              <a:headEnd len="med" w="med" type="none"/>
              <a:tailEnd len="med" w="med" type="triangle"/>
            </a:ln>
          </p:spPr>
        </p:cxnSp>
        <p:sp>
          <p:nvSpPr>
            <p:cNvPr id="384" name="Google Shape;384;p36"/>
            <p:cNvSpPr/>
            <p:nvPr/>
          </p:nvSpPr>
          <p:spPr>
            <a:xfrm>
              <a:off x="6024500" y="2716950"/>
              <a:ext cx="18831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 </a:t>
              </a:r>
              <a:r>
                <a:rPr i="1" lang="en">
                  <a:solidFill>
                    <a:srgbClr val="BF9000"/>
                  </a:solidFill>
                </a:rPr>
                <a:t>K</a:t>
              </a:r>
              <a:r>
                <a:rPr i="1" lang="en" sz="900">
                  <a:solidFill>
                    <a:srgbClr val="BF9000"/>
                  </a:solidFill>
                </a:rPr>
                <a:t>2</a:t>
              </a:r>
              <a:endParaRPr i="1" sz="900">
                <a:solidFill>
                  <a:srgbClr val="BF9000"/>
                </a:solidFill>
              </a:endParaRPr>
            </a:p>
          </p:txBody>
        </p:sp>
      </p:grpSp>
      <p:sp>
        <p:nvSpPr>
          <p:cNvPr id="385" name="Google Shape;385;p36"/>
          <p:cNvSpPr txBox="1"/>
          <p:nvPr>
            <p:ph idx="4294967295" type="body"/>
          </p:nvPr>
        </p:nvSpPr>
        <p:spPr>
          <a:xfrm>
            <a:off x="198500" y="1170625"/>
            <a:ext cx="6737700" cy="734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does Relay 2 see?</a:t>
            </a:r>
            <a:endParaRPr/>
          </a:p>
        </p:txBody>
      </p:sp>
      <p:grpSp>
        <p:nvGrpSpPr>
          <p:cNvPr id="386" name="Google Shape;386;p36"/>
          <p:cNvGrpSpPr/>
          <p:nvPr/>
        </p:nvGrpSpPr>
        <p:grpSpPr>
          <a:xfrm>
            <a:off x="3075800" y="3457375"/>
            <a:ext cx="2874900" cy="422100"/>
            <a:chOff x="5032550" y="3381750"/>
            <a:chExt cx="2874900" cy="422100"/>
          </a:xfrm>
        </p:grpSpPr>
        <p:cxnSp>
          <p:nvCxnSpPr>
            <p:cNvPr id="387" name="Google Shape;387;p36"/>
            <p:cNvCxnSpPr>
              <a:stCxn id="388" idx="1"/>
            </p:cNvCxnSpPr>
            <p:nvPr/>
          </p:nvCxnSpPr>
          <p:spPr>
            <a:xfrm rot="10800000">
              <a:off x="5032550" y="3381750"/>
              <a:ext cx="991800" cy="237600"/>
            </a:xfrm>
            <a:prstGeom prst="straightConnector1">
              <a:avLst/>
            </a:prstGeom>
            <a:noFill/>
            <a:ln cap="flat" cmpd="sng" w="9525">
              <a:solidFill>
                <a:srgbClr val="38761D"/>
              </a:solidFill>
              <a:prstDash val="solid"/>
              <a:round/>
              <a:headEnd len="med" w="med" type="none"/>
              <a:tailEnd len="med" w="med" type="triangle"/>
            </a:ln>
          </p:spPr>
        </p:cxnSp>
        <p:sp>
          <p:nvSpPr>
            <p:cNvPr id="388" name="Google Shape;388;p36"/>
            <p:cNvSpPr/>
            <p:nvPr/>
          </p:nvSpPr>
          <p:spPr>
            <a:xfrm>
              <a:off x="6024350" y="3434850"/>
              <a:ext cx="1883100" cy="3690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 </a:t>
              </a:r>
              <a:r>
                <a:rPr i="1" lang="en">
                  <a:solidFill>
                    <a:srgbClr val="38761D"/>
                  </a:solidFill>
                </a:rPr>
                <a:t>K</a:t>
              </a:r>
              <a:r>
                <a:rPr i="1" lang="en" sz="900">
                  <a:solidFill>
                    <a:srgbClr val="38761D"/>
                  </a:solidFill>
                </a:rPr>
                <a:t>3</a:t>
              </a:r>
              <a:endParaRPr i="1" sz="900">
                <a:solidFill>
                  <a:srgbClr val="38761D"/>
                </a:solidFill>
              </a:endParaRPr>
            </a:p>
          </p:txBody>
        </p:sp>
      </p:grpSp>
      <p:sp>
        <p:nvSpPr>
          <p:cNvPr id="389" name="Google Shape;389;p36"/>
          <p:cNvSpPr/>
          <p:nvPr/>
        </p:nvSpPr>
        <p:spPr>
          <a:xfrm>
            <a:off x="1640200" y="3088725"/>
            <a:ext cx="1435200" cy="703800"/>
          </a:xfrm>
          <a:prstGeom prst="rect">
            <a:avLst/>
          </a:prstGeom>
          <a:solidFill>
            <a:srgbClr val="38761D"/>
          </a:solid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000">
                <a:solidFill>
                  <a:srgbClr val="FFFFFF"/>
                </a:solidFill>
              </a:rPr>
              <a:t>???</a:t>
            </a:r>
            <a:endParaRPr b="1" sz="1000">
              <a:solidFill>
                <a:srgbClr val="FFFFFF"/>
              </a:solidFill>
            </a:endParaRPr>
          </a:p>
        </p:txBody>
      </p:sp>
      <p:sp>
        <p:nvSpPr>
          <p:cNvPr id="390" name="Google Shape;390;p36"/>
          <p:cNvSpPr txBox="1"/>
          <p:nvPr/>
        </p:nvSpPr>
        <p:spPr>
          <a:xfrm>
            <a:off x="1835575" y="4338200"/>
            <a:ext cx="50118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All Relay 2 knows is the message came from Relay 1 and is going to Relay 3. They know nothing about Alice and Bob!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37"/>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396" name="Google Shape;396;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397" name="Google Shape;397;p37"/>
          <p:cNvSpPr/>
          <p:nvPr/>
        </p:nvSpPr>
        <p:spPr>
          <a:xfrm>
            <a:off x="434725"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r>
              <a:rPr i="1" lang="en"/>
              <a:t>, </a:t>
            </a:r>
            <a:r>
              <a:rPr i="1" lang="en">
                <a:solidFill>
                  <a:srgbClr val="BF9000"/>
                </a:solidFill>
              </a:rPr>
              <a:t>K</a:t>
            </a:r>
            <a:r>
              <a:rPr i="1" lang="en" sz="900">
                <a:solidFill>
                  <a:srgbClr val="BF9000"/>
                </a:solidFill>
              </a:rPr>
              <a:t>2</a:t>
            </a:r>
            <a:r>
              <a:rPr i="1" lang="en"/>
              <a:t>, </a:t>
            </a:r>
            <a:r>
              <a:rPr i="1" lang="en">
                <a:solidFill>
                  <a:srgbClr val="38761D"/>
                </a:solidFill>
              </a:rPr>
              <a:t>K</a:t>
            </a:r>
            <a:r>
              <a:rPr i="1" lang="en" sz="900">
                <a:solidFill>
                  <a:srgbClr val="38761D"/>
                </a:solidFill>
              </a:rPr>
              <a:t>3</a:t>
            </a:r>
            <a:endParaRPr i="1" sz="900">
              <a:solidFill>
                <a:srgbClr val="38761D"/>
              </a:solidFill>
            </a:endParaRPr>
          </a:p>
        </p:txBody>
      </p:sp>
      <p:sp>
        <p:nvSpPr>
          <p:cNvPr id="398" name="Google Shape;398;p37"/>
          <p:cNvSpPr/>
          <p:nvPr/>
        </p:nvSpPr>
        <p:spPr>
          <a:xfrm>
            <a:off x="2407800" y="16565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399" name="Google Shape;399;p37"/>
          <p:cNvSpPr/>
          <p:nvPr/>
        </p:nvSpPr>
        <p:spPr>
          <a:xfrm>
            <a:off x="3533325" y="17584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00" name="Google Shape;400;p37"/>
          <p:cNvSpPr/>
          <p:nvPr/>
        </p:nvSpPr>
        <p:spPr>
          <a:xfrm>
            <a:off x="4337150" y="12189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01" name="Google Shape;401;p37"/>
          <p:cNvSpPr/>
          <p:nvPr/>
        </p:nvSpPr>
        <p:spPr>
          <a:xfrm>
            <a:off x="5551975" y="21520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02" name="Google Shape;402;p37"/>
          <p:cNvSpPr/>
          <p:nvPr/>
        </p:nvSpPr>
        <p:spPr>
          <a:xfrm>
            <a:off x="5551975" y="12629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03" name="Google Shape;403;p37"/>
          <p:cNvSpPr/>
          <p:nvPr/>
        </p:nvSpPr>
        <p:spPr>
          <a:xfrm>
            <a:off x="7406850"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404" name="Google Shape;404;p37"/>
          <p:cNvSpPr/>
          <p:nvPr/>
        </p:nvSpPr>
        <p:spPr>
          <a:xfrm>
            <a:off x="2288500" y="2772325"/>
            <a:ext cx="732000" cy="8097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endParaRPr i="1" sz="900">
              <a:solidFill>
                <a:srgbClr val="CC0000"/>
              </a:solidFill>
            </a:endParaRPr>
          </a:p>
        </p:txBody>
      </p:sp>
      <p:sp>
        <p:nvSpPr>
          <p:cNvPr id="405" name="Google Shape;405;p37"/>
          <p:cNvSpPr/>
          <p:nvPr/>
        </p:nvSpPr>
        <p:spPr>
          <a:xfrm>
            <a:off x="3997000" y="2480100"/>
            <a:ext cx="732000" cy="8097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BF9000"/>
                </a:solidFill>
              </a:rPr>
              <a:t>K</a:t>
            </a:r>
            <a:r>
              <a:rPr i="1" lang="en" sz="900">
                <a:solidFill>
                  <a:srgbClr val="BF9000"/>
                </a:solidFill>
              </a:rPr>
              <a:t>2</a:t>
            </a:r>
            <a:endParaRPr i="1" sz="900">
              <a:solidFill>
                <a:srgbClr val="BF9000"/>
              </a:solidFill>
            </a:endParaRPr>
          </a:p>
        </p:txBody>
      </p:sp>
      <p:sp>
        <p:nvSpPr>
          <p:cNvPr id="406" name="Google Shape;406;p37"/>
          <p:cNvSpPr/>
          <p:nvPr/>
        </p:nvSpPr>
        <p:spPr>
          <a:xfrm>
            <a:off x="5551975" y="3102675"/>
            <a:ext cx="732000" cy="8097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38761D"/>
                </a:solidFill>
              </a:rPr>
              <a:t>K</a:t>
            </a:r>
            <a:r>
              <a:rPr i="1" lang="en" sz="900">
                <a:solidFill>
                  <a:srgbClr val="38761D"/>
                </a:solidFill>
              </a:rPr>
              <a:t>3</a:t>
            </a:r>
            <a:endParaRPr i="1" sz="900">
              <a:solidFill>
                <a:srgbClr val="38761D"/>
              </a:solidFill>
            </a:endParaRPr>
          </a:p>
        </p:txBody>
      </p:sp>
      <p:grpSp>
        <p:nvGrpSpPr>
          <p:cNvPr id="407" name="Google Shape;407;p37"/>
          <p:cNvGrpSpPr/>
          <p:nvPr/>
        </p:nvGrpSpPr>
        <p:grpSpPr>
          <a:xfrm>
            <a:off x="718625" y="2530300"/>
            <a:ext cx="1577700" cy="636000"/>
            <a:chOff x="718625" y="2758900"/>
            <a:chExt cx="1577700" cy="636000"/>
          </a:xfrm>
        </p:grpSpPr>
        <p:cxnSp>
          <p:nvCxnSpPr>
            <p:cNvPr id="408" name="Google Shape;408;p37"/>
            <p:cNvCxnSpPr/>
            <p:nvPr/>
          </p:nvCxnSpPr>
          <p:spPr>
            <a:xfrm>
              <a:off x="718625" y="2882800"/>
              <a:ext cx="1577700" cy="512100"/>
            </a:xfrm>
            <a:prstGeom prst="straightConnector1">
              <a:avLst/>
            </a:prstGeom>
            <a:noFill/>
            <a:ln cap="flat" cmpd="sng" w="19050">
              <a:solidFill>
                <a:srgbClr val="CC0000"/>
              </a:solidFill>
              <a:prstDash val="solid"/>
              <a:round/>
              <a:headEnd len="med" w="med" type="none"/>
              <a:tailEnd len="med" w="med" type="none"/>
            </a:ln>
          </p:spPr>
        </p:cxnSp>
        <p:cxnSp>
          <p:nvCxnSpPr>
            <p:cNvPr id="409" name="Google Shape;409;p37"/>
            <p:cNvCxnSpPr/>
            <p:nvPr/>
          </p:nvCxnSpPr>
          <p:spPr>
            <a:xfrm>
              <a:off x="1519875" y="2758900"/>
              <a:ext cx="768300" cy="247800"/>
            </a:xfrm>
            <a:prstGeom prst="straightConnector1">
              <a:avLst/>
            </a:prstGeom>
            <a:noFill/>
            <a:ln cap="flat" cmpd="sng" w="19050">
              <a:solidFill>
                <a:srgbClr val="CC0000"/>
              </a:solidFill>
              <a:prstDash val="solid"/>
              <a:round/>
              <a:headEnd len="med" w="med" type="none"/>
              <a:tailEnd len="med" w="med" type="none"/>
            </a:ln>
          </p:spPr>
        </p:cxnSp>
      </p:grpSp>
      <p:grpSp>
        <p:nvGrpSpPr>
          <p:cNvPr id="410" name="Google Shape;410;p37"/>
          <p:cNvGrpSpPr/>
          <p:nvPr/>
        </p:nvGrpSpPr>
        <p:grpSpPr>
          <a:xfrm>
            <a:off x="883825" y="2522025"/>
            <a:ext cx="3122350" cy="662575"/>
            <a:chOff x="883825" y="2750625"/>
            <a:chExt cx="3122350" cy="662575"/>
          </a:xfrm>
        </p:grpSpPr>
        <p:sp>
          <p:nvSpPr>
            <p:cNvPr id="411" name="Google Shape;411;p37"/>
            <p:cNvSpPr/>
            <p:nvPr/>
          </p:nvSpPr>
          <p:spPr>
            <a:xfrm>
              <a:off x="1495100" y="2750625"/>
              <a:ext cx="2502825" cy="355650"/>
            </a:xfrm>
            <a:custGeom>
              <a:rect b="b" l="l" r="r" t="t"/>
              <a:pathLst>
                <a:path extrusionOk="0" h="14226" w="100113">
                  <a:moveTo>
                    <a:pt x="0" y="2974"/>
                  </a:moveTo>
                  <a:cubicBezTo>
                    <a:pt x="7875" y="4846"/>
                    <a:pt x="30563" y="14704"/>
                    <a:pt x="47248" y="14208"/>
                  </a:cubicBezTo>
                  <a:cubicBezTo>
                    <a:pt x="63934" y="13712"/>
                    <a:pt x="91302" y="2368"/>
                    <a:pt x="100113" y="0"/>
                  </a:cubicBezTo>
                </a:path>
              </a:pathLst>
            </a:custGeom>
            <a:noFill/>
            <a:ln cap="flat" cmpd="sng" w="19050">
              <a:solidFill>
                <a:srgbClr val="E69138"/>
              </a:solidFill>
              <a:prstDash val="solid"/>
              <a:round/>
              <a:headEnd len="med" w="med" type="none"/>
              <a:tailEnd len="med" w="med" type="none"/>
            </a:ln>
          </p:spPr>
        </p:sp>
        <p:sp>
          <p:nvSpPr>
            <p:cNvPr id="412" name="Google Shape;412;p37"/>
            <p:cNvSpPr/>
            <p:nvPr/>
          </p:nvSpPr>
          <p:spPr>
            <a:xfrm>
              <a:off x="883825" y="2866275"/>
              <a:ext cx="3122350" cy="546925"/>
            </a:xfrm>
            <a:custGeom>
              <a:rect b="b" l="l" r="r" t="t"/>
              <a:pathLst>
                <a:path extrusionOk="0" h="21877" w="124894">
                  <a:moveTo>
                    <a:pt x="0" y="0"/>
                  </a:moveTo>
                  <a:cubicBezTo>
                    <a:pt x="12445" y="3635"/>
                    <a:pt x="53856" y="20651"/>
                    <a:pt x="74672" y="21807"/>
                  </a:cubicBezTo>
                  <a:cubicBezTo>
                    <a:pt x="95488" y="22964"/>
                    <a:pt x="116524" y="9417"/>
                    <a:pt x="124894" y="6939"/>
                  </a:cubicBezTo>
                </a:path>
              </a:pathLst>
            </a:custGeom>
            <a:noFill/>
            <a:ln cap="flat" cmpd="sng" w="19050">
              <a:solidFill>
                <a:srgbClr val="E69138"/>
              </a:solidFill>
              <a:prstDash val="solid"/>
              <a:round/>
              <a:headEnd len="med" w="med" type="none"/>
              <a:tailEnd len="med" w="med" type="none"/>
            </a:ln>
          </p:spPr>
        </p:sp>
      </p:grpSp>
      <p:grpSp>
        <p:nvGrpSpPr>
          <p:cNvPr id="413" name="Google Shape;413;p37"/>
          <p:cNvGrpSpPr/>
          <p:nvPr/>
        </p:nvGrpSpPr>
        <p:grpSpPr>
          <a:xfrm>
            <a:off x="1065550" y="2520087"/>
            <a:ext cx="4501800" cy="918813"/>
            <a:chOff x="1065550" y="2748687"/>
            <a:chExt cx="4501800" cy="918813"/>
          </a:xfrm>
        </p:grpSpPr>
        <p:sp>
          <p:nvSpPr>
            <p:cNvPr id="414" name="Google Shape;414;p37"/>
            <p:cNvSpPr/>
            <p:nvPr/>
          </p:nvSpPr>
          <p:spPr>
            <a:xfrm>
              <a:off x="1495100" y="2748687"/>
              <a:ext cx="4055725" cy="629725"/>
            </a:xfrm>
            <a:custGeom>
              <a:rect b="b" l="l" r="r" t="t"/>
              <a:pathLst>
                <a:path extrusionOk="0" h="25189" w="162229">
                  <a:moveTo>
                    <a:pt x="0" y="5034"/>
                  </a:moveTo>
                  <a:cubicBezTo>
                    <a:pt x="8480" y="7017"/>
                    <a:pt x="31719" y="17755"/>
                    <a:pt x="50882" y="16929"/>
                  </a:cubicBezTo>
                  <a:cubicBezTo>
                    <a:pt x="70046" y="16103"/>
                    <a:pt x="96423" y="-1299"/>
                    <a:pt x="114981" y="78"/>
                  </a:cubicBezTo>
                  <a:cubicBezTo>
                    <a:pt x="133539" y="1455"/>
                    <a:pt x="154354" y="21004"/>
                    <a:pt x="162229" y="25189"/>
                  </a:cubicBezTo>
                </a:path>
              </a:pathLst>
            </a:custGeom>
            <a:noFill/>
            <a:ln cap="flat" cmpd="sng" w="19050">
              <a:solidFill>
                <a:srgbClr val="38761D"/>
              </a:solidFill>
              <a:prstDash val="solid"/>
              <a:round/>
              <a:headEnd len="med" w="med" type="none"/>
              <a:tailEnd len="med" w="med" type="none"/>
            </a:ln>
          </p:spPr>
        </p:sp>
        <p:sp>
          <p:nvSpPr>
            <p:cNvPr id="415" name="Google Shape;415;p37"/>
            <p:cNvSpPr/>
            <p:nvPr/>
          </p:nvSpPr>
          <p:spPr>
            <a:xfrm>
              <a:off x="1065550" y="2882800"/>
              <a:ext cx="4501800" cy="784700"/>
            </a:xfrm>
            <a:custGeom>
              <a:rect b="b" l="l" r="r" t="t"/>
              <a:pathLst>
                <a:path extrusionOk="0" h="31388" w="180072">
                  <a:moveTo>
                    <a:pt x="0" y="0"/>
                  </a:moveTo>
                  <a:cubicBezTo>
                    <a:pt x="11619" y="3139"/>
                    <a:pt x="48074" y="18227"/>
                    <a:pt x="69716" y="18833"/>
                  </a:cubicBezTo>
                  <a:cubicBezTo>
                    <a:pt x="91358" y="19439"/>
                    <a:pt x="111457" y="1542"/>
                    <a:pt x="129850" y="3634"/>
                  </a:cubicBezTo>
                  <a:cubicBezTo>
                    <a:pt x="148243" y="5727"/>
                    <a:pt x="171702" y="26762"/>
                    <a:pt x="180072" y="31388"/>
                  </a:cubicBezTo>
                </a:path>
              </a:pathLst>
            </a:custGeom>
            <a:noFill/>
            <a:ln cap="flat" cmpd="sng" w="19050">
              <a:solidFill>
                <a:srgbClr val="38761D"/>
              </a:solidFill>
              <a:prstDash val="solid"/>
              <a:round/>
              <a:headEnd len="med" w="med" type="none"/>
              <a:tailEnd len="med" w="med" type="none"/>
            </a:ln>
          </p:spPr>
        </p:sp>
      </p:grpSp>
      <p:sp>
        <p:nvSpPr>
          <p:cNvPr id="416" name="Google Shape;416;p37"/>
          <p:cNvSpPr/>
          <p:nvPr/>
        </p:nvSpPr>
        <p:spPr>
          <a:xfrm>
            <a:off x="1321625" y="2555075"/>
            <a:ext cx="6038175" cy="809750"/>
          </a:xfrm>
          <a:custGeom>
            <a:rect b="b" l="l" r="r" t="t"/>
            <a:pathLst>
              <a:path extrusionOk="0" h="32390" w="241527">
                <a:moveTo>
                  <a:pt x="0" y="3634"/>
                </a:moveTo>
                <a:cubicBezTo>
                  <a:pt x="9747" y="6332"/>
                  <a:pt x="37997" y="19824"/>
                  <a:pt x="58482" y="19824"/>
                </a:cubicBezTo>
                <a:cubicBezTo>
                  <a:pt x="78967" y="19824"/>
                  <a:pt x="101820" y="1541"/>
                  <a:pt x="122911" y="3634"/>
                </a:cubicBezTo>
                <a:cubicBezTo>
                  <a:pt x="144002" y="5727"/>
                  <a:pt x="165259" y="32986"/>
                  <a:pt x="185028" y="32380"/>
                </a:cubicBezTo>
                <a:cubicBezTo>
                  <a:pt x="204797" y="31774"/>
                  <a:pt x="232111" y="5397"/>
                  <a:pt x="241527" y="0"/>
                </a:cubicBezTo>
              </a:path>
            </a:pathLst>
          </a:custGeom>
          <a:noFill/>
          <a:ln cap="flat" cmpd="sng" w="38100">
            <a:solidFill>
              <a:srgbClr val="1155CC"/>
            </a:solidFill>
            <a:prstDash val="solid"/>
            <a:round/>
            <a:headEnd len="med" w="med" type="none"/>
            <a:tailEnd len="med" w="med" type="triangle"/>
          </a:ln>
        </p:spPr>
      </p:sp>
      <p:sp>
        <p:nvSpPr>
          <p:cNvPr id="417" name="Google Shape;417;p37"/>
          <p:cNvSpPr/>
          <p:nvPr/>
        </p:nvSpPr>
        <p:spPr>
          <a:xfrm>
            <a:off x="5567338" y="4066676"/>
            <a:ext cx="1437300" cy="9189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Relay 3</a:t>
            </a:r>
            <a:endParaRPr sz="1000"/>
          </a:p>
        </p:txBody>
      </p:sp>
      <p:sp>
        <p:nvSpPr>
          <p:cNvPr id="418" name="Google Shape;418;p37"/>
          <p:cNvSpPr/>
          <p:nvPr/>
        </p:nvSpPr>
        <p:spPr>
          <a:xfrm>
            <a:off x="5616838" y="4376950"/>
            <a:ext cx="1338300" cy="5316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sp>
        <p:nvSpPr>
          <p:cNvPr id="419" name="Google Shape;419;p37"/>
          <p:cNvSpPr/>
          <p:nvPr/>
        </p:nvSpPr>
        <p:spPr>
          <a:xfrm>
            <a:off x="1078638" y="13648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3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Packet Construction</a:t>
            </a:r>
            <a:endParaRPr/>
          </a:p>
        </p:txBody>
      </p:sp>
      <p:sp>
        <p:nvSpPr>
          <p:cNvPr id="425" name="Google Shape;425;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26" name="Google Shape;426;p38"/>
          <p:cNvSpPr/>
          <p:nvPr/>
        </p:nvSpPr>
        <p:spPr>
          <a:xfrm>
            <a:off x="7151900" y="12707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p:txBody>
      </p:sp>
      <p:sp>
        <p:nvSpPr>
          <p:cNvPr id="427" name="Google Shape;427;p38"/>
          <p:cNvSpPr/>
          <p:nvPr/>
        </p:nvSpPr>
        <p:spPr>
          <a:xfrm>
            <a:off x="7151900" y="416568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428" name="Google Shape;428;p38"/>
          <p:cNvSpPr/>
          <p:nvPr/>
        </p:nvSpPr>
        <p:spPr>
          <a:xfrm>
            <a:off x="6936200" y="2226325"/>
            <a:ext cx="1497000" cy="3936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1: </a:t>
            </a:r>
            <a:r>
              <a:rPr i="1" lang="en">
                <a:solidFill>
                  <a:srgbClr val="CC0000"/>
                </a:solidFill>
              </a:rPr>
              <a:t>K</a:t>
            </a:r>
            <a:r>
              <a:rPr i="1" lang="en" sz="900">
                <a:solidFill>
                  <a:srgbClr val="CC0000"/>
                </a:solidFill>
              </a:rPr>
              <a:t>1</a:t>
            </a:r>
            <a:endParaRPr i="1" sz="900">
              <a:solidFill>
                <a:srgbClr val="CC0000"/>
              </a:solidFill>
            </a:endParaRPr>
          </a:p>
        </p:txBody>
      </p:sp>
      <p:sp>
        <p:nvSpPr>
          <p:cNvPr id="429" name="Google Shape;429;p38"/>
          <p:cNvSpPr/>
          <p:nvPr/>
        </p:nvSpPr>
        <p:spPr>
          <a:xfrm>
            <a:off x="6936200" y="2820075"/>
            <a:ext cx="1497000" cy="3936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2: </a:t>
            </a:r>
            <a:r>
              <a:rPr i="1" lang="en">
                <a:solidFill>
                  <a:srgbClr val="BF9000"/>
                </a:solidFill>
              </a:rPr>
              <a:t>K</a:t>
            </a:r>
            <a:r>
              <a:rPr i="1" lang="en" sz="900">
                <a:solidFill>
                  <a:srgbClr val="BF9000"/>
                </a:solidFill>
              </a:rPr>
              <a:t>2</a:t>
            </a:r>
            <a:endParaRPr i="1" sz="900">
              <a:solidFill>
                <a:srgbClr val="BF9000"/>
              </a:solidFill>
            </a:endParaRPr>
          </a:p>
        </p:txBody>
      </p:sp>
      <p:sp>
        <p:nvSpPr>
          <p:cNvPr id="430" name="Google Shape;430;p38"/>
          <p:cNvSpPr/>
          <p:nvPr/>
        </p:nvSpPr>
        <p:spPr>
          <a:xfrm>
            <a:off x="6936200" y="3413825"/>
            <a:ext cx="1497000" cy="3690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 </a:t>
            </a:r>
            <a:r>
              <a:rPr i="1" lang="en">
                <a:solidFill>
                  <a:srgbClr val="38761D"/>
                </a:solidFill>
              </a:rPr>
              <a:t>K</a:t>
            </a:r>
            <a:r>
              <a:rPr i="1" lang="en" sz="900">
                <a:solidFill>
                  <a:srgbClr val="38761D"/>
                </a:solidFill>
              </a:rPr>
              <a:t>3</a:t>
            </a:r>
            <a:endParaRPr i="1" sz="900">
              <a:solidFill>
                <a:srgbClr val="38761D"/>
              </a:solidFill>
            </a:endParaRPr>
          </a:p>
        </p:txBody>
      </p:sp>
      <p:cxnSp>
        <p:nvCxnSpPr>
          <p:cNvPr id="431" name="Google Shape;431;p38"/>
          <p:cNvCxnSpPr>
            <a:stCxn id="426" idx="2"/>
            <a:endCxn id="428" idx="0"/>
          </p:cNvCxnSpPr>
          <p:nvPr/>
        </p:nvCxnSpPr>
        <p:spPr>
          <a:xfrm>
            <a:off x="7684700" y="1843438"/>
            <a:ext cx="0" cy="382800"/>
          </a:xfrm>
          <a:prstGeom prst="straightConnector1">
            <a:avLst/>
          </a:prstGeom>
          <a:noFill/>
          <a:ln cap="flat" cmpd="sng" w="9525">
            <a:solidFill>
              <a:schemeClr val="dk2"/>
            </a:solidFill>
            <a:prstDash val="solid"/>
            <a:round/>
            <a:headEnd len="med" w="med" type="none"/>
            <a:tailEnd len="med" w="med" type="triangle"/>
          </a:ln>
        </p:spPr>
      </p:cxnSp>
      <p:cxnSp>
        <p:nvCxnSpPr>
          <p:cNvPr id="432" name="Google Shape;432;p38"/>
          <p:cNvCxnSpPr>
            <a:stCxn id="428" idx="2"/>
            <a:endCxn id="429" idx="0"/>
          </p:cNvCxnSpPr>
          <p:nvPr/>
        </p:nvCxnSpPr>
        <p:spPr>
          <a:xfrm>
            <a:off x="7684700" y="261992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433" name="Google Shape;433;p38"/>
          <p:cNvCxnSpPr>
            <a:stCxn id="429" idx="2"/>
            <a:endCxn id="430" idx="0"/>
          </p:cNvCxnSpPr>
          <p:nvPr/>
        </p:nvCxnSpPr>
        <p:spPr>
          <a:xfrm>
            <a:off x="7684700" y="3213675"/>
            <a:ext cx="0" cy="200100"/>
          </a:xfrm>
          <a:prstGeom prst="straightConnector1">
            <a:avLst/>
          </a:prstGeom>
          <a:noFill/>
          <a:ln cap="flat" cmpd="sng" w="9525">
            <a:solidFill>
              <a:schemeClr val="dk2"/>
            </a:solidFill>
            <a:prstDash val="solid"/>
            <a:round/>
            <a:headEnd len="med" w="med" type="none"/>
            <a:tailEnd len="med" w="med" type="triangle"/>
          </a:ln>
        </p:spPr>
      </p:cxnSp>
      <p:cxnSp>
        <p:nvCxnSpPr>
          <p:cNvPr id="434" name="Google Shape;434;p38"/>
          <p:cNvCxnSpPr>
            <a:stCxn id="430" idx="2"/>
            <a:endCxn id="427" idx="0"/>
          </p:cNvCxnSpPr>
          <p:nvPr/>
        </p:nvCxnSpPr>
        <p:spPr>
          <a:xfrm>
            <a:off x="7684700" y="3782825"/>
            <a:ext cx="0" cy="382800"/>
          </a:xfrm>
          <a:prstGeom prst="straightConnector1">
            <a:avLst/>
          </a:prstGeom>
          <a:noFill/>
          <a:ln cap="flat" cmpd="sng" w="9525">
            <a:solidFill>
              <a:schemeClr val="dk2"/>
            </a:solidFill>
            <a:prstDash val="solid"/>
            <a:round/>
            <a:headEnd len="med" w="med" type="none"/>
            <a:tailEnd len="med" w="med" type="triangle"/>
          </a:ln>
        </p:spPr>
      </p:cxnSp>
      <p:sp>
        <p:nvSpPr>
          <p:cNvPr id="435" name="Google Shape;435;p38"/>
          <p:cNvSpPr/>
          <p:nvPr/>
        </p:nvSpPr>
        <p:spPr>
          <a:xfrm>
            <a:off x="1544300" y="2772050"/>
            <a:ext cx="1627800" cy="1142700"/>
          </a:xfrm>
          <a:prstGeom prst="rect">
            <a:avLst/>
          </a:prstGeom>
          <a:solidFill>
            <a:srgbClr val="D9EAD3"/>
          </a:solidFill>
          <a:ln cap="flat" cmpd="sng" w="19050">
            <a:solidFill>
              <a:srgbClr val="BF9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900"/>
              <a:t>To: Relay 3, From: Relay 2</a:t>
            </a:r>
            <a:endParaRPr sz="900"/>
          </a:p>
        </p:txBody>
      </p:sp>
      <p:sp>
        <p:nvSpPr>
          <p:cNvPr id="436" name="Google Shape;436;p38"/>
          <p:cNvSpPr/>
          <p:nvPr/>
        </p:nvSpPr>
        <p:spPr>
          <a:xfrm>
            <a:off x="1640600" y="3088725"/>
            <a:ext cx="1435200" cy="703800"/>
          </a:xfrm>
          <a:prstGeom prst="rect">
            <a:avLst/>
          </a:prstGeom>
          <a:solidFill>
            <a:srgbClr val="C9DAF8"/>
          </a:solidFill>
          <a:ln cap="flat" cmpd="sng" w="19050">
            <a:solidFill>
              <a:srgbClr val="38761D"/>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sp>
        <p:nvSpPr>
          <p:cNvPr id="437" name="Google Shape;437;p38"/>
          <p:cNvSpPr txBox="1"/>
          <p:nvPr>
            <p:ph idx="4294967295" type="body"/>
          </p:nvPr>
        </p:nvSpPr>
        <p:spPr>
          <a:xfrm>
            <a:off x="198500" y="1170625"/>
            <a:ext cx="6737700" cy="7347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What does Relay 3 see?</a:t>
            </a:r>
            <a:endParaRPr/>
          </a:p>
        </p:txBody>
      </p:sp>
      <p:grpSp>
        <p:nvGrpSpPr>
          <p:cNvPr id="438" name="Google Shape;438;p38"/>
          <p:cNvGrpSpPr/>
          <p:nvPr/>
        </p:nvGrpSpPr>
        <p:grpSpPr>
          <a:xfrm>
            <a:off x="3075800" y="3457375"/>
            <a:ext cx="2874900" cy="422100"/>
            <a:chOff x="5032550" y="3381750"/>
            <a:chExt cx="2874900" cy="422100"/>
          </a:xfrm>
        </p:grpSpPr>
        <p:cxnSp>
          <p:nvCxnSpPr>
            <p:cNvPr id="439" name="Google Shape;439;p38"/>
            <p:cNvCxnSpPr>
              <a:stCxn id="440" idx="1"/>
            </p:cNvCxnSpPr>
            <p:nvPr/>
          </p:nvCxnSpPr>
          <p:spPr>
            <a:xfrm rot="10800000">
              <a:off x="5032550" y="3381750"/>
              <a:ext cx="991800" cy="237600"/>
            </a:xfrm>
            <a:prstGeom prst="straightConnector1">
              <a:avLst/>
            </a:prstGeom>
            <a:noFill/>
            <a:ln cap="flat" cmpd="sng" w="9525">
              <a:solidFill>
                <a:srgbClr val="38761D"/>
              </a:solidFill>
              <a:prstDash val="solid"/>
              <a:round/>
              <a:headEnd len="med" w="med" type="none"/>
              <a:tailEnd len="med" w="med" type="triangle"/>
            </a:ln>
          </p:spPr>
        </p:cxnSp>
        <p:sp>
          <p:nvSpPr>
            <p:cNvPr id="440" name="Google Shape;440;p38"/>
            <p:cNvSpPr/>
            <p:nvPr/>
          </p:nvSpPr>
          <p:spPr>
            <a:xfrm>
              <a:off x="6024350" y="3434850"/>
              <a:ext cx="1883100" cy="3690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Encrypted with </a:t>
              </a:r>
              <a:r>
                <a:rPr i="1" lang="en">
                  <a:solidFill>
                    <a:srgbClr val="38761D"/>
                  </a:solidFill>
                </a:rPr>
                <a:t>K</a:t>
              </a:r>
              <a:r>
                <a:rPr i="1" lang="en" sz="900">
                  <a:solidFill>
                    <a:srgbClr val="38761D"/>
                  </a:solidFill>
                </a:rPr>
                <a:t>3</a:t>
              </a:r>
              <a:endParaRPr i="1" sz="900">
                <a:solidFill>
                  <a:srgbClr val="38761D"/>
                </a:solidFill>
              </a:endParaRPr>
            </a:p>
          </p:txBody>
        </p:sp>
      </p:grpSp>
      <p:sp>
        <p:nvSpPr>
          <p:cNvPr id="441" name="Google Shape;441;p38"/>
          <p:cNvSpPr txBox="1"/>
          <p:nvPr/>
        </p:nvSpPr>
        <p:spPr>
          <a:xfrm>
            <a:off x="1835575" y="4338200"/>
            <a:ext cx="5011800" cy="615600"/>
          </a:xfrm>
          <a:prstGeom prst="rect">
            <a:avLst/>
          </a:prstGeom>
          <a:solidFill>
            <a:srgbClr val="FFAB40"/>
          </a:solid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t>All Relay 3 knows is the message came from Relay 2 and is going to Bob. They don’t know Alice sent the message!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3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447" name="Google Shape;44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48" name="Google Shape;448;p39"/>
          <p:cNvSpPr/>
          <p:nvPr/>
        </p:nvSpPr>
        <p:spPr>
          <a:xfrm>
            <a:off x="434725"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r>
              <a:rPr i="1" lang="en"/>
              <a:t>, </a:t>
            </a:r>
            <a:r>
              <a:rPr i="1" lang="en">
                <a:solidFill>
                  <a:srgbClr val="BF9000"/>
                </a:solidFill>
              </a:rPr>
              <a:t>K</a:t>
            </a:r>
            <a:r>
              <a:rPr i="1" lang="en" sz="900">
                <a:solidFill>
                  <a:srgbClr val="BF9000"/>
                </a:solidFill>
              </a:rPr>
              <a:t>2</a:t>
            </a:r>
            <a:r>
              <a:rPr i="1" lang="en"/>
              <a:t>, </a:t>
            </a:r>
            <a:r>
              <a:rPr i="1" lang="en">
                <a:solidFill>
                  <a:srgbClr val="38761D"/>
                </a:solidFill>
              </a:rPr>
              <a:t>K</a:t>
            </a:r>
            <a:r>
              <a:rPr i="1" lang="en" sz="900">
                <a:solidFill>
                  <a:srgbClr val="38761D"/>
                </a:solidFill>
              </a:rPr>
              <a:t>3</a:t>
            </a:r>
            <a:endParaRPr i="1" sz="900">
              <a:solidFill>
                <a:srgbClr val="38761D"/>
              </a:solidFill>
            </a:endParaRPr>
          </a:p>
        </p:txBody>
      </p:sp>
      <p:sp>
        <p:nvSpPr>
          <p:cNvPr id="449" name="Google Shape;449;p39"/>
          <p:cNvSpPr/>
          <p:nvPr/>
        </p:nvSpPr>
        <p:spPr>
          <a:xfrm>
            <a:off x="2407800" y="16565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50" name="Google Shape;450;p39"/>
          <p:cNvSpPr/>
          <p:nvPr/>
        </p:nvSpPr>
        <p:spPr>
          <a:xfrm>
            <a:off x="3533325" y="17584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51" name="Google Shape;451;p39"/>
          <p:cNvSpPr/>
          <p:nvPr/>
        </p:nvSpPr>
        <p:spPr>
          <a:xfrm>
            <a:off x="4337150" y="12189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52" name="Google Shape;452;p39"/>
          <p:cNvSpPr/>
          <p:nvPr/>
        </p:nvSpPr>
        <p:spPr>
          <a:xfrm>
            <a:off x="5551975" y="21520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53" name="Google Shape;453;p39"/>
          <p:cNvSpPr/>
          <p:nvPr/>
        </p:nvSpPr>
        <p:spPr>
          <a:xfrm>
            <a:off x="5551975" y="12629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54" name="Google Shape;454;p39"/>
          <p:cNvSpPr/>
          <p:nvPr/>
        </p:nvSpPr>
        <p:spPr>
          <a:xfrm>
            <a:off x="7406850"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455" name="Google Shape;455;p39"/>
          <p:cNvSpPr/>
          <p:nvPr/>
        </p:nvSpPr>
        <p:spPr>
          <a:xfrm>
            <a:off x="2288500" y="2772325"/>
            <a:ext cx="732000" cy="8097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endParaRPr i="1" sz="900">
              <a:solidFill>
                <a:srgbClr val="CC0000"/>
              </a:solidFill>
            </a:endParaRPr>
          </a:p>
        </p:txBody>
      </p:sp>
      <p:sp>
        <p:nvSpPr>
          <p:cNvPr id="456" name="Google Shape;456;p39"/>
          <p:cNvSpPr/>
          <p:nvPr/>
        </p:nvSpPr>
        <p:spPr>
          <a:xfrm>
            <a:off x="3997000" y="2480100"/>
            <a:ext cx="732000" cy="8097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BF9000"/>
                </a:solidFill>
              </a:rPr>
              <a:t>K</a:t>
            </a:r>
            <a:r>
              <a:rPr i="1" lang="en" sz="900">
                <a:solidFill>
                  <a:srgbClr val="BF9000"/>
                </a:solidFill>
              </a:rPr>
              <a:t>2</a:t>
            </a:r>
            <a:endParaRPr i="1" sz="900">
              <a:solidFill>
                <a:srgbClr val="BF9000"/>
              </a:solidFill>
            </a:endParaRPr>
          </a:p>
        </p:txBody>
      </p:sp>
      <p:sp>
        <p:nvSpPr>
          <p:cNvPr id="457" name="Google Shape;457;p39"/>
          <p:cNvSpPr/>
          <p:nvPr/>
        </p:nvSpPr>
        <p:spPr>
          <a:xfrm>
            <a:off x="5551975" y="3102675"/>
            <a:ext cx="732000" cy="8097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38761D"/>
                </a:solidFill>
              </a:rPr>
              <a:t>K</a:t>
            </a:r>
            <a:r>
              <a:rPr i="1" lang="en" sz="900">
                <a:solidFill>
                  <a:srgbClr val="38761D"/>
                </a:solidFill>
              </a:rPr>
              <a:t>3</a:t>
            </a:r>
            <a:endParaRPr i="1" sz="900">
              <a:solidFill>
                <a:srgbClr val="38761D"/>
              </a:solidFill>
            </a:endParaRPr>
          </a:p>
        </p:txBody>
      </p:sp>
      <p:grpSp>
        <p:nvGrpSpPr>
          <p:cNvPr id="458" name="Google Shape;458;p39"/>
          <p:cNvGrpSpPr/>
          <p:nvPr/>
        </p:nvGrpSpPr>
        <p:grpSpPr>
          <a:xfrm>
            <a:off x="718625" y="2530300"/>
            <a:ext cx="1577700" cy="636000"/>
            <a:chOff x="718625" y="2758900"/>
            <a:chExt cx="1577700" cy="636000"/>
          </a:xfrm>
        </p:grpSpPr>
        <p:cxnSp>
          <p:nvCxnSpPr>
            <p:cNvPr id="459" name="Google Shape;459;p39"/>
            <p:cNvCxnSpPr/>
            <p:nvPr/>
          </p:nvCxnSpPr>
          <p:spPr>
            <a:xfrm>
              <a:off x="718625" y="2882800"/>
              <a:ext cx="1577700" cy="512100"/>
            </a:xfrm>
            <a:prstGeom prst="straightConnector1">
              <a:avLst/>
            </a:prstGeom>
            <a:noFill/>
            <a:ln cap="flat" cmpd="sng" w="19050">
              <a:solidFill>
                <a:srgbClr val="CC0000"/>
              </a:solidFill>
              <a:prstDash val="solid"/>
              <a:round/>
              <a:headEnd len="med" w="med" type="none"/>
              <a:tailEnd len="med" w="med" type="none"/>
            </a:ln>
          </p:spPr>
        </p:cxnSp>
        <p:cxnSp>
          <p:nvCxnSpPr>
            <p:cNvPr id="460" name="Google Shape;460;p39"/>
            <p:cNvCxnSpPr/>
            <p:nvPr/>
          </p:nvCxnSpPr>
          <p:spPr>
            <a:xfrm>
              <a:off x="1519875" y="2758900"/>
              <a:ext cx="768300" cy="247800"/>
            </a:xfrm>
            <a:prstGeom prst="straightConnector1">
              <a:avLst/>
            </a:prstGeom>
            <a:noFill/>
            <a:ln cap="flat" cmpd="sng" w="19050">
              <a:solidFill>
                <a:srgbClr val="CC0000"/>
              </a:solidFill>
              <a:prstDash val="solid"/>
              <a:round/>
              <a:headEnd len="med" w="med" type="none"/>
              <a:tailEnd len="med" w="med" type="none"/>
            </a:ln>
          </p:spPr>
        </p:cxnSp>
      </p:grpSp>
      <p:grpSp>
        <p:nvGrpSpPr>
          <p:cNvPr id="461" name="Google Shape;461;p39"/>
          <p:cNvGrpSpPr/>
          <p:nvPr/>
        </p:nvGrpSpPr>
        <p:grpSpPr>
          <a:xfrm>
            <a:off x="883825" y="2522025"/>
            <a:ext cx="3122350" cy="662575"/>
            <a:chOff x="883825" y="2750625"/>
            <a:chExt cx="3122350" cy="662575"/>
          </a:xfrm>
        </p:grpSpPr>
        <p:sp>
          <p:nvSpPr>
            <p:cNvPr id="462" name="Google Shape;462;p39"/>
            <p:cNvSpPr/>
            <p:nvPr/>
          </p:nvSpPr>
          <p:spPr>
            <a:xfrm>
              <a:off x="1495100" y="2750625"/>
              <a:ext cx="2502825" cy="355650"/>
            </a:xfrm>
            <a:custGeom>
              <a:rect b="b" l="l" r="r" t="t"/>
              <a:pathLst>
                <a:path extrusionOk="0" h="14226" w="100113">
                  <a:moveTo>
                    <a:pt x="0" y="2974"/>
                  </a:moveTo>
                  <a:cubicBezTo>
                    <a:pt x="7875" y="4846"/>
                    <a:pt x="30563" y="14704"/>
                    <a:pt x="47248" y="14208"/>
                  </a:cubicBezTo>
                  <a:cubicBezTo>
                    <a:pt x="63934" y="13712"/>
                    <a:pt x="91302" y="2368"/>
                    <a:pt x="100113" y="0"/>
                  </a:cubicBezTo>
                </a:path>
              </a:pathLst>
            </a:custGeom>
            <a:noFill/>
            <a:ln cap="flat" cmpd="sng" w="19050">
              <a:solidFill>
                <a:srgbClr val="E69138"/>
              </a:solidFill>
              <a:prstDash val="solid"/>
              <a:round/>
              <a:headEnd len="med" w="med" type="none"/>
              <a:tailEnd len="med" w="med" type="none"/>
            </a:ln>
          </p:spPr>
        </p:sp>
        <p:sp>
          <p:nvSpPr>
            <p:cNvPr id="463" name="Google Shape;463;p39"/>
            <p:cNvSpPr/>
            <p:nvPr/>
          </p:nvSpPr>
          <p:spPr>
            <a:xfrm>
              <a:off x="883825" y="2866275"/>
              <a:ext cx="3122350" cy="546925"/>
            </a:xfrm>
            <a:custGeom>
              <a:rect b="b" l="l" r="r" t="t"/>
              <a:pathLst>
                <a:path extrusionOk="0" h="21877" w="124894">
                  <a:moveTo>
                    <a:pt x="0" y="0"/>
                  </a:moveTo>
                  <a:cubicBezTo>
                    <a:pt x="12445" y="3635"/>
                    <a:pt x="53856" y="20651"/>
                    <a:pt x="74672" y="21807"/>
                  </a:cubicBezTo>
                  <a:cubicBezTo>
                    <a:pt x="95488" y="22964"/>
                    <a:pt x="116524" y="9417"/>
                    <a:pt x="124894" y="6939"/>
                  </a:cubicBezTo>
                </a:path>
              </a:pathLst>
            </a:custGeom>
            <a:noFill/>
            <a:ln cap="flat" cmpd="sng" w="19050">
              <a:solidFill>
                <a:srgbClr val="E69138"/>
              </a:solidFill>
              <a:prstDash val="solid"/>
              <a:round/>
              <a:headEnd len="med" w="med" type="none"/>
              <a:tailEnd len="med" w="med" type="none"/>
            </a:ln>
          </p:spPr>
        </p:sp>
      </p:grpSp>
      <p:grpSp>
        <p:nvGrpSpPr>
          <p:cNvPr id="464" name="Google Shape;464;p39"/>
          <p:cNvGrpSpPr/>
          <p:nvPr/>
        </p:nvGrpSpPr>
        <p:grpSpPr>
          <a:xfrm>
            <a:off x="1065550" y="2520087"/>
            <a:ext cx="4501800" cy="918813"/>
            <a:chOff x="1065550" y="2748687"/>
            <a:chExt cx="4501800" cy="918813"/>
          </a:xfrm>
        </p:grpSpPr>
        <p:sp>
          <p:nvSpPr>
            <p:cNvPr id="465" name="Google Shape;465;p39"/>
            <p:cNvSpPr/>
            <p:nvPr/>
          </p:nvSpPr>
          <p:spPr>
            <a:xfrm>
              <a:off x="1495100" y="2748687"/>
              <a:ext cx="4055725" cy="629725"/>
            </a:xfrm>
            <a:custGeom>
              <a:rect b="b" l="l" r="r" t="t"/>
              <a:pathLst>
                <a:path extrusionOk="0" h="25189" w="162229">
                  <a:moveTo>
                    <a:pt x="0" y="5034"/>
                  </a:moveTo>
                  <a:cubicBezTo>
                    <a:pt x="8480" y="7017"/>
                    <a:pt x="31719" y="17755"/>
                    <a:pt x="50882" y="16929"/>
                  </a:cubicBezTo>
                  <a:cubicBezTo>
                    <a:pt x="70046" y="16103"/>
                    <a:pt x="96423" y="-1299"/>
                    <a:pt x="114981" y="78"/>
                  </a:cubicBezTo>
                  <a:cubicBezTo>
                    <a:pt x="133539" y="1455"/>
                    <a:pt x="154354" y="21004"/>
                    <a:pt x="162229" y="25189"/>
                  </a:cubicBezTo>
                </a:path>
              </a:pathLst>
            </a:custGeom>
            <a:noFill/>
            <a:ln cap="flat" cmpd="sng" w="19050">
              <a:solidFill>
                <a:srgbClr val="38761D"/>
              </a:solidFill>
              <a:prstDash val="solid"/>
              <a:round/>
              <a:headEnd len="med" w="med" type="none"/>
              <a:tailEnd len="med" w="med" type="none"/>
            </a:ln>
          </p:spPr>
        </p:sp>
        <p:sp>
          <p:nvSpPr>
            <p:cNvPr id="466" name="Google Shape;466;p39"/>
            <p:cNvSpPr/>
            <p:nvPr/>
          </p:nvSpPr>
          <p:spPr>
            <a:xfrm>
              <a:off x="1065550" y="2882800"/>
              <a:ext cx="4501800" cy="784700"/>
            </a:xfrm>
            <a:custGeom>
              <a:rect b="b" l="l" r="r" t="t"/>
              <a:pathLst>
                <a:path extrusionOk="0" h="31388" w="180072">
                  <a:moveTo>
                    <a:pt x="0" y="0"/>
                  </a:moveTo>
                  <a:cubicBezTo>
                    <a:pt x="11619" y="3139"/>
                    <a:pt x="48074" y="18227"/>
                    <a:pt x="69716" y="18833"/>
                  </a:cubicBezTo>
                  <a:cubicBezTo>
                    <a:pt x="91358" y="19439"/>
                    <a:pt x="111457" y="1542"/>
                    <a:pt x="129850" y="3634"/>
                  </a:cubicBezTo>
                  <a:cubicBezTo>
                    <a:pt x="148243" y="5727"/>
                    <a:pt x="171702" y="26762"/>
                    <a:pt x="180072" y="31388"/>
                  </a:cubicBezTo>
                </a:path>
              </a:pathLst>
            </a:custGeom>
            <a:noFill/>
            <a:ln cap="flat" cmpd="sng" w="19050">
              <a:solidFill>
                <a:srgbClr val="38761D"/>
              </a:solidFill>
              <a:prstDash val="solid"/>
              <a:round/>
              <a:headEnd len="med" w="med" type="none"/>
              <a:tailEnd len="med" w="med" type="none"/>
            </a:ln>
          </p:spPr>
        </p:sp>
      </p:grpSp>
      <p:sp>
        <p:nvSpPr>
          <p:cNvPr id="467" name="Google Shape;467;p39"/>
          <p:cNvSpPr/>
          <p:nvPr/>
        </p:nvSpPr>
        <p:spPr>
          <a:xfrm>
            <a:off x="1321625" y="2555075"/>
            <a:ext cx="6038175" cy="809750"/>
          </a:xfrm>
          <a:custGeom>
            <a:rect b="b" l="l" r="r" t="t"/>
            <a:pathLst>
              <a:path extrusionOk="0" h="32390" w="241527">
                <a:moveTo>
                  <a:pt x="0" y="3634"/>
                </a:moveTo>
                <a:cubicBezTo>
                  <a:pt x="9747" y="6332"/>
                  <a:pt x="37997" y="19824"/>
                  <a:pt x="58482" y="19824"/>
                </a:cubicBezTo>
                <a:cubicBezTo>
                  <a:pt x="78967" y="19824"/>
                  <a:pt x="101820" y="1541"/>
                  <a:pt x="122911" y="3634"/>
                </a:cubicBezTo>
                <a:cubicBezTo>
                  <a:pt x="144002" y="5727"/>
                  <a:pt x="165259" y="32986"/>
                  <a:pt x="185028" y="32380"/>
                </a:cubicBezTo>
                <a:cubicBezTo>
                  <a:pt x="204797" y="31774"/>
                  <a:pt x="232111" y="5397"/>
                  <a:pt x="241527" y="0"/>
                </a:cubicBezTo>
              </a:path>
            </a:pathLst>
          </a:custGeom>
          <a:noFill/>
          <a:ln cap="flat" cmpd="sng" w="38100">
            <a:solidFill>
              <a:srgbClr val="1155CC"/>
            </a:solidFill>
            <a:prstDash val="solid"/>
            <a:round/>
            <a:headEnd len="med" w="med" type="none"/>
            <a:tailEnd len="med" w="med" type="triangle"/>
          </a:ln>
        </p:spPr>
      </p:sp>
      <p:sp>
        <p:nvSpPr>
          <p:cNvPr id="468" name="Google Shape;468;p39"/>
          <p:cNvSpPr/>
          <p:nvPr/>
        </p:nvSpPr>
        <p:spPr>
          <a:xfrm>
            <a:off x="7682838" y="2713688"/>
            <a:ext cx="1338300" cy="531600"/>
          </a:xfrm>
          <a:prstGeom prst="rect">
            <a:avLst/>
          </a:prstGeom>
          <a:solidFill>
            <a:srgbClr val="C9DAF8"/>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000"/>
              <a:t>To: Bob</a:t>
            </a:r>
            <a:endParaRPr sz="1000"/>
          </a:p>
          <a:p>
            <a:pPr indent="0" lvl="0" marL="0" rtl="0" algn="l">
              <a:spcBef>
                <a:spcPts val="0"/>
              </a:spcBef>
              <a:spcAft>
                <a:spcPts val="0"/>
              </a:spcAft>
              <a:buNone/>
            </a:pPr>
            <a:r>
              <a:rPr lang="en" sz="1000"/>
              <a:t>Hello world</a:t>
            </a:r>
            <a:endParaRPr sz="1000"/>
          </a:p>
        </p:txBody>
      </p:sp>
      <p:sp>
        <p:nvSpPr>
          <p:cNvPr id="469" name="Google Shape;469;p39"/>
          <p:cNvSpPr/>
          <p:nvPr/>
        </p:nvSpPr>
        <p:spPr>
          <a:xfrm>
            <a:off x="1078638" y="13648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4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Circuits</a:t>
            </a:r>
            <a:endParaRPr/>
          </a:p>
        </p:txBody>
      </p:sp>
      <p:sp>
        <p:nvSpPr>
          <p:cNvPr id="475" name="Google Shape;475;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476" name="Google Shape;476;p40"/>
          <p:cNvSpPr/>
          <p:nvPr/>
        </p:nvSpPr>
        <p:spPr>
          <a:xfrm>
            <a:off x="434725"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Alice</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r>
              <a:rPr i="1" lang="en"/>
              <a:t>, </a:t>
            </a:r>
            <a:r>
              <a:rPr i="1" lang="en">
                <a:solidFill>
                  <a:srgbClr val="BF9000"/>
                </a:solidFill>
              </a:rPr>
              <a:t>K</a:t>
            </a:r>
            <a:r>
              <a:rPr i="1" lang="en" sz="900">
                <a:solidFill>
                  <a:srgbClr val="BF9000"/>
                </a:solidFill>
              </a:rPr>
              <a:t>2</a:t>
            </a:r>
            <a:r>
              <a:rPr i="1" lang="en"/>
              <a:t>, </a:t>
            </a:r>
            <a:r>
              <a:rPr i="1" lang="en">
                <a:solidFill>
                  <a:srgbClr val="38761D"/>
                </a:solidFill>
              </a:rPr>
              <a:t>K</a:t>
            </a:r>
            <a:r>
              <a:rPr i="1" lang="en" sz="900">
                <a:solidFill>
                  <a:srgbClr val="38761D"/>
                </a:solidFill>
              </a:rPr>
              <a:t>3</a:t>
            </a:r>
            <a:endParaRPr i="1" sz="900">
              <a:solidFill>
                <a:srgbClr val="38761D"/>
              </a:solidFill>
            </a:endParaRPr>
          </a:p>
        </p:txBody>
      </p:sp>
      <p:sp>
        <p:nvSpPr>
          <p:cNvPr id="477" name="Google Shape;477;p40"/>
          <p:cNvSpPr/>
          <p:nvPr/>
        </p:nvSpPr>
        <p:spPr>
          <a:xfrm>
            <a:off x="2407800" y="16565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78" name="Google Shape;478;p40"/>
          <p:cNvSpPr/>
          <p:nvPr/>
        </p:nvSpPr>
        <p:spPr>
          <a:xfrm>
            <a:off x="3533325" y="17584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79" name="Google Shape;479;p40"/>
          <p:cNvSpPr/>
          <p:nvPr/>
        </p:nvSpPr>
        <p:spPr>
          <a:xfrm>
            <a:off x="4337150" y="1218900"/>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80" name="Google Shape;480;p40"/>
          <p:cNvSpPr/>
          <p:nvPr/>
        </p:nvSpPr>
        <p:spPr>
          <a:xfrm>
            <a:off x="5551975" y="21520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81" name="Google Shape;481;p40"/>
          <p:cNvSpPr/>
          <p:nvPr/>
        </p:nvSpPr>
        <p:spPr>
          <a:xfrm>
            <a:off x="5551975" y="126292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
        <p:nvSpPr>
          <p:cNvPr id="482" name="Google Shape;482;p40"/>
          <p:cNvSpPr/>
          <p:nvPr/>
        </p:nvSpPr>
        <p:spPr>
          <a:xfrm>
            <a:off x="7406850" y="2045038"/>
            <a:ext cx="1065600" cy="5727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Bob</a:t>
            </a:r>
            <a:endParaRPr i="1" sz="900">
              <a:solidFill>
                <a:srgbClr val="1155CC"/>
              </a:solidFill>
            </a:endParaRPr>
          </a:p>
        </p:txBody>
      </p:sp>
      <p:sp>
        <p:nvSpPr>
          <p:cNvPr id="483" name="Google Shape;483;p40"/>
          <p:cNvSpPr/>
          <p:nvPr/>
        </p:nvSpPr>
        <p:spPr>
          <a:xfrm>
            <a:off x="2288500" y="2772325"/>
            <a:ext cx="732000" cy="809700"/>
          </a:xfrm>
          <a:prstGeom prst="rect">
            <a:avLst/>
          </a:prstGeom>
          <a:solidFill>
            <a:srgbClr val="F4CCCC"/>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CC0000"/>
                </a:solidFill>
              </a:rPr>
              <a:t>K</a:t>
            </a:r>
            <a:r>
              <a:rPr i="1" lang="en" sz="900">
                <a:solidFill>
                  <a:srgbClr val="CC0000"/>
                </a:solidFill>
              </a:rPr>
              <a:t>1</a:t>
            </a:r>
            <a:endParaRPr i="1" sz="900">
              <a:solidFill>
                <a:srgbClr val="CC0000"/>
              </a:solidFill>
            </a:endParaRPr>
          </a:p>
        </p:txBody>
      </p:sp>
      <p:sp>
        <p:nvSpPr>
          <p:cNvPr id="484" name="Google Shape;484;p40"/>
          <p:cNvSpPr/>
          <p:nvPr/>
        </p:nvSpPr>
        <p:spPr>
          <a:xfrm>
            <a:off x="3997000" y="2480100"/>
            <a:ext cx="732000" cy="809700"/>
          </a:xfrm>
          <a:prstGeom prst="rect">
            <a:avLst/>
          </a:prstGeom>
          <a:solidFill>
            <a:srgbClr val="FCE5CD"/>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BF9000"/>
                </a:solidFill>
              </a:rPr>
              <a:t>K</a:t>
            </a:r>
            <a:r>
              <a:rPr i="1" lang="en" sz="900">
                <a:solidFill>
                  <a:srgbClr val="BF9000"/>
                </a:solidFill>
              </a:rPr>
              <a:t>2</a:t>
            </a:r>
            <a:endParaRPr i="1" sz="900">
              <a:solidFill>
                <a:srgbClr val="BF9000"/>
              </a:solidFill>
            </a:endParaRPr>
          </a:p>
        </p:txBody>
      </p:sp>
      <p:sp>
        <p:nvSpPr>
          <p:cNvPr id="485" name="Google Shape;485;p40"/>
          <p:cNvSpPr/>
          <p:nvPr/>
        </p:nvSpPr>
        <p:spPr>
          <a:xfrm>
            <a:off x="5551975" y="3102675"/>
            <a:ext cx="732000" cy="809700"/>
          </a:xfrm>
          <a:prstGeom prst="rect">
            <a:avLst/>
          </a:prstGeom>
          <a:solidFill>
            <a:srgbClr val="D9EAD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a:t>Relay</a:t>
            </a:r>
            <a:endParaRPr/>
          </a:p>
          <a:p>
            <a:pPr indent="0" lvl="0" marL="0" rtl="0" algn="ctr">
              <a:spcBef>
                <a:spcPts val="0"/>
              </a:spcBef>
              <a:spcAft>
                <a:spcPts val="0"/>
              </a:spcAft>
              <a:buNone/>
            </a:pPr>
            <a:r>
              <a:t/>
            </a:r>
            <a:endParaRPr/>
          </a:p>
          <a:p>
            <a:pPr indent="0" lvl="0" marL="0" rtl="0" algn="ctr">
              <a:spcBef>
                <a:spcPts val="0"/>
              </a:spcBef>
              <a:spcAft>
                <a:spcPts val="0"/>
              </a:spcAft>
              <a:buNone/>
            </a:pPr>
            <a:r>
              <a:rPr i="1" lang="en">
                <a:solidFill>
                  <a:srgbClr val="38761D"/>
                </a:solidFill>
              </a:rPr>
              <a:t>K</a:t>
            </a:r>
            <a:r>
              <a:rPr i="1" lang="en" sz="900">
                <a:solidFill>
                  <a:srgbClr val="38761D"/>
                </a:solidFill>
              </a:rPr>
              <a:t>3</a:t>
            </a:r>
            <a:endParaRPr i="1" sz="900">
              <a:solidFill>
                <a:srgbClr val="38761D"/>
              </a:solidFill>
            </a:endParaRPr>
          </a:p>
        </p:txBody>
      </p:sp>
      <p:grpSp>
        <p:nvGrpSpPr>
          <p:cNvPr id="486" name="Google Shape;486;p40"/>
          <p:cNvGrpSpPr/>
          <p:nvPr/>
        </p:nvGrpSpPr>
        <p:grpSpPr>
          <a:xfrm>
            <a:off x="718625" y="2530300"/>
            <a:ext cx="1577700" cy="636000"/>
            <a:chOff x="718625" y="2758900"/>
            <a:chExt cx="1577700" cy="636000"/>
          </a:xfrm>
        </p:grpSpPr>
        <p:cxnSp>
          <p:nvCxnSpPr>
            <p:cNvPr id="487" name="Google Shape;487;p40"/>
            <p:cNvCxnSpPr/>
            <p:nvPr/>
          </p:nvCxnSpPr>
          <p:spPr>
            <a:xfrm>
              <a:off x="718625" y="2882800"/>
              <a:ext cx="1577700" cy="512100"/>
            </a:xfrm>
            <a:prstGeom prst="straightConnector1">
              <a:avLst/>
            </a:prstGeom>
            <a:noFill/>
            <a:ln cap="flat" cmpd="sng" w="19050">
              <a:solidFill>
                <a:srgbClr val="CC0000"/>
              </a:solidFill>
              <a:prstDash val="solid"/>
              <a:round/>
              <a:headEnd len="med" w="med" type="none"/>
              <a:tailEnd len="med" w="med" type="none"/>
            </a:ln>
          </p:spPr>
        </p:cxnSp>
        <p:cxnSp>
          <p:nvCxnSpPr>
            <p:cNvPr id="488" name="Google Shape;488;p40"/>
            <p:cNvCxnSpPr/>
            <p:nvPr/>
          </p:nvCxnSpPr>
          <p:spPr>
            <a:xfrm>
              <a:off x="1519875" y="2758900"/>
              <a:ext cx="768300" cy="247800"/>
            </a:xfrm>
            <a:prstGeom prst="straightConnector1">
              <a:avLst/>
            </a:prstGeom>
            <a:noFill/>
            <a:ln cap="flat" cmpd="sng" w="19050">
              <a:solidFill>
                <a:srgbClr val="CC0000"/>
              </a:solidFill>
              <a:prstDash val="solid"/>
              <a:round/>
              <a:headEnd len="med" w="med" type="none"/>
              <a:tailEnd len="med" w="med" type="none"/>
            </a:ln>
          </p:spPr>
        </p:cxnSp>
      </p:grpSp>
      <p:grpSp>
        <p:nvGrpSpPr>
          <p:cNvPr id="489" name="Google Shape;489;p40"/>
          <p:cNvGrpSpPr/>
          <p:nvPr/>
        </p:nvGrpSpPr>
        <p:grpSpPr>
          <a:xfrm>
            <a:off x="883825" y="2522025"/>
            <a:ext cx="3122350" cy="662575"/>
            <a:chOff x="883825" y="2750625"/>
            <a:chExt cx="3122350" cy="662575"/>
          </a:xfrm>
        </p:grpSpPr>
        <p:sp>
          <p:nvSpPr>
            <p:cNvPr id="490" name="Google Shape;490;p40"/>
            <p:cNvSpPr/>
            <p:nvPr/>
          </p:nvSpPr>
          <p:spPr>
            <a:xfrm>
              <a:off x="1495100" y="2750625"/>
              <a:ext cx="2502825" cy="355650"/>
            </a:xfrm>
            <a:custGeom>
              <a:rect b="b" l="l" r="r" t="t"/>
              <a:pathLst>
                <a:path extrusionOk="0" h="14226" w="100113">
                  <a:moveTo>
                    <a:pt x="0" y="2974"/>
                  </a:moveTo>
                  <a:cubicBezTo>
                    <a:pt x="7875" y="4846"/>
                    <a:pt x="30563" y="14704"/>
                    <a:pt x="47248" y="14208"/>
                  </a:cubicBezTo>
                  <a:cubicBezTo>
                    <a:pt x="63934" y="13712"/>
                    <a:pt x="91302" y="2368"/>
                    <a:pt x="100113" y="0"/>
                  </a:cubicBezTo>
                </a:path>
              </a:pathLst>
            </a:custGeom>
            <a:noFill/>
            <a:ln cap="flat" cmpd="sng" w="19050">
              <a:solidFill>
                <a:srgbClr val="E69138"/>
              </a:solidFill>
              <a:prstDash val="solid"/>
              <a:round/>
              <a:headEnd len="med" w="med" type="none"/>
              <a:tailEnd len="med" w="med" type="none"/>
            </a:ln>
          </p:spPr>
        </p:sp>
        <p:sp>
          <p:nvSpPr>
            <p:cNvPr id="491" name="Google Shape;491;p40"/>
            <p:cNvSpPr/>
            <p:nvPr/>
          </p:nvSpPr>
          <p:spPr>
            <a:xfrm>
              <a:off x="883825" y="2866275"/>
              <a:ext cx="3122350" cy="546925"/>
            </a:xfrm>
            <a:custGeom>
              <a:rect b="b" l="l" r="r" t="t"/>
              <a:pathLst>
                <a:path extrusionOk="0" h="21877" w="124894">
                  <a:moveTo>
                    <a:pt x="0" y="0"/>
                  </a:moveTo>
                  <a:cubicBezTo>
                    <a:pt x="12445" y="3635"/>
                    <a:pt x="53856" y="20651"/>
                    <a:pt x="74672" y="21807"/>
                  </a:cubicBezTo>
                  <a:cubicBezTo>
                    <a:pt x="95488" y="22964"/>
                    <a:pt x="116524" y="9417"/>
                    <a:pt x="124894" y="6939"/>
                  </a:cubicBezTo>
                </a:path>
              </a:pathLst>
            </a:custGeom>
            <a:noFill/>
            <a:ln cap="flat" cmpd="sng" w="19050">
              <a:solidFill>
                <a:srgbClr val="E69138"/>
              </a:solidFill>
              <a:prstDash val="solid"/>
              <a:round/>
              <a:headEnd len="med" w="med" type="none"/>
              <a:tailEnd len="med" w="med" type="none"/>
            </a:ln>
          </p:spPr>
        </p:sp>
      </p:grpSp>
      <p:grpSp>
        <p:nvGrpSpPr>
          <p:cNvPr id="492" name="Google Shape;492;p40"/>
          <p:cNvGrpSpPr/>
          <p:nvPr/>
        </p:nvGrpSpPr>
        <p:grpSpPr>
          <a:xfrm>
            <a:off x="1065550" y="2520087"/>
            <a:ext cx="4501800" cy="918813"/>
            <a:chOff x="1065550" y="2748687"/>
            <a:chExt cx="4501800" cy="918813"/>
          </a:xfrm>
        </p:grpSpPr>
        <p:sp>
          <p:nvSpPr>
            <p:cNvPr id="493" name="Google Shape;493;p40"/>
            <p:cNvSpPr/>
            <p:nvPr/>
          </p:nvSpPr>
          <p:spPr>
            <a:xfrm>
              <a:off x="1495100" y="2748687"/>
              <a:ext cx="4055725" cy="629725"/>
            </a:xfrm>
            <a:custGeom>
              <a:rect b="b" l="l" r="r" t="t"/>
              <a:pathLst>
                <a:path extrusionOk="0" h="25189" w="162229">
                  <a:moveTo>
                    <a:pt x="0" y="5034"/>
                  </a:moveTo>
                  <a:cubicBezTo>
                    <a:pt x="8480" y="7017"/>
                    <a:pt x="31719" y="17755"/>
                    <a:pt x="50882" y="16929"/>
                  </a:cubicBezTo>
                  <a:cubicBezTo>
                    <a:pt x="70046" y="16103"/>
                    <a:pt x="96423" y="-1299"/>
                    <a:pt x="114981" y="78"/>
                  </a:cubicBezTo>
                  <a:cubicBezTo>
                    <a:pt x="133539" y="1455"/>
                    <a:pt x="154354" y="21004"/>
                    <a:pt x="162229" y="25189"/>
                  </a:cubicBezTo>
                </a:path>
              </a:pathLst>
            </a:custGeom>
            <a:noFill/>
            <a:ln cap="flat" cmpd="sng" w="19050">
              <a:solidFill>
                <a:srgbClr val="38761D"/>
              </a:solidFill>
              <a:prstDash val="solid"/>
              <a:round/>
              <a:headEnd len="med" w="med" type="none"/>
              <a:tailEnd len="med" w="med" type="none"/>
            </a:ln>
          </p:spPr>
        </p:sp>
        <p:sp>
          <p:nvSpPr>
            <p:cNvPr id="494" name="Google Shape;494;p40"/>
            <p:cNvSpPr/>
            <p:nvPr/>
          </p:nvSpPr>
          <p:spPr>
            <a:xfrm>
              <a:off x="1065550" y="2882800"/>
              <a:ext cx="4501800" cy="784700"/>
            </a:xfrm>
            <a:custGeom>
              <a:rect b="b" l="l" r="r" t="t"/>
              <a:pathLst>
                <a:path extrusionOk="0" h="31388" w="180072">
                  <a:moveTo>
                    <a:pt x="0" y="0"/>
                  </a:moveTo>
                  <a:cubicBezTo>
                    <a:pt x="11619" y="3139"/>
                    <a:pt x="48074" y="18227"/>
                    <a:pt x="69716" y="18833"/>
                  </a:cubicBezTo>
                  <a:cubicBezTo>
                    <a:pt x="91358" y="19439"/>
                    <a:pt x="111457" y="1542"/>
                    <a:pt x="129850" y="3634"/>
                  </a:cubicBezTo>
                  <a:cubicBezTo>
                    <a:pt x="148243" y="5727"/>
                    <a:pt x="171702" y="26762"/>
                    <a:pt x="180072" y="31388"/>
                  </a:cubicBezTo>
                </a:path>
              </a:pathLst>
            </a:custGeom>
            <a:noFill/>
            <a:ln cap="flat" cmpd="sng" w="19050">
              <a:solidFill>
                <a:srgbClr val="38761D"/>
              </a:solidFill>
              <a:prstDash val="solid"/>
              <a:round/>
              <a:headEnd len="med" w="med" type="none"/>
              <a:tailEnd len="med" w="med" type="none"/>
            </a:ln>
          </p:spPr>
        </p:sp>
      </p:grpSp>
      <p:sp>
        <p:nvSpPr>
          <p:cNvPr id="495" name="Google Shape;495;p40"/>
          <p:cNvSpPr/>
          <p:nvPr/>
        </p:nvSpPr>
        <p:spPr>
          <a:xfrm>
            <a:off x="1321625" y="2555075"/>
            <a:ext cx="6038175" cy="809750"/>
          </a:xfrm>
          <a:custGeom>
            <a:rect b="b" l="l" r="r" t="t"/>
            <a:pathLst>
              <a:path extrusionOk="0" h="32390" w="241527">
                <a:moveTo>
                  <a:pt x="0" y="3634"/>
                </a:moveTo>
                <a:cubicBezTo>
                  <a:pt x="9747" y="6332"/>
                  <a:pt x="37997" y="19824"/>
                  <a:pt x="58482" y="19824"/>
                </a:cubicBezTo>
                <a:cubicBezTo>
                  <a:pt x="78967" y="19824"/>
                  <a:pt x="101820" y="1541"/>
                  <a:pt x="122911" y="3634"/>
                </a:cubicBezTo>
                <a:cubicBezTo>
                  <a:pt x="144002" y="5727"/>
                  <a:pt x="165259" y="32986"/>
                  <a:pt x="185028" y="32380"/>
                </a:cubicBezTo>
                <a:cubicBezTo>
                  <a:pt x="204797" y="31774"/>
                  <a:pt x="232111" y="5397"/>
                  <a:pt x="241527" y="0"/>
                </a:cubicBezTo>
              </a:path>
            </a:pathLst>
          </a:custGeom>
          <a:noFill/>
          <a:ln cap="flat" cmpd="sng" w="38100">
            <a:solidFill>
              <a:srgbClr val="1155CC"/>
            </a:solidFill>
            <a:prstDash val="solid"/>
            <a:round/>
            <a:headEnd len="med" w="med" type="none"/>
            <a:tailEnd len="med" w="med" type="triangle"/>
          </a:ln>
        </p:spPr>
      </p:sp>
      <p:grpSp>
        <p:nvGrpSpPr>
          <p:cNvPr id="496" name="Google Shape;496;p40"/>
          <p:cNvGrpSpPr/>
          <p:nvPr/>
        </p:nvGrpSpPr>
        <p:grpSpPr>
          <a:xfrm>
            <a:off x="231275" y="3436100"/>
            <a:ext cx="2238600" cy="1475700"/>
            <a:chOff x="231275" y="3436100"/>
            <a:chExt cx="2238600" cy="1475700"/>
          </a:xfrm>
        </p:grpSpPr>
        <p:sp>
          <p:nvSpPr>
            <p:cNvPr id="497" name="Google Shape;497;p40"/>
            <p:cNvSpPr txBox="1"/>
            <p:nvPr/>
          </p:nvSpPr>
          <p:spPr>
            <a:xfrm>
              <a:off x="231275" y="4080500"/>
              <a:ext cx="22386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Relay 1 knows that Alice is using Tor but </a:t>
              </a:r>
              <a:r>
                <a:rPr i="1" lang="en">
                  <a:solidFill>
                    <a:schemeClr val="dk1"/>
                  </a:solidFill>
                </a:rPr>
                <a:t>not</a:t>
              </a:r>
              <a:r>
                <a:rPr lang="en">
                  <a:solidFill>
                    <a:schemeClr val="dk1"/>
                  </a:solidFill>
                </a:rPr>
                <a:t> who Alice is talking to</a:t>
              </a:r>
              <a:endParaRPr>
                <a:solidFill>
                  <a:schemeClr val="dk1"/>
                </a:solidFill>
              </a:endParaRPr>
            </a:p>
          </p:txBody>
        </p:sp>
        <p:cxnSp>
          <p:nvCxnSpPr>
            <p:cNvPr id="498" name="Google Shape;498;p40"/>
            <p:cNvCxnSpPr>
              <a:stCxn id="497" idx="0"/>
            </p:cNvCxnSpPr>
            <p:nvPr/>
          </p:nvCxnSpPr>
          <p:spPr>
            <a:xfrm flipH="1" rot="10800000">
              <a:off x="1350575" y="3436100"/>
              <a:ext cx="689700" cy="644400"/>
            </a:xfrm>
            <a:prstGeom prst="straightConnector1">
              <a:avLst/>
            </a:prstGeom>
            <a:noFill/>
            <a:ln cap="flat" cmpd="sng" w="9525">
              <a:solidFill>
                <a:schemeClr val="dk2"/>
              </a:solidFill>
              <a:prstDash val="solid"/>
              <a:round/>
              <a:headEnd len="med" w="med" type="none"/>
              <a:tailEnd len="med" w="med" type="triangle"/>
            </a:ln>
          </p:spPr>
        </p:cxnSp>
      </p:grpSp>
      <p:grpSp>
        <p:nvGrpSpPr>
          <p:cNvPr id="499" name="Google Shape;499;p40"/>
          <p:cNvGrpSpPr/>
          <p:nvPr/>
        </p:nvGrpSpPr>
        <p:grpSpPr>
          <a:xfrm>
            <a:off x="6283975" y="3634400"/>
            <a:ext cx="2054400" cy="1277400"/>
            <a:chOff x="6283975" y="3634400"/>
            <a:chExt cx="2054400" cy="1277400"/>
          </a:xfrm>
        </p:grpSpPr>
        <p:sp>
          <p:nvSpPr>
            <p:cNvPr id="500" name="Google Shape;500;p40"/>
            <p:cNvSpPr txBox="1"/>
            <p:nvPr/>
          </p:nvSpPr>
          <p:spPr>
            <a:xfrm>
              <a:off x="6283975" y="4080500"/>
              <a:ext cx="20544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Relay 3 knows that someone is talking to Bob, but not who</a:t>
              </a:r>
              <a:endParaRPr>
                <a:solidFill>
                  <a:schemeClr val="dk1"/>
                </a:solidFill>
              </a:endParaRPr>
            </a:p>
          </p:txBody>
        </p:sp>
        <p:cxnSp>
          <p:nvCxnSpPr>
            <p:cNvPr id="501" name="Google Shape;501;p40"/>
            <p:cNvCxnSpPr>
              <a:stCxn id="500" idx="0"/>
            </p:cNvCxnSpPr>
            <p:nvPr/>
          </p:nvCxnSpPr>
          <p:spPr>
            <a:xfrm rot="10800000">
              <a:off x="6459475" y="3634400"/>
              <a:ext cx="851700" cy="446100"/>
            </a:xfrm>
            <a:prstGeom prst="straightConnector1">
              <a:avLst/>
            </a:prstGeom>
            <a:noFill/>
            <a:ln cap="flat" cmpd="sng" w="9525">
              <a:solidFill>
                <a:schemeClr val="dk2"/>
              </a:solidFill>
              <a:prstDash val="solid"/>
              <a:round/>
              <a:headEnd len="med" w="med" type="none"/>
              <a:tailEnd len="med" w="med" type="triangle"/>
            </a:ln>
          </p:spPr>
        </p:cxnSp>
      </p:grpSp>
      <p:grpSp>
        <p:nvGrpSpPr>
          <p:cNvPr id="502" name="Google Shape;502;p40"/>
          <p:cNvGrpSpPr/>
          <p:nvPr/>
        </p:nvGrpSpPr>
        <p:grpSpPr>
          <a:xfrm>
            <a:off x="3059950" y="3436225"/>
            <a:ext cx="2238600" cy="1620600"/>
            <a:chOff x="3059950" y="3436225"/>
            <a:chExt cx="2238600" cy="1620600"/>
          </a:xfrm>
        </p:grpSpPr>
        <p:sp>
          <p:nvSpPr>
            <p:cNvPr id="503" name="Google Shape;503;p40"/>
            <p:cNvSpPr txBox="1"/>
            <p:nvPr/>
          </p:nvSpPr>
          <p:spPr>
            <a:xfrm>
              <a:off x="3059950" y="4225525"/>
              <a:ext cx="2238600" cy="831300"/>
            </a:xfrm>
            <a:prstGeom prst="rect">
              <a:avLst/>
            </a:prstGeom>
            <a:solidFill>
              <a:schemeClr val="accent4"/>
            </a:solidFill>
            <a:ln cap="flat" cmpd="sng" w="19050">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ctr">
                <a:spcBef>
                  <a:spcPts val="0"/>
                </a:spcBef>
                <a:spcAft>
                  <a:spcPts val="0"/>
                </a:spcAft>
                <a:buNone/>
              </a:pPr>
              <a:r>
                <a:rPr lang="en">
                  <a:solidFill>
                    <a:schemeClr val="dk1"/>
                  </a:solidFill>
                </a:rPr>
                <a:t>Relay 2 knows nothing (other than that someone is using Tor)</a:t>
              </a:r>
              <a:endParaRPr>
                <a:solidFill>
                  <a:schemeClr val="dk1"/>
                </a:solidFill>
              </a:endParaRPr>
            </a:p>
          </p:txBody>
        </p:sp>
        <p:cxnSp>
          <p:nvCxnSpPr>
            <p:cNvPr id="504" name="Google Shape;504;p40"/>
            <p:cNvCxnSpPr>
              <a:stCxn id="503" idx="0"/>
            </p:cNvCxnSpPr>
            <p:nvPr/>
          </p:nvCxnSpPr>
          <p:spPr>
            <a:xfrm flipH="1" rot="10800000">
              <a:off x="4179250" y="3436225"/>
              <a:ext cx="190500" cy="789300"/>
            </a:xfrm>
            <a:prstGeom prst="straightConnector1">
              <a:avLst/>
            </a:prstGeom>
            <a:noFill/>
            <a:ln cap="flat" cmpd="sng" w="9525">
              <a:solidFill>
                <a:schemeClr val="dk2"/>
              </a:solidFill>
              <a:prstDash val="solid"/>
              <a:round/>
              <a:headEnd len="med" w="med" type="none"/>
              <a:tailEnd len="med" w="med" type="triangle"/>
            </a:ln>
          </p:spPr>
        </p:cxnSp>
      </p:grpSp>
      <p:sp>
        <p:nvSpPr>
          <p:cNvPr id="505" name="Google Shape;505;p40"/>
          <p:cNvSpPr/>
          <p:nvPr/>
        </p:nvSpPr>
        <p:spPr>
          <a:xfrm>
            <a:off x="1078638" y="1364875"/>
            <a:ext cx="732000" cy="393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Relay</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4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Exit Nodes</a:t>
            </a:r>
            <a:endParaRPr/>
          </a:p>
        </p:txBody>
      </p:sp>
      <p:sp>
        <p:nvSpPr>
          <p:cNvPr id="511" name="Google Shape;511;p4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exit node</a:t>
            </a:r>
            <a:r>
              <a:rPr lang="en"/>
              <a:t> can see the message and the recipient (but not the sender)</a:t>
            </a:r>
            <a:endParaRPr/>
          </a:p>
          <a:p>
            <a:pPr indent="-342900" lvl="0" marL="457200" rtl="0" algn="l">
              <a:spcBef>
                <a:spcPts val="0"/>
              </a:spcBef>
              <a:spcAft>
                <a:spcPts val="0"/>
              </a:spcAft>
              <a:buSzPts val="1800"/>
              <a:buChar char="●"/>
            </a:pPr>
            <a:r>
              <a:rPr lang="en"/>
              <a:t>The exit node is a man-in-the-middle attacker</a:t>
            </a:r>
            <a:endParaRPr/>
          </a:p>
          <a:p>
            <a:pPr indent="-317500" lvl="1" marL="914400" rtl="0" algn="l">
              <a:spcBef>
                <a:spcPts val="0"/>
              </a:spcBef>
              <a:spcAft>
                <a:spcPts val="0"/>
              </a:spcAft>
              <a:buSzPts val="1400"/>
              <a:buChar char="○"/>
            </a:pPr>
            <a:r>
              <a:rPr lang="en"/>
              <a:t>If the user is not using TLS to connect to the end host (using HTTP), the exit node can see and modify the traffic</a:t>
            </a:r>
            <a:endParaRPr/>
          </a:p>
          <a:p>
            <a:pPr indent="-317500" lvl="1" marL="914400" rtl="0" algn="l">
              <a:spcBef>
                <a:spcPts val="0"/>
              </a:spcBef>
              <a:spcAft>
                <a:spcPts val="0"/>
              </a:spcAft>
              <a:buSzPts val="1400"/>
              <a:buChar char="○"/>
            </a:pPr>
            <a:r>
              <a:rPr lang="en"/>
              <a:t>If the user is using TLS (using HTTPS), the exit node cannot see or tamper with the traffic</a:t>
            </a:r>
            <a:endParaRPr/>
          </a:p>
        </p:txBody>
      </p:sp>
      <p:sp>
        <p:nvSpPr>
          <p:cNvPr id="512" name="Google Shape;512;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1">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6" name="Shape 516"/>
        <p:cNvGrpSpPr/>
        <p:nvPr/>
      </p:nvGrpSpPr>
      <p:grpSpPr>
        <a:xfrm>
          <a:off x="0" y="0"/>
          <a:ext cx="0" cy="0"/>
          <a:chOff x="0" y="0"/>
          <a:chExt cx="0" cy="0"/>
        </a:xfrm>
      </p:grpSpPr>
      <p:sp>
        <p:nvSpPr>
          <p:cNvPr id="517" name="Google Shape;517;p4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Exit Nodes in Practice</a:t>
            </a:r>
            <a:endParaRPr/>
          </a:p>
        </p:txBody>
      </p:sp>
      <p:sp>
        <p:nvSpPr>
          <p:cNvPr id="518" name="Google Shape;518;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19" name="Google Shape;519;p4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Administrators of Tor exit nodes often receive abuse complaints</a:t>
            </a:r>
            <a:endParaRPr/>
          </a:p>
          <a:p>
            <a:pPr indent="-317500" lvl="1" marL="914400" rtl="0" algn="l">
              <a:spcBef>
                <a:spcPts val="0"/>
              </a:spcBef>
              <a:spcAft>
                <a:spcPts val="0"/>
              </a:spcAft>
              <a:buSzPts val="1400"/>
              <a:buChar char="○"/>
            </a:pPr>
            <a:r>
              <a:rPr lang="en"/>
              <a:t>Users complain to the exit node</a:t>
            </a:r>
            <a:endParaRPr/>
          </a:p>
          <a:p>
            <a:pPr indent="-317500" lvl="1" marL="914400" rtl="0" algn="l">
              <a:spcBef>
                <a:spcPts val="0"/>
              </a:spcBef>
              <a:spcAft>
                <a:spcPts val="0"/>
              </a:spcAft>
              <a:buSzPts val="1400"/>
              <a:buChar char="○"/>
            </a:pPr>
            <a:r>
              <a:rPr lang="en"/>
              <a:t>Users complain to the Internet service provider (ISP), which complains to the exit node</a:t>
            </a:r>
            <a:endParaRPr/>
          </a:p>
          <a:p>
            <a:pPr indent="-342900" lvl="0" marL="457200" rtl="0" algn="l">
              <a:spcBef>
                <a:spcPts val="0"/>
              </a:spcBef>
              <a:spcAft>
                <a:spcPts val="0"/>
              </a:spcAft>
              <a:buSzPts val="1800"/>
              <a:buChar char="●"/>
            </a:pPr>
            <a:r>
              <a:rPr lang="en"/>
              <a:t>As a result, most Tor relays choose to only be entry or </a:t>
            </a:r>
            <a:r>
              <a:rPr lang="en"/>
              <a:t>intermediate</a:t>
            </a:r>
            <a:r>
              <a:rPr lang="en"/>
              <a:t> nodes, not exit nodes</a:t>
            </a:r>
            <a:endParaRPr/>
          </a:p>
          <a:p>
            <a:pPr indent="-317500" lvl="1" marL="914400" rtl="0" algn="l">
              <a:spcBef>
                <a:spcPts val="0"/>
              </a:spcBef>
              <a:spcAft>
                <a:spcPts val="0"/>
              </a:spcAft>
              <a:buSzPts val="1400"/>
              <a:buChar char="○"/>
            </a:pPr>
            <a:r>
              <a:rPr lang="en"/>
              <a:t>Exit node bandwidth is the bottleneck in Tor, not internal bandwidth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43"/>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Weaknesses</a:t>
            </a:r>
            <a:r>
              <a:rPr lang="en"/>
              <a:t>: Timing Attacks</a:t>
            </a:r>
            <a:endParaRPr/>
          </a:p>
        </p:txBody>
      </p:sp>
      <p:sp>
        <p:nvSpPr>
          <p:cNvPr id="525" name="Google Shape;525;p43"/>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A network attacker who has a full (</a:t>
            </a:r>
            <a:r>
              <a:rPr b="1" lang="en"/>
              <a:t>global</a:t>
            </a:r>
            <a:r>
              <a:rPr lang="en"/>
              <a:t>) view of the network can learn that Alice and Bob are talking</a:t>
            </a:r>
            <a:endParaRPr/>
          </a:p>
          <a:p>
            <a:pPr indent="-317500" lvl="1" marL="914400" rtl="0" algn="l">
              <a:spcBef>
                <a:spcPts val="0"/>
              </a:spcBef>
              <a:spcAft>
                <a:spcPts val="0"/>
              </a:spcAft>
              <a:buSzPts val="1400"/>
              <a:buChar char="○"/>
            </a:pPr>
            <a:r>
              <a:rPr lang="en"/>
              <a:t>Timing attack: Observe when Alice sends a message, when Bob receives a message, and link the two together</a:t>
            </a:r>
            <a:endParaRPr/>
          </a:p>
          <a:p>
            <a:pPr indent="-342900" lvl="0" marL="457200" rtl="0" algn="l">
              <a:spcBef>
                <a:spcPts val="0"/>
              </a:spcBef>
              <a:spcAft>
                <a:spcPts val="0"/>
              </a:spcAft>
              <a:buSzPts val="1800"/>
              <a:buChar char="●"/>
            </a:pPr>
            <a:r>
              <a:rPr lang="en"/>
              <a:t>Global adversaries are </a:t>
            </a:r>
            <a:r>
              <a:rPr i="1" lang="en"/>
              <a:t>outside</a:t>
            </a:r>
            <a:r>
              <a:rPr lang="en"/>
              <a:t> of Tor’s threat model and are not defended against</a:t>
            </a:r>
            <a:endParaRPr/>
          </a:p>
          <a:p>
            <a:pPr indent="-317500" lvl="1" marL="914400" rtl="0" algn="l">
              <a:spcBef>
                <a:spcPts val="0"/>
              </a:spcBef>
              <a:spcAft>
                <a:spcPts val="0"/>
              </a:spcAft>
              <a:buSzPts val="1400"/>
              <a:buChar char="○"/>
            </a:pPr>
            <a:r>
              <a:rPr lang="en"/>
              <a:t>Tor only defends against local adversaries with partial views of the network</a:t>
            </a:r>
            <a:endParaRPr/>
          </a:p>
          <a:p>
            <a:pPr indent="-317500" lvl="1" marL="914400" rtl="0" algn="l">
              <a:spcBef>
                <a:spcPts val="0"/>
              </a:spcBef>
              <a:spcAft>
                <a:spcPts val="0"/>
              </a:spcAft>
              <a:buSzPts val="1400"/>
              <a:buChar char="○"/>
            </a:pPr>
            <a:r>
              <a:rPr lang="en"/>
              <a:t>Timing attacks could be defended against by delaying the timing of packets, but this violates Tor’s performance goal</a:t>
            </a:r>
            <a:endParaRPr/>
          </a:p>
        </p:txBody>
      </p:sp>
      <p:sp>
        <p:nvSpPr>
          <p:cNvPr id="526" name="Google Shape;526;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0" name="Shape 530"/>
        <p:cNvGrpSpPr/>
        <p:nvPr/>
      </p:nvGrpSpPr>
      <p:grpSpPr>
        <a:xfrm>
          <a:off x="0" y="0"/>
          <a:ext cx="0" cy="0"/>
          <a:chOff x="0" y="0"/>
          <a:chExt cx="0" cy="0"/>
        </a:xfrm>
      </p:grpSpPr>
      <p:sp>
        <p:nvSpPr>
          <p:cNvPr id="531" name="Google Shape;531;p44"/>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a:t>
            </a:r>
            <a:r>
              <a:rPr lang="en"/>
              <a:t>Weaknesses</a:t>
            </a:r>
            <a:r>
              <a:rPr lang="en"/>
              <a:t>: Collusion</a:t>
            </a:r>
            <a:endParaRPr/>
          </a:p>
        </p:txBody>
      </p:sp>
      <p:sp>
        <p:nvSpPr>
          <p:cNvPr id="532" name="Google Shape;532;p44"/>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Collusion</a:t>
            </a:r>
            <a:r>
              <a:rPr lang="en"/>
              <a:t>: Multiple nodes working together and sharing information</a:t>
            </a:r>
            <a:endParaRPr/>
          </a:p>
          <a:p>
            <a:pPr indent="-317500" lvl="1" marL="914400" rtl="0" algn="l">
              <a:spcBef>
                <a:spcPts val="0"/>
              </a:spcBef>
              <a:spcAft>
                <a:spcPts val="0"/>
              </a:spcAft>
              <a:buSzPts val="1400"/>
              <a:buChar char="○"/>
            </a:pPr>
            <a:r>
              <a:rPr lang="en"/>
              <a:t>Collusion is adversarial (dishonest) behavior</a:t>
            </a:r>
            <a:endParaRPr/>
          </a:p>
          <a:p>
            <a:pPr indent="-317500" lvl="1" marL="914400" rtl="0" algn="l">
              <a:spcBef>
                <a:spcPts val="0"/>
              </a:spcBef>
              <a:spcAft>
                <a:spcPts val="0"/>
              </a:spcAft>
              <a:buSzPts val="1400"/>
              <a:buChar char="○"/>
            </a:pPr>
            <a:r>
              <a:rPr lang="en"/>
              <a:t>Honest nodes should never share information with other proxies</a:t>
            </a:r>
            <a:endParaRPr/>
          </a:p>
          <a:p>
            <a:pPr indent="-317500" lvl="1" marL="914400" rtl="0" algn="l">
              <a:spcBef>
                <a:spcPts val="0"/>
              </a:spcBef>
              <a:spcAft>
                <a:spcPts val="0"/>
              </a:spcAft>
              <a:buSzPts val="1400"/>
              <a:buChar char="○"/>
            </a:pPr>
            <a:r>
              <a:rPr lang="en"/>
              <a:t>If </a:t>
            </a:r>
            <a:r>
              <a:rPr i="1" lang="en"/>
              <a:t>all</a:t>
            </a:r>
            <a:r>
              <a:rPr lang="en"/>
              <a:t> nodes </a:t>
            </a:r>
            <a:r>
              <a:rPr lang="en"/>
              <a:t>in</a:t>
            </a:r>
            <a:r>
              <a:rPr lang="en"/>
              <a:t> the circuit collude, anonymity is broken</a:t>
            </a:r>
            <a:endParaRPr/>
          </a:p>
          <a:p>
            <a:pPr indent="-317500" lvl="1" marL="914400" rtl="0" algn="l">
              <a:spcBef>
                <a:spcPts val="0"/>
              </a:spcBef>
              <a:spcAft>
                <a:spcPts val="0"/>
              </a:spcAft>
              <a:buSzPts val="1400"/>
              <a:buChar char="○"/>
            </a:pPr>
            <a:r>
              <a:rPr lang="en"/>
              <a:t>If </a:t>
            </a:r>
            <a:r>
              <a:rPr i="1" lang="en"/>
              <a:t>at least one</a:t>
            </a:r>
            <a:r>
              <a:rPr lang="en"/>
              <a:t> node in the </a:t>
            </a:r>
            <a:r>
              <a:rPr lang="en"/>
              <a:t>circuit</a:t>
            </a:r>
            <a:r>
              <a:rPr lang="en"/>
              <a:t> is honest, anonymity is preserved</a:t>
            </a:r>
            <a:endParaRPr/>
          </a:p>
          <a:p>
            <a:pPr indent="-342900" lvl="0" marL="457200" rtl="0" algn="l">
              <a:spcBef>
                <a:spcPts val="0"/>
              </a:spcBef>
              <a:spcAft>
                <a:spcPts val="0"/>
              </a:spcAft>
              <a:buSzPts val="1800"/>
              <a:buChar char="●"/>
            </a:pPr>
            <a:r>
              <a:rPr lang="en"/>
              <a:t>The more nodes we use, the more confident we are that they are not all colluding</a:t>
            </a:r>
            <a:endParaRPr/>
          </a:p>
          <a:p>
            <a:pPr indent="-317500" lvl="1" marL="914400" rtl="0" algn="l">
              <a:spcBef>
                <a:spcPts val="0"/>
              </a:spcBef>
              <a:spcAft>
                <a:spcPts val="0"/>
              </a:spcAft>
              <a:buSzPts val="1400"/>
              <a:buChar char="○"/>
            </a:pPr>
            <a:r>
              <a:rPr lang="en"/>
              <a:t>It’s much harder for 10 nodes to collude than for 2 </a:t>
            </a:r>
            <a:r>
              <a:rPr lang="en"/>
              <a:t>nodes</a:t>
            </a:r>
            <a:r>
              <a:rPr lang="en"/>
              <a:t> to collude</a:t>
            </a:r>
            <a:endParaRPr/>
          </a:p>
          <a:p>
            <a:pPr indent="-317500" lvl="1" marL="914400" rtl="0" algn="l">
              <a:spcBef>
                <a:spcPts val="0"/>
              </a:spcBef>
              <a:spcAft>
                <a:spcPts val="0"/>
              </a:spcAft>
              <a:buSzPts val="1400"/>
              <a:buChar char="○"/>
            </a:pPr>
            <a:r>
              <a:rPr lang="en"/>
              <a:t>3 </a:t>
            </a:r>
            <a:r>
              <a:rPr lang="en"/>
              <a:t>nodes</a:t>
            </a:r>
            <a:r>
              <a:rPr lang="en"/>
              <a:t> is generally considered good enough for industrial-grade security and is the default</a:t>
            </a:r>
            <a:endParaRPr/>
          </a:p>
        </p:txBody>
      </p:sp>
      <p:sp>
        <p:nvSpPr>
          <p:cNvPr id="533" name="Google Shape;533;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2">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45"/>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Weaknesses: Collusion</a:t>
            </a:r>
            <a:endParaRPr/>
          </a:p>
        </p:txBody>
      </p:sp>
      <p:sp>
        <p:nvSpPr>
          <p:cNvPr id="539" name="Google Shape;539;p4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
        <p:nvSpPr>
          <p:cNvPr id="540" name="Google Shape;540;p45"/>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Defense: </a:t>
            </a:r>
            <a:r>
              <a:rPr b="1" lang="en"/>
              <a:t>Guard nodes</a:t>
            </a:r>
            <a:endParaRPr b="1"/>
          </a:p>
          <a:p>
            <a:pPr indent="-317500" lvl="1" marL="914400" rtl="0" algn="l">
              <a:spcBef>
                <a:spcPts val="0"/>
              </a:spcBef>
              <a:spcAft>
                <a:spcPts val="0"/>
              </a:spcAft>
              <a:buSzPts val="1400"/>
              <a:buChar char="○"/>
            </a:pPr>
            <a:r>
              <a:rPr lang="en"/>
              <a:t>Guard nodes must have a high reputation and must have existed for a long time</a:t>
            </a:r>
            <a:endParaRPr/>
          </a:p>
          <a:p>
            <a:pPr indent="-317500" lvl="1" marL="914400" rtl="0" algn="l">
              <a:spcBef>
                <a:spcPts val="0"/>
              </a:spcBef>
              <a:spcAft>
                <a:spcPts val="0"/>
              </a:spcAft>
              <a:buSzPts val="1400"/>
              <a:buChar char="○"/>
            </a:pPr>
            <a:r>
              <a:rPr lang="en"/>
              <a:t>Clients will always use a guard node as the entry node (by default) and the same guard node is used for a long period of time</a:t>
            </a:r>
            <a:endParaRPr/>
          </a:p>
          <a:p>
            <a:pPr indent="-317500" lvl="2" marL="1371600" rtl="0" algn="l">
              <a:spcBef>
                <a:spcPts val="0"/>
              </a:spcBef>
              <a:spcAft>
                <a:spcPts val="0"/>
              </a:spcAft>
              <a:buSzPts val="1400"/>
              <a:buChar char="■"/>
            </a:pPr>
            <a:r>
              <a:rPr lang="en"/>
              <a:t>Attackers’ nodes are unlikely to become guard nodes</a:t>
            </a:r>
            <a:endParaRPr/>
          </a:p>
          <a:p>
            <a:pPr indent="-317500" lvl="2" marL="1371600" rtl="0" algn="l">
              <a:spcBef>
                <a:spcPts val="0"/>
              </a:spcBef>
              <a:spcAft>
                <a:spcPts val="0"/>
              </a:spcAft>
              <a:buSzPts val="1400"/>
              <a:buChar char="■"/>
            </a:pPr>
            <a:r>
              <a:rPr lang="en"/>
              <a:t>Because clients use the same guard nodes for a long period of time, there is only a low chance that the client will switch to an attacker’s guard node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0">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6"/>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Weaknesses: Distinguishable Traffic</a:t>
            </a:r>
            <a:endParaRPr/>
          </a:p>
        </p:txBody>
      </p:sp>
      <p:sp>
        <p:nvSpPr>
          <p:cNvPr id="546" name="Google Shape;546;p46"/>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Tor does </a:t>
            </a:r>
            <a:r>
              <a:rPr i="1" lang="en"/>
              <a:t>not</a:t>
            </a:r>
            <a:r>
              <a:rPr lang="en"/>
              <a:t> hide the fact that you are using Tor</a:t>
            </a:r>
            <a:endParaRPr/>
          </a:p>
          <a:p>
            <a:pPr indent="-317500" lvl="1" marL="914400" rtl="0" algn="l">
              <a:spcBef>
                <a:spcPts val="0"/>
              </a:spcBef>
              <a:spcAft>
                <a:spcPts val="0"/>
              </a:spcAft>
              <a:buSzPts val="1400"/>
              <a:buChar char="○"/>
            </a:pPr>
            <a:r>
              <a:rPr lang="en"/>
              <a:t>Example: A local adversary can see that you are sending packets to a Tor relay</a:t>
            </a:r>
            <a:endParaRPr/>
          </a:p>
          <a:p>
            <a:pPr indent="-342900" lvl="0" marL="457200" rtl="0" algn="l">
              <a:spcBef>
                <a:spcPts val="0"/>
              </a:spcBef>
              <a:spcAft>
                <a:spcPts val="0"/>
              </a:spcAft>
              <a:buSzPts val="1800"/>
              <a:buChar char="●"/>
            </a:pPr>
            <a:r>
              <a:rPr lang="en"/>
              <a:t>Anonymity only works in a crowd</a:t>
            </a:r>
            <a:endParaRPr/>
          </a:p>
          <a:p>
            <a:pPr indent="-317500" lvl="1" marL="914400" rtl="0" algn="l">
              <a:spcBef>
                <a:spcPts val="0"/>
              </a:spcBef>
              <a:spcAft>
                <a:spcPts val="0"/>
              </a:spcAft>
              <a:buSzPts val="1400"/>
              <a:buChar char="○"/>
            </a:pPr>
            <a:r>
              <a:rPr lang="en"/>
              <a:t>Example: A Harvard student sends an anonymous bomb threat using Tor. The administrators noticed that only one student on the Harvard network used Tor at that time!</a:t>
            </a:r>
            <a:endParaRPr/>
          </a:p>
        </p:txBody>
      </p:sp>
      <p:sp>
        <p:nvSpPr>
          <p:cNvPr id="547" name="Google Shape;547;p4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Tor in Practice</a:t>
            </a:r>
            <a:endParaRPr/>
          </a:p>
        </p:txBody>
      </p:sp>
      <p:sp>
        <p:nvSpPr>
          <p:cNvPr id="553" name="Google Shape;553;p4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48"/>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Tradeoffs</a:t>
            </a:r>
            <a:endParaRPr/>
          </a:p>
        </p:txBody>
      </p:sp>
      <p:sp>
        <p:nvSpPr>
          <p:cNvPr id="559" name="Google Shape;559;p48"/>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Benefit: Free to use</a:t>
            </a:r>
            <a:endParaRPr/>
          </a:p>
          <a:p>
            <a:pPr indent="-317500" lvl="1" marL="914400" rtl="0" algn="l">
              <a:spcBef>
                <a:spcPts val="0"/>
              </a:spcBef>
              <a:spcAft>
                <a:spcPts val="0"/>
              </a:spcAft>
              <a:buSzPts val="1400"/>
              <a:buChar char="○"/>
            </a:pPr>
            <a:r>
              <a:rPr lang="en"/>
              <a:t>Tor is mostly funded by the US government</a:t>
            </a:r>
            <a:endParaRPr/>
          </a:p>
          <a:p>
            <a:pPr indent="-317500" lvl="1" marL="914400" rtl="0" algn="l">
              <a:spcBef>
                <a:spcPts val="0"/>
              </a:spcBef>
              <a:spcAft>
                <a:spcPts val="0"/>
              </a:spcAft>
              <a:buSzPts val="1400"/>
              <a:buChar char="○"/>
            </a:pPr>
            <a:r>
              <a:rPr lang="en"/>
              <a:t>Users “pay” by providing traffic for other users to </a:t>
            </a:r>
            <a:r>
              <a:rPr lang="en"/>
              <a:t>hide in (recall: you don’t want to be the only user on the network using Tor)</a:t>
            </a:r>
            <a:endParaRPr/>
          </a:p>
          <a:p>
            <a:pPr indent="-342900" lvl="0" marL="457200" rtl="0" algn="l">
              <a:spcBef>
                <a:spcPts val="0"/>
              </a:spcBef>
              <a:spcAft>
                <a:spcPts val="0"/>
              </a:spcAft>
              <a:buSzPts val="1800"/>
              <a:buChar char="●"/>
            </a:pPr>
            <a:r>
              <a:rPr lang="en"/>
              <a:t>Drawback: Performance</a:t>
            </a:r>
            <a:endParaRPr/>
          </a:p>
          <a:p>
            <a:pPr indent="-317500" lvl="1" marL="914400" rtl="0" algn="l">
              <a:spcBef>
                <a:spcPts val="0"/>
              </a:spcBef>
              <a:spcAft>
                <a:spcPts val="0"/>
              </a:spcAft>
              <a:buSzPts val="1400"/>
              <a:buChar char="○"/>
            </a:pPr>
            <a:r>
              <a:rPr lang="en"/>
              <a:t>Latency is significantly worse: Packets need to make more hops across the network</a:t>
            </a:r>
            <a:endParaRPr/>
          </a:p>
          <a:p>
            <a:pPr indent="-342900" lvl="0" marL="457200" rtl="0" algn="l">
              <a:spcBef>
                <a:spcPts val="0"/>
              </a:spcBef>
              <a:spcAft>
                <a:spcPts val="0"/>
              </a:spcAft>
              <a:buSzPts val="1800"/>
              <a:buChar char="●"/>
            </a:pPr>
            <a:r>
              <a:rPr lang="en"/>
              <a:t>Drawback: Full anonymity requires usability tradeoffs</a:t>
            </a:r>
            <a:endParaRPr/>
          </a:p>
          <a:p>
            <a:pPr indent="-317500" lvl="1" marL="914400" rtl="0" algn="l">
              <a:spcBef>
                <a:spcPts val="0"/>
              </a:spcBef>
              <a:spcAft>
                <a:spcPts val="0"/>
              </a:spcAft>
              <a:buSzPts val="1400"/>
              <a:buChar char="○"/>
            </a:pPr>
            <a:r>
              <a:rPr lang="en"/>
              <a:t>All Tor browsers need the exact same configuration, so they don’t save your history</a:t>
            </a:r>
            <a:endParaRPr/>
          </a:p>
          <a:p>
            <a:pPr indent="-317500" lvl="1" marL="914400" rtl="0" algn="l">
              <a:spcBef>
                <a:spcPts val="0"/>
              </a:spcBef>
              <a:spcAft>
                <a:spcPts val="0"/>
              </a:spcAft>
              <a:buSzPts val="1400"/>
              <a:buChar char="○"/>
            </a:pPr>
            <a:r>
              <a:rPr lang="en"/>
              <a:t>They even recommend keeping the browser window size constant, which can be annoying!</a:t>
            </a:r>
            <a:endParaRPr/>
          </a:p>
        </p:txBody>
      </p:sp>
      <p:sp>
        <p:nvSpPr>
          <p:cNvPr id="560" name="Google Shape;560;p4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9"/>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Tor onion services are often used for services widely considered illegal around the world</a:t>
            </a:r>
            <a:endParaRPr/>
          </a:p>
          <a:p>
            <a:pPr indent="-317500" lvl="1" marL="914400" rtl="0" algn="l">
              <a:spcBef>
                <a:spcPts val="0"/>
              </a:spcBef>
              <a:spcAft>
                <a:spcPts val="0"/>
              </a:spcAft>
              <a:buSzPts val="1400"/>
              <a:buChar char="○"/>
            </a:pPr>
            <a:r>
              <a:rPr lang="en"/>
              <a:t>Legitimate hosting services like Cloudflare will refuse to host these services</a:t>
            </a:r>
            <a:endParaRPr/>
          </a:p>
          <a:p>
            <a:pPr indent="-317500" lvl="1" marL="914400" rtl="0" algn="l">
              <a:spcBef>
                <a:spcPts val="0"/>
              </a:spcBef>
              <a:spcAft>
                <a:spcPts val="0"/>
              </a:spcAft>
              <a:buSzPts val="1400"/>
              <a:buChar char="○"/>
            </a:pPr>
            <a:r>
              <a:rPr lang="en"/>
              <a:t>Most countries will take legal action against these services if hosted on the regular web</a:t>
            </a:r>
            <a:endParaRPr/>
          </a:p>
          <a:p>
            <a:pPr indent="-342900" lvl="0" marL="457200" rtl="0" algn="l">
              <a:spcBef>
                <a:spcPts val="0"/>
              </a:spcBef>
              <a:spcAft>
                <a:spcPts val="0"/>
              </a:spcAft>
              <a:buSzPts val="1800"/>
              <a:buChar char="●"/>
            </a:pPr>
            <a:r>
              <a:rPr b="1" lang="en"/>
              <a:t>Dark markets</a:t>
            </a:r>
            <a:r>
              <a:rPr lang="en"/>
              <a:t>: Marketplaces for buying and selling illegal goods</a:t>
            </a:r>
            <a:endParaRPr/>
          </a:p>
          <a:p>
            <a:pPr indent="-317500" lvl="1" marL="914400" rtl="0" algn="l">
              <a:spcBef>
                <a:spcPts val="0"/>
              </a:spcBef>
              <a:spcAft>
                <a:spcPts val="0"/>
              </a:spcAft>
              <a:buSzPts val="1400"/>
              <a:buChar char="○"/>
            </a:pPr>
            <a:r>
              <a:rPr lang="en"/>
              <a:t>Transactions processed with a censorship-resistant currency like Bitcoin</a:t>
            </a:r>
            <a:endParaRPr/>
          </a:p>
          <a:p>
            <a:pPr indent="-317500" lvl="2" marL="1371600" rtl="0" algn="l">
              <a:spcBef>
                <a:spcPts val="0"/>
              </a:spcBef>
              <a:spcAft>
                <a:spcPts val="0"/>
              </a:spcAft>
              <a:buSzPts val="1400"/>
              <a:buChar char="■"/>
            </a:pPr>
            <a:r>
              <a:rPr lang="en"/>
              <a:t>Services like PayPal will refuse to process illegal transactions</a:t>
            </a:r>
            <a:endParaRPr/>
          </a:p>
          <a:p>
            <a:pPr indent="-317500" lvl="1" marL="914400" rtl="0" algn="l">
              <a:spcBef>
                <a:spcPts val="0"/>
              </a:spcBef>
              <a:spcAft>
                <a:spcPts val="0"/>
              </a:spcAft>
              <a:buSzPts val="1400"/>
              <a:buChar char="○"/>
            </a:pPr>
            <a:r>
              <a:rPr lang="en"/>
              <a:t>Can only be accessed as a Tor onion service</a:t>
            </a:r>
            <a:endParaRPr/>
          </a:p>
          <a:p>
            <a:pPr indent="-342900" lvl="0" marL="457200" rtl="0" algn="l">
              <a:spcBef>
                <a:spcPts val="0"/>
              </a:spcBef>
              <a:spcAft>
                <a:spcPts val="0"/>
              </a:spcAft>
              <a:buSzPts val="1800"/>
              <a:buChar char="●"/>
            </a:pPr>
            <a:r>
              <a:rPr b="1" lang="en"/>
              <a:t>Cybercrime forums</a:t>
            </a:r>
            <a:r>
              <a:rPr lang="en"/>
              <a:t>: Websites for discussing illegal activity</a:t>
            </a:r>
            <a:endParaRPr/>
          </a:p>
        </p:txBody>
      </p:sp>
      <p:sp>
        <p:nvSpPr>
          <p:cNvPr id="566" name="Google Shape;566;p49"/>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Hosting Illegal Services on Tor</a:t>
            </a:r>
            <a:endParaRPr/>
          </a:p>
        </p:txBody>
      </p:sp>
      <p:sp>
        <p:nvSpPr>
          <p:cNvPr id="567" name="Google Shape;567;p4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A4C2F4"/>
        </a:solidFill>
      </p:bgPr>
    </p:bg>
    <p:spTree>
      <p:nvGrpSpPr>
        <p:cNvPr id="571" name="Shape 571"/>
        <p:cNvGrpSpPr/>
        <p:nvPr/>
      </p:nvGrpSpPr>
      <p:grpSpPr>
        <a:xfrm>
          <a:off x="0" y="0"/>
          <a:ext cx="0" cy="0"/>
          <a:chOff x="0" y="0"/>
          <a:chExt cx="0" cy="0"/>
        </a:xfrm>
      </p:grpSpPr>
      <p:sp>
        <p:nvSpPr>
          <p:cNvPr id="572" name="Google Shape;572;p50"/>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Tor Onion Services</a:t>
            </a:r>
            <a:endParaRPr/>
          </a:p>
        </p:txBody>
      </p:sp>
      <p:sp>
        <p:nvSpPr>
          <p:cNvPr id="573" name="Google Shape;573;p50"/>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Websites or services hosted inside the Tor network.</a:t>
            </a:r>
            <a:endParaRPr/>
          </a:p>
          <a:p>
            <a:pPr indent="-317500" lvl="1" marL="914400" rtl="0" algn="l">
              <a:spcBef>
                <a:spcPts val="0"/>
              </a:spcBef>
              <a:spcAft>
                <a:spcPts val="0"/>
              </a:spcAft>
              <a:buSzPts val="1400"/>
              <a:buChar char="○"/>
            </a:pPr>
            <a:r>
              <a:rPr lang="en"/>
              <a:t>Sometimes called the</a:t>
            </a:r>
            <a:r>
              <a:rPr b="1" lang="en"/>
              <a:t> dark web</a:t>
            </a:r>
            <a:endParaRPr b="1"/>
          </a:p>
          <a:p>
            <a:pPr indent="-342900" lvl="0" marL="457200" rtl="0" algn="l">
              <a:spcBef>
                <a:spcPts val="0"/>
              </a:spcBef>
              <a:spcAft>
                <a:spcPts val="0"/>
              </a:spcAft>
              <a:buSzPts val="1800"/>
              <a:buChar char="●"/>
            </a:pPr>
            <a:r>
              <a:rPr lang="en"/>
              <a:t>Sometimes, the server wants to be anonymous, so no one knows where the server is located</a:t>
            </a:r>
            <a:endParaRPr/>
          </a:p>
          <a:p>
            <a:pPr indent="-317500" lvl="1" marL="914400" rtl="0" algn="l">
              <a:spcBef>
                <a:spcPts val="0"/>
              </a:spcBef>
              <a:spcAft>
                <a:spcPts val="0"/>
              </a:spcAft>
              <a:buSzPts val="1400"/>
              <a:buChar char="○"/>
            </a:pPr>
            <a:r>
              <a:rPr lang="en"/>
              <a:t>Standard domain names translate to IP addresses, which would break server anonymity</a:t>
            </a:r>
            <a:endParaRPr/>
          </a:p>
          <a:p>
            <a:pPr indent="-317500" lvl="1" marL="914400" rtl="0" algn="l">
              <a:spcBef>
                <a:spcPts val="0"/>
              </a:spcBef>
              <a:spcAft>
                <a:spcPts val="0"/>
              </a:spcAft>
              <a:buSzPts val="1400"/>
              <a:buChar char="○"/>
            </a:pPr>
            <a:r>
              <a:rPr lang="en"/>
              <a:t>Instead, identify servers using the hash of the service’s public key encoded as a .onion address</a:t>
            </a:r>
            <a:endParaRPr/>
          </a:p>
          <a:p>
            <a:pPr indent="-317500" lvl="1" marL="914400" rtl="0" algn="l">
              <a:spcBef>
                <a:spcPts val="0"/>
              </a:spcBef>
              <a:spcAft>
                <a:spcPts val="0"/>
              </a:spcAft>
              <a:buSzPts val="1400"/>
              <a:buChar char="○"/>
            </a:pPr>
            <a:r>
              <a:rPr lang="en"/>
              <a:t>Example: </a:t>
            </a:r>
            <a:r>
              <a:rPr lang="en">
                <a:latin typeface="Courier Prime"/>
                <a:ea typeface="Courier Prime"/>
                <a:cs typeface="Courier Prime"/>
                <a:sym typeface="Courier Prime"/>
              </a:rPr>
              <a:t>https://www.bbcnewsd73hkzno2ini43t4gblxvycyac5aw4gnv7t2rccijh7745uqd.onion/</a:t>
            </a:r>
            <a:endParaRPr/>
          </a:p>
          <a:p>
            <a:pPr indent="-317500" lvl="1" marL="914400" rtl="0" algn="l">
              <a:spcBef>
                <a:spcPts val="0"/>
              </a:spcBef>
              <a:spcAft>
                <a:spcPts val="0"/>
              </a:spcAft>
              <a:buSzPts val="1400"/>
              <a:buChar char="○"/>
            </a:pPr>
            <a:r>
              <a:rPr lang="en"/>
              <a:t>Not accessible via normal browsers.</a:t>
            </a:r>
            <a:endParaRPr/>
          </a:p>
          <a:p>
            <a:pPr indent="-342900" lvl="0" marL="457200" rtl="0" algn="l">
              <a:spcBef>
                <a:spcPts val="0"/>
              </a:spcBef>
              <a:spcAft>
                <a:spcPts val="0"/>
              </a:spcAft>
              <a:buSzPts val="1800"/>
              <a:buChar char="●"/>
            </a:pPr>
            <a:r>
              <a:rPr lang="en"/>
              <a:t>Both </a:t>
            </a:r>
            <a:r>
              <a:rPr b="1" lang="en"/>
              <a:t>client</a:t>
            </a:r>
            <a:r>
              <a:rPr lang="en"/>
              <a:t> and </a:t>
            </a:r>
            <a:r>
              <a:rPr b="1" lang="en"/>
              <a:t>server</a:t>
            </a:r>
            <a:r>
              <a:rPr lang="en"/>
              <a:t> stay anonymous.</a:t>
            </a:r>
            <a:endParaRPr/>
          </a:p>
          <a:p>
            <a:pPr indent="-342900" lvl="0" marL="457200" rtl="0" algn="l">
              <a:spcBef>
                <a:spcPts val="0"/>
              </a:spcBef>
              <a:spcAft>
                <a:spcPts val="0"/>
              </a:spcAft>
              <a:buSzPts val="1800"/>
              <a:buChar char="●"/>
            </a:pPr>
            <a:r>
              <a:rPr lang="en"/>
              <a:t>Details if you are interested: </a:t>
            </a:r>
            <a:r>
              <a:rPr lang="en" sz="1500" u="sng">
                <a:solidFill>
                  <a:srgbClr val="0000FF"/>
                </a:solidFill>
                <a:hlinkClick r:id="rId3">
                  <a:extLst>
                    <a:ext uri="{A12FA001-AC4F-418D-AE19-62706E023703}">
                      <ahyp:hlinkClr val="tx"/>
                    </a:ext>
                  </a:extLst>
                </a:hlinkClick>
              </a:rPr>
              <a:t>https://community.torproject.org/onion-services/overview/</a:t>
            </a:r>
            <a:endParaRPr sz="1500">
              <a:solidFill>
                <a:srgbClr val="0000FF"/>
              </a:solidFill>
            </a:endParaRPr>
          </a:p>
        </p:txBody>
      </p:sp>
      <p:sp>
        <p:nvSpPr>
          <p:cNvPr id="574" name="Google Shape;574;p5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1"/>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Tor</a:t>
            </a:r>
            <a:endParaRPr/>
          </a:p>
        </p:txBody>
      </p:sp>
      <p:sp>
        <p:nvSpPr>
          <p:cNvPr id="580" name="Google Shape;580;p51"/>
          <p:cNvSpPr txBox="1"/>
          <p:nvPr>
            <p:ph idx="1" type="body"/>
          </p:nvPr>
        </p:nvSpPr>
        <p:spPr>
          <a:xfrm>
            <a:off x="198500" y="1246825"/>
            <a:ext cx="8520600" cy="37656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Anonymity (concealing one's identity) can be difficult to achieve on the web</a:t>
            </a:r>
            <a:endParaRPr/>
          </a:p>
          <a:p>
            <a:pPr indent="-342900" lvl="0" marL="457200" rtl="0" algn="l">
              <a:spcBef>
                <a:spcPts val="0"/>
              </a:spcBef>
              <a:spcAft>
                <a:spcPts val="0"/>
              </a:spcAft>
              <a:buSzPts val="1800"/>
              <a:buChar char="●"/>
            </a:pPr>
            <a:r>
              <a:rPr lang="en"/>
              <a:t>Proxies and VPNs relay traffic through a single machine to conceal your identity from the end server</a:t>
            </a:r>
            <a:endParaRPr/>
          </a:p>
          <a:p>
            <a:pPr indent="-317500" lvl="1" marL="914400" rtl="0" algn="l">
              <a:spcBef>
                <a:spcPts val="0"/>
              </a:spcBef>
              <a:spcAft>
                <a:spcPts val="0"/>
              </a:spcAft>
              <a:buSzPts val="1400"/>
              <a:buChar char="○"/>
            </a:pPr>
            <a:r>
              <a:rPr lang="en"/>
              <a:t>Issue: The single relay knows who you are and what you are doing, which is not anonymous!</a:t>
            </a:r>
            <a:endParaRPr/>
          </a:p>
          <a:p>
            <a:pPr indent="-342900" lvl="0" marL="457200" rtl="0" algn="l">
              <a:spcBef>
                <a:spcPts val="0"/>
              </a:spcBef>
              <a:spcAft>
                <a:spcPts val="0"/>
              </a:spcAft>
              <a:buSzPts val="1800"/>
              <a:buChar char="●"/>
            </a:pPr>
            <a:r>
              <a:rPr lang="en"/>
              <a:t>Tor routes your traffic through multiple machines</a:t>
            </a:r>
            <a:endParaRPr/>
          </a:p>
          <a:p>
            <a:pPr indent="-317500" lvl="1" marL="914400" rtl="0" algn="l">
              <a:spcBef>
                <a:spcPts val="0"/>
              </a:spcBef>
              <a:spcAft>
                <a:spcPts val="0"/>
              </a:spcAft>
              <a:buSzPts val="1400"/>
              <a:buChar char="○"/>
            </a:pPr>
            <a:r>
              <a:rPr lang="en"/>
              <a:t>No one machine knows both who you are and what you are doing</a:t>
            </a:r>
            <a:endParaRPr/>
          </a:p>
          <a:p>
            <a:pPr indent="-317500" lvl="1" marL="914400" rtl="0" algn="l">
              <a:spcBef>
                <a:spcPts val="0"/>
              </a:spcBef>
              <a:spcAft>
                <a:spcPts val="0"/>
              </a:spcAft>
              <a:buSzPts val="1400"/>
              <a:buChar char="○"/>
            </a:pPr>
            <a:r>
              <a:rPr lang="en"/>
              <a:t>Circuits are established by performing TLS handshakes with three nodes, nesting encrypted channels</a:t>
            </a:r>
            <a:endParaRPr/>
          </a:p>
          <a:p>
            <a:pPr indent="-317500" lvl="1" marL="914400" rtl="0" algn="l">
              <a:spcBef>
                <a:spcPts val="0"/>
              </a:spcBef>
              <a:spcAft>
                <a:spcPts val="0"/>
              </a:spcAft>
              <a:buSzPts val="1400"/>
              <a:buChar char="○"/>
            </a:pPr>
            <a:r>
              <a:rPr lang="en"/>
              <a:t>Weakness: Timing attacks allow global adversaries to see when packets exit and leave the Tor network, deanonymizing users</a:t>
            </a:r>
            <a:endParaRPr/>
          </a:p>
          <a:p>
            <a:pPr indent="-317500" lvl="1" marL="914400" rtl="0" algn="l">
              <a:spcBef>
                <a:spcPts val="0"/>
              </a:spcBef>
              <a:spcAft>
                <a:spcPts val="0"/>
              </a:spcAft>
              <a:buSzPts val="1400"/>
              <a:buChar char="○"/>
            </a:pPr>
            <a:r>
              <a:rPr lang="en"/>
              <a:t>Weakness: Collusion between nodes can </a:t>
            </a:r>
            <a:r>
              <a:rPr lang="en"/>
              <a:t>deanonymize</a:t>
            </a:r>
            <a:r>
              <a:rPr lang="en"/>
              <a:t> users by working together</a:t>
            </a:r>
            <a:endParaRPr/>
          </a:p>
          <a:p>
            <a:pPr indent="-317500" lvl="1" marL="914400" rtl="0" algn="l">
              <a:spcBef>
                <a:spcPts val="0"/>
              </a:spcBef>
              <a:spcAft>
                <a:spcPts val="0"/>
              </a:spcAft>
              <a:buSzPts val="1400"/>
              <a:buChar char="○"/>
            </a:pPr>
            <a:r>
              <a:rPr lang="en"/>
              <a:t>Weakness: Tor traffic is distinguishable from normal traffic, allowing it to be censored and blocked</a:t>
            </a:r>
            <a:endParaRPr/>
          </a:p>
          <a:p>
            <a:pPr indent="-317500" lvl="2" marL="1371600" rtl="0" algn="l">
              <a:spcBef>
                <a:spcPts val="0"/>
              </a:spcBef>
              <a:spcAft>
                <a:spcPts val="0"/>
              </a:spcAft>
              <a:buSzPts val="1400"/>
              <a:buChar char="■"/>
            </a:pPr>
            <a:r>
              <a:rPr lang="en"/>
              <a:t>Defense: Bridges and pluggable transports</a:t>
            </a:r>
            <a:endParaRPr/>
          </a:p>
        </p:txBody>
      </p:sp>
      <p:sp>
        <p:nvSpPr>
          <p:cNvPr id="581" name="Google Shape;581;p5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52"/>
          <p:cNvSpPr txBox="1"/>
          <p:nvPr>
            <p:ph type="title"/>
          </p:nvPr>
        </p:nvSpPr>
        <p:spPr>
          <a:xfrm>
            <a:off x="102700" y="2708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Summary: Tor</a:t>
            </a:r>
            <a:endParaRPr/>
          </a:p>
        </p:txBody>
      </p:sp>
      <p:sp>
        <p:nvSpPr>
          <p:cNvPr id="587" name="Google Shape;587;p52"/>
          <p:cNvSpPr txBox="1"/>
          <p:nvPr>
            <p:ph idx="1" type="body"/>
          </p:nvPr>
        </p:nvSpPr>
        <p:spPr>
          <a:xfrm>
            <a:off x="198500" y="1246825"/>
            <a:ext cx="8520600" cy="3765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Onion services provide anonymity for the server, in addition to the client</a:t>
            </a:r>
            <a:endParaRPr/>
          </a:p>
          <a:p>
            <a:pPr indent="-342900" lvl="0" marL="457200" rtl="0" algn="l">
              <a:spcBef>
                <a:spcPts val="0"/>
              </a:spcBef>
              <a:spcAft>
                <a:spcPts val="0"/>
              </a:spcAft>
              <a:buSzPts val="1800"/>
              <a:buChar char="●"/>
            </a:pPr>
            <a:r>
              <a:rPr lang="en"/>
              <a:t>Tor in practice</a:t>
            </a:r>
            <a:endParaRPr/>
          </a:p>
          <a:p>
            <a:pPr indent="-317500" lvl="1" marL="914400" rtl="0" algn="l">
              <a:spcBef>
                <a:spcPts val="0"/>
              </a:spcBef>
              <a:spcAft>
                <a:spcPts val="0"/>
              </a:spcAft>
              <a:buSzPts val="1400"/>
              <a:buChar char="○"/>
            </a:pPr>
            <a:r>
              <a:rPr lang="en"/>
              <a:t>Often used to evade censorship -- Tor and censors are in an arms race</a:t>
            </a:r>
            <a:endParaRPr/>
          </a:p>
          <a:p>
            <a:pPr indent="-317500" lvl="1" marL="914400" rtl="0" algn="l">
              <a:spcBef>
                <a:spcPts val="0"/>
              </a:spcBef>
              <a:spcAft>
                <a:spcPts val="0"/>
              </a:spcAft>
              <a:buSzPts val="1400"/>
              <a:buChar char="○"/>
            </a:pPr>
            <a:r>
              <a:rPr lang="en"/>
              <a:t>Illegal services often use Tor because it conceals their identity from authorities</a:t>
            </a:r>
            <a:endParaRPr/>
          </a:p>
        </p:txBody>
      </p:sp>
      <p:sp>
        <p:nvSpPr>
          <p:cNvPr id="588" name="Google Shape;588;p5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S 161">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