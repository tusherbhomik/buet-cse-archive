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2" roundtripDataSignature="AMtx7mgQAhvAsqo7K3+EyxCUkIjnz/Or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46C487-4B0E-403B-B04B-DF73D881619D}">
  <a:tblStyle styleId="{6346C487-4B0E-403B-B04B-DF73D881619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slide" Target="slides/slide55.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d93a425b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d93a425b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students propose adding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students propose adding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students propose adding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students propose adding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Ideas for unambiguous padding schemes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d93a425b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d93a425b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5138405b4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35138405b4e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5138405b4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35138405b4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5138405b4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5138405b4e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5138405b4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g35138405b4e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TODO (elaborate on encrypting more than 2</a:t>
            </a:r>
            <a:r>
              <a:rPr baseline="30000" lang="en"/>
              <a:t>n/2</a:t>
            </a:r>
            <a:r>
              <a:rPr lang="en"/>
              <a:t> blocks)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1" name="Google Shape;62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57"/>
          <p:cNvSpPr txBox="1"/>
          <p:nvPr>
            <p:ph type="ctrTitle"/>
          </p:nvPr>
        </p:nvSpPr>
        <p:spPr>
          <a:xfrm>
            <a:off x="311700" y="1429000"/>
            <a:ext cx="8520600" cy="1410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7"/>
          <p:cNvSpPr txBox="1"/>
          <p:nvPr>
            <p:ph idx="1" type="subTitle"/>
          </p:nvPr>
        </p:nvSpPr>
        <p:spPr>
          <a:xfrm>
            <a:off x="311700" y="291790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5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58"/>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5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half body">
  <p:cSld name="TITLE_AND_BODY_2">
    <p:spTree>
      <p:nvGrpSpPr>
        <p:cNvPr id="24" name="Shape 24"/>
        <p:cNvGrpSpPr/>
        <p:nvPr/>
      </p:nvGrpSpPr>
      <p:grpSpPr>
        <a:xfrm>
          <a:off x="0" y="0"/>
          <a:ext cx="0" cy="0"/>
          <a:chOff x="0" y="0"/>
          <a:chExt cx="0" cy="0"/>
        </a:xfrm>
      </p:grpSpPr>
      <p:sp>
        <p:nvSpPr>
          <p:cNvPr id="25" name="Google Shape;25;p6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61"/>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28" name="Shape 28"/>
        <p:cNvGrpSpPr/>
        <p:nvPr/>
      </p:nvGrpSpPr>
      <p:grpSpPr>
        <a:xfrm>
          <a:off x="0" y="0"/>
          <a:ext cx="0" cy="0"/>
          <a:chOff x="0" y="0"/>
          <a:chExt cx="0" cy="0"/>
        </a:xfrm>
      </p:grpSpPr>
      <p:sp>
        <p:nvSpPr>
          <p:cNvPr id="29" name="Google Shape;29;p6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2"/>
          <p:cNvSpPr txBox="1"/>
          <p:nvPr>
            <p:ph idx="1" type="body"/>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lvl1pPr indent="-317500" lvl="0" marL="457200" algn="ctr">
              <a:lnSpc>
                <a:spcPct val="115000"/>
              </a:lnSpc>
              <a:spcBef>
                <a:spcPts val="0"/>
              </a:spcBef>
              <a:spcAft>
                <a:spcPts val="0"/>
              </a:spcAft>
              <a:buSzPts val="1400"/>
              <a:buChar char="●"/>
              <a:defRPr sz="1400"/>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31" name="Google Shape;3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32" name="Shape 32"/>
        <p:cNvGrpSpPr/>
        <p:nvPr/>
      </p:nvGrpSpPr>
      <p:grpSpPr>
        <a:xfrm>
          <a:off x="0" y="0"/>
          <a:ext cx="0" cy="0"/>
          <a:chOff x="0" y="0"/>
          <a:chExt cx="0" cy="0"/>
        </a:xfrm>
      </p:grpSpPr>
      <p:sp>
        <p:nvSpPr>
          <p:cNvPr id="33" name="Google Shape;33;p6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6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64"/>
          <p:cNvSpPr txBox="1"/>
          <p:nvPr>
            <p:ph idx="1" type="body"/>
          </p:nvPr>
        </p:nvSpPr>
        <p:spPr>
          <a:xfrm>
            <a:off x="198500"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64"/>
          <p:cNvSpPr txBox="1"/>
          <p:nvPr>
            <p:ph idx="2" type="body"/>
          </p:nvPr>
        </p:nvSpPr>
        <p:spPr>
          <a:xfrm>
            <a:off x="4588175"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6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65"/>
          <p:cNvSpPr txBox="1"/>
          <p:nvPr>
            <p:ph idx="1" type="body"/>
          </p:nvPr>
        </p:nvSpPr>
        <p:spPr>
          <a:xfrm>
            <a:off x="198500" y="1246825"/>
            <a:ext cx="5142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45" name="Shape 45"/>
        <p:cNvGrpSpPr/>
        <p:nvPr/>
      </p:nvGrpSpPr>
      <p:grpSpPr>
        <a:xfrm>
          <a:off x="0" y="0"/>
          <a:ext cx="0" cy="0"/>
          <a:chOff x="0" y="0"/>
          <a:chExt cx="0" cy="0"/>
        </a:xfrm>
      </p:grpSpPr>
      <p:sp>
        <p:nvSpPr>
          <p:cNvPr id="46" name="Google Shape;46;p6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7" name="Google Shape;47;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8" name="Shape 48"/>
        <p:cNvGrpSpPr/>
        <p:nvPr/>
      </p:nvGrpSpPr>
      <p:grpSpPr>
        <a:xfrm>
          <a:off x="0" y="0"/>
          <a:ext cx="0" cy="0"/>
          <a:chOff x="0" y="0"/>
          <a:chExt cx="0" cy="0"/>
        </a:xfrm>
      </p:grpSpPr>
      <p:sp>
        <p:nvSpPr>
          <p:cNvPr id="49" name="Google Shape;49;p6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67"/>
          <p:cNvSpPr txBox="1"/>
          <p:nvPr>
            <p:ph idx="1" type="body"/>
          </p:nvPr>
        </p:nvSpPr>
        <p:spPr>
          <a:xfrm>
            <a:off x="198500"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2" name="Google Shape;52;p67"/>
          <p:cNvSpPr txBox="1"/>
          <p:nvPr>
            <p:ph idx="2" type="body"/>
          </p:nvPr>
        </p:nvSpPr>
        <p:spPr>
          <a:xfrm>
            <a:off x="4588175"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53" name="Shape 53"/>
        <p:cNvGrpSpPr/>
        <p:nvPr/>
      </p:nvGrpSpPr>
      <p:grpSpPr>
        <a:xfrm>
          <a:off x="0" y="0"/>
          <a:ext cx="0" cy="0"/>
          <a:chOff x="0" y="0"/>
          <a:chExt cx="0" cy="0"/>
        </a:xfrm>
      </p:grpSpPr>
      <p:sp>
        <p:nvSpPr>
          <p:cNvPr id="54" name="Google Shape;54;p6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6" name="Shape 56"/>
        <p:cNvGrpSpPr/>
        <p:nvPr/>
      </p:nvGrpSpPr>
      <p:grpSpPr>
        <a:xfrm>
          <a:off x="0" y="0"/>
          <a:ext cx="0" cy="0"/>
          <a:chOff x="0" y="0"/>
          <a:chExt cx="0" cy="0"/>
        </a:xfrm>
      </p:grpSpPr>
      <p:sp>
        <p:nvSpPr>
          <p:cNvPr id="57" name="Google Shape;57;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6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69"/>
          <p:cNvSpPr txBox="1"/>
          <p:nvPr>
            <p:ph idx="1" type="body"/>
          </p:nvPr>
        </p:nvSpPr>
        <p:spPr>
          <a:xfrm>
            <a:off x="198500" y="1246825"/>
            <a:ext cx="5142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half body - Optional">
  <p:cSld name="ONE_COLUMN_TEXT_1_1">
    <p:bg>
      <p:bgPr>
        <a:solidFill>
          <a:srgbClr val="A4C2F4"/>
        </a:solidFill>
      </p:bgPr>
    </p:bg>
    <p:spTree>
      <p:nvGrpSpPr>
        <p:cNvPr id="60" name="Shape 60"/>
        <p:cNvGrpSpPr/>
        <p:nvPr/>
      </p:nvGrpSpPr>
      <p:grpSpPr>
        <a:xfrm>
          <a:off x="0" y="0"/>
          <a:ext cx="0" cy="0"/>
          <a:chOff x="0" y="0"/>
          <a:chExt cx="0" cy="0"/>
        </a:xfrm>
      </p:grpSpPr>
      <p:sp>
        <p:nvSpPr>
          <p:cNvPr id="61" name="Google Shape;61;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7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70"/>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64" name="Shape 64"/>
        <p:cNvGrpSpPr/>
        <p:nvPr/>
      </p:nvGrpSpPr>
      <p:grpSpPr>
        <a:xfrm>
          <a:off x="0" y="0"/>
          <a:ext cx="0" cy="0"/>
          <a:chOff x="0" y="0"/>
          <a:chExt cx="0" cy="0"/>
        </a:xfrm>
      </p:grpSpPr>
      <p:sp>
        <p:nvSpPr>
          <p:cNvPr id="65" name="Google Shape;65;p7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71"/>
          <p:cNvSpPr txBox="1"/>
          <p:nvPr>
            <p:ph idx="1" type="body"/>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lvl1pPr indent="-317500" lvl="0" marL="457200" algn="ctr">
              <a:lnSpc>
                <a:spcPct val="115000"/>
              </a:lnSpc>
              <a:spcBef>
                <a:spcPts val="0"/>
              </a:spcBef>
              <a:spcAft>
                <a:spcPts val="0"/>
              </a:spcAft>
              <a:buSzPts val="1400"/>
              <a:buChar char="●"/>
              <a:defRPr sz="1400"/>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7" name="Google Shape;67;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6"/>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17500" lvl="1" marL="9144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56"/>
          <p:cNvSpPr/>
          <p:nvPr/>
        </p:nvSpPr>
        <p:spPr>
          <a:xfrm>
            <a:off x="0" y="1017725"/>
            <a:ext cx="9144000" cy="111600"/>
          </a:xfrm>
          <a:prstGeom prst="rect">
            <a:avLst/>
          </a:prstGeom>
          <a:gradFill>
            <a:gsLst>
              <a:gs pos="0">
                <a:srgbClr val="000000"/>
              </a:gs>
              <a:gs pos="100000">
                <a:srgbClr val="E85C54"/>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CSE 405</a:t>
            </a:r>
            <a:endParaRPr b="1" i="0" sz="600" u="none" cap="none" strike="noStrike">
              <a:solidFill>
                <a:srgbClr val="FFFFF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colab.research.google.com/drive/1JN-P9Hyrpnv1ildiEX71qbGEXvHnBQ-9?usp=sharing"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311700" y="1429000"/>
            <a:ext cx="4175400" cy="14109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Block Cipher Modes of Operation</a:t>
            </a:r>
            <a:endParaRPr/>
          </a:p>
        </p:txBody>
      </p:sp>
      <p:sp>
        <p:nvSpPr>
          <p:cNvPr id="73" name="Google Shape;73;p1"/>
          <p:cNvSpPr txBox="1"/>
          <p:nvPr>
            <p:ph idx="1" type="subTitle"/>
          </p:nvPr>
        </p:nvSpPr>
        <p:spPr>
          <a:xfrm>
            <a:off x="311700" y="2917900"/>
            <a:ext cx="4175400" cy="792600"/>
          </a:xfrm>
          <a:prstGeom prst="rect">
            <a:avLst/>
          </a:prstGeom>
          <a:noFill/>
          <a:ln>
            <a:noFill/>
          </a:ln>
        </p:spPr>
        <p:txBody>
          <a:bodyPr anchorCtr="0" anchor="t" bIns="91425" lIns="91425" spcFirstLastPara="1" rIns="91425" wrap="square" tIns="91425">
            <a:normAutofit lnSpcReduction="20000"/>
          </a:bodyPr>
          <a:lstStyle/>
          <a:p>
            <a:pPr indent="0" lvl="0" marL="0" rtl="0" algn="ctr">
              <a:lnSpc>
                <a:spcPct val="100000"/>
              </a:lnSpc>
              <a:spcBef>
                <a:spcPts val="0"/>
              </a:spcBef>
              <a:spcAft>
                <a:spcPts val="0"/>
              </a:spcAft>
              <a:buSzPts val="2400"/>
              <a:buNone/>
            </a:pPr>
            <a:r>
              <a:rPr lang="en"/>
              <a:t>CSE 405 January 2025</a:t>
            </a:r>
            <a:endParaRPr/>
          </a:p>
          <a:p>
            <a:pPr indent="0" lvl="0" marL="0" rtl="0" algn="ctr">
              <a:lnSpc>
                <a:spcPct val="100000"/>
              </a:lnSpc>
              <a:spcBef>
                <a:spcPts val="0"/>
              </a:spcBef>
              <a:spcAft>
                <a:spcPts val="0"/>
              </a:spcAft>
              <a:buSzPts val="2400"/>
              <a:buNone/>
            </a:pPr>
            <a:r>
              <a:rPr lang="en"/>
              <a:t>Lecture 4</a:t>
            </a:r>
            <a:endParaRPr/>
          </a:p>
        </p:txBody>
      </p:sp>
      <p:pic>
        <p:nvPicPr>
          <p:cNvPr id="74" name="Google Shape;74;p1"/>
          <p:cNvPicPr preferRelativeResize="0"/>
          <p:nvPr/>
        </p:nvPicPr>
        <p:blipFill rotWithShape="1">
          <a:blip r:embed="rId3">
            <a:alphaModFix/>
          </a:blip>
          <a:srcRect b="0" l="0" r="0" t="0"/>
          <a:stretch/>
        </p:blipFill>
        <p:spPr>
          <a:xfrm>
            <a:off x="4688150" y="1315025"/>
            <a:ext cx="4332999" cy="33482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 One-Time Pads</a:t>
            </a:r>
            <a:endParaRPr/>
          </a:p>
        </p:txBody>
      </p:sp>
      <p:sp>
        <p:nvSpPr>
          <p:cNvPr id="80" name="Google Shape;80;p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One-time pads</a:t>
            </a:r>
            <a:endParaRPr/>
          </a:p>
          <a:p>
            <a:pPr indent="-317500" lvl="1" marL="914400" rtl="0" algn="l">
              <a:lnSpc>
                <a:spcPct val="115000"/>
              </a:lnSpc>
              <a:spcBef>
                <a:spcPts val="0"/>
              </a:spcBef>
              <a:spcAft>
                <a:spcPts val="0"/>
              </a:spcAft>
              <a:buSzPts val="1400"/>
              <a:buChar char="○"/>
            </a:pPr>
            <a:r>
              <a:rPr lang="en"/>
              <a:t>Symmetric encryption scheme: Alice and Bob share a secret key.</a:t>
            </a:r>
            <a:endParaRPr/>
          </a:p>
          <a:p>
            <a:pPr indent="-317500" lvl="1" marL="914400" rtl="0" algn="l">
              <a:lnSpc>
                <a:spcPct val="115000"/>
              </a:lnSpc>
              <a:spcBef>
                <a:spcPts val="0"/>
              </a:spcBef>
              <a:spcAft>
                <a:spcPts val="0"/>
              </a:spcAft>
              <a:buSzPts val="1400"/>
              <a:buChar char="○"/>
            </a:pPr>
            <a:r>
              <a:rPr lang="en"/>
              <a:t>Encryption and decryption: Bitwise XOR with the key.</a:t>
            </a:r>
            <a:endParaRPr/>
          </a:p>
          <a:p>
            <a:pPr indent="-317500" lvl="1" marL="914400" rtl="0" algn="l">
              <a:lnSpc>
                <a:spcPct val="115000"/>
              </a:lnSpc>
              <a:spcBef>
                <a:spcPts val="0"/>
              </a:spcBef>
              <a:spcAft>
                <a:spcPts val="0"/>
              </a:spcAft>
              <a:buSzPts val="1400"/>
              <a:buChar char="○"/>
            </a:pPr>
            <a:r>
              <a:rPr lang="en"/>
              <a:t>No information leakage if the key is never reused.</a:t>
            </a:r>
            <a:endParaRPr/>
          </a:p>
          <a:p>
            <a:pPr indent="-317500" lvl="1" marL="914400" rtl="0" algn="l">
              <a:lnSpc>
                <a:spcPct val="115000"/>
              </a:lnSpc>
              <a:spcBef>
                <a:spcPts val="0"/>
              </a:spcBef>
              <a:spcAft>
                <a:spcPts val="0"/>
              </a:spcAft>
              <a:buSzPts val="1400"/>
              <a:buChar char="○"/>
            </a:pPr>
            <a:r>
              <a:rPr lang="en"/>
              <a:t>Information leaks if the key is reused.</a:t>
            </a:r>
            <a:endParaRPr/>
          </a:p>
          <a:p>
            <a:pPr indent="-317500" lvl="1" marL="914400" rtl="0" algn="l">
              <a:lnSpc>
                <a:spcPct val="115000"/>
              </a:lnSpc>
              <a:spcBef>
                <a:spcPts val="0"/>
              </a:spcBef>
              <a:spcAft>
                <a:spcPts val="0"/>
              </a:spcAft>
              <a:buSzPts val="1400"/>
              <a:buChar char="○"/>
            </a:pPr>
            <a:r>
              <a:rPr lang="en"/>
              <a:t>Impractical for real-world usage, unless you’re a spy.</a:t>
            </a:r>
            <a:endParaRPr/>
          </a:p>
        </p:txBody>
      </p:sp>
      <p:sp>
        <p:nvSpPr>
          <p:cNvPr id="81" name="Google Shape;8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 Block Ciphers</a:t>
            </a:r>
            <a:endParaRPr/>
          </a:p>
        </p:txBody>
      </p:sp>
      <p:sp>
        <p:nvSpPr>
          <p:cNvPr id="87" name="Google Shape;87;p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Encryption: input a </a:t>
            </a:r>
            <a:r>
              <a:rPr i="1" lang="en"/>
              <a:t>k</a:t>
            </a:r>
            <a:r>
              <a:rPr lang="en"/>
              <a:t>-bit key and </a:t>
            </a:r>
            <a:r>
              <a:rPr i="1" lang="en"/>
              <a:t>n</a:t>
            </a:r>
            <a:r>
              <a:rPr lang="en"/>
              <a:t>-bit plaintext, receive </a:t>
            </a:r>
            <a:r>
              <a:rPr i="1" lang="en"/>
              <a:t>n</a:t>
            </a:r>
            <a:r>
              <a:rPr lang="en"/>
              <a:t>-bit ciphertext</a:t>
            </a:r>
            <a:endParaRPr/>
          </a:p>
          <a:p>
            <a:pPr indent="-342900" lvl="0" marL="457200" rtl="0" algn="l">
              <a:lnSpc>
                <a:spcPct val="115000"/>
              </a:lnSpc>
              <a:spcBef>
                <a:spcPts val="0"/>
              </a:spcBef>
              <a:spcAft>
                <a:spcPts val="0"/>
              </a:spcAft>
              <a:buSzPts val="1800"/>
              <a:buChar char="●"/>
            </a:pPr>
            <a:r>
              <a:rPr lang="en"/>
              <a:t>Decryption: input a </a:t>
            </a:r>
            <a:r>
              <a:rPr i="1" lang="en"/>
              <a:t>k</a:t>
            </a:r>
            <a:r>
              <a:rPr lang="en"/>
              <a:t>-bit key and </a:t>
            </a:r>
            <a:r>
              <a:rPr i="1" lang="en"/>
              <a:t>n</a:t>
            </a:r>
            <a:r>
              <a:rPr lang="en"/>
              <a:t>-bit ciphertext, receive </a:t>
            </a:r>
            <a:r>
              <a:rPr i="1" lang="en"/>
              <a:t>n</a:t>
            </a:r>
            <a:r>
              <a:rPr lang="en"/>
              <a:t>-bit plaintext</a:t>
            </a:r>
            <a:endParaRPr/>
          </a:p>
          <a:p>
            <a:pPr indent="-342900" lvl="0" marL="457200" rtl="0" algn="l">
              <a:lnSpc>
                <a:spcPct val="115000"/>
              </a:lnSpc>
              <a:spcBef>
                <a:spcPts val="0"/>
              </a:spcBef>
              <a:spcAft>
                <a:spcPts val="0"/>
              </a:spcAft>
              <a:buSzPts val="1800"/>
              <a:buChar char="●"/>
            </a:pPr>
            <a:r>
              <a:rPr lang="en"/>
              <a:t>Correctness: when the key is fixed, </a:t>
            </a:r>
            <a:r>
              <a:rPr i="1" lang="en"/>
              <a:t>E</a:t>
            </a:r>
            <a:r>
              <a:rPr i="1" lang="en" sz="1300"/>
              <a:t>K</a:t>
            </a:r>
            <a:r>
              <a:rPr lang="en"/>
              <a:t>(</a:t>
            </a:r>
            <a:r>
              <a:rPr i="1" lang="en"/>
              <a:t>M</a:t>
            </a:r>
            <a:r>
              <a:rPr lang="en"/>
              <a:t>) should be bijective</a:t>
            </a:r>
            <a:endParaRPr/>
          </a:p>
          <a:p>
            <a:pPr indent="-342900" lvl="0" marL="457200" rtl="0" algn="l">
              <a:lnSpc>
                <a:spcPct val="115000"/>
              </a:lnSpc>
              <a:spcBef>
                <a:spcPts val="0"/>
              </a:spcBef>
              <a:spcAft>
                <a:spcPts val="0"/>
              </a:spcAft>
              <a:buSzPts val="1800"/>
              <a:buChar char="●"/>
            </a:pPr>
            <a:r>
              <a:rPr lang="en"/>
              <a:t>Security</a:t>
            </a:r>
            <a:endParaRPr/>
          </a:p>
          <a:p>
            <a:pPr indent="-317500" lvl="1" marL="914400" rtl="0" algn="l">
              <a:lnSpc>
                <a:spcPct val="115000"/>
              </a:lnSpc>
              <a:spcBef>
                <a:spcPts val="0"/>
              </a:spcBef>
              <a:spcAft>
                <a:spcPts val="0"/>
              </a:spcAft>
              <a:buSzPts val="1400"/>
              <a:buChar char="○"/>
            </a:pPr>
            <a:r>
              <a:rPr lang="en"/>
              <a:t>Without the key, </a:t>
            </a:r>
            <a:r>
              <a:rPr i="1" lang="en"/>
              <a:t>E</a:t>
            </a:r>
            <a:r>
              <a:rPr i="1" lang="en" sz="900"/>
              <a:t>K</a:t>
            </a:r>
            <a:r>
              <a:rPr lang="en"/>
              <a:t>(m) is computationally indistinguishable from a random permutation</a:t>
            </a:r>
            <a:endParaRPr/>
          </a:p>
          <a:p>
            <a:pPr indent="-317500" lvl="1" marL="914400" rtl="0" algn="l">
              <a:lnSpc>
                <a:spcPct val="115000"/>
              </a:lnSpc>
              <a:spcBef>
                <a:spcPts val="0"/>
              </a:spcBef>
              <a:spcAft>
                <a:spcPts val="0"/>
              </a:spcAft>
              <a:buSzPts val="1400"/>
              <a:buChar char="○"/>
            </a:pPr>
            <a:r>
              <a:rPr lang="en"/>
              <a:t>Brute-force attacks take astronomically long and are not possible</a:t>
            </a:r>
            <a:endParaRPr/>
          </a:p>
          <a:p>
            <a:pPr indent="-342900" lvl="0" marL="457200" rtl="0" algn="l">
              <a:lnSpc>
                <a:spcPct val="115000"/>
              </a:lnSpc>
              <a:spcBef>
                <a:spcPts val="0"/>
              </a:spcBef>
              <a:spcAft>
                <a:spcPts val="0"/>
              </a:spcAft>
              <a:buSzPts val="1800"/>
              <a:buChar char="●"/>
            </a:pPr>
            <a:r>
              <a:rPr lang="en"/>
              <a:t>Efficiency: algorithms use XORs and bit-shifting (very fast)</a:t>
            </a:r>
            <a:endParaRPr/>
          </a:p>
          <a:p>
            <a:pPr indent="-342900" lvl="0" marL="457200" rtl="0" algn="l">
              <a:lnSpc>
                <a:spcPct val="115000"/>
              </a:lnSpc>
              <a:spcBef>
                <a:spcPts val="0"/>
              </a:spcBef>
              <a:spcAft>
                <a:spcPts val="0"/>
              </a:spcAft>
              <a:buSzPts val="1800"/>
              <a:buChar char="●"/>
            </a:pPr>
            <a:r>
              <a:rPr lang="en"/>
              <a:t>Implementation: AES is the modern standard</a:t>
            </a:r>
            <a:endParaRPr/>
          </a:p>
          <a:p>
            <a:pPr indent="-342900" lvl="0" marL="457200" rtl="0" algn="l">
              <a:lnSpc>
                <a:spcPct val="115000"/>
              </a:lnSpc>
              <a:spcBef>
                <a:spcPts val="0"/>
              </a:spcBef>
              <a:spcAft>
                <a:spcPts val="0"/>
              </a:spcAft>
              <a:buSzPts val="1800"/>
              <a:buChar char="●"/>
            </a:pPr>
            <a:r>
              <a:rPr lang="en"/>
              <a:t>Issues</a:t>
            </a:r>
            <a:endParaRPr/>
          </a:p>
          <a:p>
            <a:pPr indent="-317500" lvl="1" marL="914400" rtl="0" algn="l">
              <a:lnSpc>
                <a:spcPct val="115000"/>
              </a:lnSpc>
              <a:spcBef>
                <a:spcPts val="0"/>
              </a:spcBef>
              <a:spcAft>
                <a:spcPts val="0"/>
              </a:spcAft>
              <a:buSzPts val="1400"/>
              <a:buChar char="○"/>
            </a:pPr>
            <a:r>
              <a:rPr lang="en"/>
              <a:t>Not IND-CPA secure because they’re deterministic</a:t>
            </a:r>
            <a:endParaRPr/>
          </a:p>
          <a:p>
            <a:pPr indent="-317500" lvl="1" marL="914400" rtl="0" algn="l">
              <a:lnSpc>
                <a:spcPct val="115000"/>
              </a:lnSpc>
              <a:spcBef>
                <a:spcPts val="0"/>
              </a:spcBef>
              <a:spcAft>
                <a:spcPts val="0"/>
              </a:spcAft>
              <a:buSzPts val="1400"/>
              <a:buChar char="○"/>
            </a:pPr>
            <a:r>
              <a:rPr lang="en"/>
              <a:t>Can only encrypt </a:t>
            </a:r>
            <a:r>
              <a:rPr i="1" lang="en"/>
              <a:t>n</a:t>
            </a:r>
            <a:r>
              <a:rPr lang="en"/>
              <a:t>-bit messages</a:t>
            </a:r>
            <a:endParaRPr/>
          </a:p>
        </p:txBody>
      </p:sp>
      <p:sp>
        <p:nvSpPr>
          <p:cNvPr id="88" name="Google Shape;8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Block Cipher Modes of Operation</a:t>
            </a:r>
            <a:endParaRPr/>
          </a:p>
        </p:txBody>
      </p:sp>
      <p:sp>
        <p:nvSpPr>
          <p:cNvPr id="94" name="Google Shape;9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95" name="Google Shape;95;p4"/>
          <p:cNvPicPr preferRelativeResize="0"/>
          <p:nvPr/>
        </p:nvPicPr>
        <p:blipFill rotWithShape="1">
          <a:blip r:embed="rId3">
            <a:alphaModFix/>
          </a:blip>
          <a:srcRect b="0" l="0" r="0" t="0"/>
          <a:stretch/>
        </p:blipFill>
        <p:spPr>
          <a:xfrm>
            <a:off x="3394373" y="2862900"/>
            <a:ext cx="2355259" cy="1800326"/>
          </a:xfrm>
          <a:prstGeom prst="rect">
            <a:avLst/>
          </a:prstGeom>
          <a:noFill/>
          <a:ln>
            <a:noFill/>
          </a:ln>
        </p:spPr>
      </p:pic>
      <p:sp>
        <p:nvSpPr>
          <p:cNvPr id="96" name="Google Shape;96;p4"/>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Textbook Chapter 6.6–6.9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102" name="Google Shape;10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3" name="Google Shape;103;p5"/>
          <p:cNvSpPr txBox="1"/>
          <p:nvPr/>
        </p:nvSpPr>
        <p:spPr>
          <a:xfrm>
            <a:off x="854025" y="1253750"/>
            <a:ext cx="3646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Here’s an AES block. Remember that it can only encrypt 128-bit messages.</a:t>
            </a:r>
            <a:endParaRPr b="0" i="0" sz="1400" u="none" cap="none" strike="noStrike">
              <a:solidFill>
                <a:srgbClr val="000000"/>
              </a:solidFill>
              <a:latin typeface="Arial"/>
              <a:ea typeface="Arial"/>
              <a:cs typeface="Arial"/>
              <a:sym typeface="Arial"/>
            </a:endParaRPr>
          </a:p>
        </p:txBody>
      </p:sp>
      <p:sp>
        <p:nvSpPr>
          <p:cNvPr id="104" name="Google Shape;104;p5"/>
          <p:cNvSpPr txBox="1"/>
          <p:nvPr/>
        </p:nvSpPr>
        <p:spPr>
          <a:xfrm>
            <a:off x="1429800" y="1838075"/>
            <a:ext cx="3646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How can we use AES to encrypt a longer message (say, 256 bits?)</a:t>
            </a:r>
            <a:endParaRPr b="0" i="0" sz="1400" u="none" cap="none" strike="noStrike">
              <a:solidFill>
                <a:srgbClr val="000000"/>
              </a:solidFill>
              <a:latin typeface="Arial"/>
              <a:ea typeface="Arial"/>
              <a:cs typeface="Arial"/>
              <a:sym typeface="Arial"/>
            </a:endParaRPr>
          </a:p>
        </p:txBody>
      </p:sp>
      <p:pic>
        <p:nvPicPr>
          <p:cNvPr descr="ECB encryption.svg" id="105" name="Google Shape;105;p5"/>
          <p:cNvPicPr preferRelativeResize="0"/>
          <p:nvPr/>
        </p:nvPicPr>
        <p:blipFill rotWithShape="1">
          <a:blip r:embed="rId3">
            <a:alphaModFix/>
          </a:blip>
          <a:srcRect b="17089" l="3980" r="65377" t="9654"/>
          <a:stretch/>
        </p:blipFill>
        <p:spPr>
          <a:xfrm>
            <a:off x="2045100" y="2811150"/>
            <a:ext cx="2188699" cy="2108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111" name="Google Shape;11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2" name="Google Shape;112;p6"/>
          <p:cNvSpPr txBox="1"/>
          <p:nvPr/>
        </p:nvSpPr>
        <p:spPr>
          <a:xfrm>
            <a:off x="854025" y="1253750"/>
            <a:ext cx="22854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Idea: Let’s use AES twice!</a:t>
            </a:r>
            <a:endParaRPr b="0" i="0" sz="1400" u="none" cap="none" strike="noStrike">
              <a:solidFill>
                <a:srgbClr val="000000"/>
              </a:solidFill>
              <a:latin typeface="Arial"/>
              <a:ea typeface="Arial"/>
              <a:cs typeface="Arial"/>
              <a:sym typeface="Arial"/>
            </a:endParaRPr>
          </a:p>
        </p:txBody>
      </p:sp>
      <p:pic>
        <p:nvPicPr>
          <p:cNvPr descr="ECB encryption.svg" id="113" name="Google Shape;113;p6"/>
          <p:cNvPicPr preferRelativeResize="0"/>
          <p:nvPr/>
        </p:nvPicPr>
        <p:blipFill rotWithShape="1">
          <a:blip r:embed="rId3">
            <a:alphaModFix/>
          </a:blip>
          <a:srcRect b="17089" l="3977" r="34736" t="9654"/>
          <a:stretch/>
        </p:blipFill>
        <p:spPr>
          <a:xfrm>
            <a:off x="2045100" y="2811150"/>
            <a:ext cx="4377425" cy="2108650"/>
          </a:xfrm>
          <a:prstGeom prst="rect">
            <a:avLst/>
          </a:prstGeom>
          <a:noFill/>
          <a:ln>
            <a:noFill/>
          </a:ln>
        </p:spPr>
      </p:pic>
      <p:grpSp>
        <p:nvGrpSpPr>
          <p:cNvPr id="114" name="Google Shape;114;p6"/>
          <p:cNvGrpSpPr/>
          <p:nvPr/>
        </p:nvGrpSpPr>
        <p:grpSpPr>
          <a:xfrm>
            <a:off x="2238725" y="2029950"/>
            <a:ext cx="2285400" cy="811800"/>
            <a:chOff x="2238725" y="2029950"/>
            <a:chExt cx="2285400" cy="811800"/>
          </a:xfrm>
        </p:grpSpPr>
        <p:cxnSp>
          <p:nvCxnSpPr>
            <p:cNvPr id="115" name="Google Shape;115;p6"/>
            <p:cNvCxnSpPr/>
            <p:nvPr/>
          </p:nvCxnSpPr>
          <p:spPr>
            <a:xfrm>
              <a:off x="3413050" y="2430150"/>
              <a:ext cx="0" cy="411600"/>
            </a:xfrm>
            <a:prstGeom prst="straightConnector1">
              <a:avLst/>
            </a:prstGeom>
            <a:noFill/>
            <a:ln cap="flat" cmpd="sng" w="19050">
              <a:solidFill>
                <a:srgbClr val="E69138"/>
              </a:solidFill>
              <a:prstDash val="solid"/>
              <a:round/>
              <a:headEnd len="sm" w="sm" type="none"/>
              <a:tailEnd len="med" w="med" type="triangle"/>
            </a:ln>
          </p:spPr>
        </p:cxnSp>
        <p:sp>
          <p:nvSpPr>
            <p:cNvPr id="116" name="Google Shape;116;p6"/>
            <p:cNvSpPr txBox="1"/>
            <p:nvPr/>
          </p:nvSpPr>
          <p:spPr>
            <a:xfrm>
              <a:off x="2238725" y="2029950"/>
              <a:ext cx="22854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First 128 bits of message</a:t>
              </a:r>
              <a:endParaRPr b="0" i="0" sz="1400" u="none" cap="none" strike="noStrike">
                <a:solidFill>
                  <a:srgbClr val="000000"/>
                </a:solidFill>
                <a:latin typeface="Arial"/>
                <a:ea typeface="Arial"/>
                <a:cs typeface="Arial"/>
                <a:sym typeface="Arial"/>
              </a:endParaRPr>
            </a:p>
          </p:txBody>
        </p:sp>
      </p:grpSp>
      <p:grpSp>
        <p:nvGrpSpPr>
          <p:cNvPr id="117" name="Google Shape;117;p6"/>
          <p:cNvGrpSpPr/>
          <p:nvPr/>
        </p:nvGrpSpPr>
        <p:grpSpPr>
          <a:xfrm>
            <a:off x="4614025" y="2029950"/>
            <a:ext cx="2595000" cy="811800"/>
            <a:chOff x="4614025" y="2029950"/>
            <a:chExt cx="2595000" cy="811800"/>
          </a:xfrm>
        </p:grpSpPr>
        <p:cxnSp>
          <p:nvCxnSpPr>
            <p:cNvPr id="118" name="Google Shape;118;p6"/>
            <p:cNvCxnSpPr/>
            <p:nvPr/>
          </p:nvCxnSpPr>
          <p:spPr>
            <a:xfrm>
              <a:off x="5631075" y="2430150"/>
              <a:ext cx="0" cy="411600"/>
            </a:xfrm>
            <a:prstGeom prst="straightConnector1">
              <a:avLst/>
            </a:prstGeom>
            <a:noFill/>
            <a:ln cap="flat" cmpd="sng" w="19050">
              <a:solidFill>
                <a:srgbClr val="E69138"/>
              </a:solidFill>
              <a:prstDash val="solid"/>
              <a:round/>
              <a:headEnd len="sm" w="sm" type="none"/>
              <a:tailEnd len="med" w="med" type="triangle"/>
            </a:ln>
          </p:spPr>
        </p:cxnSp>
        <p:sp>
          <p:nvSpPr>
            <p:cNvPr id="119" name="Google Shape;119;p6"/>
            <p:cNvSpPr txBox="1"/>
            <p:nvPr/>
          </p:nvSpPr>
          <p:spPr>
            <a:xfrm>
              <a:off x="4614025" y="2029950"/>
              <a:ext cx="25950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Second 128 bits of message</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125" name="Google Shape;12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descr="ECB encryption.svg" id="126" name="Google Shape;126;p7"/>
          <p:cNvPicPr preferRelativeResize="0"/>
          <p:nvPr/>
        </p:nvPicPr>
        <p:blipFill rotWithShape="1">
          <a:blip r:embed="rId3">
            <a:alphaModFix/>
          </a:blip>
          <a:srcRect b="17089" l="3977" r="34736" t="9654"/>
          <a:stretch/>
        </p:blipFill>
        <p:spPr>
          <a:xfrm>
            <a:off x="2045100" y="2811150"/>
            <a:ext cx="4377425" cy="2108650"/>
          </a:xfrm>
          <a:prstGeom prst="rect">
            <a:avLst/>
          </a:prstGeom>
          <a:noFill/>
          <a:ln>
            <a:noFill/>
          </a:ln>
        </p:spPr>
      </p:pic>
      <p:cxnSp>
        <p:nvCxnSpPr>
          <p:cNvPr id="127" name="Google Shape;127;p7"/>
          <p:cNvCxnSpPr/>
          <p:nvPr/>
        </p:nvCxnSpPr>
        <p:spPr>
          <a:xfrm>
            <a:off x="2236625" y="2086125"/>
            <a:ext cx="0" cy="1467000"/>
          </a:xfrm>
          <a:prstGeom prst="straightConnector1">
            <a:avLst/>
          </a:prstGeom>
          <a:noFill/>
          <a:ln cap="flat" cmpd="sng" w="19050">
            <a:solidFill>
              <a:srgbClr val="E69138"/>
            </a:solidFill>
            <a:prstDash val="solid"/>
            <a:round/>
            <a:headEnd len="sm" w="sm" type="none"/>
            <a:tailEnd len="med" w="med" type="triangle"/>
          </a:ln>
        </p:spPr>
      </p:cxnSp>
      <p:cxnSp>
        <p:nvCxnSpPr>
          <p:cNvPr id="128" name="Google Shape;128;p7"/>
          <p:cNvCxnSpPr/>
          <p:nvPr/>
        </p:nvCxnSpPr>
        <p:spPr>
          <a:xfrm>
            <a:off x="4475150" y="2051925"/>
            <a:ext cx="0" cy="1501200"/>
          </a:xfrm>
          <a:prstGeom prst="straightConnector1">
            <a:avLst/>
          </a:prstGeom>
          <a:noFill/>
          <a:ln cap="flat" cmpd="sng" w="19050">
            <a:solidFill>
              <a:srgbClr val="E69138"/>
            </a:solidFill>
            <a:prstDash val="solid"/>
            <a:round/>
            <a:headEnd len="sm" w="sm" type="none"/>
            <a:tailEnd len="med" w="med" type="triangle"/>
          </a:ln>
        </p:spPr>
      </p:cxnSp>
      <p:sp>
        <p:nvSpPr>
          <p:cNvPr id="129" name="Google Shape;129;p7"/>
          <p:cNvSpPr txBox="1"/>
          <p:nvPr/>
        </p:nvSpPr>
        <p:spPr>
          <a:xfrm>
            <a:off x="1633750" y="1254825"/>
            <a:ext cx="3940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Note that we are using the same key twice. We want to avoid a situation like one-time pads where we need very long keys.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ECB Mode</a:t>
            </a:r>
            <a:endParaRPr/>
          </a:p>
        </p:txBody>
      </p:sp>
      <p:sp>
        <p:nvSpPr>
          <p:cNvPr id="135" name="Google Shape;135;p8"/>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We’ve just designed </a:t>
            </a:r>
            <a:r>
              <a:rPr b="1" lang="en"/>
              <a:t>electronic code book (ECB) mode</a:t>
            </a:r>
            <a:endParaRPr/>
          </a:p>
          <a:p>
            <a:pPr indent="-317500" lvl="1" marL="914400" rtl="0" algn="l">
              <a:lnSpc>
                <a:spcPct val="115000"/>
              </a:lnSpc>
              <a:spcBef>
                <a:spcPts val="0"/>
              </a:spcBef>
              <a:spcAft>
                <a:spcPts val="0"/>
              </a:spcAft>
              <a:buSzPts val="1400"/>
              <a:buChar char="○"/>
            </a:pPr>
            <a:r>
              <a:rPr lang="en"/>
              <a:t>Enc(</a:t>
            </a:r>
            <a:r>
              <a:rPr i="1" lang="en"/>
              <a:t>K</a:t>
            </a:r>
            <a:r>
              <a:rPr lang="en"/>
              <a:t>, </a:t>
            </a:r>
            <a:r>
              <a:rPr i="1" lang="en"/>
              <a:t>M</a:t>
            </a:r>
            <a:r>
              <a:rPr lang="en"/>
              <a:t>) = </a:t>
            </a:r>
            <a:r>
              <a:rPr i="1" lang="en"/>
              <a:t>C</a:t>
            </a:r>
            <a:r>
              <a:rPr lang="en" sz="900"/>
              <a:t>1</a:t>
            </a:r>
            <a:r>
              <a:rPr lang="en"/>
              <a:t> || </a:t>
            </a:r>
            <a:r>
              <a:rPr i="1" lang="en"/>
              <a:t>C</a:t>
            </a:r>
            <a:r>
              <a:rPr lang="en" sz="900"/>
              <a:t>2</a:t>
            </a:r>
            <a:r>
              <a:rPr lang="en"/>
              <a:t> || … || C</a:t>
            </a:r>
            <a:r>
              <a:rPr i="1" lang="en" sz="900"/>
              <a:t>m</a:t>
            </a:r>
            <a:endParaRPr i="1" sz="900"/>
          </a:p>
          <a:p>
            <a:pPr indent="-317500" lvl="1" marL="914400" rtl="0" algn="l">
              <a:lnSpc>
                <a:spcPct val="115000"/>
              </a:lnSpc>
              <a:spcBef>
                <a:spcPts val="0"/>
              </a:spcBef>
              <a:spcAft>
                <a:spcPts val="0"/>
              </a:spcAft>
              <a:buSzPts val="1400"/>
              <a:buChar char="○"/>
            </a:pPr>
            <a:r>
              <a:rPr lang="en"/>
              <a:t>Assume m is the number of blocks of plaintext in </a:t>
            </a:r>
            <a:r>
              <a:rPr i="1" lang="en"/>
              <a:t>M</a:t>
            </a:r>
            <a:r>
              <a:rPr lang="en"/>
              <a:t>, each of size </a:t>
            </a:r>
            <a:r>
              <a:rPr i="1" lang="en"/>
              <a:t>n</a:t>
            </a:r>
            <a:endParaRPr i="1"/>
          </a:p>
          <a:p>
            <a:pPr indent="-342900" lvl="0" marL="457200" rtl="0" algn="l">
              <a:lnSpc>
                <a:spcPct val="115000"/>
              </a:lnSpc>
              <a:spcBef>
                <a:spcPts val="0"/>
              </a:spcBef>
              <a:spcAft>
                <a:spcPts val="0"/>
              </a:spcAft>
              <a:buSzPts val="1800"/>
              <a:buChar char="●"/>
            </a:pPr>
            <a:r>
              <a:rPr lang="en"/>
              <a:t>AES-ECB is not IND-CPA secure. Why?</a:t>
            </a:r>
            <a:endParaRPr/>
          </a:p>
          <a:p>
            <a:pPr indent="-317500" lvl="1" marL="914400" rtl="0" algn="l">
              <a:lnSpc>
                <a:spcPct val="115000"/>
              </a:lnSpc>
              <a:spcBef>
                <a:spcPts val="0"/>
              </a:spcBef>
              <a:spcAft>
                <a:spcPts val="0"/>
              </a:spcAft>
              <a:buSzPts val="1400"/>
              <a:buChar char="○"/>
            </a:pPr>
            <a:r>
              <a:rPr lang="en"/>
              <a:t>Because ECB is deterministic. </a:t>
            </a:r>
            <a:endParaRPr/>
          </a:p>
        </p:txBody>
      </p:sp>
      <p:sp>
        <p:nvSpPr>
          <p:cNvPr id="136" name="Google Shape;1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descr="ECB encryption.svg" id="137" name="Google Shape;137;p8"/>
          <p:cNvPicPr preferRelativeResize="0"/>
          <p:nvPr/>
        </p:nvPicPr>
        <p:blipFill rotWithShape="1">
          <a:blip r:embed="rId3">
            <a:alphaModFix/>
          </a:blip>
          <a:srcRect b="0" l="0" r="0" t="0"/>
          <a:stretch/>
        </p:blipFill>
        <p:spPr>
          <a:xfrm>
            <a:off x="1826463" y="2638501"/>
            <a:ext cx="5491075" cy="2212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4d93a425b6_0_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ECB Mode: Not IND-CPA Secure</a:t>
            </a:r>
            <a:endParaRPr/>
          </a:p>
        </p:txBody>
      </p:sp>
      <p:sp>
        <p:nvSpPr>
          <p:cNvPr id="143" name="Google Shape;143;g34d93a425b6_0_7"/>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https://colab.research.google.com/drive/1JN-P9Hyrpnv1ildiEX71qbGEXvHnBQ-9?usp=sharing</a:t>
            </a:r>
            <a:endParaRPr/>
          </a:p>
        </p:txBody>
      </p:sp>
      <p:sp>
        <p:nvSpPr>
          <p:cNvPr id="144" name="Google Shape;144;g34d93a425b6_0_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45" name="Google Shape;145;g34d93a425b6_0_7"/>
          <p:cNvPicPr preferRelativeResize="0"/>
          <p:nvPr/>
        </p:nvPicPr>
        <p:blipFill>
          <a:blip r:embed="rId4">
            <a:alphaModFix/>
          </a:blip>
          <a:stretch>
            <a:fillRect/>
          </a:stretch>
        </p:blipFill>
        <p:spPr>
          <a:xfrm>
            <a:off x="152400" y="1221225"/>
            <a:ext cx="8839202" cy="30643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151" name="Google Shape;15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152" name="Google Shape;152;p11"/>
          <p:cNvGrpSpPr/>
          <p:nvPr/>
        </p:nvGrpSpPr>
        <p:grpSpPr>
          <a:xfrm>
            <a:off x="854025" y="2571750"/>
            <a:ext cx="7017950" cy="2367200"/>
            <a:chOff x="854025" y="2571750"/>
            <a:chExt cx="7017950" cy="2367200"/>
          </a:xfrm>
        </p:grpSpPr>
        <p:pic>
          <p:nvPicPr>
            <p:cNvPr id="153" name="Google Shape;153;p11"/>
            <p:cNvPicPr preferRelativeResize="0"/>
            <p:nvPr/>
          </p:nvPicPr>
          <p:blipFill rotWithShape="1">
            <a:blip r:embed="rId3">
              <a:alphaModFix/>
            </a:blip>
            <a:srcRect b="16218" l="0" r="0" t="0"/>
            <a:stretch/>
          </p:blipFill>
          <p:spPr>
            <a:xfrm>
              <a:off x="854025" y="2571750"/>
              <a:ext cx="7017950" cy="2367200"/>
            </a:xfrm>
            <a:prstGeom prst="rect">
              <a:avLst/>
            </a:prstGeom>
            <a:noFill/>
            <a:ln>
              <a:noFill/>
            </a:ln>
          </p:spPr>
        </p:pic>
        <p:sp>
          <p:nvSpPr>
            <p:cNvPr id="154" name="Google Shape;154;p11"/>
            <p:cNvSpPr/>
            <p:nvPr/>
          </p:nvSpPr>
          <p:spPr>
            <a:xfrm>
              <a:off x="2664075" y="4294500"/>
              <a:ext cx="811500" cy="33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1"/>
            <p:cNvSpPr/>
            <p:nvPr/>
          </p:nvSpPr>
          <p:spPr>
            <a:xfrm>
              <a:off x="3418175" y="3510300"/>
              <a:ext cx="57300" cy="817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1"/>
            <p:cNvSpPr/>
            <p:nvPr/>
          </p:nvSpPr>
          <p:spPr>
            <a:xfrm>
              <a:off x="5597950" y="3458600"/>
              <a:ext cx="1299900" cy="10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1"/>
            <p:cNvSpPr/>
            <p:nvPr/>
          </p:nvSpPr>
          <p:spPr>
            <a:xfrm>
              <a:off x="3418175" y="3450050"/>
              <a:ext cx="1339200" cy="10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1"/>
            <p:cNvSpPr/>
            <p:nvPr/>
          </p:nvSpPr>
          <p:spPr>
            <a:xfrm>
              <a:off x="5547300" y="3448300"/>
              <a:ext cx="104400" cy="879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1"/>
            <p:cNvSpPr/>
            <p:nvPr/>
          </p:nvSpPr>
          <p:spPr>
            <a:xfrm>
              <a:off x="6897850"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1"/>
            <p:cNvSpPr/>
            <p:nvPr/>
          </p:nvSpPr>
          <p:spPr>
            <a:xfrm>
              <a:off x="4811975" y="4294500"/>
              <a:ext cx="811500" cy="33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1"/>
            <p:cNvSpPr/>
            <p:nvPr/>
          </p:nvSpPr>
          <p:spPr>
            <a:xfrm>
              <a:off x="4757375" y="4204975"/>
              <a:ext cx="202500" cy="26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2" name="Google Shape;162;p11"/>
            <p:cNvPicPr preferRelativeResize="0"/>
            <p:nvPr/>
          </p:nvPicPr>
          <p:blipFill rotWithShape="1">
            <a:blip r:embed="rId3">
              <a:alphaModFix/>
            </a:blip>
            <a:srcRect b="32353" l="86425" r="10688" t="56994"/>
            <a:stretch/>
          </p:blipFill>
          <p:spPr>
            <a:xfrm>
              <a:off x="4774475" y="4179353"/>
              <a:ext cx="202502" cy="300950"/>
            </a:xfrm>
            <a:prstGeom prst="rect">
              <a:avLst/>
            </a:prstGeom>
            <a:noFill/>
            <a:ln>
              <a:noFill/>
            </a:ln>
          </p:spPr>
        </p:pic>
        <p:sp>
          <p:nvSpPr>
            <p:cNvPr id="163" name="Google Shape;163;p11"/>
            <p:cNvSpPr/>
            <p:nvPr/>
          </p:nvSpPr>
          <p:spPr>
            <a:xfrm>
              <a:off x="2601350" y="4204975"/>
              <a:ext cx="202500" cy="26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4" name="Google Shape;164;p11"/>
            <p:cNvPicPr preferRelativeResize="0"/>
            <p:nvPr/>
          </p:nvPicPr>
          <p:blipFill rotWithShape="1">
            <a:blip r:embed="rId3">
              <a:alphaModFix/>
            </a:blip>
            <a:srcRect b="32353" l="86425" r="10688" t="56994"/>
            <a:stretch/>
          </p:blipFill>
          <p:spPr>
            <a:xfrm>
              <a:off x="2625300" y="4187853"/>
              <a:ext cx="202502" cy="300950"/>
            </a:xfrm>
            <a:prstGeom prst="rect">
              <a:avLst/>
            </a:prstGeom>
            <a:noFill/>
            <a:ln>
              <a:noFill/>
            </a:ln>
          </p:spPr>
        </p:pic>
        <p:pic>
          <p:nvPicPr>
            <p:cNvPr descr="ECB encryption.svg" id="165" name="Google Shape;165;p11"/>
            <p:cNvPicPr preferRelativeResize="0"/>
            <p:nvPr/>
          </p:nvPicPr>
          <p:blipFill rotWithShape="1">
            <a:blip r:embed="rId4">
              <a:alphaModFix/>
            </a:blip>
            <a:srcRect b="33897" l="82094" r="14045" t="49060"/>
            <a:stretch/>
          </p:blipFill>
          <p:spPr>
            <a:xfrm>
              <a:off x="6858575" y="3182988"/>
              <a:ext cx="253649" cy="451425"/>
            </a:xfrm>
            <a:prstGeom prst="rect">
              <a:avLst/>
            </a:prstGeom>
            <a:noFill/>
            <a:ln>
              <a:noFill/>
            </a:ln>
          </p:spPr>
        </p:pic>
        <p:sp>
          <p:nvSpPr>
            <p:cNvPr id="166" name="Google Shape;166;p11"/>
            <p:cNvSpPr/>
            <p:nvPr/>
          </p:nvSpPr>
          <p:spPr>
            <a:xfrm>
              <a:off x="4757375"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CB encryption.svg" id="167" name="Google Shape;167;p11"/>
            <p:cNvPicPr preferRelativeResize="0"/>
            <p:nvPr/>
          </p:nvPicPr>
          <p:blipFill rotWithShape="1">
            <a:blip r:embed="rId4">
              <a:alphaModFix/>
            </a:blip>
            <a:srcRect b="33897" l="82094" r="14045" t="49060"/>
            <a:stretch/>
          </p:blipFill>
          <p:spPr>
            <a:xfrm>
              <a:off x="4706225" y="3232788"/>
              <a:ext cx="253649" cy="451425"/>
            </a:xfrm>
            <a:prstGeom prst="rect">
              <a:avLst/>
            </a:prstGeom>
            <a:noFill/>
            <a:ln>
              <a:noFill/>
            </a:ln>
          </p:spPr>
        </p:pic>
        <p:sp>
          <p:nvSpPr>
            <p:cNvPr id="168" name="Google Shape;168;p11"/>
            <p:cNvSpPr/>
            <p:nvPr/>
          </p:nvSpPr>
          <p:spPr>
            <a:xfrm>
              <a:off x="2605025"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CB encryption.svg" id="169" name="Google Shape;169;p11"/>
            <p:cNvPicPr preferRelativeResize="0"/>
            <p:nvPr/>
          </p:nvPicPr>
          <p:blipFill rotWithShape="1">
            <a:blip r:embed="rId4">
              <a:alphaModFix/>
            </a:blip>
            <a:srcRect b="33897" l="82094" r="14045" t="49060"/>
            <a:stretch/>
          </p:blipFill>
          <p:spPr>
            <a:xfrm>
              <a:off x="2553875" y="3249888"/>
              <a:ext cx="253649" cy="451425"/>
            </a:xfrm>
            <a:prstGeom prst="rect">
              <a:avLst/>
            </a:prstGeom>
            <a:noFill/>
            <a:ln>
              <a:noFill/>
            </a:ln>
          </p:spPr>
        </p:pic>
        <p:sp>
          <p:nvSpPr>
            <p:cNvPr id="170" name="Google Shape;170;p11"/>
            <p:cNvSpPr/>
            <p:nvPr/>
          </p:nvSpPr>
          <p:spPr>
            <a:xfrm>
              <a:off x="886750" y="3136050"/>
              <a:ext cx="1738500" cy="498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1" name="Google Shape;171;p11"/>
          <p:cNvSpPr txBox="1"/>
          <p:nvPr/>
        </p:nvSpPr>
        <p:spPr>
          <a:xfrm>
            <a:off x="854025" y="1253750"/>
            <a:ext cx="3646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Here’s ECB mode. It’s not IND-CPA secure because it’s deterministic.</a:t>
            </a:r>
            <a:endParaRPr b="0" i="0" sz="1400" u="none" cap="none" strike="noStrike">
              <a:solidFill>
                <a:srgbClr val="000000"/>
              </a:solidFill>
              <a:latin typeface="Arial"/>
              <a:ea typeface="Arial"/>
              <a:cs typeface="Arial"/>
              <a:sym typeface="Arial"/>
            </a:endParaRPr>
          </a:p>
        </p:txBody>
      </p:sp>
      <p:sp>
        <p:nvSpPr>
          <p:cNvPr id="172" name="Google Shape;172;p11"/>
          <p:cNvSpPr txBox="1"/>
          <p:nvPr/>
        </p:nvSpPr>
        <p:spPr>
          <a:xfrm>
            <a:off x="1429800" y="1838075"/>
            <a:ext cx="36465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Let’s fix that by adding some randomness.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178" name="Google Shape;17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179" name="Google Shape;179;p12"/>
          <p:cNvGrpSpPr/>
          <p:nvPr/>
        </p:nvGrpSpPr>
        <p:grpSpPr>
          <a:xfrm>
            <a:off x="854025" y="2571750"/>
            <a:ext cx="7017950" cy="2367200"/>
            <a:chOff x="854025" y="2571750"/>
            <a:chExt cx="7017950" cy="2367200"/>
          </a:xfrm>
        </p:grpSpPr>
        <p:pic>
          <p:nvPicPr>
            <p:cNvPr id="180" name="Google Shape;180;p12"/>
            <p:cNvPicPr preferRelativeResize="0"/>
            <p:nvPr/>
          </p:nvPicPr>
          <p:blipFill rotWithShape="1">
            <a:blip r:embed="rId3">
              <a:alphaModFix/>
            </a:blip>
            <a:srcRect b="16218" l="0" r="0" t="0"/>
            <a:stretch/>
          </p:blipFill>
          <p:spPr>
            <a:xfrm>
              <a:off x="854025" y="2571750"/>
              <a:ext cx="7017950" cy="2367200"/>
            </a:xfrm>
            <a:prstGeom prst="rect">
              <a:avLst/>
            </a:prstGeom>
            <a:noFill/>
            <a:ln>
              <a:noFill/>
            </a:ln>
          </p:spPr>
        </p:pic>
        <p:sp>
          <p:nvSpPr>
            <p:cNvPr id="181" name="Google Shape;181;p12"/>
            <p:cNvSpPr/>
            <p:nvPr/>
          </p:nvSpPr>
          <p:spPr>
            <a:xfrm>
              <a:off x="2664075" y="4294500"/>
              <a:ext cx="811500" cy="33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2"/>
            <p:cNvSpPr/>
            <p:nvPr/>
          </p:nvSpPr>
          <p:spPr>
            <a:xfrm>
              <a:off x="3418175" y="3510300"/>
              <a:ext cx="57300" cy="817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a:off x="5597950" y="3458600"/>
              <a:ext cx="1299900" cy="10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p:nvPr/>
          </p:nvSpPr>
          <p:spPr>
            <a:xfrm>
              <a:off x="3418175" y="3450050"/>
              <a:ext cx="1339200" cy="10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p:nvPr/>
          </p:nvSpPr>
          <p:spPr>
            <a:xfrm>
              <a:off x="5547300" y="3448300"/>
              <a:ext cx="104400" cy="879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2"/>
            <p:cNvSpPr/>
            <p:nvPr/>
          </p:nvSpPr>
          <p:spPr>
            <a:xfrm>
              <a:off x="6897850"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2"/>
            <p:cNvSpPr/>
            <p:nvPr/>
          </p:nvSpPr>
          <p:spPr>
            <a:xfrm>
              <a:off x="4811975" y="4294500"/>
              <a:ext cx="811500" cy="33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2"/>
            <p:cNvSpPr/>
            <p:nvPr/>
          </p:nvSpPr>
          <p:spPr>
            <a:xfrm>
              <a:off x="4757375" y="4204975"/>
              <a:ext cx="202500" cy="26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9" name="Google Shape;189;p12"/>
            <p:cNvPicPr preferRelativeResize="0"/>
            <p:nvPr/>
          </p:nvPicPr>
          <p:blipFill rotWithShape="1">
            <a:blip r:embed="rId3">
              <a:alphaModFix/>
            </a:blip>
            <a:srcRect b="32353" l="86425" r="10688" t="56994"/>
            <a:stretch/>
          </p:blipFill>
          <p:spPr>
            <a:xfrm>
              <a:off x="4774475" y="4179353"/>
              <a:ext cx="202502" cy="300950"/>
            </a:xfrm>
            <a:prstGeom prst="rect">
              <a:avLst/>
            </a:prstGeom>
            <a:noFill/>
            <a:ln>
              <a:noFill/>
            </a:ln>
          </p:spPr>
        </p:pic>
        <p:sp>
          <p:nvSpPr>
            <p:cNvPr id="190" name="Google Shape;190;p12"/>
            <p:cNvSpPr/>
            <p:nvPr/>
          </p:nvSpPr>
          <p:spPr>
            <a:xfrm>
              <a:off x="2601350" y="4204975"/>
              <a:ext cx="202500" cy="26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12"/>
            <p:cNvPicPr preferRelativeResize="0"/>
            <p:nvPr/>
          </p:nvPicPr>
          <p:blipFill rotWithShape="1">
            <a:blip r:embed="rId3">
              <a:alphaModFix/>
            </a:blip>
            <a:srcRect b="32353" l="86425" r="10688" t="56994"/>
            <a:stretch/>
          </p:blipFill>
          <p:spPr>
            <a:xfrm>
              <a:off x="2625300" y="4187853"/>
              <a:ext cx="202502" cy="300950"/>
            </a:xfrm>
            <a:prstGeom prst="rect">
              <a:avLst/>
            </a:prstGeom>
            <a:noFill/>
            <a:ln>
              <a:noFill/>
            </a:ln>
          </p:spPr>
        </p:pic>
        <p:pic>
          <p:nvPicPr>
            <p:cNvPr descr="ECB encryption.svg" id="192" name="Google Shape;192;p12"/>
            <p:cNvPicPr preferRelativeResize="0"/>
            <p:nvPr/>
          </p:nvPicPr>
          <p:blipFill rotWithShape="1">
            <a:blip r:embed="rId4">
              <a:alphaModFix/>
            </a:blip>
            <a:srcRect b="33897" l="82094" r="14045" t="49060"/>
            <a:stretch/>
          </p:blipFill>
          <p:spPr>
            <a:xfrm>
              <a:off x="6858575" y="3182988"/>
              <a:ext cx="253649" cy="451425"/>
            </a:xfrm>
            <a:prstGeom prst="rect">
              <a:avLst/>
            </a:prstGeom>
            <a:noFill/>
            <a:ln>
              <a:noFill/>
            </a:ln>
          </p:spPr>
        </p:pic>
        <p:sp>
          <p:nvSpPr>
            <p:cNvPr id="193" name="Google Shape;193;p12"/>
            <p:cNvSpPr/>
            <p:nvPr/>
          </p:nvSpPr>
          <p:spPr>
            <a:xfrm>
              <a:off x="4757375"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CB encryption.svg" id="194" name="Google Shape;194;p12"/>
            <p:cNvPicPr preferRelativeResize="0"/>
            <p:nvPr/>
          </p:nvPicPr>
          <p:blipFill rotWithShape="1">
            <a:blip r:embed="rId4">
              <a:alphaModFix/>
            </a:blip>
            <a:srcRect b="33897" l="82094" r="14045" t="49060"/>
            <a:stretch/>
          </p:blipFill>
          <p:spPr>
            <a:xfrm>
              <a:off x="4706225" y="3232788"/>
              <a:ext cx="253649" cy="451425"/>
            </a:xfrm>
            <a:prstGeom prst="rect">
              <a:avLst/>
            </a:prstGeom>
            <a:noFill/>
            <a:ln>
              <a:noFill/>
            </a:ln>
          </p:spPr>
        </p:pic>
      </p:grpSp>
      <p:cxnSp>
        <p:nvCxnSpPr>
          <p:cNvPr id="195" name="Google Shape;195;p12"/>
          <p:cNvCxnSpPr/>
          <p:nvPr/>
        </p:nvCxnSpPr>
        <p:spPr>
          <a:xfrm>
            <a:off x="1443200" y="2086125"/>
            <a:ext cx="0" cy="1005600"/>
          </a:xfrm>
          <a:prstGeom prst="straightConnector1">
            <a:avLst/>
          </a:prstGeom>
          <a:noFill/>
          <a:ln cap="flat" cmpd="sng" w="19050">
            <a:solidFill>
              <a:srgbClr val="E69138"/>
            </a:solidFill>
            <a:prstDash val="solid"/>
            <a:round/>
            <a:headEnd len="sm" w="sm" type="none"/>
            <a:tailEnd len="med" w="med" type="triangle"/>
          </a:ln>
        </p:spPr>
      </p:cxnSp>
      <p:sp>
        <p:nvSpPr>
          <p:cNvPr id="196" name="Google Shape;196;p12"/>
          <p:cNvSpPr txBox="1"/>
          <p:nvPr/>
        </p:nvSpPr>
        <p:spPr>
          <a:xfrm>
            <a:off x="854025" y="1253750"/>
            <a:ext cx="3646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 </a:t>
            </a:r>
            <a:r>
              <a:rPr b="1" i="0" lang="en" sz="1400" u="none" cap="none" strike="noStrike">
                <a:solidFill>
                  <a:srgbClr val="000000"/>
                </a:solidFill>
                <a:latin typeface="Arial"/>
                <a:ea typeface="Arial"/>
                <a:cs typeface="Arial"/>
                <a:sym typeface="Arial"/>
              </a:rPr>
              <a:t>Initialization Vector </a:t>
            </a:r>
            <a:r>
              <a:rPr b="0" i="0" lang="en" sz="1400" u="none" cap="none" strike="noStrike">
                <a:solidFill>
                  <a:srgbClr val="000000"/>
                </a:solidFill>
                <a:latin typeface="Arial"/>
                <a:ea typeface="Arial"/>
                <a:cs typeface="Arial"/>
                <a:sym typeface="Arial"/>
              </a:rPr>
              <a:t>(</a:t>
            </a:r>
            <a:r>
              <a:rPr b="1" i="0" lang="en" sz="1400" u="none" cap="none" strike="noStrike">
                <a:solidFill>
                  <a:srgbClr val="000000"/>
                </a:solidFill>
                <a:latin typeface="Arial"/>
                <a:ea typeface="Arial"/>
                <a:cs typeface="Arial"/>
                <a:sym typeface="Arial"/>
              </a:rPr>
              <a:t>IV</a:t>
            </a:r>
            <a:r>
              <a:rPr b="0" i="0" lang="en" sz="1400" u="none" cap="none" strike="noStrike">
                <a:solidFill>
                  <a:srgbClr val="000000"/>
                </a:solidFill>
                <a:latin typeface="Arial"/>
                <a:ea typeface="Arial"/>
                <a:cs typeface="Arial"/>
                <a:sym typeface="Arial"/>
              </a:rPr>
              <a:t>) is different for every encryption. Now the first ciphertext block will be different for every encryption!</a:t>
            </a:r>
            <a:endParaRPr b="0" i="0" sz="1400" u="none" cap="none" strike="noStrike">
              <a:solidFill>
                <a:srgbClr val="000000"/>
              </a:solidFill>
              <a:latin typeface="Arial"/>
              <a:ea typeface="Arial"/>
              <a:cs typeface="Arial"/>
              <a:sym typeface="Arial"/>
            </a:endParaRPr>
          </a:p>
        </p:txBody>
      </p:sp>
      <p:sp>
        <p:nvSpPr>
          <p:cNvPr id="197" name="Google Shape;197;p12"/>
          <p:cNvSpPr txBox="1"/>
          <p:nvPr/>
        </p:nvSpPr>
        <p:spPr>
          <a:xfrm>
            <a:off x="1717075" y="2043275"/>
            <a:ext cx="41721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Okay, but the other blocks are still deterministic...</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203" name="Google Shape;20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204" name="Google Shape;204;p13"/>
          <p:cNvGrpSpPr/>
          <p:nvPr/>
        </p:nvGrpSpPr>
        <p:grpSpPr>
          <a:xfrm>
            <a:off x="854025" y="2571750"/>
            <a:ext cx="7017950" cy="2367200"/>
            <a:chOff x="854025" y="2571750"/>
            <a:chExt cx="7017950" cy="2367200"/>
          </a:xfrm>
        </p:grpSpPr>
        <p:pic>
          <p:nvPicPr>
            <p:cNvPr id="205" name="Google Shape;205;p13"/>
            <p:cNvPicPr preferRelativeResize="0"/>
            <p:nvPr/>
          </p:nvPicPr>
          <p:blipFill rotWithShape="1">
            <a:blip r:embed="rId3">
              <a:alphaModFix/>
            </a:blip>
            <a:srcRect b="16218" l="0" r="0" t="0"/>
            <a:stretch/>
          </p:blipFill>
          <p:spPr>
            <a:xfrm>
              <a:off x="854025" y="2571750"/>
              <a:ext cx="7017950" cy="2367200"/>
            </a:xfrm>
            <a:prstGeom prst="rect">
              <a:avLst/>
            </a:prstGeom>
            <a:noFill/>
            <a:ln>
              <a:noFill/>
            </a:ln>
          </p:spPr>
        </p:pic>
        <p:sp>
          <p:nvSpPr>
            <p:cNvPr id="206" name="Google Shape;206;p13"/>
            <p:cNvSpPr/>
            <p:nvPr/>
          </p:nvSpPr>
          <p:spPr>
            <a:xfrm>
              <a:off x="5597950" y="3458600"/>
              <a:ext cx="1299900" cy="10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3"/>
            <p:cNvSpPr/>
            <p:nvPr/>
          </p:nvSpPr>
          <p:spPr>
            <a:xfrm>
              <a:off x="5547300" y="3448300"/>
              <a:ext cx="104400" cy="879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3"/>
            <p:cNvSpPr/>
            <p:nvPr/>
          </p:nvSpPr>
          <p:spPr>
            <a:xfrm>
              <a:off x="6897850" y="3136050"/>
              <a:ext cx="202500" cy="59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3"/>
            <p:cNvSpPr/>
            <p:nvPr/>
          </p:nvSpPr>
          <p:spPr>
            <a:xfrm>
              <a:off x="4811975" y="4294500"/>
              <a:ext cx="811500" cy="33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3"/>
            <p:cNvSpPr/>
            <p:nvPr/>
          </p:nvSpPr>
          <p:spPr>
            <a:xfrm>
              <a:off x="4757375" y="4204975"/>
              <a:ext cx="202500" cy="26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1" name="Google Shape;211;p13"/>
            <p:cNvPicPr preferRelativeResize="0"/>
            <p:nvPr/>
          </p:nvPicPr>
          <p:blipFill rotWithShape="1">
            <a:blip r:embed="rId3">
              <a:alphaModFix/>
            </a:blip>
            <a:srcRect b="32353" l="86425" r="10688" t="56994"/>
            <a:stretch/>
          </p:blipFill>
          <p:spPr>
            <a:xfrm>
              <a:off x="4774475" y="4179353"/>
              <a:ext cx="202502" cy="300950"/>
            </a:xfrm>
            <a:prstGeom prst="rect">
              <a:avLst/>
            </a:prstGeom>
            <a:noFill/>
            <a:ln>
              <a:noFill/>
            </a:ln>
          </p:spPr>
        </p:pic>
        <p:pic>
          <p:nvPicPr>
            <p:cNvPr descr="ECB encryption.svg" id="212" name="Google Shape;212;p13"/>
            <p:cNvPicPr preferRelativeResize="0"/>
            <p:nvPr/>
          </p:nvPicPr>
          <p:blipFill rotWithShape="1">
            <a:blip r:embed="rId4">
              <a:alphaModFix/>
            </a:blip>
            <a:srcRect b="33897" l="82094" r="14045" t="49060"/>
            <a:stretch/>
          </p:blipFill>
          <p:spPr>
            <a:xfrm>
              <a:off x="6858575" y="3182988"/>
              <a:ext cx="253649" cy="451425"/>
            </a:xfrm>
            <a:prstGeom prst="rect">
              <a:avLst/>
            </a:prstGeom>
            <a:noFill/>
            <a:ln>
              <a:noFill/>
            </a:ln>
          </p:spPr>
        </p:pic>
      </p:grpSp>
      <p:cxnSp>
        <p:nvCxnSpPr>
          <p:cNvPr id="213" name="Google Shape;213;p13"/>
          <p:cNvCxnSpPr/>
          <p:nvPr/>
        </p:nvCxnSpPr>
        <p:spPr>
          <a:xfrm>
            <a:off x="3816600" y="2085050"/>
            <a:ext cx="0" cy="1321200"/>
          </a:xfrm>
          <a:prstGeom prst="straightConnector1">
            <a:avLst/>
          </a:prstGeom>
          <a:noFill/>
          <a:ln cap="flat" cmpd="sng" w="19050">
            <a:solidFill>
              <a:srgbClr val="E69138"/>
            </a:solidFill>
            <a:prstDash val="solid"/>
            <a:round/>
            <a:headEnd len="sm" w="sm" type="none"/>
            <a:tailEnd len="med" w="med" type="triangle"/>
          </a:ln>
        </p:spPr>
      </p:cxnSp>
      <p:sp>
        <p:nvSpPr>
          <p:cNvPr id="214" name="Google Shape;214;p13"/>
          <p:cNvSpPr txBox="1"/>
          <p:nvPr/>
        </p:nvSpPr>
        <p:spPr>
          <a:xfrm>
            <a:off x="854025" y="1253750"/>
            <a:ext cx="3806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Idea: The first ciphertext block was computed with some randomness. Let’s use it to add randomness to the second block.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Scratchpad: Let’s design it together</a:t>
            </a:r>
            <a:endParaRPr/>
          </a:p>
        </p:txBody>
      </p:sp>
      <p:sp>
        <p:nvSpPr>
          <p:cNvPr id="220" name="Google Shape;22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21" name="Google Shape;221;p14"/>
          <p:cNvPicPr preferRelativeResize="0"/>
          <p:nvPr/>
        </p:nvPicPr>
        <p:blipFill rotWithShape="1">
          <a:blip r:embed="rId3">
            <a:alphaModFix/>
          </a:blip>
          <a:srcRect b="16218" l="0" r="0" t="0"/>
          <a:stretch/>
        </p:blipFill>
        <p:spPr>
          <a:xfrm>
            <a:off x="854025" y="2571750"/>
            <a:ext cx="7017950" cy="2367200"/>
          </a:xfrm>
          <a:prstGeom prst="rect">
            <a:avLst/>
          </a:prstGeom>
          <a:noFill/>
          <a:ln>
            <a:noFill/>
          </a:ln>
        </p:spPr>
      </p:pic>
      <p:cxnSp>
        <p:nvCxnSpPr>
          <p:cNvPr id="222" name="Google Shape;222;p14"/>
          <p:cNvCxnSpPr/>
          <p:nvPr/>
        </p:nvCxnSpPr>
        <p:spPr>
          <a:xfrm>
            <a:off x="6265225" y="2085050"/>
            <a:ext cx="0" cy="1321200"/>
          </a:xfrm>
          <a:prstGeom prst="straightConnector1">
            <a:avLst/>
          </a:prstGeom>
          <a:noFill/>
          <a:ln cap="flat" cmpd="sng" w="19050">
            <a:solidFill>
              <a:srgbClr val="E69138"/>
            </a:solidFill>
            <a:prstDash val="solid"/>
            <a:round/>
            <a:headEnd len="sm" w="sm" type="none"/>
            <a:tailEnd len="med" w="med" type="triangle"/>
          </a:ln>
        </p:spPr>
      </p:cxnSp>
      <p:sp>
        <p:nvSpPr>
          <p:cNvPr id="223" name="Google Shape;223;p14"/>
          <p:cNvSpPr txBox="1"/>
          <p:nvPr/>
        </p:nvSpPr>
        <p:spPr>
          <a:xfrm>
            <a:off x="4048175" y="1253750"/>
            <a:ext cx="3646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Now the second ciphertext block has some randomness in it. Let’s use it to add randomness to the third block.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a:t>
            </a:r>
            <a:endParaRPr/>
          </a:p>
        </p:txBody>
      </p:sp>
      <p:sp>
        <p:nvSpPr>
          <p:cNvPr id="229" name="Google Shape;229;p15"/>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n"/>
              <a:t>We’ve just designed </a:t>
            </a:r>
            <a:r>
              <a:rPr b="1" lang="en"/>
              <a:t>cipher block chaining (CBC) mode</a:t>
            </a:r>
            <a:endParaRPr b="1"/>
          </a:p>
          <a:p>
            <a:pPr indent="-325755" lvl="0" marL="457200" rtl="0" algn="l">
              <a:lnSpc>
                <a:spcPct val="115000"/>
              </a:lnSpc>
              <a:spcBef>
                <a:spcPts val="0"/>
              </a:spcBef>
              <a:spcAft>
                <a:spcPts val="0"/>
              </a:spcAft>
              <a:buSzPct val="100000"/>
              <a:buChar char="●"/>
            </a:pPr>
            <a:r>
              <a:rPr i="1" lang="en"/>
              <a:t>C</a:t>
            </a:r>
            <a:r>
              <a:rPr i="1" lang="en" sz="1300"/>
              <a:t>i</a:t>
            </a:r>
            <a:r>
              <a:rPr lang="en"/>
              <a:t> = </a:t>
            </a:r>
            <a:r>
              <a:rPr i="1" lang="en"/>
              <a:t>E</a:t>
            </a:r>
            <a:r>
              <a:rPr i="1" lang="en" sz="1300"/>
              <a:t>K</a:t>
            </a:r>
            <a:r>
              <a:rPr lang="en"/>
              <a:t>(</a:t>
            </a:r>
            <a:r>
              <a:rPr i="1" lang="en"/>
              <a:t>M</a:t>
            </a:r>
            <a:r>
              <a:rPr i="1" lang="en" sz="1300"/>
              <a:t>i</a:t>
            </a:r>
            <a:r>
              <a:rPr lang="en"/>
              <a:t> ⊕ </a:t>
            </a:r>
            <a:r>
              <a:rPr i="1" lang="en"/>
              <a:t>C</a:t>
            </a:r>
            <a:r>
              <a:rPr i="1" lang="en" sz="1300"/>
              <a:t>i</a:t>
            </a:r>
            <a:r>
              <a:rPr lang="en" sz="1300"/>
              <a:t>-1</a:t>
            </a:r>
            <a:r>
              <a:rPr lang="en"/>
              <a:t>); C</a:t>
            </a:r>
            <a:r>
              <a:rPr lang="en" sz="1300"/>
              <a:t>0</a:t>
            </a:r>
            <a:r>
              <a:rPr lang="en"/>
              <a:t> = IV</a:t>
            </a:r>
            <a:endParaRPr/>
          </a:p>
          <a:p>
            <a:pPr indent="-325755" lvl="0" marL="457200" rtl="0" algn="l">
              <a:lnSpc>
                <a:spcPct val="115000"/>
              </a:lnSpc>
              <a:spcBef>
                <a:spcPts val="0"/>
              </a:spcBef>
              <a:spcAft>
                <a:spcPts val="0"/>
              </a:spcAft>
              <a:buSzPct val="100000"/>
              <a:buChar char="●"/>
            </a:pPr>
            <a:r>
              <a:rPr lang="en"/>
              <a:t>Enc(K, M): </a:t>
            </a:r>
            <a:endParaRPr/>
          </a:p>
          <a:p>
            <a:pPr indent="-304165" lvl="1" marL="914400" rtl="0" algn="l">
              <a:lnSpc>
                <a:spcPct val="115000"/>
              </a:lnSpc>
              <a:spcBef>
                <a:spcPts val="0"/>
              </a:spcBef>
              <a:spcAft>
                <a:spcPts val="0"/>
              </a:spcAft>
              <a:buSzPct val="100000"/>
              <a:buChar char="○"/>
            </a:pPr>
            <a:r>
              <a:rPr lang="en"/>
              <a:t>Split M in m plaintext blocks P</a:t>
            </a:r>
            <a:r>
              <a:rPr baseline="-25000" lang="en"/>
              <a:t>1 </a:t>
            </a:r>
            <a:r>
              <a:rPr lang="en"/>
              <a:t>… P</a:t>
            </a:r>
            <a:r>
              <a:rPr baseline="-25000" lang="en"/>
              <a:t>m</a:t>
            </a:r>
            <a:r>
              <a:rPr lang="en"/>
              <a:t> each of size n </a:t>
            </a:r>
            <a:endParaRPr/>
          </a:p>
          <a:p>
            <a:pPr indent="-304165" lvl="1" marL="914400" rtl="0" algn="l">
              <a:lnSpc>
                <a:spcPct val="115000"/>
              </a:lnSpc>
              <a:spcBef>
                <a:spcPts val="0"/>
              </a:spcBef>
              <a:spcAft>
                <a:spcPts val="0"/>
              </a:spcAft>
              <a:buSzPct val="100000"/>
              <a:buChar char="○"/>
            </a:pPr>
            <a:r>
              <a:rPr lang="en"/>
              <a:t>Choose a random IV</a:t>
            </a:r>
            <a:endParaRPr/>
          </a:p>
          <a:p>
            <a:pPr indent="-304165" lvl="1" marL="914400" rtl="0" algn="l">
              <a:lnSpc>
                <a:spcPct val="115000"/>
              </a:lnSpc>
              <a:spcBef>
                <a:spcPts val="0"/>
              </a:spcBef>
              <a:spcAft>
                <a:spcPts val="0"/>
              </a:spcAft>
              <a:buSzPct val="100000"/>
              <a:buChar char="○"/>
            </a:pPr>
            <a:r>
              <a:rPr lang="en"/>
              <a:t>Compute and output (IV, C</a:t>
            </a:r>
            <a:r>
              <a:rPr baseline="-25000" lang="en"/>
              <a:t>1</a:t>
            </a:r>
            <a:r>
              <a:rPr lang="en"/>
              <a:t>, …, C</a:t>
            </a:r>
            <a:r>
              <a:rPr baseline="-25000" lang="en"/>
              <a:t>m</a:t>
            </a:r>
            <a:r>
              <a:rPr lang="en"/>
              <a:t>) as the overall ciphertext</a:t>
            </a:r>
            <a:endParaRPr/>
          </a:p>
          <a:p>
            <a:pPr indent="-325755" lvl="0" marL="457200" rtl="0" algn="l">
              <a:lnSpc>
                <a:spcPct val="115000"/>
              </a:lnSpc>
              <a:spcBef>
                <a:spcPts val="0"/>
              </a:spcBef>
              <a:spcAft>
                <a:spcPts val="0"/>
              </a:spcAft>
              <a:buSzPct val="100000"/>
              <a:buChar char="●"/>
            </a:pPr>
            <a:r>
              <a:rPr lang="en"/>
              <a:t>How do we decrypt?</a:t>
            </a:r>
            <a:endParaRPr/>
          </a:p>
        </p:txBody>
      </p:sp>
      <p:sp>
        <p:nvSpPr>
          <p:cNvPr id="230" name="Google Shape;23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31" name="Google Shape;231;p15"/>
          <p:cNvPicPr preferRelativeResize="0"/>
          <p:nvPr/>
        </p:nvPicPr>
        <p:blipFill rotWithShape="1">
          <a:blip r:embed="rId3">
            <a:alphaModFix/>
          </a:blip>
          <a:srcRect b="0" l="0" r="0" t="0"/>
          <a:stretch/>
        </p:blipFill>
        <p:spPr>
          <a:xfrm>
            <a:off x="1826475" y="3020530"/>
            <a:ext cx="5491075" cy="2210722"/>
          </a:xfrm>
          <a:prstGeom prst="rect">
            <a:avLst/>
          </a:prstGeom>
          <a:noFill/>
          <a:ln>
            <a:noFill/>
          </a:ln>
        </p:spPr>
      </p:pic>
      <p:sp>
        <p:nvSpPr>
          <p:cNvPr id="232" name="Google Shape;232;p15"/>
          <p:cNvSpPr txBox="1"/>
          <p:nvPr/>
        </p:nvSpPr>
        <p:spPr>
          <a:xfrm>
            <a:off x="3132325" y="2839275"/>
            <a:ext cx="37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233" name="Google Shape;233;p15"/>
          <p:cNvSpPr txBox="1"/>
          <p:nvPr/>
        </p:nvSpPr>
        <p:spPr>
          <a:xfrm>
            <a:off x="4658150" y="2839275"/>
            <a:ext cx="37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234" name="Google Shape;234;p15"/>
          <p:cNvSpPr txBox="1"/>
          <p:nvPr/>
        </p:nvSpPr>
        <p:spPr>
          <a:xfrm>
            <a:off x="6400800" y="2838975"/>
            <a:ext cx="69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m</a:t>
            </a:r>
            <a:endParaRPr b="0" baseline="-2500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Decryption</a:t>
            </a:r>
            <a:endParaRPr/>
          </a:p>
        </p:txBody>
      </p:sp>
      <p:sp>
        <p:nvSpPr>
          <p:cNvPr id="240" name="Google Shape;240;p16"/>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How do we decrypt CBC mode?</a:t>
            </a:r>
            <a:endParaRPr/>
          </a:p>
          <a:p>
            <a:pPr indent="-342900" lvl="1" marL="914400" rtl="0" algn="l">
              <a:lnSpc>
                <a:spcPct val="115000"/>
              </a:lnSpc>
              <a:spcBef>
                <a:spcPts val="0"/>
              </a:spcBef>
              <a:spcAft>
                <a:spcPts val="0"/>
              </a:spcAft>
              <a:buSzPts val="1800"/>
              <a:buChar char="○"/>
            </a:pPr>
            <a:r>
              <a:rPr lang="en" sz="1800"/>
              <a:t>Parse ciphertext as (IV, C</a:t>
            </a:r>
            <a:r>
              <a:rPr baseline="-25000" lang="en" sz="1800"/>
              <a:t>1</a:t>
            </a:r>
            <a:r>
              <a:rPr lang="en" sz="1800"/>
              <a:t>, …, C</a:t>
            </a:r>
            <a:r>
              <a:rPr baseline="-25000" lang="en" sz="1800"/>
              <a:t>m</a:t>
            </a:r>
            <a:r>
              <a:rPr lang="en" sz="1800"/>
              <a:t>) </a:t>
            </a:r>
            <a:endParaRPr sz="1800"/>
          </a:p>
          <a:p>
            <a:pPr indent="-342900" lvl="1" marL="914400" rtl="0" algn="l">
              <a:lnSpc>
                <a:spcPct val="115000"/>
              </a:lnSpc>
              <a:spcBef>
                <a:spcPts val="0"/>
              </a:spcBef>
              <a:spcAft>
                <a:spcPts val="0"/>
              </a:spcAft>
              <a:buSzPts val="1800"/>
              <a:buChar char="○"/>
            </a:pPr>
            <a:r>
              <a:rPr lang="en" sz="1800"/>
              <a:t>Decrypt each ciphertext and then XOR with IV or previous ciphertext</a:t>
            </a:r>
            <a:endParaRPr sz="1800"/>
          </a:p>
        </p:txBody>
      </p:sp>
      <p:sp>
        <p:nvSpPr>
          <p:cNvPr id="241" name="Google Shape;24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42" name="Google Shape;242;p16"/>
          <p:cNvPicPr preferRelativeResize="0"/>
          <p:nvPr/>
        </p:nvPicPr>
        <p:blipFill rotWithShape="1">
          <a:blip r:embed="rId3">
            <a:alphaModFix/>
          </a:blip>
          <a:srcRect b="0" l="0" r="0" t="0"/>
          <a:stretch/>
        </p:blipFill>
        <p:spPr>
          <a:xfrm>
            <a:off x="198500" y="3009700"/>
            <a:ext cx="4107101" cy="1653524"/>
          </a:xfrm>
          <a:prstGeom prst="rect">
            <a:avLst/>
          </a:prstGeom>
          <a:noFill/>
          <a:ln>
            <a:noFill/>
          </a:ln>
        </p:spPr>
      </p:pic>
      <p:pic>
        <p:nvPicPr>
          <p:cNvPr id="243" name="Google Shape;243;p16"/>
          <p:cNvPicPr preferRelativeResize="0"/>
          <p:nvPr/>
        </p:nvPicPr>
        <p:blipFill rotWithShape="1">
          <a:blip r:embed="rId4">
            <a:alphaModFix/>
          </a:blip>
          <a:srcRect b="0" l="0" r="0" t="0"/>
          <a:stretch/>
        </p:blipFill>
        <p:spPr>
          <a:xfrm>
            <a:off x="4516199" y="3009700"/>
            <a:ext cx="4107101" cy="16535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Decryption</a:t>
            </a:r>
            <a:endParaRPr/>
          </a:p>
        </p:txBody>
      </p:sp>
      <p:sp>
        <p:nvSpPr>
          <p:cNvPr id="249" name="Google Shape;24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250" name="Google Shape;250;p17"/>
          <p:cNvGraphicFramePr/>
          <p:nvPr/>
        </p:nvGraphicFramePr>
        <p:xfrm>
          <a:off x="444388" y="1539500"/>
          <a:ext cx="3000000" cy="3000000"/>
        </p:xfrm>
        <a:graphic>
          <a:graphicData uri="http://schemas.openxmlformats.org/drawingml/2006/table">
            <a:tbl>
              <a:tblPr>
                <a:noFill/>
                <a:tableStyleId>{6346C487-4B0E-403B-B04B-DF73D881619D}</a:tableStyleId>
              </a:tblPr>
              <a:tblGrid>
                <a:gridCol w="2084550"/>
                <a:gridCol w="200000"/>
                <a:gridCol w="2334750"/>
                <a:gridCol w="3676175"/>
              </a:tblGrid>
              <a:tr h="381000">
                <a:tc>
                  <a:txBody>
                    <a:bodyPr/>
                    <a:lstStyle/>
                    <a:p>
                      <a:pPr indent="0" lvl="0" marL="0" marR="0" rtl="0" algn="r">
                        <a:lnSpc>
                          <a:spcPct val="115000"/>
                        </a:lnSpc>
                        <a:spcBef>
                          <a:spcPts val="0"/>
                        </a:spcBef>
                        <a:spcAft>
                          <a:spcPts val="0"/>
                        </a:spcAft>
                        <a:buClr>
                          <a:srgbClr val="000000"/>
                        </a:buClr>
                        <a:buSzPts val="1800"/>
                        <a:buFont typeface="Arial"/>
                        <a:buNone/>
                      </a:pPr>
                      <a:r>
                        <a:rPr i="1" lang="en" sz="1800" u="none" cap="none" strike="noStrike"/>
                        <a:t>C</a:t>
                      </a:r>
                      <a:r>
                        <a:rPr i="1" lang="en" sz="1300" u="none" cap="none" strike="noStrike"/>
                        <a:t>i</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i="1" lang="en" sz="1800" u="none" cap="none" strike="noStrike"/>
                        <a:t>E</a:t>
                      </a:r>
                      <a:r>
                        <a:rPr i="1" lang="en" sz="1300" u="none" cap="none" strike="noStrike"/>
                        <a:t>K</a:t>
                      </a:r>
                      <a:r>
                        <a:rPr lang="en" sz="1800" u="none" cap="none" strike="noStrike"/>
                        <a:t>(</a:t>
                      </a:r>
                      <a:r>
                        <a:rPr i="1" lang="en" sz="1800" u="none" cap="none" strike="noStrike"/>
                        <a:t>M</a:t>
                      </a:r>
                      <a:r>
                        <a:rPr i="1" lang="en" sz="1300" u="none" cap="none" strike="noStrike"/>
                        <a:t>i</a:t>
                      </a:r>
                      <a:r>
                        <a:rPr lang="en" sz="1800" u="none" cap="none" strike="noStrike"/>
                        <a:t> </a:t>
                      </a:r>
                      <a:r>
                        <a:rPr lang="en" sz="1800" u="none" cap="none" strike="noStrike">
                          <a:solidFill>
                            <a:schemeClr val="dk1"/>
                          </a:solidFill>
                        </a:rPr>
                        <a:t>⊕</a:t>
                      </a:r>
                      <a:r>
                        <a:rPr lang="en" sz="1800" u="none" cap="none" strike="noStrike"/>
                        <a:t> </a:t>
                      </a:r>
                      <a:r>
                        <a:rPr i="1" lang="en" sz="1800" u="none" cap="none" strike="noStrike"/>
                        <a:t>C</a:t>
                      </a:r>
                      <a:r>
                        <a:rPr i="1" lang="en" sz="1300" u="none" cap="none" strike="noStrike"/>
                        <a:t>i</a:t>
                      </a:r>
                      <a:r>
                        <a:rPr lang="en" sz="1300" u="none" cap="none" strike="noStrike"/>
                        <a:t>-1</a:t>
                      </a:r>
                      <a:r>
                        <a:rPr lang="en" sz="1800" u="none" cap="none" strike="noStrike"/>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 sz="1800" u="none" cap="none" strike="noStrike">
                          <a:solidFill>
                            <a:srgbClr val="000000"/>
                          </a:solidFill>
                        </a:rPr>
                        <a:t>Definition of encryption</a:t>
                      </a:r>
                      <a:endParaRPr sz="1800" u="none" cap="none" strike="noStrike">
                        <a:solidFill>
                          <a:srgbClr val="000000"/>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rPr i="1" lang="en" sz="1800" u="none" cap="none" strike="noStrike"/>
                        <a:t>D</a:t>
                      </a:r>
                      <a:r>
                        <a:rPr i="1" lang="en" sz="1300" u="none" cap="none" strike="noStrike">
                          <a:solidFill>
                            <a:schemeClr val="dk1"/>
                          </a:solidFill>
                        </a:rPr>
                        <a:t>K</a:t>
                      </a:r>
                      <a:r>
                        <a:rPr lang="en" sz="1800" u="none" cap="none" strike="noStrike"/>
                        <a:t>(</a:t>
                      </a:r>
                      <a:r>
                        <a:rPr i="1" lang="en" sz="1800" u="none" cap="none" strike="noStrike">
                          <a:solidFill>
                            <a:schemeClr val="dk1"/>
                          </a:solidFill>
                        </a:rPr>
                        <a:t>C</a:t>
                      </a:r>
                      <a:r>
                        <a:rPr i="1" lang="en" sz="1300" u="none" cap="none" strike="noStrike">
                          <a:solidFill>
                            <a:schemeClr val="dk1"/>
                          </a:solidFill>
                        </a:rPr>
                        <a:t>i</a:t>
                      </a:r>
                      <a:r>
                        <a:rPr lang="en" sz="1800" u="none" cap="none" strike="noStrike"/>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i="1" lang="en" sz="1800" u="none" cap="none" strike="noStrike"/>
                        <a:t>D</a:t>
                      </a:r>
                      <a:r>
                        <a:rPr i="1" lang="en" sz="1300" u="none" cap="none" strike="noStrike"/>
                        <a:t>K</a:t>
                      </a:r>
                      <a:r>
                        <a:rPr lang="en" sz="1800" u="none" cap="none" strike="noStrike"/>
                        <a:t>(</a:t>
                      </a:r>
                      <a:r>
                        <a:rPr i="1" lang="en" sz="1800" u="none" cap="none" strike="noStrike">
                          <a:solidFill>
                            <a:schemeClr val="dk1"/>
                          </a:solidFill>
                        </a:rPr>
                        <a:t>E</a:t>
                      </a:r>
                      <a:r>
                        <a:rPr i="1" lang="en" sz="1300" u="none" cap="none" strike="noStrike">
                          <a:solidFill>
                            <a:schemeClr val="dk1"/>
                          </a:solidFill>
                        </a:rPr>
                        <a:t>K</a:t>
                      </a:r>
                      <a:r>
                        <a:rPr lang="en" sz="1800" u="none" cap="none" strike="noStrike">
                          <a:solidFill>
                            <a:schemeClr val="dk1"/>
                          </a:solidFill>
                        </a:rPr>
                        <a:t>(</a:t>
                      </a: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r>
                        <a:rPr lang="en" sz="1800" u="none" cap="none" strike="noStrike">
                          <a:solidFill>
                            <a:schemeClr val="dk1"/>
                          </a:solidFill>
                        </a:rPr>
                        <a:t>)</a:t>
                      </a:r>
                      <a:r>
                        <a:rPr lang="en" sz="1800" u="none" cap="none" strike="noStrike"/>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Decrypting both sides</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chemeClr val="dk1"/>
                        </a:buClr>
                        <a:buSzPts val="1100"/>
                        <a:buFont typeface="Arial"/>
                        <a:buNone/>
                      </a:pPr>
                      <a:r>
                        <a:rPr i="1" lang="en" sz="1800" u="none" cap="none" strike="noStrike">
                          <a:solidFill>
                            <a:schemeClr val="dk1"/>
                          </a:solidFill>
                        </a:rPr>
                        <a:t>D</a:t>
                      </a:r>
                      <a:r>
                        <a:rPr i="1" lang="en" sz="1300" u="none" cap="none" strike="noStrike">
                          <a:solidFill>
                            <a:schemeClr val="dk1"/>
                          </a:solidFill>
                        </a:rPr>
                        <a:t>K</a:t>
                      </a:r>
                      <a:r>
                        <a:rPr lang="en" sz="1800" u="none" cap="none" strike="noStrike">
                          <a:solidFill>
                            <a:schemeClr val="dk1"/>
                          </a:solidFill>
                        </a:rPr>
                        <a:t>(</a:t>
                      </a:r>
                      <a:r>
                        <a:rPr i="1" lang="en" sz="1800" u="none" cap="none" strike="noStrike">
                          <a:solidFill>
                            <a:schemeClr val="dk1"/>
                          </a:solidFill>
                        </a:rPr>
                        <a:t>C</a:t>
                      </a:r>
                      <a:r>
                        <a:rPr i="1" lang="en" sz="1300" u="none" cap="none" strike="noStrike">
                          <a:solidFill>
                            <a:schemeClr val="dk1"/>
                          </a:solidFill>
                        </a:rPr>
                        <a:t>i</a:t>
                      </a:r>
                      <a:r>
                        <a:rPr lang="en" sz="1800" u="none" cap="none" strike="noStrike">
                          <a:solidFill>
                            <a:schemeClr val="dk1"/>
                          </a:solidFill>
                        </a:rPr>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Decryption and encryption cancel</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rPr i="1" lang="en" sz="1800" u="none" cap="none" strike="noStrike">
                          <a:solidFill>
                            <a:schemeClr val="dk1"/>
                          </a:solidFill>
                        </a:rPr>
                        <a:t>D</a:t>
                      </a:r>
                      <a:r>
                        <a:rPr i="1" lang="en" sz="1300" u="none" cap="none" strike="noStrike">
                          <a:solidFill>
                            <a:schemeClr val="dk1"/>
                          </a:solidFill>
                        </a:rPr>
                        <a:t>K</a:t>
                      </a:r>
                      <a:r>
                        <a:rPr lang="en" sz="1800" u="none" cap="none" strike="noStrike">
                          <a:solidFill>
                            <a:schemeClr val="dk1"/>
                          </a:solidFill>
                        </a:rPr>
                        <a:t>(</a:t>
                      </a:r>
                      <a:r>
                        <a:rPr i="1" lang="en" sz="1800" u="none" cap="none" strike="noStrike">
                          <a:solidFill>
                            <a:schemeClr val="dk1"/>
                          </a:solidFill>
                        </a:rPr>
                        <a:t>C</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r>
                        <a:rPr i="1" lang="en" sz="1800" u="none" cap="none" strike="noStrike">
                          <a:solidFill>
                            <a:schemeClr val="dk1"/>
                          </a:solidFill>
                        </a:rPr>
                        <a:t> </a:t>
                      </a:r>
                      <a:r>
                        <a:rPr lang="en" sz="1800" u="none" cap="none" strike="noStrike">
                          <a:solidFill>
                            <a:schemeClr val="dk1"/>
                          </a:solidFill>
                        </a:rPr>
                        <a:t>⊕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XOR both sides with </a:t>
                      </a:r>
                      <a:r>
                        <a:rPr i="1" lang="en" sz="1800" u="none" cap="none" strike="noStrike">
                          <a:solidFill>
                            <a:schemeClr val="dk1"/>
                          </a:solidFill>
                        </a:rPr>
                        <a:t>C</a:t>
                      </a:r>
                      <a:r>
                        <a:rPr i="1" lang="en" sz="1300" u="none" cap="none" strike="noStrike">
                          <a:solidFill>
                            <a:schemeClr val="dk1"/>
                          </a:solidFill>
                        </a:rPr>
                        <a:t>i-1</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rPr i="1" lang="en" sz="1800" u="none" cap="none" strike="noStrike">
                          <a:solidFill>
                            <a:schemeClr val="dk1"/>
                          </a:solidFill>
                        </a:rPr>
                        <a:t>D</a:t>
                      </a:r>
                      <a:r>
                        <a:rPr i="1" lang="en" sz="1300" u="none" cap="none" strike="noStrike">
                          <a:solidFill>
                            <a:schemeClr val="dk1"/>
                          </a:solidFill>
                        </a:rPr>
                        <a:t>K</a:t>
                      </a:r>
                      <a:r>
                        <a:rPr lang="en" sz="1800" u="none" cap="none" strike="noStrike">
                          <a:solidFill>
                            <a:schemeClr val="dk1"/>
                          </a:solidFill>
                        </a:rPr>
                        <a:t>(</a:t>
                      </a:r>
                      <a:r>
                        <a:rPr i="1" lang="en" sz="1800" u="none" cap="none" strike="noStrike">
                          <a:solidFill>
                            <a:schemeClr val="dk1"/>
                          </a:solidFill>
                        </a:rPr>
                        <a:t>C</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300" u="none" cap="none" strike="noStrike">
                          <a:solidFill>
                            <a:schemeClr val="dk1"/>
                          </a:solidFill>
                        </a:rPr>
                        <a:t>-1</a:t>
                      </a:r>
                      <a:endParaRPr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i="1" lang="en" sz="1800" u="none" cap="none" strike="noStrike">
                          <a:solidFill>
                            <a:schemeClr val="dk1"/>
                          </a:solidFill>
                        </a:rPr>
                        <a:t>M</a:t>
                      </a:r>
                      <a:r>
                        <a:rPr i="1" lang="en" sz="1300" u="none" cap="none" strike="noStrike">
                          <a:solidFill>
                            <a:schemeClr val="dk1"/>
                          </a:solidFill>
                        </a:rPr>
                        <a:t>i</a:t>
                      </a:r>
                      <a:endParaRPr i="1"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XOR property</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Efficiency &amp; Parallelism</a:t>
            </a:r>
            <a:endParaRPr/>
          </a:p>
        </p:txBody>
      </p:sp>
      <p:sp>
        <p:nvSpPr>
          <p:cNvPr id="256" name="Google Shape;256;p18"/>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Can encryption be parallelized?</a:t>
            </a:r>
            <a:endParaRPr/>
          </a:p>
          <a:p>
            <a:pPr indent="-317500" lvl="1" marL="914400" rtl="0" algn="l">
              <a:lnSpc>
                <a:spcPct val="115000"/>
              </a:lnSpc>
              <a:spcBef>
                <a:spcPts val="0"/>
              </a:spcBef>
              <a:spcAft>
                <a:spcPts val="0"/>
              </a:spcAft>
              <a:buSzPts val="1400"/>
              <a:buChar char="○"/>
            </a:pPr>
            <a:r>
              <a:rPr lang="en"/>
              <a:t>No, we have to wait for block i to finish before encrypting block i+1</a:t>
            </a:r>
            <a:endParaRPr/>
          </a:p>
          <a:p>
            <a:pPr indent="-342900" lvl="0" marL="457200" rtl="0" algn="l">
              <a:lnSpc>
                <a:spcPct val="115000"/>
              </a:lnSpc>
              <a:spcBef>
                <a:spcPts val="0"/>
              </a:spcBef>
              <a:spcAft>
                <a:spcPts val="0"/>
              </a:spcAft>
              <a:buSzPts val="1800"/>
              <a:buChar char="●"/>
            </a:pPr>
            <a:r>
              <a:rPr lang="en"/>
              <a:t>Can decryption be parallelized?</a:t>
            </a:r>
            <a:endParaRPr/>
          </a:p>
          <a:p>
            <a:pPr indent="-317500" lvl="1" marL="914400" rtl="0" algn="l">
              <a:lnSpc>
                <a:spcPct val="115000"/>
              </a:lnSpc>
              <a:spcBef>
                <a:spcPts val="0"/>
              </a:spcBef>
              <a:spcAft>
                <a:spcPts val="0"/>
              </a:spcAft>
              <a:buSzPts val="1400"/>
              <a:buChar char="○"/>
            </a:pPr>
            <a:r>
              <a:rPr lang="en"/>
              <a:t>Yes, decryption only requires ciphertext as input</a:t>
            </a:r>
            <a:endParaRPr/>
          </a:p>
        </p:txBody>
      </p:sp>
      <p:sp>
        <p:nvSpPr>
          <p:cNvPr id="257" name="Google Shape;25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58" name="Google Shape;258;p18"/>
          <p:cNvPicPr preferRelativeResize="0"/>
          <p:nvPr/>
        </p:nvPicPr>
        <p:blipFill rotWithShape="1">
          <a:blip r:embed="rId3">
            <a:alphaModFix/>
          </a:blip>
          <a:srcRect b="0" l="0" r="0" t="0"/>
          <a:stretch/>
        </p:blipFill>
        <p:spPr>
          <a:xfrm>
            <a:off x="198500" y="3009700"/>
            <a:ext cx="4107101" cy="1653524"/>
          </a:xfrm>
          <a:prstGeom prst="rect">
            <a:avLst/>
          </a:prstGeom>
          <a:noFill/>
          <a:ln>
            <a:noFill/>
          </a:ln>
        </p:spPr>
      </p:pic>
      <p:pic>
        <p:nvPicPr>
          <p:cNvPr id="259" name="Google Shape;259;p18"/>
          <p:cNvPicPr preferRelativeResize="0"/>
          <p:nvPr/>
        </p:nvPicPr>
        <p:blipFill rotWithShape="1">
          <a:blip r:embed="rId4">
            <a:alphaModFix/>
          </a:blip>
          <a:srcRect b="0" l="0" r="0" t="0"/>
          <a:stretch/>
        </p:blipFill>
        <p:spPr>
          <a:xfrm>
            <a:off x="4516199" y="3009700"/>
            <a:ext cx="4107101" cy="16535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Padding</a:t>
            </a:r>
            <a:endParaRPr/>
          </a:p>
        </p:txBody>
      </p:sp>
      <p:sp>
        <p:nvSpPr>
          <p:cNvPr id="265" name="Google Shape;265;p19"/>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 if you want to encrypt a message that isn’t a multiple of the block size?</a:t>
            </a:r>
            <a:endParaRPr/>
          </a:p>
          <a:p>
            <a:pPr indent="-317500" lvl="1" marL="914400" rtl="0" algn="l">
              <a:lnSpc>
                <a:spcPct val="115000"/>
              </a:lnSpc>
              <a:spcBef>
                <a:spcPts val="0"/>
              </a:spcBef>
              <a:spcAft>
                <a:spcPts val="0"/>
              </a:spcAft>
              <a:buSzPts val="1400"/>
              <a:buChar char="○"/>
            </a:pPr>
            <a:r>
              <a:rPr lang="en"/>
              <a:t>AES-CBC is only defined if the plaintext length is a multiple of the block size</a:t>
            </a:r>
            <a:endParaRPr/>
          </a:p>
          <a:p>
            <a:pPr indent="-342900" lvl="0" marL="457200" rtl="0" algn="l">
              <a:lnSpc>
                <a:spcPct val="115000"/>
              </a:lnSpc>
              <a:spcBef>
                <a:spcPts val="0"/>
              </a:spcBef>
              <a:spcAft>
                <a:spcPts val="0"/>
              </a:spcAft>
              <a:buSzPts val="1800"/>
              <a:buChar char="●"/>
            </a:pPr>
            <a:r>
              <a:rPr lang="en"/>
              <a:t>Solution: Pad the message until it’s a multiple of the block size</a:t>
            </a:r>
            <a:endParaRPr/>
          </a:p>
          <a:p>
            <a:pPr indent="-317500" lvl="1" marL="914400" rtl="0" algn="l">
              <a:lnSpc>
                <a:spcPct val="115000"/>
              </a:lnSpc>
              <a:spcBef>
                <a:spcPts val="0"/>
              </a:spcBef>
              <a:spcAft>
                <a:spcPts val="0"/>
              </a:spcAft>
              <a:buSzPts val="1400"/>
              <a:buChar char="○"/>
            </a:pPr>
            <a:r>
              <a:rPr b="1" lang="en"/>
              <a:t>Padding</a:t>
            </a:r>
            <a:r>
              <a:rPr lang="en"/>
              <a:t>: Adding dummy bytes at the end of the message until it’s the proper length</a:t>
            </a:r>
            <a:endParaRPr/>
          </a:p>
        </p:txBody>
      </p:sp>
      <p:sp>
        <p:nvSpPr>
          <p:cNvPr id="266" name="Google Shape;26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67" name="Google Shape;267;p19"/>
          <p:cNvPicPr preferRelativeResize="0"/>
          <p:nvPr/>
        </p:nvPicPr>
        <p:blipFill rotWithShape="1">
          <a:blip r:embed="rId3">
            <a:alphaModFix/>
          </a:blip>
          <a:srcRect b="0" l="0" r="0" t="0"/>
          <a:stretch/>
        </p:blipFill>
        <p:spPr>
          <a:xfrm>
            <a:off x="1826475" y="2639530"/>
            <a:ext cx="5491075" cy="22107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Padding</a:t>
            </a:r>
            <a:endParaRPr/>
          </a:p>
        </p:txBody>
      </p:sp>
      <p:sp>
        <p:nvSpPr>
          <p:cNvPr id="273" name="Google Shape;27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74" name="Google Shape;274;p20"/>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 padding scheme should we use?</a:t>
            </a:r>
            <a:endParaRPr/>
          </a:p>
          <a:p>
            <a:pPr indent="-317500" lvl="1" marL="914400" rtl="0" algn="l">
              <a:lnSpc>
                <a:spcPct val="115000"/>
              </a:lnSpc>
              <a:spcBef>
                <a:spcPts val="0"/>
              </a:spcBef>
              <a:spcAft>
                <a:spcPts val="0"/>
              </a:spcAft>
              <a:buSzPts val="1400"/>
              <a:buChar char="○"/>
            </a:pPr>
            <a:r>
              <a:rPr lang="en"/>
              <a:t>Padding with 0’s?</a:t>
            </a:r>
            <a:endParaRPr/>
          </a:p>
          <a:p>
            <a:pPr indent="-317500" lvl="2" marL="1371600" rtl="0" algn="l">
              <a:lnSpc>
                <a:spcPct val="115000"/>
              </a:lnSpc>
              <a:spcBef>
                <a:spcPts val="0"/>
              </a:spcBef>
              <a:spcAft>
                <a:spcPts val="0"/>
              </a:spcAft>
              <a:buSzPts val="1400"/>
              <a:buChar char="■"/>
            </a:pPr>
            <a:r>
              <a:rPr lang="en"/>
              <a:t>Doesn’t work: What if our message already ends with 0’s?</a:t>
            </a:r>
            <a:endParaRPr/>
          </a:p>
          <a:p>
            <a:pPr indent="-317500" lvl="1" marL="914400" rtl="0" algn="l">
              <a:lnSpc>
                <a:spcPct val="115000"/>
              </a:lnSpc>
              <a:spcBef>
                <a:spcPts val="0"/>
              </a:spcBef>
              <a:spcAft>
                <a:spcPts val="0"/>
              </a:spcAft>
              <a:buSzPts val="1400"/>
              <a:buChar char="○"/>
            </a:pPr>
            <a:r>
              <a:rPr lang="en"/>
              <a:t>Padding with 1’s?</a:t>
            </a:r>
            <a:endParaRPr/>
          </a:p>
          <a:p>
            <a:pPr indent="-317500" lvl="2" marL="1371600" rtl="0" algn="l">
              <a:lnSpc>
                <a:spcPct val="115000"/>
              </a:lnSpc>
              <a:spcBef>
                <a:spcPts val="0"/>
              </a:spcBef>
              <a:spcAft>
                <a:spcPts val="0"/>
              </a:spcAft>
              <a:buSzPts val="1400"/>
              <a:buChar char="■"/>
            </a:pPr>
            <a:r>
              <a:rPr lang="en"/>
              <a:t>Same problem</a:t>
            </a:r>
            <a:endParaRPr/>
          </a:p>
          <a:p>
            <a:pPr indent="-342900" lvl="0" marL="457200" rtl="0" algn="l">
              <a:lnSpc>
                <a:spcPct val="115000"/>
              </a:lnSpc>
              <a:spcBef>
                <a:spcPts val="0"/>
              </a:spcBef>
              <a:spcAft>
                <a:spcPts val="0"/>
              </a:spcAft>
              <a:buSzPts val="1800"/>
              <a:buChar char="●"/>
            </a:pPr>
            <a:r>
              <a:rPr lang="en"/>
              <a:t>We need a scheme that can be unpadded without ambiguity</a:t>
            </a:r>
            <a:endParaRPr/>
          </a:p>
          <a:p>
            <a:pPr indent="-317500" lvl="1" marL="914400" rtl="0" algn="l">
              <a:lnSpc>
                <a:spcPct val="115000"/>
              </a:lnSpc>
              <a:spcBef>
                <a:spcPts val="0"/>
              </a:spcBef>
              <a:spcAft>
                <a:spcPts val="0"/>
              </a:spcAft>
              <a:buSzPts val="1400"/>
              <a:buChar char="○"/>
            </a:pPr>
            <a:r>
              <a:rPr lang="en"/>
              <a:t>One scheme that works: Append a 1, then pad with 0’s</a:t>
            </a:r>
            <a:endParaRPr/>
          </a:p>
          <a:p>
            <a:pPr indent="-317500" lvl="2" marL="1371600" rtl="0" algn="l">
              <a:lnSpc>
                <a:spcPct val="115000"/>
              </a:lnSpc>
              <a:spcBef>
                <a:spcPts val="0"/>
              </a:spcBef>
              <a:spcAft>
                <a:spcPts val="0"/>
              </a:spcAft>
              <a:buSzPts val="1400"/>
              <a:buChar char="■"/>
            </a:pPr>
            <a:r>
              <a:rPr lang="en"/>
              <a:t>If plaintext is multiple of n, you still need to pad with an entire block</a:t>
            </a:r>
            <a:endParaRPr/>
          </a:p>
          <a:p>
            <a:pPr indent="-317500" lvl="1" marL="914400" rtl="0" algn="l">
              <a:lnSpc>
                <a:spcPct val="115000"/>
              </a:lnSpc>
              <a:spcBef>
                <a:spcPts val="0"/>
              </a:spcBef>
              <a:spcAft>
                <a:spcPts val="0"/>
              </a:spcAft>
              <a:buSzPts val="1400"/>
              <a:buChar char="○"/>
            </a:pPr>
            <a:r>
              <a:rPr lang="en"/>
              <a:t>Another scheme: Pad with the number of padding bytes</a:t>
            </a:r>
            <a:endParaRPr/>
          </a:p>
          <a:p>
            <a:pPr indent="-317500" lvl="2" marL="1371600" rtl="0" algn="l">
              <a:lnSpc>
                <a:spcPct val="115000"/>
              </a:lnSpc>
              <a:spcBef>
                <a:spcPts val="0"/>
              </a:spcBef>
              <a:spcAft>
                <a:spcPts val="0"/>
              </a:spcAft>
              <a:buSzPts val="1400"/>
              <a:buChar char="■"/>
            </a:pPr>
            <a:r>
              <a:rPr lang="en"/>
              <a:t>So if you need 1 byte, pad with </a:t>
            </a:r>
            <a:r>
              <a:rPr b="1" lang="en"/>
              <a:t>01</a:t>
            </a:r>
            <a:r>
              <a:rPr lang="en"/>
              <a:t>; if you need 3 bytes, pad with </a:t>
            </a:r>
            <a:r>
              <a:rPr b="1" lang="en"/>
              <a:t>03 03 03</a:t>
            </a:r>
            <a:endParaRPr/>
          </a:p>
          <a:p>
            <a:pPr indent="-317500" lvl="2" marL="1371600" rtl="0" algn="l">
              <a:lnSpc>
                <a:spcPct val="115000"/>
              </a:lnSpc>
              <a:spcBef>
                <a:spcPts val="0"/>
              </a:spcBef>
              <a:spcAft>
                <a:spcPts val="0"/>
              </a:spcAft>
              <a:buSzPts val="1400"/>
              <a:buChar char="■"/>
            </a:pPr>
            <a:r>
              <a:rPr lang="en"/>
              <a:t>If you need 0 padding bytes, pad an entire dummy block</a:t>
            </a:r>
            <a:endParaRPr/>
          </a:p>
          <a:p>
            <a:pPr indent="-317500" lvl="2" marL="1371600" rtl="0" algn="l">
              <a:lnSpc>
                <a:spcPct val="115000"/>
              </a:lnSpc>
              <a:spcBef>
                <a:spcPts val="0"/>
              </a:spcBef>
              <a:spcAft>
                <a:spcPts val="0"/>
              </a:spcAft>
              <a:buSzPts val="1400"/>
              <a:buChar char="■"/>
            </a:pPr>
            <a:r>
              <a:rPr lang="en"/>
              <a:t>This is called PKCS #7</a:t>
            </a:r>
            <a:endParaRPr/>
          </a:p>
          <a:p>
            <a:pPr indent="-317500" lvl="2" marL="1371600" rtl="0" algn="l">
              <a:lnSpc>
                <a:spcPct val="115000"/>
              </a:lnSpc>
              <a:spcBef>
                <a:spcPts val="0"/>
              </a:spcBef>
              <a:spcAft>
                <a:spcPts val="0"/>
              </a:spcAft>
              <a:buSzPts val="1400"/>
              <a:buChar char="■"/>
            </a:pPr>
            <a:r>
              <a:rPr lang="en"/>
              <a:t>If </a:t>
            </a:r>
            <a:r>
              <a:rPr lang="en"/>
              <a:t>no padding was needed, PKCS #7 would still add a full block of padding (e.g., 16 bytes of 0x10 if block size is 16), so it’s never ambiguous.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Security</a:t>
            </a:r>
            <a:endParaRPr/>
          </a:p>
        </p:txBody>
      </p:sp>
      <p:sp>
        <p:nvSpPr>
          <p:cNvPr id="280" name="Google Shape;280;p21"/>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AES-CBC is IND-CPA secure. With what assumption?</a:t>
            </a:r>
            <a:endParaRPr/>
          </a:p>
          <a:p>
            <a:pPr indent="-317500" lvl="1" marL="914400" rtl="0" algn="l">
              <a:lnSpc>
                <a:spcPct val="115000"/>
              </a:lnSpc>
              <a:spcBef>
                <a:spcPts val="0"/>
              </a:spcBef>
              <a:spcAft>
                <a:spcPts val="0"/>
              </a:spcAft>
              <a:buSzPts val="1400"/>
              <a:buChar char="○"/>
            </a:pPr>
            <a:r>
              <a:rPr lang="en"/>
              <a:t>The IV must be randomly generated and never reused</a:t>
            </a:r>
            <a:endParaRPr/>
          </a:p>
          <a:p>
            <a:pPr indent="-342900" lvl="0" marL="457200" rtl="0" algn="l">
              <a:lnSpc>
                <a:spcPct val="115000"/>
              </a:lnSpc>
              <a:spcBef>
                <a:spcPts val="0"/>
              </a:spcBef>
              <a:spcAft>
                <a:spcPts val="0"/>
              </a:spcAft>
              <a:buSzPts val="1800"/>
              <a:buChar char="●"/>
            </a:pPr>
            <a:r>
              <a:rPr lang="en"/>
              <a:t>What happens if you reuse the IV?</a:t>
            </a:r>
            <a:endParaRPr/>
          </a:p>
          <a:p>
            <a:pPr indent="-317500" lvl="1" marL="914400" rtl="0" algn="l">
              <a:lnSpc>
                <a:spcPct val="115000"/>
              </a:lnSpc>
              <a:spcBef>
                <a:spcPts val="0"/>
              </a:spcBef>
              <a:spcAft>
                <a:spcPts val="0"/>
              </a:spcAft>
              <a:buSzPts val="1400"/>
              <a:buChar char="○"/>
            </a:pPr>
            <a:r>
              <a:rPr lang="en"/>
              <a:t>The scheme becomes deterministic: No more IND-CPA security</a:t>
            </a:r>
            <a:endParaRPr/>
          </a:p>
        </p:txBody>
      </p:sp>
      <p:sp>
        <p:nvSpPr>
          <p:cNvPr id="281" name="Google Shape;2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p:nvPr/>
        </p:nvSpPr>
        <p:spPr>
          <a:xfrm>
            <a:off x="7824325" y="3414725"/>
            <a:ext cx="773100" cy="2310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6564625" y="3414725"/>
            <a:ext cx="773100" cy="231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2"/>
          <p:cNvSpPr/>
          <p:nvPr/>
        </p:nvSpPr>
        <p:spPr>
          <a:xfrm>
            <a:off x="5316850" y="3414725"/>
            <a:ext cx="773100" cy="2310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2"/>
          <p:cNvSpPr/>
          <p:nvPr/>
        </p:nvSpPr>
        <p:spPr>
          <a:xfrm>
            <a:off x="4612000" y="3658350"/>
            <a:ext cx="1039500" cy="2784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2"/>
          <p:cNvSpPr/>
          <p:nvPr/>
        </p:nvSpPr>
        <p:spPr>
          <a:xfrm>
            <a:off x="3410825" y="3414725"/>
            <a:ext cx="773100" cy="231000"/>
          </a:xfrm>
          <a:prstGeom prst="rect">
            <a:avLst/>
          </a:prstGeom>
          <a:solidFill>
            <a:srgbClr val="B4A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2151125" y="3414725"/>
            <a:ext cx="773100" cy="231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903350" y="3414725"/>
            <a:ext cx="773100" cy="2310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IV Reuse</a:t>
            </a:r>
            <a:endParaRPr/>
          </a:p>
        </p:txBody>
      </p:sp>
      <p:sp>
        <p:nvSpPr>
          <p:cNvPr id="294" name="Google Shape;294;p22"/>
          <p:cNvSpPr txBox="1"/>
          <p:nvPr>
            <p:ph idx="1" type="body"/>
          </p:nvPr>
        </p:nvSpPr>
        <p:spPr>
          <a:xfrm>
            <a:off x="198500" y="1246825"/>
            <a:ext cx="8741100" cy="1913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Consider two three-block messages: </a:t>
            </a:r>
            <a:r>
              <a:rPr i="1" lang="en">
                <a:highlight>
                  <a:srgbClr val="F9CB9C"/>
                </a:highlight>
              </a:rPr>
              <a:t>P</a:t>
            </a:r>
            <a:r>
              <a:rPr lang="en" sz="1300">
                <a:highlight>
                  <a:srgbClr val="F9CB9C"/>
                </a:highlight>
              </a:rPr>
              <a:t>1</a:t>
            </a:r>
            <a:r>
              <a:rPr i="1" lang="en">
                <a:highlight>
                  <a:srgbClr val="6FA8DC"/>
                </a:highlight>
              </a:rPr>
              <a:t>P</a:t>
            </a:r>
            <a:r>
              <a:rPr lang="en" sz="1300">
                <a:highlight>
                  <a:srgbClr val="6FA8DC"/>
                </a:highlight>
              </a:rPr>
              <a:t>2</a:t>
            </a:r>
            <a:r>
              <a:rPr i="1" lang="en">
                <a:highlight>
                  <a:srgbClr val="B4A7D6"/>
                </a:highlight>
              </a:rPr>
              <a:t>P</a:t>
            </a:r>
            <a:r>
              <a:rPr lang="en" sz="1300">
                <a:highlight>
                  <a:srgbClr val="B4A7D6"/>
                </a:highlight>
              </a:rPr>
              <a:t>3</a:t>
            </a:r>
            <a:r>
              <a:rPr lang="en"/>
              <a:t> and </a:t>
            </a:r>
            <a:r>
              <a:rPr i="1" lang="en">
                <a:highlight>
                  <a:srgbClr val="F9CB9C"/>
                </a:highlight>
              </a:rPr>
              <a:t>P</a:t>
            </a:r>
            <a:r>
              <a:rPr lang="en" sz="1300">
                <a:highlight>
                  <a:srgbClr val="F9CB9C"/>
                </a:highlight>
              </a:rPr>
              <a:t>1</a:t>
            </a:r>
            <a:r>
              <a:rPr i="1" lang="en">
                <a:highlight>
                  <a:srgbClr val="6FA8DC"/>
                </a:highlight>
              </a:rPr>
              <a:t>P</a:t>
            </a:r>
            <a:r>
              <a:rPr lang="en" sz="1300">
                <a:highlight>
                  <a:srgbClr val="6FA8DC"/>
                </a:highlight>
              </a:rPr>
              <a:t>2</a:t>
            </a:r>
            <a:r>
              <a:rPr i="1" lang="en">
                <a:highlight>
                  <a:srgbClr val="B6D7A8"/>
                </a:highlight>
              </a:rPr>
              <a:t>P</a:t>
            </a:r>
            <a:r>
              <a:rPr lang="en" sz="1300">
                <a:highlight>
                  <a:srgbClr val="B6D7A8"/>
                </a:highlight>
              </a:rPr>
              <a:t>4</a:t>
            </a:r>
            <a:endParaRPr sz="2200"/>
          </a:p>
          <a:p>
            <a:pPr indent="-317500" lvl="1" marL="914400" rtl="0" algn="l">
              <a:lnSpc>
                <a:spcPct val="115000"/>
              </a:lnSpc>
              <a:spcBef>
                <a:spcPts val="0"/>
              </a:spcBef>
              <a:spcAft>
                <a:spcPts val="0"/>
              </a:spcAft>
              <a:buSzPts val="1400"/>
              <a:buChar char="○"/>
            </a:pPr>
            <a:r>
              <a:rPr lang="en"/>
              <a:t>The first two blocks are the same for both messages, but the last block is different</a:t>
            </a:r>
            <a:endParaRPr>
              <a:highlight>
                <a:srgbClr val="B6D7A8"/>
              </a:highlight>
            </a:endParaRPr>
          </a:p>
          <a:p>
            <a:pPr indent="-317500" lvl="1" marL="914400" rtl="0" algn="l">
              <a:lnSpc>
                <a:spcPct val="115000"/>
              </a:lnSpc>
              <a:spcBef>
                <a:spcPts val="0"/>
              </a:spcBef>
              <a:spcAft>
                <a:spcPts val="0"/>
              </a:spcAft>
              <a:buSzPts val="1400"/>
              <a:buChar char="○"/>
            </a:pPr>
            <a:r>
              <a:rPr lang="en"/>
              <a:t>What if we encrypt them with the same IV?</a:t>
            </a:r>
            <a:endParaRPr/>
          </a:p>
          <a:p>
            <a:pPr indent="-342900" lvl="0" marL="457200" rtl="0" algn="l">
              <a:lnSpc>
                <a:spcPct val="115000"/>
              </a:lnSpc>
              <a:spcBef>
                <a:spcPts val="0"/>
              </a:spcBef>
              <a:spcAft>
                <a:spcPts val="0"/>
              </a:spcAft>
              <a:buSzPts val="1800"/>
              <a:buChar char="●"/>
            </a:pPr>
            <a:r>
              <a:rPr lang="en"/>
              <a:t>When the IV is reused, CBC mode reveals when two messages start with the same plaintext blocks, up to the first different plaintext block</a:t>
            </a:r>
            <a:endParaRPr i="1"/>
          </a:p>
        </p:txBody>
      </p:sp>
      <p:sp>
        <p:nvSpPr>
          <p:cNvPr id="295" name="Google Shape;29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96" name="Google Shape;296;p22"/>
          <p:cNvSpPr/>
          <p:nvPr/>
        </p:nvSpPr>
        <p:spPr>
          <a:xfrm>
            <a:off x="198500" y="3658350"/>
            <a:ext cx="1039500" cy="2784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7" name="Google Shape;297;p22"/>
          <p:cNvPicPr preferRelativeResize="0"/>
          <p:nvPr/>
        </p:nvPicPr>
        <p:blipFill rotWithShape="1">
          <a:blip r:embed="rId3">
            <a:alphaModFix/>
          </a:blip>
          <a:srcRect b="0" l="0" r="0" t="0"/>
          <a:stretch/>
        </p:blipFill>
        <p:spPr>
          <a:xfrm>
            <a:off x="198500" y="3314500"/>
            <a:ext cx="4107101" cy="1653524"/>
          </a:xfrm>
          <a:prstGeom prst="rect">
            <a:avLst/>
          </a:prstGeom>
          <a:noFill/>
          <a:ln>
            <a:noFill/>
          </a:ln>
        </p:spPr>
      </p:pic>
      <p:pic>
        <p:nvPicPr>
          <p:cNvPr id="298" name="Google Shape;298;p22"/>
          <p:cNvPicPr preferRelativeResize="0"/>
          <p:nvPr/>
        </p:nvPicPr>
        <p:blipFill rotWithShape="1">
          <a:blip r:embed="rId3">
            <a:alphaModFix/>
          </a:blip>
          <a:srcRect b="0" l="0" r="0" t="0"/>
          <a:stretch/>
        </p:blipFill>
        <p:spPr>
          <a:xfrm>
            <a:off x="4612000" y="3314500"/>
            <a:ext cx="4107101" cy="16535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CBC Mode is IND-CPA (when used correctly)</a:t>
            </a:r>
            <a:endParaRPr/>
          </a:p>
        </p:txBody>
      </p:sp>
      <p:sp>
        <p:nvSpPr>
          <p:cNvPr id="304" name="Google Shape;304;p2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Enc(</a:t>
            </a:r>
            <a:r>
              <a:rPr i="1" lang="en"/>
              <a:t>K</a:t>
            </a:r>
            <a:r>
              <a:rPr lang="en"/>
              <a:t>, </a:t>
            </a:r>
            <a:r>
              <a:rPr i="1" lang="en"/>
              <a:t>M</a:t>
            </a:r>
            <a:r>
              <a:rPr lang="en"/>
              <a:t>): </a:t>
            </a:r>
            <a:endParaRPr/>
          </a:p>
          <a:p>
            <a:pPr indent="-317500" lvl="1" marL="914400" rtl="0" algn="l">
              <a:lnSpc>
                <a:spcPct val="115000"/>
              </a:lnSpc>
              <a:spcBef>
                <a:spcPts val="0"/>
              </a:spcBef>
              <a:spcAft>
                <a:spcPts val="0"/>
              </a:spcAft>
              <a:buSzPts val="1400"/>
              <a:buChar char="○"/>
            </a:pPr>
            <a:r>
              <a:rPr lang="en"/>
              <a:t>Split M in m plaintext blocks </a:t>
            </a:r>
            <a:r>
              <a:rPr i="1" lang="en"/>
              <a:t>P</a:t>
            </a:r>
            <a:r>
              <a:rPr lang="en" sz="900"/>
              <a:t>1</a:t>
            </a:r>
            <a:r>
              <a:rPr baseline="-25000" lang="en"/>
              <a:t> </a:t>
            </a:r>
            <a:r>
              <a:rPr lang="en"/>
              <a:t>… </a:t>
            </a:r>
            <a:r>
              <a:rPr i="1" lang="en"/>
              <a:t>P</a:t>
            </a:r>
            <a:r>
              <a:rPr i="1" lang="en" sz="900"/>
              <a:t>m</a:t>
            </a:r>
            <a:r>
              <a:rPr lang="en"/>
              <a:t> each of size </a:t>
            </a:r>
            <a:r>
              <a:rPr i="1" lang="en"/>
              <a:t>n</a:t>
            </a:r>
            <a:r>
              <a:rPr lang="en"/>
              <a:t> </a:t>
            </a:r>
            <a:endParaRPr/>
          </a:p>
          <a:p>
            <a:pPr indent="-317500" lvl="1" marL="914400" rtl="0" algn="l">
              <a:lnSpc>
                <a:spcPct val="115000"/>
              </a:lnSpc>
              <a:spcBef>
                <a:spcPts val="0"/>
              </a:spcBef>
              <a:spcAft>
                <a:spcPts val="0"/>
              </a:spcAft>
              <a:buSzPts val="1400"/>
              <a:buChar char="○"/>
            </a:pPr>
            <a:r>
              <a:rPr lang="en"/>
              <a:t>Choose random IV, compute and output (</a:t>
            </a:r>
            <a:r>
              <a:rPr i="1" lang="en"/>
              <a:t>IV</a:t>
            </a:r>
            <a:r>
              <a:rPr lang="en"/>
              <a:t>, </a:t>
            </a:r>
            <a:r>
              <a:rPr i="1" lang="en"/>
              <a:t>C</a:t>
            </a:r>
            <a:r>
              <a:rPr lang="en" sz="900"/>
              <a:t>1</a:t>
            </a:r>
            <a:r>
              <a:rPr lang="en"/>
              <a:t>, …, </a:t>
            </a:r>
            <a:r>
              <a:rPr i="1" lang="en"/>
              <a:t>C</a:t>
            </a:r>
            <a:r>
              <a:rPr i="1" lang="en" sz="900"/>
              <a:t>m</a:t>
            </a:r>
            <a:r>
              <a:rPr lang="en"/>
              <a:t>) as the overall ciphertext</a:t>
            </a:r>
            <a:endParaRPr/>
          </a:p>
          <a:p>
            <a:pPr indent="-342900" lvl="0" marL="457200" rtl="0" algn="l">
              <a:lnSpc>
                <a:spcPct val="115000"/>
              </a:lnSpc>
              <a:spcBef>
                <a:spcPts val="0"/>
              </a:spcBef>
              <a:spcAft>
                <a:spcPts val="0"/>
              </a:spcAft>
              <a:buSzPts val="1800"/>
              <a:buChar char="●"/>
            </a:pPr>
            <a:r>
              <a:rPr lang="en"/>
              <a:t>Why IND-CPA?</a:t>
            </a:r>
            <a:endParaRPr/>
          </a:p>
          <a:p>
            <a:pPr indent="-317500" lvl="1" marL="914400" rtl="0" algn="l">
              <a:lnSpc>
                <a:spcPct val="115000"/>
              </a:lnSpc>
              <a:spcBef>
                <a:spcPts val="0"/>
              </a:spcBef>
              <a:spcAft>
                <a:spcPts val="0"/>
              </a:spcAft>
              <a:buSzPts val="1400"/>
              <a:buChar char="○"/>
            </a:pPr>
            <a:r>
              <a:rPr lang="en"/>
              <a:t>If there exists an attacker that wins in the IND-CPA game, then there exists an attacker that breaks the block cipher security. Proof is out of scope.</a:t>
            </a:r>
            <a:endParaRPr/>
          </a:p>
        </p:txBody>
      </p:sp>
      <p:sp>
        <p:nvSpPr>
          <p:cNvPr id="305" name="Google Shape;30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06" name="Google Shape;306;p23"/>
          <p:cNvPicPr preferRelativeResize="0"/>
          <p:nvPr/>
        </p:nvPicPr>
        <p:blipFill rotWithShape="1">
          <a:blip r:embed="rId3">
            <a:alphaModFix/>
          </a:blip>
          <a:srcRect b="0" l="0" r="0" t="0"/>
          <a:stretch/>
        </p:blipFill>
        <p:spPr>
          <a:xfrm>
            <a:off x="1826475" y="3020530"/>
            <a:ext cx="5491075" cy="2210722"/>
          </a:xfrm>
          <a:prstGeom prst="rect">
            <a:avLst/>
          </a:prstGeom>
          <a:noFill/>
          <a:ln>
            <a:noFill/>
          </a:ln>
        </p:spPr>
      </p:pic>
      <p:sp>
        <p:nvSpPr>
          <p:cNvPr id="307" name="Google Shape;307;p23"/>
          <p:cNvSpPr txBox="1"/>
          <p:nvPr/>
        </p:nvSpPr>
        <p:spPr>
          <a:xfrm>
            <a:off x="3132325" y="2839275"/>
            <a:ext cx="37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308" name="Google Shape;308;p23"/>
          <p:cNvSpPr txBox="1"/>
          <p:nvPr/>
        </p:nvSpPr>
        <p:spPr>
          <a:xfrm>
            <a:off x="4658150" y="2839275"/>
            <a:ext cx="37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309" name="Google Shape;309;p23"/>
          <p:cNvSpPr txBox="1"/>
          <p:nvPr/>
        </p:nvSpPr>
        <p:spPr>
          <a:xfrm>
            <a:off x="6400800" y="2838975"/>
            <a:ext cx="69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t>
            </a:r>
            <a:r>
              <a:rPr b="0" baseline="-25000" i="0" lang="en" sz="1400" u="none" cap="none" strike="noStrike">
                <a:solidFill>
                  <a:srgbClr val="000000"/>
                </a:solidFill>
                <a:latin typeface="Arial"/>
                <a:ea typeface="Arial"/>
                <a:cs typeface="Arial"/>
                <a:sym typeface="Arial"/>
              </a:rPr>
              <a:t>m</a:t>
            </a:r>
            <a:endParaRPr b="0" baseline="-2500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4d93a425b6_0_1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CBC Mode: IND-CPA Secure</a:t>
            </a:r>
            <a:endParaRPr/>
          </a:p>
        </p:txBody>
      </p:sp>
      <p:sp>
        <p:nvSpPr>
          <p:cNvPr id="315" name="Google Shape;315;g34d93a425b6_0_15"/>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16" name="Google Shape;316;g34d93a425b6_0_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17" name="Google Shape;317;g34d93a425b6_0_15"/>
          <p:cNvPicPr preferRelativeResize="0"/>
          <p:nvPr/>
        </p:nvPicPr>
        <p:blipFill>
          <a:blip r:embed="rId3">
            <a:alphaModFix/>
          </a:blip>
          <a:stretch>
            <a:fillRect/>
          </a:stretch>
        </p:blipFill>
        <p:spPr>
          <a:xfrm>
            <a:off x="152400" y="1254225"/>
            <a:ext cx="8839202" cy="30643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23" name="Google Shape;32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4" name="Google Shape;324;p26"/>
          <p:cNvSpPr txBox="1"/>
          <p:nvPr/>
        </p:nvSpPr>
        <p:spPr>
          <a:xfrm>
            <a:off x="854025" y="1253750"/>
            <a:ext cx="2853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One-time pads are secure if we never reuse the key.</a:t>
            </a:r>
            <a:endParaRPr b="0" i="0" sz="1400" u="none" cap="none" strike="noStrike">
              <a:solidFill>
                <a:srgbClr val="000000"/>
              </a:solidFill>
              <a:latin typeface="Arial"/>
              <a:ea typeface="Arial"/>
              <a:cs typeface="Arial"/>
              <a:sym typeface="Arial"/>
            </a:endParaRPr>
          </a:p>
        </p:txBody>
      </p:sp>
      <p:grpSp>
        <p:nvGrpSpPr>
          <p:cNvPr id="325" name="Google Shape;325;p26"/>
          <p:cNvGrpSpPr/>
          <p:nvPr/>
        </p:nvGrpSpPr>
        <p:grpSpPr>
          <a:xfrm>
            <a:off x="1911700" y="2279525"/>
            <a:ext cx="3033451" cy="1704550"/>
            <a:chOff x="1911700" y="2279525"/>
            <a:chExt cx="3033451" cy="1704550"/>
          </a:xfrm>
        </p:grpSpPr>
        <p:pic>
          <p:nvPicPr>
            <p:cNvPr id="326" name="Google Shape;326;p26"/>
            <p:cNvPicPr preferRelativeResize="0"/>
            <p:nvPr/>
          </p:nvPicPr>
          <p:blipFill rotWithShape="1">
            <a:blip r:embed="rId3">
              <a:alphaModFix/>
            </a:blip>
            <a:srcRect b="17677" l="0" r="67230" t="49461"/>
            <a:stretch/>
          </p:blipFill>
          <p:spPr>
            <a:xfrm>
              <a:off x="1911700" y="2810497"/>
              <a:ext cx="3033451" cy="1173578"/>
            </a:xfrm>
            <a:prstGeom prst="rect">
              <a:avLst/>
            </a:prstGeom>
            <a:noFill/>
            <a:ln>
              <a:noFill/>
            </a:ln>
          </p:spPr>
        </p:pic>
        <p:pic>
          <p:nvPicPr>
            <p:cNvPr id="327" name="Google Shape;327;p26"/>
            <p:cNvPicPr preferRelativeResize="0"/>
            <p:nvPr/>
          </p:nvPicPr>
          <p:blipFill rotWithShape="1">
            <a:blip r:embed="rId3">
              <a:alphaModFix/>
            </a:blip>
            <a:srcRect b="75041" l="12735" r="66886" t="17516"/>
            <a:stretch/>
          </p:blipFill>
          <p:spPr>
            <a:xfrm>
              <a:off x="3058900" y="2544702"/>
              <a:ext cx="1886251" cy="265800"/>
            </a:xfrm>
            <a:prstGeom prst="rect">
              <a:avLst/>
            </a:prstGeom>
            <a:noFill/>
            <a:ln>
              <a:noFill/>
            </a:ln>
          </p:spPr>
        </p:pic>
        <p:sp>
          <p:nvSpPr>
            <p:cNvPr id="328" name="Google Shape;328;p26"/>
            <p:cNvSpPr txBox="1"/>
            <p:nvPr/>
          </p:nvSpPr>
          <p:spPr>
            <a:xfrm>
              <a:off x="3201775" y="2279525"/>
              <a:ext cx="1600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Key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34" name="Google Shape;33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descr="ECB encryption.svg" id="335" name="Google Shape;335;p27"/>
          <p:cNvPicPr preferRelativeResize="0"/>
          <p:nvPr/>
        </p:nvPicPr>
        <p:blipFill rotWithShape="1">
          <a:blip r:embed="rId3">
            <a:alphaModFix/>
          </a:blip>
          <a:srcRect b="27283" l="4106" r="66995" t="17694"/>
          <a:stretch/>
        </p:blipFill>
        <p:spPr>
          <a:xfrm>
            <a:off x="3823275" y="1343025"/>
            <a:ext cx="2558100" cy="1962675"/>
          </a:xfrm>
          <a:prstGeom prst="rect">
            <a:avLst/>
          </a:prstGeom>
          <a:noFill/>
          <a:ln>
            <a:noFill/>
          </a:ln>
        </p:spPr>
      </p:pic>
      <p:cxnSp>
        <p:nvCxnSpPr>
          <p:cNvPr id="336" name="Google Shape;336;p27"/>
          <p:cNvCxnSpPr/>
          <p:nvPr/>
        </p:nvCxnSpPr>
        <p:spPr>
          <a:xfrm>
            <a:off x="3956500" y="3172600"/>
            <a:ext cx="636000" cy="0"/>
          </a:xfrm>
          <a:prstGeom prst="straightConnector1">
            <a:avLst/>
          </a:prstGeom>
          <a:noFill/>
          <a:ln cap="flat" cmpd="sng" w="19050">
            <a:solidFill>
              <a:srgbClr val="E69138"/>
            </a:solidFill>
            <a:prstDash val="solid"/>
            <a:round/>
            <a:headEnd len="sm" w="sm" type="none"/>
            <a:tailEnd len="med" w="med" type="triangle"/>
          </a:ln>
        </p:spPr>
      </p:cxnSp>
      <p:sp>
        <p:nvSpPr>
          <p:cNvPr id="337" name="Google Shape;337;p27"/>
          <p:cNvSpPr txBox="1"/>
          <p:nvPr/>
        </p:nvSpPr>
        <p:spPr>
          <a:xfrm>
            <a:off x="631300" y="2974375"/>
            <a:ext cx="33252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If the attacker doesn’t know the key, the block cipher output looks random.</a:t>
            </a:r>
            <a:endParaRPr b="0" i="0" sz="1400" u="none" cap="none" strike="noStrike">
              <a:solidFill>
                <a:srgbClr val="000000"/>
              </a:solidFill>
              <a:latin typeface="Arial"/>
              <a:ea typeface="Arial"/>
              <a:cs typeface="Arial"/>
              <a:sym typeface="Arial"/>
            </a:endParaRPr>
          </a:p>
        </p:txBody>
      </p:sp>
      <p:sp>
        <p:nvSpPr>
          <p:cNvPr id="338" name="Google Shape;338;p27"/>
          <p:cNvSpPr txBox="1"/>
          <p:nvPr/>
        </p:nvSpPr>
        <p:spPr>
          <a:xfrm>
            <a:off x="967675" y="3558725"/>
            <a:ext cx="3646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New idea: Can we use block ciphers to simulate a one-time pad?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5138405b4e_0_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44" name="Google Shape;344;g35138405b4e_0_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descr="ECB encryption.svg" id="345" name="Google Shape;345;g35138405b4e_0_3"/>
          <p:cNvPicPr preferRelativeResize="0"/>
          <p:nvPr/>
        </p:nvPicPr>
        <p:blipFill rotWithShape="1">
          <a:blip r:embed="rId3">
            <a:alphaModFix/>
          </a:blip>
          <a:srcRect b="27284" l="4106" r="66994" t="17694"/>
          <a:stretch/>
        </p:blipFill>
        <p:spPr>
          <a:xfrm>
            <a:off x="3823275" y="1343025"/>
            <a:ext cx="2558102" cy="1962674"/>
          </a:xfrm>
          <a:prstGeom prst="rect">
            <a:avLst/>
          </a:prstGeom>
          <a:noFill/>
          <a:ln>
            <a:noFill/>
          </a:ln>
        </p:spPr>
      </p:pic>
      <p:cxnSp>
        <p:nvCxnSpPr>
          <p:cNvPr id="346" name="Google Shape;346;g35138405b4e_0_3"/>
          <p:cNvCxnSpPr/>
          <p:nvPr/>
        </p:nvCxnSpPr>
        <p:spPr>
          <a:xfrm>
            <a:off x="3956500" y="3172600"/>
            <a:ext cx="636000" cy="0"/>
          </a:xfrm>
          <a:prstGeom prst="straightConnector1">
            <a:avLst/>
          </a:prstGeom>
          <a:noFill/>
          <a:ln cap="flat" cmpd="sng" w="19050">
            <a:solidFill>
              <a:srgbClr val="E69138"/>
            </a:solidFill>
            <a:prstDash val="solid"/>
            <a:round/>
            <a:headEnd len="sm" w="sm" type="none"/>
            <a:tailEnd len="med" w="med" type="triangle"/>
          </a:ln>
        </p:spPr>
      </p:cxnSp>
      <p:sp>
        <p:nvSpPr>
          <p:cNvPr id="347" name="Google Shape;347;g35138405b4e_0_3"/>
          <p:cNvSpPr txBox="1"/>
          <p:nvPr/>
        </p:nvSpPr>
        <p:spPr>
          <a:xfrm>
            <a:off x="631300" y="2974375"/>
            <a:ext cx="33252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If the attacker doesn’t know the key, the block cipher output looks random.</a:t>
            </a:r>
            <a:endParaRPr b="0" i="0" sz="1400" u="none" cap="none" strike="noStrike">
              <a:solidFill>
                <a:srgbClr val="000000"/>
              </a:solidFill>
              <a:latin typeface="Arial"/>
              <a:ea typeface="Arial"/>
              <a:cs typeface="Arial"/>
              <a:sym typeface="Arial"/>
            </a:endParaRPr>
          </a:p>
        </p:txBody>
      </p:sp>
      <p:sp>
        <p:nvSpPr>
          <p:cNvPr id="348" name="Google Shape;348;g35138405b4e_0_3"/>
          <p:cNvSpPr txBox="1"/>
          <p:nvPr/>
        </p:nvSpPr>
        <p:spPr>
          <a:xfrm>
            <a:off x="967675" y="3558725"/>
            <a:ext cx="3646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New idea: Can we use block ciphers to simulate a one-time pad?</a:t>
            </a:r>
            <a:endParaRPr b="0" i="0" sz="1400" u="none" cap="none" strike="noStrike">
              <a:solidFill>
                <a:srgbClr val="000000"/>
              </a:solidFill>
              <a:latin typeface="Arial"/>
              <a:ea typeface="Arial"/>
              <a:cs typeface="Arial"/>
              <a:sym typeface="Arial"/>
            </a:endParaRPr>
          </a:p>
        </p:txBody>
      </p:sp>
      <p:cxnSp>
        <p:nvCxnSpPr>
          <p:cNvPr id="349" name="Google Shape;349;g35138405b4e_0_3"/>
          <p:cNvCxnSpPr/>
          <p:nvPr/>
        </p:nvCxnSpPr>
        <p:spPr>
          <a:xfrm>
            <a:off x="3821975" y="1495725"/>
            <a:ext cx="869700" cy="3600"/>
          </a:xfrm>
          <a:prstGeom prst="straightConnector1">
            <a:avLst/>
          </a:prstGeom>
          <a:noFill/>
          <a:ln cap="flat" cmpd="sng" w="19050">
            <a:solidFill>
              <a:srgbClr val="E69138"/>
            </a:solidFill>
            <a:prstDash val="solid"/>
            <a:round/>
            <a:headEnd len="sm" w="sm" type="none"/>
            <a:tailEnd len="med" w="med" type="triangle"/>
          </a:ln>
        </p:spPr>
      </p:cxnSp>
      <p:sp>
        <p:nvSpPr>
          <p:cNvPr id="350" name="Google Shape;350;g35138405b4e_0_3"/>
          <p:cNvSpPr txBox="1"/>
          <p:nvPr/>
        </p:nvSpPr>
        <p:spPr>
          <a:xfrm>
            <a:off x="496775" y="1297500"/>
            <a:ext cx="33252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rPr>
              <a:t>We will talk about the input later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56" name="Google Shape;35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357" name="Google Shape;357;p28"/>
          <p:cNvGrpSpPr/>
          <p:nvPr/>
        </p:nvGrpSpPr>
        <p:grpSpPr>
          <a:xfrm>
            <a:off x="2000625" y="1799925"/>
            <a:ext cx="7024700" cy="1821625"/>
            <a:chOff x="2000625" y="1799925"/>
            <a:chExt cx="7024700" cy="1821625"/>
          </a:xfrm>
        </p:grpSpPr>
        <p:pic>
          <p:nvPicPr>
            <p:cNvPr id="358" name="Google Shape;358;p28"/>
            <p:cNvPicPr preferRelativeResize="0"/>
            <p:nvPr/>
          </p:nvPicPr>
          <p:blipFill rotWithShape="1">
            <a:blip r:embed="rId3">
              <a:alphaModFix/>
            </a:blip>
            <a:srcRect b="17678" l="0" r="0" t="17516"/>
            <a:stretch/>
          </p:blipFill>
          <p:spPr>
            <a:xfrm>
              <a:off x="2000625" y="1799925"/>
              <a:ext cx="6981725" cy="1821625"/>
            </a:xfrm>
            <a:prstGeom prst="rect">
              <a:avLst/>
            </a:prstGeom>
            <a:noFill/>
            <a:ln>
              <a:noFill/>
            </a:ln>
          </p:spPr>
        </p:pic>
        <p:sp>
          <p:nvSpPr>
            <p:cNvPr id="359" name="Google Shape;359;p28"/>
            <p:cNvSpPr/>
            <p:nvPr/>
          </p:nvSpPr>
          <p:spPr>
            <a:xfrm>
              <a:off x="2083025" y="2682250"/>
              <a:ext cx="6942300" cy="882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CB encryption.svg" id="360" name="Google Shape;360;p28"/>
            <p:cNvPicPr preferRelativeResize="0"/>
            <p:nvPr/>
          </p:nvPicPr>
          <p:blipFill rotWithShape="1">
            <a:blip r:embed="rId4">
              <a:alphaModFix/>
            </a:blip>
            <a:srcRect b="27989" l="13677" r="67481" t="48631"/>
            <a:stretch/>
          </p:blipFill>
          <p:spPr>
            <a:xfrm>
              <a:off x="2944850" y="2682250"/>
              <a:ext cx="1313225" cy="656625"/>
            </a:xfrm>
            <a:prstGeom prst="rect">
              <a:avLst/>
            </a:prstGeom>
            <a:noFill/>
            <a:ln>
              <a:noFill/>
            </a:ln>
          </p:spPr>
        </p:pic>
        <p:pic>
          <p:nvPicPr>
            <p:cNvPr descr="ECB encryption.svg" id="361" name="Google Shape;361;p28"/>
            <p:cNvPicPr preferRelativeResize="0"/>
            <p:nvPr/>
          </p:nvPicPr>
          <p:blipFill rotWithShape="1">
            <a:blip r:embed="rId4">
              <a:alphaModFix/>
            </a:blip>
            <a:srcRect b="27989" l="13677" r="67481" t="48631"/>
            <a:stretch/>
          </p:blipFill>
          <p:spPr>
            <a:xfrm>
              <a:off x="5094475" y="2682250"/>
              <a:ext cx="1313225" cy="656625"/>
            </a:xfrm>
            <a:prstGeom prst="rect">
              <a:avLst/>
            </a:prstGeom>
            <a:noFill/>
            <a:ln>
              <a:noFill/>
            </a:ln>
          </p:spPr>
        </p:pic>
        <p:pic>
          <p:nvPicPr>
            <p:cNvPr descr="ECB encryption.svg" id="362" name="Google Shape;362;p28"/>
            <p:cNvPicPr preferRelativeResize="0"/>
            <p:nvPr/>
          </p:nvPicPr>
          <p:blipFill rotWithShape="1">
            <a:blip r:embed="rId4">
              <a:alphaModFix/>
            </a:blip>
            <a:srcRect b="27989" l="13677" r="67481" t="48631"/>
            <a:stretch/>
          </p:blipFill>
          <p:spPr>
            <a:xfrm>
              <a:off x="7244100" y="2682250"/>
              <a:ext cx="1313225" cy="656625"/>
            </a:xfrm>
            <a:prstGeom prst="rect">
              <a:avLst/>
            </a:prstGeom>
            <a:noFill/>
            <a:ln>
              <a:noFill/>
            </a:ln>
          </p:spPr>
        </p:pic>
      </p:grpSp>
      <p:cxnSp>
        <p:nvCxnSpPr>
          <p:cNvPr id="363" name="Google Shape;363;p28"/>
          <p:cNvCxnSpPr/>
          <p:nvPr/>
        </p:nvCxnSpPr>
        <p:spPr>
          <a:xfrm>
            <a:off x="2503450" y="3267850"/>
            <a:ext cx="396600" cy="0"/>
          </a:xfrm>
          <a:prstGeom prst="straightConnector1">
            <a:avLst/>
          </a:prstGeom>
          <a:noFill/>
          <a:ln cap="flat" cmpd="sng" w="19050">
            <a:solidFill>
              <a:srgbClr val="E69138"/>
            </a:solidFill>
            <a:prstDash val="solid"/>
            <a:round/>
            <a:headEnd len="sm" w="sm" type="none"/>
            <a:tailEnd len="med" w="med" type="triangle"/>
          </a:ln>
        </p:spPr>
      </p:cxnSp>
      <p:sp>
        <p:nvSpPr>
          <p:cNvPr id="364" name="Google Shape;364;p28"/>
          <p:cNvSpPr txBox="1"/>
          <p:nvPr/>
        </p:nvSpPr>
        <p:spPr>
          <a:xfrm>
            <a:off x="191650" y="2852200"/>
            <a:ext cx="23118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If the attacker doesn’t know the key, all of these outputs look random.</a:t>
            </a:r>
            <a:endParaRPr b="0" i="0" sz="1400" u="none" cap="none" strike="noStrike">
              <a:solidFill>
                <a:srgbClr val="000000"/>
              </a:solidFill>
              <a:latin typeface="Arial"/>
              <a:ea typeface="Arial"/>
              <a:cs typeface="Arial"/>
              <a:sym typeface="Arial"/>
            </a:endParaRPr>
          </a:p>
        </p:txBody>
      </p:sp>
      <p:sp>
        <p:nvSpPr>
          <p:cNvPr id="365" name="Google Shape;365;p28"/>
          <p:cNvSpPr txBox="1"/>
          <p:nvPr/>
        </p:nvSpPr>
        <p:spPr>
          <a:xfrm>
            <a:off x="1635600" y="3974200"/>
            <a:ext cx="623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If the attacker cannot guess the output from a random bitstring, then the output is as good as random</a:t>
            </a:r>
            <a:endParaRPr sz="15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29"/>
          <p:cNvPicPr preferRelativeResize="0"/>
          <p:nvPr/>
        </p:nvPicPr>
        <p:blipFill rotWithShape="1">
          <a:blip r:embed="rId3">
            <a:alphaModFix/>
          </a:blip>
          <a:srcRect b="17678" l="0" r="0" t="17516"/>
          <a:stretch/>
        </p:blipFill>
        <p:spPr>
          <a:xfrm>
            <a:off x="2000625" y="1799925"/>
            <a:ext cx="6981725" cy="1821625"/>
          </a:xfrm>
          <a:prstGeom prst="rect">
            <a:avLst/>
          </a:prstGeom>
          <a:noFill/>
          <a:ln>
            <a:noFill/>
          </a:ln>
        </p:spPr>
      </p:pic>
      <p:sp>
        <p:nvSpPr>
          <p:cNvPr id="371" name="Google Shape;371;p2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72" name="Google Shape;37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3" name="Google Shape;373;p29"/>
          <p:cNvSpPr txBox="1"/>
          <p:nvPr/>
        </p:nvSpPr>
        <p:spPr>
          <a:xfrm>
            <a:off x="143775" y="2653825"/>
            <a:ext cx="1962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Idea: Use this random-looking output as a one-time pad!</a:t>
            </a:r>
            <a:endParaRPr b="0" i="0" sz="1400" u="none" cap="none" strike="noStrike">
              <a:solidFill>
                <a:srgbClr val="000000"/>
              </a:solidFill>
              <a:latin typeface="Arial"/>
              <a:ea typeface="Arial"/>
              <a:cs typeface="Arial"/>
              <a:sym typeface="Arial"/>
            </a:endParaRPr>
          </a:p>
        </p:txBody>
      </p:sp>
      <p:sp>
        <p:nvSpPr>
          <p:cNvPr id="374" name="Google Shape;374;p29"/>
          <p:cNvSpPr txBox="1"/>
          <p:nvPr/>
        </p:nvSpPr>
        <p:spPr>
          <a:xfrm>
            <a:off x="378275" y="3449150"/>
            <a:ext cx="2371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Remember one-time pads: XOR the pad with plaintext to get ciphertext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30"/>
          <p:cNvPicPr preferRelativeResize="0"/>
          <p:nvPr/>
        </p:nvPicPr>
        <p:blipFill rotWithShape="1">
          <a:blip r:embed="rId3">
            <a:alphaModFix/>
          </a:blip>
          <a:srcRect b="17678" l="0" r="0" t="17516"/>
          <a:stretch/>
        </p:blipFill>
        <p:spPr>
          <a:xfrm>
            <a:off x="2000625" y="1799925"/>
            <a:ext cx="6981725" cy="1821625"/>
          </a:xfrm>
          <a:prstGeom prst="rect">
            <a:avLst/>
          </a:prstGeom>
          <a:noFill/>
          <a:ln>
            <a:noFill/>
          </a:ln>
        </p:spPr>
      </p:pic>
      <p:sp>
        <p:nvSpPr>
          <p:cNvPr id="380" name="Google Shape;380;p3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81" name="Google Shape;38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382" name="Google Shape;382;p30"/>
          <p:cNvCxnSpPr/>
          <p:nvPr/>
        </p:nvCxnSpPr>
        <p:spPr>
          <a:xfrm>
            <a:off x="2455575" y="1940925"/>
            <a:ext cx="396600" cy="0"/>
          </a:xfrm>
          <a:prstGeom prst="straightConnector1">
            <a:avLst/>
          </a:prstGeom>
          <a:noFill/>
          <a:ln cap="flat" cmpd="sng" w="19050">
            <a:solidFill>
              <a:srgbClr val="E69138"/>
            </a:solidFill>
            <a:prstDash val="solid"/>
            <a:round/>
            <a:headEnd len="sm" w="sm" type="none"/>
            <a:tailEnd len="med" w="med" type="triangle"/>
          </a:ln>
        </p:spPr>
      </p:cxnSp>
      <p:sp>
        <p:nvSpPr>
          <p:cNvPr id="383" name="Google Shape;383;p30"/>
          <p:cNvSpPr txBox="1"/>
          <p:nvPr/>
        </p:nvSpPr>
        <p:spPr>
          <a:xfrm>
            <a:off x="143775" y="1525275"/>
            <a:ext cx="2311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What do we use as input to the block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31"/>
          <p:cNvPicPr preferRelativeResize="0"/>
          <p:nvPr/>
        </p:nvPicPr>
        <p:blipFill rotWithShape="1">
          <a:blip r:embed="rId3">
            <a:alphaModFix/>
          </a:blip>
          <a:srcRect b="17681" l="0" r="0" t="0"/>
          <a:stretch/>
        </p:blipFill>
        <p:spPr>
          <a:xfrm>
            <a:off x="2000625" y="1307550"/>
            <a:ext cx="6981725" cy="2314001"/>
          </a:xfrm>
          <a:prstGeom prst="rect">
            <a:avLst/>
          </a:prstGeom>
          <a:noFill/>
          <a:ln>
            <a:noFill/>
          </a:ln>
        </p:spPr>
      </p:pic>
      <p:sp>
        <p:nvSpPr>
          <p:cNvPr id="389" name="Google Shape;389;p3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390" name="Google Shape;39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391" name="Google Shape;391;p31"/>
          <p:cNvCxnSpPr/>
          <p:nvPr/>
        </p:nvCxnSpPr>
        <p:spPr>
          <a:xfrm>
            <a:off x="2004050" y="1681000"/>
            <a:ext cx="670500" cy="0"/>
          </a:xfrm>
          <a:prstGeom prst="straightConnector1">
            <a:avLst/>
          </a:prstGeom>
          <a:noFill/>
          <a:ln cap="flat" cmpd="sng" w="19050">
            <a:solidFill>
              <a:srgbClr val="E69138"/>
            </a:solidFill>
            <a:prstDash val="solid"/>
            <a:round/>
            <a:headEnd len="sm" w="sm" type="none"/>
            <a:tailEnd len="med" w="med" type="triangle"/>
          </a:ln>
        </p:spPr>
      </p:cxnSp>
      <p:sp>
        <p:nvSpPr>
          <p:cNvPr id="392" name="Google Shape;392;p31"/>
          <p:cNvSpPr txBox="1"/>
          <p:nvPr/>
        </p:nvSpPr>
        <p:spPr>
          <a:xfrm>
            <a:off x="143775" y="1525275"/>
            <a:ext cx="18570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IND-CPA schemes need randomness, so let’s put a random </a:t>
            </a:r>
            <a:r>
              <a:rPr b="1" i="0" lang="en" sz="1400" u="none" cap="none" strike="noStrike">
                <a:solidFill>
                  <a:schemeClr val="dk1"/>
                </a:solidFill>
                <a:latin typeface="Arial"/>
                <a:ea typeface="Arial"/>
                <a:cs typeface="Arial"/>
                <a:sym typeface="Arial"/>
              </a:rPr>
              <a:t>nonce</a:t>
            </a:r>
            <a:r>
              <a:rPr b="0" i="0" lang="en" sz="1400" u="none" cap="none" strike="noStrike">
                <a:solidFill>
                  <a:schemeClr val="dk1"/>
                </a:solidFill>
                <a:latin typeface="Arial"/>
                <a:ea typeface="Arial"/>
                <a:cs typeface="Arial"/>
                <a:sym typeface="Arial"/>
              </a:rPr>
              <a:t> here!</a:t>
            </a:r>
            <a:endParaRPr b="0" i="0" sz="1400" u="none" cap="none" strike="noStrike">
              <a:solidFill>
                <a:srgbClr val="000000"/>
              </a:solidFill>
              <a:latin typeface="Arial"/>
              <a:ea typeface="Arial"/>
              <a:cs typeface="Arial"/>
              <a:sym typeface="Arial"/>
            </a:endParaRPr>
          </a:p>
        </p:txBody>
      </p:sp>
      <p:sp>
        <p:nvSpPr>
          <p:cNvPr id="393" name="Google Shape;393;p31"/>
          <p:cNvSpPr txBox="1"/>
          <p:nvPr/>
        </p:nvSpPr>
        <p:spPr>
          <a:xfrm>
            <a:off x="273350" y="3888100"/>
            <a:ext cx="41319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1"/>
                </a:solidFill>
              </a:rPr>
              <a:t>Nonce stands for </a:t>
            </a:r>
            <a:r>
              <a:rPr b="1" lang="en" sz="1300">
                <a:solidFill>
                  <a:schemeClr val="dk1"/>
                </a:solidFill>
              </a:rPr>
              <a:t>N</a:t>
            </a:r>
            <a:r>
              <a:rPr b="1" lang="en" sz="1300">
                <a:solidFill>
                  <a:schemeClr val="dk1"/>
                </a:solidFill>
              </a:rPr>
              <a:t>umber used Once</a:t>
            </a:r>
            <a:endParaRPr b="1" sz="1300">
              <a:solidFill>
                <a:schemeClr val="dk1"/>
              </a:solidFill>
            </a:endParaRPr>
          </a:p>
          <a:p>
            <a:pPr indent="0" lvl="0" marL="0" rtl="0" algn="l">
              <a:spcBef>
                <a:spcPts val="0"/>
              </a:spcBef>
              <a:spcAft>
                <a:spcPts val="0"/>
              </a:spcAft>
              <a:buNone/>
            </a:pPr>
            <a:r>
              <a:rPr lang="en" sz="1300">
                <a:solidFill>
                  <a:schemeClr val="dk1"/>
                </a:solidFill>
              </a:rPr>
              <a:t>We generate a single Nonce, and feed it as input to all the block cipher encryption blocks</a:t>
            </a:r>
            <a:endParaRPr sz="1300">
              <a:solidFill>
                <a:schemeClr val="dk1"/>
              </a:solidFill>
            </a:endParaRPr>
          </a:p>
        </p:txBody>
      </p:sp>
      <p:sp>
        <p:nvSpPr>
          <p:cNvPr id="394" name="Google Shape;394;p31"/>
          <p:cNvSpPr txBox="1"/>
          <p:nvPr/>
        </p:nvSpPr>
        <p:spPr>
          <a:xfrm>
            <a:off x="1477775" y="4261150"/>
            <a:ext cx="413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32"/>
          <p:cNvPicPr preferRelativeResize="0"/>
          <p:nvPr/>
        </p:nvPicPr>
        <p:blipFill rotWithShape="1">
          <a:blip r:embed="rId3">
            <a:alphaModFix/>
          </a:blip>
          <a:srcRect b="17681" l="0" r="0" t="0"/>
          <a:stretch/>
        </p:blipFill>
        <p:spPr>
          <a:xfrm>
            <a:off x="2000625" y="1307550"/>
            <a:ext cx="6981725" cy="2314001"/>
          </a:xfrm>
          <a:prstGeom prst="rect">
            <a:avLst/>
          </a:prstGeom>
          <a:noFill/>
          <a:ln>
            <a:noFill/>
          </a:ln>
        </p:spPr>
      </p:pic>
      <p:sp>
        <p:nvSpPr>
          <p:cNvPr id="400" name="Google Shape;400;p3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401" name="Google Shape;40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402" name="Google Shape;402;p32"/>
          <p:cNvCxnSpPr/>
          <p:nvPr/>
        </p:nvCxnSpPr>
        <p:spPr>
          <a:xfrm>
            <a:off x="2004050" y="1681000"/>
            <a:ext cx="1682700" cy="0"/>
          </a:xfrm>
          <a:prstGeom prst="straightConnector1">
            <a:avLst/>
          </a:prstGeom>
          <a:noFill/>
          <a:ln cap="flat" cmpd="sng" w="19050">
            <a:solidFill>
              <a:srgbClr val="E69138"/>
            </a:solidFill>
            <a:prstDash val="solid"/>
            <a:round/>
            <a:headEnd len="sm" w="sm" type="none"/>
            <a:tailEnd len="med" w="med" type="triangle"/>
          </a:ln>
        </p:spPr>
      </p:cxnSp>
      <p:sp>
        <p:nvSpPr>
          <p:cNvPr id="403" name="Google Shape;403;p32"/>
          <p:cNvSpPr txBox="1"/>
          <p:nvPr/>
        </p:nvSpPr>
        <p:spPr>
          <a:xfrm>
            <a:off x="143775" y="1525275"/>
            <a:ext cx="1857000" cy="1262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a:t>
            </a:r>
            <a:r>
              <a:rPr b="1" i="0" lang="en" sz="1400" u="none" cap="none" strike="noStrike">
                <a:solidFill>
                  <a:schemeClr val="dk1"/>
                </a:solidFill>
                <a:latin typeface="Arial"/>
                <a:ea typeface="Arial"/>
                <a:cs typeface="Arial"/>
                <a:sym typeface="Arial"/>
              </a:rPr>
              <a:t>counter</a:t>
            </a:r>
            <a:r>
              <a:rPr b="0" i="0" lang="en" sz="1400" u="none" cap="none" strike="noStrike">
                <a:solidFill>
                  <a:schemeClr val="dk1"/>
                </a:solidFill>
                <a:latin typeface="Arial"/>
                <a:ea typeface="Arial"/>
                <a:cs typeface="Arial"/>
                <a:sym typeface="Arial"/>
              </a:rPr>
              <a:t> increments per block to ensure each block cipher output is different.</a:t>
            </a:r>
            <a:endParaRPr b="0" i="0" sz="1400" u="none" cap="none" strike="noStrike">
              <a:solidFill>
                <a:srgbClr val="000000"/>
              </a:solidFill>
              <a:latin typeface="Arial"/>
              <a:ea typeface="Arial"/>
              <a:cs typeface="Arial"/>
              <a:sym typeface="Arial"/>
            </a:endParaRPr>
          </a:p>
        </p:txBody>
      </p:sp>
      <p:sp>
        <p:nvSpPr>
          <p:cNvPr id="404" name="Google Shape;404;p32"/>
          <p:cNvSpPr txBox="1"/>
          <p:nvPr/>
        </p:nvSpPr>
        <p:spPr>
          <a:xfrm>
            <a:off x="251850" y="3621550"/>
            <a:ext cx="41319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300">
                <a:solidFill>
                  <a:schemeClr val="dk1"/>
                </a:solidFill>
              </a:rPr>
              <a:t>If every block cipher block used the same nonce and key, all their outputs would be identical.</a:t>
            </a:r>
            <a:endParaRPr b="1" sz="1300">
              <a:solidFill>
                <a:schemeClr val="dk1"/>
              </a:solidFill>
            </a:endParaRPr>
          </a:p>
        </p:txBody>
      </p:sp>
      <p:sp>
        <p:nvSpPr>
          <p:cNvPr id="405" name="Google Shape;405;p32"/>
          <p:cNvSpPr txBox="1"/>
          <p:nvPr/>
        </p:nvSpPr>
        <p:spPr>
          <a:xfrm>
            <a:off x="251850" y="4085525"/>
            <a:ext cx="41319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solidFill>
                  <a:schemeClr val="dk1"/>
                </a:solidFill>
              </a:rPr>
              <a:t>To avoid this, we use a counter (which doesn’t need to be random. Why?) that increments by one for each block and is combined with the nonce to ensure unique inputs.</a:t>
            </a:r>
            <a:endParaRPr sz="13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g35138405b4e_0_21"/>
          <p:cNvPicPr preferRelativeResize="0"/>
          <p:nvPr/>
        </p:nvPicPr>
        <p:blipFill rotWithShape="1">
          <a:blip r:embed="rId3">
            <a:alphaModFix/>
          </a:blip>
          <a:srcRect b="17681" l="0" r="0" t="0"/>
          <a:stretch/>
        </p:blipFill>
        <p:spPr>
          <a:xfrm>
            <a:off x="2000625" y="1307550"/>
            <a:ext cx="6981725" cy="2314001"/>
          </a:xfrm>
          <a:prstGeom prst="rect">
            <a:avLst/>
          </a:prstGeom>
          <a:noFill/>
          <a:ln>
            <a:noFill/>
          </a:ln>
        </p:spPr>
      </p:pic>
      <p:sp>
        <p:nvSpPr>
          <p:cNvPr id="411" name="Google Shape;411;g35138405b4e_0_2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Scratchpad: Let’s design it together</a:t>
            </a:r>
            <a:endParaRPr/>
          </a:p>
        </p:txBody>
      </p:sp>
      <p:sp>
        <p:nvSpPr>
          <p:cNvPr id="412" name="Google Shape;412;g35138405b4e_0_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413" name="Google Shape;413;g35138405b4e_0_21"/>
          <p:cNvCxnSpPr/>
          <p:nvPr/>
        </p:nvCxnSpPr>
        <p:spPr>
          <a:xfrm>
            <a:off x="2004050" y="1681000"/>
            <a:ext cx="1682700" cy="0"/>
          </a:xfrm>
          <a:prstGeom prst="straightConnector1">
            <a:avLst/>
          </a:prstGeom>
          <a:noFill/>
          <a:ln cap="flat" cmpd="sng" w="19050">
            <a:solidFill>
              <a:srgbClr val="E69138"/>
            </a:solidFill>
            <a:prstDash val="solid"/>
            <a:round/>
            <a:headEnd len="sm" w="sm" type="none"/>
            <a:tailEnd len="med" w="med" type="triangle"/>
          </a:ln>
        </p:spPr>
      </p:cxnSp>
      <p:sp>
        <p:nvSpPr>
          <p:cNvPr id="414" name="Google Shape;414;g35138405b4e_0_21"/>
          <p:cNvSpPr txBox="1"/>
          <p:nvPr/>
        </p:nvSpPr>
        <p:spPr>
          <a:xfrm>
            <a:off x="143775" y="1525275"/>
            <a:ext cx="1857000" cy="1262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a:t>
            </a:r>
            <a:r>
              <a:rPr b="1" i="0" lang="en" sz="1400" u="none" cap="none" strike="noStrike">
                <a:solidFill>
                  <a:schemeClr val="dk1"/>
                </a:solidFill>
                <a:latin typeface="Arial"/>
                <a:ea typeface="Arial"/>
                <a:cs typeface="Arial"/>
                <a:sym typeface="Arial"/>
              </a:rPr>
              <a:t>counter</a:t>
            </a:r>
            <a:r>
              <a:rPr b="0" i="0" lang="en" sz="1400" u="none" cap="none" strike="noStrike">
                <a:solidFill>
                  <a:schemeClr val="dk1"/>
                </a:solidFill>
                <a:latin typeface="Arial"/>
                <a:ea typeface="Arial"/>
                <a:cs typeface="Arial"/>
                <a:sym typeface="Arial"/>
              </a:rPr>
              <a:t> increments per block to ensure each block cipher output is different.</a:t>
            </a:r>
            <a:endParaRPr b="0" i="0" sz="1400" u="none" cap="none" strike="noStrike">
              <a:solidFill>
                <a:srgbClr val="000000"/>
              </a:solidFill>
              <a:latin typeface="Arial"/>
              <a:ea typeface="Arial"/>
              <a:cs typeface="Arial"/>
              <a:sym typeface="Arial"/>
            </a:endParaRPr>
          </a:p>
        </p:txBody>
      </p:sp>
      <p:sp>
        <p:nvSpPr>
          <p:cNvPr id="415" name="Google Shape;415;g35138405b4e_0_21"/>
          <p:cNvSpPr txBox="1"/>
          <p:nvPr/>
        </p:nvSpPr>
        <p:spPr>
          <a:xfrm>
            <a:off x="251850" y="3621550"/>
            <a:ext cx="41319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300">
                <a:solidFill>
                  <a:schemeClr val="dk1"/>
                </a:solidFill>
              </a:rPr>
              <a:t>If every block cipher block used the same nonce and key, all their outputs would be identical.</a:t>
            </a:r>
            <a:endParaRPr b="1" sz="1300">
              <a:solidFill>
                <a:schemeClr val="dk1"/>
              </a:solidFill>
            </a:endParaRPr>
          </a:p>
        </p:txBody>
      </p:sp>
      <p:sp>
        <p:nvSpPr>
          <p:cNvPr id="416" name="Google Shape;416;g35138405b4e_0_21"/>
          <p:cNvSpPr txBox="1"/>
          <p:nvPr/>
        </p:nvSpPr>
        <p:spPr>
          <a:xfrm>
            <a:off x="251850" y="4085525"/>
            <a:ext cx="41319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solidFill>
                  <a:schemeClr val="dk1"/>
                </a:solidFill>
              </a:rPr>
              <a:t>To avoid this, we use a counter (which doesn’t need to be random. Why?) that increments by one for each block and is combined with the nonce to ensure unique inputs.</a:t>
            </a:r>
            <a:endParaRPr sz="1300">
              <a:solidFill>
                <a:schemeClr val="dk1"/>
              </a:solidFill>
            </a:endParaRPr>
          </a:p>
        </p:txBody>
      </p:sp>
      <p:sp>
        <p:nvSpPr>
          <p:cNvPr id="417" name="Google Shape;417;g35138405b4e_0_21"/>
          <p:cNvSpPr txBox="1"/>
          <p:nvPr/>
        </p:nvSpPr>
        <p:spPr>
          <a:xfrm>
            <a:off x="4705900" y="3909650"/>
            <a:ext cx="3995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Because block ciphers have high diffusion, where even a single-bit change in input leads to a completely different output, it’s enough for inputs to simply differ, even slightly, to produce totally different outputs.</a:t>
            </a:r>
            <a:endParaRPr sz="1000">
              <a:solidFill>
                <a:schemeClr val="dk1"/>
              </a:solidFill>
            </a:endParaRPr>
          </a:p>
        </p:txBody>
      </p:sp>
      <p:sp>
        <p:nvSpPr>
          <p:cNvPr id="418" name="Google Shape;418;g35138405b4e_0_21"/>
          <p:cNvSpPr/>
          <p:nvPr/>
        </p:nvSpPr>
        <p:spPr>
          <a:xfrm>
            <a:off x="1377350" y="4340050"/>
            <a:ext cx="495000" cy="323100"/>
          </a:xfrm>
          <a:prstGeom prst="ellipse">
            <a:avLst/>
          </a:prstGeom>
          <a:solidFill>
            <a:srgbClr val="0000FF">
              <a:alpha val="284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19" name="Google Shape;419;g35138405b4e_0_21"/>
          <p:cNvCxnSpPr>
            <a:endCxn id="417" idx="1"/>
          </p:cNvCxnSpPr>
          <p:nvPr/>
        </p:nvCxnSpPr>
        <p:spPr>
          <a:xfrm flipH="1" rot="10800000">
            <a:off x="1941100" y="4309850"/>
            <a:ext cx="2764800" cy="191700"/>
          </a:xfrm>
          <a:prstGeom prst="straightConnector1">
            <a:avLst/>
          </a:prstGeom>
          <a:noFill/>
          <a:ln cap="flat" cmpd="sng" w="19050">
            <a:solidFill>
              <a:srgbClr val="E69138"/>
            </a:solidFill>
            <a:prstDash val="solid"/>
            <a:round/>
            <a:headEnd len="sm" w="sm"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(Counter) Mode</a:t>
            </a:r>
            <a:endParaRPr/>
          </a:p>
        </p:txBody>
      </p:sp>
      <p:sp>
        <p:nvSpPr>
          <p:cNvPr id="425" name="Google Shape;425;p3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lang="en" sz="1500"/>
              <a:t>With OTPs, we faced the challenge of generating and securely distributing a new key for every message block. </a:t>
            </a:r>
            <a:endParaRPr sz="1500"/>
          </a:p>
          <a:p>
            <a:pPr indent="-323850" lvl="0" marL="457200" rtl="0" algn="l">
              <a:lnSpc>
                <a:spcPct val="115000"/>
              </a:lnSpc>
              <a:spcBef>
                <a:spcPts val="0"/>
              </a:spcBef>
              <a:spcAft>
                <a:spcPts val="0"/>
              </a:spcAft>
              <a:buSzPts val="1500"/>
              <a:buChar char="●"/>
            </a:pPr>
            <a:r>
              <a:rPr lang="en" sz="1500"/>
              <a:t>In CTR mode, we shift that burden to the nonce. The key remains secret, and the nonce can be safely shared over an insecure channel. Because without the key, the attacker can’t do anything with the nonce.</a:t>
            </a:r>
            <a:endParaRPr sz="1500"/>
          </a:p>
        </p:txBody>
      </p:sp>
      <p:sp>
        <p:nvSpPr>
          <p:cNvPr id="426" name="Google Shape;42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27" name="Google Shape;427;p33"/>
          <p:cNvPicPr preferRelativeResize="0"/>
          <p:nvPr/>
        </p:nvPicPr>
        <p:blipFill rotWithShape="1">
          <a:blip r:embed="rId3">
            <a:alphaModFix/>
          </a:blip>
          <a:srcRect b="0" l="0" r="0" t="0"/>
          <a:stretch/>
        </p:blipFill>
        <p:spPr>
          <a:xfrm>
            <a:off x="1826475" y="2639524"/>
            <a:ext cx="5491075" cy="2210726"/>
          </a:xfrm>
          <a:prstGeom prst="rect">
            <a:avLst/>
          </a:prstGeom>
          <a:noFill/>
          <a:ln>
            <a:noFill/>
          </a:ln>
        </p:spPr>
      </p:pic>
      <p:sp>
        <p:nvSpPr>
          <p:cNvPr id="428" name="Google Shape;428;p33"/>
          <p:cNvSpPr txBox="1"/>
          <p:nvPr/>
        </p:nvSpPr>
        <p:spPr>
          <a:xfrm>
            <a:off x="2537800" y="43123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29" name="Google Shape;429;p33"/>
          <p:cNvSpPr txBox="1"/>
          <p:nvPr/>
        </p:nvSpPr>
        <p:spPr>
          <a:xfrm>
            <a:off x="5782775" y="43885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5138405b4e_0_5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(Counter) Mode</a:t>
            </a:r>
            <a:endParaRPr/>
          </a:p>
        </p:txBody>
      </p:sp>
      <p:sp>
        <p:nvSpPr>
          <p:cNvPr id="435" name="Google Shape;435;g35138405b4e_0_5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Note: the random value is named the nonce here, but the idea is the same as the IV (Initialization Vector) in CBC mode</a:t>
            </a:r>
            <a:endParaRPr/>
          </a:p>
          <a:p>
            <a:pPr indent="-342900" lvl="0" marL="457200" rtl="0" algn="l">
              <a:lnSpc>
                <a:spcPct val="115000"/>
              </a:lnSpc>
              <a:spcBef>
                <a:spcPts val="0"/>
              </a:spcBef>
              <a:spcAft>
                <a:spcPts val="0"/>
              </a:spcAft>
              <a:buSzPts val="1800"/>
              <a:buChar char="●"/>
            </a:pPr>
            <a:r>
              <a:rPr lang="en"/>
              <a:t>Overall ciphertext is (</a:t>
            </a:r>
            <a:r>
              <a:rPr b="1" lang="en"/>
              <a:t>Nonce</a:t>
            </a:r>
            <a:r>
              <a:rPr lang="en"/>
              <a:t>, C</a:t>
            </a:r>
            <a:r>
              <a:rPr baseline="-25000" lang="en"/>
              <a:t>1</a:t>
            </a:r>
            <a:r>
              <a:rPr lang="en"/>
              <a:t>, …, C</a:t>
            </a:r>
            <a:r>
              <a:rPr baseline="-25000" lang="en"/>
              <a:t>m</a:t>
            </a:r>
            <a:r>
              <a:rPr lang="en"/>
              <a:t>)</a:t>
            </a:r>
            <a:endParaRPr/>
          </a:p>
          <a:p>
            <a:pPr indent="-317500" lvl="1" marL="914400" rtl="0" algn="l">
              <a:lnSpc>
                <a:spcPct val="115000"/>
              </a:lnSpc>
              <a:spcBef>
                <a:spcPts val="0"/>
              </a:spcBef>
              <a:spcAft>
                <a:spcPts val="0"/>
              </a:spcAft>
              <a:buSzPts val="1400"/>
              <a:buChar char="○"/>
            </a:pPr>
            <a:r>
              <a:rPr lang="en"/>
              <a:t>We need to share the nonce along with the ciphertext. But it doesn’t have to be encrypted.</a:t>
            </a:r>
            <a:endParaRPr/>
          </a:p>
        </p:txBody>
      </p:sp>
      <p:sp>
        <p:nvSpPr>
          <p:cNvPr id="436" name="Google Shape;436;g35138405b4e_0_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37" name="Google Shape;437;g35138405b4e_0_52"/>
          <p:cNvPicPr preferRelativeResize="0"/>
          <p:nvPr/>
        </p:nvPicPr>
        <p:blipFill rotWithShape="1">
          <a:blip r:embed="rId3">
            <a:alphaModFix/>
          </a:blip>
          <a:srcRect b="0" l="0" r="0" t="0"/>
          <a:stretch/>
        </p:blipFill>
        <p:spPr>
          <a:xfrm>
            <a:off x="1826475" y="2639524"/>
            <a:ext cx="5491075" cy="2210726"/>
          </a:xfrm>
          <a:prstGeom prst="rect">
            <a:avLst/>
          </a:prstGeom>
          <a:noFill/>
          <a:ln>
            <a:noFill/>
          </a:ln>
        </p:spPr>
      </p:pic>
      <p:sp>
        <p:nvSpPr>
          <p:cNvPr id="438" name="Google Shape;438;g35138405b4e_0_52"/>
          <p:cNvSpPr txBox="1"/>
          <p:nvPr/>
        </p:nvSpPr>
        <p:spPr>
          <a:xfrm>
            <a:off x="2537800" y="43123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39" name="Google Shape;439;g35138405b4e_0_52"/>
          <p:cNvSpPr txBox="1"/>
          <p:nvPr/>
        </p:nvSpPr>
        <p:spPr>
          <a:xfrm>
            <a:off x="5782775" y="43885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5138405b4e_0_6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Nonce and Counter Requirements</a:t>
            </a:r>
            <a:endParaRPr/>
          </a:p>
        </p:txBody>
      </p:sp>
      <p:sp>
        <p:nvSpPr>
          <p:cNvPr id="445" name="Google Shape;445;g35138405b4e_0_6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The nonce</a:t>
            </a:r>
            <a:r>
              <a:rPr lang="en" sz="1500"/>
              <a:t> doesn't need to be random, just unique per encryption with the same key.</a:t>
            </a:r>
            <a:endParaRPr sz="1500"/>
          </a:p>
          <a:p>
            <a:pPr indent="-323850" lvl="0" marL="457200" rtl="0" algn="l">
              <a:spcBef>
                <a:spcPts val="0"/>
              </a:spcBef>
              <a:spcAft>
                <a:spcPts val="0"/>
              </a:spcAft>
              <a:buSzPts val="1500"/>
              <a:buChar char="●"/>
            </a:pPr>
            <a:r>
              <a:rPr lang="en" sz="1500"/>
              <a:t>You can even use a counter or timestamp as a nonce, as long as it never repeats. The randomness just helps avoid accidental reuse.</a:t>
            </a:r>
            <a:endParaRPr sz="1500"/>
          </a:p>
          <a:p>
            <a:pPr indent="-323850" lvl="0" marL="457200" rtl="0" algn="l">
              <a:spcBef>
                <a:spcPts val="0"/>
              </a:spcBef>
              <a:spcAft>
                <a:spcPts val="0"/>
              </a:spcAft>
              <a:buSzPts val="1500"/>
              <a:buChar char="●"/>
            </a:pPr>
            <a:r>
              <a:rPr lang="en" sz="1500"/>
              <a:t>Again, the counter in CTR mode must be unique per block within a single encryption, but it doesn't need to be random either.</a:t>
            </a:r>
            <a:endParaRPr sz="1500"/>
          </a:p>
          <a:p>
            <a:pPr indent="-323850" lvl="0" marL="457200" rtl="0" algn="l">
              <a:spcBef>
                <a:spcPts val="0"/>
              </a:spcBef>
              <a:spcAft>
                <a:spcPts val="0"/>
              </a:spcAft>
              <a:buSzPts val="1500"/>
              <a:buChar char="●"/>
            </a:pPr>
            <a:r>
              <a:rPr lang="en" sz="1500"/>
              <a:t>Together: </a:t>
            </a:r>
            <a:r>
              <a:rPr b="1" lang="en" sz="1500"/>
              <a:t>Nonce || Counter</a:t>
            </a:r>
            <a:r>
              <a:rPr lang="en" sz="1500"/>
              <a:t> must produce a unique input for each block, and that’s all that matters.</a:t>
            </a:r>
            <a:endParaRPr sz="1500"/>
          </a:p>
          <a:p>
            <a:pPr indent="-323850" lvl="0" marL="457200" rtl="0" algn="l">
              <a:spcBef>
                <a:spcPts val="0"/>
              </a:spcBef>
              <a:spcAft>
                <a:spcPts val="0"/>
              </a:spcAft>
              <a:buSzPts val="1500"/>
              <a:buChar char="●"/>
            </a:pPr>
            <a:r>
              <a:rPr lang="en" sz="1500"/>
              <a:t>If Alice and Bob agree on a counter scheme (like starting from 0 and incrementing by 1), then only the nonce needs to be shared. The counter is implicit, as both sides just increment as they go.</a:t>
            </a:r>
            <a:endParaRPr sz="1500"/>
          </a:p>
        </p:txBody>
      </p:sp>
      <p:sp>
        <p:nvSpPr>
          <p:cNvPr id="446" name="Google Shape;446;g35138405b4e_0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a:t>
            </a:r>
            <a:endParaRPr/>
          </a:p>
        </p:txBody>
      </p:sp>
      <p:sp>
        <p:nvSpPr>
          <p:cNvPr id="452" name="Google Shape;452;p34"/>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Enc(K, M):</a:t>
            </a:r>
            <a:endParaRPr/>
          </a:p>
          <a:p>
            <a:pPr indent="-317500" lvl="1" marL="914400" rtl="0" algn="l">
              <a:lnSpc>
                <a:spcPct val="115000"/>
              </a:lnSpc>
              <a:spcBef>
                <a:spcPts val="0"/>
              </a:spcBef>
              <a:spcAft>
                <a:spcPts val="0"/>
              </a:spcAft>
              <a:buSzPts val="1400"/>
              <a:buChar char="○"/>
            </a:pPr>
            <a:r>
              <a:rPr lang="en"/>
              <a:t>Split M in plaintext blocks P</a:t>
            </a:r>
            <a:r>
              <a:rPr baseline="-25000" lang="en"/>
              <a:t>1</a:t>
            </a:r>
            <a:r>
              <a:rPr lang="en"/>
              <a:t>...P</a:t>
            </a:r>
            <a:r>
              <a:rPr baseline="-25000" lang="en"/>
              <a:t>m  </a:t>
            </a:r>
            <a:r>
              <a:rPr lang="en"/>
              <a:t>(each of block size n)</a:t>
            </a:r>
            <a:endParaRPr baseline="-25000"/>
          </a:p>
          <a:p>
            <a:pPr indent="-317500" lvl="1" marL="914400" rtl="0" algn="l">
              <a:lnSpc>
                <a:spcPct val="115000"/>
              </a:lnSpc>
              <a:spcBef>
                <a:spcPts val="0"/>
              </a:spcBef>
              <a:spcAft>
                <a:spcPts val="0"/>
              </a:spcAft>
              <a:buSzPts val="1400"/>
              <a:buChar char="○"/>
            </a:pPr>
            <a:r>
              <a:rPr lang="en"/>
              <a:t>Choose random nonce</a:t>
            </a:r>
            <a:endParaRPr/>
          </a:p>
          <a:p>
            <a:pPr indent="-317500" lvl="1" marL="914400" rtl="0" algn="l">
              <a:lnSpc>
                <a:spcPct val="115000"/>
              </a:lnSpc>
              <a:spcBef>
                <a:spcPts val="0"/>
              </a:spcBef>
              <a:spcAft>
                <a:spcPts val="0"/>
              </a:spcAft>
              <a:buSzPts val="1400"/>
              <a:buChar char="○"/>
            </a:pPr>
            <a:r>
              <a:rPr lang="en"/>
              <a:t>Compute and output (Nonce, C</a:t>
            </a:r>
            <a:r>
              <a:rPr baseline="-25000" lang="en"/>
              <a:t>1</a:t>
            </a:r>
            <a:r>
              <a:rPr lang="en"/>
              <a:t>, …, C</a:t>
            </a:r>
            <a:r>
              <a:rPr baseline="-25000" lang="en"/>
              <a:t>m</a:t>
            </a:r>
            <a:r>
              <a:rPr lang="en"/>
              <a:t>)</a:t>
            </a:r>
            <a:endParaRPr/>
          </a:p>
          <a:p>
            <a:pPr indent="-342900" lvl="0" marL="457200" rtl="0" algn="l">
              <a:lnSpc>
                <a:spcPct val="115000"/>
              </a:lnSpc>
              <a:spcBef>
                <a:spcPts val="0"/>
              </a:spcBef>
              <a:spcAft>
                <a:spcPts val="0"/>
              </a:spcAft>
              <a:buSzPts val="1800"/>
              <a:buChar char="●"/>
            </a:pPr>
            <a:r>
              <a:rPr lang="en"/>
              <a:t>How do you decrypt?</a:t>
            </a:r>
            <a:endParaRPr/>
          </a:p>
        </p:txBody>
      </p:sp>
      <p:sp>
        <p:nvSpPr>
          <p:cNvPr id="453" name="Google Shape;45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54" name="Google Shape;454;p34"/>
          <p:cNvPicPr preferRelativeResize="0"/>
          <p:nvPr/>
        </p:nvPicPr>
        <p:blipFill rotWithShape="1">
          <a:blip r:embed="rId3">
            <a:alphaModFix/>
          </a:blip>
          <a:srcRect b="0" l="0" r="0" t="0"/>
          <a:stretch/>
        </p:blipFill>
        <p:spPr>
          <a:xfrm>
            <a:off x="1826475" y="2639524"/>
            <a:ext cx="5491075" cy="2210726"/>
          </a:xfrm>
          <a:prstGeom prst="rect">
            <a:avLst/>
          </a:prstGeom>
          <a:noFill/>
          <a:ln>
            <a:noFill/>
          </a:ln>
        </p:spPr>
      </p:pic>
      <p:sp>
        <p:nvSpPr>
          <p:cNvPr id="455" name="Google Shape;455;p34"/>
          <p:cNvSpPr txBox="1"/>
          <p:nvPr/>
        </p:nvSpPr>
        <p:spPr>
          <a:xfrm>
            <a:off x="2537800" y="43123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56" name="Google Shape;456;p34"/>
          <p:cNvSpPr txBox="1"/>
          <p:nvPr/>
        </p:nvSpPr>
        <p:spPr>
          <a:xfrm>
            <a:off x="5782775" y="4388550"/>
            <a:ext cx="10644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C</a:t>
            </a:r>
            <a:r>
              <a:rPr b="0" baseline="-25000" i="0" lang="en" sz="1800" u="none" cap="none" strike="noStrike">
                <a:solidFill>
                  <a:schemeClr val="dk1"/>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Decryption</a:t>
            </a:r>
            <a:endParaRPr/>
          </a:p>
        </p:txBody>
      </p:sp>
      <p:sp>
        <p:nvSpPr>
          <p:cNvPr id="462" name="Google Shape;462;p35"/>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Recall one-time pad: XOR with ciphertext to get plaintext</a:t>
            </a:r>
            <a:endParaRPr/>
          </a:p>
          <a:p>
            <a:pPr indent="-342900" lvl="0" marL="457200" rtl="0" algn="l">
              <a:lnSpc>
                <a:spcPct val="115000"/>
              </a:lnSpc>
              <a:spcBef>
                <a:spcPts val="0"/>
              </a:spcBef>
              <a:spcAft>
                <a:spcPts val="0"/>
              </a:spcAft>
              <a:buSzPts val="1800"/>
              <a:buChar char="●"/>
            </a:pPr>
            <a:r>
              <a:rPr lang="en"/>
              <a:t>Note: we are only using block cipher encryption, not decryption</a:t>
            </a:r>
            <a:endParaRPr/>
          </a:p>
        </p:txBody>
      </p:sp>
      <p:sp>
        <p:nvSpPr>
          <p:cNvPr id="463" name="Google Shape;463;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64" name="Google Shape;464;p35"/>
          <p:cNvPicPr preferRelativeResize="0"/>
          <p:nvPr/>
        </p:nvPicPr>
        <p:blipFill rotWithShape="1">
          <a:blip r:embed="rId3">
            <a:alphaModFix/>
          </a:blip>
          <a:srcRect b="0" l="0" r="0" t="0"/>
          <a:stretch/>
        </p:blipFill>
        <p:spPr>
          <a:xfrm>
            <a:off x="1826463" y="2639530"/>
            <a:ext cx="5491075" cy="221072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Decryption</a:t>
            </a:r>
            <a:endParaRPr/>
          </a:p>
        </p:txBody>
      </p:sp>
      <p:sp>
        <p:nvSpPr>
          <p:cNvPr id="470" name="Google Shape;470;p36"/>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Dec(K, C):</a:t>
            </a:r>
            <a:endParaRPr/>
          </a:p>
          <a:p>
            <a:pPr indent="-317500" lvl="1" marL="914400" rtl="0" algn="l">
              <a:lnSpc>
                <a:spcPct val="115000"/>
              </a:lnSpc>
              <a:spcBef>
                <a:spcPts val="0"/>
              </a:spcBef>
              <a:spcAft>
                <a:spcPts val="0"/>
              </a:spcAft>
              <a:buSzPts val="1400"/>
              <a:buChar char="○"/>
            </a:pPr>
            <a:r>
              <a:rPr lang="en"/>
              <a:t>Parse C into (nonce, C</a:t>
            </a:r>
            <a:r>
              <a:rPr baseline="-25000" lang="en"/>
              <a:t>1</a:t>
            </a:r>
            <a:r>
              <a:rPr lang="en"/>
              <a:t>, …, C</a:t>
            </a:r>
            <a:r>
              <a:rPr baseline="-25000" lang="en"/>
              <a:t>m</a:t>
            </a:r>
            <a:r>
              <a:rPr lang="en"/>
              <a:t>)</a:t>
            </a:r>
            <a:endParaRPr/>
          </a:p>
          <a:p>
            <a:pPr indent="-317500" lvl="1" marL="914400" rtl="0" algn="l">
              <a:lnSpc>
                <a:spcPct val="115000"/>
              </a:lnSpc>
              <a:spcBef>
                <a:spcPts val="0"/>
              </a:spcBef>
              <a:spcAft>
                <a:spcPts val="0"/>
              </a:spcAft>
              <a:buSzPts val="1400"/>
              <a:buChar char="○"/>
            </a:pPr>
            <a:r>
              <a:rPr lang="en"/>
              <a:t>Compute P</a:t>
            </a:r>
            <a:r>
              <a:rPr baseline="-25000" lang="en"/>
              <a:t>i</a:t>
            </a:r>
            <a:r>
              <a:rPr lang="en"/>
              <a:t> by XORing Ci with output of E</a:t>
            </a:r>
            <a:r>
              <a:rPr baseline="-25000" lang="en"/>
              <a:t>k</a:t>
            </a:r>
            <a:r>
              <a:rPr lang="en"/>
              <a:t> on nonce and counter</a:t>
            </a:r>
            <a:endParaRPr/>
          </a:p>
          <a:p>
            <a:pPr indent="-317500" lvl="1" marL="914400" rtl="0" algn="l">
              <a:lnSpc>
                <a:spcPct val="115000"/>
              </a:lnSpc>
              <a:spcBef>
                <a:spcPts val="0"/>
              </a:spcBef>
              <a:spcAft>
                <a:spcPts val="0"/>
              </a:spcAft>
              <a:buSzPts val="1400"/>
              <a:buChar char="○"/>
            </a:pPr>
            <a:r>
              <a:rPr lang="en"/>
              <a:t>Concatenate resulting plaintexts and output M = P</a:t>
            </a:r>
            <a:r>
              <a:rPr baseline="-25000" lang="en"/>
              <a:t>1</a:t>
            </a:r>
            <a:r>
              <a:rPr lang="en"/>
              <a:t> … P</a:t>
            </a:r>
            <a:r>
              <a:rPr baseline="-25000" lang="en"/>
              <a:t>m</a:t>
            </a:r>
            <a:endParaRPr baseline="-25000"/>
          </a:p>
        </p:txBody>
      </p:sp>
      <p:sp>
        <p:nvSpPr>
          <p:cNvPr id="471" name="Google Shape;47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72" name="Google Shape;472;p36"/>
          <p:cNvPicPr preferRelativeResize="0"/>
          <p:nvPr/>
        </p:nvPicPr>
        <p:blipFill rotWithShape="1">
          <a:blip r:embed="rId3">
            <a:alphaModFix/>
          </a:blip>
          <a:srcRect b="0" l="0" r="0" t="0"/>
          <a:stretch/>
        </p:blipFill>
        <p:spPr>
          <a:xfrm>
            <a:off x="1826463" y="2639530"/>
            <a:ext cx="5491075" cy="2210722"/>
          </a:xfrm>
          <a:prstGeom prst="rect">
            <a:avLst/>
          </a:prstGeom>
          <a:noFill/>
          <a:ln>
            <a:noFill/>
          </a:ln>
        </p:spPr>
      </p:pic>
      <p:sp>
        <p:nvSpPr>
          <p:cNvPr id="473" name="Google Shape;473;p36"/>
          <p:cNvSpPr txBox="1"/>
          <p:nvPr/>
        </p:nvSpPr>
        <p:spPr>
          <a:xfrm>
            <a:off x="1721550" y="3647825"/>
            <a:ext cx="45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474" name="Google Shape;474;p36"/>
          <p:cNvSpPr txBox="1"/>
          <p:nvPr/>
        </p:nvSpPr>
        <p:spPr>
          <a:xfrm>
            <a:off x="3349950" y="3735300"/>
            <a:ext cx="45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475" name="Google Shape;475;p36"/>
          <p:cNvSpPr txBox="1"/>
          <p:nvPr/>
        </p:nvSpPr>
        <p:spPr>
          <a:xfrm>
            <a:off x="5054550" y="3647825"/>
            <a:ext cx="45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r>
              <a:rPr b="0" baseline="-25000" i="0" lang="en" sz="1400" u="none" cap="none" strike="noStrike">
                <a:solidFill>
                  <a:srgbClr val="000000"/>
                </a:solidFill>
                <a:latin typeface="Arial"/>
                <a:ea typeface="Arial"/>
                <a:cs typeface="Arial"/>
                <a:sym typeface="Arial"/>
              </a:rPr>
              <a:t>m</a:t>
            </a:r>
            <a:endParaRPr b="0" baseline="-2500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Efficiency</a:t>
            </a:r>
            <a:endParaRPr/>
          </a:p>
        </p:txBody>
      </p:sp>
      <p:sp>
        <p:nvSpPr>
          <p:cNvPr id="481" name="Google Shape;481;p37"/>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Can encryption be parallelized?</a:t>
            </a:r>
            <a:endParaRPr/>
          </a:p>
          <a:p>
            <a:pPr indent="-317500" lvl="1" marL="914400" rtl="0" algn="l">
              <a:lnSpc>
                <a:spcPct val="115000"/>
              </a:lnSpc>
              <a:spcBef>
                <a:spcPts val="0"/>
              </a:spcBef>
              <a:spcAft>
                <a:spcPts val="0"/>
              </a:spcAft>
              <a:buSzPts val="1400"/>
              <a:buChar char="○"/>
            </a:pPr>
            <a:r>
              <a:rPr lang="en"/>
              <a:t>Yes</a:t>
            </a:r>
            <a:endParaRPr/>
          </a:p>
          <a:p>
            <a:pPr indent="-342900" lvl="0" marL="457200" rtl="0" algn="l">
              <a:lnSpc>
                <a:spcPct val="115000"/>
              </a:lnSpc>
              <a:spcBef>
                <a:spcPts val="0"/>
              </a:spcBef>
              <a:spcAft>
                <a:spcPts val="0"/>
              </a:spcAft>
              <a:buSzPts val="1800"/>
              <a:buChar char="●"/>
            </a:pPr>
            <a:r>
              <a:rPr lang="en"/>
              <a:t>Can decryption be parallelized?</a:t>
            </a:r>
            <a:endParaRPr/>
          </a:p>
          <a:p>
            <a:pPr indent="-317500" lvl="1" marL="914400" rtl="0" algn="l">
              <a:lnSpc>
                <a:spcPct val="115000"/>
              </a:lnSpc>
              <a:spcBef>
                <a:spcPts val="0"/>
              </a:spcBef>
              <a:spcAft>
                <a:spcPts val="0"/>
              </a:spcAft>
              <a:buSzPts val="1400"/>
              <a:buChar char="○"/>
            </a:pPr>
            <a:r>
              <a:rPr lang="en"/>
              <a:t>Yes</a:t>
            </a:r>
            <a:endParaRPr/>
          </a:p>
        </p:txBody>
      </p:sp>
      <p:sp>
        <p:nvSpPr>
          <p:cNvPr id="482" name="Google Shape;482;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83" name="Google Shape;483;p37"/>
          <p:cNvPicPr preferRelativeResize="0"/>
          <p:nvPr/>
        </p:nvPicPr>
        <p:blipFill rotWithShape="1">
          <a:blip r:embed="rId3">
            <a:alphaModFix/>
          </a:blip>
          <a:srcRect b="0" l="0" r="0" t="0"/>
          <a:stretch/>
        </p:blipFill>
        <p:spPr>
          <a:xfrm>
            <a:off x="198500" y="3009700"/>
            <a:ext cx="4107101" cy="1653532"/>
          </a:xfrm>
          <a:prstGeom prst="rect">
            <a:avLst/>
          </a:prstGeom>
          <a:noFill/>
          <a:ln>
            <a:noFill/>
          </a:ln>
        </p:spPr>
      </p:pic>
      <p:pic>
        <p:nvPicPr>
          <p:cNvPr id="484" name="Google Shape;484;p37"/>
          <p:cNvPicPr preferRelativeResize="0"/>
          <p:nvPr/>
        </p:nvPicPr>
        <p:blipFill rotWithShape="1">
          <a:blip r:embed="rId4">
            <a:alphaModFix/>
          </a:blip>
          <a:srcRect b="0" l="0" r="0" t="0"/>
          <a:stretch/>
        </p:blipFill>
        <p:spPr>
          <a:xfrm>
            <a:off x="4516197" y="3009694"/>
            <a:ext cx="4107101" cy="16535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Padding</a:t>
            </a:r>
            <a:endParaRPr/>
          </a:p>
        </p:txBody>
      </p:sp>
      <p:sp>
        <p:nvSpPr>
          <p:cNvPr id="490" name="Google Shape;490;p38"/>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Do we need to pad messages?</a:t>
            </a:r>
            <a:endParaRPr/>
          </a:p>
          <a:p>
            <a:pPr indent="-317500" lvl="1" marL="914400" rtl="0" algn="l">
              <a:lnSpc>
                <a:spcPct val="115000"/>
              </a:lnSpc>
              <a:spcBef>
                <a:spcPts val="0"/>
              </a:spcBef>
              <a:spcAft>
                <a:spcPts val="0"/>
              </a:spcAft>
              <a:buSzPts val="1400"/>
              <a:buChar char="○"/>
            </a:pPr>
            <a:r>
              <a:rPr lang="en"/>
              <a:t>No! We can just cut off the parts of the XOR that are longer than the message.</a:t>
            </a:r>
            <a:endParaRPr/>
          </a:p>
        </p:txBody>
      </p:sp>
      <p:sp>
        <p:nvSpPr>
          <p:cNvPr id="491" name="Google Shape;49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92" name="Google Shape;492;p38"/>
          <p:cNvPicPr preferRelativeResize="0"/>
          <p:nvPr/>
        </p:nvPicPr>
        <p:blipFill rotWithShape="1">
          <a:blip r:embed="rId3">
            <a:alphaModFix/>
          </a:blip>
          <a:srcRect b="0" l="0" r="0" t="0"/>
          <a:stretch/>
        </p:blipFill>
        <p:spPr>
          <a:xfrm>
            <a:off x="198500" y="3009700"/>
            <a:ext cx="4107101" cy="1653532"/>
          </a:xfrm>
          <a:prstGeom prst="rect">
            <a:avLst/>
          </a:prstGeom>
          <a:noFill/>
          <a:ln>
            <a:noFill/>
          </a:ln>
        </p:spPr>
      </p:pic>
      <p:pic>
        <p:nvPicPr>
          <p:cNvPr id="493" name="Google Shape;493;p38"/>
          <p:cNvPicPr preferRelativeResize="0"/>
          <p:nvPr/>
        </p:nvPicPr>
        <p:blipFill rotWithShape="1">
          <a:blip r:embed="rId4">
            <a:alphaModFix/>
          </a:blip>
          <a:srcRect b="0" l="0" r="0" t="0"/>
          <a:stretch/>
        </p:blipFill>
        <p:spPr>
          <a:xfrm>
            <a:off x="4516197" y="3009694"/>
            <a:ext cx="4107101" cy="16535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 Security</a:t>
            </a:r>
            <a:endParaRPr/>
          </a:p>
        </p:txBody>
      </p:sp>
      <p:sp>
        <p:nvSpPr>
          <p:cNvPr id="499" name="Google Shape;499;p3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AES-CTR is IND-CPA secure. With what assumption?</a:t>
            </a:r>
            <a:endParaRPr/>
          </a:p>
          <a:p>
            <a:pPr indent="-342900" lvl="0" marL="457200" rtl="0" algn="l">
              <a:lnSpc>
                <a:spcPct val="115000"/>
              </a:lnSpc>
              <a:spcBef>
                <a:spcPts val="0"/>
              </a:spcBef>
              <a:spcAft>
                <a:spcPts val="0"/>
              </a:spcAft>
              <a:buSzPts val="1800"/>
              <a:buChar char="●"/>
            </a:pPr>
            <a:r>
              <a:rPr lang="en"/>
              <a:t>The nonce must be randomly generated and never reused</a:t>
            </a:r>
            <a:endParaRPr/>
          </a:p>
          <a:p>
            <a:pPr indent="-317500" lvl="1" marL="914400" rtl="0" algn="l">
              <a:lnSpc>
                <a:spcPct val="115000"/>
              </a:lnSpc>
              <a:spcBef>
                <a:spcPts val="0"/>
              </a:spcBef>
              <a:spcAft>
                <a:spcPts val="0"/>
              </a:spcAft>
              <a:buSzPts val="1400"/>
              <a:buChar char="○"/>
            </a:pPr>
            <a:r>
              <a:rPr lang="en"/>
              <a:t>And in general less than 2</a:t>
            </a:r>
            <a:r>
              <a:rPr baseline="30000" i="1" lang="en"/>
              <a:t>n</a:t>
            </a:r>
            <a:r>
              <a:rPr baseline="30000" lang="en"/>
              <a:t>/2</a:t>
            </a:r>
            <a:r>
              <a:rPr lang="en"/>
              <a:t> blocks are encrypted</a:t>
            </a:r>
            <a:endParaRPr/>
          </a:p>
          <a:p>
            <a:pPr indent="-342900" lvl="0" marL="457200" rtl="0" algn="l">
              <a:lnSpc>
                <a:spcPct val="115000"/>
              </a:lnSpc>
              <a:spcBef>
                <a:spcPts val="0"/>
              </a:spcBef>
              <a:spcAft>
                <a:spcPts val="0"/>
              </a:spcAft>
              <a:buSzPts val="1800"/>
              <a:buChar char="●"/>
            </a:pPr>
            <a:r>
              <a:rPr lang="en"/>
              <a:t>What happens if you reuse the nonce?</a:t>
            </a:r>
            <a:endParaRPr/>
          </a:p>
          <a:p>
            <a:pPr indent="-342900" lvl="0" marL="457200" rtl="0" algn="l">
              <a:lnSpc>
                <a:spcPct val="115000"/>
              </a:lnSpc>
              <a:spcBef>
                <a:spcPts val="0"/>
              </a:spcBef>
              <a:spcAft>
                <a:spcPts val="0"/>
              </a:spcAft>
              <a:buSzPts val="1800"/>
              <a:buChar char="●"/>
            </a:pPr>
            <a:r>
              <a:rPr lang="en"/>
              <a:t>Equivalent to reusing a key in a one-time pad</a:t>
            </a:r>
            <a:endParaRPr/>
          </a:p>
          <a:p>
            <a:pPr indent="-317500" lvl="1" marL="914400" rtl="0" algn="l">
              <a:lnSpc>
                <a:spcPct val="115000"/>
              </a:lnSpc>
              <a:spcBef>
                <a:spcPts val="0"/>
              </a:spcBef>
              <a:spcAft>
                <a:spcPts val="0"/>
              </a:spcAft>
              <a:buSzPts val="1400"/>
              <a:buChar char="○"/>
            </a:pPr>
            <a:r>
              <a:rPr lang="en"/>
              <a:t>Recall: Key reuse in a one-time pad is catastrophic: usually leaks enough information for an attacker to deduce the entire plaintext</a:t>
            </a:r>
            <a:endParaRPr/>
          </a:p>
        </p:txBody>
      </p:sp>
      <p:sp>
        <p:nvSpPr>
          <p:cNvPr id="500" name="Google Shape;50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4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CTR Mode</a:t>
            </a:r>
            <a:endParaRPr/>
          </a:p>
        </p:txBody>
      </p:sp>
      <p:sp>
        <p:nvSpPr>
          <p:cNvPr id="506" name="Google Shape;50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507" name="Google Shape;507;p40"/>
          <p:cNvPicPr preferRelativeResize="0"/>
          <p:nvPr/>
        </p:nvPicPr>
        <p:blipFill>
          <a:blip r:embed="rId3">
            <a:alphaModFix/>
          </a:blip>
          <a:stretch>
            <a:fillRect/>
          </a:stretch>
        </p:blipFill>
        <p:spPr>
          <a:xfrm>
            <a:off x="152400" y="1476600"/>
            <a:ext cx="8839202" cy="3064357"/>
          </a:xfrm>
          <a:prstGeom prst="rect">
            <a:avLst/>
          </a:prstGeom>
          <a:noFill/>
          <a:ln>
            <a:noFill/>
          </a:ln>
        </p:spPr>
      </p:pic>
      <p:sp>
        <p:nvSpPr>
          <p:cNvPr id="508" name="Google Shape;508;p40"/>
          <p:cNvSpPr txBox="1"/>
          <p:nvPr>
            <p:ph idx="1" type="body"/>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400"/>
              <a:buNone/>
            </a:pPr>
            <a:r>
              <a:rPr lang="en"/>
              <a:t>Encrypted with CTR, with random nonces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IVs and Nonces</a:t>
            </a:r>
            <a:endParaRPr/>
          </a:p>
        </p:txBody>
      </p:sp>
      <p:sp>
        <p:nvSpPr>
          <p:cNvPr id="514" name="Google Shape;514;p4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Initialization vector</a:t>
            </a:r>
            <a:r>
              <a:rPr lang="en"/>
              <a:t> (</a:t>
            </a:r>
            <a:r>
              <a:rPr b="1" lang="en"/>
              <a:t>IV</a:t>
            </a:r>
            <a:r>
              <a:rPr lang="en"/>
              <a:t>): A random, but public, one-use value to introduce randomness into the algorithm</a:t>
            </a:r>
            <a:endParaRPr/>
          </a:p>
          <a:p>
            <a:pPr indent="-317500" lvl="1" marL="914400" rtl="0" algn="l">
              <a:lnSpc>
                <a:spcPct val="115000"/>
              </a:lnSpc>
              <a:spcBef>
                <a:spcPts val="0"/>
              </a:spcBef>
              <a:spcAft>
                <a:spcPts val="0"/>
              </a:spcAft>
              <a:buSzPts val="1400"/>
              <a:buChar char="○"/>
            </a:pPr>
            <a:r>
              <a:rPr lang="en"/>
              <a:t>For CTR mode, we say that you use a </a:t>
            </a:r>
            <a:r>
              <a:rPr b="1" lang="en"/>
              <a:t>nonce</a:t>
            </a:r>
            <a:r>
              <a:rPr lang="en"/>
              <a:t> (number used once), since the value has to be unique, not necessarily random.</a:t>
            </a:r>
            <a:endParaRPr/>
          </a:p>
          <a:p>
            <a:pPr indent="-317500" lvl="1" marL="914400" rtl="0" algn="l">
              <a:lnSpc>
                <a:spcPct val="115000"/>
              </a:lnSpc>
              <a:spcBef>
                <a:spcPts val="0"/>
              </a:spcBef>
              <a:spcAft>
                <a:spcPts val="0"/>
              </a:spcAft>
              <a:buSzPts val="1400"/>
              <a:buChar char="○"/>
            </a:pPr>
            <a:r>
              <a:rPr lang="en"/>
              <a:t>In this class, we use IV and nonce interchangeably</a:t>
            </a:r>
            <a:endParaRPr/>
          </a:p>
          <a:p>
            <a:pPr indent="-342900" lvl="0" marL="457200" rtl="0" algn="l">
              <a:lnSpc>
                <a:spcPct val="115000"/>
              </a:lnSpc>
              <a:spcBef>
                <a:spcPts val="0"/>
              </a:spcBef>
              <a:spcAft>
                <a:spcPts val="0"/>
              </a:spcAft>
              <a:buSzPts val="1800"/>
              <a:buChar char="●"/>
            </a:pPr>
            <a:r>
              <a:rPr b="1" lang="en"/>
              <a:t>Never reuse IVs</a:t>
            </a:r>
            <a:endParaRPr/>
          </a:p>
          <a:p>
            <a:pPr indent="-317500" lvl="1" marL="914400" rtl="0" algn="l">
              <a:lnSpc>
                <a:spcPct val="115000"/>
              </a:lnSpc>
              <a:spcBef>
                <a:spcPts val="0"/>
              </a:spcBef>
              <a:spcAft>
                <a:spcPts val="0"/>
              </a:spcAft>
              <a:buSzPts val="1400"/>
              <a:buChar char="○"/>
            </a:pPr>
            <a:r>
              <a:rPr lang="en"/>
              <a:t>In some algorithms, IV/nonce reuse leaks limited information (e.g. CBC)</a:t>
            </a:r>
            <a:endParaRPr/>
          </a:p>
          <a:p>
            <a:pPr indent="-317500" lvl="1" marL="914400" rtl="0" algn="l">
              <a:lnSpc>
                <a:spcPct val="115000"/>
              </a:lnSpc>
              <a:spcBef>
                <a:spcPts val="0"/>
              </a:spcBef>
              <a:spcAft>
                <a:spcPts val="0"/>
              </a:spcAft>
              <a:buSzPts val="1400"/>
              <a:buChar char="○"/>
            </a:pPr>
            <a:r>
              <a:rPr lang="en"/>
              <a:t>In some algorithms, IV/nonce reuse leads to catastrophic failure (e.g. CTR)</a:t>
            </a:r>
            <a:endParaRPr/>
          </a:p>
        </p:txBody>
      </p:sp>
      <p:sp>
        <p:nvSpPr>
          <p:cNvPr id="515" name="Google Shape;51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IVs and Nonces</a:t>
            </a:r>
            <a:endParaRPr/>
          </a:p>
        </p:txBody>
      </p:sp>
      <p:sp>
        <p:nvSpPr>
          <p:cNvPr id="521" name="Google Shape;521;p44"/>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Thinking about the consequences of IV/nonce reuse is hard</a:t>
            </a:r>
            <a:endParaRPr/>
          </a:p>
          <a:p>
            <a:pPr indent="-342900" lvl="0" marL="457200" rtl="0" algn="l">
              <a:lnSpc>
                <a:spcPct val="115000"/>
              </a:lnSpc>
              <a:spcBef>
                <a:spcPts val="0"/>
              </a:spcBef>
              <a:spcAft>
                <a:spcPts val="0"/>
              </a:spcAft>
              <a:buSzPts val="1800"/>
              <a:buChar char="●"/>
            </a:pPr>
            <a:r>
              <a:rPr lang="en"/>
              <a:t>What if the IV/nonce is not reused, but the attacker can predict future values?</a:t>
            </a:r>
            <a:endParaRPr/>
          </a:p>
          <a:p>
            <a:pPr indent="-317500" lvl="1" marL="914400" rtl="0" algn="l">
              <a:lnSpc>
                <a:spcPct val="115000"/>
              </a:lnSpc>
              <a:spcBef>
                <a:spcPts val="0"/>
              </a:spcBef>
              <a:spcAft>
                <a:spcPts val="0"/>
              </a:spcAft>
              <a:buSzPts val="1400"/>
              <a:buChar char="○"/>
            </a:pPr>
            <a:r>
              <a:rPr lang="en"/>
              <a:t>Now you have to think about more attacks</a:t>
            </a:r>
            <a:endParaRPr/>
          </a:p>
          <a:p>
            <a:pPr indent="-317500" lvl="1" marL="914400" rtl="0" algn="l">
              <a:lnSpc>
                <a:spcPct val="115000"/>
              </a:lnSpc>
              <a:spcBef>
                <a:spcPts val="0"/>
              </a:spcBef>
              <a:spcAft>
                <a:spcPts val="0"/>
              </a:spcAft>
              <a:buSzPts val="1400"/>
              <a:buChar char="○"/>
            </a:pPr>
            <a:r>
              <a:rPr lang="en"/>
              <a:t>We’ll analyze this more in discussion: it really depends on the encryption function</a:t>
            </a:r>
            <a:endParaRPr/>
          </a:p>
          <a:p>
            <a:pPr indent="-342900" lvl="0" marL="457200" rtl="0" algn="l">
              <a:lnSpc>
                <a:spcPct val="115000"/>
              </a:lnSpc>
              <a:spcBef>
                <a:spcPts val="0"/>
              </a:spcBef>
              <a:spcAft>
                <a:spcPts val="0"/>
              </a:spcAft>
              <a:buSzPts val="1800"/>
              <a:buChar char="●"/>
            </a:pPr>
            <a:r>
              <a:rPr lang="en"/>
              <a:t>Solution: Randomly generate a new IV/nonce for every encryption</a:t>
            </a:r>
            <a:endParaRPr/>
          </a:p>
          <a:p>
            <a:pPr indent="-317500" lvl="1" marL="914400" rtl="0" algn="l">
              <a:lnSpc>
                <a:spcPct val="115000"/>
              </a:lnSpc>
              <a:spcBef>
                <a:spcPts val="0"/>
              </a:spcBef>
              <a:spcAft>
                <a:spcPts val="0"/>
              </a:spcAft>
              <a:buSzPts val="1400"/>
              <a:buChar char="○"/>
            </a:pPr>
            <a:r>
              <a:rPr lang="en"/>
              <a:t>If the nonce is 128 bits or longer, the probability of generating the same IV/nonce twice is astronomically small (basically 0)</a:t>
            </a:r>
            <a:endParaRPr/>
          </a:p>
          <a:p>
            <a:pPr indent="-317500" lvl="1" marL="914400" rtl="0" algn="l">
              <a:lnSpc>
                <a:spcPct val="115000"/>
              </a:lnSpc>
              <a:spcBef>
                <a:spcPts val="0"/>
              </a:spcBef>
              <a:spcAft>
                <a:spcPts val="0"/>
              </a:spcAft>
              <a:buSzPts val="1400"/>
              <a:buChar char="○"/>
            </a:pPr>
            <a:r>
              <a:rPr lang="en"/>
              <a:t>Now you don’t ever have to think about IV/nonce reuse attacks!</a:t>
            </a:r>
            <a:endParaRPr/>
          </a:p>
        </p:txBody>
      </p:sp>
      <p:sp>
        <p:nvSpPr>
          <p:cNvPr id="522" name="Google Shape;52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Comparing Modes of Operation</a:t>
            </a:r>
            <a:endParaRPr/>
          </a:p>
        </p:txBody>
      </p:sp>
      <p:sp>
        <p:nvSpPr>
          <p:cNvPr id="528" name="Google Shape;528;p45"/>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If you need high performance, which mode is better?</a:t>
            </a:r>
            <a:endParaRPr/>
          </a:p>
          <a:p>
            <a:pPr indent="-317500" lvl="1" marL="914400" rtl="0" algn="l">
              <a:lnSpc>
                <a:spcPct val="115000"/>
              </a:lnSpc>
              <a:spcBef>
                <a:spcPts val="0"/>
              </a:spcBef>
              <a:spcAft>
                <a:spcPts val="0"/>
              </a:spcAft>
              <a:buSzPts val="1400"/>
              <a:buChar char="○"/>
            </a:pPr>
            <a:r>
              <a:rPr lang="en"/>
              <a:t>CTR mode, because you can parallelize both encryption and decryption</a:t>
            </a:r>
            <a:endParaRPr/>
          </a:p>
          <a:p>
            <a:pPr indent="-342900" lvl="0" marL="457200" rtl="0" algn="l">
              <a:lnSpc>
                <a:spcPct val="115000"/>
              </a:lnSpc>
              <a:spcBef>
                <a:spcPts val="0"/>
              </a:spcBef>
              <a:spcAft>
                <a:spcPts val="0"/>
              </a:spcAft>
              <a:buSzPts val="1800"/>
              <a:buChar char="●"/>
            </a:pPr>
            <a:r>
              <a:rPr lang="en"/>
              <a:t>If you’re paranoid about security, which mode is better?</a:t>
            </a:r>
            <a:endParaRPr/>
          </a:p>
          <a:p>
            <a:pPr indent="-317500" lvl="1" marL="914400" rtl="0" algn="l">
              <a:lnSpc>
                <a:spcPct val="115000"/>
              </a:lnSpc>
              <a:spcBef>
                <a:spcPts val="0"/>
              </a:spcBef>
              <a:spcAft>
                <a:spcPts val="0"/>
              </a:spcAft>
              <a:buSzPts val="1400"/>
              <a:buChar char="○"/>
            </a:pPr>
            <a:r>
              <a:rPr lang="en"/>
              <a:t>CBC mode is better</a:t>
            </a:r>
            <a:endParaRPr/>
          </a:p>
          <a:p>
            <a:pPr indent="-342900" lvl="0" marL="457200" rtl="0" algn="l">
              <a:lnSpc>
                <a:spcPct val="115000"/>
              </a:lnSpc>
              <a:spcBef>
                <a:spcPts val="0"/>
              </a:spcBef>
              <a:spcAft>
                <a:spcPts val="0"/>
              </a:spcAft>
              <a:buSzPts val="1800"/>
              <a:buChar char="●"/>
            </a:pPr>
            <a:r>
              <a:rPr lang="en"/>
              <a:t>Theoretically, CBC and CTR mode are equally secure if used properly</a:t>
            </a:r>
            <a:endParaRPr/>
          </a:p>
          <a:p>
            <a:pPr indent="-317500" lvl="1" marL="914400" rtl="0" algn="l">
              <a:lnSpc>
                <a:spcPct val="115000"/>
              </a:lnSpc>
              <a:spcBef>
                <a:spcPts val="0"/>
              </a:spcBef>
              <a:spcAft>
                <a:spcPts val="0"/>
              </a:spcAft>
              <a:buSzPts val="1400"/>
              <a:buChar char="○"/>
            </a:pPr>
            <a:r>
              <a:rPr lang="en"/>
              <a:t>However, if used improperly (IV/nonce reuse), CBC only leaks partial information, and CTR fails catastrophically</a:t>
            </a:r>
            <a:endParaRPr/>
          </a:p>
          <a:p>
            <a:pPr indent="-317500" lvl="2" marL="1371600" rtl="0" algn="l">
              <a:lnSpc>
                <a:spcPct val="115000"/>
              </a:lnSpc>
              <a:spcBef>
                <a:spcPts val="0"/>
              </a:spcBef>
              <a:spcAft>
                <a:spcPts val="0"/>
              </a:spcAft>
              <a:buSzPts val="1400"/>
              <a:buChar char="■"/>
            </a:pPr>
            <a:r>
              <a:rPr lang="en"/>
              <a:t>Consider human factors: Systems should be as secure as possible even when implemented </a:t>
            </a:r>
            <a:r>
              <a:rPr i="1" lang="en"/>
              <a:t>incorrectly</a:t>
            </a:r>
            <a:endParaRPr i="1"/>
          </a:p>
          <a:p>
            <a:pPr indent="-317500" lvl="1" marL="914400" rtl="0" algn="l">
              <a:lnSpc>
                <a:spcPct val="115000"/>
              </a:lnSpc>
              <a:spcBef>
                <a:spcPts val="0"/>
              </a:spcBef>
              <a:spcAft>
                <a:spcPts val="0"/>
              </a:spcAft>
              <a:buSzPts val="1400"/>
              <a:buChar char="○"/>
            </a:pPr>
            <a:r>
              <a:rPr lang="en"/>
              <a:t>IV failures on CTR mode have resulted in multiple real-world security incidents!</a:t>
            </a:r>
            <a:endParaRPr/>
          </a:p>
        </p:txBody>
      </p:sp>
      <p:sp>
        <p:nvSpPr>
          <p:cNvPr id="529" name="Google Shape;52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Other Modes of Operation</a:t>
            </a:r>
            <a:endParaRPr/>
          </a:p>
        </p:txBody>
      </p:sp>
      <p:sp>
        <p:nvSpPr>
          <p:cNvPr id="535" name="Google Shape;535;p46"/>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Other modes exist besides CBC and CTR</a:t>
            </a:r>
            <a:endParaRPr/>
          </a:p>
          <a:p>
            <a:pPr indent="-342900" lvl="0" marL="457200" rtl="0" algn="l">
              <a:lnSpc>
                <a:spcPct val="115000"/>
              </a:lnSpc>
              <a:spcBef>
                <a:spcPts val="0"/>
              </a:spcBef>
              <a:spcAft>
                <a:spcPts val="0"/>
              </a:spcAft>
              <a:buSzPts val="1800"/>
              <a:buChar char="●"/>
            </a:pPr>
            <a:r>
              <a:rPr lang="en"/>
              <a:t>Trade-offs:</a:t>
            </a:r>
            <a:endParaRPr/>
          </a:p>
          <a:p>
            <a:pPr indent="-317500" lvl="1" marL="914400" rtl="0" algn="l">
              <a:lnSpc>
                <a:spcPct val="115000"/>
              </a:lnSpc>
              <a:spcBef>
                <a:spcPts val="0"/>
              </a:spcBef>
              <a:spcAft>
                <a:spcPts val="0"/>
              </a:spcAft>
              <a:buSzPts val="1400"/>
              <a:buChar char="○"/>
            </a:pPr>
            <a:r>
              <a:rPr lang="en"/>
              <a:t>Do we need to pad messages?</a:t>
            </a:r>
            <a:endParaRPr/>
          </a:p>
          <a:p>
            <a:pPr indent="-317500" lvl="1" marL="914400" rtl="0" algn="l">
              <a:lnSpc>
                <a:spcPct val="115000"/>
              </a:lnSpc>
              <a:spcBef>
                <a:spcPts val="0"/>
              </a:spcBef>
              <a:spcAft>
                <a:spcPts val="0"/>
              </a:spcAft>
              <a:buSzPts val="1400"/>
              <a:buChar char="○"/>
            </a:pPr>
            <a:r>
              <a:rPr lang="en"/>
              <a:t>How robust is the scheme if we use it incorrectly?</a:t>
            </a:r>
            <a:endParaRPr/>
          </a:p>
          <a:p>
            <a:pPr indent="-317500" lvl="1" marL="914400" rtl="0" algn="l">
              <a:lnSpc>
                <a:spcPct val="115000"/>
              </a:lnSpc>
              <a:spcBef>
                <a:spcPts val="0"/>
              </a:spcBef>
              <a:spcAft>
                <a:spcPts val="0"/>
              </a:spcAft>
              <a:buSzPts val="1400"/>
              <a:buChar char="○"/>
            </a:pPr>
            <a:r>
              <a:rPr lang="en"/>
              <a:t>Can we parallelize encryption/decryption?</a:t>
            </a:r>
            <a:endParaRPr/>
          </a:p>
        </p:txBody>
      </p:sp>
      <p:sp>
        <p:nvSpPr>
          <p:cNvPr id="536" name="Google Shape;53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0" st="0"/>
                                            </p:txEl>
                                          </p:spTgt>
                                        </p:tgtEl>
                                        <p:attrNameLst>
                                          <p:attrName>style.visibility</p:attrName>
                                        </p:attrNameLst>
                                      </p:cBhvr>
                                      <p:to>
                                        <p:strVal val="visible"/>
                                      </p:to>
                                    </p:set>
                                    <p:animEffect filter="fade" transition="in">
                                      <p:cBhvr>
                                        <p:cTn dur="1"/>
                                        <p:tgtEl>
                                          <p:spTgt spid="5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1" st="1"/>
                                            </p:txEl>
                                          </p:spTgt>
                                        </p:tgtEl>
                                        <p:attrNameLst>
                                          <p:attrName>style.visibility</p:attrName>
                                        </p:attrNameLst>
                                      </p:cBhvr>
                                      <p:to>
                                        <p:strVal val="visible"/>
                                      </p:to>
                                    </p:set>
                                    <p:animEffect filter="fade" transition="in">
                                      <p:cBhvr>
                                        <p:cTn dur="1"/>
                                        <p:tgtEl>
                                          <p:spTgt spid="5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2" st="2"/>
                                            </p:txEl>
                                          </p:spTgt>
                                        </p:tgtEl>
                                        <p:attrNameLst>
                                          <p:attrName>style.visibility</p:attrName>
                                        </p:attrNameLst>
                                      </p:cBhvr>
                                      <p:to>
                                        <p:strVal val="visible"/>
                                      </p:to>
                                    </p:set>
                                    <p:animEffect filter="fade" transition="in">
                                      <p:cBhvr>
                                        <p:cTn dur="1"/>
                                        <p:tgtEl>
                                          <p:spTgt spid="5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3" st="3"/>
                                            </p:txEl>
                                          </p:spTgt>
                                        </p:tgtEl>
                                        <p:attrNameLst>
                                          <p:attrName>style.visibility</p:attrName>
                                        </p:attrNameLst>
                                      </p:cBhvr>
                                      <p:to>
                                        <p:strVal val="visible"/>
                                      </p:to>
                                    </p:set>
                                    <p:animEffect filter="fade" transition="in">
                                      <p:cBhvr>
                                        <p:cTn dur="1"/>
                                        <p:tgtEl>
                                          <p:spTgt spid="5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4" st="4"/>
                                            </p:txEl>
                                          </p:spTgt>
                                        </p:tgtEl>
                                        <p:attrNameLst>
                                          <p:attrName>style.visibility</p:attrName>
                                        </p:attrNameLst>
                                      </p:cBhvr>
                                      <p:to>
                                        <p:strVal val="visible"/>
                                      </p:to>
                                    </p:set>
                                    <p:animEffect filter="fade" transition="in">
                                      <p:cBhvr>
                                        <p:cTn dur="1"/>
                                        <p:tgtEl>
                                          <p:spTgt spid="53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CFB Mode</a:t>
            </a:r>
            <a:endParaRPr/>
          </a:p>
        </p:txBody>
      </p:sp>
      <p:sp>
        <p:nvSpPr>
          <p:cNvPr id="542" name="Google Shape;542;p47"/>
          <p:cNvSpPr txBox="1"/>
          <p:nvPr>
            <p:ph idx="1" type="body"/>
          </p:nvPr>
        </p:nvSpPr>
        <p:spPr>
          <a:xfrm>
            <a:off x="198500" y="1246825"/>
            <a:ext cx="8520600" cy="1704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Also IND-CPA</a:t>
            </a:r>
            <a:endParaRPr/>
          </a:p>
          <a:p>
            <a:pPr indent="-342900" lvl="0" marL="457200" rtl="0" algn="l">
              <a:lnSpc>
                <a:spcPct val="115000"/>
              </a:lnSpc>
              <a:spcBef>
                <a:spcPts val="0"/>
              </a:spcBef>
              <a:spcAft>
                <a:spcPts val="0"/>
              </a:spcAft>
              <a:buSzPts val="1800"/>
              <a:buChar char="●"/>
            </a:pPr>
            <a:r>
              <a:rPr lang="en"/>
              <a:t>Try to analyze the trade-offs yourself:</a:t>
            </a:r>
            <a:endParaRPr/>
          </a:p>
          <a:p>
            <a:pPr indent="-317500" lvl="1" marL="914400" rtl="0" algn="l">
              <a:lnSpc>
                <a:spcPct val="115000"/>
              </a:lnSpc>
              <a:spcBef>
                <a:spcPts val="0"/>
              </a:spcBef>
              <a:spcAft>
                <a:spcPts val="0"/>
              </a:spcAft>
              <a:buSzPts val="1400"/>
              <a:buChar char="○"/>
            </a:pPr>
            <a:r>
              <a:rPr lang="en"/>
              <a:t>Do we need to pad messages?</a:t>
            </a:r>
            <a:endParaRPr/>
          </a:p>
          <a:p>
            <a:pPr indent="-317500" lvl="1" marL="914400" rtl="0" algn="l">
              <a:lnSpc>
                <a:spcPct val="115000"/>
              </a:lnSpc>
              <a:spcBef>
                <a:spcPts val="0"/>
              </a:spcBef>
              <a:spcAft>
                <a:spcPts val="0"/>
              </a:spcAft>
              <a:buSzPts val="1400"/>
              <a:buChar char="○"/>
            </a:pPr>
            <a:r>
              <a:rPr lang="en"/>
              <a:t>How robust is the scheme if we use it incorrectly?</a:t>
            </a:r>
            <a:endParaRPr/>
          </a:p>
          <a:p>
            <a:pPr indent="-317500" lvl="1" marL="914400" rtl="0" algn="l">
              <a:lnSpc>
                <a:spcPct val="115000"/>
              </a:lnSpc>
              <a:spcBef>
                <a:spcPts val="0"/>
              </a:spcBef>
              <a:spcAft>
                <a:spcPts val="0"/>
              </a:spcAft>
              <a:buSzPts val="1400"/>
              <a:buChar char="○"/>
            </a:pPr>
            <a:r>
              <a:rPr lang="en"/>
              <a:t>Can we parallelize encryption/decryption?</a:t>
            </a:r>
            <a:endParaRPr/>
          </a:p>
        </p:txBody>
      </p:sp>
      <p:sp>
        <p:nvSpPr>
          <p:cNvPr id="543" name="Google Shape;54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544" name="Google Shape;544;p47"/>
          <p:cNvPicPr preferRelativeResize="0"/>
          <p:nvPr/>
        </p:nvPicPr>
        <p:blipFill rotWithShape="1">
          <a:blip r:embed="rId3">
            <a:alphaModFix/>
          </a:blip>
          <a:srcRect b="0" l="0" r="0" t="0"/>
          <a:stretch/>
        </p:blipFill>
        <p:spPr>
          <a:xfrm>
            <a:off x="70325" y="2959013"/>
            <a:ext cx="4501680" cy="1704203"/>
          </a:xfrm>
          <a:prstGeom prst="rect">
            <a:avLst/>
          </a:prstGeom>
          <a:noFill/>
          <a:ln>
            <a:noFill/>
          </a:ln>
        </p:spPr>
      </p:pic>
      <p:pic>
        <p:nvPicPr>
          <p:cNvPr id="545" name="Google Shape;545;p47"/>
          <p:cNvPicPr preferRelativeResize="0"/>
          <p:nvPr/>
        </p:nvPicPr>
        <p:blipFill rotWithShape="1">
          <a:blip r:embed="rId4">
            <a:alphaModFix/>
          </a:blip>
          <a:srcRect b="0" l="0" r="0" t="0"/>
          <a:stretch/>
        </p:blipFill>
        <p:spPr>
          <a:xfrm>
            <a:off x="4519471" y="2959006"/>
            <a:ext cx="4501680" cy="17042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0" st="0"/>
                                            </p:txEl>
                                          </p:spTgt>
                                        </p:tgtEl>
                                        <p:attrNameLst>
                                          <p:attrName>style.visibility</p:attrName>
                                        </p:attrNameLst>
                                      </p:cBhvr>
                                      <p:to>
                                        <p:strVal val="visible"/>
                                      </p:to>
                                    </p:set>
                                    <p:animEffect filter="fade" transition="in">
                                      <p:cBhvr>
                                        <p:cTn dur="1"/>
                                        <p:tgtEl>
                                          <p:spTgt spid="5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1" st="1"/>
                                            </p:txEl>
                                          </p:spTgt>
                                        </p:tgtEl>
                                        <p:attrNameLst>
                                          <p:attrName>style.visibility</p:attrName>
                                        </p:attrNameLst>
                                      </p:cBhvr>
                                      <p:to>
                                        <p:strVal val="visible"/>
                                      </p:to>
                                    </p:set>
                                    <p:animEffect filter="fade" transition="in">
                                      <p:cBhvr>
                                        <p:cTn dur="1"/>
                                        <p:tgtEl>
                                          <p:spTgt spid="5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2" st="2"/>
                                            </p:txEl>
                                          </p:spTgt>
                                        </p:tgtEl>
                                        <p:attrNameLst>
                                          <p:attrName>style.visibility</p:attrName>
                                        </p:attrNameLst>
                                      </p:cBhvr>
                                      <p:to>
                                        <p:strVal val="visible"/>
                                      </p:to>
                                    </p:set>
                                    <p:animEffect filter="fade" transition="in">
                                      <p:cBhvr>
                                        <p:cTn dur="1"/>
                                        <p:tgtEl>
                                          <p:spTgt spid="5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3" st="3"/>
                                            </p:txEl>
                                          </p:spTgt>
                                        </p:tgtEl>
                                        <p:attrNameLst>
                                          <p:attrName>style.visibility</p:attrName>
                                        </p:attrNameLst>
                                      </p:cBhvr>
                                      <p:to>
                                        <p:strVal val="visible"/>
                                      </p:to>
                                    </p:set>
                                    <p:animEffect filter="fade" transition="in">
                                      <p:cBhvr>
                                        <p:cTn dur="1"/>
                                        <p:tgtEl>
                                          <p:spTgt spid="5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4" st="4"/>
                                            </p:txEl>
                                          </p:spTgt>
                                        </p:tgtEl>
                                        <p:attrNameLst>
                                          <p:attrName>style.visibility</p:attrName>
                                        </p:attrNameLst>
                                      </p:cBhvr>
                                      <p:to>
                                        <p:strVal val="visible"/>
                                      </p:to>
                                    </p:set>
                                    <p:animEffect filter="fade" transition="in">
                                      <p:cBhvr>
                                        <p:cTn dur="1"/>
                                        <p:tgtEl>
                                          <p:spTgt spid="54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CFB Mode</a:t>
            </a:r>
            <a:endParaRPr/>
          </a:p>
        </p:txBody>
      </p:sp>
      <p:sp>
        <p:nvSpPr>
          <p:cNvPr id="551" name="Google Shape;551;p48"/>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Try to analyze the trade-offs yourself:</a:t>
            </a:r>
            <a:endParaRPr/>
          </a:p>
          <a:p>
            <a:pPr indent="-317500" lvl="1" marL="914400" rtl="0" algn="l">
              <a:lnSpc>
                <a:spcPct val="115000"/>
              </a:lnSpc>
              <a:spcBef>
                <a:spcPts val="0"/>
              </a:spcBef>
              <a:spcAft>
                <a:spcPts val="0"/>
              </a:spcAft>
              <a:buSzPts val="1400"/>
              <a:buChar char="○"/>
            </a:pPr>
            <a:r>
              <a:rPr lang="en"/>
              <a:t>Do we need to pad messages?</a:t>
            </a:r>
            <a:endParaRPr/>
          </a:p>
          <a:p>
            <a:pPr indent="-317500" lvl="2" marL="1371600" rtl="0" algn="l">
              <a:lnSpc>
                <a:spcPct val="115000"/>
              </a:lnSpc>
              <a:spcBef>
                <a:spcPts val="0"/>
              </a:spcBef>
              <a:spcAft>
                <a:spcPts val="0"/>
              </a:spcAft>
              <a:buSzPts val="1400"/>
              <a:buChar char="■"/>
            </a:pPr>
            <a:r>
              <a:rPr lang="en"/>
              <a:t>No</a:t>
            </a:r>
            <a:endParaRPr/>
          </a:p>
          <a:p>
            <a:pPr indent="-317500" lvl="1" marL="914400" rtl="0" algn="l">
              <a:lnSpc>
                <a:spcPct val="115000"/>
              </a:lnSpc>
              <a:spcBef>
                <a:spcPts val="0"/>
              </a:spcBef>
              <a:spcAft>
                <a:spcPts val="0"/>
              </a:spcAft>
              <a:buSzPts val="1400"/>
              <a:buChar char="○"/>
            </a:pPr>
            <a:r>
              <a:rPr lang="en"/>
              <a:t>How robust is the scheme if we use it incorrectly?</a:t>
            </a:r>
            <a:endParaRPr/>
          </a:p>
          <a:p>
            <a:pPr indent="-317500" lvl="2" marL="1371600" rtl="0" algn="l">
              <a:lnSpc>
                <a:spcPct val="115000"/>
              </a:lnSpc>
              <a:spcBef>
                <a:spcPts val="0"/>
              </a:spcBef>
              <a:spcAft>
                <a:spcPts val="0"/>
              </a:spcAft>
              <a:buSzPts val="1400"/>
              <a:buChar char="■"/>
            </a:pPr>
            <a:r>
              <a:rPr lang="en"/>
              <a:t>Similar effects as CBC mode, but a bit worse if you reuse the IV</a:t>
            </a:r>
            <a:endParaRPr/>
          </a:p>
          <a:p>
            <a:pPr indent="-317500" lvl="1" marL="914400" rtl="0" algn="l">
              <a:lnSpc>
                <a:spcPct val="115000"/>
              </a:lnSpc>
              <a:spcBef>
                <a:spcPts val="0"/>
              </a:spcBef>
              <a:spcAft>
                <a:spcPts val="0"/>
              </a:spcAft>
              <a:buSzPts val="1400"/>
              <a:buChar char="○"/>
            </a:pPr>
            <a:r>
              <a:rPr lang="en"/>
              <a:t>Can we parallelize encryption/decryption?</a:t>
            </a:r>
            <a:endParaRPr/>
          </a:p>
          <a:p>
            <a:pPr indent="-317500" lvl="2" marL="1371600" rtl="0" algn="l">
              <a:lnSpc>
                <a:spcPct val="115000"/>
              </a:lnSpc>
              <a:spcBef>
                <a:spcPts val="0"/>
              </a:spcBef>
              <a:spcAft>
                <a:spcPts val="0"/>
              </a:spcAft>
              <a:buSzPts val="1400"/>
              <a:buChar char="■"/>
            </a:pPr>
            <a:r>
              <a:rPr lang="en"/>
              <a:t>Only decryption is parallelizable</a:t>
            </a:r>
            <a:endParaRPr/>
          </a:p>
        </p:txBody>
      </p:sp>
      <p:sp>
        <p:nvSpPr>
          <p:cNvPr id="552" name="Google Shape;552;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Lack of Integrity and Authenticity</a:t>
            </a:r>
            <a:endParaRPr/>
          </a:p>
        </p:txBody>
      </p:sp>
      <p:sp>
        <p:nvSpPr>
          <p:cNvPr id="558" name="Google Shape;558;p4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Block ciphers are designed for </a:t>
            </a:r>
            <a:r>
              <a:rPr i="1" lang="en"/>
              <a:t>confidentiality</a:t>
            </a:r>
            <a:r>
              <a:rPr lang="en"/>
              <a:t> (IND-CPA)</a:t>
            </a:r>
            <a:endParaRPr/>
          </a:p>
          <a:p>
            <a:pPr indent="-342900" lvl="0" marL="457200" rtl="0" algn="l">
              <a:lnSpc>
                <a:spcPct val="115000"/>
              </a:lnSpc>
              <a:spcBef>
                <a:spcPts val="0"/>
              </a:spcBef>
              <a:spcAft>
                <a:spcPts val="0"/>
              </a:spcAft>
              <a:buSzPts val="1800"/>
              <a:buChar char="●"/>
            </a:pPr>
            <a:r>
              <a:rPr lang="en"/>
              <a:t>If an attacker tampers with the ciphertext, we are not guaranteed to detect it</a:t>
            </a:r>
            <a:endParaRPr/>
          </a:p>
          <a:p>
            <a:pPr indent="-342900" lvl="0" marL="457200" rtl="0" algn="l">
              <a:lnSpc>
                <a:spcPct val="115000"/>
              </a:lnSpc>
              <a:spcBef>
                <a:spcPts val="0"/>
              </a:spcBef>
              <a:spcAft>
                <a:spcPts val="0"/>
              </a:spcAft>
              <a:buSzPts val="1800"/>
              <a:buChar char="●"/>
            </a:pPr>
            <a:r>
              <a:rPr lang="en"/>
              <a:t>Remember Mallory: An </a:t>
            </a:r>
            <a:r>
              <a:rPr i="1" lang="en"/>
              <a:t>active</a:t>
            </a:r>
            <a:r>
              <a:rPr lang="en"/>
              <a:t> manipulator who wants to tamper with the message</a:t>
            </a:r>
            <a:endParaRPr/>
          </a:p>
        </p:txBody>
      </p:sp>
      <p:sp>
        <p:nvSpPr>
          <p:cNvPr id="559" name="Google Shape;55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560" name="Google Shape;560;p49"/>
          <p:cNvPicPr preferRelativeResize="0"/>
          <p:nvPr/>
        </p:nvPicPr>
        <p:blipFill rotWithShape="1">
          <a:blip r:embed="rId3">
            <a:alphaModFix/>
          </a:blip>
          <a:srcRect b="0" l="0" r="0" t="0"/>
          <a:stretch/>
        </p:blipFill>
        <p:spPr>
          <a:xfrm>
            <a:off x="2937700" y="2571750"/>
            <a:ext cx="2850599" cy="2403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0" st="0"/>
                                            </p:txEl>
                                          </p:spTgt>
                                        </p:tgtEl>
                                        <p:attrNameLst>
                                          <p:attrName>style.visibility</p:attrName>
                                        </p:attrNameLst>
                                      </p:cBhvr>
                                      <p:to>
                                        <p:strVal val="visible"/>
                                      </p:to>
                                    </p:set>
                                    <p:animEffect filter="fade" transition="in">
                                      <p:cBhvr>
                                        <p:cTn dur="1"/>
                                        <p:tgtEl>
                                          <p:spTgt spid="5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 st="1"/>
                                            </p:txEl>
                                          </p:spTgt>
                                        </p:tgtEl>
                                        <p:attrNameLst>
                                          <p:attrName>style.visibility</p:attrName>
                                        </p:attrNameLst>
                                      </p:cBhvr>
                                      <p:to>
                                        <p:strVal val="visible"/>
                                      </p:to>
                                    </p:set>
                                    <p:animEffect filter="fade" transition="in">
                                      <p:cBhvr>
                                        <p:cTn dur="1"/>
                                        <p:tgtEl>
                                          <p:spTgt spid="5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2" st="2"/>
                                            </p:txEl>
                                          </p:spTgt>
                                        </p:tgtEl>
                                        <p:attrNameLst>
                                          <p:attrName>style.visibility</p:attrName>
                                        </p:attrNameLst>
                                      </p:cBhvr>
                                      <p:to>
                                        <p:strVal val="visible"/>
                                      </p:to>
                                    </p:set>
                                    <p:animEffect filter="fade" transition="in">
                                      <p:cBhvr>
                                        <p:cTn dur="1"/>
                                        <p:tgtEl>
                                          <p:spTgt spid="55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Lack of Integrity and Authenticity</a:t>
            </a:r>
            <a:endParaRPr/>
          </a:p>
        </p:txBody>
      </p:sp>
      <p:sp>
        <p:nvSpPr>
          <p:cNvPr id="566" name="Google Shape;566;p50"/>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Consider CTR mode</a:t>
            </a:r>
            <a:endParaRPr/>
          </a:p>
          <a:p>
            <a:pPr indent="-342900" lvl="0" marL="457200" rtl="0" algn="l">
              <a:lnSpc>
                <a:spcPct val="115000"/>
              </a:lnSpc>
              <a:spcBef>
                <a:spcPts val="0"/>
              </a:spcBef>
              <a:spcAft>
                <a:spcPts val="0"/>
              </a:spcAft>
              <a:buSzPts val="1800"/>
              <a:buChar char="●"/>
            </a:pPr>
            <a:r>
              <a:rPr lang="en"/>
              <a:t>What if Mallory tampers with the ciphertext using XOR?</a:t>
            </a:r>
            <a:endParaRPr/>
          </a:p>
        </p:txBody>
      </p:sp>
      <p:sp>
        <p:nvSpPr>
          <p:cNvPr id="567" name="Google Shape;567;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568" name="Google Shape;568;p50"/>
          <p:cNvGraphicFramePr/>
          <p:nvPr/>
        </p:nvGraphicFramePr>
        <p:xfrm>
          <a:off x="669300" y="24371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P</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a</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y</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M</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a</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l</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0x79</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0x4d</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0x6c</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0x24</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569" name="Google Shape;569;p50"/>
          <p:cNvGraphicFramePr/>
          <p:nvPr/>
        </p:nvGraphicFramePr>
        <p:xfrm>
          <a:off x="669300" y="3635075"/>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0x8a</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0xe3</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0x5e</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0xcf</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0x3b</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0x40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0x46</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0x57</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0xb8</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0x69</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0xd2</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0x96</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70" name="Google Shape;570;p50"/>
          <p:cNvSpPr txBox="1"/>
          <p:nvPr/>
        </p:nvSpPr>
        <p:spPr>
          <a:xfrm>
            <a:off x="4297650" y="32295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71" name="Google Shape;571;p50"/>
          <p:cNvSpPr txBox="1"/>
          <p:nvPr/>
        </p:nvSpPr>
        <p:spPr>
          <a:xfrm>
            <a:off x="4297650" y="4036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aphicFrame>
        <p:nvGraphicFramePr>
          <p:cNvPr id="572" name="Google Shape;572;p50"/>
          <p:cNvGraphicFramePr/>
          <p:nvPr/>
        </p:nvGraphicFramePr>
        <p:xfrm>
          <a:off x="669300" y="4442175"/>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0xda</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0x82</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0x27</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0xef</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0x76</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0x2a</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0x77</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0x9c</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0x58</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0xe2</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0xa6</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73" name="Google Shape;573;p50"/>
          <p:cNvSpPr txBox="1"/>
          <p:nvPr/>
        </p:nvSpPr>
        <p:spPr>
          <a:xfrm>
            <a:off x="102700" y="282885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1" sz="1400" u="none" cap="none" strike="noStrike">
              <a:solidFill>
                <a:srgbClr val="000000"/>
              </a:solidFill>
              <a:latin typeface="Arial"/>
              <a:ea typeface="Arial"/>
              <a:cs typeface="Arial"/>
              <a:sym typeface="Arial"/>
            </a:endParaRPr>
          </a:p>
        </p:txBody>
      </p:sp>
      <p:sp>
        <p:nvSpPr>
          <p:cNvPr id="574" name="Google Shape;574;p50"/>
          <p:cNvSpPr txBox="1"/>
          <p:nvPr/>
        </p:nvSpPr>
        <p:spPr>
          <a:xfrm>
            <a:off x="102700" y="36330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E</a:t>
            </a:r>
            <a:r>
              <a:rPr b="0" i="1" lang="en" sz="900" u="none" cap="none" strike="noStrike">
                <a:solidFill>
                  <a:schemeClr val="dk1"/>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i</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75" name="Google Shape;575;p50"/>
          <p:cNvSpPr txBox="1"/>
          <p:nvPr/>
        </p:nvSpPr>
        <p:spPr>
          <a:xfrm>
            <a:off x="102700" y="44373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1"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Lack of Integrity and Authenticity</a:t>
            </a:r>
            <a:endParaRPr/>
          </a:p>
        </p:txBody>
      </p:sp>
      <p:sp>
        <p:nvSpPr>
          <p:cNvPr id="581" name="Google Shape;581;p51"/>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Suppose Mallory knows the message </a:t>
            </a:r>
            <a:r>
              <a:rPr i="1" lang="en"/>
              <a:t>M</a:t>
            </a:r>
            <a:endParaRPr/>
          </a:p>
          <a:p>
            <a:pPr indent="-342900" lvl="0" marL="457200" rtl="0" algn="l">
              <a:lnSpc>
                <a:spcPct val="115000"/>
              </a:lnSpc>
              <a:spcBef>
                <a:spcPts val="0"/>
              </a:spcBef>
              <a:spcAft>
                <a:spcPts val="0"/>
              </a:spcAft>
              <a:buSzPts val="1800"/>
              <a:buChar char="●"/>
            </a:pPr>
            <a:r>
              <a:rPr lang="en"/>
              <a:t>How can Mallory change the </a:t>
            </a:r>
            <a:r>
              <a:rPr i="1" lang="en"/>
              <a:t>M</a:t>
            </a:r>
            <a:r>
              <a:rPr lang="en"/>
              <a:t> to say </a:t>
            </a:r>
            <a:r>
              <a:rPr b="1" lang="en">
                <a:latin typeface="Courier New"/>
                <a:ea typeface="Courier New"/>
                <a:cs typeface="Courier New"/>
                <a:sym typeface="Courier New"/>
              </a:rPr>
              <a:t>Pay Mal $</a:t>
            </a:r>
            <a:r>
              <a:rPr b="1" lang="en">
                <a:solidFill>
                  <a:srgbClr val="FF0000"/>
                </a:solidFill>
                <a:latin typeface="Courier New"/>
                <a:ea typeface="Courier New"/>
                <a:cs typeface="Courier New"/>
                <a:sym typeface="Courier New"/>
              </a:rPr>
              <a:t>9</a:t>
            </a:r>
            <a:r>
              <a:rPr b="1" lang="en">
                <a:latin typeface="Courier New"/>
                <a:ea typeface="Courier New"/>
                <a:cs typeface="Courier New"/>
                <a:sym typeface="Courier New"/>
              </a:rPr>
              <a:t>00</a:t>
            </a:r>
            <a:r>
              <a:rPr lang="en"/>
              <a:t>?</a:t>
            </a:r>
            <a:endParaRPr/>
          </a:p>
        </p:txBody>
      </p:sp>
      <p:sp>
        <p:nvSpPr>
          <p:cNvPr id="582" name="Google Shape;58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583" name="Google Shape;583;p51"/>
          <p:cNvGraphicFramePr/>
          <p:nvPr/>
        </p:nvGraphicFramePr>
        <p:xfrm>
          <a:off x="669300" y="24371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P</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y</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M</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l</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a:t>
                      </a:r>
                      <a:endParaRPr b="1" sz="1400" u="none" cap="none" strike="noStrike">
                        <a:solidFill>
                          <a:srgbClr val="B7B7B7"/>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0x79</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0x4d</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0x24</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584" name="Google Shape;584;p51"/>
          <p:cNvGraphicFramePr/>
          <p:nvPr/>
        </p:nvGraphicFramePr>
        <p:xfrm>
          <a:off x="669300" y="3635075"/>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0xe3</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0x5e</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0xcf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0x3b</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0xb8</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0x69</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85" name="Google Shape;585;p51"/>
          <p:cNvSpPr txBox="1"/>
          <p:nvPr/>
        </p:nvSpPr>
        <p:spPr>
          <a:xfrm>
            <a:off x="4297650" y="32295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86" name="Google Shape;586;p51"/>
          <p:cNvSpPr txBox="1"/>
          <p:nvPr/>
        </p:nvSpPr>
        <p:spPr>
          <a:xfrm>
            <a:off x="4297650" y="4036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aphicFrame>
        <p:nvGraphicFramePr>
          <p:cNvPr id="587" name="Google Shape;587;p51"/>
          <p:cNvGraphicFramePr/>
          <p:nvPr/>
        </p:nvGraphicFramePr>
        <p:xfrm>
          <a:off x="669300" y="4442175"/>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0x58</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0xa6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88" name="Google Shape;588;p51"/>
          <p:cNvSpPr txBox="1"/>
          <p:nvPr/>
        </p:nvSpPr>
        <p:spPr>
          <a:xfrm>
            <a:off x="102700" y="282885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1" sz="1400" u="none" cap="none" strike="noStrike">
              <a:solidFill>
                <a:srgbClr val="000000"/>
              </a:solidFill>
              <a:latin typeface="Arial"/>
              <a:ea typeface="Arial"/>
              <a:cs typeface="Arial"/>
              <a:sym typeface="Arial"/>
            </a:endParaRPr>
          </a:p>
        </p:txBody>
      </p:sp>
      <p:sp>
        <p:nvSpPr>
          <p:cNvPr id="589" name="Google Shape;589;p51"/>
          <p:cNvSpPr txBox="1"/>
          <p:nvPr/>
        </p:nvSpPr>
        <p:spPr>
          <a:xfrm>
            <a:off x="102700" y="36330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E</a:t>
            </a:r>
            <a:r>
              <a:rPr b="0" i="1" lang="en" sz="900" u="none" cap="none" strike="noStrike">
                <a:solidFill>
                  <a:schemeClr val="dk1"/>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i</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90" name="Google Shape;590;p51"/>
          <p:cNvSpPr txBox="1"/>
          <p:nvPr/>
        </p:nvSpPr>
        <p:spPr>
          <a:xfrm>
            <a:off x="102700" y="44373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1"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Lack of Integrity and Authenticity</a:t>
            </a:r>
            <a:endParaRPr/>
          </a:p>
        </p:txBody>
      </p:sp>
      <p:sp>
        <p:nvSpPr>
          <p:cNvPr id="596" name="Google Shape;596;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597" name="Google Shape;597;p52"/>
          <p:cNvGraphicFramePr/>
          <p:nvPr/>
        </p:nvGraphicFramePr>
        <p:xfrm>
          <a:off x="387113" y="1263725"/>
          <a:ext cx="3000000" cy="3000000"/>
        </p:xfrm>
        <a:graphic>
          <a:graphicData uri="http://schemas.openxmlformats.org/drawingml/2006/table">
            <a:tbl>
              <a:tblPr>
                <a:noFill/>
                <a:tableStyleId>{6346C487-4B0E-403B-B04B-DF73D881619D}</a:tableStyleId>
              </a:tblPr>
              <a:tblGrid>
                <a:gridCol w="649925"/>
                <a:gridCol w="200000"/>
                <a:gridCol w="1227575"/>
                <a:gridCol w="809550"/>
                <a:gridCol w="265000"/>
                <a:gridCol w="1753025"/>
                <a:gridCol w="3464675"/>
              </a:tblGrid>
              <a:tr h="381000">
                <a:tc>
                  <a:txBody>
                    <a:bodyPr/>
                    <a:lstStyle/>
                    <a:p>
                      <a:pPr indent="0" lvl="0" marL="0" marR="0" rtl="0" algn="r">
                        <a:lnSpc>
                          <a:spcPct val="115000"/>
                        </a:lnSpc>
                        <a:spcBef>
                          <a:spcPts val="0"/>
                        </a:spcBef>
                        <a:spcAft>
                          <a:spcPts val="0"/>
                        </a:spcAft>
                        <a:buClr>
                          <a:srgbClr val="000000"/>
                        </a:buClr>
                        <a:buSzPts val="1800"/>
                        <a:buFont typeface="Arial"/>
                        <a:buNone/>
                      </a:pPr>
                      <a:r>
                        <a:rPr i="1" lang="en" sz="1800" u="none" cap="none" strike="noStrike"/>
                        <a:t>C</a:t>
                      </a:r>
                      <a:r>
                        <a:rPr i="1" lang="en" sz="1300" u="none" cap="none" strike="noStrike"/>
                        <a:t>i</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a:t>
                      </a:r>
                      <a:r>
                        <a:rPr lang="en" sz="1800" u="none" cap="none" strike="noStrike">
                          <a:solidFill>
                            <a:srgbClr val="0000FF"/>
                          </a:solidFill>
                        </a:rPr>
                        <a:t>Pad</a:t>
                      </a:r>
                      <a:r>
                        <a:rPr i="1" lang="en" sz="1300" u="none" cap="none" strike="noStrike">
                          <a:solidFill>
                            <a:srgbClr val="0000FF"/>
                          </a:solidFill>
                        </a:rPr>
                        <a:t>i</a:t>
                      </a:r>
                      <a:r>
                        <a:rPr lang="en" sz="1800" u="none" cap="none" strike="noStrike">
                          <a:solidFill>
                            <a:schemeClr val="dk1"/>
                          </a:solidFill>
                        </a:rPr>
                        <a:t>  </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 sz="1800" u="none" cap="none" strike="noStrike">
                          <a:solidFill>
                            <a:schemeClr val="dk1"/>
                          </a:solidFill>
                          <a:latin typeface="Courier New"/>
                          <a:ea typeface="Courier New"/>
                          <a:cs typeface="Courier New"/>
                          <a:sym typeface="Courier New"/>
                        </a:rPr>
                        <a:t>0x58</a:t>
                      </a:r>
                      <a:endParaRPr i="1" sz="18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i="1" sz="1800" u="none" cap="none" strike="noStrike">
                        <a:solidFill>
                          <a:schemeClr val="dk1"/>
                        </a:solidFill>
                      </a:endParaRPr>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800" u="none" cap="none" strike="noStrike">
                          <a:solidFill>
                            <a:schemeClr val="dk1"/>
                          </a:solidFill>
                          <a:latin typeface="Courier New"/>
                          <a:ea typeface="Courier New"/>
                          <a:cs typeface="Courier New"/>
                          <a:sym typeface="Courier New"/>
                        </a:rPr>
                        <a:t>0x31</a:t>
                      </a:r>
                      <a:r>
                        <a:rPr lang="en" sz="1800" u="none" cap="none" strike="noStrike">
                          <a:solidFill>
                            <a:schemeClr val="dk1"/>
                          </a:solidFill>
                        </a:rPr>
                        <a:t> ⊕ Pad</a:t>
                      </a:r>
                      <a:r>
                        <a:rPr i="1" lang="en" sz="1300" u="none" cap="none" strike="noStrike">
                          <a:solidFill>
                            <a:schemeClr val="dk1"/>
                          </a:solidFill>
                        </a:rPr>
                        <a:t>i</a:t>
                      </a:r>
                      <a:endParaRPr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 sz="1800" u="none" cap="none" strike="noStrike">
                          <a:solidFill>
                            <a:srgbClr val="000000"/>
                          </a:solidFill>
                        </a:rPr>
                        <a:t>Definition of C</a:t>
                      </a:r>
                      <a:r>
                        <a:rPr lang="en" sz="1800" u="none" cap="none" strike="noStrike"/>
                        <a:t>TR</a:t>
                      </a:r>
                      <a:endParaRPr sz="1800" u="none" cap="none" strike="noStrike">
                        <a:solidFill>
                          <a:srgbClr val="000000"/>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r">
                        <a:lnSpc>
                          <a:spcPct val="115000"/>
                        </a:lnSpc>
                        <a:spcBef>
                          <a:spcPts val="0"/>
                        </a:spcBef>
                        <a:spcAft>
                          <a:spcPts val="0"/>
                        </a:spcAft>
                        <a:buClr>
                          <a:srgbClr val="000000"/>
                        </a:buClr>
                        <a:buSzPts val="1800"/>
                        <a:buFont typeface="Arial"/>
                        <a:buNone/>
                      </a:pPr>
                      <a:r>
                        <a:rPr lang="en" sz="1800" u="none" cap="none" strike="noStrike"/>
                        <a:t>Pad</a:t>
                      </a:r>
                      <a:r>
                        <a:rPr i="1" lang="en" sz="1300" u="none" cap="none" strike="noStrike"/>
                        <a:t>i</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a:t>
                      </a:r>
                      <a:r>
                        <a:rPr i="1" lang="en" sz="1800" u="none" cap="none" strike="noStrike">
                          <a:solidFill>
                            <a:schemeClr val="dk1"/>
                          </a:solidFill>
                        </a:rPr>
                        <a:t>C</a:t>
                      </a:r>
                      <a:r>
                        <a:rPr i="1" lang="en" sz="1300" u="none" cap="none" strike="noStrike">
                          <a:solidFill>
                            <a:schemeClr val="dk1"/>
                          </a:solidFill>
                        </a:rPr>
                        <a:t>i</a:t>
                      </a:r>
                      <a:r>
                        <a:rPr lang="en" sz="1800" u="none" cap="none" strike="noStrike">
                          <a:solidFill>
                            <a:schemeClr val="dk1"/>
                          </a:solidFill>
                        </a:rPr>
                        <a:t>  </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chemeClr val="dk1"/>
                        </a:buClr>
                        <a:buSzPts val="1100"/>
                        <a:buFont typeface="Arial"/>
                        <a:buNone/>
                      </a:pPr>
                      <a:r>
                        <a:rPr lang="en" sz="1800" u="none" cap="none" strike="noStrike">
                          <a:solidFill>
                            <a:schemeClr val="dk1"/>
                          </a:solidFill>
                        </a:rPr>
                        <a:t>Pad</a:t>
                      </a:r>
                      <a:r>
                        <a:rPr i="1" lang="en" sz="1300" u="none" cap="none" strike="noStrike">
                          <a:solidFill>
                            <a:schemeClr val="dk1"/>
                          </a:solidFill>
                        </a:rPr>
                        <a:t>i</a:t>
                      </a:r>
                      <a:endParaRPr sz="18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i="1" sz="1800" u="none" cap="none" strike="noStrike">
                        <a:solidFill>
                          <a:schemeClr val="dk1"/>
                        </a:solidFill>
                      </a:endParaRPr>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800" u="none" cap="none" strike="noStrike">
                          <a:solidFill>
                            <a:schemeClr val="dk1"/>
                          </a:solidFill>
                          <a:latin typeface="Courier New"/>
                          <a:ea typeface="Courier New"/>
                          <a:cs typeface="Courier New"/>
                          <a:sym typeface="Courier New"/>
                        </a:rPr>
                        <a:t>0x58</a:t>
                      </a:r>
                      <a:r>
                        <a:rPr lang="en" sz="1800" u="none" cap="none" strike="noStrike">
                          <a:solidFill>
                            <a:schemeClr val="dk1"/>
                          </a:solidFill>
                        </a:rPr>
                        <a:t> ⊕ </a:t>
                      </a:r>
                      <a:r>
                        <a:rPr b="1" lang="en" sz="1800" u="none" cap="none" strike="noStrike">
                          <a:solidFill>
                            <a:schemeClr val="dk1"/>
                          </a:solidFill>
                          <a:latin typeface="Courier New"/>
                          <a:ea typeface="Courier New"/>
                          <a:cs typeface="Courier New"/>
                          <a:sym typeface="Courier New"/>
                        </a:rPr>
                        <a:t>0x31</a:t>
                      </a:r>
                      <a:endParaRPr i="1"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Solve for the </a:t>
                      </a:r>
                      <a:r>
                        <a:rPr i="1" lang="en" sz="1800" u="none" cap="none" strike="noStrike"/>
                        <a:t>i</a:t>
                      </a:r>
                      <a:r>
                        <a:rPr lang="en" sz="1800" u="none" cap="none" strike="noStrike"/>
                        <a:t>th byte of the pad</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15000"/>
                        </a:lnSpc>
                        <a:spcBef>
                          <a:spcPts val="0"/>
                        </a:spcBef>
                        <a:spcAft>
                          <a:spcPts val="0"/>
                        </a:spcAft>
                        <a:buClr>
                          <a:srgbClr val="000000"/>
                        </a:buClr>
                        <a:buSzPts val="1800"/>
                        <a:buFont typeface="Arial"/>
                        <a:buNone/>
                      </a:pPr>
                      <a:r>
                        <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t/>
                      </a:r>
                      <a:endParaRPr i="1"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t/>
                      </a:r>
                      <a:endParaRPr sz="18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800" u="none" cap="none" strike="noStrike">
                          <a:solidFill>
                            <a:schemeClr val="dk1"/>
                          </a:solidFill>
                          <a:latin typeface="Courier New"/>
                          <a:ea typeface="Courier New"/>
                          <a:cs typeface="Courier New"/>
                          <a:sym typeface="Courier New"/>
                        </a:rPr>
                        <a:t>0x69</a:t>
                      </a:r>
                      <a:endParaRPr b="1" sz="1800" u="none" cap="none" strike="noStrike">
                        <a:solidFill>
                          <a:schemeClr val="dk1"/>
                        </a:solidFill>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r">
                        <a:lnSpc>
                          <a:spcPct val="115000"/>
                        </a:lnSpc>
                        <a:spcBef>
                          <a:spcPts val="0"/>
                        </a:spcBef>
                        <a:spcAft>
                          <a:spcPts val="0"/>
                        </a:spcAft>
                        <a:buClr>
                          <a:srgbClr val="000000"/>
                        </a:buClr>
                        <a:buSzPts val="1800"/>
                        <a:buFont typeface="Arial"/>
                        <a:buNone/>
                      </a:pPr>
                      <a:r>
                        <a:rPr i="1" lang="en" sz="1800" u="none" cap="none" strike="noStrike"/>
                        <a:t>C'</a:t>
                      </a:r>
                      <a:r>
                        <a:rPr i="1" lang="en" sz="1300" u="none" cap="none" strike="noStrike"/>
                        <a:t>i</a:t>
                      </a:r>
                      <a:endParaRPr i="1" sz="13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i="1" lang="en" sz="1800" u="none" cap="none" strike="noStrike">
                          <a:solidFill>
                            <a:schemeClr val="dk1"/>
                          </a:solidFill>
                        </a:rPr>
                        <a:t>M'</a:t>
                      </a:r>
                      <a:r>
                        <a:rPr i="1" lang="en" sz="1300" u="none" cap="none" strike="noStrike">
                          <a:solidFill>
                            <a:schemeClr val="dk1"/>
                          </a:solidFill>
                        </a:rPr>
                        <a:t>i</a:t>
                      </a:r>
                      <a:r>
                        <a:rPr lang="en" sz="1800" u="none" cap="none" strike="noStrike">
                          <a:solidFill>
                            <a:schemeClr val="dk1"/>
                          </a:solidFill>
                        </a:rPr>
                        <a:t> ⊕ Pad</a:t>
                      </a:r>
                      <a:r>
                        <a:rPr i="1" lang="en" sz="1300" u="none" cap="none" strike="noStrike">
                          <a:solidFill>
                            <a:schemeClr val="dk1"/>
                          </a:solidFill>
                        </a:rPr>
                        <a:t>i</a:t>
                      </a:r>
                      <a:r>
                        <a:rPr lang="en" sz="1800" u="none" cap="none" strike="noStrike">
                          <a:solidFill>
                            <a:schemeClr val="dk1"/>
                          </a:solidFill>
                        </a:rPr>
                        <a:t>  </a:t>
                      </a:r>
                      <a:endParaRPr i="1" sz="13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chemeClr val="dk1"/>
                        </a:buClr>
                        <a:buSzPts val="1100"/>
                        <a:buFont typeface="Arial"/>
                        <a:buNone/>
                      </a:pPr>
                      <a:r>
                        <a:rPr i="1" lang="en" sz="1800" u="none" cap="none" strike="noStrike">
                          <a:solidFill>
                            <a:schemeClr val="dk1"/>
                          </a:solidFill>
                        </a:rPr>
                        <a:t>C'</a:t>
                      </a:r>
                      <a:r>
                        <a:rPr i="1" lang="en" sz="1300" u="none" cap="none" strike="noStrike">
                          <a:solidFill>
                            <a:schemeClr val="dk1"/>
                          </a:solidFill>
                        </a:rPr>
                        <a:t>i</a:t>
                      </a:r>
                      <a:endParaRPr i="1" sz="18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i="1" sz="1800" u="none" cap="none" strike="noStrike">
                        <a:solidFill>
                          <a:schemeClr val="dk1"/>
                        </a:solidFill>
                      </a:endParaRPr>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800" u="none" cap="none" strike="noStrike">
                          <a:solidFill>
                            <a:srgbClr val="FF0000"/>
                          </a:solidFill>
                          <a:latin typeface="Courier New"/>
                          <a:ea typeface="Courier New"/>
                          <a:cs typeface="Courier New"/>
                          <a:sym typeface="Courier New"/>
                        </a:rPr>
                        <a:t>0x39</a:t>
                      </a:r>
                      <a:r>
                        <a:rPr lang="en" sz="1800" u="none" cap="none" strike="noStrike">
                          <a:solidFill>
                            <a:schemeClr val="dk1"/>
                          </a:solidFill>
                        </a:rPr>
                        <a:t> ⊕ </a:t>
                      </a:r>
                      <a:r>
                        <a:rPr b="1" lang="en" sz="1800" u="none" cap="none" strike="noStrike">
                          <a:solidFill>
                            <a:schemeClr val="dk1"/>
                          </a:solidFill>
                          <a:latin typeface="Courier New"/>
                          <a:ea typeface="Courier New"/>
                          <a:cs typeface="Courier New"/>
                          <a:sym typeface="Courier New"/>
                        </a:rPr>
                        <a:t>0x69</a:t>
                      </a:r>
                      <a:endParaRPr i="1"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Compute the changed </a:t>
                      </a:r>
                      <a:r>
                        <a:rPr i="1" lang="en" sz="1800" u="none" cap="none" strike="noStrike"/>
                        <a:t>i</a:t>
                      </a:r>
                      <a:r>
                        <a:rPr lang="en" sz="1800" u="none" cap="none" strike="noStrike"/>
                        <a:t>th byte</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15000"/>
                        </a:lnSpc>
                        <a:spcBef>
                          <a:spcPts val="0"/>
                        </a:spcBef>
                        <a:spcAft>
                          <a:spcPts val="0"/>
                        </a:spcAft>
                        <a:buClr>
                          <a:srgbClr val="000000"/>
                        </a:buClr>
                        <a:buSzPts val="1800"/>
                        <a:buFont typeface="Arial"/>
                        <a:buNone/>
                      </a:pPr>
                      <a:r>
                        <a:t/>
                      </a:r>
                      <a:endParaRPr b="1" sz="18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t/>
                      </a:r>
                      <a:endParaRPr i="1"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t/>
                      </a:r>
                      <a:endParaRPr b="1" sz="1800" u="none" cap="none" strike="noStrike">
                        <a:solidFill>
                          <a:schemeClr val="dk1"/>
                        </a:solidFill>
                        <a:latin typeface="Courier New"/>
                        <a:ea typeface="Courier New"/>
                        <a:cs typeface="Courier New"/>
                        <a:sym typeface="Courier New"/>
                      </a:endParaRPr>
                    </a:p>
                  </a:txBody>
                  <a:tcPr marT="91425" marB="91425" marR="91425" marL="91425">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b="1" sz="1800" u="none" cap="none" strike="noStrike">
                        <a:solidFill>
                          <a:schemeClr val="dk1"/>
                        </a:solidFill>
                        <a:latin typeface="Courier New"/>
                        <a:ea typeface="Courier New"/>
                        <a:cs typeface="Courier New"/>
                        <a:sym typeface="Courier New"/>
                      </a:endParaRPr>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800" u="none" cap="none" strike="noStrike">
                          <a:solidFill>
                            <a:schemeClr val="dk1"/>
                          </a:solidFill>
                          <a:latin typeface="Courier New"/>
                          <a:ea typeface="Courier New"/>
                          <a:cs typeface="Courier New"/>
                          <a:sym typeface="Courier New"/>
                        </a:rPr>
                        <a:t>0x50</a:t>
                      </a:r>
                      <a:endParaRPr b="1" sz="1800" u="none" cap="none" strike="noStrike">
                        <a:solidFill>
                          <a:schemeClr val="dk1"/>
                        </a:solidFill>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98" name="Google Shape;598;p52"/>
          <p:cNvGraphicFramePr/>
          <p:nvPr/>
        </p:nvGraphicFramePr>
        <p:xfrm>
          <a:off x="821700" y="38087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0x58</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0xa6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599" name="Google Shape;599;p52"/>
          <p:cNvGraphicFramePr/>
          <p:nvPr/>
        </p:nvGraphicFramePr>
        <p:xfrm>
          <a:off x="821700" y="43561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0xa6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00" name="Google Shape;600;p52"/>
          <p:cNvSpPr txBox="1"/>
          <p:nvPr/>
        </p:nvSpPr>
        <p:spPr>
          <a:xfrm>
            <a:off x="255100" y="38095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1" sz="1400" u="none" cap="none" strike="noStrike">
              <a:solidFill>
                <a:srgbClr val="000000"/>
              </a:solidFill>
              <a:latin typeface="Arial"/>
              <a:ea typeface="Arial"/>
              <a:cs typeface="Arial"/>
              <a:sym typeface="Arial"/>
            </a:endParaRPr>
          </a:p>
        </p:txBody>
      </p:sp>
      <p:sp>
        <p:nvSpPr>
          <p:cNvPr id="601" name="Google Shape;601;p52"/>
          <p:cNvSpPr txBox="1"/>
          <p:nvPr/>
        </p:nvSpPr>
        <p:spPr>
          <a:xfrm>
            <a:off x="255100" y="43512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602" name="Google Shape;602;p52"/>
          <p:cNvSpPr txBox="1"/>
          <p:nvPr/>
        </p:nvSpPr>
        <p:spPr>
          <a:xfrm>
            <a:off x="215225" y="4752300"/>
            <a:ext cx="41319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FF"/>
                </a:solidFill>
              </a:rPr>
              <a:t>Note: </a:t>
            </a:r>
            <a:r>
              <a:rPr lang="en" sz="1100">
                <a:solidFill>
                  <a:srgbClr val="0000FF"/>
                </a:solidFill>
              </a:rPr>
              <a:t>Pad</a:t>
            </a:r>
            <a:r>
              <a:rPr i="1" lang="en" sz="600">
                <a:solidFill>
                  <a:srgbClr val="0000FF"/>
                </a:solidFill>
              </a:rPr>
              <a:t>i</a:t>
            </a:r>
            <a:r>
              <a:rPr lang="en" sz="1100">
                <a:solidFill>
                  <a:srgbClr val="0000FF"/>
                </a:solidFill>
              </a:rPr>
              <a:t> is simply the output from the block cipher</a:t>
            </a:r>
            <a:endParaRPr sz="1100">
              <a:solidFill>
                <a:srgbClr val="0000FF"/>
              </a:solidFill>
            </a:endParaRPr>
          </a:p>
        </p:txBody>
      </p:sp>
      <p:sp>
        <p:nvSpPr>
          <p:cNvPr id="603" name="Google Shape;603;p52"/>
          <p:cNvSpPr txBox="1"/>
          <p:nvPr/>
        </p:nvSpPr>
        <p:spPr>
          <a:xfrm>
            <a:off x="3753475" y="4752300"/>
            <a:ext cx="50034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FF0000"/>
                </a:solidFill>
              </a:rPr>
              <a:t>Note</a:t>
            </a:r>
            <a:r>
              <a:rPr lang="en" sz="1100">
                <a:solidFill>
                  <a:srgbClr val="FF0000"/>
                </a:solidFill>
              </a:rPr>
              <a:t>: Mallory wants Bob to </a:t>
            </a:r>
            <a:r>
              <a:rPr lang="en" sz="1100">
                <a:solidFill>
                  <a:srgbClr val="FF0000"/>
                </a:solidFill>
              </a:rPr>
              <a:t>receive</a:t>
            </a:r>
            <a:r>
              <a:rPr lang="en" sz="1100">
                <a:solidFill>
                  <a:srgbClr val="FF0000"/>
                </a:solidFill>
              </a:rPr>
              <a:t> 9. This is the hex value of 9’s ASCII Code.</a:t>
            </a:r>
            <a:endParaRPr sz="110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3"/>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 happens when we decrypt </a:t>
            </a:r>
            <a:r>
              <a:rPr i="1" lang="en"/>
              <a:t>C</a:t>
            </a:r>
            <a:r>
              <a:rPr lang="en"/>
              <a:t>'?</a:t>
            </a:r>
            <a:endParaRPr/>
          </a:p>
          <a:p>
            <a:pPr indent="-317500" lvl="1" marL="914400" rtl="0" algn="l">
              <a:lnSpc>
                <a:spcPct val="115000"/>
              </a:lnSpc>
              <a:spcBef>
                <a:spcPts val="0"/>
              </a:spcBef>
              <a:spcAft>
                <a:spcPts val="0"/>
              </a:spcAft>
              <a:buSzPts val="1400"/>
              <a:buChar char="○"/>
            </a:pPr>
            <a:r>
              <a:rPr lang="en"/>
              <a:t>The message looks like “Pay Mal $900” now!</a:t>
            </a:r>
            <a:endParaRPr/>
          </a:p>
          <a:p>
            <a:pPr indent="-317500" lvl="1" marL="914400" rtl="0" algn="l">
              <a:lnSpc>
                <a:spcPct val="115000"/>
              </a:lnSpc>
              <a:spcBef>
                <a:spcPts val="0"/>
              </a:spcBef>
              <a:spcAft>
                <a:spcPts val="0"/>
              </a:spcAft>
              <a:buSzPts val="1400"/>
              <a:buChar char="○"/>
            </a:pPr>
            <a:r>
              <a:rPr lang="en"/>
              <a:t>Note: Mallory didn’t have to know the key; no integrity or authenticity for CTR mode!</a:t>
            </a:r>
            <a:endParaRPr/>
          </a:p>
        </p:txBody>
      </p:sp>
      <p:sp>
        <p:nvSpPr>
          <p:cNvPr id="609" name="Google Shape;609;p5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Lack of Integrity and Authenticity</a:t>
            </a:r>
            <a:endParaRPr/>
          </a:p>
        </p:txBody>
      </p:sp>
      <p:sp>
        <p:nvSpPr>
          <p:cNvPr id="610" name="Google Shape;61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611" name="Google Shape;611;p53"/>
          <p:cNvGraphicFramePr/>
          <p:nvPr/>
        </p:nvGraphicFramePr>
        <p:xfrm>
          <a:off x="669300" y="24371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0x50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0xa6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612" name="Google Shape;612;p53"/>
          <p:cNvGraphicFramePr/>
          <p:nvPr/>
        </p:nvGraphicFramePr>
        <p:xfrm>
          <a:off x="669300" y="32442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0x8a</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0xe3</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0x5e</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0xcf</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0x3b</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0x57</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0xb8</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0x69</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0xd2</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0x96</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13" name="Google Shape;613;p53"/>
          <p:cNvSpPr txBox="1"/>
          <p:nvPr/>
        </p:nvSpPr>
        <p:spPr>
          <a:xfrm>
            <a:off x="4297650" y="283865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4" name="Google Shape;614;p53"/>
          <p:cNvSpPr txBox="1"/>
          <p:nvPr/>
        </p:nvSpPr>
        <p:spPr>
          <a:xfrm>
            <a:off x="4297650" y="364575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5" name="Google Shape;615;p53"/>
          <p:cNvSpPr txBox="1"/>
          <p:nvPr/>
        </p:nvSpPr>
        <p:spPr>
          <a:xfrm>
            <a:off x="102700" y="24379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616" name="Google Shape;616;p53"/>
          <p:cNvSpPr txBox="1"/>
          <p:nvPr/>
        </p:nvSpPr>
        <p:spPr>
          <a:xfrm>
            <a:off x="102700" y="40464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P</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aphicFrame>
        <p:nvGraphicFramePr>
          <p:cNvPr id="617" name="Google Shape;617;p53"/>
          <p:cNvGraphicFramePr/>
          <p:nvPr/>
        </p:nvGraphicFramePr>
        <p:xfrm>
          <a:off x="669300" y="4051300"/>
          <a:ext cx="3000000" cy="3000000"/>
        </p:xfrm>
        <a:graphic>
          <a:graphicData uri="http://schemas.openxmlformats.org/drawingml/2006/table">
            <a:tbl>
              <a:tblPr>
                <a:noFill/>
                <a:tableStyleId>{6346C487-4B0E-403B-B04B-DF73D881619D}</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0x50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0x79</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0x4d</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0x61</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0x6c</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0x24</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0x39</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0x30</a:t>
                      </a:r>
                      <a:endParaRPr b="1" sz="1400" u="none" cap="none" strike="noStrike">
                        <a:solidFill>
                          <a:srgbClr val="B7B7B7"/>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P</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y</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M</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l</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9</a:t>
                      </a:r>
                      <a:endParaRPr b="1" sz="1400" u="none" cap="none" strike="noStrike">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B7B7B7"/>
                          </a:solidFill>
                          <a:latin typeface="Courier New"/>
                          <a:ea typeface="Courier New"/>
                          <a:cs typeface="Courier New"/>
                          <a:sym typeface="Courier New"/>
                        </a:rPr>
                        <a:t>0</a:t>
                      </a:r>
                      <a:endParaRPr b="1" sz="1400" u="none" cap="none" strike="noStrike">
                        <a:solidFill>
                          <a:srgbClr val="B7B7B7"/>
                        </a:solidFill>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18" name="Google Shape;618;p53"/>
          <p:cNvSpPr txBox="1"/>
          <p:nvPr/>
        </p:nvSpPr>
        <p:spPr>
          <a:xfrm>
            <a:off x="102700" y="32422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E</a:t>
            </a:r>
            <a:r>
              <a:rPr b="0" i="1" lang="en" sz="900" u="none" cap="none" strike="noStrike">
                <a:solidFill>
                  <a:schemeClr val="dk1"/>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i</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4"/>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 about CBC?</a:t>
            </a:r>
            <a:endParaRPr/>
          </a:p>
          <a:p>
            <a:pPr indent="-317500" lvl="1" marL="914400" rtl="0" algn="l">
              <a:lnSpc>
                <a:spcPct val="115000"/>
              </a:lnSpc>
              <a:spcBef>
                <a:spcPts val="0"/>
              </a:spcBef>
              <a:spcAft>
                <a:spcPts val="0"/>
              </a:spcAft>
              <a:buSzPts val="1400"/>
              <a:buChar char="○"/>
            </a:pPr>
            <a:r>
              <a:rPr lang="en"/>
              <a:t>Altering a bit of the ciphertext causes some blocks to become random gibberish</a:t>
            </a:r>
            <a:endParaRPr/>
          </a:p>
          <a:p>
            <a:pPr indent="-317500" lvl="1" marL="914400" rtl="0" algn="l">
              <a:lnSpc>
                <a:spcPct val="115000"/>
              </a:lnSpc>
              <a:spcBef>
                <a:spcPts val="0"/>
              </a:spcBef>
              <a:spcAft>
                <a:spcPts val="0"/>
              </a:spcAft>
              <a:buSzPts val="1400"/>
              <a:buChar char="○"/>
            </a:pPr>
            <a:r>
              <a:rPr lang="en"/>
              <a:t>However, Bob cannot prove that Alice did not send random gibberish, so it still does </a:t>
            </a:r>
            <a:r>
              <a:rPr i="1" lang="en"/>
              <a:t>not</a:t>
            </a:r>
            <a:r>
              <a:rPr lang="en"/>
              <a:t> provide integrity or authenticity</a:t>
            </a:r>
            <a:endParaRPr/>
          </a:p>
        </p:txBody>
      </p:sp>
      <p:sp>
        <p:nvSpPr>
          <p:cNvPr id="624" name="Google Shape;624;p5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Lack of Integrity and Authenticity</a:t>
            </a:r>
            <a:endParaRPr/>
          </a:p>
        </p:txBody>
      </p:sp>
      <p:sp>
        <p:nvSpPr>
          <p:cNvPr id="625" name="Google Shape;62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626" name="Google Shape;626;p54"/>
          <p:cNvPicPr preferRelativeResize="0"/>
          <p:nvPr/>
        </p:nvPicPr>
        <p:blipFill rotWithShape="1">
          <a:blip r:embed="rId3">
            <a:alphaModFix/>
          </a:blip>
          <a:srcRect b="0" l="0" r="0" t="0"/>
          <a:stretch/>
        </p:blipFill>
        <p:spPr>
          <a:xfrm>
            <a:off x="1611251" y="2571750"/>
            <a:ext cx="5921486" cy="2384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xEl>
                                              <p:pRg end="0" st="0"/>
                                            </p:txEl>
                                          </p:spTgt>
                                        </p:tgtEl>
                                        <p:attrNameLst>
                                          <p:attrName>style.visibility</p:attrName>
                                        </p:attrNameLst>
                                      </p:cBhvr>
                                      <p:to>
                                        <p:strVal val="visible"/>
                                      </p:to>
                                    </p:set>
                                    <p:animEffect filter="fade" transition="in">
                                      <p:cBhvr>
                                        <p:cTn dur="1"/>
                                        <p:tgtEl>
                                          <p:spTgt spid="6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xEl>
                                              <p:pRg end="1" st="1"/>
                                            </p:txEl>
                                          </p:spTgt>
                                        </p:tgtEl>
                                        <p:attrNameLst>
                                          <p:attrName>style.visibility</p:attrName>
                                        </p:attrNameLst>
                                      </p:cBhvr>
                                      <p:to>
                                        <p:strVal val="visible"/>
                                      </p:to>
                                    </p:set>
                                    <p:animEffect filter="fade" transition="in">
                                      <p:cBhvr>
                                        <p:cTn dur="1"/>
                                        <p:tgtEl>
                                          <p:spTgt spid="6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xEl>
                                              <p:pRg end="2" st="2"/>
                                            </p:txEl>
                                          </p:spTgt>
                                        </p:tgtEl>
                                        <p:attrNameLst>
                                          <p:attrName>style.visibility</p:attrName>
                                        </p:attrNameLst>
                                      </p:cBhvr>
                                      <p:to>
                                        <p:strVal val="visible"/>
                                      </p:to>
                                    </p:set>
                                    <p:animEffect filter="fade" transition="in">
                                      <p:cBhvr>
                                        <p:cTn dur="1"/>
                                        <p:tgtEl>
                                          <p:spTgt spid="62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 Modes of Operation: Summary</a:t>
            </a:r>
            <a:endParaRPr/>
          </a:p>
        </p:txBody>
      </p:sp>
      <p:sp>
        <p:nvSpPr>
          <p:cNvPr id="632" name="Google Shape;632;p55"/>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ECB mode: Deterministic, so not IND-CPA secure</a:t>
            </a:r>
            <a:endParaRPr/>
          </a:p>
          <a:p>
            <a:pPr indent="-342900" lvl="0" marL="457200" rtl="0" algn="l">
              <a:lnSpc>
                <a:spcPct val="115000"/>
              </a:lnSpc>
              <a:spcBef>
                <a:spcPts val="0"/>
              </a:spcBef>
              <a:spcAft>
                <a:spcPts val="0"/>
              </a:spcAft>
              <a:buSzPts val="1800"/>
              <a:buChar char="●"/>
            </a:pPr>
            <a:r>
              <a:rPr lang="en"/>
              <a:t>CBC mode</a:t>
            </a:r>
            <a:endParaRPr/>
          </a:p>
          <a:p>
            <a:pPr indent="-317500" lvl="1" marL="914400" rtl="0" algn="l">
              <a:lnSpc>
                <a:spcPct val="115000"/>
              </a:lnSpc>
              <a:spcBef>
                <a:spcPts val="0"/>
              </a:spcBef>
              <a:spcAft>
                <a:spcPts val="0"/>
              </a:spcAft>
              <a:buSzPts val="1400"/>
              <a:buChar char="○"/>
            </a:pPr>
            <a:r>
              <a:rPr lang="en"/>
              <a:t>IND-CPA secure, assuming no IV reuse</a:t>
            </a:r>
            <a:endParaRPr/>
          </a:p>
          <a:p>
            <a:pPr indent="-317500" lvl="1" marL="914400" rtl="0" algn="l">
              <a:lnSpc>
                <a:spcPct val="115000"/>
              </a:lnSpc>
              <a:spcBef>
                <a:spcPts val="0"/>
              </a:spcBef>
              <a:spcAft>
                <a:spcPts val="0"/>
              </a:spcAft>
              <a:buSzPts val="1400"/>
              <a:buChar char="○"/>
            </a:pPr>
            <a:r>
              <a:rPr lang="en"/>
              <a:t>Encryption is not parallelizable</a:t>
            </a:r>
            <a:endParaRPr/>
          </a:p>
          <a:p>
            <a:pPr indent="-317500" lvl="1" marL="914400" rtl="0" algn="l">
              <a:lnSpc>
                <a:spcPct val="115000"/>
              </a:lnSpc>
              <a:spcBef>
                <a:spcPts val="0"/>
              </a:spcBef>
              <a:spcAft>
                <a:spcPts val="0"/>
              </a:spcAft>
              <a:buSzPts val="1400"/>
              <a:buChar char="○"/>
            </a:pPr>
            <a:r>
              <a:rPr lang="en"/>
              <a:t>Decryption is parallelizable</a:t>
            </a:r>
            <a:endParaRPr/>
          </a:p>
          <a:p>
            <a:pPr indent="-317500" lvl="1" marL="914400" rtl="0" algn="l">
              <a:lnSpc>
                <a:spcPct val="115000"/>
              </a:lnSpc>
              <a:spcBef>
                <a:spcPts val="0"/>
              </a:spcBef>
              <a:spcAft>
                <a:spcPts val="0"/>
              </a:spcAft>
              <a:buSzPts val="1400"/>
              <a:buChar char="○"/>
            </a:pPr>
            <a:r>
              <a:rPr lang="en"/>
              <a:t>Must pad plaintext to a multiple of the block size</a:t>
            </a:r>
            <a:endParaRPr/>
          </a:p>
          <a:p>
            <a:pPr indent="-317500" lvl="1" marL="914400" rtl="0" algn="l">
              <a:lnSpc>
                <a:spcPct val="115000"/>
              </a:lnSpc>
              <a:spcBef>
                <a:spcPts val="0"/>
              </a:spcBef>
              <a:spcAft>
                <a:spcPts val="0"/>
              </a:spcAft>
              <a:buSzPts val="1400"/>
              <a:buChar char="○"/>
            </a:pPr>
            <a:r>
              <a:rPr lang="en"/>
              <a:t>IV reuse leads to leaking the existence of identical blocks at the start of the message</a:t>
            </a:r>
            <a:endParaRPr/>
          </a:p>
          <a:p>
            <a:pPr indent="-342900" lvl="0" marL="457200" rtl="0" algn="l">
              <a:lnSpc>
                <a:spcPct val="115000"/>
              </a:lnSpc>
              <a:spcBef>
                <a:spcPts val="0"/>
              </a:spcBef>
              <a:spcAft>
                <a:spcPts val="0"/>
              </a:spcAft>
              <a:buSzPts val="1800"/>
              <a:buChar char="●"/>
            </a:pPr>
            <a:r>
              <a:rPr lang="en"/>
              <a:t>CTR mode</a:t>
            </a:r>
            <a:endParaRPr/>
          </a:p>
          <a:p>
            <a:pPr indent="-317500" lvl="1" marL="914400" rtl="0" algn="l">
              <a:lnSpc>
                <a:spcPct val="115000"/>
              </a:lnSpc>
              <a:spcBef>
                <a:spcPts val="0"/>
              </a:spcBef>
              <a:spcAft>
                <a:spcPts val="0"/>
              </a:spcAft>
              <a:buSzPts val="1400"/>
              <a:buChar char="○"/>
            </a:pPr>
            <a:r>
              <a:rPr lang="en"/>
              <a:t>IND-CPA secure, assuming no IV reuse</a:t>
            </a:r>
            <a:endParaRPr/>
          </a:p>
          <a:p>
            <a:pPr indent="-317500" lvl="1" marL="914400" rtl="0" algn="l">
              <a:lnSpc>
                <a:spcPct val="115000"/>
              </a:lnSpc>
              <a:spcBef>
                <a:spcPts val="0"/>
              </a:spcBef>
              <a:spcAft>
                <a:spcPts val="0"/>
              </a:spcAft>
              <a:buSzPts val="1400"/>
              <a:buChar char="○"/>
            </a:pPr>
            <a:r>
              <a:rPr lang="en"/>
              <a:t>Encryption and decryption are parallelizable</a:t>
            </a:r>
            <a:endParaRPr/>
          </a:p>
          <a:p>
            <a:pPr indent="-317500" lvl="1" marL="914400" rtl="0" algn="l">
              <a:lnSpc>
                <a:spcPct val="115000"/>
              </a:lnSpc>
              <a:spcBef>
                <a:spcPts val="0"/>
              </a:spcBef>
              <a:spcAft>
                <a:spcPts val="0"/>
              </a:spcAft>
              <a:buSzPts val="1400"/>
              <a:buChar char="○"/>
            </a:pPr>
            <a:r>
              <a:rPr lang="en"/>
              <a:t>Plaintext does not need to be padded</a:t>
            </a:r>
            <a:endParaRPr/>
          </a:p>
          <a:p>
            <a:pPr indent="-317500" lvl="1" marL="914400" rtl="0" algn="l">
              <a:lnSpc>
                <a:spcPct val="115000"/>
              </a:lnSpc>
              <a:spcBef>
                <a:spcPts val="0"/>
              </a:spcBef>
              <a:spcAft>
                <a:spcPts val="0"/>
              </a:spcAft>
              <a:buSzPts val="1400"/>
              <a:buChar char="○"/>
            </a:pPr>
            <a:r>
              <a:rPr lang="en"/>
              <a:t>Nonce reuse leads to losing all security</a:t>
            </a:r>
            <a:endParaRPr/>
          </a:p>
          <a:p>
            <a:pPr indent="-342900" lvl="0" marL="457200" rtl="0" algn="l">
              <a:lnSpc>
                <a:spcPct val="115000"/>
              </a:lnSpc>
              <a:spcBef>
                <a:spcPts val="0"/>
              </a:spcBef>
              <a:spcAft>
                <a:spcPts val="0"/>
              </a:spcAft>
              <a:buSzPts val="1800"/>
              <a:buChar char="●"/>
            </a:pPr>
            <a:r>
              <a:rPr lang="en"/>
              <a:t>Lack of integrity and authenticity</a:t>
            </a:r>
            <a:endParaRPr/>
          </a:p>
        </p:txBody>
      </p:sp>
      <p:sp>
        <p:nvSpPr>
          <p:cNvPr id="633" name="Google Shape;633;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 16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