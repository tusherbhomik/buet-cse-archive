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312004-1CDE-497B-A12A-34C1020B5D77}">
  <a:tblStyle styleId="{56312004-1CDE-497B-A12A-34C1020B5D7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C5F5F8D-E681-450C-BBAA-6AAA60FFB35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9to5linux.com/new-linux-kernel-vulnerability-patched-in-all-supported-ubuntu-systems-update-now"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355a898d1b_1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355a898d1b_1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29dabcb9b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29dabcb9b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Peyrin says “The more deeply you understand calling convention, the less time you’ll spend on project 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 hour -&gt; start lec 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355a898d1b_1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355a898d1b_1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51c1702e9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51c1702e9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51c02b6304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51c02b6304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Think back like an hour–memory is just one continuous block of 0s and 1s.</a:t>
            </a:r>
            <a:endParaRPr/>
          </a:p>
          <a:p>
            <a:pPr indent="0" lvl="0" marL="0" rtl="0" algn="l">
              <a:spcBef>
                <a:spcPts val="0"/>
              </a:spcBef>
              <a:spcAft>
                <a:spcPts val="0"/>
              </a:spcAft>
              <a:buNone/>
            </a:pPr>
            <a:r>
              <a:rPr lang="en"/>
              <a:t>There’s no boundary in C between things in memory. This is valid! It will compile and run.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51c02b6304_6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51c02b6304_6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one executes a command (ls, lists out all the files and directories in your computer). But now, we can execute something else… uh oh…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51c02b6304_6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51c02b6304_6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will motivate our next topic of stack smashing.</a:t>
            </a:r>
            <a:endParaRPr/>
          </a:p>
          <a:p>
            <a:pPr indent="0" lvl="0" marL="0" rtl="0" algn="l">
              <a:spcBef>
                <a:spcPts val="0"/>
              </a:spcBef>
              <a:spcAft>
                <a:spcPts val="0"/>
              </a:spcAft>
              <a:buNone/>
            </a:pPr>
            <a:r>
              <a:rPr lang="en"/>
              <a:t>What’s a function pointer? It’s the address of an instruction somewhere else in memory. If I go to that address, there are instructions that you can execute. This could be a pointer to any function… but what if I could write my own function and clobber out the function pointer… oops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Get ready for Thursday’s lecture!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87296cd2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87296cd2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https://cwe.mitre.org/top25/archive/2023/2023_top25_list.html#top25list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51c02b6304_6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51c02b6304_6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new address -&gt; must line up with where we put our shellcode</a:t>
            </a:r>
            <a:endParaRPr/>
          </a:p>
          <a:p>
            <a:pPr indent="0" lvl="0" marL="0" rtl="0" algn="l">
              <a:spcBef>
                <a:spcPts val="0"/>
              </a:spcBef>
              <a:spcAft>
                <a:spcPts val="0"/>
              </a:spcAft>
              <a:buNone/>
            </a:pPr>
            <a:r>
              <a:rPr lang="en"/>
              <a:t>The RIP is the next instruction to run after we return from the current function.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shows that there are a lot of different patterns and ways you can perform stack smashing.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51c02b6304_6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51c02b6304_6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each word is 4 bytes, so the shellcode takes up 3 words</a:t>
            </a:r>
            <a:endParaRPr/>
          </a:p>
          <a:p>
            <a:pPr indent="0" lvl="0" marL="0" rtl="0" algn="l">
              <a:spcBef>
                <a:spcPts val="0"/>
              </a:spcBef>
              <a:spcAft>
                <a:spcPts val="0"/>
              </a:spcAft>
              <a:buNone/>
            </a:pPr>
            <a:r>
              <a:rPr lang="en"/>
              <a:t>This is our canonical stack smashing attack!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I know some of you are doubting me. How could someone know the addresses and the exact details of the stack? Well, remember shannon’s maxim (The enemy knows the system”) -&gt; don’t rely on security through obscurity</a:t>
            </a:r>
            <a:endParaRPr/>
          </a:p>
          <a:p>
            <a:pPr indent="-298450" lvl="0" marL="457200" rtl="0" algn="l">
              <a:spcBef>
                <a:spcPts val="0"/>
              </a:spcBef>
              <a:spcAft>
                <a:spcPts val="0"/>
              </a:spcAft>
              <a:buSzPts val="1100"/>
              <a:buChar char="-"/>
            </a:pPr>
            <a:r>
              <a:rPr lang="en"/>
              <a:t>Do not rely on the fact that the attacker may not know the system/could never breach it.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51c02b6304_6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51c02b6304_6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wait, so now there are different solutions?</a:t>
            </a:r>
            <a:endParaRPr/>
          </a:p>
          <a:p>
            <a:pPr indent="0" lvl="0" marL="0" rtl="0" algn="l">
              <a:spcBef>
                <a:spcPts val="0"/>
              </a:spcBef>
              <a:spcAft>
                <a:spcPts val="0"/>
              </a:spcAft>
              <a:buNone/>
            </a:pPr>
            <a:r>
              <a:rPr lang="en"/>
              <a:t>Why did the address change?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355a898d1b_1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355a898d1b_1_1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355a898d1b_1_1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355a898d1b_1_1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vulnerability exists everywhere. It’s vulnerable because we can overwrite values on the heap above that variable. How can you prevent this? We have cool safer C library functions.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355a898d1b_1_1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355a898d1b_1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the user can only write 20 bytes (this includes the null terminator). Basically, it will read up to 19 bytes and then append a null byte.</a:t>
            </a:r>
            <a:endParaRPr/>
          </a:p>
          <a:p>
            <a:pPr indent="0" lvl="0" marL="0" rtl="0" algn="l">
              <a:spcBef>
                <a:spcPts val="0"/>
              </a:spcBef>
              <a:spcAft>
                <a:spcPts val="0"/>
              </a:spcAft>
              <a:buNone/>
            </a:pPr>
            <a:r>
              <a:rPr lang="en"/>
              <a:t>Remember strings in C have to be null terminated.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355a898d1b_1_1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355a898d1b_1_1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instance, sizeof(name) here </a:t>
            </a:r>
            <a:r>
              <a:rPr lang="en"/>
              <a:t>because name is a declared array of 20 chars = 20 bytes, which is fixed at compile time. It doesn’t matter if there are no characters or if the char array houses 20 chars, it will always be of size 20. However, if we used char* and stored “Evanbot” (so a pointer), it would always be 4 in a 32-bit system even though the string “Evanbot” is 7 chars = 7 bytes? Remember pointers are just addresses which are 4 bytes!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355a898d1b_1_1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355a898d1b_1_1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you may ask why does the vulnerable version exist? </a:t>
            </a:r>
            <a:r>
              <a:rPr lang="en"/>
              <a:t>Legally–most likely gets was created first and it still needs to be valid for backwards compatibility reasons.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355a898d1b_1_1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355a898d1b_1_1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well we’ve finished the canonical buffer overflow attack. But there’s so many more now! The world is your </a:t>
            </a:r>
            <a:r>
              <a:rPr lang="en"/>
              <a:t>oyster</a:t>
            </a:r>
            <a:r>
              <a:rPr lang="en"/>
              <a:t> (not legally, just in this class)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355a898d1b_1_1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355a898d1b_1_1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Buffer of size 64</a:t>
            </a:r>
            <a:endParaRPr/>
          </a:p>
          <a:p>
            <a:pPr indent="-298450" lvl="0" marL="457200" rtl="0" algn="l">
              <a:spcBef>
                <a:spcPts val="0"/>
              </a:spcBef>
              <a:spcAft>
                <a:spcPts val="0"/>
              </a:spcAft>
              <a:buSzPts val="1100"/>
              <a:buChar char="-"/>
            </a:pPr>
            <a:r>
              <a:rPr lang="en"/>
              <a:t>Our if condition checks whether the length is greater than 64</a:t>
            </a:r>
            <a:endParaRPr/>
          </a:p>
          <a:p>
            <a:pPr indent="-298450" lvl="0" marL="457200" rtl="0" algn="l">
              <a:spcBef>
                <a:spcPts val="0"/>
              </a:spcBef>
              <a:spcAft>
                <a:spcPts val="0"/>
              </a:spcAft>
              <a:buSzPts val="1100"/>
              <a:buChar char="-"/>
            </a:pPr>
            <a:r>
              <a:rPr lang="en"/>
              <a:t>Mem copy from data into buf (look into man pages if you’re ever stuck)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Looks fine on first glance right. But no (lol)</a:t>
            </a:r>
            <a:endParaRPr/>
          </a:p>
          <a:p>
            <a:pPr indent="-298450" lvl="0" marL="457200" rtl="0" algn="l">
              <a:spcBef>
                <a:spcPts val="0"/>
              </a:spcBef>
              <a:spcAft>
                <a:spcPts val="0"/>
              </a:spcAft>
              <a:buSzPts val="1100"/>
              <a:buChar char="-"/>
            </a:pPr>
            <a:r>
              <a:rPr lang="en"/>
              <a:t>Size_t is unsigned</a:t>
            </a:r>
            <a:endParaRPr/>
          </a:p>
          <a:p>
            <a:pPr indent="-298450" lvl="0" marL="457200" rtl="0" algn="l">
              <a:spcBef>
                <a:spcPts val="0"/>
              </a:spcBef>
              <a:spcAft>
                <a:spcPts val="0"/>
              </a:spcAft>
              <a:buSzPts val="1100"/>
              <a:buChar char="-"/>
            </a:pPr>
            <a:r>
              <a:rPr lang="en"/>
              <a:t>Int is signed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does that matter? Well remember, that memory is really just a long continuous block of 0s and 1s (I know i’ve said that a lot, but it’s true and important!) This means that the data underlying the signed and unsigned values is the same and will not change. Okay, well what is -1 actually stored as?</a:t>
            </a:r>
            <a:endParaRPr/>
          </a:p>
          <a:p>
            <a:pPr indent="-298450" lvl="0" marL="457200" rtl="0" algn="l">
              <a:spcBef>
                <a:spcPts val="0"/>
              </a:spcBef>
              <a:spcAft>
                <a:spcPts val="0"/>
              </a:spcAft>
              <a:buSzPts val="1100"/>
              <a:buChar char="-"/>
            </a:pPr>
            <a:r>
              <a:rPr lang="en"/>
              <a:t>If len is -1 -&gt; this is all 1s -&gt; so in signed land, it’s -1, but in unsigned land, it is literally the largest possible 8 byte number, which is 2^32 -1</a:t>
            </a:r>
            <a:endParaRPr/>
          </a:p>
          <a:p>
            <a:pPr indent="-298450" lvl="0" marL="457200" rtl="0" algn="l">
              <a:spcBef>
                <a:spcPts val="0"/>
              </a:spcBef>
              <a:spcAft>
                <a:spcPts val="0"/>
              </a:spcAft>
              <a:buSzPts val="1100"/>
              <a:buChar char="-"/>
            </a:pPr>
            <a:r>
              <a:rPr lang="en"/>
              <a:t>This is 61c material, we don’t really care about the fact of whether you can calculate this or not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355a898d1b_1_1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355a898d1b_1_1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be safe, change the int to a size_t. Now, we’d be comparing 2^32 - 1 &gt; 64, which is true, and thus we’d return without memcpying that atrociously large data into our buffer.</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355a898d1b_1_1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355a898d1b_1_1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number problem.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that if we take the largest number possible, then it wraps back around to 0, so if we add 2, that’s 1.</a:t>
            </a:r>
            <a:endParaRPr/>
          </a:p>
          <a:p>
            <a:pPr indent="0" lvl="0" marL="0" rtl="0" algn="l">
              <a:spcBef>
                <a:spcPts val="0"/>
              </a:spcBef>
              <a:spcAft>
                <a:spcPts val="0"/>
              </a:spcAft>
              <a:buNone/>
            </a:pPr>
            <a:r>
              <a:rPr lang="en"/>
              <a:t>This means we’ve only malloc’d 1 byte for the buffer, but we’re copying 2^32-1 bytes into buf, which leads to a heap overflow.</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355a898d1b_1_1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355a898d1b_1_1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safer version.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Moral of the story is there is a lot of error </a:t>
            </a:r>
            <a:r>
              <a:rPr lang="en"/>
              <a:t>checking</a:t>
            </a:r>
            <a:r>
              <a:rPr lang="en"/>
              <a:t> in this class (and in secure code in general).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51c1702e9d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51c1702e9d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https://9to5linux.com/new-linux-kernel-vulnerability-patched-in-all-supported-ubuntu-systems-update-now</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51c1702e9d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51c1702e9d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literally the vulnerability that we just talked about!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87296cd2a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87296cd2a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literally the vulnerability that we just talked about!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65e2e192c9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65e2e192c9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literally the vulnerability that we just talked about!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65e2e192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65e2e192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65e2e192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65e2e192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65e2e192c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65e2e192c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core problem of memory safety is that C doesn’t check bounds! This one’s kind of convoluted though, so I might be going a little quick but I really highly encourage you to go through these slides again.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65e2e192c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65e2e192c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Printf, one of my favorite functions (maybe some of yours too, if you love print debugging–there’s no shame in that, I am a believer as well).</a:t>
            </a:r>
            <a:endParaRPr/>
          </a:p>
          <a:p>
            <a:pPr indent="0" lvl="0" marL="0" rtl="0" algn="l">
              <a:spcBef>
                <a:spcPts val="0"/>
              </a:spcBef>
              <a:spcAft>
                <a:spcPts val="0"/>
              </a:spcAft>
              <a:buNone/>
            </a:pPr>
            <a:r>
              <a:rPr lang="en"/>
              <a:t>Well if you’re like me, most of the time your printf statements might not be this in depth (normally it’s just one string), but printf functions very differently than the print function in python would because it takes in many arguments (beyond just string concatenation)!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Plugs in from the placeholders.</a:t>
            </a:r>
            <a:endParaRPr/>
          </a:p>
          <a:p>
            <a:pPr indent="0" lvl="0" marL="0" rtl="0" algn="l">
              <a:spcBef>
                <a:spcPts val="0"/>
              </a:spcBef>
              <a:spcAft>
                <a:spcPts val="0"/>
              </a:spcAft>
              <a:buNone/>
            </a:pPr>
            <a:r>
              <a:rPr lang="en"/>
              <a:t>%s - string, %d - signed decimal, %x - hex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 doesn’t actually perform any checks on the number of arguments… are we seeing a trend?</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65e2e192c9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65e2e192c9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create a stack frame for printf… think back to calling convention</a:t>
            </a:r>
            <a:endParaRPr/>
          </a:p>
          <a:p>
            <a:pPr indent="-298450" lvl="0" marL="457200" rtl="0" algn="l">
              <a:spcBef>
                <a:spcPts val="0"/>
              </a:spcBef>
              <a:spcAft>
                <a:spcPts val="0"/>
              </a:spcAft>
              <a:buSzPts val="1100"/>
              <a:buChar char="-"/>
            </a:pPr>
            <a:r>
              <a:rPr lang="en"/>
              <a:t>Push args</a:t>
            </a:r>
            <a:endParaRPr/>
          </a:p>
          <a:p>
            <a:pPr indent="-298450" lvl="0" marL="457200" rtl="0" algn="l">
              <a:spcBef>
                <a:spcPts val="0"/>
              </a:spcBef>
              <a:spcAft>
                <a:spcPts val="0"/>
              </a:spcAft>
              <a:buSzPts val="1100"/>
              <a:buChar char="-"/>
            </a:pPr>
            <a:r>
              <a:rPr lang="en"/>
              <a:t>Push pointer to string “%d\n”</a:t>
            </a:r>
            <a:endParaRPr/>
          </a:p>
          <a:p>
            <a:pPr indent="-298450" lvl="0" marL="457200" rtl="0" algn="l">
              <a:spcBef>
                <a:spcPts val="0"/>
              </a:spcBef>
              <a:spcAft>
                <a:spcPts val="0"/>
              </a:spcAft>
              <a:buSzPts val="1100"/>
              <a:buChar char="-"/>
            </a:pPr>
            <a:r>
              <a:rPr lang="en"/>
              <a:t>rip/sfp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Well here’s a nice printf (because C is too trusting and assumes that the number of args is correct)</a:t>
            </a:r>
            <a:endParaRPr/>
          </a:p>
          <a:p>
            <a:pPr indent="0" lvl="0" marL="0" rtl="0" algn="l">
              <a:spcBef>
                <a:spcPts val="0"/>
              </a:spcBef>
              <a:spcAft>
                <a:spcPts val="0"/>
              </a:spcAft>
              <a:buNone/>
            </a:pPr>
            <a:r>
              <a:rPr lang="en"/>
              <a:t>Okay, well this is really important for Project 1</a:t>
            </a:r>
            <a:endParaRPr/>
          </a:p>
          <a:p>
            <a:pPr indent="-298450" lvl="0" marL="457200" rtl="0" algn="l">
              <a:spcBef>
                <a:spcPts val="0"/>
              </a:spcBef>
              <a:spcAft>
                <a:spcPts val="0"/>
              </a:spcAft>
              <a:buSzPts val="1100"/>
              <a:buChar char="-"/>
            </a:pPr>
            <a:r>
              <a:rPr lang="en"/>
              <a:t>Printf takes in arg0 and whenever it sees a modifier (so something that starts with a %), it traverses up the stack to read as arguments starting from the SECOND one (since the first one was the format string itself)</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65e2e192c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65e2e192c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what if the C code didn’t actually include the argument. We’re expecting one but uh oh… there’s no extra argument so we’re just going to leak the secret. Yikes…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Arguments were mismatched!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Compiler may throw a warning, but this is still valid syntax. So now we’d be printing out the number 42…</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so this might not happen as much in the wild because you’re probably going to include the arguments if you’re writing them out like this but…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5e2e192c9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65e2e192c9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5e2e192c9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65e2e192c9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but somehow it gets worse. Did you know printf can write stuff into memory instead of just reading? Yeah… guess we can use it for more than just print debugging lol.</a:t>
            </a:r>
            <a:endParaRPr/>
          </a:p>
          <a:p>
            <a:pPr indent="0" lvl="0" marL="0" rtl="0" algn="l">
              <a:spcBef>
                <a:spcPts val="0"/>
              </a:spcBef>
              <a:spcAft>
                <a:spcPts val="0"/>
              </a:spcAft>
              <a:buNone/>
            </a:pPr>
            <a:r>
              <a:rPr lang="en"/>
              <a:t>Okay, I’m going to go through this multiple times because it’s kind of confusing.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Honestly, the best guess we have as to why people would use this is to make pretty aligned printf statements? But this is like a playground for attackers because now in printf calls, we can write into the stack.</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65e2e192c9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65e2e192c9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hour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65e2e192c9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65e2e192c9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65e2e192c9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65e2e192c9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Fixed during live lecture, FA23: The input on this slide mistakenly said %s, not %n.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Overwrite the panc into the integer 2 in little-endian.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65e2e192c9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65e2e192c9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is there no fgets stack frame?</a:t>
            </a:r>
            <a:endParaRPr/>
          </a:p>
          <a:p>
            <a:pPr indent="-298450" lvl="0" marL="457200" rtl="0" algn="l">
              <a:spcBef>
                <a:spcPts val="0"/>
              </a:spcBef>
              <a:spcAft>
                <a:spcPts val="0"/>
              </a:spcAft>
              <a:buSzPts val="1100"/>
              <a:buChar char="-"/>
            </a:pPr>
            <a:r>
              <a:rPr lang="en"/>
              <a:t>It completed execution and returned!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Also why is it &amp;buf? Well, we’re not going to pass the entire 16 byte buffer, but rather just the address of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let’s think like printf. What are the arguments that printf thinks are on the stack? Okay, well I know my format string is arg 0 and then everything after that is used as arguments to match with format string modifiers (next slide)</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65e2e192c9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65e2e192c9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a printf pointer (we don’t know exactly how though because we don’t have the source code for printf).</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65e2e192c9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65e2e192c9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65e5c4e4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65e5c4e4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Two things to juggle:</a:t>
            </a:r>
            <a:endParaRPr/>
          </a:p>
          <a:p>
            <a:pPr indent="-298450" lvl="0" marL="457200" rtl="0" algn="l">
              <a:spcBef>
                <a:spcPts val="0"/>
              </a:spcBef>
              <a:spcAft>
                <a:spcPts val="0"/>
              </a:spcAft>
              <a:buSzPts val="1100"/>
              <a:buChar char="-"/>
            </a:pPr>
            <a:r>
              <a:rPr lang="en"/>
              <a:t>Where we’re writing–we need a %n to align with 0xdeadbeef</a:t>
            </a:r>
            <a:endParaRPr/>
          </a:p>
          <a:p>
            <a:pPr indent="-298450" lvl="0" marL="457200" rtl="0" algn="l">
              <a:spcBef>
                <a:spcPts val="0"/>
              </a:spcBef>
              <a:spcAft>
                <a:spcPts val="0"/>
              </a:spcAft>
              <a:buSzPts val="1100"/>
              <a:buChar char="-"/>
            </a:pPr>
            <a:r>
              <a:rPr lang="en"/>
              <a:t>What we’re writing–we need to ensure that by the time we hit that %n, we’ve written 3 characters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65e5c4e4f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65e5c4e4f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Maybe this works?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65e5c4e4f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65e5c4e4f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this might be very confusing, but what does this mean?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 buf, we’re writing</a:t>
            </a:r>
            <a:endParaRPr/>
          </a:p>
          <a:p>
            <a:pPr indent="-298450" lvl="0" marL="457200" rtl="0" algn="l">
              <a:spcBef>
                <a:spcPts val="0"/>
              </a:spcBef>
              <a:spcAft>
                <a:spcPts val="0"/>
              </a:spcAft>
              <a:buSzPts val="1100"/>
              <a:buChar char="-"/>
            </a:pPr>
            <a:r>
              <a:rPr lang="en"/>
              <a:t>The address 0xdeadbeef (remember in little endian this is 0xef, 0xbe, 0xad, 0xde)</a:t>
            </a:r>
            <a:endParaRPr/>
          </a:p>
          <a:p>
            <a:pPr indent="-298450" lvl="0" marL="457200" rtl="0" algn="l">
              <a:spcBef>
                <a:spcPts val="0"/>
              </a:spcBef>
              <a:spcAft>
                <a:spcPts val="0"/>
              </a:spcAft>
              <a:buSzPts val="1100"/>
              <a:buChar char="-"/>
            </a:pPr>
            <a:r>
              <a:rPr lang="en"/>
              <a:t>Then we’re writing the characters %94c%c%c%n</a:t>
            </a:r>
            <a:endParaRPr/>
          </a:p>
          <a:p>
            <a:pPr indent="-298450" lvl="1" marL="914400" rtl="0" algn="l">
              <a:spcBef>
                <a:spcPts val="0"/>
              </a:spcBef>
              <a:spcAft>
                <a:spcPts val="0"/>
              </a:spcAft>
              <a:buSzPts val="1100"/>
              <a:buChar char="-"/>
            </a:pPr>
            <a:r>
              <a:rPr lang="en"/>
              <a:t>Each character is one byte (one byte for the %, for the 9, for the 4,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Okay, well why do we care about how many characters we’re using? Because fgets only takes 16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we’ve parsed this data as we are fgets and we’re pasting in 16 bytes into memory at buf. Someone reads it differently though, who? Printf!</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65e5c4e4f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65e5c4e4f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Printf goes character by character, it sees okay… I need to print out 0xdeadbeef, and oh! I see a %, okay let’s consume an argument, which one? Arg1!</a:t>
            </a:r>
            <a:endParaRPr/>
          </a:p>
          <a:p>
            <a:pPr indent="0" lvl="0" marL="0" rtl="0" algn="l">
              <a:spcBef>
                <a:spcPts val="0"/>
              </a:spcBef>
              <a:spcAft>
                <a:spcPts val="0"/>
              </a:spcAft>
              <a:buNone/>
            </a:pPr>
            <a:r>
              <a:rPr lang="en"/>
              <a:t>It’s like a matchmaker and it’ll see okay %94c, you’re paired with arg1!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65e5c4e4f5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65e5c4e4f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 has to match with 0xdeadbeef.</a:t>
            </a:r>
            <a:endParaRPr/>
          </a:p>
          <a:p>
            <a:pPr indent="0" lvl="0" marL="0" rtl="0" algn="l">
              <a:spcBef>
                <a:spcPts val="0"/>
              </a:spcBef>
              <a:spcAft>
                <a:spcPts val="0"/>
              </a:spcAft>
              <a:buNone/>
            </a:pPr>
            <a:r>
              <a:rPr lang="en"/>
              <a:t>The way I recommend working through this question is first aligning the %n and then going backwards thinking through questions like</a:t>
            </a:r>
            <a:endParaRPr/>
          </a:p>
          <a:p>
            <a:pPr indent="-298450" lvl="0" marL="457200" rtl="0" algn="l">
              <a:spcBef>
                <a:spcPts val="0"/>
              </a:spcBef>
              <a:spcAft>
                <a:spcPts val="0"/>
              </a:spcAft>
              <a:buSzPts val="1100"/>
              <a:buChar char="-"/>
            </a:pPr>
            <a:r>
              <a:rPr lang="en"/>
              <a:t>Okay, well how many arguments are between the %n and the format string on the stack (how many arguments do we need to skip) -&gt; this is the number of modifiers we’ll need in our string</a:t>
            </a:r>
            <a:endParaRPr/>
          </a:p>
          <a:p>
            <a:pPr indent="-298450" lvl="0" marL="457200" rtl="0" algn="l">
              <a:spcBef>
                <a:spcPts val="0"/>
              </a:spcBef>
              <a:spcAft>
                <a:spcPts val="0"/>
              </a:spcAft>
              <a:buSzPts val="1100"/>
              <a:buChar char="-"/>
            </a:pPr>
            <a:r>
              <a:rPr lang="en"/>
              <a:t>What else does the printf print beyond just the format string modifiers? 0xdeadbeef–okay that’s four bytes right there.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you’ll just need to do the math.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interesting thought:  instead of %94c, could we do %50c and a %44c -&gt; well, not really because even though you’ll still print out 100 characters, your string in buffer will now have 2 extra characters -&gt; it won’t fit in 16 bytes anymore!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need to juggle these three things!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5e5c4e4f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5e5c4e4f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65e5c4e4f5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65e5c4e4f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Don’t give the attacker the ability to write into the 0th argument! Even if the attacker uses modifiers and % symbols into buf, it will never be treated as as modifier!</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65e5c4e4f5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65e5c4e4f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68319a7a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68319a7a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68319a7ad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368319a7ad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68319a7ad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68319a7ad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Maybe a more honest picture is like this</a:t>
            </a:r>
            <a:endParaRPr/>
          </a:p>
          <a:p>
            <a:pPr indent="-298450" lvl="0" marL="457200" rtl="0" algn="l">
              <a:spcBef>
                <a:spcPts val="0"/>
              </a:spcBef>
              <a:spcAft>
                <a:spcPts val="0"/>
              </a:spcAft>
              <a:buSzPts val="1100"/>
              <a:buChar char="●"/>
            </a:pPr>
            <a:r>
              <a:rPr lang="en"/>
              <a:t>Its not that every proigram is going to use every byte of memory every time</a:t>
            </a:r>
            <a:endParaRPr/>
          </a:p>
          <a:p>
            <a:pPr indent="-298450" lvl="0" marL="457200" rtl="0" algn="l">
              <a:spcBef>
                <a:spcPts val="0"/>
              </a:spcBef>
              <a:spcAft>
                <a:spcPts val="0"/>
              </a:spcAft>
              <a:buSzPts val="1100"/>
              <a:buChar char="●"/>
            </a:pPr>
            <a:r>
              <a:rPr lang="en"/>
              <a:t>Tons of unused space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68319a7ad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68319a7ad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but like do they really have to be in this order if all these sections are so small </a:t>
            </a:r>
            <a:endParaRPr/>
          </a:p>
          <a:p>
            <a:pPr indent="-298450" lvl="0" marL="457200" rtl="0" algn="l">
              <a:spcBef>
                <a:spcPts val="0"/>
              </a:spcBef>
              <a:spcAft>
                <a:spcPts val="0"/>
              </a:spcAft>
              <a:buSzPts val="1100"/>
              <a:buChar char="●"/>
            </a:pPr>
            <a:r>
              <a:rPr lang="en"/>
              <a:t>like what if I ran the program and I just put the Heap up here and I put the stack down here the program is still going to function more or less the same POINT AT FIRST MEMORY</a:t>
            </a:r>
            <a:endParaRPr/>
          </a:p>
          <a:p>
            <a:pPr indent="-298450" lvl="0" marL="457200" rtl="0" algn="l">
              <a:spcBef>
                <a:spcPts val="0"/>
              </a:spcBef>
              <a:spcAft>
                <a:spcPts val="0"/>
              </a:spcAft>
              <a:buSzPts val="1100"/>
              <a:buChar char="●"/>
            </a:pPr>
            <a:r>
              <a:rPr lang="en"/>
              <a:t>Or what if i shuffled them like this with the stack on top</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Char char="●"/>
            </a:pPr>
            <a:r>
              <a:rPr lang="en"/>
              <a:t>the idea behind address based layout randomization is if these sections are all small enough to have all this unused space let's not put them in the exact same place every time </a:t>
            </a:r>
            <a:endParaRPr/>
          </a:p>
          <a:p>
            <a:pPr indent="-298450" lvl="0" marL="457200" rtl="0" algn="l">
              <a:spcBef>
                <a:spcPts val="0"/>
              </a:spcBef>
              <a:spcAft>
                <a:spcPts val="0"/>
              </a:spcAft>
              <a:buSzPts val="1100"/>
              <a:buChar char="●"/>
            </a:pPr>
            <a:r>
              <a:rPr lang="en"/>
              <a:t>because that causes addresses to be predictable let's like shuffle them around a little bit</a:t>
            </a:r>
            <a:endParaRPr/>
          </a:p>
          <a:p>
            <a:pPr indent="-298450" lvl="0" marL="457200" rtl="0" algn="l">
              <a:spcBef>
                <a:spcPts val="0"/>
              </a:spcBef>
              <a:spcAft>
                <a:spcPts val="0"/>
              </a:spcAft>
              <a:buSzPts val="1100"/>
              <a:buChar char="●"/>
            </a:pPr>
            <a:r>
              <a:rPr lang="en"/>
              <a:t>and so every time I run the program the addresses of things they change a little bit and now it's harder for the attacker</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so now if I try to do the trick from before remember the like RP points at Shell Code that's living in the stack so if I like put the Shell Code right there and</a:t>
            </a:r>
            <a:endParaRPr/>
          </a:p>
          <a:p>
            <a:pPr indent="-298450" lvl="0" marL="457200" rtl="0" algn="l">
              <a:spcBef>
                <a:spcPts val="0"/>
              </a:spcBef>
              <a:spcAft>
                <a:spcPts val="0"/>
              </a:spcAft>
              <a:buSzPts val="1100"/>
              <a:buChar char="●"/>
            </a:pPr>
            <a:r>
              <a:rPr lang="en"/>
              <a:t>I want to know the address of it well too bad because if you write down that address the next time you run the program that thing that you wrote it might live somewhere else in memory so the idea is every time you run the program you put each of these sections in slightly different places and now the attacker doesn't actually know where the addresses are because they're swapping every single time so you can shuffle all the different sections</a:t>
            </a:r>
            <a:endParaRPr/>
          </a:p>
          <a:p>
            <a:pPr indent="-298450" lvl="0" marL="457200" rtl="0" algn="l">
              <a:spcBef>
                <a:spcPts val="0"/>
              </a:spcBef>
              <a:spcAft>
                <a:spcPts val="0"/>
              </a:spcAft>
              <a:buSzPts val="1100"/>
              <a:buChar cha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 405</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1" Type="http://schemas.openxmlformats.org/officeDocument/2006/relationships/hyperlink" Target="https://cwe.mitre.org/data/definitions/352.html" TargetMode="External"/><Relationship Id="rId10" Type="http://schemas.openxmlformats.org/officeDocument/2006/relationships/hyperlink" Target="https://cwe.mitre.org/data/definitions/22.html" TargetMode="External"/><Relationship Id="rId13" Type="http://schemas.openxmlformats.org/officeDocument/2006/relationships/image" Target="../media/image1.png"/><Relationship Id="rId12" Type="http://schemas.openxmlformats.org/officeDocument/2006/relationships/hyperlink" Target="https://cwe.mitre.org/data/definitions/434.html" TargetMode="External"/><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hyperlink" Target="https://cwe.mitre.org/data/definitions/787.html" TargetMode="External"/><Relationship Id="rId4" Type="http://schemas.openxmlformats.org/officeDocument/2006/relationships/hyperlink" Target="https://cwe.mitre.org/data/definitions/79.html" TargetMode="External"/><Relationship Id="rId9" Type="http://schemas.openxmlformats.org/officeDocument/2006/relationships/hyperlink" Target="https://cwe.mitre.org/data/definitions/125.html" TargetMode="External"/><Relationship Id="rId5" Type="http://schemas.openxmlformats.org/officeDocument/2006/relationships/hyperlink" Target="https://cwe.mitre.org/data/definitions/89.html" TargetMode="External"/><Relationship Id="rId6" Type="http://schemas.openxmlformats.org/officeDocument/2006/relationships/hyperlink" Target="https://cwe.mitre.org/data/definitions/416.html" TargetMode="External"/><Relationship Id="rId7" Type="http://schemas.openxmlformats.org/officeDocument/2006/relationships/hyperlink" Target="https://cwe.mitre.org/data/definitions/78.html" TargetMode="External"/><Relationship Id="rId8" Type="http://schemas.openxmlformats.org/officeDocument/2006/relationships/hyperlink" Target="https://cwe.mitre.org/data/definitions/20.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hyperlink" Target="https://9to5linux.com/new-linux-kernel-vulnerability-patched-in-all-supported-ubuntu-systems-update-now" TargetMode="Externa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8.png"/><Relationship Id="rId4" Type="http://schemas.openxmlformats.org/officeDocument/2006/relationships/hyperlink" Target="https://www.smithsonianmag.com/smart-news/what-happened-canary-coal-mine-story-how-real-life-animal-helper-became-just-metaphor-180961570/"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7432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Memory Safety Vulnerabilities</a:t>
            </a:r>
            <a:endParaRPr/>
          </a:p>
        </p:txBody>
      </p:sp>
      <p:sp>
        <p:nvSpPr>
          <p:cNvPr id="65" name="Google Shape;65;p15"/>
          <p:cNvSpPr txBox="1"/>
          <p:nvPr>
            <p:ph idx="1" type="subTitle"/>
          </p:nvPr>
        </p:nvSpPr>
        <p:spPr>
          <a:xfrm>
            <a:off x="311700" y="22321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CSE 405 Lecture 14</a:t>
            </a:r>
            <a:endParaRPr/>
          </a:p>
        </p:txBody>
      </p:sp>
      <p:pic>
        <p:nvPicPr>
          <p:cNvPr id="66" name="Google Shape;66;p15"/>
          <p:cNvPicPr preferRelativeResize="0"/>
          <p:nvPr/>
        </p:nvPicPr>
        <p:blipFill>
          <a:blip r:embed="rId3">
            <a:alphaModFix/>
          </a:blip>
          <a:stretch>
            <a:fillRect/>
          </a:stretch>
        </p:blipFill>
        <p:spPr>
          <a:xfrm>
            <a:off x="1263050" y="3197150"/>
            <a:ext cx="6617902" cy="16415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x86 Assembly and Call Stack</a:t>
            </a:r>
            <a:endParaRPr/>
          </a:p>
        </p:txBody>
      </p:sp>
      <p:sp>
        <p:nvSpPr>
          <p:cNvPr id="72" name="Google Shape;72;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 memory layout</a:t>
            </a:r>
            <a:endParaRPr/>
          </a:p>
          <a:p>
            <a:pPr indent="-317500" lvl="1" marL="914400" rtl="0" algn="l">
              <a:spcBef>
                <a:spcPts val="0"/>
              </a:spcBef>
              <a:spcAft>
                <a:spcPts val="0"/>
              </a:spcAft>
              <a:buSzPts val="1400"/>
              <a:buChar char="○"/>
            </a:pPr>
            <a:r>
              <a:rPr b="1" lang="en"/>
              <a:t>Code</a:t>
            </a:r>
            <a:r>
              <a:rPr lang="en"/>
              <a:t> section: Machine code (raw bits) to be executed</a:t>
            </a:r>
            <a:endParaRPr/>
          </a:p>
          <a:p>
            <a:pPr indent="-317500" lvl="1" marL="914400" rtl="0" algn="l">
              <a:spcBef>
                <a:spcPts val="0"/>
              </a:spcBef>
              <a:spcAft>
                <a:spcPts val="0"/>
              </a:spcAft>
              <a:buSzPts val="1400"/>
              <a:buChar char="○"/>
            </a:pPr>
            <a:r>
              <a:rPr b="1" lang="en"/>
              <a:t>Static</a:t>
            </a:r>
            <a:r>
              <a:rPr lang="en"/>
              <a:t> section: Static variables</a:t>
            </a:r>
            <a:endParaRPr/>
          </a:p>
          <a:p>
            <a:pPr indent="-317500" lvl="1" marL="914400" rtl="0" algn="l">
              <a:spcBef>
                <a:spcPts val="0"/>
              </a:spcBef>
              <a:spcAft>
                <a:spcPts val="0"/>
              </a:spcAft>
              <a:buSzPts val="1400"/>
              <a:buChar char="○"/>
            </a:pPr>
            <a:r>
              <a:rPr b="1" lang="en"/>
              <a:t>Heap </a:t>
            </a:r>
            <a:r>
              <a:rPr lang="en"/>
              <a:t>section: Dynamically allocated memory (e.g. from </a:t>
            </a:r>
            <a:r>
              <a:rPr b="1" lang="en">
                <a:latin typeface="Courier New"/>
                <a:ea typeface="Courier New"/>
                <a:cs typeface="Courier New"/>
                <a:sym typeface="Courier New"/>
              </a:rPr>
              <a:t>malloc</a:t>
            </a:r>
            <a:r>
              <a:rPr lang="en"/>
              <a:t>)</a:t>
            </a:r>
            <a:endParaRPr/>
          </a:p>
          <a:p>
            <a:pPr indent="-317500" lvl="1" marL="914400" rtl="0" algn="l">
              <a:spcBef>
                <a:spcPts val="0"/>
              </a:spcBef>
              <a:spcAft>
                <a:spcPts val="0"/>
              </a:spcAft>
              <a:buSzPts val="1400"/>
              <a:buChar char="○"/>
            </a:pPr>
            <a:r>
              <a:rPr b="1" lang="en"/>
              <a:t>Stack</a:t>
            </a:r>
            <a:r>
              <a:rPr lang="en"/>
              <a:t> section: Local variables and stack frames</a:t>
            </a:r>
            <a:endParaRPr/>
          </a:p>
          <a:p>
            <a:pPr indent="-342900" lvl="0" marL="457200" rtl="0" algn="l">
              <a:spcBef>
                <a:spcPts val="0"/>
              </a:spcBef>
              <a:spcAft>
                <a:spcPts val="0"/>
              </a:spcAft>
              <a:buSzPts val="1800"/>
              <a:buChar char="●"/>
            </a:pPr>
            <a:r>
              <a:rPr lang="en"/>
              <a:t>x86 registers</a:t>
            </a:r>
            <a:endParaRPr/>
          </a:p>
          <a:p>
            <a:pPr indent="-317500" lvl="1" marL="914400" rtl="0" algn="l">
              <a:spcBef>
                <a:spcPts val="0"/>
              </a:spcBef>
              <a:spcAft>
                <a:spcPts val="0"/>
              </a:spcAft>
              <a:buSzPts val="1400"/>
              <a:buChar char="○"/>
            </a:pPr>
            <a:r>
              <a:rPr b="1" lang="en"/>
              <a:t>EBP </a:t>
            </a:r>
            <a:r>
              <a:rPr lang="en"/>
              <a:t>register points to the top of the current stack frame</a:t>
            </a:r>
            <a:endParaRPr/>
          </a:p>
          <a:p>
            <a:pPr indent="-317500" lvl="1" marL="914400" rtl="0" algn="l">
              <a:spcBef>
                <a:spcPts val="0"/>
              </a:spcBef>
              <a:spcAft>
                <a:spcPts val="0"/>
              </a:spcAft>
              <a:buSzPts val="1400"/>
              <a:buChar char="○"/>
            </a:pPr>
            <a:r>
              <a:rPr b="1" lang="en"/>
              <a:t>ESP </a:t>
            </a:r>
            <a:r>
              <a:rPr lang="en"/>
              <a:t>register points to the bottom of the stack</a:t>
            </a:r>
            <a:endParaRPr/>
          </a:p>
          <a:p>
            <a:pPr indent="-317500" lvl="1" marL="914400" rtl="0" algn="l">
              <a:spcBef>
                <a:spcPts val="0"/>
              </a:spcBef>
              <a:spcAft>
                <a:spcPts val="0"/>
              </a:spcAft>
              <a:buSzPts val="1400"/>
              <a:buChar char="○"/>
            </a:pPr>
            <a:r>
              <a:rPr b="1" lang="en"/>
              <a:t>EIP</a:t>
            </a:r>
            <a:r>
              <a:rPr lang="en"/>
              <a:t> register points to the next instruction to be executed</a:t>
            </a:r>
            <a:endParaRPr/>
          </a:p>
          <a:p>
            <a:pPr indent="-342900" lvl="0" marL="457200" rtl="0" algn="l">
              <a:spcBef>
                <a:spcPts val="0"/>
              </a:spcBef>
              <a:spcAft>
                <a:spcPts val="0"/>
              </a:spcAft>
              <a:buSzPts val="1800"/>
              <a:buChar char="●"/>
            </a:pPr>
            <a:r>
              <a:rPr lang="en"/>
              <a:t>x86 calling convention</a:t>
            </a:r>
            <a:endParaRPr/>
          </a:p>
          <a:p>
            <a:pPr indent="-317500" lvl="1" marL="914400" rtl="0" algn="l">
              <a:spcBef>
                <a:spcPts val="0"/>
              </a:spcBef>
              <a:spcAft>
                <a:spcPts val="0"/>
              </a:spcAft>
              <a:buSzPts val="1400"/>
              <a:buChar char="○"/>
            </a:pPr>
            <a:r>
              <a:rPr lang="en"/>
              <a:t>When calling a function, the old EIP (RIP) is saved on the stack </a:t>
            </a:r>
            <a:endParaRPr/>
          </a:p>
          <a:p>
            <a:pPr indent="-317500" lvl="1" marL="914400" rtl="0" algn="l">
              <a:spcBef>
                <a:spcPts val="0"/>
              </a:spcBef>
              <a:spcAft>
                <a:spcPts val="0"/>
              </a:spcAft>
              <a:buSzPts val="1400"/>
              <a:buChar char="○"/>
            </a:pPr>
            <a:r>
              <a:rPr lang="en"/>
              <a:t>When calling a function, the old EBP (SFP) is saved on the stack</a:t>
            </a:r>
            <a:endParaRPr/>
          </a:p>
          <a:p>
            <a:pPr indent="-317500" lvl="1" marL="914400" rtl="0" algn="l">
              <a:spcBef>
                <a:spcPts val="0"/>
              </a:spcBef>
              <a:spcAft>
                <a:spcPts val="0"/>
              </a:spcAft>
              <a:buSzPts val="1400"/>
              <a:buChar char="○"/>
            </a:pPr>
            <a:r>
              <a:rPr lang="en"/>
              <a:t>When the function returns, the old EBP and EIP are restored from the stack</a:t>
            </a:r>
            <a:endParaRPr/>
          </a:p>
        </p:txBody>
      </p:sp>
      <p:sp>
        <p:nvSpPr>
          <p:cNvPr id="73" name="Google Shape;7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Buffer overflows</a:t>
            </a:r>
            <a:endParaRPr/>
          </a:p>
          <a:p>
            <a:pPr indent="-317500" lvl="1" marL="914400" rtl="0" algn="l">
              <a:spcBef>
                <a:spcPts val="0"/>
              </a:spcBef>
              <a:spcAft>
                <a:spcPts val="0"/>
              </a:spcAft>
              <a:buSzPts val="1400"/>
              <a:buChar char="○"/>
            </a:pPr>
            <a:r>
              <a:rPr lang="en"/>
              <a:t>Stack smashing</a:t>
            </a:r>
            <a:endParaRPr/>
          </a:p>
          <a:p>
            <a:pPr indent="-317500" lvl="1" marL="914400" rtl="0" algn="l">
              <a:spcBef>
                <a:spcPts val="0"/>
              </a:spcBef>
              <a:spcAft>
                <a:spcPts val="0"/>
              </a:spcAft>
              <a:buSzPts val="1400"/>
              <a:buChar char="○"/>
            </a:pPr>
            <a:r>
              <a:rPr lang="en"/>
              <a:t>Memory-safe code</a:t>
            </a:r>
            <a:endParaRPr/>
          </a:p>
          <a:p>
            <a:pPr indent="-342900" lvl="0" marL="457200" rtl="0" algn="l">
              <a:spcBef>
                <a:spcPts val="0"/>
              </a:spcBef>
              <a:spcAft>
                <a:spcPts val="0"/>
              </a:spcAft>
              <a:buSzPts val="1800"/>
              <a:buChar char="●"/>
            </a:pPr>
            <a:r>
              <a:rPr lang="en"/>
              <a:t>Integer memory safety vulnerabilities</a:t>
            </a:r>
            <a:endParaRPr/>
          </a:p>
          <a:p>
            <a:pPr indent="-342900" lvl="0" marL="457200" rtl="0" algn="l">
              <a:spcBef>
                <a:spcPts val="0"/>
              </a:spcBef>
              <a:spcAft>
                <a:spcPts val="0"/>
              </a:spcAft>
              <a:buSzPts val="1800"/>
              <a:buChar char="●"/>
            </a:pPr>
            <a:r>
              <a:rPr lang="en"/>
              <a:t>Format string vulnerabilities</a:t>
            </a:r>
            <a:endParaRPr/>
          </a:p>
          <a:p>
            <a:pPr indent="-342900" lvl="0" marL="457200" rtl="0" algn="l">
              <a:spcBef>
                <a:spcPts val="0"/>
              </a:spcBef>
              <a:spcAft>
                <a:spcPts val="0"/>
              </a:spcAft>
              <a:buSzPts val="1800"/>
              <a:buChar char="●"/>
            </a:pPr>
            <a:r>
              <a:rPr lang="en"/>
              <a:t>Heap vulnerabilities</a:t>
            </a:r>
            <a:endParaRPr/>
          </a:p>
          <a:p>
            <a:pPr indent="-342900" lvl="0" marL="457200" rtl="0" algn="l">
              <a:spcBef>
                <a:spcPts val="0"/>
              </a:spcBef>
              <a:spcAft>
                <a:spcPts val="0"/>
              </a:spcAft>
              <a:buSzPts val="1800"/>
              <a:buChar char="●"/>
            </a:pPr>
            <a:r>
              <a:rPr lang="en"/>
              <a:t>Writing robust exploits</a:t>
            </a:r>
            <a:endParaRPr/>
          </a:p>
        </p:txBody>
      </p:sp>
      <p:sp>
        <p:nvSpPr>
          <p:cNvPr id="79" name="Google Shape;79;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 Memory Safety Vulnerabilities</a:t>
            </a:r>
            <a:endParaRPr/>
          </a:p>
        </p:txBody>
      </p:sp>
      <p:sp>
        <p:nvSpPr>
          <p:cNvPr id="80" name="Google Shape;8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Buffer Overflow Vulnerabilities</a:t>
            </a:r>
            <a:endParaRPr/>
          </a:p>
        </p:txBody>
      </p:sp>
      <p:sp>
        <p:nvSpPr>
          <p:cNvPr id="86" name="Google Shape;8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8"/>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3.1</a:t>
            </a:r>
            <a:endParaRPr>
              <a:solidFill>
                <a:srgbClr val="000000"/>
              </a:solidFill>
            </a:endParaRPr>
          </a:p>
        </p:txBody>
      </p:sp>
      <p:pic>
        <p:nvPicPr>
          <p:cNvPr id="88" name="Google Shape;88;p18"/>
          <p:cNvPicPr preferRelativeResize="0"/>
          <p:nvPr/>
        </p:nvPicPr>
        <p:blipFill>
          <a:blip r:embed="rId3">
            <a:alphaModFix/>
          </a:blip>
          <a:stretch>
            <a:fillRect/>
          </a:stretch>
        </p:blipFill>
        <p:spPr>
          <a:xfrm>
            <a:off x="958875" y="3056976"/>
            <a:ext cx="2515470" cy="1546040"/>
          </a:xfrm>
          <a:prstGeom prst="rect">
            <a:avLst/>
          </a:prstGeom>
          <a:noFill/>
          <a:ln>
            <a:noFill/>
          </a:ln>
        </p:spPr>
      </p:pic>
      <p:pic>
        <p:nvPicPr>
          <p:cNvPr id="89" name="Google Shape;89;p18"/>
          <p:cNvPicPr preferRelativeResize="0"/>
          <p:nvPr/>
        </p:nvPicPr>
        <p:blipFill>
          <a:blip r:embed="rId4">
            <a:alphaModFix/>
          </a:blip>
          <a:stretch>
            <a:fillRect/>
          </a:stretch>
        </p:blipFill>
        <p:spPr>
          <a:xfrm>
            <a:off x="3536309" y="2971915"/>
            <a:ext cx="2388761" cy="1633167"/>
          </a:xfrm>
          <a:prstGeom prst="rect">
            <a:avLst/>
          </a:prstGeom>
          <a:noFill/>
          <a:ln>
            <a:noFill/>
          </a:ln>
        </p:spPr>
      </p:pic>
      <p:pic>
        <p:nvPicPr>
          <p:cNvPr id="90" name="Google Shape;90;p18"/>
          <p:cNvPicPr preferRelativeResize="0"/>
          <p:nvPr/>
        </p:nvPicPr>
        <p:blipFill>
          <a:blip r:embed="rId5">
            <a:alphaModFix/>
          </a:blip>
          <a:stretch>
            <a:fillRect/>
          </a:stretch>
        </p:blipFill>
        <p:spPr>
          <a:xfrm>
            <a:off x="6249130" y="2897750"/>
            <a:ext cx="1935995" cy="1781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Buffer Overflow Vulnerabilities</a:t>
            </a:r>
            <a:endParaRPr/>
          </a:p>
        </p:txBody>
      </p:sp>
      <p:sp>
        <p:nvSpPr>
          <p:cNvPr id="96" name="Google Shape;96;p19"/>
          <p:cNvSpPr txBox="1"/>
          <p:nvPr>
            <p:ph idx="1" type="body"/>
          </p:nvPr>
        </p:nvSpPr>
        <p:spPr>
          <a:xfrm>
            <a:off x="198500" y="1246825"/>
            <a:ext cx="8520600" cy="1281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Recall: C has no concept of array length; it just sees a sequence of bytes</a:t>
            </a:r>
            <a:endParaRPr/>
          </a:p>
          <a:p>
            <a:pPr indent="-342900" lvl="0" marL="457200" rtl="0" algn="l">
              <a:spcBef>
                <a:spcPts val="0"/>
              </a:spcBef>
              <a:spcAft>
                <a:spcPts val="0"/>
              </a:spcAft>
              <a:buSzPts val="1800"/>
              <a:buChar char="●"/>
            </a:pPr>
            <a:r>
              <a:rPr lang="en"/>
              <a:t>If you allow an attacker to start writing at a location and don’t define when they must stop, they can overwrite other parts of memory!</a:t>
            </a:r>
            <a:endParaRPr/>
          </a:p>
        </p:txBody>
      </p:sp>
      <p:sp>
        <p:nvSpPr>
          <p:cNvPr id="97" name="Google Shape;9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8" name="Google Shape;98;p19"/>
          <p:cNvSpPr txBox="1"/>
          <p:nvPr/>
        </p:nvSpPr>
        <p:spPr>
          <a:xfrm>
            <a:off x="455050" y="2640075"/>
            <a:ext cx="2219100" cy="67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char name[4];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rgbClr val="FF0000"/>
                </a:solidFill>
                <a:latin typeface="Courier New"/>
                <a:ea typeface="Courier New"/>
                <a:cs typeface="Courier New"/>
                <a:sym typeface="Courier New"/>
              </a:rPr>
              <a:t>name[5] = 'a';</a:t>
            </a:r>
            <a:endParaRPr b="1" sz="1600">
              <a:solidFill>
                <a:srgbClr val="FF0000"/>
              </a:solidFill>
              <a:latin typeface="Courier New"/>
              <a:ea typeface="Courier New"/>
              <a:cs typeface="Courier New"/>
              <a:sym typeface="Courier New"/>
            </a:endParaRPr>
          </a:p>
        </p:txBody>
      </p:sp>
      <p:graphicFrame>
        <p:nvGraphicFramePr>
          <p:cNvPr id="99" name="Google Shape;99;p19"/>
          <p:cNvGraphicFramePr/>
          <p:nvPr/>
        </p:nvGraphicFramePr>
        <p:xfrm>
          <a:off x="3914950" y="2657525"/>
          <a:ext cx="3000000" cy="3000000"/>
        </p:xfrm>
        <a:graphic>
          <a:graphicData uri="http://schemas.openxmlformats.org/drawingml/2006/table">
            <a:tbl>
              <a:tblPr>
                <a:noFill/>
                <a:tableStyleId>{56312004-1CDE-497B-A12A-34C1020B5D77}</a:tableStyleId>
              </a:tblPr>
              <a:tblGrid>
                <a:gridCol w="382850"/>
                <a:gridCol w="382850"/>
                <a:gridCol w="382850"/>
                <a:gridCol w="382850"/>
                <a:gridCol w="382850"/>
                <a:gridCol w="382850"/>
                <a:gridCol w="382850"/>
                <a:gridCol w="382850"/>
              </a:tblGrid>
              <a:tr h="396200">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a:solidFill>
                            <a:srgbClr val="FF0000"/>
                          </a:solidFill>
                          <a:latin typeface="Courier New"/>
                          <a:ea typeface="Courier New"/>
                          <a:cs typeface="Courier New"/>
                          <a:sym typeface="Courier New"/>
                        </a:rPr>
                        <a:t>a</a:t>
                      </a:r>
                      <a:endParaRPr b="1">
                        <a:solidFill>
                          <a:srgbClr val="FF0000"/>
                        </a:solidFill>
                        <a:latin typeface="Courier New"/>
                        <a:ea typeface="Courier New"/>
                        <a:cs typeface="Courier New"/>
                        <a:sym typeface="Courier New"/>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100" name="Google Shape;100;p19"/>
          <p:cNvSpPr txBox="1"/>
          <p:nvPr/>
        </p:nvSpPr>
        <p:spPr>
          <a:xfrm rot="-3587134">
            <a:off x="3777858" y="3163491"/>
            <a:ext cx="1207779" cy="4308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name[0]</a:t>
            </a:r>
            <a:endParaRPr b="1" sz="1600">
              <a:solidFill>
                <a:schemeClr val="dk1"/>
              </a:solidFill>
              <a:latin typeface="Courier New"/>
              <a:ea typeface="Courier New"/>
              <a:cs typeface="Courier New"/>
              <a:sym typeface="Courier New"/>
            </a:endParaRPr>
          </a:p>
        </p:txBody>
      </p:sp>
      <p:sp>
        <p:nvSpPr>
          <p:cNvPr id="101" name="Google Shape;101;p19"/>
          <p:cNvSpPr txBox="1"/>
          <p:nvPr/>
        </p:nvSpPr>
        <p:spPr>
          <a:xfrm rot="-3587134">
            <a:off x="4183958" y="3163491"/>
            <a:ext cx="1207779" cy="4308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name[1]</a:t>
            </a:r>
            <a:endParaRPr b="1" sz="1600">
              <a:solidFill>
                <a:schemeClr val="dk1"/>
              </a:solidFill>
              <a:latin typeface="Courier New"/>
              <a:ea typeface="Courier New"/>
              <a:cs typeface="Courier New"/>
              <a:sym typeface="Courier New"/>
            </a:endParaRPr>
          </a:p>
        </p:txBody>
      </p:sp>
      <p:sp>
        <p:nvSpPr>
          <p:cNvPr id="102" name="Google Shape;102;p19"/>
          <p:cNvSpPr txBox="1"/>
          <p:nvPr/>
        </p:nvSpPr>
        <p:spPr>
          <a:xfrm rot="-3587134">
            <a:off x="4566808" y="3163491"/>
            <a:ext cx="1207779" cy="4308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name[2]</a:t>
            </a:r>
            <a:endParaRPr b="1" sz="1600">
              <a:solidFill>
                <a:schemeClr val="dk1"/>
              </a:solidFill>
              <a:latin typeface="Courier New"/>
              <a:ea typeface="Courier New"/>
              <a:cs typeface="Courier New"/>
              <a:sym typeface="Courier New"/>
            </a:endParaRPr>
          </a:p>
        </p:txBody>
      </p:sp>
      <p:sp>
        <p:nvSpPr>
          <p:cNvPr id="103" name="Google Shape;103;p19"/>
          <p:cNvSpPr txBox="1"/>
          <p:nvPr/>
        </p:nvSpPr>
        <p:spPr>
          <a:xfrm rot="-3587134">
            <a:off x="4949658" y="3163491"/>
            <a:ext cx="1207779" cy="4308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name[3]</a:t>
            </a:r>
            <a:endParaRPr b="1" sz="1600">
              <a:solidFill>
                <a:schemeClr val="dk1"/>
              </a:solidFill>
              <a:latin typeface="Courier New"/>
              <a:ea typeface="Courier New"/>
              <a:cs typeface="Courier New"/>
              <a:sym typeface="Courier New"/>
            </a:endParaRPr>
          </a:p>
        </p:txBody>
      </p:sp>
      <p:sp>
        <p:nvSpPr>
          <p:cNvPr id="104" name="Google Shape;104;p19"/>
          <p:cNvSpPr txBox="1"/>
          <p:nvPr/>
        </p:nvSpPr>
        <p:spPr>
          <a:xfrm rot="-3587134">
            <a:off x="5624983" y="3163491"/>
            <a:ext cx="1207779" cy="43087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0000"/>
                </a:solidFill>
                <a:latin typeface="Courier New"/>
                <a:ea typeface="Courier New"/>
                <a:cs typeface="Courier New"/>
                <a:sym typeface="Courier New"/>
              </a:rPr>
              <a:t>name[5]</a:t>
            </a:r>
            <a:endParaRPr b="1" sz="1600">
              <a:solidFill>
                <a:srgbClr val="FF0000"/>
              </a:solidFill>
              <a:latin typeface="Courier New"/>
              <a:ea typeface="Courier New"/>
              <a:cs typeface="Courier New"/>
              <a:sym typeface="Courier New"/>
            </a:endParaRPr>
          </a:p>
        </p:txBody>
      </p:sp>
      <p:sp>
        <p:nvSpPr>
          <p:cNvPr id="105" name="Google Shape;105;p19"/>
          <p:cNvSpPr txBox="1"/>
          <p:nvPr/>
        </p:nvSpPr>
        <p:spPr>
          <a:xfrm>
            <a:off x="489225" y="3621125"/>
            <a:ext cx="29376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This is technically valid C code, because C doesn’t check bounds!</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Vulnerable Code</a:t>
            </a:r>
            <a:endParaRPr/>
          </a:p>
        </p:txBody>
      </p:sp>
      <p:sp>
        <p:nvSpPr>
          <p:cNvPr id="111" name="Google Shape;111;p20"/>
          <p:cNvSpPr txBox="1"/>
          <p:nvPr/>
        </p:nvSpPr>
        <p:spPr>
          <a:xfrm>
            <a:off x="578100" y="2091425"/>
            <a:ext cx="3993900" cy="2401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char </a:t>
            </a:r>
            <a:r>
              <a:rPr b="1" lang="en" sz="1600">
                <a:solidFill>
                  <a:srgbClr val="CC0000"/>
                </a:solidFill>
                <a:latin typeface="Courier New"/>
                <a:ea typeface="Courier New"/>
                <a:cs typeface="Courier New"/>
                <a:sym typeface="Courier New"/>
              </a:rPr>
              <a:t>line</a:t>
            </a:r>
            <a:r>
              <a:rPr b="1" lang="en" sz="1600">
                <a:solidFill>
                  <a:schemeClr val="dk1"/>
                </a:solidFill>
                <a:latin typeface="Courier New"/>
                <a:ea typeface="Courier New"/>
                <a:cs typeface="Courier New"/>
                <a:sym typeface="Courier New"/>
              </a:rPr>
              <a:t>[512];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char </a:t>
            </a:r>
            <a:r>
              <a:rPr b="1" lang="en" sz="1600">
                <a:solidFill>
                  <a:srgbClr val="1155CC"/>
                </a:solidFill>
                <a:latin typeface="Courier New"/>
                <a:ea typeface="Courier New"/>
                <a:cs typeface="Courier New"/>
                <a:sym typeface="Courier New"/>
              </a:rPr>
              <a:t>command</a:t>
            </a:r>
            <a:r>
              <a:rPr b="1" lang="en" sz="1600">
                <a:solidFill>
                  <a:schemeClr val="dk1"/>
                </a:solidFill>
                <a:latin typeface="Courier New"/>
                <a:ea typeface="Courier New"/>
                <a:cs typeface="Courier New"/>
                <a:sym typeface="Courier New"/>
              </a:rPr>
              <a:t>[] = "/usr/bin/ls";</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int main(void)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gets(</a:t>
            </a:r>
            <a:r>
              <a:rPr b="1" lang="en" sz="1600">
                <a:solidFill>
                  <a:srgbClr val="CC0000"/>
                </a:solidFill>
                <a:latin typeface="Courier New"/>
                <a:ea typeface="Courier New"/>
                <a:cs typeface="Courier New"/>
                <a:sym typeface="Courier New"/>
              </a:rPr>
              <a:t>line</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execv(</a:t>
            </a:r>
            <a:r>
              <a:rPr b="1" lang="en" sz="1600">
                <a:solidFill>
                  <a:srgbClr val="1155CC"/>
                </a:solidFill>
                <a:latin typeface="Courier New"/>
                <a:ea typeface="Courier New"/>
                <a:cs typeface="Courier New"/>
                <a:sym typeface="Courier New"/>
              </a:rPr>
              <a:t>command</a:t>
            </a: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graphicFrame>
        <p:nvGraphicFramePr>
          <p:cNvPr id="112" name="Google Shape;112;p20"/>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218607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Clr>
                          <a:schemeClr val="dk1"/>
                        </a:buClr>
                        <a:buSzPts val="1100"/>
                        <a:buFont typeface="Arial"/>
                        <a:buNone/>
                      </a:pPr>
                      <a:r>
                        <a:rPr b="1" lang="en" sz="1000">
                          <a:solidFill>
                            <a:srgbClr val="1155CC"/>
                          </a:solidFill>
                          <a:latin typeface="Courier New"/>
                          <a:ea typeface="Courier New"/>
                          <a:cs typeface="Courier New"/>
                          <a:sym typeface="Courier New"/>
                        </a:rPr>
                        <a:t>command</a:t>
                      </a:r>
                      <a:endParaRPr b="1" sz="1000">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Clr>
                          <a:schemeClr val="dk1"/>
                        </a:buClr>
                        <a:buSzPts val="1100"/>
                        <a:buFont typeface="Arial"/>
                        <a:buNone/>
                      </a:pPr>
                      <a:r>
                        <a:rPr b="1" lang="en" sz="1000">
                          <a:solidFill>
                            <a:srgbClr val="1155CC"/>
                          </a:solidFill>
                          <a:latin typeface="Courier New"/>
                          <a:ea typeface="Courier New"/>
                          <a:cs typeface="Courier New"/>
                          <a:sym typeface="Courier New"/>
                        </a:rPr>
                        <a:t>command</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Clr>
                          <a:schemeClr val="dk1"/>
                        </a:buClr>
                        <a:buSzPts val="1100"/>
                        <a:buFont typeface="Arial"/>
                        <a:buNone/>
                      </a:pPr>
                      <a:r>
                        <a:rPr b="1" lang="en" sz="1000">
                          <a:solidFill>
                            <a:srgbClr val="1155CC"/>
                          </a:solidFill>
                          <a:latin typeface="Courier New"/>
                          <a:ea typeface="Courier New"/>
                          <a:cs typeface="Courier New"/>
                          <a:sym typeface="Courier New"/>
                        </a:rPr>
                        <a:t>command</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Clr>
                          <a:schemeClr val="dk1"/>
                        </a:buClr>
                        <a:buSzPts val="1100"/>
                        <a:buFont typeface="Arial"/>
                        <a:buNone/>
                      </a:pPr>
                      <a:r>
                        <a:rPr b="1" lang="en" sz="1000">
                          <a:solidFill>
                            <a:srgbClr val="CC0000"/>
                          </a:solidFill>
                          <a:latin typeface="Courier New"/>
                          <a:ea typeface="Courier New"/>
                          <a:cs typeface="Courier New"/>
                          <a:sym typeface="Courier New"/>
                        </a:rPr>
                        <a:t>line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dash"/>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line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line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bl>
          </a:graphicData>
        </a:graphic>
      </p:graphicFrame>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 name="Google Shape;114;p20"/>
          <p:cNvSpPr txBox="1"/>
          <p:nvPr/>
        </p:nvSpPr>
        <p:spPr>
          <a:xfrm>
            <a:off x="730225" y="1189300"/>
            <a:ext cx="24486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What can go wrong here?</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Vulnerable Code</a:t>
            </a:r>
            <a:endParaRPr/>
          </a:p>
        </p:txBody>
      </p:sp>
      <p:sp>
        <p:nvSpPr>
          <p:cNvPr id="120" name="Google Shape;120;p21"/>
          <p:cNvSpPr txBox="1"/>
          <p:nvPr/>
        </p:nvSpPr>
        <p:spPr>
          <a:xfrm>
            <a:off x="817850" y="2091425"/>
            <a:ext cx="3471000" cy="2401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char </a:t>
            </a:r>
            <a:r>
              <a:rPr b="1" lang="en" sz="1600">
                <a:solidFill>
                  <a:srgbClr val="CC0000"/>
                </a:solidFill>
                <a:latin typeface="Courier New"/>
                <a:ea typeface="Courier New"/>
                <a:cs typeface="Courier New"/>
                <a:sym typeface="Courier New"/>
              </a:rPr>
              <a:t>name</a:t>
            </a:r>
            <a:r>
              <a:rPr b="1" lang="en" sz="1600">
                <a:solidFill>
                  <a:schemeClr val="dk1"/>
                </a:solidFill>
                <a:latin typeface="Courier New"/>
                <a:ea typeface="Courier New"/>
                <a:cs typeface="Courier New"/>
                <a:sym typeface="Courier New"/>
              </a:rPr>
              <a:t>[20];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int (*</a:t>
            </a:r>
            <a:r>
              <a:rPr b="1" lang="en" sz="1600">
                <a:solidFill>
                  <a:srgbClr val="1155CC"/>
                </a:solidFill>
                <a:latin typeface="Courier New"/>
                <a:ea typeface="Courier New"/>
                <a:cs typeface="Courier New"/>
                <a:sym typeface="Courier New"/>
              </a:rPr>
              <a:t>fnptr</a:t>
            </a:r>
            <a:r>
              <a:rPr b="1" lang="en" sz="1600">
                <a:solidFill>
                  <a:schemeClr val="dk1"/>
                </a:solidFill>
                <a:latin typeface="Courier New"/>
                <a:ea typeface="Courier New"/>
                <a:cs typeface="Courier New"/>
                <a:sym typeface="Courier New"/>
              </a:rPr>
              <a:t>)(void);</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gets(</a:t>
            </a:r>
            <a:r>
              <a:rPr b="1" lang="en" sz="1600">
                <a:solidFill>
                  <a:srgbClr val="CC0000"/>
                </a:solidFill>
                <a:latin typeface="Courier New"/>
                <a:ea typeface="Courier New"/>
                <a:cs typeface="Courier New"/>
                <a:sym typeface="Courier New"/>
              </a:rPr>
              <a:t>name</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r>
              <a:rPr b="1" lang="en" sz="1600">
                <a:solidFill>
                  <a:srgbClr val="1155CC"/>
                </a:solidFill>
                <a:latin typeface="Courier New"/>
                <a:ea typeface="Courier New"/>
                <a:cs typeface="Courier New"/>
                <a:sym typeface="Courier New"/>
              </a:rPr>
              <a:t>fnptr</a:t>
            </a: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graphicFrame>
        <p:nvGraphicFramePr>
          <p:cNvPr id="121" name="Google Shape;121;p21"/>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218607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fnptr</a:t>
                      </a:r>
                      <a:endParaRPr b="1" sz="1000">
                        <a:solidFill>
                          <a:srgbClr val="1155CC"/>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name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name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name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name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name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r>
            </a:tbl>
          </a:graphicData>
        </a:graphic>
      </p:graphicFrame>
      <p:grpSp>
        <p:nvGrpSpPr>
          <p:cNvPr id="122" name="Google Shape;122;p21"/>
          <p:cNvGrpSpPr/>
          <p:nvPr/>
        </p:nvGrpSpPr>
        <p:grpSpPr>
          <a:xfrm>
            <a:off x="3261400" y="1189300"/>
            <a:ext cx="2812200" cy="1387200"/>
            <a:chOff x="3185200" y="1189300"/>
            <a:chExt cx="2812200" cy="1387200"/>
          </a:xfrm>
        </p:grpSpPr>
        <p:sp>
          <p:nvSpPr>
            <p:cNvPr id="123" name="Google Shape;123;p21"/>
            <p:cNvSpPr txBox="1"/>
            <p:nvPr/>
          </p:nvSpPr>
          <p:spPr>
            <a:xfrm>
              <a:off x="3320800" y="1189300"/>
              <a:ext cx="26766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Courier New"/>
                  <a:ea typeface="Courier New"/>
                  <a:cs typeface="Courier New"/>
                  <a:sym typeface="Courier New"/>
                </a:rPr>
                <a:t>fnptr</a:t>
              </a:r>
              <a:r>
                <a:rPr lang="en"/>
                <a:t> is called as a function, so the EIP jumps to an address of our choosing!</a:t>
              </a:r>
              <a:endParaRPr/>
            </a:p>
          </p:txBody>
        </p:sp>
        <p:cxnSp>
          <p:nvCxnSpPr>
            <p:cNvPr id="124" name="Google Shape;124;p21"/>
            <p:cNvCxnSpPr>
              <a:stCxn id="123" idx="2"/>
            </p:cNvCxnSpPr>
            <p:nvPr/>
          </p:nvCxnSpPr>
          <p:spPr>
            <a:xfrm flipH="1">
              <a:off x="3185200" y="2020600"/>
              <a:ext cx="1473900" cy="555900"/>
            </a:xfrm>
            <a:prstGeom prst="straightConnector1">
              <a:avLst/>
            </a:prstGeom>
            <a:noFill/>
            <a:ln cap="flat" cmpd="sng" w="9525">
              <a:solidFill>
                <a:schemeClr val="dk2"/>
              </a:solidFill>
              <a:prstDash val="solid"/>
              <a:round/>
              <a:headEnd len="med" w="med" type="none"/>
              <a:tailEnd len="med" w="med" type="triangle"/>
            </a:ln>
          </p:spPr>
        </p:cxnSp>
      </p:gr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nvSpPr>
        <p:spPr>
          <a:xfrm>
            <a:off x="730225" y="1189300"/>
            <a:ext cx="24486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What can go wrong here?</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 10 Most Dangerous Software Weaknesses (2023)</a:t>
            </a:r>
            <a:endParaRPr/>
          </a:p>
        </p:txBody>
      </p:sp>
      <p:sp>
        <p:nvSpPr>
          <p:cNvPr id="132" name="Google Shape;13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33" name="Google Shape;133;p22"/>
          <p:cNvGraphicFramePr/>
          <p:nvPr/>
        </p:nvGraphicFramePr>
        <p:xfrm>
          <a:off x="714750" y="1239875"/>
          <a:ext cx="3000000" cy="3000000"/>
        </p:xfrm>
        <a:graphic>
          <a:graphicData uri="http://schemas.openxmlformats.org/drawingml/2006/table">
            <a:tbl>
              <a:tblPr>
                <a:noFill/>
                <a:tableStyleId>{9C5F5F8D-E681-450C-BBAA-6AAA60FFB359}</a:tableStyleId>
              </a:tblPr>
              <a:tblGrid>
                <a:gridCol w="535825"/>
                <a:gridCol w="779400"/>
                <a:gridCol w="5653200"/>
                <a:gridCol w="746075"/>
              </a:tblGrid>
              <a:tr h="213425">
                <a:tc>
                  <a:txBody>
                    <a:bodyPr/>
                    <a:lstStyle/>
                    <a:p>
                      <a:pPr indent="0" lvl="0" marL="0" rtl="0" algn="ctr">
                        <a:lnSpc>
                          <a:spcPct val="100000"/>
                        </a:lnSpc>
                        <a:spcBef>
                          <a:spcPts val="0"/>
                        </a:spcBef>
                        <a:spcAft>
                          <a:spcPts val="0"/>
                        </a:spcAft>
                        <a:buNone/>
                      </a:pPr>
                      <a:r>
                        <a:rPr b="1" lang="en" sz="1000"/>
                        <a:t>Rank</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ID</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Name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b="1" lang="en" sz="1000"/>
                        <a:t>Score</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120675">
                <a:tc>
                  <a:txBody>
                    <a:bodyPr/>
                    <a:lstStyle/>
                    <a:p>
                      <a:pPr indent="0" lvl="0" marL="0" rtl="0" algn="ctr">
                        <a:lnSpc>
                          <a:spcPct val="100000"/>
                        </a:lnSpc>
                        <a:spcBef>
                          <a:spcPts val="0"/>
                        </a:spcBef>
                        <a:spcAft>
                          <a:spcPts val="0"/>
                        </a:spcAft>
                        <a:buNone/>
                      </a:pPr>
                      <a:r>
                        <a:rPr b="1" lang="en" sz="1000"/>
                        <a:t>[1]</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3"/>
                        </a:rPr>
                        <a:t>CWE-787</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lnSpc>
                          <a:spcPct val="100000"/>
                        </a:lnSpc>
                        <a:spcBef>
                          <a:spcPts val="0"/>
                        </a:spcBef>
                        <a:spcAft>
                          <a:spcPts val="0"/>
                        </a:spcAft>
                        <a:buNone/>
                      </a:pPr>
                      <a:r>
                        <a:rPr lang="en" sz="1000"/>
                        <a:t>Out-of-bounds Write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ctr">
                        <a:lnSpc>
                          <a:spcPct val="100000"/>
                        </a:lnSpc>
                        <a:spcBef>
                          <a:spcPts val="0"/>
                        </a:spcBef>
                        <a:spcAft>
                          <a:spcPts val="0"/>
                        </a:spcAft>
                        <a:buNone/>
                      </a:pPr>
                      <a:r>
                        <a:rPr lang="en" sz="1000"/>
                        <a:t>63.72</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110825">
                <a:tc>
                  <a:txBody>
                    <a:bodyPr/>
                    <a:lstStyle/>
                    <a:p>
                      <a:pPr indent="0" lvl="0" marL="0" rtl="0" algn="ctr">
                        <a:lnSpc>
                          <a:spcPct val="100000"/>
                        </a:lnSpc>
                        <a:spcBef>
                          <a:spcPts val="0"/>
                        </a:spcBef>
                        <a:spcAft>
                          <a:spcPts val="0"/>
                        </a:spcAft>
                        <a:buNone/>
                      </a:pPr>
                      <a:r>
                        <a:rPr b="1" lang="en" sz="1000"/>
                        <a:t>[2]</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4"/>
                        </a:rPr>
                        <a:t>CWE-79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Input During Web Page Generation ('Cross-site Scripting')</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45.54</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[3]</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5"/>
                        </a:rPr>
                        <a:t>CWE-89</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SQL Command ('SQL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34.27</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[4]</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6"/>
                        </a:rPr>
                        <a:t>CWE-416</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Use After Free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16.71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[5]</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7"/>
                        </a:rPr>
                        <a:t>CWE-78</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Neutralization of Special Elements used in an OS Command ('OS Command Injection')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15.65</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[6]</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8"/>
                        </a:rPr>
                        <a:t>CWE-20</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Input Validation</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15.50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[7]</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9"/>
                        </a:rPr>
                        <a:t>CWE-125</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Out-of-bounds Read</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14.60</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[8]</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0"/>
                        </a:rPr>
                        <a:t>CWE-22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Improper Limitation of a Pathname to a Restricted Directory ('Path Traversal')</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14.11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[9]</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1"/>
                        </a:rPr>
                        <a:t>CWE-352</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Cross-Site Request Forgery (CSRF)</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11.73</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r h="213425">
                <a:tc>
                  <a:txBody>
                    <a:bodyPr/>
                    <a:lstStyle/>
                    <a:p>
                      <a:pPr indent="0" lvl="0" marL="0" rtl="0" algn="ctr">
                        <a:lnSpc>
                          <a:spcPct val="100000"/>
                        </a:lnSpc>
                        <a:spcBef>
                          <a:spcPts val="0"/>
                        </a:spcBef>
                        <a:spcAft>
                          <a:spcPts val="0"/>
                        </a:spcAft>
                        <a:buNone/>
                      </a:pPr>
                      <a:r>
                        <a:rPr b="1" lang="en" sz="1000"/>
                        <a:t>[10]</a:t>
                      </a:r>
                      <a:endParaRPr b="1"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u="sng">
                          <a:solidFill>
                            <a:schemeClr val="hlink"/>
                          </a:solidFill>
                          <a:hlinkClick r:id="rId12"/>
                        </a:rPr>
                        <a:t>CWE-434</a:t>
                      </a:r>
                      <a:endParaRPr sz="1000" u="sng">
                        <a:solidFill>
                          <a:schemeClr val="hlink"/>
                        </a:solidFill>
                      </a:endParaRPr>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l">
                        <a:lnSpc>
                          <a:spcPct val="100000"/>
                        </a:lnSpc>
                        <a:spcBef>
                          <a:spcPts val="0"/>
                        </a:spcBef>
                        <a:spcAft>
                          <a:spcPts val="0"/>
                        </a:spcAft>
                        <a:buNone/>
                      </a:pPr>
                      <a:r>
                        <a:rPr lang="en" sz="1000"/>
                        <a:t>Unrestricted Upload of File with Dangerous Type</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c>
                  <a:txBody>
                    <a:bodyPr/>
                    <a:lstStyle/>
                    <a:p>
                      <a:pPr indent="0" lvl="0" marL="0" rtl="0" algn="ctr">
                        <a:lnSpc>
                          <a:spcPct val="100000"/>
                        </a:lnSpc>
                        <a:spcBef>
                          <a:spcPts val="0"/>
                        </a:spcBef>
                        <a:spcAft>
                          <a:spcPts val="0"/>
                        </a:spcAft>
                        <a:buNone/>
                      </a:pPr>
                      <a:r>
                        <a:rPr lang="en" sz="1000"/>
                        <a:t>10.41</a:t>
                      </a:r>
                      <a:endParaRPr sz="1000"/>
                    </a:p>
                  </a:txBody>
                  <a:tcPr marT="27425" marB="27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AF0"/>
                    </a:solidFill>
                  </a:tcPr>
                </a:tc>
              </a:tr>
            </a:tbl>
          </a:graphicData>
        </a:graphic>
      </p:graphicFrame>
      <p:pic>
        <p:nvPicPr>
          <p:cNvPr id="134" name="Google Shape;134;p22"/>
          <p:cNvPicPr preferRelativeResize="0"/>
          <p:nvPr/>
        </p:nvPicPr>
        <p:blipFill rotWithShape="1">
          <a:blip r:embed="rId13">
            <a:alphaModFix/>
          </a:blip>
          <a:srcRect b="0" l="46771" r="0" t="0"/>
          <a:stretch/>
        </p:blipFill>
        <p:spPr>
          <a:xfrm>
            <a:off x="2075" y="4439225"/>
            <a:ext cx="374875" cy="704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graphicFrame>
        <p:nvGraphicFramePr>
          <p:cNvPr id="139" name="Google Shape;139;p23"/>
          <p:cNvGraphicFramePr/>
          <p:nvPr/>
        </p:nvGraphicFramePr>
        <p:xfrm>
          <a:off x="5142350" y="3007650"/>
          <a:ext cx="3000000" cy="3000000"/>
        </p:xfrm>
        <a:graphic>
          <a:graphicData uri="http://schemas.openxmlformats.org/drawingml/2006/table">
            <a:tbl>
              <a:tblPr>
                <a:noFill/>
                <a:tableStyleId>{56312004-1CDE-497B-A12A-34C1020B5D77}</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140" name="Google Shape;140;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Constructing Exploits</a:t>
            </a:r>
            <a:endParaRPr/>
          </a:p>
        </p:txBody>
      </p:sp>
      <p:sp>
        <p:nvSpPr>
          <p:cNvPr id="141" name="Google Shape;14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Place the shellcode </a:t>
            </a:r>
            <a:r>
              <a:rPr i="1" lang="en"/>
              <a:t>after</a:t>
            </a:r>
            <a:r>
              <a:rPr lang="en"/>
              <a:t> the RIP</a:t>
            </a:r>
            <a:endParaRPr/>
          </a:p>
          <a:p>
            <a:pPr indent="-317500" lvl="1" marL="914400" rtl="0" algn="l">
              <a:spcBef>
                <a:spcPts val="0"/>
              </a:spcBef>
              <a:spcAft>
                <a:spcPts val="0"/>
              </a:spcAft>
              <a:buSzPts val="1400"/>
              <a:buChar char="○"/>
            </a:pPr>
            <a:r>
              <a:rPr lang="en"/>
              <a:t>This works because </a:t>
            </a:r>
            <a:r>
              <a:rPr b="1" lang="en">
                <a:latin typeface="Courier New"/>
                <a:ea typeface="Courier New"/>
                <a:cs typeface="Courier New"/>
                <a:sym typeface="Courier New"/>
              </a:rPr>
              <a:t>gets</a:t>
            </a:r>
            <a:r>
              <a:rPr lang="en"/>
              <a:t> lets us write as many bytes as we want</a:t>
            </a:r>
            <a:endParaRPr/>
          </a:p>
          <a:p>
            <a:pPr indent="-317500" lvl="1" marL="914400" rtl="0" algn="l">
              <a:spcBef>
                <a:spcPts val="0"/>
              </a:spcBef>
              <a:spcAft>
                <a:spcPts val="0"/>
              </a:spcAft>
              <a:buSzPts val="1400"/>
              <a:buChar char="○"/>
            </a:pPr>
            <a:r>
              <a:rPr lang="en"/>
              <a:t>What should the address be?</a:t>
            </a:r>
            <a:endParaRPr/>
          </a:p>
          <a:p>
            <a:pPr indent="-342900" lvl="0" marL="457200" rtl="0" algn="l">
              <a:spcBef>
                <a:spcPts val="0"/>
              </a:spcBef>
              <a:spcAft>
                <a:spcPts val="0"/>
              </a:spcAft>
              <a:buSzPts val="1800"/>
              <a:buChar char="●"/>
            </a:pPr>
            <a:r>
              <a:rPr lang="en"/>
              <a:t>Input: </a:t>
            </a:r>
            <a:r>
              <a:rPr b="1" lang="en">
                <a:solidFill>
                  <a:srgbClr val="38761D"/>
                </a:solidFill>
                <a:latin typeface="Courier New"/>
                <a:ea typeface="Courier New"/>
                <a:cs typeface="Courier New"/>
                <a:sym typeface="Courier New"/>
              </a:rPr>
              <a:t>'A' * 24</a:t>
            </a:r>
            <a:r>
              <a:rPr b="1" lang="en">
                <a:latin typeface="Courier New"/>
                <a:ea typeface="Courier New"/>
                <a:cs typeface="Courier New"/>
                <a:sym typeface="Courier New"/>
              </a:rPr>
              <a:t> + </a:t>
            </a:r>
            <a:r>
              <a:rPr b="1" lang="en">
                <a:solidFill>
                  <a:srgbClr val="1155CC"/>
                </a:solidFill>
                <a:latin typeface="Courier New"/>
                <a:ea typeface="Courier New"/>
                <a:cs typeface="Courier New"/>
                <a:sym typeface="Courier New"/>
              </a:rPr>
              <a:t>'\x5c\xcd\xff\xbf'</a:t>
            </a:r>
            <a:r>
              <a:rPr b="1" lang="en">
                <a:latin typeface="Courier New"/>
                <a:ea typeface="Courier New"/>
                <a:cs typeface="Courier New"/>
                <a:sym typeface="Courier New"/>
              </a:rPr>
              <a:t> + </a:t>
            </a:r>
            <a:r>
              <a:rPr b="1" lang="en">
                <a:solidFill>
                  <a:srgbClr val="CC0000"/>
                </a:solidFill>
                <a:latin typeface="Courier New"/>
                <a:ea typeface="Courier New"/>
                <a:cs typeface="Courier New"/>
                <a:sym typeface="Courier New"/>
              </a:rPr>
              <a:t>SHELLCODE</a:t>
            </a:r>
            <a:endParaRPr b="1">
              <a:solidFill>
                <a:srgbClr val="CC0000"/>
              </a:solidFill>
              <a:latin typeface="Courier New"/>
              <a:ea typeface="Courier New"/>
              <a:cs typeface="Courier New"/>
              <a:sym typeface="Courier New"/>
            </a:endParaRPr>
          </a:p>
          <a:p>
            <a:pPr indent="-317500" lvl="1" marL="914400" rtl="0" algn="l">
              <a:spcBef>
                <a:spcPts val="0"/>
              </a:spcBef>
              <a:spcAft>
                <a:spcPts val="0"/>
              </a:spcAft>
              <a:buSzPts val="1400"/>
              <a:buChar char="○"/>
            </a:pPr>
            <a:r>
              <a:rPr lang="en"/>
              <a:t>24 bytes of garbage</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address of where we placed the shellcode</a:t>
            </a:r>
            <a:endParaRPr/>
          </a:p>
          <a:p>
            <a:pPr indent="-317500" lvl="1" marL="914400" rtl="0" algn="l">
              <a:spcBef>
                <a:spcPts val="0"/>
              </a:spcBef>
              <a:spcAft>
                <a:spcPts val="0"/>
              </a:spcAft>
              <a:buSzPts val="1400"/>
              <a:buChar char="○"/>
            </a:pPr>
            <a:r>
              <a:rPr lang="en"/>
              <a:t>28 bytes of shellcode</a:t>
            </a:r>
            <a:endParaRPr/>
          </a:p>
        </p:txBody>
      </p:sp>
      <p:sp>
        <p:nvSpPr>
          <p:cNvPr id="143" name="Google Shape;143;p23"/>
          <p:cNvSpPr txBox="1"/>
          <p:nvPr/>
        </p:nvSpPr>
        <p:spPr>
          <a:xfrm>
            <a:off x="789425" y="3788350"/>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gets(name);</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graphicFrame>
        <p:nvGraphicFramePr>
          <p:cNvPr id="144" name="Google Shape;144;p23"/>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'\x00'</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'\x5c'</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'\xcd'</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'\xff'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'\xbf'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EEEEEE"/>
                    </a:solidFill>
                  </a:tcPr>
                </a:tc>
              </a:tr>
            </a:tbl>
          </a:graphicData>
        </a:graphic>
      </p:graphicFrame>
      <p:sp>
        <p:nvSpPr>
          <p:cNvPr id="145" name="Google Shape;145;p23"/>
          <p:cNvSpPr txBox="1"/>
          <p:nvPr/>
        </p:nvSpPr>
        <p:spPr>
          <a:xfrm rot="-5400000">
            <a:off x="8058150" y="41533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name</a:t>
            </a:r>
            <a:endParaRPr b="1" sz="1200">
              <a:latin typeface="Courier New"/>
              <a:ea typeface="Courier New"/>
              <a:cs typeface="Courier New"/>
              <a:sym typeface="Courier New"/>
            </a:endParaRPr>
          </a:p>
        </p:txBody>
      </p:sp>
      <p:cxnSp>
        <p:nvCxnSpPr>
          <p:cNvPr id="146" name="Google Shape;146;p23"/>
          <p:cNvCxnSpPr>
            <a:stCxn id="145" idx="3"/>
          </p:cNvCxnSpPr>
          <p:nvPr/>
        </p:nvCxnSpPr>
        <p:spPr>
          <a:xfrm>
            <a:off x="8672550" y="37390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147" name="Google Shape;147;p23"/>
          <p:cNvCxnSpPr>
            <a:endCxn id="145" idx="1"/>
          </p:cNvCxnSpPr>
          <p:nvPr/>
        </p:nvCxnSpPr>
        <p:spPr>
          <a:xfrm>
            <a:off x="8672550" y="4627025"/>
            <a:ext cx="0" cy="340800"/>
          </a:xfrm>
          <a:prstGeom prst="straightConnector1">
            <a:avLst/>
          </a:prstGeom>
          <a:noFill/>
          <a:ln cap="flat" cmpd="sng" w="9525">
            <a:solidFill>
              <a:schemeClr val="dk2"/>
            </a:solidFill>
            <a:prstDash val="solid"/>
            <a:round/>
            <a:headEnd len="med" w="med" type="none"/>
            <a:tailEnd len="med" w="med" type="none"/>
          </a:ln>
        </p:spPr>
      </p:cxnSp>
      <p:sp>
        <p:nvSpPr>
          <p:cNvPr id="148" name="Google Shape;148;p23"/>
          <p:cNvSpPr txBox="1"/>
          <p:nvPr/>
        </p:nvSpPr>
        <p:spPr>
          <a:xfrm>
            <a:off x="8419950" y="3427200"/>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SFP</a:t>
            </a:r>
            <a:endParaRPr b="1" sz="1200">
              <a:latin typeface="Courier New"/>
              <a:ea typeface="Courier New"/>
              <a:cs typeface="Courier New"/>
              <a:sym typeface="Courier New"/>
            </a:endParaRPr>
          </a:p>
        </p:txBody>
      </p:sp>
      <p:sp>
        <p:nvSpPr>
          <p:cNvPr id="149" name="Google Shape;149;p23"/>
          <p:cNvSpPr txBox="1"/>
          <p:nvPr/>
        </p:nvSpPr>
        <p:spPr>
          <a:xfrm>
            <a:off x="8419950" y="3192875"/>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RIP</a:t>
            </a:r>
            <a:endParaRPr b="1" sz="1200">
              <a:latin typeface="Courier New"/>
              <a:ea typeface="Courier New"/>
              <a:cs typeface="Courier New"/>
              <a:sym typeface="Courier New"/>
            </a:endParaRPr>
          </a:p>
        </p:txBody>
      </p:sp>
      <p:sp>
        <p:nvSpPr>
          <p:cNvPr id="150" name="Google Shape;150;p23"/>
          <p:cNvSpPr/>
          <p:nvPr/>
        </p:nvSpPr>
        <p:spPr>
          <a:xfrm flipH="1" rot="10800000">
            <a:off x="5417100" y="3125720"/>
            <a:ext cx="670275" cy="266805"/>
          </a:xfrm>
          <a:custGeom>
            <a:rect b="b" l="l" r="r" t="t"/>
            <a:pathLst>
              <a:path extrusionOk="0" h="58001" w="26811">
                <a:moveTo>
                  <a:pt x="25717" y="0"/>
                </a:moveTo>
                <a:lnTo>
                  <a:pt x="0" y="0"/>
                </a:lnTo>
                <a:lnTo>
                  <a:pt x="0" y="58001"/>
                </a:lnTo>
                <a:lnTo>
                  <a:pt x="26811" y="58001"/>
                </a:lnTo>
              </a:path>
            </a:pathLst>
          </a:custGeom>
          <a:noFill/>
          <a:ln cap="flat" cmpd="sng" w="19050">
            <a:solidFill>
              <a:schemeClr val="dk2"/>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graphicFrame>
        <p:nvGraphicFramePr>
          <p:cNvPr id="155" name="Google Shape;155;p24"/>
          <p:cNvGraphicFramePr/>
          <p:nvPr/>
        </p:nvGraphicFramePr>
        <p:xfrm>
          <a:off x="5142350" y="3007650"/>
          <a:ext cx="3000000" cy="3000000"/>
        </p:xfrm>
        <a:graphic>
          <a:graphicData uri="http://schemas.openxmlformats.org/drawingml/2006/table">
            <a:tbl>
              <a:tblPr>
                <a:noFill/>
                <a:tableStyleId>{56312004-1CDE-497B-A12A-34C1020B5D77}</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156" name="Google Shape;156;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Constructing Exploits</a:t>
            </a:r>
            <a:endParaRPr/>
          </a:p>
        </p:txBody>
      </p:sp>
      <p:sp>
        <p:nvSpPr>
          <p:cNvPr id="157" name="Google Shape;15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8" name="Google Shape;158;p24"/>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Input: </a:t>
            </a:r>
            <a:r>
              <a:rPr b="1" lang="en">
                <a:solidFill>
                  <a:srgbClr val="CC0000"/>
                </a:solidFill>
                <a:latin typeface="Courier New"/>
                <a:ea typeface="Courier New"/>
                <a:cs typeface="Courier New"/>
                <a:sym typeface="Courier New"/>
              </a:rPr>
              <a:t>SHELLCODE</a:t>
            </a:r>
            <a:r>
              <a:rPr b="1" lang="en">
                <a:latin typeface="Courier New"/>
                <a:ea typeface="Courier New"/>
                <a:cs typeface="Courier New"/>
                <a:sym typeface="Courier New"/>
              </a:rPr>
              <a:t> + </a:t>
            </a:r>
            <a:r>
              <a:rPr b="1" lang="en">
                <a:solidFill>
                  <a:srgbClr val="38761D"/>
                </a:solidFill>
                <a:latin typeface="Courier New"/>
                <a:ea typeface="Courier New"/>
                <a:cs typeface="Courier New"/>
                <a:sym typeface="Courier New"/>
              </a:rPr>
              <a:t>'A' * 12</a:t>
            </a:r>
            <a:r>
              <a:rPr b="1" lang="en">
                <a:latin typeface="Courier New"/>
                <a:ea typeface="Courier New"/>
                <a:cs typeface="Courier New"/>
                <a:sym typeface="Courier New"/>
              </a:rPr>
              <a:t> + </a:t>
            </a:r>
            <a:r>
              <a:rPr b="1" lang="en">
                <a:solidFill>
                  <a:srgbClr val="1155CC"/>
                </a:solidFill>
                <a:latin typeface="Courier New"/>
                <a:ea typeface="Courier New"/>
                <a:cs typeface="Courier New"/>
                <a:sym typeface="Courier New"/>
              </a:rPr>
              <a:t>'\x40\xcd\xff\xbf' </a:t>
            </a:r>
            <a:r>
              <a:rPr b="1" lang="en">
                <a:latin typeface="Courier New"/>
                <a:ea typeface="Courier New"/>
                <a:cs typeface="Courier New"/>
                <a:sym typeface="Courier New"/>
              </a:rPr>
              <a:t>+ '\n'</a:t>
            </a:r>
            <a:endParaRPr b="1">
              <a:solidFill>
                <a:srgbClr val="1155CC"/>
              </a:solidFill>
              <a:latin typeface="Courier New"/>
              <a:ea typeface="Courier New"/>
              <a:cs typeface="Courier New"/>
              <a:sym typeface="Courier New"/>
            </a:endParaRPr>
          </a:p>
          <a:p>
            <a:pPr indent="-317500" lvl="1" marL="914400" rtl="0" algn="l">
              <a:spcBef>
                <a:spcPts val="0"/>
              </a:spcBef>
              <a:spcAft>
                <a:spcPts val="0"/>
              </a:spcAft>
              <a:buSzPts val="1400"/>
              <a:buChar char="○"/>
            </a:pPr>
            <a:r>
              <a:rPr lang="en"/>
              <a:t>12 bytes of shellcode</a:t>
            </a:r>
            <a:endParaRPr/>
          </a:p>
          <a:p>
            <a:pPr indent="-317500" lvl="1" marL="914400" rtl="0" algn="l">
              <a:spcBef>
                <a:spcPts val="0"/>
              </a:spcBef>
              <a:spcAft>
                <a:spcPts val="0"/>
              </a:spcAft>
              <a:buSzPts val="1400"/>
              <a:buChar char="○"/>
            </a:pPr>
            <a:r>
              <a:rPr lang="en"/>
              <a:t>12 garbage bytes to overwrite the rest of </a:t>
            </a:r>
            <a:r>
              <a:rPr b="1" lang="en">
                <a:latin typeface="Courier New"/>
                <a:ea typeface="Courier New"/>
                <a:cs typeface="Courier New"/>
                <a:sym typeface="Courier New"/>
              </a:rPr>
              <a:t>name</a:t>
            </a:r>
            <a:r>
              <a:rPr lang="en"/>
              <a:t> and the SFP of </a:t>
            </a:r>
            <a:r>
              <a:rPr b="1" lang="en">
                <a:latin typeface="Courier New"/>
                <a:ea typeface="Courier New"/>
                <a:cs typeface="Courier New"/>
                <a:sym typeface="Courier New"/>
              </a:rPr>
              <a:t>vulnerable</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address of where we placed the shellcode</a:t>
            </a:r>
            <a:endParaRPr/>
          </a:p>
        </p:txBody>
      </p:sp>
      <p:sp>
        <p:nvSpPr>
          <p:cNvPr id="159" name="Google Shape;159;p24"/>
          <p:cNvSpPr txBox="1"/>
          <p:nvPr/>
        </p:nvSpPr>
        <p:spPr>
          <a:xfrm>
            <a:off x="789425" y="3788350"/>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gets(name);</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graphicFrame>
        <p:nvGraphicFramePr>
          <p:cNvPr id="160" name="Google Shape;160;p24"/>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'\x00'</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'\x40'</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'\xcd'</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'\xff'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'\xbf'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solidFill>
                      <a:srgbClr val="EEEEEE"/>
                    </a:solidFill>
                  </a:tcPr>
                </a:tc>
                <a:tc hMerge="1"/>
                <a:tc hMerge="1"/>
                <a:tc hMerge="1"/>
              </a:tr>
            </a:tbl>
          </a:graphicData>
        </a:graphic>
      </p:graphicFrame>
      <p:sp>
        <p:nvSpPr>
          <p:cNvPr id="161" name="Google Shape;161;p24"/>
          <p:cNvSpPr txBox="1"/>
          <p:nvPr/>
        </p:nvSpPr>
        <p:spPr>
          <a:xfrm rot="-5400000">
            <a:off x="8058150" y="41533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name</a:t>
            </a:r>
            <a:endParaRPr b="1" sz="1200">
              <a:latin typeface="Courier New"/>
              <a:ea typeface="Courier New"/>
              <a:cs typeface="Courier New"/>
              <a:sym typeface="Courier New"/>
            </a:endParaRPr>
          </a:p>
        </p:txBody>
      </p:sp>
      <p:cxnSp>
        <p:nvCxnSpPr>
          <p:cNvPr id="162" name="Google Shape;162;p24"/>
          <p:cNvCxnSpPr>
            <a:stCxn id="161" idx="3"/>
          </p:cNvCxnSpPr>
          <p:nvPr/>
        </p:nvCxnSpPr>
        <p:spPr>
          <a:xfrm>
            <a:off x="8672550" y="37390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163" name="Google Shape;163;p24"/>
          <p:cNvCxnSpPr>
            <a:endCxn id="161" idx="1"/>
          </p:cNvCxnSpPr>
          <p:nvPr/>
        </p:nvCxnSpPr>
        <p:spPr>
          <a:xfrm>
            <a:off x="8672550" y="4627025"/>
            <a:ext cx="0" cy="340800"/>
          </a:xfrm>
          <a:prstGeom prst="straightConnector1">
            <a:avLst/>
          </a:prstGeom>
          <a:noFill/>
          <a:ln cap="flat" cmpd="sng" w="9525">
            <a:solidFill>
              <a:schemeClr val="dk2"/>
            </a:solidFill>
            <a:prstDash val="solid"/>
            <a:round/>
            <a:headEnd len="med" w="med" type="none"/>
            <a:tailEnd len="med" w="med" type="none"/>
          </a:ln>
        </p:spPr>
      </p:cxnSp>
      <p:sp>
        <p:nvSpPr>
          <p:cNvPr id="164" name="Google Shape;164;p24"/>
          <p:cNvSpPr txBox="1"/>
          <p:nvPr/>
        </p:nvSpPr>
        <p:spPr>
          <a:xfrm>
            <a:off x="8419950" y="3427200"/>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SFP</a:t>
            </a:r>
            <a:endParaRPr b="1" sz="1200">
              <a:latin typeface="Courier New"/>
              <a:ea typeface="Courier New"/>
              <a:cs typeface="Courier New"/>
              <a:sym typeface="Courier New"/>
            </a:endParaRPr>
          </a:p>
        </p:txBody>
      </p:sp>
      <p:sp>
        <p:nvSpPr>
          <p:cNvPr id="165" name="Google Shape;165;p24"/>
          <p:cNvSpPr txBox="1"/>
          <p:nvPr/>
        </p:nvSpPr>
        <p:spPr>
          <a:xfrm>
            <a:off x="8419950" y="3192875"/>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RIP</a:t>
            </a:r>
            <a:endParaRPr b="1" sz="1200">
              <a:latin typeface="Courier New"/>
              <a:ea typeface="Courier New"/>
              <a:cs typeface="Courier New"/>
              <a:sym typeface="Courier New"/>
            </a:endParaRPr>
          </a:p>
        </p:txBody>
      </p:sp>
      <p:sp>
        <p:nvSpPr>
          <p:cNvPr id="166" name="Google Shape;166;p24"/>
          <p:cNvSpPr/>
          <p:nvPr/>
        </p:nvSpPr>
        <p:spPr>
          <a:xfrm>
            <a:off x="5417100" y="3392525"/>
            <a:ext cx="670275" cy="1450025"/>
          </a:xfrm>
          <a:custGeom>
            <a:rect b="b" l="l" r="r" t="t"/>
            <a:pathLst>
              <a:path extrusionOk="0" h="58001" w="26811">
                <a:moveTo>
                  <a:pt x="25717" y="0"/>
                </a:moveTo>
                <a:lnTo>
                  <a:pt x="0" y="0"/>
                </a:lnTo>
                <a:lnTo>
                  <a:pt x="0" y="58001"/>
                </a:lnTo>
                <a:lnTo>
                  <a:pt x="26811" y="58001"/>
                </a:lnTo>
              </a:path>
            </a:pathLst>
          </a:custGeom>
          <a:noFill/>
          <a:ln cap="flat" cmpd="sng" w="19050">
            <a:solidFill>
              <a:schemeClr val="dk2"/>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graphicFrame>
        <p:nvGraphicFramePr>
          <p:cNvPr id="171" name="Google Shape;171;p25"/>
          <p:cNvGraphicFramePr/>
          <p:nvPr/>
        </p:nvGraphicFramePr>
        <p:xfrm>
          <a:off x="5142350" y="3007650"/>
          <a:ext cx="3000000" cy="3000000"/>
        </p:xfrm>
        <a:graphic>
          <a:graphicData uri="http://schemas.openxmlformats.org/drawingml/2006/table">
            <a:tbl>
              <a:tblPr>
                <a:noFill/>
                <a:tableStyleId>{56312004-1CDE-497B-A12A-34C1020B5D77}</a:tableStyleId>
              </a:tblPr>
              <a:tblGrid>
                <a:gridCol w="291400"/>
                <a:gridCol w="382850"/>
                <a:gridCol w="382850"/>
                <a:gridCol w="382850"/>
              </a:tblGrid>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0xbfffcd50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0xbfffcd4c</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0xbfffcd48</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0xbfffcd44</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r h="152550">
                <a:tc gridSpan="4">
                  <a:txBody>
                    <a:bodyPr/>
                    <a:lstStyle/>
                    <a:p>
                      <a:pPr indent="0" lvl="0" marL="0" rtl="0" algn="ctr">
                        <a:spcBef>
                          <a:spcPts val="0"/>
                        </a:spcBef>
                        <a:spcAft>
                          <a:spcPts val="0"/>
                        </a:spcAft>
                        <a:buNone/>
                      </a:pPr>
                      <a:r>
                        <a:rPr b="1" lang="en" sz="1000">
                          <a:solidFill>
                            <a:srgbClr val="999999"/>
                          </a:solidFill>
                          <a:latin typeface="Courier New"/>
                          <a:ea typeface="Courier New"/>
                          <a:cs typeface="Courier New"/>
                          <a:sym typeface="Courier New"/>
                        </a:rPr>
                        <a:t>0xbfffcd40</a:t>
                      </a:r>
                      <a:endParaRPr b="1" sz="1000">
                        <a:solidFill>
                          <a:srgbClr val="999999"/>
                        </a:solidFill>
                        <a:latin typeface="Courier New"/>
                        <a:ea typeface="Courier New"/>
                        <a:cs typeface="Courier New"/>
                        <a:sym typeface="Courier New"/>
                      </a:endParaRPr>
                    </a:p>
                  </a:txBody>
                  <a:tcPr marT="45700" marB="45700" marR="45700" marL="45700">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hMerge="1"/>
              </a:tr>
            </a:tbl>
          </a:graphicData>
        </a:graphic>
      </p:graphicFrame>
      <p:sp>
        <p:nvSpPr>
          <p:cNvPr id="172" name="Google Shape;172;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Constructing Exploits</a:t>
            </a:r>
            <a:endParaRPr/>
          </a:p>
        </p:txBody>
      </p:sp>
      <p:sp>
        <p:nvSpPr>
          <p:cNvPr id="173" name="Google Shape;173;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5"/>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Alternative: </a:t>
            </a:r>
            <a:r>
              <a:rPr b="1" lang="en">
                <a:solidFill>
                  <a:srgbClr val="38761D"/>
                </a:solidFill>
                <a:latin typeface="Courier New"/>
                <a:ea typeface="Courier New"/>
                <a:cs typeface="Courier New"/>
                <a:sym typeface="Courier New"/>
              </a:rPr>
              <a:t>'A' * 12</a:t>
            </a:r>
            <a:r>
              <a:rPr b="1" lang="en">
                <a:latin typeface="Courier New"/>
                <a:ea typeface="Courier New"/>
                <a:cs typeface="Courier New"/>
                <a:sym typeface="Courier New"/>
              </a:rPr>
              <a:t> + </a:t>
            </a:r>
            <a:r>
              <a:rPr b="1" lang="en">
                <a:solidFill>
                  <a:srgbClr val="CC0000"/>
                </a:solidFill>
                <a:latin typeface="Courier New"/>
                <a:ea typeface="Courier New"/>
                <a:cs typeface="Courier New"/>
                <a:sym typeface="Courier New"/>
              </a:rPr>
              <a:t>SHELLCODE</a:t>
            </a:r>
            <a:r>
              <a:rPr b="1" lang="en">
                <a:latin typeface="Courier New"/>
                <a:ea typeface="Courier New"/>
                <a:cs typeface="Courier New"/>
                <a:sym typeface="Courier New"/>
              </a:rPr>
              <a:t> + </a:t>
            </a:r>
            <a:r>
              <a:rPr b="1" lang="en">
                <a:solidFill>
                  <a:srgbClr val="1155CC"/>
                </a:solidFill>
                <a:latin typeface="Courier New"/>
                <a:ea typeface="Courier New"/>
                <a:cs typeface="Courier New"/>
                <a:sym typeface="Courier New"/>
              </a:rPr>
              <a:t>'\x4c\xcd\xff\xbf' </a:t>
            </a:r>
            <a:r>
              <a:rPr b="1" lang="en">
                <a:latin typeface="Courier New"/>
                <a:ea typeface="Courier New"/>
                <a:cs typeface="Courier New"/>
                <a:sym typeface="Courier New"/>
              </a:rPr>
              <a:t>+ '\n'</a:t>
            </a:r>
            <a:endParaRPr b="1">
              <a:solidFill>
                <a:srgbClr val="1155CC"/>
              </a:solidFill>
              <a:latin typeface="Courier New"/>
              <a:ea typeface="Courier New"/>
              <a:cs typeface="Courier New"/>
              <a:sym typeface="Courier New"/>
            </a:endParaRPr>
          </a:p>
          <a:p>
            <a:pPr indent="-317500" lvl="1" marL="914400" rtl="0" algn="l">
              <a:spcBef>
                <a:spcPts val="0"/>
              </a:spcBef>
              <a:spcAft>
                <a:spcPts val="0"/>
              </a:spcAft>
              <a:buSzPts val="1400"/>
              <a:buChar char="○"/>
            </a:pPr>
            <a:r>
              <a:rPr lang="en"/>
              <a:t>The address changed! Why?</a:t>
            </a:r>
            <a:endParaRPr/>
          </a:p>
          <a:p>
            <a:pPr indent="-317500" lvl="2" marL="1371600" rtl="0" algn="l">
              <a:spcBef>
                <a:spcPts val="0"/>
              </a:spcBef>
              <a:spcAft>
                <a:spcPts val="0"/>
              </a:spcAft>
              <a:buSzPts val="1400"/>
              <a:buChar char="■"/>
            </a:pPr>
            <a:r>
              <a:rPr lang="en"/>
              <a:t>We placed our shellcode at a different address (</a:t>
            </a:r>
            <a:r>
              <a:rPr b="1" lang="en">
                <a:latin typeface="Courier New"/>
                <a:ea typeface="Courier New"/>
                <a:cs typeface="Courier New"/>
                <a:sym typeface="Courier New"/>
              </a:rPr>
              <a:t>name + 12</a:t>
            </a:r>
            <a:r>
              <a:rPr lang="en"/>
              <a:t>)!</a:t>
            </a:r>
            <a:endParaRPr/>
          </a:p>
        </p:txBody>
      </p:sp>
      <p:sp>
        <p:nvSpPr>
          <p:cNvPr id="175" name="Google Shape;175;p25"/>
          <p:cNvSpPr txBox="1"/>
          <p:nvPr/>
        </p:nvSpPr>
        <p:spPr>
          <a:xfrm>
            <a:off x="789425" y="3788350"/>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gets(name);</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graphicFrame>
        <p:nvGraphicFramePr>
          <p:cNvPr id="176" name="Google Shape;176;p25"/>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'\x00'</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r>
              <a:tr h="152550">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'\x4c'</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'\xcd'</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'\xff'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1155CC"/>
                          </a:solidFill>
                          <a:latin typeface="Courier New"/>
                          <a:ea typeface="Courier New"/>
                          <a:cs typeface="Courier New"/>
                          <a:sym typeface="Courier New"/>
                        </a:rPr>
                        <a:t>'\xbf'</a:t>
                      </a:r>
                      <a:endParaRPr b="1" sz="1000">
                        <a:solidFill>
                          <a:srgbClr val="1155CC"/>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SHELLCODE</a:t>
                      </a:r>
                      <a:endParaRPr b="1" sz="1000">
                        <a:solidFill>
                          <a:srgbClr val="CC0000"/>
                        </a:solidFill>
                        <a:latin typeface="Courier New"/>
                        <a:ea typeface="Courier New"/>
                        <a:cs typeface="Courier New"/>
                        <a:sym typeface="Courier New"/>
                      </a:endParaRPr>
                    </a:p>
                  </a:txBody>
                  <a:tcPr marT="45700" marB="45700" marR="18275" marL="1827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r h="152550">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c>
                  <a:txBody>
                    <a:bodyPr/>
                    <a:lstStyle/>
                    <a:p>
                      <a:pPr indent="0" lvl="0" marL="0" rtl="0" algn="ctr">
                        <a:spcBef>
                          <a:spcPts val="0"/>
                        </a:spcBef>
                        <a:spcAft>
                          <a:spcPts val="0"/>
                        </a:spcAft>
                        <a:buNone/>
                      </a:pPr>
                      <a:r>
                        <a:rPr b="1" lang="en" sz="1000">
                          <a:solidFill>
                            <a:srgbClr val="38761D"/>
                          </a:solidFill>
                          <a:latin typeface="Courier New"/>
                          <a:ea typeface="Courier New"/>
                          <a:cs typeface="Courier New"/>
                          <a:sym typeface="Courier New"/>
                        </a:rPr>
                        <a:t>'A'</a:t>
                      </a:r>
                      <a:endParaRPr b="1" sz="1000">
                        <a:solidFill>
                          <a:srgbClr val="38761D"/>
                        </a:solidFill>
                        <a:latin typeface="Courier New"/>
                        <a:ea typeface="Courier New"/>
                        <a:cs typeface="Courier New"/>
                        <a:sym typeface="Courier New"/>
                      </a:endParaRPr>
                    </a:p>
                  </a:txBody>
                  <a:tcPr marT="45700" marB="45700" marR="18275" marL="18275">
                    <a:solidFill>
                      <a:srgbClr val="EEEEEE"/>
                    </a:solidFill>
                  </a:tcPr>
                </a:tc>
              </a:tr>
            </a:tbl>
          </a:graphicData>
        </a:graphic>
      </p:graphicFrame>
      <p:sp>
        <p:nvSpPr>
          <p:cNvPr id="177" name="Google Shape;177;p25"/>
          <p:cNvSpPr txBox="1"/>
          <p:nvPr/>
        </p:nvSpPr>
        <p:spPr>
          <a:xfrm rot="-5400000">
            <a:off x="8058150" y="4153325"/>
            <a:ext cx="1228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name</a:t>
            </a:r>
            <a:endParaRPr b="1" sz="1200">
              <a:latin typeface="Courier New"/>
              <a:ea typeface="Courier New"/>
              <a:cs typeface="Courier New"/>
              <a:sym typeface="Courier New"/>
            </a:endParaRPr>
          </a:p>
        </p:txBody>
      </p:sp>
      <p:cxnSp>
        <p:nvCxnSpPr>
          <p:cNvPr id="178" name="Google Shape;178;p25"/>
          <p:cNvCxnSpPr>
            <a:stCxn id="177" idx="3"/>
          </p:cNvCxnSpPr>
          <p:nvPr/>
        </p:nvCxnSpPr>
        <p:spPr>
          <a:xfrm>
            <a:off x="8672550" y="3739025"/>
            <a:ext cx="0" cy="3309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25"/>
          <p:cNvCxnSpPr>
            <a:endCxn id="177" idx="1"/>
          </p:cNvCxnSpPr>
          <p:nvPr/>
        </p:nvCxnSpPr>
        <p:spPr>
          <a:xfrm>
            <a:off x="8672550" y="4627025"/>
            <a:ext cx="0" cy="340800"/>
          </a:xfrm>
          <a:prstGeom prst="straightConnector1">
            <a:avLst/>
          </a:prstGeom>
          <a:noFill/>
          <a:ln cap="flat" cmpd="sng" w="9525">
            <a:solidFill>
              <a:schemeClr val="dk2"/>
            </a:solidFill>
            <a:prstDash val="solid"/>
            <a:round/>
            <a:headEnd len="med" w="med" type="none"/>
            <a:tailEnd len="med" w="med" type="none"/>
          </a:ln>
        </p:spPr>
      </p:cxnSp>
      <p:sp>
        <p:nvSpPr>
          <p:cNvPr id="180" name="Google Shape;180;p25"/>
          <p:cNvSpPr txBox="1"/>
          <p:nvPr/>
        </p:nvSpPr>
        <p:spPr>
          <a:xfrm>
            <a:off x="8419950" y="3427200"/>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SFP</a:t>
            </a:r>
            <a:endParaRPr b="1" sz="1200">
              <a:latin typeface="Courier New"/>
              <a:ea typeface="Courier New"/>
              <a:cs typeface="Courier New"/>
              <a:sym typeface="Courier New"/>
            </a:endParaRPr>
          </a:p>
        </p:txBody>
      </p:sp>
      <p:sp>
        <p:nvSpPr>
          <p:cNvPr id="181" name="Google Shape;181;p25"/>
          <p:cNvSpPr txBox="1"/>
          <p:nvPr/>
        </p:nvSpPr>
        <p:spPr>
          <a:xfrm>
            <a:off x="8419950" y="3192875"/>
            <a:ext cx="505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urier New"/>
                <a:ea typeface="Courier New"/>
                <a:cs typeface="Courier New"/>
                <a:sym typeface="Courier New"/>
              </a:rPr>
              <a:t>RIP</a:t>
            </a:r>
            <a:endParaRPr b="1" sz="1200">
              <a:latin typeface="Courier New"/>
              <a:ea typeface="Courier New"/>
              <a:cs typeface="Courier New"/>
              <a:sym typeface="Courier New"/>
            </a:endParaRPr>
          </a:p>
        </p:txBody>
      </p:sp>
      <p:sp>
        <p:nvSpPr>
          <p:cNvPr id="182" name="Google Shape;182;p25"/>
          <p:cNvSpPr/>
          <p:nvPr/>
        </p:nvSpPr>
        <p:spPr>
          <a:xfrm>
            <a:off x="5417100" y="3392525"/>
            <a:ext cx="670275" cy="731828"/>
          </a:xfrm>
          <a:custGeom>
            <a:rect b="b" l="l" r="r" t="t"/>
            <a:pathLst>
              <a:path extrusionOk="0" h="58001" w="26811">
                <a:moveTo>
                  <a:pt x="25717" y="0"/>
                </a:moveTo>
                <a:lnTo>
                  <a:pt x="0" y="0"/>
                </a:lnTo>
                <a:lnTo>
                  <a:pt x="0" y="58001"/>
                </a:lnTo>
                <a:lnTo>
                  <a:pt x="26811" y="58001"/>
                </a:lnTo>
              </a:path>
            </a:pathLst>
          </a:custGeom>
          <a:noFill/>
          <a:ln cap="flat" cmpd="sng" w="19050">
            <a:solidFill>
              <a:schemeClr val="dk2"/>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Memory-Safe Code</a:t>
            </a:r>
            <a:endParaRPr/>
          </a:p>
        </p:txBody>
      </p:sp>
      <p:sp>
        <p:nvSpPr>
          <p:cNvPr id="188" name="Google Shape;18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Still Vulnerable Code?</a:t>
            </a:r>
            <a:endParaRPr/>
          </a:p>
        </p:txBody>
      </p:sp>
      <p:sp>
        <p:nvSpPr>
          <p:cNvPr id="194" name="Google Shape;194;p27"/>
          <p:cNvSpPr txBox="1"/>
          <p:nvPr/>
        </p:nvSpPr>
        <p:spPr>
          <a:xfrm>
            <a:off x="2657400" y="2091425"/>
            <a:ext cx="38292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 = malloc(20);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gets(name);</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195" name="Google Shape;19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96" name="Google Shape;196;p27"/>
          <p:cNvGrpSpPr/>
          <p:nvPr/>
        </p:nvGrpSpPr>
        <p:grpSpPr>
          <a:xfrm>
            <a:off x="4994550" y="2840550"/>
            <a:ext cx="2026800" cy="1752900"/>
            <a:chOff x="4994550" y="2840550"/>
            <a:chExt cx="2026800" cy="1752900"/>
          </a:xfrm>
        </p:grpSpPr>
        <p:cxnSp>
          <p:nvCxnSpPr>
            <p:cNvPr id="197" name="Google Shape;197;p27"/>
            <p:cNvCxnSpPr>
              <a:stCxn id="198" idx="0"/>
            </p:cNvCxnSpPr>
            <p:nvPr/>
          </p:nvCxnSpPr>
          <p:spPr>
            <a:xfrm rot="10800000">
              <a:off x="5220150" y="2840550"/>
              <a:ext cx="787800" cy="1137300"/>
            </a:xfrm>
            <a:prstGeom prst="straightConnector1">
              <a:avLst/>
            </a:prstGeom>
            <a:noFill/>
            <a:ln cap="flat" cmpd="sng" w="9525">
              <a:solidFill>
                <a:schemeClr val="dk2"/>
              </a:solidFill>
              <a:prstDash val="solid"/>
              <a:round/>
              <a:headEnd len="med" w="med" type="none"/>
              <a:tailEnd len="med" w="med" type="triangle"/>
            </a:ln>
          </p:spPr>
        </p:cxnSp>
        <p:sp>
          <p:nvSpPr>
            <p:cNvPr id="198" name="Google Shape;198;p27"/>
            <p:cNvSpPr txBox="1"/>
            <p:nvPr/>
          </p:nvSpPr>
          <p:spPr>
            <a:xfrm>
              <a:off x="4994550" y="3977850"/>
              <a:ext cx="20268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Heap overflows are also vulnerable!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Specify the Size</a:t>
            </a:r>
            <a:endParaRPr/>
          </a:p>
        </p:txBody>
      </p:sp>
      <p:sp>
        <p:nvSpPr>
          <p:cNvPr id="204" name="Google Shape;204;p28"/>
          <p:cNvSpPr txBox="1"/>
          <p:nvPr/>
        </p:nvSpPr>
        <p:spPr>
          <a:xfrm>
            <a:off x="2657400" y="2091425"/>
            <a:ext cx="38292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safe(void)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fgets(name, 20, stdin);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05" name="Google Shape;20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06" name="Google Shape;206;p28"/>
          <p:cNvGrpSpPr/>
          <p:nvPr/>
        </p:nvGrpSpPr>
        <p:grpSpPr>
          <a:xfrm>
            <a:off x="3552100" y="3202525"/>
            <a:ext cx="2592300" cy="1854300"/>
            <a:chOff x="3552100" y="3202525"/>
            <a:chExt cx="2592300" cy="1854300"/>
          </a:xfrm>
        </p:grpSpPr>
        <p:cxnSp>
          <p:nvCxnSpPr>
            <p:cNvPr id="207" name="Google Shape;207;p28"/>
            <p:cNvCxnSpPr>
              <a:stCxn id="208" idx="0"/>
            </p:cNvCxnSpPr>
            <p:nvPr/>
          </p:nvCxnSpPr>
          <p:spPr>
            <a:xfrm rot="10800000">
              <a:off x="4753150" y="3202525"/>
              <a:ext cx="95100" cy="592200"/>
            </a:xfrm>
            <a:prstGeom prst="straightConnector1">
              <a:avLst/>
            </a:prstGeom>
            <a:noFill/>
            <a:ln cap="flat" cmpd="sng" w="9525">
              <a:solidFill>
                <a:schemeClr val="dk2"/>
              </a:solidFill>
              <a:prstDash val="solid"/>
              <a:round/>
              <a:headEnd len="med" w="med" type="none"/>
              <a:tailEnd len="med" w="med" type="triangle"/>
            </a:ln>
          </p:spPr>
        </p:cxnSp>
        <p:sp>
          <p:nvSpPr>
            <p:cNvPr id="208" name="Google Shape;208;p28"/>
            <p:cNvSpPr txBox="1"/>
            <p:nvPr/>
          </p:nvSpPr>
          <p:spPr>
            <a:xfrm>
              <a:off x="3552100" y="3794725"/>
              <a:ext cx="2592300" cy="12621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length parameter specifies the size of the buffer and won’t write any more bytes—no more buffer overflows!</a:t>
              </a:r>
              <a:endParaRPr/>
            </a:p>
          </p:txBody>
        </p:sp>
      </p:grpSp>
      <p:sp>
        <p:nvSpPr>
          <p:cNvPr id="209" name="Google Shape;209;p28"/>
          <p:cNvSpPr txBox="1"/>
          <p:nvPr/>
        </p:nvSpPr>
        <p:spPr>
          <a:xfrm>
            <a:off x="6081050" y="4276525"/>
            <a:ext cx="20268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t>Warning</a:t>
            </a:r>
            <a:r>
              <a:rPr lang="en"/>
              <a:t>: Different functions take slightly different parameters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Solution: Specify the Size</a:t>
            </a:r>
            <a:endParaRPr/>
          </a:p>
        </p:txBody>
      </p:sp>
      <p:sp>
        <p:nvSpPr>
          <p:cNvPr id="215" name="Google Shape;215;p29"/>
          <p:cNvSpPr txBox="1"/>
          <p:nvPr/>
        </p:nvSpPr>
        <p:spPr>
          <a:xfrm>
            <a:off x="2227800" y="2091425"/>
            <a:ext cx="46884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safer(void)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name[20];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fgets(name, sizeof(name), stdin);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16" name="Google Shape;21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17" name="Google Shape;217;p29"/>
          <p:cNvGrpSpPr/>
          <p:nvPr/>
        </p:nvGrpSpPr>
        <p:grpSpPr>
          <a:xfrm>
            <a:off x="4130350" y="3208875"/>
            <a:ext cx="2732400" cy="1625700"/>
            <a:chOff x="4130350" y="3208875"/>
            <a:chExt cx="2732400" cy="1625700"/>
          </a:xfrm>
        </p:grpSpPr>
        <p:cxnSp>
          <p:nvCxnSpPr>
            <p:cNvPr id="218" name="Google Shape;218;p29"/>
            <p:cNvCxnSpPr>
              <a:stCxn id="219" idx="0"/>
            </p:cNvCxnSpPr>
            <p:nvPr/>
          </p:nvCxnSpPr>
          <p:spPr>
            <a:xfrm rot="10800000">
              <a:off x="4759450" y="3208875"/>
              <a:ext cx="737100" cy="794400"/>
            </a:xfrm>
            <a:prstGeom prst="straightConnector1">
              <a:avLst/>
            </a:prstGeom>
            <a:noFill/>
            <a:ln cap="flat" cmpd="sng" w="9525">
              <a:solidFill>
                <a:schemeClr val="dk2"/>
              </a:solidFill>
              <a:prstDash val="solid"/>
              <a:round/>
              <a:headEnd len="med" w="med" type="none"/>
              <a:tailEnd len="med" w="med" type="triangle"/>
            </a:ln>
          </p:spPr>
        </p:cxnSp>
        <p:sp>
          <p:nvSpPr>
            <p:cNvPr id="219" name="Google Shape;219;p29"/>
            <p:cNvSpPr txBox="1"/>
            <p:nvPr/>
          </p:nvSpPr>
          <p:spPr>
            <a:xfrm>
              <a:off x="4130350" y="4003275"/>
              <a:ext cx="27324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sizeof</a:t>
              </a:r>
              <a:r>
                <a:rPr lang="en"/>
                <a:t> returns the size of the variable (does </a:t>
              </a:r>
              <a:r>
                <a:rPr b="1" lang="en"/>
                <a:t>not</a:t>
              </a:r>
              <a:r>
                <a:rPr lang="en"/>
                <a:t> work for pointers)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Vulnerable C Library Functions</a:t>
            </a:r>
            <a:endParaRPr/>
          </a:p>
        </p:txBody>
      </p:sp>
      <p:sp>
        <p:nvSpPr>
          <p:cNvPr id="225" name="Google Shape;22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latin typeface="Courier New"/>
                <a:ea typeface="Courier New"/>
                <a:cs typeface="Courier New"/>
                <a:sym typeface="Courier New"/>
              </a:rPr>
              <a:t>gets</a:t>
            </a:r>
            <a:r>
              <a:rPr lang="en"/>
              <a:t> - Read a string from stdin</a:t>
            </a:r>
            <a:endParaRPr/>
          </a:p>
          <a:p>
            <a:pPr indent="-317500" lvl="1" marL="914400" rtl="0" algn="l">
              <a:spcBef>
                <a:spcPts val="0"/>
              </a:spcBef>
              <a:spcAft>
                <a:spcPts val="0"/>
              </a:spcAft>
              <a:buSzPts val="1400"/>
              <a:buChar char="○"/>
            </a:pPr>
            <a:r>
              <a:rPr lang="en"/>
              <a:t>Use </a:t>
            </a:r>
            <a:r>
              <a:rPr b="1" lang="en">
                <a:latin typeface="Courier New"/>
                <a:ea typeface="Courier New"/>
                <a:cs typeface="Courier New"/>
                <a:sym typeface="Courier New"/>
              </a:rPr>
              <a:t>fgets</a:t>
            </a:r>
            <a:r>
              <a:rPr lang="en"/>
              <a:t> instead</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strcpy</a:t>
            </a:r>
            <a:r>
              <a:rPr lang="en"/>
              <a:t> - Copy a string</a:t>
            </a:r>
            <a:endParaRPr/>
          </a:p>
          <a:p>
            <a:pPr indent="-317500" lvl="1" marL="914400" rtl="0" algn="l">
              <a:spcBef>
                <a:spcPts val="0"/>
              </a:spcBef>
              <a:spcAft>
                <a:spcPts val="0"/>
              </a:spcAft>
              <a:buSzPts val="1400"/>
              <a:buChar char="○"/>
            </a:pPr>
            <a:r>
              <a:rPr lang="en"/>
              <a:t>Use </a:t>
            </a:r>
            <a:r>
              <a:rPr b="1" lang="en">
                <a:latin typeface="Courier New"/>
                <a:ea typeface="Courier New"/>
                <a:cs typeface="Courier New"/>
                <a:sym typeface="Courier New"/>
              </a:rPr>
              <a:t>strncpy</a:t>
            </a:r>
            <a:r>
              <a:rPr lang="en"/>
              <a:t> (more compatible, less safe) or </a:t>
            </a:r>
            <a:r>
              <a:rPr b="1" lang="en">
                <a:latin typeface="Courier New"/>
                <a:ea typeface="Courier New"/>
                <a:cs typeface="Courier New"/>
                <a:sym typeface="Courier New"/>
              </a:rPr>
              <a:t>strlcpy</a:t>
            </a:r>
            <a:r>
              <a:rPr lang="en"/>
              <a:t> (less compatible, more safe) instead</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strlen</a:t>
            </a:r>
            <a:r>
              <a:rPr lang="en"/>
              <a:t> - Get the length of a string</a:t>
            </a:r>
            <a:endParaRPr/>
          </a:p>
          <a:p>
            <a:pPr indent="-317500" lvl="1" marL="914400" rtl="0" algn="l">
              <a:spcBef>
                <a:spcPts val="0"/>
              </a:spcBef>
              <a:spcAft>
                <a:spcPts val="0"/>
              </a:spcAft>
              <a:buSzPts val="1400"/>
              <a:buChar char="○"/>
            </a:pPr>
            <a:r>
              <a:rPr lang="en"/>
              <a:t>Use </a:t>
            </a:r>
            <a:r>
              <a:rPr b="1" lang="en">
                <a:latin typeface="Courier New"/>
                <a:ea typeface="Courier New"/>
                <a:cs typeface="Courier New"/>
                <a:sym typeface="Courier New"/>
              </a:rPr>
              <a:t>strnlen</a:t>
            </a:r>
            <a:r>
              <a:rPr lang="en"/>
              <a:t> instead (or </a:t>
            </a:r>
            <a:r>
              <a:rPr b="1" lang="en">
                <a:latin typeface="Courier New"/>
                <a:ea typeface="Courier New"/>
                <a:cs typeface="Courier New"/>
                <a:sym typeface="Courier New"/>
              </a:rPr>
              <a:t>memchr</a:t>
            </a:r>
            <a:r>
              <a:rPr lang="en"/>
              <a:t> if you really need compatible code)</a:t>
            </a:r>
            <a:endParaRPr/>
          </a:p>
          <a:p>
            <a:pPr indent="-342900" lvl="0" marL="457200" rtl="0" algn="l">
              <a:spcBef>
                <a:spcPts val="0"/>
              </a:spcBef>
              <a:spcAft>
                <a:spcPts val="0"/>
              </a:spcAft>
              <a:buSzPts val="1800"/>
              <a:buChar char="●"/>
            </a:pPr>
            <a:r>
              <a:rPr lang="en"/>
              <a:t>… and more (look up C functions before you use them!)</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man</a:t>
            </a:r>
            <a:r>
              <a:rPr lang="en"/>
              <a:t> pages are your friend!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Integer Memory Safety Vulnerabilities</a:t>
            </a:r>
            <a:endParaRPr/>
          </a:p>
        </p:txBody>
      </p:sp>
      <p:sp>
        <p:nvSpPr>
          <p:cNvPr id="232" name="Google Shape;232;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1"/>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3.4</a:t>
            </a:r>
            <a:endParaRPr>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Signed/Unsigned Vulnerabilities</a:t>
            </a:r>
            <a:endParaRPr/>
          </a:p>
        </p:txBody>
      </p:sp>
      <p:sp>
        <p:nvSpPr>
          <p:cNvPr id="239" name="Google Shape;239;p32"/>
          <p:cNvSpPr txBox="1"/>
          <p:nvPr/>
        </p:nvSpPr>
        <p:spPr>
          <a:xfrm>
            <a:off x="2344950" y="2091425"/>
            <a:ext cx="44541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func(int len, char *data)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(len &gt; 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memcpy(buf, data, len);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40" name="Google Shape;24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2"/>
          <p:cNvSpPr txBox="1"/>
          <p:nvPr/>
        </p:nvSpPr>
        <p:spPr>
          <a:xfrm>
            <a:off x="1051650" y="4232125"/>
            <a:ext cx="7040700" cy="431100"/>
          </a:xfrm>
          <a:prstGeom prst="rect">
            <a:avLst/>
          </a:prstGeom>
          <a:solidFill>
            <a:schemeClr val="lt1"/>
          </a:solidFill>
          <a:ln cap="flat" cmpd="sng" w="19050">
            <a:solidFill>
              <a:srgbClr val="1155CC"/>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1155CC"/>
                </a:solidFill>
                <a:latin typeface="Courier New"/>
                <a:ea typeface="Courier New"/>
                <a:cs typeface="Courier New"/>
                <a:sym typeface="Courier New"/>
              </a:rPr>
              <a:t>void *memcpy(void *dest, const void *src, size_t n);</a:t>
            </a:r>
            <a:endParaRPr b="1" sz="1600">
              <a:solidFill>
                <a:srgbClr val="1155CC"/>
              </a:solidFill>
              <a:latin typeface="Courier New"/>
              <a:ea typeface="Courier New"/>
              <a:cs typeface="Courier New"/>
              <a:sym typeface="Courier New"/>
            </a:endParaRPr>
          </a:p>
        </p:txBody>
      </p:sp>
      <p:grpSp>
        <p:nvGrpSpPr>
          <p:cNvPr id="242" name="Google Shape;242;p32"/>
          <p:cNvGrpSpPr/>
          <p:nvPr/>
        </p:nvGrpSpPr>
        <p:grpSpPr>
          <a:xfrm>
            <a:off x="4473600" y="2414600"/>
            <a:ext cx="4670400" cy="1900200"/>
            <a:chOff x="4473600" y="2414600"/>
            <a:chExt cx="4670400" cy="1900200"/>
          </a:xfrm>
        </p:grpSpPr>
        <p:sp>
          <p:nvSpPr>
            <p:cNvPr id="243" name="Google Shape;243;p32"/>
            <p:cNvSpPr txBox="1"/>
            <p:nvPr/>
          </p:nvSpPr>
          <p:spPr>
            <a:xfrm>
              <a:off x="6411600" y="2414600"/>
              <a:ext cx="27324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int</a:t>
              </a:r>
              <a:r>
                <a:rPr lang="en"/>
                <a:t> is a </a:t>
              </a:r>
              <a:r>
                <a:rPr b="1" lang="en"/>
                <a:t>signed</a:t>
              </a:r>
              <a:r>
                <a:rPr lang="en"/>
                <a:t> type, but </a:t>
              </a:r>
              <a:r>
                <a:rPr b="1" lang="en">
                  <a:latin typeface="Courier New"/>
                  <a:ea typeface="Courier New"/>
                  <a:cs typeface="Courier New"/>
                  <a:sym typeface="Courier New"/>
                </a:rPr>
                <a:t>size_t</a:t>
              </a:r>
              <a:r>
                <a:rPr lang="en"/>
                <a:t> is an </a:t>
              </a:r>
              <a:r>
                <a:rPr b="1" lang="en"/>
                <a:t>unsigned</a:t>
              </a:r>
              <a:r>
                <a:rPr lang="en"/>
                <a:t> type. What happens if </a:t>
              </a:r>
              <a:r>
                <a:rPr b="1" lang="en">
                  <a:latin typeface="Courier New"/>
                  <a:ea typeface="Courier New"/>
                  <a:cs typeface="Courier New"/>
                  <a:sym typeface="Courier New"/>
                </a:rPr>
                <a:t>len == -1</a:t>
              </a:r>
              <a:r>
                <a:rPr lang="en"/>
                <a:t>?</a:t>
              </a:r>
              <a:endParaRPr/>
            </a:p>
          </p:txBody>
        </p:sp>
        <p:cxnSp>
          <p:nvCxnSpPr>
            <p:cNvPr id="244" name="Google Shape;244;p32"/>
            <p:cNvCxnSpPr>
              <a:stCxn id="243" idx="1"/>
            </p:cNvCxnSpPr>
            <p:nvPr/>
          </p:nvCxnSpPr>
          <p:spPr>
            <a:xfrm rot="10800000">
              <a:off x="4473600" y="2484650"/>
              <a:ext cx="1938000" cy="345600"/>
            </a:xfrm>
            <a:prstGeom prst="straightConnector1">
              <a:avLst/>
            </a:prstGeom>
            <a:noFill/>
            <a:ln cap="flat" cmpd="sng" w="9525">
              <a:solidFill>
                <a:schemeClr val="dk2"/>
              </a:solidFill>
              <a:prstDash val="solid"/>
              <a:round/>
              <a:headEnd len="med" w="med" type="none"/>
              <a:tailEnd len="med" w="med" type="triangle"/>
            </a:ln>
          </p:spPr>
        </p:cxnSp>
        <p:cxnSp>
          <p:nvCxnSpPr>
            <p:cNvPr id="245" name="Google Shape;245;p32"/>
            <p:cNvCxnSpPr>
              <a:stCxn id="243" idx="2"/>
            </p:cNvCxnSpPr>
            <p:nvPr/>
          </p:nvCxnSpPr>
          <p:spPr>
            <a:xfrm flipH="1">
              <a:off x="6837300" y="3245900"/>
              <a:ext cx="940500" cy="1068900"/>
            </a:xfrm>
            <a:prstGeom prst="straightConnector1">
              <a:avLst/>
            </a:prstGeom>
            <a:noFill/>
            <a:ln cap="flat" cmpd="sng" w="9525">
              <a:solidFill>
                <a:schemeClr val="dk2"/>
              </a:solidFill>
              <a:prstDash val="solid"/>
              <a:round/>
              <a:headEnd len="med" w="med" type="none"/>
              <a:tailEnd len="med" w="med" type="triangle"/>
            </a:ln>
          </p:spPr>
        </p:cxnSp>
      </p:grpSp>
      <p:grpSp>
        <p:nvGrpSpPr>
          <p:cNvPr id="246" name="Google Shape;246;p32"/>
          <p:cNvGrpSpPr/>
          <p:nvPr/>
        </p:nvGrpSpPr>
        <p:grpSpPr>
          <a:xfrm>
            <a:off x="76250" y="2700725"/>
            <a:ext cx="3285300" cy="1693200"/>
            <a:chOff x="76250" y="2700725"/>
            <a:chExt cx="3285300" cy="1693200"/>
          </a:xfrm>
        </p:grpSpPr>
        <p:sp>
          <p:nvSpPr>
            <p:cNvPr id="247" name="Google Shape;247;p32"/>
            <p:cNvSpPr txBox="1"/>
            <p:nvPr/>
          </p:nvSpPr>
          <p:spPr>
            <a:xfrm>
              <a:off x="76250" y="2700725"/>
              <a:ext cx="2319300" cy="1693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This is a </a:t>
              </a:r>
              <a:r>
                <a:rPr b="1" lang="en"/>
                <a:t>signed</a:t>
              </a:r>
              <a:r>
                <a:rPr lang="en"/>
                <a:t> comparison, so </a:t>
              </a:r>
              <a:r>
                <a:rPr b="1" lang="en">
                  <a:latin typeface="Courier New"/>
                  <a:ea typeface="Courier New"/>
                  <a:cs typeface="Courier New"/>
                  <a:sym typeface="Courier New"/>
                </a:rPr>
                <a:t>len &gt; 64</a:t>
              </a:r>
              <a:r>
                <a:rPr lang="en"/>
                <a:t> will be false. But when we call memcpy(),  casting </a:t>
              </a:r>
              <a:r>
                <a:rPr b="1" lang="en"/>
                <a:t>-1</a:t>
              </a:r>
              <a:r>
                <a:rPr lang="en"/>
                <a:t> to an unsigned type yields </a:t>
              </a:r>
              <a:r>
                <a:rPr b="1" lang="en">
                  <a:latin typeface="Courier New"/>
                  <a:ea typeface="Courier New"/>
                  <a:cs typeface="Courier New"/>
                  <a:sym typeface="Courier New"/>
                </a:rPr>
                <a:t>0xffffffff</a:t>
              </a:r>
              <a:r>
                <a:rPr lang="en"/>
                <a:t>: another buffer overflow!</a:t>
              </a:r>
              <a:endParaRPr/>
            </a:p>
          </p:txBody>
        </p:sp>
        <p:cxnSp>
          <p:nvCxnSpPr>
            <p:cNvPr id="248" name="Google Shape;248;p32"/>
            <p:cNvCxnSpPr>
              <a:stCxn id="247" idx="3"/>
            </p:cNvCxnSpPr>
            <p:nvPr/>
          </p:nvCxnSpPr>
          <p:spPr>
            <a:xfrm flipH="1" rot="10800000">
              <a:off x="2395550" y="3087725"/>
              <a:ext cx="966000" cy="459600"/>
            </a:xfrm>
            <a:prstGeom prst="straightConnector1">
              <a:avLst/>
            </a:prstGeom>
            <a:noFill/>
            <a:ln cap="flat" cmpd="sng" w="9525">
              <a:solidFill>
                <a:schemeClr val="dk2"/>
              </a:solidFill>
              <a:prstDash val="solid"/>
              <a:round/>
              <a:headEnd len="med" w="med" type="none"/>
              <a:tailEnd len="med" w="med" type="triangle"/>
            </a:ln>
          </p:spPr>
        </p:cxnSp>
      </p:grpSp>
      <p:sp>
        <p:nvSpPr>
          <p:cNvPr id="249" name="Google Shape;249;p32"/>
          <p:cNvSpPr txBox="1"/>
          <p:nvPr/>
        </p:nvSpPr>
        <p:spPr>
          <a:xfrm>
            <a:off x="6691200" y="1350000"/>
            <a:ext cx="1232700" cy="400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Is this safe?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Signed/Unsigned Vulnerabilities</a:t>
            </a:r>
            <a:endParaRPr/>
          </a:p>
        </p:txBody>
      </p:sp>
      <p:sp>
        <p:nvSpPr>
          <p:cNvPr id="255" name="Google Shape;255;p33"/>
          <p:cNvSpPr txBox="1"/>
          <p:nvPr/>
        </p:nvSpPr>
        <p:spPr>
          <a:xfrm>
            <a:off x="2344950" y="2091425"/>
            <a:ext cx="44541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safe(size_t len, char *data)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(len &gt; 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memcpy(buf, data, len);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56" name="Google Shape;25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3"/>
          <p:cNvSpPr txBox="1"/>
          <p:nvPr/>
        </p:nvSpPr>
        <p:spPr>
          <a:xfrm>
            <a:off x="57200" y="2805800"/>
            <a:ext cx="21606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this is an </a:t>
            </a:r>
            <a:r>
              <a:rPr b="1" lang="en"/>
              <a:t>unsigned</a:t>
            </a:r>
            <a:r>
              <a:rPr lang="en"/>
              <a:t> comparison, and no casting is necessary!</a:t>
            </a:r>
            <a:endParaRPr/>
          </a:p>
        </p:txBody>
      </p:sp>
      <p:cxnSp>
        <p:nvCxnSpPr>
          <p:cNvPr id="258" name="Google Shape;258;p33"/>
          <p:cNvCxnSpPr>
            <a:stCxn id="257" idx="3"/>
          </p:cNvCxnSpPr>
          <p:nvPr/>
        </p:nvCxnSpPr>
        <p:spPr>
          <a:xfrm flipH="1" rot="10800000">
            <a:off x="2217800" y="2961050"/>
            <a:ext cx="845100" cy="260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 Overflow Vulnerabilities</a:t>
            </a:r>
            <a:endParaRPr/>
          </a:p>
        </p:txBody>
      </p:sp>
      <p:sp>
        <p:nvSpPr>
          <p:cNvPr id="264" name="Google Shape;264;p34"/>
          <p:cNvSpPr txBox="1"/>
          <p:nvPr/>
        </p:nvSpPr>
        <p:spPr>
          <a:xfrm>
            <a:off x="2344950" y="2091425"/>
            <a:ext cx="4454100" cy="2154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func(size_t len, char *data)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 = malloc(len + 2);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(buf == NULL)</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memcpy(buf, data, len);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buf[len] = '\n';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buf[len + 1] = '\0';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65" name="Google Shape;26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34"/>
          <p:cNvSpPr txBox="1"/>
          <p:nvPr/>
        </p:nvSpPr>
        <p:spPr>
          <a:xfrm>
            <a:off x="6646725" y="1239250"/>
            <a:ext cx="1232700" cy="400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Is this safe?</a:t>
            </a:r>
            <a:endParaRPr/>
          </a:p>
        </p:txBody>
      </p:sp>
      <p:sp>
        <p:nvSpPr>
          <p:cNvPr id="267" name="Google Shape;267;p34"/>
          <p:cNvSpPr txBox="1"/>
          <p:nvPr/>
        </p:nvSpPr>
        <p:spPr>
          <a:xfrm>
            <a:off x="4695925" y="1582275"/>
            <a:ext cx="3590400" cy="4002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What happens if </a:t>
            </a:r>
            <a:r>
              <a:rPr b="1" lang="en">
                <a:latin typeface="Courier New"/>
                <a:ea typeface="Courier New"/>
                <a:cs typeface="Courier New"/>
                <a:sym typeface="Courier New"/>
              </a:rPr>
              <a:t>len == 0xffffffff</a:t>
            </a:r>
            <a:r>
              <a:rPr lang="en"/>
              <a:t>?</a:t>
            </a:r>
            <a:endParaRPr/>
          </a:p>
        </p:txBody>
      </p:sp>
      <p:grpSp>
        <p:nvGrpSpPr>
          <p:cNvPr id="268" name="Google Shape;268;p34"/>
          <p:cNvGrpSpPr/>
          <p:nvPr/>
        </p:nvGrpSpPr>
        <p:grpSpPr>
          <a:xfrm>
            <a:off x="5744500" y="2751550"/>
            <a:ext cx="3069000" cy="844200"/>
            <a:chOff x="5744500" y="2751550"/>
            <a:chExt cx="3069000" cy="844200"/>
          </a:xfrm>
        </p:grpSpPr>
        <p:sp>
          <p:nvSpPr>
            <p:cNvPr id="269" name="Google Shape;269;p34"/>
            <p:cNvSpPr txBox="1"/>
            <p:nvPr/>
          </p:nvSpPr>
          <p:spPr>
            <a:xfrm>
              <a:off x="6151000" y="2980150"/>
              <a:ext cx="26625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len + 2 == 1</a:t>
              </a:r>
              <a:r>
                <a:rPr lang="en"/>
                <a:t>, enabling a heap overflow!</a:t>
              </a:r>
              <a:endParaRPr/>
            </a:p>
          </p:txBody>
        </p:sp>
        <p:cxnSp>
          <p:nvCxnSpPr>
            <p:cNvPr id="270" name="Google Shape;270;p34"/>
            <p:cNvCxnSpPr>
              <a:stCxn id="269" idx="1"/>
            </p:cNvCxnSpPr>
            <p:nvPr/>
          </p:nvCxnSpPr>
          <p:spPr>
            <a:xfrm rot="10800000">
              <a:off x="5744500" y="2751550"/>
              <a:ext cx="406500" cy="5364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 Overflow Vulnerabilities</a:t>
            </a:r>
            <a:endParaRPr/>
          </a:p>
        </p:txBody>
      </p:sp>
      <p:sp>
        <p:nvSpPr>
          <p:cNvPr id="276" name="Google Shape;276;p35"/>
          <p:cNvSpPr txBox="1"/>
          <p:nvPr/>
        </p:nvSpPr>
        <p:spPr>
          <a:xfrm>
            <a:off x="2344950" y="2091425"/>
            <a:ext cx="4454100" cy="26475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safe(size_t len, char *data) {</a:t>
            </a:r>
            <a:br>
              <a:rPr b="1" lang="en" sz="1600">
                <a:solidFill>
                  <a:schemeClr val="dk1"/>
                </a:solidFill>
                <a:latin typeface="Courier New"/>
                <a:ea typeface="Courier New"/>
                <a:cs typeface="Courier New"/>
                <a:sym typeface="Courier New"/>
              </a:rPr>
            </a:br>
            <a:r>
              <a:rPr b="1" lang="en" sz="1600">
                <a:solidFill>
                  <a:schemeClr val="dk1"/>
                </a:solidFill>
                <a:latin typeface="Courier New"/>
                <a:ea typeface="Courier New"/>
                <a:cs typeface="Courier New"/>
                <a:sym typeface="Courier New"/>
              </a:rPr>
              <a:t>    if (len &gt; SIZE_MAX - 2)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 = malloc(len + 2);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(buf == NULL)</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memcpy(buf, data, len);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buf[len] = '\n';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buf[len + 1] = '\0';</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277" name="Google Shape;27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78" name="Google Shape;278;p35"/>
          <p:cNvGrpSpPr/>
          <p:nvPr/>
        </p:nvGrpSpPr>
        <p:grpSpPr>
          <a:xfrm>
            <a:off x="5865000" y="2445600"/>
            <a:ext cx="3215400" cy="831300"/>
            <a:chOff x="5865000" y="2445600"/>
            <a:chExt cx="3215400" cy="831300"/>
          </a:xfrm>
        </p:grpSpPr>
        <p:sp>
          <p:nvSpPr>
            <p:cNvPr id="279" name="Google Shape;279;p35"/>
            <p:cNvSpPr txBox="1"/>
            <p:nvPr/>
          </p:nvSpPr>
          <p:spPr>
            <a:xfrm>
              <a:off x="6417900" y="2445600"/>
              <a:ext cx="26625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It’s clunky, but you need to check bounds whenever you add to integers!</a:t>
              </a:r>
              <a:endParaRPr/>
            </a:p>
          </p:txBody>
        </p:sp>
        <p:cxnSp>
          <p:nvCxnSpPr>
            <p:cNvPr id="280" name="Google Shape;280;p35"/>
            <p:cNvCxnSpPr>
              <a:stCxn id="279" idx="1"/>
            </p:cNvCxnSpPr>
            <p:nvPr/>
          </p:nvCxnSpPr>
          <p:spPr>
            <a:xfrm rot="10800000">
              <a:off x="5865000" y="2719650"/>
              <a:ext cx="552900" cy="1416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Integer Overflow in the Wild</a:t>
            </a:r>
            <a:endParaRPr/>
          </a:p>
        </p:txBody>
      </p:sp>
      <p:sp>
        <p:nvSpPr>
          <p:cNvPr id="286" name="Google Shape;28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87" name="Google Shape;287;p36"/>
          <p:cNvGraphicFramePr/>
          <p:nvPr/>
        </p:nvGraphicFramePr>
        <p:xfrm>
          <a:off x="288475" y="1507935"/>
          <a:ext cx="3000000" cy="3000000"/>
        </p:xfrm>
        <a:graphic>
          <a:graphicData uri="http://schemas.openxmlformats.org/drawingml/2006/table">
            <a:tbl>
              <a:tblPr>
                <a:noFill/>
                <a:tableStyleId>{56312004-1CDE-497B-A12A-34C1020B5D77}</a:tableStyleId>
              </a:tblPr>
              <a:tblGrid>
                <a:gridCol w="5833700"/>
                <a:gridCol w="2733350"/>
              </a:tblGrid>
              <a:tr h="341650">
                <a:tc>
                  <a:txBody>
                    <a:bodyPr/>
                    <a:lstStyle/>
                    <a:p>
                      <a:pPr indent="0" lvl="0" marL="2286000" rtl="0" algn="l">
                        <a:spcBef>
                          <a:spcPts val="0"/>
                        </a:spcBef>
                        <a:spcAft>
                          <a:spcPts val="0"/>
                        </a:spcAft>
                        <a:buNone/>
                      </a:pPr>
                      <a:r>
                        <a:rPr lang="en" sz="1600">
                          <a:solidFill>
                            <a:srgbClr val="595959"/>
                          </a:solidFill>
                        </a:rPr>
                        <a:t>9 to 5 Linux</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rPr lang="en" u="sng">
                          <a:solidFill>
                            <a:schemeClr val="hlink"/>
                          </a:solidFill>
                          <a:hlinkClick r:id="rId3"/>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343950">
                <a:tc>
                  <a:txBody>
                    <a:bodyPr/>
                    <a:lstStyle/>
                    <a:p>
                      <a:pPr indent="0" lvl="0" marL="0" rtl="0" algn="l">
                        <a:spcBef>
                          <a:spcPts val="0"/>
                        </a:spcBef>
                        <a:spcAft>
                          <a:spcPts val="0"/>
                        </a:spcAft>
                        <a:buNone/>
                      </a:pPr>
                      <a:r>
                        <a:t/>
                      </a:r>
                      <a:endParaRPr b="1" sz="1600">
                        <a:solidFill>
                          <a:srgbClr val="595959"/>
                        </a:solidFill>
                      </a:endParaRPr>
                    </a:p>
                    <a:p>
                      <a:pPr indent="0" lvl="0" marL="0" rtl="0" algn="l">
                        <a:spcBef>
                          <a:spcPts val="0"/>
                        </a:spcBef>
                        <a:spcAft>
                          <a:spcPts val="0"/>
                        </a:spcAft>
                        <a:buNone/>
                      </a:pPr>
                      <a:r>
                        <a:rPr b="1" lang="en" sz="1600">
                          <a:solidFill>
                            <a:srgbClr val="595959"/>
                          </a:solidFill>
                        </a:rPr>
                        <a:t>New Linux Kernel Vulnerability Patched in All Supported Ubuntu Systems, Update Now</a:t>
                      </a:r>
                      <a:endParaRPr b="1"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343950">
                <a:tc>
                  <a:txBody>
                    <a:bodyPr/>
                    <a:lstStyle/>
                    <a:p>
                      <a:pPr indent="0" lvl="0" marL="0" rtl="0" algn="l">
                        <a:spcBef>
                          <a:spcPts val="0"/>
                        </a:spcBef>
                        <a:spcAft>
                          <a:spcPts val="0"/>
                        </a:spcAft>
                        <a:buClr>
                          <a:schemeClr val="dk1"/>
                        </a:buClr>
                        <a:buSzPts val="1100"/>
                        <a:buFont typeface="Arial"/>
                        <a:buNone/>
                      </a:pPr>
                      <a:r>
                        <a:rPr i="1" lang="en">
                          <a:solidFill>
                            <a:schemeClr val="dk2"/>
                          </a:solidFill>
                        </a:rPr>
                        <a:t>Marius Nestor</a:t>
                      </a:r>
                      <a:endParaRPr b="1"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Clr>
                          <a:schemeClr val="dk1"/>
                        </a:buClr>
                        <a:buSzPts val="1100"/>
                        <a:buFont typeface="Arial"/>
                        <a:buNone/>
                      </a:pPr>
                      <a:r>
                        <a:rPr i="1" lang="en">
                          <a:solidFill>
                            <a:schemeClr val="dk2"/>
                          </a:solidFill>
                        </a:rPr>
                        <a:t>January 19, 2022</a:t>
                      </a:r>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937325">
                <a:tc gridSpan="2">
                  <a:txBody>
                    <a:bodyPr/>
                    <a:lstStyle/>
                    <a:p>
                      <a:pPr indent="0" lvl="0" marL="0" rtl="0" algn="l">
                        <a:spcBef>
                          <a:spcPts val="0"/>
                        </a:spcBef>
                        <a:spcAft>
                          <a:spcPts val="0"/>
                        </a:spcAft>
                        <a:buNone/>
                      </a:pPr>
                      <a:r>
                        <a:rPr lang="en">
                          <a:solidFill>
                            <a:srgbClr val="595959"/>
                          </a:solidFill>
                        </a:rPr>
                        <a:t>Discovered by William Liu and Jamie Hill-Daniel, the new security flaw (CVE-2022-0185) is an integer underflow vulnerability found in Linux kernel’s file system context functionality, which could allow an attacker to crash the system or run programs as an administrator.</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r>
            </a:tbl>
          </a:graphicData>
        </a:graphic>
      </p:graphicFrame>
      <p:pic>
        <p:nvPicPr>
          <p:cNvPr id="288" name="Google Shape;288;p36"/>
          <p:cNvPicPr preferRelativeResize="0"/>
          <p:nvPr/>
        </p:nvPicPr>
        <p:blipFill>
          <a:blip r:embed="rId4">
            <a:alphaModFix/>
          </a:blip>
          <a:stretch>
            <a:fillRect/>
          </a:stretch>
        </p:blipFill>
        <p:spPr>
          <a:xfrm>
            <a:off x="367175" y="1583300"/>
            <a:ext cx="2221935" cy="393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This Vulnerability Work?</a:t>
            </a:r>
            <a:endParaRPr/>
          </a:p>
        </p:txBody>
      </p:sp>
      <p:sp>
        <p:nvSpPr>
          <p:cNvPr id="294" name="Google Shape;294;p3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entire kernel (operating system) patch:</a:t>
            </a:r>
            <a:br>
              <a:rPr lang="en"/>
            </a:br>
            <a:r>
              <a:rPr b="1" lang="en" sz="1600">
                <a:solidFill>
                  <a:srgbClr val="FF0000"/>
                </a:solidFill>
                <a:latin typeface="Courier New"/>
                <a:ea typeface="Courier New"/>
                <a:cs typeface="Courier New"/>
                <a:sym typeface="Courier New"/>
              </a:rPr>
              <a:t>–</a:t>
            </a:r>
            <a:r>
              <a:rPr b="1" lang="en" sz="1600">
                <a:latin typeface="Courier New"/>
                <a:ea typeface="Courier New"/>
                <a:cs typeface="Courier New"/>
                <a:sym typeface="Courier New"/>
              </a:rPr>
              <a:t> if (len &gt; PAGE_SIZE - 2 - size)</a:t>
            </a:r>
            <a:br>
              <a:rPr b="1" lang="en" sz="1600">
                <a:latin typeface="Courier New"/>
                <a:ea typeface="Courier New"/>
                <a:cs typeface="Courier New"/>
                <a:sym typeface="Courier New"/>
              </a:rPr>
            </a:br>
            <a:r>
              <a:rPr b="1" lang="en" sz="1600">
                <a:solidFill>
                  <a:srgbClr val="6AA84F"/>
                </a:solidFill>
                <a:latin typeface="Courier New"/>
                <a:ea typeface="Courier New"/>
                <a:cs typeface="Courier New"/>
                <a:sym typeface="Courier New"/>
              </a:rPr>
              <a:t>+</a:t>
            </a:r>
            <a:r>
              <a:rPr b="1" lang="en" sz="1600">
                <a:latin typeface="Courier New"/>
                <a:ea typeface="Courier New"/>
                <a:cs typeface="Courier New"/>
                <a:sym typeface="Courier New"/>
              </a:rPr>
              <a:t> if (size + len + 2 &gt; PAGE_SIZE)</a:t>
            </a:r>
            <a:br>
              <a:rPr b="1" lang="en" sz="1600">
                <a:latin typeface="Courier New"/>
                <a:ea typeface="Courier New"/>
                <a:cs typeface="Courier New"/>
                <a:sym typeface="Courier New"/>
              </a:rPr>
            </a:br>
            <a:r>
              <a:rPr b="1" lang="en" sz="1600">
                <a:latin typeface="Courier New"/>
                <a:ea typeface="Courier New"/>
                <a:cs typeface="Courier New"/>
                <a:sym typeface="Courier New"/>
              </a:rPr>
              <a:t>    return invalf(fc, "VFS: Legacy: Cumulative options too large)</a:t>
            </a:r>
            <a:endParaRPr b="1" sz="1600">
              <a:latin typeface="Courier New"/>
              <a:ea typeface="Courier New"/>
              <a:cs typeface="Courier New"/>
              <a:sym typeface="Courier New"/>
            </a:endParaRPr>
          </a:p>
          <a:p>
            <a:pPr indent="-342900" lvl="0" marL="457200" rtl="0" algn="l">
              <a:spcBef>
                <a:spcPts val="0"/>
              </a:spcBef>
              <a:spcAft>
                <a:spcPts val="0"/>
              </a:spcAft>
              <a:buSzPts val="1800"/>
              <a:buChar char="●"/>
            </a:pPr>
            <a:r>
              <a:rPr lang="en"/>
              <a:t>Why was the original code (</a:t>
            </a:r>
            <a:r>
              <a:rPr b="1" lang="en" sz="1600">
                <a:latin typeface="Courier New"/>
                <a:ea typeface="Courier New"/>
                <a:cs typeface="Courier New"/>
                <a:sym typeface="Courier New"/>
              </a:rPr>
              <a:t>len &gt; PAGE_SIZE - 2 - size</a:t>
            </a:r>
            <a:r>
              <a:rPr lang="en"/>
              <a:t>) vulnerable?</a:t>
            </a:r>
            <a:endParaRPr/>
          </a:p>
        </p:txBody>
      </p:sp>
      <p:sp>
        <p:nvSpPr>
          <p:cNvPr id="295" name="Google Shape;29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This Vulnerability Work?</a:t>
            </a:r>
            <a:endParaRPr/>
          </a:p>
        </p:txBody>
      </p:sp>
      <p:sp>
        <p:nvSpPr>
          <p:cNvPr id="301" name="Google Shape;301;p3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entire kernel (operating system) patch:</a:t>
            </a:r>
            <a:br>
              <a:rPr lang="en"/>
            </a:br>
            <a:r>
              <a:rPr b="1" lang="en" sz="1600">
                <a:solidFill>
                  <a:srgbClr val="FF0000"/>
                </a:solidFill>
                <a:latin typeface="Courier New"/>
                <a:ea typeface="Courier New"/>
                <a:cs typeface="Courier New"/>
                <a:sym typeface="Courier New"/>
              </a:rPr>
              <a:t>–</a:t>
            </a:r>
            <a:r>
              <a:rPr b="1" lang="en" sz="1600">
                <a:latin typeface="Courier New"/>
                <a:ea typeface="Courier New"/>
                <a:cs typeface="Courier New"/>
                <a:sym typeface="Courier New"/>
              </a:rPr>
              <a:t> if (len &gt; PAGE_SIZE - 2 - size)</a:t>
            </a:r>
            <a:br>
              <a:rPr b="1" lang="en" sz="1600">
                <a:latin typeface="Courier New"/>
                <a:ea typeface="Courier New"/>
                <a:cs typeface="Courier New"/>
                <a:sym typeface="Courier New"/>
              </a:rPr>
            </a:br>
            <a:r>
              <a:rPr b="1" lang="en" sz="1600">
                <a:solidFill>
                  <a:srgbClr val="6AA84F"/>
                </a:solidFill>
                <a:latin typeface="Courier New"/>
                <a:ea typeface="Courier New"/>
                <a:cs typeface="Courier New"/>
                <a:sym typeface="Courier New"/>
              </a:rPr>
              <a:t>+</a:t>
            </a:r>
            <a:r>
              <a:rPr b="1" lang="en" sz="1600">
                <a:latin typeface="Courier New"/>
                <a:ea typeface="Courier New"/>
                <a:cs typeface="Courier New"/>
                <a:sym typeface="Courier New"/>
              </a:rPr>
              <a:t> if (size + len + 2 &gt; PAGE_SIZE)</a:t>
            </a:r>
            <a:br>
              <a:rPr b="1" lang="en" sz="1600">
                <a:latin typeface="Courier New"/>
                <a:ea typeface="Courier New"/>
                <a:cs typeface="Courier New"/>
                <a:sym typeface="Courier New"/>
              </a:rPr>
            </a:br>
            <a:r>
              <a:rPr b="1" lang="en" sz="1600">
                <a:latin typeface="Courier New"/>
                <a:ea typeface="Courier New"/>
                <a:cs typeface="Courier New"/>
                <a:sym typeface="Courier New"/>
              </a:rPr>
              <a:t>    return invalf(fc, "VFS: Legacy: Cumulative options too large)</a:t>
            </a:r>
            <a:endParaRPr b="1" sz="1600">
              <a:latin typeface="Courier New"/>
              <a:ea typeface="Courier New"/>
              <a:cs typeface="Courier New"/>
              <a:sym typeface="Courier New"/>
            </a:endParaRPr>
          </a:p>
          <a:p>
            <a:pPr indent="-342900" lvl="0" marL="457200" rtl="0" algn="l">
              <a:spcBef>
                <a:spcPts val="0"/>
              </a:spcBef>
              <a:spcAft>
                <a:spcPts val="0"/>
              </a:spcAft>
              <a:buSzPts val="1800"/>
              <a:buChar char="●"/>
            </a:pPr>
            <a:r>
              <a:rPr lang="en"/>
              <a:t>Why was the original code (</a:t>
            </a:r>
            <a:r>
              <a:rPr b="1" lang="en" sz="1600">
                <a:latin typeface="Courier New"/>
                <a:ea typeface="Courier New"/>
                <a:cs typeface="Courier New"/>
                <a:sym typeface="Courier New"/>
              </a:rPr>
              <a:t>len &gt; PAGE_SIZE - 2 - size</a:t>
            </a:r>
            <a:r>
              <a:rPr lang="en"/>
              <a:t>) vulnerable?</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PAGE_SIZE</a:t>
            </a:r>
            <a:r>
              <a:rPr lang="en"/>
              <a:t>, </a:t>
            </a:r>
            <a:r>
              <a:rPr b="1" lang="en">
                <a:latin typeface="Courier New"/>
                <a:ea typeface="Courier New"/>
                <a:cs typeface="Courier New"/>
                <a:sym typeface="Courier New"/>
              </a:rPr>
              <a:t>size</a:t>
            </a:r>
            <a:r>
              <a:rPr lang="en"/>
              <a:t>, and </a:t>
            </a:r>
            <a:r>
              <a:rPr b="1" lang="en">
                <a:latin typeface="Courier New"/>
                <a:ea typeface="Courier New"/>
                <a:cs typeface="Courier New"/>
                <a:sym typeface="Courier New"/>
              </a:rPr>
              <a:t>len </a:t>
            </a:r>
            <a:r>
              <a:rPr lang="en"/>
              <a:t>are unsigned</a:t>
            </a:r>
            <a:endParaRPr/>
          </a:p>
        </p:txBody>
      </p:sp>
      <p:sp>
        <p:nvSpPr>
          <p:cNvPr id="302" name="Google Shape;30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This Vulnerability Work?</a:t>
            </a:r>
            <a:endParaRPr/>
          </a:p>
        </p:txBody>
      </p:sp>
      <p:sp>
        <p:nvSpPr>
          <p:cNvPr id="308" name="Google Shape;308;p3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entire kernel (operating system) patch:</a:t>
            </a:r>
            <a:br>
              <a:rPr lang="en"/>
            </a:br>
            <a:r>
              <a:rPr b="1" lang="en" sz="1600">
                <a:solidFill>
                  <a:srgbClr val="FF0000"/>
                </a:solidFill>
                <a:latin typeface="Courier New"/>
                <a:ea typeface="Courier New"/>
                <a:cs typeface="Courier New"/>
                <a:sym typeface="Courier New"/>
              </a:rPr>
              <a:t>–</a:t>
            </a:r>
            <a:r>
              <a:rPr b="1" lang="en" sz="1600">
                <a:latin typeface="Courier New"/>
                <a:ea typeface="Courier New"/>
                <a:cs typeface="Courier New"/>
                <a:sym typeface="Courier New"/>
              </a:rPr>
              <a:t> if (len &gt; PAGE_SIZE - 2 - size)</a:t>
            </a:r>
            <a:br>
              <a:rPr b="1" lang="en" sz="1600">
                <a:latin typeface="Courier New"/>
                <a:ea typeface="Courier New"/>
                <a:cs typeface="Courier New"/>
                <a:sym typeface="Courier New"/>
              </a:rPr>
            </a:br>
            <a:r>
              <a:rPr b="1" lang="en" sz="1600">
                <a:solidFill>
                  <a:srgbClr val="6AA84F"/>
                </a:solidFill>
                <a:latin typeface="Courier New"/>
                <a:ea typeface="Courier New"/>
                <a:cs typeface="Courier New"/>
                <a:sym typeface="Courier New"/>
              </a:rPr>
              <a:t>+</a:t>
            </a:r>
            <a:r>
              <a:rPr b="1" lang="en" sz="1600">
                <a:latin typeface="Courier New"/>
                <a:ea typeface="Courier New"/>
                <a:cs typeface="Courier New"/>
                <a:sym typeface="Courier New"/>
              </a:rPr>
              <a:t> if (size + len + 2 &gt; PAGE_SIZE)</a:t>
            </a:r>
            <a:br>
              <a:rPr b="1" lang="en" sz="1600">
                <a:latin typeface="Courier New"/>
                <a:ea typeface="Courier New"/>
                <a:cs typeface="Courier New"/>
                <a:sym typeface="Courier New"/>
              </a:rPr>
            </a:br>
            <a:r>
              <a:rPr b="1" lang="en" sz="1600">
                <a:latin typeface="Courier New"/>
                <a:ea typeface="Courier New"/>
                <a:cs typeface="Courier New"/>
                <a:sym typeface="Courier New"/>
              </a:rPr>
              <a:t>    return invalf(fc, "VFS: Legacy: Cumulative options too large)</a:t>
            </a:r>
            <a:endParaRPr b="1" sz="1600">
              <a:latin typeface="Courier New"/>
              <a:ea typeface="Courier New"/>
              <a:cs typeface="Courier New"/>
              <a:sym typeface="Courier New"/>
            </a:endParaRPr>
          </a:p>
          <a:p>
            <a:pPr indent="-342900" lvl="0" marL="457200" rtl="0" algn="l">
              <a:spcBef>
                <a:spcPts val="0"/>
              </a:spcBef>
              <a:spcAft>
                <a:spcPts val="0"/>
              </a:spcAft>
              <a:buSzPts val="1800"/>
              <a:buChar char="●"/>
            </a:pPr>
            <a:r>
              <a:rPr lang="en"/>
              <a:t>Why was the original code (</a:t>
            </a:r>
            <a:r>
              <a:rPr b="1" lang="en" sz="1600">
                <a:latin typeface="Courier New"/>
                <a:ea typeface="Courier New"/>
                <a:cs typeface="Courier New"/>
                <a:sym typeface="Courier New"/>
              </a:rPr>
              <a:t>len &gt; PAGE_SIZE - 2 - size</a:t>
            </a:r>
            <a:r>
              <a:rPr lang="en"/>
              <a:t>) vulnerable?</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PAGE_SIZE</a:t>
            </a:r>
            <a:r>
              <a:rPr lang="en"/>
              <a:t>, </a:t>
            </a:r>
            <a:r>
              <a:rPr b="1" lang="en">
                <a:latin typeface="Courier New"/>
                <a:ea typeface="Courier New"/>
                <a:cs typeface="Courier New"/>
                <a:sym typeface="Courier New"/>
              </a:rPr>
              <a:t>size</a:t>
            </a:r>
            <a:r>
              <a:rPr lang="en"/>
              <a:t>, and </a:t>
            </a:r>
            <a:r>
              <a:rPr b="1" lang="en">
                <a:latin typeface="Courier New"/>
                <a:ea typeface="Courier New"/>
                <a:cs typeface="Courier New"/>
                <a:sym typeface="Courier New"/>
              </a:rPr>
              <a:t>len </a:t>
            </a:r>
            <a:r>
              <a:rPr lang="en"/>
              <a:t>are unsigned</a:t>
            </a:r>
            <a:endParaRPr/>
          </a:p>
          <a:p>
            <a:pPr indent="-317500" lvl="1" marL="914400" rtl="0" algn="l">
              <a:spcBef>
                <a:spcPts val="0"/>
              </a:spcBef>
              <a:spcAft>
                <a:spcPts val="0"/>
              </a:spcAft>
              <a:buSzPts val="1400"/>
              <a:buChar char="○"/>
            </a:pPr>
            <a:r>
              <a:rPr lang="en"/>
              <a:t>If </a:t>
            </a:r>
            <a:r>
              <a:rPr b="1" lang="en">
                <a:latin typeface="Courier New"/>
                <a:ea typeface="Courier New"/>
                <a:cs typeface="Courier New"/>
                <a:sym typeface="Courier New"/>
              </a:rPr>
              <a:t>size</a:t>
            </a:r>
            <a:r>
              <a:rPr lang="en"/>
              <a:t> is larger than </a:t>
            </a:r>
            <a:r>
              <a:rPr b="1" lang="en">
                <a:latin typeface="Courier New"/>
                <a:ea typeface="Courier New"/>
                <a:cs typeface="Courier New"/>
                <a:sym typeface="Courier New"/>
              </a:rPr>
              <a:t>PAGE_SIZE</a:t>
            </a:r>
            <a:r>
              <a:rPr lang="en"/>
              <a:t>, then </a:t>
            </a:r>
            <a:r>
              <a:rPr b="1" lang="en">
                <a:latin typeface="Courier New"/>
                <a:ea typeface="Courier New"/>
                <a:cs typeface="Courier New"/>
                <a:sym typeface="Courier New"/>
              </a:rPr>
              <a:t>PAGE_SIZE - 2 - size</a:t>
            </a:r>
            <a:r>
              <a:rPr lang="en"/>
              <a:t> will trigger a negative overflow to </a:t>
            </a:r>
            <a:r>
              <a:rPr b="1" lang="en">
                <a:latin typeface="Courier New"/>
                <a:ea typeface="Courier New"/>
                <a:cs typeface="Courier New"/>
                <a:sym typeface="Courier New"/>
              </a:rPr>
              <a:t>0xFFFFFFFF</a:t>
            </a:r>
            <a:endParaRPr b="1"/>
          </a:p>
          <a:p>
            <a:pPr indent="-342900" lvl="0" marL="457200" rtl="0" algn="l">
              <a:spcBef>
                <a:spcPts val="0"/>
              </a:spcBef>
              <a:spcAft>
                <a:spcPts val="0"/>
              </a:spcAft>
              <a:buSzPts val="1800"/>
              <a:buChar char="●"/>
            </a:pPr>
            <a:r>
              <a:rPr lang="en"/>
              <a:t>Result: An attacker can bypass the length check and write data into the kernel</a:t>
            </a:r>
            <a:endParaRPr/>
          </a:p>
        </p:txBody>
      </p:sp>
      <p:sp>
        <p:nvSpPr>
          <p:cNvPr id="309" name="Google Shape;30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Java’s Binary Search Integer Overflow</a:t>
            </a:r>
            <a:endParaRPr/>
          </a:p>
        </p:txBody>
      </p:sp>
      <p:sp>
        <p:nvSpPr>
          <p:cNvPr id="315" name="Google Shape;315;p40"/>
          <p:cNvSpPr txBox="1"/>
          <p:nvPr>
            <p:ph idx="1" type="body"/>
          </p:nvPr>
        </p:nvSpPr>
        <p:spPr>
          <a:xfrm>
            <a:off x="198525" y="3600250"/>
            <a:ext cx="8520600" cy="1125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https://dev.to/matheusgomes062/a-bug-was-found-in-java-after-almost-9-years-of-hiding-2d4k</a:t>
            </a:r>
            <a:endParaRPr/>
          </a:p>
        </p:txBody>
      </p:sp>
      <p:pic>
        <p:nvPicPr>
          <p:cNvPr id="316" name="Google Shape;316;p40"/>
          <p:cNvPicPr preferRelativeResize="0"/>
          <p:nvPr/>
        </p:nvPicPr>
        <p:blipFill>
          <a:blip r:embed="rId3">
            <a:alphaModFix/>
          </a:blip>
          <a:stretch>
            <a:fillRect/>
          </a:stretch>
        </p:blipFill>
        <p:spPr>
          <a:xfrm>
            <a:off x="974625" y="1246823"/>
            <a:ext cx="6968400" cy="1993800"/>
          </a:xfrm>
          <a:prstGeom prst="roundRect">
            <a:avLst>
              <a:gd fmla="val 7310" name="adj"/>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Java’s Binary Search Integer Overflow</a:t>
            </a:r>
            <a:endParaRPr/>
          </a:p>
        </p:txBody>
      </p:sp>
      <p:sp>
        <p:nvSpPr>
          <p:cNvPr id="322" name="Google Shape;322;p41"/>
          <p:cNvSpPr txBox="1"/>
          <p:nvPr>
            <p:ph idx="1" type="body"/>
          </p:nvPr>
        </p:nvSpPr>
        <p:spPr>
          <a:xfrm>
            <a:off x="198500" y="1951300"/>
            <a:ext cx="5564700" cy="1834200"/>
          </a:xfrm>
          <a:prstGeom prst="rect">
            <a:avLst/>
          </a:prstGeom>
        </p:spPr>
        <p:txBody>
          <a:bodyPr anchorCtr="0" anchor="t" bIns="91425" lIns="91425" spcFirstLastPara="1" rIns="91425" wrap="square" tIns="91425">
            <a:normAutofit fontScale="25000" lnSpcReduction="20000"/>
          </a:bodyPr>
          <a:lstStyle/>
          <a:p>
            <a:pPr indent="0" lvl="0" marL="0" rtl="0" algn="ctr">
              <a:spcBef>
                <a:spcPts val="0"/>
              </a:spcBef>
              <a:spcAft>
                <a:spcPts val="0"/>
              </a:spcAft>
              <a:buNone/>
            </a:pPr>
            <a:r>
              <a:rPr lang="en" sz="7751">
                <a:solidFill>
                  <a:srgbClr val="F39C12"/>
                </a:solidFill>
                <a:highlight>
                  <a:srgbClr val="08090A"/>
                </a:highlight>
                <a:latin typeface="Consolas"/>
                <a:ea typeface="Consolas"/>
                <a:cs typeface="Consolas"/>
                <a:sym typeface="Consolas"/>
              </a:rPr>
              <a:t>int</a:t>
            </a:r>
            <a:r>
              <a:rPr lang="en" sz="7751">
                <a:solidFill>
                  <a:srgbClr val="F8F8F2"/>
                </a:solidFill>
                <a:highlight>
                  <a:srgbClr val="08090A"/>
                </a:highlight>
                <a:latin typeface="Consolas"/>
                <a:ea typeface="Consolas"/>
                <a:cs typeface="Consolas"/>
                <a:sym typeface="Consolas"/>
              </a:rPr>
              <a:t> mid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low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high</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a:t>
            </a:r>
            <a:r>
              <a:rPr lang="en" sz="7751">
                <a:solidFill>
                  <a:srgbClr val="DDA0DD"/>
                </a:solidFill>
                <a:highlight>
                  <a:srgbClr val="08090A"/>
                </a:highlight>
                <a:latin typeface="Consolas"/>
                <a:ea typeface="Consolas"/>
                <a:cs typeface="Consolas"/>
                <a:sym typeface="Consolas"/>
              </a:rPr>
              <a:t>2</a:t>
            </a:r>
            <a:r>
              <a:rPr lang="en" sz="7751">
                <a:solidFill>
                  <a:srgbClr val="F9690E"/>
                </a:solidFill>
                <a:highlight>
                  <a:srgbClr val="08090A"/>
                </a:highlight>
                <a:latin typeface="Consolas"/>
                <a:ea typeface="Consolas"/>
                <a:cs typeface="Consolas"/>
                <a:sym typeface="Consolas"/>
              </a:rPr>
              <a:t>; </a:t>
            </a:r>
            <a:endParaRPr sz="7751">
              <a:solidFill>
                <a:srgbClr val="F9690E"/>
              </a:solidFill>
              <a:highlight>
                <a:srgbClr val="08090A"/>
              </a:highlight>
              <a:latin typeface="Consolas"/>
              <a:ea typeface="Consolas"/>
              <a:cs typeface="Consolas"/>
              <a:sym typeface="Consolas"/>
            </a:endParaRPr>
          </a:p>
          <a:p>
            <a:pPr indent="0" lvl="0" marL="0" rtl="0" algn="ctr">
              <a:spcBef>
                <a:spcPts val="1200"/>
              </a:spcBef>
              <a:spcAft>
                <a:spcPts val="0"/>
              </a:spcAft>
              <a:buNone/>
            </a:pPr>
            <a:r>
              <a:t/>
            </a:r>
            <a:endParaRPr sz="7751">
              <a:solidFill>
                <a:srgbClr val="F9690E"/>
              </a:solidFill>
              <a:highlight>
                <a:srgbClr val="08090A"/>
              </a:highlight>
              <a:latin typeface="Consolas"/>
              <a:ea typeface="Consolas"/>
              <a:cs typeface="Consolas"/>
              <a:sym typeface="Consolas"/>
            </a:endParaRPr>
          </a:p>
          <a:p>
            <a:pPr indent="0" lvl="0" marL="0" rtl="0" algn="ctr">
              <a:spcBef>
                <a:spcPts val="1200"/>
              </a:spcBef>
              <a:spcAft>
                <a:spcPts val="0"/>
              </a:spcAft>
              <a:buNone/>
            </a:pPr>
            <a:r>
              <a:rPr lang="en" sz="7751">
                <a:solidFill>
                  <a:srgbClr val="F39C12"/>
                </a:solidFill>
                <a:highlight>
                  <a:srgbClr val="08090A"/>
                </a:highlight>
                <a:latin typeface="Consolas"/>
                <a:ea typeface="Consolas"/>
                <a:cs typeface="Consolas"/>
                <a:sym typeface="Consolas"/>
              </a:rPr>
              <a:t>int</a:t>
            </a:r>
            <a:r>
              <a:rPr lang="en" sz="7751">
                <a:solidFill>
                  <a:srgbClr val="F8F8F2"/>
                </a:solidFill>
                <a:highlight>
                  <a:srgbClr val="08090A"/>
                </a:highlight>
                <a:latin typeface="Consolas"/>
                <a:ea typeface="Consolas"/>
                <a:cs typeface="Consolas"/>
                <a:sym typeface="Consolas"/>
              </a:rPr>
              <a:t> mid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low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high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low</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a:t>
            </a:r>
            <a:r>
              <a:rPr lang="en" sz="7751">
                <a:solidFill>
                  <a:srgbClr val="F9690E"/>
                </a:solidFill>
                <a:highlight>
                  <a:srgbClr val="08090A"/>
                </a:highlight>
                <a:latin typeface="Consolas"/>
                <a:ea typeface="Consolas"/>
                <a:cs typeface="Consolas"/>
                <a:sym typeface="Consolas"/>
              </a:rPr>
              <a:t>/</a:t>
            </a:r>
            <a:r>
              <a:rPr lang="en" sz="7751">
                <a:solidFill>
                  <a:srgbClr val="F8F8F2"/>
                </a:solidFill>
                <a:highlight>
                  <a:srgbClr val="08090A"/>
                </a:highlight>
                <a:latin typeface="Consolas"/>
                <a:ea typeface="Consolas"/>
                <a:cs typeface="Consolas"/>
                <a:sym typeface="Consolas"/>
              </a:rPr>
              <a:t> </a:t>
            </a:r>
            <a:r>
              <a:rPr lang="en" sz="7751">
                <a:solidFill>
                  <a:srgbClr val="DDA0DD"/>
                </a:solidFill>
                <a:highlight>
                  <a:srgbClr val="08090A"/>
                </a:highlight>
                <a:latin typeface="Consolas"/>
                <a:ea typeface="Consolas"/>
                <a:cs typeface="Consolas"/>
                <a:sym typeface="Consolas"/>
              </a:rPr>
              <a:t>2</a:t>
            </a:r>
            <a:r>
              <a:rPr lang="en" sz="7751">
                <a:solidFill>
                  <a:srgbClr val="F9690E"/>
                </a:solidFill>
                <a:highlight>
                  <a:srgbClr val="08090A"/>
                </a:highlight>
                <a:latin typeface="Consolas"/>
                <a:ea typeface="Consolas"/>
                <a:cs typeface="Consolas"/>
                <a:sym typeface="Consolas"/>
              </a:rPr>
              <a:t>);</a:t>
            </a:r>
            <a:endParaRPr sz="7751">
              <a:solidFill>
                <a:srgbClr val="F8F8F2"/>
              </a:solidFill>
              <a:highlight>
                <a:srgbClr val="08090A"/>
              </a:highlight>
              <a:latin typeface="Consolas"/>
              <a:ea typeface="Consolas"/>
              <a:cs typeface="Consolas"/>
              <a:sym typeface="Consolas"/>
            </a:endParaRPr>
          </a:p>
          <a:p>
            <a:pPr indent="0" lvl="0" marL="0" rtl="0" algn="l">
              <a:spcBef>
                <a:spcPts val="1200"/>
              </a:spcBef>
              <a:spcAft>
                <a:spcPts val="0"/>
              </a:spcAft>
              <a:buClr>
                <a:schemeClr val="dk1"/>
              </a:buClr>
              <a:buSzPct val="91666"/>
              <a:buFont typeface="Arial"/>
              <a:buNone/>
            </a:pPr>
            <a:r>
              <a:t/>
            </a:r>
            <a:endParaRPr sz="1200">
              <a:solidFill>
                <a:srgbClr val="F8F8F2"/>
              </a:solidFill>
              <a:highlight>
                <a:srgbClr val="08090A"/>
              </a:highlight>
              <a:latin typeface="Consolas"/>
              <a:ea typeface="Consolas"/>
              <a:cs typeface="Consolas"/>
              <a:sym typeface="Consolas"/>
            </a:endParaRPr>
          </a:p>
          <a:p>
            <a:pPr indent="0" lvl="0" marL="0" rtl="0" algn="l">
              <a:spcBef>
                <a:spcPts val="0"/>
              </a:spcBef>
              <a:spcAft>
                <a:spcPts val="0"/>
              </a:spcAft>
              <a:buClr>
                <a:schemeClr val="dk1"/>
              </a:buClr>
              <a:buSzPct val="100000"/>
              <a:buFont typeface="Arial"/>
              <a:buNone/>
            </a:pPr>
            <a:r>
              <a:t/>
            </a:r>
            <a:endParaRPr sz="1100">
              <a:solidFill>
                <a:srgbClr val="F9690E"/>
              </a:solidFill>
              <a:latin typeface="Consolas"/>
              <a:ea typeface="Consolas"/>
              <a:cs typeface="Consolas"/>
              <a:sym typeface="Consolas"/>
            </a:endParaRPr>
          </a:p>
          <a:p>
            <a:pPr indent="0" lvl="0" marL="0" rtl="0" algn="ctr">
              <a:spcBef>
                <a:spcPts val="0"/>
              </a:spcBef>
              <a:spcAft>
                <a:spcPts val="0"/>
              </a:spcAft>
              <a:buNone/>
            </a:pPr>
            <a:r>
              <a:t/>
            </a:r>
            <a:endParaRPr sz="1600">
              <a:solidFill>
                <a:srgbClr val="F9690E"/>
              </a:solidFill>
              <a:highlight>
                <a:srgbClr val="08090A"/>
              </a:highlight>
              <a:latin typeface="Consolas"/>
              <a:ea typeface="Consolas"/>
              <a:cs typeface="Consolas"/>
              <a:sym typeface="Consolas"/>
            </a:endParaRPr>
          </a:p>
          <a:p>
            <a:pPr indent="0" lvl="0" marL="0" rtl="0" algn="l">
              <a:spcBef>
                <a:spcPts val="1200"/>
              </a:spcBef>
              <a:spcAft>
                <a:spcPts val="0"/>
              </a:spcAft>
              <a:buNone/>
            </a:pPr>
            <a:r>
              <a:t/>
            </a:r>
            <a:endParaRPr sz="1200">
              <a:solidFill>
                <a:srgbClr val="F8F8F2"/>
              </a:solidFill>
              <a:highlight>
                <a:srgbClr val="08090A"/>
              </a:highlight>
              <a:latin typeface="Consolas"/>
              <a:ea typeface="Consolas"/>
              <a:cs typeface="Consolas"/>
              <a:sym typeface="Consolas"/>
            </a:endParaRPr>
          </a:p>
          <a:p>
            <a:pPr indent="0" lvl="0" marL="0" rtl="0" algn="l">
              <a:spcBef>
                <a:spcPts val="0"/>
              </a:spcBef>
              <a:spcAft>
                <a:spcPts val="0"/>
              </a:spcAft>
              <a:buNone/>
            </a:pPr>
            <a:r>
              <a:t/>
            </a:r>
            <a:endParaRPr sz="1100">
              <a:solidFill>
                <a:srgbClr val="F9690E"/>
              </a:solidFill>
              <a:latin typeface="Consolas"/>
              <a:ea typeface="Consolas"/>
              <a:cs typeface="Consolas"/>
              <a:sym typeface="Consolas"/>
            </a:endParaRPr>
          </a:p>
          <a:p>
            <a:pPr indent="0" lvl="0" marL="0" rtl="0" algn="l">
              <a:spcBef>
                <a:spcPts val="0"/>
              </a:spcBef>
              <a:spcAft>
                <a:spcPts val="1200"/>
              </a:spcAft>
              <a:buNone/>
            </a:pPr>
            <a:r>
              <a:t/>
            </a:r>
            <a:endParaRPr/>
          </a:p>
        </p:txBody>
      </p:sp>
      <p:sp>
        <p:nvSpPr>
          <p:cNvPr id="323" name="Google Shape;323;p41"/>
          <p:cNvSpPr txBox="1"/>
          <p:nvPr/>
        </p:nvSpPr>
        <p:spPr>
          <a:xfrm>
            <a:off x="4837950" y="1951300"/>
            <a:ext cx="2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a:t>
            </a:r>
            <a:endParaRPr sz="1800">
              <a:solidFill>
                <a:schemeClr val="dk1"/>
              </a:solidFill>
            </a:endParaRPr>
          </a:p>
        </p:txBody>
      </p:sp>
      <p:sp>
        <p:nvSpPr>
          <p:cNvPr id="324" name="Google Shape;324;p41"/>
          <p:cNvSpPr txBox="1"/>
          <p:nvPr/>
        </p:nvSpPr>
        <p:spPr>
          <a:xfrm>
            <a:off x="5516575" y="2816650"/>
            <a:ext cx="2206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Format String Vulnerabilities</a:t>
            </a:r>
            <a:endParaRPr/>
          </a:p>
        </p:txBody>
      </p:sp>
      <p:sp>
        <p:nvSpPr>
          <p:cNvPr id="330" name="Google Shape;33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42"/>
          <p:cNvSpPr txBox="1"/>
          <p:nvPr/>
        </p:nvSpPr>
        <p:spPr>
          <a:xfrm>
            <a:off x="512100" y="4520775"/>
            <a:ext cx="8119800" cy="5727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a:solidFill>
                  <a:srgbClr val="000000"/>
                </a:solidFill>
              </a:rPr>
              <a:t>Textbook Chapter </a:t>
            </a:r>
            <a:r>
              <a:rPr lang="en"/>
              <a:t>3.3</a:t>
            </a:r>
            <a:endParaRPr>
              <a:solidFill>
                <a:srgbClr val="00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337" name="Google Shape;33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latin typeface="Courier New"/>
                <a:ea typeface="Courier New"/>
                <a:cs typeface="Courier New"/>
                <a:sym typeface="Courier New"/>
              </a:rPr>
              <a:t>printf</a:t>
            </a:r>
            <a:r>
              <a:rPr lang="en"/>
              <a:t> accepts a variable number of arguments</a:t>
            </a:r>
            <a:endParaRPr/>
          </a:p>
          <a:p>
            <a:pPr indent="-317500" lvl="1" marL="914400" rtl="0" algn="l">
              <a:spcBef>
                <a:spcPts val="0"/>
              </a:spcBef>
              <a:spcAft>
                <a:spcPts val="0"/>
              </a:spcAft>
              <a:buSzPts val="1400"/>
              <a:buChar char="○"/>
            </a:pPr>
            <a:r>
              <a:rPr lang="en"/>
              <a:t>How does it know how many arguments that it received?</a:t>
            </a:r>
            <a:endParaRPr/>
          </a:p>
          <a:p>
            <a:pPr indent="-317500" lvl="1" marL="914400" rtl="0" algn="l">
              <a:spcBef>
                <a:spcPts val="0"/>
              </a:spcBef>
              <a:spcAft>
                <a:spcPts val="0"/>
              </a:spcAft>
              <a:buSzPts val="1400"/>
              <a:buChar char="○"/>
            </a:pPr>
            <a:r>
              <a:rPr lang="en"/>
              <a:t>It infers it from the first argument: the format string!</a:t>
            </a:r>
            <a:endParaRPr/>
          </a:p>
          <a:p>
            <a:pPr indent="-317500" lvl="1" marL="914400" rtl="0" algn="l">
              <a:spcBef>
                <a:spcPts val="0"/>
              </a:spcBef>
              <a:spcAft>
                <a:spcPts val="0"/>
              </a:spcAft>
              <a:buSzPts val="1400"/>
              <a:buChar char="○"/>
            </a:pPr>
            <a:r>
              <a:rPr lang="en"/>
              <a:t>Example: </a:t>
            </a:r>
            <a:r>
              <a:rPr b="1" lang="en">
                <a:latin typeface="Courier New"/>
                <a:ea typeface="Courier New"/>
                <a:cs typeface="Courier New"/>
                <a:sym typeface="Courier New"/>
              </a:rPr>
              <a:t>printf("One </a:t>
            </a:r>
            <a:r>
              <a:rPr b="1" lang="en">
                <a:solidFill>
                  <a:srgbClr val="FF0000"/>
                </a:solidFill>
                <a:latin typeface="Courier New"/>
                <a:ea typeface="Courier New"/>
                <a:cs typeface="Courier New"/>
                <a:sym typeface="Courier New"/>
              </a:rPr>
              <a:t>%s</a:t>
            </a:r>
            <a:r>
              <a:rPr b="1" lang="en">
                <a:latin typeface="Courier New"/>
                <a:ea typeface="Courier New"/>
                <a:cs typeface="Courier New"/>
                <a:sym typeface="Courier New"/>
              </a:rPr>
              <a:t> costs </a:t>
            </a:r>
            <a:r>
              <a:rPr b="1" lang="en">
                <a:solidFill>
                  <a:srgbClr val="0000FF"/>
                </a:solidFill>
                <a:latin typeface="Courier New"/>
                <a:ea typeface="Courier New"/>
                <a:cs typeface="Courier New"/>
                <a:sym typeface="Courier New"/>
              </a:rPr>
              <a:t>%d</a:t>
            </a:r>
            <a:r>
              <a:rPr b="1" lang="en">
                <a:latin typeface="Courier New"/>
                <a:ea typeface="Courier New"/>
                <a:cs typeface="Courier New"/>
                <a:sym typeface="Courier New"/>
              </a:rPr>
              <a:t>", </a:t>
            </a:r>
            <a:r>
              <a:rPr b="1" lang="en">
                <a:solidFill>
                  <a:srgbClr val="FF0000"/>
                </a:solidFill>
                <a:latin typeface="Courier New"/>
                <a:ea typeface="Courier New"/>
                <a:cs typeface="Courier New"/>
                <a:sym typeface="Courier New"/>
              </a:rPr>
              <a:t>fruit</a:t>
            </a:r>
            <a:r>
              <a:rPr b="1" lang="en">
                <a:latin typeface="Courier New"/>
                <a:ea typeface="Courier New"/>
                <a:cs typeface="Courier New"/>
                <a:sym typeface="Courier New"/>
              </a:rPr>
              <a:t>, </a:t>
            </a:r>
            <a:r>
              <a:rPr b="1" lang="en">
                <a:solidFill>
                  <a:srgbClr val="0000FF"/>
                </a:solidFill>
                <a:latin typeface="Courier New"/>
                <a:ea typeface="Courier New"/>
                <a:cs typeface="Courier New"/>
                <a:sym typeface="Courier New"/>
              </a:rPr>
              <a:t>price</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What happens if the arguments are mismatched?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345" name="Google Shape;345;p44"/>
          <p:cNvSpPr txBox="1"/>
          <p:nvPr/>
        </p:nvSpPr>
        <p:spPr>
          <a:xfrm>
            <a:off x="817850" y="2091425"/>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void func(void)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int secret = 42;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600">
                <a:solidFill>
                  <a:schemeClr val="dk1"/>
                </a:solidFill>
                <a:latin typeface="Courier New"/>
                <a:ea typeface="Courier New"/>
                <a:cs typeface="Courier New"/>
                <a:sym typeface="Courier New"/>
              </a:rPr>
              <a:t>    printf("%d\n", 123);</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346" name="Google Shape;346;p44"/>
          <p:cNvSpPr txBox="1"/>
          <p:nvPr/>
        </p:nvSpPr>
        <p:spPr>
          <a:xfrm>
            <a:off x="781600" y="3338200"/>
            <a:ext cx="40794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Courier New"/>
                <a:ea typeface="Courier New"/>
                <a:cs typeface="Courier New"/>
                <a:sym typeface="Courier New"/>
              </a:rPr>
              <a:t>printf</a:t>
            </a:r>
            <a:r>
              <a:rPr lang="en">
                <a:solidFill>
                  <a:schemeClr val="dk1"/>
                </a:solidFill>
              </a:rPr>
              <a:t> </a:t>
            </a:r>
            <a:r>
              <a:rPr b="1" lang="en">
                <a:solidFill>
                  <a:schemeClr val="dk1"/>
                </a:solidFill>
              </a:rPr>
              <a:t>assumes</a:t>
            </a:r>
            <a:r>
              <a:rPr lang="en">
                <a:solidFill>
                  <a:schemeClr val="dk1"/>
                </a:solidFill>
              </a:rPr>
              <a:t> that there is 1 more argument because there is one format specifier (%d), so it will look 4 bytes up the stack for the argument</a:t>
            </a:r>
            <a:endParaRPr>
              <a:solidFill>
                <a:schemeClr val="dk1"/>
              </a:solidFill>
            </a:endParaRPr>
          </a:p>
        </p:txBody>
      </p:sp>
      <p:sp>
        <p:nvSpPr>
          <p:cNvPr id="347" name="Google Shape;347;p44"/>
          <p:cNvSpPr txBox="1"/>
          <p:nvPr/>
        </p:nvSpPr>
        <p:spPr>
          <a:xfrm>
            <a:off x="2453000" y="4105925"/>
            <a:ext cx="28341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What if there is no argument?</a:t>
            </a:r>
            <a:endParaRPr/>
          </a:p>
        </p:txBody>
      </p:sp>
      <p:graphicFrame>
        <p:nvGraphicFramePr>
          <p:cNvPr id="348" name="Google Shape;348;p44"/>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 = 42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123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 &amp;"%d\n"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bl>
          </a:graphicData>
        </a:graphic>
      </p:graphicFrame>
      <p:sp>
        <p:nvSpPr>
          <p:cNvPr id="349" name="Google Shape;349;p44"/>
          <p:cNvSpPr/>
          <p:nvPr/>
        </p:nvSpPr>
        <p:spPr>
          <a:xfrm>
            <a:off x="5973000" y="3371525"/>
            <a:ext cx="313372" cy="148469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350" name="Google Shape;350;p44"/>
          <p:cNvGraphicFramePr/>
          <p:nvPr/>
        </p:nvGraphicFramePr>
        <p:xfrm>
          <a:off x="6286375" y="47098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'd'</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bl>
          </a:graphicData>
        </a:graphic>
      </p:graphicFrame>
      <p:sp>
        <p:nvSpPr>
          <p:cNvPr id="351" name="Google Shape;351;p44"/>
          <p:cNvSpPr txBox="1"/>
          <p:nvPr/>
        </p:nvSpPr>
        <p:spPr>
          <a:xfrm>
            <a:off x="8490750" y="32165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352" name="Google Shape;352;p44"/>
          <p:cNvSpPr txBox="1"/>
          <p:nvPr/>
        </p:nvSpPr>
        <p:spPr>
          <a:xfrm>
            <a:off x="8490750" y="2966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urier New"/>
                <a:ea typeface="Courier New"/>
                <a:cs typeface="Courier New"/>
                <a:sym typeface="Courier New"/>
              </a:rPr>
              <a:t>printf</a:t>
            </a:r>
            <a:r>
              <a:rPr lang="en"/>
              <a:t> behavior</a:t>
            </a:r>
            <a:endParaRPr/>
          </a:p>
        </p:txBody>
      </p:sp>
      <p:sp>
        <p:nvSpPr>
          <p:cNvPr id="359" name="Google Shape;359;p45"/>
          <p:cNvSpPr txBox="1"/>
          <p:nvPr/>
        </p:nvSpPr>
        <p:spPr>
          <a:xfrm>
            <a:off x="817850" y="2091425"/>
            <a:ext cx="3471000" cy="116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func(void)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int secret = 42;</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printf("%d\n");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360" name="Google Shape;360;p45"/>
          <p:cNvSpPr txBox="1"/>
          <p:nvPr/>
        </p:nvSpPr>
        <p:spPr>
          <a:xfrm>
            <a:off x="973350" y="3982850"/>
            <a:ext cx="45675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Because the format string contains the </a:t>
            </a:r>
            <a:r>
              <a:rPr b="1" lang="en">
                <a:latin typeface="Courier New"/>
                <a:ea typeface="Courier New"/>
                <a:cs typeface="Courier New"/>
                <a:sym typeface="Courier New"/>
              </a:rPr>
              <a:t>%d</a:t>
            </a:r>
            <a:r>
              <a:rPr lang="en"/>
              <a:t>, it will still look 4 bytes up -- and print the value of </a:t>
            </a:r>
            <a:r>
              <a:rPr b="1" lang="en">
                <a:latin typeface="Courier New"/>
                <a:ea typeface="Courier New"/>
                <a:cs typeface="Courier New"/>
                <a:sym typeface="Courier New"/>
              </a:rPr>
              <a:t>secret</a:t>
            </a:r>
            <a:r>
              <a:rPr lang="en"/>
              <a:t>!</a:t>
            </a:r>
            <a:endParaRPr/>
          </a:p>
        </p:txBody>
      </p:sp>
      <p:graphicFrame>
        <p:nvGraphicFramePr>
          <p:cNvPr id="361" name="Google Shape;361;p45"/>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func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 = 42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 &amp;"%d\n"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bl>
          </a:graphicData>
        </a:graphic>
      </p:graphicFrame>
      <p:sp>
        <p:nvSpPr>
          <p:cNvPr id="362" name="Google Shape;362;p45"/>
          <p:cNvSpPr/>
          <p:nvPr/>
        </p:nvSpPr>
        <p:spPr>
          <a:xfrm>
            <a:off x="5973000" y="3122502"/>
            <a:ext cx="313372" cy="1733632"/>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363" name="Google Shape;363;p45"/>
          <p:cNvGraphicFramePr/>
          <p:nvPr/>
        </p:nvGraphicFramePr>
        <p:xfrm>
          <a:off x="6286375" y="47098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'd'</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bl>
          </a:graphicData>
        </a:graphic>
      </p:graphicFrame>
      <p:sp>
        <p:nvSpPr>
          <p:cNvPr id="364" name="Google Shape;364;p45"/>
          <p:cNvSpPr txBox="1"/>
          <p:nvPr/>
        </p:nvSpPr>
        <p:spPr>
          <a:xfrm>
            <a:off x="8490750" y="29527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365" name="Google Shape;365;p45"/>
          <p:cNvSpPr txBox="1"/>
          <p:nvPr/>
        </p:nvSpPr>
        <p:spPr>
          <a:xfrm>
            <a:off x="8490750" y="27029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372" name="Google Shape;372;p46"/>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%d%s</a:t>
            </a:r>
            <a:endParaRPr b="1">
              <a:solidFill>
                <a:srgbClr val="CC0000"/>
              </a:solidFill>
              <a:latin typeface="Courier New"/>
              <a:ea typeface="Courier New"/>
              <a:cs typeface="Courier New"/>
              <a:sym typeface="Courier New"/>
            </a:endParaRPr>
          </a:p>
        </p:txBody>
      </p:sp>
      <p:sp>
        <p:nvSpPr>
          <p:cNvPr id="373" name="Google Shape;373;p46"/>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374" name="Google Shape;374;p46"/>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42pancake</a:t>
            </a:r>
            <a:endParaRPr/>
          </a:p>
        </p:txBody>
      </p:sp>
      <p:sp>
        <p:nvSpPr>
          <p:cNvPr id="375" name="Google Shape;375;p46"/>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376" name="Google Shape;376;p46"/>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377" name="Google Shape;377;p46"/>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378" name="Google Shape;378;p46"/>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379" name="Google Shape;379;p46"/>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380" name="Google Shape;380;p46"/>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381" name="Google Shape;381;p46"/>
          <p:cNvGraphicFramePr/>
          <p:nvPr/>
        </p:nvGraphicFramePr>
        <p:xfrm>
          <a:off x="6286375" y="39784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's'</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
        <p:nvSpPr>
          <p:cNvPr id="382" name="Google Shape;382;p46"/>
          <p:cNvSpPr txBox="1"/>
          <p:nvPr/>
        </p:nvSpPr>
        <p:spPr>
          <a:xfrm>
            <a:off x="384600" y="3663125"/>
            <a:ext cx="38013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We’re calling </a:t>
            </a:r>
            <a:r>
              <a:rPr b="1" lang="en">
                <a:latin typeface="Courier New"/>
                <a:ea typeface="Courier New"/>
                <a:cs typeface="Courier New"/>
                <a:sym typeface="Courier New"/>
              </a:rPr>
              <a:t>printf("%d%s")</a:t>
            </a:r>
            <a:r>
              <a:rPr lang="en"/>
              <a:t>. </a:t>
            </a:r>
            <a:r>
              <a:rPr b="1" lang="en">
                <a:latin typeface="Courier New"/>
                <a:ea typeface="Courier New"/>
                <a:cs typeface="Courier New"/>
                <a:sym typeface="Courier New"/>
              </a:rPr>
              <a:t>printf</a:t>
            </a:r>
            <a:r>
              <a:rPr lang="en"/>
              <a:t> reads its first argument (arg0), sees two format specifiers, and expects two more arguments (arg1 and arg2).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a:t>
            </a:r>
            <a:endParaRPr/>
          </a:p>
        </p:txBody>
      </p:sp>
      <p:sp>
        <p:nvSpPr>
          <p:cNvPr id="388" name="Google Shape;388;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4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printf</a:t>
            </a:r>
            <a:r>
              <a:rPr lang="en"/>
              <a:t> can also write values using the </a:t>
            </a:r>
            <a:r>
              <a:rPr b="1" lang="en">
                <a:latin typeface="Courier New"/>
                <a:ea typeface="Courier New"/>
                <a:cs typeface="Courier New"/>
                <a:sym typeface="Courier New"/>
              </a:rPr>
              <a:t>%n</a:t>
            </a:r>
            <a:r>
              <a:rPr lang="en"/>
              <a:t> specifier</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%n</a:t>
            </a:r>
            <a:r>
              <a:rPr lang="en"/>
              <a:t> treats the next argument as a </a:t>
            </a:r>
            <a:r>
              <a:rPr b="1" lang="en"/>
              <a:t>pointer</a:t>
            </a:r>
            <a:r>
              <a:rPr lang="en"/>
              <a:t> and writes the number of bytes printed so far to that address (usually used to calculate output spacing)</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printf("item %d:%n", 3, &amp;val)</a:t>
            </a:r>
            <a:r>
              <a:rPr lang="en"/>
              <a:t> stores 7 in </a:t>
            </a:r>
            <a:r>
              <a:rPr b="1" lang="en">
                <a:latin typeface="Courier New"/>
                <a:ea typeface="Courier New"/>
                <a:cs typeface="Courier New"/>
                <a:sym typeface="Courier New"/>
              </a:rPr>
              <a:t>val</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printf("item %d:%n", 987, &amp;val)</a:t>
            </a:r>
            <a:r>
              <a:rPr lang="en"/>
              <a:t> stores 9 in </a:t>
            </a:r>
            <a:r>
              <a:rPr b="1" lang="en">
                <a:latin typeface="Courier New"/>
                <a:ea typeface="Courier New"/>
                <a:cs typeface="Courier New"/>
                <a:sym typeface="Courier New"/>
              </a:rPr>
              <a:t>val</a:t>
            </a:r>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printf("000</a:t>
            </a:r>
            <a:r>
              <a:rPr b="1" lang="en">
                <a:solidFill>
                  <a:srgbClr val="FF0000"/>
                </a:solidFill>
                <a:latin typeface="Courier New"/>
                <a:ea typeface="Courier New"/>
                <a:cs typeface="Courier New"/>
                <a:sym typeface="Courier New"/>
              </a:rPr>
              <a:t>%n</a:t>
            </a:r>
            <a:r>
              <a:rPr b="1" lang="en">
                <a:latin typeface="Courier New"/>
                <a:ea typeface="Courier New"/>
                <a:cs typeface="Courier New"/>
                <a:sym typeface="Courier New"/>
              </a:rPr>
              <a:t>")</a:t>
            </a:r>
            <a:endParaRPr b="1">
              <a:latin typeface="Courier New"/>
              <a:ea typeface="Courier New"/>
              <a:cs typeface="Courier New"/>
              <a:sym typeface="Courier New"/>
            </a:endParaRPr>
          </a:p>
          <a:p>
            <a:pPr indent="-317500" lvl="2" marL="1371600" rtl="0" algn="l">
              <a:spcBef>
                <a:spcPts val="0"/>
              </a:spcBef>
              <a:spcAft>
                <a:spcPts val="0"/>
              </a:spcAft>
              <a:buSzPts val="1400"/>
              <a:buChar char="■"/>
            </a:pPr>
            <a:r>
              <a:rPr b="1" lang="en"/>
              <a:t>Writes</a:t>
            </a:r>
            <a:r>
              <a:rPr lang="en"/>
              <a:t> the value 3 to the memory location </a:t>
            </a:r>
            <a:r>
              <a:rPr b="1" lang="en"/>
              <a:t>pointed to</a:t>
            </a:r>
            <a:r>
              <a:rPr lang="en"/>
              <a:t> by address located 8 bytes above the RIP of </a:t>
            </a:r>
            <a:r>
              <a:rPr b="1" lang="en">
                <a:latin typeface="Courier New"/>
                <a:ea typeface="Courier New"/>
                <a:cs typeface="Courier New"/>
                <a:sym typeface="Courier New"/>
              </a:rPr>
              <a:t>printf</a:t>
            </a:r>
            <a:endParaRPr b="1">
              <a:latin typeface="Courier New"/>
              <a:ea typeface="Courier New"/>
              <a:cs typeface="Courier New"/>
              <a:sym typeface="Courier New"/>
            </a:endParaRPr>
          </a:p>
        </p:txBody>
      </p:sp>
      <p:sp>
        <p:nvSpPr>
          <p:cNvPr id="390" name="Google Shape;390;p47"/>
          <p:cNvSpPr txBox="1"/>
          <p:nvPr/>
        </p:nvSpPr>
        <p:spPr>
          <a:xfrm>
            <a:off x="5547425" y="2428225"/>
            <a:ext cx="33423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buf[64];</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if (fgets(buf, 64, stdin) == NULL)</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return;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397" name="Google Shape;397;p48"/>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398" name="Google Shape;398;p48"/>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399" name="Google Shape;399;p48"/>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t/>
            </a:r>
            <a:endParaRPr/>
          </a:p>
        </p:txBody>
      </p:sp>
      <p:sp>
        <p:nvSpPr>
          <p:cNvPr id="400" name="Google Shape;400;p48"/>
          <p:cNvSpPr txBox="1"/>
          <p:nvPr/>
        </p:nvSpPr>
        <p:spPr>
          <a:xfrm>
            <a:off x="384600" y="366312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We’re calling </a:t>
            </a:r>
            <a:r>
              <a:rPr b="1" lang="en">
                <a:latin typeface="Courier New"/>
                <a:ea typeface="Courier New"/>
                <a:cs typeface="Courier New"/>
                <a:sym typeface="Courier New"/>
              </a:rPr>
              <a:t>printf("%d%n")</a:t>
            </a:r>
            <a:r>
              <a:rPr lang="en"/>
              <a:t>. </a:t>
            </a:r>
            <a:r>
              <a:rPr b="1" lang="en">
                <a:latin typeface="Courier New"/>
                <a:ea typeface="Courier New"/>
                <a:cs typeface="Courier New"/>
                <a:sym typeface="Courier New"/>
              </a:rPr>
              <a:t>printf</a:t>
            </a:r>
            <a:r>
              <a:rPr lang="en"/>
              <a:t> reads its first argument (arg0), sees two format specifiers, and expects two more arguments (arg1 and arg2).</a:t>
            </a:r>
            <a:endParaRPr/>
          </a:p>
        </p:txBody>
      </p:sp>
      <p:sp>
        <p:nvSpPr>
          <p:cNvPr id="401" name="Google Shape;401;p48"/>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402" name="Google Shape;402;p48"/>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403" name="Google Shape;403;p48"/>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404" name="Google Shape;404;p48"/>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405" name="Google Shape;405;p48"/>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406" name="Google Shape;406;p48"/>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407" name="Google Shape;407;p48"/>
          <p:cNvGraphicFramePr/>
          <p:nvPr/>
        </p:nvGraphicFramePr>
        <p:xfrm>
          <a:off x="6286375" y="39784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414" name="Google Shape;414;p49"/>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415" name="Google Shape;415;p49"/>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416" name="Google Shape;416;p49"/>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a:t>
            </a:r>
            <a:endParaRPr/>
          </a:p>
        </p:txBody>
      </p:sp>
      <p:sp>
        <p:nvSpPr>
          <p:cNvPr id="417" name="Google Shape;417;p49"/>
          <p:cNvSpPr txBox="1"/>
          <p:nvPr/>
        </p:nvSpPr>
        <p:spPr>
          <a:xfrm>
            <a:off x="384600" y="3663125"/>
            <a:ext cx="41874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first format specifier </a:t>
            </a:r>
            <a:r>
              <a:rPr b="1" lang="en">
                <a:latin typeface="Courier New"/>
                <a:ea typeface="Courier New"/>
                <a:cs typeface="Courier New"/>
                <a:sym typeface="Courier New"/>
              </a:rPr>
              <a:t>%d</a:t>
            </a:r>
            <a:r>
              <a:rPr lang="en"/>
              <a:t> says to treat the next argument (arg1) as an integer and print it out.</a:t>
            </a:r>
            <a:endParaRPr/>
          </a:p>
        </p:txBody>
      </p:sp>
      <p:sp>
        <p:nvSpPr>
          <p:cNvPr id="418" name="Google Shape;418;p49"/>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419" name="Google Shape;419;p49"/>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420" name="Google Shape;420;p49"/>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421" name="Google Shape;421;p49"/>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422" name="Google Shape;422;p49"/>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423" name="Google Shape;423;p49"/>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424" name="Google Shape;424;p49"/>
          <p:cNvGraphicFramePr/>
          <p:nvPr/>
        </p:nvGraphicFramePr>
        <p:xfrm>
          <a:off x="6286375" y="39784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0" name="Google Shape;430;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Vulnerability Walkthrough</a:t>
            </a:r>
            <a:endParaRPr/>
          </a:p>
        </p:txBody>
      </p:sp>
      <p:sp>
        <p:nvSpPr>
          <p:cNvPr id="431" name="Google Shape;431;p50"/>
          <p:cNvSpPr txBox="1"/>
          <p:nvPr/>
        </p:nvSpPr>
        <p:spPr>
          <a:xfrm>
            <a:off x="179400" y="1216525"/>
            <a:ext cx="1338900" cy="400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Input: </a:t>
            </a:r>
            <a:r>
              <a:rPr b="1" lang="en">
                <a:solidFill>
                  <a:srgbClr val="CC0000"/>
                </a:solidFill>
                <a:latin typeface="Courier New"/>
                <a:ea typeface="Courier New"/>
                <a:cs typeface="Courier New"/>
                <a:sym typeface="Courier New"/>
              </a:rPr>
              <a:t>%d%n</a:t>
            </a:r>
            <a:endParaRPr b="1">
              <a:solidFill>
                <a:srgbClr val="CC0000"/>
              </a:solidFill>
              <a:latin typeface="Courier New"/>
              <a:ea typeface="Courier New"/>
              <a:cs typeface="Courier New"/>
              <a:sym typeface="Courier New"/>
            </a:endParaRPr>
          </a:p>
        </p:txBody>
      </p:sp>
      <p:sp>
        <p:nvSpPr>
          <p:cNvPr id="432" name="Google Shape;432;p50"/>
          <p:cNvSpPr txBox="1"/>
          <p:nvPr/>
        </p:nvSpPr>
        <p:spPr>
          <a:xfrm>
            <a:off x="1959275" y="1216525"/>
            <a:ext cx="3758700" cy="1847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char buf[64];</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*secret_string = "pancake";</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int secret_number = 42;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if (fgets(buf, 64, stdin) == NULL)</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return;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433" name="Google Shape;433;p50"/>
          <p:cNvSpPr txBox="1"/>
          <p:nvPr/>
        </p:nvSpPr>
        <p:spPr>
          <a:xfrm>
            <a:off x="179400" y="1747475"/>
            <a:ext cx="133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Output:</a:t>
            </a:r>
            <a:endParaRPr/>
          </a:p>
          <a:p>
            <a:pPr indent="0" lvl="0" marL="0" rtl="0" algn="l">
              <a:spcBef>
                <a:spcPts val="0"/>
              </a:spcBef>
              <a:spcAft>
                <a:spcPts val="0"/>
              </a:spcAft>
              <a:buNone/>
            </a:pPr>
            <a:r>
              <a:rPr b="1" lang="en">
                <a:latin typeface="Courier New"/>
                <a:ea typeface="Courier New"/>
                <a:cs typeface="Courier New"/>
                <a:sym typeface="Courier New"/>
              </a:rPr>
              <a:t>42</a:t>
            </a:r>
            <a:endParaRPr/>
          </a:p>
        </p:txBody>
      </p:sp>
      <p:sp>
        <p:nvSpPr>
          <p:cNvPr id="434" name="Google Shape;434;p50"/>
          <p:cNvSpPr txBox="1"/>
          <p:nvPr/>
        </p:nvSpPr>
        <p:spPr>
          <a:xfrm>
            <a:off x="240975" y="3210350"/>
            <a:ext cx="4368900" cy="831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second format specifier </a:t>
            </a:r>
            <a:r>
              <a:rPr b="1" lang="en">
                <a:latin typeface="Courier New"/>
                <a:ea typeface="Courier New"/>
                <a:cs typeface="Courier New"/>
                <a:sym typeface="Courier New"/>
              </a:rPr>
              <a:t>%n</a:t>
            </a:r>
            <a:r>
              <a:rPr lang="en"/>
              <a:t> says to treat the next argument (arg2) as a pointer, and write the number of bytes printed so far to the address at arg2.</a:t>
            </a:r>
            <a:endParaRPr/>
          </a:p>
        </p:txBody>
      </p:sp>
      <p:sp>
        <p:nvSpPr>
          <p:cNvPr id="435" name="Google Shape;435;p50"/>
          <p:cNvSpPr txBox="1"/>
          <p:nvPr/>
        </p:nvSpPr>
        <p:spPr>
          <a:xfrm>
            <a:off x="523325" y="3978425"/>
            <a:ext cx="4368900" cy="615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We've printed 2 bytes so far, so the number 2 gets written to </a:t>
            </a:r>
            <a:r>
              <a:rPr b="1" lang="en">
                <a:latin typeface="Courier New"/>
                <a:ea typeface="Courier New"/>
                <a:cs typeface="Courier New"/>
                <a:sym typeface="Courier New"/>
              </a:rPr>
              <a:t>secret_string</a:t>
            </a:r>
            <a:r>
              <a:rPr lang="en"/>
              <a:t>.</a:t>
            </a:r>
            <a:endParaRPr/>
          </a:p>
        </p:txBody>
      </p:sp>
      <p:sp>
        <p:nvSpPr>
          <p:cNvPr id="436" name="Google Shape;436;p50"/>
          <p:cNvSpPr/>
          <p:nvPr/>
        </p:nvSpPr>
        <p:spPr>
          <a:xfrm>
            <a:off x="5820625" y="2147675"/>
            <a:ext cx="465763" cy="2687965"/>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437" name="Google Shape;437;p50"/>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secret_string</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secret_number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r>
            </a:tbl>
          </a:graphicData>
        </a:graphic>
      </p:graphicFrame>
      <p:sp>
        <p:nvSpPr>
          <p:cNvPr id="438" name="Google Shape;438;p50"/>
          <p:cNvSpPr/>
          <p:nvPr/>
        </p:nvSpPr>
        <p:spPr>
          <a:xfrm>
            <a:off x="5973025" y="2645275"/>
            <a:ext cx="313372" cy="1711680"/>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439" name="Google Shape;439;p50"/>
          <p:cNvSpPr txBox="1"/>
          <p:nvPr/>
        </p:nvSpPr>
        <p:spPr>
          <a:xfrm>
            <a:off x="8472450" y="24828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arg0</a:t>
            </a:r>
            <a:endParaRPr sz="1000"/>
          </a:p>
        </p:txBody>
      </p:sp>
      <p:sp>
        <p:nvSpPr>
          <p:cNvPr id="440" name="Google Shape;440;p50"/>
          <p:cNvSpPr txBox="1"/>
          <p:nvPr/>
        </p:nvSpPr>
        <p:spPr>
          <a:xfrm>
            <a:off x="8472450" y="2233050"/>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arg1</a:t>
            </a:r>
            <a:endParaRPr sz="1000"/>
          </a:p>
        </p:txBody>
      </p:sp>
      <p:sp>
        <p:nvSpPr>
          <p:cNvPr id="441" name="Google Shape;441;p50"/>
          <p:cNvSpPr txBox="1"/>
          <p:nvPr/>
        </p:nvSpPr>
        <p:spPr>
          <a:xfrm>
            <a:off x="8472450" y="1970725"/>
            <a:ext cx="512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arg2</a:t>
            </a:r>
            <a:endParaRPr sz="1000"/>
          </a:p>
        </p:txBody>
      </p:sp>
      <p:graphicFrame>
        <p:nvGraphicFramePr>
          <p:cNvPr id="442" name="Google Shape;442;p50"/>
          <p:cNvGraphicFramePr/>
          <p:nvPr/>
        </p:nvGraphicFramePr>
        <p:xfrm>
          <a:off x="6286375" y="3978425"/>
          <a:ext cx="3000000" cy="3000000"/>
        </p:xfrm>
        <a:graphic>
          <a:graphicData uri="http://schemas.openxmlformats.org/drawingml/2006/table">
            <a:tbl>
              <a:tblPr>
                <a:noFill/>
                <a:tableStyleId>{56312004-1CDE-497B-A12A-34C1020B5D77}</a:tableStyleId>
              </a:tblPr>
              <a:tblGrid>
                <a:gridCol w="546525"/>
                <a:gridCol w="546525"/>
                <a:gridCol w="546525"/>
                <a:gridCol w="546525"/>
              </a:tblGrid>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dash"/>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'd'</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'n'</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r>
              <a:tr h="152550">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a:t>
                      </a:r>
                      <a:endParaRPr b="1" sz="1000">
                        <a:solidFill>
                          <a:schemeClr val="dk1"/>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'k'</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T cap="flat" cmpd="sng" w="9525">
                      <a:solidFill>
                        <a:srgbClr val="9E9E9E"/>
                      </a:solidFill>
                      <a:prstDash val="solid"/>
                      <a:round/>
                      <a:headEnd len="sm" w="sm" type="none"/>
                      <a:tailEnd len="sm" w="sm" type="none"/>
                    </a:lnT>
                    <a:solidFill>
                      <a:srgbClr val="EEEEEE"/>
                    </a:solidFill>
                  </a:tcPr>
                </a:tc>
              </a:tr>
              <a:tr h="152550">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0x02</a:t>
                      </a:r>
                      <a:endParaRPr b="1" sz="1000">
                        <a:solidFill>
                          <a:srgbClr val="CC0000"/>
                        </a:solidFill>
                        <a:latin typeface="Courier New"/>
                        <a:ea typeface="Courier New"/>
                        <a:cs typeface="Courier New"/>
                        <a:sym typeface="Courier New"/>
                      </a:endParaRPr>
                    </a:p>
                  </a:txBody>
                  <a:tcPr marT="45700" marB="45700" marR="45700" marL="45700">
                    <a:lnR cap="flat" cmpd="sng" w="9525">
                      <a:solidFill>
                        <a:srgbClr val="9E9E9E"/>
                      </a:solidFill>
                      <a:prstDash val="solid"/>
                      <a:round/>
                      <a:headEnd len="sm" w="sm" type="none"/>
                      <a:tailEnd len="sm" w="sm" type="none"/>
                    </a:lnR>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a:txBody>
                    <a:bodyPr/>
                    <a:lstStyle/>
                    <a:p>
                      <a:pPr indent="0" lvl="0" marL="0" rtl="0" algn="ctr">
                        <a:spcBef>
                          <a:spcPts val="0"/>
                        </a:spcBef>
                        <a:spcAft>
                          <a:spcPts val="0"/>
                        </a:spcAft>
                        <a:buNone/>
                      </a:pPr>
                      <a:r>
                        <a:rPr b="1" lang="en" sz="1000">
                          <a:solidFill>
                            <a:srgbClr val="CC0000"/>
                          </a:solidFill>
                          <a:latin typeface="Courier New"/>
                          <a:ea typeface="Courier New"/>
                          <a:cs typeface="Courier New"/>
                          <a:sym typeface="Courier New"/>
                        </a:rPr>
                        <a:t>0x00</a:t>
                      </a:r>
                      <a:endParaRPr b="1" sz="1000">
                        <a:solidFill>
                          <a:srgbClr val="CC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solidFill>
                      <a:srgbClr val="EEEEEE"/>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Strings: Stack Diagram</a:t>
            </a:r>
            <a:endParaRPr/>
          </a:p>
        </p:txBody>
      </p:sp>
      <p:sp>
        <p:nvSpPr>
          <p:cNvPr id="449" name="Google Shape;449;p51"/>
          <p:cNvSpPr txBox="1"/>
          <p:nvPr/>
        </p:nvSpPr>
        <p:spPr>
          <a:xfrm>
            <a:off x="179400" y="341897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This is the stack diagram while </a:t>
            </a:r>
            <a:r>
              <a:rPr b="1" lang="en">
                <a:latin typeface="Courier New"/>
                <a:ea typeface="Courier New"/>
                <a:cs typeface="Courier New"/>
                <a:sym typeface="Courier New"/>
              </a:rPr>
              <a:t>printf</a:t>
            </a:r>
            <a:r>
              <a:rPr lang="en"/>
              <a:t> is being called.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does </a:t>
            </a:r>
            <a:r>
              <a:rPr b="1" lang="en">
                <a:latin typeface="Courier New"/>
                <a:ea typeface="Courier New"/>
                <a:cs typeface="Courier New"/>
                <a:sym typeface="Courier New"/>
              </a:rPr>
              <a:t>printf</a:t>
            </a:r>
            <a:r>
              <a:rPr lang="en"/>
              <a:t> look for arguments?</a:t>
            </a:r>
            <a:endParaRPr/>
          </a:p>
        </p:txBody>
      </p:sp>
      <p:graphicFrame>
        <p:nvGraphicFramePr>
          <p:cNvPr id="450" name="Google Shape;450;p51"/>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51" name="Google Shape;451;p51"/>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452" name="Google Shape;452;p51"/>
          <p:cNvSpPr txBox="1"/>
          <p:nvPr/>
        </p:nvSpPr>
        <p:spPr>
          <a:xfrm>
            <a:off x="179400" y="1214094"/>
            <a:ext cx="3758700" cy="1293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buf[16];</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char str[12];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fgets(buf, 16, stdin);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graphicFrame>
        <p:nvGraphicFramePr>
          <p:cNvPr id="457" name="Google Shape;457;p52"/>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arg7</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arg6</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arg5</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arg4</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arg3</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arg2</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arg1</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rgbClr val="FF0000"/>
                          </a:solidFill>
                        </a:rPr>
                        <a:t>arg0</a:t>
                      </a:r>
                      <a:endParaRPr b="1" sz="1000">
                        <a:solidFill>
                          <a:srgbClr val="FF0000"/>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58" name="Google Shape;45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Strings: Stack Diagram</a:t>
            </a:r>
            <a:endParaRPr/>
          </a:p>
        </p:txBody>
      </p:sp>
      <p:sp>
        <p:nvSpPr>
          <p:cNvPr id="460" name="Google Shape;460;p52"/>
          <p:cNvSpPr txBox="1"/>
          <p:nvPr/>
        </p:nvSpPr>
        <p:spPr>
          <a:xfrm>
            <a:off x="179400" y="3418975"/>
            <a:ext cx="3801300" cy="14775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We’ve labeled which values in memory </a:t>
            </a:r>
            <a:r>
              <a:rPr b="1" lang="en">
                <a:latin typeface="Courier New"/>
                <a:ea typeface="Courier New"/>
                <a:cs typeface="Courier New"/>
                <a:sym typeface="Courier New"/>
              </a:rPr>
              <a:t>printf</a:t>
            </a:r>
            <a:r>
              <a:rPr lang="en"/>
              <a:t> will interpret as arguments.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if </a:t>
            </a:r>
            <a:r>
              <a:rPr b="1" lang="en">
                <a:latin typeface="Courier New"/>
                <a:ea typeface="Courier New"/>
                <a:cs typeface="Courier New"/>
                <a:sym typeface="Courier New"/>
              </a:rPr>
              <a:t>buf</a:t>
            </a:r>
            <a:r>
              <a:rPr lang="en"/>
              <a:t> has 4 percent formatters, </a:t>
            </a:r>
            <a:r>
              <a:rPr b="1" lang="en">
                <a:latin typeface="Courier New"/>
                <a:ea typeface="Courier New"/>
                <a:cs typeface="Courier New"/>
                <a:sym typeface="Courier New"/>
              </a:rPr>
              <a:t>printf</a:t>
            </a:r>
            <a:r>
              <a:rPr lang="en"/>
              <a:t> will match the last percent formatter with arg4.</a:t>
            </a:r>
            <a:endParaRPr/>
          </a:p>
        </p:txBody>
      </p:sp>
      <p:sp>
        <p:nvSpPr>
          <p:cNvPr id="461" name="Google Shape;461;p52"/>
          <p:cNvSpPr txBox="1"/>
          <p:nvPr/>
        </p:nvSpPr>
        <p:spPr>
          <a:xfrm>
            <a:off x="179400" y="1214094"/>
            <a:ext cx="3758700" cy="1293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void vulnerable(void) {</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buf[16];</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char str[12];</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fgets(buf, 16, stdin);</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    printf(buf);</a:t>
            </a:r>
            <a:endParaRPr b="1" sz="12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200">
                <a:solidFill>
                  <a:schemeClr val="dk1"/>
                </a:solidFill>
                <a:latin typeface="Courier New"/>
                <a:ea typeface="Courier New"/>
                <a:cs typeface="Courier New"/>
                <a:sym typeface="Courier New"/>
              </a:rPr>
              <a:t>}</a:t>
            </a:r>
            <a:endParaRPr b="1" sz="1200">
              <a:solidFill>
                <a:schemeClr val="dk1"/>
              </a:solidFill>
              <a:latin typeface="Courier New"/>
              <a:ea typeface="Courier New"/>
              <a:cs typeface="Courier New"/>
              <a:sym typeface="Courier New"/>
            </a:endParaRPr>
          </a:p>
        </p:txBody>
      </p:sp>
      <p:sp>
        <p:nvSpPr>
          <p:cNvPr id="462" name="Google Shape;462;p52"/>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469" name="Google Shape;469;p53"/>
          <p:cNvSpPr txBox="1"/>
          <p:nvPr/>
        </p:nvSpPr>
        <p:spPr>
          <a:xfrm>
            <a:off x="179400" y="1216525"/>
            <a:ext cx="3801300" cy="10467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rPr>
              <a:t>Attack scenario: Write the number 100 to memory address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What input should the attacker supply?</a:t>
            </a:r>
            <a:endParaRPr/>
          </a:p>
        </p:txBody>
      </p:sp>
      <p:graphicFrame>
        <p:nvGraphicFramePr>
          <p:cNvPr id="470" name="Google Shape;470;p53"/>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71" name="Google Shape;471;p53"/>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
        <p:nvSpPr>
          <p:cNvPr id="472" name="Google Shape;472;p53"/>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8" name="Google Shape;478;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479" name="Google Shape;479;p54"/>
          <p:cNvSpPr txBox="1"/>
          <p:nvPr/>
        </p:nvSpPr>
        <p:spPr>
          <a:xfrm>
            <a:off x="179400" y="1216525"/>
            <a:ext cx="5355900" cy="20163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Recall: When </a:t>
            </a:r>
            <a:r>
              <a:rPr b="1" lang="en">
                <a:solidFill>
                  <a:schemeClr val="dk1"/>
                </a:solidFill>
                <a:latin typeface="Courier New"/>
                <a:ea typeface="Courier New"/>
                <a:cs typeface="Courier New"/>
                <a:sym typeface="Courier New"/>
              </a:rPr>
              <a:t>printf</a:t>
            </a:r>
            <a:r>
              <a:rPr lang="en">
                <a:solidFill>
                  <a:schemeClr val="dk1"/>
                </a:solidFill>
              </a:rPr>
              <a:t> sees a </a:t>
            </a:r>
            <a:r>
              <a:rPr b="1" lang="en">
                <a:solidFill>
                  <a:schemeClr val="dk1"/>
                </a:solidFill>
                <a:latin typeface="Courier New"/>
                <a:ea typeface="Courier New"/>
                <a:cs typeface="Courier New"/>
                <a:sym typeface="Courier New"/>
              </a:rPr>
              <a:t>%n</a:t>
            </a:r>
            <a:r>
              <a:rPr lang="en">
                <a:solidFill>
                  <a:schemeClr val="dk1"/>
                </a:solidFill>
              </a:rPr>
              <a:t>, it takes the next unused argument, treats it like an address, and writes </a:t>
            </a:r>
            <a:r>
              <a:rPr i="1" lang="en">
                <a:solidFill>
                  <a:schemeClr val="dk1"/>
                </a:solidFill>
              </a:rPr>
              <a:t>the number of bytes printed so far</a:t>
            </a:r>
            <a:r>
              <a:rPr lang="en">
                <a:solidFill>
                  <a:schemeClr val="dk1"/>
                </a:solidFill>
              </a:rPr>
              <a:t> to that address.</a:t>
            </a:r>
            <a:endParaRPr>
              <a:solidFill>
                <a:schemeClr val="dk1"/>
              </a:solidFill>
            </a:endParaRPr>
          </a:p>
          <a:p>
            <a:pPr indent="0" lvl="0" marL="0" rtl="0" algn="l">
              <a:spcBef>
                <a:spcPts val="0"/>
              </a:spcBef>
              <a:spcAft>
                <a:spcPts val="0"/>
              </a:spcAft>
              <a:buNone/>
            </a:pPr>
            <a:r>
              <a:t/>
            </a:r>
            <a:endParaRPr sz="700">
              <a:solidFill>
                <a:schemeClr val="dk1"/>
              </a:solidFill>
            </a:endParaRPr>
          </a:p>
          <a:p>
            <a:pPr indent="0" lvl="0" marL="0" rtl="0" algn="l">
              <a:spcBef>
                <a:spcPts val="0"/>
              </a:spcBef>
              <a:spcAft>
                <a:spcPts val="0"/>
              </a:spcAft>
              <a:buNone/>
            </a:pPr>
            <a:r>
              <a:rPr lang="en">
                <a:solidFill>
                  <a:schemeClr val="dk1"/>
                </a:solidFill>
              </a:rPr>
              <a:t>When </a:t>
            </a:r>
            <a:r>
              <a:rPr b="1" lang="en">
                <a:solidFill>
                  <a:schemeClr val="dk1"/>
                </a:solidFill>
                <a:latin typeface="Courier New"/>
                <a:ea typeface="Courier New"/>
                <a:cs typeface="Courier New"/>
                <a:sym typeface="Courier New"/>
              </a:rPr>
              <a:t>printf</a:t>
            </a:r>
            <a:r>
              <a:rPr lang="en">
                <a:solidFill>
                  <a:schemeClr val="dk1"/>
                </a:solidFill>
              </a:rPr>
              <a:t> sees the </a:t>
            </a:r>
            <a:r>
              <a:rPr b="1" lang="en">
                <a:solidFill>
                  <a:schemeClr val="dk1"/>
                </a:solidFill>
                <a:latin typeface="Courier New"/>
                <a:ea typeface="Courier New"/>
                <a:cs typeface="Courier New"/>
                <a:sym typeface="Courier New"/>
              </a:rPr>
              <a:t>%n</a:t>
            </a:r>
            <a:r>
              <a:rPr lang="en">
                <a:solidFill>
                  <a:schemeClr val="dk1"/>
                </a:solidFill>
              </a:rPr>
              <a:t>, two things need to be true: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p:txBody>
      </p:sp>
      <p:graphicFrame>
        <p:nvGraphicFramePr>
          <p:cNvPr id="480" name="Google Shape;480;p54"/>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81" name="Google Shape;481;p54"/>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sp>
        <p:nvSpPr>
          <p:cNvPr id="482" name="Google Shape;482;p54"/>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489" name="Google Shape;489;p55"/>
          <p:cNvSpPr txBox="1"/>
          <p:nvPr/>
        </p:nvSpPr>
        <p:spPr>
          <a:xfrm>
            <a:off x="179400" y="1216525"/>
            <a:ext cx="5355900" cy="1693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When </a:t>
            </a:r>
            <a:r>
              <a:rPr b="1" lang="en">
                <a:solidFill>
                  <a:schemeClr val="dk1"/>
                </a:solidFill>
                <a:latin typeface="Courier New"/>
                <a:ea typeface="Courier New"/>
                <a:cs typeface="Courier New"/>
                <a:sym typeface="Courier New"/>
              </a:rPr>
              <a:t>printf</a:t>
            </a:r>
            <a:r>
              <a:rPr lang="en">
                <a:solidFill>
                  <a:schemeClr val="dk1"/>
                </a:solidFill>
              </a:rPr>
              <a:t> sees the </a:t>
            </a:r>
            <a:r>
              <a:rPr b="1" lang="en">
                <a:solidFill>
                  <a:schemeClr val="dk1"/>
                </a:solidFill>
                <a:latin typeface="Courier New"/>
                <a:ea typeface="Courier New"/>
                <a:cs typeface="Courier New"/>
                <a:sym typeface="Courier New"/>
              </a:rPr>
              <a:t>%n</a:t>
            </a:r>
            <a:r>
              <a:rPr lang="en">
                <a:solidFill>
                  <a:schemeClr val="dk1"/>
                </a:solidFill>
              </a:rPr>
              <a:t>, two things need to be true: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Consider this exploit. What does it look like in memory?</a:t>
            </a:r>
            <a:endParaRPr>
              <a:solidFill>
                <a:schemeClr val="dk1"/>
              </a:solidFill>
            </a:endParaRPr>
          </a:p>
        </p:txBody>
      </p:sp>
      <p:graphicFrame>
        <p:nvGraphicFramePr>
          <p:cNvPr id="490" name="Google Shape;490;p55"/>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491" name="Google Shape;491;p55"/>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
        <p:nvSpPr>
          <p:cNvPr id="492" name="Google Shape;492;p55"/>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493" name="Google Shape;493;p55"/>
          <p:cNvGraphicFramePr/>
          <p:nvPr/>
        </p:nvGraphicFramePr>
        <p:xfrm>
          <a:off x="179400" y="3282675"/>
          <a:ext cx="3000000" cy="3000000"/>
        </p:xfrm>
        <a:graphic>
          <a:graphicData uri="http://schemas.openxmlformats.org/drawingml/2006/table">
            <a:tbl>
              <a:tblPr>
                <a:noFill/>
                <a:tableStyleId>{56312004-1CDE-497B-A12A-34C1020B5D77}</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9" name="Google Shape;499;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500" name="Google Shape;500;p56"/>
          <p:cNvSpPr txBox="1"/>
          <p:nvPr/>
        </p:nvSpPr>
        <p:spPr>
          <a:xfrm>
            <a:off x="179400" y="1216525"/>
            <a:ext cx="5355900" cy="12621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When writing to memory, the percent formatters take up multiple bytes of memory.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For example, </a:t>
            </a:r>
            <a:r>
              <a:rPr b="1" lang="en">
                <a:solidFill>
                  <a:schemeClr val="dk1"/>
                </a:solidFill>
                <a:latin typeface="Courier New"/>
                <a:ea typeface="Courier New"/>
                <a:cs typeface="Courier New"/>
                <a:sym typeface="Courier New"/>
              </a:rPr>
              <a:t>%94c</a:t>
            </a:r>
            <a:r>
              <a:rPr lang="en">
                <a:solidFill>
                  <a:schemeClr val="dk1"/>
                </a:solidFill>
              </a:rPr>
              <a:t> is 4 characters and takes up 4 bytes of memory.</a:t>
            </a:r>
            <a:endParaRPr>
              <a:solidFill>
                <a:schemeClr val="dk1"/>
              </a:solidFill>
            </a:endParaRPr>
          </a:p>
        </p:txBody>
      </p:sp>
      <p:sp>
        <p:nvSpPr>
          <p:cNvPr id="501" name="Google Shape;501;p56"/>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502" name="Google Shape;502;p56"/>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Clr>
                          <a:schemeClr val="dk1"/>
                        </a:buClr>
                        <a:buSzPts val="1100"/>
                        <a:buFont typeface="Arial"/>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03" name="Google Shape;503;p56"/>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504" name="Google Shape;504;p56"/>
          <p:cNvGraphicFramePr/>
          <p:nvPr/>
        </p:nvGraphicFramePr>
        <p:xfrm>
          <a:off x="179400" y="3282675"/>
          <a:ext cx="3000000" cy="3000000"/>
        </p:xfrm>
        <a:graphic>
          <a:graphicData uri="http://schemas.openxmlformats.org/drawingml/2006/table">
            <a:tbl>
              <a:tblPr>
                <a:noFill/>
                <a:tableStyleId>{56312004-1CDE-497B-A12A-34C1020B5D77}</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0" name="Google Shape;510;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511" name="Google Shape;511;p57"/>
          <p:cNvSpPr txBox="1"/>
          <p:nvPr/>
        </p:nvSpPr>
        <p:spPr>
          <a:xfrm>
            <a:off x="179400" y="1216525"/>
            <a:ext cx="5355900" cy="16932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Control </a:t>
            </a:r>
            <a:r>
              <a:rPr i="1" lang="en">
                <a:solidFill>
                  <a:schemeClr val="dk1"/>
                </a:solidFill>
              </a:rPr>
              <a:t>where</a:t>
            </a:r>
            <a:r>
              <a:rPr lang="en">
                <a:solidFill>
                  <a:schemeClr val="dk1"/>
                </a:solidFill>
              </a:rPr>
              <a:t> we write: The next unused argument on the stack should be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Each percent formatter “uses up” or “consumes” one argument on the stack.</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We added </a:t>
            </a:r>
            <a:r>
              <a:rPr b="1" lang="en">
                <a:solidFill>
                  <a:schemeClr val="dk1"/>
                </a:solidFill>
                <a:latin typeface="Courier New"/>
                <a:ea typeface="Courier New"/>
                <a:cs typeface="Courier New"/>
                <a:sym typeface="Courier New"/>
              </a:rPr>
              <a:t>%c</a:t>
            </a:r>
            <a:r>
              <a:rPr lang="en">
                <a:solidFill>
                  <a:schemeClr val="dk1"/>
                </a:solidFill>
              </a:rPr>
              <a:t> arguments to “consume” or “skip past” </a:t>
            </a:r>
            <a:r>
              <a:rPr b="1" lang="en">
                <a:solidFill>
                  <a:schemeClr val="dk1"/>
                </a:solidFill>
                <a:latin typeface="Courier New"/>
                <a:ea typeface="Courier New"/>
                <a:cs typeface="Courier New"/>
                <a:sym typeface="Courier New"/>
              </a:rPr>
              <a:t>str</a:t>
            </a:r>
            <a:r>
              <a:rPr lang="en">
                <a:solidFill>
                  <a:schemeClr val="dk1"/>
                </a:solidFill>
              </a:rPr>
              <a:t>, so that the </a:t>
            </a:r>
            <a:r>
              <a:rPr b="1" lang="en">
                <a:solidFill>
                  <a:schemeClr val="dk1"/>
                </a:solidFill>
                <a:latin typeface="Courier New"/>
                <a:ea typeface="Courier New"/>
                <a:cs typeface="Courier New"/>
                <a:sym typeface="Courier New"/>
              </a:rPr>
              <a:t>%n</a:t>
            </a:r>
            <a:r>
              <a:rPr lang="en">
                <a:solidFill>
                  <a:schemeClr val="dk1"/>
                </a:solidFill>
              </a:rPr>
              <a:t> argument aligns with arg4, where we put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p:txBody>
      </p:sp>
      <p:sp>
        <p:nvSpPr>
          <p:cNvPr id="512" name="Google Shape;512;p57"/>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513" name="Google Shape;513;p57"/>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14" name="Google Shape;514;p57"/>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graphicFrame>
        <p:nvGraphicFramePr>
          <p:cNvPr id="515" name="Google Shape;515;p57"/>
          <p:cNvGraphicFramePr/>
          <p:nvPr/>
        </p:nvGraphicFramePr>
        <p:xfrm>
          <a:off x="179400" y="3282675"/>
          <a:ext cx="3000000" cy="3000000"/>
        </p:xfrm>
        <a:graphic>
          <a:graphicData uri="http://schemas.openxmlformats.org/drawingml/2006/table">
            <a:tbl>
              <a:tblPr>
                <a:noFill/>
                <a:tableStyleId>{56312004-1CDE-497B-A12A-34C1020B5D77}</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522" name="Google Shape;522;p58"/>
          <p:cNvSpPr txBox="1"/>
          <p:nvPr/>
        </p:nvSpPr>
        <p:spPr>
          <a:xfrm>
            <a:off x="179400" y="1216525"/>
            <a:ext cx="5355900" cy="19086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Control </a:t>
            </a:r>
            <a:r>
              <a:rPr i="1" lang="en">
                <a:solidFill>
                  <a:schemeClr val="dk1"/>
                </a:solidFill>
              </a:rPr>
              <a:t>what</a:t>
            </a:r>
            <a:r>
              <a:rPr lang="en">
                <a:solidFill>
                  <a:schemeClr val="dk1"/>
                </a:solidFill>
              </a:rPr>
              <a:t> we write: </a:t>
            </a:r>
            <a:r>
              <a:rPr i="1" lang="en">
                <a:solidFill>
                  <a:schemeClr val="dk1"/>
                </a:solidFill>
              </a:rPr>
              <a:t>The number of bytes printed so far</a:t>
            </a:r>
            <a:r>
              <a:rPr lang="en">
                <a:solidFill>
                  <a:schemeClr val="dk1"/>
                </a:solidFill>
              </a:rPr>
              <a:t> should be 100.</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latin typeface="Courier New"/>
                <a:ea typeface="Courier New"/>
                <a:cs typeface="Courier New"/>
                <a:sym typeface="Courier New"/>
              </a:rPr>
              <a:t>%94c</a:t>
            </a:r>
            <a:r>
              <a:rPr lang="en">
                <a:solidFill>
                  <a:schemeClr val="dk1"/>
                </a:solidFill>
              </a:rPr>
              <a:t> prints the next argument on the stack as a character, padded to 94 bytes. (Also works if you switch 94 with other numbers.)</a:t>
            </a:r>
            <a:endParaRPr>
              <a:solidFill>
                <a:schemeClr val="dk1"/>
              </a:solidFill>
            </a:endParaRPr>
          </a:p>
          <a:p>
            <a:pPr indent="-317500" lvl="0" marL="457200" rtl="0" algn="l">
              <a:spcBef>
                <a:spcPts val="0"/>
              </a:spcBef>
              <a:spcAft>
                <a:spcPts val="0"/>
              </a:spcAft>
              <a:buClr>
                <a:schemeClr val="dk1"/>
              </a:buClr>
              <a:buSzPts val="1400"/>
              <a:buChar char="●"/>
            </a:pPr>
            <a:r>
              <a:rPr b="1" lang="en">
                <a:solidFill>
                  <a:schemeClr val="dk1"/>
                </a:solidFill>
                <a:latin typeface="Courier New"/>
                <a:ea typeface="Courier New"/>
                <a:cs typeface="Courier New"/>
                <a:sym typeface="Courier New"/>
              </a:rPr>
              <a:t>0xdeadbeef</a:t>
            </a:r>
            <a:r>
              <a:rPr lang="en">
                <a:solidFill>
                  <a:schemeClr val="dk1"/>
                </a:solidFill>
              </a:rPr>
              <a:t> and the </a:t>
            </a:r>
            <a:r>
              <a:rPr b="1" lang="en">
                <a:solidFill>
                  <a:schemeClr val="dk1"/>
                </a:solidFill>
                <a:latin typeface="Courier New"/>
                <a:ea typeface="Courier New"/>
                <a:cs typeface="Courier New"/>
                <a:sym typeface="Courier New"/>
              </a:rPr>
              <a:t>%c</a:t>
            </a:r>
            <a:r>
              <a:rPr lang="en">
                <a:solidFill>
                  <a:schemeClr val="dk1"/>
                </a:solidFill>
              </a:rPr>
              <a:t> formatters also caused characters to be printed, so we needed 100–4–1–1 = 94 padding bytes.</a:t>
            </a:r>
            <a:endParaRPr>
              <a:solidFill>
                <a:schemeClr val="dk1"/>
              </a:solidFill>
            </a:endParaRPr>
          </a:p>
        </p:txBody>
      </p:sp>
      <p:graphicFrame>
        <p:nvGraphicFramePr>
          <p:cNvPr id="523" name="Google Shape;523;p58"/>
          <p:cNvGraphicFramePr/>
          <p:nvPr/>
        </p:nvGraphicFramePr>
        <p:xfrm>
          <a:off x="179400" y="3282675"/>
          <a:ext cx="3000000" cy="3000000"/>
        </p:xfrm>
        <a:graphic>
          <a:graphicData uri="http://schemas.openxmlformats.org/drawingml/2006/table">
            <a:tbl>
              <a:tblPr>
                <a:noFill/>
                <a:tableStyleId>{56312004-1CDE-497B-A12A-34C1020B5D77}</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bytes printed: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94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24" name="Google Shape;524;p58"/>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525" name="Google Shape;525;p58"/>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26" name="Google Shape;526;p58"/>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Write 100 to </a:t>
            </a:r>
            <a:r>
              <a:rPr b="1" lang="en">
                <a:latin typeface="Courier New"/>
                <a:ea typeface="Courier New"/>
                <a:cs typeface="Courier New"/>
                <a:sym typeface="Courier New"/>
              </a:rPr>
              <a:t>0xdeadbeef</a:t>
            </a:r>
            <a:endParaRPr b="1">
              <a:latin typeface="Courier New"/>
              <a:ea typeface="Courier New"/>
              <a:cs typeface="Courier New"/>
              <a:sym typeface="Courier New"/>
            </a:endParaRPr>
          </a:p>
        </p:txBody>
      </p:sp>
      <p:sp>
        <p:nvSpPr>
          <p:cNvPr id="533" name="Google Shape;533;p59"/>
          <p:cNvSpPr txBox="1"/>
          <p:nvPr/>
        </p:nvSpPr>
        <p:spPr>
          <a:xfrm>
            <a:off x="179400" y="1216525"/>
            <a:ext cx="5355900" cy="1262100"/>
          </a:xfrm>
          <a:prstGeom prst="rect">
            <a:avLst/>
          </a:prstGeom>
          <a:solidFill>
            <a:schemeClr val="accent4"/>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How would you modify this exploit to write to address </a:t>
            </a:r>
            <a:r>
              <a:rPr b="1" lang="en">
                <a:solidFill>
                  <a:schemeClr val="dk1"/>
                </a:solidFill>
                <a:latin typeface="Courier New"/>
                <a:ea typeface="Courier New"/>
                <a:cs typeface="Courier New"/>
                <a:sym typeface="Courier New"/>
              </a:rPr>
              <a:t>0xbfff1234</a:t>
            </a:r>
            <a:r>
              <a:rPr lang="en">
                <a:solidFill>
                  <a:schemeClr val="dk1"/>
                </a:solidFill>
              </a:rPr>
              <a:t> instead of </a:t>
            </a:r>
            <a:r>
              <a:rPr b="1" lang="en">
                <a:solidFill>
                  <a:schemeClr val="dk1"/>
                </a:solidFill>
                <a:latin typeface="Courier New"/>
                <a:ea typeface="Courier New"/>
                <a:cs typeface="Courier New"/>
                <a:sym typeface="Courier New"/>
              </a:rPr>
              <a:t>0xdeadbeef</a:t>
            </a:r>
            <a:r>
              <a:rPr lang="en">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How would you modify this exploit to write 89 to </a:t>
            </a:r>
            <a:r>
              <a:rPr b="1" lang="en">
                <a:solidFill>
                  <a:schemeClr val="dk1"/>
                </a:solidFill>
                <a:latin typeface="Courier New"/>
                <a:ea typeface="Courier New"/>
                <a:cs typeface="Courier New"/>
                <a:sym typeface="Courier New"/>
              </a:rPr>
              <a:t>0xbfff1234 </a:t>
            </a:r>
            <a:r>
              <a:rPr lang="en">
                <a:solidFill>
                  <a:schemeClr val="dk1"/>
                </a:solidFill>
              </a:rPr>
              <a:t>instead of writing 100?</a:t>
            </a:r>
            <a:endParaRPr>
              <a:solidFill>
                <a:schemeClr val="dk1"/>
              </a:solidFill>
            </a:endParaRPr>
          </a:p>
        </p:txBody>
      </p:sp>
      <p:graphicFrame>
        <p:nvGraphicFramePr>
          <p:cNvPr id="534" name="Google Shape;534;p59"/>
          <p:cNvGraphicFramePr/>
          <p:nvPr/>
        </p:nvGraphicFramePr>
        <p:xfrm>
          <a:off x="179400" y="3282675"/>
          <a:ext cx="3000000" cy="3000000"/>
        </p:xfrm>
        <a:graphic>
          <a:graphicData uri="http://schemas.openxmlformats.org/drawingml/2006/table">
            <a:tbl>
              <a:tblPr>
                <a:noFill/>
                <a:tableStyleId>{56312004-1CDE-497B-A12A-34C1020B5D77}</a:tableStyleId>
              </a:tblPr>
              <a:tblGrid>
                <a:gridCol w="1653550"/>
                <a:gridCol w="1265175"/>
                <a:gridCol w="713425"/>
                <a:gridCol w="588825"/>
                <a:gridCol w="559375"/>
                <a:gridCol w="575525"/>
              </a:tblGrid>
              <a:tr h="423300">
                <a:tc>
                  <a:txBody>
                    <a:bodyPr/>
                    <a:lstStyle/>
                    <a:p>
                      <a:pPr indent="0" lvl="0" marL="0" rtl="0" algn="l">
                        <a:spcBef>
                          <a:spcPts val="0"/>
                        </a:spcBef>
                        <a:spcAft>
                          <a:spcPts val="0"/>
                        </a:spcAft>
                        <a:buNone/>
                      </a:pPr>
                      <a:r>
                        <a:rPr lang="en"/>
                        <a:t>Input: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0xdeadbeef</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%94c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%c</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a:latin typeface="Courier New"/>
                          <a:ea typeface="Courier New"/>
                          <a:cs typeface="Courier New"/>
                          <a:sym typeface="Courier New"/>
                        </a:rPr>
                        <a:t>%n</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chars used: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2</a:t>
                      </a:r>
                      <a:endParaRPr b="1">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Consumes: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N/A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arg4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23300">
                <a:tc>
                  <a:txBody>
                    <a:bodyPr/>
                    <a:lstStyle/>
                    <a:p>
                      <a:pPr indent="0" lvl="0" marL="0" rtl="0" algn="l">
                        <a:spcBef>
                          <a:spcPts val="0"/>
                        </a:spcBef>
                        <a:spcAft>
                          <a:spcPts val="0"/>
                        </a:spcAft>
                        <a:buNone/>
                      </a:pPr>
                      <a:r>
                        <a:rPr lang="en"/>
                        <a:t># bytes printed:</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94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35" name="Google Shape;535;p59"/>
          <p:cNvSpPr txBox="1"/>
          <p:nvPr/>
        </p:nvSpPr>
        <p:spPr>
          <a:xfrm>
            <a:off x="6286363" y="38818"/>
            <a:ext cx="2324700" cy="11082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void vulnerable(void) {</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buf[16];</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char str[12];</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fgets(buf, 16, stdin);</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	printf(buf);</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p:txBody>
      </p:sp>
      <p:graphicFrame>
        <p:nvGraphicFramePr>
          <p:cNvPr id="536" name="Google Shape;536;p59"/>
          <p:cNvGraphicFramePr/>
          <p:nvPr/>
        </p:nvGraphicFramePr>
        <p:xfrm>
          <a:off x="6286375" y="1301050"/>
          <a:ext cx="3000000" cy="3000000"/>
        </p:xfrm>
        <a:graphic>
          <a:graphicData uri="http://schemas.openxmlformats.org/drawingml/2006/table">
            <a:tbl>
              <a:tblPr>
                <a:noFill/>
                <a:tableStyleId>{56312004-1CDE-497B-A12A-34C1020B5D77}</a:tableStyleId>
              </a:tblPr>
              <a:tblGrid>
                <a:gridCol w="437225"/>
                <a:gridCol w="437225"/>
                <a:gridCol w="437225"/>
                <a:gridCol w="549800"/>
                <a:gridCol w="655350"/>
              </a:tblGrid>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CCCCC"/>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vulnerable</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%n\0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arg7</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%c%c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arg6</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%94c</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arg5</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l">
                        <a:spcBef>
                          <a:spcPts val="0"/>
                        </a:spcBef>
                        <a:spcAft>
                          <a:spcPts val="0"/>
                        </a:spcAft>
                        <a:buNone/>
                      </a:pPr>
                      <a:r>
                        <a:rPr b="1" lang="en" sz="1000">
                          <a:solidFill>
                            <a:srgbClr val="9E9E9E"/>
                          </a:solidFill>
                          <a:latin typeface="Courier New"/>
                          <a:ea typeface="Courier New"/>
                          <a:cs typeface="Courier New"/>
                          <a:sym typeface="Courier New"/>
                        </a:rPr>
                        <a:t>  (buf)</a:t>
                      </a:r>
                      <a:r>
                        <a:rPr b="1" lang="en" sz="1000">
                          <a:solidFill>
                            <a:schemeClr val="dk1"/>
                          </a:solidFill>
                          <a:latin typeface="Courier New"/>
                          <a:ea typeface="Courier New"/>
                          <a:cs typeface="Courier New"/>
                          <a:sym typeface="Courier New"/>
                        </a:rPr>
                        <a:t>   0xdeadbeef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arg4</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arg3</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arg2</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str</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arg1</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buf (arg to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rPr lang="en" sz="1000">
                          <a:solidFill>
                            <a:schemeClr val="dk1"/>
                          </a:solidFill>
                        </a:rPr>
                        <a:t>arg0</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RIP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152550">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SFP for printf</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83175">
                <a:tc gridSpan="4">
                  <a:txBody>
                    <a:bodyPr/>
                    <a:lstStyle/>
                    <a:p>
                      <a:pPr indent="0" lvl="0" marL="0" rtl="0" algn="ctr">
                        <a:spcBef>
                          <a:spcPts val="0"/>
                        </a:spcBef>
                        <a:spcAft>
                          <a:spcPts val="0"/>
                        </a:spcAft>
                        <a:buNone/>
                      </a:pPr>
                      <a:r>
                        <a:rPr b="1" lang="en" sz="1000">
                          <a:solidFill>
                            <a:schemeClr val="dk1"/>
                          </a:solidFill>
                          <a:latin typeface="Courier New"/>
                          <a:ea typeface="Courier New"/>
                          <a:cs typeface="Courier New"/>
                          <a:sym typeface="Courier New"/>
                        </a:rPr>
                        <a:t>[printf frame]</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EEEEE"/>
                    </a:solidFill>
                  </a:tcPr>
                </a:tc>
                <a:tc hMerge="1"/>
                <a:tc hMerge="1"/>
                <a:tc hMerge="1"/>
                <a:tc>
                  <a:txBody>
                    <a:bodyPr/>
                    <a:lstStyle/>
                    <a:p>
                      <a:pPr indent="0" lvl="0" marL="0" rtl="0" algn="ctr">
                        <a:spcBef>
                          <a:spcPts val="0"/>
                        </a:spcBef>
                        <a:spcAft>
                          <a:spcPts val="0"/>
                        </a:spcAft>
                        <a:buNone/>
                      </a:pPr>
                      <a:r>
                        <a:t/>
                      </a:r>
                      <a:endParaRPr b="1" sz="1000">
                        <a:solidFill>
                          <a:schemeClr val="dk1"/>
                        </a:solidFill>
                        <a:latin typeface="Courier New"/>
                        <a:ea typeface="Courier New"/>
                        <a:cs typeface="Courier New"/>
                        <a:sym typeface="Courier New"/>
                      </a:endParaRPr>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37" name="Google Shape;537;p59"/>
          <p:cNvSpPr/>
          <p:nvPr/>
        </p:nvSpPr>
        <p:spPr>
          <a:xfrm flipH="1" rot="10800000">
            <a:off x="5973000" y="2880368"/>
            <a:ext cx="313372" cy="972479"/>
          </a:xfrm>
          <a:custGeom>
            <a:rect b="b" l="l" r="r" t="t"/>
            <a:pathLst>
              <a:path extrusionOk="0" h="58539" w="11083">
                <a:moveTo>
                  <a:pt x="11083" y="0"/>
                </a:moveTo>
                <a:lnTo>
                  <a:pt x="0" y="0"/>
                </a:lnTo>
                <a:lnTo>
                  <a:pt x="0" y="58539"/>
                </a:lnTo>
                <a:lnTo>
                  <a:pt x="9378" y="58539"/>
                </a:ln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Format String Vulnerabilities: Defense</a:t>
            </a:r>
            <a:endParaRPr/>
          </a:p>
        </p:txBody>
      </p:sp>
      <p:sp>
        <p:nvSpPr>
          <p:cNvPr id="543" name="Google Shape;543;p60"/>
          <p:cNvSpPr txBox="1"/>
          <p:nvPr/>
        </p:nvSpPr>
        <p:spPr>
          <a:xfrm>
            <a:off x="2109750" y="1481825"/>
            <a:ext cx="4924500" cy="16623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void vulnerable(void) {</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char buf[64];</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if (fgets(buf, 64, stdin) == NULL)</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return;</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    printf("%s", buf);</a:t>
            </a:r>
            <a:endParaRPr b="1" sz="1600">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sz="1600">
                <a:solidFill>
                  <a:schemeClr val="dk1"/>
                </a:solidFill>
                <a:latin typeface="Courier New"/>
                <a:ea typeface="Courier New"/>
                <a:cs typeface="Courier New"/>
                <a:sym typeface="Courier New"/>
              </a:rPr>
              <a:t>}</a:t>
            </a:r>
            <a:endParaRPr b="1" sz="1600">
              <a:solidFill>
                <a:schemeClr val="dk1"/>
              </a:solidFill>
              <a:latin typeface="Courier New"/>
              <a:ea typeface="Courier New"/>
              <a:cs typeface="Courier New"/>
              <a:sym typeface="Courier New"/>
            </a:endParaRPr>
          </a:p>
        </p:txBody>
      </p:sp>
      <p:sp>
        <p:nvSpPr>
          <p:cNvPr id="544" name="Google Shape;544;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45" name="Google Shape;545;p60"/>
          <p:cNvGrpSpPr/>
          <p:nvPr/>
        </p:nvGrpSpPr>
        <p:grpSpPr>
          <a:xfrm>
            <a:off x="3469800" y="2842950"/>
            <a:ext cx="3063000" cy="1261025"/>
            <a:chOff x="3469800" y="2842950"/>
            <a:chExt cx="3063000" cy="1261025"/>
          </a:xfrm>
        </p:grpSpPr>
        <p:cxnSp>
          <p:nvCxnSpPr>
            <p:cNvPr id="546" name="Google Shape;546;p60"/>
            <p:cNvCxnSpPr/>
            <p:nvPr/>
          </p:nvCxnSpPr>
          <p:spPr>
            <a:xfrm rot="10800000">
              <a:off x="3764225" y="2842950"/>
              <a:ext cx="0" cy="803700"/>
            </a:xfrm>
            <a:prstGeom prst="straightConnector1">
              <a:avLst/>
            </a:prstGeom>
            <a:noFill/>
            <a:ln cap="flat" cmpd="sng" w="19050">
              <a:solidFill>
                <a:srgbClr val="E69138"/>
              </a:solidFill>
              <a:prstDash val="solid"/>
              <a:round/>
              <a:headEnd len="med" w="med" type="none"/>
              <a:tailEnd len="med" w="med" type="triangle"/>
            </a:ln>
          </p:spPr>
        </p:cxnSp>
        <p:sp>
          <p:nvSpPr>
            <p:cNvPr id="547" name="Google Shape;547;p60"/>
            <p:cNvSpPr txBox="1"/>
            <p:nvPr/>
          </p:nvSpPr>
          <p:spPr>
            <a:xfrm>
              <a:off x="3469800" y="3488375"/>
              <a:ext cx="30630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Never use untrusted input in the first argument to </a:t>
              </a:r>
              <a:r>
                <a:rPr b="1" lang="en">
                  <a:latin typeface="Courier New"/>
                  <a:ea typeface="Courier New"/>
                  <a:cs typeface="Courier New"/>
                  <a:sym typeface="Courier New"/>
                </a:rPr>
                <a:t>printf</a:t>
              </a:r>
              <a:r>
                <a:rPr lang="en"/>
                <a:t>.</a:t>
              </a:r>
              <a:endParaRPr/>
            </a:p>
          </p:txBody>
        </p:sp>
      </p:grpSp>
      <p:sp>
        <p:nvSpPr>
          <p:cNvPr id="548" name="Google Shape;548;p60"/>
          <p:cNvSpPr txBox="1"/>
          <p:nvPr/>
        </p:nvSpPr>
        <p:spPr>
          <a:xfrm>
            <a:off x="3971250" y="4047625"/>
            <a:ext cx="30630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the attacker can't make the number of arguments mismatched!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Memory Safety Vulnerabilities</a:t>
            </a:r>
            <a:endParaRPr/>
          </a:p>
        </p:txBody>
      </p:sp>
      <p:sp>
        <p:nvSpPr>
          <p:cNvPr id="554" name="Google Shape;554;p6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Buffer overflows</a:t>
            </a:r>
            <a:r>
              <a:rPr lang="en"/>
              <a:t>: An attacker overwrites unintended parts of memory</a:t>
            </a:r>
            <a:endParaRPr/>
          </a:p>
          <a:p>
            <a:pPr indent="-317500" lvl="1" marL="914400" rtl="0" algn="l">
              <a:spcBef>
                <a:spcPts val="0"/>
              </a:spcBef>
              <a:spcAft>
                <a:spcPts val="0"/>
              </a:spcAft>
              <a:buSzPts val="1400"/>
              <a:buChar char="○"/>
            </a:pPr>
            <a:r>
              <a:rPr b="1" lang="en"/>
              <a:t>Stack smashing</a:t>
            </a:r>
            <a:r>
              <a:rPr lang="en"/>
              <a:t>: An attacker overwrites saved registers on the stack</a:t>
            </a:r>
            <a:endParaRPr/>
          </a:p>
          <a:p>
            <a:pPr indent="-317500" lvl="1" marL="914400" rtl="0" algn="l">
              <a:spcBef>
                <a:spcPts val="0"/>
              </a:spcBef>
              <a:spcAft>
                <a:spcPts val="0"/>
              </a:spcAft>
              <a:buSzPts val="1400"/>
              <a:buChar char="○"/>
            </a:pPr>
            <a:r>
              <a:rPr b="1" lang="en"/>
              <a:t>Memory-safe code</a:t>
            </a:r>
            <a:r>
              <a:rPr lang="en"/>
              <a:t>: Fixing code to avoid buffer overflows</a:t>
            </a:r>
            <a:endParaRPr/>
          </a:p>
          <a:p>
            <a:pPr indent="-342900" lvl="0" marL="457200" rtl="0" algn="l">
              <a:spcBef>
                <a:spcPts val="0"/>
              </a:spcBef>
              <a:spcAft>
                <a:spcPts val="0"/>
              </a:spcAft>
              <a:buSzPts val="1800"/>
              <a:buChar char="●"/>
            </a:pPr>
            <a:r>
              <a:rPr b="1" lang="en"/>
              <a:t>Integer memory safety vulnerabilities</a:t>
            </a:r>
            <a:r>
              <a:rPr lang="en"/>
              <a:t>: An attacker exploits how integers are represented in C memory</a:t>
            </a:r>
            <a:endParaRPr/>
          </a:p>
          <a:p>
            <a:pPr indent="-342900" lvl="0" marL="457200" rtl="0" algn="l">
              <a:spcBef>
                <a:spcPts val="0"/>
              </a:spcBef>
              <a:spcAft>
                <a:spcPts val="0"/>
              </a:spcAft>
              <a:buSzPts val="1800"/>
              <a:buChar char="●"/>
            </a:pPr>
            <a:r>
              <a:rPr b="1" lang="en"/>
              <a:t>Format string vulnerabilities</a:t>
            </a:r>
            <a:r>
              <a:rPr lang="en"/>
              <a:t>: An attacker exploits the arguments to printf</a:t>
            </a:r>
            <a:endParaRPr/>
          </a:p>
          <a:p>
            <a:pPr indent="-342900" lvl="0" marL="457200" rtl="0" algn="l">
              <a:spcBef>
                <a:spcPts val="0"/>
              </a:spcBef>
              <a:spcAft>
                <a:spcPts val="0"/>
              </a:spcAft>
              <a:buSzPts val="1800"/>
              <a:buChar char="●"/>
            </a:pPr>
            <a:r>
              <a:rPr b="1" lang="en"/>
              <a:t>Writing robust exploits</a:t>
            </a:r>
            <a:r>
              <a:rPr lang="en"/>
              <a:t>: Making exploits work in different environments by using NOP sleds</a:t>
            </a:r>
            <a:endParaRPr/>
          </a:p>
        </p:txBody>
      </p:sp>
      <p:sp>
        <p:nvSpPr>
          <p:cNvPr id="555" name="Google Shape;555;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Defending Against Memory Safety Vulnerabilities</a:t>
            </a:r>
            <a:endParaRPr/>
          </a:p>
        </p:txBody>
      </p:sp>
      <p:sp>
        <p:nvSpPr>
          <p:cNvPr id="561" name="Google Shape;561;p6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are some approaches to defending against memory safety vulnerabilities?</a:t>
            </a:r>
            <a:endParaRPr/>
          </a:p>
          <a:p>
            <a:pPr indent="-317500" lvl="1" marL="914400" rtl="0" algn="l">
              <a:spcBef>
                <a:spcPts val="0"/>
              </a:spcBef>
              <a:spcAft>
                <a:spcPts val="0"/>
              </a:spcAft>
              <a:buSzPts val="1400"/>
              <a:buChar char="○"/>
            </a:pPr>
            <a:r>
              <a:rPr lang="en"/>
              <a:t>Use safer programming languages.</a:t>
            </a:r>
            <a:endParaRPr/>
          </a:p>
          <a:p>
            <a:pPr indent="-317500" lvl="2" marL="1371600" rtl="0" algn="l">
              <a:spcBef>
                <a:spcPts val="0"/>
              </a:spcBef>
              <a:spcAft>
                <a:spcPts val="0"/>
              </a:spcAft>
              <a:buSzPts val="1400"/>
              <a:buChar char="■"/>
            </a:pPr>
            <a:r>
              <a:rPr lang="en"/>
              <a:t>Languages that automatically check bounds and prevent unsafe memory access (e.g., Java, Python, Rust, Go, C#).</a:t>
            </a:r>
            <a:endParaRPr/>
          </a:p>
          <a:p>
            <a:pPr indent="-317500" lvl="1" marL="914400" rtl="0" algn="l">
              <a:spcBef>
                <a:spcPts val="0"/>
              </a:spcBef>
              <a:spcAft>
                <a:spcPts val="0"/>
              </a:spcAft>
              <a:buSzPts val="1400"/>
              <a:buChar char="○"/>
            </a:pPr>
            <a:r>
              <a:rPr lang="en"/>
              <a:t>Learn to write memory-safe code.</a:t>
            </a:r>
            <a:endParaRPr/>
          </a:p>
          <a:p>
            <a:pPr indent="-317500" lvl="2" marL="1371600" rtl="0" algn="l">
              <a:spcBef>
                <a:spcPts val="0"/>
              </a:spcBef>
              <a:spcAft>
                <a:spcPts val="0"/>
              </a:spcAft>
              <a:buSzPts val="1400"/>
              <a:buChar char="■"/>
            </a:pPr>
            <a:r>
              <a:rPr lang="en"/>
              <a:t>Use safe libraries: fgets, strncpy, snprintf, etc.</a:t>
            </a:r>
            <a:endParaRPr/>
          </a:p>
          <a:p>
            <a:pPr indent="-317500" lvl="1" marL="914400" rtl="0" algn="l">
              <a:spcBef>
                <a:spcPts val="0"/>
              </a:spcBef>
              <a:spcAft>
                <a:spcPts val="0"/>
              </a:spcAft>
              <a:buSzPts val="1400"/>
              <a:buChar char="○"/>
            </a:pPr>
            <a:r>
              <a:rPr lang="en"/>
              <a:t>Use tools for analyzing and patching insecure code.</a:t>
            </a:r>
            <a:endParaRPr/>
          </a:p>
          <a:p>
            <a:pPr indent="-317500" lvl="2" marL="1371600" rtl="0" algn="l">
              <a:spcBef>
                <a:spcPts val="0"/>
              </a:spcBef>
              <a:spcAft>
                <a:spcPts val="0"/>
              </a:spcAft>
              <a:buSzPts val="1400"/>
              <a:buChar char="■"/>
            </a:pPr>
            <a:r>
              <a:rPr lang="en"/>
              <a:t>Penetration testing ⇒ Pay someone to break your system</a:t>
            </a:r>
            <a:endParaRPr/>
          </a:p>
          <a:p>
            <a:pPr indent="-317500" lvl="2" marL="1371600" rtl="0" algn="l">
              <a:spcBef>
                <a:spcPts val="0"/>
              </a:spcBef>
              <a:spcAft>
                <a:spcPts val="0"/>
              </a:spcAft>
              <a:buSzPts val="1400"/>
              <a:buChar char="■"/>
            </a:pPr>
            <a:r>
              <a:rPr lang="en"/>
              <a:t>Fuzz testing</a:t>
            </a:r>
            <a:r>
              <a:rPr lang="en"/>
              <a:t> ⇒ Random inputs</a:t>
            </a:r>
            <a:endParaRPr/>
          </a:p>
          <a:p>
            <a:pPr indent="-317500" lvl="2" marL="1371600" rtl="0" algn="l">
              <a:spcBef>
                <a:spcPts val="0"/>
              </a:spcBef>
              <a:spcAft>
                <a:spcPts val="0"/>
              </a:spcAft>
              <a:buSzPts val="1400"/>
              <a:buChar char="■"/>
            </a:pPr>
            <a:r>
              <a:rPr lang="en"/>
              <a:t>Valgrind, code reviews.</a:t>
            </a:r>
            <a:endParaRPr/>
          </a:p>
        </p:txBody>
      </p:sp>
      <p:sp>
        <p:nvSpPr>
          <p:cNvPr id="562" name="Google Shape;562;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Defending Against Memory Safety Vulnerabilities</a:t>
            </a:r>
            <a:endParaRPr/>
          </a:p>
        </p:txBody>
      </p:sp>
      <p:sp>
        <p:nvSpPr>
          <p:cNvPr id="568" name="Google Shape;568;p6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Add mitigations that make it harder to exploit common vulnerabilities.</a:t>
            </a:r>
            <a:endParaRPr/>
          </a:p>
          <a:p>
            <a:pPr indent="-317500" lvl="1" marL="914400" rtl="0" algn="l">
              <a:spcBef>
                <a:spcPts val="0"/>
              </a:spcBef>
              <a:spcAft>
                <a:spcPts val="0"/>
              </a:spcAft>
              <a:buSzPts val="1400"/>
              <a:buChar char="○"/>
            </a:pPr>
            <a:r>
              <a:rPr lang="en"/>
              <a:t>Non-Executable Pages (DEP/W^X) </a:t>
            </a:r>
            <a:endParaRPr/>
          </a:p>
          <a:p>
            <a:pPr indent="-317500" lvl="2" marL="1371600" rtl="0" algn="l">
              <a:spcBef>
                <a:spcPts val="0"/>
              </a:spcBef>
              <a:spcAft>
                <a:spcPts val="0"/>
              </a:spcAft>
              <a:buSzPts val="1400"/>
              <a:buChar char="■"/>
            </a:pPr>
            <a:r>
              <a:rPr lang="en"/>
              <a:t>Also known as: </a:t>
            </a:r>
            <a:r>
              <a:rPr b="1" lang="en"/>
              <a:t>W^X</a:t>
            </a:r>
            <a:r>
              <a:rPr lang="en"/>
              <a:t> (write XOR execute), </a:t>
            </a:r>
            <a:r>
              <a:rPr b="1" lang="en"/>
              <a:t>DEP</a:t>
            </a:r>
            <a:r>
              <a:rPr lang="en"/>
              <a:t> (Data Execution Prevention)</a:t>
            </a:r>
            <a:endParaRPr/>
          </a:p>
          <a:p>
            <a:pPr indent="-317500" lvl="2" marL="1371600" rtl="0" algn="l">
              <a:spcBef>
                <a:spcPts val="0"/>
              </a:spcBef>
              <a:spcAft>
                <a:spcPts val="0"/>
              </a:spcAft>
              <a:buSzPts val="1400"/>
              <a:buChar char="■"/>
            </a:pPr>
            <a:r>
              <a:rPr lang="en"/>
              <a:t>Memory is either writable or executable, not both.</a:t>
            </a:r>
            <a:endParaRPr/>
          </a:p>
          <a:p>
            <a:pPr indent="-317500" lvl="2" marL="1371600" rtl="0" algn="l">
              <a:spcBef>
                <a:spcPts val="0"/>
              </a:spcBef>
              <a:spcAft>
                <a:spcPts val="0"/>
              </a:spcAft>
              <a:buSzPts val="1400"/>
              <a:buChar char="■"/>
            </a:pPr>
            <a:r>
              <a:rPr lang="en"/>
              <a:t>Page table entries have a writable bit and an executable bit that can be set to achieve this behavior</a:t>
            </a:r>
            <a:endParaRPr/>
          </a:p>
          <a:p>
            <a:pPr indent="-317500" lvl="1" marL="914400" rtl="0" algn="l">
              <a:spcBef>
                <a:spcPts val="0"/>
              </a:spcBef>
              <a:spcAft>
                <a:spcPts val="0"/>
              </a:spcAft>
              <a:buSzPts val="1400"/>
              <a:buChar char="○"/>
            </a:pPr>
            <a:r>
              <a:rPr lang="en"/>
              <a:t>Stack Canaries</a:t>
            </a:r>
            <a:endParaRPr/>
          </a:p>
          <a:p>
            <a:pPr indent="-317500" lvl="2" marL="1371600" rtl="0" algn="l">
              <a:spcBef>
                <a:spcPts val="0"/>
              </a:spcBef>
              <a:spcAft>
                <a:spcPts val="0"/>
              </a:spcAft>
              <a:buSzPts val="1400"/>
              <a:buChar char="■"/>
            </a:pPr>
            <a:r>
              <a:rPr lang="en"/>
              <a:t>Special value on stack checked before return.</a:t>
            </a:r>
            <a:endParaRPr/>
          </a:p>
          <a:p>
            <a:pPr indent="-317500" lvl="2" marL="1371600" rtl="0" algn="l">
              <a:spcBef>
                <a:spcPts val="0"/>
              </a:spcBef>
              <a:spcAft>
                <a:spcPts val="0"/>
              </a:spcAft>
              <a:buSzPts val="1400"/>
              <a:buChar char="■"/>
            </a:pPr>
            <a:r>
              <a:rPr lang="en"/>
              <a:t>If this value changes, crash the program.</a:t>
            </a:r>
            <a:endParaRPr/>
          </a:p>
          <a:p>
            <a:pPr indent="-317500" lvl="1" marL="914400" rtl="0" algn="l">
              <a:spcBef>
                <a:spcPts val="0"/>
              </a:spcBef>
              <a:spcAft>
                <a:spcPts val="0"/>
              </a:spcAft>
              <a:buSzPts val="1400"/>
              <a:buChar char="○"/>
            </a:pPr>
            <a:r>
              <a:rPr lang="en"/>
              <a:t>ASLR: Address Space Layout Randomization</a:t>
            </a:r>
            <a:endParaRPr/>
          </a:p>
          <a:p>
            <a:pPr indent="-317500" lvl="2" marL="1371600" rtl="0" algn="l">
              <a:spcBef>
                <a:spcPts val="0"/>
              </a:spcBef>
              <a:spcAft>
                <a:spcPts val="0"/>
              </a:spcAft>
              <a:buSzPts val="1400"/>
              <a:buChar char="■"/>
            </a:pPr>
            <a:r>
              <a:rPr lang="en"/>
              <a:t>Put each segment of memory in a different, random location each time the program is run</a:t>
            </a:r>
            <a:endParaRPr/>
          </a:p>
          <a:p>
            <a:pPr indent="-317500" lvl="2" marL="1371600" rtl="0" algn="l">
              <a:spcBef>
                <a:spcPts val="0"/>
              </a:spcBef>
              <a:spcAft>
                <a:spcPts val="0"/>
              </a:spcAft>
              <a:buSzPts val="1400"/>
              <a:buChar char="■"/>
            </a:pPr>
            <a:r>
              <a:rPr lang="en"/>
              <a:t>ASLR can shuffle all four segments of memory</a:t>
            </a:r>
            <a:endParaRPr/>
          </a:p>
        </p:txBody>
      </p:sp>
      <p:pic>
        <p:nvPicPr>
          <p:cNvPr id="569" name="Google Shape;569;p63"/>
          <p:cNvPicPr preferRelativeResize="0"/>
          <p:nvPr/>
        </p:nvPicPr>
        <p:blipFill>
          <a:blip r:embed="rId3">
            <a:alphaModFix/>
          </a:blip>
          <a:stretch>
            <a:fillRect/>
          </a:stretch>
        </p:blipFill>
        <p:spPr>
          <a:xfrm>
            <a:off x="5681550" y="2672175"/>
            <a:ext cx="1817923" cy="1134400"/>
          </a:xfrm>
          <a:prstGeom prst="rect">
            <a:avLst/>
          </a:prstGeom>
          <a:noFill/>
          <a:ln>
            <a:noFill/>
          </a:ln>
        </p:spPr>
      </p:pic>
      <p:sp>
        <p:nvSpPr>
          <p:cNvPr id="570" name="Google Shape;570;p63"/>
          <p:cNvSpPr txBox="1"/>
          <p:nvPr/>
        </p:nvSpPr>
        <p:spPr>
          <a:xfrm>
            <a:off x="7697325" y="2991400"/>
            <a:ext cx="1463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Read here</a:t>
            </a:r>
            <a:r>
              <a:rPr lang="en" sz="1100">
                <a:solidFill>
                  <a:schemeClr val="dk1"/>
                </a:solidFill>
              </a:rPr>
              <a:t> if you are interested to learn more about canaries</a:t>
            </a:r>
            <a:endParaRPr sz="11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x86 Memory Layout</a:t>
            </a:r>
            <a:endParaRPr/>
          </a:p>
        </p:txBody>
      </p:sp>
      <p:sp>
        <p:nvSpPr>
          <p:cNvPr id="576" name="Google Shape;57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77" name="Google Shape;577;p64"/>
          <p:cNvCxnSpPr>
            <a:endCxn id="578" idx="2"/>
          </p:cNvCxnSpPr>
          <p:nvPr/>
        </p:nvCxnSpPr>
        <p:spPr>
          <a:xfrm rot="10800000">
            <a:off x="1483100" y="1540575"/>
            <a:ext cx="0" cy="677100"/>
          </a:xfrm>
          <a:prstGeom prst="straightConnector1">
            <a:avLst/>
          </a:prstGeom>
          <a:noFill/>
          <a:ln cap="flat" cmpd="sng" w="9525">
            <a:solidFill>
              <a:srgbClr val="595959"/>
            </a:solidFill>
            <a:prstDash val="solid"/>
            <a:round/>
            <a:headEnd len="med" w="med" type="none"/>
            <a:tailEnd len="med" w="med" type="triangle"/>
          </a:ln>
        </p:spPr>
      </p:cxnSp>
      <p:sp>
        <p:nvSpPr>
          <p:cNvPr id="578" name="Google Shape;578;p64"/>
          <p:cNvSpPr txBox="1"/>
          <p:nvPr/>
        </p:nvSpPr>
        <p:spPr>
          <a:xfrm>
            <a:off x="856850" y="120187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Higher addresses</a:t>
            </a:r>
            <a:endParaRPr sz="1000"/>
          </a:p>
        </p:txBody>
      </p:sp>
      <p:cxnSp>
        <p:nvCxnSpPr>
          <p:cNvPr id="579" name="Google Shape;579;p64"/>
          <p:cNvCxnSpPr>
            <a:endCxn id="580" idx="0"/>
          </p:cNvCxnSpPr>
          <p:nvPr/>
        </p:nvCxnSpPr>
        <p:spPr>
          <a:xfrm>
            <a:off x="1483100" y="3258025"/>
            <a:ext cx="0" cy="545700"/>
          </a:xfrm>
          <a:prstGeom prst="straightConnector1">
            <a:avLst/>
          </a:prstGeom>
          <a:noFill/>
          <a:ln cap="flat" cmpd="sng" w="9525">
            <a:solidFill>
              <a:srgbClr val="595959"/>
            </a:solidFill>
            <a:prstDash val="solid"/>
            <a:round/>
            <a:headEnd len="med" w="med" type="none"/>
            <a:tailEnd len="med" w="med" type="triangle"/>
          </a:ln>
        </p:spPr>
      </p:cxnSp>
      <p:sp>
        <p:nvSpPr>
          <p:cNvPr id="580" name="Google Shape;580;p64"/>
          <p:cNvSpPr txBox="1"/>
          <p:nvPr/>
        </p:nvSpPr>
        <p:spPr>
          <a:xfrm>
            <a:off x="856850" y="380372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Lower addresses</a:t>
            </a:r>
            <a:endParaRPr sz="1000"/>
          </a:p>
        </p:txBody>
      </p:sp>
      <p:graphicFrame>
        <p:nvGraphicFramePr>
          <p:cNvPr id="581" name="Google Shape;581;p64"/>
          <p:cNvGraphicFramePr/>
          <p:nvPr/>
        </p:nvGraphicFramePr>
        <p:xfrm>
          <a:off x="2109350" y="1221150"/>
          <a:ext cx="3000000" cy="3000000"/>
        </p:xfrm>
        <a:graphic>
          <a:graphicData uri="http://schemas.openxmlformats.org/drawingml/2006/table">
            <a:tbl>
              <a:tblPr>
                <a:noFill/>
                <a:tableStyleId>{56312004-1CDE-497B-A12A-34C1020B5D77}</a:tableStyleId>
              </a:tblPr>
              <a:tblGrid>
                <a:gridCol w="1522325"/>
              </a:tblGrid>
              <a:tr h="524100">
                <a:tc>
                  <a:txBody>
                    <a:bodyPr/>
                    <a:lstStyle/>
                    <a:p>
                      <a:pPr indent="0" lvl="0" marL="0" rtl="0" algn="ctr">
                        <a:spcBef>
                          <a:spcPts val="0"/>
                        </a:spcBef>
                        <a:spcAft>
                          <a:spcPts val="0"/>
                        </a:spcAft>
                        <a:buNone/>
                      </a:pPr>
                      <a:r>
                        <a:rPr lang="en" sz="1000"/>
                        <a:t>Stack</a:t>
                      </a:r>
                      <a:endParaRPr sz="1000"/>
                    </a:p>
                  </a:txBody>
                  <a:tcPr marT="45700" marB="45700" marR="45700" marL="45700" anchor="ctr">
                    <a:lnB cap="flat" cmpd="sng" w="9525">
                      <a:solidFill>
                        <a:srgbClr val="9E9E9E"/>
                      </a:solidFill>
                      <a:prstDash val="dash"/>
                      <a:round/>
                      <a:headEnd len="sm" w="sm" type="none"/>
                      <a:tailEnd len="sm" w="sm" type="none"/>
                    </a:lnB>
                    <a:solidFill>
                      <a:srgbClr val="A4C2F4"/>
                    </a:solidFill>
                  </a:tcPr>
                </a:tc>
              </a:tr>
              <a:tr h="901150">
                <a:tc>
                  <a:txBody>
                    <a:bodyPr/>
                    <a:lstStyle/>
                    <a:p>
                      <a:pPr indent="0" lvl="0" marL="0" rtl="0" algn="ctr">
                        <a:spcBef>
                          <a:spcPts val="0"/>
                        </a:spcBef>
                        <a:spcAft>
                          <a:spcPts val="0"/>
                        </a:spcAft>
                        <a:buNone/>
                      </a:pPr>
                      <a:r>
                        <a:t/>
                      </a:r>
                      <a:endParaRPr sz="1000"/>
                    </a:p>
                  </a:txBody>
                  <a:tcPr marT="45700" marB="45700" marR="45700" marL="45700" anchor="ctr">
                    <a:lnT cap="flat" cmpd="sng" w="9525">
                      <a:solidFill>
                        <a:srgbClr val="9E9E9E"/>
                      </a:solidFill>
                      <a:prstDash val="dash"/>
                      <a:round/>
                      <a:headEnd len="sm" w="sm" type="none"/>
                      <a:tailEnd len="sm" w="sm" type="none"/>
                    </a:lnT>
                    <a:lnB cap="flat" cmpd="sng" w="9525">
                      <a:solidFill>
                        <a:srgbClr val="9E9E9E"/>
                      </a:solidFill>
                      <a:prstDash val="dash"/>
                      <a:round/>
                      <a:headEnd len="sm" w="sm" type="none"/>
                      <a:tailEnd len="sm" w="sm" type="none"/>
                    </a:lnB>
                    <a:solidFill>
                      <a:srgbClr val="EEEEEE"/>
                    </a:solidFill>
                  </a:tcPr>
                </a:tc>
              </a:tr>
              <a:tr h="530950">
                <a:tc>
                  <a:txBody>
                    <a:bodyPr/>
                    <a:lstStyle/>
                    <a:p>
                      <a:pPr indent="0" lvl="0" marL="0" rtl="0" algn="ctr">
                        <a:spcBef>
                          <a:spcPts val="0"/>
                        </a:spcBef>
                        <a:spcAft>
                          <a:spcPts val="0"/>
                        </a:spcAft>
                        <a:buNone/>
                      </a:pPr>
                      <a:r>
                        <a:rPr lang="en" sz="1000"/>
                        <a:t>Heap</a:t>
                      </a:r>
                      <a:endParaRPr sz="1000"/>
                    </a:p>
                  </a:txBody>
                  <a:tcPr marT="45700" marB="45700" marR="45700" marL="45700" anchor="ctr">
                    <a:lnT cap="flat" cmpd="sng" w="9525">
                      <a:solidFill>
                        <a:srgbClr val="9E9E9E"/>
                      </a:solidFill>
                      <a:prstDash val="dash"/>
                      <a:round/>
                      <a:headEnd len="sm" w="sm" type="none"/>
                      <a:tailEnd len="sm" w="sm" type="none"/>
                    </a:lnT>
                    <a:solidFill>
                      <a:srgbClr val="F9CB9C"/>
                    </a:solidFill>
                  </a:tcPr>
                </a:tc>
              </a:tr>
              <a:tr h="493975">
                <a:tc>
                  <a:txBody>
                    <a:bodyPr/>
                    <a:lstStyle/>
                    <a:p>
                      <a:pPr indent="0" lvl="0" marL="0" rtl="0" algn="ctr">
                        <a:spcBef>
                          <a:spcPts val="0"/>
                        </a:spcBef>
                        <a:spcAft>
                          <a:spcPts val="0"/>
                        </a:spcAft>
                        <a:buNone/>
                      </a:pPr>
                      <a:r>
                        <a:rPr lang="en" sz="1000"/>
                        <a:t>Data</a:t>
                      </a:r>
                      <a:endParaRPr sz="1000"/>
                    </a:p>
                  </a:txBody>
                  <a:tcPr marT="45700" marB="45700" marR="45700" marL="45700" anchor="ctr">
                    <a:solidFill>
                      <a:srgbClr val="B6D7A8"/>
                    </a:solidFill>
                  </a:tcPr>
                </a:tc>
              </a:tr>
              <a:tr h="429325">
                <a:tc>
                  <a:txBody>
                    <a:bodyPr/>
                    <a:lstStyle/>
                    <a:p>
                      <a:pPr indent="0" lvl="0" marL="0" rtl="0" algn="ctr">
                        <a:spcBef>
                          <a:spcPts val="0"/>
                        </a:spcBef>
                        <a:spcAft>
                          <a:spcPts val="0"/>
                        </a:spcAft>
                        <a:buNone/>
                      </a:pPr>
                      <a:r>
                        <a:rPr lang="en" sz="1000"/>
                        <a:t>Code</a:t>
                      </a:r>
                      <a:endParaRPr sz="1000"/>
                    </a:p>
                  </a:txBody>
                  <a:tcPr marT="45700" marB="45700" marR="45700" marL="45700" anchor="ctr">
                    <a:solidFill>
                      <a:srgbClr val="B6D7A8"/>
                    </a:solidFill>
                  </a:tcPr>
                </a:tc>
              </a:tr>
            </a:tbl>
          </a:graphicData>
        </a:graphic>
      </p:graphicFrame>
      <p:sp>
        <p:nvSpPr>
          <p:cNvPr id="582" name="Google Shape;582;p64"/>
          <p:cNvSpPr txBox="1"/>
          <p:nvPr/>
        </p:nvSpPr>
        <p:spPr>
          <a:xfrm>
            <a:off x="2358100" y="1773675"/>
            <a:ext cx="10248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800"/>
              <a:t>Grows downwards</a:t>
            </a:r>
            <a:endParaRPr b="1" sz="800"/>
          </a:p>
        </p:txBody>
      </p:sp>
      <p:sp>
        <p:nvSpPr>
          <p:cNvPr id="583" name="Google Shape;583;p64"/>
          <p:cNvSpPr txBox="1"/>
          <p:nvPr/>
        </p:nvSpPr>
        <p:spPr>
          <a:xfrm>
            <a:off x="2358100" y="2431000"/>
            <a:ext cx="1024800" cy="215400"/>
          </a:xfrm>
          <a:prstGeom prst="rect">
            <a:avLst/>
          </a:prstGeom>
          <a:noFill/>
          <a:ln>
            <a:noFill/>
          </a:ln>
        </p:spPr>
        <p:txBody>
          <a:bodyPr anchorCtr="0" anchor="t" bIns="45700" lIns="45700" spcFirstLastPara="1" rIns="45700" wrap="square" tIns="45700">
            <a:spAutoFit/>
          </a:bodyPr>
          <a:lstStyle/>
          <a:p>
            <a:pPr indent="0" lvl="0" marL="0" rtl="0" algn="ctr">
              <a:spcBef>
                <a:spcPts val="0"/>
              </a:spcBef>
              <a:spcAft>
                <a:spcPts val="0"/>
              </a:spcAft>
              <a:buNone/>
            </a:pPr>
            <a:r>
              <a:rPr b="1" lang="en" sz="800"/>
              <a:t>Grows upwards</a:t>
            </a:r>
            <a:endParaRPr b="1" sz="800"/>
          </a:p>
        </p:txBody>
      </p:sp>
      <p:sp>
        <p:nvSpPr>
          <p:cNvPr id="584" name="Google Shape;584;p64"/>
          <p:cNvSpPr txBox="1"/>
          <p:nvPr/>
        </p:nvSpPr>
        <p:spPr>
          <a:xfrm>
            <a:off x="786700" y="4278938"/>
            <a:ext cx="30393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In theory, x86 memory layout looks like this...</a:t>
            </a:r>
            <a:endParaRPr>
              <a:solidFill>
                <a:schemeClr val="dk1"/>
              </a:solidFill>
            </a:endParaRPr>
          </a:p>
        </p:txBody>
      </p:sp>
      <p:cxnSp>
        <p:nvCxnSpPr>
          <p:cNvPr id="585" name="Google Shape;585;p64"/>
          <p:cNvCxnSpPr>
            <a:endCxn id="586" idx="2"/>
          </p:cNvCxnSpPr>
          <p:nvPr/>
        </p:nvCxnSpPr>
        <p:spPr>
          <a:xfrm rot="10800000">
            <a:off x="5064500" y="1540575"/>
            <a:ext cx="0" cy="677100"/>
          </a:xfrm>
          <a:prstGeom prst="straightConnector1">
            <a:avLst/>
          </a:prstGeom>
          <a:noFill/>
          <a:ln cap="flat" cmpd="sng" w="9525">
            <a:solidFill>
              <a:srgbClr val="595959"/>
            </a:solidFill>
            <a:prstDash val="solid"/>
            <a:round/>
            <a:headEnd len="med" w="med" type="none"/>
            <a:tailEnd len="med" w="med" type="triangle"/>
          </a:ln>
        </p:spPr>
      </p:cxnSp>
      <p:sp>
        <p:nvSpPr>
          <p:cNvPr id="586" name="Google Shape;586;p64"/>
          <p:cNvSpPr txBox="1"/>
          <p:nvPr/>
        </p:nvSpPr>
        <p:spPr>
          <a:xfrm>
            <a:off x="4438250" y="120187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Higher addresses</a:t>
            </a:r>
            <a:endParaRPr sz="1000"/>
          </a:p>
        </p:txBody>
      </p:sp>
      <p:cxnSp>
        <p:nvCxnSpPr>
          <p:cNvPr id="587" name="Google Shape;587;p64"/>
          <p:cNvCxnSpPr>
            <a:endCxn id="588" idx="0"/>
          </p:cNvCxnSpPr>
          <p:nvPr/>
        </p:nvCxnSpPr>
        <p:spPr>
          <a:xfrm>
            <a:off x="5064500" y="3258025"/>
            <a:ext cx="0" cy="545700"/>
          </a:xfrm>
          <a:prstGeom prst="straightConnector1">
            <a:avLst/>
          </a:prstGeom>
          <a:noFill/>
          <a:ln cap="flat" cmpd="sng" w="9525">
            <a:solidFill>
              <a:srgbClr val="595959"/>
            </a:solidFill>
            <a:prstDash val="solid"/>
            <a:round/>
            <a:headEnd len="med" w="med" type="none"/>
            <a:tailEnd len="med" w="med" type="triangle"/>
          </a:ln>
        </p:spPr>
      </p:cxnSp>
      <p:sp>
        <p:nvSpPr>
          <p:cNvPr id="588" name="Google Shape;588;p64"/>
          <p:cNvSpPr txBox="1"/>
          <p:nvPr/>
        </p:nvSpPr>
        <p:spPr>
          <a:xfrm>
            <a:off x="4438250" y="380372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Lower addresses</a:t>
            </a:r>
            <a:endParaRPr sz="1000"/>
          </a:p>
        </p:txBody>
      </p:sp>
      <p:graphicFrame>
        <p:nvGraphicFramePr>
          <p:cNvPr id="589" name="Google Shape;589;p64"/>
          <p:cNvGraphicFramePr/>
          <p:nvPr/>
        </p:nvGraphicFramePr>
        <p:xfrm>
          <a:off x="5690750" y="1221150"/>
          <a:ext cx="3000000" cy="3000000"/>
        </p:xfrm>
        <a:graphic>
          <a:graphicData uri="http://schemas.openxmlformats.org/drawingml/2006/table">
            <a:tbl>
              <a:tblPr>
                <a:noFill/>
                <a:tableStyleId>{56312004-1CDE-497B-A12A-34C1020B5D77}</a:tableStyleId>
              </a:tblPr>
              <a:tblGrid>
                <a:gridCol w="1522325"/>
              </a:tblGrid>
              <a:tr h="521150">
                <a:tc>
                  <a:txBody>
                    <a:bodyPr/>
                    <a:lstStyle/>
                    <a:p>
                      <a:pPr indent="0" lvl="0" marL="0" rtl="0" algn="ctr">
                        <a:spcBef>
                          <a:spcPts val="0"/>
                        </a:spcBef>
                        <a:spcAft>
                          <a:spcPts val="0"/>
                        </a:spcAft>
                        <a:buNone/>
                      </a:pPr>
                      <a:r>
                        <a:rPr lang="en" sz="1000"/>
                        <a:t>Unused</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Stack</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r>
              <a:tr h="439425">
                <a:tc>
                  <a:txBody>
                    <a:bodyPr/>
                    <a:lstStyle/>
                    <a:p>
                      <a:pPr indent="0" lvl="0" marL="0" rtl="0" algn="ctr">
                        <a:spcBef>
                          <a:spcPts val="0"/>
                        </a:spcBef>
                        <a:spcAft>
                          <a:spcPts val="0"/>
                        </a:spcAft>
                        <a:buNone/>
                      </a:pPr>
                      <a:r>
                        <a:rPr lang="en" sz="1000"/>
                        <a:t>Unused</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Heap</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364750">
                <a:tc>
                  <a:txBody>
                    <a:bodyPr/>
                    <a:lstStyle/>
                    <a:p>
                      <a:pPr indent="0" lvl="0" marL="0" rtl="0" algn="ctr">
                        <a:spcBef>
                          <a:spcPts val="0"/>
                        </a:spcBef>
                        <a:spcAft>
                          <a:spcPts val="0"/>
                        </a:spcAft>
                        <a:buNone/>
                      </a:pPr>
                      <a:r>
                        <a:rPr lang="en" sz="1000"/>
                        <a:t>Unused</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Data</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83800">
                <a:tc>
                  <a:txBody>
                    <a:bodyPr/>
                    <a:lstStyle/>
                    <a:p>
                      <a:pPr indent="0" lvl="0" marL="0" rtl="0" algn="ctr">
                        <a:spcBef>
                          <a:spcPts val="0"/>
                        </a:spcBef>
                        <a:spcAft>
                          <a:spcPts val="0"/>
                        </a:spcAft>
                        <a:buNone/>
                      </a:pPr>
                      <a:r>
                        <a:rPr lang="en" sz="1000"/>
                        <a:t>Unused</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Code</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242425">
                <a:tc>
                  <a:txBody>
                    <a:bodyPr/>
                    <a:lstStyle/>
                    <a:p>
                      <a:pPr indent="0" lvl="0" marL="0" rtl="0" algn="ctr">
                        <a:spcBef>
                          <a:spcPts val="0"/>
                        </a:spcBef>
                        <a:spcAft>
                          <a:spcPts val="0"/>
                        </a:spcAft>
                        <a:buNone/>
                      </a:pPr>
                      <a:r>
                        <a:rPr lang="en" sz="1000"/>
                        <a:t>Unused</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bl>
          </a:graphicData>
        </a:graphic>
      </p:graphicFrame>
      <p:sp>
        <p:nvSpPr>
          <p:cNvPr id="590" name="Google Shape;590;p64"/>
          <p:cNvSpPr txBox="1"/>
          <p:nvPr/>
        </p:nvSpPr>
        <p:spPr>
          <a:xfrm>
            <a:off x="4368100" y="4278938"/>
            <a:ext cx="30393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...but in practice, it usually looks like this (mostly empty)!</a:t>
            </a:r>
            <a:endParaRPr>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x86 Memory Layout</a:t>
            </a:r>
            <a:endParaRPr/>
          </a:p>
        </p:txBody>
      </p:sp>
      <p:sp>
        <p:nvSpPr>
          <p:cNvPr id="596" name="Google Shape;596;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597" name="Google Shape;597;p65"/>
          <p:cNvCxnSpPr>
            <a:endCxn id="598" idx="2"/>
          </p:cNvCxnSpPr>
          <p:nvPr/>
        </p:nvCxnSpPr>
        <p:spPr>
          <a:xfrm rot="10800000">
            <a:off x="2074600" y="1532375"/>
            <a:ext cx="0" cy="677100"/>
          </a:xfrm>
          <a:prstGeom prst="straightConnector1">
            <a:avLst/>
          </a:prstGeom>
          <a:noFill/>
          <a:ln cap="flat" cmpd="sng" w="9525">
            <a:solidFill>
              <a:srgbClr val="595959"/>
            </a:solidFill>
            <a:prstDash val="solid"/>
            <a:round/>
            <a:headEnd len="med" w="med" type="none"/>
            <a:tailEnd len="med" w="med" type="triangle"/>
          </a:ln>
        </p:spPr>
      </p:cxnSp>
      <p:sp>
        <p:nvSpPr>
          <p:cNvPr id="598" name="Google Shape;598;p65"/>
          <p:cNvSpPr txBox="1"/>
          <p:nvPr/>
        </p:nvSpPr>
        <p:spPr>
          <a:xfrm>
            <a:off x="1448350" y="119367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Higher addresses</a:t>
            </a:r>
            <a:endParaRPr sz="1000"/>
          </a:p>
        </p:txBody>
      </p:sp>
      <p:cxnSp>
        <p:nvCxnSpPr>
          <p:cNvPr id="599" name="Google Shape;599;p65"/>
          <p:cNvCxnSpPr>
            <a:endCxn id="600" idx="0"/>
          </p:cNvCxnSpPr>
          <p:nvPr/>
        </p:nvCxnSpPr>
        <p:spPr>
          <a:xfrm>
            <a:off x="2074600" y="3249825"/>
            <a:ext cx="0" cy="545700"/>
          </a:xfrm>
          <a:prstGeom prst="straightConnector1">
            <a:avLst/>
          </a:prstGeom>
          <a:noFill/>
          <a:ln cap="flat" cmpd="sng" w="9525">
            <a:solidFill>
              <a:srgbClr val="595959"/>
            </a:solidFill>
            <a:prstDash val="solid"/>
            <a:round/>
            <a:headEnd len="med" w="med" type="none"/>
            <a:tailEnd len="med" w="med" type="triangle"/>
          </a:ln>
        </p:spPr>
      </p:cxnSp>
      <p:sp>
        <p:nvSpPr>
          <p:cNvPr id="600" name="Google Shape;600;p65"/>
          <p:cNvSpPr txBox="1"/>
          <p:nvPr/>
        </p:nvSpPr>
        <p:spPr>
          <a:xfrm>
            <a:off x="1448350" y="3795525"/>
            <a:ext cx="1252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t>Lower addresses</a:t>
            </a:r>
            <a:endParaRPr sz="1000"/>
          </a:p>
        </p:txBody>
      </p:sp>
      <p:graphicFrame>
        <p:nvGraphicFramePr>
          <p:cNvPr id="601" name="Google Shape;601;p65"/>
          <p:cNvGraphicFramePr/>
          <p:nvPr/>
        </p:nvGraphicFramePr>
        <p:xfrm>
          <a:off x="4804675" y="1193663"/>
          <a:ext cx="3000000" cy="3000000"/>
        </p:xfrm>
        <a:graphic>
          <a:graphicData uri="http://schemas.openxmlformats.org/drawingml/2006/table">
            <a:tbl>
              <a:tblPr>
                <a:noFill/>
                <a:tableStyleId>{56312004-1CDE-497B-A12A-34C1020B5D77}</a:tableStyleId>
              </a:tblPr>
              <a:tblGrid>
                <a:gridCol w="1522325"/>
              </a:tblGrid>
              <a:tr h="521150">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Stack</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r>
              <a:tr h="43942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Heap</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364750">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Data</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83800">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42425">
                <a:tc>
                  <a:txBody>
                    <a:bodyPr/>
                    <a:lstStyle/>
                    <a:p>
                      <a:pPr indent="0" lvl="0" marL="0" rtl="0" algn="ctr">
                        <a:spcBef>
                          <a:spcPts val="0"/>
                        </a:spcBef>
                        <a:spcAft>
                          <a:spcPts val="0"/>
                        </a:spcAft>
                        <a:buNone/>
                      </a:pPr>
                      <a:r>
                        <a:rPr lang="en" sz="1000"/>
                        <a:t>Code</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24242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bl>
          </a:graphicData>
        </a:graphic>
      </p:graphicFrame>
      <p:sp>
        <p:nvSpPr>
          <p:cNvPr id="602" name="Google Shape;602;p65"/>
          <p:cNvSpPr txBox="1"/>
          <p:nvPr/>
        </p:nvSpPr>
        <p:spPr>
          <a:xfrm>
            <a:off x="2528550" y="4360950"/>
            <a:ext cx="4086900" cy="6156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Idea: Put each segment of memory in a different location each time the program is run</a:t>
            </a:r>
            <a:endParaRPr>
              <a:solidFill>
                <a:schemeClr val="dk1"/>
              </a:solidFill>
            </a:endParaRPr>
          </a:p>
        </p:txBody>
      </p:sp>
      <p:graphicFrame>
        <p:nvGraphicFramePr>
          <p:cNvPr id="603" name="Google Shape;603;p65"/>
          <p:cNvGraphicFramePr/>
          <p:nvPr/>
        </p:nvGraphicFramePr>
        <p:xfrm>
          <a:off x="2817000" y="1193675"/>
          <a:ext cx="3000000" cy="3000000"/>
        </p:xfrm>
        <a:graphic>
          <a:graphicData uri="http://schemas.openxmlformats.org/drawingml/2006/table">
            <a:tbl>
              <a:tblPr>
                <a:noFill/>
                <a:tableStyleId>{56312004-1CDE-497B-A12A-34C1020B5D77}</a:tableStyleId>
              </a:tblPr>
              <a:tblGrid>
                <a:gridCol w="1522325"/>
              </a:tblGrid>
              <a:tr h="27777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77775">
                <a:tc>
                  <a:txBody>
                    <a:bodyPr/>
                    <a:lstStyle/>
                    <a:p>
                      <a:pPr indent="0" lvl="0" marL="0" rtl="0" algn="ctr">
                        <a:spcBef>
                          <a:spcPts val="0"/>
                        </a:spcBef>
                        <a:spcAft>
                          <a:spcPts val="0"/>
                        </a:spcAft>
                        <a:buNone/>
                      </a:pPr>
                      <a:r>
                        <a:rPr lang="en" sz="1000"/>
                        <a:t>Heap</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9CB9C"/>
                    </a:solidFill>
                  </a:tcPr>
                </a:tc>
              </a:tr>
              <a:tr h="27777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77775">
                <a:tc>
                  <a:txBody>
                    <a:bodyPr/>
                    <a:lstStyle/>
                    <a:p>
                      <a:pPr indent="0" lvl="0" marL="0" rtl="0" algn="ctr">
                        <a:spcBef>
                          <a:spcPts val="0"/>
                        </a:spcBef>
                        <a:spcAft>
                          <a:spcPts val="0"/>
                        </a:spcAft>
                        <a:buNone/>
                      </a:pPr>
                      <a:r>
                        <a:rPr lang="en" sz="1000"/>
                        <a:t>Data</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546400">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77775">
                <a:tc>
                  <a:txBody>
                    <a:bodyPr/>
                    <a:lstStyle/>
                    <a:p>
                      <a:pPr indent="0" lvl="0" marL="0" rtl="0" algn="ctr">
                        <a:spcBef>
                          <a:spcPts val="0"/>
                        </a:spcBef>
                        <a:spcAft>
                          <a:spcPts val="0"/>
                        </a:spcAft>
                        <a:buNone/>
                      </a:pPr>
                      <a:r>
                        <a:rPr lang="en" sz="1000"/>
                        <a:t>Code</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43727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r h="277775">
                <a:tc>
                  <a:txBody>
                    <a:bodyPr/>
                    <a:lstStyle/>
                    <a:p>
                      <a:pPr indent="0" lvl="0" marL="0" rtl="0" algn="ctr">
                        <a:spcBef>
                          <a:spcPts val="0"/>
                        </a:spcBef>
                        <a:spcAft>
                          <a:spcPts val="0"/>
                        </a:spcAft>
                        <a:buNone/>
                      </a:pPr>
                      <a:r>
                        <a:rPr lang="en" sz="1000"/>
                        <a:t>Stack</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A4C2F4"/>
                    </a:solidFill>
                  </a:tcPr>
                </a:tc>
              </a:tr>
              <a:tr h="277775">
                <a:tc>
                  <a:txBody>
                    <a:bodyPr/>
                    <a:lstStyle/>
                    <a:p>
                      <a:pPr indent="0" lvl="0" marL="0" rtl="0" algn="ctr">
                        <a:spcBef>
                          <a:spcPts val="0"/>
                        </a:spcBef>
                        <a:spcAft>
                          <a:spcPts val="0"/>
                        </a:spcAft>
                        <a:buNone/>
                      </a:pPr>
                      <a:r>
                        <a:t/>
                      </a:r>
                      <a:endParaRPr sz="1000"/>
                    </a:p>
                  </a:txBody>
                  <a:tcPr marT="45700" marB="45700" marR="45700" marL="4570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7B7B7"/>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CS 16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