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9" roundtripDataSignature="AMtx7mgUQLvij0nk/0y5hKsoqQnjkNQ2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7F7962E-1117-494F-86AC-EA512BDA6105}">
  <a:tblStyle styleId="{C7F7962E-1117-494F-86AC-EA512BDA610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rdist.root.org/2009/05/17/the-debian-pgp-disaster-that-almost-was/" TargetMode="External"/><Relationship Id="rId3" Type="http://schemas.openxmlformats.org/officeDocument/2006/relationships/hyperlink" Target="https://rdist.root.org/2010/11/19/dsa-requirements-for-random-k-value/" TargetMode="Externa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chromium.org/chromium-os/u2f-ecdsa-vulnerability" TargetMode="Externa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540225050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3540225050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540225050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540225050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540225050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540225050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540225050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540225050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540225050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540225050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40225050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540225050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5402250507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5402250507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5402250507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5402250507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All above steps can be done in time linear in the number of bits of N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5765bab5f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5765bab5f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5402250507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5402250507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 = pq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How are d and e related? Multiplicative inverses mod p-1q-1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Let’s rewrite it a bit or rearranging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Multiply both sides by 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Get ed and e*e^-1 which is 1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Subtract 1 from both sides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15 = 0 mod 5 so 15 is a multiple of 5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When i take a message and encrypt it i better get t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Ask after presenting issues: Ideas for how to encrypt large messages efficiently?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5765bab5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5765bab5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https://rdist.root.org/2009/05/17/the-debian-pgp-disaster-that-almost-was/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https://rdist.root.org/2010/11/19/dsa-requirements-for-random-k-value/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https://www.chromium.org/chromium-os/u2f-ecdsa-vulnerability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48"/>
          <p:cNvSpPr txBox="1"/>
          <p:nvPr>
            <p:ph type="ctrTitle"/>
          </p:nvPr>
        </p:nvSpPr>
        <p:spPr>
          <a:xfrm>
            <a:off x="311700" y="1429000"/>
            <a:ext cx="8520600" cy="1410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48"/>
          <p:cNvSpPr txBox="1"/>
          <p:nvPr>
            <p:ph idx="1" type="subTitle"/>
          </p:nvPr>
        </p:nvSpPr>
        <p:spPr>
          <a:xfrm>
            <a:off x="311700" y="29179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9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49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0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" name="Google Shape;23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- Optional">
  <p:cSld name="ONE_COLUMN_TEXT_1">
    <p:bg>
      <p:bgPr>
        <a:solidFill>
          <a:srgbClr val="A4C2F4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52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52"/>
          <p:cNvSpPr txBox="1"/>
          <p:nvPr>
            <p:ph idx="1" type="body"/>
          </p:nvPr>
        </p:nvSpPr>
        <p:spPr>
          <a:xfrm>
            <a:off x="198500" y="1246825"/>
            <a:ext cx="5142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Optional">
  <p:cSld name="SECTION_HEADER_1">
    <p:bg>
      <p:bgPr>
        <a:solidFill>
          <a:srgbClr val="A4C2F4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0" name="Google Shape;30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Optional">
  <p:cSld name="TITLE_AND_BODY_1">
    <p:bg>
      <p:bgPr>
        <a:solidFill>
          <a:srgbClr val="A4C2F4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4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" name="Google Shape;34;p54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5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" name="Google Shape;38;p55"/>
          <p:cNvSpPr txBox="1"/>
          <p:nvPr>
            <p:ph idx="1" type="body"/>
          </p:nvPr>
        </p:nvSpPr>
        <p:spPr>
          <a:xfrm>
            <a:off x="198500" y="1246825"/>
            <a:ext cx="41310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" name="Google Shape;39;p55"/>
          <p:cNvSpPr txBox="1"/>
          <p:nvPr>
            <p:ph idx="2" type="body"/>
          </p:nvPr>
        </p:nvSpPr>
        <p:spPr>
          <a:xfrm>
            <a:off x="4588175" y="1246825"/>
            <a:ext cx="41310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" name="Google Shape;42;p56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" name="Google Shape;43;p56"/>
          <p:cNvSpPr txBox="1"/>
          <p:nvPr>
            <p:ph idx="1" type="body"/>
          </p:nvPr>
        </p:nvSpPr>
        <p:spPr>
          <a:xfrm>
            <a:off x="198500" y="1246825"/>
            <a:ext cx="5142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half body">
  <p:cSld name="TITLE_AND_BODY_2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7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" name="Google Shape;46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57"/>
          <p:cNvSpPr txBox="1"/>
          <p:nvPr>
            <p:ph idx="1" type="body"/>
          </p:nvPr>
        </p:nvSpPr>
        <p:spPr>
          <a:xfrm>
            <a:off x="198500" y="1246825"/>
            <a:ext cx="8520600" cy="16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8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" name="Google Shape;50;p58"/>
          <p:cNvSpPr txBox="1"/>
          <p:nvPr>
            <p:ph idx="1" type="body"/>
          </p:nvPr>
        </p:nvSpPr>
        <p:spPr>
          <a:xfrm>
            <a:off x="512100" y="4520775"/>
            <a:ext cx="8119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Optional">
  <p:cSld name="TITLE_AND_TWO_COLUMNS_1">
    <p:bg>
      <p:bgPr>
        <a:solidFill>
          <a:srgbClr val="A4C2F4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9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59"/>
          <p:cNvSpPr txBox="1"/>
          <p:nvPr>
            <p:ph idx="1" type="body"/>
          </p:nvPr>
        </p:nvSpPr>
        <p:spPr>
          <a:xfrm>
            <a:off x="198500" y="1246825"/>
            <a:ext cx="41310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59"/>
          <p:cNvSpPr txBox="1"/>
          <p:nvPr>
            <p:ph idx="2" type="body"/>
          </p:nvPr>
        </p:nvSpPr>
        <p:spPr>
          <a:xfrm>
            <a:off x="4588175" y="1246825"/>
            <a:ext cx="41310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Optional">
  <p:cSld name="TITLE_ONLY_1">
    <p:bg>
      <p:bgPr>
        <a:solidFill>
          <a:srgbClr val="A4C2F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0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" name="Google Shape;59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half body - Optional">
  <p:cSld name="ONE_COLUMN_TEXT_1_1">
    <p:bg>
      <p:bgPr>
        <a:solidFill>
          <a:srgbClr val="A4C2F4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61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61"/>
          <p:cNvSpPr txBox="1"/>
          <p:nvPr>
            <p:ph idx="1" type="body"/>
          </p:nvPr>
        </p:nvSpPr>
        <p:spPr>
          <a:xfrm>
            <a:off x="198500" y="1246825"/>
            <a:ext cx="8520600" cy="16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- Optional">
  <p:cSld name="CUSTOM_1">
    <p:bg>
      <p:bgPr>
        <a:solidFill>
          <a:srgbClr val="A4C2F4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2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62"/>
          <p:cNvSpPr txBox="1"/>
          <p:nvPr>
            <p:ph idx="1" type="body"/>
          </p:nvPr>
        </p:nvSpPr>
        <p:spPr>
          <a:xfrm>
            <a:off x="512100" y="4520775"/>
            <a:ext cx="8119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7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7"/>
          <p:cNvSpPr txBox="1"/>
          <p:nvPr>
            <p:ph idx="1" type="body"/>
          </p:nvPr>
        </p:nvSpPr>
        <p:spPr>
          <a:xfrm>
            <a:off x="198500" y="12468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47"/>
          <p:cNvSpPr/>
          <p:nvPr/>
        </p:nvSpPr>
        <p:spPr>
          <a:xfrm>
            <a:off x="0" y="1017725"/>
            <a:ext cx="9144000" cy="111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E85C5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CSE 405</a:t>
            </a:r>
            <a:endParaRPr b="1" i="0" sz="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 txBox="1"/>
          <p:nvPr>
            <p:ph type="ctrTitle"/>
          </p:nvPr>
        </p:nvSpPr>
        <p:spPr>
          <a:xfrm>
            <a:off x="311700" y="1429000"/>
            <a:ext cx="8520600" cy="1410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Public-Key Encryption and</a:t>
            </a:r>
            <a:br>
              <a:rPr lang="en"/>
            </a:br>
            <a:r>
              <a:rPr lang="en"/>
              <a:t>Digital Signatures</a:t>
            </a:r>
            <a:endParaRPr/>
          </a:p>
        </p:txBody>
      </p:sp>
      <p:sp>
        <p:nvSpPr>
          <p:cNvPr id="73" name="Google Shape;73;p1"/>
          <p:cNvSpPr txBox="1"/>
          <p:nvPr>
            <p:ph idx="1" type="subTitle"/>
          </p:nvPr>
        </p:nvSpPr>
        <p:spPr>
          <a:xfrm>
            <a:off x="311700" y="29179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"/>
              <a:t>CSE 405 January 2025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Lecture 7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PRNGs: Summary</a:t>
            </a:r>
            <a:endParaRPr/>
          </a:p>
        </p:txBody>
      </p:sp>
      <p:sp>
        <p:nvSpPr>
          <p:cNvPr id="79" name="Google Shape;79;p2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True randomness requires sampling a physical process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Slow, expensive, and biased (low entropy)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PRNG: An algorithm that uses a little bit of true randomness to generate a lot of random-looking output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Seed(entropy): Initialize internal state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Reseed(entropy): Add additional entropy to the internal state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Generate(n): Generate n bits of pseudorandom output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Security: Computationally indistinguishable from truly random bits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HMAC-DRBG: Use repeated applications of HMAC to generate pseudorandom bits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Application: UUIDs</a:t>
            </a:r>
            <a:endParaRPr/>
          </a:p>
        </p:txBody>
      </p:sp>
      <p:sp>
        <p:nvSpPr>
          <p:cNvPr id="80" name="Google Shape;8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Summary: Diffie-Hellman Key Exchange</a:t>
            </a:r>
            <a:endParaRPr/>
          </a:p>
        </p:txBody>
      </p:sp>
      <p:sp>
        <p:nvSpPr>
          <p:cNvPr id="86" name="Google Shape;86;p3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Algorithm: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Alice chooses </a:t>
            </a:r>
            <a:r>
              <a:rPr i="1" lang="en">
                <a:solidFill>
                  <a:srgbClr val="E69138"/>
                </a:solidFill>
              </a:rPr>
              <a:t>a</a:t>
            </a:r>
            <a:r>
              <a:rPr lang="en"/>
              <a:t> and sends </a:t>
            </a:r>
            <a:r>
              <a:rPr i="1" lang="en"/>
              <a:t>g</a:t>
            </a:r>
            <a:r>
              <a:rPr baseline="30000" i="1" lang="en">
                <a:solidFill>
                  <a:srgbClr val="E69138"/>
                </a:solidFill>
              </a:rPr>
              <a:t>a</a:t>
            </a:r>
            <a:r>
              <a:rPr lang="en"/>
              <a:t> mod </a:t>
            </a:r>
            <a:r>
              <a:rPr i="1" lang="en"/>
              <a:t>p</a:t>
            </a:r>
            <a:r>
              <a:rPr lang="en"/>
              <a:t> to Bob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Bob chooses </a:t>
            </a:r>
            <a:r>
              <a:rPr i="1" lang="en">
                <a:solidFill>
                  <a:srgbClr val="1155CC"/>
                </a:solidFill>
              </a:rPr>
              <a:t>b</a:t>
            </a:r>
            <a:r>
              <a:rPr lang="en"/>
              <a:t> and sends </a:t>
            </a:r>
            <a:r>
              <a:rPr i="1" lang="en"/>
              <a:t>g</a:t>
            </a:r>
            <a:r>
              <a:rPr baseline="30000" i="1" lang="en">
                <a:solidFill>
                  <a:srgbClr val="1155CC"/>
                </a:solidFill>
              </a:rPr>
              <a:t>b</a:t>
            </a:r>
            <a:r>
              <a:rPr lang="en"/>
              <a:t> mod </a:t>
            </a:r>
            <a:r>
              <a:rPr i="1" lang="en"/>
              <a:t>p</a:t>
            </a:r>
            <a:r>
              <a:rPr lang="en"/>
              <a:t> to Alice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Their shared secret is (</a:t>
            </a:r>
            <a:r>
              <a:rPr i="1" lang="en"/>
              <a:t>g</a:t>
            </a:r>
            <a:r>
              <a:rPr baseline="30000" i="1" lang="en">
                <a:solidFill>
                  <a:srgbClr val="E69138"/>
                </a:solidFill>
              </a:rPr>
              <a:t>a</a:t>
            </a:r>
            <a:r>
              <a:rPr lang="en"/>
              <a:t>)</a:t>
            </a:r>
            <a:r>
              <a:rPr baseline="30000" i="1" lang="en">
                <a:solidFill>
                  <a:srgbClr val="1155CC"/>
                </a:solidFill>
              </a:rPr>
              <a:t>b</a:t>
            </a:r>
            <a:r>
              <a:rPr lang="en"/>
              <a:t> = (</a:t>
            </a:r>
            <a:r>
              <a:rPr i="1" lang="en"/>
              <a:t>g</a:t>
            </a:r>
            <a:r>
              <a:rPr baseline="30000" i="1" lang="en">
                <a:solidFill>
                  <a:srgbClr val="1155CC"/>
                </a:solidFill>
              </a:rPr>
              <a:t>b</a:t>
            </a:r>
            <a:r>
              <a:rPr lang="en"/>
              <a:t>)</a:t>
            </a:r>
            <a:r>
              <a:rPr baseline="30000" i="1" lang="en">
                <a:solidFill>
                  <a:srgbClr val="E69138"/>
                </a:solidFill>
              </a:rPr>
              <a:t>a</a:t>
            </a:r>
            <a:r>
              <a:rPr lang="en"/>
              <a:t> = </a:t>
            </a:r>
            <a:r>
              <a:rPr i="1" lang="en"/>
              <a:t>g</a:t>
            </a:r>
            <a:r>
              <a:rPr baseline="30000" i="1" lang="en">
                <a:solidFill>
                  <a:srgbClr val="E69138"/>
                </a:solidFill>
              </a:rPr>
              <a:t>a</a:t>
            </a:r>
            <a:r>
              <a:rPr baseline="30000" i="1" lang="en">
                <a:solidFill>
                  <a:srgbClr val="1155CC"/>
                </a:solidFill>
              </a:rPr>
              <a:t>b</a:t>
            </a:r>
            <a:r>
              <a:rPr lang="en"/>
              <a:t> mod </a:t>
            </a:r>
            <a:r>
              <a:rPr i="1" lang="en"/>
              <a:t>p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Diffie-Hellman provides forwards secrecy: Nothing is saved or can be recorded that can ever recover the key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Diffie-Hellman can be performed over other mathematical groups, such as elliptic-curve Diffie-Hellman (ECDH)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Issues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Not</a:t>
            </a:r>
            <a:r>
              <a:rPr lang="en"/>
              <a:t> secure against MITM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Both parties must be online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Does not provide authenticity</a:t>
            </a:r>
            <a:endParaRPr/>
          </a:p>
        </p:txBody>
      </p:sp>
      <p:sp>
        <p:nvSpPr>
          <p:cNvPr id="87" name="Google Shape;8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4"/>
          <p:cNvPicPr preferRelativeResize="0"/>
          <p:nvPr/>
        </p:nvPicPr>
        <p:blipFill rotWithShape="1">
          <a:blip r:embed="rId3">
            <a:alphaModFix/>
          </a:blip>
          <a:srcRect b="65158" l="10446" r="69908" t="13697"/>
          <a:stretch/>
        </p:blipFill>
        <p:spPr>
          <a:xfrm>
            <a:off x="4246550" y="1320250"/>
            <a:ext cx="650926" cy="700636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4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Diffie-Hellman: Security</a:t>
            </a:r>
            <a:endParaRPr/>
          </a:p>
        </p:txBody>
      </p:sp>
      <p:cxnSp>
        <p:nvCxnSpPr>
          <p:cNvPr id="94" name="Google Shape;94;p4"/>
          <p:cNvCxnSpPr/>
          <p:nvPr/>
        </p:nvCxnSpPr>
        <p:spPr>
          <a:xfrm>
            <a:off x="2499375" y="1463025"/>
            <a:ext cx="0" cy="330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" name="Google Shape;95;p4"/>
          <p:cNvCxnSpPr/>
          <p:nvPr/>
        </p:nvCxnSpPr>
        <p:spPr>
          <a:xfrm>
            <a:off x="6644650" y="1463025"/>
            <a:ext cx="0" cy="330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4"/>
          <p:cNvSpPr txBox="1"/>
          <p:nvPr/>
        </p:nvSpPr>
        <p:spPr>
          <a:xfrm>
            <a:off x="830126" y="1082025"/>
            <a:ext cx="8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"/>
          <p:cNvSpPr txBox="1"/>
          <p:nvPr/>
        </p:nvSpPr>
        <p:spPr>
          <a:xfrm>
            <a:off x="7502965" y="1082025"/>
            <a:ext cx="8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"/>
          <p:cNvSpPr txBox="1"/>
          <p:nvPr/>
        </p:nvSpPr>
        <p:spPr>
          <a:xfrm>
            <a:off x="264325" y="1906875"/>
            <a:ext cx="19425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Generate </a:t>
            </a:r>
            <a:r>
              <a:rPr b="0" i="1" lang="en" sz="1400" u="none" cap="none" strike="noStrike">
                <a:solidFill>
                  <a:srgbClr val="E69138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1" sz="1400" u="none" cap="none" strike="noStrike">
              <a:solidFill>
                <a:srgbClr val="E691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Calculate </a:t>
            </a: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baseline="30000" i="1" lang="en" sz="1400" u="none" cap="none" strike="noStrike">
                <a:solidFill>
                  <a:srgbClr val="E69138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mod </a:t>
            </a: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Receive </a:t>
            </a: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baseline="30000" i="1" lang="en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mod </a:t>
            </a: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Calculate (</a:t>
            </a: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baseline="30000" i="1" lang="en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baseline="30000" i="1" lang="en" sz="1400" u="none" cap="none" strike="noStrike">
                <a:solidFill>
                  <a:srgbClr val="E69138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mod </a:t>
            </a: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"/>
          <p:cNvSpPr txBox="1"/>
          <p:nvPr/>
        </p:nvSpPr>
        <p:spPr>
          <a:xfrm>
            <a:off x="6937175" y="1906875"/>
            <a:ext cx="19425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Generate </a:t>
            </a:r>
            <a:r>
              <a:rPr b="0" i="1" lang="en" sz="14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1" sz="14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Calculate </a:t>
            </a: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baseline="30000" i="1" lang="en" sz="14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mod </a:t>
            </a: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Receive </a:t>
            </a:r>
            <a:r>
              <a:rPr b="0" i="1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baseline="30000" i="1" lang="en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mod </a:t>
            </a: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Calculate (</a:t>
            </a: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baseline="30000" i="1" lang="en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baseline="30000" i="1" lang="en" sz="14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mod </a:t>
            </a: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"/>
          <p:cNvSpPr txBox="1"/>
          <p:nvPr/>
        </p:nvSpPr>
        <p:spPr>
          <a:xfrm>
            <a:off x="443025" y="4231725"/>
            <a:ext cx="154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" sz="1400" u="none" cap="none" strike="noStrike">
                <a:solidFill>
                  <a:srgbClr val="E69138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baseline="30000" i="1" lang="en" sz="1400" u="none" cap="none" strike="noStrike">
                <a:solidFill>
                  <a:srgbClr val="E69138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baseline="30000" i="1" lang="en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⇒ </a:t>
            </a: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baseline="30000" i="1" lang="en" sz="1400" u="none" cap="none" strike="noStrike">
                <a:solidFill>
                  <a:srgbClr val="E69138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30000" i="1" lang="en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b="0" baseline="30000" i="1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/>
          <p:cNvSpPr txBox="1"/>
          <p:nvPr/>
        </p:nvSpPr>
        <p:spPr>
          <a:xfrm>
            <a:off x="7115875" y="4231725"/>
            <a:ext cx="154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" sz="14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baseline="30000" i="1" lang="en" sz="14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g</a:t>
            </a:r>
            <a:r>
              <a:rPr b="0" baseline="30000" i="1" lang="en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⇒ </a:t>
            </a: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baseline="30000" i="1" lang="en" sz="14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30000" i="1" lang="en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b="0" baseline="30000" i="1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"/>
          <p:cNvSpPr txBox="1"/>
          <p:nvPr/>
        </p:nvSpPr>
        <p:spPr>
          <a:xfrm>
            <a:off x="2789500" y="4231725"/>
            <a:ext cx="154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baseline="30000" i="1" lang="en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baseline="30000" i="1" lang="en" sz="1400" u="none" cap="none" strike="noStrike">
                <a:solidFill>
                  <a:srgbClr val="E69138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⇒ </a:t>
            </a: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baseline="30000" i="1" lang="en" sz="1400" u="none" cap="none" strike="noStrike">
                <a:solidFill>
                  <a:srgbClr val="E69138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30000" i="1" lang="en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b="0" baseline="30000" i="1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"/>
          <p:cNvSpPr txBox="1"/>
          <p:nvPr/>
        </p:nvSpPr>
        <p:spPr>
          <a:xfrm>
            <a:off x="4166551" y="1082025"/>
            <a:ext cx="8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Mallory</a:t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"/>
          <p:cNvSpPr txBox="1"/>
          <p:nvPr/>
        </p:nvSpPr>
        <p:spPr>
          <a:xfrm>
            <a:off x="5362014" y="1175125"/>
            <a:ext cx="117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Public: </a:t>
            </a: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 txBox="1"/>
          <p:nvPr/>
        </p:nvSpPr>
        <p:spPr>
          <a:xfrm>
            <a:off x="3563350" y="1906875"/>
            <a:ext cx="1942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Generate </a:t>
            </a:r>
            <a:r>
              <a:rPr b="0" i="1" lang="en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b="0" i="1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Calculate </a:t>
            </a: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baseline="30000" i="1" lang="en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mod </a:t>
            </a: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2592100" y="3199575"/>
            <a:ext cx="1942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Receive </a:t>
            </a: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baseline="30000" i="1" lang="en" sz="1400" u="none" cap="none" strike="noStrike">
                <a:solidFill>
                  <a:srgbClr val="E69138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mod 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Calculate (</a:t>
            </a: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baseline="30000" i="1" lang="en" sz="1400" u="none" cap="none" strike="noStrike">
                <a:solidFill>
                  <a:srgbClr val="E69138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baseline="30000" i="1" lang="en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mod 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 txBox="1"/>
          <p:nvPr/>
        </p:nvSpPr>
        <p:spPr>
          <a:xfrm>
            <a:off x="4534600" y="3199575"/>
            <a:ext cx="1942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Receive </a:t>
            </a: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baseline="30000" i="1" lang="en" sz="14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mod 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Calculate (</a:t>
            </a: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baseline="30000" i="1" lang="en" sz="14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baseline="30000" i="1" lang="en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mod 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" name="Google Shape;108;p4"/>
          <p:cNvCxnSpPr/>
          <p:nvPr/>
        </p:nvCxnSpPr>
        <p:spPr>
          <a:xfrm flipH="1">
            <a:off x="2066925" y="2541475"/>
            <a:ext cx="1446600" cy="86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9" name="Google Shape;109;p4"/>
          <p:cNvCxnSpPr/>
          <p:nvPr/>
        </p:nvCxnSpPr>
        <p:spPr>
          <a:xfrm>
            <a:off x="2073575" y="2554750"/>
            <a:ext cx="630300" cy="85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0" name="Google Shape;110;p4"/>
          <p:cNvCxnSpPr/>
          <p:nvPr/>
        </p:nvCxnSpPr>
        <p:spPr>
          <a:xfrm>
            <a:off x="5593075" y="2548113"/>
            <a:ext cx="1446600" cy="86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1" name="Google Shape;111;p4"/>
          <p:cNvCxnSpPr/>
          <p:nvPr/>
        </p:nvCxnSpPr>
        <p:spPr>
          <a:xfrm flipH="1">
            <a:off x="6402725" y="2561388"/>
            <a:ext cx="630300" cy="85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2" name="Google Shape;112;p4"/>
          <p:cNvSpPr txBox="1"/>
          <p:nvPr/>
        </p:nvSpPr>
        <p:spPr>
          <a:xfrm>
            <a:off x="4732000" y="4231725"/>
            <a:ext cx="154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baseline="30000" i="1" lang="en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baseline="30000" i="1" lang="en" sz="14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⇒ </a:t>
            </a: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baseline="30000" i="1" lang="en" sz="14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30000" i="1" lang="en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b="0" baseline="30000" i="1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p4"/>
          <p:cNvPicPr preferRelativeResize="0"/>
          <p:nvPr/>
        </p:nvPicPr>
        <p:blipFill rotWithShape="1">
          <a:blip r:embed="rId4">
            <a:alphaModFix/>
          </a:blip>
          <a:srcRect b="57590" l="5310" r="80092" t="16627"/>
          <a:stretch/>
        </p:blipFill>
        <p:spPr>
          <a:xfrm>
            <a:off x="439900" y="1128550"/>
            <a:ext cx="591227" cy="659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4"/>
          <p:cNvPicPr preferRelativeResize="0"/>
          <p:nvPr/>
        </p:nvPicPr>
        <p:blipFill rotWithShape="1">
          <a:blip r:embed="rId4">
            <a:alphaModFix/>
          </a:blip>
          <a:srcRect b="62908" l="28433" r="61202" t="16958"/>
          <a:stretch/>
        </p:blipFill>
        <p:spPr>
          <a:xfrm>
            <a:off x="8089873" y="1128548"/>
            <a:ext cx="466959" cy="572699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Public-Key Cryptography</a:t>
            </a:r>
            <a:endParaRPr/>
          </a:p>
        </p:txBody>
      </p:sp>
      <p:sp>
        <p:nvSpPr>
          <p:cNvPr id="121" name="Google Shape;1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2" name="Google Shape;12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141351">
            <a:off x="3459462" y="3210775"/>
            <a:ext cx="2225087" cy="184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Public-Key Cryptography</a:t>
            </a:r>
            <a:endParaRPr/>
          </a:p>
        </p:txBody>
      </p:sp>
      <p:sp>
        <p:nvSpPr>
          <p:cNvPr id="128" name="Google Shape;1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6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public-key schemes, each person has two keys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Public key</a:t>
            </a:r>
            <a:r>
              <a:rPr lang="en"/>
              <a:t>: Known to everybody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Private key</a:t>
            </a:r>
            <a:r>
              <a:rPr lang="en"/>
              <a:t>: Only known by that person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Keys come in pairs: every public key corresponds to one private key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Uses number theory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Examples: Modular arithmetic, factoring, discrete logarithm problem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Contrast with symmetric-key cryptography (uses XORs and bit-shifts)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Messages are numbers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Contrast with symmetric-key cryptography (messages are bit strings)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Benefit: No longer need to assume that Alice and Bob already share a secret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Drawback: Much slower than symmetric-key cryptography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theory calculations are much slower than XORs and bit-shifts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2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2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2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2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2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2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Public-Key Encryption</a:t>
            </a:r>
            <a:endParaRPr/>
          </a:p>
        </p:txBody>
      </p:sp>
      <p:sp>
        <p:nvSpPr>
          <p:cNvPr id="135" name="Google Shape;1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" name="Google Shape;136;p7"/>
          <p:cNvSpPr txBox="1"/>
          <p:nvPr/>
        </p:nvSpPr>
        <p:spPr>
          <a:xfrm>
            <a:off x="512100" y="4520775"/>
            <a:ext cx="8119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Textbook Chapter 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Public-Key Encryption</a:t>
            </a:r>
            <a:endParaRPr/>
          </a:p>
        </p:txBody>
      </p:sp>
      <p:sp>
        <p:nvSpPr>
          <p:cNvPr id="142" name="Google Shape;142;p8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Everybody can encrypt with the public key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Only the recipient can decrypt with the private key</a:t>
            </a:r>
            <a:endParaRPr/>
          </a:p>
        </p:txBody>
      </p:sp>
      <p:sp>
        <p:nvSpPr>
          <p:cNvPr id="143" name="Google Shape;1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4" name="Google Shape;14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79221" y="2262325"/>
            <a:ext cx="1059050" cy="98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70244" y="2159250"/>
            <a:ext cx="1021100" cy="93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8"/>
          <p:cNvPicPr preferRelativeResize="0"/>
          <p:nvPr/>
        </p:nvPicPr>
        <p:blipFill rotWithShape="1">
          <a:blip r:embed="rId5">
            <a:alphaModFix/>
          </a:blip>
          <a:srcRect b="11055" l="0" r="0" t="0"/>
          <a:stretch/>
        </p:blipFill>
        <p:spPr>
          <a:xfrm rot="-1917998">
            <a:off x="7147900" y="1311400"/>
            <a:ext cx="952850" cy="87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8"/>
          <p:cNvSpPr/>
          <p:nvPr/>
        </p:nvSpPr>
        <p:spPr>
          <a:xfrm rot="2700000">
            <a:off x="6973660" y="951836"/>
            <a:ext cx="1559595" cy="1468378"/>
          </a:xfrm>
          <a:prstGeom prst="mathPlus">
            <a:avLst>
              <a:gd fmla="val 4246" name="adj1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3475" y="1962558"/>
            <a:ext cx="4373500" cy="3094268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8"/>
          <p:cNvSpPr/>
          <p:nvPr/>
        </p:nvSpPr>
        <p:spPr>
          <a:xfrm>
            <a:off x="687500" y="3301500"/>
            <a:ext cx="1230600" cy="1629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Public-Key Encryption: Definition</a:t>
            </a:r>
            <a:endParaRPr/>
          </a:p>
        </p:txBody>
      </p:sp>
      <p:sp>
        <p:nvSpPr>
          <p:cNvPr id="155" name="Google Shape;155;p9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Three parts: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KeyGen() → </a:t>
            </a:r>
            <a:r>
              <a:rPr i="1" lang="en"/>
              <a:t>PK</a:t>
            </a:r>
            <a:r>
              <a:rPr lang="en"/>
              <a:t>, </a:t>
            </a:r>
            <a:r>
              <a:rPr i="1" lang="en"/>
              <a:t>SK</a:t>
            </a:r>
            <a:r>
              <a:rPr lang="en"/>
              <a:t>: Generate a public/private keypair, where </a:t>
            </a:r>
            <a:r>
              <a:rPr i="1" lang="en"/>
              <a:t>PK</a:t>
            </a:r>
            <a:r>
              <a:rPr lang="en"/>
              <a:t> is the public key, and </a:t>
            </a:r>
            <a:r>
              <a:rPr i="1" lang="en"/>
              <a:t>SK</a:t>
            </a:r>
            <a:r>
              <a:rPr lang="en"/>
              <a:t> is the private (secret) key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Enc(</a:t>
            </a:r>
            <a:r>
              <a:rPr i="1" lang="en"/>
              <a:t>PK</a:t>
            </a:r>
            <a:r>
              <a:rPr lang="en"/>
              <a:t>, </a:t>
            </a:r>
            <a:r>
              <a:rPr i="1" lang="en"/>
              <a:t>M</a:t>
            </a:r>
            <a:r>
              <a:rPr lang="en"/>
              <a:t>) → </a:t>
            </a:r>
            <a:r>
              <a:rPr i="1" lang="en"/>
              <a:t>C</a:t>
            </a:r>
            <a:r>
              <a:rPr lang="en"/>
              <a:t>: Encrypt a plaintext </a:t>
            </a:r>
            <a:r>
              <a:rPr i="1" lang="en"/>
              <a:t>M</a:t>
            </a:r>
            <a:r>
              <a:rPr lang="en"/>
              <a:t> using public key </a:t>
            </a:r>
            <a:r>
              <a:rPr i="1" lang="en"/>
              <a:t>PK</a:t>
            </a:r>
            <a:r>
              <a:rPr lang="en"/>
              <a:t> to produce ciphertext </a:t>
            </a:r>
            <a:r>
              <a:rPr i="1" lang="en"/>
              <a:t>C</a:t>
            </a:r>
            <a:endParaRPr i="1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Dec(</a:t>
            </a:r>
            <a:r>
              <a:rPr i="1" lang="en"/>
              <a:t>SK</a:t>
            </a:r>
            <a:r>
              <a:rPr lang="en"/>
              <a:t>, </a:t>
            </a:r>
            <a:r>
              <a:rPr i="1" lang="en"/>
              <a:t>C</a:t>
            </a:r>
            <a:r>
              <a:rPr lang="en"/>
              <a:t>) → </a:t>
            </a:r>
            <a:r>
              <a:rPr i="1" lang="en"/>
              <a:t>M</a:t>
            </a:r>
            <a:r>
              <a:rPr lang="en"/>
              <a:t>: Decrypt a ciphertext </a:t>
            </a:r>
            <a:r>
              <a:rPr i="1" lang="en"/>
              <a:t>C</a:t>
            </a:r>
            <a:r>
              <a:rPr lang="en"/>
              <a:t> using secret key </a:t>
            </a:r>
            <a:r>
              <a:rPr i="1" lang="en"/>
              <a:t>SK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Properties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Correctness</a:t>
            </a:r>
            <a:r>
              <a:rPr lang="en"/>
              <a:t>: Decrypting a ciphertext should result in the message that was originally encrypted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Dec(</a:t>
            </a:r>
            <a:r>
              <a:rPr i="1" lang="en"/>
              <a:t>SK</a:t>
            </a:r>
            <a:r>
              <a:rPr lang="en"/>
              <a:t>, Enc(</a:t>
            </a:r>
            <a:r>
              <a:rPr i="1" lang="en"/>
              <a:t>PK</a:t>
            </a:r>
            <a:r>
              <a:rPr lang="en"/>
              <a:t>, </a:t>
            </a:r>
            <a:r>
              <a:rPr i="1" lang="en"/>
              <a:t>M</a:t>
            </a:r>
            <a:r>
              <a:rPr lang="en"/>
              <a:t>)) = </a:t>
            </a:r>
            <a:r>
              <a:rPr i="1" lang="en"/>
              <a:t>M</a:t>
            </a:r>
            <a:r>
              <a:rPr lang="en"/>
              <a:t> for all </a:t>
            </a:r>
            <a:r>
              <a:rPr i="1" lang="en"/>
              <a:t>PK</a:t>
            </a:r>
            <a:r>
              <a:rPr lang="en"/>
              <a:t>, </a:t>
            </a:r>
            <a:r>
              <a:rPr i="1" lang="en"/>
              <a:t>SK</a:t>
            </a:r>
            <a:r>
              <a:rPr lang="en"/>
              <a:t> ← KeyGen() and </a:t>
            </a:r>
            <a:r>
              <a:rPr i="1" lang="en"/>
              <a:t>M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Efficiency</a:t>
            </a:r>
            <a:r>
              <a:rPr lang="en"/>
              <a:t>: Encryption/decryption should be reasonably fast</a:t>
            </a:r>
            <a:endParaRPr/>
          </a:p>
        </p:txBody>
      </p:sp>
      <p:sp>
        <p:nvSpPr>
          <p:cNvPr id="156" name="Google Shape;15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5402250507_0_3"/>
          <p:cNvSpPr txBox="1"/>
          <p:nvPr>
            <p:ph type="title"/>
          </p:nvPr>
        </p:nvSpPr>
        <p:spPr>
          <a:xfrm>
            <a:off x="311700" y="139760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ElGamal Encryption</a:t>
            </a:r>
            <a:endParaRPr/>
          </a:p>
        </p:txBody>
      </p:sp>
      <p:sp>
        <p:nvSpPr>
          <p:cNvPr id="162" name="Google Shape;162;g35402250507_0_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3" name="Google Shape;163;g35402250507_0_3"/>
          <p:cNvSpPr txBox="1"/>
          <p:nvPr/>
        </p:nvSpPr>
        <p:spPr>
          <a:xfrm>
            <a:off x="512100" y="4520775"/>
            <a:ext cx="8119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Textbook Chapter 11.4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g35402250507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5463" y="2309425"/>
            <a:ext cx="1713069" cy="2141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5402250507_0_10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Cryptography Roadmap</a:t>
            </a:r>
            <a:endParaRPr/>
          </a:p>
        </p:txBody>
      </p:sp>
      <p:graphicFrame>
        <p:nvGraphicFramePr>
          <p:cNvPr id="170" name="Google Shape;170;g35402250507_0_10"/>
          <p:cNvGraphicFramePr/>
          <p:nvPr/>
        </p:nvGraphicFramePr>
        <p:xfrm>
          <a:off x="311700" y="131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{C7F7962E-1117-494F-86AC-EA512BDA6105}</a:tableStyleId>
              </a:tblPr>
              <a:tblGrid>
                <a:gridCol w="1739450"/>
                <a:gridCol w="3241925"/>
                <a:gridCol w="3539225"/>
              </a:tblGrid>
              <a:tr h="374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/>
                        <a:t>Symmetric-key</a:t>
                      </a:r>
                      <a:endParaRPr sz="16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/>
                        <a:t>Asymmetric-key</a:t>
                      </a:r>
                      <a:endParaRPr sz="1600" u="none" cap="none" strike="noStrike"/>
                    </a:p>
                  </a:txBody>
                  <a:tcPr marT="91425" marB="91425" marR="91425" marL="91425"/>
                </a:tc>
              </a:tr>
              <a:tr h="802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/>
                        <a:t>Confidentiality</a:t>
                      </a:r>
                      <a:endParaRPr sz="16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7B7B7"/>
                        </a:buClr>
                        <a:buSzPts val="1600"/>
                        <a:buFont typeface="Arial"/>
                        <a:buChar char="●"/>
                      </a:pPr>
                      <a:r>
                        <a:rPr lang="en" sz="1600" u="none" cap="none" strike="noStrike">
                          <a:solidFill>
                            <a:srgbClr val="B7B7B7"/>
                          </a:solidFill>
                        </a:rPr>
                        <a:t>One-time pads</a:t>
                      </a:r>
                      <a:endParaRPr sz="1600" u="none" cap="none" strike="noStrike">
                        <a:solidFill>
                          <a:srgbClr val="B7B7B7"/>
                        </a:solidFill>
                      </a:endParaRPr>
                    </a:p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7B7B7"/>
                        </a:buClr>
                        <a:buSzPts val="1600"/>
                        <a:buFont typeface="Arial"/>
                        <a:buChar char="●"/>
                      </a:pPr>
                      <a:r>
                        <a:rPr lang="en" sz="1600" u="none" cap="none" strike="noStrike">
                          <a:solidFill>
                            <a:srgbClr val="B7B7B7"/>
                          </a:solidFill>
                        </a:rPr>
                        <a:t>Block ciphers with chaining modes (e.g. AES-CBC)</a:t>
                      </a:r>
                      <a:endParaRPr sz="1600" u="none" cap="none" strike="noStrike">
                        <a:solidFill>
                          <a:srgbClr val="B7B7B7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●"/>
                      </a:pPr>
                      <a:r>
                        <a:rPr lang="en" sz="1600" u="none" cap="none" strike="noStrike"/>
                        <a:t>RSA encryption</a:t>
                      </a:r>
                      <a:endParaRPr sz="1600" u="none" cap="none" strike="noStrike"/>
                    </a:p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Arial"/>
                        <a:buChar char="●"/>
                      </a:pPr>
                      <a:r>
                        <a:rPr lang="en" sz="1600" u="none" cap="none" strike="noStrike">
                          <a:solidFill>
                            <a:srgbClr val="FF0000"/>
                          </a:solidFill>
                        </a:rPr>
                        <a:t>ElGamal encryption</a:t>
                      </a:r>
                      <a:endParaRPr sz="16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802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/>
                        <a:t>Integrity,</a:t>
                      </a:r>
                      <a:br>
                        <a:rPr lang="en" sz="1600" u="none" cap="none" strike="noStrike"/>
                      </a:br>
                      <a:r>
                        <a:rPr lang="en" sz="1600" u="none" cap="none" strike="noStrike"/>
                        <a:t>Authentication</a:t>
                      </a:r>
                      <a:endParaRPr sz="16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7B7B7"/>
                        </a:buClr>
                        <a:buSzPts val="1600"/>
                        <a:buFont typeface="Arial"/>
                        <a:buChar char="●"/>
                      </a:pPr>
                      <a:r>
                        <a:rPr lang="en" sz="1600" u="none" cap="none" strike="noStrike">
                          <a:solidFill>
                            <a:srgbClr val="B7B7B7"/>
                          </a:solidFill>
                        </a:rPr>
                        <a:t>MACs (e.g. HMAC)</a:t>
                      </a:r>
                      <a:endParaRPr sz="1600" u="none" cap="none" strike="noStrike">
                        <a:solidFill>
                          <a:srgbClr val="B7B7B7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●"/>
                      </a:pPr>
                      <a:r>
                        <a:rPr lang="en" sz="1600" u="none" cap="none" strike="noStrike"/>
                        <a:t>Digital signatures (e.g. RSA signatures)</a:t>
                      </a:r>
                      <a:endParaRPr sz="16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1" name="Google Shape;171;g35402250507_0_10"/>
          <p:cNvSpPr txBox="1"/>
          <p:nvPr>
            <p:ph idx="4294967295" type="body"/>
          </p:nvPr>
        </p:nvSpPr>
        <p:spPr>
          <a:xfrm>
            <a:off x="198500" y="3844625"/>
            <a:ext cx="4373400" cy="11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"/>
              <a:buChar char="●"/>
            </a:pPr>
            <a:r>
              <a:rPr lang="en" sz="1600">
                <a:solidFill>
                  <a:srgbClr val="B7B7B7"/>
                </a:solidFill>
              </a:rPr>
              <a:t>Hash functions</a:t>
            </a:r>
            <a:endParaRPr sz="1600">
              <a:solidFill>
                <a:srgbClr val="B7B7B7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"/>
              <a:buChar char="●"/>
            </a:pPr>
            <a:r>
              <a:rPr lang="en" sz="1600">
                <a:solidFill>
                  <a:srgbClr val="B7B7B7"/>
                </a:solidFill>
              </a:rPr>
              <a:t>Pseudorandom number generators</a:t>
            </a:r>
            <a:endParaRPr sz="1600">
              <a:solidFill>
                <a:srgbClr val="B7B7B7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"/>
              <a:buChar char="●"/>
            </a:pPr>
            <a:r>
              <a:rPr lang="en" sz="1600">
                <a:solidFill>
                  <a:srgbClr val="B7B7B7"/>
                </a:solidFill>
              </a:rPr>
              <a:t>Public key exchange (e.g. Diffie-Hellman)</a:t>
            </a:r>
            <a:endParaRPr sz="1600">
              <a:solidFill>
                <a:srgbClr val="B7B7B7"/>
              </a:solidFill>
            </a:endParaRPr>
          </a:p>
        </p:txBody>
      </p:sp>
      <p:sp>
        <p:nvSpPr>
          <p:cNvPr id="172" name="Google Shape;172;g35402250507_0_10"/>
          <p:cNvSpPr txBox="1"/>
          <p:nvPr/>
        </p:nvSpPr>
        <p:spPr>
          <a:xfrm>
            <a:off x="5175400" y="3844625"/>
            <a:ext cx="34479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management (certificates)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Password management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5402250507_0_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5402250507_0_18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ElGamal Encryption</a:t>
            </a:r>
            <a:endParaRPr/>
          </a:p>
        </p:txBody>
      </p:sp>
      <p:sp>
        <p:nvSpPr>
          <p:cNvPr id="179" name="Google Shape;179;g35402250507_0_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0" name="Google Shape;180;g35402250507_0_18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Diffie-Hellman key exchange is great: It lets Alice and Bob share a secret over an insecure channel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problems: 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Diffie-Hellman by itself can’t send messages. The secret </a:t>
            </a:r>
            <a:r>
              <a:rPr i="1" lang="en"/>
              <a:t>g</a:t>
            </a:r>
            <a:r>
              <a:rPr baseline="30000" i="1" lang="en"/>
              <a:t>ab</a:t>
            </a:r>
            <a:r>
              <a:rPr lang="en"/>
              <a:t> mod </a:t>
            </a:r>
            <a:r>
              <a:rPr i="1" lang="en"/>
              <a:t>p</a:t>
            </a:r>
            <a:r>
              <a:rPr lang="en"/>
              <a:t> is random.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Both Alice and Bob needs to be online in order to perform this key exchange.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Idea: Let’s modify Diffie-Hellman so it supports encrypting and decrypting messages directly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5402250507_0_24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ElGamal Encryption: Protocol</a:t>
            </a:r>
            <a:endParaRPr/>
          </a:p>
        </p:txBody>
      </p:sp>
      <p:sp>
        <p:nvSpPr>
          <p:cNvPr id="186" name="Google Shape;186;g35402250507_0_24"/>
          <p:cNvSpPr txBox="1"/>
          <p:nvPr>
            <p:ph idx="1" type="body"/>
          </p:nvPr>
        </p:nvSpPr>
        <p:spPr>
          <a:xfrm>
            <a:off x="198500" y="1246825"/>
            <a:ext cx="85206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KeyGen():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Bob generates private key </a:t>
            </a:r>
            <a:r>
              <a:rPr i="1" lang="en">
                <a:solidFill>
                  <a:srgbClr val="9900FF"/>
                </a:solidFill>
              </a:rPr>
              <a:t>b</a:t>
            </a:r>
            <a:r>
              <a:rPr lang="en"/>
              <a:t> and public key </a:t>
            </a:r>
            <a:r>
              <a:rPr i="1" lang="en">
                <a:solidFill>
                  <a:srgbClr val="0000FF"/>
                </a:solidFill>
              </a:rPr>
              <a:t>B</a:t>
            </a:r>
            <a:r>
              <a:rPr lang="en"/>
              <a:t> = </a:t>
            </a:r>
            <a:r>
              <a:rPr i="1" lang="en"/>
              <a:t>g</a:t>
            </a:r>
            <a:r>
              <a:rPr baseline="30000" i="1" lang="en">
                <a:solidFill>
                  <a:srgbClr val="9900FF"/>
                </a:solidFill>
              </a:rPr>
              <a:t>b</a:t>
            </a:r>
            <a:r>
              <a:rPr lang="en"/>
              <a:t> mod </a:t>
            </a:r>
            <a:r>
              <a:rPr i="1" lang="en"/>
              <a:t>p</a:t>
            </a:r>
            <a:endParaRPr i="1"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Intuition: Bob is completing his half of the Diffie-Hellman exchange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Enc(</a:t>
            </a:r>
            <a:r>
              <a:rPr i="1" lang="en">
                <a:solidFill>
                  <a:srgbClr val="0000FF"/>
                </a:solidFill>
              </a:rPr>
              <a:t>B</a:t>
            </a:r>
            <a:r>
              <a:rPr lang="en"/>
              <a:t>, </a:t>
            </a:r>
            <a:r>
              <a:rPr i="1" lang="en"/>
              <a:t>M</a:t>
            </a:r>
            <a:r>
              <a:rPr lang="en"/>
              <a:t>):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Alice generates a random </a:t>
            </a:r>
            <a:r>
              <a:rPr i="1" lang="en">
                <a:solidFill>
                  <a:srgbClr val="FF9900"/>
                </a:solidFill>
              </a:rPr>
              <a:t>r</a:t>
            </a:r>
            <a:r>
              <a:rPr lang="en"/>
              <a:t> and computes </a:t>
            </a:r>
            <a:r>
              <a:rPr i="1" lang="en">
                <a:solidFill>
                  <a:srgbClr val="FF0000"/>
                </a:solidFill>
              </a:rPr>
              <a:t>R</a:t>
            </a:r>
            <a:r>
              <a:rPr lang="en"/>
              <a:t> = </a:t>
            </a:r>
            <a:r>
              <a:rPr i="1" lang="en"/>
              <a:t>g</a:t>
            </a:r>
            <a:r>
              <a:rPr baseline="30000" i="1" lang="en">
                <a:solidFill>
                  <a:srgbClr val="FF9900"/>
                </a:solidFill>
              </a:rPr>
              <a:t>r</a:t>
            </a:r>
            <a:r>
              <a:rPr lang="en"/>
              <a:t> mod </a:t>
            </a:r>
            <a:r>
              <a:rPr i="1" lang="en"/>
              <a:t>p</a:t>
            </a:r>
            <a:endParaRPr i="1"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Intuition: Alice is completing her half of the Diffie-Hellman exchange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Alice computes M × </a:t>
            </a:r>
            <a:r>
              <a:rPr i="1" lang="en">
                <a:solidFill>
                  <a:srgbClr val="0000FF"/>
                </a:solidFill>
              </a:rPr>
              <a:t>B</a:t>
            </a:r>
            <a:r>
              <a:rPr baseline="30000" i="1" lang="en">
                <a:solidFill>
                  <a:srgbClr val="FF9900"/>
                </a:solidFill>
              </a:rPr>
              <a:t>r</a:t>
            </a:r>
            <a:r>
              <a:rPr lang="en"/>
              <a:t> mod </a:t>
            </a:r>
            <a:r>
              <a:rPr i="1" lang="en"/>
              <a:t>p</a:t>
            </a:r>
            <a:endParaRPr i="1"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Intuition: Alice derives the shared secret and multiples her message by the secret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Alice sends </a:t>
            </a:r>
            <a:r>
              <a:rPr i="1" lang="en">
                <a:solidFill>
                  <a:srgbClr val="FF0000"/>
                </a:solidFill>
              </a:rPr>
              <a:t>C</a:t>
            </a:r>
            <a:r>
              <a:rPr lang="en" sz="900">
                <a:solidFill>
                  <a:srgbClr val="FF0000"/>
                </a:solidFill>
              </a:rPr>
              <a:t>1</a:t>
            </a:r>
            <a:r>
              <a:rPr lang="en"/>
              <a:t> = </a:t>
            </a:r>
            <a:r>
              <a:rPr i="1" lang="en">
                <a:solidFill>
                  <a:srgbClr val="FF0000"/>
                </a:solidFill>
              </a:rPr>
              <a:t>R</a:t>
            </a:r>
            <a:r>
              <a:rPr lang="en"/>
              <a:t>, </a:t>
            </a:r>
            <a:r>
              <a:rPr i="1" lang="en"/>
              <a:t>C</a:t>
            </a:r>
            <a:r>
              <a:rPr lang="en" sz="900"/>
              <a:t>2</a:t>
            </a:r>
            <a:r>
              <a:rPr lang="en"/>
              <a:t> = </a:t>
            </a:r>
            <a:r>
              <a:rPr i="1" lang="en"/>
              <a:t>M × </a:t>
            </a:r>
            <a:r>
              <a:rPr i="1" lang="en">
                <a:solidFill>
                  <a:srgbClr val="0000FF"/>
                </a:solidFill>
              </a:rPr>
              <a:t>B</a:t>
            </a:r>
            <a:r>
              <a:rPr baseline="30000" i="1" lang="en">
                <a:solidFill>
                  <a:srgbClr val="FF9900"/>
                </a:solidFill>
              </a:rPr>
              <a:t>r</a:t>
            </a:r>
            <a:r>
              <a:rPr lang="en"/>
              <a:t> mod </a:t>
            </a:r>
            <a:r>
              <a:rPr i="1" lang="en"/>
              <a:t>p</a:t>
            </a:r>
            <a:endParaRPr i="1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Dec(</a:t>
            </a:r>
            <a:r>
              <a:rPr i="1" lang="en">
                <a:solidFill>
                  <a:srgbClr val="9900FF"/>
                </a:solidFill>
              </a:rPr>
              <a:t>b</a:t>
            </a:r>
            <a:r>
              <a:rPr lang="en"/>
              <a:t>, </a:t>
            </a:r>
            <a:r>
              <a:rPr i="1" lang="en">
                <a:solidFill>
                  <a:srgbClr val="FF0000"/>
                </a:solidFill>
              </a:rPr>
              <a:t>C</a:t>
            </a:r>
            <a:r>
              <a:rPr lang="en" sz="1200">
                <a:solidFill>
                  <a:srgbClr val="FF0000"/>
                </a:solidFill>
              </a:rPr>
              <a:t>1</a:t>
            </a:r>
            <a:r>
              <a:rPr lang="en"/>
              <a:t>, </a:t>
            </a:r>
            <a:r>
              <a:rPr i="1" lang="en"/>
              <a:t>C</a:t>
            </a:r>
            <a:r>
              <a:rPr lang="en" sz="1200"/>
              <a:t>2</a:t>
            </a:r>
            <a:r>
              <a:rPr lang="en"/>
              <a:t>)</a:t>
            </a:r>
            <a:endParaRPr baseline="300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Bob computes </a:t>
            </a:r>
            <a:r>
              <a:rPr i="1" lang="en"/>
              <a:t>C</a:t>
            </a:r>
            <a:r>
              <a:rPr lang="en" sz="900"/>
              <a:t>2</a:t>
            </a:r>
            <a:r>
              <a:rPr lang="en"/>
              <a:t> × </a:t>
            </a:r>
            <a:r>
              <a:rPr i="1" lang="en">
                <a:solidFill>
                  <a:srgbClr val="FF0000"/>
                </a:solidFill>
              </a:rPr>
              <a:t>C</a:t>
            </a:r>
            <a:r>
              <a:rPr lang="en" sz="900">
                <a:solidFill>
                  <a:srgbClr val="FF0000"/>
                </a:solidFill>
              </a:rPr>
              <a:t>1</a:t>
            </a:r>
            <a:r>
              <a:rPr baseline="30000" lang="en"/>
              <a:t>-</a:t>
            </a:r>
            <a:r>
              <a:rPr baseline="30000" i="1" lang="en">
                <a:solidFill>
                  <a:srgbClr val="9900FF"/>
                </a:solidFill>
              </a:rPr>
              <a:t>b</a:t>
            </a:r>
            <a:r>
              <a:rPr lang="en"/>
              <a:t> = </a:t>
            </a:r>
            <a:r>
              <a:rPr i="1" lang="en"/>
              <a:t>M</a:t>
            </a:r>
            <a:r>
              <a:rPr lang="en"/>
              <a:t> × </a:t>
            </a:r>
            <a:r>
              <a:rPr i="1" lang="en">
                <a:solidFill>
                  <a:srgbClr val="0000FF"/>
                </a:solidFill>
              </a:rPr>
              <a:t>B</a:t>
            </a:r>
            <a:r>
              <a:rPr baseline="30000" i="1" lang="en">
                <a:solidFill>
                  <a:srgbClr val="FF9900"/>
                </a:solidFill>
              </a:rPr>
              <a:t>r</a:t>
            </a:r>
            <a:r>
              <a:rPr lang="en"/>
              <a:t> × </a:t>
            </a:r>
            <a:r>
              <a:rPr i="1" lang="en">
                <a:solidFill>
                  <a:srgbClr val="FF0000"/>
                </a:solidFill>
              </a:rPr>
              <a:t>R</a:t>
            </a:r>
            <a:r>
              <a:rPr baseline="30000" lang="en">
                <a:solidFill>
                  <a:srgbClr val="9900FF"/>
                </a:solidFill>
              </a:rPr>
              <a:t>-</a:t>
            </a:r>
            <a:r>
              <a:rPr baseline="30000" i="1" lang="en">
                <a:solidFill>
                  <a:srgbClr val="9900FF"/>
                </a:solidFill>
              </a:rPr>
              <a:t>b </a:t>
            </a:r>
            <a:r>
              <a:rPr lang="en"/>
              <a:t>= </a:t>
            </a:r>
            <a:r>
              <a:rPr i="1" lang="en"/>
              <a:t>M</a:t>
            </a:r>
            <a:r>
              <a:rPr lang="en"/>
              <a:t> × </a:t>
            </a:r>
            <a:r>
              <a:rPr i="1" lang="en"/>
              <a:t>g</a:t>
            </a:r>
            <a:r>
              <a:rPr baseline="30000" i="1" lang="en">
                <a:solidFill>
                  <a:srgbClr val="9900FF"/>
                </a:solidFill>
              </a:rPr>
              <a:t>b</a:t>
            </a:r>
            <a:r>
              <a:rPr baseline="30000" i="1" lang="en">
                <a:solidFill>
                  <a:srgbClr val="FF9900"/>
                </a:solidFill>
              </a:rPr>
              <a:t>r</a:t>
            </a:r>
            <a:r>
              <a:rPr lang="en"/>
              <a:t> × </a:t>
            </a:r>
            <a:r>
              <a:rPr i="1" lang="en"/>
              <a:t>g</a:t>
            </a:r>
            <a:r>
              <a:rPr baseline="30000" lang="en"/>
              <a:t>-</a:t>
            </a:r>
            <a:r>
              <a:rPr baseline="30000" i="1" lang="en">
                <a:solidFill>
                  <a:srgbClr val="9900FF"/>
                </a:solidFill>
              </a:rPr>
              <a:t>b</a:t>
            </a:r>
            <a:r>
              <a:rPr baseline="30000" i="1" lang="en">
                <a:solidFill>
                  <a:srgbClr val="FF9900"/>
                </a:solidFill>
              </a:rPr>
              <a:t>r</a:t>
            </a:r>
            <a:r>
              <a:rPr lang="en"/>
              <a:t> = </a:t>
            </a:r>
            <a:r>
              <a:rPr i="1" lang="en"/>
              <a:t>M</a:t>
            </a:r>
            <a:r>
              <a:rPr lang="en"/>
              <a:t> mod </a:t>
            </a:r>
            <a:r>
              <a:rPr i="1" lang="en"/>
              <a:t>p</a:t>
            </a:r>
            <a:endParaRPr i="1"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Intuition: Bob derives the (inverse) shared secret and multiples the ciphertext by the inverse shared secret</a:t>
            </a:r>
            <a:endParaRPr/>
          </a:p>
        </p:txBody>
      </p:sp>
      <p:sp>
        <p:nvSpPr>
          <p:cNvPr id="187" name="Google Shape;187;g35402250507_0_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5402250507_0_30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ElGamal Encryption: Security</a:t>
            </a:r>
            <a:endParaRPr/>
          </a:p>
        </p:txBody>
      </p:sp>
      <p:sp>
        <p:nvSpPr>
          <p:cNvPr id="193" name="Google Shape;193;g35402250507_0_30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Recall Diffie-Hellman problem: Given </a:t>
            </a:r>
            <a:r>
              <a:rPr i="1" lang="en"/>
              <a:t>g</a:t>
            </a:r>
            <a:r>
              <a:rPr baseline="30000" i="1" lang="en"/>
              <a:t>a</a:t>
            </a:r>
            <a:r>
              <a:rPr lang="en"/>
              <a:t> mod </a:t>
            </a:r>
            <a:r>
              <a:rPr i="1" lang="en"/>
              <a:t>p</a:t>
            </a:r>
            <a:r>
              <a:rPr lang="en"/>
              <a:t> and </a:t>
            </a:r>
            <a:r>
              <a:rPr i="1" lang="en"/>
              <a:t>g</a:t>
            </a:r>
            <a:r>
              <a:rPr baseline="30000" i="1" lang="en"/>
              <a:t>b</a:t>
            </a:r>
            <a:r>
              <a:rPr lang="en"/>
              <a:t> mod </a:t>
            </a:r>
            <a:r>
              <a:rPr i="1" lang="en"/>
              <a:t>p</a:t>
            </a:r>
            <a:r>
              <a:rPr lang="en"/>
              <a:t>, hard to recover </a:t>
            </a:r>
            <a:r>
              <a:rPr i="1" lang="en"/>
              <a:t>g</a:t>
            </a:r>
            <a:r>
              <a:rPr baseline="30000" i="1" lang="en"/>
              <a:t>ab</a:t>
            </a:r>
            <a:r>
              <a:rPr lang="en"/>
              <a:t> mod </a:t>
            </a:r>
            <a:r>
              <a:rPr i="1" lang="en"/>
              <a:t>p</a:t>
            </a:r>
            <a:endParaRPr i="1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ElGamal sends these values over the insecure channel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Bob’s public key: </a:t>
            </a:r>
            <a:r>
              <a:rPr i="1" lang="en">
                <a:solidFill>
                  <a:srgbClr val="0000FF"/>
                </a:solidFill>
              </a:rPr>
              <a:t>B</a:t>
            </a:r>
            <a:endParaRPr i="1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Ciphertext: </a:t>
            </a:r>
            <a:r>
              <a:rPr i="1" lang="en">
                <a:solidFill>
                  <a:srgbClr val="FF0000"/>
                </a:solidFill>
              </a:rPr>
              <a:t>R</a:t>
            </a:r>
            <a:r>
              <a:rPr lang="en"/>
              <a:t>, </a:t>
            </a:r>
            <a:r>
              <a:rPr i="1" lang="en"/>
              <a:t>M × </a:t>
            </a:r>
            <a:r>
              <a:rPr i="1" lang="en">
                <a:solidFill>
                  <a:srgbClr val="0000FF"/>
                </a:solidFill>
              </a:rPr>
              <a:t>B</a:t>
            </a:r>
            <a:r>
              <a:rPr baseline="30000" i="1" lang="en">
                <a:solidFill>
                  <a:srgbClr val="FF9900"/>
                </a:solidFill>
              </a:rPr>
              <a:t>r</a:t>
            </a:r>
            <a:r>
              <a:rPr lang="en"/>
              <a:t> mod </a:t>
            </a:r>
            <a:r>
              <a:rPr i="1" lang="en"/>
              <a:t>p</a:t>
            </a:r>
            <a:endParaRPr i="1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 can’t derive </a:t>
            </a:r>
            <a:r>
              <a:rPr i="1" lang="en"/>
              <a:t>g</a:t>
            </a:r>
            <a:r>
              <a:rPr baseline="30000" i="1" lang="en">
                <a:solidFill>
                  <a:srgbClr val="9900FF"/>
                </a:solidFill>
              </a:rPr>
              <a:t>b</a:t>
            </a:r>
            <a:r>
              <a:rPr baseline="30000" i="1" lang="en">
                <a:solidFill>
                  <a:srgbClr val="FF9900"/>
                </a:solidFill>
              </a:rPr>
              <a:t>r</a:t>
            </a:r>
            <a:r>
              <a:rPr lang="en"/>
              <a:t>, so she can’t recover </a:t>
            </a:r>
            <a:r>
              <a:rPr i="1" lang="en"/>
              <a:t>M</a:t>
            </a:r>
            <a:endParaRPr i="1"/>
          </a:p>
        </p:txBody>
      </p:sp>
      <p:sp>
        <p:nvSpPr>
          <p:cNvPr id="194" name="Google Shape;194;g35402250507_0_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5402250507_0_36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ElGamal Encryption: Issues</a:t>
            </a:r>
            <a:endParaRPr/>
          </a:p>
        </p:txBody>
      </p:sp>
      <p:sp>
        <p:nvSpPr>
          <p:cNvPr id="200" name="Google Shape;200;g35402250507_0_36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 ElGamal encryption IND-CPA secure?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No. The adversary can send </a:t>
            </a:r>
            <a:r>
              <a:rPr i="1" lang="en"/>
              <a:t>M</a:t>
            </a:r>
            <a:r>
              <a:rPr lang="en" sz="900"/>
              <a:t>0</a:t>
            </a:r>
            <a:r>
              <a:rPr lang="en"/>
              <a:t> = 0, </a:t>
            </a:r>
            <a:r>
              <a:rPr i="1" lang="en"/>
              <a:t>M</a:t>
            </a:r>
            <a:r>
              <a:rPr lang="en" sz="900"/>
              <a:t>1</a:t>
            </a:r>
            <a:r>
              <a:rPr lang="en"/>
              <a:t> ≠ 0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</a:t>
            </a:r>
            <a:r>
              <a:rPr baseline="-25000" lang="en"/>
              <a:t>1</a:t>
            </a:r>
            <a:r>
              <a:rPr lang="en"/>
              <a:t> will be always 0, and C</a:t>
            </a:r>
            <a:r>
              <a:rPr baseline="-25000" lang="en"/>
              <a:t>2</a:t>
            </a:r>
            <a:r>
              <a:rPr lang="en"/>
              <a:t> will be always non-zero. Eve can easily distinguish.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Additional padding and other modifications are needed to make it semantically secure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Malleability: The adversary can tamper with the message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adversary can manipulate </a:t>
            </a:r>
            <a:r>
              <a:rPr i="1" lang="en"/>
              <a:t>C</a:t>
            </a:r>
            <a:r>
              <a:rPr lang="en" sz="900"/>
              <a:t>1</a:t>
            </a:r>
            <a:r>
              <a:rPr i="1" lang="en"/>
              <a:t>’</a:t>
            </a:r>
            <a:r>
              <a:rPr lang="en"/>
              <a:t> = </a:t>
            </a:r>
            <a:r>
              <a:rPr i="1" lang="en"/>
              <a:t>C</a:t>
            </a:r>
            <a:r>
              <a:rPr lang="en" sz="900"/>
              <a:t>1</a:t>
            </a:r>
            <a:r>
              <a:rPr lang="en"/>
              <a:t>, </a:t>
            </a:r>
            <a:r>
              <a:rPr i="1" lang="en"/>
              <a:t>C</a:t>
            </a:r>
            <a:r>
              <a:rPr lang="en" sz="900"/>
              <a:t>2</a:t>
            </a:r>
            <a:r>
              <a:rPr i="1" lang="en"/>
              <a:t>’</a:t>
            </a:r>
            <a:r>
              <a:rPr lang="en"/>
              <a:t> = 2 × </a:t>
            </a:r>
            <a:r>
              <a:rPr i="1" lang="en"/>
              <a:t>C</a:t>
            </a:r>
            <a:r>
              <a:rPr lang="en" sz="900"/>
              <a:t>2</a:t>
            </a:r>
            <a:r>
              <a:rPr lang="en"/>
              <a:t> = 2 × </a:t>
            </a:r>
            <a:r>
              <a:rPr i="1" lang="en"/>
              <a:t>M × g</a:t>
            </a:r>
            <a:r>
              <a:rPr baseline="30000" i="1" lang="en">
                <a:solidFill>
                  <a:srgbClr val="9900FF"/>
                </a:solidFill>
              </a:rPr>
              <a:t>b</a:t>
            </a:r>
            <a:r>
              <a:rPr baseline="30000" i="1" lang="en">
                <a:solidFill>
                  <a:srgbClr val="FF9900"/>
                </a:solidFill>
              </a:rPr>
              <a:t>r</a:t>
            </a:r>
            <a:r>
              <a:rPr lang="en"/>
              <a:t> to make it look like 2 × </a:t>
            </a:r>
            <a:r>
              <a:rPr i="1" lang="en"/>
              <a:t>M</a:t>
            </a:r>
            <a:r>
              <a:rPr lang="en"/>
              <a:t> was encrypted</a:t>
            </a:r>
            <a:endParaRPr/>
          </a:p>
        </p:txBody>
      </p:sp>
      <p:sp>
        <p:nvSpPr>
          <p:cNvPr id="201" name="Google Shape;201;g35402250507_0_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5402250507_0_112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</a:t>
            </a:r>
            <a:endParaRPr/>
          </a:p>
        </p:txBody>
      </p:sp>
      <p:sp>
        <p:nvSpPr>
          <p:cNvPr id="207" name="Google Shape;207;g35402250507_0_112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In an ElGamal cryptosystem: </a:t>
            </a:r>
            <a:endParaRPr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 prime modulus is </a:t>
            </a:r>
            <a:r>
              <a:rPr b="1" lang="en" sz="1500"/>
              <a:t>11</a:t>
            </a:r>
            <a:r>
              <a:rPr lang="en" sz="1500"/>
              <a:t>.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 primitive root (generator) is </a:t>
            </a:r>
            <a:r>
              <a:rPr b="1" lang="en" sz="1500"/>
              <a:t>2</a:t>
            </a:r>
            <a:r>
              <a:rPr lang="en" sz="1500"/>
              <a:t>.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Bob's </a:t>
            </a:r>
            <a:r>
              <a:rPr b="1" lang="en" sz="1500"/>
              <a:t>private key</a:t>
            </a:r>
            <a:r>
              <a:rPr lang="en" sz="1500"/>
              <a:t> is </a:t>
            </a:r>
            <a:r>
              <a:rPr b="1" lang="en" sz="1500"/>
              <a:t>4</a:t>
            </a:r>
            <a:r>
              <a:rPr lang="en" sz="1500"/>
              <a:t>.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Alice wants to send the message </a:t>
            </a:r>
            <a:r>
              <a:rPr b="1" lang="en" sz="1500"/>
              <a:t>7</a:t>
            </a:r>
            <a:r>
              <a:rPr lang="en" sz="1500"/>
              <a:t> to Bob using her </a:t>
            </a:r>
            <a:r>
              <a:rPr b="1" lang="en" sz="1500"/>
              <a:t>random key</a:t>
            </a:r>
            <a:r>
              <a:rPr lang="en" sz="1500"/>
              <a:t> </a:t>
            </a:r>
            <a:r>
              <a:rPr b="1" lang="en" sz="1500"/>
              <a:t>3</a:t>
            </a:r>
            <a:r>
              <a:rPr lang="en" sz="1500"/>
              <a:t>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Tasks:</a:t>
            </a:r>
            <a:endParaRPr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Compute Bob’s public key using the primitive root and his private key.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Calculate the first and second part of the ciphertext. Show the complete ciphertext pair.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Show how Bob decrypts the ciphertext.</a:t>
            </a:r>
            <a:endParaRPr sz="1500"/>
          </a:p>
        </p:txBody>
      </p:sp>
      <p:sp>
        <p:nvSpPr>
          <p:cNvPr id="208" name="Google Shape;208;g35402250507_0_1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5402250507_0_123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</a:t>
            </a:r>
            <a:endParaRPr/>
          </a:p>
        </p:txBody>
      </p:sp>
      <p:sp>
        <p:nvSpPr>
          <p:cNvPr id="214" name="Google Shape;214;g35402250507_0_123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Mallory can’t read or replace Bob’s private key b, but she can multiply it by a known factor z. She wants to send a message M that decrypts as usual using the modified key b*z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should Mallory send as C1?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should Mallory send as C2?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Assume Bob’s public modulus B is unchanged.</a:t>
            </a:r>
            <a:endParaRPr/>
          </a:p>
        </p:txBody>
      </p:sp>
      <p:sp>
        <p:nvSpPr>
          <p:cNvPr id="215" name="Google Shape;215;g35402250507_0_1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RSA Encryption</a:t>
            </a:r>
            <a:endParaRPr/>
          </a:p>
        </p:txBody>
      </p:sp>
      <p:sp>
        <p:nvSpPr>
          <p:cNvPr id="221" name="Google Shape;22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2" name="Google Shape;222;p10"/>
          <p:cNvSpPr txBox="1"/>
          <p:nvPr/>
        </p:nvSpPr>
        <p:spPr>
          <a:xfrm>
            <a:off x="512100" y="4520775"/>
            <a:ext cx="8119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Textbook Chapter 11.3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Cryptography Roadmap</a:t>
            </a:r>
            <a:endParaRPr/>
          </a:p>
        </p:txBody>
      </p:sp>
      <p:graphicFrame>
        <p:nvGraphicFramePr>
          <p:cNvPr id="228" name="Google Shape;228;p11"/>
          <p:cNvGraphicFramePr/>
          <p:nvPr/>
        </p:nvGraphicFramePr>
        <p:xfrm>
          <a:off x="311700" y="131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{C7F7962E-1117-494F-86AC-EA512BDA6105}</a:tableStyleId>
              </a:tblPr>
              <a:tblGrid>
                <a:gridCol w="1739450"/>
                <a:gridCol w="3241925"/>
                <a:gridCol w="3539225"/>
              </a:tblGrid>
              <a:tr h="374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/>
                        <a:t>Symmetric-key</a:t>
                      </a:r>
                      <a:endParaRPr sz="16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/>
                        <a:t>Asymmetric-key</a:t>
                      </a:r>
                      <a:endParaRPr sz="1600" u="none" cap="none" strike="noStrike"/>
                    </a:p>
                  </a:txBody>
                  <a:tcPr marT="91425" marB="91425" marR="91425" marL="91425"/>
                </a:tc>
              </a:tr>
              <a:tr h="802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/>
                        <a:t>Confidentiality</a:t>
                      </a:r>
                      <a:endParaRPr sz="16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7B7B7"/>
                        </a:buClr>
                        <a:buSzPts val="1600"/>
                        <a:buFont typeface="Arial"/>
                        <a:buChar char="●"/>
                      </a:pPr>
                      <a:r>
                        <a:rPr lang="en" sz="1600" u="none" cap="none" strike="noStrike">
                          <a:solidFill>
                            <a:srgbClr val="B7B7B7"/>
                          </a:solidFill>
                        </a:rPr>
                        <a:t>One-time pads</a:t>
                      </a:r>
                      <a:endParaRPr sz="1600" u="none" cap="none" strike="noStrike">
                        <a:solidFill>
                          <a:srgbClr val="B7B7B7"/>
                        </a:solidFill>
                      </a:endParaRPr>
                    </a:p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7B7B7"/>
                        </a:buClr>
                        <a:buSzPts val="1600"/>
                        <a:buFont typeface="Arial"/>
                        <a:buChar char="●"/>
                      </a:pPr>
                      <a:r>
                        <a:rPr lang="en" sz="1600" u="none" cap="none" strike="noStrike">
                          <a:solidFill>
                            <a:srgbClr val="B7B7B7"/>
                          </a:solidFill>
                        </a:rPr>
                        <a:t>Block ciphers with chaining modes (e.g. AES-CBC)</a:t>
                      </a:r>
                      <a:endParaRPr sz="1600" u="none" cap="none" strike="noStrike">
                        <a:solidFill>
                          <a:srgbClr val="B7B7B7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Arial"/>
                        <a:buChar char="●"/>
                      </a:pPr>
                      <a:r>
                        <a:rPr lang="en" sz="1600" u="none" cap="none" strike="noStrike">
                          <a:solidFill>
                            <a:srgbClr val="FF0000"/>
                          </a:solidFill>
                        </a:rPr>
                        <a:t>RSA encryption</a:t>
                      </a:r>
                      <a:endParaRPr sz="1600" u="none" cap="none" strike="noStrike">
                        <a:solidFill>
                          <a:srgbClr val="FF0000"/>
                        </a:solidFill>
                      </a:endParaRPr>
                    </a:p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7B7B7"/>
                        </a:buClr>
                        <a:buSzPts val="1600"/>
                        <a:buFont typeface="Arial"/>
                        <a:buChar char="●"/>
                      </a:pPr>
                      <a:r>
                        <a:rPr lang="en" sz="1600" u="none" cap="none" strike="noStrike">
                          <a:solidFill>
                            <a:srgbClr val="B7B7B7"/>
                          </a:solidFill>
                        </a:rPr>
                        <a:t>ElGamal encryption</a:t>
                      </a:r>
                      <a:endParaRPr sz="1600" u="none" cap="none" strike="noStrike">
                        <a:solidFill>
                          <a:srgbClr val="B7B7B7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802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/>
                        <a:t>Integrity,</a:t>
                      </a:r>
                      <a:br>
                        <a:rPr lang="en" sz="1600" u="none" cap="none" strike="noStrike"/>
                      </a:br>
                      <a:r>
                        <a:rPr lang="en" sz="1600" u="none" cap="none" strike="noStrike"/>
                        <a:t>Authentication</a:t>
                      </a:r>
                      <a:endParaRPr sz="16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7B7B7"/>
                        </a:buClr>
                        <a:buSzPts val="1600"/>
                        <a:buFont typeface="Arial"/>
                        <a:buChar char="●"/>
                      </a:pPr>
                      <a:r>
                        <a:rPr lang="en" sz="1600" u="none" cap="none" strike="noStrike">
                          <a:solidFill>
                            <a:srgbClr val="B7B7B7"/>
                          </a:solidFill>
                        </a:rPr>
                        <a:t>MACs (e.g. HMAC)</a:t>
                      </a:r>
                      <a:endParaRPr sz="1600" u="none" cap="none" strike="noStrike">
                        <a:solidFill>
                          <a:srgbClr val="B7B7B7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●"/>
                      </a:pPr>
                      <a:r>
                        <a:rPr lang="en" sz="1600" u="none" cap="none" strike="noStrike"/>
                        <a:t>Digital signatures (e.g. RSA signatures)</a:t>
                      </a:r>
                      <a:endParaRPr sz="16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9" name="Google Shape;229;p11"/>
          <p:cNvSpPr txBox="1"/>
          <p:nvPr>
            <p:ph idx="4294967295" type="body"/>
          </p:nvPr>
        </p:nvSpPr>
        <p:spPr>
          <a:xfrm>
            <a:off x="198500" y="3844625"/>
            <a:ext cx="4373400" cy="11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"/>
              <a:buChar char="●"/>
            </a:pPr>
            <a:r>
              <a:rPr lang="en" sz="1600">
                <a:solidFill>
                  <a:srgbClr val="B7B7B7"/>
                </a:solidFill>
              </a:rPr>
              <a:t>Hash functions</a:t>
            </a:r>
            <a:endParaRPr sz="1600">
              <a:solidFill>
                <a:srgbClr val="B7B7B7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"/>
              <a:buChar char="●"/>
            </a:pPr>
            <a:r>
              <a:rPr lang="en" sz="1600">
                <a:solidFill>
                  <a:srgbClr val="B7B7B7"/>
                </a:solidFill>
              </a:rPr>
              <a:t>Pseudorandom number generators</a:t>
            </a:r>
            <a:endParaRPr sz="1600">
              <a:solidFill>
                <a:srgbClr val="B7B7B7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"/>
              <a:buChar char="●"/>
            </a:pPr>
            <a:r>
              <a:rPr lang="en" sz="1600">
                <a:solidFill>
                  <a:srgbClr val="B7B7B7"/>
                </a:solidFill>
              </a:rPr>
              <a:t>Public key exchange (e.g. Diffie-Hellman)</a:t>
            </a:r>
            <a:endParaRPr sz="1600">
              <a:solidFill>
                <a:srgbClr val="B7B7B7"/>
              </a:solidFill>
            </a:endParaRPr>
          </a:p>
        </p:txBody>
      </p:sp>
      <p:sp>
        <p:nvSpPr>
          <p:cNvPr id="230" name="Google Shape;230;p11"/>
          <p:cNvSpPr txBox="1"/>
          <p:nvPr/>
        </p:nvSpPr>
        <p:spPr>
          <a:xfrm>
            <a:off x="5175400" y="3844625"/>
            <a:ext cx="34479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management (certificates)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Password management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RSA Encryption: Definition</a:t>
            </a:r>
            <a:endParaRPr/>
          </a:p>
        </p:txBody>
      </p:sp>
      <p:sp>
        <p:nvSpPr>
          <p:cNvPr id="237" name="Google Shape;23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8" name="Google Shape;238;p12"/>
          <p:cNvSpPr txBox="1"/>
          <p:nvPr>
            <p:ph idx="1" type="body"/>
          </p:nvPr>
        </p:nvSpPr>
        <p:spPr>
          <a:xfrm>
            <a:off x="198500" y="1246825"/>
            <a:ext cx="87612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KeyGen():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Randomly pick two large primes, </a:t>
            </a:r>
            <a:r>
              <a:rPr i="1" lang="en"/>
              <a:t>p</a:t>
            </a:r>
            <a:r>
              <a:rPr lang="en"/>
              <a:t> and </a:t>
            </a:r>
            <a:r>
              <a:rPr i="1" lang="en"/>
              <a:t>q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Efficient algorithm: pick random numbers and then use a test to see if the number is prime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Compute </a:t>
            </a:r>
            <a:r>
              <a:rPr i="1" lang="en"/>
              <a:t>N</a:t>
            </a:r>
            <a:r>
              <a:rPr lang="en"/>
              <a:t> = </a:t>
            </a:r>
            <a:r>
              <a:rPr i="1" lang="en"/>
              <a:t>pq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N</a:t>
            </a:r>
            <a:r>
              <a:rPr lang="en"/>
              <a:t> is usually between 2048 bits and 4096 bits long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Choose </a:t>
            </a:r>
            <a:r>
              <a:rPr i="1" lang="en"/>
              <a:t>e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Requirement: </a:t>
            </a:r>
            <a:r>
              <a:rPr i="1" lang="en"/>
              <a:t>e</a:t>
            </a:r>
            <a:r>
              <a:rPr lang="en"/>
              <a:t> is relatively prime to (</a:t>
            </a:r>
            <a:r>
              <a:rPr i="1" lang="en"/>
              <a:t>p</a:t>
            </a:r>
            <a:r>
              <a:rPr lang="en"/>
              <a:t> - 1)(</a:t>
            </a:r>
            <a:r>
              <a:rPr i="1" lang="en"/>
              <a:t>q</a:t>
            </a:r>
            <a:r>
              <a:rPr lang="en"/>
              <a:t> - 1)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Requirement: 2 &lt; </a:t>
            </a:r>
            <a:r>
              <a:rPr i="1" lang="en"/>
              <a:t>e</a:t>
            </a:r>
            <a:r>
              <a:rPr lang="en"/>
              <a:t> &lt; (</a:t>
            </a:r>
            <a:r>
              <a:rPr i="1" lang="en"/>
              <a:t>p</a:t>
            </a:r>
            <a:r>
              <a:rPr lang="en"/>
              <a:t> - 1)(</a:t>
            </a:r>
            <a:r>
              <a:rPr i="1" lang="en"/>
              <a:t>q</a:t>
            </a:r>
            <a:r>
              <a:rPr lang="en"/>
              <a:t> - 1)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Compute </a:t>
            </a:r>
            <a:r>
              <a:rPr i="1" lang="en"/>
              <a:t>d</a:t>
            </a:r>
            <a:r>
              <a:rPr lang="en"/>
              <a:t> = </a:t>
            </a:r>
            <a:r>
              <a:rPr i="1" lang="en"/>
              <a:t>e</a:t>
            </a:r>
            <a:r>
              <a:rPr baseline="30000" lang="en"/>
              <a:t>-1</a:t>
            </a:r>
            <a:r>
              <a:rPr lang="en"/>
              <a:t> mod (</a:t>
            </a:r>
            <a:r>
              <a:rPr i="1" lang="en"/>
              <a:t>p</a:t>
            </a:r>
            <a:r>
              <a:rPr lang="en"/>
              <a:t> - 1)(</a:t>
            </a:r>
            <a:r>
              <a:rPr i="1" lang="en"/>
              <a:t>q</a:t>
            </a:r>
            <a:r>
              <a:rPr lang="en"/>
              <a:t> - 1)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Efficient algorithm for computing multiplicative inverses: Extended Euclid’s algorithm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Public key</a:t>
            </a:r>
            <a:r>
              <a:rPr lang="en"/>
              <a:t>: </a:t>
            </a:r>
            <a:r>
              <a:rPr i="1" lang="en"/>
              <a:t>N</a:t>
            </a:r>
            <a:r>
              <a:rPr lang="en"/>
              <a:t> and </a:t>
            </a:r>
            <a:r>
              <a:rPr i="1" lang="en"/>
              <a:t>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Private key:</a:t>
            </a:r>
            <a:r>
              <a:rPr lang="en"/>
              <a:t> </a:t>
            </a:r>
            <a:r>
              <a:rPr i="1" lang="en"/>
              <a:t>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3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RSA Encryption: Definition</a:t>
            </a:r>
            <a:endParaRPr/>
          </a:p>
        </p:txBody>
      </p:sp>
      <p:sp>
        <p:nvSpPr>
          <p:cNvPr id="244" name="Google Shape;24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13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From key generation: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N</a:t>
            </a:r>
            <a:r>
              <a:rPr lang="en"/>
              <a:t> = </a:t>
            </a:r>
            <a:r>
              <a:rPr i="1" lang="en"/>
              <a:t>pq</a:t>
            </a:r>
            <a:endParaRPr i="1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d</a:t>
            </a:r>
            <a:r>
              <a:rPr lang="en"/>
              <a:t> = </a:t>
            </a:r>
            <a:r>
              <a:rPr i="1" lang="en"/>
              <a:t>e</a:t>
            </a:r>
            <a:r>
              <a:rPr baseline="30000" lang="en"/>
              <a:t>-1</a:t>
            </a:r>
            <a:r>
              <a:rPr lang="en"/>
              <a:t> mod (</a:t>
            </a:r>
            <a:r>
              <a:rPr i="1" lang="en"/>
              <a:t>p</a:t>
            </a:r>
            <a:r>
              <a:rPr lang="en"/>
              <a:t> - 1)(</a:t>
            </a:r>
            <a:r>
              <a:rPr i="1" lang="en"/>
              <a:t>q</a:t>
            </a:r>
            <a:r>
              <a:rPr lang="en"/>
              <a:t> - 1)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Note: </a:t>
            </a:r>
            <a:r>
              <a:rPr lang="en"/>
              <a:t>(</a:t>
            </a:r>
            <a:r>
              <a:rPr i="1" lang="en"/>
              <a:t>p</a:t>
            </a:r>
            <a:r>
              <a:rPr lang="en"/>
              <a:t> - 1)(</a:t>
            </a:r>
            <a:r>
              <a:rPr i="1" lang="en"/>
              <a:t>q</a:t>
            </a:r>
            <a:r>
              <a:rPr lang="en"/>
              <a:t> - 1) can also be written as φ(</a:t>
            </a:r>
            <a:r>
              <a:rPr i="1" lang="en"/>
              <a:t>N)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Enc(</a:t>
            </a:r>
            <a:r>
              <a:rPr i="1" lang="en"/>
              <a:t>e</a:t>
            </a:r>
            <a:r>
              <a:rPr lang="en"/>
              <a:t>, </a:t>
            </a:r>
            <a:r>
              <a:rPr i="1" lang="en"/>
              <a:t>N</a:t>
            </a:r>
            <a:r>
              <a:rPr lang="en"/>
              <a:t>, </a:t>
            </a:r>
            <a:r>
              <a:rPr i="1" lang="en"/>
              <a:t>M</a:t>
            </a:r>
            <a:r>
              <a:rPr lang="en"/>
              <a:t>):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Assume </a:t>
            </a:r>
            <a:r>
              <a:rPr i="1" lang="en"/>
              <a:t>M </a:t>
            </a:r>
            <a:r>
              <a:rPr lang="en"/>
              <a:t>&lt; </a:t>
            </a:r>
            <a:r>
              <a:rPr i="1" lang="en"/>
              <a:t>N </a:t>
            </a:r>
            <a:r>
              <a:rPr lang="en"/>
              <a:t>(If not, split M into blocks of size &lt; N, otherwise you couldn’t recover M)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 = </a:t>
            </a:r>
            <a:r>
              <a:rPr i="1" lang="en"/>
              <a:t>M</a:t>
            </a:r>
            <a:r>
              <a:rPr baseline="30000" i="1" lang="en"/>
              <a:t>e</a:t>
            </a:r>
            <a:r>
              <a:rPr lang="en"/>
              <a:t> mod </a:t>
            </a:r>
            <a:r>
              <a:rPr i="1" lang="en"/>
              <a:t>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Dec(</a:t>
            </a:r>
            <a:r>
              <a:rPr i="1" lang="en"/>
              <a:t>d</a:t>
            </a:r>
            <a:r>
              <a:rPr lang="en"/>
              <a:t>, </a:t>
            </a:r>
            <a:r>
              <a:rPr i="1" lang="en"/>
              <a:t>C</a:t>
            </a:r>
            <a:r>
              <a:rPr lang="en"/>
              <a:t>):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 = </a:t>
            </a:r>
            <a:r>
              <a:rPr i="1" lang="en"/>
              <a:t>C</a:t>
            </a:r>
            <a:r>
              <a:rPr baseline="30000" i="1" lang="en"/>
              <a:t>d</a:t>
            </a:r>
            <a:r>
              <a:rPr lang="en"/>
              <a:t> mod </a:t>
            </a:r>
            <a:r>
              <a:rPr i="1" lang="en"/>
              <a:t>N</a:t>
            </a:r>
            <a:endParaRPr i="1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correctness, we need:</a:t>
            </a:r>
            <a:br>
              <a:rPr lang="en"/>
            </a:br>
            <a:r>
              <a:rPr lang="en"/>
              <a:t>Dec(d, Enc(e, N, M)) = (</a:t>
            </a:r>
            <a:r>
              <a:rPr i="1" lang="en"/>
              <a:t>M</a:t>
            </a:r>
            <a:r>
              <a:rPr baseline="30000" i="1" lang="en"/>
              <a:t>e</a:t>
            </a:r>
            <a:r>
              <a:rPr lang="en"/>
              <a:t>)</a:t>
            </a:r>
            <a:r>
              <a:rPr baseline="30000" i="1" lang="en"/>
              <a:t>d</a:t>
            </a:r>
            <a:r>
              <a:rPr lang="en"/>
              <a:t> = </a:t>
            </a:r>
            <a:r>
              <a:rPr i="1" lang="en"/>
              <a:t>M</a:t>
            </a:r>
            <a:r>
              <a:rPr lang="en"/>
              <a:t> mod </a:t>
            </a:r>
            <a:r>
              <a:rPr i="1" lang="en"/>
              <a:t>N</a:t>
            </a:r>
            <a:endParaRPr i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5765bab5f9_0_7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RSA Encryption: Walkthrough</a:t>
            </a:r>
            <a:endParaRPr/>
          </a:p>
        </p:txBody>
      </p:sp>
      <p:sp>
        <p:nvSpPr>
          <p:cNvPr id="251" name="Google Shape;251;g35765bab5f9_0_7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Let p=5, q=11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Compute N and φ(N)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Choose a public key e = 3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Compute the corresponding private key 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Find the ciphertext for m=10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Decrypt the ciphertext and recover the original message</a:t>
            </a:r>
            <a:endParaRPr/>
          </a:p>
        </p:txBody>
      </p:sp>
      <p:sp>
        <p:nvSpPr>
          <p:cNvPr id="252" name="Google Shape;252;g35765bab5f9_0_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5402250507_0_42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Correctness of RSA Encryption</a:t>
            </a:r>
            <a:endParaRPr/>
          </a:p>
        </p:txBody>
      </p:sp>
      <p:sp>
        <p:nvSpPr>
          <p:cNvPr id="258" name="Google Shape;258;g35402250507_0_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9" name="Google Shape;259;g35402250507_0_42"/>
          <p:cNvSpPr txBox="1"/>
          <p:nvPr>
            <p:ph idx="1" type="body"/>
          </p:nvPr>
        </p:nvSpPr>
        <p:spPr>
          <a:xfrm>
            <a:off x="198500" y="1246825"/>
            <a:ext cx="8520600" cy="389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Theorems: If </a:t>
            </a:r>
            <a:r>
              <a:rPr i="1" lang="en"/>
              <a:t>x</a:t>
            </a:r>
            <a:r>
              <a:rPr lang="en"/>
              <a:t> = </a:t>
            </a:r>
            <a:r>
              <a:rPr i="1" lang="en"/>
              <a:t>y</a:t>
            </a:r>
            <a:r>
              <a:rPr lang="en"/>
              <a:t> mod </a:t>
            </a:r>
            <a:r>
              <a:rPr i="1" lang="en"/>
              <a:t>p</a:t>
            </a:r>
            <a:r>
              <a:rPr lang="en"/>
              <a:t>, and </a:t>
            </a:r>
            <a:r>
              <a:rPr i="1" lang="en"/>
              <a:t>x</a:t>
            </a:r>
            <a:r>
              <a:rPr lang="en"/>
              <a:t> = </a:t>
            </a:r>
            <a:r>
              <a:rPr i="1" lang="en"/>
              <a:t>y</a:t>
            </a:r>
            <a:r>
              <a:rPr lang="en"/>
              <a:t> mod </a:t>
            </a:r>
            <a:r>
              <a:rPr i="1" lang="en"/>
              <a:t>q</a:t>
            </a:r>
            <a:r>
              <a:rPr lang="en"/>
              <a:t>, then</a:t>
            </a:r>
            <a:r>
              <a:rPr i="1" lang="en"/>
              <a:t> x</a:t>
            </a:r>
            <a:r>
              <a:rPr lang="en"/>
              <a:t> = </a:t>
            </a:r>
            <a:r>
              <a:rPr i="1" lang="en"/>
              <a:t>y</a:t>
            </a:r>
            <a:r>
              <a:rPr lang="en"/>
              <a:t> mod </a:t>
            </a:r>
            <a:r>
              <a:rPr i="1" lang="en"/>
              <a:t>pq</a:t>
            </a:r>
            <a:r>
              <a:rPr lang="en"/>
              <a:t> (Chinese remainder theorem); </a:t>
            </a:r>
            <a:r>
              <a:rPr i="1" lang="en"/>
              <a:t>a</a:t>
            </a:r>
            <a:r>
              <a:rPr baseline="30000" i="1" lang="en"/>
              <a:t>p</a:t>
            </a:r>
            <a:r>
              <a:rPr baseline="30000" lang="en"/>
              <a:t>-1</a:t>
            </a:r>
            <a:r>
              <a:rPr lang="en"/>
              <a:t> = 1 mod </a:t>
            </a:r>
            <a:r>
              <a:rPr i="1" lang="en"/>
              <a:t>p</a:t>
            </a:r>
            <a:r>
              <a:rPr lang="en"/>
              <a:t> (Fermat's little theorem).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From key generation, we know </a:t>
            </a:r>
            <a:r>
              <a:rPr i="1" lang="en"/>
              <a:t>d</a:t>
            </a:r>
            <a:r>
              <a:rPr lang="en"/>
              <a:t> = </a:t>
            </a:r>
            <a:r>
              <a:rPr i="1" lang="en"/>
              <a:t>e</a:t>
            </a:r>
            <a:r>
              <a:rPr baseline="30000" lang="en"/>
              <a:t>-1</a:t>
            </a:r>
            <a:r>
              <a:rPr lang="en"/>
              <a:t> mod (</a:t>
            </a:r>
            <a:r>
              <a:rPr i="1" lang="en"/>
              <a:t>p</a:t>
            </a:r>
            <a:r>
              <a:rPr lang="en"/>
              <a:t> - 1)(</a:t>
            </a:r>
            <a:r>
              <a:rPr i="1" lang="en"/>
              <a:t>q</a:t>
            </a:r>
            <a:r>
              <a:rPr lang="en"/>
              <a:t> - 1)</a:t>
            </a:r>
            <a:br>
              <a:rPr lang="en"/>
            </a:br>
            <a:r>
              <a:rPr lang="en"/>
              <a:t>Therefore, </a:t>
            </a:r>
            <a:r>
              <a:rPr i="1" lang="en"/>
              <a:t>ed</a:t>
            </a:r>
            <a:r>
              <a:rPr lang="en"/>
              <a:t> = 1 mod (</a:t>
            </a:r>
            <a:r>
              <a:rPr i="1" lang="en"/>
              <a:t>p</a:t>
            </a:r>
            <a:r>
              <a:rPr lang="en"/>
              <a:t> - 1)(</a:t>
            </a:r>
            <a:r>
              <a:rPr i="1" lang="en"/>
              <a:t>q</a:t>
            </a:r>
            <a:r>
              <a:rPr lang="en"/>
              <a:t> - 1)</a:t>
            </a:r>
            <a:br>
              <a:rPr lang="en"/>
            </a:br>
            <a:r>
              <a:rPr lang="en"/>
              <a:t>Therefore, </a:t>
            </a:r>
            <a:r>
              <a:rPr i="1" lang="en"/>
              <a:t>ed</a:t>
            </a:r>
            <a:r>
              <a:rPr lang="en"/>
              <a:t> - 1 is a multiple of (</a:t>
            </a:r>
            <a:r>
              <a:rPr i="1" lang="en"/>
              <a:t>p</a:t>
            </a:r>
            <a:r>
              <a:rPr lang="en"/>
              <a:t> - 1)(</a:t>
            </a:r>
            <a:r>
              <a:rPr i="1" lang="en"/>
              <a:t>q</a:t>
            </a:r>
            <a:r>
              <a:rPr lang="en"/>
              <a:t> - 1)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M</a:t>
            </a:r>
            <a:r>
              <a:rPr baseline="30000" i="1" lang="en"/>
              <a:t>ed</a:t>
            </a:r>
            <a:r>
              <a:rPr lang="en"/>
              <a:t> = </a:t>
            </a:r>
            <a:r>
              <a:rPr i="1" lang="en"/>
              <a:t>M</a:t>
            </a:r>
            <a:r>
              <a:rPr baseline="30000" i="1" lang="en"/>
              <a:t>ed-1</a:t>
            </a:r>
            <a:r>
              <a:rPr lang="en"/>
              <a:t> </a:t>
            </a:r>
            <a:r>
              <a:rPr i="1" lang="en"/>
              <a:t>M</a:t>
            </a:r>
            <a:r>
              <a:rPr lang="en"/>
              <a:t>                    (mod </a:t>
            </a:r>
            <a:r>
              <a:rPr i="1" lang="en"/>
              <a:t>p</a:t>
            </a:r>
            <a:r>
              <a:rPr lang="en"/>
              <a:t>)</a:t>
            </a:r>
            <a:br>
              <a:rPr lang="en"/>
            </a:br>
            <a:r>
              <a:rPr lang="en"/>
              <a:t>      = </a:t>
            </a:r>
            <a:r>
              <a:rPr i="1" lang="en"/>
              <a:t>M</a:t>
            </a:r>
            <a:r>
              <a:rPr baseline="30000" i="1" lang="en"/>
              <a:t>some multiple of p-1</a:t>
            </a:r>
            <a:r>
              <a:rPr lang="en"/>
              <a:t> </a:t>
            </a:r>
            <a:r>
              <a:rPr i="1" lang="en"/>
              <a:t>M</a:t>
            </a:r>
            <a:r>
              <a:rPr lang="en"/>
              <a:t>     (mod </a:t>
            </a:r>
            <a:r>
              <a:rPr i="1" lang="en"/>
              <a:t>p</a:t>
            </a:r>
            <a:r>
              <a:rPr lang="en"/>
              <a:t>)        (using definition of </a:t>
            </a:r>
            <a:r>
              <a:rPr i="1" lang="en"/>
              <a:t>ed</a:t>
            </a:r>
            <a:r>
              <a:rPr lang="en"/>
              <a:t> - 1)</a:t>
            </a:r>
            <a:br>
              <a:rPr lang="en"/>
            </a:br>
            <a:r>
              <a:rPr lang="en"/>
              <a:t>      = </a:t>
            </a:r>
            <a:r>
              <a:rPr i="1" lang="en"/>
              <a:t>M</a:t>
            </a:r>
            <a:r>
              <a:rPr baseline="30000" i="1" lang="en"/>
              <a:t>(p-1)c</a:t>
            </a:r>
            <a:r>
              <a:rPr lang="en"/>
              <a:t> </a:t>
            </a:r>
            <a:r>
              <a:rPr i="1" lang="en"/>
              <a:t>M</a:t>
            </a:r>
            <a:r>
              <a:rPr lang="en"/>
              <a:t>                   (mod </a:t>
            </a:r>
            <a:r>
              <a:rPr i="1" lang="en"/>
              <a:t>p</a:t>
            </a:r>
            <a:r>
              <a:rPr lang="en"/>
              <a:t>)       </a:t>
            </a:r>
            <a:br>
              <a:rPr lang="en"/>
            </a:br>
            <a:r>
              <a:rPr lang="en"/>
              <a:t>      = </a:t>
            </a:r>
            <a:r>
              <a:rPr i="1" lang="en"/>
              <a:t>M</a:t>
            </a:r>
            <a:r>
              <a:rPr lang="en"/>
              <a:t>                             (mod </a:t>
            </a:r>
            <a:r>
              <a:rPr i="1" lang="en"/>
              <a:t>p</a:t>
            </a:r>
            <a:r>
              <a:rPr lang="en"/>
              <a:t>)        (using FLT)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Similarly </a:t>
            </a:r>
            <a:r>
              <a:rPr i="1" lang="en"/>
              <a:t>M</a:t>
            </a:r>
            <a:r>
              <a:rPr baseline="30000" i="1" lang="en"/>
              <a:t>ed</a:t>
            </a:r>
            <a:r>
              <a:rPr lang="en"/>
              <a:t> = </a:t>
            </a:r>
            <a:r>
              <a:rPr i="1" lang="en"/>
              <a:t>M</a:t>
            </a:r>
            <a:r>
              <a:rPr lang="en"/>
              <a:t> (mod </a:t>
            </a:r>
            <a:r>
              <a:rPr i="1" lang="en"/>
              <a:t>q</a:t>
            </a:r>
            <a:r>
              <a:rPr lang="en"/>
              <a:t>)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Therefore </a:t>
            </a:r>
            <a:r>
              <a:rPr i="1" lang="en"/>
              <a:t>M</a:t>
            </a:r>
            <a:r>
              <a:rPr baseline="30000" i="1" lang="en"/>
              <a:t>ed</a:t>
            </a:r>
            <a:r>
              <a:rPr lang="en"/>
              <a:t> = </a:t>
            </a:r>
            <a:r>
              <a:rPr i="1" lang="en"/>
              <a:t>M</a:t>
            </a:r>
            <a:r>
              <a:rPr lang="en"/>
              <a:t> (mod </a:t>
            </a:r>
            <a:r>
              <a:rPr i="1" lang="en"/>
              <a:t>N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Therefore Dec(</a:t>
            </a:r>
            <a:r>
              <a:rPr i="1" lang="en"/>
              <a:t>d</a:t>
            </a:r>
            <a:r>
              <a:rPr lang="en"/>
              <a:t>, Enc(</a:t>
            </a:r>
            <a:r>
              <a:rPr i="1" lang="en"/>
              <a:t>e</a:t>
            </a:r>
            <a:r>
              <a:rPr lang="en"/>
              <a:t>, </a:t>
            </a:r>
            <a:r>
              <a:rPr i="1" lang="en"/>
              <a:t>M</a:t>
            </a:r>
            <a:r>
              <a:rPr lang="en"/>
              <a:t>)) = </a:t>
            </a:r>
            <a:r>
              <a:rPr i="1" lang="en"/>
              <a:t>M</a:t>
            </a:r>
            <a:endParaRPr i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8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RSA Encryption: Security</a:t>
            </a:r>
            <a:endParaRPr/>
          </a:p>
        </p:txBody>
      </p:sp>
      <p:sp>
        <p:nvSpPr>
          <p:cNvPr id="265" name="Google Shape;265;p18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RSA problem</a:t>
            </a:r>
            <a:r>
              <a:rPr lang="en"/>
              <a:t>: Given </a:t>
            </a:r>
            <a:r>
              <a:rPr i="1" lang="en"/>
              <a:t>N</a:t>
            </a:r>
            <a:r>
              <a:rPr lang="en"/>
              <a:t> and </a:t>
            </a:r>
            <a:r>
              <a:rPr i="1" lang="en"/>
              <a:t>C</a:t>
            </a:r>
            <a:r>
              <a:rPr lang="en"/>
              <a:t> = </a:t>
            </a:r>
            <a:r>
              <a:rPr i="1" lang="en"/>
              <a:t>M</a:t>
            </a:r>
            <a:r>
              <a:rPr baseline="30000" i="1" lang="en"/>
              <a:t>e</a:t>
            </a:r>
            <a:r>
              <a:rPr lang="en"/>
              <a:t> mod </a:t>
            </a:r>
            <a:r>
              <a:rPr i="1" lang="en"/>
              <a:t>N</a:t>
            </a:r>
            <a:r>
              <a:rPr lang="en"/>
              <a:t>, it is hard to find </a:t>
            </a:r>
            <a:r>
              <a:rPr i="1" lang="en"/>
              <a:t>M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 harder than the factoring problem:</a:t>
            </a:r>
            <a:br>
              <a:rPr lang="en"/>
            </a:br>
            <a:r>
              <a:rPr lang="en"/>
              <a:t>If you can factor </a:t>
            </a:r>
            <a:r>
              <a:rPr i="1" lang="en"/>
              <a:t>N</a:t>
            </a:r>
            <a:r>
              <a:rPr lang="en"/>
              <a:t>, you can learn </a:t>
            </a:r>
            <a:r>
              <a:rPr i="1" lang="en"/>
              <a:t>p</a:t>
            </a:r>
            <a:r>
              <a:rPr lang="en"/>
              <a:t> and </a:t>
            </a:r>
            <a:r>
              <a:rPr i="1" lang="en"/>
              <a:t>q</a:t>
            </a:r>
            <a:r>
              <a:rPr lang="en"/>
              <a:t>.</a:t>
            </a:r>
            <a:br>
              <a:rPr lang="en"/>
            </a:br>
            <a:r>
              <a:rPr lang="en"/>
              <a:t>Then, you can compute</a:t>
            </a:r>
            <a:r>
              <a:rPr i="1" lang="en"/>
              <a:t> d</a:t>
            </a:r>
            <a:r>
              <a:rPr lang="en"/>
              <a:t> = </a:t>
            </a:r>
            <a:r>
              <a:rPr i="1" lang="en"/>
              <a:t>e</a:t>
            </a:r>
            <a:r>
              <a:rPr baseline="30000" lang="en"/>
              <a:t>-1</a:t>
            </a:r>
            <a:r>
              <a:rPr lang="en"/>
              <a:t> mod (</a:t>
            </a:r>
            <a:r>
              <a:rPr i="1" lang="en"/>
              <a:t>p</a:t>
            </a:r>
            <a:r>
              <a:rPr lang="en"/>
              <a:t> - 1)(</a:t>
            </a:r>
            <a:r>
              <a:rPr i="1" lang="en"/>
              <a:t>q</a:t>
            </a:r>
            <a:r>
              <a:rPr lang="en"/>
              <a:t> - 1) and decrypt with C</a:t>
            </a:r>
            <a:r>
              <a:rPr baseline="30000" lang="en"/>
              <a:t>d</a:t>
            </a:r>
            <a:r>
              <a:rPr lang="en"/>
              <a:t> mod </a:t>
            </a:r>
            <a:r>
              <a:rPr i="1" lang="en"/>
              <a:t>N</a:t>
            </a:r>
            <a:r>
              <a:rPr lang="en"/>
              <a:t>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Current best solution is to factor </a:t>
            </a:r>
            <a:r>
              <a:rPr i="1" lang="en"/>
              <a:t>N</a:t>
            </a:r>
            <a:r>
              <a:rPr lang="en"/>
              <a:t>, but unknown whether there is an easier way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the RSA problem is as hard as the factoring problem, then the scheme is secure as long as the factoring problem is hard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Factoring problem is assumed to be hard. Best known algorithms are exponential-time</a:t>
            </a:r>
            <a:endParaRPr/>
          </a:p>
        </p:txBody>
      </p:sp>
      <p:sp>
        <p:nvSpPr>
          <p:cNvPr id="266" name="Google Shape;26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9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 RSA encryption IND-CPA secure?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No. It’s deterministic. No randomness was used at any point!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Sending the same message encrypted with different public keys also leaks information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m</a:t>
            </a:r>
            <a:r>
              <a:rPr baseline="30000" i="1" lang="en"/>
              <a:t>e</a:t>
            </a:r>
            <a:r>
              <a:rPr baseline="30000" i="1" lang="en" sz="900"/>
              <a:t>a</a:t>
            </a:r>
            <a:r>
              <a:rPr lang="en"/>
              <a:t> mod </a:t>
            </a:r>
            <a:r>
              <a:rPr i="1" lang="en"/>
              <a:t>N</a:t>
            </a:r>
            <a:r>
              <a:rPr i="1" lang="en" sz="900"/>
              <a:t>a</a:t>
            </a:r>
            <a:r>
              <a:rPr lang="en"/>
              <a:t>, </a:t>
            </a:r>
            <a:r>
              <a:rPr i="1" lang="en"/>
              <a:t>m</a:t>
            </a:r>
            <a:r>
              <a:rPr baseline="30000" i="1" lang="en"/>
              <a:t>e</a:t>
            </a:r>
            <a:r>
              <a:rPr baseline="30000" i="1" lang="en" sz="900"/>
              <a:t>b</a:t>
            </a:r>
            <a:r>
              <a:rPr lang="en"/>
              <a:t> mod </a:t>
            </a:r>
            <a:r>
              <a:rPr i="1" lang="en"/>
              <a:t>n</a:t>
            </a:r>
            <a:r>
              <a:rPr i="1" lang="en" sz="900"/>
              <a:t>b</a:t>
            </a:r>
            <a:r>
              <a:rPr lang="en"/>
              <a:t>, </a:t>
            </a:r>
            <a:r>
              <a:rPr i="1" lang="en"/>
              <a:t>m</a:t>
            </a:r>
            <a:r>
              <a:rPr baseline="30000" i="1" lang="en"/>
              <a:t>e</a:t>
            </a:r>
            <a:r>
              <a:rPr baseline="30000" i="1" lang="en" sz="900"/>
              <a:t>c</a:t>
            </a:r>
            <a:r>
              <a:rPr lang="en"/>
              <a:t> mod </a:t>
            </a:r>
            <a:r>
              <a:rPr i="1" lang="en"/>
              <a:t>N</a:t>
            </a:r>
            <a:r>
              <a:rPr i="1" lang="en" sz="900"/>
              <a:t>c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Small </a:t>
            </a:r>
            <a:r>
              <a:rPr i="1" lang="en"/>
              <a:t>m</a:t>
            </a:r>
            <a:r>
              <a:rPr lang="en"/>
              <a:t> and </a:t>
            </a:r>
            <a:r>
              <a:rPr i="1" lang="en"/>
              <a:t>e</a:t>
            </a:r>
            <a:r>
              <a:rPr lang="en"/>
              <a:t> leaks information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e</a:t>
            </a:r>
            <a:r>
              <a:rPr lang="en"/>
              <a:t> is usually small (~16 bits) and often constant (3, 17, 65537)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Side channel: A poor implementation leaks information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time it takes to decrypt a message depends on the message and the private key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attack has been successfully used to break RSA encryption in OpenSSL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Result: We need a probabilistic padding scheme</a:t>
            </a:r>
            <a:endParaRPr/>
          </a:p>
        </p:txBody>
      </p:sp>
      <p:sp>
        <p:nvSpPr>
          <p:cNvPr id="272" name="Google Shape;272;p19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RSA Encryption: Issues</a:t>
            </a:r>
            <a:endParaRPr/>
          </a:p>
        </p:txBody>
      </p:sp>
      <p:sp>
        <p:nvSpPr>
          <p:cNvPr id="273" name="Google Shape;27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4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Hybrid Encryption</a:t>
            </a:r>
            <a:endParaRPr/>
          </a:p>
        </p:txBody>
      </p:sp>
      <p:sp>
        <p:nvSpPr>
          <p:cNvPr id="279" name="Google Shape;279;p24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Issues with public-key encryption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Notice: We can only encrypt small messages because of the modulo operator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Notice: There is a lot of math, and computers are slow at math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Result: Asymmetric doesn’t work for large messages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Hybrid encryption</a:t>
            </a:r>
            <a:r>
              <a:rPr lang="en"/>
              <a:t>: Encrypt data under a randomly generated key </a:t>
            </a:r>
            <a:r>
              <a:rPr i="1" lang="en"/>
              <a:t>K</a:t>
            </a:r>
            <a:r>
              <a:rPr lang="en"/>
              <a:t> using symmetric encryption, and encrypt </a:t>
            </a:r>
            <a:r>
              <a:rPr i="1" lang="en"/>
              <a:t>K</a:t>
            </a:r>
            <a:r>
              <a:rPr lang="en"/>
              <a:t> using asymmetric encryption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Benefit: Now we can encrypt large amounts of data quickly using symmetric encryption, and we still have the security of asymmetric encryption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Almost all cryptographic systems use hybrid encryption</a:t>
            </a:r>
            <a:endParaRPr/>
          </a:p>
        </p:txBody>
      </p:sp>
      <p:sp>
        <p:nvSpPr>
          <p:cNvPr id="280" name="Google Shape;28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1"/>
          <p:cNvSpPr txBox="1"/>
          <p:nvPr>
            <p:ph type="title"/>
          </p:nvPr>
        </p:nvSpPr>
        <p:spPr>
          <a:xfrm>
            <a:off x="311700" y="1905125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Digital Signatures</a:t>
            </a:r>
            <a:endParaRPr/>
          </a:p>
        </p:txBody>
      </p:sp>
      <p:sp>
        <p:nvSpPr>
          <p:cNvPr id="286" name="Google Shape;286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7" name="Google Shape;287;p31"/>
          <p:cNvSpPr txBox="1"/>
          <p:nvPr/>
        </p:nvSpPr>
        <p:spPr>
          <a:xfrm>
            <a:off x="512100" y="4520775"/>
            <a:ext cx="8119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Textbook Chapter 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8" name="Google Shape;288;p31"/>
          <p:cNvPicPr preferRelativeResize="0"/>
          <p:nvPr/>
        </p:nvPicPr>
        <p:blipFill rotWithShape="1">
          <a:blip r:embed="rId3">
            <a:alphaModFix/>
          </a:blip>
          <a:srcRect b="31139" l="0" r="0" t="25711"/>
          <a:stretch/>
        </p:blipFill>
        <p:spPr>
          <a:xfrm>
            <a:off x="2974650" y="3016600"/>
            <a:ext cx="2058676" cy="888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903813">
            <a:off x="4963929" y="2628727"/>
            <a:ext cx="2684393" cy="26843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2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Cryptography Roadmap</a:t>
            </a:r>
            <a:endParaRPr/>
          </a:p>
        </p:txBody>
      </p:sp>
      <p:graphicFrame>
        <p:nvGraphicFramePr>
          <p:cNvPr id="295" name="Google Shape;295;p32"/>
          <p:cNvGraphicFramePr/>
          <p:nvPr/>
        </p:nvGraphicFramePr>
        <p:xfrm>
          <a:off x="311700" y="131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{C7F7962E-1117-494F-86AC-EA512BDA6105}</a:tableStyleId>
              </a:tblPr>
              <a:tblGrid>
                <a:gridCol w="1739450"/>
                <a:gridCol w="3241925"/>
                <a:gridCol w="3539225"/>
              </a:tblGrid>
              <a:tr h="374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/>
                        <a:t>Symmetric-key</a:t>
                      </a:r>
                      <a:endParaRPr sz="16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/>
                        <a:t>Asymmetric-key</a:t>
                      </a:r>
                      <a:endParaRPr sz="1600" u="none" cap="none" strike="noStrike"/>
                    </a:p>
                  </a:txBody>
                  <a:tcPr marT="91425" marB="91425" marR="91425" marL="91425"/>
                </a:tc>
              </a:tr>
              <a:tr h="802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/>
                        <a:t>Confidentiality</a:t>
                      </a:r>
                      <a:endParaRPr sz="16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7B7B7"/>
                        </a:buClr>
                        <a:buSzPts val="1600"/>
                        <a:buFont typeface="Arial"/>
                        <a:buChar char="●"/>
                      </a:pPr>
                      <a:r>
                        <a:rPr lang="en" sz="1600" u="none" cap="none" strike="noStrike">
                          <a:solidFill>
                            <a:srgbClr val="B7B7B7"/>
                          </a:solidFill>
                        </a:rPr>
                        <a:t>One-time pads</a:t>
                      </a:r>
                      <a:endParaRPr sz="1600" u="none" cap="none" strike="noStrike">
                        <a:solidFill>
                          <a:srgbClr val="B7B7B7"/>
                        </a:solidFill>
                      </a:endParaRPr>
                    </a:p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7B7B7"/>
                        </a:buClr>
                        <a:buSzPts val="1600"/>
                        <a:buFont typeface="Arial"/>
                        <a:buChar char="●"/>
                      </a:pPr>
                      <a:r>
                        <a:rPr lang="en" sz="1600" u="none" cap="none" strike="noStrike">
                          <a:solidFill>
                            <a:srgbClr val="B7B7B7"/>
                          </a:solidFill>
                        </a:rPr>
                        <a:t>Block ciphers with chaining modes (e.g. AES-CBC)</a:t>
                      </a:r>
                      <a:endParaRPr sz="1600" u="none" cap="none" strike="noStrike">
                        <a:solidFill>
                          <a:srgbClr val="B7B7B7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7B7B7"/>
                        </a:buClr>
                        <a:buSzPts val="1600"/>
                        <a:buFont typeface="Arial"/>
                        <a:buChar char="●"/>
                      </a:pPr>
                      <a:r>
                        <a:rPr lang="en" sz="1600" u="none" cap="none" strike="noStrike">
                          <a:solidFill>
                            <a:srgbClr val="B7B7B7"/>
                          </a:solidFill>
                        </a:rPr>
                        <a:t>RSA encryption</a:t>
                      </a:r>
                      <a:endParaRPr sz="1600" u="none" cap="none" strike="noStrike">
                        <a:solidFill>
                          <a:srgbClr val="B7B7B7"/>
                        </a:solidFill>
                      </a:endParaRPr>
                    </a:p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7B7B7"/>
                        </a:buClr>
                        <a:buSzPts val="1600"/>
                        <a:buFont typeface="Arial"/>
                        <a:buChar char="●"/>
                      </a:pPr>
                      <a:r>
                        <a:rPr lang="en" sz="1600" u="none" cap="none" strike="noStrike">
                          <a:solidFill>
                            <a:srgbClr val="B7B7B7"/>
                          </a:solidFill>
                        </a:rPr>
                        <a:t>ElGamal encryption</a:t>
                      </a:r>
                      <a:endParaRPr sz="1600" u="none" cap="none" strike="noStrike">
                        <a:solidFill>
                          <a:srgbClr val="B7B7B7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802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/>
                        <a:t>Integrity,</a:t>
                      </a:r>
                      <a:br>
                        <a:rPr lang="en" sz="1600" u="none" cap="none" strike="noStrike"/>
                      </a:br>
                      <a:r>
                        <a:rPr lang="en" sz="1600" u="none" cap="none" strike="noStrike"/>
                        <a:t>Authentication</a:t>
                      </a:r>
                      <a:endParaRPr sz="16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7B7B7"/>
                        </a:buClr>
                        <a:buSzPts val="1600"/>
                        <a:buFont typeface="Arial"/>
                        <a:buChar char="●"/>
                      </a:pPr>
                      <a:r>
                        <a:rPr lang="en" sz="1600" u="none" cap="none" strike="noStrike">
                          <a:solidFill>
                            <a:srgbClr val="B7B7B7"/>
                          </a:solidFill>
                        </a:rPr>
                        <a:t>MACs (e.g. HMAC)</a:t>
                      </a:r>
                      <a:endParaRPr sz="1600" u="none" cap="none" strike="noStrike">
                        <a:solidFill>
                          <a:srgbClr val="B7B7B7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Arial"/>
                        <a:buChar char="●"/>
                      </a:pPr>
                      <a:r>
                        <a:rPr lang="en" sz="1600" u="none" cap="none" strike="noStrike">
                          <a:solidFill>
                            <a:srgbClr val="FF0000"/>
                          </a:solidFill>
                        </a:rPr>
                        <a:t>Digital signatures (e.g. RSA signatures)</a:t>
                      </a:r>
                      <a:endParaRPr sz="16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96" name="Google Shape;296;p32"/>
          <p:cNvSpPr txBox="1"/>
          <p:nvPr>
            <p:ph idx="4294967295" type="body"/>
          </p:nvPr>
        </p:nvSpPr>
        <p:spPr>
          <a:xfrm>
            <a:off x="198500" y="3844625"/>
            <a:ext cx="4373400" cy="11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"/>
              <a:buChar char="●"/>
            </a:pPr>
            <a:r>
              <a:rPr lang="en" sz="1600">
                <a:solidFill>
                  <a:srgbClr val="B7B7B7"/>
                </a:solidFill>
              </a:rPr>
              <a:t>Hash functions</a:t>
            </a:r>
            <a:endParaRPr sz="1600">
              <a:solidFill>
                <a:srgbClr val="B7B7B7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"/>
              <a:buChar char="●"/>
            </a:pPr>
            <a:r>
              <a:rPr lang="en" sz="1600">
                <a:solidFill>
                  <a:srgbClr val="B7B7B7"/>
                </a:solidFill>
              </a:rPr>
              <a:t>Pseudorandom number generators</a:t>
            </a:r>
            <a:endParaRPr sz="1600">
              <a:solidFill>
                <a:srgbClr val="B7B7B7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"/>
              <a:buChar char="●"/>
            </a:pPr>
            <a:r>
              <a:rPr lang="en" sz="1600">
                <a:solidFill>
                  <a:srgbClr val="B7B7B7"/>
                </a:solidFill>
              </a:rPr>
              <a:t>Public key exchange (e.g. Diffie-Hellman)</a:t>
            </a:r>
            <a:endParaRPr sz="1600">
              <a:solidFill>
                <a:srgbClr val="B7B7B7"/>
              </a:solidFill>
            </a:endParaRPr>
          </a:p>
        </p:txBody>
      </p:sp>
      <p:sp>
        <p:nvSpPr>
          <p:cNvPr id="297" name="Google Shape;297;p32"/>
          <p:cNvSpPr txBox="1"/>
          <p:nvPr/>
        </p:nvSpPr>
        <p:spPr>
          <a:xfrm>
            <a:off x="5175400" y="3844625"/>
            <a:ext cx="34479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management (certificates)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Password management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3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Digital Signatures</a:t>
            </a:r>
            <a:endParaRPr/>
          </a:p>
        </p:txBody>
      </p:sp>
      <p:sp>
        <p:nvSpPr>
          <p:cNvPr id="304" name="Google Shape;304;p33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Asymmetric cryptography is good because we don’t need to share a secret key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Digital signatures are the asymmetric way of providing integrity/authenticity to data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Assume that Alice and Bob can communicate public keys without Mallory interfering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will see how to fix this limitation later</a:t>
            </a:r>
            <a:endParaRPr/>
          </a:p>
        </p:txBody>
      </p:sp>
      <p:sp>
        <p:nvSpPr>
          <p:cNvPr id="305" name="Google Shape;305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4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Public-key Signatures</a:t>
            </a:r>
            <a:endParaRPr/>
          </a:p>
        </p:txBody>
      </p:sp>
      <p:sp>
        <p:nvSpPr>
          <p:cNvPr id="311" name="Google Shape;311;p34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Only the owner of the private key can sign messages with the private key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Everybody can verify the signature with the public key</a:t>
            </a:r>
            <a:endParaRPr/>
          </a:p>
        </p:txBody>
      </p:sp>
      <p:sp>
        <p:nvSpPr>
          <p:cNvPr id="312" name="Google Shape;312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3" name="Google Shape;31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2325" y="2571750"/>
            <a:ext cx="1613150" cy="164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90650" y="2479438"/>
            <a:ext cx="2164300" cy="182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8200" y="2479450"/>
            <a:ext cx="1798800" cy="196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5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Digital Signatures: Definition</a:t>
            </a:r>
            <a:endParaRPr/>
          </a:p>
        </p:txBody>
      </p:sp>
      <p:sp>
        <p:nvSpPr>
          <p:cNvPr id="321" name="Google Shape;321;p35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Three parts: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KeyGen() → </a:t>
            </a:r>
            <a:r>
              <a:rPr i="1" lang="en"/>
              <a:t>PK</a:t>
            </a:r>
            <a:r>
              <a:rPr lang="en"/>
              <a:t>, </a:t>
            </a:r>
            <a:r>
              <a:rPr i="1" lang="en"/>
              <a:t>SK</a:t>
            </a:r>
            <a:r>
              <a:rPr lang="en"/>
              <a:t>: Generate a public/private keypair, where </a:t>
            </a:r>
            <a:r>
              <a:rPr i="1" lang="en"/>
              <a:t>PK</a:t>
            </a:r>
            <a:r>
              <a:rPr lang="en"/>
              <a:t> is the verify (public) key, and </a:t>
            </a:r>
            <a:r>
              <a:rPr i="1" lang="en"/>
              <a:t>SK</a:t>
            </a:r>
            <a:r>
              <a:rPr lang="en"/>
              <a:t> is the signing (secret) key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Sign(</a:t>
            </a:r>
            <a:r>
              <a:rPr i="1" lang="en"/>
              <a:t>SK</a:t>
            </a:r>
            <a:r>
              <a:rPr lang="en"/>
              <a:t>, </a:t>
            </a:r>
            <a:r>
              <a:rPr i="1" lang="en"/>
              <a:t>M</a:t>
            </a:r>
            <a:r>
              <a:rPr lang="en"/>
              <a:t>) → </a:t>
            </a:r>
            <a:r>
              <a:rPr i="1" lang="en"/>
              <a:t>sig</a:t>
            </a:r>
            <a:r>
              <a:rPr lang="en"/>
              <a:t>: Sign the message </a:t>
            </a:r>
            <a:r>
              <a:rPr i="1" lang="en"/>
              <a:t>M</a:t>
            </a:r>
            <a:r>
              <a:rPr lang="en"/>
              <a:t> using the signing key </a:t>
            </a:r>
            <a:r>
              <a:rPr i="1" lang="en"/>
              <a:t>SK</a:t>
            </a:r>
            <a:r>
              <a:rPr lang="en"/>
              <a:t> to produce the signature </a:t>
            </a:r>
            <a:r>
              <a:rPr i="1" lang="en"/>
              <a:t>sig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Verify(</a:t>
            </a:r>
            <a:r>
              <a:rPr i="1" lang="en"/>
              <a:t>PK</a:t>
            </a:r>
            <a:r>
              <a:rPr lang="en"/>
              <a:t>, </a:t>
            </a:r>
            <a:r>
              <a:rPr i="1" lang="en"/>
              <a:t>M</a:t>
            </a:r>
            <a:r>
              <a:rPr lang="en"/>
              <a:t>, </a:t>
            </a:r>
            <a:r>
              <a:rPr i="1" lang="en"/>
              <a:t>sig</a:t>
            </a:r>
            <a:r>
              <a:rPr lang="en"/>
              <a:t>) → {0, 1}: Verify the signature </a:t>
            </a:r>
            <a:r>
              <a:rPr i="1" lang="en"/>
              <a:t>sig</a:t>
            </a:r>
            <a:r>
              <a:rPr lang="en"/>
              <a:t> on message </a:t>
            </a:r>
            <a:r>
              <a:rPr i="1" lang="en"/>
              <a:t>M</a:t>
            </a:r>
            <a:r>
              <a:rPr lang="en"/>
              <a:t> using the verify key </a:t>
            </a:r>
            <a:r>
              <a:rPr i="1" lang="en"/>
              <a:t>PK</a:t>
            </a:r>
            <a:r>
              <a:rPr lang="en"/>
              <a:t> and output 1 if valid and 0 if invalid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Properties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Correctness</a:t>
            </a:r>
            <a:r>
              <a:rPr lang="en"/>
              <a:t>: Verification should be successful for a signature generated over any message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Verify(</a:t>
            </a:r>
            <a:r>
              <a:rPr i="1" lang="en"/>
              <a:t>PK</a:t>
            </a:r>
            <a:r>
              <a:rPr lang="en"/>
              <a:t>, </a:t>
            </a:r>
            <a:r>
              <a:rPr i="1" lang="en"/>
              <a:t>M</a:t>
            </a:r>
            <a:r>
              <a:rPr lang="en"/>
              <a:t>, Sign(</a:t>
            </a:r>
            <a:r>
              <a:rPr i="1" lang="en"/>
              <a:t>SK</a:t>
            </a:r>
            <a:r>
              <a:rPr lang="en"/>
              <a:t>, </a:t>
            </a:r>
            <a:r>
              <a:rPr i="1" lang="en"/>
              <a:t>M</a:t>
            </a:r>
            <a:r>
              <a:rPr lang="en"/>
              <a:t>)) = 1 for all </a:t>
            </a:r>
            <a:r>
              <a:rPr i="1" lang="en"/>
              <a:t>PK</a:t>
            </a:r>
            <a:r>
              <a:rPr lang="en"/>
              <a:t>, </a:t>
            </a:r>
            <a:r>
              <a:rPr i="1" lang="en"/>
              <a:t>SK</a:t>
            </a:r>
            <a:r>
              <a:rPr lang="en"/>
              <a:t> ← KeyGen() and </a:t>
            </a:r>
            <a:r>
              <a:rPr i="1" lang="en"/>
              <a:t>M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Efficiency</a:t>
            </a:r>
            <a:r>
              <a:rPr lang="en"/>
              <a:t>: Signing/verifying should be fast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Security</a:t>
            </a:r>
            <a:r>
              <a:rPr lang="en"/>
              <a:t>: EU-CPA, same as for MACs</a:t>
            </a:r>
            <a:endParaRPr/>
          </a:p>
        </p:txBody>
      </p:sp>
      <p:sp>
        <p:nvSpPr>
          <p:cNvPr id="322" name="Google Shape;322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6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Digital Signatures in Practice</a:t>
            </a:r>
            <a:endParaRPr/>
          </a:p>
        </p:txBody>
      </p:sp>
      <p:sp>
        <p:nvSpPr>
          <p:cNvPr id="328" name="Google Shape;328;p36"/>
          <p:cNvSpPr txBox="1"/>
          <p:nvPr>
            <p:ph idx="1" type="body"/>
          </p:nvPr>
        </p:nvSpPr>
        <p:spPr>
          <a:xfrm>
            <a:off x="198500" y="1246825"/>
            <a:ext cx="83499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want to sign message </a:t>
            </a:r>
            <a:r>
              <a:rPr i="1" lang="en"/>
              <a:t>M</a:t>
            </a:r>
            <a:r>
              <a:rPr lang="en"/>
              <a:t>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First hash </a:t>
            </a:r>
            <a:r>
              <a:rPr i="1" lang="en"/>
              <a:t>M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Then sign H(</a:t>
            </a:r>
            <a:r>
              <a:rPr i="1" lang="en"/>
              <a:t>M</a:t>
            </a:r>
            <a:r>
              <a:rPr lang="en"/>
              <a:t>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do digital signatures use a hash?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Allows signing arbitrarily long messages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Digital signatures provide integrity </a:t>
            </a:r>
            <a:r>
              <a:rPr i="1" lang="en"/>
              <a:t>and authenticity</a:t>
            </a:r>
            <a:r>
              <a:rPr lang="en"/>
              <a:t> for </a:t>
            </a:r>
            <a:r>
              <a:rPr i="1" lang="en"/>
              <a:t>M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digital signature acts as proof that the private key holder signed H(</a:t>
            </a:r>
            <a:r>
              <a:rPr i="1" lang="en"/>
              <a:t>M</a:t>
            </a:r>
            <a:r>
              <a:rPr lang="en"/>
              <a:t>), so you know that </a:t>
            </a:r>
            <a:r>
              <a:rPr i="1" lang="en"/>
              <a:t>M</a:t>
            </a:r>
            <a:r>
              <a:rPr lang="en"/>
              <a:t> is authentically endorsed by the private key holder</a:t>
            </a:r>
            <a:endParaRPr/>
          </a:p>
        </p:txBody>
      </p:sp>
      <p:sp>
        <p:nvSpPr>
          <p:cNvPr id="329" name="Google Shape;32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37"/>
          <p:cNvPicPr preferRelativeResize="0"/>
          <p:nvPr/>
        </p:nvPicPr>
        <p:blipFill rotWithShape="1">
          <a:blip r:embed="rId3">
            <a:alphaModFix/>
          </a:blip>
          <a:srcRect b="10232" l="0" r="0" t="0"/>
          <a:stretch/>
        </p:blipFill>
        <p:spPr>
          <a:xfrm rot="-125366">
            <a:off x="1412265" y="2960707"/>
            <a:ext cx="5100267" cy="2166736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3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RSA Signatures</a:t>
            </a:r>
            <a:endParaRPr/>
          </a:p>
        </p:txBody>
      </p:sp>
      <p:sp>
        <p:nvSpPr>
          <p:cNvPr id="336" name="Google Shape;336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7" name="Google Shape;337;p37"/>
          <p:cNvSpPr txBox="1"/>
          <p:nvPr/>
        </p:nvSpPr>
        <p:spPr>
          <a:xfrm>
            <a:off x="512100" y="4520775"/>
            <a:ext cx="8119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Textbook Chapter 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8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RSA Signatures</a:t>
            </a:r>
            <a:endParaRPr/>
          </a:p>
        </p:txBody>
      </p:sp>
      <p:sp>
        <p:nvSpPr>
          <p:cNvPr id="343" name="Google Shape;343;p38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Recall RSA encryption: </a:t>
            </a:r>
            <a:r>
              <a:rPr i="1" lang="en"/>
              <a:t>M</a:t>
            </a:r>
            <a:r>
              <a:rPr baseline="30000" i="1" lang="en"/>
              <a:t>ed</a:t>
            </a:r>
            <a:r>
              <a:rPr lang="en"/>
              <a:t> ≡ </a:t>
            </a:r>
            <a:r>
              <a:rPr i="1" lang="en"/>
              <a:t>M</a:t>
            </a:r>
            <a:r>
              <a:rPr lang="en"/>
              <a:t> mod </a:t>
            </a:r>
            <a:r>
              <a:rPr i="1" lang="en"/>
              <a:t>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There is nothing special about using </a:t>
            </a:r>
            <a:r>
              <a:rPr i="1" lang="en"/>
              <a:t>e</a:t>
            </a:r>
            <a:r>
              <a:rPr lang="en"/>
              <a:t> first or using </a:t>
            </a:r>
            <a:r>
              <a:rPr i="1" lang="en"/>
              <a:t>d</a:t>
            </a:r>
            <a:r>
              <a:rPr lang="en"/>
              <a:t> first!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we encrypt using </a:t>
            </a:r>
            <a:r>
              <a:rPr i="1" lang="en"/>
              <a:t>d</a:t>
            </a:r>
            <a:r>
              <a:rPr lang="en"/>
              <a:t>, then anyone can “decrypt” using </a:t>
            </a:r>
            <a:r>
              <a:rPr i="1" lang="en"/>
              <a:t>e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Given </a:t>
            </a:r>
            <a:r>
              <a:rPr i="1" lang="en"/>
              <a:t>x</a:t>
            </a:r>
            <a:r>
              <a:rPr lang="en"/>
              <a:t> and </a:t>
            </a:r>
            <a:r>
              <a:rPr i="1" lang="en"/>
              <a:t>x</a:t>
            </a:r>
            <a:r>
              <a:rPr baseline="30000" i="1" lang="en"/>
              <a:t>d</a:t>
            </a:r>
            <a:r>
              <a:rPr lang="en"/>
              <a:t> mod </a:t>
            </a:r>
            <a:r>
              <a:rPr i="1" lang="en"/>
              <a:t>N</a:t>
            </a:r>
            <a:r>
              <a:rPr lang="en"/>
              <a:t>, can’t recover </a:t>
            </a:r>
            <a:r>
              <a:rPr i="1" lang="en"/>
              <a:t>d</a:t>
            </a:r>
            <a:r>
              <a:rPr lang="en"/>
              <a:t> because of discrete-log problem, so </a:t>
            </a:r>
            <a:r>
              <a:rPr i="1" lang="en"/>
              <a:t>d</a:t>
            </a:r>
            <a:r>
              <a:rPr lang="en"/>
              <a:t> is safe</a:t>
            </a:r>
            <a:endParaRPr/>
          </a:p>
        </p:txBody>
      </p:sp>
      <p:sp>
        <p:nvSpPr>
          <p:cNvPr id="344" name="Google Shape;344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9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RSA Signatures: Definition</a:t>
            </a:r>
            <a:endParaRPr/>
          </a:p>
        </p:txBody>
      </p:sp>
      <p:sp>
        <p:nvSpPr>
          <p:cNvPr id="350" name="Google Shape;350;p39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KeyGen():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as RSA encryption: 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Public key</a:t>
            </a:r>
            <a:r>
              <a:rPr lang="en"/>
              <a:t>: </a:t>
            </a:r>
            <a:r>
              <a:rPr i="1" lang="en"/>
              <a:t>N</a:t>
            </a:r>
            <a:r>
              <a:rPr lang="en"/>
              <a:t> and </a:t>
            </a:r>
            <a:r>
              <a:rPr i="1" lang="en"/>
              <a:t>e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Private key:</a:t>
            </a:r>
            <a:r>
              <a:rPr lang="en"/>
              <a:t> </a:t>
            </a:r>
            <a:r>
              <a:rPr i="1" lang="en"/>
              <a:t>d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Sign(</a:t>
            </a:r>
            <a:r>
              <a:rPr i="1" lang="en"/>
              <a:t>d</a:t>
            </a:r>
            <a:r>
              <a:rPr lang="en"/>
              <a:t>, </a:t>
            </a:r>
            <a:r>
              <a:rPr i="1" lang="en"/>
              <a:t>M</a:t>
            </a:r>
            <a:r>
              <a:rPr lang="en"/>
              <a:t>):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Compute </a:t>
            </a:r>
            <a:r>
              <a:rPr i="1" lang="en"/>
              <a:t>sig ≡ H</a:t>
            </a:r>
            <a:r>
              <a:rPr lang="en"/>
              <a:t>(</a:t>
            </a:r>
            <a:r>
              <a:rPr i="1" lang="en"/>
              <a:t>M</a:t>
            </a:r>
            <a:r>
              <a:rPr lang="en"/>
              <a:t>)</a:t>
            </a:r>
            <a:r>
              <a:rPr baseline="30000" i="1" lang="en"/>
              <a:t>d</a:t>
            </a:r>
            <a:r>
              <a:rPr lang="en"/>
              <a:t> mod </a:t>
            </a:r>
            <a:r>
              <a:rPr i="1" lang="en"/>
              <a:t>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Verify(</a:t>
            </a:r>
            <a:r>
              <a:rPr i="1" lang="en"/>
              <a:t>e</a:t>
            </a:r>
            <a:r>
              <a:rPr lang="en"/>
              <a:t>, </a:t>
            </a:r>
            <a:r>
              <a:rPr i="1" lang="en"/>
              <a:t>N</a:t>
            </a:r>
            <a:r>
              <a:rPr lang="en"/>
              <a:t>, </a:t>
            </a:r>
            <a:r>
              <a:rPr i="1" lang="en"/>
              <a:t>M</a:t>
            </a:r>
            <a:r>
              <a:rPr lang="en"/>
              <a:t>, </a:t>
            </a:r>
            <a:r>
              <a:rPr i="1" lang="en"/>
              <a:t>sig</a:t>
            </a:r>
            <a:r>
              <a:rPr lang="en"/>
              <a:t>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Verify that </a:t>
            </a:r>
            <a:r>
              <a:rPr i="1" lang="en"/>
              <a:t>H</a:t>
            </a:r>
            <a:r>
              <a:rPr lang="en"/>
              <a:t>(</a:t>
            </a:r>
            <a:r>
              <a:rPr i="1" lang="en"/>
              <a:t>M</a:t>
            </a:r>
            <a:r>
              <a:rPr lang="en"/>
              <a:t>) ≡ </a:t>
            </a:r>
            <a:r>
              <a:rPr i="1" lang="en"/>
              <a:t>sig</a:t>
            </a:r>
            <a:r>
              <a:rPr baseline="30000" i="1" lang="en"/>
              <a:t>e</a:t>
            </a:r>
            <a:r>
              <a:rPr lang="en"/>
              <a:t> mod </a:t>
            </a:r>
            <a:r>
              <a:rPr i="1" lang="en"/>
              <a:t>N</a:t>
            </a:r>
            <a:endParaRPr baseline="30000"/>
          </a:p>
        </p:txBody>
      </p:sp>
      <p:sp>
        <p:nvSpPr>
          <p:cNvPr id="351" name="Google Shape;351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5765bab5f9_0_0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Quiz</a:t>
            </a:r>
            <a:endParaRPr/>
          </a:p>
        </p:txBody>
      </p:sp>
      <p:sp>
        <p:nvSpPr>
          <p:cNvPr id="357" name="Google Shape;357;g35765bab5f9_0_0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Suppose Alice wants to send a message M to Bob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she send both the ciphertext (encrypted with RSA) and the signature of M (also signed with RSA) to Bob?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Think in terms of what the attacker can do</a:t>
            </a:r>
            <a:endParaRPr/>
          </a:p>
        </p:txBody>
      </p:sp>
      <p:sp>
        <p:nvSpPr>
          <p:cNvPr id="358" name="Google Shape;358;g35765bab5f9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DSA Signatures</a:t>
            </a:r>
            <a:endParaRPr/>
          </a:p>
        </p:txBody>
      </p:sp>
      <p:sp>
        <p:nvSpPr>
          <p:cNvPr id="364" name="Google Shape;364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2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DSA Signatures</a:t>
            </a:r>
            <a:endParaRPr/>
          </a:p>
        </p:txBody>
      </p:sp>
      <p:sp>
        <p:nvSpPr>
          <p:cNvPr id="370" name="Google Shape;370;p42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signature scheme based on Diffie-Hellman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details of the algorithm are out of scope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Usage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Alice generates a public-private key pair and publishes her public key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 sign a message, Alice generates a random, secret value </a:t>
            </a:r>
            <a:r>
              <a:rPr i="1" lang="en"/>
              <a:t>k</a:t>
            </a:r>
            <a:r>
              <a:rPr lang="en"/>
              <a:t> and does some computation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Note: </a:t>
            </a:r>
            <a:r>
              <a:rPr i="1" lang="en"/>
              <a:t>k</a:t>
            </a:r>
            <a:r>
              <a:rPr lang="en"/>
              <a:t> is not Alice’s private key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Note: </a:t>
            </a:r>
            <a:r>
              <a:rPr i="1" lang="en"/>
              <a:t>k</a:t>
            </a:r>
            <a:r>
              <a:rPr lang="en"/>
              <a:t> is sometimes called a nonce but it is not: it must be </a:t>
            </a:r>
            <a:r>
              <a:rPr i="1" lang="en"/>
              <a:t>random</a:t>
            </a:r>
            <a:r>
              <a:rPr lang="en"/>
              <a:t> and never reused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signature itself does not include </a:t>
            </a:r>
            <a:r>
              <a:rPr i="1" lang="en"/>
              <a:t>k</a:t>
            </a:r>
            <a:r>
              <a:rPr lang="en"/>
              <a:t>!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k</a:t>
            </a:r>
            <a:r>
              <a:rPr lang="en"/>
              <a:t> must be random and secret for each message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 attacker who learns </a:t>
            </a:r>
            <a:r>
              <a:rPr i="1" lang="en"/>
              <a:t>k</a:t>
            </a:r>
            <a:r>
              <a:rPr lang="en"/>
              <a:t> can also learn Alice’s private key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Alice reuses </a:t>
            </a:r>
            <a:r>
              <a:rPr i="1" lang="en"/>
              <a:t>k</a:t>
            </a:r>
            <a:r>
              <a:rPr lang="en"/>
              <a:t> on two signatures, an attacker can learn </a:t>
            </a:r>
            <a:r>
              <a:rPr i="1" lang="en"/>
              <a:t>k</a:t>
            </a:r>
            <a:r>
              <a:rPr lang="en"/>
              <a:t> (and use </a:t>
            </a:r>
            <a:r>
              <a:rPr i="1" lang="en"/>
              <a:t>k</a:t>
            </a:r>
            <a:r>
              <a:rPr lang="en"/>
              <a:t> to learn her private key)</a:t>
            </a:r>
            <a:endParaRPr/>
          </a:p>
        </p:txBody>
      </p:sp>
      <p:sp>
        <p:nvSpPr>
          <p:cNvPr id="371" name="Google Shape;371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7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7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7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7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7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7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3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DSA Signatures: Attacks</a:t>
            </a:r>
            <a:endParaRPr/>
          </a:p>
        </p:txBody>
      </p:sp>
      <p:sp>
        <p:nvSpPr>
          <p:cNvPr id="377" name="Google Shape;377;p43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Sony PlayStation 3 (PS3)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Digital rights management (DRM)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Prevent unauthorized code (e.g. pirated software) from running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PS3 was designed to only run signed code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Signature algorithm: Elliptic-curve DSA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Running alternate operating systems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PS3 had an option to run alternate operating systems (Linux) that was later removed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was catnip to reverse engineers (“The best way to get people interested is </a:t>
            </a:r>
            <a:r>
              <a:rPr i="1" lang="en"/>
              <a:t>removing</a:t>
            </a:r>
            <a:r>
              <a:rPr lang="en"/>
              <a:t> Linux from a device”)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of the authentication keys used to sign the firmware reused </a:t>
            </a:r>
            <a:r>
              <a:rPr i="1" lang="en"/>
              <a:t>k</a:t>
            </a:r>
            <a:r>
              <a:rPr lang="en"/>
              <a:t> for multiple signatures → security lost!</a:t>
            </a:r>
            <a:endParaRPr/>
          </a:p>
        </p:txBody>
      </p:sp>
      <p:sp>
        <p:nvSpPr>
          <p:cNvPr id="378" name="Google Shape;378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4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DSA Signatures: Attacks</a:t>
            </a:r>
            <a:endParaRPr/>
          </a:p>
        </p:txBody>
      </p:sp>
      <p:sp>
        <p:nvSpPr>
          <p:cNvPr id="384" name="Google Shape;384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5" name="Google Shape;385;p44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Android OS vulnerability (2013)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"SecureRandom" function in its random number generator (RNG) wasn’t actually secure!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 only was it low entropy, it would sometimes return the same value multiple times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Multiple Bitcoin wallet apps on Android were affected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Bitcoin payments are signed with elliptic-curve DSA and published publicly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Insecure RNG caused multiple payments to be signed with the same </a:t>
            </a:r>
            <a:r>
              <a:rPr i="1" lang="en"/>
              <a:t>k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Attack: Someone scanned for all Bitcoin transactions signed insecurely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Recall: When multiple signatures use the same </a:t>
            </a:r>
            <a:r>
              <a:rPr i="1" lang="en"/>
              <a:t>k</a:t>
            </a:r>
            <a:r>
              <a:rPr lang="en"/>
              <a:t>, the attacker can learn </a:t>
            </a:r>
            <a:r>
              <a:rPr i="1" lang="en"/>
              <a:t>k</a:t>
            </a:r>
            <a:r>
              <a:rPr lang="en"/>
              <a:t> and the private key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Bitcoin, your private key unlocks access to all your money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5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DSA Signatures: Attacks</a:t>
            </a:r>
            <a:endParaRPr/>
          </a:p>
        </p:txBody>
      </p:sp>
      <p:sp>
        <p:nvSpPr>
          <p:cNvPr id="391" name="Google Shape;391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2" name="Google Shape;392;p45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Chromebooks have a built-in U2F (universal second factor) security key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Uses signatures to let the user log in to particular websites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Signature algorithm: 256-bit elliptic-curve DSA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was a bug in the secure hardware!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Instead of using 256-bit </a:t>
            </a:r>
            <a:r>
              <a:rPr i="1" lang="en"/>
              <a:t>k</a:t>
            </a:r>
            <a:r>
              <a:rPr lang="en"/>
              <a:t>, a bug caused </a:t>
            </a:r>
            <a:r>
              <a:rPr i="1" lang="en"/>
              <a:t>k</a:t>
            </a:r>
            <a:r>
              <a:rPr lang="en"/>
              <a:t> to be 32 bits long!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 attacker with a signature could simply try all possible values of </a:t>
            </a:r>
            <a:r>
              <a:rPr i="1" lang="en"/>
              <a:t>k</a:t>
            </a:r>
            <a:endParaRPr i="1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Fortunately the damage was slight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signature is only valid for logging into a single website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website used its own private key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Takeaway</a:t>
            </a:r>
            <a:r>
              <a:rPr lang="en"/>
              <a:t>: DSA (or ECDSA) is particularly vulnerable to incorrect implementations, compared with RSA signatures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6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Summary: Public-Key Cryptography</a:t>
            </a:r>
            <a:endParaRPr/>
          </a:p>
        </p:txBody>
      </p:sp>
      <p:sp>
        <p:nvSpPr>
          <p:cNvPr id="398" name="Google Shape;398;p46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Public-key cryptography: Two keys; one undoes the other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Public-key encryption: One key encrypts, the other decrypts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Security properties similar to symmetric encryption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ElGamal: Based on Diffie-Hellman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public key is </a:t>
            </a:r>
            <a:r>
              <a:rPr i="1" lang="en"/>
              <a:t>g</a:t>
            </a:r>
            <a:r>
              <a:rPr baseline="30000" i="1" lang="en"/>
              <a:t>b</a:t>
            </a:r>
            <a:r>
              <a:rPr lang="en"/>
              <a:t>, and </a:t>
            </a:r>
            <a:r>
              <a:rPr i="1" lang="en"/>
              <a:t>C</a:t>
            </a:r>
            <a:r>
              <a:rPr lang="en" sz="900"/>
              <a:t>1</a:t>
            </a:r>
            <a:r>
              <a:rPr lang="en"/>
              <a:t> is </a:t>
            </a:r>
            <a:r>
              <a:rPr i="1" lang="en"/>
              <a:t>g</a:t>
            </a:r>
            <a:r>
              <a:rPr baseline="30000" i="1" lang="en"/>
              <a:t>r</a:t>
            </a:r>
            <a:r>
              <a:rPr lang="en"/>
              <a:t>.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Not IND-CPA secure on its own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RSA: Produce a pair </a:t>
            </a:r>
            <a:r>
              <a:rPr i="1" lang="en"/>
              <a:t>e</a:t>
            </a:r>
            <a:r>
              <a:rPr lang="en"/>
              <a:t> and </a:t>
            </a:r>
            <a:r>
              <a:rPr i="1" lang="en"/>
              <a:t>d</a:t>
            </a:r>
            <a:r>
              <a:rPr lang="en"/>
              <a:t> such that </a:t>
            </a:r>
            <a:r>
              <a:rPr i="1" lang="en"/>
              <a:t>M</a:t>
            </a:r>
            <a:r>
              <a:rPr baseline="30000" i="1" lang="en"/>
              <a:t>ed</a:t>
            </a:r>
            <a:r>
              <a:rPr lang="en"/>
              <a:t> = </a:t>
            </a:r>
            <a:r>
              <a:rPr i="1" lang="en"/>
              <a:t>M</a:t>
            </a:r>
            <a:r>
              <a:rPr lang="en"/>
              <a:t> mod </a:t>
            </a:r>
            <a:r>
              <a:rPr i="1" lang="en"/>
              <a:t>N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Not IND-CPA secure on its own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Hybrid encryption: Encrypt a symmetric key, and use the symmetric key to encrypt the message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Digital signatures: Integrity and authenticity for asymmetric schemes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RSA: Same as RSA encryption, but encrypt the hash with the </a:t>
            </a:r>
            <a:r>
              <a:rPr i="1" lang="en"/>
              <a:t>private</a:t>
            </a:r>
            <a:r>
              <a:rPr lang="en"/>
              <a:t> key</a:t>
            </a:r>
            <a:endParaRPr/>
          </a:p>
        </p:txBody>
      </p:sp>
      <p:sp>
        <p:nvSpPr>
          <p:cNvPr id="399" name="Google Shape;399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S 161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