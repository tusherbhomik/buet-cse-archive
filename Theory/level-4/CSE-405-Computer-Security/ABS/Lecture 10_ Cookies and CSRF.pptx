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CF8845-A869-4F73-BFDA-305FE5F4EC43}">
  <a:tblStyle styleId="{44CF8845-A869-4F73-BFDA-305FE5F4EC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145441F-B117-4572-B089-FCDB0F6A988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we.mitre.org/top25/archive/2020/2020_cwe_top25.html"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internetnews.com/security/article.php/3835596/Facebook+Hit+by+CrossSite+Request+Forgery+Attack.htm"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eb2baaae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eb2baaae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e44adf36c7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e44adf36c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 is the set of rules that let’s us communicate over the web. HTTP is a one request, one response model (so a request-response protocol). We briefly described HTTPS, which is a more secure version of HTTP, and we’ll dive deeper into that in our networking unit.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e44adf36c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e44adf36c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Javascript is browser-side code. The code can be sent from the server and then is executed browser side on your computer!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0b5ea5526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0b5ea5526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going to start today by going through some critical features of the web: cookies! I hope you’re enjoying your cookie in person and if you’re online or on the zoom recording, please enjoy this image of Evanbot eating a cookie (drawn by one of our fabulous artists Ashley Zhang).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we’re going to dive into session authentication, Cross-Site Request Forgery (CSRF), and CSRF Defenses in the back half of the lecture.</a:t>
            </a:r>
            <a:endParaRPr/>
          </a:p>
          <a:p>
            <a:pPr indent="0" lvl="0" marL="0" rtl="0" algn="l">
              <a:spcBef>
                <a:spcPts val="0"/>
              </a:spcBef>
              <a:spcAft>
                <a:spcPts val="0"/>
              </a:spcAft>
              <a:buNone/>
            </a:pPr>
            <a:r>
              <a:rPr lang="en"/>
              <a:t>Session authentication is going to look fairly similar to cookies, because it’s really an application of cookies. And then CSRF is an attack on cookies that we’ll dive into.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2ec44d2a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2ec44d2a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going to start today by going through some critical features of the web: cookies! I hope you’re enjoying your cookie in person and if you’re online or on the zoom recording, please enjoy this image of Evanbot eating a cookie (drawn by one of our fabulous artists Ashley Zhang).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we’re going to dive into session authentication, Cross-Site Request Forgery (CSRF), and CSRF Defenses in the back half of the lecture.</a:t>
            </a:r>
            <a:endParaRPr/>
          </a:p>
          <a:p>
            <a:pPr indent="0" lvl="0" marL="0" rtl="0" algn="l">
              <a:spcBef>
                <a:spcPts val="0"/>
              </a:spcBef>
              <a:spcAft>
                <a:spcPts val="0"/>
              </a:spcAft>
              <a:buNone/>
            </a:pPr>
            <a:r>
              <a:rPr lang="en"/>
              <a:t>Session authentication is going to look fairly similar to cookies, because it’s really an application of cookies. And then CSRF is an attack on cookies that we’ll dive into.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dce61f0a8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dce61f0a8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dce61f0a8f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dce61f0a8f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Request-response model -&gt; no recollection of previous HTTP requests/responses, no impact on future requests</a:t>
            </a:r>
            <a:endParaRPr/>
          </a:p>
          <a:p>
            <a:pPr indent="-298450" lvl="0" marL="457200" rtl="0" algn="l">
              <a:spcBef>
                <a:spcPts val="0"/>
              </a:spcBef>
              <a:spcAft>
                <a:spcPts val="0"/>
              </a:spcAft>
              <a:buSzPts val="1100"/>
              <a:buChar char="-"/>
            </a:pPr>
            <a:r>
              <a:rPr lang="en"/>
              <a:t>Maybe this is fine: request two different movies, they don’t depend</a:t>
            </a:r>
            <a:endParaRPr/>
          </a:p>
          <a:p>
            <a:pPr indent="-298450" lvl="0" marL="457200" rtl="0" algn="l">
              <a:spcBef>
                <a:spcPts val="0"/>
              </a:spcBef>
              <a:spcAft>
                <a:spcPts val="0"/>
              </a:spcAft>
              <a:buSzPts val="1100"/>
              <a:buChar char="-"/>
            </a:pPr>
            <a:r>
              <a:rPr lang="en"/>
              <a:t>However, we want to remember state across different requests–this is where cookies come into play!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daf639f2a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daf639f2a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HTTP doesn’t remember what requests were previously made</a:t>
            </a:r>
            <a:endParaRPr/>
          </a:p>
          <a:p>
            <a:pPr indent="-298450" lvl="0" marL="457200" rtl="0" algn="l">
              <a:spcBef>
                <a:spcPts val="0"/>
              </a:spcBef>
              <a:spcAft>
                <a:spcPts val="0"/>
              </a:spcAft>
              <a:buSzPts val="1100"/>
              <a:buChar char="-"/>
            </a:pPr>
            <a:r>
              <a:rPr lang="en"/>
              <a:t>Use cookies to link together past, present, and future requests/responses</a:t>
            </a:r>
            <a:endParaRPr/>
          </a:p>
          <a:p>
            <a:pPr indent="-298450" lvl="0" marL="457200" rtl="0" algn="l">
              <a:spcBef>
                <a:spcPts val="0"/>
              </a:spcBef>
              <a:spcAft>
                <a:spcPts val="0"/>
              </a:spcAft>
              <a:buSzPts val="1100"/>
              <a:buChar char="-"/>
            </a:pPr>
            <a:r>
              <a:rPr lang="en"/>
              <a:t>Cookies hold information like </a:t>
            </a:r>
            <a:r>
              <a:rPr lang="en"/>
              <a:t>“this person logged in at 12:50pm, if they stay on this machine, let them stay logged in”, or “this person selected dark mode, please don’t sear their eyeballs off with light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when we’re defining what this cookie is, we need to figure out three things: how do we create cookies, store them, and send them?</a:t>
            </a:r>
            <a:endParaRPr/>
          </a:p>
          <a:p>
            <a:pPr indent="-298450" lvl="0" marL="457200" rtl="0" algn="l">
              <a:spcBef>
                <a:spcPts val="0"/>
              </a:spcBef>
              <a:spcAft>
                <a:spcPts val="0"/>
              </a:spcAft>
              <a:buSzPts val="1100"/>
              <a:buChar char="-"/>
            </a:pPr>
            <a:r>
              <a:rPr lang="en"/>
              <a:t>Create cookies</a:t>
            </a:r>
            <a:endParaRPr/>
          </a:p>
          <a:p>
            <a:pPr indent="-298450" lvl="1" marL="914400" rtl="0" algn="l">
              <a:spcBef>
                <a:spcPts val="0"/>
              </a:spcBef>
              <a:spcAft>
                <a:spcPts val="0"/>
              </a:spcAft>
              <a:buSzPts val="1100"/>
              <a:buChar char="-"/>
            </a:pPr>
            <a:r>
              <a:rPr lang="en"/>
              <a:t>Send based on request (one response per request). Sends HTML + in the header “here’s a cookie, keep it safe” -&gt; Set-Cookie header</a:t>
            </a:r>
            <a:endParaRPr/>
          </a:p>
          <a:p>
            <a:pPr indent="-298450" lvl="1" marL="914400" rtl="0" algn="l">
              <a:spcBef>
                <a:spcPts val="0"/>
              </a:spcBef>
              <a:spcAft>
                <a:spcPts val="0"/>
              </a:spcAft>
              <a:buSzPts val="1100"/>
              <a:buChar char="-"/>
            </a:pPr>
            <a:r>
              <a:rPr lang="en"/>
              <a:t>Dark mode button -&gt; Javascript runs when button is clicked</a:t>
            </a:r>
            <a:endParaRPr/>
          </a:p>
          <a:p>
            <a:pPr indent="-298450" lvl="1" marL="914400" rtl="0" algn="l">
              <a:spcBef>
                <a:spcPts val="0"/>
              </a:spcBef>
              <a:spcAft>
                <a:spcPts val="0"/>
              </a:spcAft>
              <a:buSzPts val="1100"/>
              <a:buChar char="-"/>
            </a:pPr>
            <a:r>
              <a:rPr lang="en"/>
              <a:t>Manually create your own cookies</a:t>
            </a:r>
            <a:endParaRPr/>
          </a:p>
          <a:p>
            <a:pPr indent="-298450" lvl="2" marL="1371600" rtl="0" algn="l">
              <a:spcBef>
                <a:spcPts val="0"/>
              </a:spcBef>
              <a:spcAft>
                <a:spcPts val="0"/>
              </a:spcAft>
              <a:buSzPts val="1100"/>
              <a:buChar char="-"/>
            </a:pPr>
            <a:r>
              <a:rPr lang="en"/>
              <a:t>On Chrome: inspect page -&gt; applications -&gt; cookies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b5ea5526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0b5ea5526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 - 12:50</a:t>
            </a:r>
            <a:endParaRPr/>
          </a:p>
          <a:p>
            <a:pPr indent="-298450" lvl="0" marL="457200" rtl="0" algn="l">
              <a:spcBef>
                <a:spcPts val="0"/>
              </a:spcBef>
              <a:spcAft>
                <a:spcPts val="0"/>
              </a:spcAft>
              <a:buSzPts val="1100"/>
              <a:buChar char="-"/>
            </a:pPr>
            <a:r>
              <a:rPr lang="en"/>
              <a:t>Name-value pair for communication (like a hashmap or python dictionary) -&gt; give examples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daf639f2a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daf639f2a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Besides the name and value, we also need to know what websites to associate this cookie with</a:t>
            </a:r>
            <a:endParaRPr/>
          </a:p>
          <a:p>
            <a:pPr indent="-298450" lvl="1" marL="914400" rtl="0" algn="l">
              <a:spcBef>
                <a:spcPts val="0"/>
              </a:spcBef>
              <a:spcAft>
                <a:spcPts val="0"/>
              </a:spcAft>
              <a:buSzPts val="1100"/>
              <a:buChar char="-"/>
            </a:pPr>
            <a:r>
              <a:rPr lang="en"/>
              <a:t>Would dark theme relate to every website, cs161.org?</a:t>
            </a:r>
            <a:endParaRPr/>
          </a:p>
          <a:p>
            <a:pPr indent="-298450" lvl="0" marL="457200" rtl="0" algn="l">
              <a:spcBef>
                <a:spcPts val="0"/>
              </a:spcBef>
              <a:spcAft>
                <a:spcPts val="0"/>
              </a:spcAft>
              <a:buSzPts val="1100"/>
              <a:buChar char="-"/>
            </a:pPr>
            <a:r>
              <a:rPr lang="en"/>
              <a:t>Scopes the cookie</a:t>
            </a:r>
            <a:endParaRPr/>
          </a:p>
          <a:p>
            <a:pPr indent="-298450" lvl="1" marL="914400" rtl="0" algn="l">
              <a:spcBef>
                <a:spcPts val="0"/>
              </a:spcBef>
              <a:spcAft>
                <a:spcPts val="0"/>
              </a:spcAft>
              <a:buSzPts val="1100"/>
              <a:buChar char="-"/>
            </a:pPr>
            <a:r>
              <a:rPr lang="en"/>
              <a:t>Technically not a URL, just decides what websites are relevant</a:t>
            </a:r>
            <a:endParaRPr/>
          </a:p>
          <a:p>
            <a:pPr indent="-298450" lvl="0" marL="457200" rtl="0" algn="l">
              <a:spcBef>
                <a:spcPts val="0"/>
              </a:spcBef>
              <a:spcAft>
                <a:spcPts val="0"/>
              </a:spcAft>
              <a:buSzPts val="1100"/>
              <a:buChar char="-"/>
            </a:pPr>
            <a:r>
              <a:rPr lang="en"/>
              <a:t>Cookie jar analogy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daf639f2a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daf639f2a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Main security attributes</a:t>
            </a:r>
            <a:endParaRPr/>
          </a:p>
          <a:p>
            <a:pPr indent="-298450" lvl="0" marL="457200" rtl="0" algn="l">
              <a:spcBef>
                <a:spcPts val="0"/>
              </a:spcBef>
              <a:spcAft>
                <a:spcPts val="0"/>
              </a:spcAft>
              <a:buSzPts val="1100"/>
              <a:buChar char="-"/>
            </a:pPr>
            <a:r>
              <a:rPr lang="en"/>
              <a:t>HTTPOnly true: Javascript cannot see the cookies or modify</a:t>
            </a:r>
            <a:endParaRPr/>
          </a:p>
          <a:p>
            <a:pPr indent="-298450" lvl="0" marL="457200" rtl="0" algn="l">
              <a:spcBef>
                <a:spcPts val="0"/>
              </a:spcBef>
              <a:spcAft>
                <a:spcPts val="0"/>
              </a:spcAft>
              <a:buClr>
                <a:schemeClr val="dk1"/>
              </a:buClr>
              <a:buSzPts val="1100"/>
              <a:buChar char="-"/>
            </a:pPr>
            <a:r>
              <a:rPr lang="en">
                <a:solidFill>
                  <a:schemeClr val="dk1"/>
                </a:solidFill>
              </a:rPr>
              <a:t>Cookie jar analogy -&gt; filter through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af639f2a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af639f2a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Like an expiration date on certificates!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daf639f2a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daf639f2a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daf639f2a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daf639f2a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“Relevant” is vague -&gt; we’ll formally define it in a bit</a:t>
            </a:r>
            <a:endParaRPr/>
          </a:p>
          <a:p>
            <a:pPr indent="-298450" lvl="0" marL="457200" rtl="0" algn="l">
              <a:spcBef>
                <a:spcPts val="0"/>
              </a:spcBef>
              <a:spcAft>
                <a:spcPts val="0"/>
              </a:spcAft>
              <a:buSzPts val="1100"/>
              <a:buChar char="-"/>
            </a:pPr>
            <a:r>
              <a:rPr lang="en"/>
              <a:t>evil.com setting cookie for cs161.org dark mode -&gt; feels like we’re breaking the same origin policy</a:t>
            </a:r>
            <a:endParaRPr/>
          </a:p>
          <a:p>
            <a:pPr indent="-298450" lvl="1" marL="914400" rtl="0" algn="l">
              <a:spcBef>
                <a:spcPts val="0"/>
              </a:spcBef>
              <a:spcAft>
                <a:spcPts val="0"/>
              </a:spcAft>
              <a:buSzPts val="1100"/>
              <a:buChar char="-"/>
            </a:pPr>
            <a:r>
              <a:rPr lang="en"/>
              <a:t>evil.com </a:t>
            </a:r>
            <a:r>
              <a:rPr lang="en"/>
              <a:t>should</a:t>
            </a:r>
            <a:r>
              <a:rPr lang="en"/>
              <a:t> not be able to affect cs161.org</a:t>
            </a:r>
            <a:endParaRPr/>
          </a:p>
          <a:p>
            <a:pPr indent="-298450" lvl="0" marL="457200" rtl="0" algn="l">
              <a:spcBef>
                <a:spcPts val="0"/>
              </a:spcBef>
              <a:spcAft>
                <a:spcPts val="0"/>
              </a:spcAft>
              <a:buSzPts val="1100"/>
              <a:buChar char="-"/>
            </a:pPr>
            <a:r>
              <a:rPr lang="en"/>
              <a:t>Cookies with bank account information/secret </a:t>
            </a:r>
            <a:r>
              <a:rPr lang="en"/>
              <a:t>login</a:t>
            </a:r>
            <a:r>
              <a:rPr lang="en"/>
              <a:t> shouldn’t be sent to the wrong place</a:t>
            </a:r>
            <a:endParaRPr/>
          </a:p>
          <a:p>
            <a:pPr indent="-298450" lvl="1" marL="914400" rtl="0" algn="l">
              <a:spcBef>
                <a:spcPts val="0"/>
              </a:spcBef>
              <a:spcAft>
                <a:spcPts val="0"/>
              </a:spcAft>
              <a:buSzPts val="1100"/>
              <a:buChar char="-"/>
            </a:pPr>
            <a:r>
              <a:rPr lang="en"/>
              <a:t>Should</a:t>
            </a:r>
            <a:r>
              <a:rPr lang="en"/>
              <a:t> only be attached to bank account requests, etc.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daf639f2a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daf639f2a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Enforced by browser </a:t>
            </a:r>
            <a:r>
              <a:rPr lang="en"/>
              <a:t>because</a:t>
            </a:r>
            <a:r>
              <a:rPr lang="en"/>
              <a:t> cookies are stored browser-side</a:t>
            </a:r>
            <a:endParaRPr/>
          </a:p>
          <a:p>
            <a:pPr indent="-298450" lvl="0" marL="457200" rtl="0" algn="l">
              <a:spcBef>
                <a:spcPts val="0"/>
              </a:spcBef>
              <a:spcAft>
                <a:spcPts val="0"/>
              </a:spcAft>
              <a:buSzPts val="1100"/>
              <a:buChar char="-"/>
            </a:pPr>
            <a:r>
              <a:rPr lang="en"/>
              <a:t>Specific to cookies and how they’re sent/stored, not the same as SOP</a:t>
            </a:r>
            <a:endParaRPr/>
          </a:p>
          <a:p>
            <a:pPr indent="-298450" lvl="1" marL="914400" rtl="0" algn="l">
              <a:spcBef>
                <a:spcPts val="0"/>
              </a:spcBef>
              <a:spcAft>
                <a:spcPts val="0"/>
              </a:spcAft>
              <a:buSzPts val="1100"/>
              <a:buChar char="-"/>
            </a:pPr>
            <a:r>
              <a:rPr lang="en"/>
              <a:t>Both relate to ensuring some sort of separation between different websites, but different purposes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e44adf36c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e44adf36c7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 - 12:55</a:t>
            </a:r>
            <a:endParaRPr/>
          </a:p>
          <a:p>
            <a:pPr indent="-298450" lvl="0" marL="457200" rtl="0" algn="l">
              <a:spcBef>
                <a:spcPts val="0"/>
              </a:spcBef>
              <a:spcAft>
                <a:spcPts val="0"/>
              </a:spcAft>
              <a:buSzPts val="1100"/>
              <a:buChar char="-"/>
            </a:pPr>
            <a:r>
              <a:rPr lang="en"/>
              <a:t>Organization of domains</a:t>
            </a:r>
            <a:endParaRPr/>
          </a:p>
          <a:p>
            <a:pPr indent="-298450" lvl="0" marL="457200" rtl="0" algn="l">
              <a:spcBef>
                <a:spcPts val="0"/>
              </a:spcBef>
              <a:spcAft>
                <a:spcPts val="0"/>
              </a:spcAft>
              <a:buSzPts val="1100"/>
              <a:buChar char="-"/>
            </a:pPr>
            <a:r>
              <a:rPr lang="en"/>
              <a:t>What does it mean for domains to be related? -&gt; trying to make “relevant” less vague</a:t>
            </a:r>
            <a:endParaRPr/>
          </a:p>
          <a:p>
            <a:pPr indent="-298450" lvl="0" marL="457200" rtl="0" algn="l">
              <a:spcBef>
                <a:spcPts val="0"/>
              </a:spcBef>
              <a:spcAft>
                <a:spcPts val="0"/>
              </a:spcAft>
              <a:buSzPts val="1100"/>
              <a:buChar char="-"/>
            </a:pPr>
            <a:r>
              <a:rPr lang="en"/>
              <a:t>Split on the dots</a:t>
            </a:r>
            <a:endParaRPr/>
          </a:p>
          <a:p>
            <a:pPr indent="-298450" lvl="0" marL="457200" rtl="0" algn="l">
              <a:spcBef>
                <a:spcPts val="0"/>
              </a:spcBef>
              <a:spcAft>
                <a:spcPts val="0"/>
              </a:spcAft>
              <a:buSzPts val="1100"/>
              <a:buChar char="-"/>
            </a:pPr>
            <a:r>
              <a:rPr lang="en"/>
              <a:t>berkeley.edu and mit.edu both belong to the .edu family of domains</a:t>
            </a:r>
            <a:endParaRPr/>
          </a:p>
          <a:p>
            <a:pPr indent="-298450" lvl="0" marL="457200" rtl="0" algn="l">
              <a:spcBef>
                <a:spcPts val="0"/>
              </a:spcBef>
              <a:spcAft>
                <a:spcPts val="0"/>
              </a:spcAft>
              <a:buSzPts val="1100"/>
              <a:buChar char="-"/>
            </a:pPr>
            <a:r>
              <a:rPr lang="en"/>
              <a:t>.root is the top of the hierarchy -&gt; set of all possible domains</a:t>
            </a:r>
            <a:endParaRPr/>
          </a:p>
          <a:p>
            <a:pPr indent="-298450" lvl="1" marL="914400" rtl="0" algn="l">
              <a:spcBef>
                <a:spcPts val="0"/>
              </a:spcBef>
              <a:spcAft>
                <a:spcPts val="0"/>
              </a:spcAft>
              <a:buSzPts val="1100"/>
              <a:buChar char="-"/>
            </a:pPr>
            <a:r>
              <a:rPr lang="en"/>
              <a:t>Will reappear in DNS</a:t>
            </a:r>
            <a:endParaRPr/>
          </a:p>
          <a:p>
            <a:pPr indent="-298450" lvl="0" marL="457200" rtl="0" algn="l">
              <a:spcBef>
                <a:spcPts val="0"/>
              </a:spcBef>
              <a:spcAft>
                <a:spcPts val="0"/>
              </a:spcAft>
              <a:buSzPts val="1100"/>
              <a:buChar char="-"/>
            </a:pPr>
            <a:r>
              <a:rPr lang="en"/>
              <a:t>More “specific” domain -&gt; berkeley.edu, less “specific -&gt; .edu</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44adf36c7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44adf36c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vocab terms!</a:t>
            </a:r>
            <a:endParaRPr/>
          </a:p>
          <a:p>
            <a:pPr indent="-298450" lvl="0" marL="457200" rtl="0" algn="l">
              <a:spcBef>
                <a:spcPts val="0"/>
              </a:spcBef>
              <a:spcAft>
                <a:spcPts val="0"/>
              </a:spcAft>
              <a:buSzPts val="1100"/>
              <a:buChar char="-"/>
            </a:pPr>
            <a:r>
              <a:rPr lang="en"/>
              <a:t>Single dot followed by string of letters -&gt; TLD</a:t>
            </a:r>
            <a:endParaRPr/>
          </a:p>
          <a:p>
            <a:pPr indent="-298450" lvl="0" marL="457200" rtl="0" algn="l">
              <a:spcBef>
                <a:spcPts val="0"/>
              </a:spcBef>
              <a:spcAft>
                <a:spcPts val="0"/>
              </a:spcAft>
              <a:buSzPts val="1100"/>
              <a:buChar char="-"/>
            </a:pPr>
            <a:r>
              <a:rPr lang="en"/>
              <a:t>su24.cs161.org is a subdomain of cs161.org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daf639f2a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daf639f2a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a:p>
            <a:pPr indent="-298450" lvl="0" marL="457200" rtl="0" algn="l">
              <a:spcBef>
                <a:spcPts val="0"/>
              </a:spcBef>
              <a:spcAft>
                <a:spcPts val="0"/>
              </a:spcAft>
              <a:buSzPts val="1100"/>
              <a:buChar char="-"/>
            </a:pPr>
            <a:r>
              <a:rPr lang="en"/>
              <a:t>Do I accept cookie into cookie jar?</a:t>
            </a:r>
            <a:endParaRPr/>
          </a:p>
          <a:p>
            <a:pPr indent="-298450" lvl="0" marL="457200" rtl="0" algn="l">
              <a:spcBef>
                <a:spcPts val="0"/>
              </a:spcBef>
              <a:spcAft>
                <a:spcPts val="0"/>
              </a:spcAft>
              <a:buSzPts val="1100"/>
              <a:buChar char="-"/>
            </a:pPr>
            <a:r>
              <a:rPr lang="en"/>
              <a:t>Don’t want evil.com to impact other sites like bank logins</a:t>
            </a:r>
            <a:endParaRPr/>
          </a:p>
          <a:p>
            <a:pPr indent="-298450" lvl="0" marL="457200" rtl="0" algn="l">
              <a:spcBef>
                <a:spcPts val="0"/>
              </a:spcBef>
              <a:spcAft>
                <a:spcPts val="0"/>
              </a:spcAft>
              <a:buSzPts val="1100"/>
              <a:buChar char="-"/>
            </a:pPr>
            <a:r>
              <a:rPr lang="en"/>
              <a:t>Domain attribute Y = from cookie, domain X = who is sending the response</a:t>
            </a:r>
            <a:endParaRPr/>
          </a:p>
          <a:p>
            <a:pPr indent="-298450" lvl="0" marL="457200" rtl="0" algn="l">
              <a:spcBef>
                <a:spcPts val="0"/>
              </a:spcBef>
              <a:spcAft>
                <a:spcPts val="0"/>
              </a:spcAft>
              <a:buSzPts val="1100"/>
              <a:buChar char="-"/>
            </a:pPr>
            <a:r>
              <a:rPr lang="en"/>
              <a:t>3 examples kind of mean the same thing</a:t>
            </a:r>
            <a:endParaRPr/>
          </a:p>
          <a:p>
            <a:pPr indent="-298450" lvl="1" marL="914400" rtl="0" algn="l">
              <a:spcBef>
                <a:spcPts val="0"/>
              </a:spcBef>
              <a:spcAft>
                <a:spcPts val="0"/>
              </a:spcAft>
              <a:buSzPts val="1100"/>
              <a:buChar char="-"/>
            </a:pPr>
            <a:r>
              <a:rPr lang="en"/>
              <a:t>Give example of all three with X=eecs.berkeley.edu &amp; Y=berkeley.edu</a:t>
            </a:r>
            <a:endParaRPr/>
          </a:p>
          <a:p>
            <a:pPr indent="-298450" lvl="2" marL="1371600" rtl="0" algn="l">
              <a:spcBef>
                <a:spcPts val="0"/>
              </a:spcBef>
              <a:spcAft>
                <a:spcPts val="0"/>
              </a:spcAft>
              <a:buSzPts val="1100"/>
              <a:buChar char="-"/>
            </a:pPr>
            <a:r>
              <a:rPr lang="en"/>
              <a:t>Getting a response from eecs.berkeley.edu setting a cookie w domain attribute berkeley.edu</a:t>
            </a:r>
            <a:endParaRPr/>
          </a:p>
          <a:p>
            <a:pPr indent="-298450" lvl="0" marL="457200" rtl="0" algn="l">
              <a:spcBef>
                <a:spcPts val="0"/>
              </a:spcBef>
              <a:spcAft>
                <a:spcPts val="0"/>
              </a:spcAft>
              <a:buSzPts val="1100"/>
              <a:buChar char="-"/>
            </a:pPr>
            <a:r>
              <a:rPr lang="en"/>
              <a:t>Reuse evil.com &amp; google.com example -&gt; we’ve thwarted this!</a:t>
            </a:r>
            <a:endParaRPr/>
          </a:p>
          <a:p>
            <a:pPr indent="-298450" lvl="0" marL="457200" rtl="0" algn="l">
              <a:spcBef>
                <a:spcPts val="0"/>
              </a:spcBef>
              <a:spcAft>
                <a:spcPts val="0"/>
              </a:spcAft>
              <a:buSzPts val="1100"/>
              <a:buChar char="-"/>
            </a:pPr>
            <a:r>
              <a:rPr lang="en"/>
              <a:t>Pretty mechanical -&gt; makes “relevant” less vague by using domain </a:t>
            </a:r>
            <a:r>
              <a:rPr lang="en"/>
              <a:t>hierarchy</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not TLD? If set for .com -&gt; cookie is set for every .com site in the world -&gt; that’s too much power! </a:t>
            </a:r>
            <a:endParaRPr/>
          </a:p>
          <a:p>
            <a:pPr indent="-298450" lvl="0" marL="457200" rtl="0" algn="l">
              <a:spcBef>
                <a:spcPts val="0"/>
              </a:spcBef>
              <a:spcAft>
                <a:spcPts val="0"/>
              </a:spcAft>
              <a:buSzPts val="1100"/>
              <a:buChar char="-"/>
            </a:pPr>
            <a:r>
              <a:rPr lang="en"/>
              <a:t>evil.com should not be able to assign cookies for all the .coms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Pause Qs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daf639f2a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daf639f2a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 - 1:05</a:t>
            </a:r>
            <a:endParaRPr/>
          </a:p>
          <a:p>
            <a:pPr indent="-298450" lvl="0" marL="457200" rtl="0" algn="l">
              <a:spcBef>
                <a:spcPts val="0"/>
              </a:spcBef>
              <a:spcAft>
                <a:spcPts val="0"/>
              </a:spcAft>
              <a:buSzPts val="1100"/>
              <a:buChar char="-"/>
            </a:pPr>
            <a:r>
              <a:rPr lang="en"/>
              <a:t>Now we know how to set -&gt; let’s figure out when to send cookies!</a:t>
            </a:r>
            <a:endParaRPr/>
          </a:p>
          <a:p>
            <a:pPr indent="-298450" lvl="1" marL="914400" rtl="0" algn="l">
              <a:spcBef>
                <a:spcPts val="0"/>
              </a:spcBef>
              <a:spcAft>
                <a:spcPts val="0"/>
              </a:spcAft>
              <a:buSzPts val="1100"/>
              <a:buChar char="-"/>
            </a:pPr>
            <a:r>
              <a:rPr lang="en"/>
              <a:t>When to fish out of the cookie jar (filtering out cookies)</a:t>
            </a:r>
            <a:endParaRPr/>
          </a:p>
          <a:p>
            <a:pPr indent="-298450" lvl="0" marL="457200" rtl="0" algn="l">
              <a:spcBef>
                <a:spcPts val="0"/>
              </a:spcBef>
              <a:spcAft>
                <a:spcPts val="0"/>
              </a:spcAft>
              <a:buSzPts val="1100"/>
              <a:buChar char="-"/>
            </a:pPr>
            <a:r>
              <a:rPr lang="en"/>
              <a:t>Much shorter policy!</a:t>
            </a:r>
            <a:endParaRPr/>
          </a:p>
          <a:p>
            <a:pPr indent="-298450" lvl="0" marL="457200" rtl="0" algn="l">
              <a:spcBef>
                <a:spcPts val="0"/>
              </a:spcBef>
              <a:spcAft>
                <a:spcPts val="0"/>
              </a:spcAft>
              <a:buSzPts val="1100"/>
              <a:buChar char="-"/>
            </a:pPr>
            <a:r>
              <a:rPr lang="en"/>
              <a:t>All cookies are stored together in cookie jar -&gt; not separated by domain/path</a:t>
            </a:r>
            <a:endParaRPr/>
          </a:p>
          <a:p>
            <a:pPr indent="-298450" lvl="0" marL="457200" rtl="0" algn="l">
              <a:spcBef>
                <a:spcPts val="0"/>
              </a:spcBef>
              <a:spcAft>
                <a:spcPts val="0"/>
              </a:spcAft>
              <a:buSzPts val="1100"/>
              <a:buChar char="-"/>
            </a:pPr>
            <a:r>
              <a:rPr lang="en"/>
              <a:t>We’re finally defining “relevant” -&gt; these two rules</a:t>
            </a:r>
            <a:endParaRPr/>
          </a:p>
          <a:p>
            <a:pPr indent="-298450" lvl="0" marL="457200" rtl="0" algn="l">
              <a:spcBef>
                <a:spcPts val="0"/>
              </a:spcBef>
              <a:spcAft>
                <a:spcPts val="0"/>
              </a:spcAft>
              <a:buSzPts val="1100"/>
              <a:buChar char="-"/>
            </a:pPr>
            <a:r>
              <a:rPr lang="en"/>
              <a:t>This is hard to understand using words alone -&gt; next slide goes through an example!</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0b5ea5526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0b5ea552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 - 1:05</a:t>
            </a:r>
            <a:endParaRPr/>
          </a:p>
          <a:p>
            <a:pPr indent="-298450" lvl="0" marL="457200" rtl="0" algn="l">
              <a:spcBef>
                <a:spcPts val="0"/>
              </a:spcBef>
              <a:spcAft>
                <a:spcPts val="0"/>
              </a:spcAft>
              <a:buSzPts val="1100"/>
              <a:buChar char="-"/>
            </a:pPr>
            <a:r>
              <a:rPr lang="en"/>
              <a:t>Now we know how to set -&gt; let’s figure out when to send cookies!</a:t>
            </a:r>
            <a:endParaRPr/>
          </a:p>
          <a:p>
            <a:pPr indent="-298450" lvl="1" marL="914400" rtl="0" algn="l">
              <a:spcBef>
                <a:spcPts val="0"/>
              </a:spcBef>
              <a:spcAft>
                <a:spcPts val="0"/>
              </a:spcAft>
              <a:buSzPts val="1100"/>
              <a:buChar char="-"/>
            </a:pPr>
            <a:r>
              <a:rPr lang="en"/>
              <a:t>When to fish out of the cookie jar (filtering out cookies)</a:t>
            </a:r>
            <a:endParaRPr/>
          </a:p>
          <a:p>
            <a:pPr indent="-298450" lvl="0" marL="457200" rtl="0" algn="l">
              <a:spcBef>
                <a:spcPts val="0"/>
              </a:spcBef>
              <a:spcAft>
                <a:spcPts val="0"/>
              </a:spcAft>
              <a:buSzPts val="1100"/>
              <a:buChar char="-"/>
            </a:pPr>
            <a:r>
              <a:rPr lang="en"/>
              <a:t>Much shorter policy!</a:t>
            </a:r>
            <a:endParaRPr/>
          </a:p>
          <a:p>
            <a:pPr indent="-298450" lvl="0" marL="457200" rtl="0" algn="l">
              <a:spcBef>
                <a:spcPts val="0"/>
              </a:spcBef>
              <a:spcAft>
                <a:spcPts val="0"/>
              </a:spcAft>
              <a:buSzPts val="1100"/>
              <a:buChar char="-"/>
            </a:pPr>
            <a:r>
              <a:rPr lang="en"/>
              <a:t>All cookies are stored together in cookie jar -&gt; not separated by domain/path</a:t>
            </a:r>
            <a:endParaRPr/>
          </a:p>
          <a:p>
            <a:pPr indent="-298450" lvl="0" marL="457200" rtl="0" algn="l">
              <a:spcBef>
                <a:spcPts val="0"/>
              </a:spcBef>
              <a:spcAft>
                <a:spcPts val="0"/>
              </a:spcAft>
              <a:buSzPts val="1100"/>
              <a:buChar char="-"/>
            </a:pPr>
            <a:r>
              <a:rPr lang="en"/>
              <a:t>We’re finally defining “relevant” -&gt; these two rules</a:t>
            </a:r>
            <a:endParaRPr/>
          </a:p>
          <a:p>
            <a:pPr indent="-298450" lvl="0" marL="457200" rtl="0" algn="l">
              <a:spcBef>
                <a:spcPts val="0"/>
              </a:spcBef>
              <a:spcAft>
                <a:spcPts val="0"/>
              </a:spcAft>
              <a:buSzPts val="1100"/>
              <a:buChar char="-"/>
            </a:pPr>
            <a:r>
              <a:rPr lang="en"/>
              <a:t>This is hard to understand using words alone -&gt; next slide goes through an example!</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e44adf36c7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e44adf36c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Walkthrough parts of a URL</a:t>
            </a:r>
            <a:endParaRPr/>
          </a:p>
          <a:p>
            <a:pPr indent="-298450" lvl="0" marL="457200" rtl="0" algn="l">
              <a:spcBef>
                <a:spcPts val="0"/>
              </a:spcBef>
              <a:spcAft>
                <a:spcPts val="0"/>
              </a:spcAft>
              <a:buSzPts val="1100"/>
              <a:buChar char="-"/>
            </a:pPr>
            <a:r>
              <a:rPr lang="en"/>
              <a:t>Comparing domains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eb2baaae6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eb2baaae6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Cookie path</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b2baaae6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eb2baaae6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Combining into one step</a:t>
            </a:r>
            <a:endParaRPr/>
          </a:p>
          <a:p>
            <a:pPr indent="-298450" lvl="0" marL="457200" rtl="0" algn="l">
              <a:spcBef>
                <a:spcPts val="0"/>
              </a:spcBef>
              <a:spcAft>
                <a:spcPts val="0"/>
              </a:spcAft>
              <a:buSzPts val="1100"/>
              <a:buChar char="-"/>
            </a:pPr>
            <a:r>
              <a:rPr lang="en"/>
              <a:t>Everything in the cookie has to be in the server URL (perfect match)</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e44adf36c7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e44adf36c7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Mismatch on the path</a:t>
            </a:r>
            <a:endParaRPr/>
          </a:p>
          <a:p>
            <a:pPr indent="-298450" lvl="0" marL="457200" rtl="0" algn="l">
              <a:spcBef>
                <a:spcPts val="0"/>
              </a:spcBef>
              <a:spcAft>
                <a:spcPts val="0"/>
              </a:spcAft>
              <a:buSzPts val="1100"/>
              <a:buChar char="-"/>
            </a:pPr>
            <a:r>
              <a:rPr lang="en"/>
              <a:t>This cookie is not “relevant” -&gt; we’ve defined this now!</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eb2baaae6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eb2baaae6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b2baaae6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eb2baaae6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su24.cs161.org is not more specific or lower on the hierarchy compared to www.cs161.org (they’re on the same level)!</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daf639f2a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daf639f2a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 - 1:20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daf639f2a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daf639f2a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Surprise!</a:t>
            </a:r>
            <a:endParaRPr/>
          </a:p>
          <a:p>
            <a:pPr indent="-298450" lvl="0" marL="457200" rtl="0" algn="l">
              <a:spcBef>
                <a:spcPts val="0"/>
              </a:spcBef>
              <a:spcAft>
                <a:spcPts val="0"/>
              </a:spcAft>
              <a:buSzPts val="1100"/>
              <a:buChar char="-"/>
            </a:pPr>
            <a:r>
              <a:rPr lang="en"/>
              <a:t>If we use two log-in cookies, there’s no guarantee that the correct one is chosen!</a:t>
            </a:r>
            <a:endParaRPr/>
          </a:p>
          <a:p>
            <a:pPr indent="-298450" lvl="0" marL="457200" rtl="0" algn="l">
              <a:spcBef>
                <a:spcPts val="0"/>
              </a:spcBef>
              <a:spcAft>
                <a:spcPts val="0"/>
              </a:spcAft>
              <a:buSzPts val="1100"/>
              <a:buChar char="-"/>
            </a:pPr>
            <a:r>
              <a:rPr lang="en"/>
              <a:t>Research</a:t>
            </a:r>
            <a:r>
              <a:rPr lang="en"/>
              <a:t> was done that in Google chat, if you made a separate login specifically for that, if you’re on your gmail page, you’d be logged into your email, but sometimes logged into a different user’s chat!</a:t>
            </a:r>
            <a:endParaRPr/>
          </a:p>
          <a:p>
            <a:pPr indent="-298450" lvl="1" marL="914400" rtl="0" algn="l">
              <a:spcBef>
                <a:spcPts val="0"/>
              </a:spcBef>
              <a:spcAft>
                <a:spcPts val="0"/>
              </a:spcAft>
              <a:buSzPts val="1100"/>
              <a:buChar char="-"/>
            </a:pPr>
            <a:r>
              <a:rPr lang="en"/>
              <a:t>Chat window would be rendered as a malicious user, not you</a:t>
            </a:r>
            <a:endParaRPr/>
          </a:p>
          <a:p>
            <a:pPr indent="-298450" lvl="1" marL="914400" rtl="0" algn="l">
              <a:spcBef>
                <a:spcPts val="0"/>
              </a:spcBef>
              <a:spcAft>
                <a:spcPts val="0"/>
              </a:spcAft>
              <a:buSzPts val="1100"/>
              <a:buChar char="-"/>
            </a:pPr>
            <a:r>
              <a:rPr lang="en"/>
              <a:t>They’ve fixed this, but undefined cookie order is still a problem today</a:t>
            </a:r>
            <a:endParaRPr/>
          </a:p>
          <a:p>
            <a:pPr indent="-298450" lvl="0" marL="457200" rtl="0" algn="l">
              <a:spcBef>
                <a:spcPts val="0"/>
              </a:spcBef>
              <a:spcAft>
                <a:spcPts val="0"/>
              </a:spcAft>
              <a:buSzPts val="1100"/>
              <a:buChar char="-"/>
            </a:pPr>
            <a:r>
              <a:rPr lang="en"/>
              <a:t>How do you know which cookie is which? The names are the same…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daf639f2a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daf639f2a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Covers 162 (processes) &amp; 152 (speculative) material </a:t>
            </a:r>
            <a:endParaRPr/>
          </a:p>
          <a:p>
            <a:pPr indent="-298450" lvl="0" marL="457200" rtl="0" algn="l">
              <a:spcBef>
                <a:spcPts val="0"/>
              </a:spcBef>
              <a:spcAft>
                <a:spcPts val="0"/>
              </a:spcAft>
              <a:buSzPts val="1100"/>
              <a:buChar char="-"/>
            </a:pPr>
            <a:r>
              <a:rPr lang="en"/>
              <a:t>Cannot read cookies of other domains</a:t>
            </a:r>
            <a:endParaRPr/>
          </a:p>
          <a:p>
            <a:pPr indent="-298450" lvl="0" marL="457200" rtl="0" algn="l">
              <a:spcBef>
                <a:spcPts val="0"/>
              </a:spcBef>
              <a:spcAft>
                <a:spcPts val="0"/>
              </a:spcAft>
              <a:buSzPts val="1100"/>
              <a:buChar char="-"/>
            </a:pPr>
            <a:r>
              <a:rPr lang="en"/>
              <a:t>Previously, every tab was run in </a:t>
            </a:r>
            <a:r>
              <a:rPr lang="en"/>
              <a:t>its</a:t>
            </a:r>
            <a:r>
              <a:rPr lang="en"/>
              <a:t> own process -&gt; each process was sandboxed</a:t>
            </a:r>
            <a:endParaRPr/>
          </a:p>
          <a:p>
            <a:pPr indent="-298450" lvl="0" marL="457200" rtl="0" algn="l">
              <a:spcBef>
                <a:spcPts val="0"/>
              </a:spcBef>
              <a:spcAft>
                <a:spcPts val="0"/>
              </a:spcAft>
              <a:buSzPts val="1100"/>
              <a:buChar char="-"/>
            </a:pPr>
            <a:r>
              <a:rPr lang="en"/>
              <a:t>However, this is expensiveeee</a:t>
            </a:r>
            <a:endParaRPr/>
          </a:p>
          <a:p>
            <a:pPr indent="-298450" lvl="0" marL="457200" rtl="0" algn="l">
              <a:spcBef>
                <a:spcPts val="0"/>
              </a:spcBef>
              <a:spcAft>
                <a:spcPts val="0"/>
              </a:spcAft>
              <a:buSzPts val="1100"/>
              <a:buChar char="-"/>
            </a:pPr>
            <a:r>
              <a:rPr lang="en"/>
              <a:t>Javascript in one origin cannot see another’s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daf639f2a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daf639f2a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Javascript cannot get any information about the iframe</a:t>
            </a:r>
            <a:endParaRPr/>
          </a:p>
          <a:p>
            <a:pPr indent="-298450" lvl="0" marL="457200" rtl="0" algn="l">
              <a:spcBef>
                <a:spcPts val="0"/>
              </a:spcBef>
              <a:spcAft>
                <a:spcPts val="0"/>
              </a:spcAft>
              <a:buSzPts val="1100"/>
              <a:buChar char="-"/>
            </a:pPr>
            <a:r>
              <a:rPr lang="en"/>
              <a:t>Each tab runs its own OS process means evil.com and victim.com are sharing a process</a:t>
            </a:r>
            <a:endParaRPr/>
          </a:p>
          <a:p>
            <a:pPr indent="-298450" lvl="1" marL="914400" rtl="0" algn="l">
              <a:spcBef>
                <a:spcPts val="0"/>
              </a:spcBef>
              <a:spcAft>
                <a:spcPts val="0"/>
              </a:spcAft>
              <a:buSzPts val="1100"/>
              <a:buChar char="-"/>
            </a:pPr>
            <a:r>
              <a:rPr lang="en"/>
              <a:t>Processes share memory so at the OS level, these two can actually talk to each other</a:t>
            </a:r>
            <a:endParaRPr/>
          </a:p>
          <a:p>
            <a:pPr indent="-298450" lvl="1" marL="914400" rtl="0" algn="l">
              <a:spcBef>
                <a:spcPts val="0"/>
              </a:spcBef>
              <a:spcAft>
                <a:spcPts val="0"/>
              </a:spcAft>
              <a:buSzPts val="1100"/>
              <a:buChar char="-"/>
            </a:pPr>
            <a:r>
              <a:rPr lang="en"/>
              <a:t>The only thing stopping them is the JavaScript compiler, so if that breaks… no more isolation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daf639f2a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daf639f2a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Modern </a:t>
            </a:r>
            <a:r>
              <a:rPr lang="en"/>
              <a:t>processors</a:t>
            </a:r>
            <a:r>
              <a:rPr lang="en"/>
              <a:t> use branch prediction and speculative execution</a:t>
            </a:r>
            <a:endParaRPr/>
          </a:p>
          <a:p>
            <a:pPr indent="-298450" lvl="1" marL="914400" rtl="0" algn="l">
              <a:spcBef>
                <a:spcPts val="0"/>
              </a:spcBef>
              <a:spcAft>
                <a:spcPts val="0"/>
              </a:spcAft>
              <a:buSzPts val="1100"/>
              <a:buChar char="-"/>
            </a:pPr>
            <a:r>
              <a:rPr lang="en"/>
              <a:t>You don’t want to wait–it’s more optimized to guess and start executing to not waste clock cycles (remember 61c!) -&gt; really helps with performance!</a:t>
            </a:r>
            <a:endParaRPr/>
          </a:p>
          <a:p>
            <a:pPr indent="-298450" lvl="1" marL="914400" rtl="0" algn="l">
              <a:spcBef>
                <a:spcPts val="0"/>
              </a:spcBef>
              <a:spcAft>
                <a:spcPts val="0"/>
              </a:spcAft>
              <a:buSzPts val="1100"/>
              <a:buChar char="-"/>
            </a:pPr>
            <a:r>
              <a:rPr lang="en"/>
              <a:t>However, predictions aren’t always correct -&gt; usually the work would be done, but not fully committed (registers wouldn’t be written to)</a:t>
            </a:r>
            <a:endParaRPr/>
          </a:p>
          <a:p>
            <a:pPr indent="-298450" lvl="1" marL="914400" rtl="0" algn="l">
              <a:spcBef>
                <a:spcPts val="0"/>
              </a:spcBef>
              <a:spcAft>
                <a:spcPts val="0"/>
              </a:spcAft>
              <a:buSzPts val="1100"/>
              <a:buChar char="-"/>
            </a:pPr>
            <a:r>
              <a:rPr lang="en"/>
              <a:t>“If you don’t </a:t>
            </a:r>
            <a:r>
              <a:rPr lang="en"/>
              <a:t>actually</a:t>
            </a:r>
            <a:r>
              <a:rPr lang="en"/>
              <a:t> write to a register, the instruction didn’t actually happen”</a:t>
            </a:r>
            <a:endParaRPr/>
          </a:p>
          <a:p>
            <a:pPr indent="-298450" lvl="0" marL="457200" rtl="0" algn="l">
              <a:spcBef>
                <a:spcPts val="0"/>
              </a:spcBef>
              <a:spcAft>
                <a:spcPts val="0"/>
              </a:spcAft>
              <a:buSzPts val="1100"/>
              <a:buChar char="-"/>
            </a:pPr>
            <a:r>
              <a:rPr lang="en"/>
              <a:t>Spectre took advantage of this hardware side-channel</a:t>
            </a:r>
            <a:endParaRPr/>
          </a:p>
          <a:p>
            <a:pPr indent="-298450" lvl="1" marL="914400" rtl="0" algn="l">
              <a:spcBef>
                <a:spcPts val="0"/>
              </a:spcBef>
              <a:spcAft>
                <a:spcPts val="0"/>
              </a:spcAft>
              <a:buSzPts val="1100"/>
              <a:buChar char="-"/>
            </a:pPr>
            <a:r>
              <a:rPr lang="en"/>
              <a:t>Use side channels &amp; speculative </a:t>
            </a:r>
            <a:r>
              <a:rPr lang="en"/>
              <a:t>execution</a:t>
            </a:r>
            <a:endParaRPr/>
          </a:p>
          <a:p>
            <a:pPr indent="-298450" lvl="1" marL="914400" rtl="0" algn="l">
              <a:spcBef>
                <a:spcPts val="0"/>
              </a:spcBef>
              <a:spcAft>
                <a:spcPts val="0"/>
              </a:spcAft>
              <a:buSzPts val="1100"/>
              <a:buChar char="-"/>
            </a:pPr>
            <a:r>
              <a:rPr lang="en"/>
              <a:t>Force program to guess wrong</a:t>
            </a:r>
            <a:endParaRPr/>
          </a:p>
          <a:p>
            <a:pPr indent="-298450" lvl="1" marL="914400" rtl="0" algn="l">
              <a:spcBef>
                <a:spcPts val="0"/>
              </a:spcBef>
              <a:spcAft>
                <a:spcPts val="0"/>
              </a:spcAft>
              <a:buSzPts val="1100"/>
              <a:buChar char="-"/>
            </a:pPr>
            <a:r>
              <a:rPr lang="en"/>
              <a:t>Normally not a problem because computations wouldn’t be written to the registers, however, if the computation includes memory load, it’s loaded into the cache</a:t>
            </a:r>
            <a:endParaRPr/>
          </a:p>
          <a:p>
            <a:pPr indent="-298450" lvl="2" marL="1371600" rtl="0" algn="l">
              <a:spcBef>
                <a:spcPts val="0"/>
              </a:spcBef>
              <a:spcAft>
                <a:spcPts val="0"/>
              </a:spcAft>
              <a:buSzPts val="1100"/>
              <a:buChar char="-"/>
            </a:pPr>
            <a:r>
              <a:rPr lang="en"/>
              <a:t>This leaks information &amp; disrupted the cache!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daf639f2a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daf639f2a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broke Javascript’s memory isolation!</a:t>
            </a:r>
            <a:endParaRPr/>
          </a:p>
          <a:p>
            <a:pPr indent="-298450" lvl="0" marL="457200" rtl="0" algn="l">
              <a:spcBef>
                <a:spcPts val="0"/>
              </a:spcBef>
              <a:spcAft>
                <a:spcPts val="0"/>
              </a:spcAft>
              <a:buSzPts val="1100"/>
              <a:buChar char="-"/>
            </a:pPr>
            <a:r>
              <a:rPr lang="en"/>
              <a:t>Tab in one process</a:t>
            </a:r>
            <a:endParaRPr/>
          </a:p>
          <a:p>
            <a:pPr indent="-298450" lvl="0" marL="457200" rtl="0" algn="l">
              <a:spcBef>
                <a:spcPts val="0"/>
              </a:spcBef>
              <a:spcAft>
                <a:spcPts val="0"/>
              </a:spcAft>
              <a:buSzPts val="1100"/>
              <a:buChar char="-"/>
            </a:pPr>
            <a:r>
              <a:rPr lang="en"/>
              <a:t>Evil illegal thing shouldn’t technically ever run, but predictor will guess that it needs to execute and thus runs the illegal computation (maybe looking up the victim’s cookies)</a:t>
            </a:r>
            <a:endParaRPr/>
          </a:p>
          <a:p>
            <a:pPr indent="-298450" lvl="0" marL="457200" rtl="0" algn="l">
              <a:spcBef>
                <a:spcPts val="0"/>
              </a:spcBef>
              <a:spcAft>
                <a:spcPts val="0"/>
              </a:spcAft>
              <a:buSzPts val="1100"/>
              <a:buChar char="-"/>
            </a:pPr>
            <a:r>
              <a:rPr lang="en"/>
              <a:t>When it realizes that it didn’t actually need to run the while loop again, it will undo everything, but data would’ve already been pulled into the cache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daf639f2a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daf639f2a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Now to run Spectre, you’d have to be able to access memory from a different process -&gt; breaks OS isolation</a:t>
            </a:r>
            <a:endParaRPr/>
          </a:p>
          <a:p>
            <a:pPr indent="-298450" lvl="0" marL="457200" rtl="0" algn="l">
              <a:spcBef>
                <a:spcPts val="0"/>
              </a:spcBef>
              <a:spcAft>
                <a:spcPts val="0"/>
              </a:spcAft>
              <a:buSzPts val="1100"/>
              <a:buChar char="-"/>
            </a:pPr>
            <a:r>
              <a:rPr lang="en"/>
              <a:t>This is the reason why your browser eats up so much memory -&gt; site isolation means we run each origin, not tab, in its own process</a:t>
            </a:r>
            <a:endParaRPr/>
          </a:p>
          <a:p>
            <a:pPr indent="-298450" lvl="0" marL="457200" rtl="0" algn="l">
              <a:spcBef>
                <a:spcPts val="0"/>
              </a:spcBef>
              <a:spcAft>
                <a:spcPts val="0"/>
              </a:spcAft>
              <a:buSzPts val="1100"/>
              <a:buChar char="-"/>
            </a:pPr>
            <a:r>
              <a:rPr lang="en"/>
              <a:t>Remember, images run with the origin of the site they came from</a:t>
            </a:r>
            <a:endParaRPr/>
          </a:p>
          <a:p>
            <a:pPr indent="-298450" lvl="0" marL="457200" rtl="0" algn="l">
              <a:spcBef>
                <a:spcPts val="0"/>
              </a:spcBef>
              <a:spcAft>
                <a:spcPts val="0"/>
              </a:spcAft>
              <a:buSzPts val="1100"/>
              <a:buChar char="-"/>
            </a:pPr>
            <a:r>
              <a:rPr lang="en"/>
              <a:t>If a site webpage loads four images from different sites -&gt; thats 5 different processes! That’s </a:t>
            </a:r>
            <a:r>
              <a:rPr lang="en"/>
              <a:t>supper</a:t>
            </a:r>
            <a:r>
              <a:rPr lang="en"/>
              <a:t> expensive!!! </a:t>
            </a:r>
            <a:endParaRPr/>
          </a:p>
          <a:p>
            <a:pPr indent="-298450" lvl="1" marL="914400" rtl="0" algn="l">
              <a:spcBef>
                <a:spcPts val="0"/>
              </a:spcBef>
              <a:spcAft>
                <a:spcPts val="0"/>
              </a:spcAft>
              <a:buSzPts val="1100"/>
              <a:buChar char="-"/>
            </a:pPr>
            <a:r>
              <a:rPr lang="en"/>
              <a:t>Lots of expensive context switching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daf639f2a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daf639f2a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daf639f2a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daf639f2a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min - 1:20</a:t>
            </a:r>
            <a:endParaRPr/>
          </a:p>
          <a:p>
            <a:pPr indent="0" lvl="0" marL="0" rtl="0" algn="l">
              <a:spcBef>
                <a:spcPts val="0"/>
              </a:spcBef>
              <a:spcAft>
                <a:spcPts val="0"/>
              </a:spcAft>
              <a:buNone/>
            </a:pPr>
            <a:r>
              <a:rPr lang="en"/>
              <a:t>That’s all for our base knowledge on cookies!</a:t>
            </a:r>
            <a:endParaRPr/>
          </a:p>
          <a:p>
            <a:pPr indent="0" lvl="0" marL="0" rtl="0" algn="l">
              <a:spcBef>
                <a:spcPts val="0"/>
              </a:spcBef>
              <a:spcAft>
                <a:spcPts val="0"/>
              </a:spcAft>
              <a:buNone/>
            </a:pPr>
            <a:r>
              <a:rPr lang="en"/>
              <a:t>(Are there any cookies remaining?)</a:t>
            </a:r>
            <a:endParaRPr/>
          </a:p>
          <a:p>
            <a:pPr indent="-298450" lvl="0" marL="457200" rtl="0" algn="l">
              <a:spcBef>
                <a:spcPts val="0"/>
              </a:spcBef>
              <a:spcAft>
                <a:spcPts val="0"/>
              </a:spcAft>
              <a:buSzPts val="1100"/>
              <a:buChar char="-"/>
            </a:pPr>
            <a:r>
              <a:rPr lang="en"/>
              <a:t>We now know how to make cookies for dark mode and requests – here’s another common use case for cookies!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daf639f2a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daf639f2a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Without cookies, you’d need to type out username/password for each request :(</a:t>
            </a:r>
            <a:endParaRPr/>
          </a:p>
          <a:p>
            <a:pPr indent="-298450" lvl="1" marL="914400" rtl="0" algn="l">
              <a:spcBef>
                <a:spcPts val="0"/>
              </a:spcBef>
              <a:spcAft>
                <a:spcPts val="0"/>
              </a:spcAft>
              <a:buSzPts val="1100"/>
              <a:buChar char="-"/>
            </a:pPr>
            <a:r>
              <a:rPr lang="en"/>
              <a:t>We like web cookies (almost as much as chocolate chip cookies)</a:t>
            </a:r>
            <a:endParaRPr/>
          </a:p>
          <a:p>
            <a:pPr indent="-298450" lvl="1" marL="914400" rtl="0" algn="l">
              <a:spcBef>
                <a:spcPts val="0"/>
              </a:spcBef>
              <a:spcAft>
                <a:spcPts val="0"/>
              </a:spcAft>
              <a:buSzPts val="1100"/>
              <a:buChar char="-"/>
            </a:pPr>
            <a:r>
              <a:rPr lang="en"/>
              <a:t>Remember, vanilla HTML requests/responses do not remember past/future requests/responses</a:t>
            </a:r>
            <a:endParaRPr/>
          </a:p>
          <a:p>
            <a:pPr indent="-298450" lvl="0" marL="457200" rtl="0" algn="l">
              <a:spcBef>
                <a:spcPts val="0"/>
              </a:spcBef>
              <a:spcAft>
                <a:spcPts val="0"/>
              </a:spcAft>
              <a:buSzPts val="1100"/>
              <a:buChar char="-"/>
            </a:pPr>
            <a:r>
              <a:rPr lang="en"/>
              <a:t>Cookies unlock power so we can get sessions!</a:t>
            </a:r>
            <a:endParaRPr/>
          </a:p>
          <a:p>
            <a:pPr indent="-298450" lvl="1" marL="914400" rtl="0" algn="l">
              <a:spcBef>
                <a:spcPts val="0"/>
              </a:spcBef>
              <a:spcAft>
                <a:spcPts val="0"/>
              </a:spcAft>
              <a:buSzPts val="1100"/>
              <a:buChar char="-"/>
            </a:pPr>
            <a:r>
              <a:rPr lang="en"/>
              <a:t>Can stay logged in for a certain amount of time as long as something is the same -&gt; that something is a cookie that will define a session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daf639f2a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daf639f2a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Ticket + ID = username + password -&gt; only need it once</a:t>
            </a:r>
            <a:endParaRPr/>
          </a:p>
          <a:p>
            <a:pPr indent="-298450" lvl="0" marL="457200" rtl="0" algn="l">
              <a:spcBef>
                <a:spcPts val="0"/>
              </a:spcBef>
              <a:spcAft>
                <a:spcPts val="0"/>
              </a:spcAft>
              <a:buSzPts val="1100"/>
              <a:buChar char="-"/>
            </a:pPr>
            <a:r>
              <a:rPr lang="en"/>
              <a:t>Would be horrible for bouncer to need to check all re-entries as well</a:t>
            </a:r>
            <a:endParaRPr/>
          </a:p>
          <a:p>
            <a:pPr indent="-298450" lvl="0" marL="457200" rtl="0" algn="l">
              <a:spcBef>
                <a:spcPts val="0"/>
              </a:spcBef>
              <a:spcAft>
                <a:spcPts val="0"/>
              </a:spcAft>
              <a:buSzPts val="1100"/>
              <a:buChar char="-"/>
            </a:pPr>
            <a:r>
              <a:rPr lang="en"/>
              <a:t>Only nit: wristbands should be unique per person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daf639f2a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daf639f2a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Session token = wristband</a:t>
            </a:r>
            <a:endParaRPr/>
          </a:p>
          <a:p>
            <a:pPr indent="-298450" lvl="0" marL="457200" rtl="0" algn="l">
              <a:spcBef>
                <a:spcPts val="0"/>
              </a:spcBef>
              <a:spcAft>
                <a:spcPts val="0"/>
              </a:spcAft>
              <a:buSzPts val="1100"/>
              <a:buChar char="-"/>
            </a:pPr>
            <a:r>
              <a:rPr lang="en"/>
              <a:t>Present username/ticket, password/id -&gt; get session token/wristband</a:t>
            </a:r>
            <a:endParaRPr/>
          </a:p>
          <a:p>
            <a:pPr indent="-298450" lvl="0" marL="457200" rtl="0" algn="l">
              <a:spcBef>
                <a:spcPts val="0"/>
              </a:spcBef>
              <a:spcAft>
                <a:spcPts val="0"/>
              </a:spcAft>
              <a:buSzPts val="1100"/>
              <a:buChar char="-"/>
            </a:pPr>
            <a:r>
              <a:rPr lang="en"/>
              <a:t>Server sends a session token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to remember </a:t>
            </a:r>
            <a:r>
              <a:rPr lang="en"/>
              <a:t>the</a:t>
            </a:r>
            <a:r>
              <a:rPr lang="en"/>
              <a:t> session token -&gt; cookies are stored browser-side.</a:t>
            </a:r>
            <a:endParaRPr/>
          </a:p>
          <a:p>
            <a:pPr indent="0" lvl="0" marL="0" rtl="0" algn="l">
              <a:spcBef>
                <a:spcPts val="0"/>
              </a:spcBef>
              <a:spcAft>
                <a:spcPts val="0"/>
              </a:spcAft>
              <a:buNone/>
            </a:pPr>
            <a:r>
              <a:rPr lang="en"/>
              <a:t>Servers as well -&gt; some sort of database (for checksum).</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Why not in URL? -&gt; people share URLs!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daf639f2a2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daf639f2a2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Simplest implementation of session tokens is with cookies</a:t>
            </a:r>
            <a:endParaRPr/>
          </a:p>
          <a:p>
            <a:pPr indent="-298450" lvl="0" marL="457200" rtl="0" algn="l">
              <a:spcBef>
                <a:spcPts val="0"/>
              </a:spcBef>
              <a:spcAft>
                <a:spcPts val="0"/>
              </a:spcAft>
              <a:buSzPts val="1100"/>
              <a:buChar char="-"/>
            </a:pPr>
            <a:r>
              <a:rPr lang="en"/>
              <a:t>This is not the only use of cookies</a:t>
            </a:r>
            <a:endParaRPr/>
          </a:p>
          <a:p>
            <a:pPr indent="-298450" lvl="1" marL="914400" rtl="0" algn="l">
              <a:spcBef>
                <a:spcPts val="0"/>
              </a:spcBef>
              <a:spcAft>
                <a:spcPts val="0"/>
              </a:spcAft>
              <a:buSzPts val="1100"/>
              <a:buChar char="-"/>
            </a:pPr>
            <a:r>
              <a:rPr lang="en"/>
              <a:t>Personalize content, track user interactions, save site settings, etc</a:t>
            </a:r>
            <a:endParaRPr/>
          </a:p>
          <a:p>
            <a:pPr indent="-298450" lvl="0" marL="457200" rtl="0" algn="l">
              <a:spcBef>
                <a:spcPts val="0"/>
              </a:spcBef>
              <a:spcAft>
                <a:spcPts val="0"/>
              </a:spcAft>
              <a:buSzPts val="1100"/>
              <a:buChar char="-"/>
            </a:pPr>
            <a:r>
              <a:rPr lang="en"/>
              <a:t>Session token is high level idea, use cookies to implement</a:t>
            </a:r>
            <a:endParaRPr/>
          </a:p>
          <a:p>
            <a:pPr indent="-298450" lvl="0" marL="457200" rtl="0" algn="l">
              <a:spcBef>
                <a:spcPts val="0"/>
              </a:spcBef>
              <a:spcAft>
                <a:spcPts val="0"/>
              </a:spcAft>
              <a:buSzPts val="1100"/>
              <a:buChar char="-"/>
            </a:pPr>
            <a:r>
              <a:rPr lang="en"/>
              <a:t>If I’m requesting unread emails, it will only send mine (v someone else) -&gt; this is the differentiator</a:t>
            </a:r>
            <a:endParaRPr/>
          </a:p>
          <a:p>
            <a:pPr indent="-298450" lvl="0" marL="457200" rtl="0" algn="l">
              <a:spcBef>
                <a:spcPts val="0"/>
              </a:spcBef>
              <a:spcAft>
                <a:spcPts val="0"/>
              </a:spcAft>
              <a:buSzPts val="1100"/>
              <a:buChar char="-"/>
            </a:pPr>
            <a:r>
              <a:rPr lang="en"/>
              <a:t>Can choose to log out or the session may time out (cookie expires)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daf639f2a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daf639f2a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 - 12:50</a:t>
            </a:r>
            <a:endParaRPr/>
          </a:p>
          <a:p>
            <a:pPr indent="-298450" lvl="0" marL="457200" rtl="0" algn="l">
              <a:spcBef>
                <a:spcPts val="0"/>
              </a:spcBef>
              <a:spcAft>
                <a:spcPts val="0"/>
              </a:spcAft>
              <a:buSzPts val="1100"/>
              <a:buChar char="-"/>
            </a:pPr>
            <a:r>
              <a:rPr lang="en"/>
              <a:t>Name-value pair for communication (like a hashmap or python dictionary) -&gt; give examples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daf639f2a2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daf639f2a2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Like a key from crypto -&gt; this is the important thing to keep secret</a:t>
            </a:r>
            <a:endParaRPr/>
          </a:p>
          <a:p>
            <a:pPr indent="-298450" lvl="0" marL="457200" rtl="0" algn="l">
              <a:spcBef>
                <a:spcPts val="0"/>
              </a:spcBef>
              <a:spcAft>
                <a:spcPts val="0"/>
              </a:spcAft>
              <a:buSzPts val="1100"/>
              <a:buChar char="-"/>
            </a:pPr>
            <a:r>
              <a:rPr lang="en"/>
              <a:t>Use a secure PRNG</a:t>
            </a:r>
            <a:endParaRPr/>
          </a:p>
          <a:p>
            <a:pPr indent="-298450" lvl="1" marL="914400" rtl="0" algn="l">
              <a:spcBef>
                <a:spcPts val="0"/>
              </a:spcBef>
              <a:spcAft>
                <a:spcPts val="0"/>
              </a:spcAft>
              <a:buSzPts val="1100"/>
              <a:buChar char="-"/>
            </a:pPr>
            <a:r>
              <a:rPr lang="en"/>
              <a:t>Long and random, 256 bits for example -&gt; remember we discussed that 2^80 is a reasonable </a:t>
            </a:r>
            <a:r>
              <a:rPr lang="en"/>
              <a:t>threshold</a:t>
            </a:r>
            <a:r>
              <a:rPr lang="en"/>
              <a:t> so </a:t>
            </a:r>
            <a:r>
              <a:rPr lang="en"/>
              <a:t>1/2</a:t>
            </a:r>
            <a:r>
              <a:rPr lang="en"/>
              <a:t>^256 is pretty much inconceivable</a:t>
            </a:r>
            <a:endParaRPr/>
          </a:p>
          <a:p>
            <a:pPr indent="-298450" lvl="0" marL="457200" rtl="0" algn="l">
              <a:spcBef>
                <a:spcPts val="0"/>
              </a:spcBef>
              <a:spcAft>
                <a:spcPts val="0"/>
              </a:spcAft>
              <a:buSzPts val="1100"/>
              <a:buChar char="-"/>
            </a:pPr>
            <a:r>
              <a:rPr lang="en"/>
              <a:t>Browser needs to enforce isolation</a:t>
            </a:r>
            <a:endParaRPr/>
          </a:p>
          <a:p>
            <a:pPr indent="-298450" lvl="1" marL="914400" rtl="0" algn="l">
              <a:spcBef>
                <a:spcPts val="0"/>
              </a:spcBef>
              <a:spcAft>
                <a:spcPts val="0"/>
              </a:spcAft>
              <a:buSzPts val="1100"/>
              <a:buChar char="-"/>
            </a:pPr>
            <a:r>
              <a:rPr lang="en"/>
              <a:t>Cookie policy: don’t let evil.com see the session token</a:t>
            </a:r>
            <a:endParaRPr/>
          </a:p>
          <a:p>
            <a:pPr indent="-298450" lvl="1" marL="914400" rtl="0" algn="l">
              <a:spcBef>
                <a:spcPts val="0"/>
              </a:spcBef>
              <a:spcAft>
                <a:spcPts val="0"/>
              </a:spcAft>
              <a:buSzPts val="1100"/>
              <a:buChar char="-"/>
            </a:pPr>
            <a:r>
              <a:rPr lang="en"/>
              <a:t>SOP: prevents other websites from accessing values</a:t>
            </a:r>
            <a:endParaRPr/>
          </a:p>
          <a:p>
            <a:pPr indent="-298450" lvl="0" marL="457200" rtl="0" algn="l">
              <a:spcBef>
                <a:spcPts val="0"/>
              </a:spcBef>
              <a:spcAft>
                <a:spcPts val="0"/>
              </a:spcAft>
              <a:buSzPts val="1100"/>
              <a:buChar char="-"/>
            </a:pPr>
            <a:r>
              <a:rPr lang="en"/>
              <a:t>Only attach “relevant” cookies via cooke policy!</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daf639f2a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daf639f2a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build out a cookie form!</a:t>
            </a:r>
            <a:endParaRPr/>
          </a:p>
          <a:p>
            <a:pPr indent="-298450" lvl="0" marL="457200" rtl="0" algn="l">
              <a:spcBef>
                <a:spcPts val="0"/>
              </a:spcBef>
              <a:spcAft>
                <a:spcPts val="0"/>
              </a:spcAft>
              <a:buSzPts val="1100"/>
              <a:buChar char="-"/>
            </a:pPr>
            <a:r>
              <a:rPr lang="en"/>
              <a:t>Name: token, session_token, CalCentral uses calcentral_session, _jhSessionUser</a:t>
            </a:r>
            <a:endParaRPr/>
          </a:p>
          <a:p>
            <a:pPr indent="-298450" lvl="0" marL="457200" rtl="0" algn="l">
              <a:spcBef>
                <a:spcPts val="0"/>
              </a:spcBef>
              <a:spcAft>
                <a:spcPts val="0"/>
              </a:spcAft>
              <a:buSzPts val="1100"/>
              <a:buChar char="-"/>
            </a:pPr>
            <a:r>
              <a:rPr lang="en"/>
              <a:t>Value: 256 bit -&gt; inconceivable to guess</a:t>
            </a:r>
            <a:endParaRPr/>
          </a:p>
          <a:p>
            <a:pPr indent="-298450" lvl="0" marL="457200" rtl="0" algn="l">
              <a:spcBef>
                <a:spcPts val="0"/>
              </a:spcBef>
              <a:spcAft>
                <a:spcPts val="0"/>
              </a:spcAft>
              <a:buSzPts val="1100"/>
              <a:buChar char="-"/>
            </a:pPr>
            <a:r>
              <a:rPr lang="en"/>
              <a:t>Domain &amp; Path: really important! Messing up means malicious sites may be sent the session token!</a:t>
            </a:r>
            <a:endParaRPr/>
          </a:p>
          <a:p>
            <a:pPr indent="-298450" lvl="0" marL="457200" rtl="0" algn="l">
              <a:spcBef>
                <a:spcPts val="0"/>
              </a:spcBef>
              <a:spcAft>
                <a:spcPts val="0"/>
              </a:spcAft>
              <a:buSzPts val="1100"/>
              <a:buChar char="-"/>
            </a:pPr>
            <a:r>
              <a:rPr lang="en"/>
              <a:t>Secure = false -&gt; not sent, will be safe in cookie jar</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daf639f2a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daf639f2a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 - 1:30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daf639f2a2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daf639f2a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daf639f2a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daf639f2a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are relevant cookies?</a:t>
            </a:r>
            <a:endParaRPr/>
          </a:p>
          <a:p>
            <a:pPr indent="-298450" lvl="1" marL="914400" rtl="0" algn="l">
              <a:spcBef>
                <a:spcPts val="0"/>
              </a:spcBef>
              <a:spcAft>
                <a:spcPts val="0"/>
              </a:spcAft>
              <a:buSzPts val="1100"/>
              <a:buChar char="-"/>
            </a:pPr>
            <a:r>
              <a:rPr lang="en"/>
              <a:t>Any where the domain attribute is a suffix of the server attribute + path attribute is a prefix of the server path</a:t>
            </a:r>
            <a:endParaRPr/>
          </a:p>
          <a:p>
            <a:pPr indent="-298450" lvl="0" marL="457200" rtl="0" algn="l">
              <a:spcBef>
                <a:spcPts val="0"/>
              </a:spcBef>
              <a:spcAft>
                <a:spcPts val="0"/>
              </a:spcAft>
              <a:buSzPts val="1100"/>
              <a:buChar char="-"/>
            </a:pPr>
            <a:r>
              <a:rPr lang="en"/>
              <a:t>If attacker tricks me into making a request I did not intend to make, cookies will be attached (server doesn’t know they got tricked)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exploit builds on the fact that browser automatically attaches relevant cookies.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0b5ea5526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0b5ea5526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are relevant cookies?</a:t>
            </a:r>
            <a:endParaRPr/>
          </a:p>
          <a:p>
            <a:pPr indent="-298450" lvl="1" marL="914400" rtl="0" algn="l">
              <a:spcBef>
                <a:spcPts val="0"/>
              </a:spcBef>
              <a:spcAft>
                <a:spcPts val="0"/>
              </a:spcAft>
              <a:buSzPts val="1100"/>
              <a:buChar char="-"/>
            </a:pPr>
            <a:r>
              <a:rPr lang="en"/>
              <a:t>Any where the domain attribute is a suffix of the server attribute + path attribute is a prefix of the server path</a:t>
            </a:r>
            <a:endParaRPr/>
          </a:p>
          <a:p>
            <a:pPr indent="-298450" lvl="0" marL="457200" rtl="0" algn="l">
              <a:spcBef>
                <a:spcPts val="0"/>
              </a:spcBef>
              <a:spcAft>
                <a:spcPts val="0"/>
              </a:spcAft>
              <a:buSzPts val="1100"/>
              <a:buChar char="-"/>
            </a:pPr>
            <a:r>
              <a:rPr lang="en"/>
              <a:t>If attacker tricks me into making a request I did not intend to make, cookies will be attached (server doesn’t know they got tricked)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exploit builds on the fact that browser automatically attaches relevant cookies.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641c01f61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641c01f61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641c01f61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641c01f61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Browser has valid session token</a:t>
            </a:r>
            <a:endParaRPr/>
          </a:p>
          <a:p>
            <a:pPr indent="-298450" lvl="0" marL="457200" rtl="0" algn="l">
              <a:spcBef>
                <a:spcPts val="0"/>
              </a:spcBef>
              <a:spcAft>
                <a:spcPts val="0"/>
              </a:spcAft>
              <a:buSzPts val="1100"/>
              <a:buChar char="-"/>
            </a:pPr>
            <a:r>
              <a:rPr lang="en"/>
              <a:t>Server database has a checksum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I send a request with this session token -&gt; like a wristband</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641c01f61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641c01f6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this POST request”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daf639f2a2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daf639f2a2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Server has no way of telling whether I intentionally made the request or if I was tricked!</a:t>
            </a:r>
            <a:endParaRPr/>
          </a:p>
          <a:p>
            <a:pPr indent="-298450" lvl="0" marL="457200" rtl="0" algn="l">
              <a:spcBef>
                <a:spcPts val="0"/>
              </a:spcBef>
              <a:spcAft>
                <a:spcPts val="0"/>
              </a:spcAft>
              <a:buSzPts val="1100"/>
              <a:buChar char="-"/>
            </a:pPr>
            <a:r>
              <a:rPr lang="en"/>
              <a:t>Abuse of the fact that cookies are automatically attached</a:t>
            </a:r>
            <a:endParaRPr/>
          </a:p>
          <a:p>
            <a:pPr indent="-298450" lvl="1" marL="914400" rtl="0" algn="l">
              <a:spcBef>
                <a:spcPts val="0"/>
              </a:spcBef>
              <a:spcAft>
                <a:spcPts val="0"/>
              </a:spcAft>
              <a:buSzPts val="1100"/>
              <a:buChar char="-"/>
            </a:pPr>
            <a:r>
              <a:rPr lang="en"/>
              <a:t>You don’t get to ask for cookies to be sent; it’s based on cookie policy</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daf639f2a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daf639f2a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Difficulty: how do we actually trick a user?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daf639f2a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daf639f2a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Strategy #1: You’ve just won $1000 and a trip to the Bahamas. Click on this LINK to accept it!</a:t>
            </a:r>
            <a:endParaRPr/>
          </a:p>
          <a:p>
            <a:pPr indent="-298450" lvl="1" marL="914400" rtl="0" algn="l">
              <a:spcBef>
                <a:spcPts val="0"/>
              </a:spcBef>
              <a:spcAft>
                <a:spcPts val="0"/>
              </a:spcAft>
              <a:buSzPts val="1100"/>
              <a:buChar char="-"/>
            </a:pPr>
            <a:r>
              <a:rPr lang="en"/>
              <a:t>Clicking on a link = browser opens = GET request (yikes)</a:t>
            </a:r>
            <a:endParaRPr/>
          </a:p>
          <a:p>
            <a:pPr indent="-298450" lvl="1" marL="914400" rtl="0" algn="l">
              <a:spcBef>
                <a:spcPts val="0"/>
              </a:spcBef>
              <a:spcAft>
                <a:spcPts val="0"/>
              </a:spcAft>
              <a:buSzPts val="1100"/>
              <a:buChar char="-"/>
            </a:pPr>
            <a:r>
              <a:rPr lang="en"/>
              <a:t>Cookies automatically attached</a:t>
            </a:r>
            <a:endParaRPr/>
          </a:p>
          <a:p>
            <a:pPr indent="-298450" lvl="1" marL="914400" rtl="0" algn="l">
              <a:spcBef>
                <a:spcPts val="0"/>
              </a:spcBef>
              <a:spcAft>
                <a:spcPts val="0"/>
              </a:spcAft>
              <a:buSzPts val="1100"/>
              <a:buChar char="-"/>
            </a:pPr>
            <a:r>
              <a:rPr lang="en"/>
              <a:t>Discussed also with clickjacking and phishing in the next lec</a:t>
            </a:r>
            <a:endParaRPr/>
          </a:p>
          <a:p>
            <a:pPr indent="-298450" lvl="0" marL="457200" rtl="0" algn="l">
              <a:spcBef>
                <a:spcPts val="0"/>
              </a:spcBef>
              <a:spcAft>
                <a:spcPts val="0"/>
              </a:spcAft>
              <a:buSzPts val="1100"/>
              <a:buChar char="-"/>
            </a:pPr>
            <a:r>
              <a:rPr lang="en"/>
              <a:t>Strategy #2: This isn’t actually an image link, but the GET request is still made (yikes)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GET request is easier, just need user to click a link.</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daf639f2a2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daf639f2a2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 request are harder–clicking a link = GET request. POST submits other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POST request usually involves executing Javascript on the victim’s browser.</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daf639f2a2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daf639f2a2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https://cwe.mitre.org/top25/archive/2020/2020_cwe_top25.html</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Web attacks are going to check off a lot of these!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daf639f2a2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daf639f2a2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Nick calls it the "Internet of Shit"</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We’re going to talk about DNS later, but if an attacker got access to </a:t>
            </a:r>
            <a:r>
              <a:rPr lang="en"/>
              <a:t>the password to your router, they could change the DNS server for the router -&gt; can intercept all traffic since attacker can lie and say that every server you want to communicate with is just them</a:t>
            </a:r>
            <a:endParaRPr/>
          </a:p>
          <a:p>
            <a:pPr indent="-298450" lvl="0" marL="457200" rtl="0" algn="l">
              <a:spcBef>
                <a:spcPts val="0"/>
              </a:spcBef>
              <a:spcAft>
                <a:spcPts val="0"/>
              </a:spcAft>
              <a:buSzPts val="1100"/>
              <a:buChar char="-"/>
            </a:pPr>
            <a:r>
              <a:rPr lang="en"/>
              <a:t>Home gateway IP address is usually 10.1.1.1 or 10.0.1.1 -&gt; only a couple different ones (we’ll talk about this later)</a:t>
            </a:r>
            <a:endParaRPr/>
          </a:p>
          <a:p>
            <a:pPr indent="-298450" lvl="0" marL="457200" rtl="0" algn="l">
              <a:spcBef>
                <a:spcPts val="0"/>
              </a:spcBef>
              <a:spcAft>
                <a:spcPts val="0"/>
              </a:spcAft>
              <a:buSzPts val="1100"/>
              <a:buChar char="-"/>
            </a:pPr>
            <a:r>
              <a:rPr lang="en"/>
              <a:t>Most home gateways is username-admin password-admin</a:t>
            </a:r>
            <a:endParaRPr/>
          </a:p>
          <a:p>
            <a:pPr indent="-298450" lvl="0" marL="457200" rtl="0" algn="l">
              <a:spcBef>
                <a:spcPts val="0"/>
              </a:spcBef>
              <a:spcAft>
                <a:spcPts val="0"/>
              </a:spcAft>
              <a:buSzPts val="1100"/>
              <a:buChar char="-"/>
            </a:pPr>
            <a:r>
              <a:rPr lang="en"/>
              <a:t>Now, victim is logged in -&gt; they can reset the DNS server…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Sounds too easy, but it gets worse -&gt; just publish an ad</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daf639f2a2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daf639f2a2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you’re going to crime, crime properly”???</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daf639f2a2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daf639f2a2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could literally do anything as the user</a:t>
            </a:r>
            <a:endParaRPr/>
          </a:p>
          <a:p>
            <a:pPr indent="-298450" lvl="0" marL="457200" rtl="0" algn="l">
              <a:spcBef>
                <a:spcPts val="0"/>
              </a:spcBef>
              <a:spcAft>
                <a:spcPts val="0"/>
              </a:spcAft>
              <a:buSzPts val="1100"/>
              <a:buChar char="-"/>
            </a:pPr>
            <a:r>
              <a:rPr lang="en"/>
              <a:t>CSRF attack means you can do anything that the user can do if they were logged in -&gt; super dangerous vulnerability!</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daf639f2a2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daf639f2a2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http://www.internetnews.com/security/article.php/3835596/Facebook+Hit+by+CrossSite+Request+Forgery+Attack.htm</a:t>
            </a:r>
            <a:r>
              <a:rPr lang="en"/>
              <a:t>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Facebook timeline = Instagram feed</a:t>
            </a:r>
            <a:endParaRPr/>
          </a:p>
          <a:p>
            <a:pPr indent="-298450" lvl="0" marL="457200" rtl="0" algn="l">
              <a:spcBef>
                <a:spcPts val="0"/>
              </a:spcBef>
              <a:spcAft>
                <a:spcPts val="0"/>
              </a:spcAft>
              <a:buSzPts val="1100"/>
              <a:buChar char="-"/>
            </a:pPr>
            <a:r>
              <a:rPr lang="en"/>
              <a:t>Posts on user’s page the CSRF attack -&gt; now your page contains that</a:t>
            </a:r>
            <a:endParaRPr/>
          </a:p>
          <a:p>
            <a:pPr indent="-298450" lvl="1" marL="914400" rtl="0" algn="l">
              <a:spcBef>
                <a:spcPts val="0"/>
              </a:spcBef>
              <a:spcAft>
                <a:spcPts val="0"/>
              </a:spcAft>
              <a:buSzPts val="1100"/>
              <a:buChar char="-"/>
            </a:pPr>
            <a:r>
              <a:rPr lang="en"/>
              <a:t>Now… other people who view your page would also be hit with this attack</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daf639f2a2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daf639f2a2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- 1:40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Trick user to click on a link -&gt; make an actual request where server automatically attaches cookies</a:t>
            </a:r>
            <a:endParaRPr/>
          </a:p>
          <a:p>
            <a:pPr indent="0" lvl="0" marL="0" rtl="0" algn="l">
              <a:spcBef>
                <a:spcPts val="0"/>
              </a:spcBef>
              <a:spcAft>
                <a:spcPts val="0"/>
              </a:spcAft>
              <a:buNone/>
            </a:pPr>
            <a:r>
              <a:rPr lang="en"/>
              <a:t>Thoughts on how we might defend against this?</a:t>
            </a:r>
            <a:endParaRPr/>
          </a:p>
          <a:p>
            <a:pPr indent="0" lvl="0" marL="0" rtl="0" algn="l">
              <a:spcBef>
                <a:spcPts val="0"/>
              </a:spcBef>
              <a:spcAft>
                <a:spcPts val="0"/>
              </a:spcAft>
              <a:buNone/>
            </a:pPr>
            <a:r>
              <a:rPr lang="en"/>
              <a:t>Is this the responsibility of the web server or browser?</a:t>
            </a:r>
            <a:endParaRPr/>
          </a:p>
          <a:p>
            <a:pPr indent="-298450" lvl="0" marL="457200" rtl="0" algn="l">
              <a:spcBef>
                <a:spcPts val="0"/>
              </a:spcBef>
              <a:spcAft>
                <a:spcPts val="0"/>
              </a:spcAft>
              <a:buSzPts val="1100"/>
              <a:buChar char="-"/>
            </a:pPr>
            <a:r>
              <a:rPr lang="en"/>
              <a:t>How does the </a:t>
            </a:r>
            <a:r>
              <a:rPr lang="en"/>
              <a:t>browser</a:t>
            </a:r>
            <a:r>
              <a:rPr lang="en"/>
              <a:t> know if you intend to make a request or not?</a:t>
            </a:r>
            <a:endParaRPr/>
          </a:p>
          <a:p>
            <a:pPr indent="-298450" lvl="1" marL="914400" rtl="0" algn="l">
              <a:spcBef>
                <a:spcPts val="0"/>
              </a:spcBef>
              <a:spcAft>
                <a:spcPts val="0"/>
              </a:spcAft>
              <a:buSzPts val="1100"/>
              <a:buChar char="-"/>
            </a:pPr>
            <a:r>
              <a:rPr lang="en"/>
              <a:t>Might be more up to the server!</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daf639f2a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daf639f2a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flaw: sent a request with the right cookie -&gt; nothing to stop that cookie from going through</a:t>
            </a:r>
            <a:endParaRPr/>
          </a:p>
          <a:p>
            <a:pPr indent="0" lvl="0" marL="0" rtl="0" algn="l">
              <a:spcBef>
                <a:spcPts val="0"/>
              </a:spcBef>
              <a:spcAft>
                <a:spcPts val="0"/>
              </a:spcAft>
              <a:buNone/>
            </a:pPr>
            <a:r>
              <a:rPr lang="en"/>
              <a:t>We want to add extra security beyond a session token</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af639f2a2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af639f2a2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Why not in a cookie?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secret values -&gt; session token &amp; CSRF token</a:t>
            </a:r>
            <a:endParaRPr/>
          </a:p>
          <a:p>
            <a:pPr indent="-298450" lvl="0" marL="457200" rtl="0" algn="l">
              <a:spcBef>
                <a:spcPts val="0"/>
              </a:spcBef>
              <a:spcAft>
                <a:spcPts val="0"/>
              </a:spcAft>
              <a:buSzPts val="1100"/>
              <a:buChar char="-"/>
            </a:pPr>
            <a:r>
              <a:rPr lang="en"/>
              <a:t>Cookies are too automatic</a:t>
            </a:r>
            <a:endParaRPr/>
          </a:p>
          <a:p>
            <a:pPr indent="-298450" lvl="1" marL="914400" rtl="0" algn="l">
              <a:spcBef>
                <a:spcPts val="0"/>
              </a:spcBef>
              <a:spcAft>
                <a:spcPts val="0"/>
              </a:spcAft>
              <a:buSzPts val="1100"/>
              <a:buChar char="-"/>
            </a:pPr>
            <a:r>
              <a:rPr lang="en"/>
              <a:t>Don’t put CSRF token in cookie or else it’ll just be sent alongside a session token!</a:t>
            </a:r>
            <a:endParaRPr/>
          </a:p>
          <a:p>
            <a:pPr indent="-298450" lvl="0" marL="457200" rtl="0" algn="l">
              <a:spcBef>
                <a:spcPts val="0"/>
              </a:spcBef>
              <a:spcAft>
                <a:spcPts val="0"/>
              </a:spcAft>
              <a:buSzPts val="1100"/>
              <a:buChar char="-"/>
            </a:pPr>
            <a:r>
              <a:rPr lang="en"/>
              <a:t>Token is different every single time they serve the page to anyone</a:t>
            </a:r>
            <a:endParaRPr/>
          </a:p>
          <a:p>
            <a:pPr indent="-298450" lvl="0" marL="457200" rtl="0" algn="l">
              <a:spcBef>
                <a:spcPts val="0"/>
              </a:spcBef>
              <a:spcAft>
                <a:spcPts val="0"/>
              </a:spcAft>
              <a:buSzPts val="1100"/>
              <a:buChar char="-"/>
            </a:pPr>
            <a:r>
              <a:rPr lang="en"/>
              <a:t>Why not valid for hundreds of requests?</a:t>
            </a:r>
            <a:endParaRPr/>
          </a:p>
          <a:p>
            <a:pPr indent="-298450" lvl="1" marL="914400" rtl="0" algn="l">
              <a:spcBef>
                <a:spcPts val="0"/>
              </a:spcBef>
              <a:spcAft>
                <a:spcPts val="0"/>
              </a:spcAft>
              <a:buSzPts val="1100"/>
              <a:buChar char="-"/>
            </a:pPr>
            <a:r>
              <a:rPr lang="en"/>
              <a:t>Prevent replay attacks</a:t>
            </a:r>
            <a:endParaRPr/>
          </a:p>
          <a:p>
            <a:pPr indent="-298450" lvl="1" marL="914400" rtl="0" algn="l">
              <a:spcBef>
                <a:spcPts val="0"/>
              </a:spcBef>
              <a:spcAft>
                <a:spcPts val="0"/>
              </a:spcAft>
              <a:buSzPts val="1100"/>
              <a:buChar char="-"/>
            </a:pPr>
            <a:r>
              <a:rPr lang="en"/>
              <a:t>Don’t want attacker to be able to use for future requests!</a:t>
            </a:r>
            <a:endParaRPr/>
          </a:p>
          <a:p>
            <a:pPr indent="-298450" lvl="1" marL="914400" rtl="0" algn="l">
              <a:spcBef>
                <a:spcPts val="0"/>
              </a:spcBef>
              <a:spcAft>
                <a:spcPts val="0"/>
              </a:spcAft>
              <a:buSzPts val="1100"/>
              <a:buChar char="-"/>
            </a:pPr>
            <a:r>
              <a:rPr lang="en"/>
              <a:t>Not really a usability concern -&gt; not something users usually </a:t>
            </a:r>
            <a:r>
              <a:rPr lang="en"/>
              <a:t>have</a:t>
            </a:r>
            <a:r>
              <a:rPr lang="en"/>
              <a:t> to input</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db122ed6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db122ed6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Forms</a:t>
            </a:r>
            <a:r>
              <a:rPr lang="en"/>
              <a:t> -&gt; data sent as POST request</a:t>
            </a:r>
            <a:endParaRPr/>
          </a:p>
          <a:p>
            <a:pPr indent="-298450" lvl="0" marL="457200" rtl="0" algn="l">
              <a:spcBef>
                <a:spcPts val="0"/>
              </a:spcBef>
              <a:spcAft>
                <a:spcPts val="0"/>
              </a:spcAft>
              <a:buSzPts val="1100"/>
              <a:buChar char="-"/>
            </a:pPr>
            <a:r>
              <a:rPr lang="en"/>
              <a:t>Without CSRF token, attacker could make victim visit a page + run Javascript to fill in a form (send Mallory $161) and submit via victim’s browser w/ user’s session token attached</a:t>
            </a:r>
            <a:endParaRPr/>
          </a:p>
          <a:p>
            <a:pPr indent="-298450" lvl="0" marL="457200" rtl="0" algn="l">
              <a:spcBef>
                <a:spcPts val="0"/>
              </a:spcBef>
              <a:spcAft>
                <a:spcPts val="0"/>
              </a:spcAft>
              <a:buSzPts val="1100"/>
              <a:buChar char="-"/>
            </a:pPr>
            <a:r>
              <a:rPr lang="en"/>
              <a:t>With CSRF token</a:t>
            </a:r>
            <a:endParaRPr/>
          </a:p>
          <a:p>
            <a:pPr indent="-298450" lvl="1" marL="914400" rtl="0" algn="l">
              <a:spcBef>
                <a:spcPts val="0"/>
              </a:spcBef>
              <a:spcAft>
                <a:spcPts val="0"/>
              </a:spcAft>
              <a:buSzPts val="1100"/>
              <a:buChar char="-"/>
            </a:pPr>
            <a:r>
              <a:rPr lang="en"/>
              <a:t>Extra field!</a:t>
            </a:r>
            <a:endParaRPr/>
          </a:p>
          <a:p>
            <a:pPr indent="-298450" lvl="0" marL="457200" rtl="0" algn="l">
              <a:spcBef>
                <a:spcPts val="0"/>
              </a:spcBef>
              <a:spcAft>
                <a:spcPts val="0"/>
              </a:spcAft>
              <a:buSzPts val="1100"/>
              <a:buChar char="-"/>
            </a:pPr>
            <a:r>
              <a:rPr lang="en"/>
              <a:t>Malicious site doesn’t have access to CSRF token because of HTTP access control</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e44adf36c7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e44adf36c7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Burden is on user or user’s browser to attach that token.</a:t>
            </a:r>
            <a:endParaRPr/>
          </a:p>
          <a:p>
            <a:pPr indent="0" lvl="0" marL="0" rtl="0" algn="l">
              <a:spcBef>
                <a:spcPts val="0"/>
              </a:spcBef>
              <a:spcAft>
                <a:spcPts val="0"/>
              </a:spcAft>
              <a:buNone/>
            </a:pPr>
            <a:r>
              <a:rPr lang="en"/>
              <a:t>Server side check!</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daf639f2a2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daf639f2a2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 request usually involves metadata -&gt; include </a:t>
            </a:r>
            <a:r>
              <a:rPr lang="en"/>
              <a:t>referer</a:t>
            </a:r>
            <a:r>
              <a:rPr lang="en"/>
              <a:t> header</a:t>
            </a:r>
            <a:endParaRPr/>
          </a:p>
          <a:p>
            <a:pPr indent="-298450" lvl="0" marL="457200" rtl="0" algn="l">
              <a:spcBef>
                <a:spcPts val="0"/>
              </a:spcBef>
              <a:spcAft>
                <a:spcPts val="0"/>
              </a:spcAft>
              <a:buSzPts val="1100"/>
              <a:buChar char="-"/>
            </a:pPr>
            <a:r>
              <a:rPr lang="en"/>
              <a:t>Metadata can be stuff like “this request was made over Chrome” or “this request was made over HTTP 1.0”</a:t>
            </a:r>
            <a:endParaRPr/>
          </a:p>
          <a:p>
            <a:pPr indent="-298450" lvl="0" marL="457200" rtl="0" algn="l">
              <a:spcBef>
                <a:spcPts val="0"/>
              </a:spcBef>
              <a:spcAft>
                <a:spcPts val="0"/>
              </a:spcAft>
              <a:buSzPts val="1100"/>
              <a:buChar char="-"/>
            </a:pPr>
            <a:r>
              <a:rPr lang="en"/>
              <a:t>Referer</a:t>
            </a:r>
            <a:r>
              <a:rPr lang="en"/>
              <a:t> header: what webpage was I on when this request was made?</a:t>
            </a:r>
            <a:endParaRPr/>
          </a:p>
          <a:p>
            <a:pPr indent="-298450" lvl="1" marL="914400" rtl="0" algn="l">
              <a:spcBef>
                <a:spcPts val="0"/>
              </a:spcBef>
              <a:spcAft>
                <a:spcPts val="0"/>
              </a:spcAft>
              <a:buSzPts val="1100"/>
              <a:buChar char="-"/>
            </a:pPr>
            <a:r>
              <a:rPr lang="en"/>
              <a:t>“This request came from evil.com” -&gt; proceed? </a:t>
            </a:r>
            <a:r>
              <a:rPr lang="en"/>
              <a:t>u</a:t>
            </a:r>
            <a:r>
              <a:rPr lang="en"/>
              <a:t>h , </a:t>
            </a:r>
            <a:r>
              <a:rPr lang="en"/>
              <a:t>definitely</a:t>
            </a:r>
            <a:r>
              <a:rPr lang="en"/>
              <a:t> not.</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daf639f2a2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daf639f2a2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Server can use </a:t>
            </a:r>
            <a:r>
              <a:rPr lang="en"/>
              <a:t>referer</a:t>
            </a:r>
            <a:r>
              <a:rPr lang="en"/>
              <a:t> header to check if user was tricked or actually made the request.</a:t>
            </a:r>
            <a:endParaRPr/>
          </a:p>
          <a:p>
            <a:pPr indent="-298450" lvl="0" marL="457200" rtl="0" algn="l">
              <a:spcBef>
                <a:spcPts val="0"/>
              </a:spcBef>
              <a:spcAft>
                <a:spcPts val="0"/>
              </a:spcAft>
              <a:buSzPts val="1100"/>
              <a:buChar char="-"/>
            </a:pPr>
            <a:r>
              <a:rPr lang="en"/>
              <a:t>Now our cross-site request forgeries will be rejected.</a:t>
            </a:r>
            <a:endParaRPr/>
          </a:p>
          <a:p>
            <a:pPr indent="-298450" lvl="0" marL="457200" rtl="0" algn="l">
              <a:spcBef>
                <a:spcPts val="0"/>
              </a:spcBef>
              <a:spcAft>
                <a:spcPts val="0"/>
              </a:spcAft>
              <a:buSzPts val="1100"/>
              <a:buChar char="-"/>
            </a:pPr>
            <a:r>
              <a:rPr lang="en"/>
              <a:t>It’s the server’s job to use the </a:t>
            </a:r>
            <a:r>
              <a:rPr lang="en"/>
              <a:t>referer</a:t>
            </a:r>
            <a:r>
              <a:rPr lang="en"/>
              <a:t> header</a:t>
            </a:r>
            <a:endParaRPr/>
          </a:p>
          <a:p>
            <a:pPr indent="-298450" lvl="0" marL="457200" rtl="0" algn="l">
              <a:spcBef>
                <a:spcPts val="0"/>
              </a:spcBef>
              <a:spcAft>
                <a:spcPts val="0"/>
              </a:spcAft>
              <a:buSzPts val="1100"/>
              <a:buChar char="-"/>
            </a:pPr>
            <a:r>
              <a:rPr lang="en"/>
              <a:t>Seems like this is great right… but</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daf639f2a2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daf639f2a2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It’s optional :’))</a:t>
            </a:r>
            <a:endParaRPr/>
          </a:p>
          <a:p>
            <a:pPr indent="-298450" lvl="1" marL="914400" rtl="0" algn="l">
              <a:spcBef>
                <a:spcPts val="0"/>
              </a:spcBef>
              <a:spcAft>
                <a:spcPts val="0"/>
              </a:spcAft>
              <a:buSzPts val="1100"/>
              <a:buChar char="-"/>
            </a:pPr>
            <a:r>
              <a:rPr lang="en"/>
              <a:t>Why optional?</a:t>
            </a:r>
            <a:endParaRPr/>
          </a:p>
          <a:p>
            <a:pPr indent="-298450" lvl="1" marL="914400" rtl="0" algn="l">
              <a:spcBef>
                <a:spcPts val="0"/>
              </a:spcBef>
              <a:spcAft>
                <a:spcPts val="0"/>
              </a:spcAft>
              <a:buSzPts val="1100"/>
              <a:buChar char="-"/>
            </a:pPr>
            <a:r>
              <a:rPr lang="en"/>
              <a:t>It leaks info</a:t>
            </a:r>
            <a:endParaRPr/>
          </a:p>
          <a:p>
            <a:pPr indent="-298450" lvl="2" marL="1371600" rtl="0" algn="l">
              <a:spcBef>
                <a:spcPts val="0"/>
              </a:spcBef>
              <a:spcAft>
                <a:spcPts val="0"/>
              </a:spcAft>
              <a:buSzPts val="1100"/>
              <a:buChar char="-"/>
            </a:pPr>
            <a:r>
              <a:rPr lang="en"/>
              <a:t>Then, we’d strip it</a:t>
            </a:r>
            <a:endParaRPr/>
          </a:p>
          <a:p>
            <a:pPr indent="-298450" lvl="0" marL="457200" rtl="0" algn="l">
              <a:spcBef>
                <a:spcPts val="0"/>
              </a:spcBef>
              <a:spcAft>
                <a:spcPts val="0"/>
              </a:spcAft>
              <a:buSzPts val="1100"/>
              <a:buChar char="-"/>
            </a:pPr>
            <a:r>
              <a:rPr lang="en"/>
              <a:t>Fail-safe defaults: tradeoff on security &amp; usability</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daf639f2a2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daf639f2a2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Another cookie attribute (like HTTPOnly or Secure)</a:t>
            </a:r>
            <a:endParaRPr/>
          </a:p>
          <a:p>
            <a:pPr indent="-298450" lvl="0" marL="457200" rtl="0" algn="l">
              <a:spcBef>
                <a:spcPts val="0"/>
              </a:spcBef>
              <a:spcAft>
                <a:spcPts val="0"/>
              </a:spcAft>
              <a:buSzPts val="1100"/>
              <a:buChar char="-"/>
            </a:pPr>
            <a:r>
              <a:rPr lang="en"/>
              <a:t>Kind of like a referrer header</a:t>
            </a:r>
            <a:endParaRPr/>
          </a:p>
          <a:p>
            <a:pPr indent="-298450" lvl="0" marL="457200" rtl="0" algn="l">
              <a:spcBef>
                <a:spcPts val="0"/>
              </a:spcBef>
              <a:spcAft>
                <a:spcPts val="0"/>
              </a:spcAft>
              <a:buSzPts val="1100"/>
              <a:buChar char="-"/>
            </a:pPr>
            <a:r>
              <a:rPr lang="en"/>
              <a:t>When I pick through cookie jar to figure out which cookies to send to server, check not only domain/path, but also samesite flag</a:t>
            </a:r>
            <a:endParaRPr/>
          </a:p>
          <a:p>
            <a:pPr indent="-298450" lvl="1" marL="914400" rtl="0" algn="l">
              <a:spcBef>
                <a:spcPts val="0"/>
              </a:spcBef>
              <a:spcAft>
                <a:spcPts val="0"/>
              </a:spcAft>
              <a:buSzPts val="1100"/>
              <a:buChar char="-"/>
            </a:pPr>
            <a:r>
              <a:rPr lang="en"/>
              <a:t>Make sure the domain matches the domain attribute</a:t>
            </a:r>
            <a:endParaRPr/>
          </a:p>
          <a:p>
            <a:pPr indent="-298450" lvl="0" marL="457200" rtl="0" algn="l">
              <a:spcBef>
                <a:spcPts val="0"/>
              </a:spcBef>
              <a:spcAft>
                <a:spcPts val="0"/>
              </a:spcAft>
              <a:buSzPts val="1100"/>
              <a:buChar char="-"/>
            </a:pPr>
            <a:r>
              <a:rPr lang="en"/>
              <a:t>Differs from domain check in cookie sending policy</a:t>
            </a:r>
            <a:endParaRPr/>
          </a:p>
          <a:p>
            <a:pPr indent="-298450" lvl="0" marL="457200" rtl="0" algn="l">
              <a:spcBef>
                <a:spcPts val="0"/>
              </a:spcBef>
              <a:spcAft>
                <a:spcPts val="0"/>
              </a:spcAft>
              <a:buSzPts val="1100"/>
              <a:buChar char="-"/>
            </a:pPr>
            <a:r>
              <a:rPr lang="en"/>
              <a:t>Most modern browsers have the samesite cookie attribute</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e44adf36c7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e44adf36c7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daf639f2a2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daf639f2a2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daf639f2a2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daf639f2a2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e44adf36c7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e44adf36c7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Hope you enjoyed your cookie, ty for coming!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CSE405</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eveloper.mozilla.org/en-US/docs/Web/HTTP/Guides/Cook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developer.mozilla.org/en-US/docs/Web/HTTP/Reference/Headers/Set-Cooki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1" Type="http://schemas.openxmlformats.org/officeDocument/2006/relationships/hyperlink" Target="https://cwe.mitre.org/data/definitions/352.html" TargetMode="External"/><Relationship Id="rId10" Type="http://schemas.openxmlformats.org/officeDocument/2006/relationships/hyperlink" Target="https://cwe.mitre.org/data/definitions/416.html" TargetMode="External"/><Relationship Id="rId13" Type="http://schemas.openxmlformats.org/officeDocument/2006/relationships/hyperlink" Target="https://cwe.mitre.org/data/definitions/190.html" TargetMode="External"/><Relationship Id="rId12" Type="http://schemas.openxmlformats.org/officeDocument/2006/relationships/hyperlink" Target="https://cwe.mitre.org/data/definitions/78.html" TargetMode="External"/><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hyperlink" Target="https://cwe.mitre.org/data/definitions/79.html" TargetMode="External"/><Relationship Id="rId4" Type="http://schemas.openxmlformats.org/officeDocument/2006/relationships/hyperlink" Target="https://cwe.mitre.org/data/definitions/787.html" TargetMode="External"/><Relationship Id="rId9" Type="http://schemas.openxmlformats.org/officeDocument/2006/relationships/hyperlink" Target="https://cwe.mitre.org/data/definitions/200.html" TargetMode="External"/><Relationship Id="rId15" Type="http://schemas.openxmlformats.org/officeDocument/2006/relationships/hyperlink" Target="https://cwe.mitre.org/data/definitions/476.html" TargetMode="External"/><Relationship Id="rId14" Type="http://schemas.openxmlformats.org/officeDocument/2006/relationships/hyperlink" Target="https://cwe.mitre.org/data/definitions/22.html" TargetMode="External"/><Relationship Id="rId17" Type="http://schemas.openxmlformats.org/officeDocument/2006/relationships/hyperlink" Target="https://cwe.mitre.org/data/definitions/434.html" TargetMode="External"/><Relationship Id="rId16" Type="http://schemas.openxmlformats.org/officeDocument/2006/relationships/hyperlink" Target="https://cwe.mitre.org/data/definitions/287.html" TargetMode="External"/><Relationship Id="rId5" Type="http://schemas.openxmlformats.org/officeDocument/2006/relationships/hyperlink" Target="https://cwe.mitre.org/data/definitions/20.html" TargetMode="External"/><Relationship Id="rId19" Type="http://schemas.openxmlformats.org/officeDocument/2006/relationships/hyperlink" Target="https://cwe.mitre.org/data/definitions/94.html" TargetMode="External"/><Relationship Id="rId6" Type="http://schemas.openxmlformats.org/officeDocument/2006/relationships/hyperlink" Target="https://cwe.mitre.org/data/definitions/125.html" TargetMode="External"/><Relationship Id="rId18" Type="http://schemas.openxmlformats.org/officeDocument/2006/relationships/hyperlink" Target="https://cwe.mitre.org/data/definitions/732.html" TargetMode="External"/><Relationship Id="rId7" Type="http://schemas.openxmlformats.org/officeDocument/2006/relationships/hyperlink" Target="https://cwe.mitre.org/data/definitions/119.html" TargetMode="External"/><Relationship Id="rId8" Type="http://schemas.openxmlformats.org/officeDocument/2006/relationships/hyperlink" Target="https://cwe.mitre.org/data/definitions/89.htm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hyperlink" Target="http://www.internetnews.com/security/article.php/3835596/Facebook+Hit+by+CrossSite+Request+Forgery+Attack.htm" TargetMode="Externa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Cookies and CSRF</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Lecture 10</a:t>
            </a:r>
            <a:endParaRPr/>
          </a:p>
        </p:txBody>
      </p:sp>
      <p:pic>
        <p:nvPicPr>
          <p:cNvPr id="66" name="Google Shape;66;p15"/>
          <p:cNvPicPr preferRelativeResize="0"/>
          <p:nvPr/>
        </p:nvPicPr>
        <p:blipFill>
          <a:blip r:embed="rId3">
            <a:alphaModFix/>
          </a:blip>
          <a:stretch>
            <a:fillRect/>
          </a:stretch>
        </p:blipFill>
        <p:spPr>
          <a:xfrm>
            <a:off x="5087650" y="1276854"/>
            <a:ext cx="3787699" cy="3787699"/>
          </a:xfrm>
          <a:prstGeom prst="rect">
            <a:avLst/>
          </a:prstGeom>
          <a:noFill/>
          <a:ln>
            <a:noFill/>
          </a:ln>
        </p:spPr>
      </p:pic>
      <p:pic>
        <p:nvPicPr>
          <p:cNvPr id="67" name="Google Shape;67;p15"/>
          <p:cNvPicPr preferRelativeResize="0"/>
          <p:nvPr/>
        </p:nvPicPr>
        <p:blipFill>
          <a:blip r:embed="rId4">
            <a:alphaModFix/>
          </a:blip>
          <a:stretch>
            <a:fillRect/>
          </a:stretch>
        </p:blipFill>
        <p:spPr>
          <a:xfrm>
            <a:off x="1720150" y="1144200"/>
            <a:ext cx="1114700" cy="1114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URLs</a:t>
            </a:r>
            <a:endParaRPr/>
          </a:p>
        </p:txBody>
      </p:sp>
      <p:sp>
        <p:nvSpPr>
          <p:cNvPr id="73" name="Google Shape;73;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URL: A string that uniquely identifies one piece of data on the web</a:t>
            </a:r>
            <a:endParaRPr/>
          </a:p>
          <a:p>
            <a:pPr indent="-342900" lvl="0" marL="457200" rtl="0" algn="l">
              <a:spcBef>
                <a:spcPts val="0"/>
              </a:spcBef>
              <a:spcAft>
                <a:spcPts val="0"/>
              </a:spcAft>
              <a:buSzPts val="1800"/>
              <a:buChar char="●"/>
            </a:pPr>
            <a:r>
              <a:rPr lang="en"/>
              <a:t>Parts of a URL:</a:t>
            </a:r>
            <a:endParaRPr/>
          </a:p>
          <a:p>
            <a:pPr indent="-317500" lvl="1" marL="914400" rtl="0" algn="l">
              <a:spcBef>
                <a:spcPts val="0"/>
              </a:spcBef>
              <a:spcAft>
                <a:spcPts val="0"/>
              </a:spcAft>
              <a:buSzPts val="1400"/>
              <a:buChar char="○"/>
            </a:pPr>
            <a:r>
              <a:rPr lang="en"/>
              <a:t>Protocol: Defines which Internet protocol to use to retrieve the data (e.g. HTTP or HTTPS)</a:t>
            </a:r>
            <a:endParaRPr/>
          </a:p>
          <a:p>
            <a:pPr indent="-317500" lvl="1" marL="914400" rtl="0" algn="l">
              <a:spcBef>
                <a:spcPts val="0"/>
              </a:spcBef>
              <a:spcAft>
                <a:spcPts val="0"/>
              </a:spcAft>
              <a:buSzPts val="1400"/>
              <a:buChar char="○"/>
            </a:pPr>
            <a:r>
              <a:rPr lang="en"/>
              <a:t>Location: Defines which web server to contact</a:t>
            </a:r>
            <a:endParaRPr/>
          </a:p>
          <a:p>
            <a:pPr indent="-317500" lvl="2" marL="1371600" rtl="0" algn="l">
              <a:spcBef>
                <a:spcPts val="0"/>
              </a:spcBef>
              <a:spcAft>
                <a:spcPts val="0"/>
              </a:spcAft>
              <a:buSzPts val="1400"/>
              <a:buChar char="■"/>
            </a:pPr>
            <a:r>
              <a:rPr lang="en"/>
              <a:t>Can optionally contain a username or port</a:t>
            </a:r>
            <a:endParaRPr/>
          </a:p>
          <a:p>
            <a:pPr indent="-317500" lvl="1" marL="914400" rtl="0" algn="l">
              <a:spcBef>
                <a:spcPts val="0"/>
              </a:spcBef>
              <a:spcAft>
                <a:spcPts val="0"/>
              </a:spcAft>
              <a:buSzPts val="1400"/>
              <a:buChar char="○"/>
            </a:pPr>
            <a:r>
              <a:rPr lang="en"/>
              <a:t>Path: Defines which file on the web server to fetch</a:t>
            </a:r>
            <a:endParaRPr/>
          </a:p>
          <a:p>
            <a:pPr indent="-317500" lvl="1" marL="914400" rtl="0" algn="l">
              <a:spcBef>
                <a:spcPts val="0"/>
              </a:spcBef>
              <a:spcAft>
                <a:spcPts val="0"/>
              </a:spcAft>
              <a:buSzPts val="1400"/>
              <a:buChar char="○"/>
            </a:pPr>
            <a:r>
              <a:rPr lang="en"/>
              <a:t>Query (optional): Sends arguments in name-value pairs to the web server</a:t>
            </a:r>
            <a:endParaRPr/>
          </a:p>
          <a:p>
            <a:pPr indent="-317500" lvl="1" marL="914400" rtl="0" algn="l">
              <a:spcBef>
                <a:spcPts val="0"/>
              </a:spcBef>
              <a:spcAft>
                <a:spcPts val="0"/>
              </a:spcAft>
              <a:buSzPts val="1400"/>
              <a:buChar char="○"/>
            </a:pPr>
            <a:r>
              <a:rPr lang="en"/>
              <a:t>Fragment (optional): Not sent to the web server, but used by the browser for processing</a:t>
            </a:r>
            <a:endParaRPr/>
          </a:p>
          <a:p>
            <a:pPr indent="-342900" lvl="0" marL="457200" rtl="0" algn="l">
              <a:spcBef>
                <a:spcPts val="0"/>
              </a:spcBef>
              <a:spcAft>
                <a:spcPts val="0"/>
              </a:spcAft>
              <a:buSzPts val="1800"/>
              <a:buChar char="●"/>
            </a:pPr>
            <a:r>
              <a:rPr lang="en"/>
              <a:t>Special characters should be URL escaped</a:t>
            </a:r>
            <a:endParaRPr/>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HTTP</a:t>
            </a:r>
            <a:endParaRPr/>
          </a:p>
        </p:txBody>
      </p:sp>
      <p:sp>
        <p:nvSpPr>
          <p:cNvPr id="80" name="Google Shape;80;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HTTP: A protocol used to request and retrieve data from a web server</a:t>
            </a:r>
            <a:endParaRPr/>
          </a:p>
          <a:p>
            <a:pPr indent="-317500" lvl="1" marL="914400" rtl="0" algn="l">
              <a:spcBef>
                <a:spcPts val="0"/>
              </a:spcBef>
              <a:spcAft>
                <a:spcPts val="0"/>
              </a:spcAft>
              <a:buSzPts val="1400"/>
              <a:buChar char="○"/>
            </a:pPr>
            <a:r>
              <a:rPr lang="en"/>
              <a:t>HTTPS: A secure version of HTTP</a:t>
            </a:r>
            <a:endParaRPr/>
          </a:p>
          <a:p>
            <a:pPr indent="-317500" lvl="1" marL="914400" rtl="0" algn="l">
              <a:spcBef>
                <a:spcPts val="0"/>
              </a:spcBef>
              <a:spcAft>
                <a:spcPts val="0"/>
              </a:spcAft>
              <a:buSzPts val="1400"/>
              <a:buChar char="○"/>
            </a:pPr>
            <a:r>
              <a:rPr lang="en"/>
              <a:t>HTTP is a request-response protocol</a:t>
            </a:r>
            <a:endParaRPr/>
          </a:p>
          <a:p>
            <a:pPr indent="-342900" lvl="0" marL="457200" rtl="0" algn="l">
              <a:spcBef>
                <a:spcPts val="0"/>
              </a:spcBef>
              <a:spcAft>
                <a:spcPts val="0"/>
              </a:spcAft>
              <a:buSzPts val="1800"/>
              <a:buChar char="●"/>
            </a:pPr>
            <a:r>
              <a:rPr lang="en"/>
              <a:t>HTTP request</a:t>
            </a:r>
            <a:endParaRPr/>
          </a:p>
          <a:p>
            <a:pPr indent="-317500" lvl="1" marL="914400" rtl="0" algn="l">
              <a:spcBef>
                <a:spcPts val="0"/>
              </a:spcBef>
              <a:spcAft>
                <a:spcPts val="0"/>
              </a:spcAft>
              <a:buSzPts val="1400"/>
              <a:buChar char="○"/>
            </a:pPr>
            <a:r>
              <a:rPr lang="en"/>
              <a:t>Method (GET or POST)</a:t>
            </a:r>
            <a:endParaRPr/>
          </a:p>
          <a:p>
            <a:pPr indent="-317500" lvl="1" marL="914400" rtl="0" algn="l">
              <a:spcBef>
                <a:spcPts val="0"/>
              </a:spcBef>
              <a:spcAft>
                <a:spcPts val="0"/>
              </a:spcAft>
              <a:buSzPts val="1400"/>
              <a:buChar char="○"/>
            </a:pPr>
            <a:r>
              <a:rPr lang="en"/>
              <a:t>URL path and query parameters</a:t>
            </a:r>
            <a:endParaRPr/>
          </a:p>
          <a:p>
            <a:pPr indent="-317500" lvl="1" marL="914400" rtl="0" algn="l">
              <a:spcBef>
                <a:spcPts val="0"/>
              </a:spcBef>
              <a:spcAft>
                <a:spcPts val="0"/>
              </a:spcAft>
              <a:buSzPts val="1400"/>
              <a:buChar char="○"/>
            </a:pPr>
            <a:r>
              <a:rPr lang="en"/>
              <a:t>Protocol</a:t>
            </a:r>
            <a:endParaRPr/>
          </a:p>
          <a:p>
            <a:pPr indent="-317500" lvl="1" marL="914400" rtl="0" algn="l">
              <a:spcBef>
                <a:spcPts val="0"/>
              </a:spcBef>
              <a:spcAft>
                <a:spcPts val="0"/>
              </a:spcAft>
              <a:buSzPts val="1400"/>
              <a:buChar char="○"/>
            </a:pPr>
            <a:r>
              <a:rPr lang="en"/>
              <a:t>Data (only for POST requests)</a:t>
            </a:r>
            <a:endParaRPr/>
          </a:p>
          <a:p>
            <a:pPr indent="-342900" lvl="0" marL="457200" rtl="0" algn="l">
              <a:spcBef>
                <a:spcPts val="0"/>
              </a:spcBef>
              <a:spcAft>
                <a:spcPts val="0"/>
              </a:spcAft>
              <a:buSzPts val="1800"/>
              <a:buChar char="●"/>
            </a:pPr>
            <a:r>
              <a:rPr lang="en"/>
              <a:t>HTTP response</a:t>
            </a:r>
            <a:endParaRPr/>
          </a:p>
          <a:p>
            <a:pPr indent="-317500" lvl="1" marL="914400" rtl="0" algn="l">
              <a:spcBef>
                <a:spcPts val="0"/>
              </a:spcBef>
              <a:spcAft>
                <a:spcPts val="0"/>
              </a:spcAft>
              <a:buSzPts val="1400"/>
              <a:buChar char="○"/>
            </a:pPr>
            <a:r>
              <a:rPr lang="en"/>
              <a:t>Protocol</a:t>
            </a:r>
            <a:endParaRPr/>
          </a:p>
          <a:p>
            <a:pPr indent="-317500" lvl="1" marL="914400" rtl="0" algn="l">
              <a:spcBef>
                <a:spcPts val="0"/>
              </a:spcBef>
              <a:spcAft>
                <a:spcPts val="0"/>
              </a:spcAft>
              <a:buSzPts val="1400"/>
              <a:buChar char="○"/>
            </a:pPr>
            <a:r>
              <a:rPr lang="en"/>
              <a:t>Status code: A number indicating what happened with the request</a:t>
            </a:r>
            <a:endParaRPr/>
          </a:p>
          <a:p>
            <a:pPr indent="-317500" lvl="1" marL="914400" rtl="0" algn="l">
              <a:spcBef>
                <a:spcPts val="0"/>
              </a:spcBef>
              <a:spcAft>
                <a:spcPts val="0"/>
              </a:spcAft>
              <a:buSzPts val="1400"/>
              <a:buChar char="○"/>
            </a:pPr>
            <a:r>
              <a:rPr lang="en"/>
              <a:t>Headers: Metadata about the response</a:t>
            </a:r>
            <a:endParaRPr/>
          </a:p>
          <a:p>
            <a:pPr indent="-317500" lvl="1" marL="914400" rtl="0" algn="l">
              <a:spcBef>
                <a:spcPts val="0"/>
              </a:spcBef>
              <a:spcAft>
                <a:spcPts val="0"/>
              </a:spcAft>
              <a:buSzPts val="1400"/>
              <a:buChar char="○"/>
            </a:pPr>
            <a:r>
              <a:rPr lang="en"/>
              <a:t>Data</a:t>
            </a:r>
            <a:endParaRPr/>
          </a:p>
        </p:txBody>
      </p:sp>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Parts of a Webpage</a:t>
            </a:r>
            <a:endParaRPr/>
          </a:p>
        </p:txBody>
      </p:sp>
      <p:sp>
        <p:nvSpPr>
          <p:cNvPr id="87" name="Google Shape;87;p1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HTML: A markup language to create structured documents</a:t>
            </a:r>
            <a:endParaRPr/>
          </a:p>
          <a:p>
            <a:pPr indent="-317500" lvl="1" marL="914400" rtl="0" algn="l">
              <a:spcBef>
                <a:spcPts val="0"/>
              </a:spcBef>
              <a:spcAft>
                <a:spcPts val="0"/>
              </a:spcAft>
              <a:buSzPts val="1400"/>
              <a:buChar char="○"/>
            </a:pPr>
            <a:r>
              <a:rPr lang="en"/>
              <a:t>Create a link</a:t>
            </a:r>
            <a:endParaRPr/>
          </a:p>
          <a:p>
            <a:pPr indent="-317500" lvl="1" marL="914400" rtl="0" algn="l">
              <a:spcBef>
                <a:spcPts val="0"/>
              </a:spcBef>
              <a:spcAft>
                <a:spcPts val="0"/>
              </a:spcAft>
              <a:buSzPts val="1400"/>
              <a:buChar char="○"/>
            </a:pPr>
            <a:r>
              <a:rPr lang="en"/>
              <a:t>Create a form</a:t>
            </a:r>
            <a:endParaRPr/>
          </a:p>
          <a:p>
            <a:pPr indent="-317500" lvl="1" marL="914400" rtl="0" algn="l">
              <a:spcBef>
                <a:spcPts val="0"/>
              </a:spcBef>
              <a:spcAft>
                <a:spcPts val="0"/>
              </a:spcAft>
              <a:buSzPts val="1400"/>
              <a:buChar char="○"/>
            </a:pPr>
            <a:r>
              <a:rPr lang="en"/>
              <a:t>Embed an image</a:t>
            </a:r>
            <a:endParaRPr/>
          </a:p>
          <a:p>
            <a:pPr indent="-317500" lvl="1" marL="914400" rtl="0" algn="l">
              <a:spcBef>
                <a:spcPts val="0"/>
              </a:spcBef>
              <a:spcAft>
                <a:spcPts val="0"/>
              </a:spcAft>
              <a:buSzPts val="1400"/>
              <a:buChar char="○"/>
            </a:pPr>
            <a:r>
              <a:rPr lang="en"/>
              <a:t>Embed another webpage (iframe or frame)</a:t>
            </a:r>
            <a:endParaRPr/>
          </a:p>
          <a:p>
            <a:pPr indent="-342900" lvl="0" marL="457200" rtl="0" algn="l">
              <a:spcBef>
                <a:spcPts val="0"/>
              </a:spcBef>
              <a:spcAft>
                <a:spcPts val="0"/>
              </a:spcAft>
              <a:buSzPts val="1800"/>
              <a:buChar char="●"/>
            </a:pPr>
            <a:r>
              <a:rPr lang="en"/>
              <a:t>CSS: A style sheet language for defining the appearance of webpages</a:t>
            </a:r>
            <a:endParaRPr/>
          </a:p>
          <a:p>
            <a:pPr indent="-317500" lvl="1" marL="914400" rtl="0" algn="l">
              <a:spcBef>
                <a:spcPts val="0"/>
              </a:spcBef>
              <a:spcAft>
                <a:spcPts val="0"/>
              </a:spcAft>
              <a:buSzPts val="1400"/>
              <a:buChar char="○"/>
            </a:pPr>
            <a:r>
              <a:rPr lang="en"/>
              <a:t>As powerful as JavaScript if used maliciously!</a:t>
            </a:r>
            <a:endParaRPr/>
          </a:p>
          <a:p>
            <a:pPr indent="-342900" lvl="0" marL="457200" rtl="0" algn="l">
              <a:spcBef>
                <a:spcPts val="0"/>
              </a:spcBef>
              <a:spcAft>
                <a:spcPts val="0"/>
              </a:spcAft>
              <a:buSzPts val="1800"/>
              <a:buChar char="●"/>
            </a:pPr>
            <a:r>
              <a:rPr lang="en"/>
              <a:t>JavaScript: A programming language for running code in the web browser</a:t>
            </a:r>
            <a:endParaRPr/>
          </a:p>
          <a:p>
            <a:pPr indent="-317500" lvl="1" marL="914400" rtl="0" algn="l">
              <a:spcBef>
                <a:spcPts val="0"/>
              </a:spcBef>
              <a:spcAft>
                <a:spcPts val="0"/>
              </a:spcAft>
              <a:buSzPts val="1400"/>
              <a:buChar char="○"/>
            </a:pPr>
            <a:r>
              <a:rPr lang="en"/>
              <a:t>JavaScript code runs in the web browser</a:t>
            </a:r>
            <a:endParaRPr/>
          </a:p>
          <a:p>
            <a:pPr indent="-317500" lvl="1" marL="914400" rtl="0" algn="l">
              <a:spcBef>
                <a:spcPts val="0"/>
              </a:spcBef>
              <a:spcAft>
                <a:spcPts val="0"/>
              </a:spcAft>
              <a:buSzPts val="1400"/>
              <a:buChar char="○"/>
            </a:pPr>
            <a:r>
              <a:rPr lang="en"/>
              <a:t>Modify any part of the webpage (e.g. HTML or CSS)</a:t>
            </a:r>
            <a:endParaRPr/>
          </a:p>
          <a:p>
            <a:pPr indent="-317500" lvl="1" marL="914400" rtl="0" algn="l">
              <a:spcBef>
                <a:spcPts val="0"/>
              </a:spcBef>
              <a:spcAft>
                <a:spcPts val="0"/>
              </a:spcAft>
              <a:buSzPts val="1400"/>
              <a:buChar char="○"/>
            </a:pPr>
            <a:r>
              <a:rPr lang="en"/>
              <a:t>Create pop-up messages</a:t>
            </a:r>
            <a:endParaRPr/>
          </a:p>
          <a:p>
            <a:pPr indent="-317500" lvl="1" marL="914400" rtl="0" algn="l">
              <a:spcBef>
                <a:spcPts val="0"/>
              </a:spcBef>
              <a:spcAft>
                <a:spcPts val="0"/>
              </a:spcAft>
              <a:buSzPts val="1400"/>
              <a:buChar char="○"/>
            </a:pPr>
            <a:r>
              <a:rPr lang="en"/>
              <a:t>Make HTTP requests</a:t>
            </a:r>
            <a:endParaRPr/>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Mysteries</a:t>
            </a:r>
            <a:endParaRPr/>
          </a:p>
        </p:txBody>
      </p:sp>
      <p:sp>
        <p:nvSpPr>
          <p:cNvPr id="94" name="Google Shape;94;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is it that if I can open Gmail today and read my email, even though I didn't log in today?  How does it remember me?</a:t>
            </a:r>
            <a:endParaRPr/>
          </a:p>
          <a:p>
            <a:pPr indent="-342900" lvl="0" marL="457200" rtl="0" algn="l">
              <a:spcBef>
                <a:spcPts val="0"/>
              </a:spcBef>
              <a:spcAft>
                <a:spcPts val="0"/>
              </a:spcAft>
              <a:buSzPts val="1800"/>
              <a:buChar char="●"/>
            </a:pPr>
            <a:r>
              <a:rPr lang="en"/>
              <a:t>How is it that if I'm logged out from Google, and then I log into my Google account in one browser window, my Google docs in other browser windows update to show me as logged in, even though I didn't log in in those windows?</a:t>
            </a:r>
            <a:endParaRPr/>
          </a:p>
        </p:txBody>
      </p:sp>
      <p:sp>
        <p:nvSpPr>
          <p:cNvPr id="95" name="Google Shape;9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Cookies and CSRF</a:t>
            </a:r>
            <a:endParaRPr/>
          </a:p>
        </p:txBody>
      </p:sp>
      <p:sp>
        <p:nvSpPr>
          <p:cNvPr id="101" name="Google Shape;101;p2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Cookies</a:t>
            </a:r>
            <a:endParaRPr/>
          </a:p>
          <a:p>
            <a:pPr indent="-317500" lvl="1" marL="914400" rtl="0" algn="l">
              <a:spcBef>
                <a:spcPts val="0"/>
              </a:spcBef>
              <a:spcAft>
                <a:spcPts val="0"/>
              </a:spcAft>
              <a:buSzPts val="1400"/>
              <a:buChar char="○"/>
            </a:pPr>
            <a:r>
              <a:rPr lang="en"/>
              <a:t>Parts of a cookie</a:t>
            </a:r>
            <a:endParaRPr/>
          </a:p>
          <a:p>
            <a:pPr indent="-342900" lvl="0" marL="457200" rtl="0" algn="l">
              <a:spcBef>
                <a:spcPts val="0"/>
              </a:spcBef>
              <a:spcAft>
                <a:spcPts val="0"/>
              </a:spcAft>
              <a:buSzPts val="1800"/>
              <a:buChar char="●"/>
            </a:pPr>
            <a:r>
              <a:rPr lang="en"/>
              <a:t>Cookie Policy</a:t>
            </a:r>
            <a:endParaRPr/>
          </a:p>
          <a:p>
            <a:pPr indent="-317500" lvl="1" marL="914400" rtl="0" algn="l">
              <a:spcBef>
                <a:spcPts val="0"/>
              </a:spcBef>
              <a:spcAft>
                <a:spcPts val="0"/>
              </a:spcAft>
              <a:buSzPts val="1400"/>
              <a:buChar char="○"/>
            </a:pPr>
            <a:r>
              <a:rPr lang="en"/>
              <a:t>Setting cookies</a:t>
            </a:r>
            <a:endParaRPr/>
          </a:p>
          <a:p>
            <a:pPr indent="-317500" lvl="1" marL="914400" rtl="0" algn="l">
              <a:spcBef>
                <a:spcPts val="0"/>
              </a:spcBef>
              <a:spcAft>
                <a:spcPts val="0"/>
              </a:spcAft>
              <a:buSzPts val="1400"/>
              <a:buChar char="○"/>
            </a:pPr>
            <a:r>
              <a:rPr lang="en"/>
              <a:t>Sending cookies</a:t>
            </a:r>
            <a:endParaRPr/>
          </a:p>
          <a:p>
            <a:pPr indent="-342900" lvl="0" marL="457200" rtl="0" algn="l">
              <a:spcBef>
                <a:spcPts val="0"/>
              </a:spcBef>
              <a:spcAft>
                <a:spcPts val="0"/>
              </a:spcAft>
              <a:buSzPts val="1800"/>
              <a:buChar char="●"/>
            </a:pPr>
            <a:r>
              <a:rPr lang="en"/>
              <a:t>Session Authentication</a:t>
            </a:r>
            <a:endParaRPr/>
          </a:p>
          <a:p>
            <a:pPr indent="-342900" lvl="0" marL="457200" rtl="0" algn="l">
              <a:spcBef>
                <a:spcPts val="0"/>
              </a:spcBef>
              <a:spcAft>
                <a:spcPts val="0"/>
              </a:spcAft>
              <a:buSzPts val="1800"/>
              <a:buChar char="●"/>
            </a:pPr>
            <a:r>
              <a:rPr lang="en"/>
              <a:t>Cross-Site Request Forgery (CSRF)</a:t>
            </a:r>
            <a:endParaRPr/>
          </a:p>
          <a:p>
            <a:pPr indent="-342900" lvl="0" marL="457200" rtl="0" algn="l">
              <a:spcBef>
                <a:spcPts val="0"/>
              </a:spcBef>
              <a:spcAft>
                <a:spcPts val="0"/>
              </a:spcAft>
              <a:buSzPts val="1800"/>
              <a:buChar char="●"/>
            </a:pPr>
            <a:r>
              <a:rPr lang="en"/>
              <a:t>CSRF Defenses</a:t>
            </a:r>
            <a:endParaRPr/>
          </a:p>
        </p:txBody>
      </p:sp>
      <p:sp>
        <p:nvSpPr>
          <p:cNvPr id="102" name="Google Shape;10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3" name="Google Shape;103;p20"/>
          <p:cNvPicPr preferRelativeResize="0"/>
          <p:nvPr/>
        </p:nvPicPr>
        <p:blipFill>
          <a:blip r:embed="rId3">
            <a:alphaModFix/>
          </a:blip>
          <a:stretch>
            <a:fillRect/>
          </a:stretch>
        </p:blipFill>
        <p:spPr>
          <a:xfrm>
            <a:off x="5245575" y="1668650"/>
            <a:ext cx="3473523" cy="2701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Cookies</a:t>
            </a:r>
            <a:endParaRPr/>
          </a:p>
        </p:txBody>
      </p:sp>
      <p:sp>
        <p:nvSpPr>
          <p:cNvPr id="109" name="Google Shape;10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Customizing HTTP Responses</a:t>
            </a:r>
            <a:endParaRPr/>
          </a:p>
        </p:txBody>
      </p:sp>
      <p:sp>
        <p:nvSpPr>
          <p:cNvPr id="115" name="Google Shape;115;p2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excellent read: </a:t>
            </a:r>
            <a:r>
              <a:rPr lang="en" u="sng">
                <a:solidFill>
                  <a:schemeClr val="hlink"/>
                </a:solidFill>
                <a:hlinkClick r:id="rId3"/>
              </a:rPr>
              <a:t>https://developer.mozilla.org/en-US/docs/Web/HTTP/Guides/Cookies</a:t>
            </a:r>
            <a:endParaRPr/>
          </a:p>
          <a:p>
            <a:pPr indent="-342900" lvl="0" marL="457200" rtl="0" algn="l">
              <a:spcBef>
                <a:spcPts val="0"/>
              </a:spcBef>
              <a:spcAft>
                <a:spcPts val="0"/>
              </a:spcAft>
              <a:buSzPts val="1800"/>
              <a:buChar char="●"/>
            </a:pPr>
            <a:r>
              <a:rPr lang="en"/>
              <a:t>HTTP is a request-response protocol</a:t>
            </a:r>
            <a:endParaRPr/>
          </a:p>
          <a:p>
            <a:pPr indent="-317500" lvl="1" marL="914400" rtl="0" algn="l">
              <a:spcBef>
                <a:spcPts val="0"/>
              </a:spcBef>
              <a:spcAft>
                <a:spcPts val="0"/>
              </a:spcAft>
              <a:buSzPts val="1400"/>
              <a:buChar char="○"/>
            </a:pPr>
            <a:r>
              <a:rPr lang="en"/>
              <a:t>The web server processes each request independently of other requests</a:t>
            </a:r>
            <a:endParaRPr/>
          </a:p>
          <a:p>
            <a:pPr indent="-342900" lvl="0" marL="457200" rtl="0" algn="l">
              <a:spcBef>
                <a:spcPts val="0"/>
              </a:spcBef>
              <a:spcAft>
                <a:spcPts val="0"/>
              </a:spcAft>
              <a:buSzPts val="1800"/>
              <a:buChar char="●"/>
            </a:pPr>
            <a:r>
              <a:rPr lang="en"/>
              <a:t>What if we want our responses to be customized?</a:t>
            </a:r>
            <a:endParaRPr/>
          </a:p>
          <a:p>
            <a:pPr indent="-317500" lvl="1" marL="914400" rtl="0" algn="l">
              <a:spcBef>
                <a:spcPts val="0"/>
              </a:spcBef>
              <a:spcAft>
                <a:spcPts val="0"/>
              </a:spcAft>
              <a:buSzPts val="1400"/>
              <a:buChar char="○"/>
            </a:pPr>
            <a:r>
              <a:rPr lang="en"/>
              <a:t>Example: If I enable dark mode on a website, I want future responses from the website to be in dark mode</a:t>
            </a:r>
            <a:endParaRPr/>
          </a:p>
          <a:p>
            <a:pPr indent="-317500" lvl="1" marL="914400" rtl="0" algn="l">
              <a:spcBef>
                <a:spcPts val="0"/>
              </a:spcBef>
              <a:spcAft>
                <a:spcPts val="0"/>
              </a:spcAft>
              <a:buSzPts val="1400"/>
              <a:buChar char="○"/>
            </a:pPr>
            <a:r>
              <a:rPr lang="en"/>
              <a:t>Example: If I log in to a website, I want future responses from the website to be related to my account</a:t>
            </a:r>
            <a:endParaRPr/>
          </a:p>
        </p:txBody>
      </p:sp>
      <p:sp>
        <p:nvSpPr>
          <p:cNvPr id="116" name="Google Shape;11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 Definition</a:t>
            </a:r>
            <a:endParaRPr/>
          </a:p>
        </p:txBody>
      </p:sp>
      <p:sp>
        <p:nvSpPr>
          <p:cNvPr id="122" name="Google Shape;122;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Cookie</a:t>
            </a:r>
            <a:r>
              <a:rPr lang="en"/>
              <a:t>: a piece of data used to maintain state across multiple requests</a:t>
            </a:r>
            <a:endParaRPr/>
          </a:p>
          <a:p>
            <a:pPr indent="-342900" lvl="0" marL="457200" rtl="0" algn="l">
              <a:spcBef>
                <a:spcPts val="0"/>
              </a:spcBef>
              <a:spcAft>
                <a:spcPts val="0"/>
              </a:spcAft>
              <a:buSzPts val="1800"/>
              <a:buChar char="●"/>
            </a:pPr>
            <a:r>
              <a:rPr lang="en"/>
              <a:t>This data is stored and remembered by the browser, and sent to server when needed</a:t>
            </a:r>
            <a:endParaRPr/>
          </a:p>
          <a:p>
            <a:pPr indent="-342900" lvl="0" marL="457200" rtl="0" algn="l">
              <a:spcBef>
                <a:spcPts val="0"/>
              </a:spcBef>
              <a:spcAft>
                <a:spcPts val="0"/>
              </a:spcAft>
              <a:buSzPts val="1800"/>
              <a:buChar char="●"/>
            </a:pPr>
            <a:r>
              <a:rPr lang="en"/>
              <a:t>Creating cookies</a:t>
            </a:r>
            <a:endParaRPr/>
          </a:p>
          <a:p>
            <a:pPr indent="-317500" lvl="1" marL="914400" rtl="0" algn="l">
              <a:spcBef>
                <a:spcPts val="0"/>
              </a:spcBef>
              <a:spcAft>
                <a:spcPts val="0"/>
              </a:spcAft>
              <a:buSzPts val="1400"/>
              <a:buChar char="○"/>
            </a:pPr>
            <a:r>
              <a:rPr lang="en">
                <a:solidFill>
                  <a:srgbClr val="0000FF"/>
                </a:solidFill>
              </a:rPr>
              <a:t>The server </a:t>
            </a:r>
            <a:r>
              <a:rPr lang="en"/>
              <a:t>can create a cookie by including a </a:t>
            </a:r>
            <a:r>
              <a:rPr b="1" lang="en">
                <a:latin typeface="Courier New"/>
                <a:ea typeface="Courier New"/>
                <a:cs typeface="Courier New"/>
                <a:sym typeface="Courier New"/>
              </a:rPr>
              <a:t>Set-Cookie</a:t>
            </a:r>
            <a:r>
              <a:rPr lang="en"/>
              <a:t> header in its response</a:t>
            </a:r>
            <a:endParaRPr/>
          </a:p>
          <a:p>
            <a:pPr indent="-317500" lvl="1" marL="914400" rtl="0" algn="l">
              <a:spcBef>
                <a:spcPts val="0"/>
              </a:spcBef>
              <a:spcAft>
                <a:spcPts val="0"/>
              </a:spcAft>
              <a:buSzPts val="1400"/>
              <a:buChar char="○"/>
            </a:pPr>
            <a:r>
              <a:rPr lang="en"/>
              <a:t>JavaScript running in </a:t>
            </a:r>
            <a:r>
              <a:rPr lang="en">
                <a:solidFill>
                  <a:srgbClr val="0000FF"/>
                </a:solidFill>
              </a:rPr>
              <a:t>the browser</a:t>
            </a:r>
            <a:r>
              <a:rPr lang="en"/>
              <a:t> can create a cookie</a:t>
            </a:r>
            <a:endParaRPr/>
          </a:p>
          <a:p>
            <a:pPr indent="-342900" lvl="0" marL="457200" rtl="0" algn="l">
              <a:spcBef>
                <a:spcPts val="0"/>
              </a:spcBef>
              <a:spcAft>
                <a:spcPts val="0"/>
              </a:spcAft>
              <a:buSzPts val="1800"/>
              <a:buChar char="●"/>
            </a:pPr>
            <a:r>
              <a:rPr lang="en"/>
              <a:t>Storing cookies</a:t>
            </a:r>
            <a:endParaRPr/>
          </a:p>
          <a:p>
            <a:pPr indent="-317500" lvl="1" marL="914400" rtl="0" algn="l">
              <a:spcBef>
                <a:spcPts val="0"/>
              </a:spcBef>
              <a:spcAft>
                <a:spcPts val="0"/>
              </a:spcAft>
              <a:buClr>
                <a:srgbClr val="0000FF"/>
              </a:buClr>
              <a:buSzPts val="1400"/>
              <a:buChar char="○"/>
            </a:pPr>
            <a:r>
              <a:rPr lang="en">
                <a:solidFill>
                  <a:srgbClr val="0000FF"/>
                </a:solidFill>
              </a:rPr>
              <a:t>Cookies are stored by the web browser (not the web server)</a:t>
            </a:r>
            <a:endParaRPr>
              <a:solidFill>
                <a:srgbClr val="0000FF"/>
              </a:solidFill>
            </a:endParaRPr>
          </a:p>
          <a:p>
            <a:pPr indent="-317500" lvl="1" marL="914400" rtl="0" algn="l">
              <a:spcBef>
                <a:spcPts val="0"/>
              </a:spcBef>
              <a:spcAft>
                <a:spcPts val="0"/>
              </a:spcAft>
              <a:buSzPts val="1400"/>
              <a:buChar char="○"/>
            </a:pPr>
            <a:r>
              <a:rPr lang="en"/>
              <a:t>The browser’s cookie storage is sometimes called a </a:t>
            </a:r>
            <a:r>
              <a:rPr b="1" lang="en"/>
              <a:t>cookie jar</a:t>
            </a:r>
            <a:endParaRPr/>
          </a:p>
          <a:p>
            <a:pPr indent="-342900" lvl="0" marL="457200" rtl="0" algn="l">
              <a:spcBef>
                <a:spcPts val="0"/>
              </a:spcBef>
              <a:spcAft>
                <a:spcPts val="0"/>
              </a:spcAft>
              <a:buSzPts val="1800"/>
              <a:buChar char="●"/>
            </a:pPr>
            <a:r>
              <a:rPr lang="en"/>
              <a:t>Sending cookies</a:t>
            </a:r>
            <a:endParaRPr/>
          </a:p>
          <a:p>
            <a:pPr indent="-317500" lvl="1" marL="914400" rtl="0" algn="l">
              <a:spcBef>
                <a:spcPts val="0"/>
              </a:spcBef>
              <a:spcAft>
                <a:spcPts val="0"/>
              </a:spcAft>
              <a:buSzPts val="1400"/>
              <a:buChar char="○"/>
            </a:pPr>
            <a:r>
              <a:rPr lang="en"/>
              <a:t>The browser </a:t>
            </a:r>
            <a:r>
              <a:rPr i="1" lang="en"/>
              <a:t>automatically</a:t>
            </a:r>
            <a:r>
              <a:rPr lang="en"/>
              <a:t> attaches relevant cookies to every request</a:t>
            </a:r>
            <a:endParaRPr/>
          </a:p>
          <a:p>
            <a:pPr indent="-317500" lvl="1" marL="914400" rtl="0" algn="l">
              <a:spcBef>
                <a:spcPts val="0"/>
              </a:spcBef>
              <a:spcAft>
                <a:spcPts val="0"/>
              </a:spcAft>
              <a:buSzPts val="1400"/>
              <a:buChar char="○"/>
            </a:pPr>
            <a:r>
              <a:rPr lang="en"/>
              <a:t>The server uses received cookies to customize responses and connect related requests</a:t>
            </a:r>
            <a:endParaRPr/>
          </a:p>
        </p:txBody>
      </p:sp>
      <p:sp>
        <p:nvSpPr>
          <p:cNvPr id="123" name="Google Shape;12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Cookie: Name and Value</a:t>
            </a:r>
            <a:endParaRPr/>
          </a:p>
        </p:txBody>
      </p:sp>
      <p:sp>
        <p:nvSpPr>
          <p:cNvPr id="129" name="Google Shape;129;p24"/>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u="sng">
                <a:solidFill>
                  <a:schemeClr val="hlink"/>
                </a:solidFill>
                <a:hlinkClick r:id="rId3"/>
              </a:rPr>
              <a:t>https://developer.mozilla.org/en-US/docs/Web/HTTP/Reference/Headers/Set-Cookie</a:t>
            </a:r>
            <a:endParaRPr sz="1500"/>
          </a:p>
          <a:p>
            <a:pPr indent="-342900" lvl="0" marL="457200" rtl="0" algn="l">
              <a:spcBef>
                <a:spcPts val="0"/>
              </a:spcBef>
              <a:spcAft>
                <a:spcPts val="0"/>
              </a:spcAft>
              <a:buSzPts val="1800"/>
              <a:buChar char="●"/>
            </a:pPr>
            <a:r>
              <a:rPr lang="en"/>
              <a:t>The actual data in the cookie is stored as a </a:t>
            </a:r>
            <a:r>
              <a:rPr b="1" lang="en"/>
              <a:t>name-value pair</a:t>
            </a:r>
            <a:endParaRPr/>
          </a:p>
        </p:txBody>
      </p:sp>
      <p:sp>
        <p:nvSpPr>
          <p:cNvPr id="130" name="Google Shape;13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1" name="Google Shape;131;p24"/>
          <p:cNvGraphicFramePr/>
          <p:nvPr/>
        </p:nvGraphicFramePr>
        <p:xfrm>
          <a:off x="5524650" y="1323025"/>
          <a:ext cx="3000000" cy="3000000"/>
        </p:xfrm>
        <a:graphic>
          <a:graphicData uri="http://schemas.openxmlformats.org/drawingml/2006/table">
            <a:tbl>
              <a:tblPr>
                <a:noFill/>
                <a:tableStyleId>{44CF8845-A869-4F73-BFDA-305FE5F4EC43}</a:tableStyleId>
              </a:tblPr>
              <a:tblGrid>
                <a:gridCol w="958575"/>
                <a:gridCol w="2325050"/>
              </a:tblGrid>
              <a:tr h="396200">
                <a:tc>
                  <a:txBody>
                    <a:bodyPr/>
                    <a:lstStyle/>
                    <a:p>
                      <a:pPr indent="0" lvl="0" marL="0" rtl="0" algn="l">
                        <a:spcBef>
                          <a:spcPts val="0"/>
                        </a:spcBef>
                        <a:spcAft>
                          <a:spcPts val="0"/>
                        </a:spcAft>
                        <a:buNone/>
                      </a:pPr>
                      <a:r>
                        <a:rPr lang="en">
                          <a:solidFill>
                            <a:srgbClr val="FF0000"/>
                          </a:solidFill>
                        </a:rPr>
                        <a:t>Name</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Theme</a:t>
                      </a:r>
                      <a:endParaRPr b="1">
                        <a:solidFill>
                          <a:srgbClr val="FF0000"/>
                        </a:solidFill>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solidFill>
                            <a:srgbClr val="FF0000"/>
                          </a:solidFill>
                        </a:rPr>
                        <a:t>Value</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Dark</a:t>
                      </a:r>
                      <a:endParaRPr b="1">
                        <a:solidFill>
                          <a:srgbClr val="FF0000"/>
                        </a:solidFill>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Domain</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toon.cs161.org</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Path</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/xorcist</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Secure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True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HttpOnly</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False</a:t>
                      </a:r>
                      <a:endParaRPr b="1">
                        <a:latin typeface="Courier New"/>
                        <a:ea typeface="Courier New"/>
                        <a:cs typeface="Courier New"/>
                        <a:sym typeface="Courier New"/>
                      </a:endParaRPr>
                    </a:p>
                  </a:txBody>
                  <a:tcPr marT="91425" marB="91425" marR="91425" marL="91425"/>
                </a:tc>
              </a:tr>
              <a:tr h="361400">
                <a:tc>
                  <a:txBody>
                    <a:bodyPr/>
                    <a:lstStyle/>
                    <a:p>
                      <a:pPr indent="0" lvl="0" marL="0" rtl="0" algn="l">
                        <a:spcBef>
                          <a:spcPts val="0"/>
                        </a:spcBef>
                        <a:spcAft>
                          <a:spcPts val="0"/>
                        </a:spcAft>
                        <a:buNone/>
                      </a:pPr>
                      <a:r>
                        <a:rPr lang="en"/>
                        <a:t>Expires</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11 Jul 2024 20:00:00</a:t>
                      </a:r>
                      <a:endParaRPr b="1">
                        <a:latin typeface="Courier New"/>
                        <a:ea typeface="Courier New"/>
                        <a:cs typeface="Courier New"/>
                        <a:sym typeface="Courier New"/>
                      </a:endParaRPr>
                    </a:p>
                  </a:txBody>
                  <a:tcPr marT="91425" marB="91425" marR="91425" marL="91425"/>
                </a:tc>
              </a:tr>
              <a:tr h="396200">
                <a:tc gridSpan="2">
                  <a:txBody>
                    <a:bodyPr/>
                    <a:lstStyle/>
                    <a:p>
                      <a:pPr indent="0" lvl="0" marL="0" rtl="0" algn="l">
                        <a:spcBef>
                          <a:spcPts val="0"/>
                        </a:spcBef>
                        <a:spcAft>
                          <a:spcPts val="0"/>
                        </a:spcAft>
                        <a:buNone/>
                      </a:pPr>
                      <a:r>
                        <a:rPr lang="en"/>
                        <a:t>(</a:t>
                      </a:r>
                      <a:r>
                        <a:rPr i="1" lang="en"/>
                        <a:t>other fields omitted</a:t>
                      </a:r>
                      <a:r>
                        <a:rPr lang="en"/>
                        <a:t>)</a:t>
                      </a:r>
                      <a:endParaRPr/>
                    </a:p>
                  </a:txBody>
                  <a:tcPr marT="91425" marB="91425" marR="91425" marL="91425"/>
                </a:tc>
                <a:tc h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Cookie: Domain and Path</a:t>
            </a:r>
            <a:endParaRPr/>
          </a:p>
        </p:txBody>
      </p:sp>
      <p:sp>
        <p:nvSpPr>
          <p:cNvPr id="137" name="Google Shape;137;p25"/>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
            </a:r>
            <a:r>
              <a:rPr b="1" lang="en"/>
              <a:t>domain attribute</a:t>
            </a:r>
            <a:r>
              <a:rPr lang="en"/>
              <a:t> and </a:t>
            </a:r>
            <a:r>
              <a:rPr b="1" lang="en"/>
              <a:t>path attribute</a:t>
            </a:r>
            <a:r>
              <a:rPr lang="en"/>
              <a:t> define which requests the browser should attach this cookie for</a:t>
            </a:r>
            <a:endParaRPr/>
          </a:p>
          <a:p>
            <a:pPr indent="-342900" lvl="0" marL="457200" rtl="0" algn="l">
              <a:spcBef>
                <a:spcPts val="0"/>
              </a:spcBef>
              <a:spcAft>
                <a:spcPts val="0"/>
              </a:spcAft>
              <a:buSzPts val="1800"/>
              <a:buChar char="●"/>
            </a:pPr>
            <a:r>
              <a:rPr lang="en"/>
              <a:t>The domain attribute usually looks like the domain in a URL</a:t>
            </a:r>
            <a:endParaRPr/>
          </a:p>
          <a:p>
            <a:pPr indent="-342900" lvl="0" marL="457200" rtl="0" algn="l">
              <a:spcBef>
                <a:spcPts val="0"/>
              </a:spcBef>
              <a:spcAft>
                <a:spcPts val="0"/>
              </a:spcAft>
              <a:buSzPts val="1800"/>
              <a:buChar char="●"/>
            </a:pPr>
            <a:r>
              <a:rPr lang="en"/>
              <a:t>The path attribute usually looks like a path in a U</a:t>
            </a:r>
            <a:r>
              <a:rPr lang="en"/>
              <a:t>RL</a:t>
            </a:r>
            <a:endParaRPr/>
          </a:p>
          <a:p>
            <a:pPr indent="-317500" lvl="1" marL="914400" rtl="0" algn="l">
              <a:spcBef>
                <a:spcPts val="0"/>
              </a:spcBef>
              <a:spcAft>
                <a:spcPts val="0"/>
              </a:spcAft>
              <a:buSzPts val="1400"/>
              <a:buChar char="○"/>
            </a:pPr>
            <a:r>
              <a:rPr lang="en"/>
              <a:t>Avoid leaking cookies across unrelated parts of the same domain.</a:t>
            </a:r>
            <a:endParaRPr/>
          </a:p>
          <a:p>
            <a:pPr indent="0" lvl="0" marL="914400" rtl="0" algn="l">
              <a:spcBef>
                <a:spcPts val="1200"/>
              </a:spcBef>
              <a:spcAft>
                <a:spcPts val="1200"/>
              </a:spcAft>
              <a:buNone/>
            </a:pPr>
            <a:r>
              <a:t/>
            </a:r>
            <a:endParaRPr/>
          </a:p>
        </p:txBody>
      </p:sp>
      <p:sp>
        <p:nvSpPr>
          <p:cNvPr id="138" name="Google Shape;13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9" name="Google Shape;139;p25"/>
          <p:cNvGraphicFramePr/>
          <p:nvPr/>
        </p:nvGraphicFramePr>
        <p:xfrm>
          <a:off x="5524650" y="1323025"/>
          <a:ext cx="3000000" cy="3000000"/>
        </p:xfrm>
        <a:graphic>
          <a:graphicData uri="http://schemas.openxmlformats.org/drawingml/2006/table">
            <a:tbl>
              <a:tblPr>
                <a:noFill/>
                <a:tableStyleId>{44CF8845-A869-4F73-BFDA-305FE5F4EC43}</a:tableStyleId>
              </a:tblPr>
              <a:tblGrid>
                <a:gridCol w="958575"/>
                <a:gridCol w="2325050"/>
              </a:tblGrid>
              <a:tr h="39620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Theme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Value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Dark</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Domain</a:t>
                      </a:r>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toon.cs161.org</a:t>
                      </a:r>
                      <a:endParaRPr b="1">
                        <a:solidFill>
                          <a:srgbClr val="FF0000"/>
                        </a:solidFill>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Path</a:t>
                      </a:r>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/xorcist</a:t>
                      </a:r>
                      <a:endParaRPr b="1">
                        <a:solidFill>
                          <a:srgbClr val="FF0000"/>
                        </a:solidFill>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Secure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True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HttpOnly</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False</a:t>
                      </a:r>
                      <a:endParaRPr b="1">
                        <a:latin typeface="Courier New"/>
                        <a:ea typeface="Courier New"/>
                        <a:cs typeface="Courier New"/>
                        <a:sym typeface="Courier New"/>
                      </a:endParaRPr>
                    </a:p>
                  </a:txBody>
                  <a:tcPr marT="91425" marB="91425" marR="91425" marL="91425"/>
                </a:tc>
              </a:tr>
              <a:tr h="361400">
                <a:tc>
                  <a:txBody>
                    <a:bodyPr/>
                    <a:lstStyle/>
                    <a:p>
                      <a:pPr indent="0" lvl="0" marL="0" rtl="0" algn="l">
                        <a:spcBef>
                          <a:spcPts val="0"/>
                        </a:spcBef>
                        <a:spcAft>
                          <a:spcPts val="0"/>
                        </a:spcAft>
                        <a:buNone/>
                      </a:pPr>
                      <a:r>
                        <a:rPr lang="en"/>
                        <a:t>Expires</a:t>
                      </a:r>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11 Jul 2024 20:00:00</a:t>
                      </a:r>
                      <a:endParaRPr b="1">
                        <a:latin typeface="Courier New"/>
                        <a:ea typeface="Courier New"/>
                        <a:cs typeface="Courier New"/>
                        <a:sym typeface="Courier New"/>
                      </a:endParaRPr>
                    </a:p>
                  </a:txBody>
                  <a:tcPr marT="91425" marB="91425" marR="91425" marL="91425"/>
                </a:tc>
              </a:tr>
              <a:tr h="396200">
                <a:tc gridSpan="2">
                  <a:txBody>
                    <a:bodyPr/>
                    <a:lstStyle/>
                    <a:p>
                      <a:pPr indent="0" lvl="0" marL="0" rtl="0" algn="l">
                        <a:spcBef>
                          <a:spcPts val="0"/>
                        </a:spcBef>
                        <a:spcAft>
                          <a:spcPts val="0"/>
                        </a:spcAft>
                        <a:buNone/>
                      </a:pPr>
                      <a:r>
                        <a:rPr lang="en"/>
                        <a:t>(</a:t>
                      </a:r>
                      <a:r>
                        <a:rPr i="1" lang="en"/>
                        <a:t>other fields omitted</a:t>
                      </a:r>
                      <a:r>
                        <a:rPr lang="en"/>
                        <a:t>)</a:t>
                      </a:r>
                      <a:endParaRPr/>
                    </a:p>
                  </a:txBody>
                  <a:tcPr marT="91425" marB="91425" marR="91425" marL="91425"/>
                </a:tc>
                <a:tc h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Cookie: Secure and HttpOnly</a:t>
            </a:r>
            <a:endParaRPr/>
          </a:p>
        </p:txBody>
      </p:sp>
      <p:sp>
        <p:nvSpPr>
          <p:cNvPr id="145" name="Google Shape;145;p2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a:t>
            </a:r>
            <a:r>
              <a:rPr lang="en"/>
              <a:t>ecure attribute and HttpOnly attribute restrict the cookie for security purposes</a:t>
            </a:r>
            <a:endParaRPr/>
          </a:p>
          <a:p>
            <a:pPr indent="-342900" lvl="0" marL="457200" rtl="0" algn="l">
              <a:spcBef>
                <a:spcPts val="0"/>
              </a:spcBef>
              <a:spcAft>
                <a:spcPts val="0"/>
              </a:spcAft>
              <a:buSzPts val="1800"/>
              <a:buChar char="●"/>
            </a:pPr>
            <a:r>
              <a:rPr lang="en"/>
              <a:t>If the</a:t>
            </a:r>
            <a:r>
              <a:rPr lang="en"/>
              <a:t> </a:t>
            </a:r>
            <a:r>
              <a:rPr b="1" lang="en"/>
              <a:t>S</a:t>
            </a:r>
            <a:r>
              <a:rPr b="1" lang="en"/>
              <a:t>ecure attribute</a:t>
            </a:r>
            <a:r>
              <a:rPr lang="en"/>
              <a:t> is True, then the browser only sends the cookie if the request is made over HTTPS (and doesn't send the cookie with HTTP requests)</a:t>
            </a:r>
            <a:endParaRPr/>
          </a:p>
          <a:p>
            <a:pPr indent="-342900" lvl="0" marL="457200" rtl="0" algn="l">
              <a:spcBef>
                <a:spcPts val="0"/>
              </a:spcBef>
              <a:spcAft>
                <a:spcPts val="0"/>
              </a:spcAft>
              <a:buSzPts val="1800"/>
              <a:buChar char="●"/>
            </a:pPr>
            <a:r>
              <a:rPr lang="en"/>
              <a:t>If the </a:t>
            </a:r>
            <a:r>
              <a:rPr b="1" lang="en"/>
              <a:t>HttpOnly attribute</a:t>
            </a:r>
            <a:r>
              <a:rPr lang="en"/>
              <a:t> is True, then JavaScript in the browser is not allowed to access the cookie</a:t>
            </a:r>
            <a:endParaRPr u="sng"/>
          </a:p>
        </p:txBody>
      </p:sp>
      <p:sp>
        <p:nvSpPr>
          <p:cNvPr id="146" name="Google Shape;14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7" name="Google Shape;147;p26"/>
          <p:cNvGraphicFramePr/>
          <p:nvPr/>
        </p:nvGraphicFramePr>
        <p:xfrm>
          <a:off x="5524650" y="1323025"/>
          <a:ext cx="3000000" cy="3000000"/>
        </p:xfrm>
        <a:graphic>
          <a:graphicData uri="http://schemas.openxmlformats.org/drawingml/2006/table">
            <a:tbl>
              <a:tblPr>
                <a:noFill/>
                <a:tableStyleId>{44CF8845-A869-4F73-BFDA-305FE5F4EC43}</a:tableStyleId>
              </a:tblPr>
              <a:tblGrid>
                <a:gridCol w="958575"/>
                <a:gridCol w="2325050"/>
              </a:tblGrid>
              <a:tr h="39620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Theme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Value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Dark</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Domain</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toon.cs161.org</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Path</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/xorcist</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solidFill>
                            <a:srgbClr val="FF0000"/>
                          </a:solidFill>
                        </a:rPr>
                        <a:t>Secure</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True</a:t>
                      </a:r>
                      <a:endParaRPr b="1">
                        <a:solidFill>
                          <a:srgbClr val="FF0000"/>
                        </a:solidFill>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solidFill>
                            <a:srgbClr val="FF0000"/>
                          </a:solidFill>
                        </a:rPr>
                        <a:t>HttpOnly</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False</a:t>
                      </a:r>
                      <a:endParaRPr b="1">
                        <a:solidFill>
                          <a:srgbClr val="FF0000"/>
                        </a:solidFill>
                        <a:latin typeface="Courier New"/>
                        <a:ea typeface="Courier New"/>
                        <a:cs typeface="Courier New"/>
                        <a:sym typeface="Courier New"/>
                      </a:endParaRPr>
                    </a:p>
                  </a:txBody>
                  <a:tcPr marT="91425" marB="91425" marR="91425" marL="91425"/>
                </a:tc>
              </a:tr>
              <a:tr h="361400">
                <a:tc>
                  <a:txBody>
                    <a:bodyPr/>
                    <a:lstStyle/>
                    <a:p>
                      <a:pPr indent="0" lvl="0" marL="0" rtl="0" algn="l">
                        <a:spcBef>
                          <a:spcPts val="0"/>
                        </a:spcBef>
                        <a:spcAft>
                          <a:spcPts val="0"/>
                        </a:spcAft>
                        <a:buNone/>
                      </a:pPr>
                      <a:r>
                        <a:rPr lang="en"/>
                        <a:t>Expires</a:t>
                      </a:r>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11 Jul 2024 20:00:00</a:t>
                      </a:r>
                      <a:endParaRPr b="1">
                        <a:latin typeface="Courier New"/>
                        <a:ea typeface="Courier New"/>
                        <a:cs typeface="Courier New"/>
                        <a:sym typeface="Courier New"/>
                      </a:endParaRPr>
                    </a:p>
                  </a:txBody>
                  <a:tcPr marT="91425" marB="91425" marR="91425" marL="91425"/>
                </a:tc>
              </a:tr>
              <a:tr h="396200">
                <a:tc gridSpan="2">
                  <a:txBody>
                    <a:bodyPr/>
                    <a:lstStyle/>
                    <a:p>
                      <a:pPr indent="0" lvl="0" marL="0" rtl="0" algn="l">
                        <a:spcBef>
                          <a:spcPts val="0"/>
                        </a:spcBef>
                        <a:spcAft>
                          <a:spcPts val="0"/>
                        </a:spcAft>
                        <a:buNone/>
                      </a:pPr>
                      <a:r>
                        <a:rPr lang="en"/>
                        <a:t>(</a:t>
                      </a:r>
                      <a:r>
                        <a:rPr i="1" lang="en"/>
                        <a:t>other fields omitted</a:t>
                      </a:r>
                      <a:r>
                        <a:rPr lang="en"/>
                        <a:t>)</a:t>
                      </a:r>
                      <a:endParaRPr/>
                    </a:p>
                  </a:txBody>
                  <a:tcPr marT="91425" marB="91425" marR="91425" marL="91425"/>
                </a:tc>
                <a:tc hMerge="1"/>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Cookie: Expires</a:t>
            </a:r>
            <a:endParaRPr/>
          </a:p>
        </p:txBody>
      </p:sp>
      <p:sp>
        <p:nvSpPr>
          <p:cNvPr id="153" name="Google Shape;153;p2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
            </a:r>
            <a:r>
              <a:rPr b="1" lang="en"/>
              <a:t>E</a:t>
            </a:r>
            <a:r>
              <a:rPr b="1" lang="en"/>
              <a:t>xpires attribute</a:t>
            </a:r>
            <a:r>
              <a:rPr lang="en"/>
              <a:t> defines when the cookie is no longer valid</a:t>
            </a:r>
            <a:endParaRPr/>
          </a:p>
          <a:p>
            <a:pPr indent="-342900" lvl="0" marL="457200" rtl="0" algn="l">
              <a:spcBef>
                <a:spcPts val="0"/>
              </a:spcBef>
              <a:spcAft>
                <a:spcPts val="0"/>
              </a:spcAft>
              <a:buSzPts val="1800"/>
              <a:buChar char="●"/>
            </a:pPr>
            <a:r>
              <a:rPr lang="en"/>
              <a:t>The expires attribute is usually a timestamp</a:t>
            </a:r>
            <a:endParaRPr/>
          </a:p>
          <a:p>
            <a:pPr indent="-342900" lvl="0" marL="457200" rtl="0" algn="l">
              <a:spcBef>
                <a:spcPts val="0"/>
              </a:spcBef>
              <a:spcAft>
                <a:spcPts val="0"/>
              </a:spcAft>
              <a:buSzPts val="1800"/>
              <a:buChar char="●"/>
            </a:pPr>
            <a:r>
              <a:rPr lang="en"/>
              <a:t>If the timestamp is in the past, then the cookie has expired, and the browser deletes it from the cookie jar</a:t>
            </a:r>
            <a:endParaRPr/>
          </a:p>
        </p:txBody>
      </p:sp>
      <p:sp>
        <p:nvSpPr>
          <p:cNvPr id="154" name="Google Shape;15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55" name="Google Shape;155;p27"/>
          <p:cNvGraphicFramePr/>
          <p:nvPr/>
        </p:nvGraphicFramePr>
        <p:xfrm>
          <a:off x="5524650" y="1323025"/>
          <a:ext cx="3000000" cy="3000000"/>
        </p:xfrm>
        <a:graphic>
          <a:graphicData uri="http://schemas.openxmlformats.org/drawingml/2006/table">
            <a:tbl>
              <a:tblPr>
                <a:noFill/>
                <a:tableStyleId>{44CF8845-A869-4F73-BFDA-305FE5F4EC43}</a:tableStyleId>
              </a:tblPr>
              <a:tblGrid>
                <a:gridCol w="958575"/>
                <a:gridCol w="2325050"/>
              </a:tblGrid>
              <a:tr h="39620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Theme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Value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Dark</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Domain</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toon.cs161.org</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Path</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/xorcist</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Secure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True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HttpOnly</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False</a:t>
                      </a:r>
                      <a:endParaRPr b="1">
                        <a:latin typeface="Courier New"/>
                        <a:ea typeface="Courier New"/>
                        <a:cs typeface="Courier New"/>
                        <a:sym typeface="Courier New"/>
                      </a:endParaRPr>
                    </a:p>
                  </a:txBody>
                  <a:tcPr marT="91425" marB="91425" marR="91425" marL="91425"/>
                </a:tc>
              </a:tr>
              <a:tr h="361400">
                <a:tc>
                  <a:txBody>
                    <a:bodyPr/>
                    <a:lstStyle/>
                    <a:p>
                      <a:pPr indent="0" lvl="0" marL="0" rtl="0" algn="l">
                        <a:spcBef>
                          <a:spcPts val="0"/>
                        </a:spcBef>
                        <a:spcAft>
                          <a:spcPts val="0"/>
                        </a:spcAft>
                        <a:buNone/>
                      </a:pPr>
                      <a:r>
                        <a:rPr lang="en">
                          <a:solidFill>
                            <a:srgbClr val="FF0000"/>
                          </a:solidFill>
                        </a:rPr>
                        <a:t>Expires</a:t>
                      </a:r>
                      <a:endParaRPr>
                        <a:solidFill>
                          <a:srgbClr val="FF0000"/>
                        </a:solidFill>
                      </a:endParaRPr>
                    </a:p>
                  </a:txBody>
                  <a:tcPr marT="91425" marB="91425" marR="91425" marL="91425"/>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11 Jul 2024 20:00:00</a:t>
                      </a:r>
                      <a:endParaRPr b="1">
                        <a:solidFill>
                          <a:srgbClr val="FF0000"/>
                        </a:solidFill>
                        <a:latin typeface="Courier New"/>
                        <a:ea typeface="Courier New"/>
                        <a:cs typeface="Courier New"/>
                        <a:sym typeface="Courier New"/>
                      </a:endParaRPr>
                    </a:p>
                  </a:txBody>
                  <a:tcPr marT="91425" marB="91425" marR="91425" marL="91425"/>
                </a:tc>
              </a:tr>
              <a:tr h="396200">
                <a:tc gridSpan="2">
                  <a:txBody>
                    <a:bodyPr/>
                    <a:lstStyle/>
                    <a:p>
                      <a:pPr indent="0" lvl="0" marL="0" rtl="0" algn="l">
                        <a:spcBef>
                          <a:spcPts val="0"/>
                        </a:spcBef>
                        <a:spcAft>
                          <a:spcPts val="0"/>
                        </a:spcAft>
                        <a:buNone/>
                      </a:pPr>
                      <a:r>
                        <a:rPr lang="en"/>
                        <a:t>(</a:t>
                      </a:r>
                      <a:r>
                        <a:rPr i="1" lang="en"/>
                        <a:t>other fields omitted</a:t>
                      </a:r>
                      <a:r>
                        <a:rPr lang="en"/>
                        <a:t>)</a:t>
                      </a:r>
                      <a:endParaRPr/>
                    </a:p>
                  </a:txBody>
                  <a:tcPr marT="91425" marB="91425" marR="91425" marL="91425"/>
                </a:tc>
                <a:tc hMerge="1"/>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Cookie Policy</a:t>
            </a:r>
            <a:endParaRPr/>
          </a:p>
        </p:txBody>
      </p:sp>
      <p:sp>
        <p:nvSpPr>
          <p:cNvPr id="161" name="Google Shape;16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 Issues</a:t>
            </a:r>
            <a:endParaRPr/>
          </a:p>
        </p:txBody>
      </p:sp>
      <p:sp>
        <p:nvSpPr>
          <p:cNvPr id="167" name="Google Shape;167;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a:t>
            </a:r>
            <a:endParaRPr/>
          </a:p>
          <a:p>
            <a:pPr indent="-317500" lvl="1" marL="914400" rtl="0" algn="l">
              <a:spcBef>
                <a:spcPts val="0"/>
              </a:spcBef>
              <a:spcAft>
                <a:spcPts val="0"/>
              </a:spcAft>
              <a:buSzPts val="1400"/>
              <a:buChar char="○"/>
            </a:pPr>
            <a:r>
              <a:rPr lang="en"/>
              <a:t>The server can create a cookie by including a </a:t>
            </a:r>
            <a:r>
              <a:rPr b="1" lang="en">
                <a:latin typeface="Courier New"/>
                <a:ea typeface="Courier New"/>
                <a:cs typeface="Courier New"/>
                <a:sym typeface="Courier New"/>
              </a:rPr>
              <a:t>Set-Cookie</a:t>
            </a:r>
            <a:r>
              <a:rPr lang="en"/>
              <a:t> header in its response</a:t>
            </a:r>
            <a:endParaRPr/>
          </a:p>
          <a:p>
            <a:pPr indent="-317500" lvl="1" marL="914400" rtl="0" algn="l">
              <a:spcBef>
                <a:spcPts val="0"/>
              </a:spcBef>
              <a:spcAft>
                <a:spcPts val="0"/>
              </a:spcAft>
              <a:buSzPts val="1400"/>
              <a:buChar char="○"/>
            </a:pPr>
            <a:r>
              <a:rPr lang="en"/>
              <a:t>The browser automatically attaches relevant cookies in every request</a:t>
            </a:r>
            <a:endParaRPr/>
          </a:p>
          <a:p>
            <a:pPr indent="-342900" lvl="0" marL="457200" rtl="0" algn="l">
              <a:spcBef>
                <a:spcPts val="0"/>
              </a:spcBef>
              <a:spcAft>
                <a:spcPts val="0"/>
              </a:spcAft>
              <a:buSzPts val="1800"/>
              <a:buChar char="●"/>
            </a:pPr>
            <a:r>
              <a:rPr lang="en"/>
              <a:t>Security issues:</a:t>
            </a:r>
            <a:endParaRPr/>
          </a:p>
          <a:p>
            <a:pPr indent="-317500" lvl="1" marL="914400" rtl="0" algn="l">
              <a:spcBef>
                <a:spcPts val="0"/>
              </a:spcBef>
              <a:spcAft>
                <a:spcPts val="0"/>
              </a:spcAft>
              <a:buSzPts val="1400"/>
              <a:buChar char="○"/>
            </a:pPr>
            <a:r>
              <a:rPr lang="en"/>
              <a:t>A server should not be able to set cookies for unrelated websites</a:t>
            </a:r>
            <a:endParaRPr/>
          </a:p>
          <a:p>
            <a:pPr indent="-317500" lvl="2" marL="1371600" rtl="0" algn="l">
              <a:spcBef>
                <a:spcPts val="0"/>
              </a:spcBef>
              <a:spcAft>
                <a:spcPts val="0"/>
              </a:spcAft>
              <a:buSzPts val="1400"/>
              <a:buChar char="■"/>
            </a:pPr>
            <a:r>
              <a:rPr lang="en"/>
              <a:t>Example: </a:t>
            </a:r>
            <a:r>
              <a:rPr b="1" lang="en">
                <a:latin typeface="Courier New"/>
                <a:ea typeface="Courier New"/>
                <a:cs typeface="Courier New"/>
                <a:sym typeface="Courier New"/>
              </a:rPr>
              <a:t>evil.com</a:t>
            </a:r>
            <a:r>
              <a:rPr lang="en"/>
              <a:t> should not be able to set a cookie that gets sent to </a:t>
            </a:r>
            <a:r>
              <a:rPr b="1" lang="en">
                <a:latin typeface="Courier New"/>
                <a:ea typeface="Courier New"/>
                <a:cs typeface="Courier New"/>
                <a:sym typeface="Courier New"/>
              </a:rPr>
              <a:t>google.com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Cookies shouldn’t be sent to the wrong websites</a:t>
            </a:r>
            <a:endParaRPr/>
          </a:p>
          <a:p>
            <a:pPr indent="-317500" lvl="2" marL="1371600" rtl="0" algn="l">
              <a:spcBef>
                <a:spcPts val="0"/>
              </a:spcBef>
              <a:spcAft>
                <a:spcPts val="0"/>
              </a:spcAft>
              <a:buSzPts val="1400"/>
              <a:buChar char="■"/>
            </a:pPr>
            <a:r>
              <a:rPr lang="en"/>
              <a:t>Example: A cookie used for authenticating a user to Google should not be sent to </a:t>
            </a:r>
            <a:r>
              <a:rPr b="1" lang="en">
                <a:latin typeface="Courier New"/>
                <a:ea typeface="Courier New"/>
                <a:cs typeface="Courier New"/>
                <a:sym typeface="Courier New"/>
              </a:rPr>
              <a:t>evil.com</a:t>
            </a:r>
            <a:endParaRPr/>
          </a:p>
          <a:p>
            <a:pPr indent="-317500" lvl="2" marL="1371600" rtl="0" algn="l">
              <a:spcBef>
                <a:spcPts val="0"/>
              </a:spcBef>
              <a:spcAft>
                <a:spcPts val="0"/>
              </a:spcAft>
              <a:buSzPts val="1400"/>
              <a:buChar char="■"/>
            </a:pPr>
            <a:r>
              <a:rPr lang="en"/>
              <a:t>We’ll see how cookies are used for logins later</a:t>
            </a:r>
            <a:endParaRPr/>
          </a:p>
        </p:txBody>
      </p:sp>
      <p:sp>
        <p:nvSpPr>
          <p:cNvPr id="168" name="Google Shape;16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a:t>
            </a:r>
            <a:endParaRPr/>
          </a:p>
        </p:txBody>
      </p:sp>
      <p:sp>
        <p:nvSpPr>
          <p:cNvPr id="174" name="Google Shape;174;p3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Cookie policy</a:t>
            </a:r>
            <a:r>
              <a:rPr lang="en"/>
              <a:t>: A set of rules enforced by the browser</a:t>
            </a:r>
            <a:endParaRPr/>
          </a:p>
          <a:p>
            <a:pPr indent="-317500" lvl="1" marL="914400" rtl="0" algn="l">
              <a:spcBef>
                <a:spcPts val="0"/>
              </a:spcBef>
              <a:spcAft>
                <a:spcPts val="0"/>
              </a:spcAft>
              <a:buSzPts val="1400"/>
              <a:buChar char="○"/>
            </a:pPr>
            <a:r>
              <a:rPr lang="en"/>
              <a:t>When the browser receives a cookie from a server, should the cookie be accepted?</a:t>
            </a:r>
            <a:endParaRPr/>
          </a:p>
          <a:p>
            <a:pPr indent="-317500" lvl="1" marL="914400" rtl="0" algn="l">
              <a:spcBef>
                <a:spcPts val="0"/>
              </a:spcBef>
              <a:spcAft>
                <a:spcPts val="0"/>
              </a:spcAft>
              <a:buSzPts val="1400"/>
              <a:buChar char="○"/>
            </a:pPr>
            <a:r>
              <a:rPr lang="en"/>
              <a:t>When the browser makes a request to a server, should the cookie be attached?</a:t>
            </a:r>
            <a:endParaRPr/>
          </a:p>
          <a:p>
            <a:pPr indent="-342900" lvl="0" marL="457200" rtl="0" algn="l">
              <a:spcBef>
                <a:spcPts val="0"/>
              </a:spcBef>
              <a:spcAft>
                <a:spcPts val="0"/>
              </a:spcAft>
              <a:buSzPts val="1800"/>
              <a:buChar char="●"/>
            </a:pPr>
            <a:r>
              <a:rPr lang="en"/>
              <a:t>Cookie policy is (confusingly) different from the same-origin policy</a:t>
            </a:r>
            <a:endParaRPr/>
          </a:p>
        </p:txBody>
      </p:sp>
      <p:sp>
        <p:nvSpPr>
          <p:cNvPr id="175" name="Google Shape;17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Domain Hierarchy</a:t>
            </a:r>
            <a:endParaRPr/>
          </a:p>
        </p:txBody>
      </p:sp>
      <p:sp>
        <p:nvSpPr>
          <p:cNvPr id="181" name="Google Shape;181;p31"/>
          <p:cNvSpPr txBox="1"/>
          <p:nvPr>
            <p:ph idx="1" type="body"/>
          </p:nvPr>
        </p:nvSpPr>
        <p:spPr>
          <a:xfrm>
            <a:off x="198500" y="1246825"/>
            <a:ext cx="8520600" cy="159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Domains</a:t>
            </a:r>
            <a:endParaRPr/>
          </a:p>
          <a:p>
            <a:pPr indent="-317500" lvl="1" marL="914400" rtl="0" algn="l">
              <a:spcBef>
                <a:spcPts val="0"/>
              </a:spcBef>
              <a:spcAft>
                <a:spcPts val="0"/>
              </a:spcAft>
              <a:buSzPts val="1400"/>
              <a:buChar char="○"/>
            </a:pPr>
            <a:r>
              <a:rPr lang="en"/>
              <a:t>Located after the double slashes, but before the next single slash</a:t>
            </a:r>
            <a:endParaRPr/>
          </a:p>
          <a:p>
            <a:pPr indent="-317500" lvl="1" marL="914400" rtl="0" algn="l">
              <a:spcBef>
                <a:spcPts val="0"/>
              </a:spcBef>
              <a:spcAft>
                <a:spcPts val="0"/>
              </a:spcAft>
              <a:buSzPts val="1400"/>
              <a:buChar char="○"/>
            </a:pPr>
            <a:r>
              <a:rPr lang="en"/>
              <a:t>Written as several phrases separated by dots</a:t>
            </a:r>
            <a:endParaRPr/>
          </a:p>
          <a:p>
            <a:pPr indent="-342900" lvl="0" marL="457200" rtl="0" algn="l">
              <a:spcBef>
                <a:spcPts val="0"/>
              </a:spcBef>
              <a:spcAft>
                <a:spcPts val="0"/>
              </a:spcAft>
              <a:buSzPts val="1800"/>
              <a:buChar char="●"/>
            </a:pPr>
            <a:r>
              <a:rPr lang="en"/>
              <a:t>Domains can be sorted into a hierarchy</a:t>
            </a:r>
            <a:endParaRPr/>
          </a:p>
          <a:p>
            <a:pPr indent="-317500" lvl="1" marL="914400" rtl="0" algn="l">
              <a:spcBef>
                <a:spcPts val="0"/>
              </a:spcBef>
              <a:spcAft>
                <a:spcPts val="0"/>
              </a:spcAft>
              <a:buSzPts val="1400"/>
              <a:buChar char="○"/>
            </a:pPr>
            <a:r>
              <a:rPr lang="en"/>
              <a:t>The hierarchy is separated by dots</a:t>
            </a:r>
            <a:endParaRPr/>
          </a:p>
        </p:txBody>
      </p:sp>
      <p:sp>
        <p:nvSpPr>
          <p:cNvPr id="182" name="Google Shape;18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83" name="Google Shape;183;p31"/>
          <p:cNvGrpSpPr/>
          <p:nvPr/>
        </p:nvGrpSpPr>
        <p:grpSpPr>
          <a:xfrm>
            <a:off x="370800" y="2881825"/>
            <a:ext cx="6073725" cy="2082050"/>
            <a:chOff x="370800" y="2881825"/>
            <a:chExt cx="6073725" cy="2082050"/>
          </a:xfrm>
        </p:grpSpPr>
        <p:sp>
          <p:nvSpPr>
            <p:cNvPr id="184" name="Google Shape;184;p31"/>
            <p:cNvSpPr txBox="1"/>
            <p:nvPr/>
          </p:nvSpPr>
          <p:spPr>
            <a:xfrm>
              <a:off x="2703200" y="2881825"/>
              <a:ext cx="12381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85" name="Google Shape;185;p31"/>
            <p:cNvSpPr txBox="1"/>
            <p:nvPr/>
          </p:nvSpPr>
          <p:spPr>
            <a:xfrm>
              <a:off x="135767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86" name="Google Shape;186;p31"/>
            <p:cNvSpPr txBox="1"/>
            <p:nvPr/>
          </p:nvSpPr>
          <p:spPr>
            <a:xfrm>
              <a:off x="342242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87" name="Google Shape;187;p31"/>
            <p:cNvSpPr txBox="1"/>
            <p:nvPr/>
          </p:nvSpPr>
          <p:spPr>
            <a:xfrm>
              <a:off x="461842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88" name="Google Shape;188;p31"/>
            <p:cNvSpPr txBox="1"/>
            <p:nvPr/>
          </p:nvSpPr>
          <p:spPr>
            <a:xfrm>
              <a:off x="5286825"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189" name="Google Shape;189;p31"/>
            <p:cNvSpPr txBox="1"/>
            <p:nvPr/>
          </p:nvSpPr>
          <p:spPr>
            <a:xfrm>
              <a:off x="3989200"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edstem.org</a:t>
              </a:r>
              <a:endParaRPr sz="1200">
                <a:latin typeface="Calibri"/>
                <a:ea typeface="Calibri"/>
                <a:cs typeface="Calibri"/>
                <a:sym typeface="Calibri"/>
              </a:endParaRPr>
            </a:p>
          </p:txBody>
        </p:sp>
        <p:sp>
          <p:nvSpPr>
            <p:cNvPr id="190" name="Google Shape;190;p31"/>
            <p:cNvSpPr txBox="1"/>
            <p:nvPr/>
          </p:nvSpPr>
          <p:spPr>
            <a:xfrm>
              <a:off x="2805775" y="457027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191" name="Google Shape;191;p31"/>
            <p:cNvSpPr txBox="1"/>
            <p:nvPr/>
          </p:nvSpPr>
          <p:spPr>
            <a:xfrm>
              <a:off x="1807150" y="457027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192" name="Google Shape;192;p31"/>
            <p:cNvSpPr txBox="1"/>
            <p:nvPr/>
          </p:nvSpPr>
          <p:spPr>
            <a:xfrm>
              <a:off x="370800" y="457027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93" name="Google Shape;193;p31"/>
            <p:cNvCxnSpPr>
              <a:stCxn id="184" idx="2"/>
              <a:endCxn id="185" idx="0"/>
            </p:cNvCxnSpPr>
            <p:nvPr/>
          </p:nvCxnSpPr>
          <p:spPr>
            <a:xfrm flipH="1">
              <a:off x="16917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94" name="Google Shape;194;p31"/>
            <p:cNvCxnSpPr>
              <a:stCxn id="184" idx="2"/>
              <a:endCxn id="186" idx="0"/>
            </p:cNvCxnSpPr>
            <p:nvPr/>
          </p:nvCxnSpPr>
          <p:spPr>
            <a:xfrm>
              <a:off x="3322250" y="3275425"/>
              <a:ext cx="434400" cy="534000"/>
            </a:xfrm>
            <a:prstGeom prst="straightConnector1">
              <a:avLst/>
            </a:prstGeom>
            <a:noFill/>
            <a:ln cap="flat" cmpd="sng" w="9525">
              <a:solidFill>
                <a:srgbClr val="000000"/>
              </a:solidFill>
              <a:prstDash val="solid"/>
              <a:round/>
              <a:headEnd len="med" w="med" type="none"/>
              <a:tailEnd len="med" w="med" type="none"/>
            </a:ln>
          </p:spPr>
        </p:cxnSp>
        <p:cxnSp>
          <p:nvCxnSpPr>
            <p:cNvPr id="195" name="Google Shape;195;p31"/>
            <p:cNvCxnSpPr>
              <a:stCxn id="184" idx="2"/>
              <a:endCxn id="187" idx="0"/>
            </p:cNvCxnSpPr>
            <p:nvPr/>
          </p:nvCxnSpPr>
          <p:spPr>
            <a:xfrm>
              <a:off x="33222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96" name="Google Shape;196;p31"/>
            <p:cNvCxnSpPr>
              <a:stCxn id="185" idx="2"/>
              <a:endCxn id="192" idx="0"/>
            </p:cNvCxnSpPr>
            <p:nvPr/>
          </p:nvCxnSpPr>
          <p:spPr>
            <a:xfrm flipH="1">
              <a:off x="1018975" y="4203002"/>
              <a:ext cx="672900" cy="367200"/>
            </a:xfrm>
            <a:prstGeom prst="straightConnector1">
              <a:avLst/>
            </a:prstGeom>
            <a:noFill/>
            <a:ln cap="flat" cmpd="sng" w="9525">
              <a:solidFill>
                <a:srgbClr val="000000"/>
              </a:solidFill>
              <a:prstDash val="solid"/>
              <a:round/>
              <a:headEnd len="med" w="med" type="none"/>
              <a:tailEnd len="med" w="med" type="none"/>
            </a:ln>
          </p:spPr>
        </p:cxnSp>
        <p:cxnSp>
          <p:nvCxnSpPr>
            <p:cNvPr id="197" name="Google Shape;197;p31"/>
            <p:cNvCxnSpPr>
              <a:stCxn id="185" idx="2"/>
              <a:endCxn id="191" idx="0"/>
            </p:cNvCxnSpPr>
            <p:nvPr/>
          </p:nvCxnSpPr>
          <p:spPr>
            <a:xfrm>
              <a:off x="1691875" y="4203002"/>
              <a:ext cx="544500" cy="367200"/>
            </a:xfrm>
            <a:prstGeom prst="straightConnector1">
              <a:avLst/>
            </a:prstGeom>
            <a:noFill/>
            <a:ln cap="flat" cmpd="sng" w="9525">
              <a:solidFill>
                <a:srgbClr val="000000"/>
              </a:solidFill>
              <a:prstDash val="solid"/>
              <a:round/>
              <a:headEnd len="med" w="med" type="none"/>
              <a:tailEnd len="med" w="med" type="none"/>
            </a:ln>
          </p:spPr>
        </p:cxnSp>
        <p:cxnSp>
          <p:nvCxnSpPr>
            <p:cNvPr id="198" name="Google Shape;198;p31"/>
            <p:cNvCxnSpPr>
              <a:stCxn id="186" idx="2"/>
              <a:endCxn id="190" idx="0"/>
            </p:cNvCxnSpPr>
            <p:nvPr/>
          </p:nvCxnSpPr>
          <p:spPr>
            <a:xfrm flipH="1">
              <a:off x="3327625" y="4203002"/>
              <a:ext cx="429000" cy="367200"/>
            </a:xfrm>
            <a:prstGeom prst="straightConnector1">
              <a:avLst/>
            </a:prstGeom>
            <a:noFill/>
            <a:ln cap="flat" cmpd="sng" w="9525">
              <a:solidFill>
                <a:srgbClr val="000000"/>
              </a:solidFill>
              <a:prstDash val="solid"/>
              <a:round/>
              <a:headEnd len="med" w="med" type="none"/>
              <a:tailEnd len="med" w="med" type="none"/>
            </a:ln>
          </p:spPr>
        </p:cxnSp>
        <p:cxnSp>
          <p:nvCxnSpPr>
            <p:cNvPr id="199" name="Google Shape;199;p31"/>
            <p:cNvCxnSpPr>
              <a:stCxn id="186" idx="2"/>
              <a:endCxn id="189" idx="0"/>
            </p:cNvCxnSpPr>
            <p:nvPr/>
          </p:nvCxnSpPr>
          <p:spPr>
            <a:xfrm>
              <a:off x="3756625" y="4203002"/>
              <a:ext cx="811500" cy="367200"/>
            </a:xfrm>
            <a:prstGeom prst="straightConnector1">
              <a:avLst/>
            </a:prstGeom>
            <a:noFill/>
            <a:ln cap="flat" cmpd="sng" w="9525">
              <a:solidFill>
                <a:srgbClr val="000000"/>
              </a:solidFill>
              <a:prstDash val="solid"/>
              <a:round/>
              <a:headEnd len="med" w="med" type="none"/>
              <a:tailEnd len="med" w="med" type="none"/>
            </a:ln>
          </p:spPr>
        </p:cxnSp>
        <p:cxnSp>
          <p:nvCxnSpPr>
            <p:cNvPr id="200" name="Google Shape;200;p31"/>
            <p:cNvCxnSpPr>
              <a:stCxn id="187" idx="2"/>
              <a:endCxn id="188" idx="0"/>
            </p:cNvCxnSpPr>
            <p:nvPr/>
          </p:nvCxnSpPr>
          <p:spPr>
            <a:xfrm>
              <a:off x="4952625" y="4203002"/>
              <a:ext cx="913200" cy="3672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Domain Hierarchy</a:t>
            </a:r>
            <a:endParaRPr/>
          </a:p>
        </p:txBody>
      </p:sp>
      <p:sp>
        <p:nvSpPr>
          <p:cNvPr id="206" name="Google Shape;20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2"/>
          <p:cNvSpPr txBox="1"/>
          <p:nvPr/>
        </p:nvSpPr>
        <p:spPr>
          <a:xfrm>
            <a:off x="926398" y="1566250"/>
            <a:ext cx="1573500" cy="418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urier New"/>
                <a:ea typeface="Courier New"/>
                <a:cs typeface="Courier New"/>
                <a:sym typeface="Courier New"/>
              </a:rPr>
              <a:t>. (root)</a:t>
            </a:r>
            <a:endParaRPr sz="1800">
              <a:latin typeface="Courier New"/>
              <a:ea typeface="Courier New"/>
              <a:cs typeface="Courier New"/>
              <a:sym typeface="Courier New"/>
            </a:endParaRPr>
          </a:p>
        </p:txBody>
      </p:sp>
      <p:sp>
        <p:nvSpPr>
          <p:cNvPr id="208" name="Google Shape;208;p32"/>
          <p:cNvSpPr txBox="1"/>
          <p:nvPr/>
        </p:nvSpPr>
        <p:spPr>
          <a:xfrm>
            <a:off x="1288409" y="2399392"/>
            <a:ext cx="849600" cy="41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Courier New"/>
                <a:ea typeface="Courier New"/>
                <a:cs typeface="Courier New"/>
                <a:sym typeface="Courier New"/>
              </a:rPr>
              <a:t>.edu</a:t>
            </a:r>
            <a:endParaRPr sz="1800">
              <a:latin typeface="Calibri"/>
              <a:ea typeface="Calibri"/>
              <a:cs typeface="Calibri"/>
              <a:sym typeface="Calibri"/>
            </a:endParaRPr>
          </a:p>
        </p:txBody>
      </p:sp>
      <p:sp>
        <p:nvSpPr>
          <p:cNvPr id="209" name="Google Shape;209;p32"/>
          <p:cNvSpPr txBox="1"/>
          <p:nvPr/>
        </p:nvSpPr>
        <p:spPr>
          <a:xfrm>
            <a:off x="759361" y="3232550"/>
            <a:ext cx="1907400" cy="41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Courier New"/>
                <a:ea typeface="Courier New"/>
                <a:cs typeface="Courier New"/>
                <a:sym typeface="Courier New"/>
              </a:rPr>
              <a:t>berkeley.edu</a:t>
            </a:r>
            <a:endParaRPr sz="1800">
              <a:latin typeface="Calibri"/>
              <a:ea typeface="Calibri"/>
              <a:cs typeface="Calibri"/>
              <a:sym typeface="Calibri"/>
            </a:endParaRPr>
          </a:p>
        </p:txBody>
      </p:sp>
      <p:cxnSp>
        <p:nvCxnSpPr>
          <p:cNvPr id="210" name="Google Shape;210;p32"/>
          <p:cNvCxnSpPr>
            <a:stCxn id="207" idx="2"/>
            <a:endCxn id="208" idx="0"/>
          </p:cNvCxnSpPr>
          <p:nvPr/>
        </p:nvCxnSpPr>
        <p:spPr>
          <a:xfrm>
            <a:off x="1713148" y="1984450"/>
            <a:ext cx="0" cy="414900"/>
          </a:xfrm>
          <a:prstGeom prst="straightConnector1">
            <a:avLst/>
          </a:prstGeom>
          <a:noFill/>
          <a:ln cap="flat" cmpd="sng" w="9525">
            <a:solidFill>
              <a:srgbClr val="000000"/>
            </a:solidFill>
            <a:prstDash val="solid"/>
            <a:round/>
            <a:headEnd len="med" w="med" type="none"/>
            <a:tailEnd len="med" w="med" type="none"/>
          </a:ln>
        </p:spPr>
      </p:cxnSp>
      <p:cxnSp>
        <p:nvCxnSpPr>
          <p:cNvPr id="211" name="Google Shape;211;p32"/>
          <p:cNvCxnSpPr>
            <a:stCxn id="208" idx="2"/>
            <a:endCxn id="209" idx="0"/>
          </p:cNvCxnSpPr>
          <p:nvPr/>
        </p:nvCxnSpPr>
        <p:spPr>
          <a:xfrm>
            <a:off x="1713209" y="2817592"/>
            <a:ext cx="0" cy="414900"/>
          </a:xfrm>
          <a:prstGeom prst="straightConnector1">
            <a:avLst/>
          </a:prstGeom>
          <a:noFill/>
          <a:ln cap="flat" cmpd="sng" w="9525">
            <a:solidFill>
              <a:srgbClr val="000000"/>
            </a:solidFill>
            <a:prstDash val="solid"/>
            <a:round/>
            <a:headEnd len="med" w="med" type="none"/>
            <a:tailEnd len="med" w="med" type="none"/>
          </a:ln>
        </p:spPr>
      </p:cxnSp>
      <p:sp>
        <p:nvSpPr>
          <p:cNvPr id="212" name="Google Shape;212;p32"/>
          <p:cNvSpPr txBox="1"/>
          <p:nvPr/>
        </p:nvSpPr>
        <p:spPr>
          <a:xfrm>
            <a:off x="406850" y="4065699"/>
            <a:ext cx="2612700" cy="41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Courier New"/>
                <a:ea typeface="Courier New"/>
                <a:cs typeface="Courier New"/>
                <a:sym typeface="Courier New"/>
              </a:rPr>
              <a:t>eecs.berkeley.edu</a:t>
            </a:r>
            <a:endParaRPr sz="1800">
              <a:latin typeface="Calibri"/>
              <a:ea typeface="Calibri"/>
              <a:cs typeface="Calibri"/>
              <a:sym typeface="Calibri"/>
            </a:endParaRPr>
          </a:p>
        </p:txBody>
      </p:sp>
      <p:cxnSp>
        <p:nvCxnSpPr>
          <p:cNvPr id="213" name="Google Shape;213;p32"/>
          <p:cNvCxnSpPr>
            <a:stCxn id="209" idx="2"/>
            <a:endCxn id="212" idx="0"/>
          </p:cNvCxnSpPr>
          <p:nvPr/>
        </p:nvCxnSpPr>
        <p:spPr>
          <a:xfrm>
            <a:off x="1713061" y="3650750"/>
            <a:ext cx="0" cy="414900"/>
          </a:xfrm>
          <a:prstGeom prst="straightConnector1">
            <a:avLst/>
          </a:prstGeom>
          <a:noFill/>
          <a:ln cap="flat" cmpd="sng" w="9525">
            <a:solidFill>
              <a:srgbClr val="000000"/>
            </a:solidFill>
            <a:prstDash val="solid"/>
            <a:round/>
            <a:headEnd len="med" w="med" type="none"/>
            <a:tailEnd len="med" w="med" type="none"/>
          </a:ln>
        </p:spPr>
      </p:cxnSp>
      <p:sp>
        <p:nvSpPr>
          <p:cNvPr id="214" name="Google Shape;214;p32"/>
          <p:cNvSpPr txBox="1"/>
          <p:nvPr/>
        </p:nvSpPr>
        <p:spPr>
          <a:xfrm>
            <a:off x="3623375" y="3519650"/>
            <a:ext cx="33315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Courier New"/>
                <a:ea typeface="Courier New"/>
                <a:cs typeface="Courier New"/>
                <a:sym typeface="Courier New"/>
              </a:rPr>
              <a:t>eecs.berkeley.edu</a:t>
            </a:r>
            <a:r>
              <a:rPr lang="en" sz="1600"/>
              <a:t> is a </a:t>
            </a:r>
            <a:r>
              <a:rPr b="1" lang="en" sz="1600"/>
              <a:t>subdomain</a:t>
            </a:r>
            <a:r>
              <a:rPr lang="en" sz="1600"/>
              <a:t> of </a:t>
            </a:r>
            <a:r>
              <a:rPr lang="en" sz="1600">
                <a:latin typeface="Courier New"/>
                <a:ea typeface="Courier New"/>
                <a:cs typeface="Courier New"/>
                <a:sym typeface="Courier New"/>
              </a:rPr>
              <a:t>berkeley.edu</a:t>
            </a:r>
            <a:r>
              <a:rPr lang="en" sz="1600"/>
              <a:t>.</a:t>
            </a:r>
            <a:endParaRPr sz="1600">
              <a:solidFill>
                <a:srgbClr val="000000"/>
              </a:solidFill>
            </a:endParaRPr>
          </a:p>
        </p:txBody>
      </p:sp>
      <p:sp>
        <p:nvSpPr>
          <p:cNvPr id="215" name="Google Shape;215;p32"/>
          <p:cNvSpPr txBox="1"/>
          <p:nvPr/>
        </p:nvSpPr>
        <p:spPr>
          <a:xfrm>
            <a:off x="3623375" y="2110050"/>
            <a:ext cx="3331500" cy="9234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Courier New"/>
                <a:ea typeface="Courier New"/>
                <a:cs typeface="Courier New"/>
                <a:sym typeface="Courier New"/>
              </a:rPr>
              <a:t>.edu</a:t>
            </a:r>
            <a:r>
              <a:rPr lang="en" sz="1600"/>
              <a:t> is a </a:t>
            </a:r>
            <a:r>
              <a:rPr b="1" lang="en" sz="1600"/>
              <a:t>top-level domain</a:t>
            </a:r>
            <a:r>
              <a:rPr lang="en" sz="1600"/>
              <a:t> (TLD), because it is directly below the root of the tree.</a:t>
            </a:r>
            <a:endParaRPr sz="16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idx="1" type="body"/>
          </p:nvPr>
        </p:nvSpPr>
        <p:spPr>
          <a:xfrm>
            <a:off x="198500" y="1246825"/>
            <a:ext cx="85206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When the browser receives a cookie from a server, should the cookie be accepted?</a:t>
            </a:r>
            <a:endParaRPr/>
          </a:p>
          <a:p>
            <a:pPr indent="-342900" lvl="0" marL="457200" rtl="0" algn="l">
              <a:spcBef>
                <a:spcPts val="0"/>
              </a:spcBef>
              <a:spcAft>
                <a:spcPts val="0"/>
              </a:spcAft>
              <a:buSzPts val="1800"/>
              <a:buChar char="●"/>
            </a:pPr>
            <a:r>
              <a:rPr lang="en"/>
              <a:t>Server with </a:t>
            </a:r>
            <a:r>
              <a:rPr lang="en">
                <a:solidFill>
                  <a:srgbClr val="0000FF"/>
                </a:solidFill>
              </a:rPr>
              <a:t>domain X</a:t>
            </a:r>
            <a:r>
              <a:rPr lang="en"/>
              <a:t> can set a cookie whose </a:t>
            </a:r>
            <a:r>
              <a:rPr lang="en">
                <a:solidFill>
                  <a:srgbClr val="FF0000"/>
                </a:solidFill>
              </a:rPr>
              <a:t>domain attribute is Y</a:t>
            </a:r>
            <a:r>
              <a:rPr lang="en"/>
              <a:t> if</a:t>
            </a:r>
            <a:endParaRPr/>
          </a:p>
          <a:p>
            <a:pPr indent="-317500" lvl="1" marL="914400" rtl="0" algn="l">
              <a:spcBef>
                <a:spcPts val="0"/>
              </a:spcBef>
              <a:spcAft>
                <a:spcPts val="0"/>
              </a:spcAft>
              <a:buSzPts val="1400"/>
              <a:buChar char="○"/>
            </a:pPr>
            <a:r>
              <a:rPr lang="en"/>
              <a:t>(1) The </a:t>
            </a:r>
            <a:r>
              <a:rPr lang="en">
                <a:solidFill>
                  <a:srgbClr val="FF0000"/>
                </a:solidFill>
              </a:rPr>
              <a:t>domain attribute</a:t>
            </a:r>
            <a:r>
              <a:rPr lang="en"/>
              <a:t> is a </a:t>
            </a:r>
            <a:r>
              <a:rPr b="1" lang="en"/>
              <a:t>domain suffix</a:t>
            </a:r>
            <a:r>
              <a:rPr lang="en"/>
              <a:t> of the </a:t>
            </a:r>
            <a:r>
              <a:rPr lang="en">
                <a:solidFill>
                  <a:srgbClr val="0000FF"/>
                </a:solidFill>
              </a:rPr>
              <a:t>server’s domain</a:t>
            </a:r>
            <a:endParaRPr>
              <a:solidFill>
                <a:srgbClr val="0000FF"/>
              </a:solidFill>
            </a:endParaRPr>
          </a:p>
          <a:p>
            <a:pPr indent="-317500" lvl="2" marL="1371600" rtl="0" algn="l">
              <a:spcBef>
                <a:spcPts val="0"/>
              </a:spcBef>
              <a:spcAft>
                <a:spcPts val="0"/>
              </a:spcAft>
              <a:buSzPts val="1400"/>
              <a:buChar char="■"/>
            </a:pPr>
            <a:r>
              <a:rPr lang="en">
                <a:solidFill>
                  <a:srgbClr val="0000FF"/>
                </a:solidFill>
              </a:rPr>
              <a:t>X</a:t>
            </a:r>
            <a:r>
              <a:rPr lang="en"/>
              <a:t> ends in </a:t>
            </a:r>
            <a:r>
              <a:rPr lang="en">
                <a:solidFill>
                  <a:srgbClr val="FF0000"/>
                </a:solidFill>
              </a:rPr>
              <a:t>Y</a:t>
            </a:r>
            <a:endParaRPr/>
          </a:p>
          <a:p>
            <a:pPr indent="-317500" lvl="2" marL="1371600" rtl="0" algn="l">
              <a:spcBef>
                <a:spcPts val="0"/>
              </a:spcBef>
              <a:spcAft>
                <a:spcPts val="0"/>
              </a:spcAft>
              <a:buSzPts val="1400"/>
              <a:buChar char="■"/>
            </a:pPr>
            <a:r>
              <a:rPr lang="en">
                <a:solidFill>
                  <a:srgbClr val="0000FF"/>
                </a:solidFill>
              </a:rPr>
              <a:t>X</a:t>
            </a:r>
            <a:r>
              <a:rPr lang="en"/>
              <a:t> is below or equal to </a:t>
            </a:r>
            <a:r>
              <a:rPr lang="en">
                <a:solidFill>
                  <a:srgbClr val="FF0000"/>
                </a:solidFill>
              </a:rPr>
              <a:t>Y</a:t>
            </a:r>
            <a:r>
              <a:rPr lang="en"/>
              <a:t> on the hierarchy</a:t>
            </a:r>
            <a:endParaRPr/>
          </a:p>
          <a:p>
            <a:pPr indent="-317500" lvl="2" marL="1371600" rtl="0" algn="l">
              <a:spcBef>
                <a:spcPts val="0"/>
              </a:spcBef>
              <a:spcAft>
                <a:spcPts val="0"/>
              </a:spcAft>
              <a:buSzPts val="1400"/>
              <a:buChar char="■"/>
            </a:pPr>
            <a:r>
              <a:rPr lang="en">
                <a:solidFill>
                  <a:srgbClr val="0000FF"/>
                </a:solidFill>
              </a:rPr>
              <a:t>X</a:t>
            </a:r>
            <a:r>
              <a:rPr lang="en"/>
              <a:t> is more specific or equal to </a:t>
            </a:r>
            <a:r>
              <a:rPr lang="en">
                <a:solidFill>
                  <a:srgbClr val="FF0000"/>
                </a:solidFill>
              </a:rPr>
              <a:t>Y</a:t>
            </a:r>
            <a:endParaRPr/>
          </a:p>
          <a:p>
            <a:pPr indent="-317500" lvl="1" marL="914400" rtl="0" algn="l">
              <a:spcBef>
                <a:spcPts val="0"/>
              </a:spcBef>
              <a:spcAft>
                <a:spcPts val="0"/>
              </a:spcAft>
              <a:buSzPts val="1400"/>
              <a:buChar char="○"/>
            </a:pPr>
            <a:r>
              <a:rPr lang="en"/>
              <a:t>... and, (2) the </a:t>
            </a:r>
            <a:r>
              <a:rPr lang="en">
                <a:solidFill>
                  <a:srgbClr val="FF0000"/>
                </a:solidFill>
              </a:rPr>
              <a:t>domain attribute </a:t>
            </a:r>
            <a:r>
              <a:rPr lang="en">
                <a:solidFill>
                  <a:srgbClr val="FF0000"/>
                </a:solidFill>
              </a:rPr>
              <a:t>Y</a:t>
            </a:r>
            <a:r>
              <a:rPr lang="en"/>
              <a:t> is not a top-level domain (TLD)</a:t>
            </a:r>
            <a:endParaRPr/>
          </a:p>
          <a:p>
            <a:pPr indent="-317500" lvl="1" marL="914400" rtl="0" algn="l">
              <a:spcBef>
                <a:spcPts val="0"/>
              </a:spcBef>
              <a:spcAft>
                <a:spcPts val="0"/>
              </a:spcAft>
              <a:buSzPts val="1400"/>
              <a:buChar char="○"/>
            </a:pPr>
            <a:r>
              <a:rPr lang="en"/>
              <a:t>No restrictions for the Path attribute (the browser will accept any value)</a:t>
            </a:r>
            <a:endParaRPr/>
          </a:p>
          <a:p>
            <a:pPr indent="-342900" lvl="0" marL="457200" rtl="0" algn="l">
              <a:spcBef>
                <a:spcPts val="0"/>
              </a:spcBef>
              <a:spcAft>
                <a:spcPts val="0"/>
              </a:spcAft>
              <a:buSzPts val="1800"/>
              <a:buChar char="●"/>
            </a:pPr>
            <a:r>
              <a:rPr lang="en"/>
              <a:t>Examples:</a:t>
            </a:r>
            <a:endParaRPr/>
          </a:p>
          <a:p>
            <a:pPr indent="-317500" lvl="1" marL="914400" rtl="0" algn="l">
              <a:spcBef>
                <a:spcPts val="0"/>
              </a:spcBef>
              <a:spcAft>
                <a:spcPts val="0"/>
              </a:spcAft>
              <a:buSzPts val="1400"/>
              <a:buChar char="○"/>
            </a:pPr>
            <a:r>
              <a:rPr lang="en">
                <a:solidFill>
                  <a:srgbClr val="0000FF"/>
                </a:solidFill>
              </a:rPr>
              <a:t>mail.</a:t>
            </a:r>
            <a:r>
              <a:rPr b="1" lang="en">
                <a:solidFill>
                  <a:srgbClr val="0000FF"/>
                </a:solidFill>
              </a:rPr>
              <a:t>google.com</a:t>
            </a:r>
            <a:r>
              <a:rPr lang="en"/>
              <a:t> can set cookies for </a:t>
            </a:r>
            <a:r>
              <a:rPr lang="en"/>
              <a:t>Domain=</a:t>
            </a:r>
            <a:r>
              <a:rPr lang="en">
                <a:solidFill>
                  <a:srgbClr val="FF0000"/>
                </a:solidFill>
              </a:rPr>
              <a:t>mail.google.com </a:t>
            </a:r>
            <a:r>
              <a:rPr lang="en"/>
              <a:t>or Domain=</a:t>
            </a:r>
            <a:r>
              <a:rPr lang="en">
                <a:solidFill>
                  <a:srgbClr val="FF0000"/>
                </a:solidFill>
              </a:rPr>
              <a:t>google.com</a:t>
            </a:r>
            <a:endParaRPr>
              <a:solidFill>
                <a:srgbClr val="FF0000"/>
              </a:solidFill>
            </a:endParaRPr>
          </a:p>
          <a:p>
            <a:pPr indent="-317500" lvl="1" marL="914400" rtl="0" algn="l">
              <a:spcBef>
                <a:spcPts val="0"/>
              </a:spcBef>
              <a:spcAft>
                <a:spcPts val="0"/>
              </a:spcAft>
              <a:buSzPts val="1400"/>
              <a:buChar char="○"/>
            </a:pPr>
            <a:r>
              <a:rPr b="1" lang="en">
                <a:solidFill>
                  <a:srgbClr val="0000FF"/>
                </a:solidFill>
              </a:rPr>
              <a:t>google.com</a:t>
            </a:r>
            <a:r>
              <a:rPr lang="en"/>
              <a:t> can set cookies for Domain=</a:t>
            </a:r>
            <a:r>
              <a:rPr lang="en">
                <a:solidFill>
                  <a:srgbClr val="FF0000"/>
                </a:solidFill>
              </a:rPr>
              <a:t>google.com</a:t>
            </a:r>
            <a:endParaRPr>
              <a:solidFill>
                <a:srgbClr val="FF0000"/>
              </a:solidFill>
            </a:endParaRPr>
          </a:p>
          <a:p>
            <a:pPr indent="-317500" lvl="1" marL="914400" rtl="0" algn="l">
              <a:spcBef>
                <a:spcPts val="0"/>
              </a:spcBef>
              <a:spcAft>
                <a:spcPts val="0"/>
              </a:spcAft>
              <a:buSzPts val="1400"/>
              <a:buChar char="○"/>
            </a:pPr>
            <a:r>
              <a:rPr lang="en">
                <a:solidFill>
                  <a:srgbClr val="0000FF"/>
                </a:solidFill>
              </a:rPr>
              <a:t>google.</a:t>
            </a:r>
            <a:r>
              <a:rPr b="1" lang="en">
                <a:solidFill>
                  <a:srgbClr val="0000FF"/>
                </a:solidFill>
              </a:rPr>
              <a:t>com</a:t>
            </a:r>
            <a:r>
              <a:rPr lang="en"/>
              <a:t> </a:t>
            </a:r>
            <a:r>
              <a:rPr b="1" lang="en"/>
              <a:t>cannot</a:t>
            </a:r>
            <a:r>
              <a:rPr lang="en"/>
              <a:t> set cookies for Domain=</a:t>
            </a:r>
            <a:r>
              <a:rPr lang="en">
                <a:solidFill>
                  <a:srgbClr val="FF0000"/>
                </a:solidFill>
              </a:rPr>
              <a:t>com</a:t>
            </a:r>
            <a:r>
              <a:rPr lang="en"/>
              <a:t>, because com is a top-level domain</a:t>
            </a:r>
            <a:endParaRPr/>
          </a:p>
        </p:txBody>
      </p:sp>
      <p:sp>
        <p:nvSpPr>
          <p:cNvPr id="221" name="Google Shape;221;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Setting Cookies</a:t>
            </a:r>
            <a:endParaRPr/>
          </a:p>
        </p:txBody>
      </p:sp>
      <p:sp>
        <p:nvSpPr>
          <p:cNvPr id="222" name="Google Shape;22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28" name="Google Shape;228;p34"/>
          <p:cNvSpPr txBox="1"/>
          <p:nvPr>
            <p:ph idx="1" type="body"/>
          </p:nvPr>
        </p:nvSpPr>
        <p:spPr>
          <a:xfrm>
            <a:off x="198500" y="1246825"/>
            <a:ext cx="8520600" cy="264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When the browser makes a request to a server, should the cookie be attached?</a:t>
            </a:r>
            <a:endParaRPr/>
          </a:p>
          <a:p>
            <a:pPr indent="-342900" lvl="0" marL="457200" rtl="0" algn="l">
              <a:spcBef>
                <a:spcPts val="0"/>
              </a:spcBef>
              <a:spcAft>
                <a:spcPts val="0"/>
              </a:spcAft>
              <a:buSzPts val="1800"/>
              <a:buChar char="●"/>
            </a:pPr>
            <a:r>
              <a:rPr lang="en"/>
              <a:t>The browser sends the cookie </a:t>
            </a:r>
            <a:r>
              <a:rPr lang="en"/>
              <a:t>if both of these are true:</a:t>
            </a:r>
            <a:endParaRPr/>
          </a:p>
          <a:p>
            <a:pPr indent="-317500" lvl="1" marL="914400" rtl="0" algn="l">
              <a:spcBef>
                <a:spcPts val="0"/>
              </a:spcBef>
              <a:spcAft>
                <a:spcPts val="0"/>
              </a:spcAft>
              <a:buSzPts val="1400"/>
              <a:buChar char="○"/>
            </a:pPr>
            <a:r>
              <a:rPr lang="en"/>
              <a:t>The </a:t>
            </a:r>
            <a:r>
              <a:rPr lang="en">
                <a:solidFill>
                  <a:srgbClr val="FF0000"/>
                </a:solidFill>
              </a:rPr>
              <a:t>domain attribute</a:t>
            </a:r>
            <a:r>
              <a:rPr lang="en"/>
              <a:t> is a </a:t>
            </a:r>
            <a:r>
              <a:rPr b="1" lang="en"/>
              <a:t>domain suffix</a:t>
            </a:r>
            <a:r>
              <a:rPr lang="en"/>
              <a:t> of the </a:t>
            </a:r>
            <a:r>
              <a:rPr lang="en">
                <a:solidFill>
                  <a:srgbClr val="0000FF"/>
                </a:solidFill>
              </a:rPr>
              <a:t>server’s domain</a:t>
            </a:r>
            <a:endParaRPr/>
          </a:p>
          <a:p>
            <a:pPr indent="-317500" lvl="1" marL="914400" rtl="0" algn="l">
              <a:spcBef>
                <a:spcPts val="0"/>
              </a:spcBef>
              <a:spcAft>
                <a:spcPts val="0"/>
              </a:spcAft>
              <a:buSzPts val="1400"/>
              <a:buChar char="○"/>
            </a:pPr>
            <a:r>
              <a:rPr lang="en"/>
              <a:t>The </a:t>
            </a:r>
            <a:r>
              <a:rPr lang="en">
                <a:solidFill>
                  <a:srgbClr val="FF0000"/>
                </a:solidFill>
              </a:rPr>
              <a:t>path attribute</a:t>
            </a:r>
            <a:r>
              <a:rPr lang="en"/>
              <a:t> is a </a:t>
            </a:r>
            <a:r>
              <a:rPr b="1" lang="en"/>
              <a:t>prefix</a:t>
            </a:r>
            <a:r>
              <a:rPr lang="en"/>
              <a:t> of the </a:t>
            </a:r>
            <a:r>
              <a:rPr lang="en">
                <a:solidFill>
                  <a:srgbClr val="0000FF"/>
                </a:solidFill>
              </a:rPr>
              <a:t>server’s path</a:t>
            </a:r>
            <a:endParaRPr/>
          </a:p>
        </p:txBody>
      </p:sp>
      <p:sp>
        <p:nvSpPr>
          <p:cNvPr id="229" name="Google Shape;22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Intuition: Domain attributes</a:t>
            </a:r>
            <a:endParaRPr/>
          </a:p>
        </p:txBody>
      </p:sp>
      <p:sp>
        <p:nvSpPr>
          <p:cNvPr id="235" name="Google Shape;235;p35"/>
          <p:cNvSpPr txBox="1"/>
          <p:nvPr>
            <p:ph idx="1" type="body"/>
          </p:nvPr>
        </p:nvSpPr>
        <p:spPr>
          <a:xfrm>
            <a:off x="198500" y="1246825"/>
            <a:ext cx="8520600" cy="264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the domain attribute is set to </a:t>
            </a:r>
            <a:r>
              <a:rPr b="1" lang="en" sz="1400">
                <a:latin typeface="Courier New"/>
                <a:ea typeface="Courier New"/>
                <a:cs typeface="Courier New"/>
                <a:sym typeface="Courier New"/>
              </a:rPr>
              <a:t>google.com</a:t>
            </a:r>
            <a:r>
              <a:rPr lang="en"/>
              <a:t>, think of this as representing</a:t>
            </a:r>
            <a:br>
              <a:rPr lang="en"/>
            </a:br>
            <a:r>
              <a:rPr b="1" lang="en" sz="1400">
                <a:latin typeface="Courier New"/>
                <a:ea typeface="Courier New"/>
                <a:cs typeface="Courier New"/>
                <a:sym typeface="Courier New"/>
              </a:rPr>
              <a:t>google.com</a:t>
            </a:r>
            <a:r>
              <a:rPr lang="en"/>
              <a:t> or </a:t>
            </a:r>
            <a:r>
              <a:rPr b="1" lang="en" sz="1400">
                <a:latin typeface="Courier New"/>
                <a:ea typeface="Courier New"/>
                <a:cs typeface="Courier New"/>
                <a:sym typeface="Courier New"/>
              </a:rPr>
              <a:t>*.google.com</a:t>
            </a:r>
            <a:r>
              <a:rPr lang="en"/>
              <a:t> or </a:t>
            </a:r>
            <a:r>
              <a:rPr b="1" lang="en" sz="1400">
                <a:latin typeface="Courier New"/>
                <a:ea typeface="Courier New"/>
                <a:cs typeface="Courier New"/>
                <a:sym typeface="Courier New"/>
              </a:rPr>
              <a:t>*.*.google.com</a:t>
            </a:r>
            <a:r>
              <a:rPr lang="en"/>
              <a:t> or ...</a:t>
            </a:r>
            <a:endParaRPr/>
          </a:p>
          <a:p>
            <a:pPr indent="-342900" lvl="0" marL="457200" rtl="0" algn="l">
              <a:spcBef>
                <a:spcPts val="0"/>
              </a:spcBef>
              <a:spcAft>
                <a:spcPts val="0"/>
              </a:spcAft>
              <a:buSzPts val="1800"/>
              <a:buChar char="●"/>
            </a:pPr>
            <a:r>
              <a:rPr lang="en"/>
              <a:t>A server can only set a cookie if the server matches the cookie's domain attribute</a:t>
            </a:r>
            <a:endParaRPr/>
          </a:p>
          <a:p>
            <a:pPr indent="-342900" lvl="0" marL="457200" rtl="0" algn="l">
              <a:spcBef>
                <a:spcPts val="0"/>
              </a:spcBef>
              <a:spcAft>
                <a:spcPts val="0"/>
              </a:spcAft>
              <a:buSzPts val="1800"/>
              <a:buChar char="●"/>
            </a:pPr>
            <a:r>
              <a:rPr lang="en"/>
              <a:t>A cookie is only sent to a server if the server matches the domain attribute</a:t>
            </a:r>
            <a:endParaRPr/>
          </a:p>
        </p:txBody>
      </p:sp>
      <p:sp>
        <p:nvSpPr>
          <p:cNvPr id="236" name="Google Shape;23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42" name="Google Shape;24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6"/>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nsolas"/>
                <a:ea typeface="Consolas"/>
                <a:cs typeface="Consolas"/>
                <a:sym typeface="Consolas"/>
              </a:rPr>
              <a:t>https://</a:t>
            </a:r>
            <a:r>
              <a:rPr lang="en" sz="2000">
                <a:solidFill>
                  <a:srgbClr val="0000FF"/>
                </a:solidFill>
                <a:latin typeface="Consolas"/>
                <a:ea typeface="Consolas"/>
                <a:cs typeface="Consolas"/>
                <a:sym typeface="Consolas"/>
              </a:rPr>
              <a:t>toon.cs161.org</a:t>
            </a:r>
            <a:r>
              <a:rPr lang="en" sz="2000">
                <a:solidFill>
                  <a:schemeClr val="dk1"/>
                </a:solidFill>
                <a:latin typeface="Consolas"/>
                <a:ea typeface="Consolas"/>
                <a:cs typeface="Consolas"/>
                <a:sym typeface="Consolas"/>
              </a:rPr>
              <a:t>/cryptoverse/oneshots/subway.html</a:t>
            </a:r>
            <a:endParaRPr sz="2000">
              <a:solidFill>
                <a:schemeClr val="dk1"/>
              </a:solidFill>
              <a:latin typeface="Consolas"/>
              <a:ea typeface="Consolas"/>
              <a:cs typeface="Consolas"/>
              <a:sym typeface="Consolas"/>
            </a:endParaRPr>
          </a:p>
          <a:p>
            <a:pPr indent="0" lvl="0" marL="0" rtl="0" algn="l">
              <a:spcBef>
                <a:spcPts val="0"/>
              </a:spcBef>
              <a:spcAft>
                <a:spcPts val="0"/>
              </a:spcAft>
              <a:buNone/>
            </a:pPr>
            <a:r>
              <a:t/>
            </a:r>
            <a:endParaRPr sz="900">
              <a:solidFill>
                <a:srgbClr val="000000"/>
              </a:solidFill>
              <a:latin typeface="Consolas"/>
              <a:ea typeface="Consolas"/>
              <a:cs typeface="Consolas"/>
              <a:sym typeface="Consolas"/>
            </a:endParaRPr>
          </a:p>
          <a:p>
            <a:pPr indent="0" lvl="0" marL="0" rtl="0" algn="l">
              <a:spcBef>
                <a:spcPts val="0"/>
              </a:spcBef>
              <a:spcAft>
                <a:spcPts val="0"/>
              </a:spcAft>
              <a:buNone/>
            </a:pPr>
            <a:r>
              <a:rPr lang="en" sz="2000">
                <a:solidFill>
                  <a:srgbClr val="CC0000"/>
                </a:solidFill>
                <a:latin typeface="Consolas"/>
                <a:ea typeface="Consolas"/>
                <a:cs typeface="Consolas"/>
                <a:sym typeface="Consolas"/>
              </a:rPr>
              <a:t> </a:t>
            </a:r>
            <a:r>
              <a:rPr lang="en" sz="2000">
                <a:solidFill>
                  <a:srgbClr val="CC0000"/>
                </a:solidFill>
                <a:latin typeface="Consolas"/>
                <a:ea typeface="Consolas"/>
                <a:cs typeface="Consolas"/>
                <a:sym typeface="Consolas"/>
              </a:rPr>
              <a:t>            </a:t>
            </a:r>
            <a:r>
              <a:rPr lang="en" sz="2000">
                <a:solidFill>
                  <a:srgbClr val="FF0000"/>
                </a:solidFill>
                <a:latin typeface="Consolas"/>
                <a:ea typeface="Consolas"/>
                <a:cs typeface="Consolas"/>
                <a:sym typeface="Consolas"/>
              </a:rPr>
              <a:t>cs161.org</a:t>
            </a:r>
            <a:r>
              <a:rPr lang="en" sz="2000">
                <a:solidFill>
                  <a:schemeClr val="dk1"/>
                </a:solidFill>
                <a:latin typeface="Consolas"/>
                <a:ea typeface="Consolas"/>
                <a:cs typeface="Consolas"/>
                <a:sym typeface="Consolas"/>
              </a:rPr>
              <a:t>/cryptoverse</a:t>
            </a:r>
            <a:endParaRPr sz="2000">
              <a:solidFill>
                <a:schemeClr val="dk1"/>
              </a:solidFill>
            </a:endParaRPr>
          </a:p>
        </p:txBody>
      </p:sp>
      <p:sp>
        <p:nvSpPr>
          <p:cNvPr id="244" name="Google Shape;244;p36"/>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(cookie domain)</a:t>
            </a:r>
            <a:endParaRPr>
              <a:solidFill>
                <a:srgbClr val="FF0000"/>
              </a:solidFill>
            </a:endParaRPr>
          </a:p>
        </p:txBody>
      </p:sp>
      <p:sp>
        <p:nvSpPr>
          <p:cNvPr id="245" name="Google Shape;245;p36"/>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(cookie path)</a:t>
            </a:r>
            <a:endParaRPr>
              <a:solidFill>
                <a:schemeClr val="dk1"/>
              </a:solidFill>
            </a:endParaRPr>
          </a:p>
        </p:txBody>
      </p:sp>
      <p:sp>
        <p:nvSpPr>
          <p:cNvPr id="246" name="Google Shape;246;p36"/>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rPr>
              <a:t>(server URL)</a:t>
            </a:r>
            <a:endParaRPr>
              <a:solidFill>
                <a:srgbClr val="0000FF"/>
              </a:solidFill>
            </a:endParaRPr>
          </a:p>
        </p:txBody>
      </p:sp>
      <p:sp>
        <p:nvSpPr>
          <p:cNvPr id="247" name="Google Shape;247;p36"/>
          <p:cNvSpPr txBox="1"/>
          <p:nvPr/>
        </p:nvSpPr>
        <p:spPr>
          <a:xfrm>
            <a:off x="484500" y="2870350"/>
            <a:ext cx="4087500" cy="1169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Quick method to check cookie sending:</a:t>
            </a:r>
            <a:endParaRPr sz="1600"/>
          </a:p>
          <a:p>
            <a:pPr indent="-330200" lvl="0" marL="457200" rtl="0" algn="ctr">
              <a:spcBef>
                <a:spcPts val="0"/>
              </a:spcBef>
              <a:spcAft>
                <a:spcPts val="0"/>
              </a:spcAft>
              <a:buSzPts val="1600"/>
              <a:buChar char="-"/>
            </a:pPr>
            <a:r>
              <a:rPr lang="en" sz="1600"/>
              <a:t>Right-align the domains. The cookie domain should be a suffix of the server URL.</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53" name="Google Shape;25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7"/>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nsolas"/>
                <a:ea typeface="Consolas"/>
                <a:cs typeface="Consolas"/>
                <a:sym typeface="Consolas"/>
              </a:rPr>
              <a:t>https://toon.cs161.org</a:t>
            </a:r>
            <a:r>
              <a:rPr lang="en" sz="2000">
                <a:solidFill>
                  <a:srgbClr val="0000FF"/>
                </a:solidFill>
                <a:latin typeface="Consolas"/>
                <a:ea typeface="Consolas"/>
                <a:cs typeface="Consolas"/>
                <a:sym typeface="Consolas"/>
              </a:rPr>
              <a:t>/cryptoverse/oneshots/subway.html</a:t>
            </a:r>
            <a:endParaRPr sz="2000">
              <a:solidFill>
                <a:srgbClr val="0000FF"/>
              </a:solidFill>
              <a:latin typeface="Consolas"/>
              <a:ea typeface="Consolas"/>
              <a:cs typeface="Consolas"/>
              <a:sym typeface="Consolas"/>
            </a:endParaRPr>
          </a:p>
          <a:p>
            <a:pPr indent="0" lvl="0" marL="0" rtl="0" algn="l">
              <a:spcBef>
                <a:spcPts val="0"/>
              </a:spcBef>
              <a:spcAft>
                <a:spcPts val="0"/>
              </a:spcAft>
              <a:buNone/>
            </a:pPr>
            <a:r>
              <a:t/>
            </a:r>
            <a:endParaRPr sz="900">
              <a:solidFill>
                <a:srgbClr val="000000"/>
              </a:solidFill>
              <a:latin typeface="Consolas"/>
              <a:ea typeface="Consolas"/>
              <a:cs typeface="Consolas"/>
              <a:sym typeface="Consolas"/>
            </a:endParaRPr>
          </a:p>
          <a:p>
            <a:pPr indent="0" lvl="0" marL="0" rtl="0" algn="l">
              <a:spcBef>
                <a:spcPts val="0"/>
              </a:spcBef>
              <a:spcAft>
                <a:spcPts val="0"/>
              </a:spcAft>
              <a:buNone/>
            </a:pPr>
            <a:r>
              <a:rPr lang="en" sz="2000">
                <a:solidFill>
                  <a:schemeClr val="dk1"/>
                </a:solidFill>
                <a:latin typeface="Consolas"/>
                <a:ea typeface="Consolas"/>
                <a:cs typeface="Consolas"/>
                <a:sym typeface="Consolas"/>
              </a:rPr>
              <a:t>             cs161.org</a:t>
            </a:r>
            <a:r>
              <a:rPr lang="en" sz="2000">
                <a:solidFill>
                  <a:srgbClr val="FF0000"/>
                </a:solidFill>
                <a:latin typeface="Consolas"/>
                <a:ea typeface="Consolas"/>
                <a:cs typeface="Consolas"/>
                <a:sym typeface="Consolas"/>
              </a:rPr>
              <a:t>/cryptoverse</a:t>
            </a:r>
            <a:endParaRPr sz="2000">
              <a:solidFill>
                <a:srgbClr val="FF0000"/>
              </a:solidFill>
            </a:endParaRPr>
          </a:p>
        </p:txBody>
      </p:sp>
      <p:sp>
        <p:nvSpPr>
          <p:cNvPr id="255" name="Google Shape;255;p37"/>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(cookie domain)</a:t>
            </a:r>
            <a:endParaRPr>
              <a:solidFill>
                <a:schemeClr val="dk1"/>
              </a:solidFill>
            </a:endParaRPr>
          </a:p>
        </p:txBody>
      </p:sp>
      <p:sp>
        <p:nvSpPr>
          <p:cNvPr id="256" name="Google Shape;256;p37"/>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00"/>
                </a:solidFill>
              </a:rPr>
              <a:t>(cookie path)</a:t>
            </a:r>
            <a:endParaRPr>
              <a:solidFill>
                <a:srgbClr val="FF0000"/>
              </a:solidFill>
            </a:endParaRPr>
          </a:p>
        </p:txBody>
      </p:sp>
      <p:sp>
        <p:nvSpPr>
          <p:cNvPr id="257" name="Google Shape;257;p37"/>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rPr>
              <a:t>(server URL)</a:t>
            </a:r>
            <a:endParaRPr>
              <a:solidFill>
                <a:srgbClr val="0000FF"/>
              </a:solidFill>
            </a:endParaRPr>
          </a:p>
        </p:txBody>
      </p:sp>
      <p:sp>
        <p:nvSpPr>
          <p:cNvPr id="258" name="Google Shape;258;p37"/>
          <p:cNvSpPr txBox="1"/>
          <p:nvPr/>
        </p:nvSpPr>
        <p:spPr>
          <a:xfrm>
            <a:off x="484500" y="2870350"/>
            <a:ext cx="4087500" cy="1908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rPr>
              <a:t>Quick method to check cookie sending:</a:t>
            </a:r>
            <a:endParaRPr sz="1600">
              <a:solidFill>
                <a:schemeClr val="dk1"/>
              </a:solidFill>
            </a:endParaRPr>
          </a:p>
          <a:p>
            <a:pPr indent="-330200" lvl="0" marL="457200" rtl="0" algn="ctr">
              <a:spcBef>
                <a:spcPts val="0"/>
              </a:spcBef>
              <a:spcAft>
                <a:spcPts val="0"/>
              </a:spcAft>
              <a:buClr>
                <a:schemeClr val="dk1"/>
              </a:buClr>
              <a:buSzPts val="1600"/>
              <a:buChar char="-"/>
            </a:pPr>
            <a:r>
              <a:rPr lang="en" sz="1600">
                <a:solidFill>
                  <a:schemeClr val="dk1"/>
                </a:solidFill>
              </a:rPr>
              <a:t>Right-align the domains. The cookie domain should be a suffix of the server URL.</a:t>
            </a:r>
            <a:endParaRPr sz="1600">
              <a:solidFill>
                <a:schemeClr val="dk1"/>
              </a:solidFill>
            </a:endParaRPr>
          </a:p>
          <a:p>
            <a:pPr indent="-330200" lvl="0" marL="457200" rtl="0" algn="ctr">
              <a:spcBef>
                <a:spcPts val="0"/>
              </a:spcBef>
              <a:spcAft>
                <a:spcPts val="0"/>
              </a:spcAft>
              <a:buClr>
                <a:schemeClr val="dk1"/>
              </a:buClr>
              <a:buSzPts val="1600"/>
              <a:buChar char="-"/>
            </a:pPr>
            <a:r>
              <a:rPr lang="en" sz="1600"/>
              <a:t>Left-align the paths. The cookie domain should be a prefix of the server path.</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64" name="Google Shape;26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8"/>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nsolas"/>
                <a:ea typeface="Consolas"/>
                <a:cs typeface="Consolas"/>
                <a:sym typeface="Consolas"/>
              </a:rPr>
              <a:t>https://toon.cs161.org/cryptoverse/oneshots/subway.html</a:t>
            </a:r>
            <a:endParaRPr sz="2000">
              <a:solidFill>
                <a:schemeClr val="dk1"/>
              </a:solidFill>
              <a:latin typeface="Consolas"/>
              <a:ea typeface="Consolas"/>
              <a:cs typeface="Consolas"/>
              <a:sym typeface="Consolas"/>
            </a:endParaRPr>
          </a:p>
          <a:p>
            <a:pPr indent="0" lvl="0" marL="0" rtl="0" algn="l">
              <a:spcBef>
                <a:spcPts val="0"/>
              </a:spcBef>
              <a:spcAft>
                <a:spcPts val="0"/>
              </a:spcAft>
              <a:buNone/>
            </a:pPr>
            <a:r>
              <a:t/>
            </a:r>
            <a:endParaRPr sz="900">
              <a:solidFill>
                <a:schemeClr val="dk1"/>
              </a:solidFill>
              <a:latin typeface="Consolas"/>
              <a:ea typeface="Consolas"/>
              <a:cs typeface="Consolas"/>
              <a:sym typeface="Consolas"/>
            </a:endParaRPr>
          </a:p>
          <a:p>
            <a:pPr indent="0" lvl="0" marL="0" rtl="0" algn="l">
              <a:spcBef>
                <a:spcPts val="0"/>
              </a:spcBef>
              <a:spcAft>
                <a:spcPts val="0"/>
              </a:spcAft>
              <a:buNone/>
            </a:pPr>
            <a:r>
              <a:rPr lang="en" sz="2000">
                <a:solidFill>
                  <a:schemeClr val="dk1"/>
                </a:solidFill>
                <a:latin typeface="Consolas"/>
                <a:ea typeface="Consolas"/>
                <a:cs typeface="Consolas"/>
                <a:sym typeface="Consolas"/>
              </a:rPr>
              <a:t>             </a:t>
            </a:r>
            <a:r>
              <a:rPr lang="en" sz="2000">
                <a:solidFill>
                  <a:srgbClr val="FF0000"/>
                </a:solidFill>
                <a:latin typeface="Consolas"/>
                <a:ea typeface="Consolas"/>
                <a:cs typeface="Consolas"/>
                <a:sym typeface="Consolas"/>
              </a:rPr>
              <a:t>cs161.org</a:t>
            </a:r>
            <a:r>
              <a:rPr lang="en" sz="2000">
                <a:solidFill>
                  <a:srgbClr val="0000FF"/>
                </a:solidFill>
                <a:latin typeface="Consolas"/>
                <a:ea typeface="Consolas"/>
                <a:cs typeface="Consolas"/>
                <a:sym typeface="Consolas"/>
              </a:rPr>
              <a:t>/cryptoverse</a:t>
            </a:r>
            <a:endParaRPr sz="2000">
              <a:solidFill>
                <a:srgbClr val="0000FF"/>
              </a:solidFill>
            </a:endParaRPr>
          </a:p>
        </p:txBody>
      </p:sp>
      <p:sp>
        <p:nvSpPr>
          <p:cNvPr id="266" name="Google Shape;266;p38"/>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(cookie domain)</a:t>
            </a:r>
            <a:endParaRPr>
              <a:solidFill>
                <a:srgbClr val="FF0000"/>
              </a:solidFill>
            </a:endParaRPr>
          </a:p>
        </p:txBody>
      </p:sp>
      <p:sp>
        <p:nvSpPr>
          <p:cNvPr id="267" name="Google Shape;267;p38"/>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rPr>
              <a:t>(cookie path)</a:t>
            </a:r>
            <a:endParaRPr>
              <a:solidFill>
                <a:srgbClr val="0000FF"/>
              </a:solidFill>
            </a:endParaRPr>
          </a:p>
        </p:txBody>
      </p:sp>
      <p:sp>
        <p:nvSpPr>
          <p:cNvPr id="268" name="Google Shape;268;p38"/>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(server URL)</a:t>
            </a:r>
            <a:endParaRPr>
              <a:solidFill>
                <a:schemeClr val="dk1"/>
              </a:solidFill>
            </a:endParaRPr>
          </a:p>
        </p:txBody>
      </p:sp>
      <p:sp>
        <p:nvSpPr>
          <p:cNvPr id="269" name="Google Shape;269;p38"/>
          <p:cNvSpPr txBox="1"/>
          <p:nvPr/>
        </p:nvSpPr>
        <p:spPr>
          <a:xfrm>
            <a:off x="484500" y="2870350"/>
            <a:ext cx="4087500" cy="1169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Quick method to check cookie sending: Concatenate the cookie domain and path. Line it up below the requested URL at the first single slash.</a:t>
            </a:r>
            <a:endParaRPr sz="1600">
              <a:solidFill>
                <a:srgbClr val="000000"/>
              </a:solidFill>
            </a:endParaRPr>
          </a:p>
        </p:txBody>
      </p:sp>
      <p:sp>
        <p:nvSpPr>
          <p:cNvPr id="270" name="Google Shape;270;p38"/>
          <p:cNvSpPr txBox="1"/>
          <p:nvPr/>
        </p:nvSpPr>
        <p:spPr>
          <a:xfrm>
            <a:off x="1740250" y="3986125"/>
            <a:ext cx="33315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If the domains and paths all match, then the cookie is sent.</a:t>
            </a:r>
            <a:endParaRPr sz="1600">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76" name="Google Shape;27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9"/>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onsolas"/>
                <a:ea typeface="Consolas"/>
                <a:cs typeface="Consolas"/>
                <a:sym typeface="Consolas"/>
              </a:rPr>
              <a:t>https://toon.cs161.org/cryptoverse/oneshots/subway.html</a:t>
            </a:r>
            <a:endParaRPr sz="2000">
              <a:latin typeface="Consolas"/>
              <a:ea typeface="Consolas"/>
              <a:cs typeface="Consolas"/>
              <a:sym typeface="Consolas"/>
            </a:endParaRPr>
          </a:p>
          <a:p>
            <a:pPr indent="0" lvl="0" marL="0" rtl="0" algn="l">
              <a:spcBef>
                <a:spcPts val="0"/>
              </a:spcBef>
              <a:spcAft>
                <a:spcPts val="0"/>
              </a:spcAft>
              <a:buNone/>
            </a:pPr>
            <a:r>
              <a:t/>
            </a:r>
            <a:endParaRPr sz="900">
              <a:solidFill>
                <a:srgbClr val="000000"/>
              </a:solidFill>
              <a:latin typeface="Consolas"/>
              <a:ea typeface="Consolas"/>
              <a:cs typeface="Consolas"/>
              <a:sym typeface="Consolas"/>
            </a:endParaRPr>
          </a:p>
          <a:p>
            <a:pPr indent="0" lvl="0" marL="0" rtl="0" algn="l">
              <a:spcBef>
                <a:spcPts val="0"/>
              </a:spcBef>
              <a:spcAft>
                <a:spcPts val="0"/>
              </a:spcAft>
              <a:buNone/>
            </a:pPr>
            <a:r>
              <a:rPr lang="en" sz="2000">
                <a:latin typeface="Consolas"/>
                <a:ea typeface="Consolas"/>
                <a:cs typeface="Consolas"/>
                <a:sym typeface="Consolas"/>
              </a:rPr>
              <a:t> </a:t>
            </a:r>
            <a:r>
              <a:rPr lang="en" sz="2000">
                <a:solidFill>
                  <a:srgbClr val="000000"/>
                </a:solidFill>
                <a:latin typeface="Consolas"/>
                <a:ea typeface="Consolas"/>
                <a:cs typeface="Consolas"/>
                <a:sym typeface="Consolas"/>
              </a:rPr>
              <a:t>            </a:t>
            </a:r>
            <a:r>
              <a:rPr lang="en" sz="2000">
                <a:solidFill>
                  <a:srgbClr val="FF0000"/>
                </a:solidFill>
                <a:latin typeface="Consolas"/>
                <a:ea typeface="Consolas"/>
                <a:cs typeface="Consolas"/>
                <a:sym typeface="Consolas"/>
              </a:rPr>
              <a:t>cs161.org</a:t>
            </a:r>
            <a:r>
              <a:rPr lang="en" sz="2000">
                <a:solidFill>
                  <a:srgbClr val="0000FF"/>
                </a:solidFill>
                <a:latin typeface="Consolas"/>
                <a:ea typeface="Consolas"/>
                <a:cs typeface="Consolas"/>
                <a:sym typeface="Consolas"/>
              </a:rPr>
              <a:t>/xorcist</a:t>
            </a:r>
            <a:endParaRPr sz="2000">
              <a:solidFill>
                <a:srgbClr val="000000"/>
              </a:solidFill>
            </a:endParaRPr>
          </a:p>
        </p:txBody>
      </p:sp>
      <p:sp>
        <p:nvSpPr>
          <p:cNvPr id="278" name="Google Shape;278;p39"/>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(server URL)</a:t>
            </a:r>
            <a:endParaRPr>
              <a:solidFill>
                <a:schemeClr val="dk1"/>
              </a:solidFill>
            </a:endParaRPr>
          </a:p>
        </p:txBody>
      </p:sp>
      <p:sp>
        <p:nvSpPr>
          <p:cNvPr id="279" name="Google Shape;279;p39"/>
          <p:cNvSpPr txBox="1"/>
          <p:nvPr/>
        </p:nvSpPr>
        <p:spPr>
          <a:xfrm>
            <a:off x="484500" y="2870350"/>
            <a:ext cx="4087500" cy="1169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Quick method to check cookie sending: Concatenate the cookie domain and path. Line it up below the requested URL at the first single slash.</a:t>
            </a:r>
            <a:endParaRPr sz="1600">
              <a:solidFill>
                <a:srgbClr val="000000"/>
              </a:solidFill>
            </a:endParaRPr>
          </a:p>
        </p:txBody>
      </p:sp>
      <p:sp>
        <p:nvSpPr>
          <p:cNvPr id="280" name="Google Shape;280;p39"/>
          <p:cNvSpPr txBox="1"/>
          <p:nvPr/>
        </p:nvSpPr>
        <p:spPr>
          <a:xfrm>
            <a:off x="1740250" y="3986125"/>
            <a:ext cx="33315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If the domain or path doesn’t match, then the </a:t>
            </a:r>
            <a:r>
              <a:rPr lang="en" sz="1600"/>
              <a:t>cookie is not sent.</a:t>
            </a:r>
            <a:endParaRPr sz="1600">
              <a:solidFill>
                <a:srgbClr val="000000"/>
              </a:solidFill>
            </a:endParaRPr>
          </a:p>
        </p:txBody>
      </p:sp>
      <p:sp>
        <p:nvSpPr>
          <p:cNvPr id="281" name="Google Shape;281;p39"/>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(cookie domain)</a:t>
            </a:r>
            <a:endParaRPr>
              <a:solidFill>
                <a:srgbClr val="FF0000"/>
              </a:solidFill>
            </a:endParaRPr>
          </a:p>
        </p:txBody>
      </p:sp>
      <p:sp>
        <p:nvSpPr>
          <p:cNvPr id="282" name="Google Shape;282;p39"/>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rPr>
              <a:t>(cookie path)</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88" name="Google Shape;28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40"/>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onsolas"/>
                <a:ea typeface="Consolas"/>
                <a:cs typeface="Consolas"/>
                <a:sym typeface="Consolas"/>
              </a:rPr>
              <a:t>https://su24.cs161.org/proj2/story</a:t>
            </a:r>
            <a:endParaRPr sz="900">
              <a:solidFill>
                <a:schemeClr val="dk1"/>
              </a:solidFill>
              <a:latin typeface="Consolas"/>
              <a:ea typeface="Consolas"/>
              <a:cs typeface="Consolas"/>
              <a:sym typeface="Consolas"/>
            </a:endParaRPr>
          </a:p>
          <a:p>
            <a:pPr indent="0" lvl="0" marL="0" rtl="0" algn="l">
              <a:spcBef>
                <a:spcPts val="0"/>
              </a:spcBef>
              <a:spcAft>
                <a:spcPts val="0"/>
              </a:spcAft>
              <a:buNone/>
            </a:pPr>
            <a:r>
              <a:rPr lang="en" sz="2000">
                <a:solidFill>
                  <a:schemeClr val="dk1"/>
                </a:solidFill>
                <a:latin typeface="Consolas"/>
                <a:ea typeface="Consolas"/>
                <a:cs typeface="Consolas"/>
                <a:sym typeface="Consolas"/>
              </a:rPr>
              <a:t>         www.cs161.org/proj2</a:t>
            </a:r>
            <a:endParaRPr sz="2000">
              <a:solidFill>
                <a:schemeClr val="dk1"/>
              </a:solidFill>
            </a:endParaRPr>
          </a:p>
        </p:txBody>
      </p:sp>
      <p:sp>
        <p:nvSpPr>
          <p:cNvPr id="290" name="Google Shape;290;p40"/>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(server URL)</a:t>
            </a:r>
            <a:endParaRPr>
              <a:solidFill>
                <a:schemeClr val="dk1"/>
              </a:solidFill>
            </a:endParaRPr>
          </a:p>
        </p:txBody>
      </p:sp>
      <p:sp>
        <p:nvSpPr>
          <p:cNvPr id="291" name="Google Shape;291;p40"/>
          <p:cNvSpPr txBox="1"/>
          <p:nvPr/>
        </p:nvSpPr>
        <p:spPr>
          <a:xfrm>
            <a:off x="484500" y="2870350"/>
            <a:ext cx="40875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Will a cookie with this domain and path be sent to this server?</a:t>
            </a:r>
            <a:endParaRPr sz="1600">
              <a:solidFill>
                <a:srgbClr val="000000"/>
              </a:solidFill>
            </a:endParaRPr>
          </a:p>
        </p:txBody>
      </p:sp>
      <p:sp>
        <p:nvSpPr>
          <p:cNvPr id="292" name="Google Shape;292;p40"/>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(cookie domain)</a:t>
            </a:r>
            <a:endParaRPr>
              <a:solidFill>
                <a:schemeClr val="dk1"/>
              </a:solidFill>
            </a:endParaRPr>
          </a:p>
        </p:txBody>
      </p:sp>
      <p:sp>
        <p:nvSpPr>
          <p:cNvPr id="293" name="Google Shape;293;p40"/>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(cookie path)</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Policy: Sending Cookies</a:t>
            </a:r>
            <a:endParaRPr/>
          </a:p>
        </p:txBody>
      </p:sp>
      <p:sp>
        <p:nvSpPr>
          <p:cNvPr id="299" name="Google Shape;299;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1"/>
          <p:cNvSpPr txBox="1"/>
          <p:nvPr/>
        </p:nvSpPr>
        <p:spPr>
          <a:xfrm>
            <a:off x="564025" y="1471075"/>
            <a:ext cx="8014200" cy="9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https://</a:t>
            </a:r>
            <a:r>
              <a:rPr lang="en" sz="2000">
                <a:solidFill>
                  <a:srgbClr val="FF0000"/>
                </a:solidFill>
                <a:latin typeface="Consolas"/>
                <a:ea typeface="Consolas"/>
                <a:cs typeface="Consolas"/>
                <a:sym typeface="Consolas"/>
              </a:rPr>
              <a:t>su24.cs161.org</a:t>
            </a:r>
            <a:r>
              <a:rPr lang="en" sz="2000">
                <a:solidFill>
                  <a:schemeClr val="dk1"/>
                </a:solidFill>
                <a:latin typeface="Consolas"/>
                <a:ea typeface="Consolas"/>
                <a:cs typeface="Consolas"/>
                <a:sym typeface="Consolas"/>
              </a:rPr>
              <a:t>/proj2/story</a:t>
            </a:r>
            <a:endParaRPr sz="9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2000">
                <a:solidFill>
                  <a:schemeClr val="dk1"/>
                </a:solidFill>
                <a:latin typeface="Consolas"/>
                <a:ea typeface="Consolas"/>
                <a:cs typeface="Consolas"/>
                <a:sym typeface="Consolas"/>
              </a:rPr>
              <a:t>         </a:t>
            </a:r>
            <a:r>
              <a:rPr lang="en" sz="2000">
                <a:solidFill>
                  <a:srgbClr val="FF0000"/>
                </a:solidFill>
                <a:latin typeface="Consolas"/>
                <a:ea typeface="Consolas"/>
                <a:cs typeface="Consolas"/>
                <a:sym typeface="Consolas"/>
              </a:rPr>
              <a:t>www.cs161.org</a:t>
            </a:r>
            <a:r>
              <a:rPr lang="en" sz="2000">
                <a:solidFill>
                  <a:schemeClr val="dk1"/>
                </a:solidFill>
                <a:latin typeface="Consolas"/>
                <a:ea typeface="Consolas"/>
                <a:cs typeface="Consolas"/>
                <a:sym typeface="Consolas"/>
              </a:rPr>
              <a:t>/proj2</a:t>
            </a:r>
            <a:endParaRPr sz="2000">
              <a:solidFill>
                <a:schemeClr val="dk1"/>
              </a:solidFill>
            </a:endParaRPr>
          </a:p>
          <a:p>
            <a:pPr indent="0" lvl="0" marL="0" rtl="0" algn="l">
              <a:spcBef>
                <a:spcPts val="0"/>
              </a:spcBef>
              <a:spcAft>
                <a:spcPts val="0"/>
              </a:spcAft>
              <a:buNone/>
            </a:pPr>
            <a:r>
              <a:t/>
            </a:r>
            <a:endParaRPr sz="2000">
              <a:solidFill>
                <a:schemeClr val="dk1"/>
              </a:solidFill>
              <a:latin typeface="Consolas"/>
              <a:ea typeface="Consolas"/>
              <a:cs typeface="Consolas"/>
              <a:sym typeface="Consolas"/>
            </a:endParaRPr>
          </a:p>
        </p:txBody>
      </p:sp>
      <p:sp>
        <p:nvSpPr>
          <p:cNvPr id="301" name="Google Shape;301;p41"/>
          <p:cNvSpPr txBox="1"/>
          <p:nvPr/>
        </p:nvSpPr>
        <p:spPr>
          <a:xfrm>
            <a:off x="564025" y="1238100"/>
            <a:ext cx="8014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(server URL)</a:t>
            </a:r>
            <a:endParaRPr>
              <a:solidFill>
                <a:schemeClr val="dk1"/>
              </a:solidFill>
            </a:endParaRPr>
          </a:p>
        </p:txBody>
      </p:sp>
      <p:sp>
        <p:nvSpPr>
          <p:cNvPr id="302" name="Google Shape;302;p41"/>
          <p:cNvSpPr txBox="1"/>
          <p:nvPr/>
        </p:nvSpPr>
        <p:spPr>
          <a:xfrm>
            <a:off x="484500" y="2870350"/>
            <a:ext cx="40875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Will a cookie with this domain and path be sent to this server?</a:t>
            </a:r>
            <a:endParaRPr sz="1600">
              <a:solidFill>
                <a:srgbClr val="000000"/>
              </a:solidFill>
            </a:endParaRPr>
          </a:p>
        </p:txBody>
      </p:sp>
      <p:sp>
        <p:nvSpPr>
          <p:cNvPr id="303" name="Google Shape;303;p41"/>
          <p:cNvSpPr txBox="1"/>
          <p:nvPr/>
        </p:nvSpPr>
        <p:spPr>
          <a:xfrm>
            <a:off x="1740250" y="3986125"/>
            <a:ext cx="3331500" cy="431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No! The domain does not match!</a:t>
            </a:r>
            <a:endParaRPr sz="1600">
              <a:solidFill>
                <a:srgbClr val="000000"/>
              </a:solidFill>
            </a:endParaRPr>
          </a:p>
        </p:txBody>
      </p:sp>
      <p:sp>
        <p:nvSpPr>
          <p:cNvPr id="304" name="Google Shape;304;p41"/>
          <p:cNvSpPr txBox="1"/>
          <p:nvPr/>
        </p:nvSpPr>
        <p:spPr>
          <a:xfrm>
            <a:off x="2250675" y="2312550"/>
            <a:ext cx="1623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(cookie domain)</a:t>
            </a:r>
            <a:endParaRPr>
              <a:solidFill>
                <a:schemeClr val="dk1"/>
              </a:solidFill>
            </a:endParaRPr>
          </a:p>
        </p:txBody>
      </p:sp>
      <p:sp>
        <p:nvSpPr>
          <p:cNvPr id="305" name="Google Shape;305;p41"/>
          <p:cNvSpPr txBox="1"/>
          <p:nvPr/>
        </p:nvSpPr>
        <p:spPr>
          <a:xfrm>
            <a:off x="3676050" y="2312550"/>
            <a:ext cx="1791900" cy="3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(cookie path)</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Attacks on Cookies</a:t>
            </a:r>
            <a:endParaRPr/>
          </a:p>
        </p:txBody>
      </p:sp>
      <p:sp>
        <p:nvSpPr>
          <p:cNvPr id="311" name="Google Shape;31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Ambiguity</a:t>
            </a:r>
            <a:endParaRPr/>
          </a:p>
        </p:txBody>
      </p:sp>
      <p:sp>
        <p:nvSpPr>
          <p:cNvPr id="317" name="Google Shape;317;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two cookies should both be sent to a page with the same name, they are sent in an </a:t>
            </a:r>
            <a:r>
              <a:rPr b="1" lang="en"/>
              <a:t>undefined</a:t>
            </a:r>
            <a:r>
              <a:rPr lang="en"/>
              <a:t> order!</a:t>
            </a:r>
            <a:endParaRPr/>
          </a:p>
          <a:p>
            <a:pPr indent="-317500" lvl="1" marL="914400" rtl="0" algn="l">
              <a:spcBef>
                <a:spcPts val="0"/>
              </a:spcBef>
              <a:spcAft>
                <a:spcPts val="0"/>
              </a:spcAft>
              <a:buSzPts val="1400"/>
              <a:buChar char="○"/>
            </a:pPr>
            <a:r>
              <a:rPr lang="en"/>
              <a:t>Consider two cookies:</a:t>
            </a:r>
            <a:endParaRPr/>
          </a:p>
          <a:p>
            <a:pPr indent="-317500" lvl="2" marL="1371600" rtl="0" algn="l">
              <a:spcBef>
                <a:spcPts val="0"/>
              </a:spcBef>
              <a:spcAft>
                <a:spcPts val="0"/>
              </a:spcAft>
              <a:buSzPts val="1400"/>
              <a:buFont typeface="Courier New"/>
              <a:buChar char="■"/>
            </a:pPr>
            <a:r>
              <a:rPr b="1" lang="en">
                <a:latin typeface="Courier New"/>
                <a:ea typeface="Courier New"/>
                <a:cs typeface="Courier New"/>
                <a:sym typeface="Courier New"/>
              </a:rPr>
              <a:t>name=value1; Domain=bank.com; Path=/</a:t>
            </a:r>
            <a:endParaRPr b="1">
              <a:latin typeface="Courier New"/>
              <a:ea typeface="Courier New"/>
              <a:cs typeface="Courier New"/>
              <a:sym typeface="Courier New"/>
            </a:endParaRPr>
          </a:p>
          <a:p>
            <a:pPr indent="-317500" lvl="2" marL="1371600" rtl="0" algn="l">
              <a:spcBef>
                <a:spcPts val="0"/>
              </a:spcBef>
              <a:spcAft>
                <a:spcPts val="0"/>
              </a:spcAft>
              <a:buSzPts val="1400"/>
              <a:buFont typeface="Courier New"/>
              <a:buChar char="■"/>
            </a:pPr>
            <a:r>
              <a:rPr b="1" lang="en">
                <a:latin typeface="Courier New"/>
                <a:ea typeface="Courier New"/>
                <a:cs typeface="Courier New"/>
                <a:sym typeface="Courier New"/>
              </a:rPr>
              <a:t>name=value2; Domain=bank.com; Path=/page</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browser would send both cookies to </a:t>
            </a:r>
            <a:r>
              <a:rPr b="1" lang="en">
                <a:latin typeface="Courier New"/>
                <a:ea typeface="Courier New"/>
                <a:cs typeface="Courier New"/>
                <a:sym typeface="Courier New"/>
              </a:rPr>
              <a:t>bank.com/page</a:t>
            </a:r>
            <a:r>
              <a:rPr lang="en"/>
              <a:t> in an undefined order!</a:t>
            </a:r>
            <a:endParaRPr/>
          </a:p>
          <a:p>
            <a:pPr indent="-317500" lvl="2" marL="1371600" rtl="0" algn="l">
              <a:spcBef>
                <a:spcPts val="0"/>
              </a:spcBef>
              <a:spcAft>
                <a:spcPts val="0"/>
              </a:spcAft>
              <a:buSzPts val="1400"/>
              <a:buChar char="■"/>
            </a:pPr>
            <a:r>
              <a:rPr lang="en"/>
              <a:t>The server doesn’t receive the Domain and Path attributes</a:t>
            </a:r>
            <a:endParaRPr/>
          </a:p>
          <a:p>
            <a:pPr indent="-317500" lvl="2" marL="1371600" rtl="0" algn="l">
              <a:spcBef>
                <a:spcPts val="0"/>
              </a:spcBef>
              <a:spcAft>
                <a:spcPts val="0"/>
              </a:spcAft>
              <a:buSzPts val="1400"/>
              <a:buChar char="■"/>
            </a:pPr>
            <a:r>
              <a:rPr lang="en"/>
              <a:t>The server might not be able to tell the cookies apart</a:t>
            </a:r>
            <a:endParaRPr/>
          </a:p>
        </p:txBody>
      </p:sp>
      <p:sp>
        <p:nvSpPr>
          <p:cNvPr id="318" name="Google Shape;31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Vulnerability</a:t>
            </a:r>
            <a:endParaRPr/>
          </a:p>
        </p:txBody>
      </p:sp>
      <p:sp>
        <p:nvSpPr>
          <p:cNvPr id="324" name="Google Shape;32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Original browser design: Chrome isolated each tab in its own Unix process</a:t>
            </a:r>
            <a:endParaRPr/>
          </a:p>
          <a:p>
            <a:pPr indent="-317500" lvl="1" marL="914400" rtl="0" algn="l">
              <a:spcBef>
                <a:spcPts val="0"/>
              </a:spcBef>
              <a:spcAft>
                <a:spcPts val="0"/>
              </a:spcAft>
              <a:buSzPts val="1400"/>
              <a:buChar char="○"/>
            </a:pPr>
            <a:r>
              <a:rPr lang="en"/>
              <a:t>Security sandboxing: The operating system (OS) makes sure that one process cannot access other processes</a:t>
            </a:r>
            <a:endParaRPr/>
          </a:p>
          <a:p>
            <a:pPr indent="-317500" lvl="1" marL="914400" rtl="0" algn="l">
              <a:spcBef>
                <a:spcPts val="0"/>
              </a:spcBef>
              <a:spcAft>
                <a:spcPts val="0"/>
              </a:spcAft>
              <a:buSzPts val="1400"/>
              <a:buChar char="○"/>
            </a:pPr>
            <a:r>
              <a:rPr lang="en"/>
              <a:t>Makes attacks harder: To compromise another tab, you have to exploit the browser code and escape the Unix sandbox</a:t>
            </a:r>
            <a:endParaRPr/>
          </a:p>
          <a:p>
            <a:pPr indent="-317500" lvl="1" marL="914400" rtl="0" algn="l">
              <a:spcBef>
                <a:spcPts val="0"/>
              </a:spcBef>
              <a:spcAft>
                <a:spcPts val="0"/>
              </a:spcAft>
              <a:buSzPts val="1400"/>
              <a:buChar char="○"/>
            </a:pPr>
            <a:r>
              <a:rPr lang="en"/>
              <a:t>Usability: If one tab crashes, the rest of the browser won’t crash</a:t>
            </a:r>
            <a:endParaRPr/>
          </a:p>
          <a:p>
            <a:pPr indent="-342900" lvl="0" marL="457200" rtl="0" algn="l">
              <a:spcBef>
                <a:spcPts val="0"/>
              </a:spcBef>
              <a:spcAft>
                <a:spcPts val="0"/>
              </a:spcAft>
              <a:buSzPts val="1800"/>
              <a:buChar char="●"/>
            </a:pPr>
            <a:r>
              <a:rPr lang="en"/>
              <a:t>Issues with this design</a:t>
            </a:r>
            <a:endParaRPr/>
          </a:p>
          <a:p>
            <a:pPr indent="-317500" lvl="1" marL="914400" rtl="0" algn="l">
              <a:spcBef>
                <a:spcPts val="0"/>
              </a:spcBef>
              <a:spcAft>
                <a:spcPts val="0"/>
              </a:spcAft>
              <a:buSzPts val="1400"/>
              <a:buChar char="○"/>
            </a:pPr>
            <a:r>
              <a:rPr lang="en"/>
              <a:t>There are many scenarios where a program wants to protect data from other parts of the same program</a:t>
            </a:r>
            <a:endParaRPr/>
          </a:p>
          <a:p>
            <a:pPr indent="-317500" lvl="1" marL="914400" rtl="0" algn="l">
              <a:spcBef>
                <a:spcPts val="0"/>
              </a:spcBef>
              <a:spcAft>
                <a:spcPts val="0"/>
              </a:spcAft>
              <a:buSzPts val="1400"/>
              <a:buChar char="○"/>
            </a:pPr>
            <a:r>
              <a:rPr lang="en"/>
              <a:t>Notable example: If one tab includes multiple origins (e.g. from an iframe embed), the browser must enforce same-origin policy: JavaScript from one origin cannot read cookies related to the other origin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Exploiting browser design</a:t>
            </a:r>
            <a:endParaRPr/>
          </a:p>
        </p:txBody>
      </p:sp>
      <p:sp>
        <p:nvSpPr>
          <p:cNvPr id="331" name="Google Shape;33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Spectre: An attack exploiting this browser design</a:t>
            </a:r>
            <a:endParaRPr/>
          </a:p>
          <a:p>
            <a:pPr indent="-317500" lvl="1" marL="914400" rtl="0" algn="l">
              <a:spcBef>
                <a:spcPts val="0"/>
              </a:spcBef>
              <a:spcAft>
                <a:spcPts val="0"/>
              </a:spcAft>
              <a:buSzPts val="1400"/>
              <a:buChar char="○"/>
            </a:pPr>
            <a:r>
              <a:rPr lang="en"/>
              <a:t>The victim visits </a:t>
            </a:r>
            <a:r>
              <a:rPr b="1" lang="en">
                <a:latin typeface="Courier New"/>
                <a:ea typeface="Courier New"/>
                <a:cs typeface="Courier New"/>
                <a:sym typeface="Courier New"/>
              </a:rPr>
              <a:t>evil.com</a:t>
            </a:r>
            <a:r>
              <a:rPr lang="en"/>
              <a:t> in a browser tab</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evil.com</a:t>
            </a:r>
            <a:r>
              <a:rPr lang="en"/>
              <a:t> opens an iframe with </a:t>
            </a:r>
            <a:r>
              <a:rPr b="1" lang="en">
                <a:latin typeface="Courier New"/>
                <a:ea typeface="Courier New"/>
                <a:cs typeface="Courier New"/>
                <a:sym typeface="Courier New"/>
              </a:rPr>
              <a:t>victim</a:t>
            </a:r>
            <a:r>
              <a:rPr b="1" lang="en">
                <a:latin typeface="Courier New"/>
                <a:ea typeface="Courier New"/>
                <a:cs typeface="Courier New"/>
                <a:sym typeface="Courier New"/>
              </a:rPr>
              <a:t>.com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Recall: JavaScript in </a:t>
            </a:r>
            <a:r>
              <a:rPr b="1" lang="en">
                <a:latin typeface="Courier New"/>
                <a:ea typeface="Courier New"/>
                <a:cs typeface="Courier New"/>
                <a:sym typeface="Courier New"/>
              </a:rPr>
              <a:t>evil.com</a:t>
            </a:r>
            <a:r>
              <a:rPr lang="en"/>
              <a:t> should not be able to read any cookies from </a:t>
            </a:r>
            <a:r>
              <a:rPr b="1" lang="en">
                <a:latin typeface="Courier New"/>
                <a:ea typeface="Courier New"/>
                <a:cs typeface="Courier New"/>
                <a:sym typeface="Courier New"/>
              </a:rPr>
              <a:t>victim.com</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evil.com</a:t>
            </a:r>
            <a:r>
              <a:rPr lang="en"/>
              <a:t> and </a:t>
            </a:r>
            <a:r>
              <a:rPr b="1" lang="en">
                <a:latin typeface="Courier New"/>
                <a:ea typeface="Courier New"/>
                <a:cs typeface="Courier New"/>
                <a:sym typeface="Courier New"/>
              </a:rPr>
              <a:t>victim.com</a:t>
            </a:r>
            <a:r>
              <a:rPr b="1" lang="en"/>
              <a:t> </a:t>
            </a:r>
            <a:r>
              <a:rPr lang="en"/>
              <a:t>are now running in the same operating system process</a:t>
            </a:r>
            <a:endParaRPr/>
          </a:p>
          <a:p>
            <a:pPr indent="-317500" lvl="1" marL="914400" rtl="0" algn="l">
              <a:spcBef>
                <a:spcPts val="0"/>
              </a:spcBef>
              <a:spcAft>
                <a:spcPts val="0"/>
              </a:spcAft>
              <a:buSzPts val="1400"/>
              <a:buChar char="○"/>
            </a:pPr>
            <a:r>
              <a:rPr lang="en"/>
              <a:t>No operating system sandboxing is active! The only memory protection is enforced by the JavaScript compiler</a:t>
            </a:r>
            <a:endParaRPr/>
          </a:p>
          <a:p>
            <a:pPr indent="-317500" lvl="1" marL="914400" rtl="0" algn="l">
              <a:spcBef>
                <a:spcPts val="0"/>
              </a:spcBef>
              <a:spcAft>
                <a:spcPts val="0"/>
              </a:spcAft>
              <a:buSzPts val="1400"/>
              <a:buChar char="○"/>
            </a:pPr>
            <a:r>
              <a:rPr lang="en"/>
              <a:t>If we can break the JavaScript compiler, we can read memory from </a:t>
            </a:r>
            <a:r>
              <a:rPr b="1" lang="en">
                <a:latin typeface="Courier New"/>
                <a:ea typeface="Courier New"/>
                <a:cs typeface="Courier New"/>
                <a:sym typeface="Courier New"/>
              </a:rPr>
              <a:t>victim.com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Exploiting the processor</a:t>
            </a:r>
            <a:endParaRPr/>
          </a:p>
        </p:txBody>
      </p:sp>
      <p:sp>
        <p:nvSpPr>
          <p:cNvPr id="338" name="Google Shape;338;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6"/>
          <p:cNvSpPr txBox="1"/>
          <p:nvPr>
            <p:ph idx="1" type="body"/>
          </p:nvPr>
        </p:nvSpPr>
        <p:spPr>
          <a:xfrm>
            <a:off x="198500" y="1246825"/>
            <a:ext cx="86973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Quick review: Modern processors</a:t>
            </a:r>
            <a:endParaRPr/>
          </a:p>
          <a:p>
            <a:pPr indent="-317500" lvl="1" marL="914400" rtl="0" algn="l">
              <a:spcBef>
                <a:spcPts val="0"/>
              </a:spcBef>
              <a:spcAft>
                <a:spcPts val="0"/>
              </a:spcAft>
              <a:buSzPts val="1400"/>
              <a:buChar char="○"/>
            </a:pPr>
            <a:r>
              <a:rPr lang="en"/>
              <a:t>Designed to be very fast: High instructions per cycle (IPC)</a:t>
            </a:r>
            <a:endParaRPr/>
          </a:p>
          <a:p>
            <a:pPr indent="-317500" lvl="1" marL="914400" rtl="0" algn="l">
              <a:spcBef>
                <a:spcPts val="0"/>
              </a:spcBef>
              <a:spcAft>
                <a:spcPts val="0"/>
              </a:spcAft>
              <a:buSzPts val="1400"/>
              <a:buChar char="○"/>
            </a:pPr>
            <a:r>
              <a:rPr lang="en"/>
              <a:t>Uses aggressive behavior to achieve high IPC</a:t>
            </a:r>
            <a:endParaRPr/>
          </a:p>
          <a:p>
            <a:pPr indent="-317500" lvl="2" marL="1371600" rtl="0" algn="l">
              <a:spcBef>
                <a:spcPts val="0"/>
              </a:spcBef>
              <a:spcAft>
                <a:spcPts val="0"/>
              </a:spcAft>
              <a:buSzPts val="1400"/>
              <a:buChar char="■"/>
            </a:pPr>
            <a:r>
              <a:rPr lang="en"/>
              <a:t>Aggressive caching</a:t>
            </a:r>
            <a:endParaRPr/>
          </a:p>
          <a:p>
            <a:pPr indent="-317500" lvl="2" marL="1371600" rtl="0" algn="l">
              <a:spcBef>
                <a:spcPts val="0"/>
              </a:spcBef>
              <a:spcAft>
                <a:spcPts val="0"/>
              </a:spcAft>
              <a:buSzPts val="1400"/>
              <a:buChar char="■"/>
            </a:pPr>
            <a:r>
              <a:rPr lang="en"/>
              <a:t>Branch prediction: Guess the outcome of a branch and start executing that branch before the outcome is known</a:t>
            </a:r>
            <a:endParaRPr/>
          </a:p>
          <a:p>
            <a:pPr indent="-317500" lvl="2" marL="1371600" rtl="0" algn="l">
              <a:spcBef>
                <a:spcPts val="0"/>
              </a:spcBef>
              <a:spcAft>
                <a:spcPts val="0"/>
              </a:spcAft>
              <a:buSzPts val="1400"/>
              <a:buChar char="■"/>
            </a:pPr>
            <a:r>
              <a:rPr lang="en"/>
              <a:t>Speculative execution: Execute some code if the processor thinks it’ll be executed later</a:t>
            </a:r>
            <a:endParaRPr/>
          </a:p>
          <a:p>
            <a:pPr indent="-317500" lvl="1" marL="914400" rtl="0" algn="l">
              <a:spcBef>
                <a:spcPts val="0"/>
              </a:spcBef>
              <a:spcAft>
                <a:spcPts val="0"/>
              </a:spcAft>
              <a:buSzPts val="1400"/>
              <a:buChar char="○"/>
            </a:pPr>
            <a:r>
              <a:rPr lang="en"/>
              <a:t>Note: Predictions are not always correct</a:t>
            </a:r>
            <a:endParaRPr/>
          </a:p>
          <a:p>
            <a:pPr indent="-342900" lvl="0" marL="457200" rtl="0" algn="l">
              <a:spcBef>
                <a:spcPts val="0"/>
              </a:spcBef>
              <a:spcAft>
                <a:spcPts val="0"/>
              </a:spcAft>
              <a:buSzPts val="1800"/>
              <a:buChar char="●"/>
            </a:pPr>
            <a:r>
              <a:rPr lang="en"/>
              <a:t>Spectre: Exploits a hardware side-channel attack</a:t>
            </a:r>
            <a:endParaRPr/>
          </a:p>
          <a:p>
            <a:pPr indent="-317500" lvl="1" marL="914400" rtl="0" algn="l">
              <a:spcBef>
                <a:spcPts val="0"/>
              </a:spcBef>
              <a:spcAft>
                <a:spcPts val="0"/>
              </a:spcAft>
              <a:buSzPts val="1400"/>
              <a:buChar char="○"/>
            </a:pPr>
            <a:r>
              <a:rPr lang="en"/>
              <a:t>Use a side channel (e.g. timing, cache state) to detect the results of failed speculative execution</a:t>
            </a:r>
            <a:endParaRPr/>
          </a:p>
          <a:p>
            <a:pPr indent="-317500" lvl="1" marL="914400" rtl="0" algn="l">
              <a:spcBef>
                <a:spcPts val="0"/>
              </a:spcBef>
              <a:spcAft>
                <a:spcPts val="0"/>
              </a:spcAft>
              <a:buSzPts val="1400"/>
              <a:buChar char="○"/>
            </a:pPr>
            <a:r>
              <a:rPr lang="en"/>
              <a:t>Use a side channel to see what the input to the speculative execution was</a:t>
            </a:r>
            <a:endParaRPr/>
          </a:p>
          <a:p>
            <a:pPr indent="-317500" lvl="1" marL="914400" rtl="0" algn="l">
              <a:spcBef>
                <a:spcPts val="0"/>
              </a:spcBef>
              <a:spcAft>
                <a:spcPts val="0"/>
              </a:spcAft>
              <a:buSzPts val="1400"/>
              <a:buChar char="○"/>
            </a:pPr>
            <a:r>
              <a:rPr lang="en"/>
              <a:t>Idea: Force speculative execution by forcing the processor to make wrong predictions</a:t>
            </a:r>
            <a:endParaRPr/>
          </a:p>
          <a:p>
            <a:pPr indent="-317500" lvl="1" marL="914400" rtl="0" algn="l">
              <a:spcBef>
                <a:spcPts val="0"/>
              </a:spcBef>
              <a:spcAft>
                <a:spcPts val="0"/>
              </a:spcAft>
              <a:buSzPts val="1400"/>
              <a:buChar char="○"/>
            </a:pPr>
            <a:r>
              <a:rPr lang="en"/>
              <a:t>Idea: Read the side channel to see the results of the speculative execution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Exploiting the processor</a:t>
            </a:r>
            <a:endParaRPr/>
          </a:p>
        </p:txBody>
      </p:sp>
      <p:sp>
        <p:nvSpPr>
          <p:cNvPr id="345" name="Google Shape;34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47"/>
          <p:cNvSpPr txBox="1"/>
          <p:nvPr>
            <p:ph idx="1" type="body"/>
          </p:nvPr>
        </p:nvSpPr>
        <p:spPr>
          <a:xfrm>
            <a:off x="198500" y="1246825"/>
            <a:ext cx="61320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Using the side-channel to b</a:t>
            </a:r>
            <a:r>
              <a:rPr lang="en"/>
              <a:t>reak the JavaScript compiler’s memory isolation</a:t>
            </a:r>
            <a:endParaRPr/>
          </a:p>
          <a:p>
            <a:pPr indent="-317500" lvl="1" marL="914400" rtl="0" algn="l">
              <a:spcBef>
                <a:spcPts val="0"/>
              </a:spcBef>
              <a:spcAft>
                <a:spcPts val="0"/>
              </a:spcAft>
              <a:buSzPts val="1400"/>
              <a:buChar char="○"/>
            </a:pPr>
            <a:r>
              <a:rPr lang="en"/>
              <a:t>Recall: </a:t>
            </a:r>
            <a:r>
              <a:rPr b="1" lang="en">
                <a:latin typeface="Courier New"/>
                <a:ea typeface="Courier New"/>
                <a:cs typeface="Courier New"/>
                <a:sym typeface="Courier New"/>
              </a:rPr>
              <a:t>evil.com</a:t>
            </a:r>
            <a:r>
              <a:rPr lang="en"/>
              <a:t> has loaded an iframe with </a:t>
            </a:r>
            <a:r>
              <a:rPr b="1" lang="en">
                <a:latin typeface="Courier New"/>
                <a:ea typeface="Courier New"/>
                <a:cs typeface="Courier New"/>
                <a:sym typeface="Courier New"/>
              </a:rPr>
              <a:t>victim.com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evil.com</a:t>
            </a:r>
            <a:r>
              <a:rPr lang="en"/>
              <a:t> executes a repeated loop with legitimate instructions</a:t>
            </a:r>
            <a:endParaRPr/>
          </a:p>
          <a:p>
            <a:pPr indent="-317500" lvl="1" marL="914400" rtl="0" algn="l">
              <a:spcBef>
                <a:spcPts val="0"/>
              </a:spcBef>
              <a:spcAft>
                <a:spcPts val="0"/>
              </a:spcAft>
              <a:buSzPts val="1400"/>
              <a:buChar char="○"/>
            </a:pPr>
            <a:r>
              <a:rPr lang="en"/>
              <a:t>The branch predictor is trained to think this loop will keep going (it will keep guessing the </a:t>
            </a:r>
            <a:r>
              <a:rPr b="1" lang="en">
                <a:latin typeface="Courier New"/>
                <a:ea typeface="Courier New"/>
                <a:cs typeface="Courier New"/>
                <a:sym typeface="Courier New"/>
              </a:rPr>
              <a:t>while</a:t>
            </a:r>
            <a:r>
              <a:rPr lang="en"/>
              <a:t> condition is true)</a:t>
            </a:r>
            <a:endParaRPr/>
          </a:p>
          <a:p>
            <a:pPr indent="-317500" lvl="1" marL="914400" rtl="0" algn="l">
              <a:spcBef>
                <a:spcPts val="0"/>
              </a:spcBef>
              <a:spcAft>
                <a:spcPts val="0"/>
              </a:spcAft>
              <a:buSzPts val="1400"/>
              <a:buChar char="○"/>
            </a:pPr>
            <a:r>
              <a:rPr lang="en"/>
              <a:t>On the last run of the loop, the processor incorrectly guesses it will keep going and starts running the loop one more time (speculative execution)</a:t>
            </a:r>
            <a:endParaRPr/>
          </a:p>
          <a:p>
            <a:pPr indent="-317500" lvl="1" marL="914400" rtl="0" algn="l">
              <a:spcBef>
                <a:spcPts val="0"/>
              </a:spcBef>
              <a:spcAft>
                <a:spcPts val="0"/>
              </a:spcAft>
              <a:buSzPts val="1400"/>
              <a:buChar char="○"/>
            </a:pPr>
            <a:r>
              <a:rPr lang="en"/>
              <a:t>In the speculative run of the loop, do computation on illegal memory (e.g. </a:t>
            </a:r>
            <a:r>
              <a:rPr b="1" lang="en">
                <a:latin typeface="Courier New"/>
                <a:ea typeface="Courier New"/>
                <a:cs typeface="Courier New"/>
                <a:sym typeface="Courier New"/>
              </a:rPr>
              <a:t>victim.com</a:t>
            </a:r>
            <a:r>
              <a:rPr lang="en"/>
              <a:t>’s cookies)</a:t>
            </a:r>
            <a:endParaRPr/>
          </a:p>
          <a:p>
            <a:pPr indent="-317500" lvl="1" marL="914400" rtl="0" algn="l">
              <a:spcBef>
                <a:spcPts val="0"/>
              </a:spcBef>
              <a:spcAft>
                <a:spcPts val="0"/>
              </a:spcAft>
              <a:buSzPts val="1400"/>
              <a:buChar char="○"/>
            </a:pPr>
            <a:r>
              <a:rPr lang="en"/>
              <a:t>Use the side-channel to leak some information about the illegal memory being read</a:t>
            </a:r>
            <a:endParaRPr/>
          </a:p>
          <a:p>
            <a:pPr indent="-317500" lvl="1" marL="914400" rtl="0" algn="l">
              <a:spcBef>
                <a:spcPts val="0"/>
              </a:spcBef>
              <a:spcAft>
                <a:spcPts val="0"/>
              </a:spcAft>
              <a:buSzPts val="1400"/>
              <a:buChar char="○"/>
            </a:pPr>
            <a:r>
              <a:rPr lang="en"/>
              <a:t>Repeat this process to leak all the desired information</a:t>
            </a:r>
            <a:endParaRPr/>
          </a:p>
        </p:txBody>
      </p:sp>
      <p:sp>
        <p:nvSpPr>
          <p:cNvPr id="347" name="Google Shape;347;p47"/>
          <p:cNvSpPr txBox="1"/>
          <p:nvPr/>
        </p:nvSpPr>
        <p:spPr>
          <a:xfrm>
            <a:off x="6545625" y="1357125"/>
            <a:ext cx="2434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ourier New"/>
                <a:ea typeface="Courier New"/>
                <a:cs typeface="Courier New"/>
                <a:sym typeface="Courier New"/>
              </a:rPr>
              <a:t>i = 0</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while i &lt;= 1000:</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if i &lt;= 1000:</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[legal things]</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else:</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[illegal things]</a:t>
            </a:r>
            <a:endParaRPr b="1">
              <a:latin typeface="Courier New"/>
              <a:ea typeface="Courier New"/>
              <a:cs typeface="Courier New"/>
              <a:sym typeface="Courier New"/>
            </a:endParaRPr>
          </a:p>
          <a:p>
            <a:pPr indent="0" lvl="0" marL="0" rtl="0" algn="l">
              <a:spcBef>
                <a:spcPts val="0"/>
              </a:spcBef>
              <a:spcAft>
                <a:spcPts val="0"/>
              </a:spcAft>
              <a:buNone/>
            </a:pPr>
            <a:r>
              <a:rPr b="1" lang="en">
                <a:latin typeface="Courier New"/>
                <a:ea typeface="Courier New"/>
                <a:cs typeface="Courier New"/>
                <a:sym typeface="Courier New"/>
              </a:rPr>
              <a:t>  i += 1</a:t>
            </a:r>
            <a:endParaRPr b="1">
              <a:latin typeface="Courier New"/>
              <a:ea typeface="Courier New"/>
              <a:cs typeface="Courier New"/>
              <a:sym typeface="Courier New"/>
            </a:endParaRPr>
          </a:p>
        </p:txBody>
      </p:sp>
      <p:sp>
        <p:nvSpPr>
          <p:cNvPr id="348" name="Google Shape;348;p47"/>
          <p:cNvSpPr txBox="1"/>
          <p:nvPr/>
        </p:nvSpPr>
        <p:spPr>
          <a:xfrm>
            <a:off x="6545625" y="3050325"/>
            <a:ext cx="2159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Speculative execution: The else case never runs, but the predictor will try to execute it after the last run of the loop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Defenses</a:t>
            </a:r>
            <a:endParaRPr/>
          </a:p>
        </p:txBody>
      </p:sp>
      <p:sp>
        <p:nvSpPr>
          <p:cNvPr id="354" name="Google Shape;35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8"/>
          <p:cNvSpPr txBox="1"/>
          <p:nvPr>
            <p:ph idx="1" type="body"/>
          </p:nvPr>
        </p:nvSpPr>
        <p:spPr>
          <a:xfrm>
            <a:off x="198500" y="1246825"/>
            <a:ext cx="85206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Chrome and Firefox now run each </a:t>
            </a:r>
            <a:r>
              <a:rPr i="1" lang="en"/>
              <a:t>origin</a:t>
            </a:r>
            <a:r>
              <a:rPr lang="en"/>
              <a:t>, not tab, in its own process</a:t>
            </a:r>
            <a:endParaRPr/>
          </a:p>
          <a:p>
            <a:pPr indent="-317500" lvl="1" marL="914400" rtl="0" algn="l">
              <a:spcBef>
                <a:spcPts val="0"/>
              </a:spcBef>
              <a:spcAft>
                <a:spcPts val="0"/>
              </a:spcAft>
              <a:buSzPts val="1400"/>
              <a:buChar char="○"/>
            </a:pPr>
            <a:r>
              <a:rPr lang="en"/>
              <a:t>Known as "Site Isolation"</a:t>
            </a:r>
            <a:endParaRPr/>
          </a:p>
          <a:p>
            <a:pPr indent="-317500" lvl="1" marL="914400" rtl="0" algn="l">
              <a:spcBef>
                <a:spcPts val="0"/>
              </a:spcBef>
              <a:spcAft>
                <a:spcPts val="0"/>
              </a:spcAft>
              <a:buSzPts val="1400"/>
              <a:buChar char="○"/>
            </a:pPr>
            <a:r>
              <a:rPr lang="en"/>
              <a:t>Recall: </a:t>
            </a:r>
            <a:r>
              <a:rPr lang="en"/>
              <a:t>The operating system (OS) makes sure that one process cannot access other processes</a:t>
            </a:r>
            <a:endParaRPr/>
          </a:p>
          <a:p>
            <a:pPr indent="-342900" lvl="0" marL="457200" rtl="0" algn="l">
              <a:spcBef>
                <a:spcPts val="0"/>
              </a:spcBef>
              <a:spcAft>
                <a:spcPts val="0"/>
              </a:spcAft>
              <a:buSzPts val="1800"/>
              <a:buChar char="●"/>
            </a:pPr>
            <a:r>
              <a:rPr lang="en"/>
              <a:t>Security: Spectre attack is defeated</a:t>
            </a:r>
            <a:endParaRPr/>
          </a:p>
          <a:p>
            <a:pPr indent="-317500" lvl="1" marL="914400" rtl="0" algn="l">
              <a:spcBef>
                <a:spcPts val="0"/>
              </a:spcBef>
              <a:spcAft>
                <a:spcPts val="0"/>
              </a:spcAft>
              <a:buSzPts val="1400"/>
              <a:buChar char="○"/>
            </a:pPr>
            <a:r>
              <a:rPr lang="en"/>
              <a:t>When </a:t>
            </a:r>
            <a:r>
              <a:rPr b="1" lang="en">
                <a:latin typeface="Courier New"/>
                <a:ea typeface="Courier New"/>
                <a:cs typeface="Courier New"/>
                <a:sym typeface="Courier New"/>
              </a:rPr>
              <a:t>evil.com</a:t>
            </a:r>
            <a:r>
              <a:rPr lang="en"/>
              <a:t> loads an iframe with </a:t>
            </a:r>
            <a:r>
              <a:rPr b="1" lang="en">
                <a:latin typeface="Courier New"/>
                <a:ea typeface="Courier New"/>
                <a:cs typeface="Courier New"/>
                <a:sym typeface="Courier New"/>
              </a:rPr>
              <a:t>victim.com</a:t>
            </a:r>
            <a:r>
              <a:rPr lang="en"/>
              <a:t>, the two frames are run in different processes</a:t>
            </a:r>
            <a:endParaRPr/>
          </a:p>
          <a:p>
            <a:pPr indent="-317500" lvl="1" marL="914400" rtl="0" algn="l">
              <a:spcBef>
                <a:spcPts val="0"/>
              </a:spcBef>
              <a:spcAft>
                <a:spcPts val="0"/>
              </a:spcAft>
              <a:buSzPts val="1400"/>
              <a:buChar char="○"/>
            </a:pPr>
            <a:r>
              <a:rPr lang="en"/>
              <a:t>Speculative execution no longer works: the OS prevents the </a:t>
            </a:r>
            <a:r>
              <a:rPr b="1" lang="en">
                <a:latin typeface="Courier New"/>
                <a:ea typeface="Courier New"/>
                <a:cs typeface="Courier New"/>
                <a:sym typeface="Courier New"/>
              </a:rPr>
              <a:t>evil.com</a:t>
            </a:r>
            <a:r>
              <a:rPr lang="en"/>
              <a:t> process from accessing memory of the </a:t>
            </a:r>
            <a:r>
              <a:rPr b="1" lang="en">
                <a:latin typeface="Courier New"/>
                <a:ea typeface="Courier New"/>
                <a:cs typeface="Courier New"/>
                <a:sym typeface="Courier New"/>
              </a:rPr>
              <a:t>victim.com</a:t>
            </a:r>
            <a:r>
              <a:rPr lang="en"/>
              <a:t> process</a:t>
            </a:r>
            <a:endParaRPr/>
          </a:p>
          <a:p>
            <a:pPr indent="-317500" lvl="1" marL="914400" rtl="0" algn="l">
              <a:spcBef>
                <a:spcPts val="0"/>
              </a:spcBef>
              <a:spcAft>
                <a:spcPts val="0"/>
              </a:spcAft>
              <a:buSzPts val="1400"/>
              <a:buChar char="○"/>
            </a:pPr>
            <a:r>
              <a:rPr lang="en"/>
              <a:t>The attack now requires breaking the OS isolation (much harder)</a:t>
            </a:r>
            <a:endParaRPr/>
          </a:p>
          <a:p>
            <a:pPr indent="-342900" lvl="0" marL="457200" rtl="0" algn="l">
              <a:spcBef>
                <a:spcPts val="0"/>
              </a:spcBef>
              <a:spcAft>
                <a:spcPts val="0"/>
              </a:spcAft>
              <a:buSzPts val="1800"/>
              <a:buChar char="●"/>
            </a:pPr>
            <a:r>
              <a:rPr lang="en"/>
              <a:t>Cost: Processes are expensive</a:t>
            </a:r>
            <a:endParaRPr/>
          </a:p>
          <a:p>
            <a:pPr indent="-317500" lvl="1" marL="914400" rtl="0" algn="l">
              <a:spcBef>
                <a:spcPts val="0"/>
              </a:spcBef>
              <a:spcAft>
                <a:spcPts val="0"/>
              </a:spcAft>
              <a:buSzPts val="1400"/>
              <a:buChar char="○"/>
            </a:pPr>
            <a:r>
              <a:rPr lang="en"/>
              <a:t>Lots of memory overhead</a:t>
            </a:r>
            <a:endParaRPr/>
          </a:p>
          <a:p>
            <a:pPr indent="-317500" lvl="1" marL="914400" rtl="0" algn="l">
              <a:spcBef>
                <a:spcPts val="0"/>
              </a:spcBef>
              <a:spcAft>
                <a:spcPts val="0"/>
              </a:spcAft>
              <a:buSzPts val="1400"/>
              <a:buChar char="○"/>
            </a:pPr>
            <a:r>
              <a:rPr lang="en"/>
              <a:t>Switching between processes is expensive: optimizations (e.g. caches) must be wiped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Spectre Attack: Takeaways</a:t>
            </a:r>
            <a:endParaRPr/>
          </a:p>
        </p:txBody>
      </p:sp>
      <p:sp>
        <p:nvSpPr>
          <p:cNvPr id="361" name="Google Shape;36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Takeaway</a:t>
            </a:r>
            <a:r>
              <a:rPr lang="en"/>
              <a:t>: </a:t>
            </a:r>
            <a:r>
              <a:rPr lang="en"/>
              <a:t>Enforcing isolation between websites (same-origin policy, cookie policy) requires the browser to be securely designed. Getting this right can be very tricky!</a:t>
            </a:r>
            <a:endParaRPr/>
          </a:p>
          <a:p>
            <a:pPr indent="-342900" lvl="0" marL="457200" rtl="0" algn="l">
              <a:spcBef>
                <a:spcPts val="0"/>
              </a:spcBef>
              <a:spcAft>
                <a:spcPts val="0"/>
              </a:spcAft>
              <a:buSzPts val="1800"/>
              <a:buChar char="●"/>
            </a:pPr>
            <a:r>
              <a:rPr b="1" lang="en"/>
              <a:t>Takeaway</a:t>
            </a:r>
            <a:r>
              <a:rPr lang="en"/>
              <a:t>: The web was not designed in security in mind. Many defenses (e.g. same-origin policy) were added afterwards, leading to awkward design and expensive performance costs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Session Authentication</a:t>
            </a:r>
            <a:endParaRPr/>
          </a:p>
        </p:txBody>
      </p:sp>
      <p:sp>
        <p:nvSpPr>
          <p:cNvPr id="368" name="Google Shape;368;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Authentication</a:t>
            </a:r>
            <a:endParaRPr/>
          </a:p>
        </p:txBody>
      </p:sp>
      <p:sp>
        <p:nvSpPr>
          <p:cNvPr id="374" name="Google Shape;37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Session</a:t>
            </a:r>
            <a:r>
              <a:rPr lang="en"/>
              <a:t>: A sequence of requests and </a:t>
            </a:r>
            <a:r>
              <a:rPr lang="en"/>
              <a:t>responses associated with the same authenticated user</a:t>
            </a:r>
            <a:endParaRPr/>
          </a:p>
          <a:p>
            <a:pPr indent="-317500" lvl="1" marL="914400" rtl="0" algn="l">
              <a:spcBef>
                <a:spcPts val="0"/>
              </a:spcBef>
              <a:spcAft>
                <a:spcPts val="0"/>
              </a:spcAft>
              <a:buSzPts val="1400"/>
              <a:buChar char="○"/>
            </a:pPr>
            <a:r>
              <a:rPr lang="en"/>
              <a:t>Example: When you check all your unread emails, you make many requests to Gmail. The Gmail server needs a way to know all these requests are from you</a:t>
            </a:r>
            <a:endParaRPr/>
          </a:p>
          <a:p>
            <a:pPr indent="-317500" lvl="1" marL="914400" rtl="0" algn="l">
              <a:spcBef>
                <a:spcPts val="0"/>
              </a:spcBef>
              <a:spcAft>
                <a:spcPts val="0"/>
              </a:spcAft>
              <a:buSzPts val="1400"/>
              <a:buChar char="○"/>
            </a:pPr>
            <a:r>
              <a:rPr lang="en"/>
              <a:t>When the session is over (you log out, or the session expires), future requests are not associated with you</a:t>
            </a:r>
            <a:endParaRPr/>
          </a:p>
          <a:p>
            <a:pPr indent="-342900" lvl="0" marL="457200" rtl="0" algn="l">
              <a:spcBef>
                <a:spcPts val="0"/>
              </a:spcBef>
              <a:spcAft>
                <a:spcPts val="0"/>
              </a:spcAft>
              <a:buSzPts val="1800"/>
              <a:buChar char="●"/>
            </a:pPr>
            <a:r>
              <a:rPr lang="en"/>
              <a:t>Naïve solution: Type your username and password before each request</a:t>
            </a:r>
            <a:endParaRPr/>
          </a:p>
          <a:p>
            <a:pPr indent="-317500" lvl="1" marL="914400" rtl="0" algn="l">
              <a:spcBef>
                <a:spcPts val="0"/>
              </a:spcBef>
              <a:spcAft>
                <a:spcPts val="0"/>
              </a:spcAft>
              <a:buSzPts val="1400"/>
              <a:buChar char="○"/>
            </a:pPr>
            <a:r>
              <a:rPr lang="en"/>
              <a:t>Problem: Very inconvenient for the user!</a:t>
            </a:r>
            <a:endParaRPr/>
          </a:p>
          <a:p>
            <a:pPr indent="-342900" lvl="0" marL="457200" rtl="0" algn="l">
              <a:spcBef>
                <a:spcPts val="0"/>
              </a:spcBef>
              <a:spcAft>
                <a:spcPts val="0"/>
              </a:spcAft>
              <a:buSzPts val="1800"/>
              <a:buChar char="●"/>
            </a:pPr>
            <a:r>
              <a:rPr lang="en"/>
              <a:t>Better solution: Is there a way the browser can automatically send some information in a request for us?</a:t>
            </a:r>
            <a:endParaRPr/>
          </a:p>
          <a:p>
            <a:pPr indent="-317500" lvl="1" marL="914400" rtl="0" algn="l">
              <a:spcBef>
                <a:spcPts val="0"/>
              </a:spcBef>
              <a:spcAft>
                <a:spcPts val="0"/>
              </a:spcAft>
              <a:buSzPts val="1400"/>
              <a:buChar char="○"/>
            </a:pPr>
            <a:r>
              <a:rPr lang="en"/>
              <a:t>Yes: Cookies!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Authentication: Intuition</a:t>
            </a:r>
            <a:endParaRPr/>
          </a:p>
        </p:txBody>
      </p:sp>
      <p:sp>
        <p:nvSpPr>
          <p:cNvPr id="381" name="Google Shape;381;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Imagine you’re attending a concert</a:t>
            </a:r>
            <a:endParaRPr/>
          </a:p>
          <a:p>
            <a:pPr indent="-342900" lvl="0" marL="457200" rtl="0" algn="l">
              <a:spcBef>
                <a:spcPts val="0"/>
              </a:spcBef>
              <a:spcAft>
                <a:spcPts val="0"/>
              </a:spcAft>
              <a:buSzPts val="1800"/>
              <a:buChar char="●"/>
            </a:pPr>
            <a:r>
              <a:rPr lang="en"/>
              <a:t>The first time you enter the venue:</a:t>
            </a:r>
            <a:endParaRPr/>
          </a:p>
          <a:p>
            <a:pPr indent="-317500" lvl="1" marL="914400" rtl="0" algn="l">
              <a:spcBef>
                <a:spcPts val="0"/>
              </a:spcBef>
              <a:spcAft>
                <a:spcPts val="0"/>
              </a:spcAft>
              <a:buSzPts val="1400"/>
              <a:buChar char="○"/>
            </a:pPr>
            <a:r>
              <a:rPr lang="en"/>
              <a:t>Present your ticket and ID</a:t>
            </a:r>
            <a:endParaRPr/>
          </a:p>
          <a:p>
            <a:pPr indent="-317500" lvl="1" marL="914400" rtl="0" algn="l">
              <a:spcBef>
                <a:spcPts val="0"/>
              </a:spcBef>
              <a:spcAft>
                <a:spcPts val="0"/>
              </a:spcAft>
              <a:buSzPts val="1400"/>
              <a:buChar char="○"/>
            </a:pPr>
            <a:r>
              <a:rPr lang="en"/>
              <a:t>The doorperson checks your ticket and ID</a:t>
            </a:r>
            <a:endParaRPr/>
          </a:p>
          <a:p>
            <a:pPr indent="-317500" lvl="1" marL="914400" rtl="0" algn="l">
              <a:spcBef>
                <a:spcPts val="0"/>
              </a:spcBef>
              <a:spcAft>
                <a:spcPts val="0"/>
              </a:spcAft>
              <a:buSzPts val="1400"/>
              <a:buChar char="○"/>
            </a:pPr>
            <a:r>
              <a:rPr lang="en"/>
              <a:t>If they’re valid, you receive a wristband</a:t>
            </a:r>
            <a:endParaRPr/>
          </a:p>
          <a:p>
            <a:pPr indent="-342900" lvl="0" marL="457200" rtl="0" algn="l">
              <a:spcBef>
                <a:spcPts val="0"/>
              </a:spcBef>
              <a:spcAft>
                <a:spcPts val="0"/>
              </a:spcAft>
              <a:buSzPts val="1800"/>
              <a:buChar char="●"/>
            </a:pPr>
            <a:r>
              <a:rPr lang="en"/>
              <a:t>If you leave and want to re-enter later</a:t>
            </a:r>
            <a:endParaRPr/>
          </a:p>
          <a:p>
            <a:pPr indent="-317500" lvl="1" marL="914400" rtl="0" algn="l">
              <a:spcBef>
                <a:spcPts val="0"/>
              </a:spcBef>
              <a:spcAft>
                <a:spcPts val="0"/>
              </a:spcAft>
              <a:buSzPts val="1400"/>
              <a:buChar char="○"/>
            </a:pPr>
            <a:r>
              <a:rPr lang="en"/>
              <a:t>Just show your wristband!</a:t>
            </a:r>
            <a:endParaRPr/>
          </a:p>
          <a:p>
            <a:pPr indent="-317500" lvl="1" marL="914400" rtl="0" algn="l">
              <a:spcBef>
                <a:spcPts val="0"/>
              </a:spcBef>
              <a:spcAft>
                <a:spcPts val="0"/>
              </a:spcAft>
              <a:buSzPts val="1400"/>
              <a:buChar char="○"/>
            </a:pPr>
            <a:r>
              <a:rPr lang="en"/>
              <a:t>No need to present your ticket and ID again</a:t>
            </a:r>
            <a:endParaRPr/>
          </a:p>
        </p:txBody>
      </p:sp>
      <p:sp>
        <p:nvSpPr>
          <p:cNvPr id="382" name="Google Shape;38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83" name="Google Shape;383;p52"/>
          <p:cNvPicPr preferRelativeResize="0"/>
          <p:nvPr/>
        </p:nvPicPr>
        <p:blipFill>
          <a:blip r:embed="rId3">
            <a:alphaModFix/>
          </a:blip>
          <a:stretch>
            <a:fillRect/>
          </a:stretch>
        </p:blipFill>
        <p:spPr>
          <a:xfrm>
            <a:off x="5274574" y="1210398"/>
            <a:ext cx="3601900" cy="27227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Tokens</a:t>
            </a:r>
            <a:endParaRPr/>
          </a:p>
        </p:txBody>
      </p:sp>
      <p:sp>
        <p:nvSpPr>
          <p:cNvPr id="389" name="Google Shape;38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5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Session token</a:t>
            </a:r>
            <a:r>
              <a:rPr lang="en"/>
              <a:t>: A secret value used to associate requests with an authenticated user</a:t>
            </a:r>
            <a:endParaRPr/>
          </a:p>
          <a:p>
            <a:pPr indent="-342900" lvl="0" marL="457200" rtl="0" algn="l">
              <a:spcBef>
                <a:spcPts val="0"/>
              </a:spcBef>
              <a:spcAft>
                <a:spcPts val="0"/>
              </a:spcAft>
              <a:buSzPts val="1800"/>
              <a:buChar char="●"/>
            </a:pPr>
            <a:r>
              <a:rPr lang="en"/>
              <a:t>The first time you visit the website:</a:t>
            </a:r>
            <a:endParaRPr/>
          </a:p>
          <a:p>
            <a:pPr indent="-317500" lvl="1" marL="914400" rtl="0" algn="l">
              <a:spcBef>
                <a:spcPts val="0"/>
              </a:spcBef>
              <a:spcAft>
                <a:spcPts val="0"/>
              </a:spcAft>
              <a:buSzPts val="1400"/>
              <a:buChar char="○"/>
            </a:pPr>
            <a:r>
              <a:rPr lang="en"/>
              <a:t>Present your </a:t>
            </a:r>
            <a:r>
              <a:rPr lang="en"/>
              <a:t>username and password</a:t>
            </a:r>
            <a:endParaRPr/>
          </a:p>
          <a:p>
            <a:pPr indent="-317500" lvl="1" marL="914400" rtl="0" algn="l">
              <a:spcBef>
                <a:spcPts val="0"/>
              </a:spcBef>
              <a:spcAft>
                <a:spcPts val="0"/>
              </a:spcAft>
              <a:buSzPts val="1400"/>
              <a:buChar char="○"/>
            </a:pPr>
            <a:r>
              <a:rPr lang="en"/>
              <a:t>If they’re valid, you receive a session token</a:t>
            </a:r>
            <a:endParaRPr/>
          </a:p>
          <a:p>
            <a:pPr indent="-317500" lvl="1" marL="914400" rtl="0" algn="l">
              <a:spcBef>
                <a:spcPts val="0"/>
              </a:spcBef>
              <a:spcAft>
                <a:spcPts val="0"/>
              </a:spcAft>
              <a:buSzPts val="1400"/>
              <a:buChar char="○"/>
            </a:pPr>
            <a:r>
              <a:rPr lang="en"/>
              <a:t>The server associates you with the session token</a:t>
            </a:r>
            <a:endParaRPr/>
          </a:p>
          <a:p>
            <a:pPr indent="-342900" lvl="0" marL="457200" rtl="0" algn="l">
              <a:spcBef>
                <a:spcPts val="0"/>
              </a:spcBef>
              <a:spcAft>
                <a:spcPts val="0"/>
              </a:spcAft>
              <a:buSzPts val="1800"/>
              <a:buChar char="●"/>
            </a:pPr>
            <a:r>
              <a:rPr lang="en"/>
              <a:t>When you make future requests to the website:</a:t>
            </a:r>
            <a:endParaRPr/>
          </a:p>
          <a:p>
            <a:pPr indent="-317500" lvl="1" marL="914400" rtl="0" algn="l">
              <a:spcBef>
                <a:spcPts val="0"/>
              </a:spcBef>
              <a:spcAft>
                <a:spcPts val="0"/>
              </a:spcAft>
              <a:buSzPts val="1400"/>
              <a:buChar char="○"/>
            </a:pPr>
            <a:r>
              <a:rPr lang="en"/>
              <a:t>Attach the session token in your request</a:t>
            </a:r>
            <a:endParaRPr/>
          </a:p>
          <a:p>
            <a:pPr indent="-317500" lvl="1" marL="914400" rtl="0" algn="l">
              <a:spcBef>
                <a:spcPts val="0"/>
              </a:spcBef>
              <a:spcAft>
                <a:spcPts val="0"/>
              </a:spcAft>
              <a:buSzPts val="1400"/>
              <a:buChar char="○"/>
            </a:pPr>
            <a:r>
              <a:rPr lang="en"/>
              <a:t>The server checks the session token to figure out that the request is from you</a:t>
            </a:r>
            <a:endParaRPr/>
          </a:p>
          <a:p>
            <a:pPr indent="-317500" lvl="1" marL="914400" rtl="0" algn="l">
              <a:spcBef>
                <a:spcPts val="0"/>
              </a:spcBef>
              <a:spcAft>
                <a:spcPts val="0"/>
              </a:spcAft>
              <a:buSzPts val="1400"/>
              <a:buChar char="○"/>
            </a:pPr>
            <a:r>
              <a:rPr lang="en"/>
              <a:t>No need to re-enter your username and password!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Tokens with Cookies</a:t>
            </a:r>
            <a:endParaRPr/>
          </a:p>
        </p:txBody>
      </p:sp>
      <p:sp>
        <p:nvSpPr>
          <p:cNvPr id="396" name="Google Shape;396;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Session tokens can be implemented with cookies</a:t>
            </a:r>
            <a:endParaRPr/>
          </a:p>
          <a:p>
            <a:pPr indent="-317500" lvl="1" marL="914400" rtl="0" algn="l">
              <a:spcBef>
                <a:spcPts val="0"/>
              </a:spcBef>
              <a:spcAft>
                <a:spcPts val="0"/>
              </a:spcAft>
              <a:buSzPts val="1400"/>
              <a:buChar char="○"/>
            </a:pPr>
            <a:r>
              <a:rPr lang="en"/>
              <a:t>Cookies can be used to save </a:t>
            </a:r>
            <a:r>
              <a:rPr i="1" lang="en"/>
              <a:t>any</a:t>
            </a:r>
            <a:r>
              <a:rPr lang="en"/>
              <a:t> state across requests (e.g., dark mode)</a:t>
            </a:r>
            <a:endParaRPr/>
          </a:p>
          <a:p>
            <a:pPr indent="-317500" lvl="1" marL="914400" rtl="0" algn="l">
              <a:spcBef>
                <a:spcPts val="0"/>
              </a:spcBef>
              <a:spcAft>
                <a:spcPts val="0"/>
              </a:spcAft>
              <a:buSzPts val="1400"/>
              <a:buChar char="○"/>
            </a:pPr>
            <a:r>
              <a:rPr lang="en"/>
              <a:t>Session tokens are just one (common) way to use cookies</a:t>
            </a:r>
            <a:endParaRPr/>
          </a:p>
          <a:p>
            <a:pPr indent="-342900" lvl="0" marL="457200" rtl="0" algn="l">
              <a:spcBef>
                <a:spcPts val="0"/>
              </a:spcBef>
              <a:spcAft>
                <a:spcPts val="0"/>
              </a:spcAft>
              <a:buSzPts val="1800"/>
              <a:buChar char="●"/>
            </a:pPr>
            <a:r>
              <a:rPr lang="en"/>
              <a:t>The first time you visit a website:</a:t>
            </a:r>
            <a:endParaRPr/>
          </a:p>
          <a:p>
            <a:pPr indent="-317500" lvl="1" marL="914400" rtl="0" algn="l">
              <a:spcBef>
                <a:spcPts val="0"/>
              </a:spcBef>
              <a:spcAft>
                <a:spcPts val="0"/>
              </a:spcAft>
              <a:buSzPts val="1400"/>
              <a:buChar char="○"/>
            </a:pPr>
            <a:r>
              <a:rPr lang="en"/>
              <a:t>Make a request with your username and password</a:t>
            </a:r>
            <a:endParaRPr/>
          </a:p>
          <a:p>
            <a:pPr indent="-317500" lvl="1" marL="914400" rtl="0" algn="l">
              <a:spcBef>
                <a:spcPts val="0"/>
              </a:spcBef>
              <a:spcAft>
                <a:spcPts val="0"/>
              </a:spcAft>
              <a:buSzPts val="1400"/>
              <a:buChar char="○"/>
            </a:pPr>
            <a:r>
              <a:rPr lang="en"/>
              <a:t>If they’re valid, the server sends you a cookie with the session token</a:t>
            </a:r>
            <a:endParaRPr/>
          </a:p>
          <a:p>
            <a:pPr indent="-317500" lvl="1" marL="914400" rtl="0" algn="l">
              <a:spcBef>
                <a:spcPts val="0"/>
              </a:spcBef>
              <a:spcAft>
                <a:spcPts val="0"/>
              </a:spcAft>
              <a:buSzPts val="1400"/>
              <a:buChar char="○"/>
            </a:pPr>
            <a:r>
              <a:rPr lang="en"/>
              <a:t>The server associates you with the session token</a:t>
            </a:r>
            <a:endParaRPr/>
          </a:p>
          <a:p>
            <a:pPr indent="-342900" lvl="0" marL="457200" rtl="0" algn="l">
              <a:spcBef>
                <a:spcPts val="0"/>
              </a:spcBef>
              <a:spcAft>
                <a:spcPts val="0"/>
              </a:spcAft>
              <a:buSzPts val="1800"/>
              <a:buChar char="●"/>
            </a:pPr>
            <a:r>
              <a:rPr lang="en"/>
              <a:t>When you make future requests to the </a:t>
            </a:r>
            <a:r>
              <a:rPr lang="en"/>
              <a:t>website:</a:t>
            </a:r>
            <a:endParaRPr/>
          </a:p>
          <a:p>
            <a:pPr indent="-317500" lvl="1" marL="914400" rtl="0" algn="l">
              <a:spcBef>
                <a:spcPts val="0"/>
              </a:spcBef>
              <a:spcAft>
                <a:spcPts val="0"/>
              </a:spcAft>
              <a:buSzPts val="1400"/>
              <a:buChar char="○"/>
            </a:pPr>
            <a:r>
              <a:rPr lang="en"/>
              <a:t>The browser attaches the session token cookie in your request</a:t>
            </a:r>
            <a:endParaRPr/>
          </a:p>
          <a:p>
            <a:pPr indent="-317500" lvl="1" marL="914400" rtl="0" algn="l">
              <a:spcBef>
                <a:spcPts val="0"/>
              </a:spcBef>
              <a:spcAft>
                <a:spcPts val="0"/>
              </a:spcAft>
              <a:buSzPts val="1400"/>
              <a:buChar char="○"/>
            </a:pPr>
            <a:r>
              <a:rPr lang="en"/>
              <a:t>The server checks the session token to figure out that the request is from you</a:t>
            </a:r>
            <a:endParaRPr/>
          </a:p>
          <a:p>
            <a:pPr indent="-317500" lvl="1" marL="914400" rtl="0" algn="l">
              <a:spcBef>
                <a:spcPts val="0"/>
              </a:spcBef>
              <a:spcAft>
                <a:spcPts val="0"/>
              </a:spcAft>
              <a:buSzPts val="1400"/>
              <a:buChar char="○"/>
            </a:pPr>
            <a:r>
              <a:rPr lang="en"/>
              <a:t>No need to re-enter your username and password!</a:t>
            </a:r>
            <a:endParaRPr/>
          </a:p>
          <a:p>
            <a:pPr indent="-342900" lvl="0" marL="457200" rtl="0" algn="l">
              <a:spcBef>
                <a:spcPts val="0"/>
              </a:spcBef>
              <a:spcAft>
                <a:spcPts val="0"/>
              </a:spcAft>
              <a:buSzPts val="1800"/>
              <a:buChar char="●"/>
            </a:pPr>
            <a:r>
              <a:rPr lang="en"/>
              <a:t>When you log out (or when the session times out):</a:t>
            </a:r>
            <a:endParaRPr/>
          </a:p>
          <a:p>
            <a:pPr indent="-317500" lvl="1" marL="914400" rtl="0" algn="l">
              <a:spcBef>
                <a:spcPts val="0"/>
              </a:spcBef>
              <a:spcAft>
                <a:spcPts val="0"/>
              </a:spcAft>
              <a:buSzPts val="1400"/>
              <a:buChar char="○"/>
            </a:pPr>
            <a:r>
              <a:rPr lang="en"/>
              <a:t>The browser and server delete the session token</a:t>
            </a:r>
            <a:endParaRPr/>
          </a:p>
        </p:txBody>
      </p:sp>
      <p:sp>
        <p:nvSpPr>
          <p:cNvPr id="397" name="Google Shape;39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Basic Idea: Intuition (A Close Approximation)</a:t>
            </a:r>
            <a:endParaRPr/>
          </a:p>
        </p:txBody>
      </p:sp>
      <p:sp>
        <p:nvSpPr>
          <p:cNvPr id="403" name="Google Shape;403;p5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Server sends the browser a cookie</a:t>
            </a:r>
            <a:endParaRPr b="1"/>
          </a:p>
          <a:p>
            <a:pPr indent="-342900" lvl="0" marL="457200" rtl="0" algn="l">
              <a:spcBef>
                <a:spcPts val="0"/>
              </a:spcBef>
              <a:spcAft>
                <a:spcPts val="0"/>
              </a:spcAft>
              <a:buSzPts val="1800"/>
              <a:buChar char="●"/>
            </a:pPr>
            <a:r>
              <a:rPr lang="en"/>
              <a:t>The cookie is attached to every subsequent request to the same server that originally set the cookie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The cookie contains a random, unique value that identifies the user: e.g.,</a:t>
            </a:r>
            <a:br>
              <a:rPr lang="en"/>
            </a:br>
            <a:r>
              <a:rPr lang="en"/>
              <a:t>sessionid=09c3ad..9f</a:t>
            </a:r>
            <a:endParaRPr/>
          </a:p>
          <a:p>
            <a:pPr indent="-342900" lvl="0" marL="457200" rtl="0" algn="l">
              <a:spcBef>
                <a:spcPts val="0"/>
              </a:spcBef>
              <a:spcAft>
                <a:spcPts val="0"/>
              </a:spcAft>
              <a:buSzPts val="1800"/>
              <a:buChar char="●"/>
            </a:pPr>
            <a:r>
              <a:rPr lang="en"/>
              <a:t>The browser remembers the domain of the server that set the cookie, and sends this value along with every request to that domain</a:t>
            </a:r>
            <a:endParaRPr/>
          </a:p>
          <a:p>
            <a:pPr indent="-342900" lvl="0" marL="457200" rtl="0" algn="l">
              <a:spcBef>
                <a:spcPts val="0"/>
              </a:spcBef>
              <a:spcAft>
                <a:spcPts val="0"/>
              </a:spcAft>
              <a:buSzPts val="1800"/>
              <a:buChar char="●"/>
            </a:pPr>
            <a:r>
              <a:rPr lang="en"/>
              <a:t>The server remembers the association </a:t>
            </a:r>
            <a:r>
              <a:rPr lang="en"/>
              <a:t>sessionid=09c3ad..9f ⇄ userid=daw</a:t>
            </a:r>
            <a:endParaRPr/>
          </a:p>
          <a:p>
            <a:pPr indent="-342900" lvl="0" marL="457200" rtl="0" algn="l">
              <a:spcBef>
                <a:spcPts val="0"/>
              </a:spcBef>
              <a:spcAft>
                <a:spcPts val="0"/>
              </a:spcAft>
              <a:buSzPts val="1800"/>
              <a:buChar char="●"/>
            </a:pPr>
            <a:r>
              <a:rPr lang="en"/>
              <a:t>This way, the server can associate each request to the user who is logged in</a:t>
            </a:r>
            <a:endParaRPr/>
          </a:p>
        </p:txBody>
      </p:sp>
      <p:sp>
        <p:nvSpPr>
          <p:cNvPr id="404" name="Google Shape;404;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Tokens: Security</a:t>
            </a:r>
            <a:endParaRPr/>
          </a:p>
        </p:txBody>
      </p:sp>
      <p:sp>
        <p:nvSpPr>
          <p:cNvPr id="410" name="Google Shape;410;p5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an attacker steals your session token, they can log in as you!</a:t>
            </a:r>
            <a:endParaRPr/>
          </a:p>
          <a:p>
            <a:pPr indent="-317500" lvl="1" marL="914400" rtl="0" algn="l">
              <a:spcBef>
                <a:spcPts val="0"/>
              </a:spcBef>
              <a:spcAft>
                <a:spcPts val="0"/>
              </a:spcAft>
              <a:buSzPts val="1400"/>
              <a:buChar char="○"/>
            </a:pPr>
            <a:r>
              <a:rPr lang="en"/>
              <a:t>The attacker can make requests and attach your session token</a:t>
            </a:r>
            <a:endParaRPr/>
          </a:p>
          <a:p>
            <a:pPr indent="-317500" lvl="1" marL="914400" rtl="0" algn="l">
              <a:spcBef>
                <a:spcPts val="0"/>
              </a:spcBef>
              <a:spcAft>
                <a:spcPts val="0"/>
              </a:spcAft>
              <a:buSzPts val="1400"/>
              <a:buChar char="○"/>
            </a:pPr>
            <a:r>
              <a:rPr lang="en"/>
              <a:t>The server will think the attacker’s requests come from you</a:t>
            </a:r>
            <a:endParaRPr/>
          </a:p>
          <a:p>
            <a:pPr indent="-342900" lvl="0" marL="457200" rtl="0" algn="l">
              <a:spcBef>
                <a:spcPts val="0"/>
              </a:spcBef>
              <a:spcAft>
                <a:spcPts val="0"/>
              </a:spcAft>
              <a:buSzPts val="1800"/>
              <a:buChar char="●"/>
            </a:pPr>
            <a:r>
              <a:rPr lang="en"/>
              <a:t>Servers need to generate session tokens </a:t>
            </a:r>
            <a:r>
              <a:rPr i="1" lang="en"/>
              <a:t>randomly</a:t>
            </a:r>
            <a:r>
              <a:rPr lang="en"/>
              <a:t> and </a:t>
            </a:r>
            <a:r>
              <a:rPr i="1" lang="en"/>
              <a:t>securely</a:t>
            </a:r>
            <a:endParaRPr/>
          </a:p>
          <a:p>
            <a:pPr indent="-342900" lvl="0" marL="457200" rtl="0" algn="l">
              <a:spcBef>
                <a:spcPts val="0"/>
              </a:spcBef>
              <a:spcAft>
                <a:spcPts val="0"/>
              </a:spcAft>
              <a:buSzPts val="1800"/>
              <a:buChar char="●"/>
            </a:pPr>
            <a:r>
              <a:rPr lang="en"/>
              <a:t>Browsers need to make sure malicious websites cannot steal session tokens</a:t>
            </a:r>
            <a:endParaRPr/>
          </a:p>
          <a:p>
            <a:pPr indent="-317500" lvl="1" marL="914400" rtl="0" algn="l">
              <a:spcBef>
                <a:spcPts val="0"/>
              </a:spcBef>
              <a:spcAft>
                <a:spcPts val="0"/>
              </a:spcAft>
              <a:buSzPts val="1400"/>
              <a:buChar char="○"/>
            </a:pPr>
            <a:r>
              <a:rPr lang="en"/>
              <a:t>Enforce isolation with cookie policy and same-origin policy</a:t>
            </a:r>
            <a:endParaRPr/>
          </a:p>
          <a:p>
            <a:pPr indent="-342900" lvl="0" marL="457200" rtl="0" algn="l">
              <a:spcBef>
                <a:spcPts val="0"/>
              </a:spcBef>
              <a:spcAft>
                <a:spcPts val="0"/>
              </a:spcAft>
              <a:buSzPts val="1800"/>
              <a:buChar char="●"/>
            </a:pPr>
            <a:r>
              <a:rPr lang="en"/>
              <a:t>Browsers should not send session tokens to the wrong websites</a:t>
            </a:r>
            <a:endParaRPr/>
          </a:p>
          <a:p>
            <a:pPr indent="-317500" lvl="1" marL="914400" rtl="0" algn="l">
              <a:spcBef>
                <a:spcPts val="0"/>
              </a:spcBef>
              <a:spcAft>
                <a:spcPts val="0"/>
              </a:spcAft>
              <a:buSzPts val="1400"/>
              <a:buChar char="○"/>
            </a:pPr>
            <a:r>
              <a:rPr lang="en"/>
              <a:t>Enforced by cookie policy</a:t>
            </a:r>
            <a:endParaRPr/>
          </a:p>
        </p:txBody>
      </p:sp>
      <p:sp>
        <p:nvSpPr>
          <p:cNvPr id="411" name="Google Shape;411;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Token Cookie Attributes</a:t>
            </a:r>
            <a:endParaRPr/>
          </a:p>
        </p:txBody>
      </p:sp>
      <p:sp>
        <p:nvSpPr>
          <p:cNvPr id="417" name="Google Shape;417;p5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attributes should the server set for the session token?</a:t>
            </a:r>
            <a:endParaRPr/>
          </a:p>
          <a:p>
            <a:pPr indent="-317500" lvl="1" marL="914400" rtl="0" algn="l">
              <a:spcBef>
                <a:spcPts val="0"/>
              </a:spcBef>
              <a:spcAft>
                <a:spcPts val="0"/>
              </a:spcAft>
              <a:buSzPts val="1400"/>
              <a:buChar char="○"/>
            </a:pPr>
            <a:r>
              <a:rPr lang="en"/>
              <a:t>Domain and Path: Set so that the cookie is only sent on requests that require authentication</a:t>
            </a:r>
            <a:endParaRPr/>
          </a:p>
          <a:p>
            <a:pPr indent="-317500" lvl="1" marL="914400" rtl="0" algn="l">
              <a:spcBef>
                <a:spcPts val="0"/>
              </a:spcBef>
              <a:spcAft>
                <a:spcPts val="0"/>
              </a:spcAft>
              <a:buSzPts val="1400"/>
              <a:buChar char="○"/>
            </a:pPr>
            <a:r>
              <a:rPr lang="en"/>
              <a:t>Secure: Can set to True to so the cookie is only sent over secure HTTPS connections</a:t>
            </a:r>
            <a:endParaRPr/>
          </a:p>
          <a:p>
            <a:pPr indent="-317500" lvl="1" marL="914400" rtl="0" algn="l">
              <a:spcBef>
                <a:spcPts val="0"/>
              </a:spcBef>
              <a:spcAft>
                <a:spcPts val="0"/>
              </a:spcAft>
              <a:buSzPts val="1400"/>
              <a:buChar char="○"/>
            </a:pPr>
            <a:r>
              <a:rPr lang="en"/>
              <a:t>HttpOnly</a:t>
            </a:r>
            <a:r>
              <a:rPr lang="en"/>
              <a:t>: Can set to True so JavaScript can’t access session tokens</a:t>
            </a:r>
            <a:endParaRPr/>
          </a:p>
          <a:p>
            <a:pPr indent="-317500" lvl="1" marL="914400" rtl="0" algn="l">
              <a:spcBef>
                <a:spcPts val="0"/>
              </a:spcBef>
              <a:spcAft>
                <a:spcPts val="0"/>
              </a:spcAft>
              <a:buSzPts val="1400"/>
              <a:buChar char="○"/>
            </a:pPr>
            <a:r>
              <a:rPr lang="en"/>
              <a:t>Expires: Set so that the cookie expires when the session times out</a:t>
            </a:r>
            <a:endParaRPr/>
          </a:p>
        </p:txBody>
      </p:sp>
      <p:sp>
        <p:nvSpPr>
          <p:cNvPr id="418" name="Google Shape;41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419" name="Google Shape;419;p57"/>
          <p:cNvGraphicFramePr/>
          <p:nvPr/>
        </p:nvGraphicFramePr>
        <p:xfrm>
          <a:off x="5512600" y="1246825"/>
          <a:ext cx="3000000" cy="3000000"/>
        </p:xfrm>
        <a:graphic>
          <a:graphicData uri="http://schemas.openxmlformats.org/drawingml/2006/table">
            <a:tbl>
              <a:tblPr>
                <a:noFill/>
                <a:tableStyleId>{44CF8845-A869-4F73-BFDA-305FE5F4EC43}</a:tableStyleId>
              </a:tblPr>
              <a:tblGrid>
                <a:gridCol w="1030475"/>
                <a:gridCol w="2202375"/>
              </a:tblGrid>
              <a:tr h="39620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token</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Value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{random value}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Domain</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mail.google.com</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Path</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Secure</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True</a:t>
                      </a:r>
                      <a:endParaRPr b="1">
                        <a:latin typeface="Courier New"/>
                        <a:ea typeface="Courier New"/>
                        <a:cs typeface="Courier New"/>
                        <a:sym typeface="Courier New"/>
                      </a:endParaRPr>
                    </a:p>
                  </a:txBody>
                  <a:tcPr marT="91425" marB="91425" marR="91425" marL="91425"/>
                </a:tc>
              </a:tr>
              <a:tr h="396200">
                <a:tc>
                  <a:txBody>
                    <a:bodyPr/>
                    <a:lstStyle/>
                    <a:p>
                      <a:pPr indent="0" lvl="0" marL="0" rtl="0" algn="l">
                        <a:spcBef>
                          <a:spcPts val="0"/>
                        </a:spcBef>
                        <a:spcAft>
                          <a:spcPts val="0"/>
                        </a:spcAft>
                        <a:buNone/>
                      </a:pPr>
                      <a:r>
                        <a:rPr lang="en"/>
                        <a:t>HttpOnly</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True</a:t>
                      </a:r>
                      <a:endParaRPr b="1">
                        <a:latin typeface="Courier New"/>
                        <a:ea typeface="Courier New"/>
                        <a:cs typeface="Courier New"/>
                        <a:sym typeface="Courier New"/>
                      </a:endParaRPr>
                    </a:p>
                  </a:txBody>
                  <a:tcPr marT="91425" marB="91425" marR="91425" marL="91425"/>
                </a:tc>
              </a:tr>
              <a:tr h="433050">
                <a:tc>
                  <a:txBody>
                    <a:bodyPr/>
                    <a:lstStyle/>
                    <a:p>
                      <a:pPr indent="0" lvl="0" marL="0" rtl="0" algn="l">
                        <a:spcBef>
                          <a:spcPts val="0"/>
                        </a:spcBef>
                        <a:spcAft>
                          <a:spcPts val="0"/>
                        </a:spcAft>
                        <a:buNone/>
                      </a:pPr>
                      <a:r>
                        <a:rPr lang="en"/>
                        <a:t>Expires</a:t>
                      </a:r>
                      <a:endParaRPr/>
                    </a:p>
                  </a:txBody>
                  <a:tcPr marT="91425" marB="91425" marR="91425" marL="91425"/>
                </a:tc>
                <a:tc>
                  <a:txBody>
                    <a:bodyPr/>
                    <a:lstStyle/>
                    <a:p>
                      <a:pPr indent="0" lvl="0" marL="0" rtl="0" algn="l">
                        <a:spcBef>
                          <a:spcPts val="0"/>
                        </a:spcBef>
                        <a:spcAft>
                          <a:spcPts val="0"/>
                        </a:spcAft>
                        <a:buNone/>
                      </a:pPr>
                      <a:r>
                        <a:rPr b="1" lang="en">
                          <a:latin typeface="Courier New"/>
                          <a:ea typeface="Courier New"/>
                          <a:cs typeface="Courier New"/>
                          <a:sym typeface="Courier New"/>
                        </a:rPr>
                        <a:t>{15 minutes later}</a:t>
                      </a:r>
                      <a:endParaRPr b="1">
                        <a:latin typeface="Courier New"/>
                        <a:ea typeface="Courier New"/>
                        <a:cs typeface="Courier New"/>
                        <a:sym typeface="Courier New"/>
                      </a:endParaRPr>
                    </a:p>
                  </a:txBody>
                  <a:tcPr marT="91425" marB="91425" marR="91425" marL="91425"/>
                </a:tc>
              </a:tr>
              <a:tr h="396200">
                <a:tc gridSpan="2">
                  <a:txBody>
                    <a:bodyPr/>
                    <a:lstStyle/>
                    <a:p>
                      <a:pPr indent="0" lvl="0" marL="0" rtl="0" algn="l">
                        <a:spcBef>
                          <a:spcPts val="0"/>
                        </a:spcBef>
                        <a:spcAft>
                          <a:spcPts val="0"/>
                        </a:spcAft>
                        <a:buNone/>
                      </a:pPr>
                      <a:r>
                        <a:rPr lang="en"/>
                        <a:t>(</a:t>
                      </a:r>
                      <a:r>
                        <a:rPr i="1" lang="en"/>
                        <a:t>other fields omitted</a:t>
                      </a:r>
                      <a:r>
                        <a:rPr lang="en"/>
                        <a:t>)</a:t>
                      </a:r>
                      <a:endParaRPr/>
                    </a:p>
                  </a:txBody>
                  <a:tcPr marT="91425" marB="91425" marR="91425" marL="91425"/>
                </a:tc>
                <a:tc hMerge="1"/>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Cross-Site Request Forgery (CSRF)</a:t>
            </a:r>
            <a:endParaRPr/>
          </a:p>
        </p:txBody>
      </p:sp>
      <p:sp>
        <p:nvSpPr>
          <p:cNvPr id="425" name="Google Shape;42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26" name="Google Shape;426;p58"/>
          <p:cNvPicPr preferRelativeResize="0"/>
          <p:nvPr/>
        </p:nvPicPr>
        <p:blipFill>
          <a:blip r:embed="rId3">
            <a:alphaModFix/>
          </a:blip>
          <a:stretch>
            <a:fillRect/>
          </a:stretch>
        </p:blipFill>
        <p:spPr>
          <a:xfrm>
            <a:off x="2693763" y="3095025"/>
            <a:ext cx="3756464" cy="18460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Cookies and Session Tokens</a:t>
            </a:r>
            <a:endParaRPr/>
          </a:p>
        </p:txBody>
      </p:sp>
      <p:sp>
        <p:nvSpPr>
          <p:cNvPr id="432" name="Google Shape;432;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Session token cookies are used to associate a request with a user</a:t>
            </a:r>
            <a:endParaRPr/>
          </a:p>
          <a:p>
            <a:pPr indent="-342900" lvl="0" marL="457200" rtl="0" algn="l">
              <a:spcBef>
                <a:spcPts val="0"/>
              </a:spcBef>
              <a:spcAft>
                <a:spcPts val="0"/>
              </a:spcAft>
              <a:buSzPts val="1800"/>
              <a:buChar char="●"/>
            </a:pPr>
            <a:r>
              <a:rPr lang="en"/>
              <a:t>The browser automatically attaches </a:t>
            </a:r>
            <a:r>
              <a:rPr lang="en"/>
              <a:t>relevant cookies in every request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Cross-Site Request Forgery (CSRF)</a:t>
            </a:r>
            <a:endParaRPr/>
          </a:p>
        </p:txBody>
      </p:sp>
      <p:sp>
        <p:nvSpPr>
          <p:cNvPr id="439" name="Google Shape;439;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What if the attacker tricks the victim into making an unintended request?</a:t>
            </a:r>
            <a:endParaRPr/>
          </a:p>
          <a:p>
            <a:pPr indent="-317500" lvl="1" marL="914400" rtl="0" algn="l">
              <a:spcBef>
                <a:spcPts val="0"/>
              </a:spcBef>
              <a:spcAft>
                <a:spcPts val="0"/>
              </a:spcAft>
              <a:buSzPts val="1400"/>
              <a:buChar char="○"/>
            </a:pPr>
            <a:r>
              <a:rPr lang="en"/>
              <a:t>The victim’s browser will automatically attach relevant cookies</a:t>
            </a:r>
            <a:endParaRPr/>
          </a:p>
          <a:p>
            <a:pPr indent="-317500" lvl="1" marL="914400" rtl="0" algn="l">
              <a:spcBef>
                <a:spcPts val="0"/>
              </a:spcBef>
              <a:spcAft>
                <a:spcPts val="0"/>
              </a:spcAft>
              <a:buSzPts val="1400"/>
              <a:buChar char="○"/>
            </a:pPr>
            <a:r>
              <a:rPr lang="en"/>
              <a:t>The server will think the request came from the victim!</a:t>
            </a:r>
            <a:endParaRPr/>
          </a:p>
          <a:p>
            <a:pPr indent="-342900" lvl="0" marL="457200" rtl="0" algn="l">
              <a:spcBef>
                <a:spcPts val="0"/>
              </a:spcBef>
              <a:spcAft>
                <a:spcPts val="0"/>
              </a:spcAft>
              <a:buSzPts val="1800"/>
              <a:buChar char="●"/>
            </a:pPr>
            <a:r>
              <a:rPr b="1" lang="en"/>
              <a:t>Cross-site request forgery (CSRF or XSRF)</a:t>
            </a:r>
            <a:r>
              <a:rPr lang="en"/>
              <a:t>: An attack that exploits cookie-based authentication to perform an action as the victim</a:t>
            </a:r>
            <a:endParaRPr/>
          </a:p>
        </p:txBody>
      </p:sp>
      <p:sp>
        <p:nvSpPr>
          <p:cNvPr id="440" name="Google Shape;440;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Analogy: Passing Notes to My Banker</a:t>
            </a:r>
            <a:endParaRPr/>
          </a:p>
        </p:txBody>
      </p:sp>
      <p:sp>
        <p:nvSpPr>
          <p:cNvPr id="446" name="Google Shape;446;p61"/>
          <p:cNvSpPr txBox="1"/>
          <p:nvPr>
            <p:ph idx="1" type="body"/>
          </p:nvPr>
        </p:nvSpPr>
        <p:spPr>
          <a:xfrm>
            <a:off x="198500" y="1246825"/>
            <a:ext cx="8945400" cy="399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have a bank account with a local bank, with $1000 in my checking account.</a:t>
            </a:r>
            <a:endParaRPr/>
          </a:p>
          <a:p>
            <a:pPr indent="-342900" lvl="0" marL="457200" rtl="0" algn="l">
              <a:spcBef>
                <a:spcPts val="0"/>
              </a:spcBef>
              <a:spcAft>
                <a:spcPts val="0"/>
              </a:spcAft>
              <a:buSzPts val="1800"/>
              <a:buChar char="●"/>
            </a:pPr>
            <a:r>
              <a:rPr lang="en"/>
              <a:t>I can pay someone at any time by writing out a check (a note </a:t>
            </a:r>
            <a:r>
              <a:rPr lang="en"/>
              <a:t>that is verified to come from me that</a:t>
            </a:r>
            <a:r>
              <a:rPr lang="en"/>
              <a:t> says, e.g., "Please pay $50 to Alice from my account."), and giving this check to my bank</a:t>
            </a:r>
            <a:endParaRPr/>
          </a:p>
          <a:p>
            <a:pPr indent="-342900" lvl="0" marL="457200" rtl="0" algn="l">
              <a:spcBef>
                <a:spcPts val="0"/>
              </a:spcBef>
              <a:spcAft>
                <a:spcPts val="0"/>
              </a:spcAft>
              <a:buSzPts val="1800"/>
              <a:buChar char="●"/>
            </a:pPr>
            <a:r>
              <a:rPr lang="en"/>
              <a:t>I'm at a party, and a stranger Genevieve confides to me that she has a crush on a guy there and convinces me to pass a romantic note to him without reading it.</a:t>
            </a:r>
            <a:endParaRPr/>
          </a:p>
          <a:p>
            <a:pPr indent="-342900" lvl="0" marL="457200" rtl="0" algn="l">
              <a:spcBef>
                <a:spcPts val="0"/>
              </a:spcBef>
              <a:spcAft>
                <a:spcPts val="0"/>
              </a:spcAft>
              <a:buSzPts val="1800"/>
              <a:buChar char="●"/>
            </a:pPr>
            <a:r>
              <a:rPr lang="en"/>
              <a:t>Unbeknownst to me, the note actually says "Please pay $1000 to Genevieve from my account" ... and the guy is my banker.  When he receives the note, he assumes I want to pay Genevieve and transfers money from my account to her.</a:t>
            </a:r>
            <a:endParaRPr/>
          </a:p>
          <a:p>
            <a:pPr indent="-342900" lvl="0" marL="457200" rtl="0" algn="l">
              <a:spcBef>
                <a:spcPts val="0"/>
              </a:spcBef>
              <a:spcAft>
                <a:spcPts val="0"/>
              </a:spcAft>
              <a:buSzPts val="1800"/>
              <a:buChar char="●"/>
            </a:pPr>
            <a:r>
              <a:rPr lang="en"/>
              <a:t>The flaw: My banker assumed that if a request came from me, I must have authorized it.</a:t>
            </a:r>
            <a:endParaRPr/>
          </a:p>
        </p:txBody>
      </p:sp>
      <p:sp>
        <p:nvSpPr>
          <p:cNvPr id="447" name="Google Shape;447;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CSRF Attack</a:t>
            </a:r>
            <a:endParaRPr/>
          </a:p>
        </p:txBody>
      </p:sp>
      <p:sp>
        <p:nvSpPr>
          <p:cNvPr id="453" name="Google Shape;453;p62"/>
          <p:cNvSpPr txBox="1"/>
          <p:nvPr>
            <p:ph idx="1" type="body"/>
          </p:nvPr>
        </p:nvSpPr>
        <p:spPr>
          <a:xfrm>
            <a:off x="198500" y="1246825"/>
            <a:ext cx="8520600" cy="175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454" name="Google Shape;454;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5" name="Google Shape;455;p62"/>
          <p:cNvSpPr/>
          <p:nvPr/>
        </p:nvSpPr>
        <p:spPr>
          <a:xfrm>
            <a:off x="1473150" y="42879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sp>
        <p:nvSpPr>
          <p:cNvPr id="456" name="Google Shape;456;p62"/>
          <p:cNvSpPr/>
          <p:nvPr/>
        </p:nvSpPr>
        <p:spPr>
          <a:xfrm>
            <a:off x="1473150" y="29277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User</a:t>
            </a:r>
            <a:endParaRPr sz="1600"/>
          </a:p>
        </p:txBody>
      </p:sp>
      <p:sp>
        <p:nvSpPr>
          <p:cNvPr id="457" name="Google Shape;457;p62"/>
          <p:cNvSpPr/>
          <p:nvPr/>
        </p:nvSpPr>
        <p:spPr>
          <a:xfrm>
            <a:off x="4961875" y="34416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Server</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CSRF Attack</a:t>
            </a:r>
            <a:endParaRPr/>
          </a:p>
        </p:txBody>
      </p:sp>
      <p:sp>
        <p:nvSpPr>
          <p:cNvPr id="463" name="Google Shape;463;p63"/>
          <p:cNvSpPr txBox="1"/>
          <p:nvPr>
            <p:ph idx="1" type="body"/>
          </p:nvPr>
        </p:nvSpPr>
        <p:spPr>
          <a:xfrm>
            <a:off x="198500" y="1246825"/>
            <a:ext cx="8520600" cy="175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User authenticates to the server</a:t>
            </a:r>
            <a:endParaRPr/>
          </a:p>
          <a:p>
            <a:pPr indent="-317500" lvl="1" marL="914400" rtl="0" algn="l">
              <a:spcBef>
                <a:spcPts val="0"/>
              </a:spcBef>
              <a:spcAft>
                <a:spcPts val="0"/>
              </a:spcAft>
              <a:buSzPts val="1400"/>
              <a:buChar char="○"/>
            </a:pPr>
            <a:r>
              <a:rPr lang="en"/>
              <a:t>User receives a cookie with a valid session token</a:t>
            </a:r>
            <a:endParaRPr/>
          </a:p>
          <a:p>
            <a:pPr indent="0" lvl="0" marL="0" rtl="0" algn="l">
              <a:spcBef>
                <a:spcPts val="1200"/>
              </a:spcBef>
              <a:spcAft>
                <a:spcPts val="1200"/>
              </a:spcAft>
              <a:buNone/>
            </a:pPr>
            <a:r>
              <a:t/>
            </a:r>
            <a:endParaRPr/>
          </a:p>
        </p:txBody>
      </p:sp>
      <p:sp>
        <p:nvSpPr>
          <p:cNvPr id="464" name="Google Shape;464;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3"/>
          <p:cNvSpPr/>
          <p:nvPr/>
        </p:nvSpPr>
        <p:spPr>
          <a:xfrm>
            <a:off x="1473150" y="42879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sp>
        <p:nvSpPr>
          <p:cNvPr id="466" name="Google Shape;466;p63"/>
          <p:cNvSpPr/>
          <p:nvPr/>
        </p:nvSpPr>
        <p:spPr>
          <a:xfrm>
            <a:off x="1473150" y="29277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User</a:t>
            </a:r>
            <a:endParaRPr sz="1600"/>
          </a:p>
        </p:txBody>
      </p:sp>
      <p:sp>
        <p:nvSpPr>
          <p:cNvPr id="467" name="Google Shape;467;p63"/>
          <p:cNvSpPr/>
          <p:nvPr/>
        </p:nvSpPr>
        <p:spPr>
          <a:xfrm>
            <a:off x="4961875" y="34416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Server</a:t>
            </a:r>
            <a:endParaRPr sz="1600"/>
          </a:p>
        </p:txBody>
      </p:sp>
      <p:cxnSp>
        <p:nvCxnSpPr>
          <p:cNvPr id="468" name="Google Shape;468;p63"/>
          <p:cNvCxnSpPr/>
          <p:nvPr/>
        </p:nvCxnSpPr>
        <p:spPr>
          <a:xfrm>
            <a:off x="2512350" y="3137875"/>
            <a:ext cx="2449500" cy="513900"/>
          </a:xfrm>
          <a:prstGeom prst="straightConnector1">
            <a:avLst/>
          </a:prstGeom>
          <a:noFill/>
          <a:ln cap="flat" cmpd="sng" w="9525">
            <a:solidFill>
              <a:schemeClr val="dk2"/>
            </a:solidFill>
            <a:prstDash val="solid"/>
            <a:round/>
            <a:headEnd len="med" w="med" type="triangle"/>
            <a:tailEnd len="med" w="med" type="triangle"/>
          </a:ln>
        </p:spPr>
      </p:cxnSp>
      <p:sp>
        <p:nvSpPr>
          <p:cNvPr id="469" name="Google Shape;469;p63"/>
          <p:cNvSpPr txBox="1"/>
          <p:nvPr/>
        </p:nvSpPr>
        <p:spPr>
          <a:xfrm rot="686041">
            <a:off x="2636086" y="3025670"/>
            <a:ext cx="2309332"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1. Login</a:t>
            </a:r>
            <a:endParaRPr/>
          </a:p>
        </p:txBody>
      </p:sp>
      <p:pic>
        <p:nvPicPr>
          <p:cNvPr id="470" name="Google Shape;470;p63"/>
          <p:cNvPicPr preferRelativeResize="0"/>
          <p:nvPr/>
        </p:nvPicPr>
        <p:blipFill>
          <a:blip r:embed="rId3">
            <a:alphaModFix/>
          </a:blip>
          <a:stretch>
            <a:fillRect/>
          </a:stretch>
        </p:blipFill>
        <p:spPr>
          <a:xfrm flipH="1">
            <a:off x="2512357" y="3356575"/>
            <a:ext cx="294018" cy="295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CSRF Attack</a:t>
            </a:r>
            <a:endParaRPr/>
          </a:p>
        </p:txBody>
      </p:sp>
      <p:sp>
        <p:nvSpPr>
          <p:cNvPr id="476" name="Google Shape;476;p64"/>
          <p:cNvSpPr txBox="1"/>
          <p:nvPr>
            <p:ph idx="1" type="body"/>
          </p:nvPr>
        </p:nvSpPr>
        <p:spPr>
          <a:xfrm>
            <a:off x="198500" y="1246825"/>
            <a:ext cx="8520600" cy="175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User authenticates to the server</a:t>
            </a:r>
            <a:endParaRPr/>
          </a:p>
          <a:p>
            <a:pPr indent="-317500" lvl="1" marL="914400" rtl="0" algn="l">
              <a:spcBef>
                <a:spcPts val="0"/>
              </a:spcBef>
              <a:spcAft>
                <a:spcPts val="0"/>
              </a:spcAft>
              <a:buSzPts val="1400"/>
              <a:buChar char="○"/>
            </a:pPr>
            <a:r>
              <a:rPr lang="en"/>
              <a:t>User receives a cookie with a valid session token</a:t>
            </a:r>
            <a:endParaRPr/>
          </a:p>
          <a:p>
            <a:pPr indent="-342900" lvl="0" marL="457200" rtl="0" algn="l">
              <a:spcBef>
                <a:spcPts val="0"/>
              </a:spcBef>
              <a:spcAft>
                <a:spcPts val="0"/>
              </a:spcAft>
              <a:buSzPts val="1800"/>
              <a:buAutoNum type="arabicPeriod"/>
            </a:pPr>
            <a:r>
              <a:rPr lang="en"/>
              <a:t>Attacker tricks the victim into making a malicious request to the server</a:t>
            </a:r>
            <a:endParaRPr/>
          </a:p>
        </p:txBody>
      </p:sp>
      <p:sp>
        <p:nvSpPr>
          <p:cNvPr id="477" name="Google Shape;477;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64"/>
          <p:cNvSpPr/>
          <p:nvPr/>
        </p:nvSpPr>
        <p:spPr>
          <a:xfrm>
            <a:off x="1473150" y="42879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sp>
        <p:nvSpPr>
          <p:cNvPr id="479" name="Google Shape;479;p64"/>
          <p:cNvSpPr/>
          <p:nvPr/>
        </p:nvSpPr>
        <p:spPr>
          <a:xfrm>
            <a:off x="1473150" y="29277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User</a:t>
            </a:r>
            <a:endParaRPr sz="1600"/>
          </a:p>
        </p:txBody>
      </p:sp>
      <p:sp>
        <p:nvSpPr>
          <p:cNvPr id="480" name="Google Shape;480;p64"/>
          <p:cNvSpPr/>
          <p:nvPr/>
        </p:nvSpPr>
        <p:spPr>
          <a:xfrm>
            <a:off x="4961875" y="34416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Server</a:t>
            </a:r>
            <a:endParaRPr sz="1600"/>
          </a:p>
        </p:txBody>
      </p:sp>
      <p:cxnSp>
        <p:nvCxnSpPr>
          <p:cNvPr id="481" name="Google Shape;481;p64"/>
          <p:cNvCxnSpPr/>
          <p:nvPr/>
        </p:nvCxnSpPr>
        <p:spPr>
          <a:xfrm>
            <a:off x="2512350" y="3137875"/>
            <a:ext cx="2449500" cy="513900"/>
          </a:xfrm>
          <a:prstGeom prst="straightConnector1">
            <a:avLst/>
          </a:prstGeom>
          <a:noFill/>
          <a:ln cap="flat" cmpd="sng" w="9525">
            <a:solidFill>
              <a:schemeClr val="dk2"/>
            </a:solidFill>
            <a:prstDash val="solid"/>
            <a:round/>
            <a:headEnd len="med" w="med" type="triangle"/>
            <a:tailEnd len="med" w="med" type="triangle"/>
          </a:ln>
        </p:spPr>
      </p:cxnSp>
      <p:sp>
        <p:nvSpPr>
          <p:cNvPr id="482" name="Google Shape;482;p64"/>
          <p:cNvSpPr txBox="1"/>
          <p:nvPr/>
        </p:nvSpPr>
        <p:spPr>
          <a:xfrm rot="686041">
            <a:off x="2636086" y="3025670"/>
            <a:ext cx="2309332"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1. Login</a:t>
            </a:r>
            <a:endParaRPr/>
          </a:p>
        </p:txBody>
      </p:sp>
      <p:cxnSp>
        <p:nvCxnSpPr>
          <p:cNvPr id="483" name="Google Shape;483;p64"/>
          <p:cNvCxnSpPr>
            <a:stCxn id="478" idx="0"/>
            <a:endCxn id="479" idx="2"/>
          </p:cNvCxnSpPr>
          <p:nvPr/>
        </p:nvCxnSpPr>
        <p:spPr>
          <a:xfrm rot="10800000">
            <a:off x="1992750" y="3500425"/>
            <a:ext cx="0" cy="787500"/>
          </a:xfrm>
          <a:prstGeom prst="straightConnector1">
            <a:avLst/>
          </a:prstGeom>
          <a:noFill/>
          <a:ln cap="flat" cmpd="sng" w="9525">
            <a:solidFill>
              <a:schemeClr val="dk2"/>
            </a:solidFill>
            <a:prstDash val="solid"/>
            <a:round/>
            <a:headEnd len="med" w="med" type="none"/>
            <a:tailEnd len="med" w="med" type="triangle"/>
          </a:ln>
        </p:spPr>
      </p:cxnSp>
      <p:sp>
        <p:nvSpPr>
          <p:cNvPr id="484" name="Google Shape;484;p64"/>
          <p:cNvSpPr txBox="1"/>
          <p:nvPr/>
        </p:nvSpPr>
        <p:spPr>
          <a:xfrm rot="1761">
            <a:off x="832276" y="3586375"/>
            <a:ext cx="11712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2. Make this request</a:t>
            </a:r>
            <a:endParaRPr/>
          </a:p>
        </p:txBody>
      </p:sp>
      <p:pic>
        <p:nvPicPr>
          <p:cNvPr id="485" name="Google Shape;485;p64"/>
          <p:cNvPicPr preferRelativeResize="0"/>
          <p:nvPr/>
        </p:nvPicPr>
        <p:blipFill>
          <a:blip r:embed="rId3">
            <a:alphaModFix/>
          </a:blip>
          <a:stretch>
            <a:fillRect/>
          </a:stretch>
        </p:blipFill>
        <p:spPr>
          <a:xfrm flipH="1">
            <a:off x="2512357" y="3356575"/>
            <a:ext cx="294018" cy="295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CSRF Attack</a:t>
            </a:r>
            <a:endParaRPr/>
          </a:p>
        </p:txBody>
      </p:sp>
      <p:sp>
        <p:nvSpPr>
          <p:cNvPr id="491" name="Google Shape;491;p65"/>
          <p:cNvSpPr txBox="1"/>
          <p:nvPr>
            <p:ph idx="1" type="body"/>
          </p:nvPr>
        </p:nvSpPr>
        <p:spPr>
          <a:xfrm>
            <a:off x="198500" y="1246825"/>
            <a:ext cx="8520600" cy="175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User authenticates to the server</a:t>
            </a:r>
            <a:endParaRPr/>
          </a:p>
          <a:p>
            <a:pPr indent="-317500" lvl="1" marL="914400" rtl="0" algn="l">
              <a:spcBef>
                <a:spcPts val="0"/>
              </a:spcBef>
              <a:spcAft>
                <a:spcPts val="0"/>
              </a:spcAft>
              <a:buSzPts val="1400"/>
              <a:buChar char="○"/>
            </a:pPr>
            <a:r>
              <a:rPr lang="en"/>
              <a:t>User receives a cookie with a valid session token</a:t>
            </a:r>
            <a:endParaRPr/>
          </a:p>
          <a:p>
            <a:pPr indent="-342900" lvl="0" marL="457200" rtl="0" algn="l">
              <a:spcBef>
                <a:spcPts val="0"/>
              </a:spcBef>
              <a:spcAft>
                <a:spcPts val="0"/>
              </a:spcAft>
              <a:buSzPts val="1800"/>
              <a:buAutoNum type="arabicPeriod"/>
            </a:pPr>
            <a:r>
              <a:rPr lang="en"/>
              <a:t>Attacker tricks the victim into making a malicious request to the server</a:t>
            </a:r>
            <a:endParaRPr/>
          </a:p>
          <a:p>
            <a:pPr indent="-342900" lvl="0" marL="457200" rtl="0" algn="l">
              <a:spcBef>
                <a:spcPts val="0"/>
              </a:spcBef>
              <a:spcAft>
                <a:spcPts val="0"/>
              </a:spcAft>
              <a:buSzPts val="1800"/>
              <a:buAutoNum type="arabicPeriod"/>
            </a:pPr>
            <a:r>
              <a:rPr lang="en"/>
              <a:t>The server accepts the malicious request from the victim</a:t>
            </a:r>
            <a:endParaRPr/>
          </a:p>
          <a:p>
            <a:pPr indent="-317500" lvl="1" marL="914400" rtl="0" algn="l">
              <a:spcBef>
                <a:spcPts val="0"/>
              </a:spcBef>
              <a:spcAft>
                <a:spcPts val="0"/>
              </a:spcAft>
              <a:buSzPts val="1400"/>
              <a:buChar char="○"/>
            </a:pPr>
            <a:r>
              <a:rPr lang="en"/>
              <a:t>Recall: The cookie is automatically attached in the request</a:t>
            </a:r>
            <a:endParaRPr/>
          </a:p>
        </p:txBody>
      </p:sp>
      <p:sp>
        <p:nvSpPr>
          <p:cNvPr id="492" name="Google Shape;492;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3" name="Google Shape;493;p65"/>
          <p:cNvSpPr/>
          <p:nvPr/>
        </p:nvSpPr>
        <p:spPr>
          <a:xfrm>
            <a:off x="1473150" y="42879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sp>
        <p:nvSpPr>
          <p:cNvPr id="494" name="Google Shape;494;p65"/>
          <p:cNvSpPr/>
          <p:nvPr/>
        </p:nvSpPr>
        <p:spPr>
          <a:xfrm>
            <a:off x="1473150" y="29277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User</a:t>
            </a:r>
            <a:endParaRPr sz="1600"/>
          </a:p>
        </p:txBody>
      </p:sp>
      <p:sp>
        <p:nvSpPr>
          <p:cNvPr id="495" name="Google Shape;495;p65"/>
          <p:cNvSpPr/>
          <p:nvPr/>
        </p:nvSpPr>
        <p:spPr>
          <a:xfrm>
            <a:off x="4961875" y="344162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Server</a:t>
            </a:r>
            <a:endParaRPr sz="1600"/>
          </a:p>
        </p:txBody>
      </p:sp>
      <p:cxnSp>
        <p:nvCxnSpPr>
          <p:cNvPr id="496" name="Google Shape;496;p65"/>
          <p:cNvCxnSpPr/>
          <p:nvPr/>
        </p:nvCxnSpPr>
        <p:spPr>
          <a:xfrm>
            <a:off x="2512350" y="3137875"/>
            <a:ext cx="2449500" cy="513900"/>
          </a:xfrm>
          <a:prstGeom prst="straightConnector1">
            <a:avLst/>
          </a:prstGeom>
          <a:noFill/>
          <a:ln cap="flat" cmpd="sng" w="9525">
            <a:solidFill>
              <a:schemeClr val="dk2"/>
            </a:solidFill>
            <a:prstDash val="solid"/>
            <a:round/>
            <a:headEnd len="med" w="med" type="triangle"/>
            <a:tailEnd len="med" w="med" type="triangle"/>
          </a:ln>
        </p:spPr>
      </p:cxnSp>
      <p:sp>
        <p:nvSpPr>
          <p:cNvPr id="497" name="Google Shape;497;p65"/>
          <p:cNvSpPr txBox="1"/>
          <p:nvPr/>
        </p:nvSpPr>
        <p:spPr>
          <a:xfrm rot="686041">
            <a:off x="2636086" y="3025670"/>
            <a:ext cx="2309332"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1. Login</a:t>
            </a:r>
            <a:endParaRPr/>
          </a:p>
        </p:txBody>
      </p:sp>
      <p:cxnSp>
        <p:nvCxnSpPr>
          <p:cNvPr id="498" name="Google Shape;498;p65"/>
          <p:cNvCxnSpPr>
            <a:stCxn id="493" idx="0"/>
            <a:endCxn id="494" idx="2"/>
          </p:cNvCxnSpPr>
          <p:nvPr/>
        </p:nvCxnSpPr>
        <p:spPr>
          <a:xfrm rot="10800000">
            <a:off x="1992750" y="3500425"/>
            <a:ext cx="0" cy="787500"/>
          </a:xfrm>
          <a:prstGeom prst="straightConnector1">
            <a:avLst/>
          </a:prstGeom>
          <a:noFill/>
          <a:ln cap="flat" cmpd="sng" w="9525">
            <a:solidFill>
              <a:schemeClr val="dk2"/>
            </a:solidFill>
            <a:prstDash val="solid"/>
            <a:round/>
            <a:headEnd len="med" w="med" type="none"/>
            <a:tailEnd len="med" w="med" type="triangle"/>
          </a:ln>
        </p:spPr>
      </p:cxnSp>
      <p:sp>
        <p:nvSpPr>
          <p:cNvPr id="499" name="Google Shape;499;p65"/>
          <p:cNvSpPr txBox="1"/>
          <p:nvPr/>
        </p:nvSpPr>
        <p:spPr>
          <a:xfrm rot="1761">
            <a:off x="832276" y="3586375"/>
            <a:ext cx="11712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2. Make this request</a:t>
            </a:r>
            <a:endParaRPr/>
          </a:p>
        </p:txBody>
      </p:sp>
      <p:cxnSp>
        <p:nvCxnSpPr>
          <p:cNvPr id="500" name="Google Shape;500;p65"/>
          <p:cNvCxnSpPr/>
          <p:nvPr/>
        </p:nvCxnSpPr>
        <p:spPr>
          <a:xfrm>
            <a:off x="2512350" y="3366475"/>
            <a:ext cx="2449500" cy="513900"/>
          </a:xfrm>
          <a:prstGeom prst="straightConnector1">
            <a:avLst/>
          </a:prstGeom>
          <a:noFill/>
          <a:ln cap="flat" cmpd="sng" w="9525">
            <a:solidFill>
              <a:schemeClr val="dk2"/>
            </a:solidFill>
            <a:prstDash val="solid"/>
            <a:round/>
            <a:headEnd len="med" w="med" type="none"/>
            <a:tailEnd len="med" w="med" type="triangle"/>
          </a:ln>
        </p:spPr>
      </p:cxnSp>
      <p:sp>
        <p:nvSpPr>
          <p:cNvPr id="501" name="Google Shape;501;p65"/>
          <p:cNvSpPr txBox="1"/>
          <p:nvPr/>
        </p:nvSpPr>
        <p:spPr>
          <a:xfrm rot="686063">
            <a:off x="2508757" y="3546319"/>
            <a:ext cx="2437886"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3. Malicious request</a:t>
            </a:r>
            <a:endParaRPr/>
          </a:p>
        </p:txBody>
      </p:sp>
      <p:pic>
        <p:nvPicPr>
          <p:cNvPr id="502" name="Google Shape;502;p65"/>
          <p:cNvPicPr preferRelativeResize="0"/>
          <p:nvPr/>
        </p:nvPicPr>
        <p:blipFill>
          <a:blip r:embed="rId3">
            <a:alphaModFix/>
          </a:blip>
          <a:stretch>
            <a:fillRect/>
          </a:stretch>
        </p:blipFill>
        <p:spPr>
          <a:xfrm flipH="1">
            <a:off x="3460532" y="3880375"/>
            <a:ext cx="294018" cy="2952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CSRF Attack</a:t>
            </a:r>
            <a:endParaRPr/>
          </a:p>
        </p:txBody>
      </p:sp>
      <p:sp>
        <p:nvSpPr>
          <p:cNvPr id="508" name="Google Shape;508;p66"/>
          <p:cNvSpPr txBox="1"/>
          <p:nvPr>
            <p:ph idx="1" type="body"/>
          </p:nvPr>
        </p:nvSpPr>
        <p:spPr>
          <a:xfrm>
            <a:off x="198500" y="1246825"/>
            <a:ext cx="8520600" cy="175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User authenticates to the server</a:t>
            </a:r>
            <a:endParaRPr/>
          </a:p>
          <a:p>
            <a:pPr indent="-317500" lvl="1" marL="914400" rtl="0" algn="l">
              <a:spcBef>
                <a:spcPts val="0"/>
              </a:spcBef>
              <a:spcAft>
                <a:spcPts val="0"/>
              </a:spcAft>
              <a:buSzPts val="1400"/>
              <a:buChar char="○"/>
            </a:pPr>
            <a:r>
              <a:rPr lang="en"/>
              <a:t>User receives a cookie with a valid session token</a:t>
            </a:r>
            <a:endParaRPr/>
          </a:p>
          <a:p>
            <a:pPr indent="-342900" lvl="0" marL="457200" rtl="0" algn="l">
              <a:spcBef>
                <a:spcPts val="0"/>
              </a:spcBef>
              <a:spcAft>
                <a:spcPts val="0"/>
              </a:spcAft>
              <a:buClr>
                <a:srgbClr val="FF0000"/>
              </a:buClr>
              <a:buSzPts val="1800"/>
              <a:buAutoNum type="arabicPeriod"/>
            </a:pPr>
            <a:r>
              <a:rPr lang="en">
                <a:solidFill>
                  <a:srgbClr val="FF0000"/>
                </a:solidFill>
              </a:rPr>
              <a:t>Attacker tricks the victim into making a malicious request to the server</a:t>
            </a:r>
            <a:endParaRPr>
              <a:solidFill>
                <a:srgbClr val="FF0000"/>
              </a:solidFill>
            </a:endParaRPr>
          </a:p>
          <a:p>
            <a:pPr indent="-342900" lvl="0" marL="457200" rtl="0" algn="l">
              <a:spcBef>
                <a:spcPts val="0"/>
              </a:spcBef>
              <a:spcAft>
                <a:spcPts val="0"/>
              </a:spcAft>
              <a:buSzPts val="1800"/>
              <a:buAutoNum type="arabicPeriod"/>
            </a:pPr>
            <a:r>
              <a:rPr lang="en"/>
              <a:t>The server accepts the malicious request from the victim</a:t>
            </a:r>
            <a:endParaRPr/>
          </a:p>
          <a:p>
            <a:pPr indent="-317500" lvl="1" marL="914400" rtl="0" algn="l">
              <a:spcBef>
                <a:spcPts val="0"/>
              </a:spcBef>
              <a:spcAft>
                <a:spcPts val="0"/>
              </a:spcAft>
              <a:buSzPts val="1400"/>
              <a:buChar char="○"/>
            </a:pPr>
            <a:r>
              <a:rPr lang="en"/>
              <a:t>Recall: The cookie is automatically attached in the request</a:t>
            </a:r>
            <a:endParaRPr/>
          </a:p>
        </p:txBody>
      </p:sp>
      <p:sp>
        <p:nvSpPr>
          <p:cNvPr id="509" name="Google Shape;509;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Executing a CSRF Attack</a:t>
            </a:r>
            <a:endParaRPr/>
          </a:p>
        </p:txBody>
      </p:sp>
      <p:sp>
        <p:nvSpPr>
          <p:cNvPr id="515" name="Google Shape;515;p67"/>
          <p:cNvSpPr txBox="1"/>
          <p:nvPr>
            <p:ph idx="1" type="body"/>
          </p:nvPr>
        </p:nvSpPr>
        <p:spPr>
          <a:xfrm>
            <a:off x="198500" y="1246825"/>
            <a:ext cx="86229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might we trick the victim into making a GET request?</a:t>
            </a:r>
            <a:endParaRPr/>
          </a:p>
          <a:p>
            <a:pPr indent="-342900" lvl="0" marL="457200" rtl="0" algn="l">
              <a:spcBef>
                <a:spcPts val="0"/>
              </a:spcBef>
              <a:spcAft>
                <a:spcPts val="0"/>
              </a:spcAft>
              <a:buSzPts val="1800"/>
              <a:buChar char="●"/>
            </a:pPr>
            <a:r>
              <a:rPr lang="en"/>
              <a:t>Strategy #1: Trick the victim into clicking a link</a:t>
            </a:r>
            <a:endParaRPr/>
          </a:p>
          <a:p>
            <a:pPr indent="-317500" lvl="1" marL="914400" rtl="0" algn="l">
              <a:spcBef>
                <a:spcPts val="0"/>
              </a:spcBef>
              <a:spcAft>
                <a:spcPts val="0"/>
              </a:spcAft>
              <a:buSzPts val="1400"/>
              <a:buChar char="○"/>
            </a:pPr>
            <a:r>
              <a:rPr lang="en"/>
              <a:t>For example, send the victim an email with an enticing-looking link</a:t>
            </a:r>
            <a:endParaRPr/>
          </a:p>
          <a:p>
            <a:pPr indent="-317500" lvl="1" marL="914400" rtl="0" algn="l">
              <a:spcBef>
                <a:spcPts val="0"/>
              </a:spcBef>
              <a:spcAft>
                <a:spcPts val="0"/>
              </a:spcAft>
              <a:buSzPts val="1400"/>
              <a:buChar char="○"/>
            </a:pPr>
            <a:r>
              <a:rPr lang="en"/>
              <a:t>The link can directly make a GET request:</a:t>
            </a:r>
            <a:br>
              <a:rPr lang="en"/>
            </a:br>
            <a:r>
              <a:rPr b="1" lang="en">
                <a:latin typeface="Courier New"/>
                <a:ea typeface="Courier New"/>
                <a:cs typeface="Courier New"/>
                <a:sym typeface="Courier New"/>
              </a:rPr>
              <a:t>https://www.bank.com/transfer?amount=100&amp;to=Mallory</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link can open an attacker’s website, which contains some JavaScript that makes the actual malicious request</a:t>
            </a:r>
            <a:endParaRPr/>
          </a:p>
          <a:p>
            <a:pPr indent="-342900" lvl="0" marL="457200" rtl="0" algn="l">
              <a:spcBef>
                <a:spcPts val="0"/>
              </a:spcBef>
              <a:spcAft>
                <a:spcPts val="0"/>
              </a:spcAft>
              <a:buSzPts val="1800"/>
              <a:buChar char="●"/>
            </a:pPr>
            <a:r>
              <a:rPr lang="en"/>
              <a:t>Strategy #2: Put some HTML on a website the victim will visit</a:t>
            </a:r>
            <a:endParaRPr/>
          </a:p>
          <a:p>
            <a:pPr indent="-317500" lvl="1" marL="914400" rtl="0" algn="l">
              <a:spcBef>
                <a:spcPts val="0"/>
              </a:spcBef>
              <a:spcAft>
                <a:spcPts val="0"/>
              </a:spcAft>
              <a:buSzPts val="1400"/>
              <a:buChar char="○"/>
            </a:pPr>
            <a:r>
              <a:rPr lang="en"/>
              <a:t>Example: The victim will visit a forum. Make a post with some HTML on the forum</a:t>
            </a:r>
            <a:endParaRPr/>
          </a:p>
          <a:p>
            <a:pPr indent="-317500" lvl="1" marL="914400" rtl="0" algn="l">
              <a:spcBef>
                <a:spcPts val="0"/>
              </a:spcBef>
              <a:spcAft>
                <a:spcPts val="0"/>
              </a:spcAft>
              <a:buSzPts val="1400"/>
              <a:buFont typeface="Courier New"/>
              <a:buChar char="○"/>
            </a:pPr>
            <a:r>
              <a:rPr lang="en"/>
              <a:t>HTML to automatically make a GET request to a URL:</a:t>
            </a:r>
            <a:br>
              <a:rPr b="1" lang="en">
                <a:latin typeface="Courier New"/>
                <a:ea typeface="Courier New"/>
                <a:cs typeface="Courier New"/>
                <a:sym typeface="Courier New"/>
              </a:rPr>
            </a:br>
            <a:r>
              <a:rPr b="1" lang="en">
                <a:latin typeface="Courier New"/>
                <a:ea typeface="Courier New"/>
                <a:cs typeface="Courier New"/>
                <a:sym typeface="Courier New"/>
              </a:rPr>
              <a:t>&lt;img src="https://www.bank.com/transfer?amount=100&amp;to=Mallory"&gt;</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lang="en"/>
              <a:t>This HTML will probably return an error or a blank 1 pixel by 1 pixel image, but the GET request will still be sent...with the relevant cookies!</a:t>
            </a:r>
            <a:endParaRPr/>
          </a:p>
        </p:txBody>
      </p:sp>
      <p:sp>
        <p:nvSpPr>
          <p:cNvPr id="516" name="Google Shape;516;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Executing a CSRF Attack</a:t>
            </a:r>
            <a:endParaRPr/>
          </a:p>
        </p:txBody>
      </p:sp>
      <p:sp>
        <p:nvSpPr>
          <p:cNvPr id="522" name="Google Shape;522;p6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might we trick the victim into making a POST request?</a:t>
            </a:r>
            <a:endParaRPr/>
          </a:p>
          <a:p>
            <a:pPr indent="-317500" lvl="1" marL="914400" rtl="0" algn="l">
              <a:spcBef>
                <a:spcPts val="0"/>
              </a:spcBef>
              <a:spcAft>
                <a:spcPts val="0"/>
              </a:spcAft>
              <a:buSzPts val="1400"/>
              <a:buChar char="○"/>
            </a:pPr>
            <a:r>
              <a:rPr lang="en"/>
              <a:t>Example POST request: Submitting a form</a:t>
            </a:r>
            <a:endParaRPr/>
          </a:p>
          <a:p>
            <a:pPr indent="-342900" lvl="0" marL="457200" rtl="0" algn="l">
              <a:spcBef>
                <a:spcPts val="0"/>
              </a:spcBef>
              <a:spcAft>
                <a:spcPts val="0"/>
              </a:spcAft>
              <a:buSzPts val="1800"/>
              <a:buChar char="●"/>
            </a:pPr>
            <a:r>
              <a:rPr lang="en"/>
              <a:t>Strategy #1: Trick the victim into clicking a link</a:t>
            </a:r>
            <a:endParaRPr/>
          </a:p>
          <a:p>
            <a:pPr indent="-317500" lvl="1" marL="914400" rtl="0" algn="l">
              <a:spcBef>
                <a:spcPts val="0"/>
              </a:spcBef>
              <a:spcAft>
                <a:spcPts val="0"/>
              </a:spcAft>
              <a:buSzPts val="1400"/>
              <a:buChar char="○"/>
            </a:pPr>
            <a:r>
              <a:rPr lang="en"/>
              <a:t>Note: Clicking a link in your browser makes a GET request, not a POST request, so the link cannot directly make the malicious POST request</a:t>
            </a:r>
            <a:endParaRPr/>
          </a:p>
          <a:p>
            <a:pPr indent="-317500" lvl="1" marL="914400" rtl="0" algn="l">
              <a:spcBef>
                <a:spcPts val="0"/>
              </a:spcBef>
              <a:spcAft>
                <a:spcPts val="0"/>
              </a:spcAft>
              <a:buSzPts val="1400"/>
              <a:buChar char="○"/>
            </a:pPr>
            <a:r>
              <a:rPr lang="en"/>
              <a:t>The link can open an attacker’s website, which contains some JavaScript that makes the actual malicious POST request</a:t>
            </a:r>
            <a:endParaRPr/>
          </a:p>
          <a:p>
            <a:pPr indent="-342900" lvl="0" marL="457200" rtl="0" algn="l">
              <a:spcBef>
                <a:spcPts val="0"/>
              </a:spcBef>
              <a:spcAft>
                <a:spcPts val="0"/>
              </a:spcAft>
              <a:buSzPts val="1800"/>
              <a:buChar char="●"/>
            </a:pPr>
            <a:r>
              <a:rPr lang="en"/>
              <a:t>Strategy #2: Put some JavaScript on a website the victim will visit</a:t>
            </a:r>
            <a:endParaRPr/>
          </a:p>
          <a:p>
            <a:pPr indent="-317500" lvl="1" marL="914400" rtl="0" algn="l">
              <a:spcBef>
                <a:spcPts val="0"/>
              </a:spcBef>
              <a:spcAft>
                <a:spcPts val="0"/>
              </a:spcAft>
              <a:buSzPts val="1400"/>
              <a:buChar char="○"/>
            </a:pPr>
            <a:r>
              <a:rPr lang="en"/>
              <a:t>Example: Pay for an advertisement on the website, and put JavaScript in the ad</a:t>
            </a:r>
            <a:endParaRPr/>
          </a:p>
          <a:p>
            <a:pPr indent="-317500" lvl="1" marL="914400" rtl="0" algn="l">
              <a:spcBef>
                <a:spcPts val="0"/>
              </a:spcBef>
              <a:spcAft>
                <a:spcPts val="0"/>
              </a:spcAft>
              <a:buSzPts val="1400"/>
              <a:buChar char="○"/>
            </a:pPr>
            <a:r>
              <a:rPr lang="en"/>
              <a:t>Recall: JavaScript can make a POST request</a:t>
            </a:r>
            <a:endParaRPr/>
          </a:p>
        </p:txBody>
      </p:sp>
      <p:sp>
        <p:nvSpPr>
          <p:cNvPr id="523" name="Google Shape;523;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25 Most Dangerous Software Weaknesses (2020)</a:t>
            </a:r>
            <a:endParaRPr/>
          </a:p>
        </p:txBody>
      </p:sp>
      <p:sp>
        <p:nvSpPr>
          <p:cNvPr id="529" name="Google Shape;529;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30" name="Google Shape;530;p69"/>
          <p:cNvGraphicFramePr/>
          <p:nvPr/>
        </p:nvGraphicFramePr>
        <p:xfrm>
          <a:off x="412300" y="1239875"/>
          <a:ext cx="3000000" cy="3000000"/>
        </p:xfrm>
        <a:graphic>
          <a:graphicData uri="http://schemas.openxmlformats.org/drawingml/2006/table">
            <a:tbl>
              <a:tblPr>
                <a:noFill/>
                <a:tableStyleId>{1145441F-B117-4572-B089-FCDB0F6A9883}</a:tableStyleId>
              </a:tblPr>
              <a:tblGrid>
                <a:gridCol w="535825"/>
                <a:gridCol w="779400"/>
                <a:gridCol w="5653200"/>
                <a:gridCol w="746075"/>
              </a:tblGrid>
              <a:tr h="213425">
                <a:tc>
                  <a:txBody>
                    <a:bodyPr/>
                    <a:lstStyle/>
                    <a:p>
                      <a:pPr indent="0" lvl="0" marL="0" rtl="0" algn="ctr">
                        <a:lnSpc>
                          <a:spcPct val="100000"/>
                        </a:lnSpc>
                        <a:spcBef>
                          <a:spcPts val="0"/>
                        </a:spcBef>
                        <a:spcAft>
                          <a:spcPts val="0"/>
                        </a:spcAft>
                        <a:buNone/>
                      </a:pPr>
                      <a:r>
                        <a:rPr b="1" lang="en" sz="1000"/>
                        <a:t>Rank</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ID</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Name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Score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20675">
                <a:tc>
                  <a:txBody>
                    <a:bodyPr/>
                    <a:lstStyle/>
                    <a:p>
                      <a:pPr indent="0" lvl="0" marL="0" rtl="0" algn="ctr">
                        <a:lnSpc>
                          <a:spcPct val="100000"/>
                        </a:lnSpc>
                        <a:spcBef>
                          <a:spcPts val="0"/>
                        </a:spcBef>
                        <a:spcAft>
                          <a:spcPts val="0"/>
                        </a:spcAft>
                        <a:buNone/>
                      </a:pPr>
                      <a:r>
                        <a:rPr b="1" lang="en" sz="1000"/>
                        <a:t>[1]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3"/>
                        </a:rPr>
                        <a:t>CWE-79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Input During Web Page Generation (’Cross-site Scripting’)</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46.82</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10825">
                <a:tc>
                  <a:txBody>
                    <a:bodyPr/>
                    <a:lstStyle/>
                    <a:p>
                      <a:pPr indent="0" lvl="0" marL="0" rtl="0" algn="ctr">
                        <a:lnSpc>
                          <a:spcPct val="100000"/>
                        </a:lnSpc>
                        <a:spcBef>
                          <a:spcPts val="0"/>
                        </a:spcBef>
                        <a:spcAft>
                          <a:spcPts val="0"/>
                        </a:spcAft>
                        <a:buNone/>
                      </a:pPr>
                      <a:r>
                        <a:rPr b="1" lang="en" sz="1000"/>
                        <a:t>[2]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4"/>
                        </a:rPr>
                        <a:t>CWE-787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Out-of-bounds Write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46.17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5"/>
                        </a:rPr>
                        <a:t>CWE-20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Input Validation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33.47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6"/>
                        </a:rPr>
                        <a:t>CWE-125</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Out-of-bounds Read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26.50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7"/>
                        </a:rPr>
                        <a:t>CWE-119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Restriction of Operations within the Bounds of a Memory Buffer</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23.73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02750">
                <a:tc>
                  <a:txBody>
                    <a:bodyPr/>
                    <a:lstStyle/>
                    <a:p>
                      <a:pPr indent="0" lvl="0" marL="0" rtl="0" algn="ctr">
                        <a:lnSpc>
                          <a:spcPct val="100000"/>
                        </a:lnSpc>
                        <a:spcBef>
                          <a:spcPts val="0"/>
                        </a:spcBef>
                        <a:spcAft>
                          <a:spcPts val="0"/>
                        </a:spcAft>
                        <a:buNone/>
                      </a:pPr>
                      <a:r>
                        <a:rPr b="1" lang="en" sz="1000"/>
                        <a:t>[6]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8"/>
                        </a:rPr>
                        <a:t>CWE-89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SQL Command (’SQL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20.69</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9"/>
                        </a:rPr>
                        <a:t>CWE-200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Exposure of Sensitive Information to an Unauthorized Actor</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19.16</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[8]</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0"/>
                        </a:rPr>
                        <a:t>CWE-416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Use After Free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18.87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[9]</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1"/>
                        </a:rPr>
                        <a:t>CWE-352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Cross-Site Request Forgery (CSRF)</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17.29</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02750">
                <a:tc>
                  <a:txBody>
                    <a:bodyPr/>
                    <a:lstStyle/>
                    <a:p>
                      <a:pPr indent="0" lvl="0" marL="0" rtl="0" algn="ctr">
                        <a:lnSpc>
                          <a:spcPct val="100000"/>
                        </a:lnSpc>
                        <a:spcBef>
                          <a:spcPts val="0"/>
                        </a:spcBef>
                        <a:spcAft>
                          <a:spcPts val="0"/>
                        </a:spcAft>
                        <a:buNone/>
                      </a:pPr>
                      <a:r>
                        <a:rPr b="1" lang="en" sz="1000"/>
                        <a:t>[10]</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2"/>
                        </a:rPr>
                        <a:t>CWE-78</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OS Command (’OS Command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16.44</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3"/>
                        </a:rPr>
                        <a:t>CWE-190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Integer Overflow or Wraparound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15.81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4"/>
                        </a:rPr>
                        <a:t>CWE-22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Limitation of a Pathname to a Restricted Directory (’Path Traversal’)</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13.67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5"/>
                        </a:rPr>
                        <a:t>CWE-476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NULL Pointer Dereference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8.35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6"/>
                        </a:rPr>
                        <a:t>CWE-287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Authentication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8.17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7"/>
                        </a:rPr>
                        <a:t>CWE-434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Unrestricted Upload of File with Dangerous Type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7.38</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8"/>
                        </a:rPr>
                        <a:t>CWE-732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Incorrect Permission Assignment for Critical Resource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6.95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9"/>
                        </a:rPr>
                        <a:t>CWE-94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Control of Generation of Code (’Code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6.53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Example: Internet of Things (IoT)</a:t>
            </a:r>
            <a:endParaRPr/>
          </a:p>
        </p:txBody>
      </p:sp>
      <p:sp>
        <p:nvSpPr>
          <p:cNvPr id="536" name="Google Shape;536;p7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IoT devices often use default passwords</a:t>
            </a:r>
            <a:endParaRPr/>
          </a:p>
          <a:p>
            <a:pPr indent="-317500" lvl="1" marL="914400" rtl="0" algn="l">
              <a:spcBef>
                <a:spcPts val="0"/>
              </a:spcBef>
              <a:spcAft>
                <a:spcPts val="0"/>
              </a:spcAft>
              <a:buSzPts val="1400"/>
              <a:buChar char="○"/>
            </a:pPr>
            <a:r>
              <a:rPr lang="en"/>
              <a:t>Example login URL: </a:t>
            </a:r>
            <a:r>
              <a:rPr b="1" lang="en">
                <a:latin typeface="Courier New"/>
                <a:ea typeface="Courier New"/>
                <a:cs typeface="Courier New"/>
                <a:sym typeface="Courier New"/>
              </a:rPr>
              <a:t>http://10.1.1.1/login?user=admin&amp;password=admin</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attacker tricks the victim into making a request to this link, which gives the victim a session token cookie</a:t>
            </a:r>
            <a:endParaRPr/>
          </a:p>
          <a:p>
            <a:pPr indent="-342900" lvl="0" marL="457200" rtl="0" algn="l">
              <a:spcBef>
                <a:spcPts val="0"/>
              </a:spcBef>
              <a:spcAft>
                <a:spcPts val="0"/>
              </a:spcAft>
              <a:buSzPts val="1800"/>
              <a:buChar char="●"/>
            </a:pPr>
            <a:r>
              <a:rPr lang="en"/>
              <a:t>IoT devices often process commands with web requests</a:t>
            </a:r>
            <a:endParaRPr/>
          </a:p>
          <a:p>
            <a:pPr indent="-317500" lvl="1" marL="914400" rtl="0" algn="l">
              <a:spcBef>
                <a:spcPts val="0"/>
              </a:spcBef>
              <a:spcAft>
                <a:spcPts val="0"/>
              </a:spcAft>
              <a:buSzPts val="1400"/>
              <a:buChar char="○"/>
            </a:pPr>
            <a:r>
              <a:rPr lang="en"/>
              <a:t>Example request URL: </a:t>
            </a:r>
            <a:r>
              <a:rPr b="1" lang="en">
                <a:latin typeface="Courier New"/>
                <a:ea typeface="Courier New"/>
                <a:cs typeface="Courier New"/>
                <a:sym typeface="Courier New"/>
              </a:rPr>
              <a:t>http://10.1.1.1/set-dns-server?server=8.8.8.8</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These requests can perform actions that help the attacker mount other attacks</a:t>
            </a:r>
            <a:endParaRPr/>
          </a:p>
          <a:p>
            <a:pPr indent="-342900" lvl="0" marL="457200" rtl="0" algn="l">
              <a:spcBef>
                <a:spcPts val="0"/>
              </a:spcBef>
              <a:spcAft>
                <a:spcPts val="0"/>
              </a:spcAft>
              <a:buSzPts val="1800"/>
              <a:buChar char="●"/>
            </a:pPr>
            <a:r>
              <a:rPr lang="en"/>
              <a:t>IoT devices don’t implement CSRF defenses</a:t>
            </a:r>
            <a:endParaRPr/>
          </a:p>
          <a:p>
            <a:pPr indent="-317500" lvl="1" marL="914400" rtl="0" algn="l">
              <a:spcBef>
                <a:spcPts val="0"/>
              </a:spcBef>
              <a:spcAft>
                <a:spcPts val="0"/>
              </a:spcAft>
              <a:buSzPts val="1400"/>
              <a:buChar char="○"/>
            </a:pPr>
            <a:r>
              <a:rPr lang="en"/>
              <a:t>An attacker can publish an advertisement that makes these two requests</a:t>
            </a:r>
            <a:endParaRPr/>
          </a:p>
          <a:p>
            <a:pPr indent="-317500" lvl="1" marL="914400" rtl="0" algn="l">
              <a:spcBef>
                <a:spcPts val="0"/>
              </a:spcBef>
              <a:spcAft>
                <a:spcPts val="0"/>
              </a:spcAft>
              <a:buSzPts val="1400"/>
              <a:buChar char="○"/>
            </a:pPr>
            <a:r>
              <a:rPr lang="en"/>
              <a:t>Any victim who opens a webpage with the advertisement will get their IoT device compromised!</a:t>
            </a:r>
            <a:endParaRPr/>
          </a:p>
        </p:txBody>
      </p:sp>
      <p:sp>
        <p:nvSpPr>
          <p:cNvPr id="537" name="Google Shape;53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Example: Malvertising</a:t>
            </a:r>
            <a:endParaRPr/>
          </a:p>
        </p:txBody>
      </p:sp>
      <p:sp>
        <p:nvSpPr>
          <p:cNvPr id="543" name="Google Shape;543;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7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Short for </a:t>
            </a:r>
            <a:r>
              <a:rPr b="1" lang="en"/>
              <a:t>malicious </a:t>
            </a:r>
            <a:r>
              <a:rPr b="1" lang="en"/>
              <a:t>advertising</a:t>
            </a:r>
            <a:endParaRPr b="1"/>
          </a:p>
          <a:p>
            <a:pPr indent="-342900" lvl="0" marL="457200" rtl="0" algn="l">
              <a:spcBef>
                <a:spcPts val="0"/>
              </a:spcBef>
              <a:spcAft>
                <a:spcPts val="0"/>
              </a:spcAft>
              <a:buSzPts val="1800"/>
              <a:buChar char="●"/>
            </a:pPr>
            <a:r>
              <a:rPr lang="en"/>
              <a:t>The attacker writes some JavaScript</a:t>
            </a:r>
            <a:endParaRPr/>
          </a:p>
          <a:p>
            <a:pPr indent="-317500" lvl="1" marL="914400" rtl="0" algn="l">
              <a:spcBef>
                <a:spcPts val="0"/>
              </a:spcBef>
              <a:spcAft>
                <a:spcPts val="0"/>
              </a:spcAft>
              <a:buSzPts val="1400"/>
              <a:buChar char="○"/>
            </a:pPr>
            <a:r>
              <a:rPr lang="en"/>
              <a:t>The script opens a 1 pixel by 1 pixel frame (too small for human users to notice)</a:t>
            </a:r>
            <a:endParaRPr/>
          </a:p>
          <a:p>
            <a:pPr indent="-317500" lvl="1" marL="914400" rtl="0" algn="l">
              <a:spcBef>
                <a:spcPts val="0"/>
              </a:spcBef>
              <a:spcAft>
                <a:spcPts val="0"/>
              </a:spcAft>
              <a:buSzPts val="1400"/>
              <a:buChar char="○"/>
            </a:pPr>
            <a:r>
              <a:rPr lang="en"/>
              <a:t>The frame opens a huge number of internal frames</a:t>
            </a:r>
            <a:endParaRPr/>
          </a:p>
          <a:p>
            <a:pPr indent="-317500" lvl="1" marL="914400" rtl="0" algn="l">
              <a:spcBef>
                <a:spcPts val="0"/>
              </a:spcBef>
              <a:spcAft>
                <a:spcPts val="0"/>
              </a:spcAft>
              <a:buSzPts val="1400"/>
              <a:buChar char="○"/>
            </a:pPr>
            <a:r>
              <a:rPr lang="en"/>
              <a:t>Each frame launches possible CSRF attacks</a:t>
            </a:r>
            <a:endParaRPr/>
          </a:p>
          <a:p>
            <a:pPr indent="-342900" lvl="0" marL="457200" rtl="0" algn="l">
              <a:spcBef>
                <a:spcPts val="0"/>
              </a:spcBef>
              <a:spcAft>
                <a:spcPts val="0"/>
              </a:spcAft>
              <a:buSzPts val="1800"/>
              <a:buChar char="●"/>
            </a:pPr>
            <a:r>
              <a:rPr lang="en"/>
              <a:t>The attacker pays for advertisements to put this JavaScript on legitimate websites</a:t>
            </a:r>
            <a:endParaRPr/>
          </a:p>
          <a:p>
            <a:pPr indent="-342900" lvl="0" marL="457200" rtl="0" algn="l">
              <a:spcBef>
                <a:spcPts val="0"/>
              </a:spcBef>
              <a:spcAft>
                <a:spcPts val="0"/>
              </a:spcAft>
              <a:buSzPts val="1800"/>
              <a:buChar char="●"/>
            </a:pPr>
            <a:r>
              <a:rPr b="1" lang="en"/>
              <a:t>Takeaway</a:t>
            </a:r>
            <a:r>
              <a:rPr lang="en"/>
              <a:t>: Advertisers might publish malicious scripts for you as long as you pay for it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Example: YouTube</a:t>
            </a:r>
            <a:endParaRPr/>
          </a:p>
        </p:txBody>
      </p:sp>
      <p:sp>
        <p:nvSpPr>
          <p:cNvPr id="550" name="Google Shape;550;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1" name="Google Shape;551;p7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2008: Attackers exploit a CSRF vulnerability on YouTube</a:t>
            </a:r>
            <a:endParaRPr/>
          </a:p>
          <a:p>
            <a:pPr indent="-342900" lvl="0" marL="457200" rtl="0" algn="l">
              <a:spcBef>
                <a:spcPts val="0"/>
              </a:spcBef>
              <a:spcAft>
                <a:spcPts val="0"/>
              </a:spcAft>
              <a:buSzPts val="1800"/>
              <a:buChar char="●"/>
            </a:pPr>
            <a:r>
              <a:rPr lang="en"/>
              <a:t>By forcing the victim to make a request, the attacker could:</a:t>
            </a:r>
            <a:endParaRPr/>
          </a:p>
          <a:p>
            <a:pPr indent="-317500" lvl="1" marL="914400" rtl="0" algn="l">
              <a:spcBef>
                <a:spcPts val="0"/>
              </a:spcBef>
              <a:spcAft>
                <a:spcPts val="0"/>
              </a:spcAft>
              <a:buSzPts val="1400"/>
              <a:buChar char="○"/>
            </a:pPr>
            <a:r>
              <a:rPr lang="en"/>
              <a:t>Make the victim share a video with their contacts</a:t>
            </a:r>
            <a:endParaRPr/>
          </a:p>
          <a:p>
            <a:pPr indent="-317500" lvl="1" marL="914400" rtl="0" algn="l">
              <a:spcBef>
                <a:spcPts val="0"/>
              </a:spcBef>
              <a:spcAft>
                <a:spcPts val="0"/>
              </a:spcAft>
              <a:buSzPts val="1400"/>
              <a:buChar char="○"/>
            </a:pPr>
            <a:r>
              <a:rPr lang="en"/>
              <a:t>Make the victim subscribe to any channel</a:t>
            </a:r>
            <a:endParaRPr/>
          </a:p>
          <a:p>
            <a:pPr indent="-317500" lvl="1" marL="914400" rtl="0" algn="l">
              <a:spcBef>
                <a:spcPts val="0"/>
              </a:spcBef>
              <a:spcAft>
                <a:spcPts val="0"/>
              </a:spcAft>
              <a:buSzPts val="1400"/>
              <a:buChar char="○"/>
            </a:pPr>
            <a:r>
              <a:rPr lang="en"/>
              <a:t>Add any videos to the user’s watchlist</a:t>
            </a:r>
            <a:endParaRPr/>
          </a:p>
          <a:p>
            <a:pPr indent="-342900" lvl="0" marL="457200" rtl="0" algn="l">
              <a:spcBef>
                <a:spcPts val="0"/>
              </a:spcBef>
              <a:spcAft>
                <a:spcPts val="0"/>
              </a:spcAft>
              <a:buSzPts val="1800"/>
              <a:buChar char="●"/>
            </a:pPr>
            <a:r>
              <a:rPr b="1" lang="en"/>
              <a:t>Takeaway</a:t>
            </a:r>
            <a:r>
              <a:rPr lang="en"/>
              <a:t>: With a CSRF attack, the attacker can force the victim to perform a wide variety of actions!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Example: Facebook</a:t>
            </a:r>
            <a:endParaRPr/>
          </a:p>
        </p:txBody>
      </p:sp>
      <p:sp>
        <p:nvSpPr>
          <p:cNvPr id="557" name="Google Shape;557;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73"/>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The HTML image tag can be used to execute a CSRF attack</a:t>
            </a:r>
            <a:endParaRPr/>
          </a:p>
        </p:txBody>
      </p:sp>
      <p:graphicFrame>
        <p:nvGraphicFramePr>
          <p:cNvPr id="559" name="Google Shape;559;p73"/>
          <p:cNvGraphicFramePr/>
          <p:nvPr/>
        </p:nvGraphicFramePr>
        <p:xfrm>
          <a:off x="288475" y="1279335"/>
          <a:ext cx="3000000" cy="3000000"/>
        </p:xfrm>
        <a:graphic>
          <a:graphicData uri="http://schemas.openxmlformats.org/drawingml/2006/table">
            <a:tbl>
              <a:tblPr>
                <a:noFill/>
                <a:tableStyleId>{44CF8845-A869-4F73-BFDA-305FE5F4EC43}</a:tableStyleId>
              </a:tblPr>
              <a:tblGrid>
                <a:gridCol w="5897150"/>
                <a:gridCol w="2669900"/>
              </a:tblGrid>
              <a:tr h="341650">
                <a:tc>
                  <a:txBody>
                    <a:bodyPr/>
                    <a:lstStyle/>
                    <a:p>
                      <a:pPr indent="0" lvl="0" marL="24574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341650">
                <a:tc gridSpan="2">
                  <a:txBody>
                    <a:bodyPr/>
                    <a:lstStyle/>
                    <a:p>
                      <a:pPr indent="0" lvl="0" marL="0" rtl="0" algn="l">
                        <a:spcBef>
                          <a:spcPts val="0"/>
                        </a:spcBef>
                        <a:spcAft>
                          <a:spcPts val="0"/>
                        </a:spcAft>
                        <a:buNone/>
                      </a:pPr>
                      <a:r>
                        <a:rPr b="1" lang="en" sz="1600">
                          <a:solidFill>
                            <a:srgbClr val="595959"/>
                          </a:solidFill>
                        </a:rPr>
                        <a:t>Facebook Hit by Cross-Site Request Forgery Attack</a:t>
                      </a:r>
                      <a:endParaRPr b="1"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313450">
                <a:tc>
                  <a:txBody>
                    <a:bodyPr/>
                    <a:lstStyle/>
                    <a:p>
                      <a:pPr indent="0" lvl="0" marL="0" rtl="0" algn="l">
                        <a:spcBef>
                          <a:spcPts val="0"/>
                        </a:spcBef>
                        <a:spcAft>
                          <a:spcPts val="0"/>
                        </a:spcAft>
                        <a:buNone/>
                      </a:pPr>
                      <a:r>
                        <a:rPr i="1" lang="en">
                          <a:solidFill>
                            <a:srgbClr val="595959"/>
                          </a:solidFill>
                        </a:rPr>
                        <a:t>Sean Michael Kerner</a:t>
                      </a:r>
                      <a:endParaRPr i="1">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August 21, 2009</a:t>
                      </a:r>
                      <a:endParaRPr i="1">
                        <a:solidFill>
                          <a:srgbClr val="595959"/>
                        </a:solidFill>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937325">
                <a:tc gridSpan="2">
                  <a:txBody>
                    <a:bodyPr/>
                    <a:lstStyle/>
                    <a:p>
                      <a:pPr indent="0" lvl="0" marL="0" rtl="0" algn="l">
                        <a:spcBef>
                          <a:spcPts val="0"/>
                        </a:spcBef>
                        <a:spcAft>
                          <a:spcPts val="0"/>
                        </a:spcAft>
                        <a:buNone/>
                      </a:pPr>
                      <a:r>
                        <a:rPr lang="en">
                          <a:solidFill>
                            <a:srgbClr val="595959"/>
                          </a:solidFill>
                        </a:rPr>
                        <a:t>Nevertheless, that Facebook accounts were compromised in the wild is noteworthy because the attack used a legitimate HTML tag to violate users’ privacy.</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
                          <a:solidFill>
                            <a:srgbClr val="595959"/>
                          </a:solidFill>
                        </a:rPr>
                        <a:t>According to Zilberman’s disclosure, the attack simply involved the malicious HTML image tag residing on any site, including any blog or forum that permits the use of image tags even in the comments section.</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
                          <a:solidFill>
                            <a:srgbClr val="595959"/>
                          </a:solidFill>
                        </a:rPr>
                        <a:t>"The attack elegantly ends with a valid image so the page renders normally, and the attacked user does not notice that anything peculiar has happened," Zilberman said.</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560" name="Google Shape;560;p73"/>
          <p:cNvPicPr preferRelativeResize="0"/>
          <p:nvPr/>
        </p:nvPicPr>
        <p:blipFill>
          <a:blip r:embed="rId4">
            <a:alphaModFix/>
          </a:blip>
          <a:stretch>
            <a:fillRect/>
          </a:stretch>
        </p:blipFill>
        <p:spPr>
          <a:xfrm>
            <a:off x="339850" y="1334725"/>
            <a:ext cx="2487350" cy="3109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CSRF Defenses</a:t>
            </a:r>
            <a:endParaRPr/>
          </a:p>
        </p:txBody>
      </p:sp>
      <p:sp>
        <p:nvSpPr>
          <p:cNvPr id="566" name="Google Shape;566;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67" name="Google Shape;567;p74"/>
          <p:cNvPicPr preferRelativeResize="0"/>
          <p:nvPr/>
        </p:nvPicPr>
        <p:blipFill>
          <a:blip r:embed="rId3">
            <a:alphaModFix/>
          </a:blip>
          <a:stretch>
            <a:fillRect/>
          </a:stretch>
        </p:blipFill>
        <p:spPr>
          <a:xfrm>
            <a:off x="3085688" y="3064125"/>
            <a:ext cx="2972625" cy="20793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Defenses</a:t>
            </a:r>
            <a:endParaRPr/>
          </a:p>
        </p:txBody>
      </p:sp>
      <p:sp>
        <p:nvSpPr>
          <p:cNvPr id="573" name="Google Shape;573;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4" name="Google Shape;574;p7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CSRF defenses are implemented by the server (not the browser)</a:t>
            </a:r>
            <a:endParaRPr/>
          </a:p>
          <a:p>
            <a:pPr indent="-342900" lvl="0" marL="457200" rtl="0" algn="l">
              <a:spcBef>
                <a:spcPts val="0"/>
              </a:spcBef>
              <a:spcAft>
                <a:spcPts val="0"/>
              </a:spcAft>
              <a:buSzPts val="1800"/>
              <a:buChar char="●"/>
            </a:pPr>
            <a:r>
              <a:rPr lang="en"/>
              <a:t>Defense: CSRF tokens</a:t>
            </a:r>
            <a:endParaRPr/>
          </a:p>
          <a:p>
            <a:pPr indent="-342900" lvl="0" marL="457200" rtl="0" algn="l">
              <a:spcBef>
                <a:spcPts val="0"/>
              </a:spcBef>
              <a:spcAft>
                <a:spcPts val="0"/>
              </a:spcAft>
              <a:buSzPts val="1800"/>
              <a:buChar char="●"/>
            </a:pPr>
            <a:r>
              <a:rPr lang="en"/>
              <a:t>Defense: SameSite cookie attribute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Tokens</a:t>
            </a:r>
            <a:endParaRPr/>
          </a:p>
        </p:txBody>
      </p:sp>
      <p:sp>
        <p:nvSpPr>
          <p:cNvPr id="580" name="Google Shape;580;p7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Add a secret value in the request that the attacker doesn’t know</a:t>
            </a:r>
            <a:endParaRPr/>
          </a:p>
          <a:p>
            <a:pPr indent="-317500" lvl="1" marL="914400" rtl="0" algn="l">
              <a:spcBef>
                <a:spcPts val="0"/>
              </a:spcBef>
              <a:spcAft>
                <a:spcPts val="0"/>
              </a:spcAft>
              <a:buSzPts val="1400"/>
              <a:buChar char="○"/>
            </a:pPr>
            <a:r>
              <a:rPr lang="en"/>
              <a:t>The server only accepts requests if it has a valid secret</a:t>
            </a:r>
            <a:endParaRPr/>
          </a:p>
          <a:p>
            <a:pPr indent="-317500" lvl="1" marL="914400" rtl="0" algn="l">
              <a:spcBef>
                <a:spcPts val="0"/>
              </a:spcBef>
              <a:spcAft>
                <a:spcPts val="0"/>
              </a:spcAft>
              <a:buSzPts val="1400"/>
              <a:buChar char="○"/>
            </a:pPr>
            <a:r>
              <a:rPr lang="en"/>
              <a:t>Now, the attacker can’t create a malicious request without knowing the secret</a:t>
            </a:r>
            <a:endParaRPr/>
          </a:p>
          <a:p>
            <a:pPr indent="-342900" lvl="0" marL="457200" rtl="0" algn="l">
              <a:spcBef>
                <a:spcPts val="0"/>
              </a:spcBef>
              <a:spcAft>
                <a:spcPts val="0"/>
              </a:spcAft>
              <a:buSzPts val="1800"/>
              <a:buChar char="●"/>
            </a:pPr>
            <a:r>
              <a:rPr b="1" lang="en"/>
              <a:t>CSRF token</a:t>
            </a:r>
            <a:r>
              <a:rPr lang="en"/>
              <a:t>: A secret value provided by the server to the user. The server only accepts the request is this value is attached.</a:t>
            </a:r>
            <a:endParaRPr/>
          </a:p>
          <a:p>
            <a:pPr indent="-317500" lvl="1" marL="914400" rtl="0" algn="l">
              <a:spcBef>
                <a:spcPts val="0"/>
              </a:spcBef>
              <a:spcAft>
                <a:spcPts val="0"/>
              </a:spcAft>
              <a:buSzPts val="1400"/>
              <a:buChar char="○"/>
            </a:pPr>
            <a:r>
              <a:rPr lang="en"/>
              <a:t>CSRF tokens cannot </a:t>
            </a:r>
            <a:r>
              <a:rPr lang="en"/>
              <a:t>be sent to the server in a cookie!</a:t>
            </a:r>
            <a:endParaRPr/>
          </a:p>
          <a:p>
            <a:pPr indent="-317500" lvl="1" marL="914400" rtl="0" algn="l">
              <a:spcBef>
                <a:spcPts val="0"/>
              </a:spcBef>
              <a:spcAft>
                <a:spcPts val="0"/>
              </a:spcAft>
              <a:buSzPts val="1400"/>
              <a:buChar char="○"/>
            </a:pPr>
            <a:r>
              <a:rPr lang="en"/>
              <a:t>The token must be sent somewhere else (e.g., a header, GET parameter, or POST content)</a:t>
            </a:r>
            <a:endParaRPr/>
          </a:p>
          <a:p>
            <a:pPr indent="0" lvl="0" marL="0" rtl="0" algn="l">
              <a:spcBef>
                <a:spcPts val="1200"/>
              </a:spcBef>
              <a:spcAft>
                <a:spcPts val="1200"/>
              </a:spcAft>
              <a:buNone/>
            </a:pPr>
            <a:r>
              <a:t/>
            </a:r>
            <a:endParaRPr/>
          </a:p>
        </p:txBody>
      </p:sp>
      <p:sp>
        <p:nvSpPr>
          <p:cNvPr id="581" name="Google Shape;581;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Tokens: Usage</a:t>
            </a:r>
            <a:endParaRPr/>
          </a:p>
        </p:txBody>
      </p:sp>
      <p:sp>
        <p:nvSpPr>
          <p:cNvPr id="587" name="Google Shape;587;p7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HTML forms</a:t>
            </a:r>
            <a:endParaRPr/>
          </a:p>
          <a:p>
            <a:pPr indent="-317500" lvl="1" marL="914400" rtl="0" algn="l">
              <a:spcBef>
                <a:spcPts val="0"/>
              </a:spcBef>
              <a:spcAft>
                <a:spcPts val="0"/>
              </a:spcAft>
              <a:buSzPts val="1400"/>
              <a:buChar char="○"/>
            </a:pPr>
            <a:r>
              <a:rPr lang="en"/>
              <a:t>Forms are vulnerable to CSRF</a:t>
            </a:r>
            <a:endParaRPr/>
          </a:p>
          <a:p>
            <a:pPr indent="-317500" lvl="2" marL="1371600" rtl="0" algn="l">
              <a:spcBef>
                <a:spcPts val="0"/>
              </a:spcBef>
              <a:spcAft>
                <a:spcPts val="0"/>
              </a:spcAft>
              <a:buSzPts val="1400"/>
              <a:buChar char="■"/>
            </a:pPr>
            <a:r>
              <a:rPr lang="en"/>
              <a:t>If the victim visits the attacker’s page, the attacker’s JavaScript can make a POST request with a filled-out form</a:t>
            </a:r>
            <a:endParaRPr/>
          </a:p>
          <a:p>
            <a:pPr indent="-342900" lvl="0" marL="457200" rtl="0" algn="l">
              <a:spcBef>
                <a:spcPts val="0"/>
              </a:spcBef>
              <a:spcAft>
                <a:spcPts val="0"/>
              </a:spcAft>
              <a:buSzPts val="1800"/>
              <a:buChar char="●"/>
            </a:pPr>
            <a:r>
              <a:rPr lang="en"/>
              <a:t>CSRF tokens are a defense against this attack</a:t>
            </a:r>
            <a:endParaRPr/>
          </a:p>
          <a:p>
            <a:pPr indent="-317500" lvl="1" marL="914400" rtl="0" algn="l">
              <a:spcBef>
                <a:spcPts val="0"/>
              </a:spcBef>
              <a:spcAft>
                <a:spcPts val="0"/>
              </a:spcAft>
              <a:buSzPts val="1400"/>
              <a:buChar char="○"/>
            </a:pPr>
            <a:r>
              <a:rPr lang="en"/>
              <a:t>Every time the user requests a form from the legitimate website, the server attaches a CSRF token as a </a:t>
            </a:r>
            <a:r>
              <a:rPr i="1" lang="en"/>
              <a:t>hidden form field</a:t>
            </a:r>
            <a:r>
              <a:rPr lang="en"/>
              <a:t> (in the HTML, but not visible to the user)</a:t>
            </a:r>
            <a:endParaRPr/>
          </a:p>
          <a:p>
            <a:pPr indent="-317500" lvl="1" marL="914400" rtl="0" algn="l">
              <a:spcBef>
                <a:spcPts val="0"/>
              </a:spcBef>
              <a:spcAft>
                <a:spcPts val="0"/>
              </a:spcAft>
              <a:buSzPts val="1400"/>
              <a:buChar char="○"/>
            </a:pPr>
            <a:r>
              <a:rPr lang="en"/>
              <a:t>When the user submits the form, the request contains all form fields – including the CSRF token</a:t>
            </a:r>
            <a:endParaRPr/>
          </a:p>
          <a:p>
            <a:pPr indent="-317500" lvl="1" marL="914400" rtl="0" algn="l">
              <a:spcBef>
                <a:spcPts val="0"/>
              </a:spcBef>
              <a:spcAft>
                <a:spcPts val="0"/>
              </a:spcAft>
              <a:buSzPts val="1400"/>
              <a:buChar char="○"/>
            </a:pPr>
            <a:r>
              <a:rPr lang="en"/>
              <a:t>The attacker’s JavaScript won’t be able to create a valid form, because they don’t know the CSRF token!</a:t>
            </a:r>
            <a:endParaRPr/>
          </a:p>
          <a:p>
            <a:pPr indent="-317500" lvl="1" marL="914400" rtl="0" algn="l">
              <a:spcBef>
                <a:spcPts val="0"/>
              </a:spcBef>
              <a:spcAft>
                <a:spcPts val="0"/>
              </a:spcAft>
              <a:buSzPts val="1400"/>
              <a:buChar char="○"/>
            </a:pPr>
            <a:r>
              <a:rPr lang="en"/>
              <a:t>The attacker can try to fetch their own CSRF token, but it will only be valid for the attacker, not the victim</a:t>
            </a:r>
            <a:endParaRPr/>
          </a:p>
        </p:txBody>
      </p:sp>
      <p:sp>
        <p:nvSpPr>
          <p:cNvPr id="588" name="Google Shape;588;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Tokens: Usage</a:t>
            </a:r>
            <a:endParaRPr/>
          </a:p>
        </p:txBody>
      </p:sp>
      <p:sp>
        <p:nvSpPr>
          <p:cNvPr id="594" name="Google Shape;594;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5" name="Google Shape;595;p78"/>
          <p:cNvSpPr/>
          <p:nvPr/>
        </p:nvSpPr>
        <p:spPr>
          <a:xfrm>
            <a:off x="4935625" y="1350432"/>
            <a:ext cx="1039200" cy="194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Server</a:t>
            </a:r>
            <a:endParaRPr sz="1600"/>
          </a:p>
        </p:txBody>
      </p:sp>
      <p:grpSp>
        <p:nvGrpSpPr>
          <p:cNvPr id="596" name="Google Shape;596;p78"/>
          <p:cNvGrpSpPr/>
          <p:nvPr/>
        </p:nvGrpSpPr>
        <p:grpSpPr>
          <a:xfrm>
            <a:off x="2485875" y="1522676"/>
            <a:ext cx="2449752" cy="850200"/>
            <a:chOff x="2485875" y="1522676"/>
            <a:chExt cx="2449752" cy="850200"/>
          </a:xfrm>
        </p:grpSpPr>
        <p:sp>
          <p:nvSpPr>
            <p:cNvPr id="597" name="Google Shape;597;p78"/>
            <p:cNvSpPr txBox="1"/>
            <p:nvPr/>
          </p:nvSpPr>
          <p:spPr>
            <a:xfrm rot="686041">
              <a:off x="2609611" y="1747620"/>
              <a:ext cx="2309332"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1. Login</a:t>
              </a:r>
              <a:endParaRPr/>
            </a:p>
          </p:txBody>
        </p:sp>
        <p:cxnSp>
          <p:nvCxnSpPr>
            <p:cNvPr id="598" name="Google Shape;598;p78"/>
            <p:cNvCxnSpPr/>
            <p:nvPr/>
          </p:nvCxnSpPr>
          <p:spPr>
            <a:xfrm>
              <a:off x="2485875" y="1555025"/>
              <a:ext cx="2449500" cy="513900"/>
            </a:xfrm>
            <a:prstGeom prst="straightConnector1">
              <a:avLst/>
            </a:prstGeom>
            <a:noFill/>
            <a:ln cap="flat" cmpd="sng" w="9525">
              <a:solidFill>
                <a:schemeClr val="dk2"/>
              </a:solidFill>
              <a:prstDash val="solid"/>
              <a:round/>
              <a:headEnd len="med" w="med" type="triangle"/>
              <a:tailEnd len="med" w="med" type="triangle"/>
            </a:ln>
          </p:spPr>
        </p:cxnSp>
      </p:grpSp>
      <p:grpSp>
        <p:nvGrpSpPr>
          <p:cNvPr id="599" name="Google Shape;599;p78"/>
          <p:cNvGrpSpPr/>
          <p:nvPr/>
        </p:nvGrpSpPr>
        <p:grpSpPr>
          <a:xfrm>
            <a:off x="-103900" y="3363475"/>
            <a:ext cx="2589775" cy="1360200"/>
            <a:chOff x="-103900" y="3363475"/>
            <a:chExt cx="2589775" cy="1360200"/>
          </a:xfrm>
        </p:grpSpPr>
        <p:sp>
          <p:nvSpPr>
            <p:cNvPr id="600" name="Google Shape;600;p78"/>
            <p:cNvSpPr/>
            <p:nvPr/>
          </p:nvSpPr>
          <p:spPr>
            <a:xfrm>
              <a:off x="1446675" y="4150975"/>
              <a:ext cx="10392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grpSp>
          <p:nvGrpSpPr>
            <p:cNvPr id="601" name="Google Shape;601;p78"/>
            <p:cNvGrpSpPr/>
            <p:nvPr/>
          </p:nvGrpSpPr>
          <p:grpSpPr>
            <a:xfrm>
              <a:off x="-103900" y="3363475"/>
              <a:ext cx="2080800" cy="917675"/>
              <a:chOff x="-103900" y="3363475"/>
              <a:chExt cx="2080800" cy="917675"/>
            </a:xfrm>
          </p:grpSpPr>
          <p:cxnSp>
            <p:nvCxnSpPr>
              <p:cNvPr id="602" name="Google Shape;602;p78"/>
              <p:cNvCxnSpPr>
                <a:stCxn id="600" idx="0"/>
                <a:endCxn id="603" idx="2"/>
              </p:cNvCxnSpPr>
              <p:nvPr/>
            </p:nvCxnSpPr>
            <p:spPr>
              <a:xfrm rot="10800000">
                <a:off x="1966275" y="3363475"/>
                <a:ext cx="0" cy="787500"/>
              </a:xfrm>
              <a:prstGeom prst="straightConnector1">
                <a:avLst/>
              </a:prstGeom>
              <a:noFill/>
              <a:ln cap="flat" cmpd="sng" w="9525">
                <a:solidFill>
                  <a:schemeClr val="dk2"/>
                </a:solidFill>
                <a:prstDash val="solid"/>
                <a:round/>
                <a:headEnd len="med" w="med" type="none"/>
                <a:tailEnd len="med" w="med" type="triangle"/>
              </a:ln>
            </p:spPr>
          </p:cxnSp>
          <p:sp>
            <p:nvSpPr>
              <p:cNvPr id="604" name="Google Shape;604;p78"/>
              <p:cNvSpPr txBox="1"/>
              <p:nvPr/>
            </p:nvSpPr>
            <p:spPr>
              <a:xfrm rot="1983">
                <a:off x="-103900" y="3449250"/>
                <a:ext cx="2080800" cy="831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3. Make this request with attacker </a:t>
                </a:r>
                <a:r>
                  <a:rPr lang="en">
                    <a:solidFill>
                      <a:srgbClr val="FF0000"/>
                    </a:solidFill>
                  </a:rPr>
                  <a:t>token</a:t>
                </a:r>
                <a:endParaRPr>
                  <a:solidFill>
                    <a:srgbClr val="FF0000"/>
                  </a:solidFill>
                </a:endParaRPr>
              </a:p>
              <a:p>
                <a:pPr indent="0" lvl="0" marL="0" rtl="0" algn="r">
                  <a:spcBef>
                    <a:spcPts val="0"/>
                  </a:spcBef>
                  <a:spcAft>
                    <a:spcPts val="0"/>
                  </a:spcAft>
                  <a:buNone/>
                </a:pPr>
                <a:r>
                  <a:t/>
                </a:r>
                <a:endParaRPr/>
              </a:p>
            </p:txBody>
          </p:sp>
        </p:grpSp>
      </p:grpSp>
      <p:grpSp>
        <p:nvGrpSpPr>
          <p:cNvPr id="605" name="Google Shape;605;p78"/>
          <p:cNvGrpSpPr/>
          <p:nvPr/>
        </p:nvGrpSpPr>
        <p:grpSpPr>
          <a:xfrm>
            <a:off x="2466875" y="2030575"/>
            <a:ext cx="2468700" cy="875700"/>
            <a:chOff x="2466875" y="2030575"/>
            <a:chExt cx="2468700" cy="875700"/>
          </a:xfrm>
        </p:grpSpPr>
        <p:sp>
          <p:nvSpPr>
            <p:cNvPr id="606" name="Google Shape;606;p78"/>
            <p:cNvSpPr txBox="1"/>
            <p:nvPr/>
          </p:nvSpPr>
          <p:spPr>
            <a:xfrm rot="686063">
              <a:off x="2482282" y="2268269"/>
              <a:ext cx="2437886"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2. Get token</a:t>
              </a:r>
              <a:endParaRPr/>
            </a:p>
          </p:txBody>
        </p:sp>
        <p:cxnSp>
          <p:nvCxnSpPr>
            <p:cNvPr id="607" name="Google Shape;607;p78"/>
            <p:cNvCxnSpPr/>
            <p:nvPr/>
          </p:nvCxnSpPr>
          <p:spPr>
            <a:xfrm>
              <a:off x="2485875" y="2088425"/>
              <a:ext cx="2449500" cy="513900"/>
            </a:xfrm>
            <a:prstGeom prst="straightConnector1">
              <a:avLst/>
            </a:prstGeom>
            <a:noFill/>
            <a:ln cap="flat" cmpd="sng" w="9525">
              <a:solidFill>
                <a:schemeClr val="dk2"/>
              </a:solidFill>
              <a:prstDash val="solid"/>
              <a:round/>
              <a:headEnd len="med" w="med" type="triangle"/>
              <a:tailEnd len="med" w="med" type="triangle"/>
            </a:ln>
          </p:spPr>
        </p:cxnSp>
      </p:grpSp>
      <p:sp>
        <p:nvSpPr>
          <p:cNvPr id="608" name="Google Shape;608;p78"/>
          <p:cNvSpPr/>
          <p:nvPr/>
        </p:nvSpPr>
        <p:spPr>
          <a:xfrm>
            <a:off x="1446675" y="1350424"/>
            <a:ext cx="1039200" cy="194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User</a:t>
            </a:r>
            <a:endParaRPr sz="1600"/>
          </a:p>
        </p:txBody>
      </p:sp>
      <p:grpSp>
        <p:nvGrpSpPr>
          <p:cNvPr id="609" name="Google Shape;609;p78"/>
          <p:cNvGrpSpPr/>
          <p:nvPr/>
        </p:nvGrpSpPr>
        <p:grpSpPr>
          <a:xfrm>
            <a:off x="2466875" y="2563975"/>
            <a:ext cx="2468700" cy="875700"/>
            <a:chOff x="2466875" y="2563975"/>
            <a:chExt cx="2468700" cy="875700"/>
          </a:xfrm>
        </p:grpSpPr>
        <p:sp>
          <p:nvSpPr>
            <p:cNvPr id="610" name="Google Shape;610;p78"/>
            <p:cNvSpPr txBox="1"/>
            <p:nvPr/>
          </p:nvSpPr>
          <p:spPr>
            <a:xfrm rot="686063">
              <a:off x="2482282" y="2801669"/>
              <a:ext cx="2437886" cy="40031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4. Make request</a:t>
              </a:r>
              <a:endParaRPr/>
            </a:p>
          </p:txBody>
        </p:sp>
        <p:cxnSp>
          <p:nvCxnSpPr>
            <p:cNvPr id="611" name="Google Shape;611;p78"/>
            <p:cNvCxnSpPr/>
            <p:nvPr/>
          </p:nvCxnSpPr>
          <p:spPr>
            <a:xfrm>
              <a:off x="2485875" y="2621825"/>
              <a:ext cx="2449500" cy="513900"/>
            </a:xfrm>
            <a:prstGeom prst="straightConnector1">
              <a:avLst/>
            </a:prstGeom>
            <a:noFill/>
            <a:ln cap="flat" cmpd="sng" w="9525">
              <a:solidFill>
                <a:schemeClr val="dk2"/>
              </a:solidFill>
              <a:prstDash val="solid"/>
              <a:round/>
              <a:headEnd len="med" w="med" type="none"/>
              <a:tailEnd len="med" w="med" type="triangle"/>
            </a:ln>
          </p:spPr>
        </p:cxnSp>
      </p:grpSp>
      <p:sp>
        <p:nvSpPr>
          <p:cNvPr id="612" name="Google Shape;612;p78"/>
          <p:cNvSpPr txBox="1"/>
          <p:nvPr/>
        </p:nvSpPr>
        <p:spPr>
          <a:xfrm>
            <a:off x="3443700" y="4065325"/>
            <a:ext cx="3926100" cy="677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t>The request in step 4 will fail, because the attacker doesn’t know the token!</a:t>
            </a:r>
            <a:endParaRPr sz="1600">
              <a:solidFill>
                <a:srgbClr val="000000"/>
              </a:solidFill>
            </a:endParaRPr>
          </a:p>
        </p:txBody>
      </p:sp>
      <p:pic>
        <p:nvPicPr>
          <p:cNvPr id="613" name="Google Shape;613;p78"/>
          <p:cNvPicPr preferRelativeResize="0"/>
          <p:nvPr/>
        </p:nvPicPr>
        <p:blipFill>
          <a:blip r:embed="rId3">
            <a:alphaModFix/>
          </a:blip>
          <a:stretch>
            <a:fillRect/>
          </a:stretch>
        </p:blipFill>
        <p:spPr>
          <a:xfrm flipH="1">
            <a:off x="2485882" y="1640600"/>
            <a:ext cx="294018" cy="295200"/>
          </a:xfrm>
          <a:prstGeom prst="rect">
            <a:avLst/>
          </a:prstGeom>
          <a:noFill/>
          <a:ln>
            <a:noFill/>
          </a:ln>
        </p:spPr>
      </p:pic>
      <p:sp>
        <p:nvSpPr>
          <p:cNvPr id="614" name="Google Shape;614;p78"/>
          <p:cNvSpPr txBox="1"/>
          <p:nvPr/>
        </p:nvSpPr>
        <p:spPr>
          <a:xfrm rot="3092">
            <a:off x="1466024" y="1497359"/>
            <a:ext cx="10005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AA84F"/>
                </a:solidFill>
              </a:rPr>
              <a:t>token</a:t>
            </a:r>
            <a:r>
              <a:rPr lang="en">
                <a:solidFill>
                  <a:srgbClr val="78909C"/>
                </a:solidFill>
              </a:rPr>
              <a:t> </a:t>
            </a:r>
            <a:r>
              <a:rPr lang="en">
                <a:solidFill>
                  <a:srgbClr val="000000"/>
                </a:solidFill>
              </a:rPr>
              <a:t>in form</a:t>
            </a:r>
            <a:endParaRPr>
              <a:solidFill>
                <a:srgbClr val="000000"/>
              </a:solidFill>
            </a:endParaRPr>
          </a:p>
        </p:txBody>
      </p:sp>
      <p:pic>
        <p:nvPicPr>
          <p:cNvPr id="615" name="Google Shape;615;p78"/>
          <p:cNvPicPr preferRelativeResize="0"/>
          <p:nvPr/>
        </p:nvPicPr>
        <p:blipFill>
          <a:blip r:embed="rId3">
            <a:alphaModFix/>
          </a:blip>
          <a:stretch>
            <a:fillRect/>
          </a:stretch>
        </p:blipFill>
        <p:spPr>
          <a:xfrm flipH="1">
            <a:off x="3554220" y="3117850"/>
            <a:ext cx="294018" cy="29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Referer Header</a:t>
            </a:r>
            <a:endParaRPr/>
          </a:p>
        </p:txBody>
      </p:sp>
      <p:sp>
        <p:nvSpPr>
          <p:cNvPr id="621" name="Google Shape;621;p7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In a CSRF attack, the victim usually makes the malicious request from a different website</a:t>
            </a:r>
            <a:endParaRPr/>
          </a:p>
          <a:p>
            <a:pPr indent="-342900" lvl="0" marL="457200" rtl="0" algn="l">
              <a:spcBef>
                <a:spcPts val="0"/>
              </a:spcBef>
              <a:spcAft>
                <a:spcPts val="0"/>
              </a:spcAft>
              <a:buSzPts val="1800"/>
              <a:buChar char="●"/>
            </a:pPr>
            <a:r>
              <a:rPr lang="en"/>
              <a:t>Referer header: A header in an HTTP request that indicates which webpage made the request</a:t>
            </a:r>
            <a:endParaRPr/>
          </a:p>
          <a:p>
            <a:pPr indent="-317500" lvl="1" marL="914400" rtl="0" algn="l">
              <a:spcBef>
                <a:spcPts val="0"/>
              </a:spcBef>
              <a:spcAft>
                <a:spcPts val="0"/>
              </a:spcAft>
              <a:buSzPts val="1400"/>
              <a:buChar char="○"/>
            </a:pPr>
            <a:r>
              <a:rPr lang="en"/>
              <a:t>“Referer” is a 30-year typo in the HTTP standard (supposed to be “Referrer”)!</a:t>
            </a:r>
            <a:endParaRPr/>
          </a:p>
          <a:p>
            <a:pPr indent="-317500" lvl="1" marL="914400" rtl="0" algn="l">
              <a:spcBef>
                <a:spcPts val="0"/>
              </a:spcBef>
              <a:spcAft>
                <a:spcPts val="0"/>
              </a:spcAft>
              <a:buSzPts val="1400"/>
              <a:buChar char="○"/>
            </a:pPr>
            <a:r>
              <a:rPr lang="en"/>
              <a:t>Example: If you type your username and password into the Facebook homepage, the Referer header for that request is </a:t>
            </a:r>
            <a:r>
              <a:rPr b="1" lang="en">
                <a:latin typeface="Courier New"/>
                <a:ea typeface="Courier New"/>
                <a:cs typeface="Courier New"/>
                <a:sym typeface="Courier New"/>
              </a:rPr>
              <a:t>https://www.facebook.com</a:t>
            </a:r>
            <a:endParaRPr/>
          </a:p>
          <a:p>
            <a:pPr indent="-317500" lvl="1" marL="914400" rtl="0" algn="l">
              <a:spcBef>
                <a:spcPts val="0"/>
              </a:spcBef>
              <a:spcAft>
                <a:spcPts val="0"/>
              </a:spcAft>
              <a:buSzPts val="1400"/>
              <a:buChar char="○"/>
            </a:pPr>
            <a:r>
              <a:rPr lang="en"/>
              <a:t>Example: If an </a:t>
            </a:r>
            <a:r>
              <a:rPr b="1" lang="en">
                <a:latin typeface="Courier New"/>
                <a:ea typeface="Courier New"/>
                <a:cs typeface="Courier New"/>
                <a:sym typeface="Courier New"/>
              </a:rPr>
              <a:t>img</a:t>
            </a:r>
            <a:r>
              <a:rPr lang="en"/>
              <a:t> HTML tag on a forum forces your browser to make a request, the Referer header for that request is the forum’s URL</a:t>
            </a:r>
            <a:endParaRPr/>
          </a:p>
          <a:p>
            <a:pPr indent="-317500" lvl="1" marL="914400" rtl="0" algn="l">
              <a:spcBef>
                <a:spcPts val="0"/>
              </a:spcBef>
              <a:spcAft>
                <a:spcPts val="0"/>
              </a:spcAft>
              <a:buSzPts val="1400"/>
              <a:buChar char="○"/>
            </a:pPr>
            <a:r>
              <a:rPr lang="en"/>
              <a:t>Example: If JavaScript on an attacker’s website forces your browser to make a request, the Referer header for that request is the attacker’s URL</a:t>
            </a:r>
            <a:endParaRPr/>
          </a:p>
        </p:txBody>
      </p:sp>
      <p:sp>
        <p:nvSpPr>
          <p:cNvPr id="622" name="Google Shape;622;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Referer Header</a:t>
            </a:r>
            <a:endParaRPr/>
          </a:p>
        </p:txBody>
      </p:sp>
      <p:sp>
        <p:nvSpPr>
          <p:cNvPr id="628" name="Google Shape;628;p8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Checking the Referer header</a:t>
            </a:r>
            <a:endParaRPr/>
          </a:p>
          <a:p>
            <a:pPr indent="-317500" lvl="1" marL="914400" rtl="0" algn="l">
              <a:spcBef>
                <a:spcPts val="0"/>
              </a:spcBef>
              <a:spcAft>
                <a:spcPts val="0"/>
              </a:spcAft>
              <a:buSzPts val="1400"/>
              <a:buChar char="○"/>
            </a:pPr>
            <a:r>
              <a:rPr lang="en"/>
              <a:t>Allow </a:t>
            </a:r>
            <a:r>
              <a:rPr b="1" lang="en"/>
              <a:t>same-site requests</a:t>
            </a:r>
            <a:r>
              <a:rPr lang="en"/>
              <a:t>: The Referer header matches an expected URL</a:t>
            </a:r>
            <a:endParaRPr/>
          </a:p>
          <a:p>
            <a:pPr indent="-317500" lvl="2" marL="1371600" rtl="0" algn="l">
              <a:spcBef>
                <a:spcPts val="0"/>
              </a:spcBef>
              <a:spcAft>
                <a:spcPts val="0"/>
              </a:spcAft>
              <a:buSzPts val="1400"/>
              <a:buChar char="■"/>
            </a:pPr>
            <a:r>
              <a:rPr lang="en"/>
              <a:t>Example: For a login request, expect it to come from </a:t>
            </a:r>
            <a:r>
              <a:rPr b="1" lang="en">
                <a:latin typeface="Courier New"/>
                <a:ea typeface="Courier New"/>
                <a:cs typeface="Courier New"/>
                <a:sym typeface="Courier New"/>
              </a:rPr>
              <a:t>https://bank.com/login</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Disallow </a:t>
            </a:r>
            <a:r>
              <a:rPr b="1" lang="en"/>
              <a:t>cross-site requests</a:t>
            </a:r>
            <a:r>
              <a:rPr lang="en"/>
              <a:t>: The Referer header does not match an expected URL</a:t>
            </a:r>
            <a:endParaRPr/>
          </a:p>
          <a:p>
            <a:pPr indent="-342900" lvl="0" marL="457200" rtl="0" algn="l">
              <a:spcBef>
                <a:spcPts val="0"/>
              </a:spcBef>
              <a:spcAft>
                <a:spcPts val="0"/>
              </a:spcAft>
              <a:buSzPts val="1800"/>
              <a:buChar char="●"/>
            </a:pPr>
            <a:r>
              <a:rPr lang="en"/>
              <a:t>If the server sees a cross-site request, reject it</a:t>
            </a:r>
            <a:endParaRPr/>
          </a:p>
        </p:txBody>
      </p:sp>
      <p:sp>
        <p:nvSpPr>
          <p:cNvPr id="629" name="Google Shape;629;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Referer Header: Issues</a:t>
            </a:r>
            <a:endParaRPr/>
          </a:p>
        </p:txBody>
      </p:sp>
      <p:sp>
        <p:nvSpPr>
          <p:cNvPr id="635" name="Google Shape;635;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36" name="Google Shape;636;p81"/>
          <p:cNvSpPr txBox="1"/>
          <p:nvPr>
            <p:ph idx="1" type="body"/>
          </p:nvPr>
        </p:nvSpPr>
        <p:spPr>
          <a:xfrm>
            <a:off x="198500" y="1170625"/>
            <a:ext cx="8520600" cy="376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Referer header may leak private information</a:t>
            </a:r>
            <a:endParaRPr/>
          </a:p>
          <a:p>
            <a:pPr indent="-317500" lvl="1" marL="914400" rtl="0" algn="l">
              <a:spcBef>
                <a:spcPts val="0"/>
              </a:spcBef>
              <a:spcAft>
                <a:spcPts val="0"/>
              </a:spcAft>
              <a:buSzPts val="1400"/>
              <a:buChar char="○"/>
            </a:pPr>
            <a:r>
              <a:rPr lang="en"/>
              <a:t>Example: If you made the request on a top-secret website, the Referer header might show you visited </a:t>
            </a:r>
            <a:r>
              <a:rPr b="1" lang="en">
                <a:latin typeface="Courier New"/>
                <a:ea typeface="Courier New"/>
                <a:cs typeface="Courier New"/>
                <a:sym typeface="Courier New"/>
              </a:rPr>
              <a:t>http://intranet.corp.apple.com/projects/iphone/competitors.html</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Example: If you make a request to an advertiser, the Referer header gives the adverti</a:t>
            </a:r>
            <a:r>
              <a:rPr lang="en"/>
              <a:t>s</a:t>
            </a:r>
            <a:r>
              <a:rPr lang="en"/>
              <a:t>er information about how you saw the ad</a:t>
            </a:r>
            <a:endParaRPr/>
          </a:p>
          <a:p>
            <a:pPr indent="-342900" lvl="0" marL="457200" rtl="0" algn="l">
              <a:spcBef>
                <a:spcPts val="0"/>
              </a:spcBef>
              <a:spcAft>
                <a:spcPts val="0"/>
              </a:spcAft>
              <a:buSzPts val="1800"/>
              <a:buChar char="●"/>
            </a:pPr>
            <a:r>
              <a:rPr lang="en"/>
              <a:t>The Referer header might be removed before the request reaches the server</a:t>
            </a:r>
            <a:endParaRPr/>
          </a:p>
          <a:p>
            <a:pPr indent="-317500" lvl="1" marL="914400" rtl="0" algn="l">
              <a:spcBef>
                <a:spcPts val="0"/>
              </a:spcBef>
              <a:spcAft>
                <a:spcPts val="0"/>
              </a:spcAft>
              <a:buSzPts val="1400"/>
              <a:buChar char="○"/>
            </a:pPr>
            <a:r>
              <a:rPr lang="en"/>
              <a:t>Example: Your company firewall removes the header before sending the request</a:t>
            </a:r>
            <a:endParaRPr/>
          </a:p>
          <a:p>
            <a:pPr indent="-317500" lvl="1" marL="914400" rtl="0" algn="l">
              <a:spcBef>
                <a:spcPts val="0"/>
              </a:spcBef>
              <a:spcAft>
                <a:spcPts val="0"/>
              </a:spcAft>
              <a:buSzPts val="1400"/>
              <a:buChar char="○"/>
            </a:pPr>
            <a:r>
              <a:rPr lang="en"/>
              <a:t>Example: The browser removes the header because of your privacy settings</a:t>
            </a:r>
            <a:endParaRPr/>
          </a:p>
          <a:p>
            <a:pPr indent="-342900" lvl="0" marL="457200" rtl="0" algn="l">
              <a:spcBef>
                <a:spcPts val="0"/>
              </a:spcBef>
              <a:spcAft>
                <a:spcPts val="0"/>
              </a:spcAft>
              <a:buSzPts val="1800"/>
              <a:buChar char="●"/>
            </a:pPr>
            <a:r>
              <a:rPr lang="en"/>
              <a:t>The Referer header is optional. </a:t>
            </a:r>
            <a:r>
              <a:rPr lang="en"/>
              <a:t>What if the request leaves the header blank?</a:t>
            </a:r>
            <a:endParaRPr/>
          </a:p>
          <a:p>
            <a:pPr indent="-317500" lvl="1" marL="914400" rtl="0" algn="l">
              <a:spcBef>
                <a:spcPts val="0"/>
              </a:spcBef>
              <a:spcAft>
                <a:spcPts val="0"/>
              </a:spcAft>
              <a:buSzPts val="1400"/>
              <a:buChar char="○"/>
            </a:pPr>
            <a:r>
              <a:rPr lang="en"/>
              <a:t>Allow requests without a header?</a:t>
            </a:r>
            <a:endParaRPr/>
          </a:p>
          <a:p>
            <a:pPr indent="-317500" lvl="2" marL="1371600" rtl="0" algn="l">
              <a:spcBef>
                <a:spcPts val="0"/>
              </a:spcBef>
              <a:spcAft>
                <a:spcPts val="0"/>
              </a:spcAft>
              <a:buSzPts val="1400"/>
              <a:buChar char="■"/>
            </a:pPr>
            <a:r>
              <a:rPr lang="en"/>
              <a:t>Less secure: CSRF attacks might be possible</a:t>
            </a:r>
            <a:endParaRPr/>
          </a:p>
          <a:p>
            <a:pPr indent="-317500" lvl="1" marL="914400" rtl="0" algn="l">
              <a:spcBef>
                <a:spcPts val="0"/>
              </a:spcBef>
              <a:spcAft>
                <a:spcPts val="0"/>
              </a:spcAft>
              <a:buSzPts val="1400"/>
              <a:buChar char="○"/>
            </a:pPr>
            <a:r>
              <a:rPr lang="en"/>
              <a:t>Deny requests without a header?</a:t>
            </a:r>
            <a:endParaRPr/>
          </a:p>
          <a:p>
            <a:pPr indent="-317500" lvl="2" marL="1371600" rtl="0" algn="l">
              <a:spcBef>
                <a:spcPts val="0"/>
              </a:spcBef>
              <a:spcAft>
                <a:spcPts val="0"/>
              </a:spcAft>
              <a:buSzPts val="1400"/>
              <a:buChar char="■"/>
            </a:pPr>
            <a:r>
              <a:rPr lang="en"/>
              <a:t>Less usable: Legitimate requests might be denied</a:t>
            </a:r>
            <a:endParaRPr/>
          </a:p>
          <a:p>
            <a:pPr indent="-317500" lvl="1" marL="914400" rtl="0" algn="l">
              <a:spcBef>
                <a:spcPts val="0"/>
              </a:spcBef>
              <a:spcAft>
                <a:spcPts val="0"/>
              </a:spcAft>
              <a:buSzPts val="1400"/>
              <a:buChar char="○"/>
            </a:pPr>
            <a:r>
              <a:rPr lang="en"/>
              <a:t>Need to consider fail-safe defaults: No clear answer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SameSite Cookie Attribute</a:t>
            </a:r>
            <a:endParaRPr/>
          </a:p>
        </p:txBody>
      </p:sp>
      <p:sp>
        <p:nvSpPr>
          <p:cNvPr id="642" name="Google Shape;642;p8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Implement a flag on a cookie that makes it unexploitable by CSRF attacks</a:t>
            </a:r>
            <a:endParaRPr/>
          </a:p>
          <a:p>
            <a:pPr indent="-317500" lvl="1" marL="914400" rtl="0" algn="l">
              <a:spcBef>
                <a:spcPts val="0"/>
              </a:spcBef>
              <a:spcAft>
                <a:spcPts val="0"/>
              </a:spcAft>
              <a:buSzPts val="1400"/>
              <a:buChar char="○"/>
            </a:pPr>
            <a:r>
              <a:rPr lang="en"/>
              <a:t>This flag must specify that </a:t>
            </a:r>
            <a:r>
              <a:rPr b="1" lang="en"/>
              <a:t>cross-site</a:t>
            </a:r>
            <a:r>
              <a:rPr lang="en"/>
              <a:t> requests will not contain the cookie</a:t>
            </a:r>
            <a:endParaRPr/>
          </a:p>
          <a:p>
            <a:pPr indent="-342900" lvl="0" marL="457200" rtl="0" algn="l">
              <a:spcBef>
                <a:spcPts val="0"/>
              </a:spcBef>
              <a:spcAft>
                <a:spcPts val="0"/>
              </a:spcAft>
              <a:buSzPts val="1800"/>
              <a:buChar char="●"/>
            </a:pPr>
            <a:r>
              <a:rPr b="1" lang="en"/>
              <a:t>SameSite=Strict flag</a:t>
            </a:r>
            <a:r>
              <a:rPr lang="en"/>
              <a:t>: An attribute of a cookie that specifies it should be sent only when the domain of the cookie </a:t>
            </a:r>
            <a:r>
              <a:rPr b="1" lang="en"/>
              <a:t>exactly</a:t>
            </a:r>
            <a:r>
              <a:rPr lang="en"/>
              <a:t> matches the domain of the origin of the webpage that triggered the request</a:t>
            </a:r>
            <a:endParaRPr/>
          </a:p>
          <a:p>
            <a:pPr indent="-317500" lvl="1" marL="914400" rtl="0" algn="l">
              <a:spcBef>
                <a:spcPts val="0"/>
              </a:spcBef>
              <a:spcAft>
                <a:spcPts val="0"/>
              </a:spcAft>
              <a:buSzPts val="1400"/>
              <a:buChar char="○"/>
            </a:pPr>
            <a:r>
              <a:rPr lang="en"/>
              <a:t>Example: If </a:t>
            </a:r>
            <a:r>
              <a:rPr b="1" lang="en">
                <a:latin typeface="Courier New"/>
                <a:ea typeface="Courier New"/>
                <a:cs typeface="Courier New"/>
                <a:sym typeface="Courier New"/>
              </a:rPr>
              <a:t>https://evil.com/</a:t>
            </a:r>
            <a:r>
              <a:rPr lang="en"/>
              <a:t> causes your browser to make a request to </a:t>
            </a:r>
            <a:r>
              <a:rPr b="1" lang="en">
                <a:latin typeface="Courier New"/>
                <a:ea typeface="Courier New"/>
                <a:cs typeface="Courier New"/>
                <a:sym typeface="Courier New"/>
              </a:rPr>
              <a:t>https://bank.com/transfer?to=mallory</a:t>
            </a:r>
            <a:r>
              <a:rPr lang="en"/>
              <a:t>, cookies for </a:t>
            </a:r>
            <a:r>
              <a:rPr b="1" lang="en">
                <a:latin typeface="Courier New"/>
                <a:ea typeface="Courier New"/>
                <a:cs typeface="Courier New"/>
                <a:sym typeface="Courier New"/>
              </a:rPr>
              <a:t>bank.com</a:t>
            </a:r>
            <a:r>
              <a:rPr lang="en"/>
              <a:t> will not be sent if SameSite=Strict, because the origin domain (</a:t>
            </a:r>
            <a:r>
              <a:rPr b="1" lang="en">
                <a:latin typeface="Courier New"/>
                <a:ea typeface="Courier New"/>
                <a:cs typeface="Courier New"/>
                <a:sym typeface="Courier New"/>
              </a:rPr>
              <a:t>evil.com</a:t>
            </a:r>
            <a:r>
              <a:rPr lang="en"/>
              <a:t>) and cookie domain (</a:t>
            </a:r>
            <a:r>
              <a:rPr b="1" lang="en">
                <a:latin typeface="Courier New"/>
                <a:ea typeface="Courier New"/>
                <a:cs typeface="Courier New"/>
                <a:sym typeface="Courier New"/>
              </a:rPr>
              <a:t>bank.com</a:t>
            </a:r>
            <a:r>
              <a:rPr lang="en"/>
              <a:t>) are different</a:t>
            </a:r>
            <a:endParaRPr/>
          </a:p>
          <a:p>
            <a:pPr indent="-342900" lvl="0" marL="457200" rtl="0" algn="l">
              <a:spcBef>
                <a:spcPts val="0"/>
              </a:spcBef>
              <a:spcAft>
                <a:spcPts val="0"/>
              </a:spcAft>
              <a:buSzPts val="1800"/>
              <a:buChar char="●"/>
            </a:pPr>
            <a:r>
              <a:rPr lang="en"/>
              <a:t>Issue: Not yet implemented on some less-common browsers</a:t>
            </a:r>
            <a:endParaRPr/>
          </a:p>
        </p:txBody>
      </p:sp>
      <p:sp>
        <p:nvSpPr>
          <p:cNvPr id="643" name="Google Shape;643;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8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 Summary</a:t>
            </a:r>
            <a:endParaRPr/>
          </a:p>
        </p:txBody>
      </p:sp>
      <p:sp>
        <p:nvSpPr>
          <p:cNvPr id="650" name="Google Shape;650;p8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Cookie: a piece of data used to maintain state across multiple requests</a:t>
            </a:r>
            <a:endParaRPr/>
          </a:p>
          <a:p>
            <a:pPr indent="-317500" lvl="1" marL="914400" rtl="0" algn="l">
              <a:spcBef>
                <a:spcPts val="0"/>
              </a:spcBef>
              <a:spcAft>
                <a:spcPts val="0"/>
              </a:spcAft>
              <a:buSzPts val="1400"/>
              <a:buChar char="○"/>
            </a:pPr>
            <a:r>
              <a:rPr lang="en"/>
              <a:t>Set by the browser or server</a:t>
            </a:r>
            <a:endParaRPr/>
          </a:p>
          <a:p>
            <a:pPr indent="-317500" lvl="1" marL="914400" rtl="0" algn="l">
              <a:spcBef>
                <a:spcPts val="0"/>
              </a:spcBef>
              <a:spcAft>
                <a:spcPts val="0"/>
              </a:spcAft>
              <a:buSzPts val="1400"/>
              <a:buChar char="○"/>
            </a:pPr>
            <a:r>
              <a:rPr lang="en"/>
              <a:t>Stored by the browser</a:t>
            </a:r>
            <a:endParaRPr/>
          </a:p>
          <a:p>
            <a:pPr indent="-317500" lvl="1" marL="914400" rtl="0" algn="l">
              <a:spcBef>
                <a:spcPts val="0"/>
              </a:spcBef>
              <a:spcAft>
                <a:spcPts val="0"/>
              </a:spcAft>
              <a:buSzPts val="1400"/>
              <a:buChar char="○"/>
            </a:pPr>
            <a:r>
              <a:rPr lang="en"/>
              <a:t>Attributes: Name, value, domain, path, secure, HttpOnly, expires</a:t>
            </a:r>
            <a:endParaRPr/>
          </a:p>
          <a:p>
            <a:pPr indent="-342900" lvl="0" marL="457200" rtl="0" algn="l">
              <a:spcBef>
                <a:spcPts val="0"/>
              </a:spcBef>
              <a:spcAft>
                <a:spcPts val="0"/>
              </a:spcAft>
              <a:buSzPts val="1800"/>
              <a:buChar char="●"/>
            </a:pPr>
            <a:r>
              <a:rPr lang="en"/>
              <a:t>Cookie policy</a:t>
            </a:r>
            <a:endParaRPr/>
          </a:p>
          <a:p>
            <a:pPr indent="-317500" lvl="1" marL="914400" rtl="0" algn="l">
              <a:spcBef>
                <a:spcPts val="0"/>
              </a:spcBef>
              <a:spcAft>
                <a:spcPts val="0"/>
              </a:spcAft>
              <a:buSzPts val="1400"/>
              <a:buChar char="○"/>
            </a:pPr>
            <a:r>
              <a:rPr lang="en"/>
              <a:t>Server with </a:t>
            </a:r>
            <a:r>
              <a:rPr lang="en">
                <a:solidFill>
                  <a:srgbClr val="0000FF"/>
                </a:solidFill>
              </a:rPr>
              <a:t>domain X</a:t>
            </a:r>
            <a:r>
              <a:rPr lang="en"/>
              <a:t> can set a cookie with </a:t>
            </a:r>
            <a:r>
              <a:rPr lang="en">
                <a:solidFill>
                  <a:srgbClr val="FF0000"/>
                </a:solidFill>
              </a:rPr>
              <a:t>domain attribute Y</a:t>
            </a:r>
            <a:r>
              <a:rPr lang="en"/>
              <a:t> if the </a:t>
            </a:r>
            <a:r>
              <a:rPr lang="en">
                <a:solidFill>
                  <a:srgbClr val="FF0000"/>
                </a:solidFill>
              </a:rPr>
              <a:t>domain attribute</a:t>
            </a:r>
            <a:r>
              <a:rPr lang="en"/>
              <a:t> is a </a:t>
            </a:r>
            <a:r>
              <a:rPr b="1" lang="en"/>
              <a:t>domain suffix</a:t>
            </a:r>
            <a:r>
              <a:rPr lang="en"/>
              <a:t> of the </a:t>
            </a:r>
            <a:r>
              <a:rPr lang="en">
                <a:solidFill>
                  <a:srgbClr val="0000FF"/>
                </a:solidFill>
              </a:rPr>
              <a:t>server’s domain</a:t>
            </a:r>
            <a:r>
              <a:rPr lang="en"/>
              <a:t>, and the </a:t>
            </a:r>
            <a:r>
              <a:rPr lang="en">
                <a:solidFill>
                  <a:srgbClr val="FF0000"/>
                </a:solidFill>
              </a:rPr>
              <a:t>domain attribute Y</a:t>
            </a:r>
            <a:r>
              <a:rPr lang="en"/>
              <a:t> is not a top-level domain (TLD)</a:t>
            </a:r>
            <a:endParaRPr/>
          </a:p>
          <a:p>
            <a:pPr indent="-317500" lvl="1" marL="914400" rtl="0" algn="l">
              <a:spcBef>
                <a:spcPts val="0"/>
              </a:spcBef>
              <a:spcAft>
                <a:spcPts val="0"/>
              </a:spcAft>
              <a:buSzPts val="1400"/>
              <a:buChar char="○"/>
            </a:pPr>
            <a:r>
              <a:rPr lang="en"/>
              <a:t>The browser attaches a cookie on a request if the </a:t>
            </a:r>
            <a:r>
              <a:rPr lang="en">
                <a:solidFill>
                  <a:srgbClr val="FF0000"/>
                </a:solidFill>
              </a:rPr>
              <a:t>domain attribute</a:t>
            </a:r>
            <a:r>
              <a:rPr lang="en"/>
              <a:t> is a </a:t>
            </a:r>
            <a:r>
              <a:rPr b="1" lang="en"/>
              <a:t>domain suffix</a:t>
            </a:r>
            <a:r>
              <a:rPr lang="en"/>
              <a:t> of the </a:t>
            </a:r>
            <a:r>
              <a:rPr lang="en">
                <a:solidFill>
                  <a:srgbClr val="0000FF"/>
                </a:solidFill>
              </a:rPr>
              <a:t>server’s domain</a:t>
            </a:r>
            <a:r>
              <a:rPr lang="en"/>
              <a:t>, and the </a:t>
            </a:r>
            <a:r>
              <a:rPr lang="en">
                <a:solidFill>
                  <a:srgbClr val="FF0000"/>
                </a:solidFill>
              </a:rPr>
              <a:t>path attribute</a:t>
            </a:r>
            <a:r>
              <a:rPr lang="en"/>
              <a:t> is a </a:t>
            </a:r>
            <a:r>
              <a:rPr b="1" lang="en"/>
              <a:t>prefix</a:t>
            </a:r>
            <a:r>
              <a:rPr lang="en"/>
              <a:t> of the </a:t>
            </a:r>
            <a:r>
              <a:rPr lang="en">
                <a:solidFill>
                  <a:srgbClr val="0000FF"/>
                </a:solidFill>
              </a:rPr>
              <a:t>server’s path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6" name="Google Shape;656;p8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Authentication: Summary</a:t>
            </a:r>
            <a:endParaRPr/>
          </a:p>
        </p:txBody>
      </p:sp>
      <p:sp>
        <p:nvSpPr>
          <p:cNvPr id="657" name="Google Shape;657;p8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Session authentication</a:t>
            </a:r>
            <a:endParaRPr/>
          </a:p>
          <a:p>
            <a:pPr indent="-317500" lvl="1" marL="914400" rtl="0" algn="l">
              <a:spcBef>
                <a:spcPts val="0"/>
              </a:spcBef>
              <a:spcAft>
                <a:spcPts val="0"/>
              </a:spcAft>
              <a:buSzPts val="1400"/>
              <a:buChar char="○"/>
            </a:pPr>
            <a:r>
              <a:rPr lang="en"/>
              <a:t>Use cookies to associate requests with an authenticated user</a:t>
            </a:r>
            <a:endParaRPr/>
          </a:p>
          <a:p>
            <a:pPr indent="-317500" lvl="1" marL="914400" rtl="0" algn="l">
              <a:spcBef>
                <a:spcPts val="0"/>
              </a:spcBef>
              <a:spcAft>
                <a:spcPts val="0"/>
              </a:spcAft>
              <a:buSzPts val="1400"/>
              <a:buChar char="○"/>
            </a:pPr>
            <a:r>
              <a:rPr lang="en"/>
              <a:t>First request: Enter username and password, receive session token (as a cookie)</a:t>
            </a:r>
            <a:endParaRPr/>
          </a:p>
          <a:p>
            <a:pPr indent="-317500" lvl="1" marL="914400" rtl="0" algn="l">
              <a:spcBef>
                <a:spcPts val="0"/>
              </a:spcBef>
              <a:spcAft>
                <a:spcPts val="0"/>
              </a:spcAft>
              <a:buSzPts val="1400"/>
              <a:buChar char="○"/>
            </a:pPr>
            <a:r>
              <a:rPr lang="en"/>
              <a:t>Future requests: Browser automatically attaches the session token cookie</a:t>
            </a:r>
            <a:endParaRPr/>
          </a:p>
          <a:p>
            <a:pPr indent="-342900" lvl="0" marL="457200" rtl="0" algn="l">
              <a:spcBef>
                <a:spcPts val="0"/>
              </a:spcBef>
              <a:spcAft>
                <a:spcPts val="0"/>
              </a:spcAft>
              <a:buSzPts val="1800"/>
              <a:buChar char="●"/>
            </a:pPr>
            <a:r>
              <a:rPr lang="en"/>
              <a:t>Session tokens</a:t>
            </a:r>
            <a:endParaRPr/>
          </a:p>
          <a:p>
            <a:pPr indent="-317500" lvl="1" marL="914400" rtl="0" algn="l">
              <a:spcBef>
                <a:spcPts val="0"/>
              </a:spcBef>
              <a:spcAft>
                <a:spcPts val="0"/>
              </a:spcAft>
              <a:buSzPts val="1400"/>
              <a:buChar char="○"/>
            </a:pPr>
            <a:r>
              <a:rPr lang="en"/>
              <a:t>If an attacker steals your session token, they can log in as you</a:t>
            </a:r>
            <a:endParaRPr/>
          </a:p>
          <a:p>
            <a:pPr indent="-317500" lvl="1" marL="914400" rtl="0" algn="l">
              <a:spcBef>
                <a:spcPts val="0"/>
              </a:spcBef>
              <a:spcAft>
                <a:spcPts val="0"/>
              </a:spcAft>
              <a:buSzPts val="1400"/>
              <a:buChar char="○"/>
            </a:pPr>
            <a:r>
              <a:rPr lang="en"/>
              <a:t>Should be randomly and securely generated by the server</a:t>
            </a:r>
            <a:endParaRPr/>
          </a:p>
          <a:p>
            <a:pPr indent="-317500" lvl="1" marL="914400" rtl="0" algn="l">
              <a:spcBef>
                <a:spcPts val="0"/>
              </a:spcBef>
              <a:spcAft>
                <a:spcPts val="0"/>
              </a:spcAft>
              <a:buSzPts val="1400"/>
              <a:buChar char="○"/>
            </a:pPr>
            <a:r>
              <a:rPr lang="en"/>
              <a:t>The browser should not send tokens to the wrong place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Summary</a:t>
            </a:r>
            <a:endParaRPr/>
          </a:p>
        </p:txBody>
      </p:sp>
      <p:sp>
        <p:nvSpPr>
          <p:cNvPr id="663" name="Google Shape;663;p8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Cross-site request forgery (CSRF or XSRF): An attack that exploits cookie-based authentication to perform an action as the victim</a:t>
            </a:r>
            <a:endParaRPr/>
          </a:p>
          <a:p>
            <a:pPr indent="-317500" lvl="1" marL="914400" rtl="0" algn="l">
              <a:spcBef>
                <a:spcPts val="0"/>
              </a:spcBef>
              <a:spcAft>
                <a:spcPts val="0"/>
              </a:spcAft>
              <a:buSzPts val="1400"/>
              <a:buChar char="○"/>
            </a:pPr>
            <a:r>
              <a:rPr lang="en"/>
              <a:t>User authenticates to the server</a:t>
            </a:r>
            <a:endParaRPr/>
          </a:p>
          <a:p>
            <a:pPr indent="-317500" lvl="2" marL="1371600" rtl="0" algn="l">
              <a:spcBef>
                <a:spcPts val="0"/>
              </a:spcBef>
              <a:spcAft>
                <a:spcPts val="0"/>
              </a:spcAft>
              <a:buSzPts val="1400"/>
              <a:buChar char="■"/>
            </a:pPr>
            <a:r>
              <a:rPr lang="en"/>
              <a:t>User receives a cookie with a valid session token</a:t>
            </a:r>
            <a:endParaRPr/>
          </a:p>
          <a:p>
            <a:pPr indent="-317500" lvl="1" marL="914400" rtl="0" algn="l">
              <a:spcBef>
                <a:spcPts val="0"/>
              </a:spcBef>
              <a:spcAft>
                <a:spcPts val="0"/>
              </a:spcAft>
              <a:buSzPts val="1400"/>
              <a:buChar char="○"/>
            </a:pPr>
            <a:r>
              <a:rPr lang="en"/>
              <a:t>Attacker tricks the victim into making a malicious request to the server</a:t>
            </a:r>
            <a:endParaRPr/>
          </a:p>
          <a:p>
            <a:pPr indent="-317500" lvl="1" marL="914400" rtl="0" algn="l">
              <a:spcBef>
                <a:spcPts val="0"/>
              </a:spcBef>
              <a:spcAft>
                <a:spcPts val="0"/>
              </a:spcAft>
              <a:buSzPts val="1400"/>
              <a:buChar char="○"/>
            </a:pPr>
            <a:r>
              <a:rPr lang="en"/>
              <a:t>The server accepts the malicious request from the victim</a:t>
            </a:r>
            <a:endParaRPr/>
          </a:p>
          <a:p>
            <a:pPr indent="-317500" lvl="2" marL="1371600" rtl="0" algn="l">
              <a:spcBef>
                <a:spcPts val="0"/>
              </a:spcBef>
              <a:spcAft>
                <a:spcPts val="0"/>
              </a:spcAft>
              <a:buSzPts val="1400"/>
              <a:buChar char="■"/>
            </a:pPr>
            <a:r>
              <a:rPr lang="en"/>
              <a:t>Recall: The cookie is automatically attached in the request</a:t>
            </a:r>
            <a:endParaRPr/>
          </a:p>
          <a:p>
            <a:pPr indent="-342900" lvl="0" marL="457200" rtl="0" algn="l">
              <a:spcBef>
                <a:spcPts val="0"/>
              </a:spcBef>
              <a:spcAft>
                <a:spcPts val="0"/>
              </a:spcAft>
              <a:buSzPts val="1800"/>
              <a:buChar char="●"/>
            </a:pPr>
            <a:r>
              <a:rPr lang="en"/>
              <a:t>Attacker must trick the victim into creating a request</a:t>
            </a:r>
            <a:endParaRPr/>
          </a:p>
          <a:p>
            <a:pPr indent="-317500" lvl="1" marL="914400" rtl="0" algn="l">
              <a:spcBef>
                <a:spcPts val="0"/>
              </a:spcBef>
              <a:spcAft>
                <a:spcPts val="0"/>
              </a:spcAft>
              <a:buSzPts val="1400"/>
              <a:buChar char="○"/>
            </a:pPr>
            <a:r>
              <a:rPr lang="en"/>
              <a:t>GET request: click on a link</a:t>
            </a:r>
            <a:endParaRPr/>
          </a:p>
          <a:p>
            <a:pPr indent="-317500" lvl="1" marL="914400" rtl="0" algn="l">
              <a:spcBef>
                <a:spcPts val="0"/>
              </a:spcBef>
              <a:spcAft>
                <a:spcPts val="0"/>
              </a:spcAft>
              <a:buSzPts val="1400"/>
              <a:buChar char="○"/>
            </a:pPr>
            <a:r>
              <a:rPr lang="en"/>
              <a:t>POST request: use JavaScript</a:t>
            </a:r>
            <a:endParaRPr/>
          </a:p>
        </p:txBody>
      </p:sp>
      <p:sp>
        <p:nvSpPr>
          <p:cNvPr id="664" name="Google Shape;664;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8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CSRF Defenses: Summary</a:t>
            </a:r>
            <a:endParaRPr/>
          </a:p>
        </p:txBody>
      </p:sp>
      <p:sp>
        <p:nvSpPr>
          <p:cNvPr id="670" name="Google Shape;670;p8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CSRF token: A secret value provided by the server to the user. The user must attach the same value in the request for the server to accept the request.</a:t>
            </a:r>
            <a:endParaRPr/>
          </a:p>
          <a:p>
            <a:pPr indent="-317500" lvl="1" marL="914400" rtl="0" algn="l">
              <a:spcBef>
                <a:spcPts val="0"/>
              </a:spcBef>
              <a:spcAft>
                <a:spcPts val="0"/>
              </a:spcAft>
              <a:buSzPts val="1400"/>
              <a:buChar char="○"/>
            </a:pPr>
            <a:r>
              <a:rPr lang="en"/>
              <a:t>The attacker does not know the token when tricking the user into making a request</a:t>
            </a:r>
            <a:endParaRPr/>
          </a:p>
          <a:p>
            <a:pPr indent="-342900" lvl="0" marL="457200" rtl="0" algn="l">
              <a:spcBef>
                <a:spcPts val="0"/>
              </a:spcBef>
              <a:spcAft>
                <a:spcPts val="0"/>
              </a:spcAft>
              <a:buSzPts val="1800"/>
              <a:buChar char="●"/>
            </a:pPr>
            <a:r>
              <a:rPr lang="en"/>
              <a:t>Referer Header: Allow same-site requests, but disallow cross-site requests</a:t>
            </a:r>
            <a:endParaRPr/>
          </a:p>
          <a:p>
            <a:pPr indent="-317500" lvl="1" marL="914400" rtl="0" algn="l">
              <a:spcBef>
                <a:spcPts val="0"/>
              </a:spcBef>
              <a:spcAft>
                <a:spcPts val="0"/>
              </a:spcAft>
              <a:buSzPts val="1400"/>
              <a:buChar char="○"/>
            </a:pPr>
            <a:r>
              <a:rPr lang="en"/>
              <a:t>Header may be blank or removed for privacy reasons</a:t>
            </a:r>
            <a:endParaRPr/>
          </a:p>
          <a:p>
            <a:pPr indent="-342900" lvl="0" marL="457200" rtl="0" algn="l">
              <a:spcBef>
                <a:spcPts val="0"/>
              </a:spcBef>
              <a:spcAft>
                <a:spcPts val="0"/>
              </a:spcAft>
              <a:buSzPts val="1800"/>
              <a:buChar char="●"/>
            </a:pPr>
            <a:r>
              <a:rPr lang="en"/>
              <a:t>Same-site cookie attribute: The cookie is sent only when the domain of the cookie exactly matches the domain of the origin</a:t>
            </a:r>
            <a:endParaRPr/>
          </a:p>
          <a:p>
            <a:pPr indent="-317500" lvl="1" marL="914400" rtl="0" algn="l">
              <a:spcBef>
                <a:spcPts val="0"/>
              </a:spcBef>
              <a:spcAft>
                <a:spcPts val="0"/>
              </a:spcAft>
              <a:buSzPts val="1400"/>
              <a:buChar char="○"/>
            </a:pPr>
            <a:r>
              <a:rPr lang="en"/>
              <a:t>Not implemented on all browsers</a:t>
            </a:r>
            <a:endParaRPr/>
          </a:p>
        </p:txBody>
      </p:sp>
      <p:sp>
        <p:nvSpPr>
          <p:cNvPr id="671" name="Google Shape;671;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 16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