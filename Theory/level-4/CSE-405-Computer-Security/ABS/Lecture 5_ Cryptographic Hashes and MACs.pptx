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jfdt0NPfELQSPRdRcDhN86jt8P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E6FCC3-9B0D-44F7-927E-53161B12B198}">
  <a:tblStyle styleId="{2BE6FCC3-9B0D-44F7-927E-53161B12B19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SHA-3 has better length extension attack resilience than SHA-2. SHA-2 is faster.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14937de1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514937de1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14937de1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514937de1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14937de1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14937de1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14937de1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14937de1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14937de1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514937de1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"HMAC is the best MAC construction: accept no substitutes!" ~Nick Weaver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514937de1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514937de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0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50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5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half body">
  <p:cSld name="TITLE_AND_BODY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52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4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5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6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Optional">
  <p:cSld name="TITLE_AND_BODY_1">
    <p:bg>
      <p:bgPr>
        <a:solidFill>
          <a:srgbClr val="A4C2F4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5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Optional">
  <p:cSld name="ONE_COLUMN_TEXT_1">
    <p:bg>
      <p:bgPr>
        <a:solidFill>
          <a:srgbClr val="A4C2F4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5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58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Optional">
  <p:cSld name="SECTION_HEADER_1">
    <p:bg>
      <p:bgPr>
        <a:solidFill>
          <a:srgbClr val="A4C2F4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" name="Google Shape;5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Optional">
  <p:cSld name="TITLE_AND_TWO_COLUMNS_1">
    <p:bg>
      <p:bgPr>
        <a:solidFill>
          <a:srgbClr val="A4C2F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61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Optional">
  <p:cSld name="TITLE_ONLY_1">
    <p:bg>
      <p:bgPr>
        <a:solidFill>
          <a:srgbClr val="A4C2F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half body - Optional">
  <p:cSld name="ONE_COLUMN_TEXT_1_1">
    <p:bg>
      <p:bgPr>
        <a:solidFill>
          <a:srgbClr val="A4C2F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6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Optional">
  <p:cSld name="CUSTOM_1">
    <p:bg>
      <p:bgPr>
        <a:solidFill>
          <a:srgbClr val="A4C2F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64"/>
          <p:cNvSpPr txBox="1"/>
          <p:nvPr>
            <p:ph idx="1" type="body"/>
          </p:nvPr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9"/>
          <p:cNvSpPr txBox="1"/>
          <p:nvPr>
            <p:ph idx="1" type="body"/>
          </p:nvPr>
        </p:nvSpPr>
        <p:spPr>
          <a:xfrm>
            <a:off x="1985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49"/>
          <p:cNvSpPr/>
          <p:nvPr/>
        </p:nvSpPr>
        <p:spPr>
          <a:xfrm>
            <a:off x="0" y="1017725"/>
            <a:ext cx="9144000" cy="111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E85C5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CSE 405</a:t>
            </a:r>
            <a:endParaRPr b="1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gif"/><Relationship Id="rId4" Type="http://schemas.openxmlformats.org/officeDocument/2006/relationships/hyperlink" Target="https://shells.aachen.ccc.de/~spq/md5.gi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youtube.com/watch?v=H_bvdhPMiz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crypto.stackexchange.com/a/12684/109182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311700" y="1429000"/>
            <a:ext cx="8520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Cryptographic Hashes and MACs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311700" y="29179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CSE 405 January 2025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Lecture 5</a:t>
            </a:r>
            <a:endParaRPr/>
          </a:p>
        </p:txBody>
      </p:sp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9449" y="2748000"/>
            <a:ext cx="2265424" cy="226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Last Time: Block Ciphers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Encryption: input a </a:t>
            </a:r>
            <a:r>
              <a:rPr i="1" lang="en"/>
              <a:t>k</a:t>
            </a:r>
            <a:r>
              <a:rPr lang="en"/>
              <a:t>-bit key and </a:t>
            </a:r>
            <a:r>
              <a:rPr i="1" lang="en"/>
              <a:t>n</a:t>
            </a:r>
            <a:r>
              <a:rPr lang="en"/>
              <a:t>-bit plaintext, receive </a:t>
            </a:r>
            <a:r>
              <a:rPr i="1" lang="en"/>
              <a:t>n</a:t>
            </a:r>
            <a:r>
              <a:rPr lang="en"/>
              <a:t>-bit ciphertext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Decryption: input a </a:t>
            </a:r>
            <a:r>
              <a:rPr i="1" lang="en"/>
              <a:t>k</a:t>
            </a:r>
            <a:r>
              <a:rPr lang="en"/>
              <a:t>-bit key and </a:t>
            </a:r>
            <a:r>
              <a:rPr i="1" lang="en"/>
              <a:t>n</a:t>
            </a:r>
            <a:r>
              <a:rPr lang="en"/>
              <a:t>-bit ciphertext, receive </a:t>
            </a:r>
            <a:r>
              <a:rPr i="1" lang="en"/>
              <a:t>n</a:t>
            </a:r>
            <a:r>
              <a:rPr lang="en"/>
              <a:t>-bit plaintext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Correctness: when the key is fixed, </a:t>
            </a:r>
            <a:r>
              <a:rPr i="1" lang="en"/>
              <a:t>E</a:t>
            </a:r>
            <a:r>
              <a:rPr i="1" lang="en" sz="1300"/>
              <a:t>K</a:t>
            </a:r>
            <a:r>
              <a:rPr lang="en"/>
              <a:t>(</a:t>
            </a:r>
            <a:r>
              <a:rPr i="1" lang="en"/>
              <a:t>M</a:t>
            </a:r>
            <a:r>
              <a:rPr lang="en"/>
              <a:t>) should be bijective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Without the key, </a:t>
            </a:r>
            <a:r>
              <a:rPr i="1" lang="en"/>
              <a:t>E</a:t>
            </a:r>
            <a:r>
              <a:rPr i="1" lang="en" sz="900"/>
              <a:t>K</a:t>
            </a:r>
            <a:r>
              <a:rPr lang="en"/>
              <a:t>(m) is computationally indistinguishable from a random permutation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Brute-force attacks take astronomically long and are not possible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Efficiency: algorithms use XORs and bit-shifting (very fast)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Implementation: AES is the modern standard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IND-CPA secure because they’re deterministic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only encrypt </a:t>
            </a:r>
            <a:r>
              <a:rPr i="1" lang="en"/>
              <a:t>n</a:t>
            </a:r>
            <a:r>
              <a:rPr lang="en"/>
              <a:t>-bit messages</a:t>
            </a:r>
            <a:endParaRPr/>
          </a:p>
        </p:txBody>
      </p:sp>
      <p:sp>
        <p:nvSpPr>
          <p:cNvPr id="81" name="Google Shape;8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Last Time: Block Cipher Modes of Operation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ECB mode: Deterministic, so not IND-CPA secure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CBC mode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IND-CPA secure, assuming no IV reuse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Encryption is not parallelizable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Decryption is parallelizable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Must pad plaintext to a multiple of the block size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IV reuse leads to leaking the existence of identical blocks at the start of the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CTR mode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IND-CPA secure, assuming no IV reuse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Encryption and decryption are parallelizable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Plaintext does not need to be padded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Nonce reuse leads to losing all security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 ciphers are designed for </a:t>
            </a:r>
            <a:r>
              <a:rPr i="1" lang="en"/>
              <a:t>confidentiality</a:t>
            </a:r>
            <a:r>
              <a:rPr lang="en"/>
              <a:t> (IND-CPA)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 attacker tampers with the ciphertext, we are not guaranteed to detect 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Mallory: An </a:t>
            </a:r>
            <a:r>
              <a:rPr i="1" lang="en"/>
              <a:t>active</a:t>
            </a:r>
            <a:r>
              <a:rPr lang="en"/>
              <a:t> manipulator who wants to tamper with the message</a:t>
            </a:r>
            <a:endParaRPr/>
          </a:p>
        </p:txBody>
      </p:sp>
      <p:sp>
        <p:nvSpPr>
          <p:cNvPr id="95" name="Google Shape;9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7700" y="2571750"/>
            <a:ext cx="2850599" cy="24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CTR mode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Mallory tampers with the ciphertext using XOR?</a:t>
            </a:r>
            <a:endParaRPr/>
          </a:p>
        </p:txBody>
      </p:sp>
      <p:sp>
        <p:nvSpPr>
          <p:cNvPr id="103" name="Google Shape;10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4" name="Google Shape;104;p5"/>
          <p:cNvGraphicFramePr/>
          <p:nvPr/>
        </p:nvGraphicFramePr>
        <p:xfrm>
          <a:off x="669300" y="243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0x79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0x4d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0x6c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0x24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" name="Google Shape;105;p5"/>
          <p:cNvGraphicFramePr/>
          <p:nvPr/>
        </p:nvGraphicFramePr>
        <p:xfrm>
          <a:off x="669300" y="363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0x8a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0xe3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0x5e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0xcf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0x3b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0x46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0x57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0xb8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0x69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0xd2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0x96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5"/>
          <p:cNvSpPr txBox="1"/>
          <p:nvPr/>
        </p:nvSpPr>
        <p:spPr>
          <a:xfrm>
            <a:off x="4297650" y="32295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297650" y="40366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669300" y="444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0xda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0x82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0x27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0xef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0x76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0x2a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0x77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0x9c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0x58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0xe2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0xa6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5"/>
          <p:cNvSpPr txBox="1"/>
          <p:nvPr/>
        </p:nvSpPr>
        <p:spPr>
          <a:xfrm>
            <a:off x="102700" y="28288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02700" y="36330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102700" y="44373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Mallory knows the message </a:t>
            </a:r>
            <a:r>
              <a:rPr i="1" lang="en"/>
              <a:t>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Mallory change the </a:t>
            </a:r>
            <a:r>
              <a:rPr i="1" lang="en"/>
              <a:t>M</a:t>
            </a:r>
            <a:r>
              <a:rPr lang="en"/>
              <a:t> to say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Pay Mal $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00</a:t>
            </a:r>
            <a:r>
              <a:rPr lang="en"/>
              <a:t>?</a:t>
            </a:r>
            <a:endParaRPr/>
          </a:p>
        </p:txBody>
      </p:sp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9" name="Google Shape;119;p6"/>
          <p:cNvGraphicFramePr/>
          <p:nvPr/>
        </p:nvGraphicFramePr>
        <p:xfrm>
          <a:off x="669300" y="243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0x79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0x4d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0x6c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0x24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0x31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" name="Google Shape;120;p6"/>
          <p:cNvGraphicFramePr/>
          <p:nvPr/>
        </p:nvGraphicFramePr>
        <p:xfrm>
          <a:off x="669300" y="363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0xe3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0x5e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0xcf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0x3b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0xb8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0x69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6"/>
          <p:cNvSpPr txBox="1"/>
          <p:nvPr/>
        </p:nvSpPr>
        <p:spPr>
          <a:xfrm>
            <a:off x="4297650" y="32295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4297650" y="40366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3" name="Google Shape;123;p6"/>
          <p:cNvGraphicFramePr/>
          <p:nvPr/>
        </p:nvGraphicFramePr>
        <p:xfrm>
          <a:off x="669300" y="444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0xef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0x9c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0x58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0xa6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6"/>
          <p:cNvSpPr txBox="1"/>
          <p:nvPr/>
        </p:nvSpPr>
        <p:spPr>
          <a:xfrm>
            <a:off x="102700" y="28288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102700" y="36330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102700" y="44373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132" name="Google Shape;1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33" name="Google Shape;133;p7"/>
          <p:cNvGraphicFramePr/>
          <p:nvPr/>
        </p:nvGraphicFramePr>
        <p:xfrm>
          <a:off x="387113" y="126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49925"/>
                <a:gridCol w="200000"/>
                <a:gridCol w="1227575"/>
                <a:gridCol w="809550"/>
                <a:gridCol w="265000"/>
                <a:gridCol w="1753025"/>
                <a:gridCol w="3464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/>
                        <a:t>C</a:t>
                      </a:r>
                      <a:r>
                        <a:rPr i="1" lang="en" sz="1300" u="none" cap="none" strike="noStrike"/>
                        <a:t>i</a:t>
                      </a:r>
                      <a:endParaRPr i="1"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sz="18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⊕ Pad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 </a:t>
                      </a:r>
                      <a:endParaRPr i="1"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0x58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0x31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⊕ Pad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00"/>
                          </a:solidFill>
                        </a:rPr>
                        <a:t>Definition of C</a:t>
                      </a:r>
                      <a:r>
                        <a:rPr lang="en" sz="1800" u="none" cap="none" strike="noStrike"/>
                        <a:t>TR</a:t>
                      </a:r>
                      <a:endParaRPr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Pad</a:t>
                      </a:r>
                      <a:r>
                        <a:rPr i="1" lang="en" sz="1300" u="none" cap="none" strike="noStrike"/>
                        <a:t>i</a:t>
                      </a:r>
                      <a:endParaRPr i="1"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sz="18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⊕ </a:t>
                      </a:r>
                      <a:r>
                        <a:rPr i="1" lang="en" sz="1800" u="none" cap="none" strike="noStrike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 </a:t>
                      </a:r>
                      <a:endParaRPr i="1"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Pad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0x58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⊕ </a:t>
                      </a: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0x31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Solve for the </a:t>
                      </a:r>
                      <a:r>
                        <a:rPr i="1" lang="en" sz="1800" u="none" cap="none" strike="noStrike"/>
                        <a:t>i</a:t>
                      </a:r>
                      <a:r>
                        <a:rPr lang="en" sz="1800" u="none" cap="none" strike="noStrike"/>
                        <a:t>th byte of the pad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sz="18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0x69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/>
                        <a:t>C'</a:t>
                      </a:r>
                      <a:r>
                        <a:rPr i="1" lang="en" sz="1300" u="none" cap="none" strike="noStrike"/>
                        <a:t>i</a:t>
                      </a:r>
                      <a:endParaRPr i="1"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sz="18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" sz="1800" u="none" cap="none" strike="noStrike">
                          <a:solidFill>
                            <a:schemeClr val="dk1"/>
                          </a:solidFill>
                        </a:rPr>
                        <a:t>M'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⊕ Pad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 </a:t>
                      </a:r>
                      <a:endParaRPr i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1800" u="none" cap="none" strike="noStrike">
                          <a:solidFill>
                            <a:schemeClr val="dk1"/>
                          </a:solidFill>
                        </a:rPr>
                        <a:t>C'</a:t>
                      </a:r>
                      <a:r>
                        <a:rPr i="1" lang="en" sz="1300" u="none" cap="none" strike="noStrike">
                          <a:solidFill>
                            <a:schemeClr val="dk1"/>
                          </a:solidFill>
                        </a:rPr>
                        <a:t>i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0x39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 ⊕ </a:t>
                      </a: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0x69</a:t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Compute the changed </a:t>
                      </a:r>
                      <a:r>
                        <a:rPr i="1" lang="en" sz="1800" u="none" cap="none" strike="noStrike"/>
                        <a:t>i</a:t>
                      </a:r>
                      <a:r>
                        <a:rPr lang="en" sz="1800" u="none" cap="none" strike="noStrike"/>
                        <a:t>th byte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=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0x50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" name="Google Shape;134;p7"/>
          <p:cNvGraphicFramePr/>
          <p:nvPr/>
        </p:nvGraphicFramePr>
        <p:xfrm>
          <a:off x="821700" y="380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0xef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0x9c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0x58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0xa6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p7"/>
          <p:cNvGraphicFramePr/>
          <p:nvPr/>
        </p:nvGraphicFramePr>
        <p:xfrm>
          <a:off x="821700" y="435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0xef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0x9c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0xa6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7"/>
          <p:cNvSpPr txBox="1"/>
          <p:nvPr/>
        </p:nvSpPr>
        <p:spPr>
          <a:xfrm>
            <a:off x="255100" y="38095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255100" y="43512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we decrypt </a:t>
            </a:r>
            <a:r>
              <a:rPr i="1" lang="en"/>
              <a:t>C</a:t>
            </a:r>
            <a:r>
              <a:rPr lang="en"/>
              <a:t>'?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message looks like “Pay Mal $900” now!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Mallory didn’t have to know the key; no integrity or authenticity for CTR mode!</a:t>
            </a:r>
            <a:endParaRPr/>
          </a:p>
        </p:txBody>
      </p:sp>
      <p:sp>
        <p:nvSpPr>
          <p:cNvPr id="143" name="Google Shape;143;p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144" name="Google Shape;1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45" name="Google Shape;145;p8"/>
          <p:cNvGraphicFramePr/>
          <p:nvPr/>
        </p:nvGraphicFramePr>
        <p:xfrm>
          <a:off x="669300" y="243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0xef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0x9c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0x50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0xa6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" name="Google Shape;146;p8"/>
          <p:cNvGraphicFramePr/>
          <p:nvPr/>
        </p:nvGraphicFramePr>
        <p:xfrm>
          <a:off x="669300" y="324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0xe3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0x5e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0xcf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0x3b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0x57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0xb8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0x69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0xd2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0x96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8"/>
          <p:cNvSpPr txBox="1"/>
          <p:nvPr/>
        </p:nvSpPr>
        <p:spPr>
          <a:xfrm>
            <a:off x="4297650" y="28386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297650" y="36457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02700" y="24379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102700" y="40464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" name="Google Shape;151;p8"/>
          <p:cNvGraphicFramePr/>
          <p:nvPr/>
        </p:nvGraphicFramePr>
        <p:xfrm>
          <a:off x="669300" y="405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  <a:gridCol w="6504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0x79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0x4d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0x61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0x6c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0x24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0x39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0x30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b="1"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B7B7B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1400" u="none" cap="none" strike="noStrike">
                        <a:solidFill>
                          <a:srgbClr val="B7B7B7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8"/>
          <p:cNvSpPr txBox="1"/>
          <p:nvPr/>
        </p:nvSpPr>
        <p:spPr>
          <a:xfrm>
            <a:off x="102700" y="32422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198500" y="1246825"/>
            <a:ext cx="8520600" cy="16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CBC?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Altering a bit of the ciphertext causes some blocks to become random gibberish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Bob cannot prove that Alice did not send random gibberish, so it still does </a:t>
            </a:r>
            <a:r>
              <a:rPr i="1" lang="en"/>
              <a:t>not</a:t>
            </a:r>
            <a:r>
              <a:rPr lang="en"/>
              <a:t> provide integrity or authenticity</a:t>
            </a:r>
            <a:endParaRPr/>
          </a:p>
        </p:txBody>
      </p:sp>
      <p:sp>
        <p:nvSpPr>
          <p:cNvPr id="158" name="Google Shape;158;p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Lack of Integrity and Authenticity</a:t>
            </a:r>
            <a:endParaRPr/>
          </a:p>
        </p:txBody>
      </p: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251" y="2571750"/>
            <a:ext cx="5921486" cy="23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Today: Cryptography Hashes and MACs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198500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Security: one-way, second preimage resistant, collision resistant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Length extension attacks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Application: Lowest-hash scheme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hashes provide integrity?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Security: unforgeability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HMAC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MACs provide integrity?</a:t>
            </a:r>
            <a:endParaRPr/>
          </a:p>
        </p:txBody>
      </p:sp>
      <p:sp>
        <p:nvSpPr>
          <p:cNvPr id="167" name="Google Shape;16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10"/>
          <p:cNvSpPr txBox="1"/>
          <p:nvPr>
            <p:ph idx="2" type="body"/>
          </p:nvPr>
        </p:nvSpPr>
        <p:spPr>
          <a:xfrm>
            <a:off x="4588175" y="1246825"/>
            <a:ext cx="41310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Authenticated Encryption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 Reuse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MAC-then-Encrypt or Encrypt-then-MAC?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AEAD Encryption Modes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311700" y="17299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Cryptographic Hashes</a:t>
            </a:r>
            <a:endParaRPr/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5936" y="2919200"/>
            <a:ext cx="1672125" cy="160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7.1–7.3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Cryptography Roadmap</a:t>
            </a:r>
            <a:endParaRPr/>
          </a:p>
        </p:txBody>
      </p:sp>
      <p:graphicFrame>
        <p:nvGraphicFramePr>
          <p:cNvPr id="182" name="Google Shape;182;p12"/>
          <p:cNvGraphicFramePr/>
          <p:nvPr/>
        </p:nvGraphicFramePr>
        <p:xfrm>
          <a:off x="311700" y="13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1739450"/>
                <a:gridCol w="3241925"/>
                <a:gridCol w="3539225"/>
              </a:tblGrid>
              <a:tr h="3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Confidentiality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One-time pads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Block ciphers with chaining modes (e.g. AES-CBC)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RSA encryption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ElGamal encryption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Integrity,</a:t>
                      </a:r>
                      <a:br>
                        <a:rPr lang="en" sz="1600" u="none" cap="none" strike="noStrike"/>
                      </a:br>
                      <a:r>
                        <a:rPr lang="en" sz="1600" u="none" cap="none" strike="noStrike"/>
                        <a:t>Authentication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MACs (e.g. HMAC)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Digital signatures (e.g. RSA signatures)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12"/>
          <p:cNvSpPr txBox="1"/>
          <p:nvPr>
            <p:ph idx="4294967295" type="body"/>
          </p:nvPr>
        </p:nvSpPr>
        <p:spPr>
          <a:xfrm>
            <a:off x="198500" y="3844625"/>
            <a:ext cx="4373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1600">
                <a:solidFill>
                  <a:srgbClr val="FF0000"/>
                </a:solidFill>
              </a:rPr>
              <a:t>Hash functions</a:t>
            </a:r>
            <a:endParaRPr sz="1600">
              <a:solidFill>
                <a:srgbClr val="FF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Pseudorandom number generators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Public key exchange (e.g. Diffie-Hellman)</a:t>
            </a:r>
            <a:endParaRPr sz="1600"/>
          </a:p>
        </p:txBody>
      </p:sp>
      <p:sp>
        <p:nvSpPr>
          <p:cNvPr id="184" name="Google Shape;184;p12"/>
          <p:cNvSpPr txBox="1"/>
          <p:nvPr/>
        </p:nvSpPr>
        <p:spPr>
          <a:xfrm>
            <a:off x="5175400" y="3844625"/>
            <a:ext cx="344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management (certificates)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Cryptographic Hash Function: Definition</a:t>
            </a:r>
            <a:endParaRPr/>
          </a:p>
        </p:txBody>
      </p:sp>
      <p:sp>
        <p:nvSpPr>
          <p:cNvPr id="191" name="Google Shape;191;p1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 function: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M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Input: </a:t>
            </a:r>
            <a:r>
              <a:rPr i="1" lang="en"/>
              <a:t>Arbitrary</a:t>
            </a:r>
            <a:r>
              <a:rPr lang="en"/>
              <a:t> length message </a:t>
            </a:r>
            <a:r>
              <a:rPr i="1" lang="en"/>
              <a:t>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</a:t>
            </a:r>
            <a:r>
              <a:rPr i="1" lang="en"/>
              <a:t>Fixed</a:t>
            </a:r>
            <a:r>
              <a:rPr lang="en"/>
              <a:t> length, </a:t>
            </a:r>
            <a:r>
              <a:rPr i="1" lang="en"/>
              <a:t>n</a:t>
            </a:r>
            <a:r>
              <a:rPr lang="en"/>
              <a:t>-bit hash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written as {0, 1}</a:t>
            </a:r>
            <a:r>
              <a:rPr baseline="30000" lang="en"/>
              <a:t>*</a:t>
            </a:r>
            <a:r>
              <a:rPr lang="en"/>
              <a:t> → {0, 1}</a:t>
            </a:r>
            <a:r>
              <a:rPr baseline="30000" i="1" lang="en"/>
              <a:t>n</a:t>
            </a:r>
            <a:endParaRPr baseline="30000"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Correctness</a:t>
            </a:r>
            <a:r>
              <a:rPr lang="en"/>
              <a:t>: Deterministic</a:t>
            </a:r>
            <a:endParaRPr sz="18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Hashing the same input always produces the same output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Efficiency</a:t>
            </a:r>
            <a:r>
              <a:rPr lang="en"/>
              <a:t>: Efficient to compute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Security</a:t>
            </a:r>
            <a:r>
              <a:rPr lang="en"/>
              <a:t>: One-way-ness (“preimage resistance”)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Security</a:t>
            </a:r>
            <a:r>
              <a:rPr lang="en"/>
              <a:t>: Collision-resistance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Security: </a:t>
            </a:r>
            <a:r>
              <a:rPr lang="en"/>
              <a:t>Random/unpredictability, no predictable patterns for how changing the input affects the output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Changing 1 bit in the input causes the output to be completely different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Also called “random oracle” assumption</a:t>
            </a:r>
            <a:endParaRPr/>
          </a:p>
        </p:txBody>
      </p:sp>
      <p:sp>
        <p:nvSpPr>
          <p:cNvPr id="192" name="Google Shape;19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Hash Function: Intuition</a:t>
            </a:r>
            <a:endParaRPr/>
          </a:p>
        </p:txBody>
      </p:sp>
      <p:sp>
        <p:nvSpPr>
          <p:cNvPr id="198" name="Google Shape;198;p1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hash function provides a fixed-length “fingerprint” over a sequence of bits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Document comparison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Alice and Bob both have a 1 GB document, they can both compute a hash over the document and (securely) communicate the hashes to each other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hashes are the same, the files must be the same, since they have the same “fingerprint”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hashes are different, the files must be different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Unix/Linux, use this command to generate a file's hash: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</a:t>
            </a:r>
            <a:r>
              <a:rPr lang="en"/>
              <a:t>ha256sum FILENAME</a:t>
            </a:r>
            <a:endParaRPr/>
          </a:p>
        </p:txBody>
      </p:sp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198500" y="1246825"/>
            <a:ext cx="8721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Informal: </a:t>
            </a:r>
            <a:r>
              <a:rPr lang="en"/>
              <a:t>Given an output </a:t>
            </a:r>
            <a:r>
              <a:rPr i="1" lang="en"/>
              <a:t>y</a:t>
            </a:r>
            <a:r>
              <a:rPr lang="en"/>
              <a:t>, it is infeasible to find </a:t>
            </a:r>
            <a:r>
              <a:rPr i="1" lang="en"/>
              <a:t>any</a:t>
            </a:r>
            <a:r>
              <a:rPr lang="en"/>
              <a:t> input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y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More formally:</a:t>
            </a:r>
            <a:r>
              <a:rPr lang="en"/>
              <a:t> For all polynomial time adversary,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Pr[</a:t>
            </a:r>
            <a:r>
              <a:rPr i="1" lang="en"/>
              <a:t>x</a:t>
            </a:r>
            <a:r>
              <a:rPr lang="en"/>
              <a:t> chosen randomly from plaintext space; </a:t>
            </a:r>
            <a:r>
              <a:rPr i="1" lang="en"/>
              <a:t>y</a:t>
            </a:r>
            <a:r>
              <a:rPr lang="en"/>
              <a:t>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): </a:t>
            </a:r>
            <a:endParaRPr/>
          </a:p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Adv(</a:t>
            </a:r>
            <a:r>
              <a:rPr i="1" lang="en"/>
              <a:t>y</a:t>
            </a:r>
            <a:r>
              <a:rPr lang="en"/>
              <a:t>) outputs </a:t>
            </a:r>
            <a:r>
              <a:rPr i="1" lang="en"/>
              <a:t>x'</a:t>
            </a:r>
            <a:r>
              <a:rPr lang="en"/>
              <a:t> s.t.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x'</a:t>
            </a:r>
            <a:r>
              <a:rPr lang="en"/>
              <a:t>) = </a:t>
            </a:r>
            <a:r>
              <a:rPr i="1" lang="en"/>
              <a:t>y</a:t>
            </a:r>
            <a:r>
              <a:rPr lang="en"/>
              <a:t>] is negligible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Here’s an output. Can you find an input that hashes to this output?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The adversary just needs to find </a:t>
            </a:r>
            <a:r>
              <a:rPr i="1" lang="en"/>
              <a:t>any</a:t>
            </a:r>
            <a:r>
              <a:rPr lang="en"/>
              <a:t> input, not necessarily the input that was actually used to generate the hash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Is H(x) = 1 one-way?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No, because given output 1, an attacker can return any number x</a:t>
            </a:r>
            <a:endParaRPr/>
          </a:p>
        </p:txBody>
      </p:sp>
      <p:sp>
        <p:nvSpPr>
          <p:cNvPr id="205" name="Google Shape;205;p1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Hash Function: One-way-ness or Preimage Resistance</a:t>
            </a:r>
            <a:endParaRPr/>
          </a:p>
        </p:txBody>
      </p:sp>
      <p:sp>
        <p:nvSpPr>
          <p:cNvPr id="206" name="Google Shape;20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Hash Function: Collision Resistance</a:t>
            </a:r>
            <a:endParaRPr/>
          </a:p>
        </p:txBody>
      </p:sp>
      <p:sp>
        <p:nvSpPr>
          <p:cNvPr id="212" name="Google Shape;212;p1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Collision</a:t>
            </a:r>
            <a:r>
              <a:rPr lang="en"/>
              <a:t>: Two different inputs with the same output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x</a:t>
            </a:r>
            <a:r>
              <a:rPr lang="en"/>
              <a:t> ≠ </a:t>
            </a:r>
            <a:r>
              <a:rPr i="1" lang="en"/>
              <a:t>x</a:t>
            </a:r>
            <a:r>
              <a:rPr lang="en"/>
              <a:t>' and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')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we design a hash function with no collisions?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No, because there are more inputs than outputs (pigeonhole principle)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we want to make finding collisions </a:t>
            </a:r>
            <a:r>
              <a:rPr i="1" lang="en"/>
              <a:t>infeasible</a:t>
            </a:r>
            <a:r>
              <a:rPr lang="en"/>
              <a:t> for an attacker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Collision resistance</a:t>
            </a:r>
            <a:r>
              <a:rPr lang="en"/>
              <a:t>: It is infeasible to (i.e. no polynomial time attacker can) find any pair of inputs </a:t>
            </a:r>
            <a:r>
              <a:rPr i="1" lang="en"/>
              <a:t>x'</a:t>
            </a:r>
            <a:r>
              <a:rPr lang="en"/>
              <a:t> ≠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')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Can you find </a:t>
            </a:r>
            <a:r>
              <a:rPr i="1" lang="en"/>
              <a:t>any</a:t>
            </a:r>
            <a:r>
              <a:rPr lang="en"/>
              <a:t> two inputs</a:t>
            </a:r>
            <a:r>
              <a:rPr lang="en"/>
              <a:t> that collide with the same hash output for </a:t>
            </a:r>
            <a:r>
              <a:rPr i="1" lang="en"/>
              <a:t>any</a:t>
            </a:r>
            <a:r>
              <a:rPr lang="en"/>
              <a:t> output?</a:t>
            </a:r>
            <a:endParaRPr/>
          </a:p>
        </p:txBody>
      </p:sp>
      <p:sp>
        <p:nvSpPr>
          <p:cNvPr id="213" name="Google Shape;21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Hash Function: Collision Resistance</a:t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Birthday attack</a:t>
            </a:r>
            <a:r>
              <a:rPr lang="en"/>
              <a:t>: Finding a collision on an </a:t>
            </a:r>
            <a:r>
              <a:rPr i="1" lang="en"/>
              <a:t>n</a:t>
            </a:r>
            <a:r>
              <a:rPr lang="en"/>
              <a:t>-bit output requires only 2</a:t>
            </a:r>
            <a:r>
              <a:rPr baseline="30000" i="1" lang="en"/>
              <a:t>n</a:t>
            </a:r>
            <a:r>
              <a:rPr baseline="30000" lang="en"/>
              <a:t>/2</a:t>
            </a:r>
            <a:r>
              <a:rPr lang="en"/>
              <a:t> tries on average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why a group of 23 people are &gt;50% likely to have at least one birthday in common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aseline="30000"/>
          </a:p>
        </p:txBody>
      </p:sp>
      <p:sp>
        <p:nvSpPr>
          <p:cNvPr id="220" name="Google Shape;22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8674" y="2415025"/>
            <a:ext cx="3186648" cy="247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Hash Function: Examples</a:t>
            </a:r>
            <a:endParaRPr/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MD5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128 bits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Security: Completely broken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SHA-1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160 bits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Security: Completely broken in 2017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Was known to be weak before 2017, but still used sometimes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SHA-2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256, 384, or 512 bits (sometimes labeled SHA-256, SHA-384, SHA-512)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currently broken, but some variants are vulnerable to a length extension attack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Current standard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SHA-3 (Keccak)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256, 384, or 512 bits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Current standard (not meant to replace SHA-2, just a different construction)</a:t>
            </a:r>
            <a:endParaRPr/>
          </a:p>
        </p:txBody>
      </p:sp>
      <p:pic>
        <p:nvPicPr>
          <p:cNvPr id="228" name="Google Shape;2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4725" y="1304200"/>
            <a:ext cx="3974626" cy="9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4974725" y="2247875"/>
            <a:ext cx="33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GIF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displays its own MD5 hash</a:t>
            </a:r>
            <a:endParaRPr/>
          </a:p>
        </p:txBody>
      </p:sp>
      <p:sp>
        <p:nvSpPr>
          <p:cNvPr id="230" name="Google Shape;23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Length Extension Attacks</a:t>
            </a:r>
            <a:endParaRPr/>
          </a:p>
        </p:txBody>
      </p:sp>
      <p:sp>
        <p:nvSpPr>
          <p:cNvPr id="236" name="Google Shape;236;p1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Length extension attack</a:t>
            </a:r>
            <a:r>
              <a:rPr lang="en"/>
              <a:t>: Given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and the length of </a:t>
            </a:r>
            <a:r>
              <a:rPr i="1" lang="en"/>
              <a:t>x</a:t>
            </a:r>
            <a:r>
              <a:rPr lang="en"/>
              <a:t>, but not </a:t>
            </a:r>
            <a:r>
              <a:rPr i="1" lang="en"/>
              <a:t>x</a:t>
            </a:r>
            <a:r>
              <a:rPr lang="en"/>
              <a:t>, an attacker can create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 </a:t>
            </a:r>
            <a:r>
              <a:rPr lang="en"/>
              <a:t>|| </a:t>
            </a:r>
            <a:r>
              <a:rPr i="1" lang="en"/>
              <a:t>m</a:t>
            </a:r>
            <a:r>
              <a:rPr lang="en"/>
              <a:t>) for any </a:t>
            </a:r>
            <a:r>
              <a:rPr i="1" lang="en"/>
              <a:t>m</a:t>
            </a:r>
            <a:r>
              <a:rPr lang="en"/>
              <a:t> of the attacker’s choosing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Note: This doesn’t violate any property of hash functions but is undesirable in some circumstances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 a nice demonstration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here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SHA-256 (256-bit version of SHA-2) is vulnerable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SHA-3 is not vulnerable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14937de1c_0_2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Length Extension Attacks</a:t>
            </a:r>
            <a:endParaRPr/>
          </a:p>
        </p:txBody>
      </p:sp>
      <p:sp>
        <p:nvSpPr>
          <p:cNvPr id="243" name="Google Shape;243;g3514937de1c_0_2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Popular cryptographic hash functions (md5, sha128, sha256, etc.) uses a chaining strategy to create hash values from arbitrary length messages.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strategy makes such attacks possible.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Merkle-Damgård construction builds a hash function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Splitting a message into fixed-size blocks,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Processing each block through a compression function (n-bit fixed-size input → m-bit fixed-size output), where m &lt; 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Chaining the outputs block by block,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514937de1c_0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14937de1c_0_1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Length Extension Attacks</a:t>
            </a:r>
            <a:endParaRPr/>
          </a:p>
        </p:txBody>
      </p:sp>
      <p:sp>
        <p:nvSpPr>
          <p:cNvPr id="250" name="Google Shape;250;g3514937de1c_0_1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514937de1c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2" name="Google Shape;252;g3514937de1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688" y="1180386"/>
            <a:ext cx="6960225" cy="27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514937de1c_0_11"/>
          <p:cNvSpPr txBox="1"/>
          <p:nvPr/>
        </p:nvSpPr>
        <p:spPr>
          <a:xfrm>
            <a:off x="3004900" y="3963100"/>
            <a:ext cx="27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Merkle‐Damgard construction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14937de1c_0_4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Length Extension Attacks</a:t>
            </a:r>
            <a:endParaRPr/>
          </a:p>
        </p:txBody>
      </p:sp>
      <p:sp>
        <p:nvSpPr>
          <p:cNvPr id="259" name="Google Shape;259;g3514937de1c_0_4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hashing just the message M, a secret key K is often concatenated with M to ensure that only Alice and Bob can create a valid hash.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case, the hash can be represented as H(k || M) [More on this later]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an attacker can still forge valid hashes for M with additional appended content (i.e, M || </a:t>
            </a:r>
            <a:r>
              <a:rPr lang="en">
                <a:solidFill>
                  <a:srgbClr val="FF0000"/>
                </a:solidFill>
              </a:rPr>
              <a:t>M’</a:t>
            </a:r>
            <a:r>
              <a:rPr lang="en"/>
              <a:t>). They only need the final hash value H</a:t>
            </a:r>
            <a:r>
              <a:rPr baseline="-25000" lang="en"/>
              <a:t>t</a:t>
            </a:r>
            <a:r>
              <a:rPr lang="en"/>
              <a:t>, the length of the key, and the length of 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attacker doesn't need to know the key; knowing its length is enough to forge valid hashes for new messages</a:t>
            </a:r>
            <a:endParaRPr/>
          </a:p>
        </p:txBody>
      </p:sp>
      <p:sp>
        <p:nvSpPr>
          <p:cNvPr id="260" name="Google Shape;260;g3514937de1c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14937de1c_0_3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Length</a:t>
            </a:r>
            <a:r>
              <a:rPr lang="en"/>
              <a:t> Extension Attacks</a:t>
            </a:r>
            <a:endParaRPr/>
          </a:p>
        </p:txBody>
      </p:sp>
      <p:sp>
        <p:nvSpPr>
          <p:cNvPr id="266" name="Google Shape;266;g3514937de1c_0_3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attacker knows H</a:t>
            </a:r>
            <a:r>
              <a:rPr baseline="-25000" lang="en"/>
              <a:t>t</a:t>
            </a:r>
            <a:r>
              <a:rPr lang="en"/>
              <a:t> and length of k || M, they can: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Guess the padding that was added to k || 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from internal state H</a:t>
            </a:r>
            <a:r>
              <a:rPr baseline="-25000" lang="en"/>
              <a:t>t</a:t>
            </a:r>
            <a:r>
              <a:rPr lang="en"/>
              <a:t>. In other words, they treat Hₜ as the new starting point (instead of starting from H₀ like normal hashing).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Append new data M’ and continue hashing normally.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real challenge is determining the key length, since hash functions ensure integrity but not confidentiality.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Sometimes, the key length can be found using timing attacks. If the hash verification stops at the first wrong byte, longer matches take slightly more time, </a:t>
            </a:r>
            <a:r>
              <a:rPr lang="en"/>
              <a:t>which</a:t>
            </a:r>
            <a:r>
              <a:rPr lang="en"/>
              <a:t> leaks key length through timing differences.</a:t>
            </a:r>
            <a:endParaRPr/>
          </a:p>
        </p:txBody>
      </p:sp>
      <p:sp>
        <p:nvSpPr>
          <p:cNvPr id="267" name="Google Shape;267;g3514937de1c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 hashes provide integrity?</a:t>
            </a:r>
            <a:endParaRPr/>
          </a:p>
        </p:txBody>
      </p:sp>
      <p:sp>
        <p:nvSpPr>
          <p:cNvPr id="273" name="Google Shape;273;p20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depends on your threat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Mozilla publishes a new version of Firefox on some download servers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downloads the program binary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she be sure that nobody tampered with the program?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use cryptographic hashes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Mozilla hashes the program binary and publishes the hash on its website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hashes the binary she downloaded and checks that it matches the hash on the website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Alice downloaded a malicious program, the hash would not match (tampering detected!)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attacker can’t create a malicious program with the same hash (collision resistance)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model: We assume the attacker cannot modify the hash on the website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have integrity, as long as we can communicate the hash securely</a:t>
            </a:r>
            <a:endParaRPr/>
          </a:p>
        </p:txBody>
      </p:sp>
      <p:sp>
        <p:nvSpPr>
          <p:cNvPr id="274" name="Google Shape;27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 hashes provide integrity?</a:t>
            </a:r>
            <a:endParaRPr/>
          </a:p>
        </p:txBody>
      </p:sp>
      <p:sp>
        <p:nvSpPr>
          <p:cNvPr id="280" name="Google Shape;280;p2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depends on your threat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and Bob want to communicate over an insecure channel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Mallory might tamper with messages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Use cryptographic hashes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 sends her message with a cryptographic hash over the channel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 receives the message and computes a hash on the message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 checks that the hash he computed matches the hash sent by Alice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model: Mallory can modify the message </a:t>
            </a:r>
            <a:r>
              <a:rPr i="1" lang="en"/>
              <a:t>and the hash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integrity!</a:t>
            </a:r>
            <a:endParaRPr/>
          </a:p>
        </p:txBody>
      </p:sp>
      <p:sp>
        <p:nvSpPr>
          <p:cNvPr id="281" name="Google Shape;2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 hashes provide integrity?</a:t>
            </a:r>
            <a:endParaRPr/>
          </a:p>
        </p:txBody>
      </p:sp>
      <p:sp>
        <p:nvSpPr>
          <p:cNvPr id="287" name="Google Shape;287;p22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depends on your threat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attacker can modify the hash, hashes don’t provide integrity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issue: Hashes are </a:t>
            </a:r>
            <a:r>
              <a:rPr i="1" lang="en"/>
              <a:t>unkeyed</a:t>
            </a:r>
            <a:r>
              <a:rPr lang="en"/>
              <a:t> functions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no secret key being used as input, so any attacker can compute a hash on any value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Next: Use hashes to design schemes that provide integrity</a:t>
            </a:r>
            <a:endParaRPr/>
          </a:p>
        </p:txBody>
      </p:sp>
      <p:sp>
        <p:nvSpPr>
          <p:cNvPr id="288" name="Google Shape;2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Message Authentication Codes (MACs)</a:t>
            </a:r>
            <a:endParaRPr/>
          </a:p>
        </p:txBody>
      </p:sp>
      <p:pic>
        <p:nvPicPr>
          <p:cNvPr id="294" name="Google Shape;2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0863" y="2992650"/>
            <a:ext cx="1882275" cy="17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8.1–8.3 &amp;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8.5–8.6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Cryptography Roadmap</a:t>
            </a:r>
            <a:endParaRPr/>
          </a:p>
        </p:txBody>
      </p:sp>
      <p:graphicFrame>
        <p:nvGraphicFramePr>
          <p:cNvPr id="302" name="Google Shape;302;p24"/>
          <p:cNvGraphicFramePr/>
          <p:nvPr/>
        </p:nvGraphicFramePr>
        <p:xfrm>
          <a:off x="311700" y="13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1739450"/>
                <a:gridCol w="3241925"/>
                <a:gridCol w="3539225"/>
              </a:tblGrid>
              <a:tr h="3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Confidentiality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One-time pads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Block ciphers with chaining modes (e.g. AES-CBC)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RSA encryption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ElGamal encryption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Integrity,</a:t>
                      </a:r>
                      <a:br>
                        <a:rPr lang="en" sz="1600" u="none" cap="none" strike="noStrike"/>
                      </a:br>
                      <a:r>
                        <a:rPr lang="en" sz="1600" u="none" cap="none" strike="noStrike"/>
                        <a:t>Authentication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FF0000"/>
                          </a:solidFill>
                        </a:rPr>
                        <a:t>MACs (e.g. HMAC)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Digital signatures (e.g. RSA signatures)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3" name="Google Shape;303;p24"/>
          <p:cNvSpPr txBox="1"/>
          <p:nvPr>
            <p:ph idx="4294967295" type="body"/>
          </p:nvPr>
        </p:nvSpPr>
        <p:spPr>
          <a:xfrm>
            <a:off x="198500" y="3844625"/>
            <a:ext cx="4373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Hash functions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Pseudorandom number generators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Public key exchange (e.g. Diffie-Hellman)</a:t>
            </a:r>
            <a:endParaRPr sz="1600"/>
          </a:p>
        </p:txBody>
      </p:sp>
      <p:sp>
        <p:nvSpPr>
          <p:cNvPr id="304" name="Google Shape;304;p24"/>
          <p:cNvSpPr txBox="1"/>
          <p:nvPr/>
        </p:nvSpPr>
        <p:spPr>
          <a:xfrm>
            <a:off x="5175400" y="3844625"/>
            <a:ext cx="344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management (certificates)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to Provide Integrity</a:t>
            </a:r>
            <a:endParaRPr/>
          </a:p>
        </p:txBody>
      </p:sp>
      <p:sp>
        <p:nvSpPr>
          <p:cNvPr id="311" name="Google Shape;311;p2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We’re still in the symmetric-key setting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that Alice and Bob share a secret key, and attackers don’t know the key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attach some piece of information to </a:t>
            </a:r>
            <a:r>
              <a:rPr i="1" lang="en"/>
              <a:t>prove</a:t>
            </a:r>
            <a:r>
              <a:rPr lang="en"/>
              <a:t> that someone with the key sent this message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piece of information can only be generated by someone with the key</a:t>
            </a:r>
            <a:endParaRPr/>
          </a:p>
        </p:txBody>
      </p:sp>
      <p:sp>
        <p:nvSpPr>
          <p:cNvPr id="312" name="Google Shape;3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MACs: Usage</a:t>
            </a:r>
            <a:endParaRPr/>
          </a:p>
        </p:txBody>
      </p:sp>
      <p:sp>
        <p:nvSpPr>
          <p:cNvPr id="318" name="Google Shape;318;p26"/>
          <p:cNvSpPr txBox="1"/>
          <p:nvPr>
            <p:ph idx="1" type="body"/>
          </p:nvPr>
        </p:nvSpPr>
        <p:spPr>
          <a:xfrm>
            <a:off x="198500" y="1246825"/>
            <a:ext cx="8520600" cy="20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Alice wants to send </a:t>
            </a:r>
            <a:r>
              <a:rPr i="1" lang="en"/>
              <a:t>M</a:t>
            </a:r>
            <a:r>
              <a:rPr lang="en"/>
              <a:t> to Bob, but doesn’t want Mallory to tamper with 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Alice sends </a:t>
            </a:r>
            <a:r>
              <a:rPr i="1" lang="en"/>
              <a:t>M</a:t>
            </a:r>
            <a:r>
              <a:rPr lang="en"/>
              <a:t> and </a:t>
            </a:r>
            <a:r>
              <a:rPr i="1" lang="en"/>
              <a:t>T</a:t>
            </a:r>
            <a:r>
              <a:rPr lang="en"/>
              <a:t> = 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to Bob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Bob receives </a:t>
            </a:r>
            <a:r>
              <a:rPr i="1" lang="en"/>
              <a:t>M</a:t>
            </a:r>
            <a:r>
              <a:rPr lang="en"/>
              <a:t> and </a:t>
            </a:r>
            <a:r>
              <a:rPr i="1" lang="en"/>
              <a:t>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Bob computes 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and checks that it matches </a:t>
            </a:r>
            <a:r>
              <a:rPr i="1" lang="en"/>
              <a:t>T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MACs match, Bob is confident the message has not been tampered with (integrity)</a:t>
            </a:r>
            <a:endParaRPr/>
          </a:p>
        </p:txBody>
      </p:sp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5469450" y="3294975"/>
            <a:ext cx="3235200" cy="14391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275550" y="3294975"/>
            <a:ext cx="3235200" cy="14391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399100" y="4171700"/>
            <a:ext cx="11352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2454050" y="3390650"/>
            <a:ext cx="5487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2160800" y="4171700"/>
            <a:ext cx="11352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26"/>
          <p:cNvCxnSpPr>
            <a:stCxn id="323" idx="2"/>
            <a:endCxn id="324" idx="0"/>
          </p:cNvCxnSpPr>
          <p:nvPr/>
        </p:nvCxnSpPr>
        <p:spPr>
          <a:xfrm>
            <a:off x="2728400" y="3860750"/>
            <a:ext cx="0" cy="311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26"/>
          <p:cNvCxnSpPr>
            <a:endCxn id="324" idx="1"/>
          </p:cNvCxnSpPr>
          <p:nvPr/>
        </p:nvCxnSpPr>
        <p:spPr>
          <a:xfrm>
            <a:off x="1534400" y="4406750"/>
            <a:ext cx="626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7" name="Google Shape;327;p26"/>
          <p:cNvSpPr/>
          <p:nvPr/>
        </p:nvSpPr>
        <p:spPr>
          <a:xfrm>
            <a:off x="3922500" y="4171700"/>
            <a:ext cx="11352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26"/>
          <p:cNvCxnSpPr>
            <a:stCxn id="324" idx="3"/>
            <a:endCxn id="327" idx="1"/>
          </p:cNvCxnSpPr>
          <p:nvPr/>
        </p:nvCxnSpPr>
        <p:spPr>
          <a:xfrm>
            <a:off x="3296000" y="4406750"/>
            <a:ext cx="626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26"/>
          <p:cNvCxnSpPr>
            <a:stCxn id="327" idx="3"/>
            <a:endCxn id="330" idx="1"/>
          </p:cNvCxnSpPr>
          <p:nvPr/>
        </p:nvCxnSpPr>
        <p:spPr>
          <a:xfrm>
            <a:off x="5057700" y="4406750"/>
            <a:ext cx="626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26"/>
          <p:cNvSpPr/>
          <p:nvPr/>
        </p:nvSpPr>
        <p:spPr>
          <a:xfrm>
            <a:off x="5977450" y="3390725"/>
            <a:ext cx="5487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5684200" y="4171775"/>
            <a:ext cx="11352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26"/>
          <p:cNvCxnSpPr>
            <a:stCxn id="331" idx="2"/>
            <a:endCxn id="330" idx="0"/>
          </p:cNvCxnSpPr>
          <p:nvPr/>
        </p:nvCxnSpPr>
        <p:spPr>
          <a:xfrm>
            <a:off x="6251800" y="3860825"/>
            <a:ext cx="0" cy="311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26"/>
          <p:cNvSpPr/>
          <p:nvPr/>
        </p:nvSpPr>
        <p:spPr>
          <a:xfrm>
            <a:off x="7445900" y="4171700"/>
            <a:ext cx="1135200" cy="470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26"/>
          <p:cNvCxnSpPr>
            <a:stCxn id="330" idx="3"/>
            <a:endCxn id="333" idx="1"/>
          </p:cNvCxnSpPr>
          <p:nvPr/>
        </p:nvCxnSpPr>
        <p:spPr>
          <a:xfrm>
            <a:off x="6819400" y="4406825"/>
            <a:ext cx="626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26"/>
          <p:cNvSpPr txBox="1"/>
          <p:nvPr/>
        </p:nvSpPr>
        <p:spPr>
          <a:xfrm>
            <a:off x="275550" y="3294975"/>
            <a:ext cx="7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7939350" y="3294975"/>
            <a:ext cx="7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3510750" y="3294975"/>
            <a:ext cx="195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Insecure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3922500" y="4641800"/>
            <a:ext cx="1135200" cy="2565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MACs: Definition</a:t>
            </a:r>
            <a:endParaRPr/>
          </a:p>
        </p:txBody>
      </p:sp>
      <p:sp>
        <p:nvSpPr>
          <p:cNvPr id="344" name="Google Shape;344;p2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parts: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KeyGen() → </a:t>
            </a:r>
            <a:r>
              <a:rPr i="1" lang="en"/>
              <a:t>K</a:t>
            </a:r>
            <a:r>
              <a:rPr lang="en"/>
              <a:t>: Generate a key </a:t>
            </a:r>
            <a:r>
              <a:rPr i="1" lang="en"/>
              <a:t>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→ </a:t>
            </a:r>
            <a:r>
              <a:rPr i="1" lang="en"/>
              <a:t>T</a:t>
            </a:r>
            <a:r>
              <a:rPr lang="en"/>
              <a:t>: Generate a tag </a:t>
            </a:r>
            <a:r>
              <a:rPr i="1" lang="en"/>
              <a:t>T</a:t>
            </a:r>
            <a:r>
              <a:rPr lang="en"/>
              <a:t> for the message </a:t>
            </a:r>
            <a:r>
              <a:rPr i="1" lang="en"/>
              <a:t>M</a:t>
            </a:r>
            <a:r>
              <a:rPr lang="en"/>
              <a:t> using key </a:t>
            </a:r>
            <a:r>
              <a:rPr i="1" lang="en"/>
              <a:t>K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Inputs: A secret key and an arbitrary-length message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Output: A fixed-length </a:t>
            </a:r>
            <a:r>
              <a:rPr b="1" lang="en"/>
              <a:t>tag</a:t>
            </a:r>
            <a:r>
              <a:rPr lang="en"/>
              <a:t> on the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Correctness</a:t>
            </a:r>
            <a:r>
              <a:rPr lang="en"/>
              <a:t>: Determinism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Note: Some more complicated MAC schemes have an additional Verify(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, </a:t>
            </a:r>
            <a:r>
              <a:rPr i="1" lang="en"/>
              <a:t>T</a:t>
            </a:r>
            <a:r>
              <a:rPr lang="en"/>
              <a:t>) function that don’t require determinism, but this is out of scope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Efficiency</a:t>
            </a:r>
            <a:r>
              <a:rPr lang="en"/>
              <a:t>: Computing a MAC should be efficient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Security</a:t>
            </a:r>
            <a:r>
              <a:rPr lang="en"/>
              <a:t>: EU-CPA (existentially unforgeable under chosen plaintext attack)</a:t>
            </a:r>
            <a:endParaRPr/>
          </a:p>
        </p:txBody>
      </p:sp>
      <p:sp>
        <p:nvSpPr>
          <p:cNvPr id="345" name="Google Shape;3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Defining Integrity: EU-CPA</a:t>
            </a:r>
            <a:endParaRPr/>
          </a:p>
        </p:txBody>
      </p:sp>
      <p:sp>
        <p:nvSpPr>
          <p:cNvPr id="351" name="Google Shape;351;p2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secure MAC is </a:t>
            </a:r>
            <a:r>
              <a:rPr b="1" lang="en"/>
              <a:t>existentially unforgeable</a:t>
            </a:r>
            <a:r>
              <a:rPr lang="en"/>
              <a:t>: without the key, an attacker cannot create a valid tag on a message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Mallory cannot generate 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M'</a:t>
            </a:r>
            <a:r>
              <a:rPr lang="en"/>
              <a:t>) without </a:t>
            </a:r>
            <a:r>
              <a:rPr i="1" lang="en"/>
              <a:t>K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Mallory cannot find any </a:t>
            </a:r>
            <a:r>
              <a:rPr i="1" lang="en"/>
              <a:t>M'</a:t>
            </a:r>
            <a:r>
              <a:rPr lang="en"/>
              <a:t> ≠ </a:t>
            </a:r>
            <a:r>
              <a:rPr i="1" lang="en"/>
              <a:t>M</a:t>
            </a:r>
            <a:r>
              <a:rPr lang="en"/>
              <a:t> such that 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M'</a:t>
            </a:r>
            <a:r>
              <a:rPr lang="en"/>
              <a:t>) = 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Formally defined by a security game: existential unforgeability under chosen-plaintext attack, or EU-CPA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MACs should be unforgeable under chosen plaintext attack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Intuition: Like IND-CPA, but for integrity and authenticity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if Mallory can trick Alice into creating MACs for messages that Mallory chooses, Mallory cannot create a valid MAC on a message that she hasn't seen before</a:t>
            </a:r>
            <a:endParaRPr/>
          </a:p>
        </p:txBody>
      </p:sp>
      <p:sp>
        <p:nvSpPr>
          <p:cNvPr id="352" name="Google Shape;35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2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Defining Integrity: EU-CPA</a:t>
            </a:r>
            <a:endParaRPr/>
          </a:p>
        </p:txBody>
      </p:sp>
      <p:sp>
        <p:nvSpPr>
          <p:cNvPr id="359" name="Google Shape;359;p29"/>
          <p:cNvSpPr txBox="1"/>
          <p:nvPr>
            <p:ph idx="1" type="body"/>
          </p:nvPr>
        </p:nvSpPr>
        <p:spPr>
          <a:xfrm>
            <a:off x="198500" y="1246825"/>
            <a:ext cx="5142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Mallory may send messages to Alice and receive their tags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Eventually, Mallory creates a message-tag pair (</a:t>
            </a:r>
            <a:r>
              <a:rPr i="1" lang="en"/>
              <a:t>M'</a:t>
            </a:r>
            <a:r>
              <a:rPr lang="en"/>
              <a:t>, </a:t>
            </a:r>
            <a:r>
              <a:rPr i="1" lang="en"/>
              <a:t>T'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M'</a:t>
            </a:r>
            <a:r>
              <a:rPr lang="en"/>
              <a:t> cannot be a message that Mallory requested earlier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i="1" lang="en"/>
              <a:t>T'</a:t>
            </a:r>
            <a:r>
              <a:rPr lang="en"/>
              <a:t> is a valid tag for </a:t>
            </a:r>
            <a:r>
              <a:rPr i="1" lang="en"/>
              <a:t>M'</a:t>
            </a:r>
            <a:r>
              <a:rPr lang="en"/>
              <a:t>, then Mallory wins. Otherwise, she loses.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scheme is EU-CPA secure if for </a:t>
            </a:r>
            <a:r>
              <a:rPr i="1" lang="en"/>
              <a:t>all</a:t>
            </a:r>
            <a:r>
              <a:rPr lang="en"/>
              <a:t> polynomial time adversaries, the probability of winning is 0 or negligible</a:t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5723802" y="2610002"/>
            <a:ext cx="3211500" cy="8559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29"/>
          <p:cNvCxnSpPr/>
          <p:nvPr/>
        </p:nvCxnSpPr>
        <p:spPr>
          <a:xfrm>
            <a:off x="5776622" y="2891374"/>
            <a:ext cx="2322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2" name="Google Shape;362;p29"/>
          <p:cNvSpPr txBox="1"/>
          <p:nvPr/>
        </p:nvSpPr>
        <p:spPr>
          <a:xfrm>
            <a:off x="5776627" y="2597858"/>
            <a:ext cx="23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29"/>
          <p:cNvCxnSpPr/>
          <p:nvPr/>
        </p:nvCxnSpPr>
        <p:spPr>
          <a:xfrm>
            <a:off x="5776614" y="3346782"/>
            <a:ext cx="2322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64" name="Google Shape;364;p29"/>
          <p:cNvSpPr txBox="1"/>
          <p:nvPr/>
        </p:nvSpPr>
        <p:spPr>
          <a:xfrm>
            <a:off x="5776619" y="2995247"/>
            <a:ext cx="23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8154540" y="2862175"/>
            <a:ext cx="7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7026179" y="1094425"/>
            <a:ext cx="136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 (challenger)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5524450" y="1094425"/>
            <a:ext cx="15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Mallory (adversary)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29"/>
          <p:cNvCxnSpPr/>
          <p:nvPr/>
        </p:nvCxnSpPr>
        <p:spPr>
          <a:xfrm>
            <a:off x="5808581" y="4697018"/>
            <a:ext cx="0" cy="41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29"/>
          <p:cNvSpPr txBox="1"/>
          <p:nvPr/>
        </p:nvSpPr>
        <p:spPr>
          <a:xfrm>
            <a:off x="5808577" y="4659925"/>
            <a:ext cx="18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(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M'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T'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29"/>
          <p:cNvCxnSpPr/>
          <p:nvPr/>
        </p:nvCxnSpPr>
        <p:spPr>
          <a:xfrm>
            <a:off x="5681075" y="1463725"/>
            <a:ext cx="0" cy="3452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9"/>
          <p:cNvCxnSpPr/>
          <p:nvPr/>
        </p:nvCxnSpPr>
        <p:spPr>
          <a:xfrm>
            <a:off x="8171825" y="1463725"/>
            <a:ext cx="0" cy="3452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NMAC</a:t>
            </a:r>
            <a:endParaRPr/>
          </a:p>
        </p:txBody>
      </p:sp>
      <p:sp>
        <p:nvSpPr>
          <p:cNvPr id="377" name="Google Shape;377;p30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we use secure cryptographic hashes to build a secure MAC?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Intuition: Hash output is unpredictable and looks random, so let’s hash the key and the message together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KeyGen():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two random, </a:t>
            </a:r>
            <a:r>
              <a:rPr i="1" lang="en"/>
              <a:t>n</a:t>
            </a:r>
            <a:r>
              <a:rPr lang="en"/>
              <a:t>-bit keys </a:t>
            </a:r>
            <a:r>
              <a:rPr i="1" lang="en"/>
              <a:t>K</a:t>
            </a:r>
            <a:r>
              <a:rPr lang="en" sz="900"/>
              <a:t>1</a:t>
            </a:r>
            <a:r>
              <a:rPr lang="en"/>
              <a:t> and </a:t>
            </a:r>
            <a:r>
              <a:rPr i="1" lang="en"/>
              <a:t>K</a:t>
            </a:r>
            <a:r>
              <a:rPr lang="en" sz="900"/>
              <a:t>2</a:t>
            </a:r>
            <a:r>
              <a:rPr lang="en"/>
              <a:t>, where </a:t>
            </a:r>
            <a:r>
              <a:rPr i="1" lang="en"/>
              <a:t>n</a:t>
            </a:r>
            <a:r>
              <a:rPr lang="en"/>
              <a:t> is the length of the hash output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NMAC(</a:t>
            </a:r>
            <a:r>
              <a:rPr i="1" lang="en"/>
              <a:t>K</a:t>
            </a:r>
            <a:r>
              <a:rPr lang="en" sz="1200"/>
              <a:t>1</a:t>
            </a:r>
            <a:r>
              <a:rPr lang="en"/>
              <a:t>, </a:t>
            </a:r>
            <a:r>
              <a:rPr i="1" lang="en"/>
              <a:t>K</a:t>
            </a:r>
            <a:r>
              <a:rPr lang="en" sz="1200"/>
              <a:t>2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K</a:t>
            </a:r>
            <a:r>
              <a:rPr lang="en" sz="900"/>
              <a:t>1</a:t>
            </a:r>
            <a:r>
              <a:rPr lang="en"/>
              <a:t> ||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K</a:t>
            </a:r>
            <a:r>
              <a:rPr lang="en" sz="900"/>
              <a:t>2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NMAC is EU-CPA secure if the two keys are different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Provably secure if the underlying hash function is secure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Using two hashes prevents a length extension attack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Otherwise, an attacker who sees a tag for </a:t>
            </a:r>
            <a:r>
              <a:rPr i="1" lang="en"/>
              <a:t>M</a:t>
            </a:r>
            <a:r>
              <a:rPr lang="en"/>
              <a:t> could generate a tag for </a:t>
            </a:r>
            <a:r>
              <a:rPr i="1" lang="en"/>
              <a:t>M</a:t>
            </a:r>
            <a:r>
              <a:rPr lang="en"/>
              <a:t> || </a:t>
            </a:r>
            <a:r>
              <a:rPr i="1" lang="en"/>
              <a:t>M'</a:t>
            </a:r>
            <a:endParaRPr/>
          </a:p>
        </p:txBody>
      </p:sp>
      <p:sp>
        <p:nvSpPr>
          <p:cNvPr id="378" name="Google Shape;37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14937de1c_0_5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NMAC</a:t>
            </a:r>
            <a:endParaRPr/>
          </a:p>
        </p:txBody>
      </p:sp>
      <p:sp>
        <p:nvSpPr>
          <p:cNvPr id="384" name="Google Shape;384;g3514937de1c_0_5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NMAC(</a:t>
            </a:r>
            <a:r>
              <a:rPr i="1" lang="en"/>
              <a:t>K</a:t>
            </a:r>
            <a:r>
              <a:rPr lang="en" sz="1200"/>
              <a:t>1</a:t>
            </a:r>
            <a:r>
              <a:rPr lang="en"/>
              <a:t>, </a:t>
            </a:r>
            <a:r>
              <a:rPr i="1" lang="en"/>
              <a:t>K</a:t>
            </a:r>
            <a:r>
              <a:rPr lang="en" sz="1200"/>
              <a:t>2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K</a:t>
            </a:r>
            <a:r>
              <a:rPr lang="en" sz="900"/>
              <a:t>1</a:t>
            </a:r>
            <a:r>
              <a:rPr lang="en"/>
              <a:t> ||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K</a:t>
            </a:r>
            <a:r>
              <a:rPr lang="en" sz="900"/>
              <a:t>2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Using two hashes prevents a length extension attack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if the attacker knows the lengths of K₁ and K₂, she can only append content to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K</a:t>
            </a:r>
            <a:r>
              <a:rPr lang="en" sz="900"/>
              <a:t>2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K</a:t>
            </a:r>
            <a:r>
              <a:rPr lang="en" sz="900"/>
              <a:t>2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 is a </a:t>
            </a:r>
            <a:r>
              <a:rPr lang="en"/>
              <a:t>fixed-length digest, not extendable. </a:t>
            </a:r>
            <a:endParaRPr/>
          </a:p>
        </p:txBody>
      </p:sp>
      <p:sp>
        <p:nvSpPr>
          <p:cNvPr id="385" name="Google Shape;385;g3514937de1c_0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HMAC</a:t>
            </a:r>
            <a:endParaRPr/>
          </a:p>
        </p:txBody>
      </p:sp>
      <p:sp>
        <p:nvSpPr>
          <p:cNvPr id="391" name="Google Shape;391;p31"/>
          <p:cNvSpPr txBox="1"/>
          <p:nvPr>
            <p:ph idx="1" type="body"/>
          </p:nvPr>
        </p:nvSpPr>
        <p:spPr>
          <a:xfrm>
            <a:off x="198500" y="1246825"/>
            <a:ext cx="8520600" cy="3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 with NMAC: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Recall: NMAC(</a:t>
            </a:r>
            <a:r>
              <a:rPr i="1" lang="en"/>
              <a:t>K</a:t>
            </a:r>
            <a:r>
              <a:rPr lang="en" sz="900"/>
              <a:t>1</a:t>
            </a:r>
            <a:r>
              <a:rPr lang="en"/>
              <a:t>, </a:t>
            </a:r>
            <a:r>
              <a:rPr i="1" lang="en"/>
              <a:t>K</a:t>
            </a:r>
            <a:r>
              <a:rPr lang="en" sz="900"/>
              <a:t>2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1</a:t>
            </a:r>
            <a:r>
              <a:rPr lang="en"/>
              <a:t> || </a:t>
            </a:r>
            <a:r>
              <a:rPr i="1" lang="en"/>
              <a:t>H</a:t>
            </a:r>
            <a:r>
              <a:rPr lang="en"/>
              <a:t> 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2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two different keys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NMAC assumes the keys to be the same length as the hash output (</a:t>
            </a:r>
            <a:r>
              <a:rPr i="1" lang="en"/>
              <a:t>n</a:t>
            </a:r>
            <a:r>
              <a:rPr lang="en"/>
              <a:t> bits)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NMAC by itself doesn’t specify how to handle arbitrary-length keys.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we use NMAC to design a scheme that uses one key?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</a:t>
            </a:r>
            <a:r>
              <a:rPr i="1" lang="en"/>
              <a:t>K</a:t>
            </a:r>
            <a:r>
              <a:rPr lang="en"/>
              <a:t>' as a version of </a:t>
            </a:r>
            <a:r>
              <a:rPr i="1" lang="en"/>
              <a:t>K</a:t>
            </a:r>
            <a:r>
              <a:rPr lang="en"/>
              <a:t> that is the length of the hash output</a:t>
            </a:r>
            <a:endParaRPr sz="18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i="1" lang="en"/>
              <a:t>K</a:t>
            </a:r>
            <a:r>
              <a:rPr lang="en"/>
              <a:t> is too short, pad </a:t>
            </a:r>
            <a:r>
              <a:rPr i="1" lang="en"/>
              <a:t>K</a:t>
            </a:r>
            <a:r>
              <a:rPr lang="en"/>
              <a:t> with 0’s to make it </a:t>
            </a:r>
            <a:r>
              <a:rPr i="1" lang="en"/>
              <a:t>n</a:t>
            </a:r>
            <a:r>
              <a:rPr lang="en"/>
              <a:t> bits (be careful with keys that are too short and lack randomness)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i="1" lang="en"/>
              <a:t>K</a:t>
            </a:r>
            <a:r>
              <a:rPr lang="en"/>
              <a:t> is too long, hash it so it’s </a:t>
            </a:r>
            <a:r>
              <a:rPr i="1" lang="en"/>
              <a:t>n</a:t>
            </a:r>
            <a:r>
              <a:rPr lang="en"/>
              <a:t> bits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>
                <a:solidFill>
                  <a:srgbClr val="0000FF"/>
                </a:solidFill>
              </a:rPr>
              <a:t>' ⊕ </a:t>
            </a:r>
            <a:r>
              <a:rPr i="1" lang="en">
                <a:solidFill>
                  <a:srgbClr val="0000FF"/>
                </a:solidFill>
              </a:rPr>
              <a:t>opad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FF0000"/>
                </a:solidFill>
              </a:rPr>
              <a:t>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>
                <a:solidFill>
                  <a:srgbClr val="FF0000"/>
                </a:solidFill>
              </a:rPr>
              <a:t>' ⊕ </a:t>
            </a:r>
            <a:r>
              <a:rPr i="1" lang="en">
                <a:solidFill>
                  <a:srgbClr val="FF0000"/>
                </a:solidFill>
              </a:rPr>
              <a:t>ipad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</p:txBody>
      </p:sp>
      <p:sp>
        <p:nvSpPr>
          <p:cNvPr id="392" name="Google Shape;39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HMAC</a:t>
            </a:r>
            <a:endParaRPr/>
          </a:p>
        </p:txBody>
      </p:sp>
      <p:sp>
        <p:nvSpPr>
          <p:cNvPr id="398" name="Google Shape;398;p32"/>
          <p:cNvSpPr txBox="1"/>
          <p:nvPr>
            <p:ph idx="1" type="body"/>
          </p:nvPr>
        </p:nvSpPr>
        <p:spPr>
          <a:xfrm>
            <a:off x="198500" y="1246825"/>
            <a:ext cx="8520600" cy="3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</a:t>
            </a:r>
            <a:r>
              <a:rPr i="1" lang="en"/>
              <a:t>K</a:t>
            </a:r>
            <a:r>
              <a:rPr lang="en"/>
              <a:t>' as a version of </a:t>
            </a:r>
            <a:r>
              <a:rPr i="1" lang="en"/>
              <a:t>K</a:t>
            </a:r>
            <a:r>
              <a:rPr lang="en"/>
              <a:t> that is the length of the hash output</a:t>
            </a:r>
            <a:endParaRPr sz="1800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i="1" lang="en"/>
              <a:t>K</a:t>
            </a:r>
            <a:r>
              <a:rPr lang="en"/>
              <a:t> is too short, pad </a:t>
            </a:r>
            <a:r>
              <a:rPr i="1" lang="en"/>
              <a:t>K</a:t>
            </a:r>
            <a:r>
              <a:rPr lang="en"/>
              <a:t> with 0’s to make it </a:t>
            </a:r>
            <a:r>
              <a:rPr i="1" lang="en"/>
              <a:t>n</a:t>
            </a:r>
            <a:r>
              <a:rPr lang="en"/>
              <a:t> bits (be careful with keys that are too short and lack randomness)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i="1" lang="en"/>
              <a:t>K</a:t>
            </a:r>
            <a:r>
              <a:rPr lang="en"/>
              <a:t> is too long, hash it so it’s </a:t>
            </a:r>
            <a:r>
              <a:rPr i="1" lang="en"/>
              <a:t>n</a:t>
            </a:r>
            <a:r>
              <a:rPr lang="en"/>
              <a:t> bits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>
                <a:solidFill>
                  <a:srgbClr val="0000FF"/>
                </a:solidFill>
              </a:rPr>
              <a:t>' ⊕ </a:t>
            </a:r>
            <a:r>
              <a:rPr i="1" lang="en">
                <a:solidFill>
                  <a:srgbClr val="0000FF"/>
                </a:solidFill>
              </a:rPr>
              <a:t>opad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FF0000"/>
                </a:solidFill>
              </a:rPr>
              <a:t>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>
                <a:solidFill>
                  <a:srgbClr val="FF0000"/>
                </a:solidFill>
              </a:rPr>
              <a:t>' ⊕ </a:t>
            </a:r>
            <a:r>
              <a:rPr i="1" lang="en">
                <a:solidFill>
                  <a:srgbClr val="FF0000"/>
                </a:solidFill>
              </a:rPr>
              <a:t>ipad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</a:t>
            </a:r>
            <a:r>
              <a:rPr i="1" lang="en"/>
              <a:t>K</a:t>
            </a:r>
            <a:r>
              <a:rPr lang="en"/>
              <a:t>' to derive two different keys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opad</a:t>
            </a:r>
            <a:r>
              <a:rPr lang="en"/>
              <a:t> (outer pad) is the hard-coded byte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0x5c</a:t>
            </a:r>
            <a:r>
              <a:rPr lang="en"/>
              <a:t> repeated until it’s the same length as </a:t>
            </a:r>
            <a:r>
              <a:rPr i="1" lang="en"/>
              <a:t>K</a:t>
            </a:r>
            <a:r>
              <a:rPr lang="en"/>
              <a:t>'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ipad</a:t>
            </a:r>
            <a:r>
              <a:rPr lang="en"/>
              <a:t> (inner pad) is the hard-coded byte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0x36</a:t>
            </a:r>
            <a:r>
              <a:rPr lang="en"/>
              <a:t> repeated until it’s the same length as </a:t>
            </a:r>
            <a:r>
              <a:rPr i="1" lang="en"/>
              <a:t>K</a:t>
            </a:r>
            <a:r>
              <a:rPr lang="en"/>
              <a:t>'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long as </a:t>
            </a:r>
            <a:r>
              <a:rPr i="1" lang="en"/>
              <a:t>opad</a:t>
            </a:r>
            <a:r>
              <a:rPr lang="en"/>
              <a:t> and </a:t>
            </a:r>
            <a:r>
              <a:rPr i="1" lang="en"/>
              <a:t>ipad</a:t>
            </a:r>
            <a:r>
              <a:rPr lang="en"/>
              <a:t> are different, you’ll get two different keys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paranoia, the designers chose two very different bit patterns, even though they theoretically need only differ in one bit</a:t>
            </a:r>
            <a:endParaRPr/>
          </a:p>
        </p:txBody>
      </p:sp>
      <p:sp>
        <p:nvSpPr>
          <p:cNvPr id="399" name="Google Shape;39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HMAC Properties</a:t>
            </a:r>
            <a:endParaRPr/>
          </a:p>
        </p:txBody>
      </p:sp>
      <p:sp>
        <p:nvSpPr>
          <p:cNvPr id="405" name="Google Shape;405;p33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>
                <a:solidFill>
                  <a:srgbClr val="0000FF"/>
                </a:solidFill>
              </a:rPr>
              <a:t>' ⊕ </a:t>
            </a:r>
            <a:r>
              <a:rPr i="1" lang="en">
                <a:solidFill>
                  <a:srgbClr val="0000FF"/>
                </a:solidFill>
              </a:rPr>
              <a:t>opad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/>
              <a:t> || H(</a:t>
            </a:r>
            <a:r>
              <a:rPr lang="en">
                <a:solidFill>
                  <a:srgbClr val="FF0000"/>
                </a:solidFill>
              </a:rPr>
              <a:t>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>
                <a:solidFill>
                  <a:srgbClr val="FF0000"/>
                </a:solidFill>
              </a:rPr>
              <a:t>' ⊕ </a:t>
            </a:r>
            <a:r>
              <a:rPr i="1" lang="en">
                <a:solidFill>
                  <a:srgbClr val="FF0000"/>
                </a:solidFill>
              </a:rPr>
              <a:t>ipad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HMAC is a hash function, so it has the properties of the underlying hash too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collision resistant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HMAC(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and </a:t>
            </a:r>
            <a:r>
              <a:rPr i="1" lang="en"/>
              <a:t>K</a:t>
            </a:r>
            <a:r>
              <a:rPr lang="en"/>
              <a:t>, an attacker can’t learn </a:t>
            </a:r>
            <a:r>
              <a:rPr i="1" lang="en"/>
              <a:t>M</a:t>
            </a:r>
            <a:endParaRPr i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underlying hash is secure, HMAC doesn’t reveal </a:t>
            </a:r>
            <a:r>
              <a:rPr i="1" lang="en"/>
              <a:t>M</a:t>
            </a:r>
            <a:r>
              <a:rPr lang="en"/>
              <a:t>, but it is still deterministic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can’t verify a tag </a:t>
            </a:r>
            <a:r>
              <a:rPr i="1" lang="en"/>
              <a:t>T</a:t>
            </a:r>
            <a:r>
              <a:rPr lang="en"/>
              <a:t> if you don’t have </a:t>
            </a:r>
            <a:r>
              <a:rPr i="1" lang="en"/>
              <a:t>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an attacker can’t brute-force the message </a:t>
            </a:r>
            <a:r>
              <a:rPr i="1" lang="en"/>
              <a:t>M</a:t>
            </a:r>
            <a:r>
              <a:rPr lang="en"/>
              <a:t> without knowing </a:t>
            </a:r>
            <a:r>
              <a:rPr i="1" lang="en"/>
              <a:t>K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Prevention of length extension attacks on HMAC: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https://crypto.stackexchange.com/a/12684/109182</a:t>
            </a:r>
            <a:endParaRPr sz="1300"/>
          </a:p>
        </p:txBody>
      </p:sp>
      <p:sp>
        <p:nvSpPr>
          <p:cNvPr id="406" name="Google Shape;40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 MACs provide integrity?</a:t>
            </a:r>
            <a:endParaRPr/>
          </a:p>
        </p:txBody>
      </p:sp>
      <p:sp>
        <p:nvSpPr>
          <p:cNvPr id="412" name="Google Shape;412;p3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MACs provide integrity?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Yes. An attacker cannot tamper with the message without being detected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MACs provide authenticity?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depends on your threat model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message has a valid MAC, you can be sure it came from </a:t>
            </a:r>
            <a:r>
              <a:rPr i="1" lang="en"/>
              <a:t>someone with the secret key</a:t>
            </a:r>
            <a:r>
              <a:rPr lang="en"/>
              <a:t>, but you can’t narrow it down to one person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only two people have the secret key, MACs provide authenticity: it has a valid MAC, and it’s not from me, so it must be from the other person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MACs provide confidentiality?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MACs were not designed for confidentiality.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MACs are deterministic (</a:t>
            </a:r>
            <a:r>
              <a:rPr lang="en"/>
              <a:t>can leak information about the message)</a:t>
            </a:r>
            <a:r>
              <a:rPr lang="en"/>
              <a:t> ⇒ No IND-CPA security</a:t>
            </a:r>
            <a:endParaRPr/>
          </a:p>
        </p:txBody>
      </p:sp>
      <p:sp>
        <p:nvSpPr>
          <p:cNvPr id="413" name="Google Shape;41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Authenticated Encryption</a:t>
            </a:r>
            <a:endParaRPr/>
          </a:p>
        </p:txBody>
      </p:sp>
      <p:pic>
        <p:nvPicPr>
          <p:cNvPr id="419" name="Google Shape;4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9571" y="2874600"/>
            <a:ext cx="1984850" cy="15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512100" y="4520775"/>
            <a:ext cx="81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Textbook Chapter 8.7 &amp; 8.8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Cryptography Roadmap</a:t>
            </a:r>
            <a:endParaRPr/>
          </a:p>
        </p:txBody>
      </p:sp>
      <p:graphicFrame>
        <p:nvGraphicFramePr>
          <p:cNvPr id="427" name="Google Shape;427;p36"/>
          <p:cNvGraphicFramePr/>
          <p:nvPr/>
        </p:nvGraphicFramePr>
        <p:xfrm>
          <a:off x="311700" y="13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{2BE6FCC3-9B0D-44F7-927E-53161B12B198}</a:tableStyleId>
              </a:tblPr>
              <a:tblGrid>
                <a:gridCol w="1739450"/>
                <a:gridCol w="3241925"/>
                <a:gridCol w="3539225"/>
              </a:tblGrid>
              <a:tr h="37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Asymmetric-key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Confidentiality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B7B7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B7B7B7"/>
                          </a:solidFill>
                        </a:rPr>
                        <a:t>One-time pads</a:t>
                      </a:r>
                      <a:endParaRPr sz="1600" u="none" cap="none" strike="noStrike">
                        <a:solidFill>
                          <a:srgbClr val="B7B7B7"/>
                        </a:solidFill>
                      </a:endParaRPr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FF0000"/>
                          </a:solidFill>
                        </a:rPr>
                        <a:t>Block ciphers with chaining modes (e.g. AES-CBC)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RSA encryption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ElGamal encryption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  <a:tr h="80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/>
                        <a:t>Integrity,</a:t>
                      </a:r>
                      <a:br>
                        <a:rPr lang="en" sz="1600" u="none" cap="none" strike="noStrike"/>
                      </a:br>
                      <a:r>
                        <a:rPr lang="en" sz="1600" u="none" cap="none" strike="noStrike"/>
                        <a:t>Authentication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>
                          <a:solidFill>
                            <a:srgbClr val="FF0000"/>
                          </a:solidFill>
                        </a:rPr>
                        <a:t>MACs (e.g. HMAC)</a:t>
                      </a:r>
                      <a:endParaRPr sz="1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" sz="1600" u="none" cap="none" strike="noStrike"/>
                        <a:t>Digital signatures (e.g. RSA signatures)</a:t>
                      </a:r>
                      <a:endParaRPr sz="16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8" name="Google Shape;428;p36"/>
          <p:cNvSpPr txBox="1"/>
          <p:nvPr>
            <p:ph idx="4294967295" type="body"/>
          </p:nvPr>
        </p:nvSpPr>
        <p:spPr>
          <a:xfrm>
            <a:off x="198500" y="3844625"/>
            <a:ext cx="4373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"/>
              <a:buChar char="●"/>
            </a:pPr>
            <a:r>
              <a:rPr lang="en" sz="1600">
                <a:solidFill>
                  <a:srgbClr val="B7B7B7"/>
                </a:solidFill>
              </a:rPr>
              <a:t>Hash functions</a:t>
            </a:r>
            <a:endParaRPr sz="1600">
              <a:solidFill>
                <a:srgbClr val="B7B7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Pseudorandom number generators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Public key exchange (e.g. Diffie-Hellman)</a:t>
            </a:r>
            <a:endParaRPr sz="1600"/>
          </a:p>
        </p:txBody>
      </p:sp>
      <p:sp>
        <p:nvSpPr>
          <p:cNvPr id="429" name="Google Shape;429;p36"/>
          <p:cNvSpPr txBox="1"/>
          <p:nvPr/>
        </p:nvSpPr>
        <p:spPr>
          <a:xfrm>
            <a:off x="5175400" y="3844625"/>
            <a:ext cx="344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management (certificates)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36"/>
          <p:cNvSpPr/>
          <p:nvPr/>
        </p:nvSpPr>
        <p:spPr>
          <a:xfrm>
            <a:off x="2164350" y="1773925"/>
            <a:ext cx="2953800" cy="1553100"/>
          </a:xfrm>
          <a:prstGeom prst="roundRect">
            <a:avLst>
              <a:gd fmla="val 9837" name="adj"/>
            </a:avLst>
          </a:prstGeom>
          <a:solidFill>
            <a:srgbClr val="0000FF">
              <a:alpha val="215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2510175" y="3496725"/>
            <a:ext cx="289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</a:rPr>
              <a:t>Authenticated Encryption</a:t>
            </a:r>
            <a:endParaRPr sz="1500">
              <a:solidFill>
                <a:srgbClr val="0000FF"/>
              </a:solidFill>
            </a:endParaRPr>
          </a:p>
        </p:txBody>
      </p:sp>
      <p:cxnSp>
        <p:nvCxnSpPr>
          <p:cNvPr id="433" name="Google Shape;433;p36"/>
          <p:cNvCxnSpPr>
            <a:stCxn id="431" idx="2"/>
          </p:cNvCxnSpPr>
          <p:nvPr/>
        </p:nvCxnSpPr>
        <p:spPr>
          <a:xfrm>
            <a:off x="3641250" y="3327025"/>
            <a:ext cx="0" cy="25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Authenticated Encryption: Definition</a:t>
            </a:r>
            <a:endParaRPr/>
          </a:p>
        </p:txBody>
      </p:sp>
      <p:sp>
        <p:nvSpPr>
          <p:cNvPr id="439" name="Google Shape;439;p3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Authenticated encryption </a:t>
            </a:r>
            <a:r>
              <a:rPr lang="en"/>
              <a:t>(</a:t>
            </a:r>
            <a:r>
              <a:rPr b="1" lang="en"/>
              <a:t>AE</a:t>
            </a:r>
            <a:r>
              <a:rPr lang="en"/>
              <a:t>): A scheme that simultaneously guarantees confidentiality and integrity on a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ways of achieving authenticated encryption: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Combine schemes that provide confidentiality with schemes that provide integrity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a scheme that is separately designed to provide both confidentiality and integrity</a:t>
            </a:r>
            <a:endParaRPr/>
          </a:p>
        </p:txBody>
      </p:sp>
      <p:sp>
        <p:nvSpPr>
          <p:cNvPr id="440" name="Google Shape;44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Combining Schemes: Let’s design it together</a:t>
            </a:r>
            <a:endParaRPr/>
          </a:p>
        </p:txBody>
      </p:sp>
      <p:sp>
        <p:nvSpPr>
          <p:cNvPr id="446" name="Google Shape;446;p3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use: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IND-CPA encryption scheme (e.g. AES-CBC): Enc(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and Dec(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unforgeable MAC scheme (e.g. HMAC): 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attempt: Alice sends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12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and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12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i="1" lang="en">
                <a:solidFill>
                  <a:srgbClr val="0000FF"/>
                </a:solidFill>
              </a:rPr>
              <a:t>M</a:t>
            </a:r>
            <a:r>
              <a:rPr lang="en">
                <a:solidFill>
                  <a:srgbClr val="0000FF"/>
                </a:solidFill>
              </a:rPr>
              <a:t>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Integrity? Yes, attacker can’t tamper with the MAC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Confidentiality? No, the MAC is not IND-CPA secure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 1: Let’s compute the MAC on the </a:t>
            </a:r>
            <a:r>
              <a:rPr i="1" lang="en"/>
              <a:t>ciphertext</a:t>
            </a:r>
            <a:r>
              <a:rPr lang="en"/>
              <a:t> instead of the plaintext:</a:t>
            </a:r>
            <a:br>
              <a:rPr lang="en"/>
            </a:b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12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and </a:t>
            </a:r>
            <a:r>
              <a:rPr lang="en">
                <a:solidFill>
                  <a:srgbClr val="0000FF"/>
                </a:solidFill>
              </a:rPr>
              <a:t>MAC(k</a:t>
            </a:r>
            <a:r>
              <a:rPr lang="en" sz="13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12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>
                <a:solidFill>
                  <a:srgbClr val="0000FF"/>
                </a:solidFill>
              </a:rPr>
              <a:t>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Integrity? Yes, attacker can’t tamper with the MAC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Confidentiality? Yes, the MAC might leak info about the ciphertext, but that’s okay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 2: Let’s encrypt the MAC too: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12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 ||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12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i="1" lang="en">
                <a:solidFill>
                  <a:srgbClr val="0000FF"/>
                </a:solidFill>
              </a:rPr>
              <a:t>M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>
                <a:solidFill>
                  <a:srgbClr val="FF0000"/>
                </a:solidFill>
              </a:rPr>
              <a:t>)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Integrity? Yes, attacker can’t tamper with the MAC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Confidentiality? Yes, everything is encrypted</a:t>
            </a:r>
            <a:endParaRPr/>
          </a:p>
        </p:txBody>
      </p:sp>
      <p:sp>
        <p:nvSpPr>
          <p:cNvPr id="447" name="Google Shape;4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MAC-then-Encrypt or Encrypt-then-MAC?</a:t>
            </a:r>
            <a:endParaRPr/>
          </a:p>
        </p:txBody>
      </p:sp>
      <p:sp>
        <p:nvSpPr>
          <p:cNvPr id="453" name="Google Shape;453;p39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MAC-then-encrypt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compute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i="1" lang="en">
                <a:solidFill>
                  <a:srgbClr val="0000FF"/>
                </a:solidFill>
              </a:rPr>
              <a:t>M</a:t>
            </a:r>
            <a:r>
              <a:rPr lang="en">
                <a:solidFill>
                  <a:srgbClr val="0000FF"/>
                </a:solidFill>
              </a:rPr>
              <a:t>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encrypt the message and the MAC together: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 ||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i="1" lang="en">
                <a:solidFill>
                  <a:srgbClr val="0000FF"/>
                </a:solidFill>
              </a:rPr>
              <a:t>M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>
                <a:solidFill>
                  <a:srgbClr val="FF0000"/>
                </a:solidFill>
              </a:rPr>
              <a:t>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Encrypt-then-MAC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compute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MAC the ciphertext: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>
                <a:solidFill>
                  <a:srgbClr val="0000FF"/>
                </a:solidFill>
              </a:rPr>
              <a:t>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is better?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theory, both are IND-CPA and EU-CPA secure if applied properly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MAC-then-encrypt has a flaw: You don’t know if tampering has occurred until after decrypting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Attacker can supply arbitrary tampered input, and you always have to decrypt it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Passing attacker-chosen input through the decryption function can cause side-channel leaks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Always use encrypt-then-MAC</a:t>
            </a:r>
            <a:r>
              <a:rPr lang="en"/>
              <a:t> because it’s more robust to mistakes</a:t>
            </a:r>
            <a:endParaRPr/>
          </a:p>
        </p:txBody>
      </p:sp>
      <p:sp>
        <p:nvSpPr>
          <p:cNvPr id="454" name="Google Shape;45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14937de1c_0_4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Reuse</a:t>
            </a:r>
            <a:endParaRPr/>
          </a:p>
        </p:txBody>
      </p:sp>
      <p:sp>
        <p:nvSpPr>
          <p:cNvPr id="460" name="Google Shape;460;g3514937de1c_0_4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MAC(K2</a:t>
            </a:r>
            <a:r>
              <a:rPr lang="en"/>
              <a:t>, </a:t>
            </a:r>
            <a:r>
              <a:rPr lang="en">
                <a:solidFill>
                  <a:srgbClr val="FF0000"/>
                </a:solidFill>
              </a:rPr>
              <a:t>Enc(K1, M)</a:t>
            </a:r>
            <a:r>
              <a:rPr lang="en">
                <a:solidFill>
                  <a:srgbClr val="0000FF"/>
                </a:solidFill>
              </a:rPr>
              <a:t>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if an attacker knows K2, if the encryption scheme is secure and K1 is unknown, the attacker cannot decrypt Enc(K1, M) to recover 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attacker can manipulate Alice into encrypting chosen plaintexts, they can generate valid MACs for any message of their choice.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if K1 and K2 are the same?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Knowing either key completely breaks the security.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general, avoid using the same keys twice. Just use different keys for the MAC and the Encryption function.</a:t>
            </a:r>
            <a:endParaRPr/>
          </a:p>
        </p:txBody>
      </p:sp>
      <p:sp>
        <p:nvSpPr>
          <p:cNvPr id="461" name="Google Shape;461;g3514937de1c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467" name="Google Shape;46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8" name="Google Shape;46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800" y="1241100"/>
            <a:ext cx="7926401" cy="26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0"/>
          <p:cNvSpPr txBox="1"/>
          <p:nvPr/>
        </p:nvSpPr>
        <p:spPr>
          <a:xfrm>
            <a:off x="531875" y="3902400"/>
            <a:ext cx="8216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Integrity</a:t>
            </a:r>
            <a:r>
              <a:rPr lang="en" sz="1200">
                <a:solidFill>
                  <a:schemeClr val="dk1"/>
                </a:solidFill>
              </a:rPr>
              <a:t>: Ensures data is not tampered with during transmission.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Authentication</a:t>
            </a:r>
            <a:r>
              <a:rPr lang="en" sz="1200">
                <a:solidFill>
                  <a:schemeClr val="dk1"/>
                </a:solidFill>
              </a:rPr>
              <a:t>: Verifies the identity of the sender.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Non-repudiation</a:t>
            </a:r>
            <a:r>
              <a:rPr lang="en" sz="1200">
                <a:solidFill>
                  <a:schemeClr val="dk1"/>
                </a:solidFill>
              </a:rPr>
              <a:t>: Prevents the sender from denying they sent the data.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TLS 1.0 “Lucky 13” Attack</a:t>
            </a:r>
            <a:endParaRPr/>
          </a:p>
        </p:txBody>
      </p:sp>
      <p:sp>
        <p:nvSpPr>
          <p:cNvPr id="475" name="Google Shape;475;p41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TLS: A protocol for sending encrypted and authenticated messages over the Internet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TLS 1.0 uses MAC-then-encrypt: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 ||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i="1" lang="en">
                <a:solidFill>
                  <a:srgbClr val="0000FF"/>
                </a:solidFill>
              </a:rPr>
              <a:t>M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>
                <a:solidFill>
                  <a:srgbClr val="FF0000"/>
                </a:solidFill>
              </a:rPr>
              <a:t>)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encryption algorithm is AES-CBC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Lucky 13 attack abuses MAC-then-encrypt to read encrypted messages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Guess a byte of plaintext and change the ciphertext accordingly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MAC will error, but the time it takes to error is different depending on if the guess is correct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Attacker measures how long it takes to error in order to learn information about plaintext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TLS will send the message again if the MAC errors, so the attacker can guess repeatedly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Takeaways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Side channel attack: The algorithm is proved secure, but poor implementation made it vulnerable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Always encrypt-then-MAC</a:t>
            </a:r>
            <a:endParaRPr/>
          </a:p>
        </p:txBody>
      </p:sp>
      <p:sp>
        <p:nvSpPr>
          <p:cNvPr id="476" name="Google Shape;47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Hashes: Summary</a:t>
            </a:r>
            <a:endParaRPr/>
          </a:p>
        </p:txBody>
      </p:sp>
      <p:sp>
        <p:nvSpPr>
          <p:cNvPr id="482" name="Google Shape;482;p45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 arbitrary-length input to fixed-length output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is deterministic and unpredictable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properties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way: Given an output </a:t>
            </a:r>
            <a:r>
              <a:rPr i="1" lang="en"/>
              <a:t>y</a:t>
            </a:r>
            <a:r>
              <a:rPr lang="en"/>
              <a:t>, it is infeasible to find any input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y</a:t>
            </a:r>
            <a:r>
              <a:rPr lang="en"/>
              <a:t>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Second preimage resistant: Given an input </a:t>
            </a:r>
            <a:r>
              <a:rPr i="1" lang="en"/>
              <a:t>x</a:t>
            </a:r>
            <a:r>
              <a:rPr lang="en"/>
              <a:t>, it is infeasible to find another input </a:t>
            </a:r>
            <a:r>
              <a:rPr i="1" lang="en"/>
              <a:t>x'</a:t>
            </a:r>
            <a:r>
              <a:rPr lang="en"/>
              <a:t> ≠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x'</a:t>
            </a:r>
            <a:r>
              <a:rPr lang="en"/>
              <a:t>).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Collision resistant: It is infeasible to find another any pair of inputs </a:t>
            </a:r>
            <a:r>
              <a:rPr i="1" lang="en"/>
              <a:t>x'</a:t>
            </a:r>
            <a:r>
              <a:rPr lang="en"/>
              <a:t> ≠ </a:t>
            </a:r>
            <a:r>
              <a:rPr i="1" lang="en"/>
              <a:t>x</a:t>
            </a:r>
            <a:r>
              <a:rPr lang="en"/>
              <a:t> such that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i="1" lang="en"/>
              <a:t>x'</a:t>
            </a:r>
            <a:r>
              <a:rPr lang="en"/>
              <a:t>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hashes are vulnerable to length extension attacks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Application: Lowest hash scheme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Hashes don’t provide integrity (unless you can publish the hash securely)</a:t>
            </a:r>
            <a:endParaRPr/>
          </a:p>
        </p:txBody>
      </p:sp>
      <p:sp>
        <p:nvSpPr>
          <p:cNvPr id="483" name="Google Shape;48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MACs: Summary</a:t>
            </a:r>
            <a:endParaRPr/>
          </a:p>
        </p:txBody>
      </p:sp>
      <p:sp>
        <p:nvSpPr>
          <p:cNvPr id="489" name="Google Shape;489;p46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Inputs: a secret key and a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Output: a tag on the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secure MAC is unforgeable: Even if Mallory can trick Alice into creating MACs for messages that Mallory chooses, Mallory cannot create a valid MAC on a message that she hasn't seen before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HMAC(</a:t>
            </a:r>
            <a:r>
              <a:rPr i="1" lang="en"/>
              <a:t>K</a:t>
            </a:r>
            <a:r>
              <a:rPr lang="en"/>
              <a:t>, </a:t>
            </a:r>
            <a:r>
              <a:rPr i="1" lang="en"/>
              <a:t>M</a:t>
            </a:r>
            <a:r>
              <a:rPr lang="en"/>
              <a:t>) =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>
                <a:solidFill>
                  <a:srgbClr val="0000FF"/>
                </a:solidFill>
              </a:rPr>
              <a:t>' ⊕ </a:t>
            </a:r>
            <a:r>
              <a:rPr i="1" lang="en">
                <a:solidFill>
                  <a:srgbClr val="0000FF"/>
                </a:solidFill>
              </a:rPr>
              <a:t>opad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H</a:t>
            </a:r>
            <a:r>
              <a:rPr lang="en"/>
              <a:t>(</a:t>
            </a:r>
            <a:r>
              <a:rPr lang="en">
                <a:solidFill>
                  <a:srgbClr val="FF0000"/>
                </a:solidFill>
              </a:rPr>
              <a:t>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>
                <a:solidFill>
                  <a:srgbClr val="FF0000"/>
                </a:solidFill>
              </a:rPr>
              <a:t>' ⊕ </a:t>
            </a:r>
            <a:r>
              <a:rPr i="1" lang="en">
                <a:solidFill>
                  <a:srgbClr val="FF0000"/>
                </a:solidFill>
              </a:rPr>
              <a:t>ipad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|| </a:t>
            </a:r>
            <a:r>
              <a:rPr i="1" lang="en"/>
              <a:t>M</a:t>
            </a:r>
            <a:r>
              <a:rPr lang="en"/>
              <a:t>))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MACs do not provide confidentiality</a:t>
            </a:r>
            <a:endParaRPr/>
          </a:p>
        </p:txBody>
      </p:sp>
      <p:sp>
        <p:nvSpPr>
          <p:cNvPr id="490" name="Google Shape;49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Authenticated Encryption: Summary</a:t>
            </a:r>
            <a:endParaRPr/>
          </a:p>
        </p:txBody>
      </p:sp>
      <p:sp>
        <p:nvSpPr>
          <p:cNvPr id="496" name="Google Shape;496;p47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Authenticated encryption: A scheme that simultaneously guarantees confidentiality and integrity (and authenticity) on a message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approach: Combine schemes that provide confidentiality with schemes that provide integrity and authenticity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MAC-then-encrypt: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 ||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i="1" lang="en">
                <a:solidFill>
                  <a:srgbClr val="0000FF"/>
                </a:solidFill>
              </a:rPr>
              <a:t>M</a:t>
            </a:r>
            <a:r>
              <a:rPr lang="en">
                <a:solidFill>
                  <a:srgbClr val="0000FF"/>
                </a:solidFill>
              </a:rPr>
              <a:t>)</a:t>
            </a:r>
            <a:r>
              <a:rPr lang="en">
                <a:solidFill>
                  <a:srgbClr val="FF0000"/>
                </a:solidFill>
              </a:rPr>
              <a:t>)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Encrypt-then-MAC: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/>
              <a:t> || </a:t>
            </a:r>
            <a:r>
              <a:rPr lang="en">
                <a:solidFill>
                  <a:srgbClr val="0000FF"/>
                </a:solidFill>
              </a:rPr>
              <a:t>MAC(</a:t>
            </a:r>
            <a:r>
              <a:rPr i="1" lang="en">
                <a:solidFill>
                  <a:srgbClr val="0000FF"/>
                </a:solidFill>
              </a:rPr>
              <a:t>K</a:t>
            </a:r>
            <a:r>
              <a:rPr lang="en" sz="900">
                <a:solidFill>
                  <a:srgbClr val="0000FF"/>
                </a:solidFill>
              </a:rPr>
              <a:t>2</a:t>
            </a:r>
            <a:r>
              <a:rPr lang="en">
                <a:solidFill>
                  <a:srgbClr val="0000FF"/>
                </a:solidFill>
              </a:rPr>
              <a:t>, </a:t>
            </a:r>
            <a:r>
              <a:rPr lang="en">
                <a:solidFill>
                  <a:srgbClr val="FF0000"/>
                </a:solidFill>
              </a:rPr>
              <a:t>Enc(</a:t>
            </a:r>
            <a:r>
              <a:rPr i="1" lang="en">
                <a:solidFill>
                  <a:srgbClr val="FF0000"/>
                </a:solidFill>
              </a:rPr>
              <a:t>K</a:t>
            </a:r>
            <a:r>
              <a:rPr lang="en" sz="900">
                <a:solidFill>
                  <a:srgbClr val="FF0000"/>
                </a:solidFill>
              </a:rPr>
              <a:t>1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i="1" lang="en">
                <a:solidFill>
                  <a:srgbClr val="FF0000"/>
                </a:solidFill>
              </a:rPr>
              <a:t>M</a:t>
            </a:r>
            <a:r>
              <a:rPr lang="en">
                <a:solidFill>
                  <a:srgbClr val="FF0000"/>
                </a:solidFill>
              </a:rPr>
              <a:t>)</a:t>
            </a:r>
            <a:r>
              <a:rPr lang="en">
                <a:solidFill>
                  <a:srgbClr val="0000FF"/>
                </a:solidFill>
              </a:rPr>
              <a:t>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Always use Encrypt-then-MAC because it's more robust to mistakes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 approach: Use AEAD encryption modes designed to provide confidentiality, integrity, and authenticity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Drawback: Incorrectly using AEAD modes leads to losing </a:t>
            </a:r>
            <a:r>
              <a:rPr i="1" lang="en"/>
              <a:t>both</a:t>
            </a:r>
            <a:r>
              <a:rPr lang="en"/>
              <a:t> confidentiality and integrity/authentication</a:t>
            </a:r>
            <a:endParaRPr/>
          </a:p>
        </p:txBody>
      </p:sp>
      <p:sp>
        <p:nvSpPr>
          <p:cNvPr id="497" name="Google Shape;49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/>
          <p:nvPr>
            <p:ph type="title"/>
          </p:nvPr>
        </p:nvSpPr>
        <p:spPr>
          <a:xfrm>
            <a:off x="102700" y="27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503" name="Google Shape;503;p48"/>
          <p:cNvSpPr txBox="1"/>
          <p:nvPr>
            <p:ph idx="1" type="body"/>
          </p:nvPr>
        </p:nvSpPr>
        <p:spPr>
          <a:xfrm>
            <a:off x="198500" y="1246825"/>
            <a:ext cx="85206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Symmetric-key encryption schemes need randomness. How do we securely generate random numbers?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discussing symmetric-key schemes, we assumed Alice and Bob managed to share a secret key. How can Alice and Bob share a symmetric key over an insecure channel?</a:t>
            </a:r>
            <a:endParaRPr/>
          </a:p>
        </p:txBody>
      </p:sp>
      <p:sp>
        <p:nvSpPr>
          <p:cNvPr id="504" name="Google Shape;5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 16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