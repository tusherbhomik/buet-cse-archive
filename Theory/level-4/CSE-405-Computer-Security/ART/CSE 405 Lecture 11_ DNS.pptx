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88.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Lst>
  <p:sldSz cy="5143500" cx="9144000"/>
  <p:notesSz cx="6858000" cy="9144000"/>
  <p:embeddedFontLst>
    <p:embeddedFont>
      <p:font typeface="Proxima Nova"/>
      <p:regular r:id="rId95"/>
      <p:bold r:id="rId96"/>
      <p:italic r:id="rId97"/>
      <p:boldItalic r:id="rId98"/>
    </p:embeddedFont>
    <p:embeddedFont>
      <p:font typeface="Roboto"/>
      <p:regular r:id="rId99"/>
      <p:bold r:id="rId100"/>
      <p:italic r:id="rId101"/>
      <p:boldItalic r:id="rId10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746E7DE-0C9E-4540-9031-B6CDA728326B}">
  <a:tblStyle styleId="{8746E7DE-0C9E-4540-9031-B6CDA728326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2" Type="http://schemas.openxmlformats.org/officeDocument/2006/relationships/font" Target="fonts/Roboto-boldItalic.fntdata"/><Relationship Id="rId101" Type="http://schemas.openxmlformats.org/officeDocument/2006/relationships/font" Target="fonts/Roboto-italic.fntdata"/><Relationship Id="rId100" Type="http://schemas.openxmlformats.org/officeDocument/2006/relationships/font" Target="fonts/Roboto-bold.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font" Target="fonts/ProximaNova-regular.fntdata"/><Relationship Id="rId94" Type="http://schemas.openxmlformats.org/officeDocument/2006/relationships/slide" Target="slides/slide88.xml"/><Relationship Id="rId97" Type="http://schemas.openxmlformats.org/officeDocument/2006/relationships/font" Target="fonts/ProximaNova-italic.fntdata"/><Relationship Id="rId96" Type="http://schemas.openxmlformats.org/officeDocument/2006/relationships/font" Target="fonts/ProximaNova-bold.fntdata"/><Relationship Id="rId11" Type="http://schemas.openxmlformats.org/officeDocument/2006/relationships/slide" Target="slides/slide5.xml"/><Relationship Id="rId99" Type="http://schemas.openxmlformats.org/officeDocument/2006/relationships/font" Target="fonts/Roboto-regular.fntdata"/><Relationship Id="rId10" Type="http://schemas.openxmlformats.org/officeDocument/2006/relationships/slide" Target="slides/slide4.xml"/><Relationship Id="rId98" Type="http://schemas.openxmlformats.org/officeDocument/2006/relationships/font" Target="fonts/ProximaNova-boldItalic.fntdata"/><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slide" Target="slides/slide85.xml"/><Relationship Id="rId90" Type="http://schemas.openxmlformats.org/officeDocument/2006/relationships/slide" Target="slides/slide84.xml"/><Relationship Id="rId93" Type="http://schemas.openxmlformats.org/officeDocument/2006/relationships/slide" Target="slides/slide87.xml"/><Relationship Id="rId92" Type="http://schemas.openxmlformats.org/officeDocument/2006/relationships/slide" Target="slides/slide8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84" Type="http://schemas.openxmlformats.org/officeDocument/2006/relationships/slide" Target="slides/slide78.xml"/><Relationship Id="rId83" Type="http://schemas.openxmlformats.org/officeDocument/2006/relationships/slide" Target="slides/slide77.xml"/><Relationship Id="rId86" Type="http://schemas.openxmlformats.org/officeDocument/2006/relationships/slide" Target="slides/slide80.xml"/><Relationship Id="rId85" Type="http://schemas.openxmlformats.org/officeDocument/2006/relationships/slide" Target="slides/slide79.xml"/><Relationship Id="rId88" Type="http://schemas.openxmlformats.org/officeDocument/2006/relationships/slide" Target="slides/slide82.xml"/><Relationship Id="rId87" Type="http://schemas.openxmlformats.org/officeDocument/2006/relationships/slide" Target="slides/slide81.xml"/><Relationship Id="rId89" Type="http://schemas.openxmlformats.org/officeDocument/2006/relationships/slide" Target="slides/slide83.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www.google.com"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www.google.com"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about:blank"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cloudflare.com/learning/dns/dns-records/dns-cname-record/" TargetMode="Externa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www.google.com" TargetMode="External"/><Relationship Id="rId3" Type="http://schemas.openxmlformats.org/officeDocument/2006/relationships/hyperlink" Target="http://www.google.com" TargetMode="External"/><Relationship Id="rId4" Type="http://schemas.openxmlformats.org/officeDocument/2006/relationships/hyperlink" Target="http://www.google.com" TargetMode="Externa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www.google.com" TargetMode="External"/><Relationship Id="rId3" Type="http://schemas.openxmlformats.org/officeDocument/2006/relationships/hyperlink" Target="http://www.google.com" TargetMode="Externa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www.google.com" TargetMode="External"/><Relationship Id="rId3" Type="http://schemas.openxmlformats.org/officeDocument/2006/relationships/hyperlink" Target="http://www.google.com" TargetMode="Externa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www.google.com" TargetMode="Externa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www.google.com" TargetMode="Externa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dce61f0a8f_1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dce61f0a8f_1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We’re done with the stack from Layer 1-7, but there are some other protocols needed to help make the internet run.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2edf4fd8f1d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2edf4fd8f1d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Today &amp; Monday!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dce61f0a8f_1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dce61f0a8f_1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10 min - 1:50</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dbb6a86e44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dbb6a86e44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There’s no specific “layer” that DNS is at cleanly</a:t>
            </a:r>
            <a:endParaRPr/>
          </a:p>
          <a:p>
            <a:pPr indent="-298450" lvl="0" marL="457200" rtl="0" algn="l">
              <a:spcBef>
                <a:spcPts val="0"/>
              </a:spcBef>
              <a:spcAft>
                <a:spcPts val="0"/>
              </a:spcAft>
              <a:buSzPts val="1100"/>
              <a:buChar char="-"/>
            </a:pPr>
            <a:r>
              <a:rPr lang="en"/>
              <a:t>IP addresses at Layer 3: I know how to send a Layer 3 packet to my friend</a:t>
            </a:r>
            <a:endParaRPr/>
          </a:p>
          <a:p>
            <a:pPr indent="-298450" lvl="1" marL="914400" rtl="0" algn="l">
              <a:spcBef>
                <a:spcPts val="0"/>
              </a:spcBef>
              <a:spcAft>
                <a:spcPts val="0"/>
              </a:spcAft>
              <a:buSzPts val="1100"/>
              <a:buChar char="-"/>
            </a:pPr>
            <a:r>
              <a:rPr lang="en"/>
              <a:t>IP addresses are great for machines since given an IP packet, I know how to use BGP to route it</a:t>
            </a:r>
            <a:endParaRPr/>
          </a:p>
          <a:p>
            <a:pPr indent="-298450" lvl="1" marL="914400" rtl="0" algn="l">
              <a:spcBef>
                <a:spcPts val="0"/>
              </a:spcBef>
              <a:spcAft>
                <a:spcPts val="0"/>
              </a:spcAft>
              <a:buSzPts val="1100"/>
              <a:buChar char="-"/>
            </a:pPr>
            <a:r>
              <a:rPr lang="en"/>
              <a:t>Like phone numbers: don’t memorize these (but you know your friend’s name!)</a:t>
            </a:r>
            <a:endParaRPr/>
          </a:p>
          <a:p>
            <a:pPr indent="-298450" lvl="0" marL="457200" rtl="0" algn="l">
              <a:spcBef>
                <a:spcPts val="0"/>
              </a:spcBef>
              <a:spcAft>
                <a:spcPts val="0"/>
              </a:spcAft>
              <a:buSzPts val="1100"/>
              <a:buChar char="-"/>
            </a:pPr>
            <a:r>
              <a:rPr lang="en"/>
              <a:t>But we need to be able to </a:t>
            </a:r>
            <a:r>
              <a:rPr lang="en"/>
              <a:t>translate</a:t>
            </a:r>
            <a:r>
              <a:rPr lang="en"/>
              <a:t> between human and machine names</a:t>
            </a:r>
            <a:endParaRPr/>
          </a:p>
          <a:p>
            <a:pPr indent="-298450" lvl="1" marL="914400" rtl="0" algn="l">
              <a:spcBef>
                <a:spcPts val="0"/>
              </a:spcBef>
              <a:spcAft>
                <a:spcPts val="0"/>
              </a:spcAft>
              <a:buSzPts val="1100"/>
              <a:buChar char="-"/>
            </a:pPr>
            <a:r>
              <a:rPr lang="en"/>
              <a:t>Computers don’t know what </a:t>
            </a:r>
            <a:r>
              <a:rPr lang="en" u="sng">
                <a:solidFill>
                  <a:schemeClr val="hlink"/>
                </a:solidFill>
                <a:hlinkClick r:id="rId2"/>
              </a:rPr>
              <a:t>www.google.com</a:t>
            </a:r>
            <a:endParaRPr/>
          </a:p>
          <a:p>
            <a:pPr indent="-298450" lvl="1" marL="914400" rtl="0" algn="l">
              <a:spcBef>
                <a:spcPts val="0"/>
              </a:spcBef>
              <a:spcAft>
                <a:spcPts val="0"/>
              </a:spcAft>
              <a:buSzPts val="1100"/>
              <a:buChar char="-"/>
            </a:pPr>
            <a:r>
              <a:rPr lang="en"/>
              <a:t>Kind of like ARP: layer 2 MAC addresses and layer 3 IP address translation -&gt; we need one for IP to domain name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dce61f0a8f_1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dce61f0a8f_1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It’s a translation protocol</a:t>
            </a:r>
            <a:endParaRPr/>
          </a:p>
          <a:p>
            <a:pPr indent="-298450" lvl="0" marL="457200" rtl="0" algn="l">
              <a:spcBef>
                <a:spcPts val="0"/>
              </a:spcBef>
              <a:spcAft>
                <a:spcPts val="0"/>
              </a:spcAft>
              <a:buSzPts val="1100"/>
              <a:buChar char="-"/>
            </a:pPr>
            <a:r>
              <a:rPr lang="en"/>
              <a:t>We’re performing a lookup (like I need to know X person’s address)</a:t>
            </a:r>
            <a:endParaRPr/>
          </a:p>
          <a:p>
            <a:pPr indent="-298450" lvl="0" marL="457200" rtl="0" algn="l">
              <a:spcBef>
                <a:spcPts val="0"/>
              </a:spcBef>
              <a:spcAft>
                <a:spcPts val="0"/>
              </a:spcAft>
              <a:buSzPts val="1100"/>
              <a:buChar char="-"/>
            </a:pPr>
            <a:r>
              <a:rPr lang="en"/>
              <a:t>So if I want to send a packet to </a:t>
            </a:r>
            <a:r>
              <a:rPr lang="en" u="sng">
                <a:solidFill>
                  <a:schemeClr val="hlink"/>
                </a:solidFill>
                <a:hlinkClick r:id="rId2"/>
              </a:rPr>
              <a:t>www.google.com</a:t>
            </a:r>
            <a:r>
              <a:rPr lang="en"/>
              <a:t>, I need to look up google’s IP address (using DNS), and then I can actually send my packet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dbb6a86e44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dbb6a86e4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Our computers don’t memorize all this information like what </a:t>
            </a:r>
            <a:r>
              <a:rPr lang="en" u="sng">
                <a:solidFill>
                  <a:schemeClr val="hlink"/>
                </a:solidFill>
                <a:hlinkClick r:id="rId2"/>
              </a:rPr>
              <a:t>www.google.com’s</a:t>
            </a:r>
            <a:r>
              <a:rPr lang="en"/>
              <a:t> IP address is or su24.cs161.org</a:t>
            </a:r>
            <a:endParaRPr/>
          </a:p>
          <a:p>
            <a:pPr indent="-298450" lvl="0" marL="457200" rtl="0" algn="l">
              <a:spcBef>
                <a:spcPts val="0"/>
              </a:spcBef>
              <a:spcAft>
                <a:spcPts val="0"/>
              </a:spcAft>
              <a:buSzPts val="1100"/>
              <a:buChar char="-"/>
            </a:pPr>
            <a:r>
              <a:rPr lang="en"/>
              <a:t>Who’s job is that?</a:t>
            </a:r>
            <a:endParaRPr/>
          </a:p>
          <a:p>
            <a:pPr indent="-298450" lvl="1" marL="914400" rtl="0" algn="l">
              <a:spcBef>
                <a:spcPts val="0"/>
              </a:spcBef>
              <a:spcAft>
                <a:spcPts val="0"/>
              </a:spcAft>
              <a:buSzPts val="1100"/>
              <a:buChar char="-"/>
            </a:pPr>
            <a:r>
              <a:rPr lang="en"/>
              <a:t>NSes are servers sitting on the internet that, like all other servers, can send and receive packets</a:t>
            </a:r>
            <a:endParaRPr/>
          </a:p>
          <a:p>
            <a:pPr indent="-298450" lvl="1" marL="914400" rtl="0" algn="l">
              <a:spcBef>
                <a:spcPts val="0"/>
              </a:spcBef>
              <a:spcAft>
                <a:spcPts val="0"/>
              </a:spcAft>
              <a:buSzPts val="1100"/>
              <a:buChar char="-"/>
            </a:pPr>
            <a:r>
              <a:rPr lang="en"/>
              <a:t>Their whole career though is to receive DNS queries and send DNS responses</a:t>
            </a:r>
            <a:endParaRPr/>
          </a:p>
          <a:p>
            <a:pPr indent="-298450" lvl="0" marL="457200" rtl="0" algn="l">
              <a:spcBef>
                <a:spcPts val="0"/>
              </a:spcBef>
              <a:spcAft>
                <a:spcPts val="0"/>
              </a:spcAft>
              <a:buSzPts val="1100"/>
              <a:buChar char="-"/>
            </a:pPr>
            <a:r>
              <a:rPr lang="en"/>
              <a:t>Problems similar to certificates problem: scalability (don’t want a single point of failure)</a:t>
            </a:r>
            <a:endParaRPr/>
          </a:p>
          <a:p>
            <a:pPr indent="-298450" lvl="1" marL="914400" rtl="0" algn="l">
              <a:spcBef>
                <a:spcPts val="0"/>
              </a:spcBef>
              <a:spcAft>
                <a:spcPts val="0"/>
              </a:spcAft>
              <a:buSzPts val="1100"/>
              <a:buChar char="-"/>
            </a:pPr>
            <a:r>
              <a:rPr lang="en"/>
              <a:t>We don’t have enough space for that server to store all the mappings</a:t>
            </a:r>
            <a:endParaRPr/>
          </a:p>
          <a:p>
            <a:pPr indent="-298450" lvl="1" marL="914400" rtl="0" algn="l">
              <a:spcBef>
                <a:spcPts val="0"/>
              </a:spcBef>
              <a:spcAft>
                <a:spcPts val="0"/>
              </a:spcAft>
              <a:buSzPts val="1100"/>
              <a:buChar char="-"/>
            </a:pPr>
            <a:r>
              <a:rPr lang="en"/>
              <a:t>We don’t want that server to have to respond to every single query made by every person</a:t>
            </a:r>
            <a:endParaRPr/>
          </a:p>
          <a:p>
            <a:pPr indent="-298450" lvl="1" marL="914400" rtl="0" algn="l">
              <a:spcBef>
                <a:spcPts val="0"/>
              </a:spcBef>
              <a:spcAft>
                <a:spcPts val="0"/>
              </a:spcAft>
              <a:buSzPts val="1100"/>
              <a:buChar char="-"/>
            </a:pPr>
            <a:r>
              <a:rPr lang="en"/>
              <a:t>What if the server goes down? Does the internet go down?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dbb6a86e44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dbb6a86e44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 DNS root is controlled by ICANN (Internet Corporation for Assigned Names and Numbers).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Idea #1: Name servers can’t just give up–they need to redirect you to someone who has a better shot of knowing!</a:t>
            </a:r>
            <a:endParaRPr/>
          </a:p>
          <a:p>
            <a:pPr indent="0" lvl="0" marL="0" rtl="0" algn="l">
              <a:spcBef>
                <a:spcPts val="0"/>
              </a:spcBef>
              <a:spcAft>
                <a:spcPts val="0"/>
              </a:spcAft>
              <a:buNone/>
            </a:pPr>
            <a:r>
              <a:rPr lang="en"/>
              <a:t>This gives us the ability to allow multiple name servers to handle all the DNS requests in the world. They need to be organized in some way though right? Otherwise, how do I know which server will give me a response to su24.cs161.org?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Fun fact: 13 root DNS servers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dbb6a86e44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dbb6a86e44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Every box here is a nameserver! Label in the box tells you what that name server knows.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For example, the .edu name server knows how to respond to queries like mit.edu or eecs.berekley.edu (or at least knows how to point you in the right direction)</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It doesn’t know anything about cs161.org for example!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Crucially, these are not the cs161.org server that stores the files for project 2–it’s the name server that can respond to requests like “What’s the IP address of su24.cs161.org?”</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ee3bf72fde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2ee3bf72fde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dbb6a86e44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dbb6a86e44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Here’s an example!</a:t>
            </a:r>
            <a:endParaRPr/>
          </a:p>
          <a:p>
            <a:pPr indent="0" lvl="0" marL="0" rtl="0" algn="l">
              <a:spcBef>
                <a:spcPts val="0"/>
              </a:spcBef>
              <a:spcAft>
                <a:spcPts val="0"/>
              </a:spcAft>
              <a:buNone/>
            </a:pPr>
            <a:r>
              <a:rPr lang="en"/>
              <a:t>All the queries start at the very top!</a:t>
            </a:r>
            <a:endParaRPr/>
          </a:p>
          <a:p>
            <a:pPr indent="-298450" lvl="0" marL="457200" rtl="0" algn="l">
              <a:spcBef>
                <a:spcPts val="0"/>
              </a:spcBef>
              <a:spcAft>
                <a:spcPts val="0"/>
              </a:spcAft>
              <a:buSzPts val="1100"/>
              <a:buChar char="-"/>
            </a:pPr>
            <a:r>
              <a:rPr lang="en"/>
              <a:t>I probably don’t know where the .edu name server is–but I know where the root is!</a:t>
            </a:r>
            <a:endParaRPr/>
          </a:p>
          <a:p>
            <a:pPr indent="-298450" lvl="1" marL="914400" rtl="0" algn="l">
              <a:spcBef>
                <a:spcPts val="0"/>
              </a:spcBef>
              <a:spcAft>
                <a:spcPts val="0"/>
              </a:spcAft>
              <a:buSzPts val="1100"/>
              <a:buChar char="-"/>
            </a:pPr>
            <a:r>
              <a:rPr lang="en"/>
              <a:t>The root can answer for everything!</a:t>
            </a:r>
            <a:endParaRPr/>
          </a:p>
          <a:p>
            <a:pPr indent="-298450" lvl="0" marL="457200" rtl="0" algn="l">
              <a:spcBef>
                <a:spcPts val="0"/>
              </a:spcBef>
              <a:spcAft>
                <a:spcPts val="0"/>
              </a:spcAft>
              <a:buSzPts val="1100"/>
              <a:buChar char="-"/>
            </a:pPr>
            <a:r>
              <a:rPr lang="en"/>
              <a:t>The nice thing is I don’t actually locally need to store .edu’s name server, since the root will tell me!</a:t>
            </a:r>
            <a:endParaRPr/>
          </a:p>
          <a:p>
            <a:pPr indent="-298450" lvl="1" marL="914400" rtl="0" algn="l">
              <a:spcBef>
                <a:spcPts val="0"/>
              </a:spcBef>
              <a:spcAft>
                <a:spcPts val="0"/>
              </a:spcAft>
              <a:buSzPts val="1100"/>
              <a:buChar char="-"/>
            </a:pPr>
            <a:r>
              <a:rPr lang="en"/>
              <a:t>The tree hierarchy is what allows you to only need to store the root’s locally (and cache whatever else you need)</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dbb6a86e44_0_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dbb6a86e44_0_4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dbb6a86e44_0_4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dbb6a86e44_0_4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“Too high up in the chain, can’t answer these petty questions”</a:t>
            </a:r>
            <a:endParaRPr/>
          </a:p>
          <a:p>
            <a:pPr indent="-298450" lvl="0" marL="457200" rtl="0" algn="l">
              <a:spcBef>
                <a:spcPts val="0"/>
              </a:spcBef>
              <a:spcAft>
                <a:spcPts val="0"/>
              </a:spcAft>
              <a:buSzPts val="1100"/>
              <a:buChar char="-"/>
            </a:pPr>
            <a:r>
              <a:rPr lang="en"/>
              <a:t>My assistant (the next level down) can help!</a:t>
            </a:r>
            <a:endParaRPr/>
          </a:p>
          <a:p>
            <a:pPr indent="-298450" lvl="0" marL="457200" rtl="0" algn="l">
              <a:spcBef>
                <a:spcPts val="0"/>
              </a:spcBef>
              <a:spcAft>
                <a:spcPts val="0"/>
              </a:spcAft>
              <a:buSzPts val="1100"/>
              <a:buChar char="-"/>
            </a:pPr>
            <a:r>
              <a:rPr lang="en"/>
              <a:t>Will tell you to go to the .edu name server (not .com or .org because your query ended in .edu)</a:t>
            </a:r>
            <a:endParaRPr/>
          </a:p>
          <a:p>
            <a:pPr indent="-298450" lvl="0" marL="457200" rtl="0" algn="l">
              <a:spcBef>
                <a:spcPts val="0"/>
              </a:spcBef>
              <a:spcAft>
                <a:spcPts val="0"/>
              </a:spcAft>
              <a:buSzPts val="1100"/>
              <a:buChar char="-"/>
            </a:pPr>
            <a:r>
              <a:rPr lang="en"/>
              <a:t>Now, although you didn’t get the answer, you’re closer to getting it (and you know who next to query)</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dbb6a86e44_0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dbb6a86e44_0_5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Exact same question!</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dbb6a86e44_0_5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dbb6a86e44_0_5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dbb6a86e44_0_5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dbb6a86e44_0_5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berkeley.edu is not the berkeley.edu server that stores all the files needed to access berkeley.edu</a:t>
            </a:r>
            <a:endParaRPr/>
          </a:p>
          <a:p>
            <a:pPr indent="-298450" lvl="1" marL="914400" rtl="0" algn="l">
              <a:spcBef>
                <a:spcPts val="0"/>
              </a:spcBef>
              <a:spcAft>
                <a:spcPts val="0"/>
              </a:spcAft>
              <a:buSzPts val="1100"/>
              <a:buChar char="-"/>
            </a:pPr>
            <a:r>
              <a:rPr lang="en"/>
              <a:t>This is the berkeley.edu name server (it responds to requests for any subdomain of berkeley.edu)</a:t>
            </a:r>
            <a:endParaRPr/>
          </a:p>
          <a:p>
            <a:pPr indent="-298450" lvl="1" marL="914400" rtl="0" algn="l">
              <a:spcBef>
                <a:spcPts val="0"/>
              </a:spcBef>
              <a:spcAft>
                <a:spcPts val="0"/>
              </a:spcAft>
              <a:buSzPts val="1100"/>
              <a:buChar char="-"/>
            </a:pPr>
            <a:r>
              <a:rPr lang="en"/>
              <a:t>Does it know the answer? (Yes)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dbb6a86e44_0_6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dbb6a86e44_0_6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dbb6a86e44_0_7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dbb6a86e44_0_7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20 min - 1:00</a:t>
            </a:r>
            <a:endParaRPr/>
          </a:p>
          <a:p>
            <a:pPr indent="0" lvl="0" marL="0" rtl="0" algn="l">
              <a:spcBef>
                <a:spcPts val="0"/>
              </a:spcBef>
              <a:spcAft>
                <a:spcPts val="0"/>
              </a:spcAft>
              <a:buNone/>
            </a:pPr>
            <a:r>
              <a:rPr lang="en"/>
              <a:t>Recursive resolver address is what’s sent in DHCP!</a:t>
            </a:r>
            <a:endParaRPr/>
          </a:p>
          <a:p>
            <a:pPr indent="0" lvl="0" marL="0" rtl="0" algn="l">
              <a:spcBef>
                <a:spcPts val="0"/>
              </a:spcBef>
              <a:spcAft>
                <a:spcPts val="0"/>
              </a:spcAft>
              <a:buNone/>
            </a:pPr>
            <a:r>
              <a:rPr lang="en"/>
              <a:t>You could ask all your DNS requests yourself, but in practice, you usually don’t (and someone resolves DNS requests on your behalf)</a:t>
            </a:r>
            <a:endParaRPr/>
          </a:p>
          <a:p>
            <a:pPr indent="0" lvl="0" marL="0" rtl="0" algn="l">
              <a:spcBef>
                <a:spcPts val="0"/>
              </a:spcBef>
              <a:spcAft>
                <a:spcPts val="0"/>
              </a:spcAft>
              <a:buNone/>
            </a:pPr>
            <a:r>
              <a:rPr lang="en"/>
              <a:t>Nice thing is this means the recursive resolver can have a huge cache!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There’s lots of public well-known recursive resolvers like 1.1.1.1 (operated by Cloudflare) and 8.8.8.8 (operated by Google).</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2edf4fd8f1d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0" name="Google Shape;390;g2edf4fd8f1d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en">
                <a:solidFill>
                  <a:schemeClr val="dk1"/>
                </a:solidFill>
              </a:rPr>
              <a:t>Alluded to this in DHCP a week ago!</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How do we set up when you first connect to the network?</a:t>
            </a:r>
            <a:endParaRPr/>
          </a:p>
          <a:p>
            <a:pPr indent="0" lvl="0" marL="0" rtl="0" algn="l">
              <a:spcBef>
                <a:spcPts val="0"/>
              </a:spcBef>
              <a:spcAft>
                <a:spcPts val="0"/>
              </a:spcAft>
              <a:buNone/>
            </a:pPr>
            <a:r>
              <a:rPr lang="en"/>
              <a:t>Post office: set up your mailing address, figure out where your nearest post office is to deliver mail</a:t>
            </a:r>
            <a:endParaRPr/>
          </a:p>
          <a:p>
            <a:pPr indent="-298450" lvl="0" marL="457200" rtl="0" algn="l">
              <a:spcBef>
                <a:spcPts val="0"/>
              </a:spcBef>
              <a:spcAft>
                <a:spcPts val="0"/>
              </a:spcAft>
              <a:buSzPts val="1100"/>
              <a:buChar char="-"/>
            </a:pPr>
            <a:r>
              <a:rPr lang="en"/>
              <a:t>Post office is a router</a:t>
            </a:r>
            <a:endParaRPr/>
          </a:p>
          <a:p>
            <a:pPr indent="-298450" lvl="0" marL="457200" rtl="0" algn="l">
              <a:spcBef>
                <a:spcPts val="0"/>
              </a:spcBef>
              <a:spcAft>
                <a:spcPts val="0"/>
              </a:spcAft>
              <a:buSzPts val="1100"/>
              <a:buChar char="-"/>
            </a:pPr>
            <a:r>
              <a:rPr lang="en"/>
              <a:t>DNS: domain name -&gt; IP address</a:t>
            </a:r>
            <a:endParaRPr/>
          </a:p>
          <a:p>
            <a:pPr indent="-298450" lvl="1" marL="914400" rtl="0" algn="l">
              <a:spcBef>
                <a:spcPts val="0"/>
              </a:spcBef>
              <a:spcAft>
                <a:spcPts val="0"/>
              </a:spcAft>
              <a:buSzPts val="1100"/>
              <a:buChar char="-"/>
            </a:pPr>
            <a:r>
              <a:rPr lang="en"/>
              <a:t>Address book lookup</a:t>
            </a:r>
            <a:endParaRPr/>
          </a:p>
          <a:p>
            <a:pPr indent="-298450" lvl="1" marL="914400" rtl="0" algn="l">
              <a:spcBef>
                <a:spcPts val="0"/>
              </a:spcBef>
              <a:spcAft>
                <a:spcPts val="0"/>
              </a:spcAft>
              <a:buSzPts val="1100"/>
              <a:buChar char="-"/>
            </a:pPr>
            <a:r>
              <a:rPr lang="en"/>
              <a:t>You know who you want to send it to (ie: google.com, but you don’t know the address)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dbb6a86e44_0_7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dbb6a86e44_0_7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dbb6a86e44_0_7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dbb6a86e44_0_7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dbb6a86e44_0_8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dbb6a86e44_0_8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dbb6a86e44_0_6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dbb6a86e44_0_6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dbb6a86e44_0_6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dbb6a86e44_0_6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DNS requires packets to be sent over the network: at layer 4 need to make a choice</a:t>
            </a:r>
            <a:endParaRPr/>
          </a:p>
          <a:p>
            <a:pPr indent="-298450" lvl="0" marL="457200" rtl="0" algn="l">
              <a:spcBef>
                <a:spcPts val="0"/>
              </a:spcBef>
              <a:spcAft>
                <a:spcPts val="0"/>
              </a:spcAft>
              <a:buSzPts val="1100"/>
              <a:buChar char="-"/>
            </a:pPr>
            <a:r>
              <a:rPr lang="en"/>
              <a:t>TCP has sequence and acknowledgement numbers (provides reliability and ordering), slower due to handshake</a:t>
            </a:r>
            <a:endParaRPr/>
          </a:p>
          <a:p>
            <a:pPr indent="-298450" lvl="0" marL="457200" rtl="0" algn="l">
              <a:spcBef>
                <a:spcPts val="0"/>
              </a:spcBef>
              <a:spcAft>
                <a:spcPts val="0"/>
              </a:spcAft>
              <a:buSzPts val="1100"/>
              <a:buChar char="-"/>
            </a:pPr>
            <a:r>
              <a:rPr lang="en"/>
              <a:t>Why lightweight and fast?</a:t>
            </a:r>
            <a:endParaRPr/>
          </a:p>
          <a:p>
            <a:pPr indent="-298450" lvl="1" marL="914400" rtl="0" algn="l">
              <a:spcBef>
                <a:spcPts val="0"/>
              </a:spcBef>
              <a:spcAft>
                <a:spcPts val="0"/>
              </a:spcAft>
              <a:buSzPts val="1100"/>
              <a:buChar char="-"/>
            </a:pPr>
            <a:r>
              <a:rPr lang="en"/>
              <a:t>Every time you type in a domain into your browser, DNS kicks in</a:t>
            </a:r>
            <a:endParaRPr/>
          </a:p>
          <a:p>
            <a:pPr indent="-298450" lvl="1" marL="914400" rtl="0" algn="l">
              <a:spcBef>
                <a:spcPts val="0"/>
              </a:spcBef>
              <a:spcAft>
                <a:spcPts val="0"/>
              </a:spcAft>
              <a:buSzPts val="1100"/>
              <a:buChar char="-"/>
            </a:pPr>
            <a:r>
              <a:rPr lang="en"/>
              <a:t>That’s a lot of DNS queries</a:t>
            </a:r>
            <a:endParaRPr/>
          </a:p>
          <a:p>
            <a:pPr indent="-298450" lvl="1" marL="914400" rtl="0" algn="l">
              <a:spcBef>
                <a:spcPts val="0"/>
              </a:spcBef>
              <a:spcAft>
                <a:spcPts val="0"/>
              </a:spcAft>
              <a:buSzPts val="1100"/>
              <a:buChar char="-"/>
            </a:pPr>
            <a:r>
              <a:rPr lang="en"/>
              <a:t>DNS being slow would really slow down the rest of the internet</a:t>
            </a:r>
            <a:endParaRPr/>
          </a:p>
          <a:p>
            <a:pPr indent="-298450" lvl="0" marL="457200" rtl="0" algn="l">
              <a:spcBef>
                <a:spcPts val="0"/>
              </a:spcBef>
              <a:spcAft>
                <a:spcPts val="0"/>
              </a:spcAft>
              <a:buSzPts val="1100"/>
              <a:buChar char="-"/>
            </a:pPr>
            <a:r>
              <a:rPr lang="en"/>
              <a:t>Also, TCP creates a connection between two users (but this isn’t really necessary!)</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gdbb6a86e44_0_6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3" name="Google Shape;513;gdbb6a86e44_0_6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25 min - 1:05</a:t>
            </a:r>
            <a:endParaRPr/>
          </a:p>
          <a:p>
            <a:pPr indent="0" lvl="0" marL="0" rtl="0" algn="l">
              <a:spcBef>
                <a:spcPts val="0"/>
              </a:spcBef>
              <a:spcAft>
                <a:spcPts val="0"/>
              </a:spcAft>
              <a:buNone/>
            </a:pPr>
            <a:r>
              <a:rPr lang="en"/>
              <a:t>You can fit the entire DNS query into one UDP packet (no need for splits/</a:t>
            </a:r>
            <a:r>
              <a:rPr lang="en"/>
              <a:t>reliability</a:t>
            </a:r>
            <a:r>
              <a:rPr lang="en"/>
              <a:t>/ordering!)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UDP Header:</a:t>
            </a:r>
            <a:endParaRPr/>
          </a:p>
          <a:p>
            <a:pPr indent="-298450" lvl="0" marL="457200" rtl="0" algn="l">
              <a:spcBef>
                <a:spcPts val="0"/>
              </a:spcBef>
              <a:spcAft>
                <a:spcPts val="0"/>
              </a:spcAft>
              <a:buSzPts val="1100"/>
              <a:buChar char="-"/>
            </a:pPr>
            <a:r>
              <a:rPr lang="en"/>
              <a:t>Source port (16 bits): you can pick it</a:t>
            </a:r>
            <a:endParaRPr/>
          </a:p>
          <a:p>
            <a:pPr indent="-298450" lvl="0" marL="457200" rtl="0" algn="l">
              <a:spcBef>
                <a:spcPts val="0"/>
              </a:spcBef>
              <a:spcAft>
                <a:spcPts val="0"/>
              </a:spcAft>
              <a:buSzPts val="1100"/>
              <a:buChar char="-"/>
            </a:pPr>
            <a:r>
              <a:rPr lang="en"/>
              <a:t>Server-side port is constant (port 53): </a:t>
            </a:r>
            <a:r>
              <a:rPr lang="en"/>
              <a:t>the</a:t>
            </a:r>
            <a:r>
              <a:rPr lang="en"/>
              <a:t> minute a server receives a packet sent to port 53, they know it’s a DNS packet</a:t>
            </a:r>
            <a:endParaRPr/>
          </a:p>
          <a:p>
            <a:pPr indent="-298450" lvl="0" marL="457200" rtl="0" algn="l">
              <a:spcBef>
                <a:spcPts val="0"/>
              </a:spcBef>
              <a:spcAft>
                <a:spcPts val="0"/>
              </a:spcAft>
              <a:buSzPts val="1100"/>
              <a:buChar char="-"/>
            </a:pPr>
            <a:r>
              <a:rPr lang="en"/>
              <a:t>When the server replies, swap the source and destination port!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Checksum (although corruption detection, TCP still better for reliability/ordering)</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dbb6a86e44_0_7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dbb6a86e44_0_7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Now, we’re in the DNS packet itself, the UDP data!</a:t>
            </a:r>
            <a:endParaRPr/>
          </a:p>
          <a:p>
            <a:pPr indent="-298450" lvl="0" marL="457200" rtl="0" algn="l">
              <a:spcBef>
                <a:spcPts val="0"/>
              </a:spcBef>
              <a:spcAft>
                <a:spcPts val="0"/>
              </a:spcAft>
              <a:buSzPts val="1100"/>
              <a:buChar char="-"/>
            </a:pPr>
            <a:r>
              <a:rPr lang="en"/>
              <a:t>This serves like a form we need to fill out whenever we want to make a DNS query</a:t>
            </a:r>
            <a:endParaRPr/>
          </a:p>
          <a:p>
            <a:pPr indent="-298450" lvl="0" marL="457200" rtl="0" algn="l">
              <a:spcBef>
                <a:spcPts val="0"/>
              </a:spcBef>
              <a:spcAft>
                <a:spcPts val="0"/>
              </a:spcAft>
              <a:buSzPts val="1100"/>
              <a:buChar char="-"/>
            </a:pPr>
            <a:r>
              <a:rPr lang="en"/>
              <a:t>ID: necessary for you to identify which queries correlate to which responses</a:t>
            </a:r>
            <a:endParaRPr/>
          </a:p>
          <a:p>
            <a:pPr indent="-298450" lvl="0" marL="457200" rtl="0" algn="l">
              <a:spcBef>
                <a:spcPts val="0"/>
              </a:spcBef>
              <a:spcAft>
                <a:spcPts val="0"/>
              </a:spcAft>
              <a:buSzPts val="1100"/>
              <a:buChar char="-"/>
            </a:pPr>
            <a:r>
              <a:rPr lang="en"/>
              <a:t>Let’s say a recursive resolver sends out queries with a bunch of different IDs (ask students?)</a:t>
            </a:r>
            <a:endParaRPr/>
          </a:p>
          <a:p>
            <a:pPr indent="-298450" lvl="1" marL="914400" rtl="0" algn="l">
              <a:spcBef>
                <a:spcPts val="0"/>
              </a:spcBef>
              <a:spcAft>
                <a:spcPts val="0"/>
              </a:spcAft>
              <a:buSzPts val="1100"/>
              <a:buChar char="-"/>
            </a:pPr>
            <a:r>
              <a:rPr lang="en"/>
              <a:t>They would need to line up the response </a:t>
            </a:r>
            <a:r>
              <a:rPr lang="en"/>
              <a:t>they</a:t>
            </a:r>
            <a:r>
              <a:rPr lang="en"/>
              <a:t> </a:t>
            </a:r>
            <a:r>
              <a:rPr lang="en"/>
              <a:t>receive</a:t>
            </a:r>
            <a:r>
              <a:rPr lang="en"/>
              <a:t> otherwise they would be mapping incorrect IPs to domains</a:t>
            </a:r>
            <a:endParaRPr/>
          </a:p>
          <a:p>
            <a:pPr indent="-298450" lvl="0" marL="457200" rtl="0" algn="l">
              <a:spcBef>
                <a:spcPts val="0"/>
              </a:spcBef>
              <a:spcAft>
                <a:spcPts val="0"/>
              </a:spcAft>
              <a:buSzPts val="1100"/>
              <a:buChar char="-"/>
            </a:pPr>
            <a:r>
              <a:rPr lang="en"/>
              <a:t>Flags (OOS): for example qr (query/response) 0 means query, 1 means response -&gt; lots of other flags!</a:t>
            </a:r>
            <a:endParaRPr/>
          </a:p>
          <a:p>
            <a:pPr indent="-298450" lvl="1" marL="914400" rtl="0" algn="l">
              <a:spcBef>
                <a:spcPts val="0"/>
              </a:spcBef>
              <a:spcAft>
                <a:spcPts val="0"/>
              </a:spcAft>
              <a:buSzPts val="1100"/>
              <a:buChar char="-"/>
            </a:pPr>
            <a:r>
              <a:rPr lang="en"/>
              <a:t>RD bit: 1 if we want the recursive resolver to do the lookup for us, and 0 otherwise.</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6" name="Shape 536"/>
        <p:cNvGrpSpPr/>
        <p:nvPr/>
      </p:nvGrpSpPr>
      <p:grpSpPr>
        <a:xfrm>
          <a:off x="0" y="0"/>
          <a:ext cx="0" cy="0"/>
          <a:chOff x="0" y="0"/>
          <a:chExt cx="0" cy="0"/>
        </a:xfrm>
      </p:grpSpPr>
      <p:sp>
        <p:nvSpPr>
          <p:cNvPr id="537" name="Google Shape;537;gdbb6a86e44_0_6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8" name="Google Shape;538;gdbb6a86e44_0_6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Everything else is stored in a resource record (name-value pair like cookies, hash maps, Python dictionaries, etc.)</a:t>
            </a:r>
            <a:endParaRPr/>
          </a:p>
          <a:p>
            <a:pPr indent="-298450" lvl="0" marL="457200" rtl="0" algn="l">
              <a:spcBef>
                <a:spcPts val="0"/>
              </a:spcBef>
              <a:spcAft>
                <a:spcPts val="0"/>
              </a:spcAft>
              <a:buSzPts val="1100"/>
              <a:buChar char="-"/>
            </a:pPr>
            <a:r>
              <a:rPr lang="en"/>
              <a:t>Where you put the record depends on what that record represents</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dbb6a86e44_0_7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dbb6a86e44_0_7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Type: like a datatype in Java or Go or C (like ints, char*), etc.</a:t>
            </a:r>
            <a:endParaRPr/>
          </a:p>
          <a:p>
            <a:pPr indent="-298450" lvl="0" marL="457200" rtl="0" algn="l">
              <a:spcBef>
                <a:spcPts val="0"/>
              </a:spcBef>
              <a:spcAft>
                <a:spcPts val="0"/>
              </a:spcAft>
              <a:buSzPts val="1100"/>
              <a:buChar char="-"/>
            </a:pPr>
            <a:r>
              <a:rPr lang="en"/>
              <a:t>A (answer) type: domain name to IPv4 value</a:t>
            </a:r>
            <a:endParaRPr/>
          </a:p>
          <a:p>
            <a:pPr indent="-298450" lvl="0" marL="457200" rtl="0" algn="l">
              <a:spcBef>
                <a:spcPts val="0"/>
              </a:spcBef>
              <a:spcAft>
                <a:spcPts val="0"/>
              </a:spcAft>
              <a:buSzPts val="1100"/>
              <a:buChar char="-"/>
            </a:pPr>
            <a:r>
              <a:rPr lang="en"/>
              <a:t>NS (name server) type: if we don’t know the answer</a:t>
            </a:r>
            <a:endParaRPr/>
          </a:p>
          <a:p>
            <a:pPr indent="-298450" lvl="1" marL="914400" rtl="0" algn="l">
              <a:spcBef>
                <a:spcPts val="0"/>
              </a:spcBef>
              <a:spcAft>
                <a:spcPts val="0"/>
              </a:spcAft>
              <a:buSzPts val="1100"/>
              <a:buChar char="-"/>
            </a:pPr>
            <a:r>
              <a:rPr lang="en"/>
              <a:t>Name would be the name of the domain like example.com</a:t>
            </a:r>
            <a:endParaRPr/>
          </a:p>
          <a:p>
            <a:pPr indent="-298450" lvl="1" marL="914400" rtl="0" algn="l">
              <a:spcBef>
                <a:spcPts val="0"/>
              </a:spcBef>
              <a:spcAft>
                <a:spcPts val="0"/>
              </a:spcAft>
              <a:buSzPts val="1100"/>
              <a:buChar char="-"/>
            </a:pPr>
            <a:r>
              <a:rPr lang="en"/>
              <a:t>Value would be ns1.example.net (so the domain name of the name server that responds to DNS requests for example.com)</a:t>
            </a:r>
            <a:endParaRPr/>
          </a:p>
          <a:p>
            <a:pPr indent="-298450" lvl="0" marL="457200" rtl="0" algn="l">
              <a:spcBef>
                <a:spcPts val="0"/>
              </a:spcBef>
              <a:spcAft>
                <a:spcPts val="0"/>
              </a:spcAft>
              <a:buSzPts val="1100"/>
              <a:buChar char="-"/>
            </a:pPr>
            <a:r>
              <a:rPr lang="en"/>
              <a:t>We’ll see an example of the communication between these two in a bit!</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gdbb6a86e44_0_1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8" name="Google Shape;558;gdbb6a86e44_0_1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dbb6a86e44_0_9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5" name="Google Shape;565;gdbb6a86e44_0_9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If your record asks a question, then you put it in the question section</a:t>
            </a:r>
            <a:endParaRPr/>
          </a:p>
          <a:p>
            <a:pPr indent="-298450" lvl="1" marL="914400" rtl="0" algn="l">
              <a:spcBef>
                <a:spcPts val="0"/>
              </a:spcBef>
              <a:spcAft>
                <a:spcPts val="0"/>
              </a:spcAft>
              <a:buSzPts val="1100"/>
              <a:buChar char="-"/>
            </a:pPr>
            <a:r>
              <a:rPr lang="en"/>
              <a:t>If the query is “What is the IP address of eecs.berkeley.edu?” </a:t>
            </a:r>
            <a:endParaRPr/>
          </a:p>
          <a:p>
            <a:pPr indent="-298450" lvl="2" marL="1371600" rtl="0" algn="l">
              <a:spcBef>
                <a:spcPts val="0"/>
              </a:spcBef>
              <a:spcAft>
                <a:spcPts val="0"/>
              </a:spcAft>
              <a:buSzPts val="1100"/>
              <a:buChar char="-"/>
            </a:pPr>
            <a:r>
              <a:rPr lang="en"/>
              <a:t>Put eecs.berkeley.edu in the name and leave the value blank</a:t>
            </a:r>
            <a:endParaRPr/>
          </a:p>
          <a:p>
            <a:pPr indent="-298450" lvl="1" marL="914400" rtl="0" algn="l">
              <a:spcBef>
                <a:spcPts val="0"/>
              </a:spcBef>
              <a:spcAft>
                <a:spcPts val="0"/>
              </a:spcAft>
              <a:buSzPts val="1100"/>
              <a:buChar char="-"/>
            </a:pPr>
            <a:r>
              <a:rPr lang="en"/>
              <a:t>Can’t put this in English because it’s hopeless for the computer to understand that -&gt; write it in question section and they’ll know!</a:t>
            </a:r>
            <a:endParaRPr/>
          </a:p>
          <a:p>
            <a:pPr indent="-298450" lvl="0" marL="457200" rtl="0" algn="l">
              <a:spcBef>
                <a:spcPts val="0"/>
              </a:spcBef>
              <a:spcAft>
                <a:spcPts val="0"/>
              </a:spcAft>
              <a:buSzPts val="1100"/>
              <a:buChar char="-"/>
            </a:pPr>
            <a:r>
              <a:rPr lang="en"/>
              <a:t>Direct answer: If the name server knows the </a:t>
            </a:r>
            <a:r>
              <a:rPr lang="en"/>
              <a:t>answer</a:t>
            </a:r>
            <a:r>
              <a:rPr lang="en"/>
              <a:t> to the question, put that here!</a:t>
            </a:r>
            <a:endParaRPr/>
          </a:p>
          <a:p>
            <a:pPr indent="-298450" lvl="1" marL="914400" rtl="0" algn="l">
              <a:spcBef>
                <a:spcPts val="0"/>
              </a:spcBef>
              <a:spcAft>
                <a:spcPts val="0"/>
              </a:spcAft>
              <a:buSzPts val="1100"/>
              <a:buChar char="-"/>
            </a:pPr>
            <a:r>
              <a:rPr lang="en"/>
              <a:t>For </a:t>
            </a:r>
            <a:r>
              <a:rPr lang="en"/>
              <a:t>instance</a:t>
            </a:r>
            <a:r>
              <a:rPr lang="en"/>
              <a:t>, the berkeley.edu name server would know the IP address of eecs.berkeley.edu, but the .edu name server wouldn’t</a:t>
            </a:r>
            <a:endParaRPr/>
          </a:p>
          <a:p>
            <a:pPr indent="-298450" lvl="1" marL="914400" rtl="0" algn="l">
              <a:spcBef>
                <a:spcPts val="0"/>
              </a:spcBef>
              <a:spcAft>
                <a:spcPts val="0"/>
              </a:spcAft>
              <a:buSzPts val="1100"/>
              <a:buChar char="-"/>
            </a:pPr>
            <a:r>
              <a:rPr lang="en"/>
              <a:t>If you don’t know the answer,  leave it blank!</a:t>
            </a:r>
            <a:endParaRPr/>
          </a:p>
          <a:p>
            <a:pPr indent="-298450" lvl="1" marL="914400" rtl="0" algn="l">
              <a:spcBef>
                <a:spcPts val="0"/>
              </a:spcBef>
              <a:spcAft>
                <a:spcPts val="0"/>
              </a:spcAft>
              <a:buSzPts val="1100"/>
              <a:buChar char="-"/>
            </a:pPr>
            <a:r>
              <a:rPr lang="en"/>
              <a:t>Resolver only knows that there’s an answer if it’s put in the answer section</a:t>
            </a:r>
            <a:endParaRPr/>
          </a:p>
          <a:p>
            <a:pPr indent="0" lvl="0" marL="0" rtl="0" algn="l">
              <a:spcBef>
                <a:spcPts val="0"/>
              </a:spcBef>
              <a:spcAft>
                <a:spcPts val="0"/>
              </a:spcAft>
              <a:buNone/>
            </a:pPr>
            <a:r>
              <a:rPr lang="en"/>
              <a:t>What if you don’t know the answer?</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e686890ae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2" name="Google Shape;572;ge686890ae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Authority: “I don’t know, but ask them” -&gt; who’s them?</a:t>
            </a:r>
            <a:endParaRPr/>
          </a:p>
          <a:p>
            <a:pPr indent="-298450" lvl="1" marL="914400" rtl="0" algn="l">
              <a:spcBef>
                <a:spcPts val="0"/>
              </a:spcBef>
              <a:spcAft>
                <a:spcPts val="0"/>
              </a:spcAft>
              <a:buSzPts val="1100"/>
              <a:buChar char="-"/>
            </a:pPr>
            <a:r>
              <a:rPr lang="en"/>
              <a:t>Put those ns records in there</a:t>
            </a:r>
            <a:endParaRPr/>
          </a:p>
          <a:p>
            <a:pPr indent="-298450" lvl="1" marL="914400" rtl="0" algn="l">
              <a:spcBef>
                <a:spcPts val="0"/>
              </a:spcBef>
              <a:spcAft>
                <a:spcPts val="0"/>
              </a:spcAft>
              <a:buSzPts val="1100"/>
              <a:buChar char="-"/>
            </a:pPr>
            <a:r>
              <a:rPr lang="en"/>
              <a:t>For </a:t>
            </a:r>
            <a:r>
              <a:rPr lang="en"/>
              <a:t>instance</a:t>
            </a:r>
            <a:r>
              <a:rPr lang="en"/>
              <a:t>, the .edu server doesn’t know the </a:t>
            </a:r>
            <a:r>
              <a:rPr lang="en"/>
              <a:t>answer</a:t>
            </a:r>
            <a:r>
              <a:rPr lang="en"/>
              <a:t> to what the IP address of eecs.berkeley.edu is, but it’ll say “go to the berkeley.edu name servers, and here are their domains!”</a:t>
            </a:r>
            <a:endParaRPr/>
          </a:p>
          <a:p>
            <a:pPr indent="-298450" lvl="0" marL="457200" rtl="0" algn="l">
              <a:spcBef>
                <a:spcPts val="0"/>
              </a:spcBef>
              <a:spcAft>
                <a:spcPts val="0"/>
              </a:spcAft>
              <a:buSzPts val="1100"/>
              <a:buChar char="-"/>
            </a:pPr>
            <a:r>
              <a:rPr lang="en"/>
              <a:t>Additional: any other extra responses that you may or may not need</a:t>
            </a:r>
            <a:endParaRPr/>
          </a:p>
          <a:p>
            <a:pPr indent="0" lvl="0" marL="0" rtl="0" algn="l">
              <a:spcBef>
                <a:spcPts val="0"/>
              </a:spcBef>
              <a:spcAft>
                <a:spcPts val="0"/>
              </a:spcAft>
              <a:buNone/>
            </a:pPr>
            <a:r>
              <a:rPr lang="en"/>
              <a:t>Will make more sense when we see these in action!</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gdbb6a86e44_0_10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gdbb6a86e44_0_10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As a recursive resolver, I don’t want to ask the root the same question over and over again, so I’ll cache it!</a:t>
            </a:r>
            <a:endParaRPr/>
          </a:p>
          <a:p>
            <a:pPr indent="-298450" lvl="0" marL="457200" rtl="0" algn="l">
              <a:spcBef>
                <a:spcPts val="0"/>
              </a:spcBef>
              <a:spcAft>
                <a:spcPts val="0"/>
              </a:spcAft>
              <a:buSzPts val="1100"/>
              <a:buChar char="-"/>
            </a:pPr>
            <a:r>
              <a:rPr lang="en"/>
              <a:t>Cache is a big list of records - can scan through to find the IP of the domain you need to know!</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gdbb6a86e44_0_8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6" name="Google Shape;586;gdbb6a86e44_0_8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35 min - 1:15</a:t>
            </a:r>
            <a:endParaRPr/>
          </a:p>
          <a:p>
            <a:pPr indent="-298450" lvl="0" marL="457200" rtl="0" algn="l">
              <a:spcBef>
                <a:spcPts val="0"/>
              </a:spcBef>
              <a:spcAft>
                <a:spcPts val="0"/>
              </a:spcAft>
              <a:buSzPts val="1100"/>
              <a:buChar char="-"/>
            </a:pPr>
            <a:r>
              <a:rPr lang="en"/>
              <a:t>Adding +norecurse so DNS won’t give me all the answers. Want to walk step-by-step down the tree, step through the recursion myself!</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dbb6a86e44_0_8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dbb6a86e44_0_8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would like to know the IP address of eecs.berkeley.edu”</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dbb6a86e44_0_8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8" name="Google Shape;608;gdbb6a86e44_0_8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We can assume that everyone’s heard of Paul Vixie (since we’ve mentioned him at the start of lecture), everyone knows the root name server’s IP address</a:t>
            </a:r>
            <a:endParaRPr/>
          </a:p>
          <a:p>
            <a:pPr indent="-298450" lvl="0" marL="457200" rtl="0" algn="l">
              <a:spcBef>
                <a:spcPts val="0"/>
              </a:spcBef>
              <a:spcAft>
                <a:spcPts val="0"/>
              </a:spcAft>
              <a:buSzPts val="1100"/>
              <a:buChar char="-"/>
            </a:pPr>
            <a:r>
              <a:rPr lang="en"/>
              <a:t>It’s hard coded, public information</a:t>
            </a:r>
            <a:endParaRPr/>
          </a:p>
          <a:p>
            <a:pPr indent="-298450" lvl="0" marL="457200" rtl="0" algn="l">
              <a:spcBef>
                <a:spcPts val="0"/>
              </a:spcBef>
              <a:spcAft>
                <a:spcPts val="0"/>
              </a:spcAft>
              <a:buSzPts val="1100"/>
              <a:buChar char="-"/>
            </a:pPr>
            <a:r>
              <a:rPr lang="en"/>
              <a:t>Root can answer for everybody!</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dbb6a86e44_0_9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9" name="Google Shape;619;gdbb6a86e44_0_9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the answer we get back! (Almost) everything here is something you can read though! Let’s walk through it.</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gdbb6a86e44_0_9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0" name="Google Shape;630;gdbb6a86e44_0_9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dbb6a86e44_0_8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1" name="Google Shape;641;gdbb6a86e44_0_8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dbb6a86e44_0_8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dbb6a86e44_0_8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Computer chose 26114 when we made the request and we see that this response matches that!</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Flags (OOS): qr means query/response (set to 1 -&gt; this is a response)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We see 1 record in the query section, 0 in answer, 13 records in the authority section, and 27 records in the additional section</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dbb6a86e44_0_9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7" name="Google Shape;667;gdbb6a86e44_0_9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DNS payload!</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Now, we can dive into each specific section to walk through what those records in each section look like.</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gdbb6a86e44_0_9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8" name="Google Shape;678;gdbb6a86e44_0_9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We see one record in the question section (matches the header).</a:t>
            </a:r>
            <a:endParaRPr>
              <a:solidFill>
                <a:schemeClr val="dk1"/>
              </a:solidFill>
            </a:endParaRPr>
          </a:p>
          <a:p>
            <a:pPr indent="0" lvl="0" marL="0" rtl="0" algn="l">
              <a:spcBef>
                <a:spcPts val="0"/>
              </a:spcBef>
              <a:spcAft>
                <a:spcPts val="0"/>
              </a:spcAft>
              <a:buNone/>
            </a:pPr>
            <a:r>
              <a:rPr lang="en">
                <a:solidFill>
                  <a:schemeClr val="dk1"/>
                </a:solidFill>
              </a:rPr>
              <a:t>What’s the name-value pair of the record?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It’s an A record so it’s name-value pair is a domain name as the name and IP address as the value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Name is eecs.berkeley.edu (the domain name) and there’s no value (makes sense–otherwise we’d know the IP address).</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gdbb6a86e44_0_9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9" name="Google Shape;689;gdbb6a86e44_0_9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Answer section would come next, but it’s not there! We saw this coming </a:t>
            </a:r>
            <a:r>
              <a:rPr lang="en"/>
              <a:t>though–the count for answer was 0!</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dbb6a86e44_0_9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0" name="Google Shape;700;gdbb6a86e44_0_9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Remember in our lookups before we said “I don’t know, but my friend there the .edu server can help you better”. Here’s the packet version of that!</a:t>
            </a:r>
            <a:endParaRPr/>
          </a:p>
          <a:p>
            <a:pPr indent="-298450" lvl="0" marL="457200" rtl="0" algn="l">
              <a:spcBef>
                <a:spcPts val="0"/>
              </a:spcBef>
              <a:spcAft>
                <a:spcPts val="0"/>
              </a:spcAft>
              <a:buSzPts val="1100"/>
              <a:buChar char="-"/>
            </a:pPr>
            <a:r>
              <a:rPr lang="en"/>
              <a:t>At a high level, to find out how to get to the next name server that can help us, we need to know three things:</a:t>
            </a:r>
            <a:endParaRPr/>
          </a:p>
          <a:p>
            <a:pPr indent="-298450" lvl="1" marL="914400" rtl="0" algn="l">
              <a:spcBef>
                <a:spcPts val="0"/>
              </a:spcBef>
              <a:spcAft>
                <a:spcPts val="0"/>
              </a:spcAft>
              <a:buSzPts val="1100"/>
              <a:buChar char="-"/>
            </a:pPr>
            <a:r>
              <a:rPr lang="en"/>
              <a:t>Human-readable domain name of that name server (a.edu-servers.net)</a:t>
            </a:r>
            <a:endParaRPr/>
          </a:p>
          <a:p>
            <a:pPr indent="-298450" lvl="1" marL="914400" rtl="0" algn="l">
              <a:spcBef>
                <a:spcPts val="0"/>
              </a:spcBef>
              <a:spcAft>
                <a:spcPts val="0"/>
              </a:spcAft>
              <a:buSzPts val="1100"/>
              <a:buChar char="-"/>
            </a:pPr>
            <a:r>
              <a:rPr lang="en"/>
              <a:t>What </a:t>
            </a:r>
            <a:r>
              <a:rPr lang="en">
                <a:solidFill>
                  <a:schemeClr val="dk1"/>
                </a:solidFill>
              </a:rPr>
              <a:t>zone the name server is responsible for </a:t>
            </a:r>
            <a:r>
              <a:rPr lang="en"/>
              <a:t>(.edu)</a:t>
            </a:r>
            <a:endParaRPr/>
          </a:p>
          <a:p>
            <a:pPr indent="-298450" lvl="1" marL="914400" rtl="0" algn="l">
              <a:spcBef>
                <a:spcPts val="0"/>
              </a:spcBef>
              <a:spcAft>
                <a:spcPts val="0"/>
              </a:spcAft>
              <a:buSzPts val="1100"/>
              <a:buChar char="-"/>
            </a:pPr>
            <a:r>
              <a:rPr lang="en"/>
              <a:t>That name server’s IP address (192.5.6.30)</a:t>
            </a:r>
            <a:endParaRPr/>
          </a:p>
          <a:p>
            <a:pPr indent="-298450" lvl="1" marL="914400" rtl="0" algn="l">
              <a:spcBef>
                <a:spcPts val="0"/>
              </a:spcBef>
              <a:spcAft>
                <a:spcPts val="0"/>
              </a:spcAft>
              <a:buSzPts val="1100"/>
              <a:buChar char="-"/>
            </a:pPr>
            <a:r>
              <a:rPr lang="en">
                <a:solidFill>
                  <a:schemeClr val="dk1"/>
                </a:solidFill>
              </a:rPr>
              <a:t>Imperfect analogy: In an address book, if you don’t know someone: you’ll mark down their name (domain name), their address (IP address), and who they know (what that server is the name server for) so you can get to that final person!</a:t>
            </a:r>
            <a:endParaRPr/>
          </a:p>
          <a:p>
            <a:pPr indent="-298450" lvl="0" marL="457200" rtl="0" algn="l">
              <a:spcBef>
                <a:spcPts val="0"/>
              </a:spcBef>
              <a:spcAft>
                <a:spcPts val="0"/>
              </a:spcAft>
              <a:buSzPts val="1100"/>
              <a:buChar char="-"/>
            </a:pPr>
            <a:r>
              <a:rPr lang="en"/>
              <a:t>Everything’s a name-value pair, so how are we going to get 3 values? Write two records that repeat one </a:t>
            </a:r>
            <a:r>
              <a:rPr lang="en"/>
              <a:t>value</a:t>
            </a:r>
            <a:r>
              <a:rPr lang="en"/>
              <a:t> twice (the domain name of the name server)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All these domain name to IP value mappings are cached! Any later .edu request can now go directly to a .edu name server (any of the three) without needing to go through the root!</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dbb6a86e44_0_1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1" name="Google Shape;711;gdbb6a86e44_0_1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First record: NS record</a:t>
            </a:r>
            <a:endParaRPr/>
          </a:p>
          <a:p>
            <a:pPr indent="-298450" lvl="0" marL="457200" rtl="0" algn="l">
              <a:spcBef>
                <a:spcPts val="0"/>
              </a:spcBef>
              <a:spcAft>
                <a:spcPts val="0"/>
              </a:spcAft>
              <a:buSzPts val="1100"/>
              <a:buChar char="-"/>
            </a:pPr>
            <a:r>
              <a:rPr lang="en"/>
              <a:t>What do NS records store as a name-value pair? </a:t>
            </a:r>
            <a:endParaRPr/>
          </a:p>
          <a:p>
            <a:pPr indent="-298450" lvl="0" marL="457200" rtl="0" algn="l">
              <a:spcBef>
                <a:spcPts val="0"/>
              </a:spcBef>
              <a:spcAft>
                <a:spcPts val="0"/>
              </a:spcAft>
              <a:buSzPts val="1100"/>
              <a:buChar char="-"/>
            </a:pPr>
            <a:r>
              <a:rPr lang="en"/>
              <a:t>The name is what zone the name server is responsible for (for instance, .edu) and the value is the human-readable domain name of that name server (a.edu-servers.net)</a:t>
            </a:r>
            <a:endParaRPr/>
          </a:p>
          <a:p>
            <a:pPr indent="-298450" lvl="0" marL="457200" rtl="0" algn="l">
              <a:spcBef>
                <a:spcPts val="0"/>
              </a:spcBef>
              <a:spcAft>
                <a:spcPts val="0"/>
              </a:spcAft>
              <a:buSzPts val="1100"/>
              <a:buChar char="-"/>
            </a:pPr>
            <a:r>
              <a:rPr lang="en"/>
              <a:t>Trippy: a.edu-servers.net is literally just another server on the network. Just because it answers questions for .edu doesn’t mean it itself needs to be a .edu server!</a:t>
            </a:r>
            <a:endParaRPr/>
          </a:p>
          <a:p>
            <a:pPr indent="-298450" lvl="0" marL="457200" rtl="0" algn="l">
              <a:spcBef>
                <a:spcPts val="0"/>
              </a:spcBef>
              <a:spcAft>
                <a:spcPts val="0"/>
              </a:spcAft>
              <a:buSzPts val="1100"/>
              <a:buChar char="-"/>
            </a:pPr>
            <a:r>
              <a:rPr lang="en"/>
              <a:t>Why are there multiple provided? Redundancy!</a:t>
            </a:r>
            <a:endParaRPr/>
          </a:p>
          <a:p>
            <a:pPr indent="-298450" lvl="1" marL="914400" rtl="0" algn="l">
              <a:spcBef>
                <a:spcPts val="0"/>
              </a:spcBef>
              <a:spcAft>
                <a:spcPts val="0"/>
              </a:spcAft>
              <a:buSzPts val="1100"/>
              <a:buChar char="-"/>
            </a:pPr>
            <a:r>
              <a:rPr lang="en"/>
              <a:t>There are multiple of each name server also for sake of redundancy (just like there are multiple roots!)</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0" name="Shape 720"/>
        <p:cNvGrpSpPr/>
        <p:nvPr/>
      </p:nvGrpSpPr>
      <p:grpSpPr>
        <a:xfrm>
          <a:off x="0" y="0"/>
          <a:ext cx="0" cy="0"/>
          <a:chOff x="0" y="0"/>
          <a:chExt cx="0" cy="0"/>
        </a:xfrm>
      </p:grpSpPr>
      <p:sp>
        <p:nvSpPr>
          <p:cNvPr id="721" name="Google Shape;721;gdbb6a86e44_0_1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2" name="Google Shape;722;gdbb6a86e44_0_1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Second</a:t>
            </a:r>
            <a:r>
              <a:rPr lang="en">
                <a:solidFill>
                  <a:schemeClr val="dk1"/>
                </a:solidFill>
              </a:rPr>
              <a:t> record: A record</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We’ve gotten two pieces of information already–what zone the name server is responsible for and what the human-readable domain name of that name server was. We need to know the IP address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Luckily, we already have a record type that can give us the IP address attached to a domain name (used in the Question and Answer section)</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What do A records store as a name-value pair?  (Name: domain name (a.edu-servers.net), Value: IP address (192.5.6.30))</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Given this information, we know that the root is telling us “I don’t know what the IP address of eecs.berkeley.edu is, but I can tell you 3 things that will guide you towards a person who will have a better answer”</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Their domain name is a.edu-servers.net, and as a name server, their zone is .edu–they’re an expect for .edu!</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Their IP address is 192.5.6.30 (so contact them there!)</a:t>
            </a:r>
            <a:endParaRPr>
              <a:solidFill>
                <a:schemeClr val="dk1"/>
              </a:solidFill>
            </a:endParaRPr>
          </a:p>
          <a:p>
            <a:pPr indent="0" lvl="0" marL="0" rtl="0" algn="l">
              <a:spcBef>
                <a:spcPts val="0"/>
              </a:spcBef>
              <a:spcAft>
                <a:spcPts val="0"/>
              </a:spcAft>
              <a:buNone/>
            </a:pPr>
            <a:r>
              <a:rPr lang="en">
                <a:solidFill>
                  <a:schemeClr val="dk1"/>
                </a:solidFill>
              </a:rPr>
              <a:t>What happens if we only gave an NS record (and no A record)? Well, we’d have to go through the DNS query over again just for that name server (walkthrough)!</a:t>
            </a:r>
            <a:endParaRPr>
              <a:solidFill>
                <a:schemeClr val="dk1"/>
              </a:solidFill>
            </a:endParaRPr>
          </a:p>
          <a:p>
            <a:pPr indent="0" lvl="0" marL="0" rtl="0" algn="l">
              <a:spcBef>
                <a:spcPts val="0"/>
              </a:spcBef>
              <a:spcAft>
                <a:spcPts val="0"/>
              </a:spcAft>
              <a:buNone/>
            </a:pPr>
            <a:r>
              <a:rPr lang="en">
                <a:solidFill>
                  <a:schemeClr val="dk1"/>
                </a:solidFill>
              </a:rPr>
              <a:t>So, now that we know their IP address, let’s ask them next!</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dbb6a86e44_0_9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3" name="Google Shape;733;gdbb6a86e44_0_9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Same question, just asking someone different!</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dbb6a86e44_0_9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4" name="Google Shape;744;gdbb6a86e44_0_9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Similar answer</a:t>
            </a:r>
            <a:endParaRPr/>
          </a:p>
          <a:p>
            <a:pPr indent="-298450" lvl="0" marL="457200" rtl="0" algn="l">
              <a:spcBef>
                <a:spcPts val="0"/>
              </a:spcBef>
              <a:spcAft>
                <a:spcPts val="0"/>
              </a:spcAft>
              <a:buSzPts val="1100"/>
              <a:buChar char="-"/>
            </a:pPr>
            <a:r>
              <a:rPr lang="en"/>
              <a:t>Different ID number (different request technically since you’re asking someone different)</a:t>
            </a:r>
            <a:endParaRPr/>
          </a:p>
          <a:p>
            <a:pPr indent="-298450" lvl="0" marL="457200" rtl="0" algn="l">
              <a:spcBef>
                <a:spcPts val="0"/>
              </a:spcBef>
              <a:spcAft>
                <a:spcPts val="0"/>
              </a:spcAft>
              <a:buSzPts val="1100"/>
              <a:buChar char="-"/>
            </a:pPr>
            <a:r>
              <a:rPr lang="en"/>
              <a:t>Can look at counts and sections</a:t>
            </a:r>
            <a:endParaRPr/>
          </a:p>
          <a:p>
            <a:pPr indent="-298450" lvl="0" marL="457200" rtl="0" algn="l">
              <a:spcBef>
                <a:spcPts val="0"/>
              </a:spcBef>
              <a:spcAft>
                <a:spcPts val="0"/>
              </a:spcAft>
              <a:buSzPts val="1100"/>
              <a:buChar char="-"/>
            </a:pPr>
            <a:r>
              <a:rPr lang="en"/>
              <a:t>.edu server tells us “I don’t know, but ask a berkeley.edu name server. I’m providing three for you, all three are equally qualified!”</a:t>
            </a:r>
            <a:endParaRPr/>
          </a:p>
          <a:p>
            <a:pPr indent="-298450" lvl="1" marL="914400" rtl="0" algn="l">
              <a:spcBef>
                <a:spcPts val="0"/>
              </a:spcBef>
              <a:spcAft>
                <a:spcPts val="0"/>
              </a:spcAft>
              <a:buSzPts val="1100"/>
              <a:buChar char="-"/>
            </a:pPr>
            <a:r>
              <a:rPr lang="en"/>
              <a:t>Again, the .edu server provides three pieces of information:</a:t>
            </a:r>
            <a:endParaRPr/>
          </a:p>
          <a:p>
            <a:pPr indent="-298450" lvl="2" marL="1371600" rtl="0" algn="l">
              <a:spcBef>
                <a:spcPts val="0"/>
              </a:spcBef>
              <a:spcAft>
                <a:spcPts val="0"/>
              </a:spcAft>
              <a:buSzPts val="1100"/>
              <a:buChar char="-"/>
            </a:pPr>
            <a:r>
              <a:rPr lang="en"/>
              <a:t>Human-readable domain name for the name servers</a:t>
            </a:r>
            <a:endParaRPr/>
          </a:p>
          <a:p>
            <a:pPr indent="-298450" lvl="2" marL="1371600" rtl="0" algn="l">
              <a:spcBef>
                <a:spcPts val="0"/>
              </a:spcBef>
              <a:spcAft>
                <a:spcPts val="0"/>
              </a:spcAft>
              <a:buSzPts val="1100"/>
              <a:buChar char="-"/>
            </a:pPr>
            <a:r>
              <a:rPr lang="en"/>
              <a:t>Zones for which those name servers are responsible</a:t>
            </a:r>
            <a:endParaRPr/>
          </a:p>
          <a:p>
            <a:pPr indent="-298450" lvl="2" marL="1371600" rtl="0" algn="l">
              <a:spcBef>
                <a:spcPts val="0"/>
              </a:spcBef>
              <a:spcAft>
                <a:spcPts val="0"/>
              </a:spcAft>
              <a:buSzPts val="1100"/>
              <a:buChar char="-"/>
            </a:pPr>
            <a:r>
              <a:rPr lang="en"/>
              <a:t>IP addresses for where to find them!</a:t>
            </a:r>
            <a:endParaRPr/>
          </a:p>
          <a:p>
            <a:pPr indent="-298450" lvl="0" marL="457200" rtl="0" algn="l">
              <a:spcBef>
                <a:spcPts val="0"/>
              </a:spcBef>
              <a:spcAft>
                <a:spcPts val="0"/>
              </a:spcAft>
              <a:buSzPts val="1100"/>
              <a:buChar char="-"/>
            </a:pPr>
            <a:r>
              <a:rPr lang="en"/>
              <a:t>Pick one, and continue down your recursive query!</a:t>
            </a:r>
            <a:endParaRPr/>
          </a:p>
          <a:p>
            <a:pPr indent="-298450" lvl="0" marL="457200" rtl="0" algn="l">
              <a:spcBef>
                <a:spcPts val="0"/>
              </a:spcBef>
              <a:spcAft>
                <a:spcPts val="0"/>
              </a:spcAft>
              <a:buSzPts val="1100"/>
              <a:buChar char="-"/>
            </a:pPr>
            <a:r>
              <a:rPr lang="en">
                <a:solidFill>
                  <a:schemeClr val="dk1"/>
                </a:solidFill>
              </a:rPr>
              <a:t>All these domain name to IP value mappings are cached! Any later berkeley.edu request can now go directly to a berkeley.edu name server (any of the three) without needing to go through the root!</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gdbb6a86e44_0_10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2" name="Google Shape;752;gdbb6a86e44_0_10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dbb6a86e44_0_10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3" name="Google Shape;763;gdbb6a86e44_0_10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ANSWER = 1 SLAYYY!!</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dbb6a86e44_0_10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4" name="Google Shape;774;gdbb6a86e44_0_10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TTL = 24 hours</a:t>
            </a:r>
            <a:endParaRPr>
              <a:solidFill>
                <a:schemeClr val="dk1"/>
              </a:solidFill>
            </a:endParaRPr>
          </a:p>
          <a:p>
            <a:pPr indent="0" lvl="0" marL="0" rtl="0" algn="l">
              <a:spcBef>
                <a:spcPts val="0"/>
              </a:spcBef>
              <a:spcAft>
                <a:spcPts val="0"/>
              </a:spcAft>
              <a:buNone/>
            </a:pPr>
            <a:r>
              <a:rPr lang="en">
                <a:solidFill>
                  <a:schemeClr val="dk1"/>
                </a:solidFill>
              </a:rPr>
              <a:t>Cached :)</a:t>
            </a:r>
            <a:endParaRPr>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2edf4fd8f1d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5" name="Google Shape;785;g2edf4fd8f1d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"canonical name" (CNAME) record points from an alias domain to a "canonical" domain. A CNAME record is used in lieu of an A record, when a domain or subdomain is an alias of another domain.”</a:t>
            </a:r>
            <a:endParaRPr/>
          </a:p>
          <a:p>
            <a:pPr indent="0" lvl="0" marL="0" rtl="0" algn="l">
              <a:spcBef>
                <a:spcPts val="0"/>
              </a:spcBef>
              <a:spcAft>
                <a:spcPts val="0"/>
              </a:spcAft>
              <a:buNone/>
            </a:pPr>
            <a:r>
              <a:rPr lang="en" u="sng">
                <a:solidFill>
                  <a:schemeClr val="hlink"/>
                </a:solidFill>
                <a:hlinkClick r:id="rId2"/>
              </a:rPr>
              <a:t>https://www.cloudflare.com/learning/dns/dns-records/dns-cname-record/</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8.8.8.8 (operated by Google) recursive resolver..</a:t>
            </a:r>
            <a:endParaRPr/>
          </a:p>
          <a:p>
            <a:pPr indent="0" lvl="0" marL="0" rtl="0" algn="l">
              <a:spcBef>
                <a:spcPts val="0"/>
              </a:spcBef>
              <a:spcAft>
                <a:spcPts val="0"/>
              </a:spcAft>
              <a:buNone/>
            </a:pPr>
            <a:r>
              <a:rPr lang="en"/>
              <a:t>You can query a common Google.com recursive resolver yourself!</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dbb6a86e44_0_10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3" name="Google Shape;793;gdbb6a86e44_0_10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45</a:t>
            </a:r>
            <a:r>
              <a:rPr lang="en"/>
              <a:t> min - 1:25</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gdbb6a86e44_0_1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9" name="Google Shape;799;gdbb6a86e44_0_1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All DNS attacks kind of have the same flavor: they’re attacking the cache!</a:t>
            </a:r>
            <a:endParaRPr/>
          </a:p>
          <a:p>
            <a:pPr indent="-298450" lvl="0" marL="457200" rtl="0" algn="l">
              <a:spcBef>
                <a:spcPts val="0"/>
              </a:spcBef>
              <a:spcAft>
                <a:spcPts val="0"/>
              </a:spcAft>
              <a:buSzPts val="1100"/>
              <a:buChar char="-"/>
            </a:pPr>
            <a:r>
              <a:rPr lang="en"/>
              <a:t>Why? Poisoning the cache has the ability to cause the client to mess up (and potentially for a while since the value is cached!)</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dbb6a86e44_0_1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6" name="Google Shape;806;gdbb6a86e44_0_1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 attacker can hack a name server… uh oh! Here’s an attacker in our threat model</a:t>
            </a:r>
            <a:endParaRPr/>
          </a:p>
          <a:p>
            <a:pPr indent="-298450" lvl="0" marL="457200" rtl="0" algn="l">
              <a:spcBef>
                <a:spcPts val="0"/>
              </a:spcBef>
              <a:spcAft>
                <a:spcPts val="0"/>
              </a:spcAft>
              <a:buSzPts val="1100"/>
              <a:buChar char="-"/>
            </a:pPr>
            <a:r>
              <a:rPr lang="en"/>
              <a:t>Other people send them requests and malicious name servers can lie</a:t>
            </a:r>
            <a:endParaRPr/>
          </a:p>
          <a:p>
            <a:pPr indent="-298450" lvl="0" marL="457200" rtl="0" algn="l">
              <a:spcBef>
                <a:spcPts val="0"/>
              </a:spcBef>
              <a:spcAft>
                <a:spcPts val="0"/>
              </a:spcAft>
              <a:buSzPts val="1100"/>
              <a:buChar char="-"/>
            </a:pPr>
            <a:r>
              <a:rPr lang="en"/>
              <a:t>The interesting thing is in a request for the IP address for eecs.berkeley.edu, the malicious name server can give the right or wrong answer, but something else they can do is provide answers records to other domains</a:t>
            </a:r>
            <a:endParaRPr/>
          </a:p>
          <a:p>
            <a:pPr indent="-298450" lvl="1" marL="914400" rtl="0" algn="l">
              <a:spcBef>
                <a:spcPts val="0"/>
              </a:spcBef>
              <a:spcAft>
                <a:spcPts val="0"/>
              </a:spcAft>
              <a:buSzPts val="1100"/>
              <a:buChar char="-"/>
            </a:pPr>
            <a:r>
              <a:rPr lang="en"/>
              <a:t>Those requests would be cached</a:t>
            </a:r>
            <a:endParaRPr/>
          </a:p>
          <a:p>
            <a:pPr indent="-298450" lvl="1" marL="914400" rtl="0" algn="l">
              <a:spcBef>
                <a:spcPts val="0"/>
              </a:spcBef>
              <a:spcAft>
                <a:spcPts val="0"/>
              </a:spcAft>
              <a:buSzPts val="1100"/>
              <a:buChar char="-"/>
            </a:pPr>
            <a:r>
              <a:rPr lang="en"/>
              <a:t>If the attacker’s IP is 6.6.6.6, they’ve now become a MITM for any requests sent to </a:t>
            </a:r>
            <a:r>
              <a:rPr lang="en" u="sng">
                <a:solidFill>
                  <a:schemeClr val="hlink"/>
                </a:solidFill>
                <a:hlinkClick r:id="rId2"/>
              </a:rPr>
              <a:t>www.google.com</a:t>
            </a:r>
            <a:endParaRPr/>
          </a:p>
          <a:p>
            <a:pPr indent="-298450" lvl="0" marL="457200" rtl="0" algn="l">
              <a:spcBef>
                <a:spcPts val="0"/>
              </a:spcBef>
              <a:spcAft>
                <a:spcPts val="0"/>
              </a:spcAft>
              <a:buSzPts val="1100"/>
              <a:buChar char="-"/>
            </a:pPr>
            <a:r>
              <a:rPr lang="en"/>
              <a:t>The malicious name server can poison whatever it wants, but doesn’t this look weird? </a:t>
            </a:r>
            <a:r>
              <a:rPr lang="en">
                <a:solidFill>
                  <a:schemeClr val="dk1"/>
                </a:solidFill>
              </a:rPr>
              <a:t>If this is the response we get for eecs.berkeley.edu, why does it contain a </a:t>
            </a:r>
            <a:r>
              <a:rPr lang="en" u="sng">
                <a:solidFill>
                  <a:schemeClr val="hlink"/>
                </a:solidFill>
                <a:hlinkClick r:id="rId3"/>
              </a:rPr>
              <a:t>www.google.com</a:t>
            </a:r>
            <a:r>
              <a:rPr lang="en">
                <a:solidFill>
                  <a:schemeClr val="dk1"/>
                </a:solidFill>
              </a:rPr>
              <a:t> answer?</a:t>
            </a:r>
            <a:endParaRPr>
              <a:solidFill>
                <a:schemeClr val="dk1"/>
              </a:solidFill>
            </a:endParaRPr>
          </a:p>
          <a:p>
            <a:pPr indent="-298450" lvl="1" marL="914400" rtl="0" algn="l">
              <a:spcBef>
                <a:spcPts val="0"/>
              </a:spcBef>
              <a:spcAft>
                <a:spcPts val="0"/>
              </a:spcAft>
              <a:buSzPts val="1100"/>
              <a:buChar char="-"/>
            </a:pPr>
            <a:r>
              <a:rPr lang="en"/>
              <a:t>Sus -&gt; we should do something about that! berkeley.edu name server shouldn’t be able to provide an answer for </a:t>
            </a:r>
            <a:r>
              <a:rPr lang="en" u="sng">
                <a:solidFill>
                  <a:schemeClr val="hlink"/>
                </a:solidFill>
                <a:hlinkClick r:id="rId4"/>
              </a:rPr>
              <a:t>www.google.com</a:t>
            </a:r>
            <a:r>
              <a:rPr lang="en"/>
              <a:t> (since it’s not in its zone!)</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gdbb6a86e44_0_1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2" name="Google Shape;822;gdbb6a86e44_0_1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Resolver-side check!</a:t>
            </a:r>
            <a:endParaRPr/>
          </a:p>
          <a:p>
            <a:pPr indent="-298450" lvl="0" marL="457200" rtl="0" algn="l">
              <a:spcBef>
                <a:spcPts val="0"/>
              </a:spcBef>
              <a:spcAft>
                <a:spcPts val="0"/>
              </a:spcAft>
              <a:buSzPts val="1100"/>
              <a:buChar char="-"/>
            </a:pPr>
            <a:r>
              <a:rPr lang="en"/>
              <a:t>Kind of like a bailiwick (bay-lee-wick ashley not bah-lee-wick)</a:t>
            </a:r>
            <a:endParaRPr/>
          </a:p>
          <a:p>
            <a:pPr indent="-298450" lvl="1" marL="914400" rtl="0" algn="l">
              <a:spcBef>
                <a:spcPts val="0"/>
              </a:spcBef>
              <a:spcAft>
                <a:spcPts val="0"/>
              </a:spcAft>
              <a:buSzPts val="1100"/>
              <a:buChar char="-"/>
            </a:pPr>
            <a:r>
              <a:rPr lang="en"/>
              <a:t>Bailiwick in law is the district of a bailiff</a:t>
            </a:r>
            <a:endParaRPr/>
          </a:p>
          <a:p>
            <a:pPr indent="-298450" lvl="0" marL="457200" rtl="0" algn="l">
              <a:spcBef>
                <a:spcPts val="0"/>
              </a:spcBef>
              <a:spcAft>
                <a:spcPts val="0"/>
              </a:spcAft>
              <a:buSzPts val="1100"/>
              <a:buChar char="-"/>
            </a:pPr>
            <a:r>
              <a:rPr lang="en"/>
              <a:t>It shows that each of the name servers have </a:t>
            </a:r>
            <a:r>
              <a:rPr lang="en"/>
              <a:t>their own zones (ie: .edu can answer for berkeley.edu, mit.edu, but not google.com) which is what they know and understand, but they shouldn't be able to answer for anyone else!</a:t>
            </a:r>
            <a:endParaRPr/>
          </a:p>
          <a:p>
            <a:pPr indent="-298450" lvl="0" marL="457200" rtl="0" algn="l">
              <a:spcBef>
                <a:spcPts val="0"/>
              </a:spcBef>
              <a:spcAft>
                <a:spcPts val="0"/>
              </a:spcAft>
              <a:buClr>
                <a:schemeClr val="dk1"/>
              </a:buClr>
              <a:buSzPts val="1100"/>
              <a:buChar char="-"/>
            </a:pPr>
            <a:r>
              <a:rPr lang="en">
                <a:solidFill>
                  <a:schemeClr val="dk1"/>
                </a:solidFill>
              </a:rPr>
              <a:t>It’s like if I started giving you a 186 lecture (i’m not qualified for that!)</a:t>
            </a:r>
            <a:endParaRPr>
              <a:solidFill>
                <a:schemeClr val="dk1"/>
              </a:solidFill>
            </a:endParaRPr>
          </a:p>
          <a:p>
            <a:pPr indent="-298450" lvl="1" marL="914400" rtl="0" algn="l">
              <a:spcBef>
                <a:spcPts val="0"/>
              </a:spcBef>
              <a:spcAft>
                <a:spcPts val="0"/>
              </a:spcAft>
              <a:buSzPts val="1100"/>
              <a:buChar char="-"/>
            </a:pPr>
            <a:r>
              <a:rPr lang="en"/>
              <a:t>You wouldn’t ask me about 162 or 186 content since I’m not qualified to teach you about that</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g257015075e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9" name="Google Shape;829;g257015075e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Okay, what about our network attackers?</a:t>
            </a:r>
            <a:endParaRPr/>
          </a:p>
          <a:p>
            <a:pPr indent="-298450" lvl="0" marL="457200" rtl="0" algn="l">
              <a:spcBef>
                <a:spcPts val="0"/>
              </a:spcBef>
              <a:spcAft>
                <a:spcPts val="0"/>
              </a:spcAft>
              <a:buSzPts val="1100"/>
              <a:buChar char="-"/>
            </a:pPr>
            <a:r>
              <a:rPr lang="en"/>
              <a:t>Let’s think about </a:t>
            </a:r>
            <a:r>
              <a:rPr lang="en"/>
              <a:t>our</a:t>
            </a:r>
            <a:r>
              <a:rPr lang="en"/>
              <a:t> MITM: they can read and modify packets</a:t>
            </a:r>
            <a:endParaRPr/>
          </a:p>
          <a:p>
            <a:pPr indent="-298450" lvl="0" marL="457200" rtl="0" algn="l">
              <a:spcBef>
                <a:spcPts val="0"/>
              </a:spcBef>
              <a:spcAft>
                <a:spcPts val="0"/>
              </a:spcAft>
              <a:buSzPts val="1100"/>
              <a:buChar char="-"/>
            </a:pPr>
            <a:r>
              <a:rPr lang="en"/>
              <a:t>DNS is not secure (no cryptography, no confidentiality or integrity)</a:t>
            </a:r>
            <a:endParaRPr/>
          </a:p>
          <a:p>
            <a:pPr indent="-298450" lvl="0" marL="457200" rtl="0" algn="l">
              <a:spcBef>
                <a:spcPts val="0"/>
              </a:spcBef>
              <a:spcAft>
                <a:spcPts val="0"/>
              </a:spcAft>
              <a:buSzPts val="1100"/>
              <a:buChar char="-"/>
            </a:pPr>
            <a:r>
              <a:rPr lang="en"/>
              <a:t>There’s nothing you can do to stop MITM</a:t>
            </a:r>
            <a:endParaRPr/>
          </a:p>
          <a:p>
            <a:pPr indent="-298450" lvl="1" marL="914400" rtl="0" algn="l">
              <a:spcBef>
                <a:spcPts val="0"/>
              </a:spcBef>
              <a:spcAft>
                <a:spcPts val="0"/>
              </a:spcAft>
              <a:buSzPts val="1100"/>
              <a:buChar char="-"/>
            </a:pPr>
            <a:r>
              <a:rPr lang="en"/>
              <a:t>Bailiwick can stop random records being added, but cannot stop attackers from </a:t>
            </a:r>
            <a:r>
              <a:rPr lang="en"/>
              <a:t>changing</a:t>
            </a:r>
            <a:r>
              <a:rPr lang="en"/>
              <a:t> the records there!</a:t>
            </a:r>
            <a:endParaRPr/>
          </a:p>
          <a:p>
            <a:pPr indent="-298450" lvl="0" marL="457200" rtl="0" algn="l">
              <a:spcBef>
                <a:spcPts val="0"/>
              </a:spcBef>
              <a:spcAft>
                <a:spcPts val="0"/>
              </a:spcAft>
              <a:buSzPts val="1100"/>
              <a:buChar char="-"/>
            </a:pPr>
            <a:r>
              <a:rPr lang="en"/>
              <a:t>Kind of </a:t>
            </a:r>
            <a:r>
              <a:rPr lang="en"/>
              <a:t>cooked :’)</a:t>
            </a:r>
            <a:endParaRPr/>
          </a:p>
          <a:p>
            <a:pPr indent="-298450" lvl="0" marL="457200" rtl="0" algn="l">
              <a:spcBef>
                <a:spcPts val="0"/>
              </a:spcBef>
              <a:spcAft>
                <a:spcPts val="0"/>
              </a:spcAft>
              <a:buSzPts val="1100"/>
              <a:buChar char="-"/>
            </a:pPr>
            <a:r>
              <a:rPr lang="en"/>
              <a:t>We’ll dive into this next time with DNSSEC</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gdbb6a86e44_0_10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8" name="Google Shape;838;gdbb6a86e44_0_10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What about on-path attackers?</a:t>
            </a:r>
            <a:endParaRPr/>
          </a:p>
          <a:p>
            <a:pPr indent="-298450" lvl="1" marL="914400" rtl="0" algn="l">
              <a:spcBef>
                <a:spcPts val="0"/>
              </a:spcBef>
              <a:spcAft>
                <a:spcPts val="0"/>
              </a:spcAft>
              <a:buSzPts val="1100"/>
              <a:buChar char="-"/>
            </a:pPr>
            <a:r>
              <a:rPr lang="en"/>
              <a:t>Attackers can spoof a response</a:t>
            </a:r>
            <a:endParaRPr/>
          </a:p>
          <a:p>
            <a:pPr indent="-298450" lvl="1" marL="914400" rtl="0" algn="l">
              <a:spcBef>
                <a:spcPts val="0"/>
              </a:spcBef>
              <a:spcAft>
                <a:spcPts val="0"/>
              </a:spcAft>
              <a:buSzPts val="1100"/>
              <a:buChar char="-"/>
            </a:pPr>
            <a:r>
              <a:rPr lang="en"/>
              <a:t>Race condition, however, they can see every field in an unencrypted DNS request</a:t>
            </a:r>
            <a:endParaRPr/>
          </a:p>
          <a:p>
            <a:pPr indent="-298450" lvl="1" marL="914400" rtl="0" algn="l">
              <a:spcBef>
                <a:spcPts val="0"/>
              </a:spcBef>
              <a:spcAft>
                <a:spcPts val="0"/>
              </a:spcAft>
              <a:buSzPts val="1100"/>
              <a:buChar char="-"/>
            </a:pPr>
            <a:r>
              <a:rPr lang="en"/>
              <a:t>If malicious response arrives before the actual one, the recursive resolver is only expecting one so they’ll cache it</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gdbb6a86e44_0_10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9" name="Google Shape;859;gdbb6a86e44_0_10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What about our off-path attackers?</a:t>
            </a:r>
            <a:endParaRPr/>
          </a:p>
          <a:p>
            <a:pPr indent="-298450" lvl="1" marL="914400" rtl="0" algn="l">
              <a:spcBef>
                <a:spcPts val="0"/>
              </a:spcBef>
              <a:spcAft>
                <a:spcPts val="0"/>
              </a:spcAft>
              <a:buSzPts val="1100"/>
              <a:buChar char="-"/>
            </a:pPr>
            <a:r>
              <a:rPr lang="en"/>
              <a:t>Everyone can spoof, but they need to accurately guess ID</a:t>
            </a:r>
            <a:endParaRPr/>
          </a:p>
          <a:p>
            <a:pPr indent="-298450" lvl="2" marL="1371600" rtl="0" algn="l">
              <a:spcBef>
                <a:spcPts val="0"/>
              </a:spcBef>
              <a:spcAft>
                <a:spcPts val="0"/>
              </a:spcAft>
              <a:buSzPts val="1100"/>
              <a:buChar char="-"/>
            </a:pPr>
            <a:r>
              <a:rPr lang="en"/>
              <a:t>Like TCP sequence numbers need to be accurately guessed in injection attacks</a:t>
            </a:r>
            <a:endParaRPr/>
          </a:p>
          <a:p>
            <a:pPr indent="-298450" lvl="2" marL="1371600" rtl="0" algn="l">
              <a:spcBef>
                <a:spcPts val="0"/>
              </a:spcBef>
              <a:spcAft>
                <a:spcPts val="0"/>
              </a:spcAft>
              <a:buSzPts val="1100"/>
              <a:buChar char="-"/>
            </a:pPr>
            <a:r>
              <a:rPr lang="en"/>
              <a:t>This is why the ID should be random! We want to make the off-path attackers’ lives a little harder</a:t>
            </a:r>
            <a:endParaRPr/>
          </a:p>
          <a:p>
            <a:pPr indent="-298450" lvl="1" marL="914400" rtl="0" algn="l">
              <a:spcBef>
                <a:spcPts val="0"/>
              </a:spcBef>
              <a:spcAft>
                <a:spcPts val="0"/>
              </a:spcAft>
              <a:buSzPts val="1100"/>
              <a:buChar char="-"/>
            </a:pPr>
            <a:r>
              <a:rPr lang="en"/>
              <a:t>If I make a DNS query with ID 161, if the response has “Well, the answer to the DNS query with ID 427 is…” well.. the recursive resolver will reject it because the IDs didn’t match!</a:t>
            </a:r>
            <a:endParaRPr/>
          </a:p>
          <a:p>
            <a:pPr indent="-298450" lvl="1" marL="914400" rtl="0" algn="l">
              <a:spcBef>
                <a:spcPts val="0"/>
              </a:spcBef>
              <a:spcAft>
                <a:spcPts val="0"/>
              </a:spcAft>
              <a:buSzPts val="1100"/>
              <a:buChar char="-"/>
            </a:pPr>
            <a:r>
              <a:rPr lang="en"/>
              <a:t>They also have a race condition</a:t>
            </a:r>
            <a:endParaRPr/>
          </a:p>
          <a:p>
            <a:pPr indent="-298450" lvl="1" marL="914400" rtl="0" algn="l">
              <a:spcBef>
                <a:spcPts val="0"/>
              </a:spcBef>
              <a:spcAft>
                <a:spcPts val="0"/>
              </a:spcAft>
              <a:buSzPts val="1100"/>
              <a:buChar char="-"/>
            </a:pPr>
            <a:r>
              <a:rPr lang="en"/>
              <a:t>1 in 65,000 is a lot smaller than our normal threshold of </a:t>
            </a:r>
            <a:r>
              <a:rPr lang="en"/>
              <a:t>1/2</a:t>
            </a:r>
            <a:r>
              <a:rPr lang="en"/>
              <a:t>^80, or common </a:t>
            </a:r>
            <a:r>
              <a:rPr lang="en"/>
              <a:t>1/2</a:t>
            </a:r>
            <a:r>
              <a:rPr lang="en"/>
              <a:t>^256 (values the NSA doesn’t worry about)</a:t>
            </a:r>
            <a:endParaRPr/>
          </a:p>
          <a:p>
            <a:pPr indent="-298450" lvl="2" marL="1371600" rtl="0" algn="l">
              <a:spcBef>
                <a:spcPts val="0"/>
              </a:spcBef>
              <a:spcAft>
                <a:spcPts val="0"/>
              </a:spcAft>
              <a:buSzPts val="1100"/>
              <a:buChar char="-"/>
            </a:pPr>
            <a:r>
              <a:rPr lang="en"/>
              <a:t>65,000 is too small -&gt; so it’s actually possible and pretty likely they can eventually spoof!</a:t>
            </a:r>
            <a:endParaRPr/>
          </a:p>
          <a:p>
            <a:pPr indent="-298450" lvl="2" marL="1371600" rtl="0" algn="l">
              <a:spcBef>
                <a:spcPts val="0"/>
              </a:spcBef>
              <a:spcAft>
                <a:spcPts val="0"/>
              </a:spcAft>
              <a:buSzPts val="1100"/>
              <a:buChar char="-"/>
            </a:pPr>
            <a:r>
              <a:rPr lang="en"/>
              <a:t>This is something we actually really worry about! This doesn’t fly in our threat model.</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gdbb6a86e44_0_10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0" name="Google Shape;870;gdbb6a86e44_0_10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gdbb6a86e44_0_1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7" name="Google Shape;877;gdbb6a86e44_0_1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 hr - 1:40</a:t>
            </a:r>
            <a:endParaRPr/>
          </a:p>
          <a:p>
            <a:pPr indent="-298450" lvl="0" marL="457200" rtl="0" algn="l">
              <a:spcBef>
                <a:spcPts val="0"/>
              </a:spcBef>
              <a:spcAft>
                <a:spcPts val="0"/>
              </a:spcAft>
              <a:buSzPts val="1100"/>
              <a:buChar char="-"/>
            </a:pPr>
            <a:r>
              <a:rPr lang="en"/>
              <a:t>You can change the race condition: you can now try as many times as you want without being locked out.</a:t>
            </a:r>
            <a:endParaRPr/>
          </a:p>
          <a:p>
            <a:pPr indent="-298450" lvl="1" marL="914400" rtl="0" algn="l">
              <a:spcBef>
                <a:spcPts val="0"/>
              </a:spcBef>
              <a:spcAft>
                <a:spcPts val="0"/>
              </a:spcAft>
              <a:buSzPts val="1100"/>
              <a:buChar char="-"/>
            </a:pPr>
            <a:r>
              <a:rPr lang="en"/>
              <a:t>A core problem is that if you lose the race condition, you have to wait for that cached response to expire</a:t>
            </a:r>
            <a:endParaRPr/>
          </a:p>
          <a:p>
            <a:pPr indent="-298450" lvl="0" marL="457200" rtl="0" algn="l">
              <a:spcBef>
                <a:spcPts val="0"/>
              </a:spcBef>
              <a:spcAft>
                <a:spcPts val="0"/>
              </a:spcAft>
              <a:buClr>
                <a:schemeClr val="dk1"/>
              </a:buClr>
              <a:buSzPts val="1100"/>
              <a:buChar char="-"/>
            </a:pPr>
            <a:r>
              <a:rPr lang="en">
                <a:solidFill>
                  <a:schemeClr val="dk1"/>
                </a:solidFill>
              </a:rPr>
              <a:t>We’re kind of screwed against in-path and on-path attackers right now (come back when we talk about DNSSEC to fix that)</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Off-path attacker needs to win the race condition and to guess the ID number correctly in order to poison the cache.</a:t>
            </a:r>
            <a:endParaRPr>
              <a:solidFill>
                <a:schemeClr val="dk1"/>
              </a:solidFill>
            </a:endParaRPr>
          </a:p>
          <a:p>
            <a:pPr indent="-298450" lvl="1" marL="914400" rtl="0" algn="l">
              <a:spcBef>
                <a:spcPts val="0"/>
              </a:spcBef>
              <a:spcAft>
                <a:spcPts val="0"/>
              </a:spcAft>
              <a:buClr>
                <a:schemeClr val="dk1"/>
              </a:buClr>
              <a:buSzPts val="1100"/>
              <a:buChar char="-"/>
            </a:pPr>
            <a:r>
              <a:rPr lang="en">
                <a:solidFill>
                  <a:schemeClr val="dk1"/>
                </a:solidFill>
              </a:rPr>
              <a:t>What happens if the off-path attacker loses?</a:t>
            </a:r>
            <a:endParaRPr>
              <a:solidFill>
                <a:schemeClr val="dk1"/>
              </a:solidFill>
            </a:endParaRPr>
          </a:p>
          <a:p>
            <a:pPr indent="-298450" lvl="2" marL="1371600" rtl="0" algn="l">
              <a:spcBef>
                <a:spcPts val="0"/>
              </a:spcBef>
              <a:spcAft>
                <a:spcPts val="0"/>
              </a:spcAft>
              <a:buClr>
                <a:schemeClr val="dk1"/>
              </a:buClr>
              <a:buSzPts val="1100"/>
              <a:buChar char="-"/>
            </a:pPr>
            <a:r>
              <a:rPr lang="en">
                <a:solidFill>
                  <a:schemeClr val="dk1"/>
                </a:solidFill>
              </a:rPr>
              <a:t>They guess the ID wrong or they lose the race condition</a:t>
            </a:r>
            <a:endParaRPr>
              <a:solidFill>
                <a:schemeClr val="dk1"/>
              </a:solidFill>
            </a:endParaRPr>
          </a:p>
          <a:p>
            <a:pPr indent="-298450" lvl="2" marL="1371600" rtl="0" algn="l">
              <a:spcBef>
                <a:spcPts val="0"/>
              </a:spcBef>
              <a:spcAft>
                <a:spcPts val="0"/>
              </a:spcAft>
              <a:buClr>
                <a:schemeClr val="dk1"/>
              </a:buClr>
              <a:buSzPts val="1100"/>
              <a:buChar char="-"/>
            </a:pPr>
            <a:r>
              <a:rPr lang="en">
                <a:solidFill>
                  <a:schemeClr val="dk1"/>
                </a:solidFill>
              </a:rPr>
              <a:t>In both cases, the attacker’s response is rejected and the real answer is accepted and cached</a:t>
            </a:r>
            <a:endParaRPr>
              <a:solidFill>
                <a:schemeClr val="dk1"/>
              </a:solidFill>
            </a:endParaRPr>
          </a:p>
          <a:p>
            <a:pPr indent="-298450" lvl="3" marL="1828800" rtl="0" algn="l">
              <a:spcBef>
                <a:spcPts val="0"/>
              </a:spcBef>
              <a:spcAft>
                <a:spcPts val="0"/>
              </a:spcAft>
              <a:buClr>
                <a:schemeClr val="dk1"/>
              </a:buClr>
              <a:buSzPts val="1100"/>
              <a:buChar char="-"/>
            </a:pPr>
            <a:r>
              <a:rPr lang="en">
                <a:solidFill>
                  <a:schemeClr val="dk1"/>
                </a:solidFill>
              </a:rPr>
              <a:t>This means the recursive resolver, until the record expires, will not even attempt a DNS query, it’ll just look in the cache and find its answer</a:t>
            </a:r>
            <a:endParaRPr>
              <a:solidFill>
                <a:schemeClr val="dk1"/>
              </a:solidFill>
            </a:endParaRPr>
          </a:p>
          <a:p>
            <a:pPr indent="-298450" lvl="4" marL="2286000" rtl="0" algn="l">
              <a:spcBef>
                <a:spcPts val="0"/>
              </a:spcBef>
              <a:spcAft>
                <a:spcPts val="0"/>
              </a:spcAft>
              <a:buClr>
                <a:schemeClr val="dk1"/>
              </a:buClr>
              <a:buSzPts val="1100"/>
              <a:buChar char="-"/>
            </a:pPr>
            <a:r>
              <a:rPr lang="en">
                <a:solidFill>
                  <a:schemeClr val="dk1"/>
                </a:solidFill>
              </a:rPr>
              <a:t>No racing anymore until you have to race -&gt; it’s like an extremely harsh timeout (this is why people were comfortable with small numbers like 2^16 and 2^32)</a:t>
            </a:r>
            <a:endParaRPr>
              <a:solidFill>
                <a:schemeClr val="dk1"/>
              </a:solidFil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2" name="Shape 882"/>
        <p:cNvGrpSpPr/>
        <p:nvPr/>
      </p:nvGrpSpPr>
      <p:grpSpPr>
        <a:xfrm>
          <a:off x="0" y="0"/>
          <a:ext cx="0" cy="0"/>
          <a:chOff x="0" y="0"/>
          <a:chExt cx="0" cy="0"/>
        </a:xfrm>
      </p:grpSpPr>
      <p:sp>
        <p:nvSpPr>
          <p:cNvPr id="883" name="Google Shape;883;ge0cc14ae69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4" name="Google Shape;884;ge0cc14ae69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Well, that’s true for actual domains right? But what if we used fake domains?</a:t>
            </a:r>
            <a:endParaRPr/>
          </a:p>
          <a:p>
            <a:pPr indent="0" lvl="0" marL="0" rtl="0" algn="l">
              <a:spcBef>
                <a:spcPts val="0"/>
              </a:spcBef>
              <a:spcAft>
                <a:spcPts val="0"/>
              </a:spcAft>
              <a:buNone/>
            </a:pPr>
            <a:r>
              <a:rPr lang="en"/>
              <a:t>Instead of racing by querying for real domains, let’s use fake ones! Okay, so what’s </a:t>
            </a:r>
            <a:r>
              <a:rPr lang="en"/>
              <a:t>the</a:t>
            </a:r>
            <a:r>
              <a:rPr lang="en"/>
              <a:t> legit answer: it would be “This answer doesn’t exist”. We’ll talk about how to formally show that in DNSSEC.</a:t>
            </a:r>
            <a:endParaRPr/>
          </a:p>
          <a:p>
            <a:pPr indent="-298450" lvl="0" marL="457200" rtl="0" algn="l">
              <a:spcBef>
                <a:spcPts val="0"/>
              </a:spcBef>
              <a:spcAft>
                <a:spcPts val="0"/>
              </a:spcAft>
              <a:buSzPts val="1100"/>
              <a:buChar char="-"/>
            </a:pPr>
            <a:r>
              <a:rPr lang="en"/>
              <a:t>Off-path attacker race:</a:t>
            </a:r>
            <a:endParaRPr/>
          </a:p>
          <a:p>
            <a:pPr indent="-298450" lvl="1" marL="914400" rtl="0" algn="l">
              <a:spcBef>
                <a:spcPts val="0"/>
              </a:spcBef>
              <a:spcAft>
                <a:spcPts val="0"/>
              </a:spcAft>
              <a:buSzPts val="1100"/>
              <a:buChar char="-"/>
            </a:pPr>
            <a:r>
              <a:rPr lang="en"/>
              <a:t>If you lose (either because you guessed the ID wrong or you lost the race): the actual domain that you want to poison (www.google.com) is still up for grabs!</a:t>
            </a:r>
            <a:endParaRPr/>
          </a:p>
          <a:p>
            <a:pPr indent="-298450" lvl="2" marL="1371600" rtl="0" algn="l">
              <a:spcBef>
                <a:spcPts val="0"/>
              </a:spcBef>
              <a:spcAft>
                <a:spcPts val="0"/>
              </a:spcAft>
              <a:buSzPts val="1100"/>
              <a:buChar char="-"/>
            </a:pPr>
            <a:r>
              <a:rPr lang="en"/>
              <a:t>It’ll just say “fake1.google.com does not exist as a domain”. Could get cached, could not -&gt; try again with fake2.google.com!</a:t>
            </a:r>
            <a:endParaRPr/>
          </a:p>
          <a:p>
            <a:pPr indent="-298450" lvl="3" marL="1828800" rtl="0" algn="l">
              <a:spcBef>
                <a:spcPts val="0"/>
              </a:spcBef>
              <a:spcAft>
                <a:spcPts val="0"/>
              </a:spcAft>
              <a:buSzPts val="1100"/>
              <a:buChar char="-"/>
            </a:pPr>
            <a:r>
              <a:rPr lang="en"/>
              <a:t>Fake2 isn’t cached, so another DNS query will have to be made: another chance where you can race!</a:t>
            </a:r>
            <a:endParaRPr/>
          </a:p>
          <a:p>
            <a:pPr indent="-298450" lvl="2" marL="1371600" rtl="0" algn="l">
              <a:spcBef>
                <a:spcPts val="0"/>
              </a:spcBef>
              <a:spcAft>
                <a:spcPts val="0"/>
              </a:spcAft>
              <a:buSzPts val="1100"/>
              <a:buChar char="-"/>
            </a:pPr>
            <a:r>
              <a:rPr lang="en"/>
              <a:t>No longer have to wait! </a:t>
            </a:r>
            <a:r>
              <a:rPr lang="en">
                <a:solidFill>
                  <a:schemeClr val="dk1"/>
                </a:solidFill>
              </a:rPr>
              <a:t>We can just spam these fake domains and it’s fine if you lose one or two–you just keep going!</a:t>
            </a:r>
            <a:endParaRPr/>
          </a:p>
          <a:p>
            <a:pPr indent="-298450" lvl="1" marL="914400" rtl="0" algn="l">
              <a:spcBef>
                <a:spcPts val="0"/>
              </a:spcBef>
              <a:spcAft>
                <a:spcPts val="0"/>
              </a:spcAft>
              <a:buClr>
                <a:schemeClr val="dk1"/>
              </a:buClr>
              <a:buSzPts val="1100"/>
              <a:buChar char="-"/>
            </a:pPr>
            <a:r>
              <a:rPr lang="en">
                <a:solidFill>
                  <a:schemeClr val="dk1"/>
                </a:solidFill>
              </a:rPr>
              <a:t>If you win: you have successfully poisoned the cache</a:t>
            </a:r>
            <a:endParaRPr>
              <a:solidFill>
                <a:schemeClr val="dk1"/>
              </a:solidFill>
            </a:endParaRPr>
          </a:p>
          <a:p>
            <a:pPr indent="-298450" lvl="2" marL="1371600" rtl="0" algn="l">
              <a:spcBef>
                <a:spcPts val="0"/>
              </a:spcBef>
              <a:spcAft>
                <a:spcPts val="0"/>
              </a:spcAft>
              <a:buSzPts val="1100"/>
              <a:buChar char="-"/>
            </a:pPr>
            <a:r>
              <a:rPr lang="en"/>
              <a:t>You can spoof a response and poison other domains in the cache!</a:t>
            </a:r>
            <a:endParaRPr/>
          </a:p>
          <a:p>
            <a:pPr indent="-298450" lvl="2" marL="1371600" rtl="0" algn="l">
              <a:spcBef>
                <a:spcPts val="0"/>
              </a:spcBef>
              <a:spcAft>
                <a:spcPts val="0"/>
              </a:spcAft>
              <a:buSzPts val="1100"/>
              <a:buChar char="-"/>
            </a:pPr>
            <a:r>
              <a:rPr lang="en"/>
              <a:t>This additional section will be cached since all records are cached! </a:t>
            </a:r>
            <a:endParaRPr/>
          </a:p>
          <a:p>
            <a:pPr indent="-298450" lvl="2" marL="1371600" rtl="0" algn="l">
              <a:spcBef>
                <a:spcPts val="0"/>
              </a:spcBef>
              <a:spcAft>
                <a:spcPts val="0"/>
              </a:spcAft>
              <a:buSzPts val="1100"/>
              <a:buChar char="-"/>
            </a:pPr>
            <a:r>
              <a:rPr lang="en"/>
              <a:t>Bailiwick checking doesn’t stop this either because t</a:t>
            </a:r>
            <a:r>
              <a:rPr lang="en">
                <a:solidFill>
                  <a:schemeClr val="dk1"/>
                </a:solidFill>
              </a:rPr>
              <a:t>he google.com name server can provide IPs for both fake1.google.com and </a:t>
            </a:r>
            <a:r>
              <a:rPr lang="en" u="sng">
                <a:solidFill>
                  <a:schemeClr val="hlink"/>
                </a:solidFill>
                <a:hlinkClick r:id="rId2"/>
              </a:rPr>
              <a:t>www.google.com</a:t>
            </a:r>
            <a:endParaRPr/>
          </a:p>
          <a:p>
            <a:pPr indent="-298450" lvl="1" marL="914400" rtl="0" algn="l">
              <a:spcBef>
                <a:spcPts val="0"/>
              </a:spcBef>
              <a:spcAft>
                <a:spcPts val="0"/>
              </a:spcAft>
              <a:buSzPts val="1100"/>
              <a:buChar char="-"/>
            </a:pPr>
            <a:r>
              <a:rPr lang="en"/>
              <a:t>Even if we cache the google.com name server (not the same thing as </a:t>
            </a:r>
            <a:r>
              <a:rPr lang="en" u="sng">
                <a:solidFill>
                  <a:schemeClr val="hlink"/>
                </a:solidFill>
                <a:hlinkClick r:id="rId3"/>
              </a:rPr>
              <a:t>www.google.com</a:t>
            </a:r>
            <a:r>
              <a:rPr lang="en"/>
              <a:t>), we can race against them -&gt; remember google.com NS is in charge of responding to DNS queries within their zone, including for the domain www.google.com.</a:t>
            </a:r>
            <a:endParaRPr/>
          </a:p>
          <a:p>
            <a:pPr indent="0" lvl="0" marL="0" rtl="0" algn="l">
              <a:spcBef>
                <a:spcPts val="0"/>
              </a:spcBef>
              <a:spcAft>
                <a:spcPts val="0"/>
              </a:spcAft>
              <a:buNone/>
            </a:pPr>
            <a:r>
              <a:rPr lang="en"/>
              <a:t>This makes 65000 go from “eh, that’s good enough” to “that is definitely not enough”.</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g279a109ff9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1" name="Google Shape;891;g279a109ff9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Can post this on a forum as well (refer to web unit)!</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8" name="Shape 898"/>
        <p:cNvGrpSpPr/>
        <p:nvPr/>
      </p:nvGrpSpPr>
      <p:grpSpPr>
        <a:xfrm>
          <a:off x="0" y="0"/>
          <a:ext cx="0" cy="0"/>
          <a:chOff x="0" y="0"/>
          <a:chExt cx="0" cy="0"/>
        </a:xfrm>
      </p:grpSpPr>
      <p:sp>
        <p:nvSpPr>
          <p:cNvPr id="899" name="Google Shape;899;g279a109ff9f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0" name="Google Shape;900;g279a109ff9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279a109ff9f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0" name="Google Shape;920;g279a109ff9f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0" name="Shape 940"/>
        <p:cNvGrpSpPr/>
        <p:nvPr/>
      </p:nvGrpSpPr>
      <p:grpSpPr>
        <a:xfrm>
          <a:off x="0" y="0"/>
          <a:ext cx="0" cy="0"/>
          <a:chOff x="0" y="0"/>
          <a:chExt cx="0" cy="0"/>
        </a:xfrm>
      </p:grpSpPr>
      <p:sp>
        <p:nvSpPr>
          <p:cNvPr id="941" name="Google Shape;941;g279a109ff9f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2" name="Google Shape;942;g279a109ff9f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g279a109ff9f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5" name="Google Shape;965;g279a109ff9f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English -&gt; in reality it’s an NS and an A record!</a:t>
            </a:r>
            <a:endParaRPr/>
          </a:p>
          <a:p>
            <a:pPr indent="0" lvl="0" marL="0" rtl="0" algn="l">
              <a:spcBef>
                <a:spcPts val="0"/>
              </a:spcBef>
              <a:spcAft>
                <a:spcPts val="0"/>
              </a:spcAft>
              <a:buNone/>
            </a:pPr>
            <a:r>
              <a:rPr lang="en"/>
              <a:t>You cache all the A records that you receive!</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g279a109ff9f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5" name="Google Shape;995;g279a109ff9f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g279a109ff9f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6" name="Google Shape;1026;g279a109ff9f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9" name="Shape 1059"/>
        <p:cNvGrpSpPr/>
        <p:nvPr/>
      </p:nvGrpSpPr>
      <p:grpSpPr>
        <a:xfrm>
          <a:off x="0" y="0"/>
          <a:ext cx="0" cy="0"/>
          <a:chOff x="0" y="0"/>
          <a:chExt cx="0" cy="0"/>
        </a:xfrm>
      </p:grpSpPr>
      <p:sp>
        <p:nvSpPr>
          <p:cNvPr id="1060" name="Google Shape;1060;g279a109ff9f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1" name="Google Shape;1061;g279a109ff9f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g279a109ff9f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6" name="Google Shape;1096;g279a109ff9f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true google.com name server would respond “I have no idea </a:t>
            </a:r>
            <a:r>
              <a:rPr lang="en"/>
              <a:t>what</a:t>
            </a:r>
            <a:r>
              <a:rPr lang="en"/>
              <a:t> you’re talking about. There is no fake1.google.com!”</a:t>
            </a:r>
            <a:endParaRPr/>
          </a:p>
          <a:p>
            <a:pPr indent="0" lvl="0" marL="0" rtl="0" algn="l">
              <a:spcBef>
                <a:spcPts val="0"/>
              </a:spcBef>
              <a:spcAft>
                <a:spcPts val="0"/>
              </a:spcAft>
              <a:buNone/>
            </a:pPr>
            <a:r>
              <a:rPr lang="en"/>
              <a:t>Okay, but what if Mallory spoofs an answer with the correct ID and wins the race?</a:t>
            </a:r>
            <a:endParaRPr/>
          </a:p>
          <a:p>
            <a:pPr indent="-298450" lvl="0" marL="457200" rtl="0" algn="l">
              <a:spcBef>
                <a:spcPts val="0"/>
              </a:spcBef>
              <a:spcAft>
                <a:spcPts val="0"/>
              </a:spcAft>
              <a:buSzPts val="1100"/>
              <a:buChar char="-"/>
            </a:pPr>
            <a:r>
              <a:rPr lang="en"/>
              <a:t>She’s not going to say “Here’s the IP address of fake1.google.com” and provide her own -&gt; she could, but she wants to do something much more sinister!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What if Mallory loses the race?</a:t>
            </a:r>
            <a:endParaRPr/>
          </a:p>
          <a:p>
            <a:pPr indent="-298450" lvl="0" marL="457200" rtl="0" algn="l">
              <a:spcBef>
                <a:spcPts val="0"/>
              </a:spcBef>
              <a:spcAft>
                <a:spcPts val="0"/>
              </a:spcAft>
              <a:buSzPts val="1100"/>
              <a:buChar char="-"/>
            </a:pPr>
            <a:r>
              <a:rPr lang="en"/>
              <a:t>Recursive resolver might cache “fake1.google.com doesn’t exist” (implementation dependent). They may also cache nothing. That doesn’t really matter since her goal was to poison www.google.com!</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g279a109ff9f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0" name="Google Shape;1140;g279a109ff9f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Mallory guesses right…</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9" name="Shape 1179"/>
        <p:cNvGrpSpPr/>
        <p:nvPr/>
      </p:nvGrpSpPr>
      <p:grpSpPr>
        <a:xfrm>
          <a:off x="0" y="0"/>
          <a:ext cx="0" cy="0"/>
          <a:chOff x="0" y="0"/>
          <a:chExt cx="0" cy="0"/>
        </a:xfrm>
      </p:grpSpPr>
      <p:sp>
        <p:nvSpPr>
          <p:cNvPr id="1180" name="Google Shape;1180;g279a109ff9f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1" name="Google Shape;1181;g279a109ff9f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7" name="Shape 1217"/>
        <p:cNvGrpSpPr/>
        <p:nvPr/>
      </p:nvGrpSpPr>
      <p:grpSpPr>
        <a:xfrm>
          <a:off x="0" y="0"/>
          <a:ext cx="0" cy="0"/>
          <a:chOff x="0" y="0"/>
          <a:chExt cx="0" cy="0"/>
        </a:xfrm>
      </p:grpSpPr>
      <p:sp>
        <p:nvSpPr>
          <p:cNvPr id="1218" name="Google Shape;1218;g279a109ff9f_0_3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9" name="Google Shape;1219;g279a109ff9f_0_3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1" name="Shape 1261"/>
        <p:cNvGrpSpPr/>
        <p:nvPr/>
      </p:nvGrpSpPr>
      <p:grpSpPr>
        <a:xfrm>
          <a:off x="0" y="0"/>
          <a:ext cx="0" cy="0"/>
          <a:chOff x="0" y="0"/>
          <a:chExt cx="0" cy="0"/>
        </a:xfrm>
      </p:grpSpPr>
      <p:sp>
        <p:nvSpPr>
          <p:cNvPr id="1262" name="Google Shape;1262;g279a109ff9f_0_3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3" name="Google Shape;1263;g279a109ff9f_0_3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real answer will get cached, but does that harm us?</a:t>
            </a:r>
            <a:endParaRPr/>
          </a:p>
          <a:p>
            <a:pPr indent="-298450" lvl="0" marL="457200" rtl="0" algn="l">
              <a:spcBef>
                <a:spcPts val="0"/>
              </a:spcBef>
              <a:spcAft>
                <a:spcPts val="0"/>
              </a:spcAft>
              <a:buSzPts val="1100"/>
              <a:buChar char="-"/>
            </a:pPr>
            <a:r>
              <a:rPr lang="en"/>
              <a:t>The real answer will provide information like “fake1.google.com doesn’t exist” like thanks, already knew that</a:t>
            </a:r>
            <a:endParaRPr/>
          </a:p>
          <a:p>
            <a:pPr indent="-298450" lvl="0" marL="457200" rtl="0" algn="l">
              <a:spcBef>
                <a:spcPts val="0"/>
              </a:spcBef>
              <a:spcAft>
                <a:spcPts val="0"/>
              </a:spcAft>
              <a:buSzPts val="1100"/>
              <a:buChar char="-"/>
            </a:pPr>
            <a:r>
              <a:rPr lang="en"/>
              <a:t>Next slide asks what mallory can still do…</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6" name="Shape 1306"/>
        <p:cNvGrpSpPr/>
        <p:nvPr/>
      </p:nvGrpSpPr>
      <p:grpSpPr>
        <a:xfrm>
          <a:off x="0" y="0"/>
          <a:ext cx="0" cy="0"/>
          <a:chOff x="0" y="0"/>
          <a:chExt cx="0" cy="0"/>
        </a:xfrm>
      </p:grpSpPr>
      <p:sp>
        <p:nvSpPr>
          <p:cNvPr id="1307" name="Google Shape;1307;g279a109ff9f_0_4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8" name="Google Shape;1308;g279a109ff9f_0_4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Char char="-"/>
            </a:pPr>
            <a:r>
              <a:rPr lang="en">
                <a:solidFill>
                  <a:schemeClr val="dk1"/>
                </a:solidFill>
              </a:rPr>
              <a:t>It </a:t>
            </a:r>
            <a:r>
              <a:rPr i="1" lang="en">
                <a:solidFill>
                  <a:schemeClr val="dk1"/>
                </a:solidFill>
              </a:rPr>
              <a:t>won’t</a:t>
            </a:r>
            <a:r>
              <a:rPr lang="en">
                <a:solidFill>
                  <a:schemeClr val="dk1"/>
                </a:solidFill>
              </a:rPr>
              <a:t> cache information about www.google.com–why would it? So it doesn’t stop me in my attack–I can now try fake2…</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6" name="Shape 1346"/>
        <p:cNvGrpSpPr/>
        <p:nvPr/>
      </p:nvGrpSpPr>
      <p:grpSpPr>
        <a:xfrm>
          <a:off x="0" y="0"/>
          <a:ext cx="0" cy="0"/>
          <a:chOff x="0" y="0"/>
          <a:chExt cx="0" cy="0"/>
        </a:xfrm>
      </p:grpSpPr>
      <p:sp>
        <p:nvSpPr>
          <p:cNvPr id="1347" name="Google Shape;1347;g279a109ff9f_0_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8" name="Google Shape;1348;g279a109ff9f_0_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Why can you keep trying? The only thing that gets cached is the fact that fake1.google.com didn’t exist, etc.</a:t>
            </a:r>
            <a:endParaRPr/>
          </a:p>
          <a:p>
            <a:pPr indent="-298450" lvl="0" marL="457200" rtl="0" algn="l">
              <a:spcBef>
                <a:spcPts val="0"/>
              </a:spcBef>
              <a:spcAft>
                <a:spcPts val="0"/>
              </a:spcAft>
              <a:buSzPts val="1100"/>
              <a:buChar char="-"/>
            </a:pPr>
            <a:r>
              <a:rPr lang="en"/>
              <a:t>I can now try with fake2, fake3, etc.</a:t>
            </a:r>
            <a:endParaRPr/>
          </a:p>
          <a:p>
            <a:pPr indent="-298450" lvl="1" marL="914400" rtl="0" algn="l">
              <a:spcBef>
                <a:spcPts val="0"/>
              </a:spcBef>
              <a:spcAft>
                <a:spcPts val="0"/>
              </a:spcAft>
              <a:buSzPts val="1100"/>
              <a:buChar char="-"/>
            </a:pPr>
            <a:r>
              <a:rPr lang="en"/>
              <a:t>If I win: great!</a:t>
            </a:r>
            <a:endParaRPr/>
          </a:p>
          <a:p>
            <a:pPr indent="-298450" lvl="1" marL="914400" rtl="0" algn="l">
              <a:spcBef>
                <a:spcPts val="0"/>
              </a:spcBef>
              <a:spcAft>
                <a:spcPts val="0"/>
              </a:spcAft>
              <a:buSzPts val="1100"/>
              <a:buChar char="-"/>
            </a:pPr>
            <a:r>
              <a:rPr lang="en"/>
              <a:t>If I lose: all that’s cached is fakeX.google.com doesn’t exist (but there is nothing in the cache for </a:t>
            </a:r>
            <a:r>
              <a:rPr lang="en" u="sng">
                <a:solidFill>
                  <a:schemeClr val="hlink"/>
                </a:solidFill>
                <a:hlinkClick r:id="rId2"/>
              </a:rPr>
              <a:t>www.google.com</a:t>
            </a:r>
            <a:r>
              <a:rPr lang="en"/>
              <a:t>), so try again with the same trick!</a:t>
            </a:r>
            <a:endParaRPr/>
          </a:p>
          <a:p>
            <a:pPr indent="-298450" lvl="0" marL="457200" rtl="0" algn="l">
              <a:spcBef>
                <a:spcPts val="0"/>
              </a:spcBef>
              <a:spcAft>
                <a:spcPts val="0"/>
              </a:spcAft>
              <a:buSzPts val="1100"/>
              <a:buChar char="-"/>
            </a:pPr>
            <a:r>
              <a:rPr lang="en"/>
              <a:t>We made requests for a whole bunch of domains (each of which causes its own DNS query)</a:t>
            </a:r>
            <a:endParaRPr/>
          </a:p>
          <a:p>
            <a:pPr indent="-298450" lvl="0" marL="457200" rtl="0" algn="l">
              <a:spcBef>
                <a:spcPts val="0"/>
              </a:spcBef>
              <a:spcAft>
                <a:spcPts val="0"/>
              </a:spcAft>
              <a:buSzPts val="1100"/>
              <a:buChar char="-"/>
            </a:pPr>
            <a:r>
              <a:rPr lang="en"/>
              <a:t>The</a:t>
            </a:r>
            <a:r>
              <a:rPr lang="en"/>
              <a:t> two things that allow Kaminsky attack to work:</a:t>
            </a:r>
            <a:endParaRPr/>
          </a:p>
          <a:p>
            <a:pPr indent="-298450" lvl="1" marL="914400" rtl="0" algn="l">
              <a:spcBef>
                <a:spcPts val="0"/>
              </a:spcBef>
              <a:spcAft>
                <a:spcPts val="0"/>
              </a:spcAft>
              <a:buSzPts val="1100"/>
              <a:buChar char="-"/>
            </a:pPr>
            <a:r>
              <a:rPr lang="en"/>
              <a:t>You can request fake domains</a:t>
            </a:r>
            <a:endParaRPr/>
          </a:p>
          <a:p>
            <a:pPr indent="-298450" lvl="1" marL="914400" rtl="0" algn="l">
              <a:spcBef>
                <a:spcPts val="0"/>
              </a:spcBef>
              <a:spcAft>
                <a:spcPts val="0"/>
              </a:spcAft>
              <a:buSzPts val="1100"/>
              <a:buChar char="-"/>
            </a:pPr>
            <a:r>
              <a:rPr lang="en"/>
              <a:t>Even though </a:t>
            </a:r>
            <a:r>
              <a:rPr lang="en" u="sng">
                <a:solidFill>
                  <a:schemeClr val="hlink"/>
                </a:solidFill>
                <a:hlinkClick r:id="rId3"/>
              </a:rPr>
              <a:t>www.google.com</a:t>
            </a:r>
            <a:r>
              <a:rPr lang="en"/>
              <a:t> wasn’t requested, even with Bailiwick checking, it can be included!</a:t>
            </a:r>
            <a:endParaRPr/>
          </a:p>
          <a:p>
            <a:pPr indent="-298450" lvl="0" marL="457200" rtl="0" algn="l">
              <a:spcBef>
                <a:spcPts val="0"/>
              </a:spcBef>
              <a:spcAft>
                <a:spcPts val="0"/>
              </a:spcAft>
              <a:buSzPts val="1100"/>
              <a:buChar char="-"/>
            </a:pPr>
            <a:r>
              <a:rPr lang="en"/>
              <a:t>That 65,000 number is not good anymore!</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4" name="Shape 1384"/>
        <p:cNvGrpSpPr/>
        <p:nvPr/>
      </p:nvGrpSpPr>
      <p:grpSpPr>
        <a:xfrm>
          <a:off x="0" y="0"/>
          <a:ext cx="0" cy="0"/>
          <a:chOff x="0" y="0"/>
          <a:chExt cx="0" cy="0"/>
        </a:xfrm>
      </p:grpSpPr>
      <p:sp>
        <p:nvSpPr>
          <p:cNvPr id="1385" name="Google Shape;1385;g279a109ff9f_0_4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6" name="Google Shape;1386;g279a109ff9f_0_4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You no longer need to wait to try once a week or once every time it expires. You can try </a:t>
            </a:r>
            <a:r>
              <a:rPr lang="en"/>
              <a:t>thousands</a:t>
            </a:r>
            <a:r>
              <a:rPr lang="en"/>
              <a:t> of times all at </a:t>
            </a:r>
            <a:r>
              <a:rPr lang="en"/>
              <a:t>once</a:t>
            </a:r>
            <a:r>
              <a:rPr lang="en"/>
              <a:t>!</a:t>
            </a:r>
            <a:endParaRPr/>
          </a:p>
          <a:p>
            <a:pPr indent="-298450" lvl="0" marL="457200" rtl="0" algn="l">
              <a:spcBef>
                <a:spcPts val="0"/>
              </a:spcBef>
              <a:spcAft>
                <a:spcPts val="0"/>
              </a:spcAft>
              <a:buSzPts val="1100"/>
              <a:buChar char="-"/>
            </a:pPr>
            <a:r>
              <a:rPr lang="en"/>
              <a:t>The second Mallory wins (and she only needs to win once), </a:t>
            </a:r>
            <a:r>
              <a:rPr lang="en" u="sng">
                <a:solidFill>
                  <a:schemeClr val="hlink"/>
                </a:solidFill>
                <a:hlinkClick r:id="rId2"/>
              </a:rPr>
              <a:t>www.google.com</a:t>
            </a:r>
            <a:r>
              <a:rPr lang="en"/>
              <a:t> is poisoned!</a:t>
            </a: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9" name="Shape 1399"/>
        <p:cNvGrpSpPr/>
        <p:nvPr/>
      </p:nvGrpSpPr>
      <p:grpSpPr>
        <a:xfrm>
          <a:off x="0" y="0"/>
          <a:ext cx="0" cy="0"/>
          <a:chOff x="0" y="0"/>
          <a:chExt cx="0" cy="0"/>
        </a:xfrm>
      </p:grpSpPr>
      <p:sp>
        <p:nvSpPr>
          <p:cNvPr id="1400" name="Google Shape;1400;g279a109ff9f_0_4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1" name="Google Shape;1401;g279a109ff9f_0_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7" name="Shape 1417"/>
        <p:cNvGrpSpPr/>
        <p:nvPr/>
      </p:nvGrpSpPr>
      <p:grpSpPr>
        <a:xfrm>
          <a:off x="0" y="0"/>
          <a:ext cx="0" cy="0"/>
          <a:chOff x="0" y="0"/>
          <a:chExt cx="0" cy="0"/>
        </a:xfrm>
      </p:grpSpPr>
      <p:sp>
        <p:nvSpPr>
          <p:cNvPr id="1418" name="Google Shape;1418;g279a109ff9f_0_5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9" name="Google Shape;1419;g279a109ff9f_0_5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9" name="Shape 1439"/>
        <p:cNvGrpSpPr/>
        <p:nvPr/>
      </p:nvGrpSpPr>
      <p:grpSpPr>
        <a:xfrm>
          <a:off x="0" y="0"/>
          <a:ext cx="0" cy="0"/>
          <a:chOff x="0" y="0"/>
          <a:chExt cx="0" cy="0"/>
        </a:xfrm>
      </p:grpSpPr>
      <p:sp>
        <p:nvSpPr>
          <p:cNvPr id="1440" name="Google Shape;1440;g279a109ff9f_0_5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1" name="Google Shape;1441;g279a109ff9f_0_5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5" name="Shape 1465"/>
        <p:cNvGrpSpPr/>
        <p:nvPr/>
      </p:nvGrpSpPr>
      <p:grpSpPr>
        <a:xfrm>
          <a:off x="0" y="0"/>
          <a:ext cx="0" cy="0"/>
          <a:chOff x="0" y="0"/>
          <a:chExt cx="0" cy="0"/>
        </a:xfrm>
      </p:grpSpPr>
      <p:sp>
        <p:nvSpPr>
          <p:cNvPr id="1466" name="Google Shape;1466;g2edf4fd8f1d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7" name="Google Shape;1467;g2edf4fd8f1d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When we were only querying for actual domains (trying to spoof)</a:t>
            </a:r>
            <a:endParaRPr/>
          </a:p>
          <a:p>
            <a:pPr indent="-298450" lvl="0" marL="457200" rtl="0" algn="l">
              <a:spcBef>
                <a:spcPts val="0"/>
              </a:spcBef>
              <a:spcAft>
                <a:spcPts val="0"/>
              </a:spcAft>
              <a:buSzPts val="1100"/>
              <a:buChar char="-"/>
            </a:pPr>
            <a:r>
              <a:rPr lang="en"/>
              <a:t>This was fine (the 1 in 65,000) since you only really got one attempt at it</a:t>
            </a: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2" name="Shape 1472"/>
        <p:cNvGrpSpPr/>
        <p:nvPr/>
      </p:nvGrpSpPr>
      <p:grpSpPr>
        <a:xfrm>
          <a:off x="0" y="0"/>
          <a:ext cx="0" cy="0"/>
          <a:chOff x="0" y="0"/>
          <a:chExt cx="0" cy="0"/>
        </a:xfrm>
      </p:grpSpPr>
      <p:sp>
        <p:nvSpPr>
          <p:cNvPr id="1473" name="Google Shape;1473;g279a109ff9f_0_5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4" name="Google Shape;1474;g279a109ff9f_0_5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You can poison as many domains as you’d wish (ie: </a:t>
            </a:r>
            <a:r>
              <a:rPr lang="en" u="sng">
                <a:solidFill>
                  <a:schemeClr val="hlink"/>
                </a:solidFill>
                <a:hlinkClick r:id="rId2"/>
              </a:rPr>
              <a:t>www.google.com</a:t>
            </a:r>
            <a:r>
              <a:rPr lang="en"/>
              <a:t>, mail.google.com, maps.google.com, etc.)</a:t>
            </a:r>
            <a:endParaRPr/>
          </a:p>
          <a:p>
            <a:pPr indent="-298450" lvl="0" marL="457200" rtl="0" algn="l">
              <a:spcBef>
                <a:spcPts val="0"/>
              </a:spcBef>
              <a:spcAft>
                <a:spcPts val="0"/>
              </a:spcAft>
              <a:buSzPts val="1100"/>
              <a:buChar char="-"/>
            </a:pPr>
            <a:r>
              <a:rPr lang="en"/>
              <a:t>Notably, previously, you wouldn’t have the ability to poison–you’d get one try. Now, you can try try again!</a:t>
            </a: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9" name="Shape 1479"/>
        <p:cNvGrpSpPr/>
        <p:nvPr/>
      </p:nvGrpSpPr>
      <p:grpSpPr>
        <a:xfrm>
          <a:off x="0" y="0"/>
          <a:ext cx="0" cy="0"/>
          <a:chOff x="0" y="0"/>
          <a:chExt cx="0" cy="0"/>
        </a:xfrm>
      </p:grpSpPr>
      <p:sp>
        <p:nvSpPr>
          <p:cNvPr id="1480" name="Google Shape;1480;ge0cc14ae69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1" name="Google Shape;1481;ge0cc14ae69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We can’t really change how DNS works and the Kaminsky attack exploits a vulnerability in DNS. There are a couple defenses, though!</a:t>
            </a:r>
            <a:endParaRPr/>
          </a:p>
          <a:p>
            <a:pPr indent="0" lvl="0" marL="0" rtl="0" algn="l">
              <a:spcBef>
                <a:spcPts val="0"/>
              </a:spcBef>
              <a:spcAft>
                <a:spcPts val="0"/>
              </a:spcAft>
              <a:buNone/>
            </a:pPr>
            <a:r>
              <a:rPr lang="en"/>
              <a:t>Add another source of randomization!</a:t>
            </a:r>
            <a:endParaRPr/>
          </a:p>
          <a:p>
            <a:pPr indent="0" lvl="0" marL="0" rtl="0" algn="l">
              <a:spcBef>
                <a:spcPts val="0"/>
              </a:spcBef>
              <a:spcAft>
                <a:spcPts val="0"/>
              </a:spcAft>
              <a:buNone/>
            </a:pPr>
            <a:r>
              <a:rPr lang="en"/>
              <a:t>DNS packets are set in stone – can’t make ID number longer/format records differently since all DNS packets are formatted the same way (and for backwards compatibility and standardization, it needs to stay that way!).</a:t>
            </a:r>
            <a:endParaRPr/>
          </a:p>
          <a:p>
            <a:pPr indent="0" lvl="0" marL="0" rtl="0" algn="l">
              <a:spcBef>
                <a:spcPts val="0"/>
              </a:spcBef>
              <a:spcAft>
                <a:spcPts val="0"/>
              </a:spcAft>
              <a:buNone/>
            </a:pPr>
            <a:r>
              <a:rPr lang="en"/>
              <a:t>If you wanted to change your packet, have fun trying to convince every single server in the world not only that your idea is better (maybe it is), but convince them it’s worth their time to completely change the way that they’re handling DNS.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2^32 is approximately 4 billion. Doesn’t stop it, but still helpful!</a:t>
            </a: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1" name="Shape 1491"/>
        <p:cNvGrpSpPr/>
        <p:nvPr/>
      </p:nvGrpSpPr>
      <p:grpSpPr>
        <a:xfrm>
          <a:off x="0" y="0"/>
          <a:ext cx="0" cy="0"/>
          <a:chOff x="0" y="0"/>
          <a:chExt cx="0" cy="0"/>
        </a:xfrm>
      </p:grpSpPr>
      <p:sp>
        <p:nvSpPr>
          <p:cNvPr id="1492" name="Google Shape;1492;ge0cc14ae69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3" name="Google Shape;1493;ge0cc14ae69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If something shows up in the additional records section and you want to cache it, check that it’s correct!</a:t>
            </a:r>
            <a:endParaRPr/>
          </a:p>
          <a:p>
            <a:pPr indent="-298450" lvl="1" marL="914400" rtl="0" algn="l">
              <a:spcBef>
                <a:spcPts val="0"/>
              </a:spcBef>
              <a:spcAft>
                <a:spcPts val="0"/>
              </a:spcAft>
              <a:buSzPts val="1100"/>
              <a:buChar char="-"/>
            </a:pPr>
            <a:r>
              <a:rPr lang="en"/>
              <a:t>All the poisoning in the </a:t>
            </a:r>
            <a:r>
              <a:rPr lang="en"/>
              <a:t>Kaminsky</a:t>
            </a:r>
            <a:r>
              <a:rPr lang="en"/>
              <a:t> attack occurred in the additional section.</a:t>
            </a:r>
            <a:endParaRPr/>
          </a:p>
          <a:p>
            <a:pPr indent="-298450" lvl="0" marL="457200" rtl="0" algn="l">
              <a:spcBef>
                <a:spcPts val="0"/>
              </a:spcBef>
              <a:spcAft>
                <a:spcPts val="0"/>
              </a:spcAft>
              <a:buSzPts val="1100"/>
              <a:buChar char="-"/>
            </a:pPr>
            <a:r>
              <a:rPr lang="en"/>
              <a:t>This isn’t implemented everywhere though.</a:t>
            </a: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8" name="Shape 1498"/>
        <p:cNvGrpSpPr/>
        <p:nvPr/>
      </p:nvGrpSpPr>
      <p:grpSpPr>
        <a:xfrm>
          <a:off x="0" y="0"/>
          <a:ext cx="0" cy="0"/>
          <a:chOff x="0" y="0"/>
          <a:chExt cx="0" cy="0"/>
        </a:xfrm>
      </p:grpSpPr>
      <p:sp>
        <p:nvSpPr>
          <p:cNvPr id="1499" name="Google Shape;1499;gdbb6a86e44_0_1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0" name="Google Shape;1500;gdbb6a86e44_0_1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illegal</a:t>
            </a: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5" name="Shape 1505"/>
        <p:cNvGrpSpPr/>
        <p:nvPr/>
      </p:nvGrpSpPr>
      <p:grpSpPr>
        <a:xfrm>
          <a:off x="0" y="0"/>
          <a:ext cx="0" cy="0"/>
          <a:chOff x="0" y="0"/>
          <a:chExt cx="0" cy="0"/>
        </a:xfrm>
      </p:grpSpPr>
      <p:sp>
        <p:nvSpPr>
          <p:cNvPr id="1506" name="Google Shape;1506;gdbb6a86e44_0_1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7" name="Google Shape;1507;gdbb6a86e44_0_1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9" name="Shape 1529"/>
        <p:cNvGrpSpPr/>
        <p:nvPr/>
      </p:nvGrpSpPr>
      <p:grpSpPr>
        <a:xfrm>
          <a:off x="0" y="0"/>
          <a:ext cx="0" cy="0"/>
          <a:chOff x="0" y="0"/>
          <a:chExt cx="0" cy="0"/>
        </a:xfrm>
      </p:grpSpPr>
      <p:sp>
        <p:nvSpPr>
          <p:cNvPr id="1530" name="Google Shape;1530;ge6894ee9fb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1" name="Google Shape;1531;ge6894ee9fb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6" name="Shape 1536"/>
        <p:cNvGrpSpPr/>
        <p:nvPr/>
      </p:nvGrpSpPr>
      <p:grpSpPr>
        <a:xfrm>
          <a:off x="0" y="0"/>
          <a:ext cx="0" cy="0"/>
          <a:chOff x="0" y="0"/>
          <a:chExt cx="0" cy="0"/>
        </a:xfrm>
      </p:grpSpPr>
      <p:sp>
        <p:nvSpPr>
          <p:cNvPr id="1537" name="Google Shape;1537;gdbb6a86e44_0_1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8" name="Google Shape;1538;gdbb6a86e44_0_1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0" y="1429000"/>
            <a:ext cx="8520600" cy="1410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 name="Google Shape;12;p2"/>
          <p:cNvSpPr txBox="1"/>
          <p:nvPr>
            <p:ph idx="1" type="subTitle"/>
          </p:nvPr>
        </p:nvSpPr>
        <p:spPr>
          <a:xfrm>
            <a:off x="311700" y="2917900"/>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400"/>
              <a:buNone/>
              <a:defRPr sz="2400"/>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r>
              <a:rPr lang="en"/>
              <a:t>#</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 name="Google Shape;19;p4"/>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3" name="Google Shape;23;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4" name="Google Shape;24;p5"/>
          <p:cNvSpPr txBox="1"/>
          <p:nvPr>
            <p:ph idx="1" type="body"/>
          </p:nvPr>
        </p:nvSpPr>
        <p:spPr>
          <a:xfrm>
            <a:off x="198500"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5" name="Google Shape;25;p5"/>
          <p:cNvSpPr txBox="1"/>
          <p:nvPr>
            <p:ph idx="2" type="body"/>
          </p:nvPr>
        </p:nvSpPr>
        <p:spPr>
          <a:xfrm>
            <a:off x="4588175"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1" name="Google Shape;31;p7"/>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 name="Google Shape;32;p7"/>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USTOM">
    <p:spTree>
      <p:nvGrpSpPr>
        <p:cNvPr id="33" name="Shape 33"/>
        <p:cNvGrpSpPr/>
        <p:nvPr/>
      </p:nvGrpSpPr>
      <p:grpSpPr>
        <a:xfrm>
          <a:off x="0" y="0"/>
          <a:ext cx="0" cy="0"/>
          <a:chOff x="0" y="0"/>
          <a:chExt cx="0" cy="0"/>
        </a:xfrm>
      </p:grpSpPr>
      <p:sp>
        <p:nvSpPr>
          <p:cNvPr id="34" name="Google Shape;34;p8"/>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5" name="Google Shape;35;p8"/>
          <p:cNvSpPr txBox="1"/>
          <p:nvPr>
            <p:ph idx="1" type="body"/>
          </p:nvPr>
        </p:nvSpPr>
        <p:spPr>
          <a:xfrm>
            <a:off x="512100" y="4520775"/>
            <a:ext cx="8119800" cy="572700"/>
          </a:xfrm>
          <a:prstGeom prst="rect">
            <a:avLst/>
          </a:prstGeom>
        </p:spPr>
        <p:txBody>
          <a:bodyPr anchorCtr="0" anchor="t" bIns="91425" lIns="91425" spcFirstLastPara="1" rIns="91425" wrap="square" tIns="91425">
            <a:normAutofit/>
          </a:bodyPr>
          <a:lstStyle>
            <a:lvl1pPr indent="-317500" lvl="0" marL="457200" rtl="0" algn="ctr">
              <a:spcBef>
                <a:spcPts val="0"/>
              </a:spcBef>
              <a:spcAft>
                <a:spcPts val="0"/>
              </a:spcAft>
              <a:buSzPts val="1400"/>
              <a:buChar char="●"/>
              <a:defRPr sz="1400"/>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36" name="Google Shape;36;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Optional">
  <p:cSld name="SECTION_HEADER_1">
    <p:bg>
      <p:bgPr>
        <a:solidFill>
          <a:srgbClr val="A4C2F4"/>
        </a:solidFill>
      </p:bgPr>
    </p:bg>
    <p:spTree>
      <p:nvGrpSpPr>
        <p:cNvPr id="37" name="Shape 37"/>
        <p:cNvGrpSpPr/>
        <p:nvPr/>
      </p:nvGrpSpPr>
      <p:grpSpPr>
        <a:xfrm>
          <a:off x="0" y="0"/>
          <a:ext cx="0" cy="0"/>
          <a:chOff x="0" y="0"/>
          <a:chExt cx="0" cy="0"/>
        </a:xfrm>
      </p:grpSpPr>
      <p:sp>
        <p:nvSpPr>
          <p:cNvPr id="38" name="Google Shape;38;p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39" name="Google Shape;3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Optional">
  <p:cSld name="TITLE_AND_BODY_1">
    <p:bg>
      <p:bgPr>
        <a:solidFill>
          <a:srgbClr val="A4C2F4"/>
        </a:solidFill>
      </p:bgPr>
    </p:bg>
    <p:spTree>
      <p:nvGrpSpPr>
        <p:cNvPr id="40" name="Shape 40"/>
        <p:cNvGrpSpPr/>
        <p:nvPr/>
      </p:nvGrpSpPr>
      <p:grpSpPr>
        <a:xfrm>
          <a:off x="0" y="0"/>
          <a:ext cx="0" cy="0"/>
          <a:chOff x="0" y="0"/>
          <a:chExt cx="0" cy="0"/>
        </a:xfrm>
      </p:grpSpPr>
      <p:sp>
        <p:nvSpPr>
          <p:cNvPr id="41" name="Google Shape;41;p10"/>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 name="Google Shape;42;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3" name="Google Shape;43;p1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Optional">
  <p:cSld name="TITLE_AND_TWO_COLUMNS_1">
    <p:bg>
      <p:bgPr>
        <a:solidFill>
          <a:srgbClr val="A4C2F4"/>
        </a:solidFill>
      </p:bgPr>
    </p:bg>
    <p:spTree>
      <p:nvGrpSpPr>
        <p:cNvPr id="44" name="Shape 44"/>
        <p:cNvGrpSpPr/>
        <p:nvPr/>
      </p:nvGrpSpPr>
      <p:grpSpPr>
        <a:xfrm>
          <a:off x="0" y="0"/>
          <a:ext cx="0" cy="0"/>
          <a:chOff x="0" y="0"/>
          <a:chExt cx="0" cy="0"/>
        </a:xfrm>
      </p:grpSpPr>
      <p:sp>
        <p:nvSpPr>
          <p:cNvPr id="45" name="Google Shape;45;p11"/>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 name="Google Shape;4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7" name="Google Shape;47;p11"/>
          <p:cNvSpPr txBox="1"/>
          <p:nvPr>
            <p:ph idx="1" type="body"/>
          </p:nvPr>
        </p:nvSpPr>
        <p:spPr>
          <a:xfrm>
            <a:off x="198500"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48" name="Google Shape;48;p11"/>
          <p:cNvSpPr txBox="1"/>
          <p:nvPr>
            <p:ph idx="2" type="body"/>
          </p:nvPr>
        </p:nvSpPr>
        <p:spPr>
          <a:xfrm>
            <a:off x="4588175"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Optional">
  <p:cSld name="TITLE_ONLY_1">
    <p:bg>
      <p:bgPr>
        <a:solidFill>
          <a:srgbClr val="A4C2F4"/>
        </a:solidFill>
      </p:bgPr>
    </p:bg>
    <p:spTree>
      <p:nvGrpSpPr>
        <p:cNvPr id="49" name="Shape 49"/>
        <p:cNvGrpSpPr/>
        <p:nvPr/>
      </p:nvGrpSpPr>
      <p:grpSpPr>
        <a:xfrm>
          <a:off x="0" y="0"/>
          <a:ext cx="0" cy="0"/>
          <a:chOff x="0" y="0"/>
          <a:chExt cx="0" cy="0"/>
        </a:xfrm>
      </p:grpSpPr>
      <p:sp>
        <p:nvSpPr>
          <p:cNvPr id="50" name="Google Shape;50;p12"/>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 Optional">
  <p:cSld name="ONE_COLUMN_TEXT_1">
    <p:bg>
      <p:bgPr>
        <a:solidFill>
          <a:srgbClr val="A4C2F4"/>
        </a:solidFill>
      </p:bgPr>
    </p:bg>
    <p:spTree>
      <p:nvGrpSpPr>
        <p:cNvPr id="52" name="Shape 52"/>
        <p:cNvGrpSpPr/>
        <p:nvPr/>
      </p:nvGrpSpPr>
      <p:grpSpPr>
        <a:xfrm>
          <a:off x="0" y="0"/>
          <a:ext cx="0" cy="0"/>
          <a:chOff x="0" y="0"/>
          <a:chExt cx="0" cy="0"/>
        </a:xfrm>
      </p:grpSpPr>
      <p:sp>
        <p:nvSpPr>
          <p:cNvPr id="53" name="Google Shape;53;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13"/>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 name="Google Shape;55;p13"/>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 Optional">
  <p:cSld name="CUSTOM_1">
    <p:bg>
      <p:bgPr>
        <a:solidFill>
          <a:srgbClr val="A4C2F4"/>
        </a:solidFill>
      </p:bgPr>
    </p:bg>
    <p:spTree>
      <p:nvGrpSpPr>
        <p:cNvPr id="56" name="Shape 56"/>
        <p:cNvGrpSpPr/>
        <p:nvPr/>
      </p:nvGrpSpPr>
      <p:grpSpPr>
        <a:xfrm>
          <a:off x="0" y="0"/>
          <a:ext cx="0" cy="0"/>
          <a:chOff x="0" y="0"/>
          <a:chExt cx="0" cy="0"/>
        </a:xfrm>
      </p:grpSpPr>
      <p:sp>
        <p:nvSpPr>
          <p:cNvPr id="57" name="Google Shape;57;p14"/>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8" name="Google Shape;58;p14"/>
          <p:cNvSpPr txBox="1"/>
          <p:nvPr>
            <p:ph idx="1" type="body"/>
          </p:nvPr>
        </p:nvSpPr>
        <p:spPr>
          <a:xfrm>
            <a:off x="512100" y="4520775"/>
            <a:ext cx="8119800" cy="572700"/>
          </a:xfrm>
          <a:prstGeom prst="rect">
            <a:avLst/>
          </a:prstGeom>
        </p:spPr>
        <p:txBody>
          <a:bodyPr anchorCtr="0" anchor="t" bIns="91425" lIns="91425" spcFirstLastPara="1" rIns="91425" wrap="square" tIns="91425">
            <a:normAutofit/>
          </a:bodyPr>
          <a:lstStyle>
            <a:lvl1pPr indent="-317500" lvl="0" marL="457200" rtl="0" algn="ctr">
              <a:spcBef>
                <a:spcPts val="0"/>
              </a:spcBef>
              <a:spcAft>
                <a:spcPts val="0"/>
              </a:spcAft>
              <a:buSzPts val="1400"/>
              <a:buChar char="●"/>
              <a:defRPr sz="1400"/>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59" name="Google Shape;5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198500" y="124682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1"/>
              </a:buClr>
              <a:buSzPts val="1800"/>
              <a:buChar char="●"/>
              <a:defRPr sz="1800">
                <a:solidFill>
                  <a:schemeClr val="dk1"/>
                </a:solidFill>
              </a:defRPr>
            </a:lvl1pPr>
            <a:lvl2pPr indent="-317500" lvl="1" marL="914400" rtl="0">
              <a:lnSpc>
                <a:spcPct val="115000"/>
              </a:lnSpc>
              <a:spcBef>
                <a:spcPts val="0"/>
              </a:spcBef>
              <a:spcAft>
                <a:spcPts val="0"/>
              </a:spcAft>
              <a:buClr>
                <a:schemeClr val="dk1"/>
              </a:buClr>
              <a:buSzPts val="1400"/>
              <a:buChar char="○"/>
              <a:defRPr>
                <a:solidFill>
                  <a:schemeClr val="dk1"/>
                </a:solidFill>
              </a:defRPr>
            </a:lvl2pPr>
            <a:lvl3pPr indent="-317500" lvl="2" marL="1371600" rtl="0">
              <a:lnSpc>
                <a:spcPct val="115000"/>
              </a:lnSpc>
              <a:spcBef>
                <a:spcPts val="0"/>
              </a:spcBef>
              <a:spcAft>
                <a:spcPts val="0"/>
              </a:spcAft>
              <a:buClr>
                <a:schemeClr val="dk1"/>
              </a:buClr>
              <a:buSzPts val="1400"/>
              <a:buChar char="■"/>
              <a:defRPr>
                <a:solidFill>
                  <a:schemeClr val="dk1"/>
                </a:solidFill>
              </a:defRPr>
            </a:lvl3pPr>
            <a:lvl4pPr indent="-317500" lvl="3" marL="1828800" rtl="0">
              <a:lnSpc>
                <a:spcPct val="115000"/>
              </a:lnSpc>
              <a:spcBef>
                <a:spcPts val="0"/>
              </a:spcBef>
              <a:spcAft>
                <a:spcPts val="0"/>
              </a:spcAft>
              <a:buClr>
                <a:schemeClr val="dk1"/>
              </a:buClr>
              <a:buSzPts val="1400"/>
              <a:buChar char="●"/>
              <a:defRPr>
                <a:solidFill>
                  <a:schemeClr val="dk1"/>
                </a:solidFill>
              </a:defRPr>
            </a:lvl4pPr>
            <a:lvl5pPr indent="-317500" lvl="4" marL="2286000" rtl="0">
              <a:lnSpc>
                <a:spcPct val="115000"/>
              </a:lnSpc>
              <a:spcBef>
                <a:spcPts val="0"/>
              </a:spcBef>
              <a:spcAft>
                <a:spcPts val="0"/>
              </a:spcAft>
              <a:buClr>
                <a:schemeClr val="dk1"/>
              </a:buClr>
              <a:buSzPts val="1400"/>
              <a:buChar char="○"/>
              <a:defRPr>
                <a:solidFill>
                  <a:schemeClr val="dk1"/>
                </a:solidFill>
              </a:defRPr>
            </a:lvl5pPr>
            <a:lvl6pPr indent="-317500" lvl="5" marL="2743200" rtl="0">
              <a:lnSpc>
                <a:spcPct val="115000"/>
              </a:lnSpc>
              <a:spcBef>
                <a:spcPts val="0"/>
              </a:spcBef>
              <a:spcAft>
                <a:spcPts val="0"/>
              </a:spcAft>
              <a:buClr>
                <a:schemeClr val="dk1"/>
              </a:buClr>
              <a:buSzPts val="1400"/>
              <a:buChar char="■"/>
              <a:defRPr>
                <a:solidFill>
                  <a:schemeClr val="dk1"/>
                </a:solidFill>
              </a:defRPr>
            </a:lvl6pPr>
            <a:lvl7pPr indent="-317500" lvl="6" marL="3200400" rtl="0">
              <a:lnSpc>
                <a:spcPct val="115000"/>
              </a:lnSpc>
              <a:spcBef>
                <a:spcPts val="0"/>
              </a:spcBef>
              <a:spcAft>
                <a:spcPts val="0"/>
              </a:spcAft>
              <a:buClr>
                <a:schemeClr val="dk1"/>
              </a:buClr>
              <a:buSzPts val="1400"/>
              <a:buChar char="●"/>
              <a:defRPr>
                <a:solidFill>
                  <a:schemeClr val="dk1"/>
                </a:solidFill>
              </a:defRPr>
            </a:lvl7pPr>
            <a:lvl8pPr indent="-317500" lvl="7" marL="3657600" rtl="0">
              <a:lnSpc>
                <a:spcPct val="115000"/>
              </a:lnSpc>
              <a:spcBef>
                <a:spcPts val="0"/>
              </a:spcBef>
              <a:spcAft>
                <a:spcPts val="0"/>
              </a:spcAft>
              <a:buClr>
                <a:schemeClr val="dk1"/>
              </a:buClr>
              <a:buSzPts val="1400"/>
              <a:buChar char="○"/>
              <a:defRPr>
                <a:solidFill>
                  <a:schemeClr val="dk1"/>
                </a:solidFill>
              </a:defRPr>
            </a:lvl8pPr>
            <a:lvl9pPr indent="-317500" lvl="8" marL="4114800" rtl="0">
              <a:lnSpc>
                <a:spcPct val="115000"/>
              </a:lnSpc>
              <a:spcBef>
                <a:spcPts val="0"/>
              </a:spcBef>
              <a:spcAft>
                <a:spcPts val="0"/>
              </a:spcAft>
              <a:buClr>
                <a:schemeClr val="dk1"/>
              </a:buClr>
              <a:buSzPts val="1400"/>
              <a:buChar char="■"/>
              <a:defRPr>
                <a:solidFill>
                  <a:schemeClr val="dk1"/>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p:nvPr/>
        </p:nvSpPr>
        <p:spPr>
          <a:xfrm>
            <a:off x="0" y="1017725"/>
            <a:ext cx="9144000" cy="111600"/>
          </a:xfrm>
          <a:prstGeom prst="rect">
            <a:avLst/>
          </a:prstGeom>
          <a:gradFill>
            <a:gsLst>
              <a:gs pos="0">
                <a:schemeClr val="dk1"/>
              </a:gs>
              <a:gs pos="100000">
                <a:srgbClr val="E85C54"/>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600">
                <a:solidFill>
                  <a:schemeClr val="lt1"/>
                </a:solidFill>
              </a:rPr>
              <a:t>CSE 405 - Computer Security - ART</a:t>
            </a:r>
            <a:endParaRPr b="1" sz="600">
              <a:solidFill>
                <a:schemeClr val="lt1"/>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google.co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1.xml"/><Relationship Id="rId3"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5.png"/><Relationship Id="rId4" Type="http://schemas.openxmlformats.org/officeDocument/2006/relationships/image" Target="../media/image6.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3.xml"/><Relationship Id="rId3" Type="http://schemas.openxmlformats.org/officeDocument/2006/relationships/image" Target="../media/image2.jpg"/><Relationship Id="rId4" Type="http://schemas.openxmlformats.org/officeDocument/2006/relationships/image" Target="../media/image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4.xml"/><Relationship Id="rId3" Type="http://schemas.openxmlformats.org/officeDocument/2006/relationships/image" Target="../media/image2.jpg"/><Relationship Id="rId4" Type="http://schemas.openxmlformats.org/officeDocument/2006/relationships/image" Target="../media/image3.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5.xml"/><Relationship Id="rId3" Type="http://schemas.openxmlformats.org/officeDocument/2006/relationships/image" Target="../media/image2.jpg"/><Relationship Id="rId4" Type="http://schemas.openxmlformats.org/officeDocument/2006/relationships/image" Target="../media/image3.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6.xml"/><Relationship Id="rId3" Type="http://schemas.openxmlformats.org/officeDocument/2006/relationships/image" Target="../media/image2.jpg"/><Relationship Id="rId4" Type="http://schemas.openxmlformats.org/officeDocument/2006/relationships/image" Target="../media/image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7.xml"/><Relationship Id="rId3" Type="http://schemas.openxmlformats.org/officeDocument/2006/relationships/image" Target="../media/image2.jpg"/><Relationship Id="rId4" Type="http://schemas.openxmlformats.org/officeDocument/2006/relationships/image" Target="../media/image3.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8.xml"/><Relationship Id="rId3" Type="http://schemas.openxmlformats.org/officeDocument/2006/relationships/image" Target="../media/image2.jpg"/><Relationship Id="rId4" Type="http://schemas.openxmlformats.org/officeDocument/2006/relationships/image" Target="../media/image3.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9.xml"/><Relationship Id="rId3" Type="http://schemas.openxmlformats.org/officeDocument/2006/relationships/image" Target="../media/image2.jpg"/><Relationship Id="rId4" Type="http://schemas.openxmlformats.org/officeDocument/2006/relationships/image" Target="../media/image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0.xml"/><Relationship Id="rId3" Type="http://schemas.openxmlformats.org/officeDocument/2006/relationships/image" Target="../media/image2.jpg"/><Relationship Id="rId4" Type="http://schemas.openxmlformats.org/officeDocument/2006/relationships/image" Target="../media/image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1.xml"/><Relationship Id="rId3" Type="http://schemas.openxmlformats.org/officeDocument/2006/relationships/image" Target="../media/image2.jpg"/><Relationship Id="rId4" Type="http://schemas.openxmlformats.org/officeDocument/2006/relationships/image" Target="../media/image3.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2.xml"/><Relationship Id="rId3" Type="http://schemas.openxmlformats.org/officeDocument/2006/relationships/image" Target="../media/image2.jpg"/><Relationship Id="rId4" Type="http://schemas.openxmlformats.org/officeDocument/2006/relationships/image" Target="../media/image3.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3.xml"/><Relationship Id="rId3" Type="http://schemas.openxmlformats.org/officeDocument/2006/relationships/image" Target="../media/image2.jpg"/><Relationship Id="rId4" Type="http://schemas.openxmlformats.org/officeDocument/2006/relationships/image" Target="../media/image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4.xml"/><Relationship Id="rId3" Type="http://schemas.openxmlformats.org/officeDocument/2006/relationships/image" Target="../media/image2.jpg"/><Relationship Id="rId4" Type="http://schemas.openxmlformats.org/officeDocument/2006/relationships/image" Target="../media/image3.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5.xml"/><Relationship Id="rId3" Type="http://schemas.openxmlformats.org/officeDocument/2006/relationships/image" Target="../media/image2.jpg"/><Relationship Id="rId4" Type="http://schemas.openxmlformats.org/officeDocument/2006/relationships/image" Target="../media/image3.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6.xml"/><Relationship Id="rId3" Type="http://schemas.openxmlformats.org/officeDocument/2006/relationships/image" Target="../media/image3.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7.xml"/><Relationship Id="rId3" Type="http://schemas.openxmlformats.org/officeDocument/2006/relationships/image" Target="../media/image3.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8.xml"/><Relationship Id="rId3" Type="http://schemas.openxmlformats.org/officeDocument/2006/relationships/image" Target="../media/image2.jpg"/><Relationship Id="rId4" Type="http://schemas.openxmlformats.org/officeDocument/2006/relationships/image" Target="../media/image3.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9.xml"/><Relationship Id="rId3" Type="http://schemas.openxmlformats.org/officeDocument/2006/relationships/image" Target="../media/image2.jpg"/><Relationship Id="rId4" Type="http://schemas.openxmlformats.org/officeDocument/2006/relationships/image" Target="../media/image3.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0.xml"/><Relationship Id="rId3" Type="http://schemas.openxmlformats.org/officeDocument/2006/relationships/image" Target="../media/image2.jpg"/><Relationship Id="rId4" Type="http://schemas.openxmlformats.org/officeDocument/2006/relationships/image" Target="../media/image3.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5"/>
          <p:cNvSpPr txBox="1"/>
          <p:nvPr>
            <p:ph type="ctrTitle"/>
          </p:nvPr>
        </p:nvSpPr>
        <p:spPr>
          <a:xfrm>
            <a:off x="311700" y="1429000"/>
            <a:ext cx="8520600" cy="14109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DNS</a:t>
            </a:r>
            <a:endParaRPr/>
          </a:p>
        </p:txBody>
      </p:sp>
      <p:sp>
        <p:nvSpPr>
          <p:cNvPr id="65" name="Google Shape;65;p15"/>
          <p:cNvSpPr txBox="1"/>
          <p:nvPr>
            <p:ph idx="1" type="subTitle"/>
          </p:nvPr>
        </p:nvSpPr>
        <p:spPr>
          <a:xfrm>
            <a:off x="311700" y="2917900"/>
            <a:ext cx="8520600" cy="792600"/>
          </a:xfrm>
          <a:prstGeom prst="rect">
            <a:avLst/>
          </a:prstGeom>
        </p:spPr>
        <p:txBody>
          <a:bodyPr anchorCtr="0" anchor="t" bIns="91425" lIns="91425" spcFirstLastPara="1" rIns="91425" wrap="square" tIns="91425">
            <a:normAutofit fontScale="62500" lnSpcReduction="20000"/>
          </a:bodyPr>
          <a:lstStyle/>
          <a:p>
            <a:pPr indent="0" lvl="0" marL="0" rtl="0" algn="ctr">
              <a:spcBef>
                <a:spcPts val="0"/>
              </a:spcBef>
              <a:spcAft>
                <a:spcPts val="0"/>
              </a:spcAft>
              <a:buClr>
                <a:schemeClr val="dk1"/>
              </a:buClr>
              <a:buSzPct val="45833"/>
              <a:buFont typeface="Arial"/>
              <a:buNone/>
            </a:pPr>
            <a:r>
              <a:rPr lang="en"/>
              <a:t>CSE 405 January 2025 - Lecture 11</a:t>
            </a:r>
            <a:endParaRPr/>
          </a:p>
          <a:p>
            <a:pPr indent="0" lvl="0" marL="0" rtl="0" algn="ctr">
              <a:spcBef>
                <a:spcPts val="0"/>
              </a:spcBef>
              <a:spcAft>
                <a:spcPts val="0"/>
              </a:spcAft>
              <a:buClr>
                <a:schemeClr val="dk1"/>
              </a:buClr>
              <a:buSzPct val="45833"/>
              <a:buFont typeface="Arial"/>
              <a:buNone/>
            </a:pPr>
            <a:r>
              <a:t/>
            </a:r>
            <a:endParaRPr/>
          </a:p>
          <a:p>
            <a:pPr indent="0" lvl="0" marL="0" rtl="0" algn="ctr">
              <a:spcBef>
                <a:spcPts val="0"/>
              </a:spcBef>
              <a:spcAft>
                <a:spcPts val="0"/>
              </a:spcAft>
              <a:buClr>
                <a:schemeClr val="dk1"/>
              </a:buClr>
              <a:buSzPct val="45833"/>
              <a:buFont typeface="Arial"/>
              <a:buNone/>
            </a:pPr>
            <a:r>
              <a:rPr lang="en"/>
              <a:t>Special Thanks to Peyrin Kao (UC Berkeley)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Outline</a:t>
            </a:r>
            <a:endParaRPr/>
          </a:p>
        </p:txBody>
      </p:sp>
      <p:sp>
        <p:nvSpPr>
          <p:cNvPr id="71" name="Google Shape;71;p16"/>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Domain Name System (DNS)</a:t>
            </a:r>
            <a:endParaRPr/>
          </a:p>
          <a:p>
            <a:pPr indent="-317500" lvl="1" marL="914400" rtl="0" algn="l">
              <a:spcBef>
                <a:spcPts val="0"/>
              </a:spcBef>
              <a:spcAft>
                <a:spcPts val="0"/>
              </a:spcAft>
              <a:buSzPts val="1400"/>
              <a:buChar char="○"/>
            </a:pPr>
            <a:r>
              <a:rPr lang="en"/>
              <a:t>DNS name servers</a:t>
            </a:r>
            <a:endParaRPr/>
          </a:p>
          <a:p>
            <a:pPr indent="-317500" lvl="1" marL="914400" rtl="0" algn="l">
              <a:spcBef>
                <a:spcPts val="0"/>
              </a:spcBef>
              <a:spcAft>
                <a:spcPts val="0"/>
              </a:spcAft>
              <a:buSzPts val="1400"/>
              <a:buChar char="○"/>
            </a:pPr>
            <a:r>
              <a:rPr lang="en"/>
              <a:t>Steps of a DNS lookup</a:t>
            </a:r>
            <a:endParaRPr/>
          </a:p>
          <a:p>
            <a:pPr indent="-317500" lvl="1" marL="914400" rtl="0" algn="l">
              <a:spcBef>
                <a:spcPts val="0"/>
              </a:spcBef>
              <a:spcAft>
                <a:spcPts val="0"/>
              </a:spcAft>
              <a:buSzPts val="1400"/>
              <a:buChar char="○"/>
            </a:pPr>
            <a:r>
              <a:rPr lang="en"/>
              <a:t>Stub resolvers and recursive resolvers</a:t>
            </a:r>
            <a:endParaRPr/>
          </a:p>
          <a:p>
            <a:pPr indent="-317500" lvl="1" marL="914400" rtl="0" algn="l">
              <a:spcBef>
                <a:spcPts val="0"/>
              </a:spcBef>
              <a:spcAft>
                <a:spcPts val="0"/>
              </a:spcAft>
              <a:buSzPts val="1400"/>
              <a:buChar char="○"/>
            </a:pPr>
            <a:r>
              <a:rPr lang="en"/>
              <a:t>DNS message format</a:t>
            </a:r>
            <a:endParaRPr/>
          </a:p>
          <a:p>
            <a:pPr indent="-317500" lvl="1" marL="914400" rtl="0" algn="l">
              <a:spcBef>
                <a:spcPts val="0"/>
              </a:spcBef>
              <a:spcAft>
                <a:spcPts val="0"/>
              </a:spcAft>
              <a:buSzPts val="1400"/>
              <a:buChar char="○"/>
            </a:pPr>
            <a:r>
              <a:rPr lang="en"/>
              <a:t>DNS records</a:t>
            </a:r>
            <a:endParaRPr/>
          </a:p>
          <a:p>
            <a:pPr indent="-317500" lvl="1" marL="914400" rtl="0" algn="l">
              <a:spcBef>
                <a:spcPts val="0"/>
              </a:spcBef>
              <a:spcAft>
                <a:spcPts val="0"/>
              </a:spcAft>
              <a:buSzPts val="1400"/>
              <a:buChar char="○"/>
            </a:pPr>
            <a:r>
              <a:rPr lang="en"/>
              <a:t>DNS lookup walkthrough</a:t>
            </a:r>
            <a:endParaRPr/>
          </a:p>
          <a:p>
            <a:pPr indent="-342900" lvl="0" marL="457200" rtl="0" algn="l">
              <a:spcBef>
                <a:spcPts val="0"/>
              </a:spcBef>
              <a:spcAft>
                <a:spcPts val="0"/>
              </a:spcAft>
              <a:buSzPts val="1800"/>
              <a:buChar char="●"/>
            </a:pPr>
            <a:r>
              <a:rPr lang="en"/>
              <a:t>DNS Security</a:t>
            </a:r>
            <a:endParaRPr/>
          </a:p>
          <a:p>
            <a:pPr indent="-317500" lvl="1" marL="914400" rtl="0" algn="l">
              <a:spcBef>
                <a:spcPts val="0"/>
              </a:spcBef>
              <a:spcAft>
                <a:spcPts val="0"/>
              </a:spcAft>
              <a:buSzPts val="1400"/>
              <a:buChar char="○"/>
            </a:pPr>
            <a:r>
              <a:rPr lang="en"/>
              <a:t>Cache poisoning attacks</a:t>
            </a:r>
            <a:endParaRPr/>
          </a:p>
          <a:p>
            <a:pPr indent="-317500" lvl="1" marL="914400" rtl="0" algn="l">
              <a:spcBef>
                <a:spcPts val="0"/>
              </a:spcBef>
              <a:spcAft>
                <a:spcPts val="0"/>
              </a:spcAft>
              <a:buSzPts val="1400"/>
              <a:buChar char="○"/>
            </a:pPr>
            <a:r>
              <a:rPr lang="en"/>
              <a:t>Risk: Malicious name servers</a:t>
            </a:r>
            <a:endParaRPr/>
          </a:p>
          <a:p>
            <a:pPr indent="-317500" lvl="1" marL="914400" rtl="0" algn="l">
              <a:spcBef>
                <a:spcPts val="0"/>
              </a:spcBef>
              <a:spcAft>
                <a:spcPts val="0"/>
              </a:spcAft>
              <a:buSzPts val="1400"/>
              <a:buChar char="○"/>
            </a:pPr>
            <a:r>
              <a:rPr lang="en"/>
              <a:t>Defense: Bailiwick checking</a:t>
            </a:r>
            <a:endParaRPr/>
          </a:p>
          <a:p>
            <a:pPr indent="-317500" lvl="1" marL="914400" rtl="0" algn="l">
              <a:spcBef>
                <a:spcPts val="0"/>
              </a:spcBef>
              <a:spcAft>
                <a:spcPts val="0"/>
              </a:spcAft>
              <a:buSzPts val="1400"/>
              <a:buChar char="○"/>
            </a:pPr>
            <a:r>
              <a:rPr lang="en"/>
              <a:t>Risk: Network attackers (MITM, on-path, off-path)</a:t>
            </a:r>
            <a:endParaRPr/>
          </a:p>
          <a:p>
            <a:pPr indent="-317500" lvl="1" marL="914400" rtl="0" algn="l">
              <a:spcBef>
                <a:spcPts val="0"/>
              </a:spcBef>
              <a:spcAft>
                <a:spcPts val="0"/>
              </a:spcAft>
              <a:buSzPts val="1400"/>
              <a:buChar char="○"/>
            </a:pPr>
            <a:r>
              <a:rPr lang="en"/>
              <a:t>Kaminsky attack</a:t>
            </a:r>
            <a:endParaRPr/>
          </a:p>
          <a:p>
            <a:pPr indent="-317500" lvl="1" marL="914400" rtl="0" algn="l">
              <a:spcBef>
                <a:spcPts val="0"/>
              </a:spcBef>
              <a:spcAft>
                <a:spcPts val="0"/>
              </a:spcAft>
              <a:buSzPts val="1400"/>
              <a:buChar char="○"/>
            </a:pPr>
            <a:r>
              <a:rPr lang="en"/>
              <a:t>Defense: Source port randomization, glue validation</a:t>
            </a:r>
            <a:endParaRPr/>
          </a:p>
        </p:txBody>
      </p:sp>
      <p:sp>
        <p:nvSpPr>
          <p:cNvPr id="72" name="Google Shape;72;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6" name="Shape 76"/>
        <p:cNvGrpSpPr/>
        <p:nvPr/>
      </p:nvGrpSpPr>
      <p:grpSpPr>
        <a:xfrm>
          <a:off x="0" y="0"/>
          <a:ext cx="0" cy="0"/>
          <a:chOff x="0" y="0"/>
          <a:chExt cx="0" cy="0"/>
        </a:xfrm>
      </p:grpSpPr>
      <p:graphicFrame>
        <p:nvGraphicFramePr>
          <p:cNvPr id="77" name="Google Shape;77;p17"/>
          <p:cNvGraphicFramePr/>
          <p:nvPr/>
        </p:nvGraphicFramePr>
        <p:xfrm>
          <a:off x="161350" y="346875"/>
          <a:ext cx="3000000" cy="3000000"/>
        </p:xfrm>
        <a:graphic>
          <a:graphicData uri="http://schemas.openxmlformats.org/drawingml/2006/table">
            <a:tbl>
              <a:tblPr>
                <a:noFill/>
                <a:tableStyleId>{8746E7DE-0C9E-4540-9031-B6CDA728326B}</a:tableStyleId>
              </a:tblPr>
              <a:tblGrid>
                <a:gridCol w="1564325"/>
                <a:gridCol w="7256950"/>
              </a:tblGrid>
              <a:tr h="293900">
                <a:tc>
                  <a:txBody>
                    <a:bodyPr/>
                    <a:lstStyle/>
                    <a:p>
                      <a:pPr indent="0" lvl="0" marL="0" rtl="0" algn="l">
                        <a:spcBef>
                          <a:spcPts val="0"/>
                        </a:spcBef>
                        <a:spcAft>
                          <a:spcPts val="0"/>
                        </a:spcAft>
                        <a:buNone/>
                      </a:pPr>
                      <a:r>
                        <a:rPr lang="en" sz="1000"/>
                        <a:t>LAN/WAN</a:t>
                      </a:r>
                      <a:endParaRPr sz="1000"/>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000">
                          <a:latin typeface="Proxima Nova"/>
                          <a:ea typeface="Proxima Nova"/>
                          <a:cs typeface="Proxima Nova"/>
                          <a:sym typeface="Proxima Nova"/>
                        </a:rPr>
                        <a:t>Local area (e.g. apartment) + wide-area (e.g. internet) networks. A router connects multiple LAN's.</a:t>
                      </a:r>
                      <a:endParaRPr sz="1000">
                        <a:latin typeface="Proxima Nova"/>
                        <a:ea typeface="Proxima Nova"/>
                        <a:cs typeface="Proxima Nova"/>
                        <a:sym typeface="Proxima Nov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93900">
                <a:tc>
                  <a:txBody>
                    <a:bodyPr/>
                    <a:lstStyle/>
                    <a:p>
                      <a:pPr indent="0" lvl="0" marL="0" rtl="0" algn="l">
                        <a:spcBef>
                          <a:spcPts val="0"/>
                        </a:spcBef>
                        <a:spcAft>
                          <a:spcPts val="0"/>
                        </a:spcAft>
                        <a:buClr>
                          <a:schemeClr val="dk1"/>
                        </a:buClr>
                        <a:buSzPts val="1100"/>
                        <a:buFont typeface="Arial"/>
                        <a:buNone/>
                      </a:pPr>
                      <a:r>
                        <a:rPr lang="en" sz="1000">
                          <a:solidFill>
                            <a:schemeClr val="dk1"/>
                          </a:solidFill>
                        </a:rPr>
                        <a:t>Layer 2 (e.g. Ethernet)</a:t>
                      </a:r>
                      <a:endParaRPr sz="1000"/>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000">
                          <a:latin typeface="Proxima Nova"/>
                          <a:ea typeface="Proxima Nova"/>
                          <a:cs typeface="Proxima Nova"/>
                          <a:sym typeface="Proxima Nova"/>
                        </a:rPr>
                        <a:t>Layer 2 (link layer) connects local machines in a LAN. </a:t>
                      </a:r>
                      <a:r>
                        <a:rPr b="1" lang="en" sz="1000">
                          <a:latin typeface="Proxima Nova"/>
                          <a:ea typeface="Proxima Nova"/>
                          <a:cs typeface="Proxima Nova"/>
                          <a:sym typeface="Proxima Nova"/>
                        </a:rPr>
                        <a:t>MAC Addresses </a:t>
                      </a:r>
                      <a:r>
                        <a:rPr lang="en" sz="1000">
                          <a:latin typeface="Proxima Nova"/>
                          <a:ea typeface="Proxima Nova"/>
                          <a:cs typeface="Proxima Nova"/>
                          <a:sym typeface="Proxima Nova"/>
                        </a:rPr>
                        <a:t>uniquely identify machines in a LAN.</a:t>
                      </a:r>
                      <a:endParaRPr sz="1000">
                        <a:latin typeface="Proxima Nova"/>
                        <a:ea typeface="Proxima Nova"/>
                        <a:cs typeface="Proxima Nova"/>
                        <a:sym typeface="Proxima Nov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93900">
                <a:tc>
                  <a:txBody>
                    <a:bodyPr/>
                    <a:lstStyle/>
                    <a:p>
                      <a:pPr indent="0" lvl="0" marL="0" rtl="0" algn="l">
                        <a:spcBef>
                          <a:spcPts val="0"/>
                        </a:spcBef>
                        <a:spcAft>
                          <a:spcPts val="0"/>
                        </a:spcAft>
                        <a:buNone/>
                      </a:pPr>
                      <a:r>
                        <a:rPr lang="en" sz="1000"/>
                        <a:t>Layer 3 (e.g. IP)</a:t>
                      </a:r>
                      <a:endParaRPr sz="1000"/>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000">
                          <a:latin typeface="Proxima Nova"/>
                          <a:ea typeface="Proxima Nova"/>
                          <a:cs typeface="Proxima Nova"/>
                          <a:sym typeface="Proxima Nova"/>
                        </a:rPr>
                        <a:t>Layer 3 (internetwork layer) connects many LAN's. </a:t>
                      </a:r>
                      <a:r>
                        <a:rPr b="1" lang="en" sz="1000">
                          <a:latin typeface="Proxima Nova"/>
                          <a:ea typeface="Proxima Nova"/>
                          <a:cs typeface="Proxima Nova"/>
                          <a:sym typeface="Proxima Nova"/>
                        </a:rPr>
                        <a:t>IP addresses</a:t>
                      </a:r>
                      <a:r>
                        <a:rPr lang="en" sz="1000">
                          <a:latin typeface="Proxima Nova"/>
                          <a:ea typeface="Proxima Nova"/>
                          <a:cs typeface="Proxima Nova"/>
                          <a:sym typeface="Proxima Nova"/>
                        </a:rPr>
                        <a:t> uniquely identify machines globally.</a:t>
                      </a:r>
                      <a:endParaRPr sz="1000">
                        <a:latin typeface="Proxima Nova"/>
                        <a:ea typeface="Proxima Nova"/>
                        <a:cs typeface="Proxima Nova"/>
                        <a:sym typeface="Proxima Nov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93900">
                <a:tc>
                  <a:txBody>
                    <a:bodyPr/>
                    <a:lstStyle/>
                    <a:p>
                      <a:pPr indent="0" lvl="0" marL="0" rtl="0" algn="l">
                        <a:spcBef>
                          <a:spcPts val="0"/>
                        </a:spcBef>
                        <a:spcAft>
                          <a:spcPts val="0"/>
                        </a:spcAft>
                        <a:buNone/>
                      </a:pPr>
                      <a:r>
                        <a:rPr lang="en" sz="1000"/>
                        <a:t>Layer 4 (e.g. TCP/UDP)</a:t>
                      </a:r>
                      <a:endParaRPr sz="1000"/>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000">
                          <a:latin typeface="Proxima Nova"/>
                          <a:ea typeface="Proxima Nova"/>
                          <a:cs typeface="Proxima Nova"/>
                          <a:sym typeface="Proxima Nova"/>
                        </a:rPr>
                        <a:t>Layer 4 (transport layer) provides the notion of a </a:t>
                      </a:r>
                      <a:r>
                        <a:rPr b="1" lang="en" sz="1000">
                          <a:latin typeface="Proxima Nova"/>
                          <a:ea typeface="Proxima Nova"/>
                          <a:cs typeface="Proxima Nova"/>
                          <a:sym typeface="Proxima Nova"/>
                        </a:rPr>
                        <a:t>connection between individual processes</a:t>
                      </a:r>
                      <a:r>
                        <a:rPr lang="en" sz="1000">
                          <a:latin typeface="Proxima Nova"/>
                          <a:ea typeface="Proxima Nova"/>
                          <a:cs typeface="Proxima Nova"/>
                          <a:sym typeface="Proxima Nova"/>
                        </a:rPr>
                        <a:t> on machines. </a:t>
                      </a:r>
                      <a:r>
                        <a:rPr b="1" lang="en" sz="1000">
                          <a:solidFill>
                            <a:schemeClr val="dk1"/>
                          </a:solidFill>
                          <a:latin typeface="Proxima Nova"/>
                          <a:ea typeface="Proxima Nova"/>
                          <a:cs typeface="Proxima Nova"/>
                          <a:sym typeface="Proxima Nova"/>
                        </a:rPr>
                        <a:t>UDP</a:t>
                      </a:r>
                      <a:r>
                        <a:rPr lang="en" sz="1000">
                          <a:solidFill>
                            <a:schemeClr val="dk1"/>
                          </a:solidFill>
                          <a:latin typeface="Proxima Nova"/>
                          <a:ea typeface="Proxima Nova"/>
                          <a:cs typeface="Proxima Nova"/>
                          <a:sym typeface="Proxima Nova"/>
                        </a:rPr>
                        <a:t> is a best-effort transport layer protocol (no guarantees on order, but less overhead). </a:t>
                      </a:r>
                      <a:r>
                        <a:rPr b="1" lang="en" sz="1000">
                          <a:latin typeface="Proxima Nova"/>
                          <a:ea typeface="Proxima Nova"/>
                          <a:cs typeface="Proxima Nova"/>
                          <a:sym typeface="Proxima Nova"/>
                        </a:rPr>
                        <a:t>TCP</a:t>
                      </a:r>
                      <a:r>
                        <a:rPr lang="en" sz="1000">
                          <a:latin typeface="Proxima Nova"/>
                          <a:ea typeface="Proxima Nova"/>
                          <a:cs typeface="Proxima Nova"/>
                          <a:sym typeface="Proxima Nova"/>
                        </a:rPr>
                        <a:t> is reliable, in-order, and connection-based protocol.</a:t>
                      </a:r>
                      <a:endParaRPr sz="1000">
                        <a:latin typeface="Proxima Nova"/>
                        <a:ea typeface="Proxima Nova"/>
                        <a:cs typeface="Proxima Nova"/>
                        <a:sym typeface="Proxima Nov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93900">
                <a:tc>
                  <a:txBody>
                    <a:bodyPr/>
                    <a:lstStyle/>
                    <a:p>
                      <a:pPr indent="0" lvl="0" marL="0" rtl="0" algn="l">
                        <a:spcBef>
                          <a:spcPts val="0"/>
                        </a:spcBef>
                        <a:spcAft>
                          <a:spcPts val="0"/>
                        </a:spcAft>
                        <a:buNone/>
                      </a:pPr>
                      <a:r>
                        <a:rPr lang="en" sz="1000">
                          <a:latin typeface="Proxima Nova"/>
                          <a:ea typeface="Proxima Nova"/>
                          <a:cs typeface="Proxima Nova"/>
                          <a:sym typeface="Proxima Nova"/>
                        </a:rPr>
                        <a:t>Layer 4.5 (e.g. TLS)</a:t>
                      </a:r>
                      <a:endParaRPr sz="1000">
                        <a:latin typeface="Proxima Nova"/>
                        <a:ea typeface="Proxima Nova"/>
                        <a:cs typeface="Proxima Nova"/>
                        <a:sym typeface="Proxima Nov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000">
                          <a:latin typeface="Proxima Nova"/>
                          <a:ea typeface="Proxima Nova"/>
                          <a:cs typeface="Proxima Nova"/>
                          <a:sym typeface="Proxima Nova"/>
                        </a:rPr>
                        <a:t>TLS provides a </a:t>
                      </a:r>
                      <a:r>
                        <a:rPr b="1" lang="en" sz="1000">
                          <a:latin typeface="Proxima Nova"/>
                          <a:ea typeface="Proxima Nova"/>
                          <a:cs typeface="Proxima Nova"/>
                          <a:sym typeface="Proxima Nova"/>
                        </a:rPr>
                        <a:t>secure connection</a:t>
                      </a:r>
                      <a:r>
                        <a:rPr lang="en" sz="1000">
                          <a:latin typeface="Proxima Nova"/>
                          <a:ea typeface="Proxima Nova"/>
                          <a:cs typeface="Proxima Nova"/>
                          <a:sym typeface="Proxima Nova"/>
                        </a:rPr>
                        <a:t> (e.g. secure channel of communication) between processes on machines.</a:t>
                      </a:r>
                      <a:endParaRPr sz="1000">
                        <a:latin typeface="Proxima Nova"/>
                        <a:ea typeface="Proxima Nova"/>
                        <a:cs typeface="Proxima Nova"/>
                        <a:sym typeface="Proxima Nov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93900">
                <a:tc>
                  <a:txBody>
                    <a:bodyPr/>
                    <a:lstStyle/>
                    <a:p>
                      <a:pPr indent="0" lvl="0" marL="0" rtl="0" algn="l">
                        <a:spcBef>
                          <a:spcPts val="0"/>
                        </a:spcBef>
                        <a:spcAft>
                          <a:spcPts val="0"/>
                        </a:spcAft>
                        <a:buNone/>
                      </a:pPr>
                      <a:r>
                        <a:rPr lang="en" sz="1000">
                          <a:latin typeface="Proxima Nova"/>
                          <a:ea typeface="Proxima Nova"/>
                          <a:cs typeface="Proxima Nova"/>
                          <a:sym typeface="Proxima Nova"/>
                        </a:rPr>
                        <a:t>Layer 7 (e.g. HTTP)</a:t>
                      </a:r>
                      <a:endParaRPr sz="1000">
                        <a:latin typeface="Proxima Nova"/>
                        <a:ea typeface="Proxima Nova"/>
                        <a:cs typeface="Proxima Nova"/>
                        <a:sym typeface="Proxima Nov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000">
                          <a:latin typeface="Proxima Nova"/>
                          <a:ea typeface="Proxima Nova"/>
                          <a:cs typeface="Proxima Nova"/>
                          <a:sym typeface="Proxima Nova"/>
                        </a:rPr>
                        <a:t>HTTP provides a </a:t>
                      </a:r>
                      <a:r>
                        <a:rPr b="1" lang="en" sz="1000">
                          <a:latin typeface="Proxima Nova"/>
                          <a:ea typeface="Proxima Nova"/>
                          <a:cs typeface="Proxima Nova"/>
                          <a:sym typeface="Proxima Nova"/>
                        </a:rPr>
                        <a:t>framework to build applications</a:t>
                      </a:r>
                      <a:r>
                        <a:rPr lang="en" sz="1000">
                          <a:latin typeface="Proxima Nova"/>
                          <a:ea typeface="Proxima Nova"/>
                          <a:cs typeface="Proxima Nova"/>
                          <a:sym typeface="Proxima Nova"/>
                        </a:rPr>
                        <a:t> on top of lower-level layers (e.g. HTTP GET/POST/…)</a:t>
                      </a:r>
                      <a:endParaRPr sz="1000">
                        <a:latin typeface="Proxima Nova"/>
                        <a:ea typeface="Proxima Nova"/>
                        <a:cs typeface="Proxima Nova"/>
                        <a:sym typeface="Proxima Nov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101300">
                <a:tc>
                  <a:txBody>
                    <a:bodyPr/>
                    <a:lstStyle/>
                    <a:p>
                      <a:pPr indent="0" lvl="0" marL="0" rtl="0" algn="l">
                        <a:spcBef>
                          <a:spcPts val="0"/>
                        </a:spcBef>
                        <a:spcAft>
                          <a:spcPts val="0"/>
                        </a:spcAft>
                        <a:buNone/>
                      </a:pPr>
                      <a:r>
                        <a:rPr lang="en" sz="1000">
                          <a:latin typeface="Proxima Nova"/>
                          <a:ea typeface="Proxima Nova"/>
                          <a:cs typeface="Proxima Nova"/>
                          <a:sym typeface="Proxima Nova"/>
                        </a:rPr>
                        <a:t>ARP (Address Resolution)</a:t>
                      </a:r>
                      <a:endParaRPr sz="1000">
                        <a:latin typeface="Proxima Nova"/>
                        <a:ea typeface="Proxima Nova"/>
                        <a:cs typeface="Proxima Nova"/>
                        <a:sym typeface="Proxima Nov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000">
                          <a:latin typeface="Proxima Nova"/>
                          <a:ea typeface="Proxima Nova"/>
                          <a:cs typeface="Proxima Nova"/>
                          <a:sym typeface="Proxima Nova"/>
                        </a:rPr>
                        <a:t>A protocol based on Layer 2 (e.g. Ethernet) to translate IP addresses into MAC addresses.</a:t>
                      </a:r>
                      <a:endParaRPr sz="1000">
                        <a:latin typeface="Proxima Nova"/>
                        <a:ea typeface="Proxima Nova"/>
                        <a:cs typeface="Proxima Nova"/>
                        <a:sym typeface="Proxima Nov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487650">
                <a:tc>
                  <a:txBody>
                    <a:bodyPr/>
                    <a:lstStyle/>
                    <a:p>
                      <a:pPr indent="0" lvl="0" marL="0" rtl="0" algn="l">
                        <a:spcBef>
                          <a:spcPts val="0"/>
                        </a:spcBef>
                        <a:spcAft>
                          <a:spcPts val="0"/>
                        </a:spcAft>
                        <a:buNone/>
                      </a:pPr>
                      <a:r>
                        <a:rPr lang="en" sz="1000">
                          <a:latin typeface="Proxima Nova"/>
                          <a:ea typeface="Proxima Nova"/>
                          <a:cs typeface="Proxima Nova"/>
                          <a:sym typeface="Proxima Nova"/>
                        </a:rPr>
                        <a:t>WPA (Wi-Fi Protected Access)</a:t>
                      </a:r>
                      <a:endParaRPr sz="1000">
                        <a:latin typeface="Proxima Nova"/>
                        <a:ea typeface="Proxima Nova"/>
                        <a:cs typeface="Proxima Nova"/>
                        <a:sym typeface="Proxima Nov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000">
                          <a:latin typeface="Proxima Nova"/>
                          <a:ea typeface="Proxima Nova"/>
                          <a:cs typeface="Proxima Nova"/>
                          <a:sym typeface="Proxima Nova"/>
                        </a:rPr>
                        <a:t>A protocol that enables </a:t>
                      </a:r>
                      <a:r>
                        <a:rPr b="1" lang="en" sz="1000">
                          <a:latin typeface="Proxima Nova"/>
                          <a:ea typeface="Proxima Nova"/>
                          <a:cs typeface="Proxima Nova"/>
                          <a:sym typeface="Proxima Nova"/>
                        </a:rPr>
                        <a:t>secure wireless communication in a LAN. </a:t>
                      </a:r>
                      <a:r>
                        <a:rPr lang="en" sz="1000">
                          <a:latin typeface="Proxima Nova"/>
                          <a:ea typeface="Proxima Nova"/>
                          <a:cs typeface="Proxima Nova"/>
                          <a:sym typeface="Proxima Nova"/>
                        </a:rPr>
                        <a:t>With WPA2-PSK, multiple devices within a LAN (e.g. multiple computers, or a computer and a router) can communicate securely.</a:t>
                      </a:r>
                      <a:endParaRPr sz="1000">
                        <a:latin typeface="Proxima Nova"/>
                        <a:ea typeface="Proxima Nova"/>
                        <a:cs typeface="Proxima Nova"/>
                        <a:sym typeface="Proxima Nov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175700">
                <a:tc>
                  <a:txBody>
                    <a:bodyPr/>
                    <a:lstStyle/>
                    <a:p>
                      <a:pPr indent="0" lvl="0" marL="0" rtl="0" algn="l">
                        <a:spcBef>
                          <a:spcPts val="0"/>
                        </a:spcBef>
                        <a:spcAft>
                          <a:spcPts val="0"/>
                        </a:spcAft>
                        <a:buNone/>
                      </a:pPr>
                      <a:r>
                        <a:rPr lang="en" sz="1000">
                          <a:latin typeface="Proxima Nova"/>
                          <a:ea typeface="Proxima Nova"/>
                          <a:cs typeface="Proxima Nova"/>
                          <a:sym typeface="Proxima Nova"/>
                        </a:rPr>
                        <a:t>DHCP (Dynamic Host Configuration Protocol)</a:t>
                      </a:r>
                      <a:endParaRPr sz="1000">
                        <a:latin typeface="Proxima Nova"/>
                        <a:ea typeface="Proxima Nova"/>
                        <a:cs typeface="Proxima Nova"/>
                        <a:sym typeface="Proxima Nov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000">
                          <a:latin typeface="Proxima Nova"/>
                          <a:ea typeface="Proxima Nova"/>
                          <a:cs typeface="Proxima Nova"/>
                          <a:sym typeface="Proxima Nova"/>
                        </a:rPr>
                        <a:t>A protocol based on Layer 2/3 (e.g. Ethernet and IP) that enables communication over a LAN and the internet. It allows clients to acquire an </a:t>
                      </a:r>
                      <a:r>
                        <a:rPr b="1" lang="en" sz="1000">
                          <a:latin typeface="Proxima Nova"/>
                          <a:ea typeface="Proxima Nova"/>
                          <a:cs typeface="Proxima Nova"/>
                          <a:sym typeface="Proxima Nova"/>
                        </a:rPr>
                        <a:t>IP address, the IP address of the DNS server, and IP address of the router.</a:t>
                      </a:r>
                      <a:endParaRPr b="1" sz="1000">
                        <a:latin typeface="Proxima Nova"/>
                        <a:ea typeface="Proxima Nova"/>
                        <a:cs typeface="Proxima Nova"/>
                        <a:sym typeface="Proxima Nov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169525">
                <a:tc>
                  <a:txBody>
                    <a:bodyPr/>
                    <a:lstStyle/>
                    <a:p>
                      <a:pPr indent="0" lvl="0" marL="0" rtl="0" algn="l">
                        <a:spcBef>
                          <a:spcPts val="0"/>
                        </a:spcBef>
                        <a:spcAft>
                          <a:spcPts val="0"/>
                        </a:spcAft>
                        <a:buNone/>
                      </a:pPr>
                      <a:r>
                        <a:rPr lang="en" sz="1000">
                          <a:latin typeface="Proxima Nova"/>
                          <a:ea typeface="Proxima Nova"/>
                          <a:cs typeface="Proxima Nova"/>
                          <a:sym typeface="Proxima Nova"/>
                        </a:rPr>
                        <a:t>BGP (Border Gateway)</a:t>
                      </a:r>
                      <a:endParaRPr sz="1000">
                        <a:latin typeface="Proxima Nova"/>
                        <a:ea typeface="Proxima Nova"/>
                        <a:cs typeface="Proxima Nova"/>
                        <a:sym typeface="Proxima Nov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1000">
                          <a:latin typeface="Proxima Nova"/>
                          <a:ea typeface="Proxima Nova"/>
                          <a:cs typeface="Proxima Nova"/>
                          <a:sym typeface="Proxima Nova"/>
                        </a:rPr>
                        <a:t>A protocol based on Layer 3 (e.g. IP addresses) that connects lots of local networks (border gateway protocol).</a:t>
                      </a:r>
                      <a:endParaRPr sz="1000">
                        <a:latin typeface="Proxima Nova"/>
                        <a:ea typeface="Proxima Nova"/>
                        <a:cs typeface="Proxima Nova"/>
                        <a:sym typeface="Proxima Nov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chemeClr val="lt1"/>
                    </a:solidFill>
                  </a:tcPr>
                </a:tc>
              </a:tr>
              <a:tr h="293900">
                <a:tc>
                  <a:txBody>
                    <a:bodyPr/>
                    <a:lstStyle/>
                    <a:p>
                      <a:pPr indent="0" lvl="0" marL="0" rtl="0" algn="l">
                        <a:spcBef>
                          <a:spcPts val="0"/>
                        </a:spcBef>
                        <a:spcAft>
                          <a:spcPts val="0"/>
                        </a:spcAft>
                        <a:buNone/>
                      </a:pPr>
                      <a:r>
                        <a:rPr lang="en" sz="1000">
                          <a:latin typeface="Proxima Nova"/>
                          <a:ea typeface="Proxima Nova"/>
                          <a:cs typeface="Proxima Nova"/>
                          <a:sym typeface="Proxima Nova"/>
                        </a:rPr>
                        <a:t>DNS (Domain Name System) &amp; DNSSEC</a:t>
                      </a:r>
                      <a:endParaRPr sz="1000">
                        <a:latin typeface="Proxima Nova"/>
                        <a:ea typeface="Proxima Nova"/>
                        <a:cs typeface="Proxima Nova"/>
                        <a:sym typeface="Proxima Nov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 sz="1000">
                          <a:latin typeface="Proxima Nova"/>
                          <a:ea typeface="Proxima Nova"/>
                          <a:cs typeface="Proxima Nova"/>
                          <a:sym typeface="Proxima Nova"/>
                        </a:rPr>
                        <a:t>A protocol based on Layer 4 (e.g. TCP) that allows computers to resolve </a:t>
                      </a:r>
                      <a:r>
                        <a:rPr lang="en" sz="1000" u="sng">
                          <a:solidFill>
                            <a:schemeClr val="hlink"/>
                          </a:solidFill>
                          <a:latin typeface="Proxima Nova"/>
                          <a:ea typeface="Proxima Nova"/>
                          <a:cs typeface="Proxima Nova"/>
                          <a:sym typeface="Proxima Nova"/>
                          <a:hlinkClick r:id="rId3"/>
                        </a:rPr>
                        <a:t>https://google.com/</a:t>
                      </a:r>
                      <a:r>
                        <a:rPr lang="en" sz="1000">
                          <a:latin typeface="Proxima Nova"/>
                          <a:ea typeface="Proxima Nova"/>
                          <a:cs typeface="Proxima Nova"/>
                          <a:sym typeface="Proxima Nova"/>
                        </a:rPr>
                        <a:t> into 127.217.4.174 (IP addresses). It uses a hierarchical system of </a:t>
                      </a:r>
                      <a:r>
                        <a:rPr b="1" lang="en" sz="1000">
                          <a:latin typeface="Proxima Nova"/>
                          <a:ea typeface="Proxima Nova"/>
                          <a:cs typeface="Proxima Nova"/>
                          <a:sym typeface="Proxima Nova"/>
                        </a:rPr>
                        <a:t>name servers</a:t>
                      </a:r>
                      <a:r>
                        <a:rPr lang="en" sz="1000">
                          <a:latin typeface="Proxima Nova"/>
                          <a:ea typeface="Proxima Nova"/>
                          <a:cs typeface="Proxima Nova"/>
                          <a:sym typeface="Proxima Nova"/>
                        </a:rPr>
                        <a:t> that exist across the internet. DNS queries are made over UDP.</a:t>
                      </a:r>
                      <a:endParaRPr sz="1000">
                        <a:latin typeface="Proxima Nova"/>
                        <a:ea typeface="Proxima Nova"/>
                        <a:cs typeface="Proxima Nova"/>
                        <a:sym typeface="Proxima Nova"/>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solidFill>
                      <a:srgbClr val="D9EAD3"/>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8"/>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DNS</a:t>
            </a:r>
            <a:endParaRPr/>
          </a:p>
        </p:txBody>
      </p:sp>
      <p:sp>
        <p:nvSpPr>
          <p:cNvPr id="83" name="Google Shape;83;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Domain Names</a:t>
            </a:r>
            <a:endParaRPr/>
          </a:p>
        </p:txBody>
      </p:sp>
      <p:sp>
        <p:nvSpPr>
          <p:cNvPr id="89" name="Google Shape;89;p19"/>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Computers are addressed by IP address on the Internet</a:t>
            </a:r>
            <a:endParaRPr/>
          </a:p>
          <a:p>
            <a:pPr indent="-317500" lvl="1" marL="914400" rtl="0" algn="l">
              <a:spcBef>
                <a:spcPts val="0"/>
              </a:spcBef>
              <a:spcAft>
                <a:spcPts val="0"/>
              </a:spcAft>
              <a:buSzPts val="1400"/>
              <a:buChar char="○"/>
            </a:pPr>
            <a:r>
              <a:rPr lang="en"/>
              <a:t>Example: </a:t>
            </a:r>
            <a:r>
              <a:rPr b="1" lang="en">
                <a:latin typeface="Courier New"/>
                <a:ea typeface="Courier New"/>
                <a:cs typeface="Courier New"/>
                <a:sym typeface="Courier New"/>
              </a:rPr>
              <a:t>74.125.25.99</a:t>
            </a:r>
            <a:endParaRPr b="1">
              <a:latin typeface="Courier New"/>
              <a:ea typeface="Courier New"/>
              <a:cs typeface="Courier New"/>
              <a:sym typeface="Courier New"/>
            </a:endParaRPr>
          </a:p>
          <a:p>
            <a:pPr indent="-317500" lvl="1" marL="914400" rtl="0" algn="l">
              <a:spcBef>
                <a:spcPts val="0"/>
              </a:spcBef>
              <a:spcAft>
                <a:spcPts val="0"/>
              </a:spcAft>
              <a:buSzPts val="1400"/>
              <a:buChar char="○"/>
            </a:pPr>
            <a:r>
              <a:rPr lang="en"/>
              <a:t>Useful for machines: Can be used to route packets to the correct destination</a:t>
            </a:r>
            <a:endParaRPr/>
          </a:p>
          <a:p>
            <a:pPr indent="-317500" lvl="1" marL="914400" rtl="0" algn="l">
              <a:spcBef>
                <a:spcPts val="0"/>
              </a:spcBef>
              <a:spcAft>
                <a:spcPts val="0"/>
              </a:spcAft>
              <a:buSzPts val="1400"/>
              <a:buChar char="○"/>
            </a:pPr>
            <a:r>
              <a:rPr lang="en"/>
              <a:t>Not useful for humans: Numbers are not meaningful to humans, hard to remember</a:t>
            </a:r>
            <a:endParaRPr/>
          </a:p>
          <a:p>
            <a:pPr indent="-342900" lvl="0" marL="457200" rtl="0" algn="l">
              <a:spcBef>
                <a:spcPts val="0"/>
              </a:spcBef>
              <a:spcAft>
                <a:spcPts val="0"/>
              </a:spcAft>
              <a:buSzPts val="1800"/>
              <a:buChar char="●"/>
            </a:pPr>
            <a:r>
              <a:rPr lang="en"/>
              <a:t>More useful to humans: Human-readable domain names</a:t>
            </a:r>
            <a:endParaRPr/>
          </a:p>
          <a:p>
            <a:pPr indent="-317500" lvl="1" marL="914400" rtl="0" algn="l">
              <a:spcBef>
                <a:spcPts val="0"/>
              </a:spcBef>
              <a:spcAft>
                <a:spcPts val="0"/>
              </a:spcAft>
              <a:buSzPts val="1400"/>
              <a:buChar char="○"/>
            </a:pPr>
            <a:r>
              <a:rPr lang="en"/>
              <a:t>Example:</a:t>
            </a:r>
            <a:r>
              <a:rPr lang="en"/>
              <a:t> </a:t>
            </a:r>
            <a:r>
              <a:rPr b="1" lang="en">
                <a:latin typeface="Courier New"/>
                <a:ea typeface="Courier New"/>
                <a:cs typeface="Courier New"/>
                <a:sym typeface="Courier New"/>
              </a:rPr>
              <a:t>www.google.com</a:t>
            </a:r>
            <a:endParaRPr b="1">
              <a:latin typeface="Courier New"/>
              <a:ea typeface="Courier New"/>
              <a:cs typeface="Courier New"/>
              <a:sym typeface="Courier New"/>
            </a:endParaRPr>
          </a:p>
          <a:p>
            <a:pPr indent="-317500" lvl="1" marL="914400" rtl="0" algn="l">
              <a:spcBef>
                <a:spcPts val="0"/>
              </a:spcBef>
              <a:spcAft>
                <a:spcPts val="0"/>
              </a:spcAft>
              <a:buSzPts val="1400"/>
              <a:buChar char="○"/>
            </a:pPr>
            <a:r>
              <a:rPr lang="en"/>
              <a:t>Not useful for machines: Contains no relevant routing information</a:t>
            </a:r>
            <a:endParaRPr/>
          </a:p>
          <a:p>
            <a:pPr indent="-317500" lvl="1" marL="914400" rtl="0" algn="l">
              <a:spcBef>
                <a:spcPts val="0"/>
              </a:spcBef>
              <a:spcAft>
                <a:spcPts val="0"/>
              </a:spcAft>
              <a:buSzPts val="1400"/>
              <a:buChar char="○"/>
            </a:pPr>
            <a:r>
              <a:rPr lang="en"/>
              <a:t>Useful for humans: Meaningful words and phrases, easy to remember</a:t>
            </a:r>
            <a:endParaRPr/>
          </a:p>
          <a:p>
            <a:pPr indent="-317500" lvl="1" marL="914400" rtl="0" algn="l">
              <a:spcBef>
                <a:spcPts val="0"/>
              </a:spcBef>
              <a:spcAft>
                <a:spcPts val="0"/>
              </a:spcAft>
              <a:buSzPts val="1400"/>
              <a:buChar char="○"/>
            </a:pPr>
            <a:r>
              <a:rPr lang="en"/>
              <a:t>Note: Domain names are not URLs. Domain names are part of a URL:</a:t>
            </a:r>
            <a:br>
              <a:rPr lang="en"/>
            </a:br>
            <a:r>
              <a:rPr b="1" lang="en">
                <a:latin typeface="Courier New"/>
                <a:ea typeface="Courier New"/>
                <a:cs typeface="Courier New"/>
                <a:sym typeface="Courier New"/>
              </a:rPr>
              <a:t>https://</a:t>
            </a:r>
            <a:r>
              <a:rPr b="1" lang="en">
                <a:solidFill>
                  <a:srgbClr val="FF0000"/>
                </a:solidFill>
                <a:latin typeface="Courier New"/>
                <a:ea typeface="Courier New"/>
                <a:cs typeface="Courier New"/>
                <a:sym typeface="Courier New"/>
              </a:rPr>
              <a:t>www.google.com</a:t>
            </a:r>
            <a:r>
              <a:rPr b="1" lang="en">
                <a:latin typeface="Courier New"/>
                <a:ea typeface="Courier New"/>
                <a:cs typeface="Courier New"/>
                <a:sym typeface="Courier New"/>
              </a:rPr>
              <a:t>/index.html</a:t>
            </a:r>
            <a:endParaRPr b="1">
              <a:latin typeface="Courier New"/>
              <a:ea typeface="Courier New"/>
              <a:cs typeface="Courier New"/>
              <a:sym typeface="Courier New"/>
            </a:endParaRPr>
          </a:p>
        </p:txBody>
      </p:sp>
      <p:sp>
        <p:nvSpPr>
          <p:cNvPr id="90" name="Google Shape;90;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 Definition</a:t>
            </a:r>
            <a:endParaRPr/>
          </a:p>
        </p:txBody>
      </p:sp>
      <p:sp>
        <p:nvSpPr>
          <p:cNvPr id="96" name="Google Shape;96;p20"/>
          <p:cNvSpPr txBox="1"/>
          <p:nvPr>
            <p:ph idx="1" type="body"/>
          </p:nvPr>
        </p:nvSpPr>
        <p:spPr>
          <a:xfrm>
            <a:off x="198500" y="1246825"/>
            <a:ext cx="8520600" cy="2538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DNS</a:t>
            </a:r>
            <a:r>
              <a:rPr b="1" lang="en"/>
              <a:t> (</a:t>
            </a:r>
            <a:r>
              <a:rPr b="1" lang="en"/>
              <a:t>Domain Name System)</a:t>
            </a:r>
            <a:r>
              <a:rPr lang="en"/>
              <a:t>: An Internet protocol for translating human-readable domain names to IP addresses</a:t>
            </a:r>
            <a:endParaRPr/>
          </a:p>
          <a:p>
            <a:pPr indent="-342900" lvl="0" marL="457200" rtl="0" algn="l">
              <a:spcBef>
                <a:spcPts val="0"/>
              </a:spcBef>
              <a:spcAft>
                <a:spcPts val="0"/>
              </a:spcAft>
              <a:buSzPts val="1800"/>
              <a:buChar char="●"/>
            </a:pPr>
            <a:r>
              <a:rPr lang="en"/>
              <a:t>Usage</a:t>
            </a:r>
            <a:endParaRPr/>
          </a:p>
          <a:p>
            <a:pPr indent="-317500" lvl="1" marL="914400" rtl="0" algn="l">
              <a:spcBef>
                <a:spcPts val="0"/>
              </a:spcBef>
              <a:spcAft>
                <a:spcPts val="0"/>
              </a:spcAft>
              <a:buSzPts val="1400"/>
              <a:buChar char="○"/>
            </a:pPr>
            <a:r>
              <a:rPr lang="en"/>
              <a:t>You want to send a packet to a certain domain (e.g., you type a domain into your browser)</a:t>
            </a:r>
            <a:endParaRPr/>
          </a:p>
          <a:p>
            <a:pPr indent="-317500" lvl="1" marL="914400" rtl="0" algn="l">
              <a:spcBef>
                <a:spcPts val="0"/>
              </a:spcBef>
              <a:spcAft>
                <a:spcPts val="0"/>
              </a:spcAft>
              <a:buSzPts val="1400"/>
              <a:buChar char="○"/>
            </a:pPr>
            <a:r>
              <a:rPr lang="en"/>
              <a:t>Your computer </a:t>
            </a:r>
            <a:r>
              <a:rPr lang="en"/>
              <a:t>performs</a:t>
            </a:r>
            <a:r>
              <a:rPr lang="en"/>
              <a:t> a </a:t>
            </a:r>
            <a:r>
              <a:rPr b="1" lang="en"/>
              <a:t>DNS lookup</a:t>
            </a:r>
            <a:r>
              <a:rPr lang="en"/>
              <a:t> to translate the domain name to an IP address</a:t>
            </a:r>
            <a:endParaRPr/>
          </a:p>
          <a:p>
            <a:pPr indent="-317500" lvl="1" marL="914400" rtl="0" algn="l">
              <a:spcBef>
                <a:spcPts val="0"/>
              </a:spcBef>
              <a:spcAft>
                <a:spcPts val="0"/>
              </a:spcAft>
              <a:buSzPts val="1400"/>
              <a:buChar char="○"/>
            </a:pPr>
            <a:r>
              <a:rPr lang="en"/>
              <a:t>Your computer sends the packet to the corresponding IP address</a:t>
            </a:r>
            <a:endParaRPr/>
          </a:p>
        </p:txBody>
      </p:sp>
      <p:sp>
        <p:nvSpPr>
          <p:cNvPr id="97" name="Google Shape;97;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98" name="Google Shape;98;p20"/>
          <p:cNvSpPr txBox="1"/>
          <p:nvPr/>
        </p:nvSpPr>
        <p:spPr>
          <a:xfrm>
            <a:off x="5697525" y="4184775"/>
            <a:ext cx="1942500" cy="461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b="1" lang="en" sz="1800">
                <a:solidFill>
                  <a:schemeClr val="dk1"/>
                </a:solidFill>
                <a:latin typeface="Courier New"/>
                <a:ea typeface="Courier New"/>
                <a:cs typeface="Courier New"/>
                <a:sym typeface="Courier New"/>
              </a:rPr>
              <a:t>74.125.25.99</a:t>
            </a:r>
            <a:endParaRPr sz="1800"/>
          </a:p>
        </p:txBody>
      </p:sp>
      <p:sp>
        <p:nvSpPr>
          <p:cNvPr id="99" name="Google Shape;99;p20"/>
          <p:cNvSpPr txBox="1"/>
          <p:nvPr/>
        </p:nvSpPr>
        <p:spPr>
          <a:xfrm>
            <a:off x="1231150" y="4184775"/>
            <a:ext cx="2188800" cy="461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200"/>
              </a:spcAft>
              <a:buNone/>
            </a:pPr>
            <a:r>
              <a:rPr b="1" lang="en" sz="1800">
                <a:solidFill>
                  <a:schemeClr val="dk1"/>
                </a:solidFill>
                <a:latin typeface="Courier New"/>
                <a:ea typeface="Courier New"/>
                <a:cs typeface="Courier New"/>
                <a:sym typeface="Courier New"/>
              </a:rPr>
              <a:t>www.google.com</a:t>
            </a:r>
            <a:endParaRPr sz="1800"/>
          </a:p>
        </p:txBody>
      </p:sp>
      <p:cxnSp>
        <p:nvCxnSpPr>
          <p:cNvPr id="100" name="Google Shape;100;p20"/>
          <p:cNvCxnSpPr>
            <a:endCxn id="98" idx="1"/>
          </p:cNvCxnSpPr>
          <p:nvPr/>
        </p:nvCxnSpPr>
        <p:spPr>
          <a:xfrm>
            <a:off x="3419925" y="4415625"/>
            <a:ext cx="2277600" cy="0"/>
          </a:xfrm>
          <a:prstGeom prst="straightConnector1">
            <a:avLst/>
          </a:prstGeom>
          <a:noFill/>
          <a:ln cap="flat" cmpd="sng" w="19050">
            <a:solidFill>
              <a:schemeClr val="dk1"/>
            </a:solidFill>
            <a:prstDash val="solid"/>
            <a:round/>
            <a:headEnd len="med" w="med" type="none"/>
            <a:tailEnd len="med" w="med" type="triangle"/>
          </a:ln>
        </p:spPr>
      </p:cxnSp>
      <p:sp>
        <p:nvSpPr>
          <p:cNvPr id="101" name="Google Shape;101;p20"/>
          <p:cNvSpPr txBox="1"/>
          <p:nvPr/>
        </p:nvSpPr>
        <p:spPr>
          <a:xfrm>
            <a:off x="3419875" y="4082175"/>
            <a:ext cx="2229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DNS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 Name Servers</a:t>
            </a:r>
            <a:endParaRPr/>
          </a:p>
        </p:txBody>
      </p:sp>
      <p:sp>
        <p:nvSpPr>
          <p:cNvPr id="107" name="Google Shape;107;p21"/>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Name server</a:t>
            </a:r>
            <a:r>
              <a:rPr lang="en"/>
              <a:t>: A server on the Internet responsible for answering DNS requests</a:t>
            </a:r>
            <a:endParaRPr/>
          </a:p>
          <a:p>
            <a:pPr indent="-317500" lvl="1" marL="914400" rtl="0" algn="l">
              <a:spcBef>
                <a:spcPts val="0"/>
              </a:spcBef>
              <a:spcAft>
                <a:spcPts val="0"/>
              </a:spcAft>
              <a:buSzPts val="1400"/>
              <a:buChar char="○"/>
            </a:pPr>
            <a:r>
              <a:rPr lang="en"/>
              <a:t>Name servers have domain names and IP addresses too</a:t>
            </a:r>
            <a:endParaRPr/>
          </a:p>
          <a:p>
            <a:pPr indent="-317500" lvl="1" marL="914400" rtl="0" algn="l">
              <a:spcBef>
                <a:spcPts val="0"/>
              </a:spcBef>
              <a:spcAft>
                <a:spcPts val="0"/>
              </a:spcAft>
              <a:buSzPts val="1400"/>
              <a:buChar char="○"/>
            </a:pPr>
            <a:r>
              <a:rPr lang="en"/>
              <a:t>Example: Domain </a:t>
            </a:r>
            <a:r>
              <a:rPr b="1" lang="en">
                <a:latin typeface="Courier New"/>
                <a:ea typeface="Courier New"/>
                <a:cs typeface="Courier New"/>
                <a:sym typeface="Courier New"/>
              </a:rPr>
              <a:t>a.edu-servers.net</a:t>
            </a:r>
            <a:r>
              <a:rPr lang="en"/>
              <a:t> with IP </a:t>
            </a:r>
            <a:r>
              <a:rPr b="1" lang="en">
                <a:latin typeface="Courier New"/>
                <a:ea typeface="Courier New"/>
                <a:cs typeface="Courier New"/>
                <a:sym typeface="Courier New"/>
              </a:rPr>
              <a:t>192.5.6.30</a:t>
            </a:r>
            <a:r>
              <a:rPr lang="en"/>
              <a:t> is a name server</a:t>
            </a:r>
            <a:endParaRPr/>
          </a:p>
          <a:p>
            <a:pPr indent="-342900" lvl="0" marL="457200" rtl="0" algn="l">
              <a:spcBef>
                <a:spcPts val="0"/>
              </a:spcBef>
              <a:spcAft>
                <a:spcPts val="0"/>
              </a:spcAft>
              <a:buSzPts val="1800"/>
              <a:buChar char="●"/>
            </a:pPr>
            <a:r>
              <a:rPr lang="en"/>
              <a:t>Usage:</a:t>
            </a:r>
            <a:endParaRPr/>
          </a:p>
          <a:p>
            <a:pPr indent="-317500" lvl="1" marL="914400" rtl="0" algn="l">
              <a:spcBef>
                <a:spcPts val="0"/>
              </a:spcBef>
              <a:spcAft>
                <a:spcPts val="0"/>
              </a:spcAft>
              <a:buSzPts val="1400"/>
              <a:buChar char="○"/>
            </a:pPr>
            <a:r>
              <a:rPr lang="en"/>
              <a:t>To perform a DNS lookup, your computer sends a </a:t>
            </a:r>
            <a:r>
              <a:rPr b="1" lang="en"/>
              <a:t>DNS query </a:t>
            </a:r>
            <a:r>
              <a:rPr lang="en"/>
              <a:t>(e.g., “What is the IP address of </a:t>
            </a:r>
            <a:r>
              <a:rPr b="1" lang="en">
                <a:latin typeface="Courier New"/>
                <a:ea typeface="Courier New"/>
                <a:cs typeface="Courier New"/>
                <a:sym typeface="Courier New"/>
              </a:rPr>
              <a:t>www.google.com</a:t>
            </a:r>
            <a:r>
              <a:rPr lang="en"/>
              <a:t>?”)</a:t>
            </a:r>
            <a:endParaRPr/>
          </a:p>
          <a:p>
            <a:pPr indent="-317500" lvl="1" marL="914400" rtl="0" algn="l">
              <a:spcBef>
                <a:spcPts val="0"/>
              </a:spcBef>
              <a:spcAft>
                <a:spcPts val="0"/>
              </a:spcAft>
              <a:buSzPts val="1400"/>
              <a:buChar char="○"/>
            </a:pPr>
            <a:r>
              <a:rPr lang="en"/>
              <a:t>The name server sends a </a:t>
            </a:r>
            <a:r>
              <a:rPr b="1" lang="en"/>
              <a:t>DNS response</a:t>
            </a:r>
            <a:r>
              <a:rPr lang="en"/>
              <a:t> with the answer (e.g., “The IP address of </a:t>
            </a:r>
            <a:r>
              <a:rPr b="1" lang="en">
                <a:latin typeface="Courier New"/>
                <a:ea typeface="Courier New"/>
                <a:cs typeface="Courier New"/>
                <a:sym typeface="Courier New"/>
              </a:rPr>
              <a:t>www.google.com</a:t>
            </a:r>
            <a:r>
              <a:rPr lang="en"/>
              <a:t> is </a:t>
            </a:r>
            <a:r>
              <a:rPr b="1" lang="en">
                <a:latin typeface="Courier New"/>
                <a:ea typeface="Courier New"/>
                <a:cs typeface="Courier New"/>
                <a:sym typeface="Courier New"/>
              </a:rPr>
              <a:t>74.125.25.99</a:t>
            </a:r>
            <a:r>
              <a:rPr lang="en"/>
              <a:t>”)</a:t>
            </a:r>
            <a:endParaRPr/>
          </a:p>
          <a:p>
            <a:pPr indent="-342900" lvl="0" marL="457200" rtl="0" algn="l">
              <a:spcBef>
                <a:spcPts val="0"/>
              </a:spcBef>
              <a:spcAft>
                <a:spcPts val="0"/>
              </a:spcAft>
              <a:buSzPts val="1800"/>
              <a:buChar char="●"/>
            </a:pPr>
            <a:r>
              <a:rPr lang="en"/>
              <a:t>Issues</a:t>
            </a:r>
            <a:endParaRPr/>
          </a:p>
          <a:p>
            <a:pPr indent="-317500" lvl="1" marL="914400" rtl="0" algn="l">
              <a:spcBef>
                <a:spcPts val="0"/>
              </a:spcBef>
              <a:spcAft>
                <a:spcPts val="0"/>
              </a:spcAft>
              <a:buSzPts val="1400"/>
              <a:buChar char="○"/>
            </a:pPr>
            <a:r>
              <a:rPr lang="en"/>
              <a:t>One name server won’t be able to handle every DNS request from the entire Internet</a:t>
            </a:r>
            <a:endParaRPr/>
          </a:p>
          <a:p>
            <a:pPr indent="-317500" lvl="1" marL="914400" rtl="0" algn="l">
              <a:spcBef>
                <a:spcPts val="0"/>
              </a:spcBef>
              <a:spcAft>
                <a:spcPts val="0"/>
              </a:spcAft>
              <a:buSzPts val="1400"/>
              <a:buChar char="○"/>
            </a:pPr>
            <a:r>
              <a:rPr lang="en"/>
              <a:t>If there are many name servers, how do you know which one to contact?</a:t>
            </a:r>
            <a:endParaRPr/>
          </a:p>
        </p:txBody>
      </p:sp>
      <p:sp>
        <p:nvSpPr>
          <p:cNvPr id="108" name="Google Shape;108;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 Name Server Hierarchy</a:t>
            </a:r>
            <a:endParaRPr/>
          </a:p>
        </p:txBody>
      </p:sp>
      <p:sp>
        <p:nvSpPr>
          <p:cNvPr id="114" name="Google Shape;114;p22"/>
          <p:cNvSpPr txBox="1"/>
          <p:nvPr>
            <p:ph idx="1" type="body"/>
          </p:nvPr>
        </p:nvSpPr>
        <p:spPr>
          <a:xfrm>
            <a:off x="198500" y="1246825"/>
            <a:ext cx="8520600" cy="1721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Idea #1: If one name server doesn’t know the answer to your query, the name server can direct you to another name server</a:t>
            </a:r>
            <a:endParaRPr/>
          </a:p>
          <a:p>
            <a:pPr indent="-317500" lvl="1" marL="914400" rtl="0" algn="l">
              <a:spcBef>
                <a:spcPts val="0"/>
              </a:spcBef>
              <a:spcAft>
                <a:spcPts val="0"/>
              </a:spcAft>
              <a:buSzPts val="1400"/>
              <a:buChar char="○"/>
            </a:pPr>
            <a:r>
              <a:rPr lang="en"/>
              <a:t>Analogy: If I don't know the answer to your question, I will direct you to a friend who can help</a:t>
            </a:r>
            <a:endParaRPr/>
          </a:p>
          <a:p>
            <a:pPr indent="-342900" lvl="0" marL="457200" rtl="0" algn="l">
              <a:spcBef>
                <a:spcPts val="0"/>
              </a:spcBef>
              <a:spcAft>
                <a:spcPts val="0"/>
              </a:spcAft>
              <a:buSzPts val="1800"/>
              <a:buChar char="●"/>
            </a:pPr>
            <a:r>
              <a:rPr lang="en"/>
              <a:t>Idea #2: Arrange the name servers in a tree hierarchy</a:t>
            </a:r>
            <a:endParaRPr/>
          </a:p>
          <a:p>
            <a:pPr indent="-317500" lvl="1" marL="914400" rtl="0" algn="l">
              <a:spcBef>
                <a:spcPts val="0"/>
              </a:spcBef>
              <a:spcAft>
                <a:spcPts val="0"/>
              </a:spcAft>
              <a:buSzPts val="1400"/>
              <a:buChar char="○"/>
            </a:pPr>
            <a:r>
              <a:rPr lang="en"/>
              <a:t>Intuition: Name servers will direct you down the tree until you receive the answer to your query</a:t>
            </a:r>
            <a:endParaRPr/>
          </a:p>
        </p:txBody>
      </p:sp>
      <p:sp>
        <p:nvSpPr>
          <p:cNvPr id="115" name="Google Shape;115;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116" name="Google Shape;116;p22"/>
          <p:cNvGrpSpPr/>
          <p:nvPr/>
        </p:nvGrpSpPr>
        <p:grpSpPr>
          <a:xfrm>
            <a:off x="1590000" y="2881825"/>
            <a:ext cx="6073725" cy="2082050"/>
            <a:chOff x="1590000" y="2881825"/>
            <a:chExt cx="6073725" cy="2082050"/>
          </a:xfrm>
        </p:grpSpPr>
        <p:sp>
          <p:nvSpPr>
            <p:cNvPr id="117" name="Google Shape;117;p22"/>
            <p:cNvSpPr txBox="1"/>
            <p:nvPr/>
          </p:nvSpPr>
          <p:spPr>
            <a:xfrm>
              <a:off x="3922400" y="2881825"/>
              <a:ext cx="1238100" cy="3936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 (root)</a:t>
              </a:r>
              <a:endParaRPr>
                <a:latin typeface="Courier New"/>
                <a:ea typeface="Courier New"/>
                <a:cs typeface="Courier New"/>
                <a:sym typeface="Courier New"/>
              </a:endParaRPr>
            </a:p>
          </p:txBody>
        </p:sp>
        <p:sp>
          <p:nvSpPr>
            <p:cNvPr id="118" name="Google Shape;118;p22"/>
            <p:cNvSpPr txBox="1"/>
            <p:nvPr/>
          </p:nvSpPr>
          <p:spPr>
            <a:xfrm>
              <a:off x="2576875" y="3809402"/>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.edu</a:t>
              </a:r>
              <a:endParaRPr>
                <a:latin typeface="Calibri"/>
                <a:ea typeface="Calibri"/>
                <a:cs typeface="Calibri"/>
                <a:sym typeface="Calibri"/>
              </a:endParaRPr>
            </a:p>
          </p:txBody>
        </p:sp>
        <p:sp>
          <p:nvSpPr>
            <p:cNvPr id="119" name="Google Shape;119;p22"/>
            <p:cNvSpPr txBox="1"/>
            <p:nvPr/>
          </p:nvSpPr>
          <p:spPr>
            <a:xfrm>
              <a:off x="4678975" y="3809402"/>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.org</a:t>
              </a:r>
              <a:endParaRPr>
                <a:latin typeface="Calibri"/>
                <a:ea typeface="Calibri"/>
                <a:cs typeface="Calibri"/>
                <a:sym typeface="Calibri"/>
              </a:endParaRPr>
            </a:p>
          </p:txBody>
        </p:sp>
        <p:sp>
          <p:nvSpPr>
            <p:cNvPr id="120" name="Google Shape;120;p22"/>
            <p:cNvSpPr txBox="1"/>
            <p:nvPr/>
          </p:nvSpPr>
          <p:spPr>
            <a:xfrm>
              <a:off x="5837625" y="3809402"/>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.com</a:t>
              </a:r>
              <a:endParaRPr>
                <a:latin typeface="Calibri"/>
                <a:ea typeface="Calibri"/>
                <a:cs typeface="Calibri"/>
                <a:sym typeface="Calibri"/>
              </a:endParaRPr>
            </a:p>
          </p:txBody>
        </p:sp>
        <p:sp>
          <p:nvSpPr>
            <p:cNvPr id="121" name="Google Shape;121;p22"/>
            <p:cNvSpPr txBox="1"/>
            <p:nvPr/>
          </p:nvSpPr>
          <p:spPr>
            <a:xfrm>
              <a:off x="6506025" y="4570275"/>
              <a:ext cx="11577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google.com</a:t>
              </a:r>
              <a:endParaRPr sz="1200">
                <a:latin typeface="Calibri"/>
                <a:ea typeface="Calibri"/>
                <a:cs typeface="Calibri"/>
                <a:sym typeface="Calibri"/>
              </a:endParaRPr>
            </a:p>
          </p:txBody>
        </p:sp>
        <p:sp>
          <p:nvSpPr>
            <p:cNvPr id="122" name="Google Shape;122;p22"/>
            <p:cNvSpPr txBox="1"/>
            <p:nvPr/>
          </p:nvSpPr>
          <p:spPr>
            <a:xfrm>
              <a:off x="5208400" y="4570275"/>
              <a:ext cx="11577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edstem.org</a:t>
              </a:r>
              <a:endParaRPr sz="1200">
                <a:latin typeface="Calibri"/>
                <a:ea typeface="Calibri"/>
                <a:cs typeface="Calibri"/>
                <a:sym typeface="Calibri"/>
              </a:endParaRPr>
            </a:p>
          </p:txBody>
        </p:sp>
        <p:sp>
          <p:nvSpPr>
            <p:cNvPr id="123" name="Google Shape;123;p22"/>
            <p:cNvSpPr txBox="1"/>
            <p:nvPr/>
          </p:nvSpPr>
          <p:spPr>
            <a:xfrm>
              <a:off x="4024975" y="4570275"/>
              <a:ext cx="1043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cs161.org</a:t>
              </a:r>
              <a:endParaRPr sz="1200">
                <a:latin typeface="Calibri"/>
                <a:ea typeface="Calibri"/>
                <a:cs typeface="Calibri"/>
                <a:sym typeface="Calibri"/>
              </a:endParaRPr>
            </a:p>
          </p:txBody>
        </p:sp>
        <p:sp>
          <p:nvSpPr>
            <p:cNvPr id="124" name="Google Shape;124;p22"/>
            <p:cNvSpPr txBox="1"/>
            <p:nvPr/>
          </p:nvSpPr>
          <p:spPr>
            <a:xfrm>
              <a:off x="3026350" y="4570275"/>
              <a:ext cx="8586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mit.edu</a:t>
              </a:r>
              <a:endParaRPr sz="1200">
                <a:latin typeface="Calibri"/>
                <a:ea typeface="Calibri"/>
                <a:cs typeface="Calibri"/>
                <a:sym typeface="Calibri"/>
              </a:endParaRPr>
            </a:p>
          </p:txBody>
        </p:sp>
        <p:sp>
          <p:nvSpPr>
            <p:cNvPr id="125" name="Google Shape;125;p22"/>
            <p:cNvSpPr txBox="1"/>
            <p:nvPr/>
          </p:nvSpPr>
          <p:spPr>
            <a:xfrm>
              <a:off x="1590000" y="4570275"/>
              <a:ext cx="12963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berkeley.edu</a:t>
              </a:r>
              <a:endParaRPr sz="1200">
                <a:latin typeface="Calibri"/>
                <a:ea typeface="Calibri"/>
                <a:cs typeface="Calibri"/>
                <a:sym typeface="Calibri"/>
              </a:endParaRPr>
            </a:p>
          </p:txBody>
        </p:sp>
        <p:cxnSp>
          <p:nvCxnSpPr>
            <p:cNvPr id="126" name="Google Shape;126;p22"/>
            <p:cNvCxnSpPr>
              <a:stCxn id="117" idx="2"/>
              <a:endCxn id="118" idx="0"/>
            </p:cNvCxnSpPr>
            <p:nvPr/>
          </p:nvCxnSpPr>
          <p:spPr>
            <a:xfrm flipH="1">
              <a:off x="2910950" y="3275425"/>
              <a:ext cx="1630500" cy="534000"/>
            </a:xfrm>
            <a:prstGeom prst="straightConnector1">
              <a:avLst/>
            </a:prstGeom>
            <a:noFill/>
            <a:ln cap="flat" cmpd="sng" w="9525">
              <a:solidFill>
                <a:srgbClr val="000000"/>
              </a:solidFill>
              <a:prstDash val="solid"/>
              <a:round/>
              <a:headEnd len="med" w="med" type="none"/>
              <a:tailEnd len="med" w="med" type="none"/>
            </a:ln>
          </p:spPr>
        </p:cxnSp>
        <p:cxnSp>
          <p:nvCxnSpPr>
            <p:cNvPr id="127" name="Google Shape;127;p22"/>
            <p:cNvCxnSpPr>
              <a:stCxn id="117" idx="2"/>
              <a:endCxn id="119" idx="0"/>
            </p:cNvCxnSpPr>
            <p:nvPr/>
          </p:nvCxnSpPr>
          <p:spPr>
            <a:xfrm>
              <a:off x="4541450" y="3275425"/>
              <a:ext cx="471600" cy="534000"/>
            </a:xfrm>
            <a:prstGeom prst="straightConnector1">
              <a:avLst/>
            </a:prstGeom>
            <a:noFill/>
            <a:ln cap="flat" cmpd="sng" w="9525">
              <a:solidFill>
                <a:srgbClr val="000000"/>
              </a:solidFill>
              <a:prstDash val="solid"/>
              <a:round/>
              <a:headEnd len="med" w="med" type="none"/>
              <a:tailEnd len="med" w="med" type="none"/>
            </a:ln>
          </p:spPr>
        </p:cxnSp>
        <p:cxnSp>
          <p:nvCxnSpPr>
            <p:cNvPr id="128" name="Google Shape;128;p22"/>
            <p:cNvCxnSpPr>
              <a:stCxn id="117" idx="2"/>
              <a:endCxn id="120" idx="0"/>
            </p:cNvCxnSpPr>
            <p:nvPr/>
          </p:nvCxnSpPr>
          <p:spPr>
            <a:xfrm>
              <a:off x="4541450" y="3275425"/>
              <a:ext cx="1630500" cy="534000"/>
            </a:xfrm>
            <a:prstGeom prst="straightConnector1">
              <a:avLst/>
            </a:prstGeom>
            <a:noFill/>
            <a:ln cap="flat" cmpd="sng" w="9525">
              <a:solidFill>
                <a:srgbClr val="000000"/>
              </a:solidFill>
              <a:prstDash val="solid"/>
              <a:round/>
              <a:headEnd len="med" w="med" type="none"/>
              <a:tailEnd len="med" w="med" type="none"/>
            </a:ln>
          </p:spPr>
        </p:cxnSp>
        <p:cxnSp>
          <p:nvCxnSpPr>
            <p:cNvPr id="129" name="Google Shape;129;p22"/>
            <p:cNvCxnSpPr>
              <a:stCxn id="118" idx="2"/>
              <a:endCxn id="125" idx="0"/>
            </p:cNvCxnSpPr>
            <p:nvPr/>
          </p:nvCxnSpPr>
          <p:spPr>
            <a:xfrm flipH="1">
              <a:off x="2238175" y="4203002"/>
              <a:ext cx="672900" cy="367200"/>
            </a:xfrm>
            <a:prstGeom prst="straightConnector1">
              <a:avLst/>
            </a:prstGeom>
            <a:noFill/>
            <a:ln cap="flat" cmpd="sng" w="9525">
              <a:solidFill>
                <a:srgbClr val="000000"/>
              </a:solidFill>
              <a:prstDash val="solid"/>
              <a:round/>
              <a:headEnd len="med" w="med" type="none"/>
              <a:tailEnd len="med" w="med" type="none"/>
            </a:ln>
          </p:spPr>
        </p:cxnSp>
        <p:cxnSp>
          <p:nvCxnSpPr>
            <p:cNvPr id="130" name="Google Shape;130;p22"/>
            <p:cNvCxnSpPr>
              <a:stCxn id="118" idx="2"/>
              <a:endCxn id="124" idx="0"/>
            </p:cNvCxnSpPr>
            <p:nvPr/>
          </p:nvCxnSpPr>
          <p:spPr>
            <a:xfrm>
              <a:off x="2911075" y="4203002"/>
              <a:ext cx="544500" cy="367200"/>
            </a:xfrm>
            <a:prstGeom prst="straightConnector1">
              <a:avLst/>
            </a:prstGeom>
            <a:noFill/>
            <a:ln cap="flat" cmpd="sng" w="9525">
              <a:solidFill>
                <a:srgbClr val="000000"/>
              </a:solidFill>
              <a:prstDash val="solid"/>
              <a:round/>
              <a:headEnd len="med" w="med" type="none"/>
              <a:tailEnd len="med" w="med" type="none"/>
            </a:ln>
          </p:spPr>
        </p:cxnSp>
        <p:cxnSp>
          <p:nvCxnSpPr>
            <p:cNvPr id="131" name="Google Shape;131;p22"/>
            <p:cNvCxnSpPr>
              <a:stCxn id="119" idx="2"/>
              <a:endCxn id="123" idx="0"/>
            </p:cNvCxnSpPr>
            <p:nvPr/>
          </p:nvCxnSpPr>
          <p:spPr>
            <a:xfrm flipH="1">
              <a:off x="4546675" y="4203002"/>
              <a:ext cx="466500" cy="367200"/>
            </a:xfrm>
            <a:prstGeom prst="straightConnector1">
              <a:avLst/>
            </a:prstGeom>
            <a:noFill/>
            <a:ln cap="flat" cmpd="sng" w="9525">
              <a:solidFill>
                <a:srgbClr val="000000"/>
              </a:solidFill>
              <a:prstDash val="solid"/>
              <a:round/>
              <a:headEnd len="med" w="med" type="none"/>
              <a:tailEnd len="med" w="med" type="none"/>
            </a:ln>
          </p:spPr>
        </p:cxnSp>
        <p:cxnSp>
          <p:nvCxnSpPr>
            <p:cNvPr id="132" name="Google Shape;132;p22"/>
            <p:cNvCxnSpPr>
              <a:stCxn id="119" idx="2"/>
              <a:endCxn id="122" idx="0"/>
            </p:cNvCxnSpPr>
            <p:nvPr/>
          </p:nvCxnSpPr>
          <p:spPr>
            <a:xfrm>
              <a:off x="5013175" y="4203002"/>
              <a:ext cx="774000" cy="367200"/>
            </a:xfrm>
            <a:prstGeom prst="straightConnector1">
              <a:avLst/>
            </a:prstGeom>
            <a:noFill/>
            <a:ln cap="flat" cmpd="sng" w="9525">
              <a:solidFill>
                <a:srgbClr val="000000"/>
              </a:solidFill>
              <a:prstDash val="solid"/>
              <a:round/>
              <a:headEnd len="med" w="med" type="none"/>
              <a:tailEnd len="med" w="med" type="none"/>
            </a:ln>
          </p:spPr>
        </p:cxnSp>
        <p:cxnSp>
          <p:nvCxnSpPr>
            <p:cNvPr id="133" name="Google Shape;133;p22"/>
            <p:cNvCxnSpPr>
              <a:stCxn id="120" idx="2"/>
              <a:endCxn id="121" idx="0"/>
            </p:cNvCxnSpPr>
            <p:nvPr/>
          </p:nvCxnSpPr>
          <p:spPr>
            <a:xfrm>
              <a:off x="6171825" y="4203002"/>
              <a:ext cx="913200" cy="367200"/>
            </a:xfrm>
            <a:prstGeom prst="straightConnector1">
              <a:avLst/>
            </a:prstGeom>
            <a:noFill/>
            <a:ln cap="flat" cmpd="sng" w="9525">
              <a:solidFill>
                <a:srgbClr val="000000"/>
              </a:solidFill>
              <a:prstDash val="solid"/>
              <a:round/>
              <a:headEnd len="med" w="med" type="none"/>
              <a:tailEnd len="med" w="med" type="none"/>
            </a:ln>
          </p:spPr>
        </p:cxnSp>
      </p:grpSp>
      <p:grpSp>
        <p:nvGrpSpPr>
          <p:cNvPr id="134" name="Google Shape;134;p22"/>
          <p:cNvGrpSpPr/>
          <p:nvPr/>
        </p:nvGrpSpPr>
        <p:grpSpPr>
          <a:xfrm>
            <a:off x="495300" y="2819450"/>
            <a:ext cx="2622000" cy="1771188"/>
            <a:chOff x="495300" y="2819450"/>
            <a:chExt cx="2622000" cy="1771188"/>
          </a:xfrm>
        </p:grpSpPr>
        <p:cxnSp>
          <p:nvCxnSpPr>
            <p:cNvPr id="135" name="Google Shape;135;p22"/>
            <p:cNvCxnSpPr/>
            <p:nvPr/>
          </p:nvCxnSpPr>
          <p:spPr>
            <a:xfrm flipH="1">
              <a:off x="1803300" y="3435038"/>
              <a:ext cx="6000" cy="1155600"/>
            </a:xfrm>
            <a:prstGeom prst="straightConnector1">
              <a:avLst/>
            </a:prstGeom>
            <a:noFill/>
            <a:ln cap="flat" cmpd="sng" w="19050">
              <a:solidFill>
                <a:srgbClr val="E69138"/>
              </a:solidFill>
              <a:prstDash val="solid"/>
              <a:round/>
              <a:headEnd len="med" w="med" type="none"/>
              <a:tailEnd len="med" w="med" type="triangle"/>
            </a:ln>
          </p:spPr>
        </p:cxnSp>
        <p:sp>
          <p:nvSpPr>
            <p:cNvPr id="136" name="Google Shape;136;p22"/>
            <p:cNvSpPr txBox="1"/>
            <p:nvPr/>
          </p:nvSpPr>
          <p:spPr>
            <a:xfrm>
              <a:off x="495300" y="2819450"/>
              <a:ext cx="26220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b="1" lang="en">
                  <a:latin typeface="Courier New"/>
                  <a:ea typeface="Courier New"/>
                  <a:cs typeface="Courier New"/>
                  <a:sym typeface="Courier New"/>
                </a:rPr>
                <a:t>berkeley.edu</a:t>
              </a:r>
              <a:r>
                <a:rPr lang="en"/>
                <a:t> is the oldest </a:t>
              </a:r>
              <a:r>
                <a:rPr b="1" lang="en">
                  <a:latin typeface="Courier New"/>
                  <a:ea typeface="Courier New"/>
                  <a:cs typeface="Courier New"/>
                  <a:sym typeface="Courier New"/>
                </a:rPr>
                <a:t>.edu </a:t>
              </a:r>
              <a:r>
                <a:rPr lang="en">
                  <a:solidFill>
                    <a:schemeClr val="dk1"/>
                  </a:solidFill>
                </a:rPr>
                <a:t>domain!</a:t>
              </a:r>
              <a:endParaRPr>
                <a:solidFill>
                  <a:schemeClr val="dk1"/>
                </a:solidFil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 Name Server Hierarchy</a:t>
            </a:r>
            <a:endParaRPr/>
          </a:p>
        </p:txBody>
      </p:sp>
      <p:sp>
        <p:nvSpPr>
          <p:cNvPr id="142" name="Google Shape;14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43" name="Google Shape;143;p23"/>
          <p:cNvSpPr txBox="1"/>
          <p:nvPr/>
        </p:nvSpPr>
        <p:spPr>
          <a:xfrm>
            <a:off x="231600" y="1253750"/>
            <a:ext cx="3224100" cy="831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Each box is a name server. The label represents which queries the name server is responsible for answering.</a:t>
            </a:r>
            <a:endParaRPr/>
          </a:p>
        </p:txBody>
      </p:sp>
      <p:grpSp>
        <p:nvGrpSpPr>
          <p:cNvPr id="144" name="Google Shape;144;p23"/>
          <p:cNvGrpSpPr/>
          <p:nvPr/>
        </p:nvGrpSpPr>
        <p:grpSpPr>
          <a:xfrm>
            <a:off x="841075" y="2048400"/>
            <a:ext cx="2961900" cy="1757763"/>
            <a:chOff x="841075" y="2048400"/>
            <a:chExt cx="2961900" cy="1757763"/>
          </a:xfrm>
        </p:grpSpPr>
        <p:cxnSp>
          <p:nvCxnSpPr>
            <p:cNvPr id="145" name="Google Shape;145;p23"/>
            <p:cNvCxnSpPr/>
            <p:nvPr/>
          </p:nvCxnSpPr>
          <p:spPr>
            <a:xfrm flipH="1">
              <a:off x="2826150" y="2958363"/>
              <a:ext cx="6300" cy="847800"/>
            </a:xfrm>
            <a:prstGeom prst="straightConnector1">
              <a:avLst/>
            </a:prstGeom>
            <a:noFill/>
            <a:ln cap="flat" cmpd="sng" w="19050">
              <a:solidFill>
                <a:srgbClr val="E69138"/>
              </a:solidFill>
              <a:prstDash val="solid"/>
              <a:round/>
              <a:headEnd len="med" w="med" type="none"/>
              <a:tailEnd len="med" w="med" type="triangle"/>
            </a:ln>
          </p:spPr>
        </p:cxnSp>
        <p:sp>
          <p:nvSpPr>
            <p:cNvPr id="146" name="Google Shape;146;p23"/>
            <p:cNvSpPr txBox="1"/>
            <p:nvPr/>
          </p:nvSpPr>
          <p:spPr>
            <a:xfrm>
              <a:off x="841075" y="2048400"/>
              <a:ext cx="2961900" cy="10467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For example, this name server is responsible for </a:t>
              </a:r>
              <a:r>
                <a:rPr b="1" lang="en">
                  <a:latin typeface="Courier New"/>
                  <a:ea typeface="Courier New"/>
                  <a:cs typeface="Courier New"/>
                  <a:sym typeface="Courier New"/>
                </a:rPr>
                <a:t>.edu</a:t>
              </a:r>
              <a:r>
                <a:rPr lang="en"/>
                <a:t> queries like </a:t>
              </a:r>
              <a:r>
                <a:rPr b="1" lang="en">
                  <a:latin typeface="Courier New"/>
                  <a:ea typeface="Courier New"/>
                  <a:cs typeface="Courier New"/>
                  <a:sym typeface="Courier New"/>
                </a:rPr>
                <a:t>eecs.berkeley.edu</a:t>
              </a:r>
              <a:r>
                <a:rPr lang="en"/>
                <a:t>, but not a query like </a:t>
              </a:r>
              <a:r>
                <a:rPr b="1" lang="en">
                  <a:latin typeface="Courier New"/>
                  <a:ea typeface="Courier New"/>
                  <a:cs typeface="Courier New"/>
                  <a:sym typeface="Courier New"/>
                </a:rPr>
                <a:t>mail.google.com</a:t>
              </a:r>
              <a:r>
                <a:rPr lang="en"/>
                <a:t>.</a:t>
              </a:r>
              <a:endParaRPr/>
            </a:p>
          </p:txBody>
        </p:sp>
      </p:grpSp>
      <p:grpSp>
        <p:nvGrpSpPr>
          <p:cNvPr id="147" name="Google Shape;147;p23"/>
          <p:cNvGrpSpPr/>
          <p:nvPr/>
        </p:nvGrpSpPr>
        <p:grpSpPr>
          <a:xfrm>
            <a:off x="1590000" y="2881825"/>
            <a:ext cx="6073725" cy="2082050"/>
            <a:chOff x="1590000" y="2881825"/>
            <a:chExt cx="6073725" cy="2082050"/>
          </a:xfrm>
        </p:grpSpPr>
        <p:sp>
          <p:nvSpPr>
            <p:cNvPr id="148" name="Google Shape;148;p23"/>
            <p:cNvSpPr txBox="1"/>
            <p:nvPr/>
          </p:nvSpPr>
          <p:spPr>
            <a:xfrm>
              <a:off x="3922400" y="2881825"/>
              <a:ext cx="1238100" cy="3936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 (root)</a:t>
              </a:r>
              <a:endParaRPr>
                <a:latin typeface="Courier New"/>
                <a:ea typeface="Courier New"/>
                <a:cs typeface="Courier New"/>
                <a:sym typeface="Courier New"/>
              </a:endParaRPr>
            </a:p>
          </p:txBody>
        </p:sp>
        <p:sp>
          <p:nvSpPr>
            <p:cNvPr id="149" name="Google Shape;149;p23"/>
            <p:cNvSpPr txBox="1"/>
            <p:nvPr/>
          </p:nvSpPr>
          <p:spPr>
            <a:xfrm>
              <a:off x="2576875" y="3809402"/>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.edu</a:t>
              </a:r>
              <a:endParaRPr>
                <a:latin typeface="Calibri"/>
                <a:ea typeface="Calibri"/>
                <a:cs typeface="Calibri"/>
                <a:sym typeface="Calibri"/>
              </a:endParaRPr>
            </a:p>
          </p:txBody>
        </p:sp>
        <p:sp>
          <p:nvSpPr>
            <p:cNvPr id="150" name="Google Shape;150;p23"/>
            <p:cNvSpPr txBox="1"/>
            <p:nvPr/>
          </p:nvSpPr>
          <p:spPr>
            <a:xfrm>
              <a:off x="4678975" y="3809402"/>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.org</a:t>
              </a:r>
              <a:endParaRPr>
                <a:latin typeface="Calibri"/>
                <a:ea typeface="Calibri"/>
                <a:cs typeface="Calibri"/>
                <a:sym typeface="Calibri"/>
              </a:endParaRPr>
            </a:p>
          </p:txBody>
        </p:sp>
        <p:sp>
          <p:nvSpPr>
            <p:cNvPr id="151" name="Google Shape;151;p23"/>
            <p:cNvSpPr txBox="1"/>
            <p:nvPr/>
          </p:nvSpPr>
          <p:spPr>
            <a:xfrm>
              <a:off x="5837625" y="3809402"/>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.com</a:t>
              </a:r>
              <a:endParaRPr>
                <a:latin typeface="Calibri"/>
                <a:ea typeface="Calibri"/>
                <a:cs typeface="Calibri"/>
                <a:sym typeface="Calibri"/>
              </a:endParaRPr>
            </a:p>
          </p:txBody>
        </p:sp>
        <p:sp>
          <p:nvSpPr>
            <p:cNvPr id="152" name="Google Shape;152;p23"/>
            <p:cNvSpPr txBox="1"/>
            <p:nvPr/>
          </p:nvSpPr>
          <p:spPr>
            <a:xfrm>
              <a:off x="6506025" y="4570275"/>
              <a:ext cx="11577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google.com</a:t>
              </a:r>
              <a:endParaRPr sz="1200">
                <a:latin typeface="Calibri"/>
                <a:ea typeface="Calibri"/>
                <a:cs typeface="Calibri"/>
                <a:sym typeface="Calibri"/>
              </a:endParaRPr>
            </a:p>
          </p:txBody>
        </p:sp>
        <p:sp>
          <p:nvSpPr>
            <p:cNvPr id="153" name="Google Shape;153;p23"/>
            <p:cNvSpPr txBox="1"/>
            <p:nvPr/>
          </p:nvSpPr>
          <p:spPr>
            <a:xfrm>
              <a:off x="5208400" y="4570275"/>
              <a:ext cx="11577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edstem.org</a:t>
              </a:r>
              <a:endParaRPr sz="1200">
                <a:latin typeface="Calibri"/>
                <a:ea typeface="Calibri"/>
                <a:cs typeface="Calibri"/>
                <a:sym typeface="Calibri"/>
              </a:endParaRPr>
            </a:p>
          </p:txBody>
        </p:sp>
        <p:sp>
          <p:nvSpPr>
            <p:cNvPr id="154" name="Google Shape;154;p23"/>
            <p:cNvSpPr txBox="1"/>
            <p:nvPr/>
          </p:nvSpPr>
          <p:spPr>
            <a:xfrm>
              <a:off x="4024975" y="4570275"/>
              <a:ext cx="1043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cs161.org</a:t>
              </a:r>
              <a:endParaRPr sz="1200">
                <a:latin typeface="Calibri"/>
                <a:ea typeface="Calibri"/>
                <a:cs typeface="Calibri"/>
                <a:sym typeface="Calibri"/>
              </a:endParaRPr>
            </a:p>
          </p:txBody>
        </p:sp>
        <p:sp>
          <p:nvSpPr>
            <p:cNvPr id="155" name="Google Shape;155;p23"/>
            <p:cNvSpPr txBox="1"/>
            <p:nvPr/>
          </p:nvSpPr>
          <p:spPr>
            <a:xfrm>
              <a:off x="3026350" y="4570275"/>
              <a:ext cx="8586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mit.edu</a:t>
              </a:r>
              <a:endParaRPr sz="1200">
                <a:latin typeface="Calibri"/>
                <a:ea typeface="Calibri"/>
                <a:cs typeface="Calibri"/>
                <a:sym typeface="Calibri"/>
              </a:endParaRPr>
            </a:p>
          </p:txBody>
        </p:sp>
        <p:sp>
          <p:nvSpPr>
            <p:cNvPr id="156" name="Google Shape;156;p23"/>
            <p:cNvSpPr txBox="1"/>
            <p:nvPr/>
          </p:nvSpPr>
          <p:spPr>
            <a:xfrm>
              <a:off x="1590000" y="4570275"/>
              <a:ext cx="12963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berkeley.edu</a:t>
              </a:r>
              <a:endParaRPr sz="1200">
                <a:latin typeface="Calibri"/>
                <a:ea typeface="Calibri"/>
                <a:cs typeface="Calibri"/>
                <a:sym typeface="Calibri"/>
              </a:endParaRPr>
            </a:p>
          </p:txBody>
        </p:sp>
        <p:cxnSp>
          <p:nvCxnSpPr>
            <p:cNvPr id="157" name="Google Shape;157;p23"/>
            <p:cNvCxnSpPr>
              <a:stCxn id="148" idx="2"/>
              <a:endCxn id="149" idx="0"/>
            </p:cNvCxnSpPr>
            <p:nvPr/>
          </p:nvCxnSpPr>
          <p:spPr>
            <a:xfrm flipH="1">
              <a:off x="2910950" y="3275425"/>
              <a:ext cx="1630500" cy="534000"/>
            </a:xfrm>
            <a:prstGeom prst="straightConnector1">
              <a:avLst/>
            </a:prstGeom>
            <a:noFill/>
            <a:ln cap="flat" cmpd="sng" w="9525">
              <a:solidFill>
                <a:srgbClr val="000000"/>
              </a:solidFill>
              <a:prstDash val="solid"/>
              <a:round/>
              <a:headEnd len="med" w="med" type="none"/>
              <a:tailEnd len="med" w="med" type="none"/>
            </a:ln>
          </p:spPr>
        </p:cxnSp>
        <p:cxnSp>
          <p:nvCxnSpPr>
            <p:cNvPr id="158" name="Google Shape;158;p23"/>
            <p:cNvCxnSpPr>
              <a:stCxn id="148" idx="2"/>
              <a:endCxn id="150" idx="0"/>
            </p:cNvCxnSpPr>
            <p:nvPr/>
          </p:nvCxnSpPr>
          <p:spPr>
            <a:xfrm>
              <a:off x="4541450" y="3275425"/>
              <a:ext cx="471600" cy="534000"/>
            </a:xfrm>
            <a:prstGeom prst="straightConnector1">
              <a:avLst/>
            </a:prstGeom>
            <a:noFill/>
            <a:ln cap="flat" cmpd="sng" w="9525">
              <a:solidFill>
                <a:srgbClr val="000000"/>
              </a:solidFill>
              <a:prstDash val="solid"/>
              <a:round/>
              <a:headEnd len="med" w="med" type="none"/>
              <a:tailEnd len="med" w="med" type="none"/>
            </a:ln>
          </p:spPr>
        </p:cxnSp>
        <p:cxnSp>
          <p:nvCxnSpPr>
            <p:cNvPr id="159" name="Google Shape;159;p23"/>
            <p:cNvCxnSpPr>
              <a:stCxn id="148" idx="2"/>
              <a:endCxn id="151" idx="0"/>
            </p:cNvCxnSpPr>
            <p:nvPr/>
          </p:nvCxnSpPr>
          <p:spPr>
            <a:xfrm>
              <a:off x="4541450" y="3275425"/>
              <a:ext cx="1630500" cy="534000"/>
            </a:xfrm>
            <a:prstGeom prst="straightConnector1">
              <a:avLst/>
            </a:prstGeom>
            <a:noFill/>
            <a:ln cap="flat" cmpd="sng" w="9525">
              <a:solidFill>
                <a:srgbClr val="000000"/>
              </a:solidFill>
              <a:prstDash val="solid"/>
              <a:round/>
              <a:headEnd len="med" w="med" type="none"/>
              <a:tailEnd len="med" w="med" type="none"/>
            </a:ln>
          </p:spPr>
        </p:cxnSp>
        <p:cxnSp>
          <p:nvCxnSpPr>
            <p:cNvPr id="160" name="Google Shape;160;p23"/>
            <p:cNvCxnSpPr>
              <a:stCxn id="149" idx="2"/>
              <a:endCxn id="156" idx="0"/>
            </p:cNvCxnSpPr>
            <p:nvPr/>
          </p:nvCxnSpPr>
          <p:spPr>
            <a:xfrm flipH="1">
              <a:off x="2238175" y="4203002"/>
              <a:ext cx="672900" cy="367200"/>
            </a:xfrm>
            <a:prstGeom prst="straightConnector1">
              <a:avLst/>
            </a:prstGeom>
            <a:noFill/>
            <a:ln cap="flat" cmpd="sng" w="9525">
              <a:solidFill>
                <a:srgbClr val="000000"/>
              </a:solidFill>
              <a:prstDash val="solid"/>
              <a:round/>
              <a:headEnd len="med" w="med" type="none"/>
              <a:tailEnd len="med" w="med" type="none"/>
            </a:ln>
          </p:spPr>
        </p:cxnSp>
        <p:cxnSp>
          <p:nvCxnSpPr>
            <p:cNvPr id="161" name="Google Shape;161;p23"/>
            <p:cNvCxnSpPr>
              <a:stCxn id="149" idx="2"/>
              <a:endCxn id="155" idx="0"/>
            </p:cNvCxnSpPr>
            <p:nvPr/>
          </p:nvCxnSpPr>
          <p:spPr>
            <a:xfrm>
              <a:off x="2911075" y="4203002"/>
              <a:ext cx="544500" cy="367200"/>
            </a:xfrm>
            <a:prstGeom prst="straightConnector1">
              <a:avLst/>
            </a:prstGeom>
            <a:noFill/>
            <a:ln cap="flat" cmpd="sng" w="9525">
              <a:solidFill>
                <a:srgbClr val="000000"/>
              </a:solidFill>
              <a:prstDash val="solid"/>
              <a:round/>
              <a:headEnd len="med" w="med" type="none"/>
              <a:tailEnd len="med" w="med" type="none"/>
            </a:ln>
          </p:spPr>
        </p:cxnSp>
        <p:cxnSp>
          <p:nvCxnSpPr>
            <p:cNvPr id="162" name="Google Shape;162;p23"/>
            <p:cNvCxnSpPr>
              <a:stCxn id="150" idx="2"/>
              <a:endCxn id="154" idx="0"/>
            </p:cNvCxnSpPr>
            <p:nvPr/>
          </p:nvCxnSpPr>
          <p:spPr>
            <a:xfrm flipH="1">
              <a:off x="4546675" y="4203002"/>
              <a:ext cx="466500" cy="367200"/>
            </a:xfrm>
            <a:prstGeom prst="straightConnector1">
              <a:avLst/>
            </a:prstGeom>
            <a:noFill/>
            <a:ln cap="flat" cmpd="sng" w="9525">
              <a:solidFill>
                <a:srgbClr val="000000"/>
              </a:solidFill>
              <a:prstDash val="solid"/>
              <a:round/>
              <a:headEnd len="med" w="med" type="none"/>
              <a:tailEnd len="med" w="med" type="none"/>
            </a:ln>
          </p:spPr>
        </p:cxnSp>
        <p:cxnSp>
          <p:nvCxnSpPr>
            <p:cNvPr id="163" name="Google Shape;163;p23"/>
            <p:cNvCxnSpPr>
              <a:stCxn id="150" idx="2"/>
              <a:endCxn id="153" idx="0"/>
            </p:cNvCxnSpPr>
            <p:nvPr/>
          </p:nvCxnSpPr>
          <p:spPr>
            <a:xfrm>
              <a:off x="5013175" y="4203002"/>
              <a:ext cx="774000" cy="367200"/>
            </a:xfrm>
            <a:prstGeom prst="straightConnector1">
              <a:avLst/>
            </a:prstGeom>
            <a:noFill/>
            <a:ln cap="flat" cmpd="sng" w="9525">
              <a:solidFill>
                <a:srgbClr val="000000"/>
              </a:solidFill>
              <a:prstDash val="solid"/>
              <a:round/>
              <a:headEnd len="med" w="med" type="none"/>
              <a:tailEnd len="med" w="med" type="none"/>
            </a:ln>
          </p:spPr>
        </p:cxnSp>
        <p:cxnSp>
          <p:nvCxnSpPr>
            <p:cNvPr id="164" name="Google Shape;164;p23"/>
            <p:cNvCxnSpPr>
              <a:stCxn id="151" idx="2"/>
              <a:endCxn id="152" idx="0"/>
            </p:cNvCxnSpPr>
            <p:nvPr/>
          </p:nvCxnSpPr>
          <p:spPr>
            <a:xfrm>
              <a:off x="6171825" y="4203002"/>
              <a:ext cx="913200" cy="367200"/>
            </a:xfrm>
            <a:prstGeom prst="straightConnector1">
              <a:avLst/>
            </a:prstGeom>
            <a:noFill/>
            <a:ln cap="flat" cmpd="sng" w="9525">
              <a:solidFill>
                <a:srgbClr val="000000"/>
              </a:solidFill>
              <a:prstDash val="solid"/>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 Hierarchy</a:t>
            </a:r>
            <a:endParaRPr/>
          </a:p>
        </p:txBody>
      </p:sp>
      <p:sp>
        <p:nvSpPr>
          <p:cNvPr id="170" name="Google Shape;170;p24"/>
          <p:cNvSpPr txBox="1"/>
          <p:nvPr/>
        </p:nvSpPr>
        <p:spPr>
          <a:xfrm>
            <a:off x="4566975" y="1237075"/>
            <a:ext cx="2884200" cy="18750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Roboto"/>
                <a:ea typeface="Roboto"/>
                <a:cs typeface="Roboto"/>
                <a:sym typeface="Roboto"/>
              </a:rPr>
              <a:t>The berkeley.edu zone</a:t>
            </a:r>
            <a:endParaRPr b="1" sz="1200">
              <a:latin typeface="Roboto"/>
              <a:ea typeface="Roboto"/>
              <a:cs typeface="Roboto"/>
              <a:sym typeface="Roboto"/>
            </a:endParaRPr>
          </a:p>
          <a:p>
            <a:pPr indent="0" lvl="0" marL="0" rtl="0" algn="l">
              <a:spcBef>
                <a:spcPts val="1000"/>
              </a:spcBef>
              <a:spcAft>
                <a:spcPts val="0"/>
              </a:spcAft>
              <a:buNone/>
            </a:pPr>
            <a:r>
              <a:rPr b="1" lang="en" sz="1200">
                <a:latin typeface="Roboto"/>
                <a:ea typeface="Roboto"/>
                <a:cs typeface="Roboto"/>
                <a:sym typeface="Roboto"/>
              </a:rPr>
              <a:t>Owned by</a:t>
            </a:r>
            <a:r>
              <a:rPr lang="en" sz="1200">
                <a:latin typeface="Roboto"/>
                <a:ea typeface="Roboto"/>
                <a:cs typeface="Roboto"/>
                <a:sym typeface="Roboto"/>
              </a:rPr>
              <a:t>: UC Berkeley</a:t>
            </a:r>
            <a:endParaRPr sz="1200">
              <a:latin typeface="Roboto"/>
              <a:ea typeface="Roboto"/>
              <a:cs typeface="Roboto"/>
              <a:sym typeface="Roboto"/>
            </a:endParaRPr>
          </a:p>
          <a:p>
            <a:pPr indent="0" lvl="0" marL="0" rtl="0" algn="l">
              <a:spcBef>
                <a:spcPts val="0"/>
              </a:spcBef>
              <a:spcAft>
                <a:spcPts val="0"/>
              </a:spcAft>
              <a:buNone/>
            </a:pPr>
            <a:r>
              <a:rPr b="1" lang="en" sz="1200">
                <a:latin typeface="Roboto"/>
                <a:ea typeface="Roboto"/>
                <a:cs typeface="Roboto"/>
                <a:sym typeface="Roboto"/>
              </a:rPr>
              <a:t>Name server</a:t>
            </a:r>
            <a:r>
              <a:rPr lang="en" sz="1200">
                <a:latin typeface="Roboto"/>
                <a:ea typeface="Roboto"/>
                <a:cs typeface="Roboto"/>
                <a:sym typeface="Roboto"/>
              </a:rPr>
              <a:t>: adns1.berkeley.edu</a:t>
            </a:r>
            <a:endParaRPr sz="1200">
              <a:latin typeface="Roboto"/>
              <a:ea typeface="Roboto"/>
              <a:cs typeface="Roboto"/>
              <a:sym typeface="Roboto"/>
            </a:endParaRPr>
          </a:p>
          <a:p>
            <a:pPr indent="0" lvl="0" marL="0" rtl="0" algn="l">
              <a:spcBef>
                <a:spcPts val="1000"/>
              </a:spcBef>
              <a:spcAft>
                <a:spcPts val="0"/>
              </a:spcAft>
              <a:buNone/>
            </a:pPr>
            <a:r>
              <a:rPr b="1" lang="en" sz="1200">
                <a:latin typeface="Roboto"/>
                <a:ea typeface="Roboto"/>
                <a:cs typeface="Roboto"/>
                <a:sym typeface="Roboto"/>
              </a:rPr>
              <a:t>Manages</a:t>
            </a:r>
            <a:r>
              <a:rPr lang="en" sz="1200">
                <a:latin typeface="Roboto"/>
                <a:ea typeface="Roboto"/>
                <a:cs typeface="Roboto"/>
                <a:sym typeface="Roboto"/>
              </a:rPr>
              <a:t>:</a:t>
            </a:r>
            <a:endParaRPr sz="1200">
              <a:latin typeface="Roboto"/>
              <a:ea typeface="Roboto"/>
              <a:cs typeface="Roboto"/>
              <a:sym typeface="Roboto"/>
            </a:endParaRPr>
          </a:p>
          <a:p>
            <a:pPr indent="0" lvl="0" marL="0" rtl="0" algn="l">
              <a:spcBef>
                <a:spcPts val="0"/>
              </a:spcBef>
              <a:spcAft>
                <a:spcPts val="0"/>
              </a:spcAft>
              <a:buNone/>
            </a:pPr>
            <a:r>
              <a:rPr lang="en" sz="1200">
                <a:latin typeface="Roboto"/>
                <a:ea typeface="Roboto"/>
                <a:cs typeface="Roboto"/>
                <a:sym typeface="Roboto"/>
              </a:rPr>
              <a:t>www.berkeley.edu</a:t>
            </a:r>
            <a:endParaRPr sz="1200">
              <a:latin typeface="Roboto"/>
              <a:ea typeface="Roboto"/>
              <a:cs typeface="Roboto"/>
              <a:sym typeface="Roboto"/>
            </a:endParaRPr>
          </a:p>
          <a:p>
            <a:pPr indent="0" lvl="0" marL="0" rtl="0" algn="l">
              <a:spcBef>
                <a:spcPts val="0"/>
              </a:spcBef>
              <a:spcAft>
                <a:spcPts val="0"/>
              </a:spcAft>
              <a:buNone/>
            </a:pPr>
            <a:r>
              <a:rPr lang="en" sz="1200">
                <a:latin typeface="Roboto"/>
                <a:ea typeface="Roboto"/>
                <a:cs typeface="Roboto"/>
                <a:sym typeface="Roboto"/>
              </a:rPr>
              <a:t>calcentral.berkeley.edu</a:t>
            </a:r>
            <a:endParaRPr sz="1200">
              <a:latin typeface="Roboto"/>
              <a:ea typeface="Roboto"/>
              <a:cs typeface="Roboto"/>
              <a:sym typeface="Roboto"/>
            </a:endParaRPr>
          </a:p>
          <a:p>
            <a:pPr indent="0" lvl="0" marL="0" rtl="0" algn="l">
              <a:spcBef>
                <a:spcPts val="0"/>
              </a:spcBef>
              <a:spcAft>
                <a:spcPts val="0"/>
              </a:spcAft>
              <a:buNone/>
            </a:pPr>
            <a:r>
              <a:rPr lang="en" sz="1200">
                <a:latin typeface="Roboto"/>
                <a:ea typeface="Roboto"/>
                <a:cs typeface="Roboto"/>
                <a:sym typeface="Roboto"/>
              </a:rPr>
              <a:t>systemstatus.berkeley.edu</a:t>
            </a:r>
            <a:endParaRPr sz="1200">
              <a:latin typeface="Roboto"/>
              <a:ea typeface="Roboto"/>
              <a:cs typeface="Roboto"/>
              <a:sym typeface="Roboto"/>
            </a:endParaRPr>
          </a:p>
          <a:p>
            <a:pPr indent="0" lvl="0" marL="0" rtl="0" algn="l">
              <a:spcBef>
                <a:spcPts val="0"/>
              </a:spcBef>
              <a:spcAft>
                <a:spcPts val="0"/>
              </a:spcAft>
              <a:buNone/>
            </a:pPr>
            <a:r>
              <a:rPr lang="en" sz="1200">
                <a:latin typeface="Roboto"/>
                <a:ea typeface="Roboto"/>
                <a:cs typeface="Roboto"/>
                <a:sym typeface="Roboto"/>
              </a:rPr>
              <a:t>...</a:t>
            </a:r>
            <a:endParaRPr sz="1200">
              <a:latin typeface="Roboto"/>
              <a:ea typeface="Roboto"/>
              <a:cs typeface="Roboto"/>
              <a:sym typeface="Roboto"/>
            </a:endParaRPr>
          </a:p>
        </p:txBody>
      </p:sp>
      <p:sp>
        <p:nvSpPr>
          <p:cNvPr id="171" name="Google Shape;171;p24"/>
          <p:cNvSpPr txBox="1"/>
          <p:nvPr/>
        </p:nvSpPr>
        <p:spPr>
          <a:xfrm>
            <a:off x="3448150" y="3347575"/>
            <a:ext cx="2468700" cy="1660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Roboto"/>
                <a:ea typeface="Roboto"/>
                <a:cs typeface="Roboto"/>
                <a:sym typeface="Roboto"/>
              </a:rPr>
              <a:t>The ischool.berkeley.edu zone</a:t>
            </a:r>
            <a:endParaRPr b="1" sz="1200">
              <a:latin typeface="Roboto"/>
              <a:ea typeface="Roboto"/>
              <a:cs typeface="Roboto"/>
              <a:sym typeface="Roboto"/>
            </a:endParaRPr>
          </a:p>
          <a:p>
            <a:pPr indent="0" lvl="0" marL="0" rtl="0" algn="l">
              <a:spcBef>
                <a:spcPts val="1000"/>
              </a:spcBef>
              <a:spcAft>
                <a:spcPts val="0"/>
              </a:spcAft>
              <a:buNone/>
            </a:pPr>
            <a:r>
              <a:rPr b="1" lang="en" sz="1200">
                <a:latin typeface="Roboto"/>
                <a:ea typeface="Roboto"/>
                <a:cs typeface="Roboto"/>
                <a:sym typeface="Roboto"/>
              </a:rPr>
              <a:t>Owned by</a:t>
            </a:r>
            <a:r>
              <a:rPr lang="en" sz="1200">
                <a:latin typeface="Roboto"/>
                <a:ea typeface="Roboto"/>
                <a:cs typeface="Roboto"/>
                <a:sym typeface="Roboto"/>
              </a:rPr>
              <a:t>: School of Information</a:t>
            </a:r>
            <a:endParaRPr sz="1200">
              <a:latin typeface="Roboto"/>
              <a:ea typeface="Roboto"/>
              <a:cs typeface="Roboto"/>
              <a:sym typeface="Roboto"/>
            </a:endParaRPr>
          </a:p>
          <a:p>
            <a:pPr indent="0" lvl="0" marL="0" rtl="0" algn="l">
              <a:spcBef>
                <a:spcPts val="0"/>
              </a:spcBef>
              <a:spcAft>
                <a:spcPts val="0"/>
              </a:spcAft>
              <a:buNone/>
            </a:pPr>
            <a:r>
              <a:rPr b="1" lang="en" sz="1200">
                <a:latin typeface="Roboto"/>
                <a:ea typeface="Roboto"/>
                <a:cs typeface="Roboto"/>
                <a:sym typeface="Roboto"/>
              </a:rPr>
              <a:t>Name server</a:t>
            </a:r>
            <a:r>
              <a:rPr lang="en" sz="1200">
                <a:latin typeface="Roboto"/>
                <a:ea typeface="Roboto"/>
                <a:cs typeface="Roboto"/>
                <a:sym typeface="Roboto"/>
              </a:rPr>
              <a:t>: is-dns.berkeley.edu</a:t>
            </a:r>
            <a:endParaRPr sz="1200">
              <a:latin typeface="Roboto"/>
              <a:ea typeface="Roboto"/>
              <a:cs typeface="Roboto"/>
              <a:sym typeface="Roboto"/>
            </a:endParaRPr>
          </a:p>
          <a:p>
            <a:pPr indent="0" lvl="0" marL="0" rtl="0" algn="l">
              <a:spcBef>
                <a:spcPts val="1000"/>
              </a:spcBef>
              <a:spcAft>
                <a:spcPts val="0"/>
              </a:spcAft>
              <a:buNone/>
            </a:pPr>
            <a:r>
              <a:rPr b="1" lang="en" sz="1200">
                <a:latin typeface="Roboto"/>
                <a:ea typeface="Roboto"/>
                <a:cs typeface="Roboto"/>
                <a:sym typeface="Roboto"/>
              </a:rPr>
              <a:t>Manages</a:t>
            </a:r>
            <a:r>
              <a:rPr lang="en" sz="1200">
                <a:latin typeface="Roboto"/>
                <a:ea typeface="Roboto"/>
                <a:cs typeface="Roboto"/>
                <a:sym typeface="Roboto"/>
              </a:rPr>
              <a:t>:</a:t>
            </a:r>
            <a:endParaRPr sz="1200">
              <a:latin typeface="Roboto"/>
              <a:ea typeface="Roboto"/>
              <a:cs typeface="Roboto"/>
              <a:sym typeface="Roboto"/>
            </a:endParaRPr>
          </a:p>
          <a:p>
            <a:pPr indent="0" lvl="0" marL="0" rtl="0" algn="l">
              <a:spcBef>
                <a:spcPts val="0"/>
              </a:spcBef>
              <a:spcAft>
                <a:spcPts val="0"/>
              </a:spcAft>
              <a:buNone/>
            </a:pPr>
            <a:r>
              <a:rPr lang="en" sz="1200">
                <a:latin typeface="Roboto"/>
                <a:ea typeface="Roboto"/>
                <a:cs typeface="Roboto"/>
                <a:sym typeface="Roboto"/>
              </a:rPr>
              <a:t>pink.ischool.berkeley.edu</a:t>
            </a:r>
            <a:endParaRPr sz="1200">
              <a:latin typeface="Roboto"/>
              <a:ea typeface="Roboto"/>
              <a:cs typeface="Roboto"/>
              <a:sym typeface="Roboto"/>
            </a:endParaRPr>
          </a:p>
          <a:p>
            <a:pPr indent="0" lvl="0" marL="0" rtl="0" algn="l">
              <a:spcBef>
                <a:spcPts val="0"/>
              </a:spcBef>
              <a:spcAft>
                <a:spcPts val="0"/>
              </a:spcAft>
              <a:buNone/>
            </a:pPr>
            <a:r>
              <a:rPr lang="en" sz="1200">
                <a:latin typeface="Roboto"/>
                <a:ea typeface="Roboto"/>
                <a:cs typeface="Roboto"/>
                <a:sym typeface="Roboto"/>
              </a:rPr>
              <a:t>blue.ischool.berkeley.edu</a:t>
            </a:r>
            <a:endParaRPr sz="1200">
              <a:latin typeface="Roboto"/>
              <a:ea typeface="Roboto"/>
              <a:cs typeface="Roboto"/>
              <a:sym typeface="Roboto"/>
            </a:endParaRPr>
          </a:p>
          <a:p>
            <a:pPr indent="0" lvl="0" marL="0" rtl="0" algn="l">
              <a:spcBef>
                <a:spcPts val="0"/>
              </a:spcBef>
              <a:spcAft>
                <a:spcPts val="0"/>
              </a:spcAft>
              <a:buNone/>
            </a:pPr>
            <a:r>
              <a:rPr lang="en" sz="1200">
                <a:latin typeface="Roboto"/>
                <a:ea typeface="Roboto"/>
                <a:cs typeface="Roboto"/>
                <a:sym typeface="Roboto"/>
              </a:rPr>
              <a:t>...</a:t>
            </a:r>
            <a:endParaRPr sz="1200">
              <a:latin typeface="Roboto"/>
              <a:ea typeface="Roboto"/>
              <a:cs typeface="Roboto"/>
              <a:sym typeface="Roboto"/>
            </a:endParaRPr>
          </a:p>
        </p:txBody>
      </p:sp>
      <p:sp>
        <p:nvSpPr>
          <p:cNvPr id="172" name="Google Shape;172;p24"/>
          <p:cNvSpPr txBox="1"/>
          <p:nvPr/>
        </p:nvSpPr>
        <p:spPr>
          <a:xfrm>
            <a:off x="6191350" y="3347575"/>
            <a:ext cx="2468700" cy="16602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latin typeface="Roboto"/>
                <a:ea typeface="Roboto"/>
                <a:cs typeface="Roboto"/>
                <a:sym typeface="Roboto"/>
              </a:rPr>
              <a:t>The eecs.berkeley.edu zone</a:t>
            </a:r>
            <a:endParaRPr b="1" sz="1200">
              <a:latin typeface="Roboto"/>
              <a:ea typeface="Roboto"/>
              <a:cs typeface="Roboto"/>
              <a:sym typeface="Roboto"/>
            </a:endParaRPr>
          </a:p>
          <a:p>
            <a:pPr indent="0" lvl="0" marL="0" rtl="0" algn="l">
              <a:spcBef>
                <a:spcPts val="1000"/>
              </a:spcBef>
              <a:spcAft>
                <a:spcPts val="0"/>
              </a:spcAft>
              <a:buNone/>
            </a:pPr>
            <a:r>
              <a:rPr b="1" lang="en" sz="1200">
                <a:latin typeface="Roboto"/>
                <a:ea typeface="Roboto"/>
                <a:cs typeface="Roboto"/>
                <a:sym typeface="Roboto"/>
              </a:rPr>
              <a:t>Owned by</a:t>
            </a:r>
            <a:r>
              <a:rPr lang="en" sz="1200">
                <a:latin typeface="Roboto"/>
                <a:ea typeface="Roboto"/>
                <a:cs typeface="Roboto"/>
                <a:sym typeface="Roboto"/>
              </a:rPr>
              <a:t>: EECS Department</a:t>
            </a:r>
            <a:endParaRPr sz="1200">
              <a:latin typeface="Roboto"/>
              <a:ea typeface="Roboto"/>
              <a:cs typeface="Roboto"/>
              <a:sym typeface="Roboto"/>
            </a:endParaRPr>
          </a:p>
          <a:p>
            <a:pPr indent="0" lvl="0" marL="0" rtl="0" algn="l">
              <a:spcBef>
                <a:spcPts val="0"/>
              </a:spcBef>
              <a:spcAft>
                <a:spcPts val="0"/>
              </a:spcAft>
              <a:buNone/>
            </a:pPr>
            <a:r>
              <a:rPr b="1" lang="en" sz="1200">
                <a:latin typeface="Roboto"/>
                <a:ea typeface="Roboto"/>
                <a:cs typeface="Roboto"/>
                <a:sym typeface="Roboto"/>
              </a:rPr>
              <a:t>Name server</a:t>
            </a:r>
            <a:r>
              <a:rPr lang="en" sz="1200">
                <a:latin typeface="Roboto"/>
                <a:ea typeface="Roboto"/>
                <a:cs typeface="Roboto"/>
                <a:sym typeface="Roboto"/>
              </a:rPr>
              <a:t>: cs-dns.berkeley.edu</a:t>
            </a:r>
            <a:endParaRPr sz="1200">
              <a:latin typeface="Roboto"/>
              <a:ea typeface="Roboto"/>
              <a:cs typeface="Roboto"/>
              <a:sym typeface="Roboto"/>
            </a:endParaRPr>
          </a:p>
          <a:p>
            <a:pPr indent="0" lvl="0" marL="0" rtl="0" algn="l">
              <a:spcBef>
                <a:spcPts val="1000"/>
              </a:spcBef>
              <a:spcAft>
                <a:spcPts val="0"/>
              </a:spcAft>
              <a:buNone/>
            </a:pPr>
            <a:r>
              <a:rPr b="1" lang="en" sz="1200">
                <a:latin typeface="Roboto"/>
                <a:ea typeface="Roboto"/>
                <a:cs typeface="Roboto"/>
                <a:sym typeface="Roboto"/>
              </a:rPr>
              <a:t>Manages</a:t>
            </a:r>
            <a:r>
              <a:rPr lang="en" sz="1200">
                <a:latin typeface="Roboto"/>
                <a:ea typeface="Roboto"/>
                <a:cs typeface="Roboto"/>
                <a:sym typeface="Roboto"/>
              </a:rPr>
              <a:t>:</a:t>
            </a:r>
            <a:endParaRPr sz="1200">
              <a:latin typeface="Roboto"/>
              <a:ea typeface="Roboto"/>
              <a:cs typeface="Roboto"/>
              <a:sym typeface="Roboto"/>
            </a:endParaRPr>
          </a:p>
          <a:p>
            <a:pPr indent="0" lvl="0" marL="0" rtl="0" algn="l">
              <a:spcBef>
                <a:spcPts val="0"/>
              </a:spcBef>
              <a:spcAft>
                <a:spcPts val="0"/>
              </a:spcAft>
              <a:buNone/>
            </a:pPr>
            <a:r>
              <a:rPr lang="en" sz="1200">
                <a:latin typeface="Roboto"/>
                <a:ea typeface="Roboto"/>
                <a:cs typeface="Roboto"/>
                <a:sym typeface="Roboto"/>
              </a:rPr>
              <a:t>repo.eecs.berkeley.edu</a:t>
            </a:r>
            <a:endParaRPr sz="1200">
              <a:latin typeface="Roboto"/>
              <a:ea typeface="Roboto"/>
              <a:cs typeface="Roboto"/>
              <a:sym typeface="Roboto"/>
            </a:endParaRPr>
          </a:p>
          <a:p>
            <a:pPr indent="0" lvl="0" marL="0" rtl="0" algn="l">
              <a:spcBef>
                <a:spcPts val="0"/>
              </a:spcBef>
              <a:spcAft>
                <a:spcPts val="0"/>
              </a:spcAft>
              <a:buNone/>
            </a:pPr>
            <a:r>
              <a:rPr lang="en" sz="1200">
                <a:latin typeface="Roboto"/>
                <a:ea typeface="Roboto"/>
                <a:cs typeface="Roboto"/>
                <a:sym typeface="Roboto"/>
              </a:rPr>
              <a:t>rise.eecs.berkeley.edu</a:t>
            </a:r>
            <a:endParaRPr sz="1200">
              <a:latin typeface="Roboto"/>
              <a:ea typeface="Roboto"/>
              <a:cs typeface="Roboto"/>
              <a:sym typeface="Roboto"/>
            </a:endParaRPr>
          </a:p>
          <a:p>
            <a:pPr indent="0" lvl="0" marL="0" rtl="0" algn="l">
              <a:spcBef>
                <a:spcPts val="0"/>
              </a:spcBef>
              <a:spcAft>
                <a:spcPts val="0"/>
              </a:spcAft>
              <a:buNone/>
            </a:pPr>
            <a:r>
              <a:rPr lang="en" sz="1200">
                <a:latin typeface="Roboto"/>
                <a:ea typeface="Roboto"/>
                <a:cs typeface="Roboto"/>
                <a:sym typeface="Roboto"/>
              </a:rPr>
              <a:t>...</a:t>
            </a:r>
            <a:endParaRPr sz="1200">
              <a:latin typeface="Roboto"/>
              <a:ea typeface="Roboto"/>
              <a:cs typeface="Roboto"/>
              <a:sym typeface="Roboto"/>
            </a:endParaRPr>
          </a:p>
        </p:txBody>
      </p:sp>
      <p:cxnSp>
        <p:nvCxnSpPr>
          <p:cNvPr id="173" name="Google Shape;173;p24"/>
          <p:cNvCxnSpPr>
            <a:stCxn id="170" idx="2"/>
            <a:endCxn id="171" idx="0"/>
          </p:cNvCxnSpPr>
          <p:nvPr/>
        </p:nvCxnSpPr>
        <p:spPr>
          <a:xfrm flipH="1">
            <a:off x="4682475" y="3112075"/>
            <a:ext cx="1326600" cy="235500"/>
          </a:xfrm>
          <a:prstGeom prst="straightConnector1">
            <a:avLst/>
          </a:prstGeom>
          <a:noFill/>
          <a:ln cap="flat" cmpd="sng" w="9525">
            <a:solidFill>
              <a:schemeClr val="dk2"/>
            </a:solidFill>
            <a:prstDash val="solid"/>
            <a:round/>
            <a:headEnd len="med" w="med" type="none"/>
            <a:tailEnd len="med" w="med" type="none"/>
          </a:ln>
        </p:spPr>
      </p:cxnSp>
      <p:cxnSp>
        <p:nvCxnSpPr>
          <p:cNvPr id="174" name="Google Shape;174;p24"/>
          <p:cNvCxnSpPr>
            <a:stCxn id="170" idx="2"/>
            <a:endCxn id="172" idx="0"/>
          </p:cNvCxnSpPr>
          <p:nvPr/>
        </p:nvCxnSpPr>
        <p:spPr>
          <a:xfrm>
            <a:off x="6009075" y="3112075"/>
            <a:ext cx="1416600" cy="235500"/>
          </a:xfrm>
          <a:prstGeom prst="straightConnector1">
            <a:avLst/>
          </a:prstGeom>
          <a:noFill/>
          <a:ln cap="flat" cmpd="sng" w="9525">
            <a:solidFill>
              <a:schemeClr val="dk2"/>
            </a:solidFill>
            <a:prstDash val="solid"/>
            <a:round/>
            <a:headEnd len="med" w="med" type="none"/>
            <a:tailEnd len="med" w="med" type="none"/>
          </a:ln>
        </p:spPr>
      </p:cxnSp>
      <p:sp>
        <p:nvSpPr>
          <p:cNvPr id="175" name="Google Shape;175;p24"/>
          <p:cNvSpPr txBox="1"/>
          <p:nvPr>
            <p:ph idx="1" type="body"/>
          </p:nvPr>
        </p:nvSpPr>
        <p:spPr>
          <a:xfrm>
            <a:off x="107050" y="1232425"/>
            <a:ext cx="3341100" cy="37005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Each node in the tree represents a </a:t>
            </a:r>
            <a:r>
              <a:rPr b="1" lang="en"/>
              <a:t>zone</a:t>
            </a:r>
            <a:r>
              <a:rPr lang="en"/>
              <a:t> of domains.</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
              <a:t>An organization managing a zone can </a:t>
            </a:r>
            <a:r>
              <a:rPr b="1" lang="en"/>
              <a:t>delegate</a:t>
            </a:r>
            <a:r>
              <a:rPr lang="en"/>
              <a:t> part of its zone to somebody else.</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Each zone has an </a:t>
            </a:r>
            <a:r>
              <a:rPr b="1" lang="en"/>
              <a:t>authoritative name server</a:t>
            </a:r>
            <a:r>
              <a:rPr lang="en"/>
              <a:t> that knows about the domains in that zone.</a:t>
            </a:r>
            <a:endParaRPr/>
          </a:p>
        </p:txBody>
      </p:sp>
      <p:sp>
        <p:nvSpPr>
          <p:cNvPr id="176" name="Google Shape;176;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Steps of a DNS </a:t>
            </a:r>
            <a:r>
              <a:rPr lang="en"/>
              <a:t>Lookup</a:t>
            </a:r>
            <a:endParaRPr/>
          </a:p>
        </p:txBody>
      </p:sp>
      <p:sp>
        <p:nvSpPr>
          <p:cNvPr id="182" name="Google Shape;182;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183" name="Google Shape;183;p25"/>
          <p:cNvGrpSpPr/>
          <p:nvPr/>
        </p:nvGrpSpPr>
        <p:grpSpPr>
          <a:xfrm>
            <a:off x="5054300" y="2190748"/>
            <a:ext cx="3478375" cy="2359077"/>
            <a:chOff x="5054300" y="2190748"/>
            <a:chExt cx="3478375" cy="2359077"/>
          </a:xfrm>
        </p:grpSpPr>
        <p:sp>
          <p:nvSpPr>
            <p:cNvPr id="184" name="Google Shape;184;p25"/>
            <p:cNvSpPr txBox="1"/>
            <p:nvPr/>
          </p:nvSpPr>
          <p:spPr>
            <a:xfrm>
              <a:off x="6574275" y="2190748"/>
              <a:ext cx="1238100" cy="3648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 (root)</a:t>
              </a:r>
              <a:endParaRPr>
                <a:latin typeface="Courier New"/>
                <a:ea typeface="Courier New"/>
                <a:cs typeface="Courier New"/>
                <a:sym typeface="Courier New"/>
              </a:endParaRPr>
            </a:p>
          </p:txBody>
        </p:sp>
        <p:sp>
          <p:nvSpPr>
            <p:cNvPr id="185" name="Google Shape;185;p25"/>
            <p:cNvSpPr txBox="1"/>
            <p:nvPr/>
          </p:nvSpPr>
          <p:spPr>
            <a:xfrm>
              <a:off x="6041325" y="3209977"/>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.edu</a:t>
              </a:r>
              <a:endParaRPr>
                <a:latin typeface="Calibri"/>
                <a:ea typeface="Calibri"/>
                <a:cs typeface="Calibri"/>
                <a:sym typeface="Calibri"/>
              </a:endParaRPr>
            </a:p>
          </p:txBody>
        </p:sp>
        <p:sp>
          <p:nvSpPr>
            <p:cNvPr id="186" name="Google Shape;186;p25"/>
            <p:cNvSpPr txBox="1"/>
            <p:nvPr/>
          </p:nvSpPr>
          <p:spPr>
            <a:xfrm>
              <a:off x="7671700" y="3209977"/>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.org</a:t>
              </a:r>
              <a:endParaRPr>
                <a:latin typeface="Calibri"/>
                <a:ea typeface="Calibri"/>
                <a:cs typeface="Calibri"/>
                <a:sym typeface="Calibri"/>
              </a:endParaRPr>
            </a:p>
          </p:txBody>
        </p:sp>
        <p:sp>
          <p:nvSpPr>
            <p:cNvPr id="187" name="Google Shape;187;p25"/>
            <p:cNvSpPr txBox="1"/>
            <p:nvPr/>
          </p:nvSpPr>
          <p:spPr>
            <a:xfrm>
              <a:off x="7489275" y="4156225"/>
              <a:ext cx="1043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cs161.org</a:t>
              </a:r>
              <a:endParaRPr sz="1200">
                <a:latin typeface="Calibri"/>
                <a:ea typeface="Calibri"/>
                <a:cs typeface="Calibri"/>
                <a:sym typeface="Calibri"/>
              </a:endParaRPr>
            </a:p>
          </p:txBody>
        </p:sp>
        <p:sp>
          <p:nvSpPr>
            <p:cNvPr id="188" name="Google Shape;188;p25"/>
            <p:cNvSpPr txBox="1"/>
            <p:nvPr/>
          </p:nvSpPr>
          <p:spPr>
            <a:xfrm>
              <a:off x="6490650" y="4156225"/>
              <a:ext cx="8586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mit.edu</a:t>
              </a:r>
              <a:endParaRPr sz="1200">
                <a:latin typeface="Calibri"/>
                <a:ea typeface="Calibri"/>
                <a:cs typeface="Calibri"/>
                <a:sym typeface="Calibri"/>
              </a:endParaRPr>
            </a:p>
          </p:txBody>
        </p:sp>
        <p:sp>
          <p:nvSpPr>
            <p:cNvPr id="189" name="Google Shape;189;p25"/>
            <p:cNvSpPr txBox="1"/>
            <p:nvPr/>
          </p:nvSpPr>
          <p:spPr>
            <a:xfrm>
              <a:off x="5054300" y="4156225"/>
              <a:ext cx="12963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berkeley.edu</a:t>
              </a:r>
              <a:endParaRPr sz="1200">
                <a:latin typeface="Calibri"/>
                <a:ea typeface="Calibri"/>
                <a:cs typeface="Calibri"/>
                <a:sym typeface="Calibri"/>
              </a:endParaRPr>
            </a:p>
          </p:txBody>
        </p:sp>
        <p:cxnSp>
          <p:nvCxnSpPr>
            <p:cNvPr id="190" name="Google Shape;190;p25"/>
            <p:cNvCxnSpPr>
              <a:stCxn id="184" idx="2"/>
              <a:endCxn id="185" idx="0"/>
            </p:cNvCxnSpPr>
            <p:nvPr/>
          </p:nvCxnSpPr>
          <p:spPr>
            <a:xfrm flipH="1">
              <a:off x="6375525" y="2555548"/>
              <a:ext cx="817800" cy="654300"/>
            </a:xfrm>
            <a:prstGeom prst="straightConnector1">
              <a:avLst/>
            </a:prstGeom>
            <a:noFill/>
            <a:ln cap="flat" cmpd="sng" w="9525">
              <a:solidFill>
                <a:srgbClr val="000000"/>
              </a:solidFill>
              <a:prstDash val="solid"/>
              <a:round/>
              <a:headEnd len="med" w="med" type="none"/>
              <a:tailEnd len="med" w="med" type="none"/>
            </a:ln>
          </p:spPr>
        </p:cxnSp>
        <p:cxnSp>
          <p:nvCxnSpPr>
            <p:cNvPr id="191" name="Google Shape;191;p25"/>
            <p:cNvCxnSpPr>
              <a:stCxn id="184" idx="2"/>
              <a:endCxn id="186" idx="0"/>
            </p:cNvCxnSpPr>
            <p:nvPr/>
          </p:nvCxnSpPr>
          <p:spPr>
            <a:xfrm>
              <a:off x="7193325" y="2555548"/>
              <a:ext cx="812700" cy="654300"/>
            </a:xfrm>
            <a:prstGeom prst="straightConnector1">
              <a:avLst/>
            </a:prstGeom>
            <a:noFill/>
            <a:ln cap="flat" cmpd="sng" w="9525">
              <a:solidFill>
                <a:srgbClr val="000000"/>
              </a:solidFill>
              <a:prstDash val="solid"/>
              <a:round/>
              <a:headEnd len="med" w="med" type="none"/>
              <a:tailEnd len="med" w="med" type="none"/>
            </a:ln>
          </p:spPr>
        </p:cxnSp>
        <p:cxnSp>
          <p:nvCxnSpPr>
            <p:cNvPr id="192" name="Google Shape;192;p25"/>
            <p:cNvCxnSpPr>
              <a:stCxn id="185" idx="2"/>
              <a:endCxn id="189" idx="0"/>
            </p:cNvCxnSpPr>
            <p:nvPr/>
          </p:nvCxnSpPr>
          <p:spPr>
            <a:xfrm flipH="1">
              <a:off x="5702325" y="3603577"/>
              <a:ext cx="673200" cy="552600"/>
            </a:xfrm>
            <a:prstGeom prst="straightConnector1">
              <a:avLst/>
            </a:prstGeom>
            <a:noFill/>
            <a:ln cap="flat" cmpd="sng" w="9525">
              <a:solidFill>
                <a:srgbClr val="000000"/>
              </a:solidFill>
              <a:prstDash val="solid"/>
              <a:round/>
              <a:headEnd len="med" w="med" type="none"/>
              <a:tailEnd len="med" w="med" type="none"/>
            </a:ln>
          </p:spPr>
        </p:cxnSp>
        <p:cxnSp>
          <p:nvCxnSpPr>
            <p:cNvPr id="193" name="Google Shape;193;p25"/>
            <p:cNvCxnSpPr>
              <a:stCxn id="185" idx="2"/>
              <a:endCxn id="188" idx="0"/>
            </p:cNvCxnSpPr>
            <p:nvPr/>
          </p:nvCxnSpPr>
          <p:spPr>
            <a:xfrm>
              <a:off x="6375525" y="3603577"/>
              <a:ext cx="544500" cy="552600"/>
            </a:xfrm>
            <a:prstGeom prst="straightConnector1">
              <a:avLst/>
            </a:prstGeom>
            <a:noFill/>
            <a:ln cap="flat" cmpd="sng" w="9525">
              <a:solidFill>
                <a:srgbClr val="000000"/>
              </a:solidFill>
              <a:prstDash val="solid"/>
              <a:round/>
              <a:headEnd len="med" w="med" type="none"/>
              <a:tailEnd len="med" w="med" type="none"/>
            </a:ln>
          </p:spPr>
        </p:cxnSp>
        <p:cxnSp>
          <p:nvCxnSpPr>
            <p:cNvPr id="194" name="Google Shape;194;p25"/>
            <p:cNvCxnSpPr>
              <a:stCxn id="186" idx="2"/>
              <a:endCxn id="187" idx="0"/>
            </p:cNvCxnSpPr>
            <p:nvPr/>
          </p:nvCxnSpPr>
          <p:spPr>
            <a:xfrm>
              <a:off x="8005900" y="3603577"/>
              <a:ext cx="5100" cy="552600"/>
            </a:xfrm>
            <a:prstGeom prst="straightConnector1">
              <a:avLst/>
            </a:prstGeom>
            <a:noFill/>
            <a:ln cap="flat" cmpd="sng" w="9525">
              <a:solidFill>
                <a:srgbClr val="000000"/>
              </a:solidFill>
              <a:prstDash val="solid"/>
              <a:round/>
              <a:headEnd len="med" w="med" type="none"/>
              <a:tailEnd len="med" w="med" type="none"/>
            </a:ln>
          </p:spPr>
        </p:cxnSp>
      </p:grpSp>
      <p:sp>
        <p:nvSpPr>
          <p:cNvPr id="195" name="Google Shape;195;p25"/>
          <p:cNvSpPr txBox="1"/>
          <p:nvPr/>
        </p:nvSpPr>
        <p:spPr>
          <a:xfrm>
            <a:off x="150000" y="2597559"/>
            <a:ext cx="597900" cy="16770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You</a:t>
            </a:r>
            <a:endParaRPr>
              <a:latin typeface="Calibri"/>
              <a:ea typeface="Calibri"/>
              <a:cs typeface="Calibri"/>
              <a:sym typeface="Calibri"/>
            </a:endParaRPr>
          </a:p>
        </p:txBody>
      </p:sp>
      <p:sp>
        <p:nvSpPr>
          <p:cNvPr id="196" name="Google Shape;196;p25"/>
          <p:cNvSpPr txBox="1"/>
          <p:nvPr/>
        </p:nvSpPr>
        <p:spPr>
          <a:xfrm>
            <a:off x="478575" y="1252650"/>
            <a:ext cx="32970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Let's walk through a DNS query for the IP address of </a:t>
            </a:r>
            <a:r>
              <a:rPr b="1" lang="en">
                <a:latin typeface="Courier New"/>
                <a:ea typeface="Courier New"/>
                <a:cs typeface="Courier New"/>
                <a:sym typeface="Courier New"/>
              </a:rPr>
              <a:t>eecs.berkeley.edu</a:t>
            </a:r>
            <a:r>
              <a:rPr lang="en"/>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Steps of a DNS </a:t>
            </a:r>
            <a:r>
              <a:rPr lang="en"/>
              <a:t>Lookup</a:t>
            </a:r>
            <a:endParaRPr/>
          </a:p>
        </p:txBody>
      </p:sp>
      <p:sp>
        <p:nvSpPr>
          <p:cNvPr id="202" name="Google Shape;202;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03" name="Google Shape;203;p26"/>
          <p:cNvSpPr txBox="1"/>
          <p:nvPr/>
        </p:nvSpPr>
        <p:spPr>
          <a:xfrm>
            <a:off x="6574275" y="2190748"/>
            <a:ext cx="1238100" cy="3648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 (root)</a:t>
            </a:r>
            <a:endParaRPr>
              <a:latin typeface="Courier New"/>
              <a:ea typeface="Courier New"/>
              <a:cs typeface="Courier New"/>
              <a:sym typeface="Courier New"/>
            </a:endParaRPr>
          </a:p>
        </p:txBody>
      </p:sp>
      <p:sp>
        <p:nvSpPr>
          <p:cNvPr id="204" name="Google Shape;204;p26"/>
          <p:cNvSpPr txBox="1"/>
          <p:nvPr/>
        </p:nvSpPr>
        <p:spPr>
          <a:xfrm>
            <a:off x="6041325" y="3209977"/>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.edu</a:t>
            </a:r>
            <a:endParaRPr>
              <a:latin typeface="Calibri"/>
              <a:ea typeface="Calibri"/>
              <a:cs typeface="Calibri"/>
              <a:sym typeface="Calibri"/>
            </a:endParaRPr>
          </a:p>
        </p:txBody>
      </p:sp>
      <p:sp>
        <p:nvSpPr>
          <p:cNvPr id="205" name="Google Shape;205;p26"/>
          <p:cNvSpPr txBox="1"/>
          <p:nvPr/>
        </p:nvSpPr>
        <p:spPr>
          <a:xfrm>
            <a:off x="7671700" y="3209977"/>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.org</a:t>
            </a:r>
            <a:endParaRPr>
              <a:latin typeface="Calibri"/>
              <a:ea typeface="Calibri"/>
              <a:cs typeface="Calibri"/>
              <a:sym typeface="Calibri"/>
            </a:endParaRPr>
          </a:p>
        </p:txBody>
      </p:sp>
      <p:sp>
        <p:nvSpPr>
          <p:cNvPr id="206" name="Google Shape;206;p26"/>
          <p:cNvSpPr txBox="1"/>
          <p:nvPr/>
        </p:nvSpPr>
        <p:spPr>
          <a:xfrm>
            <a:off x="7489275" y="4156225"/>
            <a:ext cx="1043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cs161.org</a:t>
            </a:r>
            <a:endParaRPr sz="1200">
              <a:latin typeface="Calibri"/>
              <a:ea typeface="Calibri"/>
              <a:cs typeface="Calibri"/>
              <a:sym typeface="Calibri"/>
            </a:endParaRPr>
          </a:p>
        </p:txBody>
      </p:sp>
      <p:sp>
        <p:nvSpPr>
          <p:cNvPr id="207" name="Google Shape;207;p26"/>
          <p:cNvSpPr txBox="1"/>
          <p:nvPr/>
        </p:nvSpPr>
        <p:spPr>
          <a:xfrm>
            <a:off x="6490650" y="4156225"/>
            <a:ext cx="8586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mit.edu</a:t>
            </a:r>
            <a:endParaRPr sz="1200">
              <a:latin typeface="Calibri"/>
              <a:ea typeface="Calibri"/>
              <a:cs typeface="Calibri"/>
              <a:sym typeface="Calibri"/>
            </a:endParaRPr>
          </a:p>
        </p:txBody>
      </p:sp>
      <p:sp>
        <p:nvSpPr>
          <p:cNvPr id="208" name="Google Shape;208;p26"/>
          <p:cNvSpPr txBox="1"/>
          <p:nvPr/>
        </p:nvSpPr>
        <p:spPr>
          <a:xfrm>
            <a:off x="5054300" y="4156225"/>
            <a:ext cx="12963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berkeley.edu</a:t>
            </a:r>
            <a:endParaRPr sz="1200">
              <a:latin typeface="Calibri"/>
              <a:ea typeface="Calibri"/>
              <a:cs typeface="Calibri"/>
              <a:sym typeface="Calibri"/>
            </a:endParaRPr>
          </a:p>
        </p:txBody>
      </p:sp>
      <p:cxnSp>
        <p:nvCxnSpPr>
          <p:cNvPr id="209" name="Google Shape;209;p26"/>
          <p:cNvCxnSpPr>
            <a:stCxn id="203" idx="2"/>
            <a:endCxn id="204" idx="0"/>
          </p:cNvCxnSpPr>
          <p:nvPr/>
        </p:nvCxnSpPr>
        <p:spPr>
          <a:xfrm flipH="1">
            <a:off x="6375525" y="2555548"/>
            <a:ext cx="817800" cy="654300"/>
          </a:xfrm>
          <a:prstGeom prst="straightConnector1">
            <a:avLst/>
          </a:prstGeom>
          <a:noFill/>
          <a:ln cap="flat" cmpd="sng" w="9525">
            <a:solidFill>
              <a:srgbClr val="000000"/>
            </a:solidFill>
            <a:prstDash val="solid"/>
            <a:round/>
            <a:headEnd len="med" w="med" type="none"/>
            <a:tailEnd len="med" w="med" type="none"/>
          </a:ln>
        </p:spPr>
      </p:cxnSp>
      <p:cxnSp>
        <p:nvCxnSpPr>
          <p:cNvPr id="210" name="Google Shape;210;p26"/>
          <p:cNvCxnSpPr>
            <a:stCxn id="203" idx="2"/>
            <a:endCxn id="205" idx="0"/>
          </p:cNvCxnSpPr>
          <p:nvPr/>
        </p:nvCxnSpPr>
        <p:spPr>
          <a:xfrm>
            <a:off x="7193325" y="2555548"/>
            <a:ext cx="812700" cy="654300"/>
          </a:xfrm>
          <a:prstGeom prst="straightConnector1">
            <a:avLst/>
          </a:prstGeom>
          <a:noFill/>
          <a:ln cap="flat" cmpd="sng" w="9525">
            <a:solidFill>
              <a:srgbClr val="000000"/>
            </a:solidFill>
            <a:prstDash val="solid"/>
            <a:round/>
            <a:headEnd len="med" w="med" type="none"/>
            <a:tailEnd len="med" w="med" type="none"/>
          </a:ln>
        </p:spPr>
      </p:cxnSp>
      <p:cxnSp>
        <p:nvCxnSpPr>
          <p:cNvPr id="211" name="Google Shape;211;p26"/>
          <p:cNvCxnSpPr>
            <a:stCxn id="204" idx="2"/>
            <a:endCxn id="208" idx="0"/>
          </p:cNvCxnSpPr>
          <p:nvPr/>
        </p:nvCxnSpPr>
        <p:spPr>
          <a:xfrm flipH="1">
            <a:off x="5702325" y="3603577"/>
            <a:ext cx="673200" cy="552600"/>
          </a:xfrm>
          <a:prstGeom prst="straightConnector1">
            <a:avLst/>
          </a:prstGeom>
          <a:noFill/>
          <a:ln cap="flat" cmpd="sng" w="9525">
            <a:solidFill>
              <a:srgbClr val="000000"/>
            </a:solidFill>
            <a:prstDash val="solid"/>
            <a:round/>
            <a:headEnd len="med" w="med" type="none"/>
            <a:tailEnd len="med" w="med" type="none"/>
          </a:ln>
        </p:spPr>
      </p:cxnSp>
      <p:cxnSp>
        <p:nvCxnSpPr>
          <p:cNvPr id="212" name="Google Shape;212;p26"/>
          <p:cNvCxnSpPr>
            <a:stCxn id="204" idx="2"/>
            <a:endCxn id="207" idx="0"/>
          </p:cNvCxnSpPr>
          <p:nvPr/>
        </p:nvCxnSpPr>
        <p:spPr>
          <a:xfrm>
            <a:off x="6375525" y="3603577"/>
            <a:ext cx="544500" cy="552600"/>
          </a:xfrm>
          <a:prstGeom prst="straightConnector1">
            <a:avLst/>
          </a:prstGeom>
          <a:noFill/>
          <a:ln cap="flat" cmpd="sng" w="9525">
            <a:solidFill>
              <a:srgbClr val="000000"/>
            </a:solidFill>
            <a:prstDash val="solid"/>
            <a:round/>
            <a:headEnd len="med" w="med" type="none"/>
            <a:tailEnd len="med" w="med" type="none"/>
          </a:ln>
        </p:spPr>
      </p:cxnSp>
      <p:cxnSp>
        <p:nvCxnSpPr>
          <p:cNvPr id="213" name="Google Shape;213;p26"/>
          <p:cNvCxnSpPr>
            <a:stCxn id="205" idx="2"/>
            <a:endCxn id="206" idx="0"/>
          </p:cNvCxnSpPr>
          <p:nvPr/>
        </p:nvCxnSpPr>
        <p:spPr>
          <a:xfrm>
            <a:off x="8005900" y="3603577"/>
            <a:ext cx="5100" cy="552600"/>
          </a:xfrm>
          <a:prstGeom prst="straightConnector1">
            <a:avLst/>
          </a:prstGeom>
          <a:noFill/>
          <a:ln cap="flat" cmpd="sng" w="9525">
            <a:solidFill>
              <a:srgbClr val="000000"/>
            </a:solidFill>
            <a:prstDash val="solid"/>
            <a:round/>
            <a:headEnd len="med" w="med" type="none"/>
            <a:tailEnd len="med" w="med" type="none"/>
          </a:ln>
        </p:spPr>
      </p:cxnSp>
      <p:sp>
        <p:nvSpPr>
          <p:cNvPr id="214" name="Google Shape;214;p26"/>
          <p:cNvSpPr txBox="1"/>
          <p:nvPr/>
        </p:nvSpPr>
        <p:spPr>
          <a:xfrm>
            <a:off x="150000" y="2597559"/>
            <a:ext cx="597900" cy="16770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You</a:t>
            </a:r>
            <a:endParaRPr>
              <a:latin typeface="Calibri"/>
              <a:ea typeface="Calibri"/>
              <a:cs typeface="Calibri"/>
              <a:sym typeface="Calibri"/>
            </a:endParaRPr>
          </a:p>
        </p:txBody>
      </p:sp>
      <p:sp>
        <p:nvSpPr>
          <p:cNvPr id="215" name="Google Shape;215;p26"/>
          <p:cNvSpPr txBox="1"/>
          <p:nvPr/>
        </p:nvSpPr>
        <p:spPr>
          <a:xfrm>
            <a:off x="478575" y="1252650"/>
            <a:ext cx="3112200" cy="831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DNS queries always start with a request to the root name server, which is responsible for all requests.</a:t>
            </a:r>
            <a:endParaRPr/>
          </a:p>
        </p:txBody>
      </p:sp>
      <p:grpSp>
        <p:nvGrpSpPr>
          <p:cNvPr id="216" name="Google Shape;216;p26"/>
          <p:cNvGrpSpPr/>
          <p:nvPr/>
        </p:nvGrpSpPr>
        <p:grpSpPr>
          <a:xfrm>
            <a:off x="812025" y="2279674"/>
            <a:ext cx="5609100" cy="656100"/>
            <a:chOff x="812025" y="2279674"/>
            <a:chExt cx="5609100" cy="656100"/>
          </a:xfrm>
        </p:grpSpPr>
        <p:cxnSp>
          <p:nvCxnSpPr>
            <p:cNvPr id="217" name="Google Shape;217;p26"/>
            <p:cNvCxnSpPr/>
            <p:nvPr/>
          </p:nvCxnSpPr>
          <p:spPr>
            <a:xfrm flipH="1" rot="10800000">
              <a:off x="812025" y="2279674"/>
              <a:ext cx="5609100" cy="656100"/>
            </a:xfrm>
            <a:prstGeom prst="straightConnector1">
              <a:avLst/>
            </a:prstGeom>
            <a:noFill/>
            <a:ln cap="flat" cmpd="sng" w="19050">
              <a:solidFill>
                <a:srgbClr val="000000"/>
              </a:solidFill>
              <a:prstDash val="solid"/>
              <a:round/>
              <a:headEnd len="med" w="med" type="none"/>
              <a:tailEnd len="med" w="med" type="triangle"/>
            </a:ln>
          </p:spPr>
        </p:cxnSp>
        <p:sp>
          <p:nvSpPr>
            <p:cNvPr id="218" name="Google Shape;218;p26"/>
            <p:cNvSpPr txBox="1"/>
            <p:nvPr/>
          </p:nvSpPr>
          <p:spPr>
            <a:xfrm>
              <a:off x="1983450" y="2473075"/>
              <a:ext cx="4101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1</a:t>
              </a:r>
              <a:endParaRPr>
                <a:latin typeface="Calibri"/>
                <a:ea typeface="Calibri"/>
                <a:cs typeface="Calibri"/>
                <a:sym typeface="Calibri"/>
              </a:endParaRPr>
            </a:p>
          </p:txBody>
        </p:sp>
      </p:grpSp>
      <p:sp>
        <p:nvSpPr>
          <p:cNvPr id="219" name="Google Shape;219;p26"/>
          <p:cNvSpPr txBox="1"/>
          <p:nvPr/>
        </p:nvSpPr>
        <p:spPr>
          <a:xfrm>
            <a:off x="3394225" y="2605650"/>
            <a:ext cx="2009700" cy="5541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t>“What is the IP address of </a:t>
            </a:r>
            <a:r>
              <a:rPr b="1" lang="en" sz="1200">
                <a:latin typeface="Courier New"/>
                <a:ea typeface="Courier New"/>
                <a:cs typeface="Courier New"/>
                <a:sym typeface="Courier New"/>
              </a:rPr>
              <a:t>eecs.berkeley.edu</a:t>
            </a:r>
            <a:r>
              <a:rPr lang="en" sz="1200"/>
              <a:t>?”</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Steps of a DNS </a:t>
            </a:r>
            <a:r>
              <a:rPr lang="en"/>
              <a:t>Lookup</a:t>
            </a:r>
            <a:endParaRPr/>
          </a:p>
        </p:txBody>
      </p:sp>
      <p:sp>
        <p:nvSpPr>
          <p:cNvPr id="225" name="Google Shape;225;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226" name="Google Shape;226;p27"/>
          <p:cNvGrpSpPr/>
          <p:nvPr/>
        </p:nvGrpSpPr>
        <p:grpSpPr>
          <a:xfrm>
            <a:off x="5054300" y="2190748"/>
            <a:ext cx="3478375" cy="2359077"/>
            <a:chOff x="5054300" y="2190748"/>
            <a:chExt cx="3478375" cy="2359077"/>
          </a:xfrm>
        </p:grpSpPr>
        <p:sp>
          <p:nvSpPr>
            <p:cNvPr id="227" name="Google Shape;227;p27"/>
            <p:cNvSpPr txBox="1"/>
            <p:nvPr/>
          </p:nvSpPr>
          <p:spPr>
            <a:xfrm>
              <a:off x="6574275" y="2190748"/>
              <a:ext cx="1238100" cy="3648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 (root)</a:t>
              </a:r>
              <a:endParaRPr>
                <a:latin typeface="Courier New"/>
                <a:ea typeface="Courier New"/>
                <a:cs typeface="Courier New"/>
                <a:sym typeface="Courier New"/>
              </a:endParaRPr>
            </a:p>
          </p:txBody>
        </p:sp>
        <p:sp>
          <p:nvSpPr>
            <p:cNvPr id="228" name="Google Shape;228;p27"/>
            <p:cNvSpPr txBox="1"/>
            <p:nvPr/>
          </p:nvSpPr>
          <p:spPr>
            <a:xfrm>
              <a:off x="6041325" y="3209977"/>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.edu</a:t>
              </a:r>
              <a:endParaRPr>
                <a:latin typeface="Calibri"/>
                <a:ea typeface="Calibri"/>
                <a:cs typeface="Calibri"/>
                <a:sym typeface="Calibri"/>
              </a:endParaRPr>
            </a:p>
          </p:txBody>
        </p:sp>
        <p:sp>
          <p:nvSpPr>
            <p:cNvPr id="229" name="Google Shape;229;p27"/>
            <p:cNvSpPr txBox="1"/>
            <p:nvPr/>
          </p:nvSpPr>
          <p:spPr>
            <a:xfrm>
              <a:off x="7671700" y="3209977"/>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.org</a:t>
              </a:r>
              <a:endParaRPr>
                <a:latin typeface="Calibri"/>
                <a:ea typeface="Calibri"/>
                <a:cs typeface="Calibri"/>
                <a:sym typeface="Calibri"/>
              </a:endParaRPr>
            </a:p>
          </p:txBody>
        </p:sp>
        <p:sp>
          <p:nvSpPr>
            <p:cNvPr id="230" name="Google Shape;230;p27"/>
            <p:cNvSpPr txBox="1"/>
            <p:nvPr/>
          </p:nvSpPr>
          <p:spPr>
            <a:xfrm>
              <a:off x="7489275" y="4156225"/>
              <a:ext cx="1043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cs161.org</a:t>
              </a:r>
              <a:endParaRPr sz="1200">
                <a:latin typeface="Calibri"/>
                <a:ea typeface="Calibri"/>
                <a:cs typeface="Calibri"/>
                <a:sym typeface="Calibri"/>
              </a:endParaRPr>
            </a:p>
          </p:txBody>
        </p:sp>
        <p:sp>
          <p:nvSpPr>
            <p:cNvPr id="231" name="Google Shape;231;p27"/>
            <p:cNvSpPr txBox="1"/>
            <p:nvPr/>
          </p:nvSpPr>
          <p:spPr>
            <a:xfrm>
              <a:off x="6490650" y="4156225"/>
              <a:ext cx="8586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mit.edu</a:t>
              </a:r>
              <a:endParaRPr sz="1200">
                <a:latin typeface="Calibri"/>
                <a:ea typeface="Calibri"/>
                <a:cs typeface="Calibri"/>
                <a:sym typeface="Calibri"/>
              </a:endParaRPr>
            </a:p>
          </p:txBody>
        </p:sp>
        <p:sp>
          <p:nvSpPr>
            <p:cNvPr id="232" name="Google Shape;232;p27"/>
            <p:cNvSpPr txBox="1"/>
            <p:nvPr/>
          </p:nvSpPr>
          <p:spPr>
            <a:xfrm>
              <a:off x="5054300" y="4156225"/>
              <a:ext cx="12963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berkeley.edu</a:t>
              </a:r>
              <a:endParaRPr sz="1200">
                <a:latin typeface="Calibri"/>
                <a:ea typeface="Calibri"/>
                <a:cs typeface="Calibri"/>
                <a:sym typeface="Calibri"/>
              </a:endParaRPr>
            </a:p>
          </p:txBody>
        </p:sp>
        <p:cxnSp>
          <p:nvCxnSpPr>
            <p:cNvPr id="233" name="Google Shape;233;p27"/>
            <p:cNvCxnSpPr>
              <a:stCxn id="227" idx="2"/>
              <a:endCxn id="228" idx="0"/>
            </p:cNvCxnSpPr>
            <p:nvPr/>
          </p:nvCxnSpPr>
          <p:spPr>
            <a:xfrm flipH="1">
              <a:off x="6375525" y="2555548"/>
              <a:ext cx="817800" cy="654300"/>
            </a:xfrm>
            <a:prstGeom prst="straightConnector1">
              <a:avLst/>
            </a:prstGeom>
            <a:noFill/>
            <a:ln cap="flat" cmpd="sng" w="9525">
              <a:solidFill>
                <a:srgbClr val="000000"/>
              </a:solidFill>
              <a:prstDash val="solid"/>
              <a:round/>
              <a:headEnd len="med" w="med" type="none"/>
              <a:tailEnd len="med" w="med" type="none"/>
            </a:ln>
          </p:spPr>
        </p:cxnSp>
        <p:cxnSp>
          <p:nvCxnSpPr>
            <p:cNvPr id="234" name="Google Shape;234;p27"/>
            <p:cNvCxnSpPr>
              <a:stCxn id="227" idx="2"/>
              <a:endCxn id="229" idx="0"/>
            </p:cNvCxnSpPr>
            <p:nvPr/>
          </p:nvCxnSpPr>
          <p:spPr>
            <a:xfrm>
              <a:off x="7193325" y="2555548"/>
              <a:ext cx="812700" cy="654300"/>
            </a:xfrm>
            <a:prstGeom prst="straightConnector1">
              <a:avLst/>
            </a:prstGeom>
            <a:noFill/>
            <a:ln cap="flat" cmpd="sng" w="9525">
              <a:solidFill>
                <a:srgbClr val="000000"/>
              </a:solidFill>
              <a:prstDash val="solid"/>
              <a:round/>
              <a:headEnd len="med" w="med" type="none"/>
              <a:tailEnd len="med" w="med" type="none"/>
            </a:ln>
          </p:spPr>
        </p:cxnSp>
        <p:cxnSp>
          <p:nvCxnSpPr>
            <p:cNvPr id="235" name="Google Shape;235;p27"/>
            <p:cNvCxnSpPr>
              <a:stCxn id="228" idx="2"/>
              <a:endCxn id="232" idx="0"/>
            </p:cNvCxnSpPr>
            <p:nvPr/>
          </p:nvCxnSpPr>
          <p:spPr>
            <a:xfrm flipH="1">
              <a:off x="5702325" y="3603577"/>
              <a:ext cx="673200" cy="552600"/>
            </a:xfrm>
            <a:prstGeom prst="straightConnector1">
              <a:avLst/>
            </a:prstGeom>
            <a:noFill/>
            <a:ln cap="flat" cmpd="sng" w="9525">
              <a:solidFill>
                <a:srgbClr val="000000"/>
              </a:solidFill>
              <a:prstDash val="solid"/>
              <a:round/>
              <a:headEnd len="med" w="med" type="none"/>
              <a:tailEnd len="med" w="med" type="none"/>
            </a:ln>
          </p:spPr>
        </p:cxnSp>
        <p:cxnSp>
          <p:nvCxnSpPr>
            <p:cNvPr id="236" name="Google Shape;236;p27"/>
            <p:cNvCxnSpPr>
              <a:stCxn id="228" idx="2"/>
              <a:endCxn id="231" idx="0"/>
            </p:cNvCxnSpPr>
            <p:nvPr/>
          </p:nvCxnSpPr>
          <p:spPr>
            <a:xfrm>
              <a:off x="6375525" y="3603577"/>
              <a:ext cx="544500" cy="552600"/>
            </a:xfrm>
            <a:prstGeom prst="straightConnector1">
              <a:avLst/>
            </a:prstGeom>
            <a:noFill/>
            <a:ln cap="flat" cmpd="sng" w="9525">
              <a:solidFill>
                <a:srgbClr val="000000"/>
              </a:solidFill>
              <a:prstDash val="solid"/>
              <a:round/>
              <a:headEnd len="med" w="med" type="none"/>
              <a:tailEnd len="med" w="med" type="none"/>
            </a:ln>
          </p:spPr>
        </p:cxnSp>
        <p:cxnSp>
          <p:nvCxnSpPr>
            <p:cNvPr id="237" name="Google Shape;237;p27"/>
            <p:cNvCxnSpPr>
              <a:stCxn id="229" idx="2"/>
              <a:endCxn id="230" idx="0"/>
            </p:cNvCxnSpPr>
            <p:nvPr/>
          </p:nvCxnSpPr>
          <p:spPr>
            <a:xfrm>
              <a:off x="8005900" y="3603577"/>
              <a:ext cx="5100" cy="552600"/>
            </a:xfrm>
            <a:prstGeom prst="straightConnector1">
              <a:avLst/>
            </a:prstGeom>
            <a:noFill/>
            <a:ln cap="flat" cmpd="sng" w="9525">
              <a:solidFill>
                <a:srgbClr val="000000"/>
              </a:solidFill>
              <a:prstDash val="solid"/>
              <a:round/>
              <a:headEnd len="med" w="med" type="none"/>
              <a:tailEnd len="med" w="med" type="none"/>
            </a:ln>
          </p:spPr>
        </p:cxnSp>
      </p:grpSp>
      <p:sp>
        <p:nvSpPr>
          <p:cNvPr id="238" name="Google Shape;238;p27"/>
          <p:cNvSpPr txBox="1"/>
          <p:nvPr/>
        </p:nvSpPr>
        <p:spPr>
          <a:xfrm>
            <a:off x="150000" y="2597559"/>
            <a:ext cx="597900" cy="16770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You</a:t>
            </a:r>
            <a:endParaRPr>
              <a:latin typeface="Calibri"/>
              <a:ea typeface="Calibri"/>
              <a:cs typeface="Calibri"/>
              <a:sym typeface="Calibri"/>
            </a:endParaRPr>
          </a:p>
        </p:txBody>
      </p:sp>
      <p:sp>
        <p:nvSpPr>
          <p:cNvPr id="239" name="Google Shape;239;p27"/>
          <p:cNvSpPr txBox="1"/>
          <p:nvPr/>
        </p:nvSpPr>
        <p:spPr>
          <a:xfrm>
            <a:off x="478575" y="1252650"/>
            <a:ext cx="2961900" cy="10467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The root name server responds by directing you to the correct child name server (in this case, the </a:t>
            </a:r>
            <a:r>
              <a:rPr b="1" lang="en">
                <a:latin typeface="Courier New"/>
                <a:ea typeface="Courier New"/>
                <a:cs typeface="Courier New"/>
                <a:sym typeface="Courier New"/>
              </a:rPr>
              <a:t>.edu</a:t>
            </a:r>
            <a:r>
              <a:rPr lang="en"/>
              <a:t> name server).</a:t>
            </a:r>
            <a:endParaRPr/>
          </a:p>
        </p:txBody>
      </p:sp>
      <p:grpSp>
        <p:nvGrpSpPr>
          <p:cNvPr id="240" name="Google Shape;240;p27"/>
          <p:cNvGrpSpPr/>
          <p:nvPr/>
        </p:nvGrpSpPr>
        <p:grpSpPr>
          <a:xfrm>
            <a:off x="812025" y="2279674"/>
            <a:ext cx="5609100" cy="656100"/>
            <a:chOff x="812025" y="2279674"/>
            <a:chExt cx="5609100" cy="656100"/>
          </a:xfrm>
        </p:grpSpPr>
        <p:cxnSp>
          <p:nvCxnSpPr>
            <p:cNvPr id="241" name="Google Shape;241;p27"/>
            <p:cNvCxnSpPr/>
            <p:nvPr/>
          </p:nvCxnSpPr>
          <p:spPr>
            <a:xfrm flipH="1" rot="10800000">
              <a:off x="812025" y="2279674"/>
              <a:ext cx="5609100" cy="656100"/>
            </a:xfrm>
            <a:prstGeom prst="straightConnector1">
              <a:avLst/>
            </a:prstGeom>
            <a:noFill/>
            <a:ln cap="flat" cmpd="sng" w="19050">
              <a:solidFill>
                <a:srgbClr val="000000"/>
              </a:solidFill>
              <a:prstDash val="solid"/>
              <a:round/>
              <a:headEnd len="med" w="med" type="none"/>
              <a:tailEnd len="med" w="med" type="triangle"/>
            </a:ln>
          </p:spPr>
        </p:cxnSp>
        <p:sp>
          <p:nvSpPr>
            <p:cNvPr id="242" name="Google Shape;242;p27"/>
            <p:cNvSpPr txBox="1"/>
            <p:nvPr/>
          </p:nvSpPr>
          <p:spPr>
            <a:xfrm>
              <a:off x="1983450" y="2473075"/>
              <a:ext cx="4101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1</a:t>
              </a:r>
              <a:endParaRPr>
                <a:latin typeface="Calibri"/>
                <a:ea typeface="Calibri"/>
                <a:cs typeface="Calibri"/>
                <a:sym typeface="Calibri"/>
              </a:endParaRPr>
            </a:p>
          </p:txBody>
        </p:sp>
      </p:grpSp>
      <p:grpSp>
        <p:nvGrpSpPr>
          <p:cNvPr id="243" name="Google Shape;243;p27"/>
          <p:cNvGrpSpPr/>
          <p:nvPr/>
        </p:nvGrpSpPr>
        <p:grpSpPr>
          <a:xfrm>
            <a:off x="812025" y="2400972"/>
            <a:ext cx="5609100" cy="808872"/>
            <a:chOff x="812025" y="2400972"/>
            <a:chExt cx="5609100" cy="808872"/>
          </a:xfrm>
        </p:grpSpPr>
        <p:cxnSp>
          <p:nvCxnSpPr>
            <p:cNvPr id="244" name="Google Shape;244;p27"/>
            <p:cNvCxnSpPr/>
            <p:nvPr/>
          </p:nvCxnSpPr>
          <p:spPr>
            <a:xfrm flipH="1" rot="10800000">
              <a:off x="812025" y="2400972"/>
              <a:ext cx="5609100" cy="656100"/>
            </a:xfrm>
            <a:prstGeom prst="straightConnector1">
              <a:avLst/>
            </a:prstGeom>
            <a:noFill/>
            <a:ln cap="flat" cmpd="sng" w="19050">
              <a:solidFill>
                <a:srgbClr val="000000"/>
              </a:solidFill>
              <a:prstDash val="solid"/>
              <a:round/>
              <a:headEnd len="med" w="med" type="triangle"/>
              <a:tailEnd len="med" w="med" type="none"/>
            </a:ln>
          </p:spPr>
        </p:cxnSp>
        <p:sp>
          <p:nvSpPr>
            <p:cNvPr id="245" name="Google Shape;245;p27"/>
            <p:cNvSpPr txBox="1"/>
            <p:nvPr/>
          </p:nvSpPr>
          <p:spPr>
            <a:xfrm>
              <a:off x="2046705" y="2813245"/>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2</a:t>
              </a:r>
              <a:endParaRPr>
                <a:latin typeface="Calibri"/>
                <a:ea typeface="Calibri"/>
                <a:cs typeface="Calibri"/>
                <a:sym typeface="Calibri"/>
              </a:endParaRPr>
            </a:p>
          </p:txBody>
        </p:sp>
      </p:grpSp>
      <p:sp>
        <p:nvSpPr>
          <p:cNvPr id="246" name="Google Shape;246;p27"/>
          <p:cNvSpPr txBox="1"/>
          <p:nvPr/>
        </p:nvSpPr>
        <p:spPr>
          <a:xfrm>
            <a:off x="2716690" y="2813250"/>
            <a:ext cx="2337600" cy="7389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200"/>
              <a:t>“I don’t know, but I have delegated authority to the </a:t>
            </a:r>
            <a:r>
              <a:rPr b="1" lang="en" sz="1200">
                <a:latin typeface="Courier New"/>
                <a:ea typeface="Courier New"/>
                <a:cs typeface="Courier New"/>
                <a:sym typeface="Courier New"/>
              </a:rPr>
              <a:t>.edu</a:t>
            </a:r>
            <a:r>
              <a:rPr lang="en" sz="1200"/>
              <a:t> name server.”</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2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Steps of a DNS </a:t>
            </a:r>
            <a:r>
              <a:rPr lang="en"/>
              <a:t>Lookup</a:t>
            </a:r>
            <a:endParaRPr/>
          </a:p>
        </p:txBody>
      </p:sp>
      <p:sp>
        <p:nvSpPr>
          <p:cNvPr id="252" name="Google Shape;252;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253" name="Google Shape;253;p28"/>
          <p:cNvGrpSpPr/>
          <p:nvPr/>
        </p:nvGrpSpPr>
        <p:grpSpPr>
          <a:xfrm>
            <a:off x="5054300" y="2190748"/>
            <a:ext cx="3478375" cy="2359077"/>
            <a:chOff x="5054300" y="2190748"/>
            <a:chExt cx="3478375" cy="2359077"/>
          </a:xfrm>
        </p:grpSpPr>
        <p:sp>
          <p:nvSpPr>
            <p:cNvPr id="254" name="Google Shape;254;p28"/>
            <p:cNvSpPr txBox="1"/>
            <p:nvPr/>
          </p:nvSpPr>
          <p:spPr>
            <a:xfrm>
              <a:off x="6574275" y="2190748"/>
              <a:ext cx="1238100" cy="3648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 (root)</a:t>
              </a:r>
              <a:endParaRPr>
                <a:latin typeface="Courier New"/>
                <a:ea typeface="Courier New"/>
                <a:cs typeface="Courier New"/>
                <a:sym typeface="Courier New"/>
              </a:endParaRPr>
            </a:p>
          </p:txBody>
        </p:sp>
        <p:sp>
          <p:nvSpPr>
            <p:cNvPr id="255" name="Google Shape;255;p28"/>
            <p:cNvSpPr txBox="1"/>
            <p:nvPr/>
          </p:nvSpPr>
          <p:spPr>
            <a:xfrm>
              <a:off x="6041325" y="3209977"/>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.edu</a:t>
              </a:r>
              <a:endParaRPr>
                <a:latin typeface="Calibri"/>
                <a:ea typeface="Calibri"/>
                <a:cs typeface="Calibri"/>
                <a:sym typeface="Calibri"/>
              </a:endParaRPr>
            </a:p>
          </p:txBody>
        </p:sp>
        <p:sp>
          <p:nvSpPr>
            <p:cNvPr id="256" name="Google Shape;256;p28"/>
            <p:cNvSpPr txBox="1"/>
            <p:nvPr/>
          </p:nvSpPr>
          <p:spPr>
            <a:xfrm>
              <a:off x="7671700" y="3209977"/>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.org</a:t>
              </a:r>
              <a:endParaRPr>
                <a:latin typeface="Calibri"/>
                <a:ea typeface="Calibri"/>
                <a:cs typeface="Calibri"/>
                <a:sym typeface="Calibri"/>
              </a:endParaRPr>
            </a:p>
          </p:txBody>
        </p:sp>
        <p:sp>
          <p:nvSpPr>
            <p:cNvPr id="257" name="Google Shape;257;p28"/>
            <p:cNvSpPr txBox="1"/>
            <p:nvPr/>
          </p:nvSpPr>
          <p:spPr>
            <a:xfrm>
              <a:off x="7489275" y="4156225"/>
              <a:ext cx="1043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cs161.org</a:t>
              </a:r>
              <a:endParaRPr sz="1200">
                <a:latin typeface="Calibri"/>
                <a:ea typeface="Calibri"/>
                <a:cs typeface="Calibri"/>
                <a:sym typeface="Calibri"/>
              </a:endParaRPr>
            </a:p>
          </p:txBody>
        </p:sp>
        <p:sp>
          <p:nvSpPr>
            <p:cNvPr id="258" name="Google Shape;258;p28"/>
            <p:cNvSpPr txBox="1"/>
            <p:nvPr/>
          </p:nvSpPr>
          <p:spPr>
            <a:xfrm>
              <a:off x="6490650" y="4156225"/>
              <a:ext cx="8586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mit.edu</a:t>
              </a:r>
              <a:endParaRPr sz="1200">
                <a:latin typeface="Calibri"/>
                <a:ea typeface="Calibri"/>
                <a:cs typeface="Calibri"/>
                <a:sym typeface="Calibri"/>
              </a:endParaRPr>
            </a:p>
          </p:txBody>
        </p:sp>
        <p:sp>
          <p:nvSpPr>
            <p:cNvPr id="259" name="Google Shape;259;p28"/>
            <p:cNvSpPr txBox="1"/>
            <p:nvPr/>
          </p:nvSpPr>
          <p:spPr>
            <a:xfrm>
              <a:off x="5054300" y="4156225"/>
              <a:ext cx="12963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berkeley.edu</a:t>
              </a:r>
              <a:endParaRPr sz="1200">
                <a:latin typeface="Calibri"/>
                <a:ea typeface="Calibri"/>
                <a:cs typeface="Calibri"/>
                <a:sym typeface="Calibri"/>
              </a:endParaRPr>
            </a:p>
          </p:txBody>
        </p:sp>
        <p:cxnSp>
          <p:nvCxnSpPr>
            <p:cNvPr id="260" name="Google Shape;260;p28"/>
            <p:cNvCxnSpPr>
              <a:stCxn id="254" idx="2"/>
              <a:endCxn id="255" idx="0"/>
            </p:cNvCxnSpPr>
            <p:nvPr/>
          </p:nvCxnSpPr>
          <p:spPr>
            <a:xfrm flipH="1">
              <a:off x="6375525" y="2555548"/>
              <a:ext cx="817800" cy="654300"/>
            </a:xfrm>
            <a:prstGeom prst="straightConnector1">
              <a:avLst/>
            </a:prstGeom>
            <a:noFill/>
            <a:ln cap="flat" cmpd="sng" w="9525">
              <a:solidFill>
                <a:srgbClr val="000000"/>
              </a:solidFill>
              <a:prstDash val="solid"/>
              <a:round/>
              <a:headEnd len="med" w="med" type="none"/>
              <a:tailEnd len="med" w="med" type="none"/>
            </a:ln>
          </p:spPr>
        </p:cxnSp>
        <p:cxnSp>
          <p:nvCxnSpPr>
            <p:cNvPr id="261" name="Google Shape;261;p28"/>
            <p:cNvCxnSpPr>
              <a:stCxn id="254" idx="2"/>
              <a:endCxn id="256" idx="0"/>
            </p:cNvCxnSpPr>
            <p:nvPr/>
          </p:nvCxnSpPr>
          <p:spPr>
            <a:xfrm>
              <a:off x="7193325" y="2555548"/>
              <a:ext cx="812700" cy="654300"/>
            </a:xfrm>
            <a:prstGeom prst="straightConnector1">
              <a:avLst/>
            </a:prstGeom>
            <a:noFill/>
            <a:ln cap="flat" cmpd="sng" w="9525">
              <a:solidFill>
                <a:srgbClr val="000000"/>
              </a:solidFill>
              <a:prstDash val="solid"/>
              <a:round/>
              <a:headEnd len="med" w="med" type="none"/>
              <a:tailEnd len="med" w="med" type="none"/>
            </a:ln>
          </p:spPr>
        </p:cxnSp>
        <p:cxnSp>
          <p:nvCxnSpPr>
            <p:cNvPr id="262" name="Google Shape;262;p28"/>
            <p:cNvCxnSpPr>
              <a:stCxn id="255" idx="2"/>
              <a:endCxn id="259" idx="0"/>
            </p:cNvCxnSpPr>
            <p:nvPr/>
          </p:nvCxnSpPr>
          <p:spPr>
            <a:xfrm flipH="1">
              <a:off x="5702325" y="3603577"/>
              <a:ext cx="673200" cy="552600"/>
            </a:xfrm>
            <a:prstGeom prst="straightConnector1">
              <a:avLst/>
            </a:prstGeom>
            <a:noFill/>
            <a:ln cap="flat" cmpd="sng" w="9525">
              <a:solidFill>
                <a:srgbClr val="000000"/>
              </a:solidFill>
              <a:prstDash val="solid"/>
              <a:round/>
              <a:headEnd len="med" w="med" type="none"/>
              <a:tailEnd len="med" w="med" type="none"/>
            </a:ln>
          </p:spPr>
        </p:cxnSp>
        <p:cxnSp>
          <p:nvCxnSpPr>
            <p:cNvPr id="263" name="Google Shape;263;p28"/>
            <p:cNvCxnSpPr>
              <a:stCxn id="255" idx="2"/>
              <a:endCxn id="258" idx="0"/>
            </p:cNvCxnSpPr>
            <p:nvPr/>
          </p:nvCxnSpPr>
          <p:spPr>
            <a:xfrm>
              <a:off x="6375525" y="3603577"/>
              <a:ext cx="544500" cy="552600"/>
            </a:xfrm>
            <a:prstGeom prst="straightConnector1">
              <a:avLst/>
            </a:prstGeom>
            <a:noFill/>
            <a:ln cap="flat" cmpd="sng" w="9525">
              <a:solidFill>
                <a:srgbClr val="000000"/>
              </a:solidFill>
              <a:prstDash val="solid"/>
              <a:round/>
              <a:headEnd len="med" w="med" type="none"/>
              <a:tailEnd len="med" w="med" type="none"/>
            </a:ln>
          </p:spPr>
        </p:cxnSp>
        <p:cxnSp>
          <p:nvCxnSpPr>
            <p:cNvPr id="264" name="Google Shape;264;p28"/>
            <p:cNvCxnSpPr>
              <a:stCxn id="256" idx="2"/>
              <a:endCxn id="257" idx="0"/>
            </p:cNvCxnSpPr>
            <p:nvPr/>
          </p:nvCxnSpPr>
          <p:spPr>
            <a:xfrm>
              <a:off x="8005900" y="3603577"/>
              <a:ext cx="5100" cy="552600"/>
            </a:xfrm>
            <a:prstGeom prst="straightConnector1">
              <a:avLst/>
            </a:prstGeom>
            <a:noFill/>
            <a:ln cap="flat" cmpd="sng" w="9525">
              <a:solidFill>
                <a:srgbClr val="000000"/>
              </a:solidFill>
              <a:prstDash val="solid"/>
              <a:round/>
              <a:headEnd len="med" w="med" type="none"/>
              <a:tailEnd len="med" w="med" type="none"/>
            </a:ln>
          </p:spPr>
        </p:cxnSp>
      </p:grpSp>
      <p:sp>
        <p:nvSpPr>
          <p:cNvPr id="265" name="Google Shape;265;p28"/>
          <p:cNvSpPr txBox="1"/>
          <p:nvPr/>
        </p:nvSpPr>
        <p:spPr>
          <a:xfrm>
            <a:off x="150000" y="2597559"/>
            <a:ext cx="597900" cy="16770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You</a:t>
            </a:r>
            <a:endParaRPr>
              <a:latin typeface="Calibri"/>
              <a:ea typeface="Calibri"/>
              <a:cs typeface="Calibri"/>
              <a:sym typeface="Calibri"/>
            </a:endParaRPr>
          </a:p>
        </p:txBody>
      </p:sp>
      <p:grpSp>
        <p:nvGrpSpPr>
          <p:cNvPr id="266" name="Google Shape;266;p28"/>
          <p:cNvGrpSpPr/>
          <p:nvPr/>
        </p:nvGrpSpPr>
        <p:grpSpPr>
          <a:xfrm>
            <a:off x="812025" y="2279674"/>
            <a:ext cx="5609100" cy="656100"/>
            <a:chOff x="812025" y="2279674"/>
            <a:chExt cx="5609100" cy="656100"/>
          </a:xfrm>
        </p:grpSpPr>
        <p:cxnSp>
          <p:nvCxnSpPr>
            <p:cNvPr id="267" name="Google Shape;267;p28"/>
            <p:cNvCxnSpPr/>
            <p:nvPr/>
          </p:nvCxnSpPr>
          <p:spPr>
            <a:xfrm flipH="1" rot="10800000">
              <a:off x="812025" y="2279674"/>
              <a:ext cx="5609100" cy="656100"/>
            </a:xfrm>
            <a:prstGeom prst="straightConnector1">
              <a:avLst/>
            </a:prstGeom>
            <a:noFill/>
            <a:ln cap="flat" cmpd="sng" w="19050">
              <a:solidFill>
                <a:srgbClr val="000000"/>
              </a:solidFill>
              <a:prstDash val="solid"/>
              <a:round/>
              <a:headEnd len="med" w="med" type="none"/>
              <a:tailEnd len="med" w="med" type="triangle"/>
            </a:ln>
          </p:spPr>
        </p:cxnSp>
        <p:sp>
          <p:nvSpPr>
            <p:cNvPr id="268" name="Google Shape;268;p28"/>
            <p:cNvSpPr txBox="1"/>
            <p:nvPr/>
          </p:nvSpPr>
          <p:spPr>
            <a:xfrm>
              <a:off x="1983460" y="2470077"/>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1</a:t>
              </a:r>
              <a:endParaRPr>
                <a:latin typeface="Calibri"/>
                <a:ea typeface="Calibri"/>
                <a:cs typeface="Calibri"/>
                <a:sym typeface="Calibri"/>
              </a:endParaRPr>
            </a:p>
          </p:txBody>
        </p:sp>
      </p:grpSp>
      <p:grpSp>
        <p:nvGrpSpPr>
          <p:cNvPr id="269" name="Google Shape;269;p28"/>
          <p:cNvGrpSpPr/>
          <p:nvPr/>
        </p:nvGrpSpPr>
        <p:grpSpPr>
          <a:xfrm>
            <a:off x="812025" y="2400972"/>
            <a:ext cx="5609100" cy="808872"/>
            <a:chOff x="812025" y="2400972"/>
            <a:chExt cx="5609100" cy="808872"/>
          </a:xfrm>
        </p:grpSpPr>
        <p:cxnSp>
          <p:nvCxnSpPr>
            <p:cNvPr id="270" name="Google Shape;270;p28"/>
            <p:cNvCxnSpPr/>
            <p:nvPr/>
          </p:nvCxnSpPr>
          <p:spPr>
            <a:xfrm flipH="1" rot="10800000">
              <a:off x="812025" y="2400972"/>
              <a:ext cx="5609100" cy="656100"/>
            </a:xfrm>
            <a:prstGeom prst="straightConnector1">
              <a:avLst/>
            </a:prstGeom>
            <a:noFill/>
            <a:ln cap="flat" cmpd="sng" w="19050">
              <a:solidFill>
                <a:srgbClr val="000000"/>
              </a:solidFill>
              <a:prstDash val="solid"/>
              <a:round/>
              <a:headEnd len="med" w="med" type="triangle"/>
              <a:tailEnd len="med" w="med" type="none"/>
            </a:ln>
          </p:spPr>
        </p:cxnSp>
        <p:sp>
          <p:nvSpPr>
            <p:cNvPr id="271" name="Google Shape;271;p28"/>
            <p:cNvSpPr txBox="1"/>
            <p:nvPr/>
          </p:nvSpPr>
          <p:spPr>
            <a:xfrm>
              <a:off x="2046705" y="2813245"/>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2</a:t>
              </a:r>
              <a:endParaRPr>
                <a:latin typeface="Calibri"/>
                <a:ea typeface="Calibri"/>
                <a:cs typeface="Calibri"/>
                <a:sym typeface="Calibri"/>
              </a:endParaRPr>
            </a:p>
          </p:txBody>
        </p:sp>
      </p:grpSp>
      <p:grpSp>
        <p:nvGrpSpPr>
          <p:cNvPr id="272" name="Google Shape;272;p28"/>
          <p:cNvGrpSpPr/>
          <p:nvPr/>
        </p:nvGrpSpPr>
        <p:grpSpPr>
          <a:xfrm>
            <a:off x="812025" y="3270806"/>
            <a:ext cx="5116200" cy="396600"/>
            <a:chOff x="812025" y="3270806"/>
            <a:chExt cx="5116200" cy="396600"/>
          </a:xfrm>
        </p:grpSpPr>
        <p:cxnSp>
          <p:nvCxnSpPr>
            <p:cNvPr id="273" name="Google Shape;273;p28"/>
            <p:cNvCxnSpPr/>
            <p:nvPr/>
          </p:nvCxnSpPr>
          <p:spPr>
            <a:xfrm flipH="1" rot="10800000">
              <a:off x="812025" y="3399151"/>
              <a:ext cx="5116200" cy="249300"/>
            </a:xfrm>
            <a:prstGeom prst="straightConnector1">
              <a:avLst/>
            </a:prstGeom>
            <a:noFill/>
            <a:ln cap="flat" cmpd="sng" w="19050">
              <a:solidFill>
                <a:srgbClr val="000000"/>
              </a:solidFill>
              <a:prstDash val="solid"/>
              <a:round/>
              <a:headEnd len="med" w="med" type="none"/>
              <a:tailEnd len="med" w="med" type="triangle"/>
            </a:ln>
          </p:spPr>
        </p:cxnSp>
        <p:sp>
          <p:nvSpPr>
            <p:cNvPr id="274" name="Google Shape;274;p28"/>
            <p:cNvSpPr txBox="1"/>
            <p:nvPr/>
          </p:nvSpPr>
          <p:spPr>
            <a:xfrm>
              <a:off x="2046701" y="3270806"/>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3</a:t>
              </a:r>
              <a:endParaRPr>
                <a:latin typeface="Calibri"/>
                <a:ea typeface="Calibri"/>
                <a:cs typeface="Calibri"/>
                <a:sym typeface="Calibri"/>
              </a:endParaRPr>
            </a:p>
          </p:txBody>
        </p:sp>
      </p:grpSp>
      <p:sp>
        <p:nvSpPr>
          <p:cNvPr id="275" name="Google Shape;275;p28"/>
          <p:cNvSpPr txBox="1"/>
          <p:nvPr/>
        </p:nvSpPr>
        <p:spPr>
          <a:xfrm>
            <a:off x="3173725" y="3486375"/>
            <a:ext cx="2009700" cy="5541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t>“What is the IP address of </a:t>
            </a:r>
            <a:r>
              <a:rPr b="1" lang="en" sz="1200">
                <a:latin typeface="Courier New"/>
                <a:ea typeface="Courier New"/>
                <a:cs typeface="Courier New"/>
                <a:sym typeface="Courier New"/>
              </a:rPr>
              <a:t>eecs.berkeley.edu</a:t>
            </a:r>
            <a:r>
              <a:rPr lang="en" sz="1200"/>
              <a:t>?”</a:t>
            </a:r>
            <a:endParaRPr sz="12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Steps of a DNS </a:t>
            </a:r>
            <a:r>
              <a:rPr lang="en"/>
              <a:t>Lookup</a:t>
            </a:r>
            <a:endParaRPr/>
          </a:p>
        </p:txBody>
      </p:sp>
      <p:sp>
        <p:nvSpPr>
          <p:cNvPr id="281" name="Google Shape;281;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282" name="Google Shape;282;p29"/>
          <p:cNvGrpSpPr/>
          <p:nvPr/>
        </p:nvGrpSpPr>
        <p:grpSpPr>
          <a:xfrm>
            <a:off x="5054300" y="2190748"/>
            <a:ext cx="3478375" cy="2359077"/>
            <a:chOff x="5054300" y="2190748"/>
            <a:chExt cx="3478375" cy="2359077"/>
          </a:xfrm>
        </p:grpSpPr>
        <p:sp>
          <p:nvSpPr>
            <p:cNvPr id="283" name="Google Shape;283;p29"/>
            <p:cNvSpPr txBox="1"/>
            <p:nvPr/>
          </p:nvSpPr>
          <p:spPr>
            <a:xfrm>
              <a:off x="6574275" y="2190748"/>
              <a:ext cx="1238100" cy="3648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 (root)</a:t>
              </a:r>
              <a:endParaRPr>
                <a:latin typeface="Courier New"/>
                <a:ea typeface="Courier New"/>
                <a:cs typeface="Courier New"/>
                <a:sym typeface="Courier New"/>
              </a:endParaRPr>
            </a:p>
          </p:txBody>
        </p:sp>
        <p:sp>
          <p:nvSpPr>
            <p:cNvPr id="284" name="Google Shape;284;p29"/>
            <p:cNvSpPr txBox="1"/>
            <p:nvPr/>
          </p:nvSpPr>
          <p:spPr>
            <a:xfrm>
              <a:off x="6041325" y="3209977"/>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.edu</a:t>
              </a:r>
              <a:endParaRPr>
                <a:latin typeface="Calibri"/>
                <a:ea typeface="Calibri"/>
                <a:cs typeface="Calibri"/>
                <a:sym typeface="Calibri"/>
              </a:endParaRPr>
            </a:p>
          </p:txBody>
        </p:sp>
        <p:sp>
          <p:nvSpPr>
            <p:cNvPr id="285" name="Google Shape;285;p29"/>
            <p:cNvSpPr txBox="1"/>
            <p:nvPr/>
          </p:nvSpPr>
          <p:spPr>
            <a:xfrm>
              <a:off x="7671700" y="3209977"/>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.org</a:t>
              </a:r>
              <a:endParaRPr>
                <a:latin typeface="Calibri"/>
                <a:ea typeface="Calibri"/>
                <a:cs typeface="Calibri"/>
                <a:sym typeface="Calibri"/>
              </a:endParaRPr>
            </a:p>
          </p:txBody>
        </p:sp>
        <p:sp>
          <p:nvSpPr>
            <p:cNvPr id="286" name="Google Shape;286;p29"/>
            <p:cNvSpPr txBox="1"/>
            <p:nvPr/>
          </p:nvSpPr>
          <p:spPr>
            <a:xfrm>
              <a:off x="7489275" y="4156225"/>
              <a:ext cx="1043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cs161.org</a:t>
              </a:r>
              <a:endParaRPr sz="1200">
                <a:latin typeface="Calibri"/>
                <a:ea typeface="Calibri"/>
                <a:cs typeface="Calibri"/>
                <a:sym typeface="Calibri"/>
              </a:endParaRPr>
            </a:p>
          </p:txBody>
        </p:sp>
        <p:sp>
          <p:nvSpPr>
            <p:cNvPr id="287" name="Google Shape;287;p29"/>
            <p:cNvSpPr txBox="1"/>
            <p:nvPr/>
          </p:nvSpPr>
          <p:spPr>
            <a:xfrm>
              <a:off x="6490650" y="4156225"/>
              <a:ext cx="8586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mit.edu</a:t>
              </a:r>
              <a:endParaRPr sz="1200">
                <a:latin typeface="Calibri"/>
                <a:ea typeface="Calibri"/>
                <a:cs typeface="Calibri"/>
                <a:sym typeface="Calibri"/>
              </a:endParaRPr>
            </a:p>
          </p:txBody>
        </p:sp>
        <p:sp>
          <p:nvSpPr>
            <p:cNvPr id="288" name="Google Shape;288;p29"/>
            <p:cNvSpPr txBox="1"/>
            <p:nvPr/>
          </p:nvSpPr>
          <p:spPr>
            <a:xfrm>
              <a:off x="5054300" y="4156225"/>
              <a:ext cx="12963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berkeley.edu</a:t>
              </a:r>
              <a:endParaRPr sz="1200">
                <a:latin typeface="Calibri"/>
                <a:ea typeface="Calibri"/>
                <a:cs typeface="Calibri"/>
                <a:sym typeface="Calibri"/>
              </a:endParaRPr>
            </a:p>
          </p:txBody>
        </p:sp>
        <p:cxnSp>
          <p:nvCxnSpPr>
            <p:cNvPr id="289" name="Google Shape;289;p29"/>
            <p:cNvCxnSpPr>
              <a:stCxn id="283" idx="2"/>
              <a:endCxn id="284" idx="0"/>
            </p:cNvCxnSpPr>
            <p:nvPr/>
          </p:nvCxnSpPr>
          <p:spPr>
            <a:xfrm flipH="1">
              <a:off x="6375525" y="2555548"/>
              <a:ext cx="817800" cy="654300"/>
            </a:xfrm>
            <a:prstGeom prst="straightConnector1">
              <a:avLst/>
            </a:prstGeom>
            <a:noFill/>
            <a:ln cap="flat" cmpd="sng" w="9525">
              <a:solidFill>
                <a:srgbClr val="000000"/>
              </a:solidFill>
              <a:prstDash val="solid"/>
              <a:round/>
              <a:headEnd len="med" w="med" type="none"/>
              <a:tailEnd len="med" w="med" type="none"/>
            </a:ln>
          </p:spPr>
        </p:cxnSp>
        <p:cxnSp>
          <p:nvCxnSpPr>
            <p:cNvPr id="290" name="Google Shape;290;p29"/>
            <p:cNvCxnSpPr>
              <a:stCxn id="283" idx="2"/>
              <a:endCxn id="285" idx="0"/>
            </p:cNvCxnSpPr>
            <p:nvPr/>
          </p:nvCxnSpPr>
          <p:spPr>
            <a:xfrm>
              <a:off x="7193325" y="2555548"/>
              <a:ext cx="812700" cy="654300"/>
            </a:xfrm>
            <a:prstGeom prst="straightConnector1">
              <a:avLst/>
            </a:prstGeom>
            <a:noFill/>
            <a:ln cap="flat" cmpd="sng" w="9525">
              <a:solidFill>
                <a:srgbClr val="000000"/>
              </a:solidFill>
              <a:prstDash val="solid"/>
              <a:round/>
              <a:headEnd len="med" w="med" type="none"/>
              <a:tailEnd len="med" w="med" type="none"/>
            </a:ln>
          </p:spPr>
        </p:cxnSp>
        <p:cxnSp>
          <p:nvCxnSpPr>
            <p:cNvPr id="291" name="Google Shape;291;p29"/>
            <p:cNvCxnSpPr>
              <a:stCxn id="284" idx="2"/>
              <a:endCxn id="288" idx="0"/>
            </p:cNvCxnSpPr>
            <p:nvPr/>
          </p:nvCxnSpPr>
          <p:spPr>
            <a:xfrm flipH="1">
              <a:off x="5702325" y="3603577"/>
              <a:ext cx="673200" cy="552600"/>
            </a:xfrm>
            <a:prstGeom prst="straightConnector1">
              <a:avLst/>
            </a:prstGeom>
            <a:noFill/>
            <a:ln cap="flat" cmpd="sng" w="9525">
              <a:solidFill>
                <a:srgbClr val="000000"/>
              </a:solidFill>
              <a:prstDash val="solid"/>
              <a:round/>
              <a:headEnd len="med" w="med" type="none"/>
              <a:tailEnd len="med" w="med" type="none"/>
            </a:ln>
          </p:spPr>
        </p:cxnSp>
        <p:cxnSp>
          <p:nvCxnSpPr>
            <p:cNvPr id="292" name="Google Shape;292;p29"/>
            <p:cNvCxnSpPr>
              <a:stCxn id="284" idx="2"/>
              <a:endCxn id="287" idx="0"/>
            </p:cNvCxnSpPr>
            <p:nvPr/>
          </p:nvCxnSpPr>
          <p:spPr>
            <a:xfrm>
              <a:off x="6375525" y="3603577"/>
              <a:ext cx="544500" cy="552600"/>
            </a:xfrm>
            <a:prstGeom prst="straightConnector1">
              <a:avLst/>
            </a:prstGeom>
            <a:noFill/>
            <a:ln cap="flat" cmpd="sng" w="9525">
              <a:solidFill>
                <a:srgbClr val="000000"/>
              </a:solidFill>
              <a:prstDash val="solid"/>
              <a:round/>
              <a:headEnd len="med" w="med" type="none"/>
              <a:tailEnd len="med" w="med" type="none"/>
            </a:ln>
          </p:spPr>
        </p:cxnSp>
        <p:cxnSp>
          <p:nvCxnSpPr>
            <p:cNvPr id="293" name="Google Shape;293;p29"/>
            <p:cNvCxnSpPr>
              <a:stCxn id="285" idx="2"/>
              <a:endCxn id="286" idx="0"/>
            </p:cNvCxnSpPr>
            <p:nvPr/>
          </p:nvCxnSpPr>
          <p:spPr>
            <a:xfrm>
              <a:off x="8005900" y="3603577"/>
              <a:ext cx="5100" cy="552600"/>
            </a:xfrm>
            <a:prstGeom prst="straightConnector1">
              <a:avLst/>
            </a:prstGeom>
            <a:noFill/>
            <a:ln cap="flat" cmpd="sng" w="9525">
              <a:solidFill>
                <a:srgbClr val="000000"/>
              </a:solidFill>
              <a:prstDash val="solid"/>
              <a:round/>
              <a:headEnd len="med" w="med" type="none"/>
              <a:tailEnd len="med" w="med" type="none"/>
            </a:ln>
          </p:spPr>
        </p:cxnSp>
      </p:grpSp>
      <p:sp>
        <p:nvSpPr>
          <p:cNvPr id="294" name="Google Shape;294;p29"/>
          <p:cNvSpPr txBox="1"/>
          <p:nvPr/>
        </p:nvSpPr>
        <p:spPr>
          <a:xfrm>
            <a:off x="150000" y="2597559"/>
            <a:ext cx="597900" cy="16770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You</a:t>
            </a:r>
            <a:endParaRPr>
              <a:latin typeface="Calibri"/>
              <a:ea typeface="Calibri"/>
              <a:cs typeface="Calibri"/>
              <a:sym typeface="Calibri"/>
            </a:endParaRPr>
          </a:p>
        </p:txBody>
      </p:sp>
      <p:grpSp>
        <p:nvGrpSpPr>
          <p:cNvPr id="295" name="Google Shape;295;p29"/>
          <p:cNvGrpSpPr/>
          <p:nvPr/>
        </p:nvGrpSpPr>
        <p:grpSpPr>
          <a:xfrm>
            <a:off x="812025" y="3270806"/>
            <a:ext cx="5116200" cy="396600"/>
            <a:chOff x="812025" y="3270806"/>
            <a:chExt cx="5116200" cy="396600"/>
          </a:xfrm>
        </p:grpSpPr>
        <p:cxnSp>
          <p:nvCxnSpPr>
            <p:cNvPr id="296" name="Google Shape;296;p29"/>
            <p:cNvCxnSpPr/>
            <p:nvPr/>
          </p:nvCxnSpPr>
          <p:spPr>
            <a:xfrm flipH="1" rot="10800000">
              <a:off x="812025" y="3399151"/>
              <a:ext cx="5116200" cy="249300"/>
            </a:xfrm>
            <a:prstGeom prst="straightConnector1">
              <a:avLst/>
            </a:prstGeom>
            <a:noFill/>
            <a:ln cap="flat" cmpd="sng" w="19050">
              <a:solidFill>
                <a:srgbClr val="000000"/>
              </a:solidFill>
              <a:prstDash val="solid"/>
              <a:round/>
              <a:headEnd len="med" w="med" type="none"/>
              <a:tailEnd len="med" w="med" type="triangle"/>
            </a:ln>
          </p:spPr>
        </p:cxnSp>
        <p:sp>
          <p:nvSpPr>
            <p:cNvPr id="297" name="Google Shape;297;p29"/>
            <p:cNvSpPr txBox="1"/>
            <p:nvPr/>
          </p:nvSpPr>
          <p:spPr>
            <a:xfrm>
              <a:off x="2046701" y="3270806"/>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3</a:t>
              </a:r>
              <a:endParaRPr>
                <a:latin typeface="Calibri"/>
                <a:ea typeface="Calibri"/>
                <a:cs typeface="Calibri"/>
                <a:sym typeface="Calibri"/>
              </a:endParaRPr>
            </a:p>
          </p:txBody>
        </p:sp>
      </p:grpSp>
      <p:grpSp>
        <p:nvGrpSpPr>
          <p:cNvPr id="298" name="Google Shape;298;p29"/>
          <p:cNvGrpSpPr/>
          <p:nvPr/>
        </p:nvGrpSpPr>
        <p:grpSpPr>
          <a:xfrm>
            <a:off x="854584" y="3514625"/>
            <a:ext cx="5116200" cy="493113"/>
            <a:chOff x="854584" y="3514625"/>
            <a:chExt cx="5116200" cy="493113"/>
          </a:xfrm>
        </p:grpSpPr>
        <p:cxnSp>
          <p:nvCxnSpPr>
            <p:cNvPr id="299" name="Google Shape;299;p29"/>
            <p:cNvCxnSpPr/>
            <p:nvPr/>
          </p:nvCxnSpPr>
          <p:spPr>
            <a:xfrm flipH="1" rot="10800000">
              <a:off x="854584" y="3514625"/>
              <a:ext cx="5116200" cy="249300"/>
            </a:xfrm>
            <a:prstGeom prst="straightConnector1">
              <a:avLst/>
            </a:prstGeom>
            <a:noFill/>
            <a:ln cap="flat" cmpd="sng" w="19050">
              <a:solidFill>
                <a:srgbClr val="000000"/>
              </a:solidFill>
              <a:prstDash val="solid"/>
              <a:round/>
              <a:headEnd len="med" w="med" type="triangle"/>
              <a:tailEnd len="med" w="med" type="none"/>
            </a:ln>
          </p:spPr>
        </p:cxnSp>
        <p:sp>
          <p:nvSpPr>
            <p:cNvPr id="300" name="Google Shape;300;p29"/>
            <p:cNvSpPr txBox="1"/>
            <p:nvPr/>
          </p:nvSpPr>
          <p:spPr>
            <a:xfrm>
              <a:off x="2113676" y="3611138"/>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4</a:t>
              </a:r>
              <a:endParaRPr>
                <a:latin typeface="Calibri"/>
                <a:ea typeface="Calibri"/>
                <a:cs typeface="Calibri"/>
                <a:sym typeface="Calibri"/>
              </a:endParaRPr>
            </a:p>
          </p:txBody>
        </p:sp>
      </p:grpSp>
      <p:sp>
        <p:nvSpPr>
          <p:cNvPr id="301" name="Google Shape;301;p29"/>
          <p:cNvSpPr txBox="1"/>
          <p:nvPr/>
        </p:nvSpPr>
        <p:spPr>
          <a:xfrm>
            <a:off x="2620240" y="3648450"/>
            <a:ext cx="2337600" cy="7389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200"/>
              <a:t>“I don’t know. But I have delegated authority to the </a:t>
            </a:r>
            <a:r>
              <a:rPr b="1" lang="en" sz="1200">
                <a:latin typeface="Courier New"/>
                <a:ea typeface="Courier New"/>
                <a:cs typeface="Courier New"/>
                <a:sym typeface="Courier New"/>
              </a:rPr>
              <a:t>berkeley.edu</a:t>
            </a:r>
            <a:r>
              <a:rPr lang="en" sz="1200"/>
              <a:t> name server.</a:t>
            </a:r>
            <a:r>
              <a:rPr lang="en" sz="1200"/>
              <a:t>”</a:t>
            </a:r>
            <a:endParaRPr sz="1200"/>
          </a:p>
        </p:txBody>
      </p:sp>
      <p:grpSp>
        <p:nvGrpSpPr>
          <p:cNvPr id="302" name="Google Shape;302;p29"/>
          <p:cNvGrpSpPr/>
          <p:nvPr/>
        </p:nvGrpSpPr>
        <p:grpSpPr>
          <a:xfrm>
            <a:off x="812025" y="2279674"/>
            <a:ext cx="5609100" cy="656100"/>
            <a:chOff x="812025" y="2279674"/>
            <a:chExt cx="5609100" cy="656100"/>
          </a:xfrm>
        </p:grpSpPr>
        <p:cxnSp>
          <p:nvCxnSpPr>
            <p:cNvPr id="303" name="Google Shape;303;p29"/>
            <p:cNvCxnSpPr/>
            <p:nvPr/>
          </p:nvCxnSpPr>
          <p:spPr>
            <a:xfrm flipH="1" rot="10800000">
              <a:off x="812025" y="2279674"/>
              <a:ext cx="5609100" cy="656100"/>
            </a:xfrm>
            <a:prstGeom prst="straightConnector1">
              <a:avLst/>
            </a:prstGeom>
            <a:noFill/>
            <a:ln cap="flat" cmpd="sng" w="19050">
              <a:solidFill>
                <a:srgbClr val="000000"/>
              </a:solidFill>
              <a:prstDash val="solid"/>
              <a:round/>
              <a:headEnd len="med" w="med" type="none"/>
              <a:tailEnd len="med" w="med" type="triangle"/>
            </a:ln>
          </p:spPr>
        </p:cxnSp>
        <p:sp>
          <p:nvSpPr>
            <p:cNvPr id="304" name="Google Shape;304;p29"/>
            <p:cNvSpPr txBox="1"/>
            <p:nvPr/>
          </p:nvSpPr>
          <p:spPr>
            <a:xfrm>
              <a:off x="1983460" y="2470077"/>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1</a:t>
              </a:r>
              <a:endParaRPr>
                <a:latin typeface="Calibri"/>
                <a:ea typeface="Calibri"/>
                <a:cs typeface="Calibri"/>
                <a:sym typeface="Calibri"/>
              </a:endParaRPr>
            </a:p>
          </p:txBody>
        </p:sp>
      </p:grpSp>
      <p:grpSp>
        <p:nvGrpSpPr>
          <p:cNvPr id="305" name="Google Shape;305;p29"/>
          <p:cNvGrpSpPr/>
          <p:nvPr/>
        </p:nvGrpSpPr>
        <p:grpSpPr>
          <a:xfrm>
            <a:off x="812025" y="2400972"/>
            <a:ext cx="5609100" cy="808872"/>
            <a:chOff x="812025" y="2400972"/>
            <a:chExt cx="5609100" cy="808872"/>
          </a:xfrm>
        </p:grpSpPr>
        <p:cxnSp>
          <p:nvCxnSpPr>
            <p:cNvPr id="306" name="Google Shape;306;p29"/>
            <p:cNvCxnSpPr/>
            <p:nvPr/>
          </p:nvCxnSpPr>
          <p:spPr>
            <a:xfrm flipH="1" rot="10800000">
              <a:off x="812025" y="2400972"/>
              <a:ext cx="5609100" cy="656100"/>
            </a:xfrm>
            <a:prstGeom prst="straightConnector1">
              <a:avLst/>
            </a:prstGeom>
            <a:noFill/>
            <a:ln cap="flat" cmpd="sng" w="19050">
              <a:solidFill>
                <a:srgbClr val="000000"/>
              </a:solidFill>
              <a:prstDash val="solid"/>
              <a:round/>
              <a:headEnd len="med" w="med" type="triangle"/>
              <a:tailEnd len="med" w="med" type="none"/>
            </a:ln>
          </p:spPr>
        </p:cxnSp>
        <p:sp>
          <p:nvSpPr>
            <p:cNvPr id="307" name="Google Shape;307;p29"/>
            <p:cNvSpPr txBox="1"/>
            <p:nvPr/>
          </p:nvSpPr>
          <p:spPr>
            <a:xfrm>
              <a:off x="2046705" y="2813245"/>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2</a:t>
              </a:r>
              <a:endParaRPr>
                <a:latin typeface="Calibri"/>
                <a:ea typeface="Calibri"/>
                <a:cs typeface="Calibri"/>
                <a:sym typeface="Calibri"/>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Steps of a DNS </a:t>
            </a:r>
            <a:r>
              <a:rPr lang="en"/>
              <a:t>Lookup</a:t>
            </a:r>
            <a:endParaRPr/>
          </a:p>
        </p:txBody>
      </p:sp>
      <p:sp>
        <p:nvSpPr>
          <p:cNvPr id="313" name="Google Shape;313;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314" name="Google Shape;314;p30"/>
          <p:cNvGrpSpPr/>
          <p:nvPr/>
        </p:nvGrpSpPr>
        <p:grpSpPr>
          <a:xfrm>
            <a:off x="5054300" y="2190748"/>
            <a:ext cx="3478375" cy="2359077"/>
            <a:chOff x="5054300" y="2190748"/>
            <a:chExt cx="3478375" cy="2359077"/>
          </a:xfrm>
        </p:grpSpPr>
        <p:sp>
          <p:nvSpPr>
            <p:cNvPr id="315" name="Google Shape;315;p30"/>
            <p:cNvSpPr txBox="1"/>
            <p:nvPr/>
          </p:nvSpPr>
          <p:spPr>
            <a:xfrm>
              <a:off x="6574275" y="2190748"/>
              <a:ext cx="1238100" cy="3648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 (root)</a:t>
              </a:r>
              <a:endParaRPr>
                <a:latin typeface="Courier New"/>
                <a:ea typeface="Courier New"/>
                <a:cs typeface="Courier New"/>
                <a:sym typeface="Courier New"/>
              </a:endParaRPr>
            </a:p>
          </p:txBody>
        </p:sp>
        <p:sp>
          <p:nvSpPr>
            <p:cNvPr id="316" name="Google Shape;316;p30"/>
            <p:cNvSpPr txBox="1"/>
            <p:nvPr/>
          </p:nvSpPr>
          <p:spPr>
            <a:xfrm>
              <a:off x="6041325" y="3209977"/>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.edu</a:t>
              </a:r>
              <a:endParaRPr>
                <a:latin typeface="Calibri"/>
                <a:ea typeface="Calibri"/>
                <a:cs typeface="Calibri"/>
                <a:sym typeface="Calibri"/>
              </a:endParaRPr>
            </a:p>
          </p:txBody>
        </p:sp>
        <p:sp>
          <p:nvSpPr>
            <p:cNvPr id="317" name="Google Shape;317;p30"/>
            <p:cNvSpPr txBox="1"/>
            <p:nvPr/>
          </p:nvSpPr>
          <p:spPr>
            <a:xfrm>
              <a:off x="7671700" y="3209977"/>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.org</a:t>
              </a:r>
              <a:endParaRPr>
                <a:latin typeface="Calibri"/>
                <a:ea typeface="Calibri"/>
                <a:cs typeface="Calibri"/>
                <a:sym typeface="Calibri"/>
              </a:endParaRPr>
            </a:p>
          </p:txBody>
        </p:sp>
        <p:sp>
          <p:nvSpPr>
            <p:cNvPr id="318" name="Google Shape;318;p30"/>
            <p:cNvSpPr txBox="1"/>
            <p:nvPr/>
          </p:nvSpPr>
          <p:spPr>
            <a:xfrm>
              <a:off x="7489275" y="4156225"/>
              <a:ext cx="1043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cs161.org</a:t>
              </a:r>
              <a:endParaRPr sz="1200">
                <a:latin typeface="Calibri"/>
                <a:ea typeface="Calibri"/>
                <a:cs typeface="Calibri"/>
                <a:sym typeface="Calibri"/>
              </a:endParaRPr>
            </a:p>
          </p:txBody>
        </p:sp>
        <p:sp>
          <p:nvSpPr>
            <p:cNvPr id="319" name="Google Shape;319;p30"/>
            <p:cNvSpPr txBox="1"/>
            <p:nvPr/>
          </p:nvSpPr>
          <p:spPr>
            <a:xfrm>
              <a:off x="6490650" y="4156225"/>
              <a:ext cx="8586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mit.edu</a:t>
              </a:r>
              <a:endParaRPr sz="1200">
                <a:latin typeface="Calibri"/>
                <a:ea typeface="Calibri"/>
                <a:cs typeface="Calibri"/>
                <a:sym typeface="Calibri"/>
              </a:endParaRPr>
            </a:p>
          </p:txBody>
        </p:sp>
        <p:sp>
          <p:nvSpPr>
            <p:cNvPr id="320" name="Google Shape;320;p30"/>
            <p:cNvSpPr txBox="1"/>
            <p:nvPr/>
          </p:nvSpPr>
          <p:spPr>
            <a:xfrm>
              <a:off x="5054300" y="4156225"/>
              <a:ext cx="12963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berkeley.edu</a:t>
              </a:r>
              <a:endParaRPr sz="1200">
                <a:latin typeface="Calibri"/>
                <a:ea typeface="Calibri"/>
                <a:cs typeface="Calibri"/>
                <a:sym typeface="Calibri"/>
              </a:endParaRPr>
            </a:p>
          </p:txBody>
        </p:sp>
        <p:cxnSp>
          <p:nvCxnSpPr>
            <p:cNvPr id="321" name="Google Shape;321;p30"/>
            <p:cNvCxnSpPr>
              <a:stCxn id="315" idx="2"/>
              <a:endCxn id="316" idx="0"/>
            </p:cNvCxnSpPr>
            <p:nvPr/>
          </p:nvCxnSpPr>
          <p:spPr>
            <a:xfrm flipH="1">
              <a:off x="6375525" y="2555548"/>
              <a:ext cx="817800" cy="654300"/>
            </a:xfrm>
            <a:prstGeom prst="straightConnector1">
              <a:avLst/>
            </a:prstGeom>
            <a:noFill/>
            <a:ln cap="flat" cmpd="sng" w="9525">
              <a:solidFill>
                <a:srgbClr val="000000"/>
              </a:solidFill>
              <a:prstDash val="solid"/>
              <a:round/>
              <a:headEnd len="med" w="med" type="none"/>
              <a:tailEnd len="med" w="med" type="none"/>
            </a:ln>
          </p:spPr>
        </p:cxnSp>
        <p:cxnSp>
          <p:nvCxnSpPr>
            <p:cNvPr id="322" name="Google Shape;322;p30"/>
            <p:cNvCxnSpPr>
              <a:stCxn id="315" idx="2"/>
              <a:endCxn id="317" idx="0"/>
            </p:cNvCxnSpPr>
            <p:nvPr/>
          </p:nvCxnSpPr>
          <p:spPr>
            <a:xfrm>
              <a:off x="7193325" y="2555548"/>
              <a:ext cx="812700" cy="654300"/>
            </a:xfrm>
            <a:prstGeom prst="straightConnector1">
              <a:avLst/>
            </a:prstGeom>
            <a:noFill/>
            <a:ln cap="flat" cmpd="sng" w="9525">
              <a:solidFill>
                <a:srgbClr val="000000"/>
              </a:solidFill>
              <a:prstDash val="solid"/>
              <a:round/>
              <a:headEnd len="med" w="med" type="none"/>
              <a:tailEnd len="med" w="med" type="none"/>
            </a:ln>
          </p:spPr>
        </p:cxnSp>
        <p:cxnSp>
          <p:nvCxnSpPr>
            <p:cNvPr id="323" name="Google Shape;323;p30"/>
            <p:cNvCxnSpPr>
              <a:stCxn id="316" idx="2"/>
              <a:endCxn id="320" idx="0"/>
            </p:cNvCxnSpPr>
            <p:nvPr/>
          </p:nvCxnSpPr>
          <p:spPr>
            <a:xfrm flipH="1">
              <a:off x="5702325" y="3603577"/>
              <a:ext cx="673200" cy="552600"/>
            </a:xfrm>
            <a:prstGeom prst="straightConnector1">
              <a:avLst/>
            </a:prstGeom>
            <a:noFill/>
            <a:ln cap="flat" cmpd="sng" w="9525">
              <a:solidFill>
                <a:srgbClr val="000000"/>
              </a:solidFill>
              <a:prstDash val="solid"/>
              <a:round/>
              <a:headEnd len="med" w="med" type="none"/>
              <a:tailEnd len="med" w="med" type="none"/>
            </a:ln>
          </p:spPr>
        </p:cxnSp>
        <p:cxnSp>
          <p:nvCxnSpPr>
            <p:cNvPr id="324" name="Google Shape;324;p30"/>
            <p:cNvCxnSpPr>
              <a:stCxn id="316" idx="2"/>
              <a:endCxn id="319" idx="0"/>
            </p:cNvCxnSpPr>
            <p:nvPr/>
          </p:nvCxnSpPr>
          <p:spPr>
            <a:xfrm>
              <a:off x="6375525" y="3603577"/>
              <a:ext cx="544500" cy="552600"/>
            </a:xfrm>
            <a:prstGeom prst="straightConnector1">
              <a:avLst/>
            </a:prstGeom>
            <a:noFill/>
            <a:ln cap="flat" cmpd="sng" w="9525">
              <a:solidFill>
                <a:srgbClr val="000000"/>
              </a:solidFill>
              <a:prstDash val="solid"/>
              <a:round/>
              <a:headEnd len="med" w="med" type="none"/>
              <a:tailEnd len="med" w="med" type="none"/>
            </a:ln>
          </p:spPr>
        </p:cxnSp>
        <p:cxnSp>
          <p:nvCxnSpPr>
            <p:cNvPr id="325" name="Google Shape;325;p30"/>
            <p:cNvCxnSpPr>
              <a:stCxn id="317" idx="2"/>
              <a:endCxn id="318" idx="0"/>
            </p:cNvCxnSpPr>
            <p:nvPr/>
          </p:nvCxnSpPr>
          <p:spPr>
            <a:xfrm>
              <a:off x="8005900" y="3603577"/>
              <a:ext cx="5100" cy="552600"/>
            </a:xfrm>
            <a:prstGeom prst="straightConnector1">
              <a:avLst/>
            </a:prstGeom>
            <a:noFill/>
            <a:ln cap="flat" cmpd="sng" w="9525">
              <a:solidFill>
                <a:srgbClr val="000000"/>
              </a:solidFill>
              <a:prstDash val="solid"/>
              <a:round/>
              <a:headEnd len="med" w="med" type="none"/>
              <a:tailEnd len="med" w="med" type="none"/>
            </a:ln>
          </p:spPr>
        </p:cxnSp>
      </p:grpSp>
      <p:sp>
        <p:nvSpPr>
          <p:cNvPr id="326" name="Google Shape;326;p30"/>
          <p:cNvSpPr txBox="1"/>
          <p:nvPr/>
        </p:nvSpPr>
        <p:spPr>
          <a:xfrm>
            <a:off x="150000" y="2597559"/>
            <a:ext cx="597900" cy="16770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You</a:t>
            </a:r>
            <a:endParaRPr>
              <a:latin typeface="Calibri"/>
              <a:ea typeface="Calibri"/>
              <a:cs typeface="Calibri"/>
              <a:sym typeface="Calibri"/>
            </a:endParaRPr>
          </a:p>
        </p:txBody>
      </p:sp>
      <p:sp>
        <p:nvSpPr>
          <p:cNvPr id="327" name="Google Shape;327;p30"/>
          <p:cNvSpPr txBox="1"/>
          <p:nvPr/>
        </p:nvSpPr>
        <p:spPr>
          <a:xfrm>
            <a:off x="2168400" y="4274550"/>
            <a:ext cx="2009700" cy="5541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t>“What is the IP address of </a:t>
            </a:r>
            <a:r>
              <a:rPr b="1" lang="en" sz="1200">
                <a:latin typeface="Courier New"/>
                <a:ea typeface="Courier New"/>
                <a:cs typeface="Courier New"/>
                <a:sym typeface="Courier New"/>
              </a:rPr>
              <a:t>eecs.berkeley.edu</a:t>
            </a:r>
            <a:r>
              <a:rPr lang="en" sz="1200"/>
              <a:t>?”</a:t>
            </a:r>
            <a:endParaRPr sz="1200"/>
          </a:p>
        </p:txBody>
      </p:sp>
      <p:grpSp>
        <p:nvGrpSpPr>
          <p:cNvPr id="328" name="Google Shape;328;p30"/>
          <p:cNvGrpSpPr/>
          <p:nvPr/>
        </p:nvGrpSpPr>
        <p:grpSpPr>
          <a:xfrm>
            <a:off x="812025" y="3270806"/>
            <a:ext cx="5116200" cy="396600"/>
            <a:chOff x="812025" y="3270806"/>
            <a:chExt cx="5116200" cy="396600"/>
          </a:xfrm>
        </p:grpSpPr>
        <p:cxnSp>
          <p:nvCxnSpPr>
            <p:cNvPr id="329" name="Google Shape;329;p30"/>
            <p:cNvCxnSpPr/>
            <p:nvPr/>
          </p:nvCxnSpPr>
          <p:spPr>
            <a:xfrm flipH="1" rot="10800000">
              <a:off x="812025" y="3399151"/>
              <a:ext cx="5116200" cy="249300"/>
            </a:xfrm>
            <a:prstGeom prst="straightConnector1">
              <a:avLst/>
            </a:prstGeom>
            <a:noFill/>
            <a:ln cap="flat" cmpd="sng" w="19050">
              <a:solidFill>
                <a:srgbClr val="000000"/>
              </a:solidFill>
              <a:prstDash val="solid"/>
              <a:round/>
              <a:headEnd len="med" w="med" type="none"/>
              <a:tailEnd len="med" w="med" type="triangle"/>
            </a:ln>
          </p:spPr>
        </p:cxnSp>
        <p:sp>
          <p:nvSpPr>
            <p:cNvPr id="330" name="Google Shape;330;p30"/>
            <p:cNvSpPr txBox="1"/>
            <p:nvPr/>
          </p:nvSpPr>
          <p:spPr>
            <a:xfrm>
              <a:off x="2046701" y="3270806"/>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3</a:t>
              </a:r>
              <a:endParaRPr>
                <a:latin typeface="Calibri"/>
                <a:ea typeface="Calibri"/>
                <a:cs typeface="Calibri"/>
                <a:sym typeface="Calibri"/>
              </a:endParaRPr>
            </a:p>
          </p:txBody>
        </p:sp>
      </p:grpSp>
      <p:grpSp>
        <p:nvGrpSpPr>
          <p:cNvPr id="331" name="Google Shape;331;p30"/>
          <p:cNvGrpSpPr/>
          <p:nvPr/>
        </p:nvGrpSpPr>
        <p:grpSpPr>
          <a:xfrm>
            <a:off x="854584" y="3514625"/>
            <a:ext cx="5116200" cy="493113"/>
            <a:chOff x="854584" y="3514625"/>
            <a:chExt cx="5116200" cy="493113"/>
          </a:xfrm>
        </p:grpSpPr>
        <p:cxnSp>
          <p:nvCxnSpPr>
            <p:cNvPr id="332" name="Google Shape;332;p30"/>
            <p:cNvCxnSpPr/>
            <p:nvPr/>
          </p:nvCxnSpPr>
          <p:spPr>
            <a:xfrm flipH="1" rot="10800000">
              <a:off x="854584" y="3514625"/>
              <a:ext cx="5116200" cy="249300"/>
            </a:xfrm>
            <a:prstGeom prst="straightConnector1">
              <a:avLst/>
            </a:prstGeom>
            <a:noFill/>
            <a:ln cap="flat" cmpd="sng" w="19050">
              <a:solidFill>
                <a:srgbClr val="000000"/>
              </a:solidFill>
              <a:prstDash val="solid"/>
              <a:round/>
              <a:headEnd len="med" w="med" type="triangle"/>
              <a:tailEnd len="med" w="med" type="none"/>
            </a:ln>
          </p:spPr>
        </p:cxnSp>
        <p:sp>
          <p:nvSpPr>
            <p:cNvPr id="333" name="Google Shape;333;p30"/>
            <p:cNvSpPr txBox="1"/>
            <p:nvPr/>
          </p:nvSpPr>
          <p:spPr>
            <a:xfrm>
              <a:off x="2113676" y="3611138"/>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4</a:t>
              </a:r>
              <a:endParaRPr>
                <a:latin typeface="Calibri"/>
                <a:ea typeface="Calibri"/>
                <a:cs typeface="Calibri"/>
                <a:sym typeface="Calibri"/>
              </a:endParaRPr>
            </a:p>
          </p:txBody>
        </p:sp>
      </p:grpSp>
      <p:grpSp>
        <p:nvGrpSpPr>
          <p:cNvPr id="334" name="Google Shape;334;p30"/>
          <p:cNvGrpSpPr/>
          <p:nvPr/>
        </p:nvGrpSpPr>
        <p:grpSpPr>
          <a:xfrm>
            <a:off x="812025" y="2279674"/>
            <a:ext cx="5609100" cy="656100"/>
            <a:chOff x="812025" y="2279674"/>
            <a:chExt cx="5609100" cy="656100"/>
          </a:xfrm>
        </p:grpSpPr>
        <p:cxnSp>
          <p:nvCxnSpPr>
            <p:cNvPr id="335" name="Google Shape;335;p30"/>
            <p:cNvCxnSpPr/>
            <p:nvPr/>
          </p:nvCxnSpPr>
          <p:spPr>
            <a:xfrm flipH="1" rot="10800000">
              <a:off x="812025" y="2279674"/>
              <a:ext cx="5609100" cy="656100"/>
            </a:xfrm>
            <a:prstGeom prst="straightConnector1">
              <a:avLst/>
            </a:prstGeom>
            <a:noFill/>
            <a:ln cap="flat" cmpd="sng" w="19050">
              <a:solidFill>
                <a:srgbClr val="000000"/>
              </a:solidFill>
              <a:prstDash val="solid"/>
              <a:round/>
              <a:headEnd len="med" w="med" type="none"/>
              <a:tailEnd len="med" w="med" type="triangle"/>
            </a:ln>
          </p:spPr>
        </p:cxnSp>
        <p:sp>
          <p:nvSpPr>
            <p:cNvPr id="336" name="Google Shape;336;p30"/>
            <p:cNvSpPr txBox="1"/>
            <p:nvPr/>
          </p:nvSpPr>
          <p:spPr>
            <a:xfrm>
              <a:off x="1983460" y="2470077"/>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1</a:t>
              </a:r>
              <a:endParaRPr>
                <a:latin typeface="Calibri"/>
                <a:ea typeface="Calibri"/>
                <a:cs typeface="Calibri"/>
                <a:sym typeface="Calibri"/>
              </a:endParaRPr>
            </a:p>
          </p:txBody>
        </p:sp>
      </p:grpSp>
      <p:grpSp>
        <p:nvGrpSpPr>
          <p:cNvPr id="337" name="Google Shape;337;p30"/>
          <p:cNvGrpSpPr/>
          <p:nvPr/>
        </p:nvGrpSpPr>
        <p:grpSpPr>
          <a:xfrm>
            <a:off x="812025" y="2400972"/>
            <a:ext cx="5609100" cy="808872"/>
            <a:chOff x="812025" y="2400972"/>
            <a:chExt cx="5609100" cy="808872"/>
          </a:xfrm>
        </p:grpSpPr>
        <p:cxnSp>
          <p:nvCxnSpPr>
            <p:cNvPr id="338" name="Google Shape;338;p30"/>
            <p:cNvCxnSpPr/>
            <p:nvPr/>
          </p:nvCxnSpPr>
          <p:spPr>
            <a:xfrm flipH="1" rot="10800000">
              <a:off x="812025" y="2400972"/>
              <a:ext cx="5609100" cy="656100"/>
            </a:xfrm>
            <a:prstGeom prst="straightConnector1">
              <a:avLst/>
            </a:prstGeom>
            <a:noFill/>
            <a:ln cap="flat" cmpd="sng" w="19050">
              <a:solidFill>
                <a:srgbClr val="000000"/>
              </a:solidFill>
              <a:prstDash val="solid"/>
              <a:round/>
              <a:headEnd len="med" w="med" type="triangle"/>
              <a:tailEnd len="med" w="med" type="none"/>
            </a:ln>
          </p:spPr>
        </p:cxnSp>
        <p:sp>
          <p:nvSpPr>
            <p:cNvPr id="339" name="Google Shape;339;p30"/>
            <p:cNvSpPr txBox="1"/>
            <p:nvPr/>
          </p:nvSpPr>
          <p:spPr>
            <a:xfrm>
              <a:off x="2046705" y="2813245"/>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2</a:t>
              </a:r>
              <a:endParaRPr>
                <a:latin typeface="Calibri"/>
                <a:ea typeface="Calibri"/>
                <a:cs typeface="Calibri"/>
                <a:sym typeface="Calibri"/>
              </a:endParaRPr>
            </a:p>
          </p:txBody>
        </p:sp>
      </p:grpSp>
      <p:grpSp>
        <p:nvGrpSpPr>
          <p:cNvPr id="340" name="Google Shape;340;p30"/>
          <p:cNvGrpSpPr/>
          <p:nvPr/>
        </p:nvGrpSpPr>
        <p:grpSpPr>
          <a:xfrm>
            <a:off x="932127" y="3784266"/>
            <a:ext cx="4073100" cy="546584"/>
            <a:chOff x="932127" y="3784266"/>
            <a:chExt cx="4073100" cy="546584"/>
          </a:xfrm>
        </p:grpSpPr>
        <p:cxnSp>
          <p:nvCxnSpPr>
            <p:cNvPr id="341" name="Google Shape;341;p30"/>
            <p:cNvCxnSpPr/>
            <p:nvPr/>
          </p:nvCxnSpPr>
          <p:spPr>
            <a:xfrm>
              <a:off x="932127" y="4059050"/>
              <a:ext cx="4073100" cy="271800"/>
            </a:xfrm>
            <a:prstGeom prst="straightConnector1">
              <a:avLst/>
            </a:prstGeom>
            <a:noFill/>
            <a:ln cap="flat" cmpd="sng" w="19050">
              <a:solidFill>
                <a:srgbClr val="000000"/>
              </a:solidFill>
              <a:prstDash val="solid"/>
              <a:round/>
              <a:headEnd len="med" w="med" type="none"/>
              <a:tailEnd len="med" w="med" type="triangle"/>
            </a:ln>
          </p:spPr>
        </p:cxnSp>
        <p:sp>
          <p:nvSpPr>
            <p:cNvPr id="342" name="Google Shape;342;p30"/>
            <p:cNvSpPr txBox="1"/>
            <p:nvPr/>
          </p:nvSpPr>
          <p:spPr>
            <a:xfrm>
              <a:off x="1758297" y="3784266"/>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5</a:t>
              </a:r>
              <a:endParaRPr>
                <a:latin typeface="Calibri"/>
                <a:ea typeface="Calibri"/>
                <a:cs typeface="Calibri"/>
                <a:sym typeface="Calibri"/>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Steps of a DNS </a:t>
            </a:r>
            <a:r>
              <a:rPr lang="en"/>
              <a:t>Lookup</a:t>
            </a:r>
            <a:endParaRPr/>
          </a:p>
        </p:txBody>
      </p:sp>
      <p:sp>
        <p:nvSpPr>
          <p:cNvPr id="348" name="Google Shape;348;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349" name="Google Shape;349;p31"/>
          <p:cNvGrpSpPr/>
          <p:nvPr/>
        </p:nvGrpSpPr>
        <p:grpSpPr>
          <a:xfrm>
            <a:off x="5054300" y="2190748"/>
            <a:ext cx="3478375" cy="2359077"/>
            <a:chOff x="5054300" y="2190748"/>
            <a:chExt cx="3478375" cy="2359077"/>
          </a:xfrm>
        </p:grpSpPr>
        <p:sp>
          <p:nvSpPr>
            <p:cNvPr id="350" name="Google Shape;350;p31"/>
            <p:cNvSpPr txBox="1"/>
            <p:nvPr/>
          </p:nvSpPr>
          <p:spPr>
            <a:xfrm>
              <a:off x="6574275" y="2190748"/>
              <a:ext cx="1238100" cy="3648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 (root)</a:t>
              </a:r>
              <a:endParaRPr>
                <a:latin typeface="Courier New"/>
                <a:ea typeface="Courier New"/>
                <a:cs typeface="Courier New"/>
                <a:sym typeface="Courier New"/>
              </a:endParaRPr>
            </a:p>
          </p:txBody>
        </p:sp>
        <p:sp>
          <p:nvSpPr>
            <p:cNvPr id="351" name="Google Shape;351;p31"/>
            <p:cNvSpPr txBox="1"/>
            <p:nvPr/>
          </p:nvSpPr>
          <p:spPr>
            <a:xfrm>
              <a:off x="6041325" y="3209977"/>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.edu</a:t>
              </a:r>
              <a:endParaRPr>
                <a:latin typeface="Calibri"/>
                <a:ea typeface="Calibri"/>
                <a:cs typeface="Calibri"/>
                <a:sym typeface="Calibri"/>
              </a:endParaRPr>
            </a:p>
          </p:txBody>
        </p:sp>
        <p:sp>
          <p:nvSpPr>
            <p:cNvPr id="352" name="Google Shape;352;p31"/>
            <p:cNvSpPr txBox="1"/>
            <p:nvPr/>
          </p:nvSpPr>
          <p:spPr>
            <a:xfrm>
              <a:off x="7671700" y="3209977"/>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.org</a:t>
              </a:r>
              <a:endParaRPr>
                <a:latin typeface="Calibri"/>
                <a:ea typeface="Calibri"/>
                <a:cs typeface="Calibri"/>
                <a:sym typeface="Calibri"/>
              </a:endParaRPr>
            </a:p>
          </p:txBody>
        </p:sp>
        <p:sp>
          <p:nvSpPr>
            <p:cNvPr id="353" name="Google Shape;353;p31"/>
            <p:cNvSpPr txBox="1"/>
            <p:nvPr/>
          </p:nvSpPr>
          <p:spPr>
            <a:xfrm>
              <a:off x="7489275" y="4156225"/>
              <a:ext cx="1043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cs161.org</a:t>
              </a:r>
              <a:endParaRPr sz="1200">
                <a:latin typeface="Calibri"/>
                <a:ea typeface="Calibri"/>
                <a:cs typeface="Calibri"/>
                <a:sym typeface="Calibri"/>
              </a:endParaRPr>
            </a:p>
          </p:txBody>
        </p:sp>
        <p:sp>
          <p:nvSpPr>
            <p:cNvPr id="354" name="Google Shape;354;p31"/>
            <p:cNvSpPr txBox="1"/>
            <p:nvPr/>
          </p:nvSpPr>
          <p:spPr>
            <a:xfrm>
              <a:off x="6490650" y="4156225"/>
              <a:ext cx="8586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mit.edu</a:t>
              </a:r>
              <a:endParaRPr sz="1200">
                <a:latin typeface="Calibri"/>
                <a:ea typeface="Calibri"/>
                <a:cs typeface="Calibri"/>
                <a:sym typeface="Calibri"/>
              </a:endParaRPr>
            </a:p>
          </p:txBody>
        </p:sp>
        <p:sp>
          <p:nvSpPr>
            <p:cNvPr id="355" name="Google Shape;355;p31"/>
            <p:cNvSpPr txBox="1"/>
            <p:nvPr/>
          </p:nvSpPr>
          <p:spPr>
            <a:xfrm>
              <a:off x="5054300" y="4156225"/>
              <a:ext cx="12963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berkeley.edu</a:t>
              </a:r>
              <a:endParaRPr sz="1200">
                <a:latin typeface="Calibri"/>
                <a:ea typeface="Calibri"/>
                <a:cs typeface="Calibri"/>
                <a:sym typeface="Calibri"/>
              </a:endParaRPr>
            </a:p>
          </p:txBody>
        </p:sp>
        <p:cxnSp>
          <p:nvCxnSpPr>
            <p:cNvPr id="356" name="Google Shape;356;p31"/>
            <p:cNvCxnSpPr>
              <a:stCxn id="350" idx="2"/>
              <a:endCxn id="351" idx="0"/>
            </p:cNvCxnSpPr>
            <p:nvPr/>
          </p:nvCxnSpPr>
          <p:spPr>
            <a:xfrm flipH="1">
              <a:off x="6375525" y="2555548"/>
              <a:ext cx="817800" cy="654300"/>
            </a:xfrm>
            <a:prstGeom prst="straightConnector1">
              <a:avLst/>
            </a:prstGeom>
            <a:noFill/>
            <a:ln cap="flat" cmpd="sng" w="9525">
              <a:solidFill>
                <a:srgbClr val="000000"/>
              </a:solidFill>
              <a:prstDash val="solid"/>
              <a:round/>
              <a:headEnd len="med" w="med" type="none"/>
              <a:tailEnd len="med" w="med" type="none"/>
            </a:ln>
          </p:spPr>
        </p:cxnSp>
        <p:cxnSp>
          <p:nvCxnSpPr>
            <p:cNvPr id="357" name="Google Shape;357;p31"/>
            <p:cNvCxnSpPr>
              <a:stCxn id="350" idx="2"/>
              <a:endCxn id="352" idx="0"/>
            </p:cNvCxnSpPr>
            <p:nvPr/>
          </p:nvCxnSpPr>
          <p:spPr>
            <a:xfrm>
              <a:off x="7193325" y="2555548"/>
              <a:ext cx="812700" cy="654300"/>
            </a:xfrm>
            <a:prstGeom prst="straightConnector1">
              <a:avLst/>
            </a:prstGeom>
            <a:noFill/>
            <a:ln cap="flat" cmpd="sng" w="9525">
              <a:solidFill>
                <a:srgbClr val="000000"/>
              </a:solidFill>
              <a:prstDash val="solid"/>
              <a:round/>
              <a:headEnd len="med" w="med" type="none"/>
              <a:tailEnd len="med" w="med" type="none"/>
            </a:ln>
          </p:spPr>
        </p:cxnSp>
        <p:cxnSp>
          <p:nvCxnSpPr>
            <p:cNvPr id="358" name="Google Shape;358;p31"/>
            <p:cNvCxnSpPr>
              <a:stCxn id="351" idx="2"/>
              <a:endCxn id="355" idx="0"/>
            </p:cNvCxnSpPr>
            <p:nvPr/>
          </p:nvCxnSpPr>
          <p:spPr>
            <a:xfrm flipH="1">
              <a:off x="5702325" y="3603577"/>
              <a:ext cx="673200" cy="552600"/>
            </a:xfrm>
            <a:prstGeom prst="straightConnector1">
              <a:avLst/>
            </a:prstGeom>
            <a:noFill/>
            <a:ln cap="flat" cmpd="sng" w="9525">
              <a:solidFill>
                <a:srgbClr val="000000"/>
              </a:solidFill>
              <a:prstDash val="solid"/>
              <a:round/>
              <a:headEnd len="med" w="med" type="none"/>
              <a:tailEnd len="med" w="med" type="none"/>
            </a:ln>
          </p:spPr>
        </p:cxnSp>
        <p:cxnSp>
          <p:nvCxnSpPr>
            <p:cNvPr id="359" name="Google Shape;359;p31"/>
            <p:cNvCxnSpPr>
              <a:stCxn id="351" idx="2"/>
              <a:endCxn id="354" idx="0"/>
            </p:cNvCxnSpPr>
            <p:nvPr/>
          </p:nvCxnSpPr>
          <p:spPr>
            <a:xfrm>
              <a:off x="6375525" y="3603577"/>
              <a:ext cx="544500" cy="552600"/>
            </a:xfrm>
            <a:prstGeom prst="straightConnector1">
              <a:avLst/>
            </a:prstGeom>
            <a:noFill/>
            <a:ln cap="flat" cmpd="sng" w="9525">
              <a:solidFill>
                <a:srgbClr val="000000"/>
              </a:solidFill>
              <a:prstDash val="solid"/>
              <a:round/>
              <a:headEnd len="med" w="med" type="none"/>
              <a:tailEnd len="med" w="med" type="none"/>
            </a:ln>
          </p:spPr>
        </p:cxnSp>
        <p:cxnSp>
          <p:nvCxnSpPr>
            <p:cNvPr id="360" name="Google Shape;360;p31"/>
            <p:cNvCxnSpPr>
              <a:stCxn id="352" idx="2"/>
              <a:endCxn id="353" idx="0"/>
            </p:cNvCxnSpPr>
            <p:nvPr/>
          </p:nvCxnSpPr>
          <p:spPr>
            <a:xfrm>
              <a:off x="8005900" y="3603577"/>
              <a:ext cx="5100" cy="552600"/>
            </a:xfrm>
            <a:prstGeom prst="straightConnector1">
              <a:avLst/>
            </a:prstGeom>
            <a:noFill/>
            <a:ln cap="flat" cmpd="sng" w="9525">
              <a:solidFill>
                <a:srgbClr val="000000"/>
              </a:solidFill>
              <a:prstDash val="solid"/>
              <a:round/>
              <a:headEnd len="med" w="med" type="none"/>
              <a:tailEnd len="med" w="med" type="none"/>
            </a:ln>
          </p:spPr>
        </p:cxnSp>
      </p:grpSp>
      <p:sp>
        <p:nvSpPr>
          <p:cNvPr id="361" name="Google Shape;361;p31"/>
          <p:cNvSpPr txBox="1"/>
          <p:nvPr/>
        </p:nvSpPr>
        <p:spPr>
          <a:xfrm>
            <a:off x="150000" y="2597559"/>
            <a:ext cx="597900" cy="16770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You</a:t>
            </a:r>
            <a:endParaRPr>
              <a:latin typeface="Calibri"/>
              <a:ea typeface="Calibri"/>
              <a:cs typeface="Calibri"/>
              <a:sym typeface="Calibri"/>
            </a:endParaRPr>
          </a:p>
        </p:txBody>
      </p:sp>
      <p:grpSp>
        <p:nvGrpSpPr>
          <p:cNvPr id="362" name="Google Shape;362;p31"/>
          <p:cNvGrpSpPr/>
          <p:nvPr/>
        </p:nvGrpSpPr>
        <p:grpSpPr>
          <a:xfrm>
            <a:off x="932127" y="3784266"/>
            <a:ext cx="4073100" cy="546584"/>
            <a:chOff x="932127" y="3784266"/>
            <a:chExt cx="4073100" cy="546584"/>
          </a:xfrm>
        </p:grpSpPr>
        <p:cxnSp>
          <p:nvCxnSpPr>
            <p:cNvPr id="363" name="Google Shape;363;p31"/>
            <p:cNvCxnSpPr/>
            <p:nvPr/>
          </p:nvCxnSpPr>
          <p:spPr>
            <a:xfrm>
              <a:off x="932127" y="4059050"/>
              <a:ext cx="4073100" cy="271800"/>
            </a:xfrm>
            <a:prstGeom prst="straightConnector1">
              <a:avLst/>
            </a:prstGeom>
            <a:noFill/>
            <a:ln cap="flat" cmpd="sng" w="19050">
              <a:solidFill>
                <a:srgbClr val="000000"/>
              </a:solidFill>
              <a:prstDash val="solid"/>
              <a:round/>
              <a:headEnd len="med" w="med" type="none"/>
              <a:tailEnd len="med" w="med" type="triangle"/>
            </a:ln>
          </p:spPr>
        </p:cxnSp>
        <p:sp>
          <p:nvSpPr>
            <p:cNvPr id="364" name="Google Shape;364;p31"/>
            <p:cNvSpPr txBox="1"/>
            <p:nvPr/>
          </p:nvSpPr>
          <p:spPr>
            <a:xfrm>
              <a:off x="1758297" y="3784266"/>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5</a:t>
              </a:r>
              <a:endParaRPr>
                <a:latin typeface="Calibri"/>
                <a:ea typeface="Calibri"/>
                <a:cs typeface="Calibri"/>
                <a:sym typeface="Calibri"/>
              </a:endParaRPr>
            </a:p>
          </p:txBody>
        </p:sp>
      </p:grpSp>
      <p:grpSp>
        <p:nvGrpSpPr>
          <p:cNvPr id="365" name="Google Shape;365;p31"/>
          <p:cNvGrpSpPr/>
          <p:nvPr/>
        </p:nvGrpSpPr>
        <p:grpSpPr>
          <a:xfrm>
            <a:off x="812025" y="4154725"/>
            <a:ext cx="4073100" cy="396600"/>
            <a:chOff x="812025" y="4154725"/>
            <a:chExt cx="4073100" cy="396600"/>
          </a:xfrm>
        </p:grpSpPr>
        <p:cxnSp>
          <p:nvCxnSpPr>
            <p:cNvPr id="366" name="Google Shape;366;p31"/>
            <p:cNvCxnSpPr/>
            <p:nvPr/>
          </p:nvCxnSpPr>
          <p:spPr>
            <a:xfrm>
              <a:off x="812025" y="4180882"/>
              <a:ext cx="4073100" cy="271800"/>
            </a:xfrm>
            <a:prstGeom prst="straightConnector1">
              <a:avLst/>
            </a:prstGeom>
            <a:noFill/>
            <a:ln cap="flat" cmpd="sng" w="19050">
              <a:solidFill>
                <a:srgbClr val="000000"/>
              </a:solidFill>
              <a:prstDash val="solid"/>
              <a:round/>
              <a:headEnd len="med" w="med" type="triangle"/>
              <a:tailEnd len="med" w="med" type="none"/>
            </a:ln>
          </p:spPr>
        </p:cxnSp>
        <p:sp>
          <p:nvSpPr>
            <p:cNvPr id="367" name="Google Shape;367;p31"/>
            <p:cNvSpPr txBox="1"/>
            <p:nvPr/>
          </p:nvSpPr>
          <p:spPr>
            <a:xfrm>
              <a:off x="1758306" y="4154725"/>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6</a:t>
              </a:r>
              <a:endParaRPr>
                <a:latin typeface="Calibri"/>
                <a:ea typeface="Calibri"/>
                <a:cs typeface="Calibri"/>
                <a:sym typeface="Calibri"/>
              </a:endParaRPr>
            </a:p>
          </p:txBody>
        </p:sp>
      </p:grpSp>
      <p:sp>
        <p:nvSpPr>
          <p:cNvPr id="368" name="Google Shape;368;p31"/>
          <p:cNvSpPr txBox="1"/>
          <p:nvPr/>
        </p:nvSpPr>
        <p:spPr>
          <a:xfrm>
            <a:off x="1363875" y="4493175"/>
            <a:ext cx="2969400" cy="5541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t>“The IP address of </a:t>
            </a:r>
            <a:r>
              <a:rPr b="1" lang="en" sz="1200">
                <a:latin typeface="Courier New"/>
                <a:ea typeface="Courier New"/>
                <a:cs typeface="Courier New"/>
                <a:sym typeface="Courier New"/>
              </a:rPr>
              <a:t>eecs.berkeley.edu</a:t>
            </a:r>
            <a:r>
              <a:rPr lang="en" sz="1200"/>
              <a:t> is </a:t>
            </a:r>
            <a:r>
              <a:rPr b="1" lang="en" sz="1200">
                <a:latin typeface="Courier New"/>
                <a:ea typeface="Courier New"/>
                <a:cs typeface="Courier New"/>
                <a:sym typeface="Courier New"/>
              </a:rPr>
              <a:t>23.185.0.1</a:t>
            </a:r>
            <a:r>
              <a:rPr lang="en" sz="1200"/>
              <a:t>.”</a:t>
            </a:r>
            <a:endParaRPr sz="1200"/>
          </a:p>
        </p:txBody>
      </p:sp>
      <p:grpSp>
        <p:nvGrpSpPr>
          <p:cNvPr id="369" name="Google Shape;369;p31"/>
          <p:cNvGrpSpPr/>
          <p:nvPr/>
        </p:nvGrpSpPr>
        <p:grpSpPr>
          <a:xfrm>
            <a:off x="812025" y="3270806"/>
            <a:ext cx="5116200" cy="396600"/>
            <a:chOff x="812025" y="3270806"/>
            <a:chExt cx="5116200" cy="396600"/>
          </a:xfrm>
        </p:grpSpPr>
        <p:cxnSp>
          <p:nvCxnSpPr>
            <p:cNvPr id="370" name="Google Shape;370;p31"/>
            <p:cNvCxnSpPr/>
            <p:nvPr/>
          </p:nvCxnSpPr>
          <p:spPr>
            <a:xfrm flipH="1" rot="10800000">
              <a:off x="812025" y="3399151"/>
              <a:ext cx="5116200" cy="249300"/>
            </a:xfrm>
            <a:prstGeom prst="straightConnector1">
              <a:avLst/>
            </a:prstGeom>
            <a:noFill/>
            <a:ln cap="flat" cmpd="sng" w="19050">
              <a:solidFill>
                <a:srgbClr val="000000"/>
              </a:solidFill>
              <a:prstDash val="solid"/>
              <a:round/>
              <a:headEnd len="med" w="med" type="none"/>
              <a:tailEnd len="med" w="med" type="triangle"/>
            </a:ln>
          </p:spPr>
        </p:cxnSp>
        <p:sp>
          <p:nvSpPr>
            <p:cNvPr id="371" name="Google Shape;371;p31"/>
            <p:cNvSpPr txBox="1"/>
            <p:nvPr/>
          </p:nvSpPr>
          <p:spPr>
            <a:xfrm>
              <a:off x="2046701" y="3270806"/>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3</a:t>
              </a:r>
              <a:endParaRPr>
                <a:latin typeface="Calibri"/>
                <a:ea typeface="Calibri"/>
                <a:cs typeface="Calibri"/>
                <a:sym typeface="Calibri"/>
              </a:endParaRPr>
            </a:p>
          </p:txBody>
        </p:sp>
      </p:grpSp>
      <p:grpSp>
        <p:nvGrpSpPr>
          <p:cNvPr id="372" name="Google Shape;372;p31"/>
          <p:cNvGrpSpPr/>
          <p:nvPr/>
        </p:nvGrpSpPr>
        <p:grpSpPr>
          <a:xfrm>
            <a:off x="854584" y="3514625"/>
            <a:ext cx="5116200" cy="493113"/>
            <a:chOff x="854584" y="3514625"/>
            <a:chExt cx="5116200" cy="493113"/>
          </a:xfrm>
        </p:grpSpPr>
        <p:cxnSp>
          <p:nvCxnSpPr>
            <p:cNvPr id="373" name="Google Shape;373;p31"/>
            <p:cNvCxnSpPr/>
            <p:nvPr/>
          </p:nvCxnSpPr>
          <p:spPr>
            <a:xfrm flipH="1" rot="10800000">
              <a:off x="854584" y="3514625"/>
              <a:ext cx="5116200" cy="249300"/>
            </a:xfrm>
            <a:prstGeom prst="straightConnector1">
              <a:avLst/>
            </a:prstGeom>
            <a:noFill/>
            <a:ln cap="flat" cmpd="sng" w="19050">
              <a:solidFill>
                <a:srgbClr val="000000"/>
              </a:solidFill>
              <a:prstDash val="solid"/>
              <a:round/>
              <a:headEnd len="med" w="med" type="triangle"/>
              <a:tailEnd len="med" w="med" type="none"/>
            </a:ln>
          </p:spPr>
        </p:cxnSp>
        <p:sp>
          <p:nvSpPr>
            <p:cNvPr id="374" name="Google Shape;374;p31"/>
            <p:cNvSpPr txBox="1"/>
            <p:nvPr/>
          </p:nvSpPr>
          <p:spPr>
            <a:xfrm>
              <a:off x="2113676" y="3611138"/>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4</a:t>
              </a:r>
              <a:endParaRPr>
                <a:latin typeface="Calibri"/>
                <a:ea typeface="Calibri"/>
                <a:cs typeface="Calibri"/>
                <a:sym typeface="Calibri"/>
              </a:endParaRPr>
            </a:p>
          </p:txBody>
        </p:sp>
      </p:grpSp>
      <p:grpSp>
        <p:nvGrpSpPr>
          <p:cNvPr id="375" name="Google Shape;375;p31"/>
          <p:cNvGrpSpPr/>
          <p:nvPr/>
        </p:nvGrpSpPr>
        <p:grpSpPr>
          <a:xfrm>
            <a:off x="812025" y="2279674"/>
            <a:ext cx="5609100" cy="656100"/>
            <a:chOff x="812025" y="2279674"/>
            <a:chExt cx="5609100" cy="656100"/>
          </a:xfrm>
        </p:grpSpPr>
        <p:cxnSp>
          <p:nvCxnSpPr>
            <p:cNvPr id="376" name="Google Shape;376;p31"/>
            <p:cNvCxnSpPr/>
            <p:nvPr/>
          </p:nvCxnSpPr>
          <p:spPr>
            <a:xfrm flipH="1" rot="10800000">
              <a:off x="812025" y="2279674"/>
              <a:ext cx="5609100" cy="656100"/>
            </a:xfrm>
            <a:prstGeom prst="straightConnector1">
              <a:avLst/>
            </a:prstGeom>
            <a:noFill/>
            <a:ln cap="flat" cmpd="sng" w="19050">
              <a:solidFill>
                <a:srgbClr val="000000"/>
              </a:solidFill>
              <a:prstDash val="solid"/>
              <a:round/>
              <a:headEnd len="med" w="med" type="none"/>
              <a:tailEnd len="med" w="med" type="triangle"/>
            </a:ln>
          </p:spPr>
        </p:cxnSp>
        <p:sp>
          <p:nvSpPr>
            <p:cNvPr id="377" name="Google Shape;377;p31"/>
            <p:cNvSpPr txBox="1"/>
            <p:nvPr/>
          </p:nvSpPr>
          <p:spPr>
            <a:xfrm>
              <a:off x="1983460" y="2470077"/>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1</a:t>
              </a:r>
              <a:endParaRPr>
                <a:latin typeface="Calibri"/>
                <a:ea typeface="Calibri"/>
                <a:cs typeface="Calibri"/>
                <a:sym typeface="Calibri"/>
              </a:endParaRPr>
            </a:p>
          </p:txBody>
        </p:sp>
      </p:grpSp>
      <p:grpSp>
        <p:nvGrpSpPr>
          <p:cNvPr id="378" name="Google Shape;378;p31"/>
          <p:cNvGrpSpPr/>
          <p:nvPr/>
        </p:nvGrpSpPr>
        <p:grpSpPr>
          <a:xfrm>
            <a:off x="812025" y="2400972"/>
            <a:ext cx="5609100" cy="808872"/>
            <a:chOff x="812025" y="2400972"/>
            <a:chExt cx="5609100" cy="808872"/>
          </a:xfrm>
        </p:grpSpPr>
        <p:cxnSp>
          <p:nvCxnSpPr>
            <p:cNvPr id="379" name="Google Shape;379;p31"/>
            <p:cNvCxnSpPr/>
            <p:nvPr/>
          </p:nvCxnSpPr>
          <p:spPr>
            <a:xfrm flipH="1" rot="10800000">
              <a:off x="812025" y="2400972"/>
              <a:ext cx="5609100" cy="656100"/>
            </a:xfrm>
            <a:prstGeom prst="straightConnector1">
              <a:avLst/>
            </a:prstGeom>
            <a:noFill/>
            <a:ln cap="flat" cmpd="sng" w="19050">
              <a:solidFill>
                <a:srgbClr val="000000"/>
              </a:solidFill>
              <a:prstDash val="solid"/>
              <a:round/>
              <a:headEnd len="med" w="med" type="triangle"/>
              <a:tailEnd len="med" w="med" type="none"/>
            </a:ln>
          </p:spPr>
        </p:cxnSp>
        <p:sp>
          <p:nvSpPr>
            <p:cNvPr id="380" name="Google Shape;380;p31"/>
            <p:cNvSpPr txBox="1"/>
            <p:nvPr/>
          </p:nvSpPr>
          <p:spPr>
            <a:xfrm>
              <a:off x="2046705" y="2813245"/>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2</a:t>
              </a:r>
              <a:endParaRPr>
                <a:latin typeface="Calibri"/>
                <a:ea typeface="Calibri"/>
                <a:cs typeface="Calibri"/>
                <a:sym typeface="Calibri"/>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3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Stub Resolvers and Recursive Resolvers</a:t>
            </a:r>
            <a:endParaRPr/>
          </a:p>
        </p:txBody>
      </p:sp>
      <p:sp>
        <p:nvSpPr>
          <p:cNvPr id="386" name="Google Shape;386;p32"/>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In practice, your computer usually tells another resolver to perform the query for you</a:t>
            </a:r>
            <a:endParaRPr/>
          </a:p>
          <a:p>
            <a:pPr indent="-342900" lvl="0" marL="457200" rtl="0" algn="l">
              <a:spcBef>
                <a:spcPts val="0"/>
              </a:spcBef>
              <a:spcAft>
                <a:spcPts val="0"/>
              </a:spcAft>
              <a:buSzPts val="1800"/>
              <a:buChar char="●"/>
            </a:pPr>
            <a:r>
              <a:rPr b="1" lang="en"/>
              <a:t>Stub resolver</a:t>
            </a:r>
            <a:r>
              <a:rPr lang="en"/>
              <a:t>: The resolver on your computer</a:t>
            </a:r>
            <a:endParaRPr/>
          </a:p>
          <a:p>
            <a:pPr indent="-317500" lvl="1" marL="914400" rtl="0" algn="l">
              <a:spcBef>
                <a:spcPts val="0"/>
              </a:spcBef>
              <a:spcAft>
                <a:spcPts val="0"/>
              </a:spcAft>
              <a:buSzPts val="1400"/>
              <a:buChar char="○"/>
            </a:pPr>
            <a:r>
              <a:rPr lang="en"/>
              <a:t>Only contacts the recursive resolver and receives the answer</a:t>
            </a:r>
            <a:endParaRPr/>
          </a:p>
          <a:p>
            <a:pPr indent="-342900" lvl="0" marL="457200" rtl="0" algn="l">
              <a:spcBef>
                <a:spcPts val="0"/>
              </a:spcBef>
              <a:spcAft>
                <a:spcPts val="0"/>
              </a:spcAft>
              <a:buSzPts val="1800"/>
              <a:buChar char="●"/>
            </a:pPr>
            <a:r>
              <a:rPr b="1" lang="en"/>
              <a:t>Recursive resolver</a:t>
            </a:r>
            <a:r>
              <a:rPr lang="en"/>
              <a:t>: The resolver that makes the actual DNS queries</a:t>
            </a:r>
            <a:endParaRPr/>
          </a:p>
          <a:p>
            <a:pPr indent="-317500" lvl="1" marL="914400" rtl="0" algn="l">
              <a:spcBef>
                <a:spcPts val="0"/>
              </a:spcBef>
              <a:spcAft>
                <a:spcPts val="0"/>
              </a:spcAft>
              <a:buSzPts val="1400"/>
              <a:buChar char="○"/>
            </a:pPr>
            <a:r>
              <a:rPr lang="en"/>
              <a:t>Usually one recursive resolver per local network</a:t>
            </a:r>
            <a:endParaRPr/>
          </a:p>
          <a:p>
            <a:pPr indent="-317500" lvl="1" marL="914400" rtl="0" algn="l">
              <a:spcBef>
                <a:spcPts val="0"/>
              </a:spcBef>
              <a:spcAft>
                <a:spcPts val="0"/>
              </a:spcAft>
              <a:buSzPts val="1400"/>
              <a:buChar char="○"/>
            </a:pPr>
            <a:r>
              <a:rPr lang="en"/>
              <a:t>Benefits: The recursive resolver can cache common requests for the network, building a large cache from multiple users’ requests</a:t>
            </a:r>
            <a:endParaRPr/>
          </a:p>
          <a:p>
            <a:pPr indent="-317500" lvl="1" marL="914400" rtl="0" algn="l">
              <a:spcBef>
                <a:spcPts val="0"/>
              </a:spcBef>
              <a:spcAft>
                <a:spcPts val="0"/>
              </a:spcAft>
              <a:buSzPts val="1400"/>
              <a:buChar char="○"/>
            </a:pPr>
            <a:r>
              <a:rPr lang="en"/>
              <a:t>Reduces load on name servers</a:t>
            </a:r>
            <a:endParaRPr/>
          </a:p>
          <a:p>
            <a:pPr indent="-317500" lvl="1" marL="914400" rtl="0" algn="l">
              <a:spcBef>
                <a:spcPts val="0"/>
              </a:spcBef>
              <a:spcAft>
                <a:spcPts val="0"/>
              </a:spcAft>
              <a:buSzPts val="1400"/>
              <a:buChar char="○"/>
            </a:pPr>
            <a:r>
              <a:rPr lang="en"/>
              <a:t>Recursive resolver asks the name server for </a:t>
            </a:r>
            <a:r>
              <a:rPr b="1" lang="en">
                <a:latin typeface="Courier New"/>
                <a:ea typeface="Courier New"/>
                <a:cs typeface="Courier New"/>
                <a:sym typeface="Courier New"/>
              </a:rPr>
              <a:t>www.google.com</a:t>
            </a:r>
            <a:r>
              <a:rPr lang="en"/>
              <a:t> once, and can serve the answer to many users</a:t>
            </a:r>
            <a:endParaRPr/>
          </a:p>
          <a:p>
            <a:pPr indent="-317500" lvl="1" marL="914400" rtl="0" algn="l">
              <a:spcBef>
                <a:spcPts val="0"/>
              </a:spcBef>
              <a:spcAft>
                <a:spcPts val="0"/>
              </a:spcAft>
              <a:buSzPts val="1400"/>
              <a:buChar char="○"/>
            </a:pPr>
            <a:r>
              <a:rPr lang="en"/>
              <a:t>Recursive resolvers usually run by ISPs or application providers (Google, Cloudflare)</a:t>
            </a:r>
            <a:endParaRPr/>
          </a:p>
        </p:txBody>
      </p:sp>
      <p:sp>
        <p:nvSpPr>
          <p:cNvPr id="387" name="Google Shape;387;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3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Recall: </a:t>
            </a:r>
            <a:r>
              <a:rPr lang="en"/>
              <a:t>DHCP Initial Network Configuration</a:t>
            </a:r>
            <a:endParaRPr/>
          </a:p>
        </p:txBody>
      </p:sp>
      <p:sp>
        <p:nvSpPr>
          <p:cNvPr id="393" name="Google Shape;393;p33"/>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To connect to a network, a user needs:</a:t>
            </a:r>
            <a:endParaRPr/>
          </a:p>
          <a:p>
            <a:pPr indent="-317500" lvl="1" marL="914400" rtl="0" algn="l">
              <a:spcBef>
                <a:spcPts val="0"/>
              </a:spcBef>
              <a:spcAft>
                <a:spcPts val="0"/>
              </a:spcAft>
              <a:buSzPts val="1400"/>
              <a:buChar char="○"/>
            </a:pPr>
            <a:r>
              <a:rPr lang="en"/>
              <a:t>An IP address so that other people can contact the user</a:t>
            </a:r>
            <a:endParaRPr/>
          </a:p>
          <a:p>
            <a:pPr indent="-317500" lvl="1" marL="914400" rtl="0" algn="l">
              <a:spcBef>
                <a:spcPts val="0"/>
              </a:spcBef>
              <a:spcAft>
                <a:spcPts val="0"/>
              </a:spcAft>
              <a:buSzPts val="1400"/>
              <a:buChar char="○"/>
            </a:pPr>
            <a:r>
              <a:rPr b="1" lang="en"/>
              <a:t>The IP address of the DNS server</a:t>
            </a:r>
            <a:endParaRPr b="1"/>
          </a:p>
          <a:p>
            <a:pPr indent="-317500" lvl="1" marL="914400" rtl="0" algn="l">
              <a:spcBef>
                <a:spcPts val="0"/>
              </a:spcBef>
              <a:spcAft>
                <a:spcPts val="0"/>
              </a:spcAft>
              <a:buSzPts val="1400"/>
              <a:buChar char="○"/>
            </a:pPr>
            <a:r>
              <a:rPr lang="en"/>
              <a:t>The IP address of the router (gateway) so that the user can contact machines outside of the LAN</a:t>
            </a:r>
            <a:endParaRPr/>
          </a:p>
          <a:p>
            <a:pPr indent="-342900" lvl="0" marL="457200" rtl="0" algn="l">
              <a:spcBef>
                <a:spcPts val="0"/>
              </a:spcBef>
              <a:spcAft>
                <a:spcPts val="0"/>
              </a:spcAft>
              <a:buSzPts val="1800"/>
              <a:buChar char="●"/>
            </a:pPr>
            <a:r>
              <a:rPr lang="en"/>
              <a:t>The first time a user connects, they don’t have this information yet</a:t>
            </a:r>
            <a:endParaRPr/>
          </a:p>
          <a:p>
            <a:pPr indent="-317500" lvl="1" marL="914400" rtl="0" algn="l">
              <a:spcBef>
                <a:spcPts val="0"/>
              </a:spcBef>
              <a:spcAft>
                <a:spcPts val="0"/>
              </a:spcAft>
              <a:buSzPts val="1400"/>
              <a:buChar char="○"/>
            </a:pPr>
            <a:r>
              <a:rPr lang="en"/>
              <a:t>The user also doesn’t know who to ask for this information</a:t>
            </a:r>
            <a:endParaRPr/>
          </a:p>
          <a:p>
            <a:pPr indent="-342900" lvl="0" marL="457200" rtl="0" algn="l">
              <a:spcBef>
                <a:spcPts val="0"/>
              </a:spcBef>
              <a:spcAft>
                <a:spcPts val="0"/>
              </a:spcAft>
              <a:buSzPts val="1800"/>
              <a:buChar char="●"/>
            </a:pPr>
            <a:r>
              <a:rPr b="1" lang="en"/>
              <a:t>DHCP</a:t>
            </a:r>
            <a:r>
              <a:rPr lang="en"/>
              <a:t> gives the user a configuration when they first join the network</a:t>
            </a:r>
            <a:endParaRPr/>
          </a:p>
        </p:txBody>
      </p:sp>
      <p:sp>
        <p:nvSpPr>
          <p:cNvPr id="394" name="Google Shape;394;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95" name="Google Shape;395;p33"/>
          <p:cNvSpPr txBox="1"/>
          <p:nvPr/>
        </p:nvSpPr>
        <p:spPr>
          <a:xfrm>
            <a:off x="4023200" y="1789825"/>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rPr b="1" lang="en">
                <a:solidFill>
                  <a:schemeClr val="dk1"/>
                </a:solidFill>
              </a:rPr>
              <a:t>(← a recursive resolver!)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3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Steps of a DNS Lookup</a:t>
            </a:r>
            <a:endParaRPr/>
          </a:p>
        </p:txBody>
      </p:sp>
      <p:sp>
        <p:nvSpPr>
          <p:cNvPr id="401" name="Google Shape;401;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02" name="Google Shape;402;p34"/>
          <p:cNvSpPr txBox="1"/>
          <p:nvPr/>
        </p:nvSpPr>
        <p:spPr>
          <a:xfrm>
            <a:off x="6574275" y="2190748"/>
            <a:ext cx="1238100" cy="3648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 (root)</a:t>
            </a:r>
            <a:endParaRPr>
              <a:latin typeface="Courier New"/>
              <a:ea typeface="Courier New"/>
              <a:cs typeface="Courier New"/>
              <a:sym typeface="Courier New"/>
            </a:endParaRPr>
          </a:p>
        </p:txBody>
      </p:sp>
      <p:sp>
        <p:nvSpPr>
          <p:cNvPr id="403" name="Google Shape;403;p34"/>
          <p:cNvSpPr txBox="1"/>
          <p:nvPr/>
        </p:nvSpPr>
        <p:spPr>
          <a:xfrm>
            <a:off x="6041325" y="3209977"/>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.edu</a:t>
            </a:r>
            <a:endParaRPr>
              <a:latin typeface="Calibri"/>
              <a:ea typeface="Calibri"/>
              <a:cs typeface="Calibri"/>
              <a:sym typeface="Calibri"/>
            </a:endParaRPr>
          </a:p>
        </p:txBody>
      </p:sp>
      <p:sp>
        <p:nvSpPr>
          <p:cNvPr id="404" name="Google Shape;404;p34"/>
          <p:cNvSpPr txBox="1"/>
          <p:nvPr/>
        </p:nvSpPr>
        <p:spPr>
          <a:xfrm>
            <a:off x="7671700" y="3209977"/>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.org</a:t>
            </a:r>
            <a:endParaRPr>
              <a:latin typeface="Calibri"/>
              <a:ea typeface="Calibri"/>
              <a:cs typeface="Calibri"/>
              <a:sym typeface="Calibri"/>
            </a:endParaRPr>
          </a:p>
        </p:txBody>
      </p:sp>
      <p:sp>
        <p:nvSpPr>
          <p:cNvPr id="405" name="Google Shape;405;p34"/>
          <p:cNvSpPr txBox="1"/>
          <p:nvPr/>
        </p:nvSpPr>
        <p:spPr>
          <a:xfrm>
            <a:off x="7489275" y="4156225"/>
            <a:ext cx="1043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cs161.org</a:t>
            </a:r>
            <a:endParaRPr sz="1200">
              <a:latin typeface="Calibri"/>
              <a:ea typeface="Calibri"/>
              <a:cs typeface="Calibri"/>
              <a:sym typeface="Calibri"/>
            </a:endParaRPr>
          </a:p>
        </p:txBody>
      </p:sp>
      <p:sp>
        <p:nvSpPr>
          <p:cNvPr id="406" name="Google Shape;406;p34"/>
          <p:cNvSpPr txBox="1"/>
          <p:nvPr/>
        </p:nvSpPr>
        <p:spPr>
          <a:xfrm>
            <a:off x="6490650" y="4156225"/>
            <a:ext cx="8586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mit.edu</a:t>
            </a:r>
            <a:endParaRPr sz="1200">
              <a:latin typeface="Calibri"/>
              <a:ea typeface="Calibri"/>
              <a:cs typeface="Calibri"/>
              <a:sym typeface="Calibri"/>
            </a:endParaRPr>
          </a:p>
        </p:txBody>
      </p:sp>
      <p:sp>
        <p:nvSpPr>
          <p:cNvPr id="407" name="Google Shape;407;p34"/>
          <p:cNvSpPr txBox="1"/>
          <p:nvPr/>
        </p:nvSpPr>
        <p:spPr>
          <a:xfrm>
            <a:off x="5054300" y="4156225"/>
            <a:ext cx="12963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berkeley.edu</a:t>
            </a:r>
            <a:endParaRPr sz="1200">
              <a:latin typeface="Calibri"/>
              <a:ea typeface="Calibri"/>
              <a:cs typeface="Calibri"/>
              <a:sym typeface="Calibri"/>
            </a:endParaRPr>
          </a:p>
        </p:txBody>
      </p:sp>
      <p:cxnSp>
        <p:nvCxnSpPr>
          <p:cNvPr id="408" name="Google Shape;408;p34"/>
          <p:cNvCxnSpPr>
            <a:stCxn id="402" idx="2"/>
            <a:endCxn id="403" idx="0"/>
          </p:cNvCxnSpPr>
          <p:nvPr/>
        </p:nvCxnSpPr>
        <p:spPr>
          <a:xfrm flipH="1">
            <a:off x="6375525" y="2555548"/>
            <a:ext cx="817800" cy="654300"/>
          </a:xfrm>
          <a:prstGeom prst="straightConnector1">
            <a:avLst/>
          </a:prstGeom>
          <a:noFill/>
          <a:ln cap="flat" cmpd="sng" w="9525">
            <a:solidFill>
              <a:srgbClr val="000000"/>
            </a:solidFill>
            <a:prstDash val="solid"/>
            <a:round/>
            <a:headEnd len="med" w="med" type="none"/>
            <a:tailEnd len="med" w="med" type="none"/>
          </a:ln>
        </p:spPr>
      </p:cxnSp>
      <p:cxnSp>
        <p:nvCxnSpPr>
          <p:cNvPr id="409" name="Google Shape;409;p34"/>
          <p:cNvCxnSpPr>
            <a:stCxn id="402" idx="2"/>
            <a:endCxn id="404" idx="0"/>
          </p:cNvCxnSpPr>
          <p:nvPr/>
        </p:nvCxnSpPr>
        <p:spPr>
          <a:xfrm>
            <a:off x="7193325" y="2555548"/>
            <a:ext cx="812700" cy="654300"/>
          </a:xfrm>
          <a:prstGeom prst="straightConnector1">
            <a:avLst/>
          </a:prstGeom>
          <a:noFill/>
          <a:ln cap="flat" cmpd="sng" w="9525">
            <a:solidFill>
              <a:srgbClr val="000000"/>
            </a:solidFill>
            <a:prstDash val="solid"/>
            <a:round/>
            <a:headEnd len="med" w="med" type="none"/>
            <a:tailEnd len="med" w="med" type="none"/>
          </a:ln>
        </p:spPr>
      </p:cxnSp>
      <p:cxnSp>
        <p:nvCxnSpPr>
          <p:cNvPr id="410" name="Google Shape;410;p34"/>
          <p:cNvCxnSpPr>
            <a:stCxn id="403" idx="2"/>
            <a:endCxn id="407" idx="0"/>
          </p:cNvCxnSpPr>
          <p:nvPr/>
        </p:nvCxnSpPr>
        <p:spPr>
          <a:xfrm flipH="1">
            <a:off x="5702325" y="3603577"/>
            <a:ext cx="673200" cy="552600"/>
          </a:xfrm>
          <a:prstGeom prst="straightConnector1">
            <a:avLst/>
          </a:prstGeom>
          <a:noFill/>
          <a:ln cap="flat" cmpd="sng" w="9525">
            <a:solidFill>
              <a:srgbClr val="000000"/>
            </a:solidFill>
            <a:prstDash val="solid"/>
            <a:round/>
            <a:headEnd len="med" w="med" type="none"/>
            <a:tailEnd len="med" w="med" type="none"/>
          </a:ln>
        </p:spPr>
      </p:cxnSp>
      <p:cxnSp>
        <p:nvCxnSpPr>
          <p:cNvPr id="411" name="Google Shape;411;p34"/>
          <p:cNvCxnSpPr>
            <a:stCxn id="403" idx="2"/>
            <a:endCxn id="406" idx="0"/>
          </p:cNvCxnSpPr>
          <p:nvPr/>
        </p:nvCxnSpPr>
        <p:spPr>
          <a:xfrm>
            <a:off x="6375525" y="3603577"/>
            <a:ext cx="544500" cy="552600"/>
          </a:xfrm>
          <a:prstGeom prst="straightConnector1">
            <a:avLst/>
          </a:prstGeom>
          <a:noFill/>
          <a:ln cap="flat" cmpd="sng" w="9525">
            <a:solidFill>
              <a:srgbClr val="000000"/>
            </a:solidFill>
            <a:prstDash val="solid"/>
            <a:round/>
            <a:headEnd len="med" w="med" type="none"/>
            <a:tailEnd len="med" w="med" type="none"/>
          </a:ln>
        </p:spPr>
      </p:cxnSp>
      <p:cxnSp>
        <p:nvCxnSpPr>
          <p:cNvPr id="412" name="Google Shape;412;p34"/>
          <p:cNvCxnSpPr>
            <a:stCxn id="404" idx="2"/>
            <a:endCxn id="405" idx="0"/>
          </p:cNvCxnSpPr>
          <p:nvPr/>
        </p:nvCxnSpPr>
        <p:spPr>
          <a:xfrm>
            <a:off x="8005900" y="3603577"/>
            <a:ext cx="5100" cy="552600"/>
          </a:xfrm>
          <a:prstGeom prst="straightConnector1">
            <a:avLst/>
          </a:prstGeom>
          <a:noFill/>
          <a:ln cap="flat" cmpd="sng" w="9525">
            <a:solidFill>
              <a:srgbClr val="000000"/>
            </a:solidFill>
            <a:prstDash val="solid"/>
            <a:round/>
            <a:headEnd len="med" w="med" type="none"/>
            <a:tailEnd len="med" w="med" type="none"/>
          </a:ln>
        </p:spPr>
      </p:cxnSp>
      <p:sp>
        <p:nvSpPr>
          <p:cNvPr id="413" name="Google Shape;413;p34"/>
          <p:cNvSpPr txBox="1"/>
          <p:nvPr/>
        </p:nvSpPr>
        <p:spPr>
          <a:xfrm>
            <a:off x="196675" y="1350350"/>
            <a:ext cx="1238100" cy="6543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Stub Resolver</a:t>
            </a:r>
            <a:endParaRPr>
              <a:latin typeface="Calibri"/>
              <a:ea typeface="Calibri"/>
              <a:cs typeface="Calibri"/>
              <a:sym typeface="Calibri"/>
            </a:endParaRPr>
          </a:p>
        </p:txBody>
      </p:sp>
      <p:grpSp>
        <p:nvGrpSpPr>
          <p:cNvPr id="414" name="Google Shape;414;p34"/>
          <p:cNvGrpSpPr/>
          <p:nvPr/>
        </p:nvGrpSpPr>
        <p:grpSpPr>
          <a:xfrm>
            <a:off x="700325" y="1229300"/>
            <a:ext cx="5145100" cy="1245175"/>
            <a:chOff x="700325" y="1229300"/>
            <a:chExt cx="5145100" cy="1245175"/>
          </a:xfrm>
        </p:grpSpPr>
        <p:sp>
          <p:nvSpPr>
            <p:cNvPr id="415" name="Google Shape;415;p34"/>
            <p:cNvSpPr/>
            <p:nvPr/>
          </p:nvSpPr>
          <p:spPr>
            <a:xfrm>
              <a:off x="700325" y="1595175"/>
              <a:ext cx="2723427" cy="879300"/>
            </a:xfrm>
            <a:custGeom>
              <a:rect b="b" l="l" r="r" t="t"/>
              <a:pathLst>
                <a:path extrusionOk="0" h="35172" w="75635">
                  <a:moveTo>
                    <a:pt x="75635" y="0"/>
                  </a:moveTo>
                  <a:lnTo>
                    <a:pt x="75635" y="35172"/>
                  </a:lnTo>
                  <a:lnTo>
                    <a:pt x="0" y="35172"/>
                  </a:lnTo>
                </a:path>
              </a:pathLst>
            </a:custGeom>
            <a:noFill/>
            <a:ln cap="flat" cmpd="sng" w="19050">
              <a:solidFill>
                <a:srgbClr val="E69138"/>
              </a:solidFill>
              <a:prstDash val="solid"/>
              <a:round/>
              <a:headEnd len="med" w="med" type="none"/>
              <a:tailEnd len="med" w="med" type="triangle"/>
            </a:ln>
          </p:spPr>
        </p:sp>
        <p:sp>
          <p:nvSpPr>
            <p:cNvPr id="416" name="Google Shape;416;p34"/>
            <p:cNvSpPr txBox="1"/>
            <p:nvPr/>
          </p:nvSpPr>
          <p:spPr>
            <a:xfrm>
              <a:off x="2548425" y="1229300"/>
              <a:ext cx="32970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The stub resolver sends the query to the recursive resolver.</a:t>
              </a:r>
              <a:endParaRPr/>
            </a:p>
          </p:txBody>
        </p:sp>
      </p:grpSp>
      <p:grpSp>
        <p:nvGrpSpPr>
          <p:cNvPr id="417" name="Google Shape;417;p34"/>
          <p:cNvGrpSpPr/>
          <p:nvPr/>
        </p:nvGrpSpPr>
        <p:grpSpPr>
          <a:xfrm>
            <a:off x="258935" y="2049228"/>
            <a:ext cx="410100" cy="762900"/>
            <a:chOff x="258935" y="2049228"/>
            <a:chExt cx="410100" cy="762900"/>
          </a:xfrm>
        </p:grpSpPr>
        <p:sp>
          <p:nvSpPr>
            <p:cNvPr id="418" name="Google Shape;418;p34"/>
            <p:cNvSpPr txBox="1"/>
            <p:nvPr/>
          </p:nvSpPr>
          <p:spPr>
            <a:xfrm>
              <a:off x="258935" y="2174852"/>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1</a:t>
              </a:r>
              <a:endParaRPr>
                <a:latin typeface="Calibri"/>
                <a:ea typeface="Calibri"/>
                <a:cs typeface="Calibri"/>
                <a:sym typeface="Calibri"/>
              </a:endParaRPr>
            </a:p>
          </p:txBody>
        </p:sp>
        <p:cxnSp>
          <p:nvCxnSpPr>
            <p:cNvPr id="419" name="Google Shape;419;p34"/>
            <p:cNvCxnSpPr/>
            <p:nvPr/>
          </p:nvCxnSpPr>
          <p:spPr>
            <a:xfrm rot="10800000">
              <a:off x="530725" y="2049228"/>
              <a:ext cx="0" cy="762900"/>
            </a:xfrm>
            <a:prstGeom prst="straightConnector1">
              <a:avLst/>
            </a:prstGeom>
            <a:noFill/>
            <a:ln cap="flat" cmpd="sng" w="19050">
              <a:solidFill>
                <a:srgbClr val="000000"/>
              </a:solidFill>
              <a:prstDash val="solid"/>
              <a:round/>
              <a:headEnd len="med" w="med" type="triangle"/>
              <a:tailEnd len="med" w="med" type="none"/>
            </a:ln>
          </p:spPr>
        </p:cxnSp>
      </p:grpSp>
      <p:sp>
        <p:nvSpPr>
          <p:cNvPr id="420" name="Google Shape;420;p34"/>
          <p:cNvSpPr txBox="1"/>
          <p:nvPr/>
        </p:nvSpPr>
        <p:spPr>
          <a:xfrm>
            <a:off x="196675" y="2856700"/>
            <a:ext cx="1238100" cy="15399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Recursive Resolver</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cxnSp>
        <p:nvCxnSpPr>
          <p:cNvPr id="425" name="Google Shape;425;p35"/>
          <p:cNvCxnSpPr/>
          <p:nvPr/>
        </p:nvCxnSpPr>
        <p:spPr>
          <a:xfrm>
            <a:off x="3182600" y="1805275"/>
            <a:ext cx="5700" cy="946500"/>
          </a:xfrm>
          <a:prstGeom prst="straightConnector1">
            <a:avLst/>
          </a:prstGeom>
          <a:noFill/>
          <a:ln cap="flat" cmpd="sng" w="19050">
            <a:solidFill>
              <a:srgbClr val="E69138"/>
            </a:solidFill>
            <a:prstDash val="solid"/>
            <a:round/>
            <a:headEnd len="med" w="med" type="none"/>
            <a:tailEnd len="med" w="med" type="triangle"/>
          </a:ln>
        </p:spPr>
      </p:cxnSp>
      <p:sp>
        <p:nvSpPr>
          <p:cNvPr id="426" name="Google Shape;426;p3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Steps of a DNS </a:t>
            </a:r>
            <a:r>
              <a:rPr lang="en"/>
              <a:t>Lookup</a:t>
            </a:r>
            <a:endParaRPr/>
          </a:p>
        </p:txBody>
      </p:sp>
      <p:sp>
        <p:nvSpPr>
          <p:cNvPr id="427" name="Google Shape;427;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28" name="Google Shape;428;p35"/>
          <p:cNvSpPr txBox="1"/>
          <p:nvPr/>
        </p:nvSpPr>
        <p:spPr>
          <a:xfrm>
            <a:off x="6574275" y="2190748"/>
            <a:ext cx="1238100" cy="3648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 (root)</a:t>
            </a:r>
            <a:endParaRPr>
              <a:latin typeface="Courier New"/>
              <a:ea typeface="Courier New"/>
              <a:cs typeface="Courier New"/>
              <a:sym typeface="Courier New"/>
            </a:endParaRPr>
          </a:p>
        </p:txBody>
      </p:sp>
      <p:sp>
        <p:nvSpPr>
          <p:cNvPr id="429" name="Google Shape;429;p35"/>
          <p:cNvSpPr txBox="1"/>
          <p:nvPr/>
        </p:nvSpPr>
        <p:spPr>
          <a:xfrm>
            <a:off x="6041325" y="3209977"/>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.edu</a:t>
            </a:r>
            <a:endParaRPr>
              <a:latin typeface="Calibri"/>
              <a:ea typeface="Calibri"/>
              <a:cs typeface="Calibri"/>
              <a:sym typeface="Calibri"/>
            </a:endParaRPr>
          </a:p>
        </p:txBody>
      </p:sp>
      <p:sp>
        <p:nvSpPr>
          <p:cNvPr id="430" name="Google Shape;430;p35"/>
          <p:cNvSpPr txBox="1"/>
          <p:nvPr/>
        </p:nvSpPr>
        <p:spPr>
          <a:xfrm>
            <a:off x="7671700" y="3209977"/>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.org</a:t>
            </a:r>
            <a:endParaRPr>
              <a:latin typeface="Calibri"/>
              <a:ea typeface="Calibri"/>
              <a:cs typeface="Calibri"/>
              <a:sym typeface="Calibri"/>
            </a:endParaRPr>
          </a:p>
        </p:txBody>
      </p:sp>
      <p:sp>
        <p:nvSpPr>
          <p:cNvPr id="431" name="Google Shape;431;p35"/>
          <p:cNvSpPr txBox="1"/>
          <p:nvPr/>
        </p:nvSpPr>
        <p:spPr>
          <a:xfrm>
            <a:off x="7489275" y="4156225"/>
            <a:ext cx="1043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cs161.org</a:t>
            </a:r>
            <a:endParaRPr sz="1200">
              <a:latin typeface="Calibri"/>
              <a:ea typeface="Calibri"/>
              <a:cs typeface="Calibri"/>
              <a:sym typeface="Calibri"/>
            </a:endParaRPr>
          </a:p>
        </p:txBody>
      </p:sp>
      <p:sp>
        <p:nvSpPr>
          <p:cNvPr id="432" name="Google Shape;432;p35"/>
          <p:cNvSpPr txBox="1"/>
          <p:nvPr/>
        </p:nvSpPr>
        <p:spPr>
          <a:xfrm>
            <a:off x="6490650" y="4156225"/>
            <a:ext cx="8586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mit.edu</a:t>
            </a:r>
            <a:endParaRPr sz="1200">
              <a:latin typeface="Calibri"/>
              <a:ea typeface="Calibri"/>
              <a:cs typeface="Calibri"/>
              <a:sym typeface="Calibri"/>
            </a:endParaRPr>
          </a:p>
        </p:txBody>
      </p:sp>
      <p:sp>
        <p:nvSpPr>
          <p:cNvPr id="433" name="Google Shape;433;p35"/>
          <p:cNvSpPr txBox="1"/>
          <p:nvPr/>
        </p:nvSpPr>
        <p:spPr>
          <a:xfrm>
            <a:off x="5054300" y="4156225"/>
            <a:ext cx="12963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berkeley.edu</a:t>
            </a:r>
            <a:endParaRPr sz="1200">
              <a:latin typeface="Calibri"/>
              <a:ea typeface="Calibri"/>
              <a:cs typeface="Calibri"/>
              <a:sym typeface="Calibri"/>
            </a:endParaRPr>
          </a:p>
        </p:txBody>
      </p:sp>
      <p:cxnSp>
        <p:nvCxnSpPr>
          <p:cNvPr id="434" name="Google Shape;434;p35"/>
          <p:cNvCxnSpPr>
            <a:stCxn id="428" idx="2"/>
            <a:endCxn id="429" idx="0"/>
          </p:cNvCxnSpPr>
          <p:nvPr/>
        </p:nvCxnSpPr>
        <p:spPr>
          <a:xfrm flipH="1">
            <a:off x="6375525" y="2555548"/>
            <a:ext cx="817800" cy="654300"/>
          </a:xfrm>
          <a:prstGeom prst="straightConnector1">
            <a:avLst/>
          </a:prstGeom>
          <a:noFill/>
          <a:ln cap="flat" cmpd="sng" w="9525">
            <a:solidFill>
              <a:srgbClr val="000000"/>
            </a:solidFill>
            <a:prstDash val="solid"/>
            <a:round/>
            <a:headEnd len="med" w="med" type="none"/>
            <a:tailEnd len="med" w="med" type="none"/>
          </a:ln>
        </p:spPr>
      </p:cxnSp>
      <p:cxnSp>
        <p:nvCxnSpPr>
          <p:cNvPr id="435" name="Google Shape;435;p35"/>
          <p:cNvCxnSpPr>
            <a:stCxn id="428" idx="2"/>
            <a:endCxn id="430" idx="0"/>
          </p:cNvCxnSpPr>
          <p:nvPr/>
        </p:nvCxnSpPr>
        <p:spPr>
          <a:xfrm>
            <a:off x="7193325" y="2555548"/>
            <a:ext cx="812700" cy="654300"/>
          </a:xfrm>
          <a:prstGeom prst="straightConnector1">
            <a:avLst/>
          </a:prstGeom>
          <a:noFill/>
          <a:ln cap="flat" cmpd="sng" w="9525">
            <a:solidFill>
              <a:srgbClr val="000000"/>
            </a:solidFill>
            <a:prstDash val="solid"/>
            <a:round/>
            <a:headEnd len="med" w="med" type="none"/>
            <a:tailEnd len="med" w="med" type="none"/>
          </a:ln>
        </p:spPr>
      </p:cxnSp>
      <p:cxnSp>
        <p:nvCxnSpPr>
          <p:cNvPr id="436" name="Google Shape;436;p35"/>
          <p:cNvCxnSpPr>
            <a:stCxn id="429" idx="2"/>
            <a:endCxn id="433" idx="0"/>
          </p:cNvCxnSpPr>
          <p:nvPr/>
        </p:nvCxnSpPr>
        <p:spPr>
          <a:xfrm flipH="1">
            <a:off x="5702325" y="3603577"/>
            <a:ext cx="673200" cy="552600"/>
          </a:xfrm>
          <a:prstGeom prst="straightConnector1">
            <a:avLst/>
          </a:prstGeom>
          <a:noFill/>
          <a:ln cap="flat" cmpd="sng" w="9525">
            <a:solidFill>
              <a:srgbClr val="000000"/>
            </a:solidFill>
            <a:prstDash val="solid"/>
            <a:round/>
            <a:headEnd len="med" w="med" type="none"/>
            <a:tailEnd len="med" w="med" type="none"/>
          </a:ln>
        </p:spPr>
      </p:cxnSp>
      <p:cxnSp>
        <p:nvCxnSpPr>
          <p:cNvPr id="437" name="Google Shape;437;p35"/>
          <p:cNvCxnSpPr>
            <a:stCxn id="429" idx="2"/>
            <a:endCxn id="432" idx="0"/>
          </p:cNvCxnSpPr>
          <p:nvPr/>
        </p:nvCxnSpPr>
        <p:spPr>
          <a:xfrm>
            <a:off x="6375525" y="3603577"/>
            <a:ext cx="544500" cy="552600"/>
          </a:xfrm>
          <a:prstGeom prst="straightConnector1">
            <a:avLst/>
          </a:prstGeom>
          <a:noFill/>
          <a:ln cap="flat" cmpd="sng" w="9525">
            <a:solidFill>
              <a:srgbClr val="000000"/>
            </a:solidFill>
            <a:prstDash val="solid"/>
            <a:round/>
            <a:headEnd len="med" w="med" type="none"/>
            <a:tailEnd len="med" w="med" type="none"/>
          </a:ln>
        </p:spPr>
      </p:cxnSp>
      <p:cxnSp>
        <p:nvCxnSpPr>
          <p:cNvPr id="438" name="Google Shape;438;p35"/>
          <p:cNvCxnSpPr>
            <a:stCxn id="430" idx="2"/>
            <a:endCxn id="431" idx="0"/>
          </p:cNvCxnSpPr>
          <p:nvPr/>
        </p:nvCxnSpPr>
        <p:spPr>
          <a:xfrm>
            <a:off x="8005900" y="3603577"/>
            <a:ext cx="5100" cy="552600"/>
          </a:xfrm>
          <a:prstGeom prst="straightConnector1">
            <a:avLst/>
          </a:prstGeom>
          <a:noFill/>
          <a:ln cap="flat" cmpd="sng" w="9525">
            <a:solidFill>
              <a:srgbClr val="000000"/>
            </a:solidFill>
            <a:prstDash val="solid"/>
            <a:round/>
            <a:headEnd len="med" w="med" type="none"/>
            <a:tailEnd len="med" w="med" type="none"/>
          </a:ln>
        </p:spPr>
      </p:cxnSp>
      <p:sp>
        <p:nvSpPr>
          <p:cNvPr id="439" name="Google Shape;439;p35"/>
          <p:cNvSpPr txBox="1"/>
          <p:nvPr/>
        </p:nvSpPr>
        <p:spPr>
          <a:xfrm>
            <a:off x="196675" y="1350350"/>
            <a:ext cx="1238100" cy="6543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Stub Resolver</a:t>
            </a:r>
            <a:endParaRPr>
              <a:latin typeface="Calibri"/>
              <a:ea typeface="Calibri"/>
              <a:cs typeface="Calibri"/>
              <a:sym typeface="Calibri"/>
            </a:endParaRPr>
          </a:p>
        </p:txBody>
      </p:sp>
      <p:sp>
        <p:nvSpPr>
          <p:cNvPr id="440" name="Google Shape;440;p35"/>
          <p:cNvSpPr txBox="1"/>
          <p:nvPr/>
        </p:nvSpPr>
        <p:spPr>
          <a:xfrm>
            <a:off x="2548425" y="1229300"/>
            <a:ext cx="2750700" cy="831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The recursive resolver contacts all the name servers to answer the query, as we saw earlier.</a:t>
            </a:r>
            <a:endParaRPr/>
          </a:p>
        </p:txBody>
      </p:sp>
      <p:sp>
        <p:nvSpPr>
          <p:cNvPr id="441" name="Google Shape;441;p35"/>
          <p:cNvSpPr txBox="1"/>
          <p:nvPr/>
        </p:nvSpPr>
        <p:spPr>
          <a:xfrm>
            <a:off x="196675" y="2856700"/>
            <a:ext cx="1238100" cy="15399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Recursive Resolver</a:t>
            </a:r>
            <a:endParaRPr>
              <a:latin typeface="Calibri"/>
              <a:ea typeface="Calibri"/>
              <a:cs typeface="Calibri"/>
              <a:sym typeface="Calibri"/>
            </a:endParaRPr>
          </a:p>
        </p:txBody>
      </p:sp>
      <p:grpSp>
        <p:nvGrpSpPr>
          <p:cNvPr id="442" name="Google Shape;442;p35"/>
          <p:cNvGrpSpPr/>
          <p:nvPr/>
        </p:nvGrpSpPr>
        <p:grpSpPr>
          <a:xfrm>
            <a:off x="258935" y="2049228"/>
            <a:ext cx="410100" cy="762900"/>
            <a:chOff x="258935" y="2049228"/>
            <a:chExt cx="410100" cy="762900"/>
          </a:xfrm>
        </p:grpSpPr>
        <p:sp>
          <p:nvSpPr>
            <p:cNvPr id="443" name="Google Shape;443;p35"/>
            <p:cNvSpPr txBox="1"/>
            <p:nvPr/>
          </p:nvSpPr>
          <p:spPr>
            <a:xfrm>
              <a:off x="258935" y="2174852"/>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1</a:t>
              </a:r>
              <a:endParaRPr>
                <a:latin typeface="Calibri"/>
                <a:ea typeface="Calibri"/>
                <a:cs typeface="Calibri"/>
                <a:sym typeface="Calibri"/>
              </a:endParaRPr>
            </a:p>
          </p:txBody>
        </p:sp>
        <p:cxnSp>
          <p:nvCxnSpPr>
            <p:cNvPr id="444" name="Google Shape;444;p35"/>
            <p:cNvCxnSpPr/>
            <p:nvPr/>
          </p:nvCxnSpPr>
          <p:spPr>
            <a:xfrm rot="10800000">
              <a:off x="530725" y="2049228"/>
              <a:ext cx="0" cy="762900"/>
            </a:xfrm>
            <a:prstGeom prst="straightConnector1">
              <a:avLst/>
            </a:prstGeom>
            <a:noFill/>
            <a:ln cap="flat" cmpd="sng" w="19050">
              <a:solidFill>
                <a:srgbClr val="000000"/>
              </a:solidFill>
              <a:prstDash val="solid"/>
              <a:round/>
              <a:headEnd len="med" w="med" type="triangle"/>
              <a:tailEnd len="med" w="med" type="none"/>
            </a:ln>
          </p:spPr>
        </p:cxnSp>
      </p:grpSp>
      <p:grpSp>
        <p:nvGrpSpPr>
          <p:cNvPr id="445" name="Google Shape;445;p35"/>
          <p:cNvGrpSpPr/>
          <p:nvPr/>
        </p:nvGrpSpPr>
        <p:grpSpPr>
          <a:xfrm>
            <a:off x="1515239" y="2279753"/>
            <a:ext cx="4905786" cy="2394397"/>
            <a:chOff x="1515239" y="2279753"/>
            <a:chExt cx="4905786" cy="2394397"/>
          </a:xfrm>
        </p:grpSpPr>
        <p:cxnSp>
          <p:nvCxnSpPr>
            <p:cNvPr id="446" name="Google Shape;446;p35"/>
            <p:cNvCxnSpPr/>
            <p:nvPr/>
          </p:nvCxnSpPr>
          <p:spPr>
            <a:xfrm flipH="1" rot="10800000">
              <a:off x="1564325" y="2279753"/>
              <a:ext cx="4856700" cy="836400"/>
            </a:xfrm>
            <a:prstGeom prst="straightConnector1">
              <a:avLst/>
            </a:prstGeom>
            <a:noFill/>
            <a:ln cap="flat" cmpd="sng" w="19050">
              <a:solidFill>
                <a:srgbClr val="000000"/>
              </a:solidFill>
              <a:prstDash val="solid"/>
              <a:round/>
              <a:headEnd len="med" w="med" type="none"/>
              <a:tailEnd len="med" w="med" type="triangle"/>
            </a:ln>
          </p:spPr>
        </p:cxnSp>
        <p:cxnSp>
          <p:nvCxnSpPr>
            <p:cNvPr id="447" name="Google Shape;447;p35"/>
            <p:cNvCxnSpPr/>
            <p:nvPr/>
          </p:nvCxnSpPr>
          <p:spPr>
            <a:xfrm flipH="1" rot="10800000">
              <a:off x="1564325" y="2434400"/>
              <a:ext cx="4856700" cy="836400"/>
            </a:xfrm>
            <a:prstGeom prst="straightConnector1">
              <a:avLst/>
            </a:prstGeom>
            <a:noFill/>
            <a:ln cap="flat" cmpd="sng" w="19050">
              <a:solidFill>
                <a:srgbClr val="000000"/>
              </a:solidFill>
              <a:prstDash val="solid"/>
              <a:round/>
              <a:headEnd len="med" w="med" type="triangle"/>
              <a:tailEnd len="med" w="med" type="none"/>
            </a:ln>
          </p:spPr>
        </p:cxnSp>
        <p:cxnSp>
          <p:nvCxnSpPr>
            <p:cNvPr id="448" name="Google Shape;448;p35"/>
            <p:cNvCxnSpPr/>
            <p:nvPr/>
          </p:nvCxnSpPr>
          <p:spPr>
            <a:xfrm flipH="1" rot="10800000">
              <a:off x="1515239" y="3399151"/>
              <a:ext cx="4418700" cy="249300"/>
            </a:xfrm>
            <a:prstGeom prst="straightConnector1">
              <a:avLst/>
            </a:prstGeom>
            <a:noFill/>
            <a:ln cap="flat" cmpd="sng" w="19050">
              <a:solidFill>
                <a:srgbClr val="000000"/>
              </a:solidFill>
              <a:prstDash val="solid"/>
              <a:round/>
              <a:headEnd len="med" w="med" type="none"/>
              <a:tailEnd len="med" w="med" type="triangle"/>
            </a:ln>
          </p:spPr>
        </p:cxnSp>
        <p:cxnSp>
          <p:nvCxnSpPr>
            <p:cNvPr id="449" name="Google Shape;449;p35"/>
            <p:cNvCxnSpPr/>
            <p:nvPr/>
          </p:nvCxnSpPr>
          <p:spPr>
            <a:xfrm flipH="1" rot="10800000">
              <a:off x="1528696" y="3540275"/>
              <a:ext cx="4418700" cy="249300"/>
            </a:xfrm>
            <a:prstGeom prst="straightConnector1">
              <a:avLst/>
            </a:prstGeom>
            <a:noFill/>
            <a:ln cap="flat" cmpd="sng" w="19050">
              <a:solidFill>
                <a:srgbClr val="000000"/>
              </a:solidFill>
              <a:prstDash val="solid"/>
              <a:round/>
              <a:headEnd len="med" w="med" type="triangle"/>
              <a:tailEnd len="med" w="med" type="none"/>
            </a:ln>
          </p:spPr>
        </p:cxnSp>
        <p:cxnSp>
          <p:nvCxnSpPr>
            <p:cNvPr id="450" name="Google Shape;450;p35"/>
            <p:cNvCxnSpPr/>
            <p:nvPr/>
          </p:nvCxnSpPr>
          <p:spPr>
            <a:xfrm>
              <a:off x="1628275" y="4059050"/>
              <a:ext cx="3377100" cy="271800"/>
            </a:xfrm>
            <a:prstGeom prst="straightConnector1">
              <a:avLst/>
            </a:prstGeom>
            <a:noFill/>
            <a:ln cap="flat" cmpd="sng" w="19050">
              <a:solidFill>
                <a:srgbClr val="000000"/>
              </a:solidFill>
              <a:prstDash val="solid"/>
              <a:round/>
              <a:headEnd len="med" w="med" type="none"/>
              <a:tailEnd len="med" w="med" type="triangle"/>
            </a:ln>
          </p:spPr>
        </p:cxnSp>
        <p:cxnSp>
          <p:nvCxnSpPr>
            <p:cNvPr id="451" name="Google Shape;451;p35"/>
            <p:cNvCxnSpPr/>
            <p:nvPr/>
          </p:nvCxnSpPr>
          <p:spPr>
            <a:xfrm>
              <a:off x="1528700" y="4180880"/>
              <a:ext cx="3377100" cy="271800"/>
            </a:xfrm>
            <a:prstGeom prst="straightConnector1">
              <a:avLst/>
            </a:prstGeom>
            <a:noFill/>
            <a:ln cap="flat" cmpd="sng" w="19050">
              <a:solidFill>
                <a:srgbClr val="000000"/>
              </a:solidFill>
              <a:prstDash val="solid"/>
              <a:round/>
              <a:headEnd len="med" w="med" type="triangle"/>
              <a:tailEnd len="med" w="med" type="none"/>
            </a:ln>
          </p:spPr>
        </p:cxnSp>
        <p:sp>
          <p:nvSpPr>
            <p:cNvPr id="452" name="Google Shape;452;p35"/>
            <p:cNvSpPr txBox="1"/>
            <p:nvPr/>
          </p:nvSpPr>
          <p:spPr>
            <a:xfrm>
              <a:off x="3532997" y="3860291"/>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6</a:t>
              </a:r>
              <a:endParaRPr>
                <a:latin typeface="Calibri"/>
                <a:ea typeface="Calibri"/>
                <a:cs typeface="Calibri"/>
                <a:sym typeface="Calibri"/>
              </a:endParaRPr>
            </a:p>
          </p:txBody>
        </p:sp>
        <p:sp>
          <p:nvSpPr>
            <p:cNvPr id="453" name="Google Shape;453;p35"/>
            <p:cNvSpPr txBox="1"/>
            <p:nvPr/>
          </p:nvSpPr>
          <p:spPr>
            <a:xfrm>
              <a:off x="3505531" y="4277550"/>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7</a:t>
              </a:r>
              <a:endParaRPr>
                <a:latin typeface="Calibri"/>
                <a:ea typeface="Calibri"/>
                <a:cs typeface="Calibri"/>
                <a:sym typeface="Calibri"/>
              </a:endParaRPr>
            </a:p>
          </p:txBody>
        </p:sp>
        <p:sp>
          <p:nvSpPr>
            <p:cNvPr id="454" name="Google Shape;454;p35"/>
            <p:cNvSpPr txBox="1"/>
            <p:nvPr/>
          </p:nvSpPr>
          <p:spPr>
            <a:xfrm>
              <a:off x="3661851" y="3216256"/>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4</a:t>
              </a:r>
              <a:endParaRPr>
                <a:latin typeface="Calibri"/>
                <a:ea typeface="Calibri"/>
                <a:cs typeface="Calibri"/>
                <a:sym typeface="Calibri"/>
              </a:endParaRPr>
            </a:p>
          </p:txBody>
        </p:sp>
        <p:sp>
          <p:nvSpPr>
            <p:cNvPr id="455" name="Google Shape;455;p35"/>
            <p:cNvSpPr txBox="1"/>
            <p:nvPr/>
          </p:nvSpPr>
          <p:spPr>
            <a:xfrm>
              <a:off x="3730313" y="3612838"/>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5</a:t>
              </a:r>
              <a:endParaRPr>
                <a:latin typeface="Calibri"/>
                <a:ea typeface="Calibri"/>
                <a:cs typeface="Calibri"/>
                <a:sym typeface="Calibri"/>
              </a:endParaRPr>
            </a:p>
          </p:txBody>
        </p:sp>
        <p:sp>
          <p:nvSpPr>
            <p:cNvPr id="456" name="Google Shape;456;p35"/>
            <p:cNvSpPr txBox="1"/>
            <p:nvPr/>
          </p:nvSpPr>
          <p:spPr>
            <a:xfrm>
              <a:off x="3700105" y="2814582"/>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3</a:t>
              </a:r>
              <a:endParaRPr>
                <a:latin typeface="Calibri"/>
                <a:ea typeface="Calibri"/>
                <a:cs typeface="Calibri"/>
                <a:sym typeface="Calibri"/>
              </a:endParaRPr>
            </a:p>
          </p:txBody>
        </p:sp>
        <p:sp>
          <p:nvSpPr>
            <p:cNvPr id="457" name="Google Shape;457;p35"/>
            <p:cNvSpPr txBox="1"/>
            <p:nvPr/>
          </p:nvSpPr>
          <p:spPr>
            <a:xfrm>
              <a:off x="3656980" y="2423720"/>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2</a:t>
              </a:r>
              <a:endParaRPr>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36"/>
          <p:cNvSpPr/>
          <p:nvPr/>
        </p:nvSpPr>
        <p:spPr>
          <a:xfrm>
            <a:off x="1532925" y="1595175"/>
            <a:ext cx="1890875" cy="879300"/>
          </a:xfrm>
          <a:custGeom>
            <a:rect b="b" l="l" r="r" t="t"/>
            <a:pathLst>
              <a:path extrusionOk="0" h="35172" w="75635">
                <a:moveTo>
                  <a:pt x="75635" y="0"/>
                </a:moveTo>
                <a:lnTo>
                  <a:pt x="75635" y="35172"/>
                </a:lnTo>
                <a:lnTo>
                  <a:pt x="0" y="35172"/>
                </a:lnTo>
              </a:path>
            </a:pathLst>
          </a:custGeom>
          <a:noFill/>
          <a:ln cap="flat" cmpd="sng" w="19050">
            <a:solidFill>
              <a:srgbClr val="E69138"/>
            </a:solidFill>
            <a:prstDash val="solid"/>
            <a:round/>
            <a:headEnd len="med" w="med" type="none"/>
            <a:tailEnd len="med" w="med" type="triangle"/>
          </a:ln>
        </p:spPr>
      </p:sp>
      <p:sp>
        <p:nvSpPr>
          <p:cNvPr id="463" name="Google Shape;463;p3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Steps of a DNS </a:t>
            </a:r>
            <a:r>
              <a:rPr lang="en"/>
              <a:t>Lookup</a:t>
            </a:r>
            <a:endParaRPr/>
          </a:p>
        </p:txBody>
      </p:sp>
      <p:sp>
        <p:nvSpPr>
          <p:cNvPr id="464" name="Google Shape;464;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65" name="Google Shape;465;p36"/>
          <p:cNvSpPr txBox="1"/>
          <p:nvPr/>
        </p:nvSpPr>
        <p:spPr>
          <a:xfrm>
            <a:off x="6574275" y="2190748"/>
            <a:ext cx="1238100" cy="3648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 (root)</a:t>
            </a:r>
            <a:endParaRPr>
              <a:latin typeface="Courier New"/>
              <a:ea typeface="Courier New"/>
              <a:cs typeface="Courier New"/>
              <a:sym typeface="Courier New"/>
            </a:endParaRPr>
          </a:p>
        </p:txBody>
      </p:sp>
      <p:sp>
        <p:nvSpPr>
          <p:cNvPr id="466" name="Google Shape;466;p36"/>
          <p:cNvSpPr txBox="1"/>
          <p:nvPr/>
        </p:nvSpPr>
        <p:spPr>
          <a:xfrm>
            <a:off x="6041325" y="3209977"/>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.edu</a:t>
            </a:r>
            <a:endParaRPr>
              <a:latin typeface="Calibri"/>
              <a:ea typeface="Calibri"/>
              <a:cs typeface="Calibri"/>
              <a:sym typeface="Calibri"/>
            </a:endParaRPr>
          </a:p>
        </p:txBody>
      </p:sp>
      <p:sp>
        <p:nvSpPr>
          <p:cNvPr id="467" name="Google Shape;467;p36"/>
          <p:cNvSpPr txBox="1"/>
          <p:nvPr/>
        </p:nvSpPr>
        <p:spPr>
          <a:xfrm>
            <a:off x="7671700" y="3209977"/>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.org</a:t>
            </a:r>
            <a:endParaRPr>
              <a:latin typeface="Calibri"/>
              <a:ea typeface="Calibri"/>
              <a:cs typeface="Calibri"/>
              <a:sym typeface="Calibri"/>
            </a:endParaRPr>
          </a:p>
        </p:txBody>
      </p:sp>
      <p:sp>
        <p:nvSpPr>
          <p:cNvPr id="468" name="Google Shape;468;p36"/>
          <p:cNvSpPr txBox="1"/>
          <p:nvPr/>
        </p:nvSpPr>
        <p:spPr>
          <a:xfrm>
            <a:off x="7489275" y="4156225"/>
            <a:ext cx="1043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cs161.org</a:t>
            </a:r>
            <a:endParaRPr sz="1200">
              <a:latin typeface="Calibri"/>
              <a:ea typeface="Calibri"/>
              <a:cs typeface="Calibri"/>
              <a:sym typeface="Calibri"/>
            </a:endParaRPr>
          </a:p>
        </p:txBody>
      </p:sp>
      <p:sp>
        <p:nvSpPr>
          <p:cNvPr id="469" name="Google Shape;469;p36"/>
          <p:cNvSpPr txBox="1"/>
          <p:nvPr/>
        </p:nvSpPr>
        <p:spPr>
          <a:xfrm>
            <a:off x="6490650" y="4156225"/>
            <a:ext cx="8586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mit.edu</a:t>
            </a:r>
            <a:endParaRPr sz="1200">
              <a:latin typeface="Calibri"/>
              <a:ea typeface="Calibri"/>
              <a:cs typeface="Calibri"/>
              <a:sym typeface="Calibri"/>
            </a:endParaRPr>
          </a:p>
        </p:txBody>
      </p:sp>
      <p:sp>
        <p:nvSpPr>
          <p:cNvPr id="470" name="Google Shape;470;p36"/>
          <p:cNvSpPr txBox="1"/>
          <p:nvPr/>
        </p:nvSpPr>
        <p:spPr>
          <a:xfrm>
            <a:off x="5054300" y="4156225"/>
            <a:ext cx="12963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berkeley.edu</a:t>
            </a:r>
            <a:endParaRPr sz="1200">
              <a:latin typeface="Calibri"/>
              <a:ea typeface="Calibri"/>
              <a:cs typeface="Calibri"/>
              <a:sym typeface="Calibri"/>
            </a:endParaRPr>
          </a:p>
        </p:txBody>
      </p:sp>
      <p:cxnSp>
        <p:nvCxnSpPr>
          <p:cNvPr id="471" name="Google Shape;471;p36"/>
          <p:cNvCxnSpPr>
            <a:stCxn id="465" idx="2"/>
            <a:endCxn id="466" idx="0"/>
          </p:cNvCxnSpPr>
          <p:nvPr/>
        </p:nvCxnSpPr>
        <p:spPr>
          <a:xfrm flipH="1">
            <a:off x="6375525" y="2555548"/>
            <a:ext cx="817800" cy="654300"/>
          </a:xfrm>
          <a:prstGeom prst="straightConnector1">
            <a:avLst/>
          </a:prstGeom>
          <a:noFill/>
          <a:ln cap="flat" cmpd="sng" w="9525">
            <a:solidFill>
              <a:srgbClr val="000000"/>
            </a:solidFill>
            <a:prstDash val="solid"/>
            <a:round/>
            <a:headEnd len="med" w="med" type="none"/>
            <a:tailEnd len="med" w="med" type="none"/>
          </a:ln>
        </p:spPr>
      </p:cxnSp>
      <p:cxnSp>
        <p:nvCxnSpPr>
          <p:cNvPr id="472" name="Google Shape;472;p36"/>
          <p:cNvCxnSpPr>
            <a:stCxn id="465" idx="2"/>
            <a:endCxn id="467" idx="0"/>
          </p:cNvCxnSpPr>
          <p:nvPr/>
        </p:nvCxnSpPr>
        <p:spPr>
          <a:xfrm>
            <a:off x="7193325" y="2555548"/>
            <a:ext cx="812700" cy="654300"/>
          </a:xfrm>
          <a:prstGeom prst="straightConnector1">
            <a:avLst/>
          </a:prstGeom>
          <a:noFill/>
          <a:ln cap="flat" cmpd="sng" w="9525">
            <a:solidFill>
              <a:srgbClr val="000000"/>
            </a:solidFill>
            <a:prstDash val="solid"/>
            <a:round/>
            <a:headEnd len="med" w="med" type="none"/>
            <a:tailEnd len="med" w="med" type="none"/>
          </a:ln>
        </p:spPr>
      </p:cxnSp>
      <p:cxnSp>
        <p:nvCxnSpPr>
          <p:cNvPr id="473" name="Google Shape;473;p36"/>
          <p:cNvCxnSpPr>
            <a:stCxn id="466" idx="2"/>
            <a:endCxn id="470" idx="0"/>
          </p:cNvCxnSpPr>
          <p:nvPr/>
        </p:nvCxnSpPr>
        <p:spPr>
          <a:xfrm flipH="1">
            <a:off x="5702325" y="3603577"/>
            <a:ext cx="673200" cy="552600"/>
          </a:xfrm>
          <a:prstGeom prst="straightConnector1">
            <a:avLst/>
          </a:prstGeom>
          <a:noFill/>
          <a:ln cap="flat" cmpd="sng" w="9525">
            <a:solidFill>
              <a:srgbClr val="000000"/>
            </a:solidFill>
            <a:prstDash val="solid"/>
            <a:round/>
            <a:headEnd len="med" w="med" type="none"/>
            <a:tailEnd len="med" w="med" type="none"/>
          </a:ln>
        </p:spPr>
      </p:cxnSp>
      <p:cxnSp>
        <p:nvCxnSpPr>
          <p:cNvPr id="474" name="Google Shape;474;p36"/>
          <p:cNvCxnSpPr>
            <a:stCxn id="466" idx="2"/>
            <a:endCxn id="469" idx="0"/>
          </p:cNvCxnSpPr>
          <p:nvPr/>
        </p:nvCxnSpPr>
        <p:spPr>
          <a:xfrm>
            <a:off x="6375525" y="3603577"/>
            <a:ext cx="544500" cy="552600"/>
          </a:xfrm>
          <a:prstGeom prst="straightConnector1">
            <a:avLst/>
          </a:prstGeom>
          <a:noFill/>
          <a:ln cap="flat" cmpd="sng" w="9525">
            <a:solidFill>
              <a:srgbClr val="000000"/>
            </a:solidFill>
            <a:prstDash val="solid"/>
            <a:round/>
            <a:headEnd len="med" w="med" type="none"/>
            <a:tailEnd len="med" w="med" type="none"/>
          </a:ln>
        </p:spPr>
      </p:cxnSp>
      <p:cxnSp>
        <p:nvCxnSpPr>
          <p:cNvPr id="475" name="Google Shape;475;p36"/>
          <p:cNvCxnSpPr>
            <a:stCxn id="467" idx="2"/>
            <a:endCxn id="468" idx="0"/>
          </p:cNvCxnSpPr>
          <p:nvPr/>
        </p:nvCxnSpPr>
        <p:spPr>
          <a:xfrm>
            <a:off x="8005900" y="3603577"/>
            <a:ext cx="5100" cy="552600"/>
          </a:xfrm>
          <a:prstGeom prst="straightConnector1">
            <a:avLst/>
          </a:prstGeom>
          <a:noFill/>
          <a:ln cap="flat" cmpd="sng" w="9525">
            <a:solidFill>
              <a:srgbClr val="000000"/>
            </a:solidFill>
            <a:prstDash val="solid"/>
            <a:round/>
            <a:headEnd len="med" w="med" type="none"/>
            <a:tailEnd len="med" w="med" type="none"/>
          </a:ln>
        </p:spPr>
      </p:cxnSp>
      <p:sp>
        <p:nvSpPr>
          <p:cNvPr id="476" name="Google Shape;476;p36"/>
          <p:cNvSpPr txBox="1"/>
          <p:nvPr/>
        </p:nvSpPr>
        <p:spPr>
          <a:xfrm>
            <a:off x="196675" y="1350350"/>
            <a:ext cx="1238100" cy="6543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Stub Resolver</a:t>
            </a:r>
            <a:endParaRPr>
              <a:latin typeface="Calibri"/>
              <a:ea typeface="Calibri"/>
              <a:cs typeface="Calibri"/>
              <a:sym typeface="Calibri"/>
            </a:endParaRPr>
          </a:p>
        </p:txBody>
      </p:sp>
      <p:sp>
        <p:nvSpPr>
          <p:cNvPr id="477" name="Google Shape;477;p36"/>
          <p:cNvSpPr txBox="1"/>
          <p:nvPr/>
        </p:nvSpPr>
        <p:spPr>
          <a:xfrm>
            <a:off x="2548425" y="1229300"/>
            <a:ext cx="32970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The recursive resolver returns the final answer to the stub resolver.</a:t>
            </a:r>
            <a:endParaRPr/>
          </a:p>
        </p:txBody>
      </p:sp>
      <p:sp>
        <p:nvSpPr>
          <p:cNvPr id="478" name="Google Shape;478;p36"/>
          <p:cNvSpPr txBox="1"/>
          <p:nvPr/>
        </p:nvSpPr>
        <p:spPr>
          <a:xfrm>
            <a:off x="196675" y="2856700"/>
            <a:ext cx="1238100" cy="15399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Recursive Resolver</a:t>
            </a:r>
            <a:endParaRPr>
              <a:latin typeface="Calibri"/>
              <a:ea typeface="Calibri"/>
              <a:cs typeface="Calibri"/>
              <a:sym typeface="Calibri"/>
            </a:endParaRPr>
          </a:p>
        </p:txBody>
      </p:sp>
      <p:grpSp>
        <p:nvGrpSpPr>
          <p:cNvPr id="479" name="Google Shape;479;p36"/>
          <p:cNvGrpSpPr/>
          <p:nvPr/>
        </p:nvGrpSpPr>
        <p:grpSpPr>
          <a:xfrm>
            <a:off x="258935" y="2049228"/>
            <a:ext cx="410100" cy="762900"/>
            <a:chOff x="258935" y="2049228"/>
            <a:chExt cx="410100" cy="762900"/>
          </a:xfrm>
        </p:grpSpPr>
        <p:sp>
          <p:nvSpPr>
            <p:cNvPr id="480" name="Google Shape;480;p36"/>
            <p:cNvSpPr txBox="1"/>
            <p:nvPr/>
          </p:nvSpPr>
          <p:spPr>
            <a:xfrm>
              <a:off x="258935" y="2174852"/>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1</a:t>
              </a:r>
              <a:endParaRPr>
                <a:latin typeface="Calibri"/>
                <a:ea typeface="Calibri"/>
                <a:cs typeface="Calibri"/>
                <a:sym typeface="Calibri"/>
              </a:endParaRPr>
            </a:p>
          </p:txBody>
        </p:sp>
        <p:cxnSp>
          <p:nvCxnSpPr>
            <p:cNvPr id="481" name="Google Shape;481;p36"/>
            <p:cNvCxnSpPr/>
            <p:nvPr/>
          </p:nvCxnSpPr>
          <p:spPr>
            <a:xfrm rot="10800000">
              <a:off x="530725" y="2049228"/>
              <a:ext cx="0" cy="762900"/>
            </a:xfrm>
            <a:prstGeom prst="straightConnector1">
              <a:avLst/>
            </a:prstGeom>
            <a:noFill/>
            <a:ln cap="flat" cmpd="sng" w="19050">
              <a:solidFill>
                <a:srgbClr val="000000"/>
              </a:solidFill>
              <a:prstDash val="solid"/>
              <a:round/>
              <a:headEnd len="med" w="med" type="triangle"/>
              <a:tailEnd len="med" w="med" type="none"/>
            </a:ln>
          </p:spPr>
        </p:cxnSp>
      </p:grpSp>
      <p:grpSp>
        <p:nvGrpSpPr>
          <p:cNvPr id="482" name="Google Shape;482;p36"/>
          <p:cNvGrpSpPr/>
          <p:nvPr/>
        </p:nvGrpSpPr>
        <p:grpSpPr>
          <a:xfrm>
            <a:off x="1047525" y="2049228"/>
            <a:ext cx="410110" cy="762900"/>
            <a:chOff x="1047525" y="2049228"/>
            <a:chExt cx="410110" cy="762900"/>
          </a:xfrm>
        </p:grpSpPr>
        <p:cxnSp>
          <p:nvCxnSpPr>
            <p:cNvPr id="483" name="Google Shape;483;p36"/>
            <p:cNvCxnSpPr/>
            <p:nvPr/>
          </p:nvCxnSpPr>
          <p:spPr>
            <a:xfrm rot="10800000">
              <a:off x="1047525" y="2049228"/>
              <a:ext cx="0" cy="762900"/>
            </a:xfrm>
            <a:prstGeom prst="straightConnector1">
              <a:avLst/>
            </a:prstGeom>
            <a:noFill/>
            <a:ln cap="flat" cmpd="sng" w="19050">
              <a:solidFill>
                <a:srgbClr val="000000"/>
              </a:solidFill>
              <a:prstDash val="solid"/>
              <a:round/>
              <a:headEnd len="med" w="med" type="none"/>
              <a:tailEnd len="med" w="med" type="triangle"/>
            </a:ln>
          </p:spPr>
        </p:cxnSp>
        <p:sp>
          <p:nvSpPr>
            <p:cNvPr id="484" name="Google Shape;484;p36"/>
            <p:cNvSpPr txBox="1"/>
            <p:nvPr/>
          </p:nvSpPr>
          <p:spPr>
            <a:xfrm>
              <a:off x="1047535" y="2174852"/>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8</a:t>
              </a:r>
              <a:endParaRPr>
                <a:latin typeface="Calibri"/>
                <a:ea typeface="Calibri"/>
                <a:cs typeface="Calibri"/>
                <a:sym typeface="Calibri"/>
              </a:endParaRPr>
            </a:p>
          </p:txBody>
        </p:sp>
      </p:grpSp>
      <p:grpSp>
        <p:nvGrpSpPr>
          <p:cNvPr id="485" name="Google Shape;485;p36"/>
          <p:cNvGrpSpPr/>
          <p:nvPr/>
        </p:nvGrpSpPr>
        <p:grpSpPr>
          <a:xfrm>
            <a:off x="1515239" y="2279753"/>
            <a:ext cx="4905786" cy="2394397"/>
            <a:chOff x="1515239" y="2279753"/>
            <a:chExt cx="4905786" cy="2394397"/>
          </a:xfrm>
        </p:grpSpPr>
        <p:cxnSp>
          <p:nvCxnSpPr>
            <p:cNvPr id="486" name="Google Shape;486;p36"/>
            <p:cNvCxnSpPr/>
            <p:nvPr/>
          </p:nvCxnSpPr>
          <p:spPr>
            <a:xfrm flipH="1" rot="10800000">
              <a:off x="1564325" y="2279753"/>
              <a:ext cx="4856700" cy="836400"/>
            </a:xfrm>
            <a:prstGeom prst="straightConnector1">
              <a:avLst/>
            </a:prstGeom>
            <a:noFill/>
            <a:ln cap="flat" cmpd="sng" w="19050">
              <a:solidFill>
                <a:srgbClr val="000000"/>
              </a:solidFill>
              <a:prstDash val="solid"/>
              <a:round/>
              <a:headEnd len="med" w="med" type="none"/>
              <a:tailEnd len="med" w="med" type="triangle"/>
            </a:ln>
          </p:spPr>
        </p:cxnSp>
        <p:cxnSp>
          <p:nvCxnSpPr>
            <p:cNvPr id="487" name="Google Shape;487;p36"/>
            <p:cNvCxnSpPr/>
            <p:nvPr/>
          </p:nvCxnSpPr>
          <p:spPr>
            <a:xfrm flipH="1" rot="10800000">
              <a:off x="1564325" y="2434400"/>
              <a:ext cx="4856700" cy="836400"/>
            </a:xfrm>
            <a:prstGeom prst="straightConnector1">
              <a:avLst/>
            </a:prstGeom>
            <a:noFill/>
            <a:ln cap="flat" cmpd="sng" w="19050">
              <a:solidFill>
                <a:srgbClr val="000000"/>
              </a:solidFill>
              <a:prstDash val="solid"/>
              <a:round/>
              <a:headEnd len="med" w="med" type="triangle"/>
              <a:tailEnd len="med" w="med" type="none"/>
            </a:ln>
          </p:spPr>
        </p:cxnSp>
        <p:cxnSp>
          <p:nvCxnSpPr>
            <p:cNvPr id="488" name="Google Shape;488;p36"/>
            <p:cNvCxnSpPr/>
            <p:nvPr/>
          </p:nvCxnSpPr>
          <p:spPr>
            <a:xfrm flipH="1" rot="10800000">
              <a:off x="1515239" y="3399151"/>
              <a:ext cx="4418700" cy="249300"/>
            </a:xfrm>
            <a:prstGeom prst="straightConnector1">
              <a:avLst/>
            </a:prstGeom>
            <a:noFill/>
            <a:ln cap="flat" cmpd="sng" w="19050">
              <a:solidFill>
                <a:srgbClr val="000000"/>
              </a:solidFill>
              <a:prstDash val="solid"/>
              <a:round/>
              <a:headEnd len="med" w="med" type="none"/>
              <a:tailEnd len="med" w="med" type="triangle"/>
            </a:ln>
          </p:spPr>
        </p:cxnSp>
        <p:cxnSp>
          <p:nvCxnSpPr>
            <p:cNvPr id="489" name="Google Shape;489;p36"/>
            <p:cNvCxnSpPr/>
            <p:nvPr/>
          </p:nvCxnSpPr>
          <p:spPr>
            <a:xfrm flipH="1" rot="10800000">
              <a:off x="1528696" y="3540275"/>
              <a:ext cx="4418700" cy="249300"/>
            </a:xfrm>
            <a:prstGeom prst="straightConnector1">
              <a:avLst/>
            </a:prstGeom>
            <a:noFill/>
            <a:ln cap="flat" cmpd="sng" w="19050">
              <a:solidFill>
                <a:srgbClr val="000000"/>
              </a:solidFill>
              <a:prstDash val="solid"/>
              <a:round/>
              <a:headEnd len="med" w="med" type="triangle"/>
              <a:tailEnd len="med" w="med" type="none"/>
            </a:ln>
          </p:spPr>
        </p:cxnSp>
        <p:cxnSp>
          <p:nvCxnSpPr>
            <p:cNvPr id="490" name="Google Shape;490;p36"/>
            <p:cNvCxnSpPr/>
            <p:nvPr/>
          </p:nvCxnSpPr>
          <p:spPr>
            <a:xfrm>
              <a:off x="1628275" y="4059050"/>
              <a:ext cx="3377100" cy="271800"/>
            </a:xfrm>
            <a:prstGeom prst="straightConnector1">
              <a:avLst/>
            </a:prstGeom>
            <a:noFill/>
            <a:ln cap="flat" cmpd="sng" w="19050">
              <a:solidFill>
                <a:srgbClr val="000000"/>
              </a:solidFill>
              <a:prstDash val="solid"/>
              <a:round/>
              <a:headEnd len="med" w="med" type="none"/>
              <a:tailEnd len="med" w="med" type="triangle"/>
            </a:ln>
          </p:spPr>
        </p:cxnSp>
        <p:cxnSp>
          <p:nvCxnSpPr>
            <p:cNvPr id="491" name="Google Shape;491;p36"/>
            <p:cNvCxnSpPr/>
            <p:nvPr/>
          </p:nvCxnSpPr>
          <p:spPr>
            <a:xfrm>
              <a:off x="1528700" y="4180880"/>
              <a:ext cx="3377100" cy="271800"/>
            </a:xfrm>
            <a:prstGeom prst="straightConnector1">
              <a:avLst/>
            </a:prstGeom>
            <a:noFill/>
            <a:ln cap="flat" cmpd="sng" w="19050">
              <a:solidFill>
                <a:srgbClr val="000000"/>
              </a:solidFill>
              <a:prstDash val="solid"/>
              <a:round/>
              <a:headEnd len="med" w="med" type="triangle"/>
              <a:tailEnd len="med" w="med" type="none"/>
            </a:ln>
          </p:spPr>
        </p:cxnSp>
        <p:sp>
          <p:nvSpPr>
            <p:cNvPr id="492" name="Google Shape;492;p36"/>
            <p:cNvSpPr txBox="1"/>
            <p:nvPr/>
          </p:nvSpPr>
          <p:spPr>
            <a:xfrm>
              <a:off x="3532997" y="3860291"/>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6</a:t>
              </a:r>
              <a:endParaRPr>
                <a:latin typeface="Calibri"/>
                <a:ea typeface="Calibri"/>
                <a:cs typeface="Calibri"/>
                <a:sym typeface="Calibri"/>
              </a:endParaRPr>
            </a:p>
          </p:txBody>
        </p:sp>
        <p:sp>
          <p:nvSpPr>
            <p:cNvPr id="493" name="Google Shape;493;p36"/>
            <p:cNvSpPr txBox="1"/>
            <p:nvPr/>
          </p:nvSpPr>
          <p:spPr>
            <a:xfrm>
              <a:off x="3505531" y="4277550"/>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7</a:t>
              </a:r>
              <a:endParaRPr>
                <a:latin typeface="Calibri"/>
                <a:ea typeface="Calibri"/>
                <a:cs typeface="Calibri"/>
                <a:sym typeface="Calibri"/>
              </a:endParaRPr>
            </a:p>
          </p:txBody>
        </p:sp>
        <p:sp>
          <p:nvSpPr>
            <p:cNvPr id="494" name="Google Shape;494;p36"/>
            <p:cNvSpPr txBox="1"/>
            <p:nvPr/>
          </p:nvSpPr>
          <p:spPr>
            <a:xfrm>
              <a:off x="3661851" y="3216256"/>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4</a:t>
              </a:r>
              <a:endParaRPr>
                <a:latin typeface="Calibri"/>
                <a:ea typeface="Calibri"/>
                <a:cs typeface="Calibri"/>
                <a:sym typeface="Calibri"/>
              </a:endParaRPr>
            </a:p>
          </p:txBody>
        </p:sp>
        <p:sp>
          <p:nvSpPr>
            <p:cNvPr id="495" name="Google Shape;495;p36"/>
            <p:cNvSpPr txBox="1"/>
            <p:nvPr/>
          </p:nvSpPr>
          <p:spPr>
            <a:xfrm>
              <a:off x="3730313" y="3612838"/>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5</a:t>
              </a:r>
              <a:endParaRPr>
                <a:latin typeface="Calibri"/>
                <a:ea typeface="Calibri"/>
                <a:cs typeface="Calibri"/>
                <a:sym typeface="Calibri"/>
              </a:endParaRPr>
            </a:p>
          </p:txBody>
        </p:sp>
        <p:sp>
          <p:nvSpPr>
            <p:cNvPr id="496" name="Google Shape;496;p36"/>
            <p:cNvSpPr txBox="1"/>
            <p:nvPr/>
          </p:nvSpPr>
          <p:spPr>
            <a:xfrm>
              <a:off x="3700105" y="2814582"/>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3</a:t>
              </a:r>
              <a:endParaRPr>
                <a:latin typeface="Calibri"/>
                <a:ea typeface="Calibri"/>
                <a:cs typeface="Calibri"/>
                <a:sym typeface="Calibri"/>
              </a:endParaRPr>
            </a:p>
          </p:txBody>
        </p:sp>
        <p:sp>
          <p:nvSpPr>
            <p:cNvPr id="497" name="Google Shape;497;p36"/>
            <p:cNvSpPr txBox="1"/>
            <p:nvPr/>
          </p:nvSpPr>
          <p:spPr>
            <a:xfrm>
              <a:off x="3656980" y="2423720"/>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2</a:t>
              </a:r>
              <a:endParaRPr>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3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DNS Message Format</a:t>
            </a:r>
            <a:endParaRPr/>
          </a:p>
        </p:txBody>
      </p:sp>
      <p:sp>
        <p:nvSpPr>
          <p:cNvPr id="503" name="Google Shape;503;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3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 Uses UDP</a:t>
            </a:r>
            <a:endParaRPr/>
          </a:p>
        </p:txBody>
      </p:sp>
      <p:sp>
        <p:nvSpPr>
          <p:cNvPr id="509" name="Google Shape;509;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10" name="Google Shape;510;p38"/>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DNS is designed to be lightweight and fast</a:t>
            </a:r>
            <a:endParaRPr/>
          </a:p>
          <a:p>
            <a:pPr indent="-317500" lvl="1" marL="914400" rtl="0" algn="l">
              <a:spcBef>
                <a:spcPts val="0"/>
              </a:spcBef>
              <a:spcAft>
                <a:spcPts val="0"/>
              </a:spcAft>
              <a:buSzPts val="1400"/>
              <a:buChar char="○"/>
            </a:pPr>
            <a:r>
              <a:rPr lang="en"/>
              <a:t>Any access that involves a domain name (websites, email, etc.) is preceded by a DNS query, so we want DNS lookups to be fast</a:t>
            </a:r>
            <a:endParaRPr/>
          </a:p>
          <a:p>
            <a:pPr indent="-342900" lvl="0" marL="457200" rtl="0" algn="l">
              <a:spcBef>
                <a:spcPts val="0"/>
              </a:spcBef>
              <a:spcAft>
                <a:spcPts val="0"/>
              </a:spcAft>
              <a:buSzPts val="1800"/>
              <a:buChar char="●"/>
            </a:pPr>
            <a:r>
              <a:rPr lang="en"/>
              <a:t>DNS uses UDP instead of TCP for better performance</a:t>
            </a:r>
            <a:endParaRPr/>
          </a:p>
          <a:p>
            <a:pPr indent="-317500" lvl="1" marL="914400" rtl="0" algn="l">
              <a:spcBef>
                <a:spcPts val="0"/>
              </a:spcBef>
              <a:spcAft>
                <a:spcPts val="0"/>
              </a:spcAft>
              <a:buSzPts val="1400"/>
              <a:buChar char="○"/>
            </a:pPr>
            <a:r>
              <a:rPr lang="en"/>
              <a:t>No 3-way handshake!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0">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3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 Packet Format: UDP Header</a:t>
            </a:r>
            <a:endParaRPr/>
          </a:p>
        </p:txBody>
      </p:sp>
      <p:sp>
        <p:nvSpPr>
          <p:cNvPr id="516" name="Google Shape;516;p39"/>
          <p:cNvSpPr txBox="1"/>
          <p:nvPr>
            <p:ph idx="1" type="body"/>
          </p:nvPr>
        </p:nvSpPr>
        <p:spPr>
          <a:xfrm>
            <a:off x="198500" y="1246825"/>
            <a:ext cx="50307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Source port </a:t>
            </a:r>
            <a:r>
              <a:rPr lang="en"/>
              <a:t>(16 bits): Chosen by the client</a:t>
            </a:r>
            <a:endParaRPr/>
          </a:p>
          <a:p>
            <a:pPr indent="-317500" lvl="1" marL="914400" rtl="0" algn="l">
              <a:spcBef>
                <a:spcPts val="0"/>
              </a:spcBef>
              <a:spcAft>
                <a:spcPts val="0"/>
              </a:spcAft>
              <a:buSzPts val="1400"/>
              <a:buChar char="○"/>
            </a:pPr>
            <a:r>
              <a:rPr lang="en"/>
              <a:t>Can be randomized for security, as we’ll see later</a:t>
            </a:r>
            <a:endParaRPr/>
          </a:p>
          <a:p>
            <a:pPr indent="-342900" lvl="0" marL="457200" rtl="0" algn="l">
              <a:spcBef>
                <a:spcPts val="0"/>
              </a:spcBef>
              <a:spcAft>
                <a:spcPts val="0"/>
              </a:spcAft>
              <a:buSzPts val="1800"/>
              <a:buChar char="●"/>
            </a:pPr>
            <a:r>
              <a:rPr b="1" lang="en"/>
              <a:t>Destination port </a:t>
            </a:r>
            <a:r>
              <a:rPr lang="en"/>
              <a:t>(16 bits): Usually 53</a:t>
            </a:r>
            <a:endParaRPr/>
          </a:p>
          <a:p>
            <a:pPr indent="-317500" lvl="1" marL="914400" rtl="0" algn="l">
              <a:spcBef>
                <a:spcPts val="0"/>
              </a:spcBef>
              <a:spcAft>
                <a:spcPts val="0"/>
              </a:spcAft>
              <a:buSzPts val="1400"/>
              <a:buChar char="○"/>
            </a:pPr>
            <a:r>
              <a:rPr lang="en"/>
              <a:t>DNS name servers answer requests on port 53</a:t>
            </a:r>
            <a:endParaRPr/>
          </a:p>
          <a:p>
            <a:pPr indent="-342900" lvl="0" marL="457200" rtl="0" algn="l">
              <a:spcBef>
                <a:spcPts val="0"/>
              </a:spcBef>
              <a:spcAft>
                <a:spcPts val="0"/>
              </a:spcAft>
              <a:buSzPts val="1800"/>
              <a:buChar char="●"/>
            </a:pPr>
            <a:r>
              <a:rPr lang="en"/>
              <a:t>Checksum: Code to check the UDP payload was not corrupted in transit</a:t>
            </a:r>
            <a:endParaRPr/>
          </a:p>
          <a:p>
            <a:pPr indent="-317500" lvl="1" marL="914400" rtl="0" algn="l">
              <a:spcBef>
                <a:spcPts val="0"/>
              </a:spcBef>
              <a:spcAft>
                <a:spcPts val="0"/>
              </a:spcAft>
              <a:buSzPts val="1400"/>
              <a:buChar char="○"/>
            </a:pPr>
            <a:r>
              <a:rPr lang="en"/>
              <a:t>You don’t need to worry about this</a:t>
            </a:r>
            <a:endParaRPr/>
          </a:p>
          <a:p>
            <a:pPr indent="-342900" lvl="0" marL="457200" rtl="0" algn="l">
              <a:spcBef>
                <a:spcPts val="0"/>
              </a:spcBef>
              <a:spcAft>
                <a:spcPts val="0"/>
              </a:spcAft>
              <a:buSzPts val="1800"/>
              <a:buChar char="●"/>
            </a:pPr>
            <a:r>
              <a:rPr lang="en"/>
              <a:t>Length: Length of the UDP payload</a:t>
            </a:r>
            <a:endParaRPr/>
          </a:p>
          <a:p>
            <a:pPr indent="-317500" lvl="1" marL="914400" rtl="0" algn="l">
              <a:spcBef>
                <a:spcPts val="0"/>
              </a:spcBef>
              <a:spcAft>
                <a:spcPts val="0"/>
              </a:spcAft>
              <a:buSzPts val="1400"/>
              <a:buChar char="○"/>
            </a:pPr>
            <a:r>
              <a:rPr lang="en"/>
              <a:t>You don’t need to worry about this</a:t>
            </a:r>
            <a:endParaRPr/>
          </a:p>
        </p:txBody>
      </p:sp>
      <p:sp>
        <p:nvSpPr>
          <p:cNvPr id="517" name="Google Shape;517;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518" name="Google Shape;518;p39"/>
          <p:cNvGraphicFramePr/>
          <p:nvPr/>
        </p:nvGraphicFramePr>
        <p:xfrm>
          <a:off x="5417350" y="1377075"/>
          <a:ext cx="3000000" cy="3000000"/>
        </p:xfrm>
        <a:graphic>
          <a:graphicData uri="http://schemas.openxmlformats.org/drawingml/2006/table">
            <a:tbl>
              <a:tblPr>
                <a:noFill/>
                <a:tableStyleId>{8746E7DE-0C9E-4540-9031-B6CDA728326B}</a:tableStyleId>
              </a:tblPr>
              <a:tblGrid>
                <a:gridCol w="1451350"/>
                <a:gridCol w="1451350"/>
              </a:tblGrid>
              <a:tr h="396200">
                <a:tc>
                  <a:txBody>
                    <a:bodyPr/>
                    <a:lstStyle/>
                    <a:p>
                      <a:pPr indent="0" lvl="0" marL="0" rtl="0" algn="ctr">
                        <a:spcBef>
                          <a:spcPts val="0"/>
                        </a:spcBef>
                        <a:spcAft>
                          <a:spcPts val="0"/>
                        </a:spcAft>
                        <a:buNone/>
                      </a:pPr>
                      <a:r>
                        <a:rPr lang="en"/>
                        <a:t>Source Port</a:t>
                      </a:r>
                      <a:endParaRPr/>
                    </a:p>
                  </a:txBody>
                  <a:tcPr marT="91425" marB="91425" marR="91425" marL="91425"/>
                </a:tc>
                <a:tc>
                  <a:txBody>
                    <a:bodyPr/>
                    <a:lstStyle/>
                    <a:p>
                      <a:pPr indent="0" lvl="0" marL="0" rtl="0" algn="ctr">
                        <a:spcBef>
                          <a:spcPts val="0"/>
                        </a:spcBef>
                        <a:spcAft>
                          <a:spcPts val="0"/>
                        </a:spcAft>
                        <a:buNone/>
                      </a:pPr>
                      <a:r>
                        <a:rPr lang="en"/>
                        <a:t>Destination Port</a:t>
                      </a:r>
                      <a:endParaRPr/>
                    </a:p>
                  </a:txBody>
                  <a:tcPr marT="91425" marB="91425" marR="91425" marL="91425"/>
                </a:tc>
              </a:tr>
              <a:tr h="396200">
                <a:tc>
                  <a:txBody>
                    <a:bodyPr/>
                    <a:lstStyle/>
                    <a:p>
                      <a:pPr indent="0" lvl="0" marL="0" rtl="0" algn="ctr">
                        <a:spcBef>
                          <a:spcPts val="0"/>
                        </a:spcBef>
                        <a:spcAft>
                          <a:spcPts val="0"/>
                        </a:spcAft>
                        <a:buNone/>
                      </a:pPr>
                      <a:r>
                        <a:rPr lang="en"/>
                        <a:t>Checksum</a:t>
                      </a:r>
                      <a:endParaRPr/>
                    </a:p>
                  </a:txBody>
                  <a:tcPr marT="91425" marB="91425" marR="91425" marL="91425"/>
                </a:tc>
                <a:tc>
                  <a:txBody>
                    <a:bodyPr/>
                    <a:lstStyle/>
                    <a:p>
                      <a:pPr indent="0" lvl="0" marL="0" rtl="0" algn="ctr">
                        <a:spcBef>
                          <a:spcPts val="0"/>
                        </a:spcBef>
                        <a:spcAft>
                          <a:spcPts val="0"/>
                        </a:spcAft>
                        <a:buNone/>
                      </a:pPr>
                      <a:r>
                        <a:rPr lang="en"/>
                        <a:t>Length</a:t>
                      </a:r>
                      <a:endParaRPr/>
                    </a:p>
                  </a:txBody>
                  <a:tcPr marT="91425" marB="91425" marR="91425" marL="91425"/>
                </a:tc>
              </a:tr>
              <a:tr h="396200">
                <a:tc>
                  <a:txBody>
                    <a:bodyPr/>
                    <a:lstStyle/>
                    <a:p>
                      <a:pPr indent="0" lvl="0" marL="0" rtl="0" algn="ctr">
                        <a:spcBef>
                          <a:spcPts val="0"/>
                        </a:spcBef>
                        <a:spcAft>
                          <a:spcPts val="0"/>
                        </a:spcAft>
                        <a:buNone/>
                      </a:pPr>
                      <a:r>
                        <a:rPr lang="en">
                          <a:solidFill>
                            <a:srgbClr val="999999"/>
                          </a:solidFill>
                        </a:rPr>
                        <a:t>ID number</a:t>
                      </a:r>
                      <a:endParaRPr>
                        <a:solidFill>
                          <a:srgbClr val="999999"/>
                        </a:solidFill>
                      </a:endParaRPr>
                    </a:p>
                  </a:txBody>
                  <a:tcPr marT="91425" marB="91425" marR="91425" marL="91425">
                    <a:solidFill>
                      <a:srgbClr val="D9D9D9"/>
                    </a:solidFill>
                  </a:tcPr>
                </a:tc>
                <a:tc>
                  <a:txBody>
                    <a:bodyPr/>
                    <a:lstStyle/>
                    <a:p>
                      <a:pPr indent="0" lvl="0" marL="0" rtl="0" algn="ctr">
                        <a:spcBef>
                          <a:spcPts val="0"/>
                        </a:spcBef>
                        <a:spcAft>
                          <a:spcPts val="0"/>
                        </a:spcAft>
                        <a:buNone/>
                      </a:pPr>
                      <a:r>
                        <a:rPr lang="en">
                          <a:solidFill>
                            <a:srgbClr val="999999"/>
                          </a:solidFill>
                        </a:rPr>
                        <a:t>Flags</a:t>
                      </a:r>
                      <a:endParaRPr>
                        <a:solidFill>
                          <a:srgbClr val="999999"/>
                        </a:solidFill>
                      </a:endParaRPr>
                    </a:p>
                  </a:txBody>
                  <a:tcPr marT="91425" marB="91425" marR="91425" marL="91425">
                    <a:solidFill>
                      <a:srgbClr val="D9D9D9"/>
                    </a:solidFill>
                  </a:tcPr>
                </a:tc>
              </a:tr>
              <a:tr h="396200">
                <a:tc>
                  <a:txBody>
                    <a:bodyPr/>
                    <a:lstStyle/>
                    <a:p>
                      <a:pPr indent="0" lvl="0" marL="0" rtl="0" algn="ctr">
                        <a:spcBef>
                          <a:spcPts val="0"/>
                        </a:spcBef>
                        <a:spcAft>
                          <a:spcPts val="0"/>
                        </a:spcAft>
                        <a:buNone/>
                      </a:pPr>
                      <a:r>
                        <a:rPr lang="en">
                          <a:solidFill>
                            <a:srgbClr val="999999"/>
                          </a:solidFill>
                        </a:rPr>
                        <a:t>Question count</a:t>
                      </a:r>
                      <a:endParaRPr>
                        <a:solidFill>
                          <a:srgbClr val="999999"/>
                        </a:solidFill>
                      </a:endParaRPr>
                    </a:p>
                  </a:txBody>
                  <a:tcPr marT="91425" marB="91425" marR="91425" marL="91425">
                    <a:solidFill>
                      <a:srgbClr val="D9D9D9"/>
                    </a:solidFill>
                  </a:tcPr>
                </a:tc>
                <a:tc>
                  <a:txBody>
                    <a:bodyPr/>
                    <a:lstStyle/>
                    <a:p>
                      <a:pPr indent="0" lvl="0" marL="0" rtl="0" algn="ctr">
                        <a:spcBef>
                          <a:spcPts val="0"/>
                        </a:spcBef>
                        <a:spcAft>
                          <a:spcPts val="0"/>
                        </a:spcAft>
                        <a:buNone/>
                      </a:pPr>
                      <a:r>
                        <a:rPr lang="en">
                          <a:solidFill>
                            <a:srgbClr val="999999"/>
                          </a:solidFill>
                        </a:rPr>
                        <a:t>Answer count</a:t>
                      </a:r>
                      <a:endParaRPr>
                        <a:solidFill>
                          <a:srgbClr val="999999"/>
                        </a:solidFill>
                      </a:endParaRPr>
                    </a:p>
                  </a:txBody>
                  <a:tcPr marT="91425" marB="91425" marR="91425" marL="91425">
                    <a:solidFill>
                      <a:srgbClr val="D9D9D9"/>
                    </a:solidFill>
                  </a:tcPr>
                </a:tc>
              </a:tr>
              <a:tr h="396200">
                <a:tc>
                  <a:txBody>
                    <a:bodyPr/>
                    <a:lstStyle/>
                    <a:p>
                      <a:pPr indent="0" lvl="0" marL="0" rtl="0" algn="ctr">
                        <a:spcBef>
                          <a:spcPts val="0"/>
                        </a:spcBef>
                        <a:spcAft>
                          <a:spcPts val="0"/>
                        </a:spcAft>
                        <a:buNone/>
                      </a:pPr>
                      <a:r>
                        <a:rPr lang="en">
                          <a:solidFill>
                            <a:srgbClr val="999999"/>
                          </a:solidFill>
                        </a:rPr>
                        <a:t>Authority count</a:t>
                      </a:r>
                      <a:endParaRPr>
                        <a:solidFill>
                          <a:srgbClr val="999999"/>
                        </a:solidFill>
                      </a:endParaRPr>
                    </a:p>
                  </a:txBody>
                  <a:tcPr marT="91425" marB="91425" marR="91425" marL="91425">
                    <a:solidFill>
                      <a:srgbClr val="D9D9D9"/>
                    </a:solidFill>
                  </a:tcPr>
                </a:tc>
                <a:tc>
                  <a:txBody>
                    <a:bodyPr/>
                    <a:lstStyle/>
                    <a:p>
                      <a:pPr indent="0" lvl="0" marL="0" rtl="0" algn="ctr">
                        <a:spcBef>
                          <a:spcPts val="0"/>
                        </a:spcBef>
                        <a:spcAft>
                          <a:spcPts val="0"/>
                        </a:spcAft>
                        <a:buNone/>
                      </a:pPr>
                      <a:r>
                        <a:rPr lang="en">
                          <a:solidFill>
                            <a:srgbClr val="999999"/>
                          </a:solidFill>
                        </a:rPr>
                        <a:t>Additional count</a:t>
                      </a:r>
                      <a:endParaRPr>
                        <a:solidFill>
                          <a:srgbClr val="999999"/>
                        </a:solidFill>
                      </a:endParaRPr>
                    </a:p>
                  </a:txBody>
                  <a:tcPr marT="91425" marB="91425" marR="91425" marL="91425">
                    <a:solidFill>
                      <a:srgbClr val="D9D9D9"/>
                    </a:solidFill>
                  </a:tcPr>
                </a:tc>
              </a:tr>
              <a:tr h="396200">
                <a:tc gridSpan="2">
                  <a:txBody>
                    <a:bodyPr/>
                    <a:lstStyle/>
                    <a:p>
                      <a:pPr indent="0" lvl="0" marL="0" rtl="0" algn="ctr">
                        <a:spcBef>
                          <a:spcPts val="0"/>
                        </a:spcBef>
                        <a:spcAft>
                          <a:spcPts val="0"/>
                        </a:spcAft>
                        <a:buNone/>
                      </a:pPr>
                      <a:r>
                        <a:rPr lang="en">
                          <a:solidFill>
                            <a:srgbClr val="999999"/>
                          </a:solidFill>
                        </a:rPr>
                        <a:t>Question Records</a:t>
                      </a:r>
                      <a:endParaRPr>
                        <a:solidFill>
                          <a:srgbClr val="999999"/>
                        </a:solidFill>
                      </a:endParaRPr>
                    </a:p>
                  </a:txBody>
                  <a:tcPr marT="91425" marB="91425" marR="91425" marL="91425">
                    <a:solidFill>
                      <a:srgbClr val="D9D9D9"/>
                    </a:solidFill>
                  </a:tcPr>
                </a:tc>
                <a:tc hMerge="1"/>
              </a:tr>
              <a:tr h="396200">
                <a:tc gridSpan="2">
                  <a:txBody>
                    <a:bodyPr/>
                    <a:lstStyle/>
                    <a:p>
                      <a:pPr indent="0" lvl="0" marL="0" rtl="0" algn="ctr">
                        <a:spcBef>
                          <a:spcPts val="0"/>
                        </a:spcBef>
                        <a:spcAft>
                          <a:spcPts val="0"/>
                        </a:spcAft>
                        <a:buNone/>
                      </a:pPr>
                      <a:r>
                        <a:rPr lang="en">
                          <a:solidFill>
                            <a:srgbClr val="999999"/>
                          </a:solidFill>
                        </a:rPr>
                        <a:t>Answer Records</a:t>
                      </a:r>
                      <a:endParaRPr>
                        <a:solidFill>
                          <a:srgbClr val="999999"/>
                        </a:solidFill>
                      </a:endParaRPr>
                    </a:p>
                  </a:txBody>
                  <a:tcPr marT="91425" marB="91425" marR="91425" marL="91425">
                    <a:solidFill>
                      <a:srgbClr val="D9D9D9"/>
                    </a:solidFill>
                  </a:tcPr>
                </a:tc>
                <a:tc hMerge="1"/>
              </a:tr>
              <a:tr h="396200">
                <a:tc gridSpan="2">
                  <a:txBody>
                    <a:bodyPr/>
                    <a:lstStyle/>
                    <a:p>
                      <a:pPr indent="0" lvl="0" marL="0" rtl="0" algn="ctr">
                        <a:spcBef>
                          <a:spcPts val="0"/>
                        </a:spcBef>
                        <a:spcAft>
                          <a:spcPts val="0"/>
                        </a:spcAft>
                        <a:buNone/>
                      </a:pPr>
                      <a:r>
                        <a:rPr lang="en">
                          <a:solidFill>
                            <a:srgbClr val="999999"/>
                          </a:solidFill>
                        </a:rPr>
                        <a:t>Authority Records</a:t>
                      </a:r>
                      <a:endParaRPr>
                        <a:solidFill>
                          <a:srgbClr val="999999"/>
                        </a:solidFill>
                      </a:endParaRPr>
                    </a:p>
                  </a:txBody>
                  <a:tcPr marT="91425" marB="91425" marR="91425" marL="91425">
                    <a:solidFill>
                      <a:srgbClr val="D9D9D9"/>
                    </a:solidFill>
                  </a:tcPr>
                </a:tc>
                <a:tc hMerge="1"/>
              </a:tr>
              <a:tr h="396200">
                <a:tc gridSpan="2">
                  <a:txBody>
                    <a:bodyPr/>
                    <a:lstStyle/>
                    <a:p>
                      <a:pPr indent="0" lvl="0" marL="0" rtl="0" algn="ctr">
                        <a:spcBef>
                          <a:spcPts val="0"/>
                        </a:spcBef>
                        <a:spcAft>
                          <a:spcPts val="0"/>
                        </a:spcAft>
                        <a:buNone/>
                      </a:pPr>
                      <a:r>
                        <a:rPr lang="en">
                          <a:solidFill>
                            <a:srgbClr val="999999"/>
                          </a:solidFill>
                        </a:rPr>
                        <a:t>Additional Records</a:t>
                      </a:r>
                      <a:endParaRPr>
                        <a:solidFill>
                          <a:srgbClr val="999999"/>
                        </a:solidFill>
                      </a:endParaRPr>
                    </a:p>
                  </a:txBody>
                  <a:tcPr marT="91425" marB="91425" marR="91425" marL="91425">
                    <a:solidFill>
                      <a:srgbClr val="D9D9D9"/>
                    </a:solidFill>
                  </a:tcPr>
                </a:tc>
                <a:tc hMerge="1"/>
              </a:tr>
            </a:tbl>
          </a:graphicData>
        </a:graphic>
      </p:graphicFrame>
      <p:sp>
        <p:nvSpPr>
          <p:cNvPr id="519" name="Google Shape;519;p39"/>
          <p:cNvSpPr txBox="1"/>
          <p:nvPr/>
        </p:nvSpPr>
        <p:spPr>
          <a:xfrm rot="5400000">
            <a:off x="7130400" y="3356675"/>
            <a:ext cx="2779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UDP Payload</a:t>
            </a:r>
            <a:endParaRPr/>
          </a:p>
        </p:txBody>
      </p:sp>
      <p:cxnSp>
        <p:nvCxnSpPr>
          <p:cNvPr id="520" name="Google Shape;520;p39"/>
          <p:cNvCxnSpPr>
            <a:stCxn id="519" idx="1"/>
          </p:cNvCxnSpPr>
          <p:nvPr/>
        </p:nvCxnSpPr>
        <p:spPr>
          <a:xfrm>
            <a:off x="8520150" y="2167025"/>
            <a:ext cx="0" cy="786300"/>
          </a:xfrm>
          <a:prstGeom prst="straightConnector1">
            <a:avLst/>
          </a:prstGeom>
          <a:noFill/>
          <a:ln cap="flat" cmpd="sng" w="9525">
            <a:solidFill>
              <a:schemeClr val="dk2"/>
            </a:solidFill>
            <a:prstDash val="solid"/>
            <a:round/>
            <a:headEnd len="med" w="med" type="none"/>
            <a:tailEnd len="med" w="med" type="none"/>
          </a:ln>
        </p:spPr>
      </p:cxnSp>
      <p:cxnSp>
        <p:nvCxnSpPr>
          <p:cNvPr id="521" name="Google Shape;521;p39"/>
          <p:cNvCxnSpPr>
            <a:endCxn id="519" idx="3"/>
          </p:cNvCxnSpPr>
          <p:nvPr/>
        </p:nvCxnSpPr>
        <p:spPr>
          <a:xfrm>
            <a:off x="8520150" y="4150625"/>
            <a:ext cx="0" cy="795900"/>
          </a:xfrm>
          <a:prstGeom prst="straightConnector1">
            <a:avLst/>
          </a:prstGeom>
          <a:noFill/>
          <a:ln cap="flat" cmpd="sng" w="9525">
            <a:solidFill>
              <a:schemeClr val="dk2"/>
            </a:solidFill>
            <a:prstDash val="solid"/>
            <a:round/>
            <a:headEnd len="med" w="med" type="none"/>
            <a:tailEnd len="med" w="med" type="none"/>
          </a:ln>
        </p:spPr>
      </p:cxnSp>
      <p:sp>
        <p:nvSpPr>
          <p:cNvPr id="522" name="Google Shape;522;p39"/>
          <p:cNvSpPr txBox="1"/>
          <p:nvPr/>
        </p:nvSpPr>
        <p:spPr>
          <a:xfrm rot="5400000">
            <a:off x="8230950" y="1466175"/>
            <a:ext cx="7938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UDP Header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6">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4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 Packet Format: </a:t>
            </a:r>
            <a:r>
              <a:rPr lang="en"/>
              <a:t>DNS Header</a:t>
            </a:r>
            <a:endParaRPr/>
          </a:p>
        </p:txBody>
      </p:sp>
      <p:sp>
        <p:nvSpPr>
          <p:cNvPr id="528" name="Google Shape;528;p40"/>
          <p:cNvSpPr txBox="1"/>
          <p:nvPr>
            <p:ph idx="1" type="body"/>
          </p:nvPr>
        </p:nvSpPr>
        <p:spPr>
          <a:xfrm>
            <a:off x="198500" y="1246825"/>
            <a:ext cx="50307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ID number</a:t>
            </a:r>
            <a:r>
              <a:rPr lang="en"/>
              <a:t> (16 bits): Used to associate queries with responses</a:t>
            </a:r>
            <a:endParaRPr/>
          </a:p>
          <a:p>
            <a:pPr indent="-317500" lvl="1" marL="914400" rtl="0" algn="l">
              <a:spcBef>
                <a:spcPts val="0"/>
              </a:spcBef>
              <a:spcAft>
                <a:spcPts val="0"/>
              </a:spcAft>
              <a:buSzPts val="1400"/>
              <a:buChar char="○"/>
            </a:pPr>
            <a:r>
              <a:rPr lang="en"/>
              <a:t>Client picks an ID number in the query</a:t>
            </a:r>
            <a:endParaRPr/>
          </a:p>
          <a:p>
            <a:pPr indent="-317500" lvl="1" marL="914400" rtl="0" algn="l">
              <a:spcBef>
                <a:spcPts val="0"/>
              </a:spcBef>
              <a:spcAft>
                <a:spcPts val="0"/>
              </a:spcAft>
              <a:buSzPts val="1400"/>
              <a:buChar char="○"/>
            </a:pPr>
            <a:r>
              <a:rPr lang="en"/>
              <a:t>Name server uses the same ID number in the response</a:t>
            </a:r>
            <a:endParaRPr/>
          </a:p>
          <a:p>
            <a:pPr indent="-317500" lvl="1" marL="914400" rtl="0" algn="l">
              <a:spcBef>
                <a:spcPts val="0"/>
              </a:spcBef>
              <a:spcAft>
                <a:spcPts val="0"/>
              </a:spcAft>
              <a:buSzPts val="1400"/>
              <a:buChar char="○"/>
            </a:pPr>
            <a:r>
              <a:rPr lang="en"/>
              <a:t>Should be random for security, as we’ll see later</a:t>
            </a:r>
            <a:endParaRPr/>
          </a:p>
          <a:p>
            <a:pPr indent="-342900" lvl="0" marL="457200" rtl="0" algn="l">
              <a:spcBef>
                <a:spcPts val="0"/>
              </a:spcBef>
              <a:spcAft>
                <a:spcPts val="0"/>
              </a:spcAft>
              <a:buSzPts val="1800"/>
              <a:buChar char="●"/>
            </a:pPr>
            <a:r>
              <a:rPr b="1" lang="en"/>
              <a:t>Counts</a:t>
            </a:r>
            <a:r>
              <a:rPr lang="en"/>
              <a:t>: The number of records of each type in the DNS payload</a:t>
            </a:r>
            <a:endParaRPr/>
          </a:p>
        </p:txBody>
      </p:sp>
      <p:sp>
        <p:nvSpPr>
          <p:cNvPr id="529" name="Google Shape;529;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530" name="Google Shape;530;p40"/>
          <p:cNvGraphicFramePr/>
          <p:nvPr/>
        </p:nvGraphicFramePr>
        <p:xfrm>
          <a:off x="5417350" y="1377075"/>
          <a:ext cx="3000000" cy="3000000"/>
        </p:xfrm>
        <a:graphic>
          <a:graphicData uri="http://schemas.openxmlformats.org/drawingml/2006/table">
            <a:tbl>
              <a:tblPr>
                <a:noFill/>
                <a:tableStyleId>{8746E7DE-0C9E-4540-9031-B6CDA728326B}</a:tableStyleId>
              </a:tblPr>
              <a:tblGrid>
                <a:gridCol w="1451350"/>
                <a:gridCol w="1451350"/>
              </a:tblGrid>
              <a:tr h="396200">
                <a:tc>
                  <a:txBody>
                    <a:bodyPr/>
                    <a:lstStyle/>
                    <a:p>
                      <a:pPr indent="0" lvl="0" marL="0" marR="0" rtl="0" algn="ctr">
                        <a:lnSpc>
                          <a:spcPct val="100000"/>
                        </a:lnSpc>
                        <a:spcBef>
                          <a:spcPts val="0"/>
                        </a:spcBef>
                        <a:spcAft>
                          <a:spcPts val="0"/>
                        </a:spcAft>
                        <a:buNone/>
                      </a:pPr>
                      <a:r>
                        <a:rPr lang="en">
                          <a:solidFill>
                            <a:srgbClr val="999999"/>
                          </a:solidFill>
                        </a:rPr>
                        <a:t>Source Port</a:t>
                      </a:r>
                      <a:endParaRPr>
                        <a:solidFill>
                          <a:srgbClr val="999999"/>
                        </a:solidFill>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None/>
                      </a:pPr>
                      <a:r>
                        <a:rPr lang="en">
                          <a:solidFill>
                            <a:srgbClr val="999999"/>
                          </a:solidFill>
                        </a:rPr>
                        <a:t>Destination Port</a:t>
                      </a:r>
                      <a:endParaRPr>
                        <a:solidFill>
                          <a:srgbClr val="999999"/>
                        </a:solidFill>
                      </a:endParaRPr>
                    </a:p>
                  </a:txBody>
                  <a:tcPr marT="91425" marB="91425" marR="91425" marL="91425">
                    <a:solidFill>
                      <a:srgbClr val="D9D9D9"/>
                    </a:solidFill>
                  </a:tcPr>
                </a:tc>
              </a:tr>
              <a:tr h="396200">
                <a:tc>
                  <a:txBody>
                    <a:bodyPr/>
                    <a:lstStyle/>
                    <a:p>
                      <a:pPr indent="0" lvl="0" marL="0" marR="0" rtl="0" algn="ctr">
                        <a:lnSpc>
                          <a:spcPct val="100000"/>
                        </a:lnSpc>
                        <a:spcBef>
                          <a:spcPts val="0"/>
                        </a:spcBef>
                        <a:spcAft>
                          <a:spcPts val="0"/>
                        </a:spcAft>
                        <a:buNone/>
                      </a:pPr>
                      <a:r>
                        <a:rPr lang="en">
                          <a:solidFill>
                            <a:srgbClr val="999999"/>
                          </a:solidFill>
                        </a:rPr>
                        <a:t>Checksum</a:t>
                      </a:r>
                      <a:endParaRPr>
                        <a:solidFill>
                          <a:srgbClr val="999999"/>
                        </a:solidFill>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None/>
                      </a:pPr>
                      <a:r>
                        <a:rPr lang="en">
                          <a:solidFill>
                            <a:srgbClr val="999999"/>
                          </a:solidFill>
                        </a:rPr>
                        <a:t>Length</a:t>
                      </a:r>
                      <a:endParaRPr>
                        <a:solidFill>
                          <a:srgbClr val="999999"/>
                        </a:solidFill>
                      </a:endParaRPr>
                    </a:p>
                  </a:txBody>
                  <a:tcPr marT="91425" marB="91425" marR="91425" marL="91425">
                    <a:solidFill>
                      <a:srgbClr val="D9D9D9"/>
                    </a:solidFill>
                  </a:tcPr>
                </a:tc>
              </a:tr>
              <a:tr h="396200">
                <a:tc>
                  <a:txBody>
                    <a:bodyPr/>
                    <a:lstStyle/>
                    <a:p>
                      <a:pPr indent="0" lvl="0" marL="0" rtl="0" algn="ctr">
                        <a:spcBef>
                          <a:spcPts val="0"/>
                        </a:spcBef>
                        <a:spcAft>
                          <a:spcPts val="0"/>
                        </a:spcAft>
                        <a:buNone/>
                      </a:pPr>
                      <a:r>
                        <a:rPr lang="en">
                          <a:solidFill>
                            <a:schemeClr val="dk1"/>
                          </a:solidFill>
                        </a:rPr>
                        <a:t>ID number</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Flags</a:t>
                      </a:r>
                      <a:endParaRPr>
                        <a:solidFill>
                          <a:schemeClr val="dk1"/>
                        </a:solidFill>
                      </a:endParaRPr>
                    </a:p>
                  </a:txBody>
                  <a:tcPr marT="91425" marB="91425" marR="91425" marL="91425"/>
                </a:tc>
              </a:tr>
              <a:tr h="396200">
                <a:tc>
                  <a:txBody>
                    <a:bodyPr/>
                    <a:lstStyle/>
                    <a:p>
                      <a:pPr indent="0" lvl="0" marL="0" rtl="0" algn="ctr">
                        <a:spcBef>
                          <a:spcPts val="0"/>
                        </a:spcBef>
                        <a:spcAft>
                          <a:spcPts val="0"/>
                        </a:spcAft>
                        <a:buNone/>
                      </a:pPr>
                      <a:r>
                        <a:rPr lang="en">
                          <a:solidFill>
                            <a:schemeClr val="dk1"/>
                          </a:solidFill>
                        </a:rPr>
                        <a:t>Question count</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Answer count</a:t>
                      </a:r>
                      <a:endParaRPr>
                        <a:solidFill>
                          <a:schemeClr val="dk1"/>
                        </a:solidFill>
                      </a:endParaRPr>
                    </a:p>
                  </a:txBody>
                  <a:tcPr marT="91425" marB="91425" marR="91425" marL="91425"/>
                </a:tc>
              </a:tr>
              <a:tr h="396200">
                <a:tc>
                  <a:txBody>
                    <a:bodyPr/>
                    <a:lstStyle/>
                    <a:p>
                      <a:pPr indent="0" lvl="0" marL="0" rtl="0" algn="ctr">
                        <a:spcBef>
                          <a:spcPts val="0"/>
                        </a:spcBef>
                        <a:spcAft>
                          <a:spcPts val="0"/>
                        </a:spcAft>
                        <a:buNone/>
                      </a:pPr>
                      <a:r>
                        <a:rPr lang="en">
                          <a:solidFill>
                            <a:schemeClr val="dk1"/>
                          </a:solidFill>
                        </a:rPr>
                        <a:t>Authority count</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Additional count</a:t>
                      </a:r>
                      <a:endParaRPr>
                        <a:solidFill>
                          <a:schemeClr val="dk1"/>
                        </a:solidFill>
                      </a:endParaRPr>
                    </a:p>
                  </a:txBody>
                  <a:tcPr marT="91425" marB="91425" marR="91425" marL="91425"/>
                </a:tc>
              </a:tr>
              <a:tr h="396200">
                <a:tc gridSpan="2">
                  <a:txBody>
                    <a:bodyPr/>
                    <a:lstStyle/>
                    <a:p>
                      <a:pPr indent="0" lvl="0" marL="0" rtl="0" algn="ctr">
                        <a:spcBef>
                          <a:spcPts val="0"/>
                        </a:spcBef>
                        <a:spcAft>
                          <a:spcPts val="0"/>
                        </a:spcAft>
                        <a:buNone/>
                      </a:pPr>
                      <a:r>
                        <a:rPr lang="en">
                          <a:solidFill>
                            <a:srgbClr val="999999"/>
                          </a:solidFill>
                        </a:rPr>
                        <a:t>Question Records</a:t>
                      </a:r>
                      <a:endParaRPr>
                        <a:solidFill>
                          <a:srgbClr val="999999"/>
                        </a:solidFill>
                      </a:endParaRPr>
                    </a:p>
                  </a:txBody>
                  <a:tcPr marT="91425" marB="91425" marR="91425" marL="91425">
                    <a:solidFill>
                      <a:srgbClr val="D9D9D9"/>
                    </a:solidFill>
                  </a:tcPr>
                </a:tc>
                <a:tc hMerge="1"/>
              </a:tr>
              <a:tr h="396200">
                <a:tc gridSpan="2">
                  <a:txBody>
                    <a:bodyPr/>
                    <a:lstStyle/>
                    <a:p>
                      <a:pPr indent="0" lvl="0" marL="0" rtl="0" algn="ctr">
                        <a:spcBef>
                          <a:spcPts val="0"/>
                        </a:spcBef>
                        <a:spcAft>
                          <a:spcPts val="0"/>
                        </a:spcAft>
                        <a:buNone/>
                      </a:pPr>
                      <a:r>
                        <a:rPr lang="en">
                          <a:solidFill>
                            <a:srgbClr val="999999"/>
                          </a:solidFill>
                        </a:rPr>
                        <a:t>Answer Records</a:t>
                      </a:r>
                      <a:endParaRPr>
                        <a:solidFill>
                          <a:srgbClr val="999999"/>
                        </a:solidFill>
                      </a:endParaRPr>
                    </a:p>
                  </a:txBody>
                  <a:tcPr marT="91425" marB="91425" marR="91425" marL="91425">
                    <a:solidFill>
                      <a:srgbClr val="D9D9D9"/>
                    </a:solidFill>
                  </a:tcPr>
                </a:tc>
                <a:tc hMerge="1"/>
              </a:tr>
              <a:tr h="396200">
                <a:tc gridSpan="2">
                  <a:txBody>
                    <a:bodyPr/>
                    <a:lstStyle/>
                    <a:p>
                      <a:pPr indent="0" lvl="0" marL="0" rtl="0" algn="ctr">
                        <a:spcBef>
                          <a:spcPts val="0"/>
                        </a:spcBef>
                        <a:spcAft>
                          <a:spcPts val="0"/>
                        </a:spcAft>
                        <a:buNone/>
                      </a:pPr>
                      <a:r>
                        <a:rPr lang="en">
                          <a:solidFill>
                            <a:srgbClr val="999999"/>
                          </a:solidFill>
                        </a:rPr>
                        <a:t>Authority Records</a:t>
                      </a:r>
                      <a:endParaRPr>
                        <a:solidFill>
                          <a:srgbClr val="999999"/>
                        </a:solidFill>
                      </a:endParaRPr>
                    </a:p>
                  </a:txBody>
                  <a:tcPr marT="91425" marB="91425" marR="91425" marL="91425">
                    <a:solidFill>
                      <a:srgbClr val="D9D9D9"/>
                    </a:solidFill>
                  </a:tcPr>
                </a:tc>
                <a:tc hMerge="1"/>
              </a:tr>
              <a:tr h="396200">
                <a:tc gridSpan="2">
                  <a:txBody>
                    <a:bodyPr/>
                    <a:lstStyle/>
                    <a:p>
                      <a:pPr indent="0" lvl="0" marL="0" rtl="0" algn="ctr">
                        <a:spcBef>
                          <a:spcPts val="0"/>
                        </a:spcBef>
                        <a:spcAft>
                          <a:spcPts val="0"/>
                        </a:spcAft>
                        <a:buNone/>
                      </a:pPr>
                      <a:r>
                        <a:rPr lang="en">
                          <a:solidFill>
                            <a:srgbClr val="999999"/>
                          </a:solidFill>
                        </a:rPr>
                        <a:t>Additional Records</a:t>
                      </a:r>
                      <a:endParaRPr>
                        <a:solidFill>
                          <a:srgbClr val="999999"/>
                        </a:solidFill>
                      </a:endParaRPr>
                    </a:p>
                  </a:txBody>
                  <a:tcPr marT="91425" marB="91425" marR="91425" marL="91425">
                    <a:solidFill>
                      <a:srgbClr val="D9D9D9"/>
                    </a:solidFill>
                  </a:tcPr>
                </a:tc>
                <a:tc hMerge="1"/>
              </a:tr>
            </a:tbl>
          </a:graphicData>
        </a:graphic>
      </p:graphicFrame>
      <p:sp>
        <p:nvSpPr>
          <p:cNvPr id="531" name="Google Shape;531;p40"/>
          <p:cNvSpPr txBox="1"/>
          <p:nvPr/>
        </p:nvSpPr>
        <p:spPr>
          <a:xfrm rot="5400000">
            <a:off x="7731600" y="3957800"/>
            <a:ext cx="1577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DNS Payload</a:t>
            </a:r>
            <a:endParaRPr/>
          </a:p>
        </p:txBody>
      </p:sp>
      <p:cxnSp>
        <p:nvCxnSpPr>
          <p:cNvPr id="532" name="Google Shape;532;p40"/>
          <p:cNvCxnSpPr>
            <a:stCxn id="531" idx="1"/>
          </p:cNvCxnSpPr>
          <p:nvPr/>
        </p:nvCxnSpPr>
        <p:spPr>
          <a:xfrm>
            <a:off x="8520150" y="3369350"/>
            <a:ext cx="0" cy="241200"/>
          </a:xfrm>
          <a:prstGeom prst="straightConnector1">
            <a:avLst/>
          </a:prstGeom>
          <a:noFill/>
          <a:ln cap="flat" cmpd="sng" w="9525">
            <a:solidFill>
              <a:schemeClr val="dk2"/>
            </a:solidFill>
            <a:prstDash val="solid"/>
            <a:round/>
            <a:headEnd len="med" w="med" type="none"/>
            <a:tailEnd len="med" w="med" type="none"/>
          </a:ln>
        </p:spPr>
      </p:cxnSp>
      <p:cxnSp>
        <p:nvCxnSpPr>
          <p:cNvPr id="533" name="Google Shape;533;p40"/>
          <p:cNvCxnSpPr>
            <a:endCxn id="531" idx="3"/>
          </p:cNvCxnSpPr>
          <p:nvPr/>
        </p:nvCxnSpPr>
        <p:spPr>
          <a:xfrm>
            <a:off x="8520150" y="4731050"/>
            <a:ext cx="0" cy="215400"/>
          </a:xfrm>
          <a:prstGeom prst="straightConnector1">
            <a:avLst/>
          </a:prstGeom>
          <a:noFill/>
          <a:ln cap="flat" cmpd="sng" w="9525">
            <a:solidFill>
              <a:schemeClr val="dk2"/>
            </a:solidFill>
            <a:prstDash val="solid"/>
            <a:round/>
            <a:headEnd len="med" w="med" type="none"/>
            <a:tailEnd len="med" w="med" type="none"/>
          </a:ln>
        </p:spPr>
      </p:cxnSp>
      <p:sp>
        <p:nvSpPr>
          <p:cNvPr id="534" name="Google Shape;534;p40"/>
          <p:cNvSpPr txBox="1"/>
          <p:nvPr/>
        </p:nvSpPr>
        <p:spPr>
          <a:xfrm rot="5400000">
            <a:off x="8230950" y="1466175"/>
            <a:ext cx="7938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UDP Header</a:t>
            </a:r>
            <a:endParaRPr/>
          </a:p>
        </p:txBody>
      </p:sp>
      <p:sp>
        <p:nvSpPr>
          <p:cNvPr id="535" name="Google Shape;535;p40"/>
          <p:cNvSpPr txBox="1"/>
          <p:nvPr/>
        </p:nvSpPr>
        <p:spPr>
          <a:xfrm rot="5400000">
            <a:off x="7920900" y="2553300"/>
            <a:ext cx="1198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DNS Header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8">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sp>
        <p:nvSpPr>
          <p:cNvPr id="540" name="Google Shape;540;p4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 Packet Format: </a:t>
            </a:r>
            <a:r>
              <a:rPr lang="en"/>
              <a:t>DNS Payload</a:t>
            </a:r>
            <a:endParaRPr/>
          </a:p>
        </p:txBody>
      </p:sp>
      <p:sp>
        <p:nvSpPr>
          <p:cNvPr id="541" name="Google Shape;541;p41"/>
          <p:cNvSpPr txBox="1"/>
          <p:nvPr>
            <p:ph idx="1" type="body"/>
          </p:nvPr>
        </p:nvSpPr>
        <p:spPr>
          <a:xfrm>
            <a:off x="198500" y="1246825"/>
            <a:ext cx="50307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DNS payload contains a variable number of </a:t>
            </a:r>
            <a:r>
              <a:rPr b="1" lang="en"/>
              <a:t>resource records</a:t>
            </a:r>
            <a:r>
              <a:rPr lang="en"/>
              <a:t> (</a:t>
            </a:r>
            <a:r>
              <a:rPr b="1" lang="en"/>
              <a:t>RRs</a:t>
            </a:r>
            <a:r>
              <a:rPr lang="en"/>
              <a:t>)</a:t>
            </a:r>
            <a:endParaRPr/>
          </a:p>
          <a:p>
            <a:pPr indent="-342900" lvl="0" marL="457200" rtl="0" algn="l">
              <a:spcBef>
                <a:spcPts val="0"/>
              </a:spcBef>
              <a:spcAft>
                <a:spcPts val="0"/>
              </a:spcAft>
              <a:buSzPts val="1800"/>
              <a:buChar char="●"/>
            </a:pPr>
            <a:r>
              <a:rPr lang="en"/>
              <a:t>Each RR is a name-value pair</a:t>
            </a:r>
            <a:endParaRPr/>
          </a:p>
          <a:p>
            <a:pPr indent="-342900" lvl="0" marL="457200" rtl="0" algn="l">
              <a:spcBef>
                <a:spcPts val="0"/>
              </a:spcBef>
              <a:spcAft>
                <a:spcPts val="0"/>
              </a:spcAft>
              <a:buSzPts val="1800"/>
              <a:buChar char="●"/>
            </a:pPr>
            <a:r>
              <a:rPr lang="en"/>
              <a:t>RRs are sorted into four sections</a:t>
            </a:r>
            <a:endParaRPr/>
          </a:p>
          <a:p>
            <a:pPr indent="-317500" lvl="1" marL="914400" rtl="0" algn="l">
              <a:spcBef>
                <a:spcPts val="0"/>
              </a:spcBef>
              <a:spcAft>
                <a:spcPts val="0"/>
              </a:spcAft>
              <a:buSzPts val="1400"/>
              <a:buChar char="○"/>
            </a:pPr>
            <a:r>
              <a:rPr lang="en"/>
              <a:t>Question section</a:t>
            </a:r>
            <a:endParaRPr/>
          </a:p>
          <a:p>
            <a:pPr indent="-317500" lvl="1" marL="914400" rtl="0" algn="l">
              <a:spcBef>
                <a:spcPts val="0"/>
              </a:spcBef>
              <a:spcAft>
                <a:spcPts val="0"/>
              </a:spcAft>
              <a:buSzPts val="1400"/>
              <a:buChar char="○"/>
            </a:pPr>
            <a:r>
              <a:rPr lang="en"/>
              <a:t>Answer section</a:t>
            </a:r>
            <a:endParaRPr/>
          </a:p>
          <a:p>
            <a:pPr indent="-317500" lvl="1" marL="914400" rtl="0" algn="l">
              <a:spcBef>
                <a:spcPts val="0"/>
              </a:spcBef>
              <a:spcAft>
                <a:spcPts val="0"/>
              </a:spcAft>
              <a:buSzPts val="1400"/>
              <a:buChar char="○"/>
            </a:pPr>
            <a:r>
              <a:rPr lang="en"/>
              <a:t>Authority section</a:t>
            </a:r>
            <a:endParaRPr/>
          </a:p>
          <a:p>
            <a:pPr indent="-317500" lvl="1" marL="914400" rtl="0" algn="l">
              <a:spcBef>
                <a:spcPts val="0"/>
              </a:spcBef>
              <a:spcAft>
                <a:spcPts val="0"/>
              </a:spcAft>
              <a:buSzPts val="1400"/>
              <a:buChar char="○"/>
            </a:pPr>
            <a:r>
              <a:rPr lang="en"/>
              <a:t>Additional section</a:t>
            </a:r>
            <a:endParaRPr/>
          </a:p>
        </p:txBody>
      </p:sp>
      <p:sp>
        <p:nvSpPr>
          <p:cNvPr id="542" name="Google Shape;542;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543" name="Google Shape;543;p41"/>
          <p:cNvGraphicFramePr/>
          <p:nvPr/>
        </p:nvGraphicFramePr>
        <p:xfrm>
          <a:off x="5417350" y="1377075"/>
          <a:ext cx="3000000" cy="3000000"/>
        </p:xfrm>
        <a:graphic>
          <a:graphicData uri="http://schemas.openxmlformats.org/drawingml/2006/table">
            <a:tbl>
              <a:tblPr>
                <a:noFill/>
                <a:tableStyleId>{8746E7DE-0C9E-4540-9031-B6CDA728326B}</a:tableStyleId>
              </a:tblPr>
              <a:tblGrid>
                <a:gridCol w="1451350"/>
                <a:gridCol w="1451350"/>
              </a:tblGrid>
              <a:tr h="396200">
                <a:tc>
                  <a:txBody>
                    <a:bodyPr/>
                    <a:lstStyle/>
                    <a:p>
                      <a:pPr indent="0" lvl="0" marL="0" marR="0" rtl="0" algn="ctr">
                        <a:lnSpc>
                          <a:spcPct val="100000"/>
                        </a:lnSpc>
                        <a:spcBef>
                          <a:spcPts val="0"/>
                        </a:spcBef>
                        <a:spcAft>
                          <a:spcPts val="0"/>
                        </a:spcAft>
                        <a:buNone/>
                      </a:pPr>
                      <a:r>
                        <a:rPr lang="en">
                          <a:solidFill>
                            <a:srgbClr val="999999"/>
                          </a:solidFill>
                        </a:rPr>
                        <a:t>Source Port</a:t>
                      </a:r>
                      <a:endParaRPr>
                        <a:solidFill>
                          <a:srgbClr val="999999"/>
                        </a:solidFill>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None/>
                      </a:pPr>
                      <a:r>
                        <a:rPr lang="en">
                          <a:solidFill>
                            <a:srgbClr val="999999"/>
                          </a:solidFill>
                        </a:rPr>
                        <a:t>Destination Port</a:t>
                      </a:r>
                      <a:endParaRPr>
                        <a:solidFill>
                          <a:srgbClr val="999999"/>
                        </a:solidFill>
                      </a:endParaRPr>
                    </a:p>
                  </a:txBody>
                  <a:tcPr marT="91425" marB="91425" marR="91425" marL="91425">
                    <a:solidFill>
                      <a:srgbClr val="D9D9D9"/>
                    </a:solidFill>
                  </a:tcPr>
                </a:tc>
              </a:tr>
              <a:tr h="396200">
                <a:tc>
                  <a:txBody>
                    <a:bodyPr/>
                    <a:lstStyle/>
                    <a:p>
                      <a:pPr indent="0" lvl="0" marL="0" marR="0" rtl="0" algn="ctr">
                        <a:lnSpc>
                          <a:spcPct val="100000"/>
                        </a:lnSpc>
                        <a:spcBef>
                          <a:spcPts val="0"/>
                        </a:spcBef>
                        <a:spcAft>
                          <a:spcPts val="0"/>
                        </a:spcAft>
                        <a:buNone/>
                      </a:pPr>
                      <a:r>
                        <a:rPr lang="en">
                          <a:solidFill>
                            <a:srgbClr val="999999"/>
                          </a:solidFill>
                        </a:rPr>
                        <a:t>Checksum</a:t>
                      </a:r>
                      <a:endParaRPr>
                        <a:solidFill>
                          <a:srgbClr val="999999"/>
                        </a:solidFill>
                      </a:endParaRPr>
                    </a:p>
                  </a:txBody>
                  <a:tcPr marT="91425" marB="91425" marR="91425" marL="91425">
                    <a:solidFill>
                      <a:srgbClr val="D9D9D9"/>
                    </a:solidFill>
                  </a:tcPr>
                </a:tc>
                <a:tc>
                  <a:txBody>
                    <a:bodyPr/>
                    <a:lstStyle/>
                    <a:p>
                      <a:pPr indent="0" lvl="0" marL="0" marR="0" rtl="0" algn="ctr">
                        <a:lnSpc>
                          <a:spcPct val="100000"/>
                        </a:lnSpc>
                        <a:spcBef>
                          <a:spcPts val="0"/>
                        </a:spcBef>
                        <a:spcAft>
                          <a:spcPts val="0"/>
                        </a:spcAft>
                        <a:buNone/>
                      </a:pPr>
                      <a:r>
                        <a:rPr lang="en">
                          <a:solidFill>
                            <a:srgbClr val="999999"/>
                          </a:solidFill>
                        </a:rPr>
                        <a:t>Length</a:t>
                      </a:r>
                      <a:endParaRPr>
                        <a:solidFill>
                          <a:srgbClr val="999999"/>
                        </a:solidFill>
                      </a:endParaRPr>
                    </a:p>
                  </a:txBody>
                  <a:tcPr marT="91425" marB="91425" marR="91425" marL="91425">
                    <a:solidFill>
                      <a:srgbClr val="D9D9D9"/>
                    </a:solidFill>
                  </a:tcPr>
                </a:tc>
              </a:tr>
              <a:tr h="396200">
                <a:tc>
                  <a:txBody>
                    <a:bodyPr/>
                    <a:lstStyle/>
                    <a:p>
                      <a:pPr indent="0" lvl="0" marL="0" rtl="0" algn="ctr">
                        <a:spcBef>
                          <a:spcPts val="0"/>
                        </a:spcBef>
                        <a:spcAft>
                          <a:spcPts val="0"/>
                        </a:spcAft>
                        <a:buNone/>
                      </a:pPr>
                      <a:r>
                        <a:rPr lang="en">
                          <a:solidFill>
                            <a:srgbClr val="999999"/>
                          </a:solidFill>
                        </a:rPr>
                        <a:t>ID number</a:t>
                      </a:r>
                      <a:endParaRPr>
                        <a:solidFill>
                          <a:srgbClr val="999999"/>
                        </a:solidFill>
                      </a:endParaRPr>
                    </a:p>
                  </a:txBody>
                  <a:tcPr marT="91425" marB="91425" marR="91425" marL="91425">
                    <a:solidFill>
                      <a:srgbClr val="D9D9D9"/>
                    </a:solidFill>
                  </a:tcPr>
                </a:tc>
                <a:tc>
                  <a:txBody>
                    <a:bodyPr/>
                    <a:lstStyle/>
                    <a:p>
                      <a:pPr indent="0" lvl="0" marL="0" rtl="0" algn="ctr">
                        <a:spcBef>
                          <a:spcPts val="0"/>
                        </a:spcBef>
                        <a:spcAft>
                          <a:spcPts val="0"/>
                        </a:spcAft>
                        <a:buNone/>
                      </a:pPr>
                      <a:r>
                        <a:rPr lang="en">
                          <a:solidFill>
                            <a:srgbClr val="999999"/>
                          </a:solidFill>
                        </a:rPr>
                        <a:t>Flags</a:t>
                      </a:r>
                      <a:endParaRPr>
                        <a:solidFill>
                          <a:srgbClr val="999999"/>
                        </a:solidFill>
                      </a:endParaRPr>
                    </a:p>
                  </a:txBody>
                  <a:tcPr marT="91425" marB="91425" marR="91425" marL="91425">
                    <a:solidFill>
                      <a:srgbClr val="D9D9D9"/>
                    </a:solidFill>
                  </a:tcPr>
                </a:tc>
              </a:tr>
              <a:tr h="396200">
                <a:tc>
                  <a:txBody>
                    <a:bodyPr/>
                    <a:lstStyle/>
                    <a:p>
                      <a:pPr indent="0" lvl="0" marL="0" rtl="0" algn="ctr">
                        <a:spcBef>
                          <a:spcPts val="0"/>
                        </a:spcBef>
                        <a:spcAft>
                          <a:spcPts val="0"/>
                        </a:spcAft>
                        <a:buNone/>
                      </a:pPr>
                      <a:r>
                        <a:rPr lang="en">
                          <a:solidFill>
                            <a:srgbClr val="999999"/>
                          </a:solidFill>
                        </a:rPr>
                        <a:t>Question count</a:t>
                      </a:r>
                      <a:endParaRPr>
                        <a:solidFill>
                          <a:srgbClr val="999999"/>
                        </a:solidFill>
                      </a:endParaRPr>
                    </a:p>
                  </a:txBody>
                  <a:tcPr marT="91425" marB="91425" marR="91425" marL="91425">
                    <a:solidFill>
                      <a:srgbClr val="D9D9D9"/>
                    </a:solidFill>
                  </a:tcPr>
                </a:tc>
                <a:tc>
                  <a:txBody>
                    <a:bodyPr/>
                    <a:lstStyle/>
                    <a:p>
                      <a:pPr indent="0" lvl="0" marL="0" rtl="0" algn="ctr">
                        <a:spcBef>
                          <a:spcPts val="0"/>
                        </a:spcBef>
                        <a:spcAft>
                          <a:spcPts val="0"/>
                        </a:spcAft>
                        <a:buNone/>
                      </a:pPr>
                      <a:r>
                        <a:rPr lang="en">
                          <a:solidFill>
                            <a:srgbClr val="999999"/>
                          </a:solidFill>
                        </a:rPr>
                        <a:t>Answer count</a:t>
                      </a:r>
                      <a:endParaRPr>
                        <a:solidFill>
                          <a:srgbClr val="999999"/>
                        </a:solidFill>
                      </a:endParaRPr>
                    </a:p>
                  </a:txBody>
                  <a:tcPr marT="91425" marB="91425" marR="91425" marL="91425">
                    <a:solidFill>
                      <a:srgbClr val="D9D9D9"/>
                    </a:solidFill>
                  </a:tcPr>
                </a:tc>
              </a:tr>
              <a:tr h="396200">
                <a:tc>
                  <a:txBody>
                    <a:bodyPr/>
                    <a:lstStyle/>
                    <a:p>
                      <a:pPr indent="0" lvl="0" marL="0" rtl="0" algn="ctr">
                        <a:spcBef>
                          <a:spcPts val="0"/>
                        </a:spcBef>
                        <a:spcAft>
                          <a:spcPts val="0"/>
                        </a:spcAft>
                        <a:buNone/>
                      </a:pPr>
                      <a:r>
                        <a:rPr lang="en">
                          <a:solidFill>
                            <a:srgbClr val="999999"/>
                          </a:solidFill>
                        </a:rPr>
                        <a:t>Authority count</a:t>
                      </a:r>
                      <a:endParaRPr>
                        <a:solidFill>
                          <a:srgbClr val="999999"/>
                        </a:solidFill>
                      </a:endParaRPr>
                    </a:p>
                  </a:txBody>
                  <a:tcPr marT="91425" marB="91425" marR="91425" marL="91425">
                    <a:solidFill>
                      <a:srgbClr val="D9D9D9"/>
                    </a:solidFill>
                  </a:tcPr>
                </a:tc>
                <a:tc>
                  <a:txBody>
                    <a:bodyPr/>
                    <a:lstStyle/>
                    <a:p>
                      <a:pPr indent="0" lvl="0" marL="0" rtl="0" algn="ctr">
                        <a:spcBef>
                          <a:spcPts val="0"/>
                        </a:spcBef>
                        <a:spcAft>
                          <a:spcPts val="0"/>
                        </a:spcAft>
                        <a:buNone/>
                      </a:pPr>
                      <a:r>
                        <a:rPr lang="en">
                          <a:solidFill>
                            <a:srgbClr val="999999"/>
                          </a:solidFill>
                        </a:rPr>
                        <a:t>Additional count</a:t>
                      </a:r>
                      <a:endParaRPr>
                        <a:solidFill>
                          <a:srgbClr val="999999"/>
                        </a:solidFill>
                      </a:endParaRPr>
                    </a:p>
                  </a:txBody>
                  <a:tcPr marT="91425" marB="91425" marR="91425" marL="91425">
                    <a:solidFill>
                      <a:srgbClr val="D9D9D9"/>
                    </a:solidFill>
                  </a:tcPr>
                </a:tc>
              </a:tr>
              <a:tr h="396200">
                <a:tc gridSpan="2">
                  <a:txBody>
                    <a:bodyPr/>
                    <a:lstStyle/>
                    <a:p>
                      <a:pPr indent="0" lvl="0" marL="0" rtl="0" algn="ctr">
                        <a:spcBef>
                          <a:spcPts val="0"/>
                        </a:spcBef>
                        <a:spcAft>
                          <a:spcPts val="0"/>
                        </a:spcAft>
                        <a:buNone/>
                      </a:pPr>
                      <a:r>
                        <a:rPr lang="en">
                          <a:solidFill>
                            <a:schemeClr val="dk1"/>
                          </a:solidFill>
                        </a:rPr>
                        <a:t>Question Records</a:t>
                      </a:r>
                      <a:endParaRPr>
                        <a:solidFill>
                          <a:schemeClr val="dk1"/>
                        </a:solidFill>
                      </a:endParaRPr>
                    </a:p>
                  </a:txBody>
                  <a:tcPr marT="91425" marB="91425" marR="91425" marL="91425"/>
                </a:tc>
                <a:tc hMerge="1"/>
              </a:tr>
              <a:tr h="396200">
                <a:tc gridSpan="2">
                  <a:txBody>
                    <a:bodyPr/>
                    <a:lstStyle/>
                    <a:p>
                      <a:pPr indent="0" lvl="0" marL="0" rtl="0" algn="ctr">
                        <a:spcBef>
                          <a:spcPts val="0"/>
                        </a:spcBef>
                        <a:spcAft>
                          <a:spcPts val="0"/>
                        </a:spcAft>
                        <a:buNone/>
                      </a:pPr>
                      <a:r>
                        <a:rPr lang="en">
                          <a:solidFill>
                            <a:schemeClr val="dk1"/>
                          </a:solidFill>
                        </a:rPr>
                        <a:t>Answer Records</a:t>
                      </a:r>
                      <a:endParaRPr>
                        <a:solidFill>
                          <a:schemeClr val="dk1"/>
                        </a:solidFill>
                      </a:endParaRPr>
                    </a:p>
                  </a:txBody>
                  <a:tcPr marT="91425" marB="91425" marR="91425" marL="91425"/>
                </a:tc>
                <a:tc hMerge="1"/>
              </a:tr>
              <a:tr h="396200">
                <a:tc gridSpan="2">
                  <a:txBody>
                    <a:bodyPr/>
                    <a:lstStyle/>
                    <a:p>
                      <a:pPr indent="0" lvl="0" marL="0" rtl="0" algn="ctr">
                        <a:spcBef>
                          <a:spcPts val="0"/>
                        </a:spcBef>
                        <a:spcAft>
                          <a:spcPts val="0"/>
                        </a:spcAft>
                        <a:buNone/>
                      </a:pPr>
                      <a:r>
                        <a:rPr lang="en">
                          <a:solidFill>
                            <a:schemeClr val="dk1"/>
                          </a:solidFill>
                        </a:rPr>
                        <a:t>Authority Records</a:t>
                      </a:r>
                      <a:endParaRPr>
                        <a:solidFill>
                          <a:schemeClr val="dk1"/>
                        </a:solidFill>
                      </a:endParaRPr>
                    </a:p>
                  </a:txBody>
                  <a:tcPr marT="91425" marB="91425" marR="91425" marL="91425"/>
                </a:tc>
                <a:tc hMerge="1"/>
              </a:tr>
              <a:tr h="396200">
                <a:tc gridSpan="2">
                  <a:txBody>
                    <a:bodyPr/>
                    <a:lstStyle/>
                    <a:p>
                      <a:pPr indent="0" lvl="0" marL="0" rtl="0" algn="ctr">
                        <a:spcBef>
                          <a:spcPts val="0"/>
                        </a:spcBef>
                        <a:spcAft>
                          <a:spcPts val="0"/>
                        </a:spcAft>
                        <a:buNone/>
                      </a:pPr>
                      <a:r>
                        <a:rPr lang="en">
                          <a:solidFill>
                            <a:schemeClr val="dk1"/>
                          </a:solidFill>
                        </a:rPr>
                        <a:t>Additional Records</a:t>
                      </a:r>
                      <a:endParaRPr>
                        <a:solidFill>
                          <a:schemeClr val="dk1"/>
                        </a:solidFill>
                      </a:endParaRPr>
                    </a:p>
                  </a:txBody>
                  <a:tcPr marT="91425" marB="91425" marR="91425" marL="91425"/>
                </a:tc>
                <a:tc hMerge="1"/>
              </a:tr>
            </a:tbl>
          </a:graphicData>
        </a:graphic>
      </p:graphicFrame>
      <p:sp>
        <p:nvSpPr>
          <p:cNvPr id="544" name="Google Shape;544;p41"/>
          <p:cNvSpPr txBox="1"/>
          <p:nvPr/>
        </p:nvSpPr>
        <p:spPr>
          <a:xfrm rot="5400000">
            <a:off x="7731600" y="3957800"/>
            <a:ext cx="1577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DNS Payload</a:t>
            </a:r>
            <a:endParaRPr/>
          </a:p>
        </p:txBody>
      </p:sp>
      <p:cxnSp>
        <p:nvCxnSpPr>
          <p:cNvPr id="545" name="Google Shape;545;p41"/>
          <p:cNvCxnSpPr>
            <a:stCxn id="544" idx="1"/>
          </p:cNvCxnSpPr>
          <p:nvPr/>
        </p:nvCxnSpPr>
        <p:spPr>
          <a:xfrm>
            <a:off x="8520150" y="3369350"/>
            <a:ext cx="0" cy="241200"/>
          </a:xfrm>
          <a:prstGeom prst="straightConnector1">
            <a:avLst/>
          </a:prstGeom>
          <a:noFill/>
          <a:ln cap="flat" cmpd="sng" w="9525">
            <a:solidFill>
              <a:schemeClr val="dk2"/>
            </a:solidFill>
            <a:prstDash val="solid"/>
            <a:round/>
            <a:headEnd len="med" w="med" type="none"/>
            <a:tailEnd len="med" w="med" type="none"/>
          </a:ln>
        </p:spPr>
      </p:cxnSp>
      <p:cxnSp>
        <p:nvCxnSpPr>
          <p:cNvPr id="546" name="Google Shape;546;p41"/>
          <p:cNvCxnSpPr>
            <a:endCxn id="544" idx="3"/>
          </p:cNvCxnSpPr>
          <p:nvPr/>
        </p:nvCxnSpPr>
        <p:spPr>
          <a:xfrm>
            <a:off x="8520150" y="4731050"/>
            <a:ext cx="0" cy="215400"/>
          </a:xfrm>
          <a:prstGeom prst="straightConnector1">
            <a:avLst/>
          </a:prstGeom>
          <a:noFill/>
          <a:ln cap="flat" cmpd="sng" w="9525">
            <a:solidFill>
              <a:schemeClr val="dk2"/>
            </a:solidFill>
            <a:prstDash val="solid"/>
            <a:round/>
            <a:headEnd len="med" w="med" type="none"/>
            <a:tailEnd len="med" w="med" type="none"/>
          </a:ln>
        </p:spPr>
      </p:cxnSp>
      <p:sp>
        <p:nvSpPr>
          <p:cNvPr id="547" name="Google Shape;547;p41"/>
          <p:cNvSpPr txBox="1"/>
          <p:nvPr/>
        </p:nvSpPr>
        <p:spPr>
          <a:xfrm rot="5400000">
            <a:off x="8230950" y="1466175"/>
            <a:ext cx="7938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UDP Header</a:t>
            </a:r>
            <a:endParaRPr/>
          </a:p>
        </p:txBody>
      </p:sp>
      <p:sp>
        <p:nvSpPr>
          <p:cNvPr id="548" name="Google Shape;548;p41"/>
          <p:cNvSpPr txBox="1"/>
          <p:nvPr/>
        </p:nvSpPr>
        <p:spPr>
          <a:xfrm rot="5400000">
            <a:off x="7920900" y="2553300"/>
            <a:ext cx="1198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DNS Header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1">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54" name="Google Shape;554;p4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 Record Format</a:t>
            </a:r>
            <a:endParaRPr/>
          </a:p>
        </p:txBody>
      </p:sp>
      <p:sp>
        <p:nvSpPr>
          <p:cNvPr id="555" name="Google Shape;555;p42"/>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Each record is a name-value pair with a type</a:t>
            </a:r>
            <a:endParaRPr/>
          </a:p>
          <a:p>
            <a:pPr indent="-317500" lvl="1" marL="914400" rtl="0" algn="l">
              <a:spcBef>
                <a:spcPts val="0"/>
              </a:spcBef>
              <a:spcAft>
                <a:spcPts val="0"/>
              </a:spcAft>
              <a:buSzPts val="1400"/>
              <a:buChar char="○"/>
            </a:pPr>
            <a:r>
              <a:rPr b="1" lang="en"/>
              <a:t>A (answer) type records</a:t>
            </a:r>
            <a:r>
              <a:rPr lang="en"/>
              <a:t>: Maps a domain name to an IPv4 address</a:t>
            </a:r>
            <a:endParaRPr/>
          </a:p>
          <a:p>
            <a:pPr indent="-317500" lvl="1" marL="914400" rtl="0" algn="l">
              <a:spcBef>
                <a:spcPts val="0"/>
              </a:spcBef>
              <a:spcAft>
                <a:spcPts val="0"/>
              </a:spcAft>
              <a:buSzPts val="1400"/>
              <a:buChar char="○"/>
            </a:pPr>
            <a:r>
              <a:rPr b="1" lang="en"/>
              <a:t>NS (name server) type records</a:t>
            </a:r>
            <a:r>
              <a:rPr lang="en"/>
              <a:t>: Designates another DNS server to handle a domain</a:t>
            </a:r>
            <a:endParaRPr/>
          </a:p>
          <a:p>
            <a:pPr indent="-317500" lvl="1" marL="914400" rtl="0" algn="l">
              <a:spcBef>
                <a:spcPts val="0"/>
              </a:spcBef>
              <a:spcAft>
                <a:spcPts val="0"/>
              </a:spcAft>
              <a:buSzPts val="1400"/>
              <a:buChar char="○"/>
            </a:pPr>
            <a:r>
              <a:rPr lang="en"/>
              <a:t>Other types exist, but these are the two you need to know for now</a:t>
            </a:r>
            <a:endParaRPr/>
          </a:p>
          <a:p>
            <a:pPr indent="-342900" lvl="0" marL="457200" rtl="0" algn="l">
              <a:spcBef>
                <a:spcPts val="0"/>
              </a:spcBef>
              <a:spcAft>
                <a:spcPts val="0"/>
              </a:spcAft>
              <a:buSzPts val="1800"/>
              <a:buChar char="●"/>
            </a:pPr>
            <a:r>
              <a:rPr lang="en"/>
              <a:t>Each record also contains some metadata</a:t>
            </a:r>
            <a:endParaRPr/>
          </a:p>
          <a:p>
            <a:pPr indent="-317500" lvl="1" marL="914400" rtl="0" algn="l">
              <a:spcBef>
                <a:spcPts val="0"/>
              </a:spcBef>
              <a:spcAft>
                <a:spcPts val="0"/>
              </a:spcAft>
              <a:buSzPts val="1400"/>
              <a:buChar char="○"/>
            </a:pPr>
            <a:r>
              <a:rPr b="1" lang="en"/>
              <a:t>Time to live</a:t>
            </a:r>
            <a:r>
              <a:rPr lang="en"/>
              <a:t> (</a:t>
            </a:r>
            <a:r>
              <a:rPr b="1" lang="en"/>
              <a:t>TTL</a:t>
            </a:r>
            <a:r>
              <a:rPr lang="en"/>
              <a:t>): How long the record can be cached</a:t>
            </a:r>
            <a:endParaRPr/>
          </a:p>
          <a:p>
            <a:pPr indent="-317500" lvl="1" marL="914400" rtl="0" algn="l">
              <a:spcBef>
                <a:spcPts val="0"/>
              </a:spcBef>
              <a:spcAft>
                <a:spcPts val="0"/>
              </a:spcAft>
              <a:buSzPts val="1400"/>
              <a:buChar char="○"/>
            </a:pPr>
            <a:r>
              <a:rPr lang="en"/>
              <a:t>Other metadata fields exist, but you don’t need to worry about them</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5">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4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 Record Types</a:t>
            </a:r>
            <a:endParaRPr/>
          </a:p>
        </p:txBody>
      </p:sp>
      <p:sp>
        <p:nvSpPr>
          <p:cNvPr id="561" name="Google Shape;561;p43"/>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Other record types you might encounter:</a:t>
            </a:r>
            <a:endParaRPr/>
          </a:p>
          <a:p>
            <a:pPr indent="-317500" lvl="1" marL="914400" rtl="0" algn="l">
              <a:spcBef>
                <a:spcPts val="0"/>
              </a:spcBef>
              <a:spcAft>
                <a:spcPts val="0"/>
              </a:spcAft>
              <a:buSzPts val="1400"/>
              <a:buChar char="○"/>
            </a:pPr>
            <a:r>
              <a:rPr b="1" lang="en"/>
              <a:t>AAAA</a:t>
            </a:r>
            <a:r>
              <a:rPr lang="en"/>
              <a:t> type record: Maps a domain name to an IPv6 address</a:t>
            </a:r>
            <a:endParaRPr/>
          </a:p>
          <a:p>
            <a:pPr indent="-317500" lvl="1" marL="914400" rtl="0" algn="l">
              <a:spcBef>
                <a:spcPts val="0"/>
              </a:spcBef>
              <a:spcAft>
                <a:spcPts val="0"/>
              </a:spcAft>
              <a:buSzPts val="1400"/>
              <a:buChar char="○"/>
            </a:pPr>
            <a:r>
              <a:rPr b="1" lang="en"/>
              <a:t>CNAME</a:t>
            </a:r>
            <a:r>
              <a:rPr lang="en"/>
              <a:t> type record: Maps one domain name to another domain name. Used for aliases.</a:t>
            </a:r>
            <a:endParaRPr/>
          </a:p>
          <a:p>
            <a:pPr indent="-317500" lvl="1" marL="914400" rtl="0" algn="l">
              <a:spcBef>
                <a:spcPts val="0"/>
              </a:spcBef>
              <a:spcAft>
                <a:spcPts val="0"/>
              </a:spcAft>
              <a:buSzPts val="1400"/>
              <a:buChar char="○"/>
            </a:pPr>
            <a:r>
              <a:rPr b="1" lang="en"/>
              <a:t>MX</a:t>
            </a:r>
            <a:r>
              <a:rPr lang="en"/>
              <a:t> type record: Used for mail servers</a:t>
            </a:r>
            <a:endParaRPr/>
          </a:p>
          <a:p>
            <a:pPr indent="-317500" lvl="1" marL="914400" rtl="0" algn="l">
              <a:spcBef>
                <a:spcPts val="0"/>
              </a:spcBef>
              <a:spcAft>
                <a:spcPts val="0"/>
              </a:spcAft>
              <a:buSzPts val="1400"/>
              <a:buChar char="○"/>
            </a:pPr>
            <a:r>
              <a:rPr b="1" lang="en"/>
              <a:t>SOA</a:t>
            </a:r>
            <a:r>
              <a:rPr lang="en"/>
              <a:t>: Contains information about the operator/administrator of a zone</a:t>
            </a:r>
            <a:endParaRPr/>
          </a:p>
          <a:p>
            <a:pPr indent="-317500" lvl="1" marL="914400" rtl="0" algn="l">
              <a:spcBef>
                <a:spcPts val="0"/>
              </a:spcBef>
              <a:spcAft>
                <a:spcPts val="0"/>
              </a:spcAft>
              <a:buSzPts val="1400"/>
              <a:buChar char="○"/>
            </a:pPr>
            <a:r>
              <a:rPr lang="en"/>
              <a:t>Other types for text records, cryptographic information, etc. exist too</a:t>
            </a:r>
            <a:endParaRPr/>
          </a:p>
          <a:p>
            <a:pPr indent="-317500" lvl="1" marL="914400" rtl="0" algn="l">
              <a:spcBef>
                <a:spcPts val="0"/>
              </a:spcBef>
              <a:spcAft>
                <a:spcPts val="0"/>
              </a:spcAft>
              <a:buSzPts val="1400"/>
              <a:buChar char="○"/>
            </a:pPr>
            <a:r>
              <a:rPr lang="en"/>
              <a:t>You don’t need to know about any of these</a:t>
            </a:r>
            <a:endParaRPr/>
          </a:p>
        </p:txBody>
      </p:sp>
      <p:sp>
        <p:nvSpPr>
          <p:cNvPr id="562" name="Google Shape;562;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1">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44"/>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Question section: What is being asked</a:t>
            </a:r>
            <a:endParaRPr/>
          </a:p>
          <a:p>
            <a:pPr indent="-317500" lvl="1" marL="914400" rtl="0" algn="l">
              <a:spcBef>
                <a:spcPts val="0"/>
              </a:spcBef>
              <a:spcAft>
                <a:spcPts val="0"/>
              </a:spcAft>
              <a:buSzPts val="1400"/>
              <a:buChar char="○"/>
            </a:pPr>
            <a:r>
              <a:rPr lang="en"/>
              <a:t>Included in both requests and responses</a:t>
            </a:r>
            <a:endParaRPr/>
          </a:p>
          <a:p>
            <a:pPr indent="-317500" lvl="1" marL="914400" rtl="0" algn="l">
              <a:spcBef>
                <a:spcPts val="0"/>
              </a:spcBef>
              <a:spcAft>
                <a:spcPts val="0"/>
              </a:spcAft>
              <a:buSzPts val="1400"/>
              <a:buChar char="○"/>
            </a:pPr>
            <a:r>
              <a:rPr lang="en"/>
              <a:t>Usually an A type record with the domain being looked up</a:t>
            </a:r>
            <a:endParaRPr/>
          </a:p>
          <a:p>
            <a:pPr indent="-342900" lvl="0" marL="457200" rtl="0" algn="l">
              <a:spcBef>
                <a:spcPts val="0"/>
              </a:spcBef>
              <a:spcAft>
                <a:spcPts val="0"/>
              </a:spcAft>
              <a:buSzPts val="1800"/>
              <a:buChar char="●"/>
            </a:pPr>
            <a:r>
              <a:rPr lang="en"/>
              <a:t>Answer section: A </a:t>
            </a:r>
            <a:r>
              <a:rPr b="1" lang="en"/>
              <a:t>direct response</a:t>
            </a:r>
            <a:r>
              <a:rPr lang="en"/>
              <a:t> to the question</a:t>
            </a:r>
            <a:endParaRPr/>
          </a:p>
          <a:p>
            <a:pPr indent="-317500" lvl="1" marL="914400" rtl="0" algn="l">
              <a:spcBef>
                <a:spcPts val="0"/>
              </a:spcBef>
              <a:spcAft>
                <a:spcPts val="0"/>
              </a:spcAft>
              <a:buSzPts val="1400"/>
              <a:buChar char="○"/>
            </a:pPr>
            <a:r>
              <a:rPr lang="en"/>
              <a:t>Empty in requests</a:t>
            </a:r>
            <a:endParaRPr/>
          </a:p>
          <a:p>
            <a:pPr indent="-317500" lvl="1" marL="914400" rtl="0" algn="l">
              <a:spcBef>
                <a:spcPts val="0"/>
              </a:spcBef>
              <a:spcAft>
                <a:spcPts val="0"/>
              </a:spcAft>
              <a:buSzPts val="1400"/>
              <a:buChar char="○"/>
            </a:pPr>
            <a:r>
              <a:rPr lang="en"/>
              <a:t>Used if the name server responds with the answer</a:t>
            </a:r>
            <a:endParaRPr/>
          </a:p>
          <a:p>
            <a:pPr indent="-317500" lvl="1" marL="914400" rtl="0" algn="l">
              <a:spcBef>
                <a:spcPts val="0"/>
              </a:spcBef>
              <a:spcAft>
                <a:spcPts val="0"/>
              </a:spcAft>
              <a:buSzPts val="1400"/>
              <a:buChar char="○"/>
            </a:pPr>
            <a:r>
              <a:rPr lang="en"/>
              <a:t>Usually an A type record with the IP address of the domain being looked up</a:t>
            </a:r>
            <a:endParaRPr/>
          </a:p>
        </p:txBody>
      </p:sp>
      <p:sp>
        <p:nvSpPr>
          <p:cNvPr id="568" name="Google Shape;568;p4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 Record Sections</a:t>
            </a:r>
            <a:endParaRPr/>
          </a:p>
        </p:txBody>
      </p:sp>
      <p:sp>
        <p:nvSpPr>
          <p:cNvPr id="569" name="Google Shape;569;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45"/>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Authority section: A </a:t>
            </a:r>
            <a:r>
              <a:rPr b="1" lang="en"/>
              <a:t>delegation of authority</a:t>
            </a:r>
            <a:r>
              <a:rPr lang="en"/>
              <a:t> for the question</a:t>
            </a:r>
            <a:endParaRPr/>
          </a:p>
          <a:p>
            <a:pPr indent="-317500" lvl="1" marL="914400" rtl="0" algn="l">
              <a:spcBef>
                <a:spcPts val="0"/>
              </a:spcBef>
              <a:spcAft>
                <a:spcPts val="0"/>
              </a:spcAft>
              <a:buSzPts val="1400"/>
              <a:buChar char="○"/>
            </a:pPr>
            <a:r>
              <a:rPr lang="en"/>
              <a:t>Empty in requests</a:t>
            </a:r>
            <a:endParaRPr/>
          </a:p>
          <a:p>
            <a:pPr indent="-317500" lvl="1" marL="914400" rtl="0" algn="l">
              <a:spcBef>
                <a:spcPts val="0"/>
              </a:spcBef>
              <a:spcAft>
                <a:spcPts val="0"/>
              </a:spcAft>
              <a:buSzPts val="1400"/>
              <a:buChar char="○"/>
            </a:pPr>
            <a:r>
              <a:rPr lang="en"/>
              <a:t>Used to direct the resolver to the next name server</a:t>
            </a:r>
            <a:endParaRPr/>
          </a:p>
          <a:p>
            <a:pPr indent="-317500" lvl="1" marL="914400" rtl="0" algn="l">
              <a:spcBef>
                <a:spcPts val="0"/>
              </a:spcBef>
              <a:spcAft>
                <a:spcPts val="0"/>
              </a:spcAft>
              <a:buSzPts val="1400"/>
              <a:buChar char="○"/>
            </a:pPr>
            <a:r>
              <a:rPr lang="en"/>
              <a:t>Usually an NS type record with the zone and </a:t>
            </a:r>
            <a:r>
              <a:rPr b="1" lang="en"/>
              <a:t>domain</a:t>
            </a:r>
            <a:r>
              <a:rPr lang="en"/>
              <a:t> of the child name server</a:t>
            </a:r>
            <a:endParaRPr/>
          </a:p>
          <a:p>
            <a:pPr indent="-342900" lvl="0" marL="457200" rtl="0" algn="l">
              <a:spcBef>
                <a:spcPts val="0"/>
              </a:spcBef>
              <a:spcAft>
                <a:spcPts val="0"/>
              </a:spcAft>
              <a:buSzPts val="1800"/>
              <a:buChar char="●"/>
            </a:pPr>
            <a:r>
              <a:rPr lang="en"/>
              <a:t>Additional section: Additional information to help with the response, sometimes called </a:t>
            </a:r>
            <a:r>
              <a:rPr b="1" lang="en"/>
              <a:t>glue records</a:t>
            </a:r>
            <a:endParaRPr b="1"/>
          </a:p>
          <a:p>
            <a:pPr indent="-317500" lvl="1" marL="914400" rtl="0" algn="l">
              <a:spcBef>
                <a:spcPts val="0"/>
              </a:spcBef>
              <a:spcAft>
                <a:spcPts val="0"/>
              </a:spcAft>
              <a:buSzPts val="1400"/>
              <a:buChar char="○"/>
            </a:pPr>
            <a:r>
              <a:rPr lang="en"/>
              <a:t>Empty in requests</a:t>
            </a:r>
            <a:endParaRPr/>
          </a:p>
          <a:p>
            <a:pPr indent="-317500" lvl="1" marL="914400" rtl="0" algn="l">
              <a:spcBef>
                <a:spcPts val="0"/>
              </a:spcBef>
              <a:spcAft>
                <a:spcPts val="0"/>
              </a:spcAft>
              <a:buSzPts val="1400"/>
              <a:buChar char="○"/>
            </a:pPr>
            <a:r>
              <a:rPr lang="en"/>
              <a:t>Provides helpful, </a:t>
            </a:r>
            <a:r>
              <a:rPr b="1" lang="en"/>
              <a:t>non-authoritative</a:t>
            </a:r>
            <a:r>
              <a:rPr lang="en"/>
              <a:t> records for domains</a:t>
            </a:r>
            <a:endParaRPr/>
          </a:p>
          <a:p>
            <a:pPr indent="-317500" lvl="1" marL="914400" rtl="0" algn="l">
              <a:spcBef>
                <a:spcPts val="0"/>
              </a:spcBef>
              <a:spcAft>
                <a:spcPts val="0"/>
              </a:spcAft>
              <a:buSzPts val="1400"/>
              <a:buChar char="○"/>
            </a:pPr>
            <a:r>
              <a:rPr lang="en"/>
              <a:t>Usually an A type record with the domain and IP address of the child name server (since the NS record provides the child name server as a </a:t>
            </a:r>
            <a:r>
              <a:rPr b="1" lang="en"/>
              <a:t>domain</a:t>
            </a:r>
            <a:r>
              <a:rPr lang="en"/>
              <a:t>)</a:t>
            </a:r>
            <a:endParaRPr/>
          </a:p>
        </p:txBody>
      </p:sp>
      <p:sp>
        <p:nvSpPr>
          <p:cNvPr id="575" name="Google Shape;575;p4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 Record Sections</a:t>
            </a:r>
            <a:endParaRPr/>
          </a:p>
        </p:txBody>
      </p:sp>
      <p:sp>
        <p:nvSpPr>
          <p:cNvPr id="576" name="Google Shape;576;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81" name="Google Shape;581;p4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 Record Caching</a:t>
            </a:r>
            <a:endParaRPr/>
          </a:p>
        </p:txBody>
      </p:sp>
      <p:sp>
        <p:nvSpPr>
          <p:cNvPr id="582" name="Google Shape;582;p46"/>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For performance, resolvers cache as many records as possible</a:t>
            </a:r>
            <a:endParaRPr/>
          </a:p>
          <a:p>
            <a:pPr indent="-317500" lvl="1" marL="914400" rtl="0" algn="l">
              <a:spcBef>
                <a:spcPts val="0"/>
              </a:spcBef>
              <a:spcAft>
                <a:spcPts val="0"/>
              </a:spcAft>
              <a:buSzPts val="1400"/>
              <a:buChar char="○"/>
            </a:pPr>
            <a:r>
              <a:rPr lang="en"/>
              <a:t>Records returned by name servers are cached until their time-to-live expires</a:t>
            </a:r>
            <a:endParaRPr/>
          </a:p>
          <a:p>
            <a:pPr indent="-317500" lvl="1" marL="914400" rtl="0" algn="l">
              <a:spcBef>
                <a:spcPts val="0"/>
              </a:spcBef>
              <a:spcAft>
                <a:spcPts val="0"/>
              </a:spcAft>
              <a:buSzPts val="1400"/>
              <a:buChar char="○"/>
            </a:pPr>
            <a:r>
              <a:rPr lang="en"/>
              <a:t>No DNS requests need to be sent if answer can be found in the cache</a:t>
            </a:r>
            <a:endParaRPr/>
          </a:p>
          <a:p>
            <a:pPr indent="-317500" lvl="1" marL="914400" rtl="0" algn="l">
              <a:spcBef>
                <a:spcPts val="0"/>
              </a:spcBef>
              <a:spcAft>
                <a:spcPts val="0"/>
              </a:spcAft>
              <a:buSzPts val="1400"/>
              <a:buChar char="○"/>
            </a:pPr>
            <a:r>
              <a:rPr lang="en"/>
              <a:t>Makes response time faster for clients</a:t>
            </a:r>
            <a:endParaRPr/>
          </a:p>
          <a:p>
            <a:pPr indent="-317500" lvl="1" marL="914400" rtl="0" algn="l">
              <a:spcBef>
                <a:spcPts val="0"/>
              </a:spcBef>
              <a:spcAft>
                <a:spcPts val="0"/>
              </a:spcAft>
              <a:buSzPts val="1400"/>
              <a:buChar char="○"/>
            </a:pPr>
            <a:r>
              <a:rPr lang="en"/>
              <a:t>Reduces load on name servers</a:t>
            </a:r>
            <a:endParaRPr/>
          </a:p>
        </p:txBody>
      </p:sp>
      <p:sp>
        <p:nvSpPr>
          <p:cNvPr id="583" name="Google Shape;583;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4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 Lookup Walkthrough</a:t>
            </a:r>
            <a:endParaRPr/>
          </a:p>
        </p:txBody>
      </p:sp>
      <p:sp>
        <p:nvSpPr>
          <p:cNvPr id="589" name="Google Shape;589;p47"/>
          <p:cNvSpPr txBox="1"/>
          <p:nvPr>
            <p:ph idx="1" type="body"/>
          </p:nvPr>
        </p:nvSpPr>
        <p:spPr>
          <a:xfrm>
            <a:off x="198500" y="1246825"/>
            <a:ext cx="5723100" cy="3765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latin typeface="Courier New"/>
                <a:ea typeface="Courier New"/>
                <a:cs typeface="Courier New"/>
                <a:sym typeface="Courier New"/>
              </a:rPr>
              <a:t>$ dig +norecurse eecs.berkeley.edu @198.41.0.4</a:t>
            </a:r>
            <a:endParaRPr b="1" sz="1200">
              <a:latin typeface="Courier New"/>
              <a:ea typeface="Courier New"/>
              <a:cs typeface="Courier New"/>
              <a:sym typeface="Courier New"/>
            </a:endParaRPr>
          </a:p>
        </p:txBody>
      </p:sp>
      <p:sp>
        <p:nvSpPr>
          <p:cNvPr id="590" name="Google Shape;590;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591" name="Google Shape;591;p47"/>
          <p:cNvGrpSpPr/>
          <p:nvPr/>
        </p:nvGrpSpPr>
        <p:grpSpPr>
          <a:xfrm>
            <a:off x="233450" y="1299475"/>
            <a:ext cx="7089250" cy="2011025"/>
            <a:chOff x="233450" y="1299475"/>
            <a:chExt cx="7089250" cy="2011025"/>
          </a:xfrm>
        </p:grpSpPr>
        <p:sp>
          <p:nvSpPr>
            <p:cNvPr id="592" name="Google Shape;592;p47"/>
            <p:cNvSpPr/>
            <p:nvPr/>
          </p:nvSpPr>
          <p:spPr>
            <a:xfrm>
              <a:off x="233450" y="1299475"/>
              <a:ext cx="1564200" cy="264600"/>
            </a:xfrm>
            <a:prstGeom prst="roundRect">
              <a:avLst>
                <a:gd fmla="val 16667" name="adj"/>
              </a:avLst>
            </a:prstGeom>
            <a:noFill/>
            <a:ln cap="flat" cmpd="sng" w="2857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47"/>
            <p:cNvSpPr/>
            <p:nvPr/>
          </p:nvSpPr>
          <p:spPr>
            <a:xfrm flipH="1">
              <a:off x="964919" y="1564075"/>
              <a:ext cx="3731831" cy="723752"/>
            </a:xfrm>
            <a:custGeom>
              <a:rect b="b" l="l" r="r" t="t"/>
              <a:pathLst>
                <a:path extrusionOk="0" h="35172" w="75635">
                  <a:moveTo>
                    <a:pt x="75635" y="0"/>
                  </a:moveTo>
                  <a:lnTo>
                    <a:pt x="75635" y="35172"/>
                  </a:lnTo>
                  <a:lnTo>
                    <a:pt x="0" y="35172"/>
                  </a:lnTo>
                </a:path>
              </a:pathLst>
            </a:custGeom>
            <a:noFill/>
            <a:ln cap="flat" cmpd="sng" w="19050">
              <a:solidFill>
                <a:srgbClr val="E69138"/>
              </a:solidFill>
              <a:prstDash val="solid"/>
              <a:round/>
              <a:headEnd len="med" w="med" type="triangle"/>
              <a:tailEnd len="med" w="med" type="none"/>
            </a:ln>
          </p:spPr>
        </p:sp>
        <p:sp>
          <p:nvSpPr>
            <p:cNvPr id="594" name="Google Shape;594;p47"/>
            <p:cNvSpPr txBox="1"/>
            <p:nvPr/>
          </p:nvSpPr>
          <p:spPr>
            <a:xfrm>
              <a:off x="4572000" y="1833000"/>
              <a:ext cx="2750700" cy="14775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You can try this at home! Use the </a:t>
              </a:r>
              <a:r>
                <a:rPr b="1" lang="en">
                  <a:latin typeface="Courier New"/>
                  <a:ea typeface="Courier New"/>
                  <a:cs typeface="Courier New"/>
                  <a:sym typeface="Courier New"/>
                </a:rPr>
                <a:t>dig</a:t>
              </a:r>
              <a:r>
                <a:rPr lang="en"/>
                <a:t> utility in your terminal, and remember to set the </a:t>
              </a:r>
              <a:r>
                <a:rPr b="1" lang="en">
                  <a:latin typeface="Courier New"/>
                  <a:ea typeface="Courier New"/>
                  <a:cs typeface="Courier New"/>
                  <a:sym typeface="Courier New"/>
                </a:rPr>
                <a:t>+norecurse</a:t>
              </a:r>
              <a:r>
                <a:rPr lang="en"/>
                <a:t> flag so you can traverse the name server hierarchy yourself.</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4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 Lookup Walkthrough</a:t>
            </a:r>
            <a:endParaRPr/>
          </a:p>
        </p:txBody>
      </p:sp>
      <p:sp>
        <p:nvSpPr>
          <p:cNvPr id="600" name="Google Shape;600;p48"/>
          <p:cNvSpPr txBox="1"/>
          <p:nvPr>
            <p:ph idx="1" type="body"/>
          </p:nvPr>
        </p:nvSpPr>
        <p:spPr>
          <a:xfrm>
            <a:off x="198500" y="1246825"/>
            <a:ext cx="5723100" cy="3765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latin typeface="Courier New"/>
                <a:ea typeface="Courier New"/>
                <a:cs typeface="Courier New"/>
                <a:sym typeface="Courier New"/>
              </a:rPr>
              <a:t>$ dig +norecurse eecs.berkeley.edu @198.41.0.4</a:t>
            </a:r>
            <a:endParaRPr b="1" sz="1200">
              <a:latin typeface="Courier New"/>
              <a:ea typeface="Courier New"/>
              <a:cs typeface="Courier New"/>
              <a:sym typeface="Courier New"/>
            </a:endParaRPr>
          </a:p>
        </p:txBody>
      </p:sp>
      <p:sp>
        <p:nvSpPr>
          <p:cNvPr id="601" name="Google Shape;601;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602" name="Google Shape;602;p48"/>
          <p:cNvGrpSpPr/>
          <p:nvPr/>
        </p:nvGrpSpPr>
        <p:grpSpPr>
          <a:xfrm>
            <a:off x="1813050" y="1299475"/>
            <a:ext cx="6388550" cy="1500500"/>
            <a:chOff x="1813050" y="1299475"/>
            <a:chExt cx="6388550" cy="1500500"/>
          </a:xfrm>
        </p:grpSpPr>
        <p:sp>
          <p:nvSpPr>
            <p:cNvPr id="603" name="Google Shape;603;p48"/>
            <p:cNvSpPr/>
            <p:nvPr/>
          </p:nvSpPr>
          <p:spPr>
            <a:xfrm>
              <a:off x="1813050" y="1299475"/>
              <a:ext cx="1649700" cy="264600"/>
            </a:xfrm>
            <a:prstGeom prst="roundRect">
              <a:avLst>
                <a:gd fmla="val 16667" name="adj"/>
              </a:avLst>
            </a:prstGeom>
            <a:noFill/>
            <a:ln cap="flat" cmpd="sng" w="2857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48"/>
            <p:cNvSpPr/>
            <p:nvPr/>
          </p:nvSpPr>
          <p:spPr>
            <a:xfrm flipH="1">
              <a:off x="2645670" y="1564075"/>
              <a:ext cx="3521755" cy="723752"/>
            </a:xfrm>
            <a:custGeom>
              <a:rect b="b" l="l" r="r" t="t"/>
              <a:pathLst>
                <a:path extrusionOk="0" h="35172" w="75635">
                  <a:moveTo>
                    <a:pt x="75635" y="0"/>
                  </a:moveTo>
                  <a:lnTo>
                    <a:pt x="75635" y="35172"/>
                  </a:lnTo>
                  <a:lnTo>
                    <a:pt x="0" y="35172"/>
                  </a:lnTo>
                </a:path>
              </a:pathLst>
            </a:custGeom>
            <a:noFill/>
            <a:ln cap="flat" cmpd="sng" w="19050">
              <a:solidFill>
                <a:srgbClr val="E69138"/>
              </a:solidFill>
              <a:prstDash val="solid"/>
              <a:round/>
              <a:headEnd len="med" w="med" type="triangle"/>
              <a:tailEnd len="med" w="med" type="none"/>
            </a:ln>
          </p:spPr>
        </p:sp>
        <p:sp>
          <p:nvSpPr>
            <p:cNvPr id="605" name="Google Shape;605;p48"/>
            <p:cNvSpPr txBox="1"/>
            <p:nvPr/>
          </p:nvSpPr>
          <p:spPr>
            <a:xfrm>
              <a:off x="5450900" y="1968675"/>
              <a:ext cx="2750700" cy="831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We are performing a DNS lookup for the IP address of </a:t>
              </a:r>
              <a:r>
                <a:rPr b="1" lang="en">
                  <a:latin typeface="Courier New"/>
                  <a:ea typeface="Courier New"/>
                  <a:cs typeface="Courier New"/>
                  <a:sym typeface="Courier New"/>
                </a:rPr>
                <a:t>eecs.berkeley.edu</a:t>
              </a:r>
              <a:r>
                <a:rPr lang="en"/>
                <a:t>.</a:t>
              </a:r>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4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 Lookup Walkthrough</a:t>
            </a:r>
            <a:endParaRPr/>
          </a:p>
        </p:txBody>
      </p:sp>
      <p:sp>
        <p:nvSpPr>
          <p:cNvPr id="611" name="Google Shape;611;p49"/>
          <p:cNvSpPr txBox="1"/>
          <p:nvPr>
            <p:ph idx="1" type="body"/>
          </p:nvPr>
        </p:nvSpPr>
        <p:spPr>
          <a:xfrm>
            <a:off x="198500" y="1246825"/>
            <a:ext cx="5723100" cy="3765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latin typeface="Courier New"/>
                <a:ea typeface="Courier New"/>
                <a:cs typeface="Courier New"/>
                <a:sym typeface="Courier New"/>
              </a:rPr>
              <a:t>$ dig +norecurse eecs.berkeley.edu @198.41.0.4</a:t>
            </a:r>
            <a:endParaRPr b="1" sz="1200">
              <a:latin typeface="Courier New"/>
              <a:ea typeface="Courier New"/>
              <a:cs typeface="Courier New"/>
              <a:sym typeface="Courier New"/>
            </a:endParaRPr>
          </a:p>
        </p:txBody>
      </p:sp>
      <p:sp>
        <p:nvSpPr>
          <p:cNvPr id="612" name="Google Shape;612;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613" name="Google Shape;613;p49"/>
          <p:cNvGrpSpPr/>
          <p:nvPr/>
        </p:nvGrpSpPr>
        <p:grpSpPr>
          <a:xfrm>
            <a:off x="3439375" y="1299475"/>
            <a:ext cx="5306925" cy="1262100"/>
            <a:chOff x="3439375" y="1299475"/>
            <a:chExt cx="5306925" cy="1262100"/>
          </a:xfrm>
        </p:grpSpPr>
        <p:sp>
          <p:nvSpPr>
            <p:cNvPr id="614" name="Google Shape;614;p49"/>
            <p:cNvSpPr/>
            <p:nvPr/>
          </p:nvSpPr>
          <p:spPr>
            <a:xfrm>
              <a:off x="3439375" y="1299475"/>
              <a:ext cx="1132500" cy="264600"/>
            </a:xfrm>
            <a:prstGeom prst="roundRect">
              <a:avLst>
                <a:gd fmla="val 16667" name="adj"/>
              </a:avLst>
            </a:prstGeom>
            <a:noFill/>
            <a:ln cap="flat" cmpd="sng" w="2857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15" name="Google Shape;615;p49"/>
            <p:cNvCxnSpPr>
              <a:endCxn id="614" idx="3"/>
            </p:cNvCxnSpPr>
            <p:nvPr/>
          </p:nvCxnSpPr>
          <p:spPr>
            <a:xfrm rot="10800000">
              <a:off x="4571875" y="1431775"/>
              <a:ext cx="1743000" cy="0"/>
            </a:xfrm>
            <a:prstGeom prst="straightConnector1">
              <a:avLst/>
            </a:prstGeom>
            <a:noFill/>
            <a:ln cap="flat" cmpd="sng" w="19050">
              <a:solidFill>
                <a:srgbClr val="E69138"/>
              </a:solidFill>
              <a:prstDash val="solid"/>
              <a:round/>
              <a:headEnd len="med" w="med" type="none"/>
              <a:tailEnd len="med" w="med" type="triangle"/>
            </a:ln>
          </p:spPr>
        </p:cxnSp>
        <p:sp>
          <p:nvSpPr>
            <p:cNvPr id="616" name="Google Shape;616;p49"/>
            <p:cNvSpPr txBox="1"/>
            <p:nvPr/>
          </p:nvSpPr>
          <p:spPr>
            <a:xfrm>
              <a:off x="5995600" y="1299475"/>
              <a:ext cx="2750700" cy="12621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Clr>
                  <a:schemeClr val="dk1"/>
                </a:buClr>
                <a:buSzPts val="1100"/>
                <a:buFont typeface="Arial"/>
                <a:buNone/>
              </a:pPr>
              <a:r>
                <a:rPr lang="en">
                  <a:solidFill>
                    <a:schemeClr val="dk1"/>
                  </a:solidFill>
                </a:rPr>
                <a:t>DNS queries always start with a request to the root name server. The IP address of the root name server is usually hard-coded into recursive resolvers.</a:t>
              </a:r>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0" name="Shape 620"/>
        <p:cNvGrpSpPr/>
        <p:nvPr/>
      </p:nvGrpSpPr>
      <p:grpSpPr>
        <a:xfrm>
          <a:off x="0" y="0"/>
          <a:ext cx="0" cy="0"/>
          <a:chOff x="0" y="0"/>
          <a:chExt cx="0" cy="0"/>
        </a:xfrm>
      </p:grpSpPr>
      <p:sp>
        <p:nvSpPr>
          <p:cNvPr id="621" name="Google Shape;621;p5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 Lookup Walkthrough</a:t>
            </a:r>
            <a:endParaRPr/>
          </a:p>
        </p:txBody>
      </p:sp>
      <p:sp>
        <p:nvSpPr>
          <p:cNvPr id="622" name="Google Shape;622;p50"/>
          <p:cNvSpPr txBox="1"/>
          <p:nvPr>
            <p:ph idx="1" type="body"/>
          </p:nvPr>
        </p:nvSpPr>
        <p:spPr>
          <a:xfrm>
            <a:off x="198500" y="1246825"/>
            <a:ext cx="6138000" cy="3765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dig +norecurse eecs.berkeley.edu @198.41.0.4</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Got answer:</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-&gt;&gt;HEADER&lt;&lt;- opcode: QUERY, status: NOERROR, id: 26114</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flags: qr; QUERY: 1, ANSWER: 0, AUTHORITY: 13, ADDITIONAL: 27</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QUESTION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;eecs.berkeley.edu.          IN   A</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AUTHORITY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edu.            	172800   IN   NS   a.edu-servers.net.</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edu.            	172800   IN   NS   b.edu-servers.net.</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edu.            	172800   IN   NS   c.edu-servers.net.</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ADDITIONAL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a.edu-servers.net.  172800   IN   A	192.5.6.30</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b.edu-servers.net.  172800   IN   A	192.33.14.30</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c.edu-servers.net.  172800   IN   A	192.26.92.30</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100">
              <a:latin typeface="Courier New"/>
              <a:ea typeface="Courier New"/>
              <a:cs typeface="Courier New"/>
              <a:sym typeface="Courier New"/>
            </a:endParaRPr>
          </a:p>
        </p:txBody>
      </p:sp>
      <p:sp>
        <p:nvSpPr>
          <p:cNvPr id="623" name="Google Shape;623;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624" name="Google Shape;624;p50"/>
          <p:cNvGrpSpPr/>
          <p:nvPr/>
        </p:nvGrpSpPr>
        <p:grpSpPr>
          <a:xfrm>
            <a:off x="198500" y="1665225"/>
            <a:ext cx="8578600" cy="3112500"/>
            <a:chOff x="198500" y="1665225"/>
            <a:chExt cx="8578600" cy="3112500"/>
          </a:xfrm>
        </p:grpSpPr>
        <p:sp>
          <p:nvSpPr>
            <p:cNvPr id="625" name="Google Shape;625;p50"/>
            <p:cNvSpPr/>
            <p:nvPr/>
          </p:nvSpPr>
          <p:spPr>
            <a:xfrm>
              <a:off x="198500" y="1665225"/>
              <a:ext cx="6073200" cy="3112500"/>
            </a:xfrm>
            <a:prstGeom prst="roundRect">
              <a:avLst>
                <a:gd fmla="val 4102" name="adj"/>
              </a:avLst>
            </a:prstGeom>
            <a:noFill/>
            <a:ln cap="flat" cmpd="sng" w="2857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26" name="Google Shape;626;p50"/>
            <p:cNvCxnSpPr>
              <a:endCxn id="625" idx="3"/>
            </p:cNvCxnSpPr>
            <p:nvPr/>
          </p:nvCxnSpPr>
          <p:spPr>
            <a:xfrm rot="10800000">
              <a:off x="6271700" y="3221475"/>
              <a:ext cx="816900" cy="0"/>
            </a:xfrm>
            <a:prstGeom prst="straightConnector1">
              <a:avLst/>
            </a:prstGeom>
            <a:noFill/>
            <a:ln cap="flat" cmpd="sng" w="19050">
              <a:solidFill>
                <a:srgbClr val="E69138"/>
              </a:solidFill>
              <a:prstDash val="solid"/>
              <a:round/>
              <a:headEnd len="med" w="med" type="none"/>
              <a:tailEnd len="med" w="med" type="triangle"/>
            </a:ln>
          </p:spPr>
        </p:cxnSp>
        <p:sp>
          <p:nvSpPr>
            <p:cNvPr id="627" name="Google Shape;627;p50"/>
            <p:cNvSpPr txBox="1"/>
            <p:nvPr/>
          </p:nvSpPr>
          <p:spPr>
            <a:xfrm>
              <a:off x="7018800" y="2805825"/>
              <a:ext cx="1758300" cy="831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Here’s the DNS response from the root name server.</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5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 Lookup Walkthrough</a:t>
            </a:r>
            <a:endParaRPr/>
          </a:p>
        </p:txBody>
      </p:sp>
      <p:sp>
        <p:nvSpPr>
          <p:cNvPr id="633" name="Google Shape;633;p51"/>
          <p:cNvSpPr txBox="1"/>
          <p:nvPr>
            <p:ph idx="1" type="body"/>
          </p:nvPr>
        </p:nvSpPr>
        <p:spPr>
          <a:xfrm>
            <a:off x="198500" y="1246825"/>
            <a:ext cx="6112200" cy="3765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latin typeface="Courier New"/>
                <a:ea typeface="Courier New"/>
                <a:cs typeface="Courier New"/>
                <a:sym typeface="Courier New"/>
              </a:rPr>
              <a:t>$ dig +norecurse eecs.berkeley.edu @198.41.0.4</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Got answer:</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-&gt;&gt;HEADER&lt;&lt;- opcode: QUERY, status: NOERROR, id: 26114</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flags: qr; QUERY: 1, ANSWER: 0, AUTHORITY: 13, ADDITIONAL: 27</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QUESTION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;eecs.berkeley.edu.          IN   A</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AUTHORITY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edu.            	172800   IN   NS   a.edu-servers.net.</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edu.            	172800   IN   NS   b.edu-servers.net.</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edu.            	172800   IN   NS   c.edu-servers.net.</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ADDITIONAL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a.edu-servers.net.  172800   IN   A	192.5.6.30</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b.edu-servers.net.  172800   IN   A	192.33.14.30</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c.edu-servers.net.  172800   IN   A	192.26.92.30</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a:t>
            </a:r>
            <a:endParaRPr b="1" sz="1200">
              <a:latin typeface="Courier New"/>
              <a:ea typeface="Courier New"/>
              <a:cs typeface="Courier New"/>
              <a:sym typeface="Courier New"/>
            </a:endParaRPr>
          </a:p>
        </p:txBody>
      </p:sp>
      <p:sp>
        <p:nvSpPr>
          <p:cNvPr id="634" name="Google Shape;634;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635" name="Google Shape;635;p51"/>
          <p:cNvGrpSpPr/>
          <p:nvPr/>
        </p:nvGrpSpPr>
        <p:grpSpPr>
          <a:xfrm>
            <a:off x="248825" y="1807475"/>
            <a:ext cx="8536375" cy="400200"/>
            <a:chOff x="248825" y="1807475"/>
            <a:chExt cx="8536375" cy="400200"/>
          </a:xfrm>
        </p:grpSpPr>
        <p:sp>
          <p:nvSpPr>
            <p:cNvPr id="636" name="Google Shape;636;p51"/>
            <p:cNvSpPr/>
            <p:nvPr/>
          </p:nvSpPr>
          <p:spPr>
            <a:xfrm>
              <a:off x="248825" y="1810775"/>
              <a:ext cx="5929500" cy="393600"/>
            </a:xfrm>
            <a:prstGeom prst="roundRect">
              <a:avLst>
                <a:gd fmla="val 16667" name="adj"/>
              </a:avLst>
            </a:prstGeom>
            <a:noFill/>
            <a:ln cap="flat" cmpd="sng" w="2857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37" name="Google Shape;637;p51"/>
            <p:cNvCxnSpPr>
              <a:endCxn id="636" idx="3"/>
            </p:cNvCxnSpPr>
            <p:nvPr/>
          </p:nvCxnSpPr>
          <p:spPr>
            <a:xfrm rot="10800000">
              <a:off x="6178325" y="2007575"/>
              <a:ext cx="816900" cy="0"/>
            </a:xfrm>
            <a:prstGeom prst="straightConnector1">
              <a:avLst/>
            </a:prstGeom>
            <a:noFill/>
            <a:ln cap="flat" cmpd="sng" w="19050">
              <a:solidFill>
                <a:srgbClr val="E69138"/>
              </a:solidFill>
              <a:prstDash val="solid"/>
              <a:round/>
              <a:headEnd len="med" w="med" type="none"/>
              <a:tailEnd len="med" w="med" type="triangle"/>
            </a:ln>
          </p:spPr>
        </p:cxnSp>
        <p:sp>
          <p:nvSpPr>
            <p:cNvPr id="638" name="Google Shape;638;p51"/>
            <p:cNvSpPr txBox="1"/>
            <p:nvPr/>
          </p:nvSpPr>
          <p:spPr>
            <a:xfrm>
              <a:off x="6664800" y="1807475"/>
              <a:ext cx="2120400" cy="4002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Here’s the DNS header.</a:t>
              </a:r>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5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 Lookup Walkthrough</a:t>
            </a:r>
            <a:endParaRPr/>
          </a:p>
        </p:txBody>
      </p:sp>
      <p:sp>
        <p:nvSpPr>
          <p:cNvPr id="644" name="Google Shape;644;p52"/>
          <p:cNvSpPr txBox="1"/>
          <p:nvPr>
            <p:ph idx="1" type="body"/>
          </p:nvPr>
        </p:nvSpPr>
        <p:spPr>
          <a:xfrm>
            <a:off x="198500" y="1246825"/>
            <a:ext cx="6221100" cy="3765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dig +norecurse eecs.berkeley.edu @198.41.0.4</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Got answer:</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-&gt;&gt;HEADER&lt;&lt;- opcode: QUERY, status: NOERROR, id: 26114</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flags: qr; QUERY: 1, ANSWER: 0, AUTHORITY: 13, ADDITIONAL: 27</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QUESTION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;eecs.berkeley.edu.          IN   A</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AUTHORITY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edu.            	172800   IN   NS   a.edu-servers.net.</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edu.            	172800   IN   NS   b.edu-servers.net.</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edu.            	172800   IN   NS   c.edu-servers.net.</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ADDITIONAL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a.edu-servers.net.  172800   IN   A	192.5.6.30</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b.edu-servers.net.  172800   IN   A	192.33.14.30</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c.edu-servers.net.  172800   IN   A	192.26.92.30</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100">
              <a:latin typeface="Courier New"/>
              <a:ea typeface="Courier New"/>
              <a:cs typeface="Courier New"/>
              <a:sym typeface="Courier New"/>
            </a:endParaRPr>
          </a:p>
        </p:txBody>
      </p:sp>
      <p:sp>
        <p:nvSpPr>
          <p:cNvPr id="645" name="Google Shape;645;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646" name="Google Shape;646;p52"/>
          <p:cNvGrpSpPr/>
          <p:nvPr/>
        </p:nvGrpSpPr>
        <p:grpSpPr>
          <a:xfrm>
            <a:off x="4661175" y="1625825"/>
            <a:ext cx="4085350" cy="831300"/>
            <a:chOff x="4661175" y="1625825"/>
            <a:chExt cx="4085350" cy="831300"/>
          </a:xfrm>
        </p:grpSpPr>
        <p:sp>
          <p:nvSpPr>
            <p:cNvPr id="647" name="Google Shape;647;p52"/>
            <p:cNvSpPr/>
            <p:nvPr/>
          </p:nvSpPr>
          <p:spPr>
            <a:xfrm>
              <a:off x="4661175" y="1828625"/>
              <a:ext cx="894900" cy="210000"/>
            </a:xfrm>
            <a:prstGeom prst="roundRect">
              <a:avLst>
                <a:gd fmla="val 16667" name="adj"/>
              </a:avLst>
            </a:prstGeom>
            <a:noFill/>
            <a:ln cap="flat" cmpd="sng" w="2857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48" name="Google Shape;648;p52"/>
            <p:cNvCxnSpPr/>
            <p:nvPr/>
          </p:nvCxnSpPr>
          <p:spPr>
            <a:xfrm rot="10800000">
              <a:off x="5556075" y="1933625"/>
              <a:ext cx="1563900" cy="0"/>
            </a:xfrm>
            <a:prstGeom prst="straightConnector1">
              <a:avLst/>
            </a:prstGeom>
            <a:noFill/>
            <a:ln cap="flat" cmpd="sng" w="19050">
              <a:solidFill>
                <a:srgbClr val="E69138"/>
              </a:solidFill>
              <a:prstDash val="solid"/>
              <a:round/>
              <a:headEnd len="med" w="med" type="none"/>
              <a:tailEnd len="med" w="med" type="triangle"/>
            </a:ln>
          </p:spPr>
        </p:cxnSp>
        <p:sp>
          <p:nvSpPr>
            <p:cNvPr id="649" name="Google Shape;649;p52"/>
            <p:cNvSpPr txBox="1"/>
            <p:nvPr/>
          </p:nvSpPr>
          <p:spPr>
            <a:xfrm>
              <a:off x="6894325" y="1625825"/>
              <a:ext cx="1852200" cy="831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Here’s the 16-bit ID number in the DNS header.</a:t>
              </a:r>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53"/>
          <p:cNvSpPr txBox="1"/>
          <p:nvPr>
            <p:ph idx="1" type="body"/>
          </p:nvPr>
        </p:nvSpPr>
        <p:spPr>
          <a:xfrm>
            <a:off x="198500" y="1246825"/>
            <a:ext cx="6120000" cy="3765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dig +norecurse eecs.berkeley.edu @198.41.0.4</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Got answer:</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-&gt;&gt;HEADER&lt;&lt;- opcode: QUERY, status: NOERROR, id: 26114</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flags: qr; QUERY: 1, ANSWER: 0, AUTHORITY: 13, ADDITIONAL: 27</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QUESTION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;eecs.berkeley.edu.          IN   A</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AUTHORITY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edu.            	172800   IN   NS   a.edu-servers.net.</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edu.            	172800   IN   NS   b.edu-servers.net.</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edu.            	172800   IN   NS   c.edu-servers.net.</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ADDITIONAL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a.edu-servers.net.  172800   IN   A	192.5.6.30</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b.edu-servers.net.  172800   IN   A	192.33.14.30</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c.edu-servers.net.  172800   IN   A	192.26.92.30</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a:t>
            </a:r>
            <a:endParaRPr b="1" sz="1100">
              <a:latin typeface="Courier New"/>
              <a:ea typeface="Courier New"/>
              <a:cs typeface="Courier New"/>
              <a:sym typeface="Courier New"/>
            </a:endParaRPr>
          </a:p>
        </p:txBody>
      </p:sp>
      <p:sp>
        <p:nvSpPr>
          <p:cNvPr id="655" name="Google Shape;655;p5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 Lookup Walkthrough</a:t>
            </a:r>
            <a:endParaRPr/>
          </a:p>
        </p:txBody>
      </p:sp>
      <p:sp>
        <p:nvSpPr>
          <p:cNvPr id="656" name="Google Shape;656;p5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657" name="Google Shape;657;p53"/>
          <p:cNvGrpSpPr/>
          <p:nvPr/>
        </p:nvGrpSpPr>
        <p:grpSpPr>
          <a:xfrm>
            <a:off x="521225" y="1999825"/>
            <a:ext cx="7563700" cy="1981850"/>
            <a:chOff x="521225" y="1999825"/>
            <a:chExt cx="7563700" cy="1981850"/>
          </a:xfrm>
        </p:grpSpPr>
        <p:sp>
          <p:nvSpPr>
            <p:cNvPr id="658" name="Google Shape;658;p53"/>
            <p:cNvSpPr/>
            <p:nvPr/>
          </p:nvSpPr>
          <p:spPr>
            <a:xfrm flipH="1">
              <a:off x="980347" y="2250275"/>
              <a:ext cx="5128053" cy="1453659"/>
            </a:xfrm>
            <a:custGeom>
              <a:rect b="b" l="l" r="r" t="t"/>
              <a:pathLst>
                <a:path extrusionOk="0" h="35172" w="75635">
                  <a:moveTo>
                    <a:pt x="75635" y="0"/>
                  </a:moveTo>
                  <a:lnTo>
                    <a:pt x="75635" y="35172"/>
                  </a:lnTo>
                  <a:lnTo>
                    <a:pt x="0" y="35172"/>
                  </a:lnTo>
                </a:path>
              </a:pathLst>
            </a:custGeom>
            <a:noFill/>
            <a:ln cap="flat" cmpd="sng" w="19050">
              <a:solidFill>
                <a:srgbClr val="E69138"/>
              </a:solidFill>
              <a:prstDash val="solid"/>
              <a:round/>
              <a:headEnd len="med" w="med" type="triangle"/>
              <a:tailEnd len="med" w="med" type="none"/>
            </a:ln>
          </p:spPr>
        </p:sp>
        <p:sp>
          <p:nvSpPr>
            <p:cNvPr id="659" name="Google Shape;659;p53"/>
            <p:cNvSpPr/>
            <p:nvPr/>
          </p:nvSpPr>
          <p:spPr>
            <a:xfrm>
              <a:off x="521225" y="1999825"/>
              <a:ext cx="957300" cy="210000"/>
            </a:xfrm>
            <a:prstGeom prst="roundRect">
              <a:avLst>
                <a:gd fmla="val 16667" name="adj"/>
              </a:avLst>
            </a:prstGeom>
            <a:noFill/>
            <a:ln cap="flat" cmpd="sng" w="2857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53"/>
            <p:cNvSpPr txBox="1"/>
            <p:nvPr/>
          </p:nvSpPr>
          <p:spPr>
            <a:xfrm>
              <a:off x="5797125" y="3366075"/>
              <a:ext cx="22878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Here are the flags in the DNS header.</a:t>
              </a:r>
              <a:endParaRPr/>
            </a:p>
          </p:txBody>
        </p:sp>
      </p:grpSp>
      <p:grpSp>
        <p:nvGrpSpPr>
          <p:cNvPr id="661" name="Google Shape;661;p53"/>
          <p:cNvGrpSpPr/>
          <p:nvPr/>
        </p:nvGrpSpPr>
        <p:grpSpPr>
          <a:xfrm>
            <a:off x="1517375" y="1999825"/>
            <a:ext cx="7267850" cy="1187525"/>
            <a:chOff x="1517375" y="1999825"/>
            <a:chExt cx="7267850" cy="1187525"/>
          </a:xfrm>
        </p:grpSpPr>
        <p:sp>
          <p:nvSpPr>
            <p:cNvPr id="662" name="Google Shape;662;p53"/>
            <p:cNvSpPr/>
            <p:nvPr/>
          </p:nvSpPr>
          <p:spPr>
            <a:xfrm flipH="1">
              <a:off x="3781665" y="2209825"/>
              <a:ext cx="3397335" cy="723752"/>
            </a:xfrm>
            <a:custGeom>
              <a:rect b="b" l="l" r="r" t="t"/>
              <a:pathLst>
                <a:path extrusionOk="0" h="35172" w="75635">
                  <a:moveTo>
                    <a:pt x="75635" y="0"/>
                  </a:moveTo>
                  <a:lnTo>
                    <a:pt x="75635" y="35172"/>
                  </a:lnTo>
                  <a:lnTo>
                    <a:pt x="0" y="35172"/>
                  </a:lnTo>
                </a:path>
              </a:pathLst>
            </a:custGeom>
            <a:noFill/>
            <a:ln cap="flat" cmpd="sng" w="19050">
              <a:solidFill>
                <a:srgbClr val="E69138"/>
              </a:solidFill>
              <a:prstDash val="solid"/>
              <a:round/>
              <a:headEnd len="med" w="med" type="triangle"/>
              <a:tailEnd len="med" w="med" type="none"/>
            </a:ln>
          </p:spPr>
        </p:sp>
        <p:sp>
          <p:nvSpPr>
            <p:cNvPr id="663" name="Google Shape;663;p53"/>
            <p:cNvSpPr txBox="1"/>
            <p:nvPr/>
          </p:nvSpPr>
          <p:spPr>
            <a:xfrm>
              <a:off x="6416425" y="2571750"/>
              <a:ext cx="23688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Here are the record counts in the DNS header.</a:t>
              </a:r>
              <a:endParaRPr/>
            </a:p>
          </p:txBody>
        </p:sp>
        <p:sp>
          <p:nvSpPr>
            <p:cNvPr id="664" name="Google Shape;664;p53"/>
            <p:cNvSpPr/>
            <p:nvPr/>
          </p:nvSpPr>
          <p:spPr>
            <a:xfrm>
              <a:off x="1517375" y="1999825"/>
              <a:ext cx="4715400" cy="210000"/>
            </a:xfrm>
            <a:prstGeom prst="roundRect">
              <a:avLst>
                <a:gd fmla="val 16667" name="adj"/>
              </a:avLst>
            </a:prstGeom>
            <a:noFill/>
            <a:ln cap="flat" cmpd="sng" w="2857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5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 Lookup Walkthrough</a:t>
            </a:r>
            <a:endParaRPr/>
          </a:p>
        </p:txBody>
      </p:sp>
      <p:sp>
        <p:nvSpPr>
          <p:cNvPr id="670" name="Google Shape;670;p54"/>
          <p:cNvSpPr txBox="1"/>
          <p:nvPr>
            <p:ph idx="1" type="body"/>
          </p:nvPr>
        </p:nvSpPr>
        <p:spPr>
          <a:xfrm>
            <a:off x="198500" y="1246825"/>
            <a:ext cx="6189900" cy="3765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dig +norecurse eecs.berkeley.edu @198.41.0.4</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Got answer:</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-&gt;&gt;HEADER&lt;&lt;- opcode: QUERY, status: NOERROR, id: 26114</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flags: qr; QUERY: 1, ANSWER: 0, AUTHORITY: 13, ADDITIONAL: 27</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QUESTION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;eecs.berkeley.edu.          IN   A</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AUTHORITY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edu.            	172800   IN   NS   a.edu-servers.net.</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edu.            	172800   IN   NS   b.edu-servers.net.</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edu.            	172800   IN   NS   c.edu-servers.net.</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ADDITIONAL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a.edu-servers.net.  172800   IN   A	192.5.6.30</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b.edu-servers.net.  172800   IN   A	192.33.14.30</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c.edu-servers.net.  172800   IN   A	192.26.92.30</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a:t>
            </a:r>
            <a:endParaRPr b="1" sz="1100">
              <a:latin typeface="Courier New"/>
              <a:ea typeface="Courier New"/>
              <a:cs typeface="Courier New"/>
              <a:sym typeface="Courier New"/>
            </a:endParaRPr>
          </a:p>
        </p:txBody>
      </p:sp>
      <p:sp>
        <p:nvSpPr>
          <p:cNvPr id="671" name="Google Shape;671;p5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672" name="Google Shape;672;p54"/>
          <p:cNvGrpSpPr/>
          <p:nvPr/>
        </p:nvGrpSpPr>
        <p:grpSpPr>
          <a:xfrm>
            <a:off x="198500" y="2256600"/>
            <a:ext cx="8656550" cy="2536500"/>
            <a:chOff x="198500" y="2256600"/>
            <a:chExt cx="8656550" cy="2536500"/>
          </a:xfrm>
        </p:grpSpPr>
        <p:sp>
          <p:nvSpPr>
            <p:cNvPr id="673" name="Google Shape;673;p54"/>
            <p:cNvSpPr/>
            <p:nvPr/>
          </p:nvSpPr>
          <p:spPr>
            <a:xfrm>
              <a:off x="198500" y="2256600"/>
              <a:ext cx="5501700" cy="2536500"/>
            </a:xfrm>
            <a:prstGeom prst="roundRect">
              <a:avLst>
                <a:gd fmla="val 5302" name="adj"/>
              </a:avLst>
            </a:prstGeom>
            <a:noFill/>
            <a:ln cap="flat" cmpd="sng" w="2857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74" name="Google Shape;674;p54"/>
            <p:cNvCxnSpPr>
              <a:endCxn id="673" idx="3"/>
            </p:cNvCxnSpPr>
            <p:nvPr/>
          </p:nvCxnSpPr>
          <p:spPr>
            <a:xfrm rot="10800000">
              <a:off x="5700200" y="3524850"/>
              <a:ext cx="816900" cy="0"/>
            </a:xfrm>
            <a:prstGeom prst="straightConnector1">
              <a:avLst/>
            </a:prstGeom>
            <a:noFill/>
            <a:ln cap="flat" cmpd="sng" w="19050">
              <a:solidFill>
                <a:srgbClr val="E69138"/>
              </a:solidFill>
              <a:prstDash val="solid"/>
              <a:round/>
              <a:headEnd len="med" w="med" type="none"/>
              <a:tailEnd len="med" w="med" type="triangle"/>
            </a:ln>
          </p:spPr>
        </p:cxnSp>
        <p:sp>
          <p:nvSpPr>
            <p:cNvPr id="675" name="Google Shape;675;p54"/>
            <p:cNvSpPr txBox="1"/>
            <p:nvPr/>
          </p:nvSpPr>
          <p:spPr>
            <a:xfrm>
              <a:off x="6305350" y="3040475"/>
              <a:ext cx="2549700" cy="10467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Here’s the DNS payload. It’s a collection of resource records (one per line), sorted into four sections.</a:t>
              </a:r>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5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 Lookup Walkthrough</a:t>
            </a:r>
            <a:endParaRPr/>
          </a:p>
        </p:txBody>
      </p:sp>
      <p:sp>
        <p:nvSpPr>
          <p:cNvPr id="681" name="Google Shape;681;p55"/>
          <p:cNvSpPr txBox="1"/>
          <p:nvPr>
            <p:ph idx="1" type="body"/>
          </p:nvPr>
        </p:nvSpPr>
        <p:spPr>
          <a:xfrm>
            <a:off x="198500" y="1246825"/>
            <a:ext cx="6244500" cy="3765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dig +norecurse eecs.berkeley.edu @198.41.0.4</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Got answer:</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-&gt;&gt;HEADER&lt;&lt;- opcode: QUERY, status: NOERROR, id: 26114</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flags: qr; QUERY: 1, ANSWER: 0, AUTHORITY: 13, ADDITIONAL: 27</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QUESTION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;eecs.berkeley.edu.          IN   A</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AUTHORITY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edu.            	172800   IN   NS   a.edu-servers.net.</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edu.            	172800   IN   NS   b.edu-servers.net.</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edu.            	172800   IN   NS   c.edu-servers.net.</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ADDITIONAL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a.edu-servers.net.  172800   IN   A	192.5.6.30</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b.edu-servers.net.  172800   IN   A	192.33.14.30</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c.edu-servers.net.  172800   IN   A	192.26.92.30</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a:t>
            </a:r>
            <a:endParaRPr b="1" sz="1100">
              <a:latin typeface="Courier New"/>
              <a:ea typeface="Courier New"/>
              <a:cs typeface="Courier New"/>
              <a:sym typeface="Courier New"/>
            </a:endParaRPr>
          </a:p>
        </p:txBody>
      </p:sp>
      <p:sp>
        <p:nvSpPr>
          <p:cNvPr id="682" name="Google Shape;682;p5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683" name="Google Shape;683;p55"/>
          <p:cNvGrpSpPr/>
          <p:nvPr/>
        </p:nvGrpSpPr>
        <p:grpSpPr>
          <a:xfrm>
            <a:off x="198500" y="2283025"/>
            <a:ext cx="8594300" cy="1693200"/>
            <a:chOff x="198500" y="2283025"/>
            <a:chExt cx="8594300" cy="1693200"/>
          </a:xfrm>
        </p:grpSpPr>
        <p:sp>
          <p:nvSpPr>
            <p:cNvPr id="684" name="Google Shape;684;p55"/>
            <p:cNvSpPr/>
            <p:nvPr/>
          </p:nvSpPr>
          <p:spPr>
            <a:xfrm>
              <a:off x="198500" y="2324400"/>
              <a:ext cx="3528900" cy="393600"/>
            </a:xfrm>
            <a:prstGeom prst="roundRect">
              <a:avLst>
                <a:gd fmla="val 22713" name="adj"/>
              </a:avLst>
            </a:prstGeom>
            <a:noFill/>
            <a:ln cap="flat" cmpd="sng" w="2857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85" name="Google Shape;685;p55"/>
            <p:cNvCxnSpPr>
              <a:endCxn id="684" idx="3"/>
            </p:cNvCxnSpPr>
            <p:nvPr/>
          </p:nvCxnSpPr>
          <p:spPr>
            <a:xfrm rot="10800000">
              <a:off x="3727400" y="2521200"/>
              <a:ext cx="3112500" cy="0"/>
            </a:xfrm>
            <a:prstGeom prst="straightConnector1">
              <a:avLst/>
            </a:prstGeom>
            <a:noFill/>
            <a:ln cap="flat" cmpd="sng" w="19050">
              <a:solidFill>
                <a:srgbClr val="E69138"/>
              </a:solidFill>
              <a:prstDash val="solid"/>
              <a:round/>
              <a:headEnd len="med" w="med" type="none"/>
              <a:tailEnd len="med" w="med" type="triangle"/>
            </a:ln>
          </p:spPr>
        </p:cxnSp>
        <p:sp>
          <p:nvSpPr>
            <p:cNvPr id="686" name="Google Shape;686;p55"/>
            <p:cNvSpPr txBox="1"/>
            <p:nvPr/>
          </p:nvSpPr>
          <p:spPr>
            <a:xfrm>
              <a:off x="6243100" y="2283025"/>
              <a:ext cx="2549700" cy="16932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Here’s the question section. The name is </a:t>
              </a:r>
              <a:r>
                <a:rPr b="1" lang="en">
                  <a:solidFill>
                    <a:schemeClr val="dk1"/>
                  </a:solidFill>
                  <a:latin typeface="Courier New"/>
                  <a:ea typeface="Courier New"/>
                  <a:cs typeface="Courier New"/>
                  <a:sym typeface="Courier New"/>
                </a:rPr>
                <a:t>eecs.berkeley.edu</a:t>
              </a:r>
              <a:r>
                <a:rPr lang="en">
                  <a:solidFill>
                    <a:schemeClr val="dk1"/>
                  </a:solidFill>
                </a:rPr>
                <a:t>, the type is A, and the value is blank. It shows that we are looking for the IP address of </a:t>
              </a:r>
              <a:r>
                <a:rPr b="1" lang="en">
                  <a:solidFill>
                    <a:schemeClr val="dk1"/>
                  </a:solidFill>
                  <a:latin typeface="Courier New"/>
                  <a:ea typeface="Courier New"/>
                  <a:cs typeface="Courier New"/>
                  <a:sym typeface="Courier New"/>
                </a:rPr>
                <a:t>eecs.berkeley.edu</a:t>
              </a:r>
              <a:r>
                <a:rPr lang="en">
                  <a:solidFill>
                    <a:schemeClr val="dk1"/>
                  </a:solidFill>
                </a:rPr>
                <a:t>.</a:t>
              </a:r>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5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 Lookup Walkthrough</a:t>
            </a:r>
            <a:endParaRPr/>
          </a:p>
        </p:txBody>
      </p:sp>
      <p:sp>
        <p:nvSpPr>
          <p:cNvPr id="692" name="Google Shape;692;p56"/>
          <p:cNvSpPr txBox="1"/>
          <p:nvPr>
            <p:ph idx="1" type="body"/>
          </p:nvPr>
        </p:nvSpPr>
        <p:spPr>
          <a:xfrm>
            <a:off x="198500" y="1246825"/>
            <a:ext cx="6229500" cy="3765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dig +norecurse eecs.berkeley.edu @198.41.0.4</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Got answer:</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-&gt;&gt;HEADER&lt;&lt;- opcode: QUERY, status: NOERROR, id: 26114</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flags: qr; QUERY: 1, ANSWER: 0, AUTHORITY: 13, ADDITIONAL: 27</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QUESTION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;eecs.berkeley.edu.          IN   A</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AUTHORITY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edu.            	172800   IN   NS   a.edu-servers.net.</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edu.            	172800   IN   NS   b.edu-servers.net.</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edu.            	172800   IN   NS   c.edu-servers.net.</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 ADDITIONAL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a.edu-servers.net.  172800   IN   A	192.5.6.30</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b.edu-servers.net.  172800   IN   A	192.33.14.30</a:t>
            </a:r>
            <a:endParaRPr b="1" sz="1200">
              <a:latin typeface="Courier New"/>
              <a:ea typeface="Courier New"/>
              <a:cs typeface="Courier New"/>
              <a:sym typeface="Courier New"/>
            </a:endParaRPr>
          </a:p>
          <a:p>
            <a:pPr indent="0" lvl="0" marL="0" rtl="0" algn="l">
              <a:lnSpc>
                <a:spcPct val="100000"/>
              </a:lnSpc>
              <a:spcBef>
                <a:spcPts val="0"/>
              </a:spcBef>
              <a:spcAft>
                <a:spcPts val="0"/>
              </a:spcAft>
              <a:buClr>
                <a:schemeClr val="dk1"/>
              </a:buClr>
              <a:buSzPts val="1100"/>
              <a:buFont typeface="Arial"/>
              <a:buNone/>
            </a:pPr>
            <a:r>
              <a:rPr b="1" lang="en" sz="1200">
                <a:latin typeface="Courier New"/>
                <a:ea typeface="Courier New"/>
                <a:cs typeface="Courier New"/>
                <a:sym typeface="Courier New"/>
              </a:rPr>
              <a:t>c.edu-servers.net.  172800   IN   A	192.26.92.30</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a:t>
            </a:r>
            <a:endParaRPr b="1" sz="1100">
              <a:latin typeface="Courier New"/>
              <a:ea typeface="Courier New"/>
              <a:cs typeface="Courier New"/>
              <a:sym typeface="Courier New"/>
            </a:endParaRPr>
          </a:p>
        </p:txBody>
      </p:sp>
      <p:sp>
        <p:nvSpPr>
          <p:cNvPr id="693" name="Google Shape;693;p5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694" name="Google Shape;694;p56"/>
          <p:cNvGrpSpPr/>
          <p:nvPr/>
        </p:nvGrpSpPr>
        <p:grpSpPr>
          <a:xfrm>
            <a:off x="2406600" y="1884575"/>
            <a:ext cx="6487550" cy="2124000"/>
            <a:chOff x="2406600" y="1884575"/>
            <a:chExt cx="6487550" cy="2124000"/>
          </a:xfrm>
        </p:grpSpPr>
        <p:sp>
          <p:nvSpPr>
            <p:cNvPr id="695" name="Google Shape;695;p56"/>
            <p:cNvSpPr/>
            <p:nvPr/>
          </p:nvSpPr>
          <p:spPr>
            <a:xfrm>
              <a:off x="2406600" y="1999825"/>
              <a:ext cx="1028700" cy="210000"/>
            </a:xfrm>
            <a:prstGeom prst="roundRect">
              <a:avLst>
                <a:gd fmla="val 16667" name="adj"/>
              </a:avLst>
            </a:prstGeom>
            <a:noFill/>
            <a:ln cap="flat" cmpd="sng" w="2857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56"/>
            <p:cNvSpPr/>
            <p:nvPr/>
          </p:nvSpPr>
          <p:spPr>
            <a:xfrm flipH="1">
              <a:off x="2898776" y="2209875"/>
              <a:ext cx="3635774" cy="723752"/>
            </a:xfrm>
            <a:custGeom>
              <a:rect b="b" l="l" r="r" t="t"/>
              <a:pathLst>
                <a:path extrusionOk="0" h="35172" w="75635">
                  <a:moveTo>
                    <a:pt x="75635" y="0"/>
                  </a:moveTo>
                  <a:lnTo>
                    <a:pt x="75635" y="35172"/>
                  </a:lnTo>
                  <a:lnTo>
                    <a:pt x="0" y="35172"/>
                  </a:lnTo>
                </a:path>
              </a:pathLst>
            </a:custGeom>
            <a:noFill/>
            <a:ln cap="flat" cmpd="sng" w="19050">
              <a:solidFill>
                <a:srgbClr val="E69138"/>
              </a:solidFill>
              <a:prstDash val="solid"/>
              <a:round/>
              <a:headEnd len="med" w="med" type="triangle"/>
              <a:tailEnd len="med" w="med" type="none"/>
            </a:ln>
          </p:spPr>
        </p:sp>
        <p:sp>
          <p:nvSpPr>
            <p:cNvPr id="697" name="Google Shape;697;p56"/>
            <p:cNvSpPr txBox="1"/>
            <p:nvPr/>
          </p:nvSpPr>
          <p:spPr>
            <a:xfrm>
              <a:off x="6384650" y="1884575"/>
              <a:ext cx="2509500" cy="21240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The answer section is blank, because the root name server did not return the answer we’re looking for.</a:t>
              </a:r>
              <a:endParaRPr>
                <a:solidFill>
                  <a:schemeClr val="dk1"/>
                </a:solidFill>
              </a:endParaRPr>
            </a:p>
            <a:p>
              <a:pPr indent="0" lvl="0" marL="0" rtl="0" algn="ctr">
                <a:spcBef>
                  <a:spcPts val="0"/>
                </a:spcBef>
                <a:spcAft>
                  <a:spcPts val="0"/>
                </a:spcAft>
                <a:buNone/>
              </a:pPr>
              <a:r>
                <a:t/>
              </a:r>
              <a:endParaRPr>
                <a:solidFill>
                  <a:schemeClr val="dk1"/>
                </a:solidFill>
              </a:endParaRPr>
            </a:p>
            <a:p>
              <a:pPr indent="0" lvl="0" marL="0" rtl="0" algn="ctr">
                <a:spcBef>
                  <a:spcPts val="0"/>
                </a:spcBef>
                <a:spcAft>
                  <a:spcPts val="0"/>
                </a:spcAft>
                <a:buNone/>
              </a:pPr>
              <a:r>
                <a:rPr lang="en">
                  <a:solidFill>
                    <a:schemeClr val="dk1"/>
                  </a:solidFill>
                </a:rPr>
                <a:t>We can confirm this by checking the header, which says there are 0 records in the answer section.</a:t>
              </a:r>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1" name="Shape 701"/>
        <p:cNvGrpSpPr/>
        <p:nvPr/>
      </p:nvGrpSpPr>
      <p:grpSpPr>
        <a:xfrm>
          <a:off x="0" y="0"/>
          <a:ext cx="0" cy="0"/>
          <a:chOff x="0" y="0"/>
          <a:chExt cx="0" cy="0"/>
        </a:xfrm>
      </p:grpSpPr>
      <p:sp>
        <p:nvSpPr>
          <p:cNvPr id="702" name="Google Shape;702;p5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 Lookup Walkthrough</a:t>
            </a:r>
            <a:endParaRPr/>
          </a:p>
        </p:txBody>
      </p:sp>
      <p:sp>
        <p:nvSpPr>
          <p:cNvPr id="703" name="Google Shape;703;p57"/>
          <p:cNvSpPr txBox="1"/>
          <p:nvPr>
            <p:ph idx="1" type="body"/>
          </p:nvPr>
        </p:nvSpPr>
        <p:spPr>
          <a:xfrm>
            <a:off x="198500" y="1246825"/>
            <a:ext cx="6244500" cy="3765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latin typeface="Courier New"/>
                <a:ea typeface="Courier New"/>
                <a:cs typeface="Courier New"/>
                <a:sym typeface="Courier New"/>
              </a:rPr>
              <a:t>$ dig +norecurse eecs.berkeley.edu @198.41.0.4</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Got answer:</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-&gt;&gt;HEADER&lt;&lt;- opcode: QUERY, status: NOERROR, id: 26114</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flags: qr; QUERY: 1, ANSWER: 0, AUTHORITY: 13, ADDITIONAL: 27</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QUESTION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;eecs.berkeley.edu.          IN   A</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AUTHORITY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edu.            	172800   IN   NS   a.edu-servers.net.</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edu.            	172800   IN   NS   b.edu-servers.net.</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edu.            	172800   IN   NS   c.edu-servers.net.</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ADDITIONAL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a.edu-servers.net.  172800   IN   A	192.5.6.30</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b.edu-servers.net.  172800   IN   A	192.33.14.30</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c.edu-servers.net.  172800   IN   A	192.26.92.30</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a:t>
            </a:r>
            <a:endParaRPr b="1" sz="1100">
              <a:latin typeface="Courier New"/>
              <a:ea typeface="Courier New"/>
              <a:cs typeface="Courier New"/>
              <a:sym typeface="Courier New"/>
            </a:endParaRPr>
          </a:p>
        </p:txBody>
      </p:sp>
      <p:sp>
        <p:nvSpPr>
          <p:cNvPr id="704" name="Google Shape;704;p5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705" name="Google Shape;705;p57"/>
          <p:cNvGrpSpPr/>
          <p:nvPr/>
        </p:nvGrpSpPr>
        <p:grpSpPr>
          <a:xfrm>
            <a:off x="198500" y="2775725"/>
            <a:ext cx="8602075" cy="2040900"/>
            <a:chOff x="198500" y="2775725"/>
            <a:chExt cx="8602075" cy="2040900"/>
          </a:xfrm>
        </p:grpSpPr>
        <p:sp>
          <p:nvSpPr>
            <p:cNvPr id="706" name="Google Shape;706;p57"/>
            <p:cNvSpPr/>
            <p:nvPr/>
          </p:nvSpPr>
          <p:spPr>
            <a:xfrm>
              <a:off x="198500" y="2775725"/>
              <a:ext cx="5334000" cy="2040900"/>
            </a:xfrm>
            <a:prstGeom prst="roundRect">
              <a:avLst>
                <a:gd fmla="val 7638" name="adj"/>
              </a:avLst>
            </a:prstGeom>
            <a:noFill/>
            <a:ln cap="flat" cmpd="sng" w="2857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07" name="Google Shape;707;p57"/>
            <p:cNvCxnSpPr>
              <a:endCxn id="706" idx="3"/>
            </p:cNvCxnSpPr>
            <p:nvPr/>
          </p:nvCxnSpPr>
          <p:spPr>
            <a:xfrm rot="10800000">
              <a:off x="5532500" y="3796175"/>
              <a:ext cx="1066200" cy="0"/>
            </a:xfrm>
            <a:prstGeom prst="straightConnector1">
              <a:avLst/>
            </a:prstGeom>
            <a:noFill/>
            <a:ln cap="flat" cmpd="sng" w="19050">
              <a:solidFill>
                <a:srgbClr val="E69138"/>
              </a:solidFill>
              <a:prstDash val="solid"/>
              <a:round/>
              <a:headEnd len="med" w="med" type="none"/>
              <a:tailEnd len="med" w="med" type="triangle"/>
            </a:ln>
          </p:spPr>
        </p:cxnSp>
        <p:sp>
          <p:nvSpPr>
            <p:cNvPr id="708" name="Google Shape;708;p57"/>
            <p:cNvSpPr txBox="1"/>
            <p:nvPr/>
          </p:nvSpPr>
          <p:spPr>
            <a:xfrm>
              <a:off x="6250875" y="2949575"/>
              <a:ext cx="2549700" cy="16932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The authority and additional sections tell the resolver where to look next.</a:t>
              </a:r>
              <a:endParaRPr>
                <a:solidFill>
                  <a:schemeClr val="dk1"/>
                </a:solidFill>
              </a:endParaRPr>
            </a:p>
            <a:p>
              <a:pPr indent="0" lvl="0" marL="0" rtl="0" algn="ctr">
                <a:spcBef>
                  <a:spcPts val="0"/>
                </a:spcBef>
                <a:spcAft>
                  <a:spcPts val="0"/>
                </a:spcAft>
                <a:buNone/>
              </a:pPr>
              <a:r>
                <a:t/>
              </a:r>
              <a:endParaRPr>
                <a:solidFill>
                  <a:schemeClr val="dk1"/>
                </a:solidFill>
              </a:endParaRPr>
            </a:p>
            <a:p>
              <a:pPr indent="0" lvl="0" marL="0" rtl="0" algn="ctr">
                <a:spcBef>
                  <a:spcPts val="0"/>
                </a:spcBef>
                <a:spcAft>
                  <a:spcPts val="0"/>
                </a:spcAft>
                <a:buNone/>
              </a:pPr>
              <a:r>
                <a:rPr lang="en">
                  <a:solidFill>
                    <a:schemeClr val="dk1"/>
                  </a:solidFill>
                </a:rPr>
                <a:t>Note that there are multiple </a:t>
              </a:r>
              <a:r>
                <a:rPr b="1" lang="en">
                  <a:solidFill>
                    <a:schemeClr val="dk1"/>
                  </a:solidFill>
                  <a:latin typeface="Courier New"/>
                  <a:ea typeface="Courier New"/>
                  <a:cs typeface="Courier New"/>
                  <a:sym typeface="Courier New"/>
                </a:rPr>
                <a:t>.edu</a:t>
              </a:r>
              <a:r>
                <a:rPr lang="en">
                  <a:solidFill>
                    <a:schemeClr val="dk1"/>
                  </a:solidFill>
                </a:rPr>
                <a:t> name servers for redundancy.</a:t>
              </a:r>
              <a:endParaRPr>
                <a:solidFill>
                  <a:schemeClr val="dk1"/>
                </a:solidFill>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p5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 Lookup Walkthrough</a:t>
            </a:r>
            <a:endParaRPr/>
          </a:p>
        </p:txBody>
      </p:sp>
      <p:sp>
        <p:nvSpPr>
          <p:cNvPr id="714" name="Google Shape;714;p58"/>
          <p:cNvSpPr txBox="1"/>
          <p:nvPr>
            <p:ph idx="1" type="body"/>
          </p:nvPr>
        </p:nvSpPr>
        <p:spPr>
          <a:xfrm>
            <a:off x="198500" y="1246825"/>
            <a:ext cx="6244500" cy="3765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latin typeface="Courier New"/>
                <a:ea typeface="Courier New"/>
                <a:cs typeface="Courier New"/>
                <a:sym typeface="Courier New"/>
              </a:rPr>
              <a:t>$ dig +norecurse eecs.berkeley.edu @198.41.0.4</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Got answer:</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-&gt;&gt;HEADER&lt;&lt;- opcode: QUERY, status: NOERROR, id: 26114</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flags: qr; QUERY: 1, ANSWER: 0, AUTHORITY: 13, ADDITIONAL: 27</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QUESTION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;eecs.berkeley.edu.          IN   A</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AUTHORITY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edu.            	172800   IN   NS   a.edu-servers.net.</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edu.            	172800   IN   NS   b.edu-servers.net.</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edu.            	172800   IN   NS   c.edu-servers.net.</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ADDITIONAL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a.edu-servers.net.  172800   IN   A	192.5.6.30</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b.edu-servers.net.  172800   IN   A	192.33.14.30</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c.edu-servers.net.  172800   IN   A	192.26.92.30</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a:t>
            </a:r>
            <a:endParaRPr b="1" sz="1100">
              <a:latin typeface="Courier New"/>
              <a:ea typeface="Courier New"/>
              <a:cs typeface="Courier New"/>
              <a:sym typeface="Courier New"/>
            </a:endParaRPr>
          </a:p>
        </p:txBody>
      </p:sp>
      <p:sp>
        <p:nvSpPr>
          <p:cNvPr id="715" name="Google Shape;715;p5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716" name="Google Shape;716;p58"/>
          <p:cNvGrpSpPr/>
          <p:nvPr/>
        </p:nvGrpSpPr>
        <p:grpSpPr>
          <a:xfrm>
            <a:off x="198500" y="2067625"/>
            <a:ext cx="8655825" cy="2124000"/>
            <a:chOff x="198500" y="2067625"/>
            <a:chExt cx="8655825" cy="2124000"/>
          </a:xfrm>
        </p:grpSpPr>
        <p:sp>
          <p:nvSpPr>
            <p:cNvPr id="717" name="Google Shape;717;p58"/>
            <p:cNvSpPr/>
            <p:nvPr/>
          </p:nvSpPr>
          <p:spPr>
            <a:xfrm>
              <a:off x="198500" y="3002425"/>
              <a:ext cx="5370000" cy="162600"/>
            </a:xfrm>
            <a:prstGeom prst="roundRect">
              <a:avLst>
                <a:gd fmla="val 7638" name="adj"/>
              </a:avLst>
            </a:prstGeom>
            <a:noFill/>
            <a:ln cap="flat" cmpd="sng" w="2857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18" name="Google Shape;718;p58"/>
            <p:cNvCxnSpPr>
              <a:endCxn id="717" idx="3"/>
            </p:cNvCxnSpPr>
            <p:nvPr/>
          </p:nvCxnSpPr>
          <p:spPr>
            <a:xfrm rot="10800000">
              <a:off x="5568500" y="3083725"/>
              <a:ext cx="1066200" cy="0"/>
            </a:xfrm>
            <a:prstGeom prst="straightConnector1">
              <a:avLst/>
            </a:prstGeom>
            <a:noFill/>
            <a:ln cap="flat" cmpd="sng" w="19050">
              <a:solidFill>
                <a:srgbClr val="E69138"/>
              </a:solidFill>
              <a:prstDash val="solid"/>
              <a:round/>
              <a:headEnd len="med" w="med" type="none"/>
              <a:tailEnd len="med" w="med" type="triangle"/>
            </a:ln>
          </p:spPr>
        </p:cxnSp>
        <p:sp>
          <p:nvSpPr>
            <p:cNvPr id="719" name="Google Shape;719;p58"/>
            <p:cNvSpPr txBox="1"/>
            <p:nvPr/>
          </p:nvSpPr>
          <p:spPr>
            <a:xfrm>
              <a:off x="6516125" y="2067625"/>
              <a:ext cx="2338200" cy="21240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For redundancy, there are usually several name servers for each zone. Any of them will usually work. Let’s pick the first one.</a:t>
              </a:r>
              <a:endParaRPr>
                <a:solidFill>
                  <a:schemeClr val="dk1"/>
                </a:solidFill>
              </a:endParaRPr>
            </a:p>
            <a:p>
              <a:pPr indent="0" lvl="0" marL="0" rtl="0" algn="ctr">
                <a:spcBef>
                  <a:spcPts val="0"/>
                </a:spcBef>
                <a:spcAft>
                  <a:spcPts val="0"/>
                </a:spcAft>
                <a:buNone/>
              </a:pPr>
              <a:r>
                <a:t/>
              </a:r>
              <a:endParaRPr>
                <a:solidFill>
                  <a:schemeClr val="dk1"/>
                </a:solidFill>
              </a:endParaRPr>
            </a:p>
            <a:p>
              <a:pPr indent="0" lvl="0" marL="0" rtl="0" algn="ctr">
                <a:spcBef>
                  <a:spcPts val="0"/>
                </a:spcBef>
                <a:spcAft>
                  <a:spcPts val="0"/>
                </a:spcAft>
                <a:buNone/>
              </a:pPr>
              <a:r>
                <a:rPr lang="en">
                  <a:solidFill>
                    <a:schemeClr val="dk1"/>
                  </a:solidFill>
                </a:rPr>
                <a:t>This NS record says that </a:t>
              </a:r>
              <a:r>
                <a:rPr b="1" lang="en">
                  <a:solidFill>
                    <a:schemeClr val="dk1"/>
                  </a:solidFill>
                  <a:latin typeface="Courier New"/>
                  <a:ea typeface="Courier New"/>
                  <a:cs typeface="Courier New"/>
                  <a:sym typeface="Courier New"/>
                </a:rPr>
                <a:t>a.edu-servers.net</a:t>
              </a:r>
              <a:r>
                <a:rPr lang="en">
                  <a:solidFill>
                    <a:schemeClr val="dk1"/>
                  </a:solidFill>
                </a:rPr>
                <a:t> is a </a:t>
              </a:r>
              <a:r>
                <a:rPr b="1" lang="en">
                  <a:solidFill>
                    <a:schemeClr val="dk1"/>
                  </a:solidFill>
                  <a:latin typeface="Courier New"/>
                  <a:ea typeface="Courier New"/>
                  <a:cs typeface="Courier New"/>
                  <a:sym typeface="Courier New"/>
                </a:rPr>
                <a:t>.edu</a:t>
              </a:r>
              <a:r>
                <a:rPr lang="en">
                  <a:solidFill>
                    <a:schemeClr val="dk1"/>
                  </a:solidFill>
                </a:rPr>
                <a:t> name server.</a:t>
              </a:r>
              <a:endParaRPr>
                <a:solidFill>
                  <a:schemeClr val="dk1"/>
                </a:solidFill>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3" name="Shape 723"/>
        <p:cNvGrpSpPr/>
        <p:nvPr/>
      </p:nvGrpSpPr>
      <p:grpSpPr>
        <a:xfrm>
          <a:off x="0" y="0"/>
          <a:ext cx="0" cy="0"/>
          <a:chOff x="0" y="0"/>
          <a:chExt cx="0" cy="0"/>
        </a:xfrm>
      </p:grpSpPr>
      <p:sp>
        <p:nvSpPr>
          <p:cNvPr id="724" name="Google Shape;724;p5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 Lookup Walkthrough</a:t>
            </a:r>
            <a:endParaRPr/>
          </a:p>
        </p:txBody>
      </p:sp>
      <p:sp>
        <p:nvSpPr>
          <p:cNvPr id="725" name="Google Shape;725;p59"/>
          <p:cNvSpPr txBox="1"/>
          <p:nvPr>
            <p:ph idx="1" type="body"/>
          </p:nvPr>
        </p:nvSpPr>
        <p:spPr>
          <a:xfrm>
            <a:off x="198500" y="1246825"/>
            <a:ext cx="6244500" cy="3765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latin typeface="Courier New"/>
                <a:ea typeface="Courier New"/>
                <a:cs typeface="Courier New"/>
                <a:sym typeface="Courier New"/>
              </a:rPr>
              <a:t>$ dig +norecurse eecs.berkeley.edu @198.41.0.4</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Got answer:</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-&gt;&gt;HEADER&lt;&lt;- opcode: QUERY, status: NOERROR, id: 26114</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flags: qr; QUERY: 1, ANSWER: 0, AUTHORITY: 13, ADDITIONAL: 27</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QUESTION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;eecs.berkeley.edu.          IN   A</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AUTHORITY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edu.            	172800   IN   NS   a.edu-servers.net.</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edu.            	172800   IN   NS   b.edu-servers.net.</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edu.            	172800   IN   NS   c.edu-servers.net.</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ADDITIONAL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a.edu-servers.net.  172800   IN   A	</a:t>
            </a:r>
            <a:r>
              <a:rPr b="1" lang="en" sz="1200">
                <a:solidFill>
                  <a:srgbClr val="0000FF"/>
                </a:solidFill>
                <a:latin typeface="Courier New"/>
                <a:ea typeface="Courier New"/>
                <a:cs typeface="Courier New"/>
                <a:sym typeface="Courier New"/>
              </a:rPr>
              <a:t>192.5.6.30</a:t>
            </a:r>
            <a:endParaRPr b="1" sz="1200">
              <a:solidFill>
                <a:srgbClr val="0000FF"/>
              </a:solidFill>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b.edu-servers.net.  172800   IN   A	192.33.14.30</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c.edu-servers.net.  172800   IN   A	192.26.92.30</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a:t>
            </a:r>
            <a:endParaRPr b="1" sz="1100">
              <a:latin typeface="Courier New"/>
              <a:ea typeface="Courier New"/>
              <a:cs typeface="Courier New"/>
              <a:sym typeface="Courier New"/>
            </a:endParaRPr>
          </a:p>
        </p:txBody>
      </p:sp>
      <p:sp>
        <p:nvSpPr>
          <p:cNvPr id="726" name="Google Shape;726;p5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727" name="Google Shape;727;p59"/>
          <p:cNvGrpSpPr/>
          <p:nvPr/>
        </p:nvGrpSpPr>
        <p:grpSpPr>
          <a:xfrm>
            <a:off x="198500" y="3586975"/>
            <a:ext cx="8256000" cy="1046700"/>
            <a:chOff x="198500" y="3586975"/>
            <a:chExt cx="8256000" cy="1046700"/>
          </a:xfrm>
        </p:grpSpPr>
        <p:sp>
          <p:nvSpPr>
            <p:cNvPr id="728" name="Google Shape;728;p59"/>
            <p:cNvSpPr/>
            <p:nvPr/>
          </p:nvSpPr>
          <p:spPr>
            <a:xfrm>
              <a:off x="198500" y="4029025"/>
              <a:ext cx="4851600" cy="162600"/>
            </a:xfrm>
            <a:prstGeom prst="roundRect">
              <a:avLst>
                <a:gd fmla="val 7638" name="adj"/>
              </a:avLst>
            </a:prstGeom>
            <a:noFill/>
            <a:ln cap="flat" cmpd="sng" w="2857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29" name="Google Shape;729;p59"/>
            <p:cNvCxnSpPr>
              <a:endCxn id="728" idx="3"/>
            </p:cNvCxnSpPr>
            <p:nvPr/>
          </p:nvCxnSpPr>
          <p:spPr>
            <a:xfrm rot="10800000">
              <a:off x="5050100" y="4110325"/>
              <a:ext cx="1066200" cy="0"/>
            </a:xfrm>
            <a:prstGeom prst="straightConnector1">
              <a:avLst/>
            </a:prstGeom>
            <a:noFill/>
            <a:ln cap="flat" cmpd="sng" w="19050">
              <a:solidFill>
                <a:srgbClr val="E69138"/>
              </a:solidFill>
              <a:prstDash val="solid"/>
              <a:round/>
              <a:headEnd len="med" w="med" type="none"/>
              <a:tailEnd len="med" w="med" type="triangle"/>
            </a:ln>
          </p:spPr>
        </p:cxnSp>
        <p:sp>
          <p:nvSpPr>
            <p:cNvPr id="730" name="Google Shape;730;p59"/>
            <p:cNvSpPr txBox="1"/>
            <p:nvPr/>
          </p:nvSpPr>
          <p:spPr>
            <a:xfrm>
              <a:off x="6116300" y="3586975"/>
              <a:ext cx="2338200" cy="10467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This A record helpfully tells us the IP address of the next name server we mean to contact.</a:t>
              </a:r>
              <a:endParaRPr>
                <a:solidFill>
                  <a:schemeClr val="dk1"/>
                </a:solidFill>
              </a:endParaRPr>
            </a:p>
          </p:txBody>
        </p:sp>
      </p:gr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6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 Lookup Walkthrough</a:t>
            </a:r>
            <a:endParaRPr/>
          </a:p>
        </p:txBody>
      </p:sp>
      <p:sp>
        <p:nvSpPr>
          <p:cNvPr id="736" name="Google Shape;736;p60"/>
          <p:cNvSpPr txBox="1"/>
          <p:nvPr>
            <p:ph idx="1" type="body"/>
          </p:nvPr>
        </p:nvSpPr>
        <p:spPr>
          <a:xfrm>
            <a:off x="198500" y="1246825"/>
            <a:ext cx="6244500" cy="3765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latin typeface="Courier New"/>
                <a:ea typeface="Courier New"/>
                <a:cs typeface="Courier New"/>
                <a:sym typeface="Courier New"/>
              </a:rPr>
              <a:t>$ dig +norecurse eecs.berkeley.edu @</a:t>
            </a:r>
            <a:r>
              <a:rPr b="1" lang="en" sz="1200">
                <a:solidFill>
                  <a:srgbClr val="0000FF"/>
                </a:solidFill>
                <a:latin typeface="Courier New"/>
                <a:ea typeface="Courier New"/>
                <a:cs typeface="Courier New"/>
                <a:sym typeface="Courier New"/>
              </a:rPr>
              <a:t>192.5.6.30</a:t>
            </a:r>
            <a:endParaRPr b="1" sz="1200">
              <a:latin typeface="Courier New"/>
              <a:ea typeface="Courier New"/>
              <a:cs typeface="Courier New"/>
              <a:sym typeface="Courier New"/>
            </a:endParaRPr>
          </a:p>
        </p:txBody>
      </p:sp>
      <p:sp>
        <p:nvSpPr>
          <p:cNvPr id="737" name="Google Shape;737;p6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738" name="Google Shape;738;p60"/>
          <p:cNvGrpSpPr/>
          <p:nvPr/>
        </p:nvGrpSpPr>
        <p:grpSpPr>
          <a:xfrm>
            <a:off x="3439375" y="1299475"/>
            <a:ext cx="5306925" cy="1262100"/>
            <a:chOff x="3439375" y="1299475"/>
            <a:chExt cx="5306925" cy="1262100"/>
          </a:xfrm>
        </p:grpSpPr>
        <p:sp>
          <p:nvSpPr>
            <p:cNvPr id="739" name="Google Shape;739;p60"/>
            <p:cNvSpPr/>
            <p:nvPr/>
          </p:nvSpPr>
          <p:spPr>
            <a:xfrm>
              <a:off x="3439375" y="1299475"/>
              <a:ext cx="1132500" cy="264600"/>
            </a:xfrm>
            <a:prstGeom prst="roundRect">
              <a:avLst>
                <a:gd fmla="val 16667" name="adj"/>
              </a:avLst>
            </a:prstGeom>
            <a:noFill/>
            <a:ln cap="flat" cmpd="sng" w="2857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40" name="Google Shape;740;p60"/>
            <p:cNvCxnSpPr>
              <a:endCxn id="739" idx="3"/>
            </p:cNvCxnSpPr>
            <p:nvPr/>
          </p:nvCxnSpPr>
          <p:spPr>
            <a:xfrm rot="10800000">
              <a:off x="4571875" y="1431775"/>
              <a:ext cx="1743000" cy="0"/>
            </a:xfrm>
            <a:prstGeom prst="straightConnector1">
              <a:avLst/>
            </a:prstGeom>
            <a:noFill/>
            <a:ln cap="flat" cmpd="sng" w="19050">
              <a:solidFill>
                <a:srgbClr val="E69138"/>
              </a:solidFill>
              <a:prstDash val="solid"/>
              <a:round/>
              <a:headEnd len="med" w="med" type="none"/>
              <a:tailEnd len="med" w="med" type="triangle"/>
            </a:ln>
          </p:spPr>
        </p:cxnSp>
        <p:sp>
          <p:nvSpPr>
            <p:cNvPr id="741" name="Google Shape;741;p60"/>
            <p:cNvSpPr txBox="1"/>
            <p:nvPr/>
          </p:nvSpPr>
          <p:spPr>
            <a:xfrm>
              <a:off x="5995600" y="1299475"/>
              <a:ext cx="2750700" cy="12621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Next, we query the </a:t>
              </a:r>
              <a:r>
                <a:rPr b="1" lang="en">
                  <a:solidFill>
                    <a:schemeClr val="dk1"/>
                  </a:solidFill>
                  <a:latin typeface="Courier New"/>
                  <a:ea typeface="Courier New"/>
                  <a:cs typeface="Courier New"/>
                  <a:sym typeface="Courier New"/>
                </a:rPr>
                <a:t>.edu</a:t>
              </a:r>
              <a:r>
                <a:rPr lang="en">
                  <a:solidFill>
                    <a:schemeClr val="dk1"/>
                  </a:solidFill>
                </a:rPr>
                <a:t> name server. We know the IP address of the </a:t>
              </a:r>
              <a:r>
                <a:rPr b="1" lang="en">
                  <a:solidFill>
                    <a:schemeClr val="dk1"/>
                  </a:solidFill>
                  <a:latin typeface="Courier New"/>
                  <a:ea typeface="Courier New"/>
                  <a:cs typeface="Courier New"/>
                  <a:sym typeface="Courier New"/>
                </a:rPr>
                <a:t>.edu</a:t>
              </a:r>
              <a:r>
                <a:rPr lang="en">
                  <a:solidFill>
                    <a:schemeClr val="dk1"/>
                  </a:solidFill>
                </a:rPr>
                <a:t> name server because the root name server gave the information to us.</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6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 Lookup Walkthrough</a:t>
            </a:r>
            <a:endParaRPr/>
          </a:p>
        </p:txBody>
      </p:sp>
      <p:sp>
        <p:nvSpPr>
          <p:cNvPr id="747" name="Google Shape;747;p61"/>
          <p:cNvSpPr txBox="1"/>
          <p:nvPr>
            <p:ph idx="1" type="body"/>
          </p:nvPr>
        </p:nvSpPr>
        <p:spPr>
          <a:xfrm>
            <a:off x="198500" y="1246825"/>
            <a:ext cx="6244500" cy="3765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latin typeface="Courier New"/>
                <a:ea typeface="Courier New"/>
                <a:cs typeface="Courier New"/>
                <a:sym typeface="Courier New"/>
              </a:rPr>
              <a:t>$ dig +norecurse eecs.berkeley.edu @192.5.6.30</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Got answer:</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-&gt;&gt;HEADER&lt;&lt;- opcode: QUERY, status: NOERROR, id: 36257</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flags: qr; QUERY: 1, ANSWER: 0, AUTHORITY: 3, ADDITIONAL: 5</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QUESTION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;eecs.berkeley.edu.       	IN   A</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AUTHORITY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berkeley.edu.    	 172800   IN   NS   adns1.berkeley.edu.</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berkeley.edu.    	 172800   IN   NS   adns2.berkeley.edu.</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berkeley.edu.    	 172800   IN   NS   adns3.berkeley.edu.</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8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ADDITIONAL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adns1.berkeley.edu.  172800   IN   A	</a:t>
            </a:r>
            <a:r>
              <a:rPr b="1" lang="en" sz="1200">
                <a:solidFill>
                  <a:srgbClr val="0000FF"/>
                </a:solidFill>
                <a:latin typeface="Courier New"/>
                <a:ea typeface="Courier New"/>
                <a:cs typeface="Courier New"/>
                <a:sym typeface="Courier New"/>
              </a:rPr>
              <a:t>128.32.136.3</a:t>
            </a:r>
            <a:endParaRPr b="1" sz="1200">
              <a:solidFill>
                <a:srgbClr val="0000FF"/>
              </a:solidFill>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adns2.berkeley.edu.  172800   IN   A	128.32.136.14</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adns3.berkeley.edu.  172800   IN   A	192.107.102.142</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a:t>
            </a:r>
            <a:endParaRPr b="1" sz="1200">
              <a:latin typeface="Courier New"/>
              <a:ea typeface="Courier New"/>
              <a:cs typeface="Courier New"/>
              <a:sym typeface="Courier New"/>
            </a:endParaRPr>
          </a:p>
        </p:txBody>
      </p:sp>
      <p:sp>
        <p:nvSpPr>
          <p:cNvPr id="748" name="Google Shape;748;p6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49" name="Google Shape;749;p61"/>
          <p:cNvSpPr txBox="1"/>
          <p:nvPr/>
        </p:nvSpPr>
        <p:spPr>
          <a:xfrm>
            <a:off x="5972250" y="2466700"/>
            <a:ext cx="2750700" cy="16932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The answer section is blank again. The authority and additional section tell us to query a </a:t>
            </a:r>
            <a:r>
              <a:rPr b="1" lang="en">
                <a:solidFill>
                  <a:schemeClr val="dk1"/>
                </a:solidFill>
                <a:latin typeface="Courier New"/>
                <a:ea typeface="Courier New"/>
                <a:cs typeface="Courier New"/>
                <a:sym typeface="Courier New"/>
              </a:rPr>
              <a:t>berkeley.edu</a:t>
            </a:r>
            <a:r>
              <a:rPr lang="en">
                <a:solidFill>
                  <a:schemeClr val="dk1"/>
                </a:solidFill>
              </a:rPr>
              <a:t> name server, and provide us with the IP address of the next name server.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6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 Lookup Walkthrough</a:t>
            </a:r>
            <a:endParaRPr/>
          </a:p>
        </p:txBody>
      </p:sp>
      <p:sp>
        <p:nvSpPr>
          <p:cNvPr id="755" name="Google Shape;755;p62"/>
          <p:cNvSpPr txBox="1"/>
          <p:nvPr>
            <p:ph idx="1" type="body"/>
          </p:nvPr>
        </p:nvSpPr>
        <p:spPr>
          <a:xfrm>
            <a:off x="198500" y="1246825"/>
            <a:ext cx="6244500" cy="3765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latin typeface="Courier New"/>
                <a:ea typeface="Courier New"/>
                <a:cs typeface="Courier New"/>
                <a:sym typeface="Courier New"/>
              </a:rPr>
              <a:t>$ dig +norecurse eecs.berkeley.edu @</a:t>
            </a:r>
            <a:r>
              <a:rPr b="1" lang="en" sz="1200">
                <a:solidFill>
                  <a:srgbClr val="0000FF"/>
                </a:solidFill>
                <a:latin typeface="Courier New"/>
                <a:ea typeface="Courier New"/>
                <a:cs typeface="Courier New"/>
                <a:sym typeface="Courier New"/>
              </a:rPr>
              <a:t>128.32.136.3</a:t>
            </a:r>
            <a:endParaRPr b="1" sz="1200">
              <a:latin typeface="Courier New"/>
              <a:ea typeface="Courier New"/>
              <a:cs typeface="Courier New"/>
              <a:sym typeface="Courier New"/>
            </a:endParaRPr>
          </a:p>
        </p:txBody>
      </p:sp>
      <p:sp>
        <p:nvSpPr>
          <p:cNvPr id="756" name="Google Shape;756;p6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757" name="Google Shape;757;p62"/>
          <p:cNvGrpSpPr/>
          <p:nvPr/>
        </p:nvGrpSpPr>
        <p:grpSpPr>
          <a:xfrm>
            <a:off x="3439375" y="1299475"/>
            <a:ext cx="5033025" cy="2124000"/>
            <a:chOff x="3439375" y="1299475"/>
            <a:chExt cx="5033025" cy="2124000"/>
          </a:xfrm>
        </p:grpSpPr>
        <p:sp>
          <p:nvSpPr>
            <p:cNvPr id="758" name="Google Shape;758;p62"/>
            <p:cNvSpPr/>
            <p:nvPr/>
          </p:nvSpPr>
          <p:spPr>
            <a:xfrm>
              <a:off x="3439375" y="1299475"/>
              <a:ext cx="1353900" cy="264600"/>
            </a:xfrm>
            <a:prstGeom prst="roundRect">
              <a:avLst>
                <a:gd fmla="val 16667" name="adj"/>
              </a:avLst>
            </a:prstGeom>
            <a:noFill/>
            <a:ln cap="flat" cmpd="sng" w="2857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59" name="Google Shape;759;p62"/>
            <p:cNvCxnSpPr>
              <a:endCxn id="758" idx="3"/>
            </p:cNvCxnSpPr>
            <p:nvPr/>
          </p:nvCxnSpPr>
          <p:spPr>
            <a:xfrm rot="10800000">
              <a:off x="4793275" y="1431775"/>
              <a:ext cx="1743000" cy="0"/>
            </a:xfrm>
            <a:prstGeom prst="straightConnector1">
              <a:avLst/>
            </a:prstGeom>
            <a:noFill/>
            <a:ln cap="flat" cmpd="sng" w="19050">
              <a:solidFill>
                <a:srgbClr val="E69138"/>
              </a:solidFill>
              <a:prstDash val="solid"/>
              <a:round/>
              <a:headEnd len="med" w="med" type="none"/>
              <a:tailEnd len="med" w="med" type="triangle"/>
            </a:ln>
          </p:spPr>
        </p:cxnSp>
        <p:sp>
          <p:nvSpPr>
            <p:cNvPr id="760" name="Google Shape;760;p62"/>
            <p:cNvSpPr txBox="1"/>
            <p:nvPr/>
          </p:nvSpPr>
          <p:spPr>
            <a:xfrm>
              <a:off x="5995600" y="1299475"/>
              <a:ext cx="2476800" cy="21240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Next, we query the </a:t>
              </a:r>
              <a:r>
                <a:rPr b="1" lang="en">
                  <a:solidFill>
                    <a:schemeClr val="dk1"/>
                  </a:solidFill>
                  <a:latin typeface="Courier New"/>
                  <a:ea typeface="Courier New"/>
                  <a:cs typeface="Courier New"/>
                  <a:sym typeface="Courier New"/>
                </a:rPr>
                <a:t>berkeley.edu</a:t>
              </a:r>
              <a:r>
                <a:rPr lang="en">
                  <a:solidFill>
                    <a:schemeClr val="dk1"/>
                  </a:solidFill>
                </a:rPr>
                <a:t> name server for the IP address of </a:t>
              </a:r>
              <a:r>
                <a:rPr b="1" lang="en">
                  <a:solidFill>
                    <a:schemeClr val="dk1"/>
                  </a:solidFill>
                  <a:latin typeface="Courier New"/>
                  <a:ea typeface="Courier New"/>
                  <a:cs typeface="Courier New"/>
                  <a:sym typeface="Courier New"/>
                </a:rPr>
                <a:t>eecs.berkeley.edu</a:t>
              </a:r>
              <a:r>
                <a:rPr lang="en">
                  <a:solidFill>
                    <a:schemeClr val="dk1"/>
                  </a:solidFill>
                </a:rPr>
                <a:t>. We know the IP address of the</a:t>
              </a:r>
              <a:r>
                <a:rPr b="1" lang="en">
                  <a:solidFill>
                    <a:schemeClr val="dk1"/>
                  </a:solidFill>
                  <a:latin typeface="Courier New"/>
                  <a:ea typeface="Courier New"/>
                  <a:cs typeface="Courier New"/>
                  <a:sym typeface="Courier New"/>
                </a:rPr>
                <a:t> </a:t>
              </a:r>
              <a:r>
                <a:rPr b="1" lang="en">
                  <a:solidFill>
                    <a:schemeClr val="dk1"/>
                  </a:solidFill>
                  <a:latin typeface="Courier New"/>
                  <a:ea typeface="Courier New"/>
                  <a:cs typeface="Courier New"/>
                  <a:sym typeface="Courier New"/>
                </a:rPr>
                <a:t>berkeley.edu</a:t>
              </a:r>
              <a:r>
                <a:rPr lang="en">
                  <a:solidFill>
                    <a:schemeClr val="dk1"/>
                  </a:solidFill>
                </a:rPr>
                <a:t> name server because the root name server gave the information to us.</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6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 Lookup Walkthrough</a:t>
            </a:r>
            <a:endParaRPr/>
          </a:p>
        </p:txBody>
      </p:sp>
      <p:sp>
        <p:nvSpPr>
          <p:cNvPr id="766" name="Google Shape;766;p63"/>
          <p:cNvSpPr txBox="1"/>
          <p:nvPr>
            <p:ph idx="1" type="body"/>
          </p:nvPr>
        </p:nvSpPr>
        <p:spPr>
          <a:xfrm>
            <a:off x="198500" y="1246825"/>
            <a:ext cx="6244500" cy="3765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latin typeface="Courier New"/>
                <a:ea typeface="Courier New"/>
                <a:cs typeface="Courier New"/>
                <a:sym typeface="Courier New"/>
              </a:rPr>
              <a:t>$ dig +norecurse eecs.berkeley.edu @128.32.136.3</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Got answer:</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-&gt;&gt;HEADER&lt;&lt;- opcode: QUERY, status: NOERROR, id: 52788</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flags: qr aa; QUERY: 1, ANSWER: 1, AUTHORITY: 0, ADDITIONAL: 1</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QUESTION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;eecs.berkeley.edu.     	   IN   A</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ANSWER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eecs.berkeley.edu.  86400   IN   A   23.185.0.1</a:t>
            </a:r>
            <a:endParaRPr b="1" sz="1200">
              <a:latin typeface="Courier New"/>
              <a:ea typeface="Courier New"/>
              <a:cs typeface="Courier New"/>
              <a:sym typeface="Courier New"/>
            </a:endParaRPr>
          </a:p>
        </p:txBody>
      </p:sp>
      <p:sp>
        <p:nvSpPr>
          <p:cNvPr id="767" name="Google Shape;767;p6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768" name="Google Shape;768;p63"/>
          <p:cNvGrpSpPr/>
          <p:nvPr/>
        </p:nvGrpSpPr>
        <p:grpSpPr>
          <a:xfrm>
            <a:off x="198500" y="2925775"/>
            <a:ext cx="4509300" cy="2034900"/>
            <a:chOff x="198500" y="2925775"/>
            <a:chExt cx="4509300" cy="2034900"/>
          </a:xfrm>
        </p:grpSpPr>
        <p:sp>
          <p:nvSpPr>
            <p:cNvPr id="769" name="Google Shape;769;p63"/>
            <p:cNvSpPr/>
            <p:nvPr/>
          </p:nvSpPr>
          <p:spPr>
            <a:xfrm>
              <a:off x="198500" y="2925775"/>
              <a:ext cx="4509300" cy="482400"/>
            </a:xfrm>
            <a:prstGeom prst="roundRect">
              <a:avLst>
                <a:gd fmla="val 16667" name="adj"/>
              </a:avLst>
            </a:prstGeom>
            <a:noFill/>
            <a:ln cap="flat" cmpd="sng" w="2857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70" name="Google Shape;770;p63"/>
            <p:cNvCxnSpPr/>
            <p:nvPr/>
          </p:nvCxnSpPr>
          <p:spPr>
            <a:xfrm rot="10800000">
              <a:off x="1046875" y="3408175"/>
              <a:ext cx="0" cy="638100"/>
            </a:xfrm>
            <a:prstGeom prst="straightConnector1">
              <a:avLst/>
            </a:prstGeom>
            <a:noFill/>
            <a:ln cap="flat" cmpd="sng" w="19050">
              <a:solidFill>
                <a:srgbClr val="E69138"/>
              </a:solidFill>
              <a:prstDash val="solid"/>
              <a:round/>
              <a:headEnd len="med" w="med" type="none"/>
              <a:tailEnd len="med" w="med" type="triangle"/>
            </a:ln>
          </p:spPr>
        </p:cxnSp>
        <p:sp>
          <p:nvSpPr>
            <p:cNvPr id="771" name="Google Shape;771;p63"/>
            <p:cNvSpPr txBox="1"/>
            <p:nvPr/>
          </p:nvSpPr>
          <p:spPr>
            <a:xfrm>
              <a:off x="727600" y="3913975"/>
              <a:ext cx="2945100" cy="10467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The answer section has one A type record. It tells us that the IP address of </a:t>
              </a:r>
              <a:r>
                <a:rPr b="1" lang="en">
                  <a:solidFill>
                    <a:schemeClr val="dk1"/>
                  </a:solidFill>
                  <a:latin typeface="Courier New"/>
                  <a:ea typeface="Courier New"/>
                  <a:cs typeface="Courier New"/>
                  <a:sym typeface="Courier New"/>
                </a:rPr>
                <a:t>eecs.berkeley.edu</a:t>
              </a:r>
              <a:r>
                <a:rPr lang="en">
                  <a:solidFill>
                    <a:schemeClr val="dk1"/>
                  </a:solidFill>
                </a:rPr>
                <a:t> is </a:t>
              </a:r>
              <a:r>
                <a:rPr b="1" lang="en">
                  <a:solidFill>
                    <a:schemeClr val="dk1"/>
                  </a:solidFill>
                  <a:latin typeface="Courier New"/>
                  <a:ea typeface="Courier New"/>
                  <a:cs typeface="Courier New"/>
                  <a:sym typeface="Courier New"/>
                </a:rPr>
                <a:t>23.185.0.1</a:t>
              </a:r>
              <a:r>
                <a:rPr lang="en">
                  <a:solidFill>
                    <a:schemeClr val="dk1"/>
                  </a:solidFill>
                </a:rPr>
                <a:t>.</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6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 Lookup Walkthrough</a:t>
            </a:r>
            <a:endParaRPr/>
          </a:p>
        </p:txBody>
      </p:sp>
      <p:sp>
        <p:nvSpPr>
          <p:cNvPr id="777" name="Google Shape;777;p64"/>
          <p:cNvSpPr txBox="1"/>
          <p:nvPr>
            <p:ph idx="1" type="body"/>
          </p:nvPr>
        </p:nvSpPr>
        <p:spPr>
          <a:xfrm>
            <a:off x="198500" y="1246825"/>
            <a:ext cx="6244500" cy="3765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latin typeface="Courier New"/>
                <a:ea typeface="Courier New"/>
                <a:cs typeface="Courier New"/>
                <a:sym typeface="Courier New"/>
              </a:rPr>
              <a:t>$ dig +norecurse eecs.berkeley.edu @128.32.136.3</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Got answer:</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-&gt;&gt;HEADER&lt;&lt;- opcode: QUERY, status: NOERROR, id: 52788</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flags: qr aa; QUERY: 1, ANSWER: 1, AUTHORITY: 0, ADDITIONAL: 1</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QUESTION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;eecs.berkeley.edu.     	   IN   A</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ANSWER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eecs.berkeley.edu.  86400   IN   A   23.185.0.1</a:t>
            </a:r>
            <a:endParaRPr b="1" sz="1200">
              <a:latin typeface="Courier New"/>
              <a:ea typeface="Courier New"/>
              <a:cs typeface="Courier New"/>
              <a:sym typeface="Courier New"/>
            </a:endParaRPr>
          </a:p>
        </p:txBody>
      </p:sp>
      <p:sp>
        <p:nvSpPr>
          <p:cNvPr id="778" name="Google Shape;778;p6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779" name="Google Shape;779;p64"/>
          <p:cNvGrpSpPr/>
          <p:nvPr/>
        </p:nvGrpSpPr>
        <p:grpSpPr>
          <a:xfrm>
            <a:off x="881325" y="3143575"/>
            <a:ext cx="3538500" cy="1593900"/>
            <a:chOff x="881325" y="3143575"/>
            <a:chExt cx="3538500" cy="1593900"/>
          </a:xfrm>
        </p:grpSpPr>
        <p:cxnSp>
          <p:nvCxnSpPr>
            <p:cNvPr id="780" name="Google Shape;780;p64"/>
            <p:cNvCxnSpPr/>
            <p:nvPr/>
          </p:nvCxnSpPr>
          <p:spPr>
            <a:xfrm rot="10800000">
              <a:off x="2353875" y="3408175"/>
              <a:ext cx="0" cy="638100"/>
            </a:xfrm>
            <a:prstGeom prst="straightConnector1">
              <a:avLst/>
            </a:prstGeom>
            <a:noFill/>
            <a:ln cap="flat" cmpd="sng" w="19050">
              <a:solidFill>
                <a:srgbClr val="E69138"/>
              </a:solidFill>
              <a:prstDash val="solid"/>
              <a:round/>
              <a:headEnd len="med" w="med" type="none"/>
              <a:tailEnd len="med" w="med" type="triangle"/>
            </a:ln>
          </p:spPr>
        </p:cxnSp>
        <p:sp>
          <p:nvSpPr>
            <p:cNvPr id="781" name="Google Shape;781;p64"/>
            <p:cNvSpPr txBox="1"/>
            <p:nvPr/>
          </p:nvSpPr>
          <p:spPr>
            <a:xfrm>
              <a:off x="881325" y="3906175"/>
              <a:ext cx="3538500" cy="831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Here’s </a:t>
              </a:r>
              <a:r>
                <a:rPr lang="en">
                  <a:solidFill>
                    <a:schemeClr val="dk1"/>
                  </a:solidFill>
                </a:rPr>
                <a:t>the time-to-live (TTL) field in the record. It tells us that we can cache this answer for 86,400 seconds (24 hours).</a:t>
              </a:r>
              <a:endParaRPr/>
            </a:p>
          </p:txBody>
        </p:sp>
        <p:sp>
          <p:nvSpPr>
            <p:cNvPr id="782" name="Google Shape;782;p64"/>
            <p:cNvSpPr/>
            <p:nvPr/>
          </p:nvSpPr>
          <p:spPr>
            <a:xfrm>
              <a:off x="2046525" y="3143575"/>
              <a:ext cx="614700" cy="264600"/>
            </a:xfrm>
            <a:prstGeom prst="roundRect">
              <a:avLst>
                <a:gd fmla="val 16667" name="adj"/>
              </a:avLst>
            </a:prstGeom>
            <a:noFill/>
            <a:ln cap="flat" cmpd="sng" w="2857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A4C2F4"/>
        </a:solidFill>
      </p:bgPr>
    </p:bg>
    <p:spTree>
      <p:nvGrpSpPr>
        <p:cNvPr id="786" name="Shape 786"/>
        <p:cNvGrpSpPr/>
        <p:nvPr/>
      </p:nvGrpSpPr>
      <p:grpSpPr>
        <a:xfrm>
          <a:off x="0" y="0"/>
          <a:ext cx="0" cy="0"/>
          <a:chOff x="0" y="0"/>
          <a:chExt cx="0" cy="0"/>
        </a:xfrm>
      </p:grpSpPr>
      <p:sp>
        <p:nvSpPr>
          <p:cNvPr id="787" name="Google Shape;787;p6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 Lookup Walkthrough: su24.cs161.org</a:t>
            </a:r>
            <a:endParaRPr/>
          </a:p>
        </p:txBody>
      </p:sp>
      <p:sp>
        <p:nvSpPr>
          <p:cNvPr id="788" name="Google Shape;788;p6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789" name="Google Shape;789;p65"/>
          <p:cNvPicPr preferRelativeResize="0"/>
          <p:nvPr/>
        </p:nvPicPr>
        <p:blipFill>
          <a:blip r:embed="rId3">
            <a:alphaModFix/>
          </a:blip>
          <a:stretch>
            <a:fillRect/>
          </a:stretch>
        </p:blipFill>
        <p:spPr>
          <a:xfrm>
            <a:off x="337401" y="1050275"/>
            <a:ext cx="8469197" cy="3854151"/>
          </a:xfrm>
          <a:prstGeom prst="rect">
            <a:avLst/>
          </a:prstGeom>
          <a:noFill/>
          <a:ln>
            <a:noFill/>
          </a:ln>
        </p:spPr>
      </p:pic>
      <p:sp>
        <p:nvSpPr>
          <p:cNvPr id="790" name="Google Shape;790;p65"/>
          <p:cNvSpPr txBox="1"/>
          <p:nvPr/>
        </p:nvSpPr>
        <p:spPr>
          <a:xfrm>
            <a:off x="512100" y="4520775"/>
            <a:ext cx="8119800" cy="5727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ctr">
              <a:lnSpc>
                <a:spcPct val="115000"/>
              </a:lnSpc>
              <a:spcBef>
                <a:spcPts val="0"/>
              </a:spcBef>
              <a:spcAft>
                <a:spcPts val="1200"/>
              </a:spcAft>
              <a:buNone/>
            </a:pPr>
            <a:r>
              <a:rPr b="1" lang="en">
                <a:solidFill>
                  <a:srgbClr val="000000"/>
                </a:solidFill>
              </a:rPr>
              <a:t>Takeaway</a:t>
            </a:r>
            <a:r>
              <a:rPr lang="en">
                <a:solidFill>
                  <a:srgbClr val="000000"/>
                </a:solidFill>
              </a:rPr>
              <a:t>: </a:t>
            </a:r>
            <a:r>
              <a:rPr lang="en"/>
              <a:t>You can query common recursive resolvers instead of the root directly!</a:t>
            </a:r>
            <a:br>
              <a:rPr lang="en"/>
            </a:br>
            <a:r>
              <a:rPr lang="en"/>
              <a:t>8.8.8.8 a public DNS recursive resolver operated by Google.</a:t>
            </a:r>
            <a:endParaRPr>
              <a:solidFill>
                <a:srgbClr val="000000"/>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6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796" name="Google Shape;796;p66"/>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DNS Security</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sp>
        <p:nvSpPr>
          <p:cNvPr id="801" name="Google Shape;801;p6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Cache Poisoning Attacks</a:t>
            </a:r>
            <a:endParaRPr/>
          </a:p>
        </p:txBody>
      </p:sp>
      <p:sp>
        <p:nvSpPr>
          <p:cNvPr id="802" name="Google Shape;802;p67"/>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C</a:t>
            </a:r>
            <a:r>
              <a:rPr b="1" lang="en"/>
              <a:t>ache poisoning attack</a:t>
            </a:r>
            <a:r>
              <a:rPr lang="en"/>
              <a:t>: Returning a malicious record to the client</a:t>
            </a:r>
            <a:endParaRPr/>
          </a:p>
          <a:p>
            <a:pPr indent="-317500" lvl="1" marL="914400" rtl="0" algn="l">
              <a:spcBef>
                <a:spcPts val="0"/>
              </a:spcBef>
              <a:spcAft>
                <a:spcPts val="0"/>
              </a:spcAft>
              <a:buSzPts val="1400"/>
              <a:buChar char="○"/>
            </a:pPr>
            <a:r>
              <a:rPr lang="en"/>
              <a:t>The victim will cache the malicious records, “poisoning” it</a:t>
            </a:r>
            <a:endParaRPr/>
          </a:p>
          <a:p>
            <a:pPr indent="-342900" lvl="0" marL="457200" rtl="0" algn="l">
              <a:spcBef>
                <a:spcPts val="0"/>
              </a:spcBef>
              <a:spcAft>
                <a:spcPts val="0"/>
              </a:spcAft>
              <a:buSzPts val="1800"/>
              <a:buChar char="●"/>
            </a:pPr>
            <a:r>
              <a:rPr lang="en"/>
              <a:t>Example: Supply a malicious A record mapping a legitimate domain to the attacker’s IP address</a:t>
            </a:r>
            <a:endParaRPr/>
          </a:p>
          <a:p>
            <a:pPr indent="-317500" lvl="1" marL="914400" rtl="0" algn="l">
              <a:spcBef>
                <a:spcPts val="0"/>
              </a:spcBef>
              <a:spcAft>
                <a:spcPts val="0"/>
              </a:spcAft>
              <a:buSzPts val="1400"/>
              <a:buChar char="○"/>
            </a:pPr>
            <a:r>
              <a:rPr lang="en"/>
              <a:t>Now when the victim visits </a:t>
            </a:r>
            <a:r>
              <a:rPr b="1" lang="en">
                <a:latin typeface="Courier New"/>
                <a:ea typeface="Courier New"/>
                <a:cs typeface="Courier New"/>
                <a:sym typeface="Courier New"/>
              </a:rPr>
              <a:t>eecs.berkeley.edu</a:t>
            </a:r>
            <a:r>
              <a:rPr lang="en"/>
              <a:t>, they’ll actually be sending packets to the attacker (</a:t>
            </a:r>
            <a:r>
              <a:rPr b="1" lang="en">
                <a:latin typeface="Courier New"/>
                <a:ea typeface="Courier New"/>
                <a:cs typeface="Courier New"/>
                <a:sym typeface="Courier New"/>
              </a:rPr>
              <a:t>6.6.6.6</a:t>
            </a:r>
            <a:r>
              <a:rPr lang="en"/>
              <a:t>), who can act as a MITM!</a:t>
            </a:r>
            <a:endParaRPr/>
          </a:p>
        </p:txBody>
      </p:sp>
      <p:sp>
        <p:nvSpPr>
          <p:cNvPr id="803" name="Google Shape;803;p6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p6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Security Risk: </a:t>
            </a:r>
            <a:r>
              <a:rPr lang="en"/>
              <a:t>Malicious Name Servers</a:t>
            </a:r>
            <a:endParaRPr/>
          </a:p>
        </p:txBody>
      </p:sp>
      <p:sp>
        <p:nvSpPr>
          <p:cNvPr id="809" name="Google Shape;809;p68"/>
          <p:cNvSpPr txBox="1"/>
          <p:nvPr>
            <p:ph idx="1" type="body"/>
          </p:nvPr>
        </p:nvSpPr>
        <p:spPr>
          <a:xfrm>
            <a:off x="198500" y="1246825"/>
            <a:ext cx="8520600" cy="835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Malicious name servers can lie and supply a malicious answer</a:t>
            </a:r>
            <a:endParaRPr/>
          </a:p>
          <a:p>
            <a:pPr indent="-342900" lvl="0" marL="457200" rtl="0" algn="l">
              <a:spcBef>
                <a:spcPts val="0"/>
              </a:spcBef>
              <a:spcAft>
                <a:spcPts val="0"/>
              </a:spcAft>
              <a:buSzPts val="1800"/>
              <a:buChar char="●"/>
            </a:pPr>
            <a:r>
              <a:rPr lang="en"/>
              <a:t>Malicious records could also poison the cache with other records</a:t>
            </a:r>
            <a:endParaRPr/>
          </a:p>
        </p:txBody>
      </p:sp>
      <p:sp>
        <p:nvSpPr>
          <p:cNvPr id="810" name="Google Shape;810;p6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811" name="Google Shape;811;p68"/>
          <p:cNvSpPr txBox="1"/>
          <p:nvPr>
            <p:ph idx="1" type="body"/>
          </p:nvPr>
        </p:nvSpPr>
        <p:spPr>
          <a:xfrm>
            <a:off x="198500" y="2029025"/>
            <a:ext cx="6244500" cy="29835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latin typeface="Courier New"/>
                <a:ea typeface="Courier New"/>
                <a:cs typeface="Courier New"/>
                <a:sym typeface="Courier New"/>
              </a:rPr>
              <a:t>$ dig +norecurse eecs.berkeley.edu @128.32.136.3</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Got answer:</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-&gt;&gt;HEADER&lt;&lt;- opcode: QUERY, status: NOERROR, id: 52788</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flags: qr aa; QUERY: 1, ANSWER: 1, AUTHORITY: 0, ADDITIONAL: 1</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QUESTION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;eecs.berkeley.edu.     	     IN   A</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ANSWER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eecs.berkeley.edu.   86400    IN   A    23.185.0.1</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latin typeface="Courier New"/>
                <a:ea typeface="Courier New"/>
                <a:cs typeface="Courier New"/>
                <a:sym typeface="Courier New"/>
              </a:rPr>
              <a:t>;; ADDITIONAL SECTION:</a:t>
            </a:r>
            <a:endParaRPr b="1" sz="1200">
              <a:latin typeface="Courier New"/>
              <a:ea typeface="Courier New"/>
              <a:cs typeface="Courier New"/>
              <a:sym typeface="Courier New"/>
            </a:endParaRPr>
          </a:p>
          <a:p>
            <a:pPr indent="0" lvl="0" marL="0" rtl="0" algn="l">
              <a:lnSpc>
                <a:spcPct val="100000"/>
              </a:lnSpc>
              <a:spcBef>
                <a:spcPts val="0"/>
              </a:spcBef>
              <a:spcAft>
                <a:spcPts val="0"/>
              </a:spcAft>
              <a:buNone/>
            </a:pPr>
            <a:r>
              <a:rPr b="1" lang="en" sz="1200">
                <a:solidFill>
                  <a:srgbClr val="FF0000"/>
                </a:solidFill>
                <a:latin typeface="Courier New"/>
                <a:ea typeface="Courier New"/>
                <a:cs typeface="Courier New"/>
                <a:sym typeface="Courier New"/>
              </a:rPr>
              <a:t>www.google.com.      172800   IN   A	6.6.6.6</a:t>
            </a:r>
            <a:endParaRPr b="1" sz="1200">
              <a:solidFill>
                <a:srgbClr val="FF0000"/>
              </a:solidFill>
              <a:latin typeface="Courier New"/>
              <a:ea typeface="Courier New"/>
              <a:cs typeface="Courier New"/>
              <a:sym typeface="Courier New"/>
            </a:endParaRPr>
          </a:p>
        </p:txBody>
      </p:sp>
      <p:grpSp>
        <p:nvGrpSpPr>
          <p:cNvPr id="812" name="Google Shape;812;p68"/>
          <p:cNvGrpSpPr/>
          <p:nvPr/>
        </p:nvGrpSpPr>
        <p:grpSpPr>
          <a:xfrm>
            <a:off x="3439375" y="2082625"/>
            <a:ext cx="5279725" cy="1348925"/>
            <a:chOff x="3439375" y="2082625"/>
            <a:chExt cx="5279725" cy="1348925"/>
          </a:xfrm>
        </p:grpSpPr>
        <p:sp>
          <p:nvSpPr>
            <p:cNvPr id="813" name="Google Shape;813;p68"/>
            <p:cNvSpPr/>
            <p:nvPr/>
          </p:nvSpPr>
          <p:spPr>
            <a:xfrm>
              <a:off x="3439375" y="2082625"/>
              <a:ext cx="1353900" cy="264600"/>
            </a:xfrm>
            <a:prstGeom prst="roundRect">
              <a:avLst>
                <a:gd fmla="val 16667" name="adj"/>
              </a:avLst>
            </a:prstGeom>
            <a:noFill/>
            <a:ln cap="flat" cmpd="sng" w="2857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68"/>
            <p:cNvSpPr/>
            <p:nvPr/>
          </p:nvSpPr>
          <p:spPr>
            <a:xfrm>
              <a:off x="4793275" y="2216725"/>
              <a:ext cx="2714897" cy="777696"/>
            </a:xfrm>
            <a:custGeom>
              <a:rect b="b" l="l" r="r" t="t"/>
              <a:pathLst>
                <a:path extrusionOk="0" h="34324" w="100468">
                  <a:moveTo>
                    <a:pt x="100468" y="34324"/>
                  </a:moveTo>
                  <a:lnTo>
                    <a:pt x="100468" y="0"/>
                  </a:lnTo>
                  <a:lnTo>
                    <a:pt x="0" y="0"/>
                  </a:lnTo>
                </a:path>
              </a:pathLst>
            </a:custGeom>
            <a:noFill/>
            <a:ln cap="flat" cmpd="sng" w="19050">
              <a:solidFill>
                <a:srgbClr val="E69138"/>
              </a:solidFill>
              <a:prstDash val="solid"/>
              <a:round/>
              <a:headEnd len="med" w="med" type="none"/>
              <a:tailEnd len="med" w="med" type="triangle"/>
            </a:ln>
          </p:spPr>
        </p:sp>
        <p:sp>
          <p:nvSpPr>
            <p:cNvPr id="815" name="Google Shape;815;p68"/>
            <p:cNvSpPr txBox="1"/>
            <p:nvPr/>
          </p:nvSpPr>
          <p:spPr>
            <a:xfrm>
              <a:off x="6406400" y="2600250"/>
              <a:ext cx="2312700" cy="831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We made a query to a malicious </a:t>
              </a:r>
              <a:r>
                <a:rPr b="1" lang="en">
                  <a:solidFill>
                    <a:schemeClr val="dk1"/>
                  </a:solidFill>
                  <a:latin typeface="Courier New"/>
                  <a:ea typeface="Courier New"/>
                  <a:cs typeface="Courier New"/>
                  <a:sym typeface="Courier New"/>
                </a:rPr>
                <a:t>berkeley.edu</a:t>
              </a:r>
              <a:r>
                <a:rPr lang="en">
                  <a:solidFill>
                    <a:schemeClr val="dk1"/>
                  </a:solidFill>
                </a:rPr>
                <a:t> name server... </a:t>
              </a:r>
              <a:endParaRPr/>
            </a:p>
          </p:txBody>
        </p:sp>
      </p:grpSp>
      <p:grpSp>
        <p:nvGrpSpPr>
          <p:cNvPr id="816" name="Google Shape;816;p68"/>
          <p:cNvGrpSpPr/>
          <p:nvPr/>
        </p:nvGrpSpPr>
        <p:grpSpPr>
          <a:xfrm>
            <a:off x="266700" y="3494525"/>
            <a:ext cx="8452400" cy="1239675"/>
            <a:chOff x="266700" y="3494525"/>
            <a:chExt cx="8452400" cy="1239675"/>
          </a:xfrm>
        </p:grpSpPr>
        <p:sp>
          <p:nvSpPr>
            <p:cNvPr id="817" name="Google Shape;817;p68"/>
            <p:cNvSpPr/>
            <p:nvPr/>
          </p:nvSpPr>
          <p:spPr>
            <a:xfrm flipH="1" rot="10800000">
              <a:off x="4755250" y="3772898"/>
              <a:ext cx="2932159" cy="831327"/>
            </a:xfrm>
            <a:custGeom>
              <a:rect b="b" l="l" r="r" t="t"/>
              <a:pathLst>
                <a:path extrusionOk="0" h="34324" w="100468">
                  <a:moveTo>
                    <a:pt x="100468" y="34324"/>
                  </a:moveTo>
                  <a:lnTo>
                    <a:pt x="100468" y="0"/>
                  </a:lnTo>
                  <a:lnTo>
                    <a:pt x="0" y="0"/>
                  </a:lnTo>
                </a:path>
              </a:pathLst>
            </a:custGeom>
            <a:noFill/>
            <a:ln cap="flat" cmpd="sng" w="19050">
              <a:solidFill>
                <a:srgbClr val="E69138"/>
              </a:solidFill>
              <a:prstDash val="solid"/>
              <a:round/>
              <a:headEnd len="med" w="med" type="none"/>
              <a:tailEnd len="med" w="med" type="triangle"/>
            </a:ln>
          </p:spPr>
        </p:sp>
        <p:sp>
          <p:nvSpPr>
            <p:cNvPr id="818" name="Google Shape;818;p68"/>
            <p:cNvSpPr/>
            <p:nvPr/>
          </p:nvSpPr>
          <p:spPr>
            <a:xfrm>
              <a:off x="266700" y="4469600"/>
              <a:ext cx="4479600" cy="264600"/>
            </a:xfrm>
            <a:prstGeom prst="roundRect">
              <a:avLst>
                <a:gd fmla="val 16667" name="adj"/>
              </a:avLst>
            </a:prstGeom>
            <a:noFill/>
            <a:ln cap="flat" cmpd="sng" w="28575">
              <a:solidFill>
                <a:srgbClr val="E6913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68"/>
            <p:cNvSpPr txBox="1"/>
            <p:nvPr/>
          </p:nvSpPr>
          <p:spPr>
            <a:xfrm>
              <a:off x="6406400" y="3494525"/>
              <a:ext cx="2312700" cy="8313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...and it returned a malicious record for </a:t>
              </a:r>
              <a:r>
                <a:rPr b="1" lang="en">
                  <a:solidFill>
                    <a:schemeClr val="dk1"/>
                  </a:solidFill>
                  <a:latin typeface="Courier New"/>
                  <a:ea typeface="Courier New"/>
                  <a:cs typeface="Courier New"/>
                  <a:sym typeface="Courier New"/>
                </a:rPr>
                <a:t>www.google.com</a:t>
              </a:r>
              <a:r>
                <a:rPr lang="en">
                  <a:solidFill>
                    <a:schemeClr val="dk1"/>
                  </a:solidFill>
                </a:rPr>
                <a:t>!</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3" name="Shape 823"/>
        <p:cNvGrpSpPr/>
        <p:nvPr/>
      </p:nvGrpSpPr>
      <p:grpSpPr>
        <a:xfrm>
          <a:off x="0" y="0"/>
          <a:ext cx="0" cy="0"/>
          <a:chOff x="0" y="0"/>
          <a:chExt cx="0" cy="0"/>
        </a:xfrm>
      </p:grpSpPr>
      <p:sp>
        <p:nvSpPr>
          <p:cNvPr id="824" name="Google Shape;824;p6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Defense: Bailiwick Checking</a:t>
            </a:r>
            <a:endParaRPr/>
          </a:p>
        </p:txBody>
      </p:sp>
      <p:sp>
        <p:nvSpPr>
          <p:cNvPr id="825" name="Google Shape;825;p69"/>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Idea: Limit the amount of damage a malicious name server can do</a:t>
            </a:r>
            <a:endParaRPr/>
          </a:p>
          <a:p>
            <a:pPr indent="-342900" lvl="0" marL="457200" rtl="0" algn="l">
              <a:spcBef>
                <a:spcPts val="0"/>
              </a:spcBef>
              <a:spcAft>
                <a:spcPts val="0"/>
              </a:spcAft>
              <a:buSzPts val="1800"/>
              <a:buChar char="●"/>
            </a:pPr>
            <a:r>
              <a:rPr b="1" lang="en"/>
              <a:t>Bailiwick checking</a:t>
            </a:r>
            <a:r>
              <a:rPr lang="en"/>
              <a:t>: the resolver only accepts records if they are in the name server’s zone</a:t>
            </a:r>
            <a:endParaRPr/>
          </a:p>
          <a:p>
            <a:pPr indent="-317500" lvl="1" marL="914400" rtl="0" algn="l">
              <a:spcBef>
                <a:spcPts val="0"/>
              </a:spcBef>
              <a:spcAft>
                <a:spcPts val="0"/>
              </a:spcAft>
              <a:buSzPts val="1400"/>
              <a:buChar char="○"/>
            </a:pPr>
            <a:r>
              <a:rPr lang="en"/>
              <a:t>Bailiwick: “one’s sphere of operations or particular area of interest”</a:t>
            </a:r>
            <a:endParaRPr/>
          </a:p>
          <a:p>
            <a:pPr indent="-317500" lvl="1" marL="914400" rtl="0" algn="l">
              <a:spcBef>
                <a:spcPts val="0"/>
              </a:spcBef>
              <a:spcAft>
                <a:spcPts val="0"/>
              </a:spcAft>
              <a:buSzPts val="1400"/>
              <a:buChar char="○"/>
            </a:pPr>
            <a:r>
              <a:rPr lang="en"/>
              <a:t>Example: The </a:t>
            </a:r>
            <a:r>
              <a:rPr b="1" lang="en">
                <a:latin typeface="Courier New"/>
                <a:ea typeface="Courier New"/>
                <a:cs typeface="Courier New"/>
                <a:sym typeface="Courier New"/>
              </a:rPr>
              <a:t>berkeley.edu</a:t>
            </a:r>
            <a:r>
              <a:rPr lang="en"/>
              <a:t> name server can provide a record for </a:t>
            </a:r>
            <a:r>
              <a:rPr b="1" lang="en">
                <a:latin typeface="Courier New"/>
                <a:ea typeface="Courier New"/>
                <a:cs typeface="Courier New"/>
                <a:sym typeface="Courier New"/>
              </a:rPr>
              <a:t>eecs.berkeley.edu</a:t>
            </a:r>
            <a:r>
              <a:rPr lang="en"/>
              <a:t>, but not </a:t>
            </a:r>
            <a:r>
              <a:rPr b="1" lang="en">
                <a:latin typeface="Courier New"/>
                <a:ea typeface="Courier New"/>
                <a:cs typeface="Courier New"/>
                <a:sym typeface="Courier New"/>
              </a:rPr>
              <a:t>mit.edu</a:t>
            </a:r>
            <a:endParaRPr/>
          </a:p>
          <a:p>
            <a:pPr indent="-317500" lvl="1" marL="914400" rtl="0" algn="l">
              <a:spcBef>
                <a:spcPts val="0"/>
              </a:spcBef>
              <a:spcAft>
                <a:spcPts val="0"/>
              </a:spcAft>
              <a:buSzPts val="1400"/>
              <a:buChar char="○"/>
            </a:pPr>
            <a:r>
              <a:rPr lang="en"/>
              <a:t>Example: The </a:t>
            </a:r>
            <a:r>
              <a:rPr b="1" lang="en">
                <a:latin typeface="Courier New"/>
                <a:ea typeface="Courier New"/>
                <a:cs typeface="Courier New"/>
                <a:sym typeface="Courier New"/>
              </a:rPr>
              <a:t>.edu</a:t>
            </a:r>
            <a:r>
              <a:rPr lang="en"/>
              <a:t> name server can provide a record for </a:t>
            </a:r>
            <a:r>
              <a:rPr b="1" lang="en">
                <a:latin typeface="Courier New"/>
                <a:ea typeface="Courier New"/>
                <a:cs typeface="Courier New"/>
                <a:sym typeface="Courier New"/>
              </a:rPr>
              <a:t>mit.edu</a:t>
            </a:r>
            <a:r>
              <a:rPr lang="en"/>
              <a:t> and </a:t>
            </a:r>
            <a:r>
              <a:rPr b="1" lang="en">
                <a:latin typeface="Courier New"/>
                <a:ea typeface="Courier New"/>
                <a:cs typeface="Courier New"/>
                <a:sym typeface="Courier New"/>
              </a:rPr>
              <a:t>berkeley.edu</a:t>
            </a:r>
            <a:r>
              <a:rPr lang="en"/>
              <a:t>, but not </a:t>
            </a:r>
            <a:r>
              <a:rPr b="1" lang="en">
                <a:latin typeface="Courier New"/>
                <a:ea typeface="Courier New"/>
                <a:cs typeface="Courier New"/>
                <a:sym typeface="Courier New"/>
              </a:rPr>
              <a:t>google.com</a:t>
            </a:r>
            <a:endParaRPr b="1">
              <a:latin typeface="Courier New"/>
              <a:ea typeface="Courier New"/>
              <a:cs typeface="Courier New"/>
              <a:sym typeface="Courier New"/>
            </a:endParaRPr>
          </a:p>
          <a:p>
            <a:pPr indent="-317500" lvl="1" marL="914400" rtl="0" algn="l">
              <a:spcBef>
                <a:spcPts val="0"/>
              </a:spcBef>
              <a:spcAft>
                <a:spcPts val="0"/>
              </a:spcAft>
              <a:buSzPts val="1400"/>
              <a:buChar char="○"/>
            </a:pPr>
            <a:r>
              <a:rPr lang="en"/>
              <a:t>Example: The root name server can provide a record for any domain (everything is in bailiwick for the root)</a:t>
            </a:r>
            <a:endParaRPr/>
          </a:p>
        </p:txBody>
      </p:sp>
      <p:sp>
        <p:nvSpPr>
          <p:cNvPr id="826" name="Google Shape;826;p6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p7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Security Risk: Man-in-the-middle (MITM) Attackers</a:t>
            </a:r>
            <a:endParaRPr/>
          </a:p>
        </p:txBody>
      </p:sp>
      <p:sp>
        <p:nvSpPr>
          <p:cNvPr id="832" name="Google Shape;832;p70"/>
          <p:cNvSpPr txBox="1"/>
          <p:nvPr>
            <p:ph idx="1" type="body"/>
          </p:nvPr>
        </p:nvSpPr>
        <p:spPr>
          <a:xfrm>
            <a:off x="198500" y="1246825"/>
            <a:ext cx="8520600" cy="1601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DNS is not secure against MITM attackers</a:t>
            </a:r>
            <a:endParaRPr/>
          </a:p>
          <a:p>
            <a:pPr indent="-342900" lvl="0" marL="457200" rtl="0" algn="l">
              <a:spcBef>
                <a:spcPts val="0"/>
              </a:spcBef>
              <a:spcAft>
                <a:spcPts val="0"/>
              </a:spcAft>
              <a:buSzPts val="1800"/>
              <a:buChar char="●"/>
            </a:pPr>
            <a:r>
              <a:rPr lang="en"/>
              <a:t>MITM attackers can poison the cache by adding, removing, or changing any record in the DNS response</a:t>
            </a:r>
            <a:endParaRPr/>
          </a:p>
        </p:txBody>
      </p:sp>
      <p:sp>
        <p:nvSpPr>
          <p:cNvPr id="833" name="Google Shape;833;p7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834" name="Google Shape;834;p70"/>
          <p:cNvSpPr txBox="1"/>
          <p:nvPr/>
        </p:nvSpPr>
        <p:spPr>
          <a:xfrm>
            <a:off x="365775" y="4201950"/>
            <a:ext cx="6170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latin typeface="Courier New"/>
                <a:ea typeface="Courier New"/>
                <a:cs typeface="Courier New"/>
                <a:sym typeface="Courier New"/>
              </a:rPr>
              <a:t>;; ANSWER SECTION:</a:t>
            </a:r>
            <a:endParaRPr b="1">
              <a:solidFill>
                <a:schemeClr val="dk1"/>
              </a:solidFill>
              <a:latin typeface="Courier New"/>
              <a:ea typeface="Courier New"/>
              <a:cs typeface="Courier New"/>
              <a:sym typeface="Courier New"/>
            </a:endParaRPr>
          </a:p>
          <a:p>
            <a:pPr indent="0" lvl="0" marL="0" rtl="0" algn="l">
              <a:spcBef>
                <a:spcPts val="0"/>
              </a:spcBef>
              <a:spcAft>
                <a:spcPts val="0"/>
              </a:spcAft>
              <a:buNone/>
            </a:pPr>
            <a:r>
              <a:rPr b="1" lang="en">
                <a:solidFill>
                  <a:schemeClr val="dk1"/>
                </a:solidFill>
                <a:latin typeface="Courier New"/>
                <a:ea typeface="Courier New"/>
                <a:cs typeface="Courier New"/>
                <a:sym typeface="Courier New"/>
              </a:rPr>
              <a:t>eecs.berkeley.edu.  86400   IN   A   </a:t>
            </a:r>
            <a:r>
              <a:rPr b="1" lang="en" strike="sngStrike">
                <a:solidFill>
                  <a:srgbClr val="FF0000"/>
                </a:solidFill>
                <a:latin typeface="Courier New"/>
                <a:ea typeface="Courier New"/>
                <a:cs typeface="Courier New"/>
                <a:sym typeface="Courier New"/>
              </a:rPr>
              <a:t>23.185.0.1</a:t>
            </a:r>
            <a:r>
              <a:rPr b="1" lang="en">
                <a:solidFill>
                  <a:srgbClr val="FF0000"/>
                </a:solidFill>
                <a:latin typeface="Courier New"/>
                <a:ea typeface="Courier New"/>
                <a:cs typeface="Courier New"/>
                <a:sym typeface="Courier New"/>
              </a:rPr>
              <a:t> 6.6.6.6</a:t>
            </a:r>
            <a:endParaRPr>
              <a:solidFill>
                <a:srgbClr val="FF0000"/>
              </a:solidFill>
            </a:endParaRPr>
          </a:p>
        </p:txBody>
      </p:sp>
      <p:pic>
        <p:nvPicPr>
          <p:cNvPr id="835" name="Google Shape;835;p70"/>
          <p:cNvPicPr preferRelativeResize="0"/>
          <p:nvPr/>
        </p:nvPicPr>
        <p:blipFill rotWithShape="1">
          <a:blip r:embed="rId3">
            <a:alphaModFix/>
          </a:blip>
          <a:srcRect b="30067" l="29779" r="29258" t="14763"/>
          <a:stretch/>
        </p:blipFill>
        <p:spPr>
          <a:xfrm>
            <a:off x="6275075" y="3251175"/>
            <a:ext cx="1382899" cy="1448549"/>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7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Security Risk: </a:t>
            </a:r>
            <a:r>
              <a:rPr lang="en"/>
              <a:t>On-Path Attackers</a:t>
            </a:r>
            <a:endParaRPr/>
          </a:p>
        </p:txBody>
      </p:sp>
      <p:sp>
        <p:nvSpPr>
          <p:cNvPr id="841" name="Google Shape;841;p7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842" name="Google Shape;842;p71"/>
          <p:cNvSpPr txBox="1"/>
          <p:nvPr>
            <p:ph idx="1" type="body"/>
          </p:nvPr>
        </p:nvSpPr>
        <p:spPr>
          <a:xfrm>
            <a:off x="198500" y="1246825"/>
            <a:ext cx="8520600" cy="2005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DNS is not secure against on-path attackers</a:t>
            </a:r>
            <a:endParaRPr/>
          </a:p>
          <a:p>
            <a:pPr indent="-342900" lvl="0" marL="457200" rtl="0" algn="l">
              <a:spcBef>
                <a:spcPts val="0"/>
              </a:spcBef>
              <a:spcAft>
                <a:spcPts val="0"/>
              </a:spcAft>
              <a:buSzPts val="1800"/>
              <a:buChar char="●"/>
            </a:pPr>
            <a:r>
              <a:rPr lang="en"/>
              <a:t>On-path attackers can poison the cache by sending a spoofed response</a:t>
            </a:r>
            <a:endParaRPr/>
          </a:p>
          <a:p>
            <a:pPr indent="-317500" lvl="1" marL="914400" rtl="0" algn="l">
              <a:spcBef>
                <a:spcPts val="0"/>
              </a:spcBef>
              <a:spcAft>
                <a:spcPts val="0"/>
              </a:spcAft>
              <a:buSzPts val="1400"/>
              <a:buChar char="○"/>
            </a:pPr>
            <a:r>
              <a:rPr lang="en"/>
              <a:t>If the spoofed </a:t>
            </a:r>
            <a:r>
              <a:rPr lang="en"/>
              <a:t>response</a:t>
            </a:r>
            <a:r>
              <a:rPr lang="en"/>
              <a:t> arrives before the legitimate response, the victim will cache the attacker’s malicious records</a:t>
            </a:r>
            <a:endParaRPr/>
          </a:p>
          <a:p>
            <a:pPr indent="-317500" lvl="1" marL="914400" rtl="0" algn="l">
              <a:spcBef>
                <a:spcPts val="0"/>
              </a:spcBef>
              <a:spcAft>
                <a:spcPts val="0"/>
              </a:spcAft>
              <a:buSzPts val="1400"/>
              <a:buChar char="○"/>
            </a:pPr>
            <a:r>
              <a:rPr lang="en"/>
              <a:t>The on-path attacker can see every field in the unencrypted DNS request. Nothing to guess!</a:t>
            </a:r>
            <a:endParaRPr/>
          </a:p>
        </p:txBody>
      </p:sp>
      <p:grpSp>
        <p:nvGrpSpPr>
          <p:cNvPr id="843" name="Google Shape;843;p71"/>
          <p:cNvGrpSpPr/>
          <p:nvPr/>
        </p:nvGrpSpPr>
        <p:grpSpPr>
          <a:xfrm>
            <a:off x="3834300" y="3409600"/>
            <a:ext cx="4822150" cy="1334125"/>
            <a:chOff x="2538900" y="3409600"/>
            <a:chExt cx="4822150" cy="1334125"/>
          </a:xfrm>
        </p:grpSpPr>
        <p:sp>
          <p:nvSpPr>
            <p:cNvPr id="844" name="Google Shape;844;p71"/>
            <p:cNvSpPr txBox="1"/>
            <p:nvPr/>
          </p:nvSpPr>
          <p:spPr>
            <a:xfrm>
              <a:off x="2538900" y="3757825"/>
              <a:ext cx="1238100" cy="6228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Recursive Resolver</a:t>
              </a:r>
              <a:endParaRPr>
                <a:latin typeface="Calibri"/>
                <a:ea typeface="Calibri"/>
                <a:cs typeface="Calibri"/>
                <a:sym typeface="Calibri"/>
              </a:endParaRPr>
            </a:p>
          </p:txBody>
        </p:sp>
        <p:cxnSp>
          <p:nvCxnSpPr>
            <p:cNvPr id="845" name="Google Shape;845;p71"/>
            <p:cNvCxnSpPr>
              <a:endCxn id="846" idx="1"/>
            </p:cNvCxnSpPr>
            <p:nvPr/>
          </p:nvCxnSpPr>
          <p:spPr>
            <a:xfrm>
              <a:off x="4513150" y="4318625"/>
              <a:ext cx="1271400" cy="113700"/>
            </a:xfrm>
            <a:prstGeom prst="straightConnector1">
              <a:avLst/>
            </a:prstGeom>
            <a:noFill/>
            <a:ln cap="flat" cmpd="sng" w="19050">
              <a:solidFill>
                <a:srgbClr val="000000"/>
              </a:solidFill>
              <a:prstDash val="solid"/>
              <a:round/>
              <a:headEnd len="med" w="med" type="triangle"/>
              <a:tailEnd len="med" w="med" type="none"/>
            </a:ln>
          </p:spPr>
        </p:cxnSp>
        <p:sp>
          <p:nvSpPr>
            <p:cNvPr id="846" name="Google Shape;846;p71"/>
            <p:cNvSpPr txBox="1"/>
            <p:nvPr/>
          </p:nvSpPr>
          <p:spPr>
            <a:xfrm>
              <a:off x="5784550" y="4120925"/>
              <a:ext cx="1576500" cy="6228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berkeley.edu name server</a:t>
              </a:r>
              <a:endParaRPr>
                <a:latin typeface="Calibri"/>
                <a:ea typeface="Calibri"/>
                <a:cs typeface="Calibri"/>
                <a:sym typeface="Calibri"/>
              </a:endParaRPr>
            </a:p>
          </p:txBody>
        </p:sp>
        <p:sp>
          <p:nvSpPr>
            <p:cNvPr id="847" name="Google Shape;847;p71"/>
            <p:cNvSpPr txBox="1"/>
            <p:nvPr/>
          </p:nvSpPr>
          <p:spPr>
            <a:xfrm>
              <a:off x="5784550" y="3409600"/>
              <a:ext cx="1576500" cy="6228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Attacker</a:t>
              </a:r>
              <a:endParaRPr>
                <a:latin typeface="Calibri"/>
                <a:ea typeface="Calibri"/>
                <a:cs typeface="Calibri"/>
                <a:sym typeface="Calibri"/>
              </a:endParaRPr>
            </a:p>
          </p:txBody>
        </p:sp>
        <p:cxnSp>
          <p:nvCxnSpPr>
            <p:cNvPr id="848" name="Google Shape;848;p71"/>
            <p:cNvCxnSpPr>
              <a:stCxn id="844" idx="3"/>
              <a:endCxn id="847" idx="1"/>
            </p:cNvCxnSpPr>
            <p:nvPr/>
          </p:nvCxnSpPr>
          <p:spPr>
            <a:xfrm flipH="1" rot="10800000">
              <a:off x="3777000" y="3720925"/>
              <a:ext cx="2007600" cy="348300"/>
            </a:xfrm>
            <a:prstGeom prst="straightConnector1">
              <a:avLst/>
            </a:prstGeom>
            <a:noFill/>
            <a:ln cap="flat" cmpd="sng" w="19050">
              <a:solidFill>
                <a:srgbClr val="FF0000"/>
              </a:solidFill>
              <a:prstDash val="solid"/>
              <a:round/>
              <a:headEnd len="med" w="med" type="triangle"/>
              <a:tailEnd len="med" w="med" type="none"/>
            </a:ln>
          </p:spPr>
        </p:cxnSp>
      </p:grpSp>
      <p:sp>
        <p:nvSpPr>
          <p:cNvPr id="849" name="Google Shape;849;p71"/>
          <p:cNvSpPr/>
          <p:nvPr/>
        </p:nvSpPr>
        <p:spPr>
          <a:xfrm>
            <a:off x="512075" y="2975425"/>
            <a:ext cx="2313900" cy="1687800"/>
          </a:xfrm>
          <a:prstGeom prst="rect">
            <a:avLst/>
          </a:prstGeom>
          <a:solidFill>
            <a:srgbClr val="B6D7A8"/>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t>From: Port 1234</a:t>
            </a:r>
            <a:endParaRPr sz="1000"/>
          </a:p>
          <a:p>
            <a:pPr indent="0" lvl="0" marL="0" rtl="0" algn="l">
              <a:spcBef>
                <a:spcPts val="0"/>
              </a:spcBef>
              <a:spcAft>
                <a:spcPts val="0"/>
              </a:spcAft>
              <a:buNone/>
            </a:pPr>
            <a:r>
              <a:rPr lang="en" sz="1000"/>
              <a:t>To: Port 80</a:t>
            </a:r>
            <a:endParaRPr sz="1000"/>
          </a:p>
        </p:txBody>
      </p:sp>
      <p:sp>
        <p:nvSpPr>
          <p:cNvPr id="850" name="Google Shape;850;p71"/>
          <p:cNvSpPr/>
          <p:nvPr/>
        </p:nvSpPr>
        <p:spPr>
          <a:xfrm>
            <a:off x="730551" y="3409389"/>
            <a:ext cx="1876800" cy="1032600"/>
          </a:xfrm>
          <a:prstGeom prst="rect">
            <a:avLst/>
          </a:prstGeom>
          <a:solidFill>
            <a:srgbClr val="A4C2F4"/>
          </a:solidFill>
          <a:ln cap="flat" cmpd="sng" w="9525">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000"/>
          </a:p>
        </p:txBody>
      </p:sp>
      <p:graphicFrame>
        <p:nvGraphicFramePr>
          <p:cNvPr id="851" name="Google Shape;851;p71"/>
          <p:cNvGraphicFramePr/>
          <p:nvPr/>
        </p:nvGraphicFramePr>
        <p:xfrm>
          <a:off x="730550" y="3409388"/>
          <a:ext cx="3000000" cy="3000000"/>
        </p:xfrm>
        <a:graphic>
          <a:graphicData uri="http://schemas.openxmlformats.org/drawingml/2006/table">
            <a:tbl>
              <a:tblPr>
                <a:noFill/>
                <a:tableStyleId>{8746E7DE-0C9E-4540-9031-B6CDA728326B}</a:tableStyleId>
              </a:tblPr>
              <a:tblGrid>
                <a:gridCol w="938400"/>
                <a:gridCol w="938400"/>
              </a:tblGrid>
              <a:tr h="344200">
                <a:tc>
                  <a:txBody>
                    <a:bodyPr/>
                    <a:lstStyle/>
                    <a:p>
                      <a:pPr indent="0" lvl="0" marL="0" rtl="0" algn="ctr">
                        <a:spcBef>
                          <a:spcPts val="0"/>
                        </a:spcBef>
                        <a:spcAft>
                          <a:spcPts val="0"/>
                        </a:spcAft>
                        <a:buNone/>
                      </a:pPr>
                      <a:r>
                        <a:rPr lang="en" sz="1000"/>
                        <a:t>ID</a:t>
                      </a:r>
                      <a:endParaRPr sz="1000"/>
                    </a:p>
                  </a:txBody>
                  <a:tcPr marT="91425" marB="91425" marR="91425" marL="9142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a:txBody>
                    <a:bodyPr/>
                    <a:lstStyle/>
                    <a:p>
                      <a:pPr indent="0" lvl="0" marL="0" rtl="0" algn="ctr">
                        <a:spcBef>
                          <a:spcPts val="0"/>
                        </a:spcBef>
                        <a:spcAft>
                          <a:spcPts val="0"/>
                        </a:spcAft>
                        <a:buNone/>
                      </a:pPr>
                      <a:r>
                        <a:rPr lang="en" sz="1000"/>
                        <a:t>Flags</a:t>
                      </a:r>
                      <a:endParaRPr sz="1000"/>
                    </a:p>
                  </a:txBody>
                  <a:tcPr marT="91425" marB="91425" marR="91425" marL="9142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r>
              <a:tr h="344200">
                <a:tc gridSpan="2">
                  <a:txBody>
                    <a:bodyPr/>
                    <a:lstStyle/>
                    <a:p>
                      <a:pPr indent="0" lvl="0" marL="0" rtl="0" algn="ctr">
                        <a:spcBef>
                          <a:spcPts val="0"/>
                        </a:spcBef>
                        <a:spcAft>
                          <a:spcPts val="0"/>
                        </a:spcAft>
                        <a:buNone/>
                      </a:pPr>
                      <a:r>
                        <a:rPr lang="en" sz="1000"/>
                        <a:t>Counts</a:t>
                      </a:r>
                      <a:endParaRPr sz="1000"/>
                    </a:p>
                  </a:txBody>
                  <a:tcPr marT="91425" marB="91425" marR="91425" marL="9142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hMerge="1"/>
              </a:tr>
              <a:tr h="344200">
                <a:tc gridSpan="2">
                  <a:txBody>
                    <a:bodyPr/>
                    <a:lstStyle/>
                    <a:p>
                      <a:pPr indent="0" lvl="0" marL="0" rtl="0" algn="ctr">
                        <a:spcBef>
                          <a:spcPts val="0"/>
                        </a:spcBef>
                        <a:spcAft>
                          <a:spcPts val="0"/>
                        </a:spcAft>
                        <a:buNone/>
                      </a:pPr>
                      <a:r>
                        <a:rPr lang="en" sz="1000"/>
                        <a:t>Records</a:t>
                      </a:r>
                      <a:endParaRPr sz="1000"/>
                    </a:p>
                  </a:txBody>
                  <a:tcPr marT="91425" marB="91425" marR="91425" marL="91425">
                    <a:lnL cap="flat" cmpd="sng" w="9525">
                      <a:solidFill>
                        <a:srgbClr val="666666"/>
                      </a:solidFill>
                      <a:prstDash val="solid"/>
                      <a:round/>
                      <a:headEnd len="sm" w="sm" type="none"/>
                      <a:tailEnd len="sm" w="sm" type="none"/>
                    </a:lnL>
                    <a:lnR cap="flat" cmpd="sng" w="9525">
                      <a:solidFill>
                        <a:srgbClr val="666666"/>
                      </a:solidFill>
                      <a:prstDash val="solid"/>
                      <a:round/>
                      <a:headEnd len="sm" w="sm" type="none"/>
                      <a:tailEnd len="sm" w="sm" type="none"/>
                    </a:lnR>
                    <a:lnT cap="flat" cmpd="sng" w="9525">
                      <a:solidFill>
                        <a:srgbClr val="666666"/>
                      </a:solidFill>
                      <a:prstDash val="solid"/>
                      <a:round/>
                      <a:headEnd len="sm" w="sm" type="none"/>
                      <a:tailEnd len="sm" w="sm" type="none"/>
                    </a:lnT>
                    <a:lnB cap="flat" cmpd="sng" w="9525">
                      <a:solidFill>
                        <a:srgbClr val="666666"/>
                      </a:solidFill>
                      <a:prstDash val="solid"/>
                      <a:round/>
                      <a:headEnd len="sm" w="sm" type="none"/>
                      <a:tailEnd len="sm" w="sm" type="none"/>
                    </a:lnB>
                  </a:tcPr>
                </a:tc>
                <a:tc hMerge="1"/>
              </a:tr>
            </a:tbl>
          </a:graphicData>
        </a:graphic>
      </p:graphicFrame>
      <p:grpSp>
        <p:nvGrpSpPr>
          <p:cNvPr id="852" name="Google Shape;852;p71"/>
          <p:cNvGrpSpPr/>
          <p:nvPr/>
        </p:nvGrpSpPr>
        <p:grpSpPr>
          <a:xfrm>
            <a:off x="1437125" y="2861788"/>
            <a:ext cx="3410100" cy="957463"/>
            <a:chOff x="-1400712" y="3534025"/>
            <a:chExt cx="3410100" cy="957463"/>
          </a:xfrm>
        </p:grpSpPr>
        <p:sp>
          <p:nvSpPr>
            <p:cNvPr id="853" name="Google Shape;853;p71"/>
            <p:cNvSpPr/>
            <p:nvPr/>
          </p:nvSpPr>
          <p:spPr>
            <a:xfrm>
              <a:off x="498588" y="3534025"/>
              <a:ext cx="1510800" cy="273900"/>
            </a:xfrm>
            <a:prstGeom prst="rect">
              <a:avLst/>
            </a:prstGeom>
            <a:solidFill>
              <a:srgbClr val="A4C2F4"/>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(Unencrypted) ID</a:t>
              </a:r>
              <a:endParaRPr sz="1000"/>
            </a:p>
          </p:txBody>
        </p:sp>
        <p:sp>
          <p:nvSpPr>
            <p:cNvPr id="854" name="Google Shape;854;p71"/>
            <p:cNvSpPr/>
            <p:nvPr/>
          </p:nvSpPr>
          <p:spPr>
            <a:xfrm>
              <a:off x="671838" y="3962438"/>
              <a:ext cx="1164300" cy="290700"/>
            </a:xfrm>
            <a:prstGeom prst="rect">
              <a:avLst/>
            </a:prstGeom>
            <a:solidFill>
              <a:srgbClr val="B6D7A8"/>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t>Layer 4: UDP</a:t>
              </a:r>
              <a:endParaRPr sz="1000"/>
            </a:p>
          </p:txBody>
        </p:sp>
        <p:cxnSp>
          <p:nvCxnSpPr>
            <p:cNvPr id="855" name="Google Shape;855;p71"/>
            <p:cNvCxnSpPr>
              <a:stCxn id="854" idx="1"/>
              <a:endCxn id="849" idx="3"/>
            </p:cNvCxnSpPr>
            <p:nvPr/>
          </p:nvCxnSpPr>
          <p:spPr>
            <a:xfrm flipH="1">
              <a:off x="-11862" y="4107788"/>
              <a:ext cx="683700" cy="383700"/>
            </a:xfrm>
            <a:prstGeom prst="straightConnector1">
              <a:avLst/>
            </a:prstGeom>
            <a:noFill/>
            <a:ln cap="flat" cmpd="sng" w="9525">
              <a:solidFill>
                <a:srgbClr val="595959"/>
              </a:solidFill>
              <a:prstDash val="solid"/>
              <a:round/>
              <a:headEnd len="med" w="med" type="none"/>
              <a:tailEnd len="med" w="med" type="triangle"/>
            </a:ln>
          </p:spPr>
        </p:cxnSp>
        <p:cxnSp>
          <p:nvCxnSpPr>
            <p:cNvPr id="856" name="Google Shape;856;p71"/>
            <p:cNvCxnSpPr>
              <a:stCxn id="853" idx="1"/>
            </p:cNvCxnSpPr>
            <p:nvPr/>
          </p:nvCxnSpPr>
          <p:spPr>
            <a:xfrm flipH="1">
              <a:off x="-1400712" y="3670975"/>
              <a:ext cx="1899300" cy="510600"/>
            </a:xfrm>
            <a:prstGeom prst="straightConnector1">
              <a:avLst/>
            </a:prstGeom>
            <a:noFill/>
            <a:ln cap="flat" cmpd="sng" w="9525">
              <a:solidFill>
                <a:srgbClr val="595959"/>
              </a:solidFill>
              <a:prstDash val="solid"/>
              <a:round/>
              <a:headEnd len="med" w="med" type="none"/>
              <a:tailEnd len="med" w="med" type="triangle"/>
            </a:ln>
          </p:spPr>
        </p:cxnSp>
      </p:gr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p7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Security Risk: Off-Path Attackers</a:t>
            </a:r>
            <a:endParaRPr/>
          </a:p>
        </p:txBody>
      </p:sp>
      <p:sp>
        <p:nvSpPr>
          <p:cNvPr id="862" name="Google Shape;862;p72"/>
          <p:cNvSpPr txBox="1"/>
          <p:nvPr>
            <p:ph idx="1" type="body"/>
          </p:nvPr>
        </p:nvSpPr>
        <p:spPr>
          <a:xfrm>
            <a:off x="198500" y="1246825"/>
            <a:ext cx="50307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off-path attacker needs to guess the ID field to spoof a response</a:t>
            </a:r>
            <a:endParaRPr/>
          </a:p>
          <a:p>
            <a:pPr indent="-317500" lvl="1" marL="914400" rtl="0" algn="l">
              <a:spcBef>
                <a:spcPts val="0"/>
              </a:spcBef>
              <a:spcAft>
                <a:spcPts val="0"/>
              </a:spcAft>
              <a:buSzPts val="1400"/>
              <a:buChar char="○"/>
            </a:pPr>
            <a:r>
              <a:rPr lang="en"/>
              <a:t>If the ID in the response doesn’t match the ID in the request, the resolver won’t accept the response</a:t>
            </a:r>
            <a:endParaRPr/>
          </a:p>
          <a:p>
            <a:pPr indent="-342900" lvl="0" marL="457200" rtl="0" algn="l">
              <a:spcBef>
                <a:spcPts val="0"/>
              </a:spcBef>
              <a:spcAft>
                <a:spcPts val="0"/>
              </a:spcAft>
              <a:buSzPts val="1800"/>
              <a:buChar char="●"/>
            </a:pPr>
            <a:r>
              <a:rPr lang="en"/>
              <a:t>If the ID number is randomly generated:</a:t>
            </a:r>
            <a:endParaRPr/>
          </a:p>
          <a:p>
            <a:pPr indent="-317500" lvl="1" marL="914400" rtl="0" algn="l">
              <a:spcBef>
                <a:spcPts val="0"/>
              </a:spcBef>
              <a:spcAft>
                <a:spcPts val="0"/>
              </a:spcAft>
              <a:buSzPts val="1400"/>
              <a:buChar char="○"/>
            </a:pPr>
            <a:r>
              <a:rPr lang="en"/>
              <a:t>Probability of guessing correctly = 1/2</a:t>
            </a:r>
            <a:r>
              <a:rPr baseline="30000" lang="en"/>
              <a:t>16</a:t>
            </a:r>
            <a:r>
              <a:rPr lang="en"/>
              <a:t>, since the ID number is 16 bits long</a:t>
            </a:r>
            <a:endParaRPr/>
          </a:p>
          <a:p>
            <a:pPr indent="-317500" lvl="1" marL="914400" rtl="0" algn="l">
              <a:spcBef>
                <a:spcPts val="0"/>
              </a:spcBef>
              <a:spcAft>
                <a:spcPts val="0"/>
              </a:spcAft>
              <a:buSzPts val="1400"/>
              <a:buChar char="○"/>
            </a:pPr>
            <a:r>
              <a:rPr lang="en"/>
              <a:t>Requires approximately </a:t>
            </a:r>
            <a:r>
              <a:rPr lang="en"/>
              <a:t>65,000 </a:t>
            </a:r>
            <a:r>
              <a:rPr lang="en"/>
              <a:t>tries to successfully send a spoofed packet</a:t>
            </a:r>
            <a:endParaRPr/>
          </a:p>
          <a:p>
            <a:pPr indent="-317500" lvl="1" marL="914400" rtl="0" algn="l">
              <a:spcBef>
                <a:spcPts val="0"/>
              </a:spcBef>
              <a:spcAft>
                <a:spcPts val="0"/>
              </a:spcAft>
              <a:buSzPts val="1400"/>
              <a:buChar char="○"/>
            </a:pPr>
            <a:r>
              <a:rPr lang="en"/>
              <a:t>This is feasible for a patient attacker</a:t>
            </a:r>
            <a:endParaRPr/>
          </a:p>
        </p:txBody>
      </p:sp>
      <p:sp>
        <p:nvSpPr>
          <p:cNvPr id="863" name="Google Shape;863;p7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864" name="Google Shape;864;p72"/>
          <p:cNvGraphicFramePr/>
          <p:nvPr/>
        </p:nvGraphicFramePr>
        <p:xfrm>
          <a:off x="5417350" y="1377075"/>
          <a:ext cx="3000000" cy="3000000"/>
        </p:xfrm>
        <a:graphic>
          <a:graphicData uri="http://schemas.openxmlformats.org/drawingml/2006/table">
            <a:tbl>
              <a:tblPr>
                <a:noFill/>
                <a:tableStyleId>{8746E7DE-0C9E-4540-9031-B6CDA728326B}</a:tableStyleId>
              </a:tblPr>
              <a:tblGrid>
                <a:gridCol w="1451350"/>
                <a:gridCol w="1451350"/>
              </a:tblGrid>
              <a:tr h="396200">
                <a:tc>
                  <a:txBody>
                    <a:bodyPr/>
                    <a:lstStyle/>
                    <a:p>
                      <a:pPr indent="0" lvl="0" marL="0" rtl="0" algn="ctr">
                        <a:spcBef>
                          <a:spcPts val="0"/>
                        </a:spcBef>
                        <a:spcAft>
                          <a:spcPts val="0"/>
                        </a:spcAft>
                        <a:buNone/>
                      </a:pPr>
                      <a:r>
                        <a:rPr lang="en">
                          <a:solidFill>
                            <a:schemeClr val="dk1"/>
                          </a:solidFill>
                        </a:rPr>
                        <a:t>Source Port</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Destination Port</a:t>
                      </a:r>
                      <a:endParaRPr>
                        <a:solidFill>
                          <a:schemeClr val="dk1"/>
                        </a:solidFill>
                      </a:endParaRPr>
                    </a:p>
                  </a:txBody>
                  <a:tcPr marT="91425" marB="91425" marR="91425" marL="91425"/>
                </a:tc>
              </a:tr>
              <a:tr h="396200">
                <a:tc>
                  <a:txBody>
                    <a:bodyPr/>
                    <a:lstStyle/>
                    <a:p>
                      <a:pPr indent="0" lvl="0" marL="0" rtl="0" algn="ctr">
                        <a:spcBef>
                          <a:spcPts val="0"/>
                        </a:spcBef>
                        <a:spcAft>
                          <a:spcPts val="0"/>
                        </a:spcAft>
                        <a:buNone/>
                      </a:pPr>
                      <a:r>
                        <a:rPr lang="en">
                          <a:solidFill>
                            <a:schemeClr val="dk1"/>
                          </a:solidFill>
                        </a:rPr>
                        <a:t>Checksum</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Length</a:t>
                      </a:r>
                      <a:endParaRPr>
                        <a:solidFill>
                          <a:schemeClr val="dk1"/>
                        </a:solidFill>
                      </a:endParaRPr>
                    </a:p>
                  </a:txBody>
                  <a:tcPr marT="91425" marB="91425" marR="91425" marL="91425"/>
                </a:tc>
              </a:tr>
              <a:tr h="396200">
                <a:tc>
                  <a:txBody>
                    <a:bodyPr/>
                    <a:lstStyle/>
                    <a:p>
                      <a:pPr indent="0" lvl="0" marL="0" rtl="0" algn="ctr">
                        <a:spcBef>
                          <a:spcPts val="0"/>
                        </a:spcBef>
                        <a:spcAft>
                          <a:spcPts val="0"/>
                        </a:spcAft>
                        <a:buNone/>
                      </a:pPr>
                      <a:r>
                        <a:rPr b="1" lang="en">
                          <a:solidFill>
                            <a:schemeClr val="dk1"/>
                          </a:solidFill>
                        </a:rPr>
                        <a:t>ID number</a:t>
                      </a:r>
                      <a:endParaRPr b="1">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Flags</a:t>
                      </a:r>
                      <a:endParaRPr>
                        <a:solidFill>
                          <a:schemeClr val="dk1"/>
                        </a:solidFill>
                      </a:endParaRPr>
                    </a:p>
                  </a:txBody>
                  <a:tcPr marT="91425" marB="91425" marR="91425" marL="91425"/>
                </a:tc>
              </a:tr>
              <a:tr h="396200">
                <a:tc>
                  <a:txBody>
                    <a:bodyPr/>
                    <a:lstStyle/>
                    <a:p>
                      <a:pPr indent="0" lvl="0" marL="0" rtl="0" algn="ctr">
                        <a:spcBef>
                          <a:spcPts val="0"/>
                        </a:spcBef>
                        <a:spcAft>
                          <a:spcPts val="0"/>
                        </a:spcAft>
                        <a:buNone/>
                      </a:pPr>
                      <a:r>
                        <a:rPr lang="en">
                          <a:solidFill>
                            <a:schemeClr val="dk1"/>
                          </a:solidFill>
                        </a:rPr>
                        <a:t>Question count</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Answer count</a:t>
                      </a:r>
                      <a:endParaRPr>
                        <a:solidFill>
                          <a:schemeClr val="dk1"/>
                        </a:solidFill>
                      </a:endParaRPr>
                    </a:p>
                  </a:txBody>
                  <a:tcPr marT="91425" marB="91425" marR="91425" marL="91425"/>
                </a:tc>
              </a:tr>
              <a:tr h="396200">
                <a:tc>
                  <a:txBody>
                    <a:bodyPr/>
                    <a:lstStyle/>
                    <a:p>
                      <a:pPr indent="0" lvl="0" marL="0" rtl="0" algn="ctr">
                        <a:spcBef>
                          <a:spcPts val="0"/>
                        </a:spcBef>
                        <a:spcAft>
                          <a:spcPts val="0"/>
                        </a:spcAft>
                        <a:buNone/>
                      </a:pPr>
                      <a:r>
                        <a:rPr lang="en">
                          <a:solidFill>
                            <a:schemeClr val="dk1"/>
                          </a:solidFill>
                        </a:rPr>
                        <a:t>Authority count</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Additional count</a:t>
                      </a:r>
                      <a:endParaRPr>
                        <a:solidFill>
                          <a:schemeClr val="dk1"/>
                        </a:solidFill>
                      </a:endParaRPr>
                    </a:p>
                  </a:txBody>
                  <a:tcPr marT="91425" marB="91425" marR="91425" marL="91425"/>
                </a:tc>
              </a:tr>
              <a:tr h="396200">
                <a:tc gridSpan="2">
                  <a:txBody>
                    <a:bodyPr/>
                    <a:lstStyle/>
                    <a:p>
                      <a:pPr indent="0" lvl="0" marL="0" rtl="0" algn="ctr">
                        <a:spcBef>
                          <a:spcPts val="0"/>
                        </a:spcBef>
                        <a:spcAft>
                          <a:spcPts val="0"/>
                        </a:spcAft>
                        <a:buNone/>
                      </a:pPr>
                      <a:r>
                        <a:rPr lang="en">
                          <a:solidFill>
                            <a:schemeClr val="dk1"/>
                          </a:solidFill>
                        </a:rPr>
                        <a:t>Question Records</a:t>
                      </a:r>
                      <a:endParaRPr>
                        <a:solidFill>
                          <a:schemeClr val="dk1"/>
                        </a:solidFill>
                      </a:endParaRPr>
                    </a:p>
                  </a:txBody>
                  <a:tcPr marT="91425" marB="91425" marR="91425" marL="91425"/>
                </a:tc>
                <a:tc hMerge="1"/>
              </a:tr>
              <a:tr h="396200">
                <a:tc gridSpan="2">
                  <a:txBody>
                    <a:bodyPr/>
                    <a:lstStyle/>
                    <a:p>
                      <a:pPr indent="0" lvl="0" marL="0" rtl="0" algn="ctr">
                        <a:spcBef>
                          <a:spcPts val="0"/>
                        </a:spcBef>
                        <a:spcAft>
                          <a:spcPts val="0"/>
                        </a:spcAft>
                        <a:buNone/>
                      </a:pPr>
                      <a:r>
                        <a:rPr lang="en">
                          <a:solidFill>
                            <a:schemeClr val="dk1"/>
                          </a:solidFill>
                        </a:rPr>
                        <a:t>Answer Records</a:t>
                      </a:r>
                      <a:endParaRPr>
                        <a:solidFill>
                          <a:schemeClr val="dk1"/>
                        </a:solidFill>
                      </a:endParaRPr>
                    </a:p>
                  </a:txBody>
                  <a:tcPr marT="91425" marB="91425" marR="91425" marL="91425"/>
                </a:tc>
                <a:tc hMerge="1"/>
              </a:tr>
              <a:tr h="396200">
                <a:tc gridSpan="2">
                  <a:txBody>
                    <a:bodyPr/>
                    <a:lstStyle/>
                    <a:p>
                      <a:pPr indent="0" lvl="0" marL="0" rtl="0" algn="ctr">
                        <a:spcBef>
                          <a:spcPts val="0"/>
                        </a:spcBef>
                        <a:spcAft>
                          <a:spcPts val="0"/>
                        </a:spcAft>
                        <a:buNone/>
                      </a:pPr>
                      <a:r>
                        <a:rPr lang="en">
                          <a:solidFill>
                            <a:schemeClr val="dk1"/>
                          </a:solidFill>
                        </a:rPr>
                        <a:t>Authority Records</a:t>
                      </a:r>
                      <a:endParaRPr>
                        <a:solidFill>
                          <a:schemeClr val="dk1"/>
                        </a:solidFill>
                      </a:endParaRPr>
                    </a:p>
                  </a:txBody>
                  <a:tcPr marT="91425" marB="91425" marR="91425" marL="91425"/>
                </a:tc>
                <a:tc hMerge="1"/>
              </a:tr>
              <a:tr h="396200">
                <a:tc gridSpan="2">
                  <a:txBody>
                    <a:bodyPr/>
                    <a:lstStyle/>
                    <a:p>
                      <a:pPr indent="0" lvl="0" marL="0" rtl="0" algn="ctr">
                        <a:spcBef>
                          <a:spcPts val="0"/>
                        </a:spcBef>
                        <a:spcAft>
                          <a:spcPts val="0"/>
                        </a:spcAft>
                        <a:buNone/>
                      </a:pPr>
                      <a:r>
                        <a:rPr lang="en">
                          <a:solidFill>
                            <a:schemeClr val="dk1"/>
                          </a:solidFill>
                        </a:rPr>
                        <a:t>Additional Records</a:t>
                      </a:r>
                      <a:endParaRPr>
                        <a:solidFill>
                          <a:schemeClr val="dk1"/>
                        </a:solidFill>
                      </a:endParaRPr>
                    </a:p>
                  </a:txBody>
                  <a:tcPr marT="91425" marB="91425" marR="91425" marL="91425"/>
                </a:tc>
                <a:tc hMerge="1"/>
              </a:tr>
            </a:tbl>
          </a:graphicData>
        </a:graphic>
      </p:graphicFrame>
      <p:sp>
        <p:nvSpPr>
          <p:cNvPr id="865" name="Google Shape;865;p72"/>
          <p:cNvSpPr txBox="1"/>
          <p:nvPr/>
        </p:nvSpPr>
        <p:spPr>
          <a:xfrm rot="5400000">
            <a:off x="7731600" y="3957800"/>
            <a:ext cx="1577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DNS Payload</a:t>
            </a:r>
            <a:endParaRPr/>
          </a:p>
        </p:txBody>
      </p:sp>
      <p:sp>
        <p:nvSpPr>
          <p:cNvPr id="866" name="Google Shape;866;p72"/>
          <p:cNvSpPr txBox="1"/>
          <p:nvPr/>
        </p:nvSpPr>
        <p:spPr>
          <a:xfrm rot="5400000">
            <a:off x="8230950" y="1466175"/>
            <a:ext cx="7938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UDP Header</a:t>
            </a:r>
            <a:endParaRPr/>
          </a:p>
        </p:txBody>
      </p:sp>
      <p:sp>
        <p:nvSpPr>
          <p:cNvPr id="867" name="Google Shape;867;p72"/>
          <p:cNvSpPr txBox="1"/>
          <p:nvPr/>
        </p:nvSpPr>
        <p:spPr>
          <a:xfrm rot="5400000">
            <a:off x="7920900" y="2553300"/>
            <a:ext cx="1198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DNS Header</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p7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873" name="Google Shape;873;p7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Security Risk: Off-Path Attackers</a:t>
            </a:r>
            <a:endParaRPr/>
          </a:p>
        </p:txBody>
      </p:sp>
      <p:sp>
        <p:nvSpPr>
          <p:cNvPr id="874" name="Google Shape;874;p73"/>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What if the ID field is incremented by 1 for every request?</a:t>
            </a:r>
            <a:endParaRPr/>
          </a:p>
          <a:p>
            <a:pPr indent="-342900" lvl="0" marL="457200" rtl="0" algn="l">
              <a:spcBef>
                <a:spcPts val="0"/>
              </a:spcBef>
              <a:spcAft>
                <a:spcPts val="0"/>
              </a:spcAft>
              <a:buSzPts val="1800"/>
              <a:buChar char="●"/>
            </a:pPr>
            <a:r>
              <a:rPr lang="en"/>
              <a:t>Off-path attacker can spoof a packet as follows:</a:t>
            </a:r>
            <a:endParaRPr/>
          </a:p>
          <a:p>
            <a:pPr indent="-317500" lvl="1" marL="914400" rtl="0" algn="l">
              <a:spcBef>
                <a:spcPts val="0"/>
              </a:spcBef>
              <a:spcAft>
                <a:spcPts val="0"/>
              </a:spcAft>
              <a:buSzPts val="1400"/>
              <a:buChar char="○"/>
            </a:pPr>
            <a:r>
              <a:rPr lang="en"/>
              <a:t>Trick the victim into visiting the attacker’s website</a:t>
            </a:r>
            <a:endParaRPr/>
          </a:p>
          <a:p>
            <a:pPr indent="-317500" lvl="1" marL="914400" rtl="0" algn="l">
              <a:spcBef>
                <a:spcPts val="0"/>
              </a:spcBef>
              <a:spcAft>
                <a:spcPts val="0"/>
              </a:spcAft>
              <a:buSzPts val="1400"/>
              <a:buChar char="○"/>
            </a:pPr>
            <a:r>
              <a:rPr lang="en"/>
              <a:t>Include this HTML on the attacker’s website: </a:t>
            </a:r>
            <a:r>
              <a:rPr b="1" lang="en">
                <a:latin typeface="Courier New"/>
                <a:ea typeface="Courier New"/>
                <a:cs typeface="Courier New"/>
                <a:sym typeface="Courier New"/>
              </a:rPr>
              <a:t>&lt;img src=</a:t>
            </a:r>
            <a:r>
              <a:rPr b="1" lang="en">
                <a:latin typeface="Courier New"/>
                <a:ea typeface="Courier New"/>
                <a:cs typeface="Courier New"/>
                <a:sym typeface="Courier New"/>
              </a:rPr>
              <a:t>"</a:t>
            </a:r>
            <a:r>
              <a:rPr b="1" lang="en">
                <a:latin typeface="Courier New"/>
                <a:ea typeface="Courier New"/>
                <a:cs typeface="Courier New"/>
                <a:sym typeface="Courier New"/>
              </a:rPr>
              <a:t>http://www.attacker.com"&gt;</a:t>
            </a:r>
            <a:endParaRPr b="1">
              <a:latin typeface="Courier New"/>
              <a:ea typeface="Courier New"/>
              <a:cs typeface="Courier New"/>
              <a:sym typeface="Courier New"/>
            </a:endParaRPr>
          </a:p>
          <a:p>
            <a:pPr indent="-317500" lvl="1" marL="914400" rtl="0" algn="l">
              <a:spcBef>
                <a:spcPts val="0"/>
              </a:spcBef>
              <a:spcAft>
                <a:spcPts val="0"/>
              </a:spcAft>
              <a:buSzPts val="1400"/>
              <a:buChar char="○"/>
            </a:pPr>
            <a:r>
              <a:rPr lang="en"/>
              <a:t>The victim’s browser will make a DNS query for </a:t>
            </a:r>
            <a:r>
              <a:rPr b="1" lang="en">
                <a:latin typeface="Courier New"/>
                <a:ea typeface="Courier New"/>
                <a:cs typeface="Courier New"/>
                <a:sym typeface="Courier New"/>
              </a:rPr>
              <a:t>www.attacker.com</a:t>
            </a:r>
            <a:endParaRPr/>
          </a:p>
          <a:p>
            <a:pPr indent="-317500" lvl="1" marL="914400" rtl="0" algn="l">
              <a:spcBef>
                <a:spcPts val="0"/>
              </a:spcBef>
              <a:spcAft>
                <a:spcPts val="0"/>
              </a:spcAft>
              <a:buSzPts val="1400"/>
              <a:buChar char="○"/>
            </a:pPr>
            <a:r>
              <a:rPr lang="en"/>
              <a:t>If the attacker controls the </a:t>
            </a:r>
            <a:r>
              <a:rPr b="1" lang="en">
                <a:latin typeface="Courier New"/>
                <a:ea typeface="Courier New"/>
                <a:cs typeface="Courier New"/>
                <a:sym typeface="Courier New"/>
              </a:rPr>
              <a:t>attacker.com</a:t>
            </a:r>
            <a:r>
              <a:rPr lang="en"/>
              <a:t> DNS name server, they can see the request and learn the ID field</a:t>
            </a:r>
            <a:endParaRPr/>
          </a:p>
          <a:p>
            <a:pPr indent="-317500" lvl="1" marL="914400" rtl="0" algn="l">
              <a:spcBef>
                <a:spcPts val="0"/>
              </a:spcBef>
              <a:spcAft>
                <a:spcPts val="0"/>
              </a:spcAft>
              <a:buSzPts val="1400"/>
              <a:buChar char="○"/>
            </a:pPr>
            <a:r>
              <a:rPr lang="en"/>
              <a:t>Include this HTML on the attacker’s website: </a:t>
            </a:r>
            <a:r>
              <a:rPr b="1" lang="en">
                <a:latin typeface="Courier New"/>
                <a:ea typeface="Courier New"/>
                <a:cs typeface="Courier New"/>
                <a:sym typeface="Courier New"/>
              </a:rPr>
              <a:t>&lt;img src="http://www.google.com"&gt;</a:t>
            </a:r>
            <a:endParaRPr b="1">
              <a:latin typeface="Courier New"/>
              <a:ea typeface="Courier New"/>
              <a:cs typeface="Courier New"/>
              <a:sym typeface="Courier New"/>
            </a:endParaRPr>
          </a:p>
          <a:p>
            <a:pPr indent="-317500" lvl="1" marL="914400" rtl="0" algn="l">
              <a:spcBef>
                <a:spcPts val="0"/>
              </a:spcBef>
              <a:spcAft>
                <a:spcPts val="0"/>
              </a:spcAft>
              <a:buSzPts val="1400"/>
              <a:buChar char="○"/>
            </a:pPr>
            <a:r>
              <a:rPr lang="en"/>
              <a:t>The victim’s browser will make a DNS query for </a:t>
            </a:r>
            <a:r>
              <a:rPr b="1" lang="en">
                <a:latin typeface="Courier New"/>
                <a:ea typeface="Courier New"/>
                <a:cs typeface="Courier New"/>
                <a:sym typeface="Courier New"/>
              </a:rPr>
              <a:t>www.google.com</a:t>
            </a:r>
            <a:endParaRPr/>
          </a:p>
          <a:p>
            <a:pPr indent="-317500" lvl="1" marL="914400" rtl="0" algn="l">
              <a:spcBef>
                <a:spcPts val="0"/>
              </a:spcBef>
              <a:spcAft>
                <a:spcPts val="0"/>
              </a:spcAft>
              <a:buSzPts val="1400"/>
              <a:buChar char="○"/>
            </a:pPr>
            <a:r>
              <a:rPr lang="en"/>
              <a:t>The attacker knows the ID is 1 more than the previous ID, so they can spoof a response!</a:t>
            </a:r>
            <a:endParaRPr/>
          </a:p>
          <a:p>
            <a:pPr indent="-342900" lvl="0" marL="457200" rtl="0" algn="l">
              <a:spcBef>
                <a:spcPts val="0"/>
              </a:spcBef>
              <a:spcAft>
                <a:spcPts val="0"/>
              </a:spcAft>
              <a:buSzPts val="1800"/>
              <a:buChar char="●"/>
            </a:pPr>
            <a:r>
              <a:rPr b="1" lang="en"/>
              <a:t>ID numbers need to be random in DNS requests</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 name="Shape 878"/>
        <p:cNvGrpSpPr/>
        <p:nvPr/>
      </p:nvGrpSpPr>
      <p:grpSpPr>
        <a:xfrm>
          <a:off x="0" y="0"/>
          <a:ext cx="0" cy="0"/>
          <a:chOff x="0" y="0"/>
          <a:chExt cx="0" cy="0"/>
        </a:xfrm>
      </p:grpSpPr>
      <p:sp>
        <p:nvSpPr>
          <p:cNvPr id="879" name="Google Shape;879;p7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Kaminsky Attack</a:t>
            </a:r>
            <a:endParaRPr/>
          </a:p>
        </p:txBody>
      </p:sp>
      <p:sp>
        <p:nvSpPr>
          <p:cNvPr id="880" name="Google Shape;880;p74"/>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Notice: If the attacker places </a:t>
            </a:r>
            <a:r>
              <a:rPr b="1" lang="en">
                <a:latin typeface="Courier New"/>
                <a:ea typeface="Courier New"/>
                <a:cs typeface="Courier New"/>
                <a:sym typeface="Courier New"/>
              </a:rPr>
              <a:t>&lt;img src="http://</a:t>
            </a:r>
            <a:r>
              <a:rPr b="1" lang="en">
                <a:latin typeface="Courier New"/>
                <a:ea typeface="Courier New"/>
                <a:cs typeface="Courier New"/>
                <a:sym typeface="Courier New"/>
              </a:rPr>
              <a:t>www.</a:t>
            </a:r>
            <a:r>
              <a:rPr b="1" lang="en">
                <a:latin typeface="Courier New"/>
                <a:ea typeface="Courier New"/>
                <a:cs typeface="Courier New"/>
                <a:sym typeface="Courier New"/>
              </a:rPr>
              <a:t>google.com"&gt;</a:t>
            </a:r>
            <a:r>
              <a:rPr lang="en"/>
              <a:t> multiple times on their website, the browser will only make 1 DNS query</a:t>
            </a:r>
            <a:endParaRPr/>
          </a:p>
          <a:p>
            <a:pPr indent="-317500" lvl="1" marL="914400" rtl="0" algn="l">
              <a:spcBef>
                <a:spcPts val="0"/>
              </a:spcBef>
              <a:spcAft>
                <a:spcPts val="0"/>
              </a:spcAft>
              <a:buSzPts val="1400"/>
              <a:buChar char="○"/>
            </a:pPr>
            <a:r>
              <a:rPr lang="en"/>
              <a:t>The browser caches address of</a:t>
            </a:r>
            <a:r>
              <a:rPr lang="en"/>
              <a:t> </a:t>
            </a:r>
            <a:r>
              <a:rPr b="1" lang="en">
                <a:latin typeface="Courier New"/>
                <a:ea typeface="Courier New"/>
                <a:cs typeface="Courier New"/>
                <a:sym typeface="Courier New"/>
              </a:rPr>
              <a:t>www.</a:t>
            </a:r>
            <a:r>
              <a:rPr b="1" lang="en">
                <a:latin typeface="Courier New"/>
                <a:ea typeface="Courier New"/>
                <a:cs typeface="Courier New"/>
                <a:sym typeface="Courier New"/>
              </a:rPr>
              <a:t>google.com</a:t>
            </a:r>
            <a:endParaRPr/>
          </a:p>
          <a:p>
            <a:pPr indent="-317500" lvl="1" marL="914400" rtl="0" algn="l">
              <a:spcBef>
                <a:spcPts val="0"/>
              </a:spcBef>
              <a:spcAft>
                <a:spcPts val="0"/>
              </a:spcAft>
              <a:buSzPts val="1400"/>
              <a:buChar char="○"/>
            </a:pPr>
            <a:r>
              <a:rPr lang="en"/>
              <a:t>The attacker only gets one try</a:t>
            </a:r>
            <a:endParaRPr/>
          </a:p>
          <a:p>
            <a:pPr indent="-342900" lvl="0" marL="457200" rtl="0" algn="l">
              <a:spcBef>
                <a:spcPts val="0"/>
              </a:spcBef>
              <a:spcAft>
                <a:spcPts val="0"/>
              </a:spcAft>
              <a:buSzPts val="1800"/>
              <a:buChar char="●"/>
            </a:pPr>
            <a:r>
              <a:rPr lang="en"/>
              <a:t>Dan Kaminsky, security researcher, noticed that DNS clients would cache additional glue records as if they were authoritative answers, even though they aren’t</a:t>
            </a:r>
            <a:endParaRPr/>
          </a:p>
        </p:txBody>
      </p:sp>
      <p:sp>
        <p:nvSpPr>
          <p:cNvPr id="881" name="Google Shape;881;p7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5" name="Shape 885"/>
        <p:cNvGrpSpPr/>
        <p:nvPr/>
      </p:nvGrpSpPr>
      <p:grpSpPr>
        <a:xfrm>
          <a:off x="0" y="0"/>
          <a:ext cx="0" cy="0"/>
          <a:chOff x="0" y="0"/>
          <a:chExt cx="0" cy="0"/>
        </a:xfrm>
      </p:grpSpPr>
      <p:sp>
        <p:nvSpPr>
          <p:cNvPr id="886" name="Google Shape;886;p7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Kaminsky Attack</a:t>
            </a:r>
            <a:endParaRPr/>
          </a:p>
        </p:txBody>
      </p:sp>
      <p:sp>
        <p:nvSpPr>
          <p:cNvPr id="887" name="Google Shape;887;p75"/>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Now, the attacker can gain more tries at once:</a:t>
            </a:r>
            <a:endParaRPr/>
          </a:p>
          <a:p>
            <a:pPr indent="-317500" lvl="1" marL="914400" rtl="0" algn="l">
              <a:spcBef>
                <a:spcPts val="0"/>
              </a:spcBef>
              <a:spcAft>
                <a:spcPts val="0"/>
              </a:spcAft>
              <a:buSzPts val="1400"/>
              <a:buChar char="○"/>
            </a:pPr>
            <a:r>
              <a:rPr lang="en"/>
              <a:t>The attacker includes</a:t>
            </a:r>
            <a:endParaRPr/>
          </a:p>
          <a:p>
            <a:pPr indent="-317500" lvl="2" marL="1371600" rtl="0" algn="l">
              <a:spcBef>
                <a:spcPts val="0"/>
              </a:spcBef>
              <a:spcAft>
                <a:spcPts val="0"/>
              </a:spcAft>
              <a:buSzPts val="1400"/>
              <a:buChar char="■"/>
            </a:pPr>
            <a:r>
              <a:rPr b="1" lang="en">
                <a:latin typeface="Courier New"/>
                <a:ea typeface="Courier New"/>
                <a:cs typeface="Courier New"/>
                <a:sym typeface="Courier New"/>
              </a:rPr>
              <a:t>&lt;img src="http://fake1.google.com"&gt;</a:t>
            </a:r>
            <a:endParaRPr/>
          </a:p>
          <a:p>
            <a:pPr indent="-317500" lvl="2" marL="1371600" rtl="0" algn="l">
              <a:spcBef>
                <a:spcPts val="0"/>
              </a:spcBef>
              <a:spcAft>
                <a:spcPts val="0"/>
              </a:spcAft>
              <a:buSzPts val="1400"/>
              <a:buChar char="■"/>
            </a:pPr>
            <a:r>
              <a:rPr b="1" lang="en">
                <a:latin typeface="Courier New"/>
                <a:ea typeface="Courier New"/>
                <a:cs typeface="Courier New"/>
                <a:sym typeface="Courier New"/>
              </a:rPr>
              <a:t>&lt;img src="http://fake2.google.com"&gt;</a:t>
            </a:r>
            <a:endParaRPr b="1">
              <a:latin typeface="Courier New"/>
              <a:ea typeface="Courier New"/>
              <a:cs typeface="Courier New"/>
              <a:sym typeface="Courier New"/>
            </a:endParaRPr>
          </a:p>
          <a:p>
            <a:pPr indent="-317500" lvl="2" marL="1371600" rtl="0" algn="l">
              <a:spcBef>
                <a:spcPts val="0"/>
              </a:spcBef>
              <a:spcAft>
                <a:spcPts val="0"/>
              </a:spcAft>
              <a:buSzPts val="1400"/>
              <a:buFont typeface="Courier New"/>
              <a:buChar char="■"/>
            </a:pPr>
            <a:r>
              <a:rPr b="1" lang="en">
                <a:latin typeface="Courier New"/>
                <a:ea typeface="Courier New"/>
                <a:cs typeface="Courier New"/>
                <a:sym typeface="Courier New"/>
              </a:rPr>
              <a:t>&lt;img src="http://fake3.google.com"&gt;</a:t>
            </a:r>
            <a:endParaRPr b="1">
              <a:latin typeface="Courier New"/>
              <a:ea typeface="Courier New"/>
              <a:cs typeface="Courier New"/>
              <a:sym typeface="Courier New"/>
            </a:endParaRPr>
          </a:p>
          <a:p>
            <a:pPr indent="-317500" lvl="2" marL="1371600" rtl="0" algn="l">
              <a:spcBef>
                <a:spcPts val="0"/>
              </a:spcBef>
              <a:spcAft>
                <a:spcPts val="0"/>
              </a:spcAft>
              <a:buSzPts val="1400"/>
              <a:buFont typeface="Courier New"/>
              <a:buChar char="■"/>
            </a:pPr>
            <a:r>
              <a:rPr b="1" lang="en">
                <a:latin typeface="Courier New"/>
                <a:ea typeface="Courier New"/>
                <a:cs typeface="Courier New"/>
                <a:sym typeface="Courier New"/>
              </a:rPr>
              <a:t>&lt;img src="http://fake4.google.com"&gt;</a:t>
            </a:r>
            <a:endParaRPr b="1">
              <a:latin typeface="Courier New"/>
              <a:ea typeface="Courier New"/>
              <a:cs typeface="Courier New"/>
              <a:sym typeface="Courier New"/>
            </a:endParaRPr>
          </a:p>
          <a:p>
            <a:pPr indent="-317500" lvl="1" marL="914400" rtl="0" algn="l">
              <a:spcBef>
                <a:spcPts val="0"/>
              </a:spcBef>
              <a:spcAft>
                <a:spcPts val="0"/>
              </a:spcAft>
              <a:buSzPts val="1400"/>
              <a:buChar char="○"/>
            </a:pPr>
            <a:r>
              <a:rPr lang="en"/>
              <a:t>For each, the client makes a request for the domain name</a:t>
            </a:r>
            <a:endParaRPr/>
          </a:p>
          <a:p>
            <a:pPr indent="-317500" lvl="1" marL="914400" rtl="0" algn="l">
              <a:spcBef>
                <a:spcPts val="0"/>
              </a:spcBef>
              <a:spcAft>
                <a:spcPts val="0"/>
              </a:spcAft>
              <a:buSzPts val="1400"/>
              <a:buChar char="○"/>
            </a:pPr>
            <a:r>
              <a:rPr lang="en"/>
              <a:t>The attacker’s spoofed response contains:</a:t>
            </a:r>
            <a:endParaRPr/>
          </a:p>
          <a:p>
            <a:pPr indent="-317500" lvl="2" marL="1371600" rtl="0" algn="l">
              <a:spcBef>
                <a:spcPts val="0"/>
              </a:spcBef>
              <a:spcAft>
                <a:spcPts val="0"/>
              </a:spcAft>
              <a:buSzPts val="1400"/>
              <a:buFont typeface="Courier New"/>
              <a:buChar char="■"/>
            </a:pPr>
            <a:r>
              <a:rPr lang="en"/>
              <a:t>Authority:	</a:t>
            </a:r>
            <a:r>
              <a:rPr b="1" lang="en">
                <a:latin typeface="Courier New"/>
                <a:ea typeface="Courier New"/>
                <a:cs typeface="Courier New"/>
                <a:sym typeface="Courier New"/>
              </a:rPr>
              <a:t>fake1.google.com.  172800  IN  NS  www.google.com.</a:t>
            </a:r>
            <a:endParaRPr b="1">
              <a:latin typeface="Courier New"/>
              <a:ea typeface="Courier New"/>
              <a:cs typeface="Courier New"/>
              <a:sym typeface="Courier New"/>
            </a:endParaRPr>
          </a:p>
          <a:p>
            <a:pPr indent="-317500" lvl="2" marL="1371600" rtl="0" algn="l">
              <a:spcBef>
                <a:spcPts val="0"/>
              </a:spcBef>
              <a:spcAft>
                <a:spcPts val="0"/>
              </a:spcAft>
              <a:buSzPts val="1400"/>
              <a:buFont typeface="Courier New"/>
              <a:buChar char="■"/>
            </a:pPr>
            <a:r>
              <a:rPr lang="en"/>
              <a:t>Additional:	</a:t>
            </a:r>
            <a:r>
              <a:rPr b="1" lang="en">
                <a:latin typeface="Courier New"/>
                <a:ea typeface="Courier New"/>
                <a:cs typeface="Courier New"/>
                <a:sym typeface="Courier New"/>
              </a:rPr>
              <a:t>www.google.com.    172800  IN  A   </a:t>
            </a:r>
            <a:r>
              <a:rPr b="1" lang="en">
                <a:solidFill>
                  <a:srgbClr val="FF0000"/>
                </a:solidFill>
                <a:latin typeface="Courier New"/>
                <a:ea typeface="Courier New"/>
                <a:cs typeface="Courier New"/>
                <a:sym typeface="Courier New"/>
              </a:rPr>
              <a:t>6.6.6.6</a:t>
            </a:r>
            <a:endParaRPr/>
          </a:p>
          <a:p>
            <a:pPr indent="-317500" lvl="1" marL="914400" rtl="0" algn="l">
              <a:spcBef>
                <a:spcPts val="0"/>
              </a:spcBef>
              <a:spcAft>
                <a:spcPts val="0"/>
              </a:spcAft>
              <a:buSzPts val="1400"/>
              <a:buChar char="○"/>
            </a:pPr>
            <a:r>
              <a:rPr lang="en"/>
              <a:t>The client now caches the record for </a:t>
            </a:r>
            <a:r>
              <a:rPr b="1" lang="en">
                <a:latin typeface="Courier New"/>
                <a:ea typeface="Courier New"/>
                <a:cs typeface="Courier New"/>
                <a:sym typeface="Courier New"/>
              </a:rPr>
              <a:t>www.google.com</a:t>
            </a:r>
            <a:r>
              <a:rPr lang="en"/>
              <a:t>, and the cache is poisoned!</a:t>
            </a:r>
            <a:endParaRPr/>
          </a:p>
        </p:txBody>
      </p:sp>
      <p:sp>
        <p:nvSpPr>
          <p:cNvPr id="888" name="Google Shape;888;p7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2" name="Shape 892"/>
        <p:cNvGrpSpPr/>
        <p:nvPr/>
      </p:nvGrpSpPr>
      <p:grpSpPr>
        <a:xfrm>
          <a:off x="0" y="0"/>
          <a:ext cx="0" cy="0"/>
          <a:chOff x="0" y="0"/>
          <a:chExt cx="0" cy="0"/>
        </a:xfrm>
      </p:grpSpPr>
      <p:sp>
        <p:nvSpPr>
          <p:cNvPr id="893" name="Google Shape;893;p7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Kaminsky Attack: Example</a:t>
            </a:r>
            <a:endParaRPr/>
          </a:p>
        </p:txBody>
      </p:sp>
      <p:sp>
        <p:nvSpPr>
          <p:cNvPr id="894" name="Google Shape;894;p76"/>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Mallory includes the following image tags on their website</a:t>
            </a:r>
            <a:endParaRPr/>
          </a:p>
          <a:p>
            <a:pPr indent="-317500" lvl="1" marL="914400" rtl="0" algn="l">
              <a:spcBef>
                <a:spcPts val="0"/>
              </a:spcBef>
              <a:spcAft>
                <a:spcPts val="0"/>
              </a:spcAft>
              <a:buSzPts val="1400"/>
              <a:buChar char="○"/>
            </a:pPr>
            <a:r>
              <a:rPr b="1" lang="en">
                <a:latin typeface="Courier New"/>
                <a:ea typeface="Courier New"/>
                <a:cs typeface="Courier New"/>
                <a:sym typeface="Courier New"/>
              </a:rPr>
              <a:t>&lt;img src="http://fake1.google.com"&gt;</a:t>
            </a:r>
            <a:endParaRPr/>
          </a:p>
          <a:p>
            <a:pPr indent="-317500" lvl="1" marL="914400" rtl="0" algn="l">
              <a:spcBef>
                <a:spcPts val="0"/>
              </a:spcBef>
              <a:spcAft>
                <a:spcPts val="0"/>
              </a:spcAft>
              <a:buSzPts val="1400"/>
              <a:buChar char="○"/>
            </a:pPr>
            <a:r>
              <a:rPr b="1" lang="en">
                <a:latin typeface="Courier New"/>
                <a:ea typeface="Courier New"/>
                <a:cs typeface="Courier New"/>
                <a:sym typeface="Courier New"/>
              </a:rPr>
              <a:t>&lt;img src="http://fake2.google.com"&gt;</a:t>
            </a:r>
            <a:endParaRPr b="1">
              <a:latin typeface="Courier New"/>
              <a:ea typeface="Courier New"/>
              <a:cs typeface="Courier New"/>
              <a:sym typeface="Courier New"/>
            </a:endParaRPr>
          </a:p>
          <a:p>
            <a:pPr indent="-317500" lvl="1" marL="914400" rtl="0" algn="l">
              <a:spcBef>
                <a:spcPts val="0"/>
              </a:spcBef>
              <a:spcAft>
                <a:spcPts val="0"/>
              </a:spcAft>
              <a:buSzPts val="1400"/>
              <a:buFont typeface="Courier New"/>
              <a:buChar char="○"/>
            </a:pPr>
            <a:r>
              <a:rPr b="1" lang="en">
                <a:latin typeface="Courier New"/>
                <a:ea typeface="Courier New"/>
                <a:cs typeface="Courier New"/>
                <a:sym typeface="Courier New"/>
              </a:rPr>
              <a:t>&lt;img src="http://fake3.google.com"&gt;</a:t>
            </a:r>
            <a:endParaRPr b="1">
              <a:latin typeface="Courier New"/>
              <a:ea typeface="Courier New"/>
              <a:cs typeface="Courier New"/>
              <a:sym typeface="Courier New"/>
            </a:endParaRPr>
          </a:p>
          <a:p>
            <a:pPr indent="-317500" lvl="1" marL="914400" rtl="0" algn="l">
              <a:spcBef>
                <a:spcPts val="0"/>
              </a:spcBef>
              <a:spcAft>
                <a:spcPts val="0"/>
              </a:spcAft>
              <a:buSzPts val="1400"/>
              <a:buFont typeface="Courier New"/>
              <a:buChar char="○"/>
            </a:pPr>
            <a:r>
              <a:rPr b="1" lang="en">
                <a:latin typeface="Courier New"/>
                <a:ea typeface="Courier New"/>
                <a:cs typeface="Courier New"/>
                <a:sym typeface="Courier New"/>
              </a:rPr>
              <a:t>&lt;img src="http://fake4.google.com"&gt;</a:t>
            </a:r>
            <a:endParaRPr b="1">
              <a:latin typeface="Courier New"/>
              <a:ea typeface="Courier New"/>
              <a:cs typeface="Courier New"/>
              <a:sym typeface="Courier New"/>
            </a:endParaRPr>
          </a:p>
          <a:p>
            <a:pPr indent="-317500" lvl="1" marL="914400" rtl="0" algn="l">
              <a:spcBef>
                <a:spcPts val="0"/>
              </a:spcBef>
              <a:spcAft>
                <a:spcPts val="0"/>
              </a:spcAft>
              <a:buSzPts val="1400"/>
              <a:buFont typeface="Courier New"/>
              <a:buChar char="○"/>
            </a:pPr>
            <a:r>
              <a:rPr b="1" lang="en">
                <a:latin typeface="Courier New"/>
                <a:ea typeface="Courier New"/>
                <a:cs typeface="Courier New"/>
                <a:sym typeface="Courier New"/>
              </a:rPr>
              <a:t>… </a:t>
            </a:r>
            <a:r>
              <a:rPr lang="en"/>
              <a:t>and so on</a:t>
            </a:r>
            <a:endParaRPr/>
          </a:p>
          <a:p>
            <a:pPr indent="-342900" lvl="0" marL="457200" rtl="0" algn="l">
              <a:spcBef>
                <a:spcPts val="0"/>
              </a:spcBef>
              <a:spcAft>
                <a:spcPts val="0"/>
              </a:spcAft>
              <a:buSzPts val="1800"/>
              <a:buChar char="●"/>
            </a:pPr>
            <a:r>
              <a:rPr lang="en"/>
              <a:t>Alice loads Mallory’s website</a:t>
            </a:r>
            <a:endParaRPr/>
          </a:p>
          <a:p>
            <a:pPr indent="-342900" lvl="0" marL="457200" rtl="0" algn="l">
              <a:spcBef>
                <a:spcPts val="0"/>
              </a:spcBef>
              <a:spcAft>
                <a:spcPts val="0"/>
              </a:spcAft>
              <a:buSzPts val="1800"/>
              <a:buChar char="●"/>
            </a:pPr>
            <a:r>
              <a:rPr lang="en"/>
              <a:t>Alice’s browser makes a DNS request for </a:t>
            </a:r>
            <a:r>
              <a:rPr b="1" lang="en">
                <a:latin typeface="Courier New"/>
                <a:ea typeface="Courier New"/>
                <a:cs typeface="Courier New"/>
                <a:sym typeface="Courier New"/>
              </a:rPr>
              <a:t>fake1.google.com</a:t>
            </a:r>
            <a:endParaRPr b="1">
              <a:latin typeface="Courier New"/>
              <a:ea typeface="Courier New"/>
              <a:cs typeface="Courier New"/>
              <a:sym typeface="Courier New"/>
            </a:endParaRPr>
          </a:p>
          <a:p>
            <a:pPr indent="-317500" lvl="1" marL="914400" rtl="0" algn="l">
              <a:spcBef>
                <a:spcPts val="0"/>
              </a:spcBef>
              <a:spcAft>
                <a:spcPts val="0"/>
              </a:spcAft>
              <a:buSzPts val="1400"/>
              <a:buChar char="○"/>
            </a:pPr>
            <a:r>
              <a:rPr lang="en"/>
              <a:t>We’ll show you an example of what happens during this step</a:t>
            </a:r>
            <a:endParaRPr/>
          </a:p>
          <a:p>
            <a:pPr indent="-342900" lvl="0" marL="457200" rtl="0" algn="l">
              <a:spcBef>
                <a:spcPts val="0"/>
              </a:spcBef>
              <a:spcAft>
                <a:spcPts val="0"/>
              </a:spcAft>
              <a:buSzPts val="1800"/>
              <a:buChar char="●"/>
            </a:pPr>
            <a:r>
              <a:rPr lang="en"/>
              <a:t>Alice’s browser makes a DNS request for </a:t>
            </a:r>
            <a:r>
              <a:rPr b="1" lang="en">
                <a:latin typeface="Courier New"/>
                <a:ea typeface="Courier New"/>
                <a:cs typeface="Courier New"/>
                <a:sym typeface="Courier New"/>
              </a:rPr>
              <a:t>fake2.google.com</a:t>
            </a:r>
            <a:endParaRPr b="1">
              <a:latin typeface="Courier New"/>
              <a:ea typeface="Courier New"/>
              <a:cs typeface="Courier New"/>
              <a:sym typeface="Courier New"/>
            </a:endParaRPr>
          </a:p>
          <a:p>
            <a:pPr indent="-342900" lvl="0" marL="457200" rtl="0" algn="l">
              <a:spcBef>
                <a:spcPts val="0"/>
              </a:spcBef>
              <a:spcAft>
                <a:spcPts val="0"/>
              </a:spcAft>
              <a:buSzPts val="1800"/>
              <a:buChar char="●"/>
            </a:pPr>
            <a:r>
              <a:rPr lang="en"/>
              <a:t>… And so on. Alice’s browser continues to make DNS requests for each tag on the website</a:t>
            </a:r>
            <a:endParaRPr b="1">
              <a:latin typeface="Courier New"/>
              <a:ea typeface="Courier New"/>
              <a:cs typeface="Courier New"/>
              <a:sym typeface="Courier New"/>
            </a:endParaRPr>
          </a:p>
        </p:txBody>
      </p:sp>
      <p:sp>
        <p:nvSpPr>
          <p:cNvPr id="895" name="Google Shape;895;p7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896" name="Google Shape;896;p76"/>
          <p:cNvPicPr preferRelativeResize="0"/>
          <p:nvPr/>
        </p:nvPicPr>
        <p:blipFill>
          <a:blip r:embed="rId3">
            <a:alphaModFix/>
          </a:blip>
          <a:stretch>
            <a:fillRect/>
          </a:stretch>
        </p:blipFill>
        <p:spPr>
          <a:xfrm>
            <a:off x="7495975" y="2820950"/>
            <a:ext cx="548700" cy="1317396"/>
          </a:xfrm>
          <a:prstGeom prst="rect">
            <a:avLst/>
          </a:prstGeom>
          <a:noFill/>
          <a:ln>
            <a:noFill/>
          </a:ln>
        </p:spPr>
      </p:pic>
      <p:pic>
        <p:nvPicPr>
          <p:cNvPr id="897" name="Google Shape;897;p76"/>
          <p:cNvPicPr preferRelativeResize="0"/>
          <p:nvPr/>
        </p:nvPicPr>
        <p:blipFill>
          <a:blip r:embed="rId4">
            <a:alphaModFix/>
          </a:blip>
          <a:stretch>
            <a:fillRect/>
          </a:stretch>
        </p:blipFill>
        <p:spPr>
          <a:xfrm flipH="1">
            <a:off x="5155925" y="1587450"/>
            <a:ext cx="548700" cy="1268106"/>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sp>
        <p:nvSpPr>
          <p:cNvPr id="902" name="Google Shape;902;p7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Kaminsky Attack: Example</a:t>
            </a:r>
            <a:endParaRPr/>
          </a:p>
        </p:txBody>
      </p:sp>
      <p:sp>
        <p:nvSpPr>
          <p:cNvPr id="903" name="Google Shape;903;p7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904" name="Google Shape;904;p77"/>
          <p:cNvSpPr txBox="1"/>
          <p:nvPr/>
        </p:nvSpPr>
        <p:spPr>
          <a:xfrm>
            <a:off x="7547875" y="1392148"/>
            <a:ext cx="1238100" cy="3648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 (root)</a:t>
            </a:r>
            <a:endParaRPr>
              <a:latin typeface="Courier New"/>
              <a:ea typeface="Courier New"/>
              <a:cs typeface="Courier New"/>
              <a:sym typeface="Courier New"/>
            </a:endParaRPr>
          </a:p>
        </p:txBody>
      </p:sp>
      <p:sp>
        <p:nvSpPr>
          <p:cNvPr id="905" name="Google Shape;905;p77"/>
          <p:cNvSpPr txBox="1"/>
          <p:nvPr/>
        </p:nvSpPr>
        <p:spPr>
          <a:xfrm>
            <a:off x="7832713" y="2411252"/>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.com</a:t>
            </a:r>
            <a:endParaRPr>
              <a:latin typeface="Calibri"/>
              <a:ea typeface="Calibri"/>
              <a:cs typeface="Calibri"/>
              <a:sym typeface="Calibri"/>
            </a:endParaRPr>
          </a:p>
        </p:txBody>
      </p:sp>
      <p:sp>
        <p:nvSpPr>
          <p:cNvPr id="906" name="Google Shape;906;p77"/>
          <p:cNvSpPr txBox="1"/>
          <p:nvPr/>
        </p:nvSpPr>
        <p:spPr>
          <a:xfrm>
            <a:off x="7518763" y="3357750"/>
            <a:ext cx="12963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google.com</a:t>
            </a:r>
            <a:endParaRPr sz="1200">
              <a:latin typeface="Calibri"/>
              <a:ea typeface="Calibri"/>
              <a:cs typeface="Calibri"/>
              <a:sym typeface="Calibri"/>
            </a:endParaRPr>
          </a:p>
        </p:txBody>
      </p:sp>
      <p:cxnSp>
        <p:nvCxnSpPr>
          <p:cNvPr id="907" name="Google Shape;907;p77"/>
          <p:cNvCxnSpPr>
            <a:stCxn id="904" idx="2"/>
            <a:endCxn id="905" idx="0"/>
          </p:cNvCxnSpPr>
          <p:nvPr/>
        </p:nvCxnSpPr>
        <p:spPr>
          <a:xfrm>
            <a:off x="8166925" y="1756948"/>
            <a:ext cx="0" cy="654300"/>
          </a:xfrm>
          <a:prstGeom prst="straightConnector1">
            <a:avLst/>
          </a:prstGeom>
          <a:noFill/>
          <a:ln cap="flat" cmpd="sng" w="9525">
            <a:solidFill>
              <a:srgbClr val="000000"/>
            </a:solidFill>
            <a:prstDash val="solid"/>
            <a:round/>
            <a:headEnd len="med" w="med" type="none"/>
            <a:tailEnd len="med" w="med" type="none"/>
          </a:ln>
        </p:spPr>
      </p:cxnSp>
      <p:cxnSp>
        <p:nvCxnSpPr>
          <p:cNvPr id="908" name="Google Shape;908;p77"/>
          <p:cNvCxnSpPr>
            <a:stCxn id="905" idx="2"/>
            <a:endCxn id="906" idx="0"/>
          </p:cNvCxnSpPr>
          <p:nvPr/>
        </p:nvCxnSpPr>
        <p:spPr>
          <a:xfrm>
            <a:off x="8166913" y="2804852"/>
            <a:ext cx="0" cy="552900"/>
          </a:xfrm>
          <a:prstGeom prst="straightConnector1">
            <a:avLst/>
          </a:prstGeom>
          <a:noFill/>
          <a:ln cap="flat" cmpd="sng" w="9525">
            <a:solidFill>
              <a:srgbClr val="000000"/>
            </a:solidFill>
            <a:prstDash val="solid"/>
            <a:round/>
            <a:headEnd len="med" w="med" type="none"/>
            <a:tailEnd len="med" w="med" type="none"/>
          </a:ln>
        </p:spPr>
      </p:cxnSp>
      <p:sp>
        <p:nvSpPr>
          <p:cNvPr id="909" name="Google Shape;909;p77"/>
          <p:cNvSpPr txBox="1"/>
          <p:nvPr/>
        </p:nvSpPr>
        <p:spPr>
          <a:xfrm>
            <a:off x="555325" y="1223675"/>
            <a:ext cx="1642800" cy="3936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Stub Resolver</a:t>
            </a:r>
            <a:endParaRPr>
              <a:latin typeface="Calibri"/>
              <a:ea typeface="Calibri"/>
              <a:cs typeface="Calibri"/>
              <a:sym typeface="Calibri"/>
            </a:endParaRPr>
          </a:p>
        </p:txBody>
      </p:sp>
      <p:pic>
        <p:nvPicPr>
          <p:cNvPr id="910" name="Google Shape;910;p77"/>
          <p:cNvPicPr preferRelativeResize="0"/>
          <p:nvPr/>
        </p:nvPicPr>
        <p:blipFill rotWithShape="1">
          <a:blip r:embed="rId3">
            <a:alphaModFix/>
          </a:blip>
          <a:srcRect b="57590" l="5310" r="80092" t="16627"/>
          <a:stretch/>
        </p:blipFill>
        <p:spPr>
          <a:xfrm>
            <a:off x="0" y="1144185"/>
            <a:ext cx="495580" cy="552599"/>
          </a:xfrm>
          <a:prstGeom prst="rect">
            <a:avLst/>
          </a:prstGeom>
          <a:noFill/>
          <a:ln>
            <a:noFill/>
          </a:ln>
        </p:spPr>
      </p:pic>
      <p:sp>
        <p:nvSpPr>
          <p:cNvPr id="911" name="Google Shape;911;p77"/>
          <p:cNvSpPr txBox="1"/>
          <p:nvPr/>
        </p:nvSpPr>
        <p:spPr>
          <a:xfrm>
            <a:off x="2324113" y="1209350"/>
            <a:ext cx="4316400" cy="615600"/>
          </a:xfrm>
          <a:prstGeom prst="rect">
            <a:avLst/>
          </a:prstGeom>
          <a:solidFill>
            <a:srgbClr val="C9DAF8"/>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Let's walk through the DNS query for the IP address of </a:t>
            </a:r>
            <a:r>
              <a:rPr b="1" lang="en">
                <a:solidFill>
                  <a:schemeClr val="dk1"/>
                </a:solidFill>
                <a:latin typeface="Courier New"/>
                <a:ea typeface="Courier New"/>
                <a:cs typeface="Courier New"/>
                <a:sym typeface="Courier New"/>
              </a:rPr>
              <a:t>fake1.google.com</a:t>
            </a:r>
            <a:r>
              <a:rPr lang="en"/>
              <a:t>.</a:t>
            </a:r>
            <a:endParaRPr/>
          </a:p>
        </p:txBody>
      </p:sp>
      <p:pic>
        <p:nvPicPr>
          <p:cNvPr id="912" name="Google Shape;912;p77"/>
          <p:cNvPicPr preferRelativeResize="0"/>
          <p:nvPr/>
        </p:nvPicPr>
        <p:blipFill rotWithShape="1">
          <a:blip r:embed="rId4">
            <a:alphaModFix/>
          </a:blip>
          <a:srcRect b="65159" l="10446" r="69908" t="13697"/>
          <a:stretch/>
        </p:blipFill>
        <p:spPr>
          <a:xfrm>
            <a:off x="7841463" y="4405638"/>
            <a:ext cx="650926" cy="700636"/>
          </a:xfrm>
          <a:prstGeom prst="rect">
            <a:avLst/>
          </a:prstGeom>
          <a:noFill/>
          <a:ln>
            <a:noFill/>
          </a:ln>
        </p:spPr>
      </p:pic>
      <p:sp>
        <p:nvSpPr>
          <p:cNvPr id="913" name="Google Shape;913;p77"/>
          <p:cNvSpPr/>
          <p:nvPr/>
        </p:nvSpPr>
        <p:spPr>
          <a:xfrm>
            <a:off x="142425" y="2190750"/>
            <a:ext cx="3150600" cy="2866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77"/>
          <p:cNvSpPr txBox="1"/>
          <p:nvPr/>
        </p:nvSpPr>
        <p:spPr>
          <a:xfrm>
            <a:off x="226125" y="2279151"/>
            <a:ext cx="29832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Recursive Resolver</a:t>
            </a:r>
            <a:endParaRPr>
              <a:latin typeface="Calibri"/>
              <a:ea typeface="Calibri"/>
              <a:cs typeface="Calibri"/>
              <a:sym typeface="Calibri"/>
            </a:endParaRPr>
          </a:p>
        </p:txBody>
      </p:sp>
      <p:graphicFrame>
        <p:nvGraphicFramePr>
          <p:cNvPr id="915" name="Google Shape;915;p77"/>
          <p:cNvGraphicFramePr/>
          <p:nvPr/>
        </p:nvGraphicFramePr>
        <p:xfrm>
          <a:off x="226150" y="2672750"/>
          <a:ext cx="3000000" cy="3000000"/>
        </p:xfrm>
        <a:graphic>
          <a:graphicData uri="http://schemas.openxmlformats.org/drawingml/2006/table">
            <a:tbl>
              <a:tblPr>
                <a:noFill/>
                <a:tableStyleId>{8746E7DE-0C9E-4540-9031-B6CDA728326B}</a:tableStyleId>
              </a:tblPr>
              <a:tblGrid>
                <a:gridCol w="1491575"/>
                <a:gridCol w="1491575"/>
              </a:tblGrid>
              <a:tr h="347850">
                <a:tc gridSpan="2">
                  <a:txBody>
                    <a:bodyPr/>
                    <a:lstStyle/>
                    <a:p>
                      <a:pPr indent="0" lvl="0" marL="0" rtl="0" algn="ctr">
                        <a:spcBef>
                          <a:spcPts val="0"/>
                        </a:spcBef>
                        <a:spcAft>
                          <a:spcPts val="0"/>
                        </a:spcAft>
                        <a:buNone/>
                      </a:pPr>
                      <a:r>
                        <a:rPr lang="en" sz="1100">
                          <a:latin typeface="Courier New"/>
                          <a:ea typeface="Courier New"/>
                          <a:cs typeface="Courier New"/>
                          <a:sym typeface="Courier New"/>
                        </a:rPr>
                        <a:t>Recursive Resolver Cache</a:t>
                      </a:r>
                      <a:endParaRPr sz="1100">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solidFill>
                      <a:schemeClr val="lt1"/>
                    </a:solidFill>
                  </a:tcPr>
                </a:tc>
                <a:tc hMerge="1"/>
              </a:tr>
              <a:tr h="317600">
                <a:tc>
                  <a:txBody>
                    <a:bodyPr/>
                    <a:lstStyle/>
                    <a:p>
                      <a:pPr indent="0" lvl="0" marL="0" rtl="0" algn="l">
                        <a:lnSpc>
                          <a:spcPct val="115000"/>
                        </a:lnSpc>
                        <a:spcBef>
                          <a:spcPts val="0"/>
                        </a:spcBef>
                        <a:spcAft>
                          <a:spcPts val="0"/>
                        </a:spcAft>
                        <a:buNone/>
                      </a:pPr>
                      <a:r>
                        <a:t/>
                      </a:r>
                      <a:endParaRPr sz="900">
                        <a:solidFill>
                          <a:schemeClr val="dk1"/>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t/>
                      </a:r>
                      <a:endParaRPr sz="900">
                        <a:solidFill>
                          <a:schemeClr val="dk1"/>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17600">
                <a:tc>
                  <a:txBody>
                    <a:bodyPr/>
                    <a:lstStyle/>
                    <a:p>
                      <a:pPr indent="0" lvl="0" marL="0" rtl="0" algn="l">
                        <a:lnSpc>
                          <a:spcPct val="115000"/>
                        </a:lnSpc>
                        <a:spcBef>
                          <a:spcPts val="0"/>
                        </a:spcBef>
                        <a:spcAft>
                          <a:spcPts val="0"/>
                        </a:spcAft>
                        <a:buNone/>
                      </a:pPr>
                      <a:r>
                        <a:t/>
                      </a:r>
                      <a:endParaRPr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t/>
                      </a:r>
                      <a:endParaRPr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17600">
                <a:tc>
                  <a:txBody>
                    <a:bodyPr/>
                    <a:lstStyle/>
                    <a:p>
                      <a:pPr indent="0" lvl="0" marL="0" rtl="0" algn="l">
                        <a:spcBef>
                          <a:spcPts val="0"/>
                        </a:spcBef>
                        <a:spcAft>
                          <a:spcPts val="0"/>
                        </a:spcAft>
                        <a:buNone/>
                      </a:pPr>
                      <a:r>
                        <a:t/>
                      </a:r>
                      <a:endParaRPr b="1"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b="1" sz="900">
                        <a:solidFill>
                          <a:srgbClr val="FF0000"/>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bl>
          </a:graphicData>
        </a:graphic>
      </p:graphicFrame>
      <p:sp>
        <p:nvSpPr>
          <p:cNvPr id="916" name="Google Shape;916;p77"/>
          <p:cNvSpPr txBox="1"/>
          <p:nvPr/>
        </p:nvSpPr>
        <p:spPr>
          <a:xfrm>
            <a:off x="3519850" y="2773500"/>
            <a:ext cx="34611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We’ll use this color to represent normal packets across Alice’s DNS query.</a:t>
            </a:r>
            <a:endParaRPr/>
          </a:p>
        </p:txBody>
      </p:sp>
      <p:sp>
        <p:nvSpPr>
          <p:cNvPr id="917" name="Google Shape;917;p77"/>
          <p:cNvSpPr txBox="1"/>
          <p:nvPr/>
        </p:nvSpPr>
        <p:spPr>
          <a:xfrm>
            <a:off x="3519850" y="3983275"/>
            <a:ext cx="3461100" cy="615600"/>
          </a:xfrm>
          <a:prstGeom prst="rect">
            <a:avLst/>
          </a:prstGeom>
          <a:solidFill>
            <a:srgbClr val="E06666"/>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We’ll use this color to represent Mallory’s packets across Alice’s DNS query.</a:t>
            </a:r>
            <a:endParaRPr sz="1200">
              <a:solidFill>
                <a:schemeClr val="dk1"/>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78"/>
          <p:cNvSpPr/>
          <p:nvPr/>
        </p:nvSpPr>
        <p:spPr>
          <a:xfrm>
            <a:off x="142425" y="2190750"/>
            <a:ext cx="3150600" cy="2866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78"/>
          <p:cNvSpPr txBox="1"/>
          <p:nvPr/>
        </p:nvSpPr>
        <p:spPr>
          <a:xfrm>
            <a:off x="555325" y="1223675"/>
            <a:ext cx="1642800" cy="3936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Stub Resolver</a:t>
            </a:r>
            <a:endParaRPr>
              <a:latin typeface="Calibri"/>
              <a:ea typeface="Calibri"/>
              <a:cs typeface="Calibri"/>
              <a:sym typeface="Calibri"/>
            </a:endParaRPr>
          </a:p>
        </p:txBody>
      </p:sp>
      <p:sp>
        <p:nvSpPr>
          <p:cNvPr id="924" name="Google Shape;924;p78"/>
          <p:cNvSpPr txBox="1"/>
          <p:nvPr/>
        </p:nvSpPr>
        <p:spPr>
          <a:xfrm>
            <a:off x="226125" y="2279151"/>
            <a:ext cx="29832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Recursive Resolver</a:t>
            </a:r>
            <a:endParaRPr>
              <a:latin typeface="Calibri"/>
              <a:ea typeface="Calibri"/>
              <a:cs typeface="Calibri"/>
              <a:sym typeface="Calibri"/>
            </a:endParaRPr>
          </a:p>
        </p:txBody>
      </p:sp>
      <p:pic>
        <p:nvPicPr>
          <p:cNvPr id="925" name="Google Shape;925;p78"/>
          <p:cNvPicPr preferRelativeResize="0"/>
          <p:nvPr/>
        </p:nvPicPr>
        <p:blipFill rotWithShape="1">
          <a:blip r:embed="rId3">
            <a:alphaModFix/>
          </a:blip>
          <a:srcRect b="57590" l="5310" r="80092" t="16627"/>
          <a:stretch/>
        </p:blipFill>
        <p:spPr>
          <a:xfrm>
            <a:off x="0" y="1144185"/>
            <a:ext cx="495580" cy="552599"/>
          </a:xfrm>
          <a:prstGeom prst="rect">
            <a:avLst/>
          </a:prstGeom>
          <a:noFill/>
          <a:ln>
            <a:noFill/>
          </a:ln>
        </p:spPr>
      </p:pic>
      <p:graphicFrame>
        <p:nvGraphicFramePr>
          <p:cNvPr id="926" name="Google Shape;926;p78"/>
          <p:cNvGraphicFramePr/>
          <p:nvPr/>
        </p:nvGraphicFramePr>
        <p:xfrm>
          <a:off x="226125" y="2672750"/>
          <a:ext cx="3000000" cy="3000000"/>
        </p:xfrm>
        <a:graphic>
          <a:graphicData uri="http://schemas.openxmlformats.org/drawingml/2006/table">
            <a:tbl>
              <a:tblPr>
                <a:noFill/>
                <a:tableStyleId>{8746E7DE-0C9E-4540-9031-B6CDA728326B}</a:tableStyleId>
              </a:tblPr>
              <a:tblGrid>
                <a:gridCol w="1491575"/>
                <a:gridCol w="1491575"/>
              </a:tblGrid>
              <a:tr h="347850">
                <a:tc gridSpan="2">
                  <a:txBody>
                    <a:bodyPr/>
                    <a:lstStyle/>
                    <a:p>
                      <a:pPr indent="0" lvl="0" marL="0" rtl="0" algn="ctr">
                        <a:spcBef>
                          <a:spcPts val="0"/>
                        </a:spcBef>
                        <a:spcAft>
                          <a:spcPts val="0"/>
                        </a:spcAft>
                        <a:buNone/>
                      </a:pPr>
                      <a:r>
                        <a:rPr lang="en" sz="1100">
                          <a:latin typeface="Courier New"/>
                          <a:ea typeface="Courier New"/>
                          <a:cs typeface="Courier New"/>
                          <a:sym typeface="Courier New"/>
                        </a:rPr>
                        <a:t>Recursive Resolver Cache</a:t>
                      </a:r>
                      <a:endParaRPr sz="1100">
                        <a:latin typeface="Courier New"/>
                        <a:ea typeface="Courier New"/>
                        <a:cs typeface="Courier New"/>
                        <a:sym typeface="Courier New"/>
                      </a:endParaRPr>
                    </a:p>
                  </a:txBody>
                  <a:tcPr marT="91425" marB="91425" marR="91425" marL="91425">
                    <a:solidFill>
                      <a:schemeClr val="lt1"/>
                    </a:solidFill>
                  </a:tcPr>
                </a:tc>
                <a:tc hMerge="1"/>
              </a:tr>
              <a:tr h="317600">
                <a:tc>
                  <a:txBody>
                    <a:bodyPr/>
                    <a:lstStyle/>
                    <a:p>
                      <a:pPr indent="0" lvl="0" marL="0" rtl="0" algn="l">
                        <a:spcBef>
                          <a:spcPts val="0"/>
                        </a:spcBef>
                        <a:spcAft>
                          <a:spcPts val="0"/>
                        </a:spcAft>
                        <a:buNone/>
                      </a:pPr>
                      <a:r>
                        <a:t/>
                      </a:r>
                      <a:endParaRPr sz="900">
                        <a:latin typeface="Courier New"/>
                        <a:ea typeface="Courier New"/>
                        <a:cs typeface="Courier New"/>
                        <a:sym typeface="Courier New"/>
                      </a:endParaRPr>
                    </a:p>
                  </a:txBody>
                  <a:tcPr marT="91425" marB="91425" marR="91425" marL="91425">
                    <a:solidFill>
                      <a:schemeClr val="lt1"/>
                    </a:solidFill>
                  </a:tcPr>
                </a:tc>
                <a:tc>
                  <a:txBody>
                    <a:bodyPr/>
                    <a:lstStyle/>
                    <a:p>
                      <a:pPr indent="0" lvl="0" marL="0" rtl="0" algn="l">
                        <a:lnSpc>
                          <a:spcPct val="115000"/>
                        </a:lnSpc>
                        <a:spcBef>
                          <a:spcPts val="0"/>
                        </a:spcBef>
                        <a:spcAft>
                          <a:spcPts val="0"/>
                        </a:spcAft>
                        <a:buNone/>
                      </a:pPr>
                      <a:r>
                        <a:t/>
                      </a:r>
                      <a:endParaRPr sz="900">
                        <a:solidFill>
                          <a:schemeClr val="dk1"/>
                        </a:solidFill>
                        <a:latin typeface="Courier New"/>
                        <a:ea typeface="Courier New"/>
                        <a:cs typeface="Courier New"/>
                        <a:sym typeface="Courier New"/>
                      </a:endParaRPr>
                    </a:p>
                  </a:txBody>
                  <a:tcPr marT="91425" marB="91425" marR="91425" marL="91425">
                    <a:solidFill>
                      <a:schemeClr val="lt1"/>
                    </a:solidFill>
                  </a:tcPr>
                </a:tc>
              </a:tr>
              <a:tr h="317600">
                <a:tc>
                  <a:txBody>
                    <a:bodyPr/>
                    <a:lstStyle/>
                    <a:p>
                      <a:pPr indent="0" lvl="0" marL="0" rtl="0" algn="l">
                        <a:lnSpc>
                          <a:spcPct val="115000"/>
                        </a:lnSpc>
                        <a:spcBef>
                          <a:spcPts val="0"/>
                        </a:spcBef>
                        <a:spcAft>
                          <a:spcPts val="0"/>
                        </a:spcAft>
                        <a:buNone/>
                      </a:pPr>
                      <a:r>
                        <a:t/>
                      </a:r>
                      <a:endParaRPr sz="900">
                        <a:solidFill>
                          <a:schemeClr val="dk1"/>
                        </a:solidFill>
                        <a:latin typeface="Courier New"/>
                        <a:ea typeface="Courier New"/>
                        <a:cs typeface="Courier New"/>
                        <a:sym typeface="Courier New"/>
                      </a:endParaRPr>
                    </a:p>
                  </a:txBody>
                  <a:tcPr marT="91425" marB="91425" marR="91425" marL="91425">
                    <a:solidFill>
                      <a:schemeClr val="lt1"/>
                    </a:solidFill>
                  </a:tcPr>
                </a:tc>
                <a:tc>
                  <a:txBody>
                    <a:bodyPr/>
                    <a:lstStyle/>
                    <a:p>
                      <a:pPr indent="0" lvl="0" marL="0" rtl="0" algn="l">
                        <a:lnSpc>
                          <a:spcPct val="115000"/>
                        </a:lnSpc>
                        <a:spcBef>
                          <a:spcPts val="0"/>
                        </a:spcBef>
                        <a:spcAft>
                          <a:spcPts val="0"/>
                        </a:spcAft>
                        <a:buNone/>
                      </a:pPr>
                      <a:r>
                        <a:t/>
                      </a:r>
                      <a:endParaRPr sz="900">
                        <a:solidFill>
                          <a:schemeClr val="dk1"/>
                        </a:solidFill>
                        <a:latin typeface="Courier New"/>
                        <a:ea typeface="Courier New"/>
                        <a:cs typeface="Courier New"/>
                        <a:sym typeface="Courier New"/>
                      </a:endParaRPr>
                    </a:p>
                  </a:txBody>
                  <a:tcPr marT="91425" marB="91425" marR="91425" marL="91425">
                    <a:solidFill>
                      <a:schemeClr val="lt1"/>
                    </a:solidFill>
                  </a:tcPr>
                </a:tc>
              </a:tr>
              <a:tr h="317600">
                <a:tc>
                  <a:txBody>
                    <a:bodyPr/>
                    <a:lstStyle/>
                    <a:p>
                      <a:pPr indent="0" lvl="0" marL="0" rtl="0" algn="l">
                        <a:lnSpc>
                          <a:spcPct val="115000"/>
                        </a:lnSpc>
                        <a:spcBef>
                          <a:spcPts val="0"/>
                        </a:spcBef>
                        <a:spcAft>
                          <a:spcPts val="0"/>
                        </a:spcAft>
                        <a:buNone/>
                      </a:pPr>
                      <a:r>
                        <a:t/>
                      </a:r>
                      <a:endParaRPr sz="900">
                        <a:latin typeface="Courier New"/>
                        <a:ea typeface="Courier New"/>
                        <a:cs typeface="Courier New"/>
                        <a:sym typeface="Courier New"/>
                      </a:endParaRPr>
                    </a:p>
                  </a:txBody>
                  <a:tcPr marT="91425" marB="91425" marR="91425" marL="91425">
                    <a:solidFill>
                      <a:schemeClr val="lt1"/>
                    </a:solidFill>
                  </a:tcPr>
                </a:tc>
                <a:tc>
                  <a:txBody>
                    <a:bodyPr/>
                    <a:lstStyle/>
                    <a:p>
                      <a:pPr indent="0" lvl="0" marL="0" rtl="0" algn="l">
                        <a:lnSpc>
                          <a:spcPct val="115000"/>
                        </a:lnSpc>
                        <a:spcBef>
                          <a:spcPts val="0"/>
                        </a:spcBef>
                        <a:spcAft>
                          <a:spcPts val="0"/>
                        </a:spcAft>
                        <a:buNone/>
                      </a:pPr>
                      <a:r>
                        <a:t/>
                      </a:r>
                      <a:endParaRPr sz="900">
                        <a:latin typeface="Courier New"/>
                        <a:ea typeface="Courier New"/>
                        <a:cs typeface="Courier New"/>
                        <a:sym typeface="Courier New"/>
                      </a:endParaRPr>
                    </a:p>
                  </a:txBody>
                  <a:tcPr marT="91425" marB="91425" marR="91425" marL="91425">
                    <a:solidFill>
                      <a:schemeClr val="lt1"/>
                    </a:solidFill>
                  </a:tcPr>
                </a:tc>
              </a:tr>
            </a:tbl>
          </a:graphicData>
        </a:graphic>
      </p:graphicFrame>
      <p:grpSp>
        <p:nvGrpSpPr>
          <p:cNvPr id="927" name="Google Shape;927;p78"/>
          <p:cNvGrpSpPr/>
          <p:nvPr/>
        </p:nvGrpSpPr>
        <p:grpSpPr>
          <a:xfrm>
            <a:off x="769875" y="1617199"/>
            <a:ext cx="410100" cy="572709"/>
            <a:chOff x="258935" y="2049228"/>
            <a:chExt cx="410100" cy="762900"/>
          </a:xfrm>
        </p:grpSpPr>
        <p:sp>
          <p:nvSpPr>
            <p:cNvPr id="928" name="Google Shape;928;p78"/>
            <p:cNvSpPr txBox="1"/>
            <p:nvPr/>
          </p:nvSpPr>
          <p:spPr>
            <a:xfrm>
              <a:off x="258935" y="2174852"/>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1</a:t>
              </a:r>
              <a:endParaRPr>
                <a:latin typeface="Calibri"/>
                <a:ea typeface="Calibri"/>
                <a:cs typeface="Calibri"/>
                <a:sym typeface="Calibri"/>
              </a:endParaRPr>
            </a:p>
          </p:txBody>
        </p:sp>
        <p:cxnSp>
          <p:nvCxnSpPr>
            <p:cNvPr id="929" name="Google Shape;929;p78"/>
            <p:cNvCxnSpPr/>
            <p:nvPr/>
          </p:nvCxnSpPr>
          <p:spPr>
            <a:xfrm rot="10800000">
              <a:off x="530725" y="2049228"/>
              <a:ext cx="0" cy="762900"/>
            </a:xfrm>
            <a:prstGeom prst="straightConnector1">
              <a:avLst/>
            </a:prstGeom>
            <a:noFill/>
            <a:ln cap="flat" cmpd="sng" w="19050">
              <a:solidFill>
                <a:srgbClr val="000000"/>
              </a:solidFill>
              <a:prstDash val="solid"/>
              <a:round/>
              <a:headEnd len="med" w="med" type="triangle"/>
              <a:tailEnd len="med" w="med" type="none"/>
            </a:ln>
          </p:spPr>
        </p:cxnSp>
      </p:grpSp>
      <p:sp>
        <p:nvSpPr>
          <p:cNvPr id="930" name="Google Shape;930;p78"/>
          <p:cNvSpPr/>
          <p:nvPr/>
        </p:nvSpPr>
        <p:spPr>
          <a:xfrm>
            <a:off x="1067425" y="1561375"/>
            <a:ext cx="2983233" cy="393575"/>
          </a:xfrm>
          <a:custGeom>
            <a:rect b="b" l="l" r="r" t="t"/>
            <a:pathLst>
              <a:path extrusionOk="0" h="35172" w="75635">
                <a:moveTo>
                  <a:pt x="75635" y="0"/>
                </a:moveTo>
                <a:lnTo>
                  <a:pt x="75635" y="35172"/>
                </a:lnTo>
                <a:lnTo>
                  <a:pt x="0" y="35172"/>
                </a:lnTo>
              </a:path>
            </a:pathLst>
          </a:custGeom>
          <a:noFill/>
          <a:ln cap="flat" cmpd="sng" w="19050">
            <a:solidFill>
              <a:srgbClr val="E69138"/>
            </a:solidFill>
            <a:prstDash val="solid"/>
            <a:round/>
            <a:headEnd len="med" w="med" type="none"/>
            <a:tailEnd len="med" w="med" type="triangle"/>
          </a:ln>
        </p:spPr>
      </p:sp>
      <p:sp>
        <p:nvSpPr>
          <p:cNvPr id="931" name="Google Shape;931;p78"/>
          <p:cNvSpPr txBox="1"/>
          <p:nvPr/>
        </p:nvSpPr>
        <p:spPr>
          <a:xfrm>
            <a:off x="2622850" y="1209350"/>
            <a:ext cx="34611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“Can you figure out what the ip address of </a:t>
            </a:r>
            <a:r>
              <a:rPr b="1" lang="en">
                <a:solidFill>
                  <a:schemeClr val="dk1"/>
                </a:solidFill>
                <a:latin typeface="Courier New"/>
                <a:ea typeface="Courier New"/>
                <a:cs typeface="Courier New"/>
                <a:sym typeface="Courier New"/>
              </a:rPr>
              <a:t>fake1.google.com</a:t>
            </a:r>
            <a:r>
              <a:rPr lang="en">
                <a:solidFill>
                  <a:schemeClr val="dk1"/>
                </a:solidFill>
              </a:rPr>
              <a:t> is?”</a:t>
            </a:r>
            <a:endParaRPr/>
          </a:p>
        </p:txBody>
      </p:sp>
      <p:sp>
        <p:nvSpPr>
          <p:cNvPr id="932" name="Google Shape;932;p78"/>
          <p:cNvSpPr txBox="1"/>
          <p:nvPr/>
        </p:nvSpPr>
        <p:spPr>
          <a:xfrm>
            <a:off x="7547875" y="1392148"/>
            <a:ext cx="1238100" cy="3648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 (root)</a:t>
            </a:r>
            <a:endParaRPr>
              <a:latin typeface="Courier New"/>
              <a:ea typeface="Courier New"/>
              <a:cs typeface="Courier New"/>
              <a:sym typeface="Courier New"/>
            </a:endParaRPr>
          </a:p>
        </p:txBody>
      </p:sp>
      <p:sp>
        <p:nvSpPr>
          <p:cNvPr id="933" name="Google Shape;933;p78"/>
          <p:cNvSpPr txBox="1"/>
          <p:nvPr/>
        </p:nvSpPr>
        <p:spPr>
          <a:xfrm>
            <a:off x="7832713" y="2411252"/>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.com</a:t>
            </a:r>
            <a:endParaRPr>
              <a:latin typeface="Calibri"/>
              <a:ea typeface="Calibri"/>
              <a:cs typeface="Calibri"/>
              <a:sym typeface="Calibri"/>
            </a:endParaRPr>
          </a:p>
        </p:txBody>
      </p:sp>
      <p:sp>
        <p:nvSpPr>
          <p:cNvPr id="934" name="Google Shape;934;p78"/>
          <p:cNvSpPr txBox="1"/>
          <p:nvPr/>
        </p:nvSpPr>
        <p:spPr>
          <a:xfrm>
            <a:off x="7518763" y="3357750"/>
            <a:ext cx="12963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google.com</a:t>
            </a:r>
            <a:endParaRPr sz="1200">
              <a:latin typeface="Calibri"/>
              <a:ea typeface="Calibri"/>
              <a:cs typeface="Calibri"/>
              <a:sym typeface="Calibri"/>
            </a:endParaRPr>
          </a:p>
        </p:txBody>
      </p:sp>
      <p:cxnSp>
        <p:nvCxnSpPr>
          <p:cNvPr id="935" name="Google Shape;935;p78"/>
          <p:cNvCxnSpPr>
            <a:stCxn id="932" idx="2"/>
            <a:endCxn id="933" idx="0"/>
          </p:cNvCxnSpPr>
          <p:nvPr/>
        </p:nvCxnSpPr>
        <p:spPr>
          <a:xfrm>
            <a:off x="8166925" y="1756948"/>
            <a:ext cx="0" cy="654300"/>
          </a:xfrm>
          <a:prstGeom prst="straightConnector1">
            <a:avLst/>
          </a:prstGeom>
          <a:noFill/>
          <a:ln cap="flat" cmpd="sng" w="9525">
            <a:solidFill>
              <a:srgbClr val="000000"/>
            </a:solidFill>
            <a:prstDash val="solid"/>
            <a:round/>
            <a:headEnd len="med" w="med" type="none"/>
            <a:tailEnd len="med" w="med" type="none"/>
          </a:ln>
        </p:spPr>
      </p:cxnSp>
      <p:cxnSp>
        <p:nvCxnSpPr>
          <p:cNvPr id="936" name="Google Shape;936;p78"/>
          <p:cNvCxnSpPr>
            <a:stCxn id="933" idx="2"/>
            <a:endCxn id="934" idx="0"/>
          </p:cNvCxnSpPr>
          <p:nvPr/>
        </p:nvCxnSpPr>
        <p:spPr>
          <a:xfrm>
            <a:off x="8166913" y="2804852"/>
            <a:ext cx="0" cy="552900"/>
          </a:xfrm>
          <a:prstGeom prst="straightConnector1">
            <a:avLst/>
          </a:prstGeom>
          <a:noFill/>
          <a:ln cap="flat" cmpd="sng" w="9525">
            <a:solidFill>
              <a:srgbClr val="000000"/>
            </a:solidFill>
            <a:prstDash val="solid"/>
            <a:round/>
            <a:headEnd len="med" w="med" type="none"/>
            <a:tailEnd len="med" w="med" type="none"/>
          </a:ln>
        </p:spPr>
      </p:cxnSp>
      <p:sp>
        <p:nvSpPr>
          <p:cNvPr id="937" name="Google Shape;937;p7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938" name="Google Shape;938;p78"/>
          <p:cNvPicPr preferRelativeResize="0"/>
          <p:nvPr/>
        </p:nvPicPr>
        <p:blipFill rotWithShape="1">
          <a:blip r:embed="rId4">
            <a:alphaModFix/>
          </a:blip>
          <a:srcRect b="65159" l="10446" r="69908" t="13697"/>
          <a:stretch/>
        </p:blipFill>
        <p:spPr>
          <a:xfrm>
            <a:off x="7841463" y="4405638"/>
            <a:ext cx="650926" cy="700636"/>
          </a:xfrm>
          <a:prstGeom prst="rect">
            <a:avLst/>
          </a:prstGeom>
          <a:noFill/>
          <a:ln>
            <a:noFill/>
          </a:ln>
        </p:spPr>
      </p:pic>
      <p:sp>
        <p:nvSpPr>
          <p:cNvPr id="939" name="Google Shape;939;p7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Kaminsky Attack: Example</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3" name="Shape 943"/>
        <p:cNvGrpSpPr/>
        <p:nvPr/>
      </p:nvGrpSpPr>
      <p:grpSpPr>
        <a:xfrm>
          <a:off x="0" y="0"/>
          <a:ext cx="0" cy="0"/>
          <a:chOff x="0" y="0"/>
          <a:chExt cx="0" cy="0"/>
        </a:xfrm>
      </p:grpSpPr>
      <p:sp>
        <p:nvSpPr>
          <p:cNvPr id="944" name="Google Shape;944;p79"/>
          <p:cNvSpPr/>
          <p:nvPr/>
        </p:nvSpPr>
        <p:spPr>
          <a:xfrm>
            <a:off x="142425" y="2190750"/>
            <a:ext cx="3150600" cy="2866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79"/>
          <p:cNvSpPr txBox="1"/>
          <p:nvPr/>
        </p:nvSpPr>
        <p:spPr>
          <a:xfrm>
            <a:off x="555325" y="1223675"/>
            <a:ext cx="1642800" cy="3936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Stub Resolver</a:t>
            </a:r>
            <a:endParaRPr>
              <a:latin typeface="Calibri"/>
              <a:ea typeface="Calibri"/>
              <a:cs typeface="Calibri"/>
              <a:sym typeface="Calibri"/>
            </a:endParaRPr>
          </a:p>
        </p:txBody>
      </p:sp>
      <p:sp>
        <p:nvSpPr>
          <p:cNvPr id="946" name="Google Shape;946;p79"/>
          <p:cNvSpPr txBox="1"/>
          <p:nvPr/>
        </p:nvSpPr>
        <p:spPr>
          <a:xfrm>
            <a:off x="226125" y="2279151"/>
            <a:ext cx="29832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Recursive Resolver</a:t>
            </a:r>
            <a:endParaRPr>
              <a:latin typeface="Calibri"/>
              <a:ea typeface="Calibri"/>
              <a:cs typeface="Calibri"/>
              <a:sym typeface="Calibri"/>
            </a:endParaRPr>
          </a:p>
        </p:txBody>
      </p:sp>
      <p:pic>
        <p:nvPicPr>
          <p:cNvPr id="947" name="Google Shape;947;p79"/>
          <p:cNvPicPr preferRelativeResize="0"/>
          <p:nvPr/>
        </p:nvPicPr>
        <p:blipFill rotWithShape="1">
          <a:blip r:embed="rId3">
            <a:alphaModFix/>
          </a:blip>
          <a:srcRect b="57590" l="5310" r="80092" t="16627"/>
          <a:stretch/>
        </p:blipFill>
        <p:spPr>
          <a:xfrm>
            <a:off x="0" y="1144185"/>
            <a:ext cx="495580" cy="552599"/>
          </a:xfrm>
          <a:prstGeom prst="rect">
            <a:avLst/>
          </a:prstGeom>
          <a:noFill/>
          <a:ln>
            <a:noFill/>
          </a:ln>
        </p:spPr>
      </p:pic>
      <p:graphicFrame>
        <p:nvGraphicFramePr>
          <p:cNvPr id="948" name="Google Shape;948;p79"/>
          <p:cNvGraphicFramePr/>
          <p:nvPr/>
        </p:nvGraphicFramePr>
        <p:xfrm>
          <a:off x="226125" y="2672750"/>
          <a:ext cx="3000000" cy="3000000"/>
        </p:xfrm>
        <a:graphic>
          <a:graphicData uri="http://schemas.openxmlformats.org/drawingml/2006/table">
            <a:tbl>
              <a:tblPr>
                <a:noFill/>
                <a:tableStyleId>{8746E7DE-0C9E-4540-9031-B6CDA728326B}</a:tableStyleId>
              </a:tblPr>
              <a:tblGrid>
                <a:gridCol w="1491575"/>
                <a:gridCol w="1491575"/>
              </a:tblGrid>
              <a:tr h="347850">
                <a:tc gridSpan="2">
                  <a:txBody>
                    <a:bodyPr/>
                    <a:lstStyle/>
                    <a:p>
                      <a:pPr indent="0" lvl="0" marL="0" rtl="0" algn="ctr">
                        <a:spcBef>
                          <a:spcPts val="0"/>
                        </a:spcBef>
                        <a:spcAft>
                          <a:spcPts val="0"/>
                        </a:spcAft>
                        <a:buNone/>
                      </a:pPr>
                      <a:r>
                        <a:rPr lang="en" sz="1100">
                          <a:latin typeface="Courier New"/>
                          <a:ea typeface="Courier New"/>
                          <a:cs typeface="Courier New"/>
                          <a:sym typeface="Courier New"/>
                        </a:rPr>
                        <a:t>Recursive Resolver Cache</a:t>
                      </a:r>
                      <a:endParaRPr sz="1100">
                        <a:latin typeface="Courier New"/>
                        <a:ea typeface="Courier New"/>
                        <a:cs typeface="Courier New"/>
                        <a:sym typeface="Courier New"/>
                      </a:endParaRPr>
                    </a:p>
                  </a:txBody>
                  <a:tcPr marT="91425" marB="91425" marR="91425" marL="91425">
                    <a:solidFill>
                      <a:schemeClr val="lt1"/>
                    </a:solidFill>
                  </a:tcPr>
                </a:tc>
                <a:tc hMerge="1"/>
              </a:tr>
              <a:tr h="317600">
                <a:tc>
                  <a:txBody>
                    <a:bodyPr/>
                    <a:lstStyle/>
                    <a:p>
                      <a:pPr indent="0" lvl="0" marL="0" rtl="0" algn="l">
                        <a:spcBef>
                          <a:spcPts val="0"/>
                        </a:spcBef>
                        <a:spcAft>
                          <a:spcPts val="0"/>
                        </a:spcAft>
                        <a:buNone/>
                      </a:pPr>
                      <a:r>
                        <a:t/>
                      </a:r>
                      <a:endParaRPr sz="900">
                        <a:latin typeface="Courier New"/>
                        <a:ea typeface="Courier New"/>
                        <a:cs typeface="Courier New"/>
                        <a:sym typeface="Courier New"/>
                      </a:endParaRPr>
                    </a:p>
                  </a:txBody>
                  <a:tcPr marT="91425" marB="91425" marR="91425" marL="91425">
                    <a:solidFill>
                      <a:schemeClr val="lt1"/>
                    </a:solidFill>
                  </a:tcPr>
                </a:tc>
                <a:tc>
                  <a:txBody>
                    <a:bodyPr/>
                    <a:lstStyle/>
                    <a:p>
                      <a:pPr indent="0" lvl="0" marL="0" rtl="0" algn="l">
                        <a:lnSpc>
                          <a:spcPct val="115000"/>
                        </a:lnSpc>
                        <a:spcBef>
                          <a:spcPts val="0"/>
                        </a:spcBef>
                        <a:spcAft>
                          <a:spcPts val="0"/>
                        </a:spcAft>
                        <a:buNone/>
                      </a:pPr>
                      <a:r>
                        <a:t/>
                      </a:r>
                      <a:endParaRPr sz="900">
                        <a:solidFill>
                          <a:schemeClr val="dk1"/>
                        </a:solidFill>
                        <a:latin typeface="Courier New"/>
                        <a:ea typeface="Courier New"/>
                        <a:cs typeface="Courier New"/>
                        <a:sym typeface="Courier New"/>
                      </a:endParaRPr>
                    </a:p>
                  </a:txBody>
                  <a:tcPr marT="91425" marB="91425" marR="91425" marL="91425">
                    <a:solidFill>
                      <a:schemeClr val="lt1"/>
                    </a:solidFill>
                  </a:tcPr>
                </a:tc>
              </a:tr>
              <a:tr h="317600">
                <a:tc>
                  <a:txBody>
                    <a:bodyPr/>
                    <a:lstStyle/>
                    <a:p>
                      <a:pPr indent="0" lvl="0" marL="0" rtl="0" algn="l">
                        <a:lnSpc>
                          <a:spcPct val="115000"/>
                        </a:lnSpc>
                        <a:spcBef>
                          <a:spcPts val="0"/>
                        </a:spcBef>
                        <a:spcAft>
                          <a:spcPts val="0"/>
                        </a:spcAft>
                        <a:buNone/>
                      </a:pPr>
                      <a:r>
                        <a:t/>
                      </a:r>
                      <a:endParaRPr sz="900">
                        <a:solidFill>
                          <a:schemeClr val="dk1"/>
                        </a:solidFill>
                        <a:latin typeface="Courier New"/>
                        <a:ea typeface="Courier New"/>
                        <a:cs typeface="Courier New"/>
                        <a:sym typeface="Courier New"/>
                      </a:endParaRPr>
                    </a:p>
                  </a:txBody>
                  <a:tcPr marT="91425" marB="91425" marR="91425" marL="91425">
                    <a:solidFill>
                      <a:schemeClr val="lt1"/>
                    </a:solidFill>
                  </a:tcPr>
                </a:tc>
                <a:tc>
                  <a:txBody>
                    <a:bodyPr/>
                    <a:lstStyle/>
                    <a:p>
                      <a:pPr indent="0" lvl="0" marL="0" rtl="0" algn="l">
                        <a:lnSpc>
                          <a:spcPct val="115000"/>
                        </a:lnSpc>
                        <a:spcBef>
                          <a:spcPts val="0"/>
                        </a:spcBef>
                        <a:spcAft>
                          <a:spcPts val="0"/>
                        </a:spcAft>
                        <a:buNone/>
                      </a:pPr>
                      <a:r>
                        <a:t/>
                      </a:r>
                      <a:endParaRPr sz="900">
                        <a:solidFill>
                          <a:schemeClr val="dk1"/>
                        </a:solidFill>
                        <a:latin typeface="Courier New"/>
                        <a:ea typeface="Courier New"/>
                        <a:cs typeface="Courier New"/>
                        <a:sym typeface="Courier New"/>
                      </a:endParaRPr>
                    </a:p>
                  </a:txBody>
                  <a:tcPr marT="91425" marB="91425" marR="91425" marL="91425">
                    <a:solidFill>
                      <a:schemeClr val="lt1"/>
                    </a:solidFill>
                  </a:tcPr>
                </a:tc>
              </a:tr>
              <a:tr h="317600">
                <a:tc>
                  <a:txBody>
                    <a:bodyPr/>
                    <a:lstStyle/>
                    <a:p>
                      <a:pPr indent="0" lvl="0" marL="0" rtl="0" algn="l">
                        <a:lnSpc>
                          <a:spcPct val="115000"/>
                        </a:lnSpc>
                        <a:spcBef>
                          <a:spcPts val="0"/>
                        </a:spcBef>
                        <a:spcAft>
                          <a:spcPts val="0"/>
                        </a:spcAft>
                        <a:buNone/>
                      </a:pPr>
                      <a:r>
                        <a:t/>
                      </a:r>
                      <a:endParaRPr sz="900">
                        <a:latin typeface="Courier New"/>
                        <a:ea typeface="Courier New"/>
                        <a:cs typeface="Courier New"/>
                        <a:sym typeface="Courier New"/>
                      </a:endParaRPr>
                    </a:p>
                  </a:txBody>
                  <a:tcPr marT="91425" marB="91425" marR="91425" marL="91425">
                    <a:solidFill>
                      <a:schemeClr val="lt1"/>
                    </a:solidFill>
                  </a:tcPr>
                </a:tc>
                <a:tc>
                  <a:txBody>
                    <a:bodyPr/>
                    <a:lstStyle/>
                    <a:p>
                      <a:pPr indent="0" lvl="0" marL="0" rtl="0" algn="l">
                        <a:lnSpc>
                          <a:spcPct val="115000"/>
                        </a:lnSpc>
                        <a:spcBef>
                          <a:spcPts val="0"/>
                        </a:spcBef>
                        <a:spcAft>
                          <a:spcPts val="0"/>
                        </a:spcAft>
                        <a:buNone/>
                      </a:pPr>
                      <a:r>
                        <a:t/>
                      </a:r>
                      <a:endParaRPr sz="900">
                        <a:latin typeface="Courier New"/>
                        <a:ea typeface="Courier New"/>
                        <a:cs typeface="Courier New"/>
                        <a:sym typeface="Courier New"/>
                      </a:endParaRPr>
                    </a:p>
                  </a:txBody>
                  <a:tcPr marT="91425" marB="91425" marR="91425" marL="91425">
                    <a:solidFill>
                      <a:schemeClr val="lt1"/>
                    </a:solidFill>
                  </a:tcPr>
                </a:tc>
              </a:tr>
            </a:tbl>
          </a:graphicData>
        </a:graphic>
      </p:graphicFrame>
      <p:grpSp>
        <p:nvGrpSpPr>
          <p:cNvPr id="949" name="Google Shape;949;p79"/>
          <p:cNvGrpSpPr/>
          <p:nvPr/>
        </p:nvGrpSpPr>
        <p:grpSpPr>
          <a:xfrm>
            <a:off x="769875" y="1617199"/>
            <a:ext cx="410100" cy="572709"/>
            <a:chOff x="258935" y="2049228"/>
            <a:chExt cx="410100" cy="762900"/>
          </a:xfrm>
        </p:grpSpPr>
        <p:sp>
          <p:nvSpPr>
            <p:cNvPr id="950" name="Google Shape;950;p79"/>
            <p:cNvSpPr txBox="1"/>
            <p:nvPr/>
          </p:nvSpPr>
          <p:spPr>
            <a:xfrm>
              <a:off x="258935" y="2174852"/>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1</a:t>
              </a:r>
              <a:endParaRPr>
                <a:solidFill>
                  <a:srgbClr val="9E9E9E"/>
                </a:solidFill>
                <a:latin typeface="Calibri"/>
                <a:ea typeface="Calibri"/>
                <a:cs typeface="Calibri"/>
                <a:sym typeface="Calibri"/>
              </a:endParaRPr>
            </a:p>
          </p:txBody>
        </p:sp>
        <p:cxnSp>
          <p:nvCxnSpPr>
            <p:cNvPr id="951" name="Google Shape;951;p79"/>
            <p:cNvCxnSpPr/>
            <p:nvPr/>
          </p:nvCxnSpPr>
          <p:spPr>
            <a:xfrm rot="10800000">
              <a:off x="530725" y="2049228"/>
              <a:ext cx="0" cy="762900"/>
            </a:xfrm>
            <a:prstGeom prst="straightConnector1">
              <a:avLst/>
            </a:prstGeom>
            <a:noFill/>
            <a:ln cap="flat" cmpd="sng" w="19050">
              <a:solidFill>
                <a:srgbClr val="9E9E9E"/>
              </a:solidFill>
              <a:prstDash val="solid"/>
              <a:round/>
              <a:headEnd len="med" w="med" type="triangle"/>
              <a:tailEnd len="med" w="med" type="none"/>
            </a:ln>
          </p:spPr>
        </p:cxnSp>
      </p:grpSp>
      <p:cxnSp>
        <p:nvCxnSpPr>
          <p:cNvPr id="952" name="Google Shape;952;p79"/>
          <p:cNvCxnSpPr/>
          <p:nvPr/>
        </p:nvCxnSpPr>
        <p:spPr>
          <a:xfrm flipH="1" rot="10053616">
            <a:off x="3254092" y="1924750"/>
            <a:ext cx="4332616" cy="112035"/>
          </a:xfrm>
          <a:prstGeom prst="straightConnector1">
            <a:avLst/>
          </a:prstGeom>
          <a:noFill/>
          <a:ln cap="flat" cmpd="sng" w="19050">
            <a:solidFill>
              <a:srgbClr val="000000"/>
            </a:solidFill>
            <a:prstDash val="solid"/>
            <a:round/>
            <a:headEnd len="med" w="med" type="none"/>
            <a:tailEnd len="med" w="med" type="triangle"/>
          </a:ln>
        </p:spPr>
      </p:cxnSp>
      <p:sp>
        <p:nvSpPr>
          <p:cNvPr id="953" name="Google Shape;953;p79"/>
          <p:cNvSpPr txBox="1"/>
          <p:nvPr/>
        </p:nvSpPr>
        <p:spPr>
          <a:xfrm>
            <a:off x="2884000" y="1224300"/>
            <a:ext cx="3993000" cy="552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t>“What is the IP address of </a:t>
            </a:r>
            <a:r>
              <a:rPr b="1" lang="en" sz="1200">
                <a:solidFill>
                  <a:schemeClr val="dk1"/>
                </a:solidFill>
                <a:latin typeface="Courier New"/>
                <a:ea typeface="Courier New"/>
                <a:cs typeface="Courier New"/>
                <a:sym typeface="Courier New"/>
              </a:rPr>
              <a:t>fake1.google.com</a:t>
            </a:r>
            <a:r>
              <a:rPr lang="en" sz="1200"/>
              <a:t>? This request has ID 161.”</a:t>
            </a:r>
            <a:endParaRPr sz="1200"/>
          </a:p>
        </p:txBody>
      </p:sp>
      <p:sp>
        <p:nvSpPr>
          <p:cNvPr id="954" name="Google Shape;954;p79"/>
          <p:cNvSpPr txBox="1"/>
          <p:nvPr/>
        </p:nvSpPr>
        <p:spPr>
          <a:xfrm>
            <a:off x="7547875" y="1392148"/>
            <a:ext cx="1238100" cy="3648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 (root)</a:t>
            </a:r>
            <a:endParaRPr>
              <a:latin typeface="Courier New"/>
              <a:ea typeface="Courier New"/>
              <a:cs typeface="Courier New"/>
              <a:sym typeface="Courier New"/>
            </a:endParaRPr>
          </a:p>
        </p:txBody>
      </p:sp>
      <p:sp>
        <p:nvSpPr>
          <p:cNvPr id="955" name="Google Shape;955;p79"/>
          <p:cNvSpPr txBox="1"/>
          <p:nvPr/>
        </p:nvSpPr>
        <p:spPr>
          <a:xfrm>
            <a:off x="7832713" y="2411252"/>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.com</a:t>
            </a:r>
            <a:endParaRPr>
              <a:latin typeface="Calibri"/>
              <a:ea typeface="Calibri"/>
              <a:cs typeface="Calibri"/>
              <a:sym typeface="Calibri"/>
            </a:endParaRPr>
          </a:p>
        </p:txBody>
      </p:sp>
      <p:sp>
        <p:nvSpPr>
          <p:cNvPr id="956" name="Google Shape;956;p79"/>
          <p:cNvSpPr txBox="1"/>
          <p:nvPr/>
        </p:nvSpPr>
        <p:spPr>
          <a:xfrm>
            <a:off x="7518763" y="3357750"/>
            <a:ext cx="12963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google.com</a:t>
            </a:r>
            <a:endParaRPr sz="1200">
              <a:latin typeface="Calibri"/>
              <a:ea typeface="Calibri"/>
              <a:cs typeface="Calibri"/>
              <a:sym typeface="Calibri"/>
            </a:endParaRPr>
          </a:p>
        </p:txBody>
      </p:sp>
      <p:cxnSp>
        <p:nvCxnSpPr>
          <p:cNvPr id="957" name="Google Shape;957;p79"/>
          <p:cNvCxnSpPr>
            <a:stCxn id="954" idx="2"/>
            <a:endCxn id="955" idx="0"/>
          </p:cNvCxnSpPr>
          <p:nvPr/>
        </p:nvCxnSpPr>
        <p:spPr>
          <a:xfrm>
            <a:off x="8166925" y="1756948"/>
            <a:ext cx="0" cy="654300"/>
          </a:xfrm>
          <a:prstGeom prst="straightConnector1">
            <a:avLst/>
          </a:prstGeom>
          <a:noFill/>
          <a:ln cap="flat" cmpd="sng" w="9525">
            <a:solidFill>
              <a:srgbClr val="000000"/>
            </a:solidFill>
            <a:prstDash val="solid"/>
            <a:round/>
            <a:headEnd len="med" w="med" type="none"/>
            <a:tailEnd len="med" w="med" type="none"/>
          </a:ln>
        </p:spPr>
      </p:cxnSp>
      <p:cxnSp>
        <p:nvCxnSpPr>
          <p:cNvPr id="958" name="Google Shape;958;p79"/>
          <p:cNvCxnSpPr>
            <a:stCxn id="955" idx="2"/>
            <a:endCxn id="956" idx="0"/>
          </p:cNvCxnSpPr>
          <p:nvPr/>
        </p:nvCxnSpPr>
        <p:spPr>
          <a:xfrm>
            <a:off x="8166913" y="2804852"/>
            <a:ext cx="0" cy="552900"/>
          </a:xfrm>
          <a:prstGeom prst="straightConnector1">
            <a:avLst/>
          </a:prstGeom>
          <a:noFill/>
          <a:ln cap="flat" cmpd="sng" w="9525">
            <a:solidFill>
              <a:srgbClr val="000000"/>
            </a:solidFill>
            <a:prstDash val="solid"/>
            <a:round/>
            <a:headEnd len="med" w="med" type="none"/>
            <a:tailEnd len="med" w="med" type="none"/>
          </a:ln>
        </p:spPr>
      </p:cxnSp>
      <p:sp>
        <p:nvSpPr>
          <p:cNvPr id="959" name="Google Shape;959;p7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960" name="Google Shape;960;p79"/>
          <p:cNvSpPr txBox="1"/>
          <p:nvPr/>
        </p:nvSpPr>
        <p:spPr>
          <a:xfrm rot="-745018">
            <a:off x="4178572" y="1889708"/>
            <a:ext cx="316708" cy="599778"/>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2</a:t>
            </a:r>
            <a:endParaRPr>
              <a:latin typeface="Calibri"/>
              <a:ea typeface="Calibri"/>
              <a:cs typeface="Calibri"/>
              <a:sym typeface="Calibri"/>
            </a:endParaRPr>
          </a:p>
        </p:txBody>
      </p:sp>
      <p:pic>
        <p:nvPicPr>
          <p:cNvPr id="961" name="Google Shape;961;p79"/>
          <p:cNvPicPr preferRelativeResize="0"/>
          <p:nvPr/>
        </p:nvPicPr>
        <p:blipFill rotWithShape="1">
          <a:blip r:embed="rId4">
            <a:alphaModFix/>
          </a:blip>
          <a:srcRect b="65159" l="10446" r="69908" t="13697"/>
          <a:stretch/>
        </p:blipFill>
        <p:spPr>
          <a:xfrm>
            <a:off x="7841463" y="4405638"/>
            <a:ext cx="650926" cy="700636"/>
          </a:xfrm>
          <a:prstGeom prst="rect">
            <a:avLst/>
          </a:prstGeom>
          <a:noFill/>
          <a:ln>
            <a:noFill/>
          </a:ln>
        </p:spPr>
      </p:pic>
      <p:sp>
        <p:nvSpPr>
          <p:cNvPr id="962" name="Google Shape;962;p7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Kaminsky Attack: Example</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80"/>
          <p:cNvSpPr/>
          <p:nvPr/>
        </p:nvSpPr>
        <p:spPr>
          <a:xfrm>
            <a:off x="142425" y="2190750"/>
            <a:ext cx="3150600" cy="2866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8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969" name="Google Shape;969;p80"/>
          <p:cNvSpPr txBox="1"/>
          <p:nvPr/>
        </p:nvSpPr>
        <p:spPr>
          <a:xfrm>
            <a:off x="555325" y="1223675"/>
            <a:ext cx="1642800" cy="3936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Stub Resolver</a:t>
            </a:r>
            <a:endParaRPr>
              <a:latin typeface="Calibri"/>
              <a:ea typeface="Calibri"/>
              <a:cs typeface="Calibri"/>
              <a:sym typeface="Calibri"/>
            </a:endParaRPr>
          </a:p>
        </p:txBody>
      </p:sp>
      <p:sp>
        <p:nvSpPr>
          <p:cNvPr id="970" name="Google Shape;970;p80"/>
          <p:cNvSpPr txBox="1"/>
          <p:nvPr/>
        </p:nvSpPr>
        <p:spPr>
          <a:xfrm>
            <a:off x="226125" y="2279151"/>
            <a:ext cx="29832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Recursive Resolver</a:t>
            </a:r>
            <a:endParaRPr>
              <a:latin typeface="Calibri"/>
              <a:ea typeface="Calibri"/>
              <a:cs typeface="Calibri"/>
              <a:sym typeface="Calibri"/>
            </a:endParaRPr>
          </a:p>
        </p:txBody>
      </p:sp>
      <p:pic>
        <p:nvPicPr>
          <p:cNvPr id="971" name="Google Shape;971;p80"/>
          <p:cNvPicPr preferRelativeResize="0"/>
          <p:nvPr/>
        </p:nvPicPr>
        <p:blipFill rotWithShape="1">
          <a:blip r:embed="rId3">
            <a:alphaModFix/>
          </a:blip>
          <a:srcRect b="57590" l="5310" r="80092" t="16627"/>
          <a:stretch/>
        </p:blipFill>
        <p:spPr>
          <a:xfrm>
            <a:off x="0" y="1144185"/>
            <a:ext cx="495580" cy="552599"/>
          </a:xfrm>
          <a:prstGeom prst="rect">
            <a:avLst/>
          </a:prstGeom>
          <a:noFill/>
          <a:ln>
            <a:noFill/>
          </a:ln>
        </p:spPr>
      </p:pic>
      <p:graphicFrame>
        <p:nvGraphicFramePr>
          <p:cNvPr id="972" name="Google Shape;972;p80"/>
          <p:cNvGraphicFramePr/>
          <p:nvPr/>
        </p:nvGraphicFramePr>
        <p:xfrm>
          <a:off x="226125" y="2672750"/>
          <a:ext cx="3000000" cy="3000000"/>
        </p:xfrm>
        <a:graphic>
          <a:graphicData uri="http://schemas.openxmlformats.org/drawingml/2006/table">
            <a:tbl>
              <a:tblPr>
                <a:noFill/>
                <a:tableStyleId>{8746E7DE-0C9E-4540-9031-B6CDA728326B}</a:tableStyleId>
              </a:tblPr>
              <a:tblGrid>
                <a:gridCol w="1491575"/>
                <a:gridCol w="1491575"/>
              </a:tblGrid>
              <a:tr h="347850">
                <a:tc gridSpan="2">
                  <a:txBody>
                    <a:bodyPr/>
                    <a:lstStyle/>
                    <a:p>
                      <a:pPr indent="0" lvl="0" marL="0" rtl="0" algn="ctr">
                        <a:spcBef>
                          <a:spcPts val="0"/>
                        </a:spcBef>
                        <a:spcAft>
                          <a:spcPts val="0"/>
                        </a:spcAft>
                        <a:buNone/>
                      </a:pPr>
                      <a:r>
                        <a:rPr lang="en" sz="1100">
                          <a:latin typeface="Courier New"/>
                          <a:ea typeface="Courier New"/>
                          <a:cs typeface="Courier New"/>
                          <a:sym typeface="Courier New"/>
                        </a:rPr>
                        <a:t>Recursive Resolver Cache</a:t>
                      </a:r>
                      <a:endParaRPr sz="1100">
                        <a:latin typeface="Courier New"/>
                        <a:ea typeface="Courier New"/>
                        <a:cs typeface="Courier New"/>
                        <a:sym typeface="Courier New"/>
                      </a:endParaRPr>
                    </a:p>
                  </a:txBody>
                  <a:tcPr marT="91425" marB="91425" marR="91425" marL="91425">
                    <a:solidFill>
                      <a:schemeClr val="lt1"/>
                    </a:solidFill>
                  </a:tcPr>
                </a:tc>
                <a:tc hMerge="1"/>
              </a:tr>
              <a:tr h="317600">
                <a:tc>
                  <a:txBody>
                    <a:bodyPr/>
                    <a:lstStyle/>
                    <a:p>
                      <a:pPr indent="0" lvl="0" marL="0" rtl="0" algn="l">
                        <a:lnSpc>
                          <a:spcPct val="115000"/>
                        </a:lnSpc>
                        <a:spcBef>
                          <a:spcPts val="0"/>
                        </a:spcBef>
                        <a:spcAft>
                          <a:spcPts val="0"/>
                        </a:spcAft>
                        <a:buNone/>
                      </a:pPr>
                      <a:r>
                        <a:rPr b="1" lang="en" sz="900">
                          <a:solidFill>
                            <a:schemeClr val="dk1"/>
                          </a:solidFill>
                          <a:latin typeface="Courier New"/>
                          <a:ea typeface="Courier New"/>
                          <a:cs typeface="Courier New"/>
                          <a:sym typeface="Courier New"/>
                        </a:rPr>
                        <a:t>a.gtld-servers.net.</a:t>
                      </a:r>
                      <a:endParaRPr b="1" sz="900">
                        <a:solidFill>
                          <a:schemeClr val="dk1"/>
                        </a:solidFill>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b="1" lang="en" sz="900">
                          <a:solidFill>
                            <a:schemeClr val="dk1"/>
                          </a:solidFill>
                          <a:latin typeface="Courier New"/>
                          <a:ea typeface="Courier New"/>
                          <a:cs typeface="Courier New"/>
                          <a:sym typeface="Courier New"/>
                        </a:rPr>
                        <a:t>192.5.6.30</a:t>
                      </a:r>
                      <a:endParaRPr b="1" sz="900">
                        <a:solidFill>
                          <a:schemeClr val="dk1"/>
                        </a:solidFill>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solidFill>
                      <a:schemeClr val="lt1"/>
                    </a:solidFill>
                  </a:tcPr>
                </a:tc>
              </a:tr>
              <a:tr h="317600">
                <a:tc>
                  <a:txBody>
                    <a:bodyPr/>
                    <a:lstStyle/>
                    <a:p>
                      <a:pPr indent="0" lvl="0" marL="0" rtl="0" algn="l">
                        <a:lnSpc>
                          <a:spcPct val="115000"/>
                        </a:lnSpc>
                        <a:spcBef>
                          <a:spcPts val="0"/>
                        </a:spcBef>
                        <a:spcAft>
                          <a:spcPts val="0"/>
                        </a:spcAft>
                        <a:buNone/>
                      </a:pPr>
                      <a:r>
                        <a:t/>
                      </a:r>
                      <a:endParaRPr b="1" sz="900">
                        <a:solidFill>
                          <a:schemeClr val="dk1"/>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t/>
                      </a:r>
                      <a:endParaRPr b="1" sz="900">
                        <a:solidFill>
                          <a:schemeClr val="dk1"/>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17600">
                <a:tc>
                  <a:txBody>
                    <a:bodyPr/>
                    <a:lstStyle/>
                    <a:p>
                      <a:pPr indent="0" lvl="0" marL="0" rtl="0" algn="l">
                        <a:lnSpc>
                          <a:spcPct val="115000"/>
                        </a:lnSpc>
                        <a:spcBef>
                          <a:spcPts val="0"/>
                        </a:spcBef>
                        <a:spcAft>
                          <a:spcPts val="0"/>
                        </a:spcAft>
                        <a:buNone/>
                      </a:pPr>
                      <a:r>
                        <a:t/>
                      </a:r>
                      <a:endParaRPr sz="900">
                        <a:latin typeface="Courier New"/>
                        <a:ea typeface="Courier New"/>
                        <a:cs typeface="Courier New"/>
                        <a:sym typeface="Courier New"/>
                      </a:endParaRPr>
                    </a:p>
                  </a:txBody>
                  <a:tcPr marT="91425" marB="91425" marR="91425" marL="91425">
                    <a:lnT cap="flat" cmpd="sng" w="9525">
                      <a:solidFill>
                        <a:srgbClr val="9E9E9E"/>
                      </a:solidFill>
                      <a:prstDash val="solid"/>
                      <a:round/>
                      <a:headEnd len="sm" w="sm" type="none"/>
                      <a:tailEnd len="sm" w="sm" type="none"/>
                    </a:lnT>
                    <a:solidFill>
                      <a:schemeClr val="lt1"/>
                    </a:solidFill>
                  </a:tcPr>
                </a:tc>
                <a:tc>
                  <a:txBody>
                    <a:bodyPr/>
                    <a:lstStyle/>
                    <a:p>
                      <a:pPr indent="0" lvl="0" marL="0" rtl="0" algn="l">
                        <a:lnSpc>
                          <a:spcPct val="115000"/>
                        </a:lnSpc>
                        <a:spcBef>
                          <a:spcPts val="0"/>
                        </a:spcBef>
                        <a:spcAft>
                          <a:spcPts val="0"/>
                        </a:spcAft>
                        <a:buNone/>
                      </a:pPr>
                      <a:r>
                        <a:t/>
                      </a:r>
                      <a:endParaRPr sz="900">
                        <a:latin typeface="Courier New"/>
                        <a:ea typeface="Courier New"/>
                        <a:cs typeface="Courier New"/>
                        <a:sym typeface="Courier New"/>
                      </a:endParaRPr>
                    </a:p>
                  </a:txBody>
                  <a:tcPr marT="91425" marB="91425" marR="91425" marL="91425">
                    <a:lnT cap="flat" cmpd="sng" w="9525">
                      <a:solidFill>
                        <a:srgbClr val="9E9E9E"/>
                      </a:solidFill>
                      <a:prstDash val="solid"/>
                      <a:round/>
                      <a:headEnd len="sm" w="sm" type="none"/>
                      <a:tailEnd len="sm" w="sm" type="none"/>
                    </a:lnT>
                    <a:solidFill>
                      <a:schemeClr val="lt1"/>
                    </a:solidFill>
                  </a:tcPr>
                </a:tc>
              </a:tr>
            </a:tbl>
          </a:graphicData>
        </a:graphic>
      </p:graphicFrame>
      <p:sp>
        <p:nvSpPr>
          <p:cNvPr id="973" name="Google Shape;973;p80"/>
          <p:cNvSpPr txBox="1"/>
          <p:nvPr/>
        </p:nvSpPr>
        <p:spPr>
          <a:xfrm>
            <a:off x="3551525" y="2711800"/>
            <a:ext cx="3930000" cy="9234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200"/>
              <a:t>“I don’t know, but I have delegated authority to the </a:t>
            </a:r>
            <a:r>
              <a:rPr b="1" lang="en" sz="1200">
                <a:latin typeface="Courier New"/>
                <a:ea typeface="Courier New"/>
                <a:cs typeface="Courier New"/>
                <a:sym typeface="Courier New"/>
              </a:rPr>
              <a:t>.com</a:t>
            </a:r>
            <a:r>
              <a:rPr lang="en" sz="1200"/>
              <a:t> name server. </a:t>
            </a:r>
            <a:r>
              <a:rPr lang="en" sz="1200">
                <a:solidFill>
                  <a:schemeClr val="dk1"/>
                </a:solidFill>
              </a:rPr>
              <a:t>This response has ID 161. </a:t>
            </a:r>
            <a:endParaRPr sz="1200">
              <a:solidFill>
                <a:schemeClr val="dk1"/>
              </a:solidFill>
            </a:endParaRPr>
          </a:p>
          <a:p>
            <a:pPr indent="0" lvl="0" marL="0" rtl="0" algn="l">
              <a:spcBef>
                <a:spcPts val="0"/>
              </a:spcBef>
              <a:spcAft>
                <a:spcPts val="0"/>
              </a:spcAft>
              <a:buNone/>
            </a:pPr>
            <a:r>
              <a:rPr lang="en" sz="1200">
                <a:solidFill>
                  <a:schemeClr val="dk1"/>
                </a:solidFill>
              </a:rPr>
              <a:t>Authority: </a:t>
            </a:r>
            <a:r>
              <a:rPr b="1" lang="en" sz="1200">
                <a:solidFill>
                  <a:schemeClr val="dk1"/>
                </a:solidFill>
                <a:latin typeface="Courier New"/>
                <a:ea typeface="Courier New"/>
                <a:cs typeface="Courier New"/>
                <a:sym typeface="Courier New"/>
              </a:rPr>
              <a:t>.com</a:t>
            </a:r>
            <a:r>
              <a:rPr lang="en" sz="1200">
                <a:solidFill>
                  <a:schemeClr val="dk1"/>
                </a:solidFill>
              </a:rPr>
              <a:t> NS  </a:t>
            </a:r>
            <a:r>
              <a:rPr b="1" lang="en" sz="1200">
                <a:solidFill>
                  <a:schemeClr val="dk1"/>
                </a:solidFill>
                <a:latin typeface="Courier New"/>
                <a:ea typeface="Courier New"/>
                <a:cs typeface="Courier New"/>
                <a:sym typeface="Courier New"/>
              </a:rPr>
              <a:t>a.gtld-servers.net.</a:t>
            </a:r>
            <a:endParaRPr sz="1200">
              <a:solidFill>
                <a:schemeClr val="dk1"/>
              </a:solidFill>
            </a:endParaRPr>
          </a:p>
          <a:p>
            <a:pPr indent="0" lvl="0" marL="0" rtl="0" algn="l">
              <a:lnSpc>
                <a:spcPct val="115000"/>
              </a:lnSpc>
              <a:spcBef>
                <a:spcPts val="0"/>
              </a:spcBef>
              <a:spcAft>
                <a:spcPts val="0"/>
              </a:spcAft>
              <a:buNone/>
            </a:pPr>
            <a:r>
              <a:rPr lang="en" sz="1200">
                <a:solidFill>
                  <a:schemeClr val="dk1"/>
                </a:solidFill>
              </a:rPr>
              <a:t>Additional:  </a:t>
            </a:r>
            <a:r>
              <a:rPr b="1" lang="en" sz="1200">
                <a:solidFill>
                  <a:schemeClr val="dk1"/>
                </a:solidFill>
                <a:latin typeface="Courier New"/>
                <a:ea typeface="Courier New"/>
                <a:cs typeface="Courier New"/>
                <a:sym typeface="Courier New"/>
              </a:rPr>
              <a:t>a.gtld-servers.net.</a:t>
            </a:r>
            <a:r>
              <a:rPr lang="en" sz="1200">
                <a:solidFill>
                  <a:schemeClr val="dk1"/>
                </a:solidFill>
              </a:rPr>
              <a:t> A </a:t>
            </a:r>
            <a:r>
              <a:rPr b="1" lang="en" sz="1200">
                <a:solidFill>
                  <a:schemeClr val="dk1"/>
                </a:solidFill>
                <a:latin typeface="Courier New"/>
                <a:ea typeface="Courier New"/>
                <a:cs typeface="Courier New"/>
                <a:sym typeface="Courier New"/>
              </a:rPr>
              <a:t>192.5.6.30</a:t>
            </a:r>
            <a:r>
              <a:rPr lang="en" sz="1200">
                <a:solidFill>
                  <a:schemeClr val="dk1"/>
                </a:solidFill>
              </a:rPr>
              <a:t>”</a:t>
            </a:r>
            <a:endParaRPr sz="1200">
              <a:solidFill>
                <a:schemeClr val="dk1"/>
              </a:solidFill>
            </a:endParaRPr>
          </a:p>
        </p:txBody>
      </p:sp>
      <p:grpSp>
        <p:nvGrpSpPr>
          <p:cNvPr id="974" name="Google Shape;974;p80"/>
          <p:cNvGrpSpPr/>
          <p:nvPr/>
        </p:nvGrpSpPr>
        <p:grpSpPr>
          <a:xfrm rot="-746418">
            <a:off x="3247846" y="1651999"/>
            <a:ext cx="4332671" cy="599908"/>
            <a:chOff x="812025" y="676049"/>
            <a:chExt cx="5609100" cy="3517200"/>
          </a:xfrm>
        </p:grpSpPr>
        <p:cxnSp>
          <p:nvCxnSpPr>
            <p:cNvPr id="975" name="Google Shape;975;p80"/>
            <p:cNvCxnSpPr/>
            <p:nvPr/>
          </p:nvCxnSpPr>
          <p:spPr>
            <a:xfrm flipH="1" rot="10800000">
              <a:off x="812025" y="2279674"/>
              <a:ext cx="5609100" cy="656100"/>
            </a:xfrm>
            <a:prstGeom prst="straightConnector1">
              <a:avLst/>
            </a:prstGeom>
            <a:noFill/>
            <a:ln cap="flat" cmpd="sng" w="19050">
              <a:solidFill>
                <a:srgbClr val="9E9E9E"/>
              </a:solidFill>
              <a:prstDash val="solid"/>
              <a:round/>
              <a:headEnd len="med" w="med" type="none"/>
              <a:tailEnd len="med" w="med" type="triangle"/>
            </a:ln>
          </p:spPr>
        </p:cxnSp>
        <p:sp>
          <p:nvSpPr>
            <p:cNvPr id="976" name="Google Shape;976;p80"/>
            <p:cNvSpPr txBox="1"/>
            <p:nvPr/>
          </p:nvSpPr>
          <p:spPr>
            <a:xfrm>
              <a:off x="1983444" y="676049"/>
              <a:ext cx="410100" cy="351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2</a:t>
              </a:r>
              <a:endParaRPr>
                <a:solidFill>
                  <a:srgbClr val="9E9E9E"/>
                </a:solidFill>
                <a:latin typeface="Calibri"/>
                <a:ea typeface="Calibri"/>
                <a:cs typeface="Calibri"/>
                <a:sym typeface="Calibri"/>
              </a:endParaRPr>
            </a:p>
          </p:txBody>
        </p:sp>
      </p:grpSp>
      <p:sp>
        <p:nvSpPr>
          <p:cNvPr id="977" name="Google Shape;977;p80"/>
          <p:cNvSpPr txBox="1"/>
          <p:nvPr/>
        </p:nvSpPr>
        <p:spPr>
          <a:xfrm>
            <a:off x="7547875" y="1392148"/>
            <a:ext cx="1238100" cy="3648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 (root)</a:t>
            </a:r>
            <a:endParaRPr>
              <a:latin typeface="Courier New"/>
              <a:ea typeface="Courier New"/>
              <a:cs typeface="Courier New"/>
              <a:sym typeface="Courier New"/>
            </a:endParaRPr>
          </a:p>
        </p:txBody>
      </p:sp>
      <p:sp>
        <p:nvSpPr>
          <p:cNvPr id="978" name="Google Shape;978;p80"/>
          <p:cNvSpPr txBox="1"/>
          <p:nvPr/>
        </p:nvSpPr>
        <p:spPr>
          <a:xfrm>
            <a:off x="7832713" y="2411252"/>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.com</a:t>
            </a:r>
            <a:endParaRPr>
              <a:latin typeface="Calibri"/>
              <a:ea typeface="Calibri"/>
              <a:cs typeface="Calibri"/>
              <a:sym typeface="Calibri"/>
            </a:endParaRPr>
          </a:p>
        </p:txBody>
      </p:sp>
      <p:sp>
        <p:nvSpPr>
          <p:cNvPr id="979" name="Google Shape;979;p80"/>
          <p:cNvSpPr txBox="1"/>
          <p:nvPr/>
        </p:nvSpPr>
        <p:spPr>
          <a:xfrm>
            <a:off x="7518763" y="3357750"/>
            <a:ext cx="12963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google.com</a:t>
            </a:r>
            <a:endParaRPr sz="1200">
              <a:latin typeface="Calibri"/>
              <a:ea typeface="Calibri"/>
              <a:cs typeface="Calibri"/>
              <a:sym typeface="Calibri"/>
            </a:endParaRPr>
          </a:p>
        </p:txBody>
      </p:sp>
      <p:cxnSp>
        <p:nvCxnSpPr>
          <p:cNvPr id="980" name="Google Shape;980;p80"/>
          <p:cNvCxnSpPr>
            <a:stCxn id="977" idx="2"/>
            <a:endCxn id="978" idx="0"/>
          </p:cNvCxnSpPr>
          <p:nvPr/>
        </p:nvCxnSpPr>
        <p:spPr>
          <a:xfrm>
            <a:off x="8166925" y="1756948"/>
            <a:ext cx="0" cy="654300"/>
          </a:xfrm>
          <a:prstGeom prst="straightConnector1">
            <a:avLst/>
          </a:prstGeom>
          <a:noFill/>
          <a:ln cap="flat" cmpd="sng" w="9525">
            <a:solidFill>
              <a:srgbClr val="000000"/>
            </a:solidFill>
            <a:prstDash val="solid"/>
            <a:round/>
            <a:headEnd len="med" w="med" type="none"/>
            <a:tailEnd len="med" w="med" type="none"/>
          </a:ln>
        </p:spPr>
      </p:cxnSp>
      <p:cxnSp>
        <p:nvCxnSpPr>
          <p:cNvPr id="981" name="Google Shape;981;p80"/>
          <p:cNvCxnSpPr>
            <a:stCxn id="978" idx="2"/>
            <a:endCxn id="979" idx="0"/>
          </p:cNvCxnSpPr>
          <p:nvPr/>
        </p:nvCxnSpPr>
        <p:spPr>
          <a:xfrm>
            <a:off x="8166913" y="2804852"/>
            <a:ext cx="0" cy="552900"/>
          </a:xfrm>
          <a:prstGeom prst="straightConnector1">
            <a:avLst/>
          </a:prstGeom>
          <a:noFill/>
          <a:ln cap="flat" cmpd="sng" w="9525">
            <a:solidFill>
              <a:srgbClr val="000000"/>
            </a:solidFill>
            <a:prstDash val="solid"/>
            <a:round/>
            <a:headEnd len="med" w="med" type="none"/>
            <a:tailEnd len="med" w="med" type="none"/>
          </a:ln>
        </p:spPr>
      </p:cxnSp>
      <p:grpSp>
        <p:nvGrpSpPr>
          <p:cNvPr id="982" name="Google Shape;982;p80"/>
          <p:cNvGrpSpPr/>
          <p:nvPr/>
        </p:nvGrpSpPr>
        <p:grpSpPr>
          <a:xfrm rot="-497457">
            <a:off x="3255496" y="1882108"/>
            <a:ext cx="4379928" cy="602045"/>
            <a:chOff x="812025" y="2400972"/>
            <a:chExt cx="5609100" cy="808872"/>
          </a:xfrm>
        </p:grpSpPr>
        <p:cxnSp>
          <p:nvCxnSpPr>
            <p:cNvPr id="983" name="Google Shape;983;p80"/>
            <p:cNvCxnSpPr/>
            <p:nvPr/>
          </p:nvCxnSpPr>
          <p:spPr>
            <a:xfrm flipH="1" rot="10800000">
              <a:off x="812025" y="2400972"/>
              <a:ext cx="5609100" cy="656100"/>
            </a:xfrm>
            <a:prstGeom prst="straightConnector1">
              <a:avLst/>
            </a:prstGeom>
            <a:noFill/>
            <a:ln cap="flat" cmpd="sng" w="19050">
              <a:solidFill>
                <a:srgbClr val="000000"/>
              </a:solidFill>
              <a:prstDash val="solid"/>
              <a:round/>
              <a:headEnd len="med" w="med" type="triangle"/>
              <a:tailEnd len="med" w="med" type="none"/>
            </a:ln>
          </p:spPr>
        </p:cxnSp>
        <p:sp>
          <p:nvSpPr>
            <p:cNvPr id="984" name="Google Shape;984;p80"/>
            <p:cNvSpPr txBox="1"/>
            <p:nvPr/>
          </p:nvSpPr>
          <p:spPr>
            <a:xfrm>
              <a:off x="2046705" y="2813245"/>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3</a:t>
              </a:r>
              <a:endParaRPr>
                <a:latin typeface="Calibri"/>
                <a:ea typeface="Calibri"/>
                <a:cs typeface="Calibri"/>
                <a:sym typeface="Calibri"/>
              </a:endParaRPr>
            </a:p>
          </p:txBody>
        </p:sp>
      </p:grpSp>
      <p:pic>
        <p:nvPicPr>
          <p:cNvPr id="985" name="Google Shape;985;p80"/>
          <p:cNvPicPr preferRelativeResize="0"/>
          <p:nvPr/>
        </p:nvPicPr>
        <p:blipFill rotWithShape="1">
          <a:blip r:embed="rId4">
            <a:alphaModFix/>
          </a:blip>
          <a:srcRect b="65159" l="10446" r="69908" t="13697"/>
          <a:stretch/>
        </p:blipFill>
        <p:spPr>
          <a:xfrm>
            <a:off x="7841463" y="4405638"/>
            <a:ext cx="650926" cy="700636"/>
          </a:xfrm>
          <a:prstGeom prst="rect">
            <a:avLst/>
          </a:prstGeom>
          <a:noFill/>
          <a:ln>
            <a:noFill/>
          </a:ln>
        </p:spPr>
      </p:pic>
      <p:sp>
        <p:nvSpPr>
          <p:cNvPr id="986" name="Google Shape;986;p8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Kaminsky Attack: Example</a:t>
            </a:r>
            <a:endParaRPr/>
          </a:p>
        </p:txBody>
      </p:sp>
      <p:sp>
        <p:nvSpPr>
          <p:cNvPr id="987" name="Google Shape;987;p80"/>
          <p:cNvSpPr txBox="1"/>
          <p:nvPr/>
        </p:nvSpPr>
        <p:spPr>
          <a:xfrm>
            <a:off x="3620188" y="4303275"/>
            <a:ext cx="3588000" cy="552900"/>
          </a:xfrm>
          <a:prstGeom prst="rect">
            <a:avLst/>
          </a:prstGeom>
          <a:solidFill>
            <a:srgbClr val="C9DAF8"/>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rPr>
              <a:t>The </a:t>
            </a:r>
            <a:r>
              <a:rPr b="1" lang="en" sz="1200">
                <a:solidFill>
                  <a:schemeClr val="dk1"/>
                </a:solidFill>
                <a:latin typeface="Courier New"/>
                <a:ea typeface="Courier New"/>
                <a:cs typeface="Courier New"/>
                <a:sym typeface="Courier New"/>
              </a:rPr>
              <a:t>.com</a:t>
            </a:r>
            <a:r>
              <a:rPr lang="en" sz="1200">
                <a:solidFill>
                  <a:schemeClr val="dk1"/>
                </a:solidFill>
              </a:rPr>
              <a:t> name server </a:t>
            </a:r>
            <a:r>
              <a:rPr b="1" lang="en" sz="1200">
                <a:solidFill>
                  <a:schemeClr val="dk1"/>
                </a:solidFill>
                <a:latin typeface="Courier New"/>
                <a:ea typeface="Courier New"/>
                <a:cs typeface="Courier New"/>
                <a:sym typeface="Courier New"/>
              </a:rPr>
              <a:t>a.gtld-servers.net.</a:t>
            </a:r>
            <a:r>
              <a:rPr lang="en" sz="1200">
                <a:solidFill>
                  <a:schemeClr val="dk1"/>
                </a:solidFill>
              </a:rPr>
              <a:t> is cached with IP </a:t>
            </a:r>
            <a:r>
              <a:rPr b="1" lang="en" sz="1200">
                <a:solidFill>
                  <a:schemeClr val="dk1"/>
                </a:solidFill>
                <a:latin typeface="Courier New"/>
                <a:ea typeface="Courier New"/>
                <a:cs typeface="Courier New"/>
                <a:sym typeface="Courier New"/>
              </a:rPr>
              <a:t>192.5.6.30.</a:t>
            </a:r>
            <a:endParaRPr sz="1200">
              <a:solidFill>
                <a:schemeClr val="dk1"/>
              </a:solidFill>
            </a:endParaRPr>
          </a:p>
          <a:p>
            <a:pPr indent="0" lvl="0" marL="0" rtl="0" algn="ctr">
              <a:spcBef>
                <a:spcPts val="0"/>
              </a:spcBef>
              <a:spcAft>
                <a:spcPts val="0"/>
              </a:spcAft>
              <a:buNone/>
            </a:pPr>
            <a:r>
              <a:t/>
            </a:r>
            <a:endParaRPr sz="1200"/>
          </a:p>
        </p:txBody>
      </p:sp>
      <p:cxnSp>
        <p:nvCxnSpPr>
          <p:cNvPr id="988" name="Google Shape;988;p80"/>
          <p:cNvCxnSpPr>
            <a:stCxn id="987" idx="1"/>
          </p:cNvCxnSpPr>
          <p:nvPr/>
        </p:nvCxnSpPr>
        <p:spPr>
          <a:xfrm rot="10800000">
            <a:off x="2565988" y="3247425"/>
            <a:ext cx="1054200" cy="1332300"/>
          </a:xfrm>
          <a:prstGeom prst="straightConnector1">
            <a:avLst/>
          </a:prstGeom>
          <a:noFill/>
          <a:ln cap="flat" cmpd="sng" w="9525">
            <a:solidFill>
              <a:srgbClr val="0000FF"/>
            </a:solidFill>
            <a:prstDash val="solid"/>
            <a:round/>
            <a:headEnd len="med" w="med" type="none"/>
            <a:tailEnd len="med" w="med" type="triangle"/>
          </a:ln>
        </p:spPr>
      </p:cxnSp>
      <p:grpSp>
        <p:nvGrpSpPr>
          <p:cNvPr id="989" name="Google Shape;989;p80"/>
          <p:cNvGrpSpPr/>
          <p:nvPr/>
        </p:nvGrpSpPr>
        <p:grpSpPr>
          <a:xfrm>
            <a:off x="769875" y="1617199"/>
            <a:ext cx="410100" cy="572709"/>
            <a:chOff x="258935" y="2049228"/>
            <a:chExt cx="410100" cy="762900"/>
          </a:xfrm>
        </p:grpSpPr>
        <p:sp>
          <p:nvSpPr>
            <p:cNvPr id="990" name="Google Shape;990;p80"/>
            <p:cNvSpPr txBox="1"/>
            <p:nvPr/>
          </p:nvSpPr>
          <p:spPr>
            <a:xfrm>
              <a:off x="258935" y="2174852"/>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1</a:t>
              </a:r>
              <a:endParaRPr>
                <a:solidFill>
                  <a:srgbClr val="9E9E9E"/>
                </a:solidFill>
                <a:latin typeface="Calibri"/>
                <a:ea typeface="Calibri"/>
                <a:cs typeface="Calibri"/>
                <a:sym typeface="Calibri"/>
              </a:endParaRPr>
            </a:p>
          </p:txBody>
        </p:sp>
        <p:cxnSp>
          <p:nvCxnSpPr>
            <p:cNvPr id="991" name="Google Shape;991;p80"/>
            <p:cNvCxnSpPr/>
            <p:nvPr/>
          </p:nvCxnSpPr>
          <p:spPr>
            <a:xfrm rot="10800000">
              <a:off x="530725" y="2049228"/>
              <a:ext cx="0" cy="762900"/>
            </a:xfrm>
            <a:prstGeom prst="straightConnector1">
              <a:avLst/>
            </a:prstGeom>
            <a:noFill/>
            <a:ln cap="flat" cmpd="sng" w="19050">
              <a:solidFill>
                <a:srgbClr val="9E9E9E"/>
              </a:solidFill>
              <a:prstDash val="solid"/>
              <a:round/>
              <a:headEnd len="med" w="med" type="triangle"/>
              <a:tailEnd len="med" w="med" type="none"/>
            </a:ln>
          </p:spPr>
        </p:cxnSp>
      </p:grpSp>
      <p:cxnSp>
        <p:nvCxnSpPr>
          <p:cNvPr id="992" name="Google Shape;992;p80"/>
          <p:cNvCxnSpPr>
            <a:stCxn id="973" idx="1"/>
            <a:endCxn id="973" idx="3"/>
          </p:cNvCxnSpPr>
          <p:nvPr/>
        </p:nvCxnSpPr>
        <p:spPr>
          <a:xfrm>
            <a:off x="3551525" y="3173500"/>
            <a:ext cx="3930000" cy="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81"/>
          <p:cNvSpPr/>
          <p:nvPr/>
        </p:nvSpPr>
        <p:spPr>
          <a:xfrm>
            <a:off x="142425" y="2190750"/>
            <a:ext cx="3150600" cy="2866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8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999" name="Google Shape;999;p81"/>
          <p:cNvSpPr txBox="1"/>
          <p:nvPr/>
        </p:nvSpPr>
        <p:spPr>
          <a:xfrm>
            <a:off x="555325" y="1223675"/>
            <a:ext cx="1642800" cy="3936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Stub Resolver</a:t>
            </a:r>
            <a:endParaRPr>
              <a:latin typeface="Calibri"/>
              <a:ea typeface="Calibri"/>
              <a:cs typeface="Calibri"/>
              <a:sym typeface="Calibri"/>
            </a:endParaRPr>
          </a:p>
        </p:txBody>
      </p:sp>
      <p:sp>
        <p:nvSpPr>
          <p:cNvPr id="1000" name="Google Shape;1000;p81"/>
          <p:cNvSpPr txBox="1"/>
          <p:nvPr/>
        </p:nvSpPr>
        <p:spPr>
          <a:xfrm>
            <a:off x="226125" y="2279151"/>
            <a:ext cx="29832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Recursive Resolver</a:t>
            </a:r>
            <a:endParaRPr>
              <a:latin typeface="Calibri"/>
              <a:ea typeface="Calibri"/>
              <a:cs typeface="Calibri"/>
              <a:sym typeface="Calibri"/>
            </a:endParaRPr>
          </a:p>
        </p:txBody>
      </p:sp>
      <p:pic>
        <p:nvPicPr>
          <p:cNvPr id="1001" name="Google Shape;1001;p81"/>
          <p:cNvPicPr preferRelativeResize="0"/>
          <p:nvPr/>
        </p:nvPicPr>
        <p:blipFill rotWithShape="1">
          <a:blip r:embed="rId3">
            <a:alphaModFix/>
          </a:blip>
          <a:srcRect b="57590" l="5310" r="80092" t="16627"/>
          <a:stretch/>
        </p:blipFill>
        <p:spPr>
          <a:xfrm>
            <a:off x="0" y="1144185"/>
            <a:ext cx="495580" cy="552599"/>
          </a:xfrm>
          <a:prstGeom prst="rect">
            <a:avLst/>
          </a:prstGeom>
          <a:noFill/>
          <a:ln>
            <a:noFill/>
          </a:ln>
        </p:spPr>
      </p:pic>
      <p:graphicFrame>
        <p:nvGraphicFramePr>
          <p:cNvPr id="1002" name="Google Shape;1002;p81"/>
          <p:cNvGraphicFramePr/>
          <p:nvPr/>
        </p:nvGraphicFramePr>
        <p:xfrm>
          <a:off x="226125" y="2672750"/>
          <a:ext cx="3000000" cy="3000000"/>
        </p:xfrm>
        <a:graphic>
          <a:graphicData uri="http://schemas.openxmlformats.org/drawingml/2006/table">
            <a:tbl>
              <a:tblPr>
                <a:noFill/>
                <a:tableStyleId>{8746E7DE-0C9E-4540-9031-B6CDA728326B}</a:tableStyleId>
              </a:tblPr>
              <a:tblGrid>
                <a:gridCol w="1491575"/>
                <a:gridCol w="1491575"/>
              </a:tblGrid>
              <a:tr h="347850">
                <a:tc gridSpan="2">
                  <a:txBody>
                    <a:bodyPr/>
                    <a:lstStyle/>
                    <a:p>
                      <a:pPr indent="0" lvl="0" marL="0" rtl="0" algn="ctr">
                        <a:spcBef>
                          <a:spcPts val="0"/>
                        </a:spcBef>
                        <a:spcAft>
                          <a:spcPts val="0"/>
                        </a:spcAft>
                        <a:buNone/>
                      </a:pPr>
                      <a:r>
                        <a:rPr lang="en" sz="1100">
                          <a:latin typeface="Courier New"/>
                          <a:ea typeface="Courier New"/>
                          <a:cs typeface="Courier New"/>
                          <a:sym typeface="Courier New"/>
                        </a:rPr>
                        <a:t>Recursive Resolver Cache</a:t>
                      </a:r>
                      <a:endParaRPr sz="1100">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solidFill>
                      <a:schemeClr val="lt1"/>
                    </a:solidFill>
                  </a:tcPr>
                </a:tc>
                <a:tc hMerge="1"/>
              </a:tr>
              <a:tr h="317600">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a.gtld-servers.net.</a:t>
                      </a:r>
                      <a:endParaRPr sz="900">
                        <a:solidFill>
                          <a:schemeClr val="dk1"/>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192.5.6.30</a:t>
                      </a:r>
                      <a:endParaRPr sz="900">
                        <a:solidFill>
                          <a:schemeClr val="dk1"/>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17600">
                <a:tc>
                  <a:txBody>
                    <a:bodyPr/>
                    <a:lstStyle/>
                    <a:p>
                      <a:pPr indent="0" lvl="0" marL="0" rtl="0" algn="l">
                        <a:lnSpc>
                          <a:spcPct val="115000"/>
                        </a:lnSpc>
                        <a:spcBef>
                          <a:spcPts val="0"/>
                        </a:spcBef>
                        <a:spcAft>
                          <a:spcPts val="0"/>
                        </a:spcAft>
                        <a:buNone/>
                      </a:pPr>
                      <a:r>
                        <a:t/>
                      </a:r>
                      <a:endParaRPr sz="900">
                        <a:solidFill>
                          <a:schemeClr val="dk1"/>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t/>
                      </a:r>
                      <a:endParaRPr sz="900">
                        <a:solidFill>
                          <a:schemeClr val="dk1"/>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17600">
                <a:tc>
                  <a:txBody>
                    <a:bodyPr/>
                    <a:lstStyle/>
                    <a:p>
                      <a:pPr indent="0" lvl="0" marL="0" rtl="0" algn="l">
                        <a:lnSpc>
                          <a:spcPct val="115000"/>
                        </a:lnSpc>
                        <a:spcBef>
                          <a:spcPts val="0"/>
                        </a:spcBef>
                        <a:spcAft>
                          <a:spcPts val="0"/>
                        </a:spcAft>
                        <a:buNone/>
                      </a:pPr>
                      <a:r>
                        <a:t/>
                      </a:r>
                      <a:endParaRPr sz="900">
                        <a:latin typeface="Courier New"/>
                        <a:ea typeface="Courier New"/>
                        <a:cs typeface="Courier New"/>
                        <a:sym typeface="Courier New"/>
                      </a:endParaRPr>
                    </a:p>
                  </a:txBody>
                  <a:tcPr marT="91425" marB="91425" marR="91425" marL="91425">
                    <a:lnT cap="flat" cmpd="sng" w="9525">
                      <a:solidFill>
                        <a:srgbClr val="9E9E9E"/>
                      </a:solidFill>
                      <a:prstDash val="solid"/>
                      <a:round/>
                      <a:headEnd len="sm" w="sm" type="none"/>
                      <a:tailEnd len="sm" w="sm" type="none"/>
                    </a:lnT>
                    <a:solidFill>
                      <a:schemeClr val="lt1"/>
                    </a:solidFill>
                  </a:tcPr>
                </a:tc>
                <a:tc>
                  <a:txBody>
                    <a:bodyPr/>
                    <a:lstStyle/>
                    <a:p>
                      <a:pPr indent="0" lvl="0" marL="0" rtl="0" algn="l">
                        <a:lnSpc>
                          <a:spcPct val="115000"/>
                        </a:lnSpc>
                        <a:spcBef>
                          <a:spcPts val="0"/>
                        </a:spcBef>
                        <a:spcAft>
                          <a:spcPts val="0"/>
                        </a:spcAft>
                        <a:buNone/>
                      </a:pPr>
                      <a:r>
                        <a:t/>
                      </a:r>
                      <a:endParaRPr sz="900">
                        <a:latin typeface="Courier New"/>
                        <a:ea typeface="Courier New"/>
                        <a:cs typeface="Courier New"/>
                        <a:sym typeface="Courier New"/>
                      </a:endParaRPr>
                    </a:p>
                  </a:txBody>
                  <a:tcPr marT="91425" marB="91425" marR="91425" marL="91425">
                    <a:lnT cap="flat" cmpd="sng" w="9525">
                      <a:solidFill>
                        <a:srgbClr val="9E9E9E"/>
                      </a:solidFill>
                      <a:prstDash val="solid"/>
                      <a:round/>
                      <a:headEnd len="sm" w="sm" type="none"/>
                      <a:tailEnd len="sm" w="sm" type="none"/>
                    </a:lnT>
                    <a:solidFill>
                      <a:schemeClr val="lt1"/>
                    </a:solidFill>
                  </a:tcPr>
                </a:tc>
              </a:tr>
            </a:tbl>
          </a:graphicData>
        </a:graphic>
      </p:graphicFrame>
      <p:sp>
        <p:nvSpPr>
          <p:cNvPr id="1003" name="Google Shape;1003;p81"/>
          <p:cNvSpPr txBox="1"/>
          <p:nvPr/>
        </p:nvSpPr>
        <p:spPr>
          <a:xfrm>
            <a:off x="3792600" y="3060350"/>
            <a:ext cx="3540300" cy="552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t>“What is the IP address of </a:t>
            </a:r>
            <a:r>
              <a:rPr b="1" lang="en" sz="1200">
                <a:latin typeface="Courier New"/>
                <a:ea typeface="Courier New"/>
                <a:cs typeface="Courier New"/>
                <a:sym typeface="Courier New"/>
              </a:rPr>
              <a:t>fake1.google.com</a:t>
            </a:r>
            <a:r>
              <a:rPr lang="en" sz="1200"/>
              <a:t>? This request has ID </a:t>
            </a:r>
            <a:r>
              <a:rPr lang="en" sz="1200"/>
              <a:t>972</a:t>
            </a:r>
            <a:r>
              <a:rPr lang="en" sz="1200"/>
              <a:t>.”</a:t>
            </a:r>
            <a:endParaRPr sz="1200"/>
          </a:p>
        </p:txBody>
      </p:sp>
      <p:sp>
        <p:nvSpPr>
          <p:cNvPr id="1004" name="Google Shape;1004;p81"/>
          <p:cNvSpPr txBox="1"/>
          <p:nvPr/>
        </p:nvSpPr>
        <p:spPr>
          <a:xfrm>
            <a:off x="3867850" y="2672740"/>
            <a:ext cx="225000" cy="36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4</a:t>
            </a:r>
            <a:endParaRPr>
              <a:latin typeface="Calibri"/>
              <a:ea typeface="Calibri"/>
              <a:cs typeface="Calibri"/>
              <a:sym typeface="Calibri"/>
            </a:endParaRPr>
          </a:p>
        </p:txBody>
      </p:sp>
      <p:sp>
        <p:nvSpPr>
          <p:cNvPr id="1005" name="Google Shape;1005;p81"/>
          <p:cNvSpPr txBox="1"/>
          <p:nvPr/>
        </p:nvSpPr>
        <p:spPr>
          <a:xfrm>
            <a:off x="7547875" y="1392148"/>
            <a:ext cx="1238100" cy="3648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 (root)</a:t>
            </a:r>
            <a:endParaRPr>
              <a:latin typeface="Courier New"/>
              <a:ea typeface="Courier New"/>
              <a:cs typeface="Courier New"/>
              <a:sym typeface="Courier New"/>
            </a:endParaRPr>
          </a:p>
        </p:txBody>
      </p:sp>
      <p:grpSp>
        <p:nvGrpSpPr>
          <p:cNvPr id="1006" name="Google Shape;1006;p81"/>
          <p:cNvGrpSpPr/>
          <p:nvPr/>
        </p:nvGrpSpPr>
        <p:grpSpPr>
          <a:xfrm rot="-337401">
            <a:off x="3290227" y="2728197"/>
            <a:ext cx="4545051" cy="111996"/>
            <a:chOff x="812025" y="2279674"/>
            <a:chExt cx="5609100" cy="656100"/>
          </a:xfrm>
        </p:grpSpPr>
        <p:cxnSp>
          <p:nvCxnSpPr>
            <p:cNvPr id="1007" name="Google Shape;1007;p81"/>
            <p:cNvCxnSpPr/>
            <p:nvPr/>
          </p:nvCxnSpPr>
          <p:spPr>
            <a:xfrm flipH="1" rot="10800000">
              <a:off x="812025" y="2279674"/>
              <a:ext cx="5609100" cy="656100"/>
            </a:xfrm>
            <a:prstGeom prst="straightConnector1">
              <a:avLst/>
            </a:prstGeom>
            <a:noFill/>
            <a:ln cap="flat" cmpd="sng" w="19050">
              <a:solidFill>
                <a:srgbClr val="000000"/>
              </a:solidFill>
              <a:prstDash val="solid"/>
              <a:round/>
              <a:headEnd len="med" w="med" type="none"/>
              <a:tailEnd len="med" w="med" type="triangle"/>
            </a:ln>
          </p:spPr>
        </p:cxnSp>
        <p:sp>
          <p:nvSpPr>
            <p:cNvPr id="1008" name="Google Shape;1008;p81"/>
            <p:cNvSpPr txBox="1"/>
            <p:nvPr/>
          </p:nvSpPr>
          <p:spPr>
            <a:xfrm>
              <a:off x="1983450" y="2473075"/>
              <a:ext cx="4101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Calibri"/>
                <a:ea typeface="Calibri"/>
                <a:cs typeface="Calibri"/>
                <a:sym typeface="Calibri"/>
              </a:endParaRPr>
            </a:p>
          </p:txBody>
        </p:sp>
      </p:grpSp>
      <p:sp>
        <p:nvSpPr>
          <p:cNvPr id="1009" name="Google Shape;1009;p81"/>
          <p:cNvSpPr txBox="1"/>
          <p:nvPr/>
        </p:nvSpPr>
        <p:spPr>
          <a:xfrm>
            <a:off x="7832713" y="2411252"/>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.com</a:t>
            </a:r>
            <a:endParaRPr>
              <a:latin typeface="Calibri"/>
              <a:ea typeface="Calibri"/>
              <a:cs typeface="Calibri"/>
              <a:sym typeface="Calibri"/>
            </a:endParaRPr>
          </a:p>
        </p:txBody>
      </p:sp>
      <p:sp>
        <p:nvSpPr>
          <p:cNvPr id="1010" name="Google Shape;1010;p81"/>
          <p:cNvSpPr txBox="1"/>
          <p:nvPr/>
        </p:nvSpPr>
        <p:spPr>
          <a:xfrm>
            <a:off x="7518763" y="3357750"/>
            <a:ext cx="12963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google.com</a:t>
            </a:r>
            <a:endParaRPr sz="1200">
              <a:latin typeface="Calibri"/>
              <a:ea typeface="Calibri"/>
              <a:cs typeface="Calibri"/>
              <a:sym typeface="Calibri"/>
            </a:endParaRPr>
          </a:p>
        </p:txBody>
      </p:sp>
      <p:cxnSp>
        <p:nvCxnSpPr>
          <p:cNvPr id="1011" name="Google Shape;1011;p81"/>
          <p:cNvCxnSpPr>
            <a:stCxn id="1005" idx="2"/>
            <a:endCxn id="1009" idx="0"/>
          </p:cNvCxnSpPr>
          <p:nvPr/>
        </p:nvCxnSpPr>
        <p:spPr>
          <a:xfrm>
            <a:off x="8166925" y="1756948"/>
            <a:ext cx="0" cy="654300"/>
          </a:xfrm>
          <a:prstGeom prst="straightConnector1">
            <a:avLst/>
          </a:prstGeom>
          <a:noFill/>
          <a:ln cap="flat" cmpd="sng" w="9525">
            <a:solidFill>
              <a:srgbClr val="000000"/>
            </a:solidFill>
            <a:prstDash val="solid"/>
            <a:round/>
            <a:headEnd len="med" w="med" type="none"/>
            <a:tailEnd len="med" w="med" type="none"/>
          </a:ln>
        </p:spPr>
      </p:cxnSp>
      <p:cxnSp>
        <p:nvCxnSpPr>
          <p:cNvPr id="1012" name="Google Shape;1012;p81"/>
          <p:cNvCxnSpPr>
            <a:stCxn id="1009" idx="2"/>
            <a:endCxn id="1010" idx="0"/>
          </p:cNvCxnSpPr>
          <p:nvPr/>
        </p:nvCxnSpPr>
        <p:spPr>
          <a:xfrm>
            <a:off x="8166913" y="2804852"/>
            <a:ext cx="0" cy="552900"/>
          </a:xfrm>
          <a:prstGeom prst="straightConnector1">
            <a:avLst/>
          </a:prstGeom>
          <a:noFill/>
          <a:ln cap="flat" cmpd="sng" w="9525">
            <a:solidFill>
              <a:srgbClr val="000000"/>
            </a:solidFill>
            <a:prstDash val="solid"/>
            <a:round/>
            <a:headEnd len="med" w="med" type="none"/>
            <a:tailEnd len="med" w="med" type="none"/>
          </a:ln>
        </p:spPr>
      </p:cxnSp>
      <p:grpSp>
        <p:nvGrpSpPr>
          <p:cNvPr id="1013" name="Google Shape;1013;p81"/>
          <p:cNvGrpSpPr/>
          <p:nvPr/>
        </p:nvGrpSpPr>
        <p:grpSpPr>
          <a:xfrm rot="-497457">
            <a:off x="3255496" y="1882108"/>
            <a:ext cx="4379928" cy="602045"/>
            <a:chOff x="812025" y="2400972"/>
            <a:chExt cx="5609100" cy="808872"/>
          </a:xfrm>
        </p:grpSpPr>
        <p:cxnSp>
          <p:nvCxnSpPr>
            <p:cNvPr id="1014" name="Google Shape;1014;p81"/>
            <p:cNvCxnSpPr/>
            <p:nvPr/>
          </p:nvCxnSpPr>
          <p:spPr>
            <a:xfrm flipH="1" rot="10800000">
              <a:off x="812025" y="2400972"/>
              <a:ext cx="5609100" cy="656100"/>
            </a:xfrm>
            <a:prstGeom prst="straightConnector1">
              <a:avLst/>
            </a:prstGeom>
            <a:noFill/>
            <a:ln cap="flat" cmpd="sng" w="19050">
              <a:solidFill>
                <a:srgbClr val="9E9E9E"/>
              </a:solidFill>
              <a:prstDash val="solid"/>
              <a:round/>
              <a:headEnd len="med" w="med" type="triangle"/>
              <a:tailEnd len="med" w="med" type="none"/>
            </a:ln>
          </p:spPr>
        </p:cxnSp>
        <p:sp>
          <p:nvSpPr>
            <p:cNvPr id="1015" name="Google Shape;1015;p81"/>
            <p:cNvSpPr txBox="1"/>
            <p:nvPr/>
          </p:nvSpPr>
          <p:spPr>
            <a:xfrm>
              <a:off x="2046705" y="2813245"/>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3</a:t>
              </a:r>
              <a:endParaRPr>
                <a:solidFill>
                  <a:srgbClr val="9E9E9E"/>
                </a:solidFill>
                <a:latin typeface="Calibri"/>
                <a:ea typeface="Calibri"/>
                <a:cs typeface="Calibri"/>
                <a:sym typeface="Calibri"/>
              </a:endParaRPr>
            </a:p>
          </p:txBody>
        </p:sp>
      </p:grpSp>
      <p:pic>
        <p:nvPicPr>
          <p:cNvPr id="1016" name="Google Shape;1016;p81"/>
          <p:cNvPicPr preferRelativeResize="0"/>
          <p:nvPr/>
        </p:nvPicPr>
        <p:blipFill rotWithShape="1">
          <a:blip r:embed="rId4">
            <a:alphaModFix/>
          </a:blip>
          <a:srcRect b="65159" l="10446" r="69908" t="13697"/>
          <a:stretch/>
        </p:blipFill>
        <p:spPr>
          <a:xfrm>
            <a:off x="7841463" y="4405638"/>
            <a:ext cx="650926" cy="700636"/>
          </a:xfrm>
          <a:prstGeom prst="rect">
            <a:avLst/>
          </a:prstGeom>
          <a:noFill/>
          <a:ln>
            <a:noFill/>
          </a:ln>
        </p:spPr>
      </p:pic>
      <p:sp>
        <p:nvSpPr>
          <p:cNvPr id="1017" name="Google Shape;1017;p8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Kaminsky Attack: Example</a:t>
            </a:r>
            <a:endParaRPr/>
          </a:p>
        </p:txBody>
      </p:sp>
      <p:grpSp>
        <p:nvGrpSpPr>
          <p:cNvPr id="1018" name="Google Shape;1018;p81"/>
          <p:cNvGrpSpPr/>
          <p:nvPr/>
        </p:nvGrpSpPr>
        <p:grpSpPr>
          <a:xfrm>
            <a:off x="769875" y="1617199"/>
            <a:ext cx="410100" cy="572709"/>
            <a:chOff x="258935" y="2049228"/>
            <a:chExt cx="410100" cy="762900"/>
          </a:xfrm>
        </p:grpSpPr>
        <p:sp>
          <p:nvSpPr>
            <p:cNvPr id="1019" name="Google Shape;1019;p81"/>
            <p:cNvSpPr txBox="1"/>
            <p:nvPr/>
          </p:nvSpPr>
          <p:spPr>
            <a:xfrm>
              <a:off x="258935" y="2174852"/>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1</a:t>
              </a:r>
              <a:endParaRPr>
                <a:solidFill>
                  <a:srgbClr val="9E9E9E"/>
                </a:solidFill>
                <a:latin typeface="Calibri"/>
                <a:ea typeface="Calibri"/>
                <a:cs typeface="Calibri"/>
                <a:sym typeface="Calibri"/>
              </a:endParaRPr>
            </a:p>
          </p:txBody>
        </p:sp>
        <p:cxnSp>
          <p:nvCxnSpPr>
            <p:cNvPr id="1020" name="Google Shape;1020;p81"/>
            <p:cNvCxnSpPr/>
            <p:nvPr/>
          </p:nvCxnSpPr>
          <p:spPr>
            <a:xfrm rot="10800000">
              <a:off x="530725" y="2049228"/>
              <a:ext cx="0" cy="762900"/>
            </a:xfrm>
            <a:prstGeom prst="straightConnector1">
              <a:avLst/>
            </a:prstGeom>
            <a:noFill/>
            <a:ln cap="flat" cmpd="sng" w="19050">
              <a:solidFill>
                <a:srgbClr val="9E9E9E"/>
              </a:solidFill>
              <a:prstDash val="solid"/>
              <a:round/>
              <a:headEnd len="med" w="med" type="triangle"/>
              <a:tailEnd len="med" w="med" type="none"/>
            </a:ln>
          </p:spPr>
        </p:cxnSp>
      </p:grpSp>
      <p:grpSp>
        <p:nvGrpSpPr>
          <p:cNvPr id="1021" name="Google Shape;1021;p81"/>
          <p:cNvGrpSpPr/>
          <p:nvPr/>
        </p:nvGrpSpPr>
        <p:grpSpPr>
          <a:xfrm rot="-746418">
            <a:off x="3247846" y="1651999"/>
            <a:ext cx="4332671" cy="599908"/>
            <a:chOff x="812025" y="676049"/>
            <a:chExt cx="5609100" cy="3517200"/>
          </a:xfrm>
        </p:grpSpPr>
        <p:cxnSp>
          <p:nvCxnSpPr>
            <p:cNvPr id="1022" name="Google Shape;1022;p81"/>
            <p:cNvCxnSpPr/>
            <p:nvPr/>
          </p:nvCxnSpPr>
          <p:spPr>
            <a:xfrm flipH="1" rot="10800000">
              <a:off x="812025" y="2279674"/>
              <a:ext cx="5609100" cy="656100"/>
            </a:xfrm>
            <a:prstGeom prst="straightConnector1">
              <a:avLst/>
            </a:prstGeom>
            <a:noFill/>
            <a:ln cap="flat" cmpd="sng" w="19050">
              <a:solidFill>
                <a:srgbClr val="9E9E9E"/>
              </a:solidFill>
              <a:prstDash val="solid"/>
              <a:round/>
              <a:headEnd len="med" w="med" type="none"/>
              <a:tailEnd len="med" w="med" type="triangle"/>
            </a:ln>
          </p:spPr>
        </p:cxnSp>
        <p:sp>
          <p:nvSpPr>
            <p:cNvPr id="1023" name="Google Shape;1023;p81"/>
            <p:cNvSpPr txBox="1"/>
            <p:nvPr/>
          </p:nvSpPr>
          <p:spPr>
            <a:xfrm>
              <a:off x="1983444" y="676049"/>
              <a:ext cx="410100" cy="351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2</a:t>
              </a:r>
              <a:endParaRPr>
                <a:solidFill>
                  <a:srgbClr val="9E9E9E"/>
                </a:solidFill>
                <a:latin typeface="Calibri"/>
                <a:ea typeface="Calibri"/>
                <a:cs typeface="Calibri"/>
                <a:sym typeface="Calibri"/>
              </a:endParaRPr>
            </a:p>
          </p:txBody>
        </p:sp>
      </p:gr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p82"/>
          <p:cNvSpPr/>
          <p:nvPr/>
        </p:nvSpPr>
        <p:spPr>
          <a:xfrm>
            <a:off x="142425" y="2190750"/>
            <a:ext cx="3150600" cy="2866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82"/>
          <p:cNvSpPr txBox="1"/>
          <p:nvPr/>
        </p:nvSpPr>
        <p:spPr>
          <a:xfrm>
            <a:off x="555325" y="1223675"/>
            <a:ext cx="1642800" cy="3936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Stub Resolver</a:t>
            </a:r>
            <a:endParaRPr>
              <a:latin typeface="Calibri"/>
              <a:ea typeface="Calibri"/>
              <a:cs typeface="Calibri"/>
              <a:sym typeface="Calibri"/>
            </a:endParaRPr>
          </a:p>
        </p:txBody>
      </p:sp>
      <p:sp>
        <p:nvSpPr>
          <p:cNvPr id="1030" name="Google Shape;1030;p82"/>
          <p:cNvSpPr txBox="1"/>
          <p:nvPr/>
        </p:nvSpPr>
        <p:spPr>
          <a:xfrm>
            <a:off x="226125" y="2279151"/>
            <a:ext cx="29832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Recursive Resolver</a:t>
            </a:r>
            <a:endParaRPr>
              <a:latin typeface="Calibri"/>
              <a:ea typeface="Calibri"/>
              <a:cs typeface="Calibri"/>
              <a:sym typeface="Calibri"/>
            </a:endParaRPr>
          </a:p>
        </p:txBody>
      </p:sp>
      <p:pic>
        <p:nvPicPr>
          <p:cNvPr id="1031" name="Google Shape;1031;p82"/>
          <p:cNvPicPr preferRelativeResize="0"/>
          <p:nvPr/>
        </p:nvPicPr>
        <p:blipFill rotWithShape="1">
          <a:blip r:embed="rId3">
            <a:alphaModFix/>
          </a:blip>
          <a:srcRect b="57590" l="5310" r="80092" t="16627"/>
          <a:stretch/>
        </p:blipFill>
        <p:spPr>
          <a:xfrm>
            <a:off x="0" y="1144185"/>
            <a:ext cx="495580" cy="552599"/>
          </a:xfrm>
          <a:prstGeom prst="rect">
            <a:avLst/>
          </a:prstGeom>
          <a:noFill/>
          <a:ln>
            <a:noFill/>
          </a:ln>
        </p:spPr>
      </p:pic>
      <p:graphicFrame>
        <p:nvGraphicFramePr>
          <p:cNvPr id="1032" name="Google Shape;1032;p82"/>
          <p:cNvGraphicFramePr/>
          <p:nvPr/>
        </p:nvGraphicFramePr>
        <p:xfrm>
          <a:off x="226125" y="2672750"/>
          <a:ext cx="3000000" cy="3000000"/>
        </p:xfrm>
        <a:graphic>
          <a:graphicData uri="http://schemas.openxmlformats.org/drawingml/2006/table">
            <a:tbl>
              <a:tblPr>
                <a:noFill/>
                <a:tableStyleId>{8746E7DE-0C9E-4540-9031-B6CDA728326B}</a:tableStyleId>
              </a:tblPr>
              <a:tblGrid>
                <a:gridCol w="1491575"/>
                <a:gridCol w="1491575"/>
              </a:tblGrid>
              <a:tr h="347850">
                <a:tc gridSpan="2">
                  <a:txBody>
                    <a:bodyPr/>
                    <a:lstStyle/>
                    <a:p>
                      <a:pPr indent="0" lvl="0" marL="0" rtl="0" algn="ctr">
                        <a:spcBef>
                          <a:spcPts val="0"/>
                        </a:spcBef>
                        <a:spcAft>
                          <a:spcPts val="0"/>
                        </a:spcAft>
                        <a:buNone/>
                      </a:pPr>
                      <a:r>
                        <a:rPr lang="en" sz="1100">
                          <a:latin typeface="Courier New"/>
                          <a:ea typeface="Courier New"/>
                          <a:cs typeface="Courier New"/>
                          <a:sym typeface="Courier New"/>
                        </a:rPr>
                        <a:t>Recursive Resolver Cache</a:t>
                      </a:r>
                      <a:endParaRPr sz="1100">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solidFill>
                      <a:schemeClr val="lt1"/>
                    </a:solidFill>
                  </a:tcPr>
                </a:tc>
                <a:tc hMerge="1"/>
              </a:tr>
              <a:tr h="317600">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a.gtld-servers.net.</a:t>
                      </a:r>
                      <a:endParaRPr sz="900">
                        <a:solidFill>
                          <a:schemeClr val="dk1"/>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192.5.6.30</a:t>
                      </a:r>
                      <a:endParaRPr sz="900">
                        <a:solidFill>
                          <a:schemeClr val="dk1"/>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17600">
                <a:tc>
                  <a:txBody>
                    <a:bodyPr/>
                    <a:lstStyle/>
                    <a:p>
                      <a:pPr indent="0" lvl="0" marL="0" rtl="0" algn="l">
                        <a:lnSpc>
                          <a:spcPct val="115000"/>
                        </a:lnSpc>
                        <a:spcBef>
                          <a:spcPts val="0"/>
                        </a:spcBef>
                        <a:spcAft>
                          <a:spcPts val="0"/>
                        </a:spcAft>
                        <a:buNone/>
                      </a:pPr>
                      <a:r>
                        <a:rPr b="1" lang="en" sz="900">
                          <a:solidFill>
                            <a:schemeClr val="dk1"/>
                          </a:solidFill>
                          <a:latin typeface="Courier New"/>
                          <a:ea typeface="Courier New"/>
                          <a:cs typeface="Courier New"/>
                          <a:sym typeface="Courier New"/>
                        </a:rPr>
                        <a:t>ns1.google.com.</a:t>
                      </a:r>
                      <a:endParaRPr b="1"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b="1" lang="en" sz="900">
                          <a:solidFill>
                            <a:schemeClr val="dk1"/>
                          </a:solidFill>
                          <a:latin typeface="Courier New"/>
                          <a:ea typeface="Courier New"/>
                          <a:cs typeface="Courier New"/>
                          <a:sym typeface="Courier New"/>
                        </a:rPr>
                        <a:t>216.239.32.10</a:t>
                      </a:r>
                      <a:endParaRPr b="1"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17600">
                <a:tc>
                  <a:txBody>
                    <a:bodyPr/>
                    <a:lstStyle/>
                    <a:p>
                      <a:pPr indent="0" lvl="0" marL="0" rtl="0" algn="l">
                        <a:lnSpc>
                          <a:spcPct val="115000"/>
                        </a:lnSpc>
                        <a:spcBef>
                          <a:spcPts val="0"/>
                        </a:spcBef>
                        <a:spcAft>
                          <a:spcPts val="0"/>
                        </a:spcAft>
                        <a:buNone/>
                      </a:pPr>
                      <a:r>
                        <a:t/>
                      </a:r>
                      <a:endParaRPr b="1"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t/>
                      </a:r>
                      <a:endParaRPr b="1"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bl>
          </a:graphicData>
        </a:graphic>
      </p:graphicFrame>
      <p:sp>
        <p:nvSpPr>
          <p:cNvPr id="1033" name="Google Shape;1033;p8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1034" name="Google Shape;1034;p82"/>
          <p:cNvGrpSpPr/>
          <p:nvPr/>
        </p:nvGrpSpPr>
        <p:grpSpPr>
          <a:xfrm rot="-254198">
            <a:off x="3294674" y="2878978"/>
            <a:ext cx="4536139" cy="275727"/>
            <a:chOff x="854584" y="3514625"/>
            <a:chExt cx="5116200" cy="493113"/>
          </a:xfrm>
        </p:grpSpPr>
        <p:cxnSp>
          <p:nvCxnSpPr>
            <p:cNvPr id="1035" name="Google Shape;1035;p82"/>
            <p:cNvCxnSpPr/>
            <p:nvPr/>
          </p:nvCxnSpPr>
          <p:spPr>
            <a:xfrm flipH="1" rot="10800000">
              <a:off x="854584" y="3514625"/>
              <a:ext cx="5116200" cy="249300"/>
            </a:xfrm>
            <a:prstGeom prst="straightConnector1">
              <a:avLst/>
            </a:prstGeom>
            <a:noFill/>
            <a:ln cap="flat" cmpd="sng" w="19050">
              <a:solidFill>
                <a:srgbClr val="000000"/>
              </a:solidFill>
              <a:prstDash val="solid"/>
              <a:round/>
              <a:headEnd len="med" w="med" type="triangle"/>
              <a:tailEnd len="med" w="med" type="none"/>
            </a:ln>
          </p:spPr>
        </p:cxnSp>
        <p:sp>
          <p:nvSpPr>
            <p:cNvPr id="1036" name="Google Shape;1036;p82"/>
            <p:cNvSpPr txBox="1"/>
            <p:nvPr/>
          </p:nvSpPr>
          <p:spPr>
            <a:xfrm>
              <a:off x="2113676" y="3611138"/>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5</a:t>
              </a:r>
              <a:endParaRPr>
                <a:latin typeface="Calibri"/>
                <a:ea typeface="Calibri"/>
                <a:cs typeface="Calibri"/>
                <a:sym typeface="Calibri"/>
              </a:endParaRPr>
            </a:p>
          </p:txBody>
        </p:sp>
      </p:grpSp>
      <p:sp>
        <p:nvSpPr>
          <p:cNvPr id="1037" name="Google Shape;1037;p82"/>
          <p:cNvSpPr txBox="1"/>
          <p:nvPr/>
        </p:nvSpPr>
        <p:spPr>
          <a:xfrm>
            <a:off x="3345050" y="3357750"/>
            <a:ext cx="4121700" cy="9234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sz="1200"/>
              <a:t>“I don’t know. But I have delegated authority to the </a:t>
            </a:r>
            <a:r>
              <a:rPr b="1" lang="en" sz="1200">
                <a:latin typeface="Courier New"/>
                <a:ea typeface="Courier New"/>
                <a:cs typeface="Courier New"/>
                <a:sym typeface="Courier New"/>
              </a:rPr>
              <a:t>google.com</a:t>
            </a:r>
            <a:r>
              <a:rPr lang="en" sz="1200"/>
              <a:t> name server. </a:t>
            </a:r>
            <a:r>
              <a:rPr lang="en" sz="1200">
                <a:solidFill>
                  <a:schemeClr val="dk1"/>
                </a:solidFill>
              </a:rPr>
              <a:t>This response has ID </a:t>
            </a:r>
            <a:r>
              <a:rPr lang="en" sz="1200">
                <a:solidFill>
                  <a:schemeClr val="dk1"/>
                </a:solidFill>
              </a:rPr>
              <a:t>972</a:t>
            </a:r>
            <a:r>
              <a:rPr lang="en" sz="1200">
                <a:solidFill>
                  <a:schemeClr val="dk1"/>
                </a:solidFill>
              </a:rPr>
              <a:t>.</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Authority: </a:t>
            </a:r>
            <a:r>
              <a:rPr b="1" lang="en" sz="1200">
                <a:solidFill>
                  <a:schemeClr val="dk1"/>
                </a:solidFill>
                <a:latin typeface="Courier New"/>
                <a:ea typeface="Courier New"/>
                <a:cs typeface="Courier New"/>
                <a:sym typeface="Courier New"/>
              </a:rPr>
              <a:t>google.com</a:t>
            </a:r>
            <a:r>
              <a:rPr lang="en" sz="1200">
                <a:solidFill>
                  <a:schemeClr val="dk1"/>
                </a:solidFill>
              </a:rPr>
              <a:t> NS  </a:t>
            </a:r>
            <a:r>
              <a:rPr b="1" lang="en" sz="1200">
                <a:solidFill>
                  <a:schemeClr val="dk1"/>
                </a:solidFill>
                <a:latin typeface="Courier New"/>
                <a:ea typeface="Courier New"/>
                <a:cs typeface="Courier New"/>
                <a:sym typeface="Courier New"/>
              </a:rPr>
              <a:t>ns1.google.com</a:t>
            </a:r>
            <a:endParaRPr sz="1200">
              <a:solidFill>
                <a:schemeClr val="dk1"/>
              </a:solidFill>
            </a:endParaRPr>
          </a:p>
          <a:p>
            <a:pPr indent="0" lvl="0" marL="0" rtl="0" algn="l">
              <a:lnSpc>
                <a:spcPct val="115000"/>
              </a:lnSpc>
              <a:spcBef>
                <a:spcPts val="0"/>
              </a:spcBef>
              <a:spcAft>
                <a:spcPts val="0"/>
              </a:spcAft>
              <a:buNone/>
            </a:pPr>
            <a:r>
              <a:rPr lang="en" sz="1200">
                <a:solidFill>
                  <a:schemeClr val="dk1"/>
                </a:solidFill>
              </a:rPr>
              <a:t>Additional:  </a:t>
            </a:r>
            <a:r>
              <a:rPr b="1" lang="en" sz="1200">
                <a:solidFill>
                  <a:schemeClr val="dk1"/>
                </a:solidFill>
                <a:latin typeface="Courier New"/>
                <a:ea typeface="Courier New"/>
                <a:cs typeface="Courier New"/>
                <a:sym typeface="Courier New"/>
              </a:rPr>
              <a:t>ns1.google.com.</a:t>
            </a:r>
            <a:r>
              <a:rPr lang="en" sz="1200">
                <a:solidFill>
                  <a:schemeClr val="dk1"/>
                </a:solidFill>
              </a:rPr>
              <a:t> A </a:t>
            </a:r>
            <a:r>
              <a:rPr b="1" lang="en" sz="1200">
                <a:solidFill>
                  <a:schemeClr val="dk1"/>
                </a:solidFill>
                <a:latin typeface="Courier New"/>
                <a:ea typeface="Courier New"/>
                <a:cs typeface="Courier New"/>
                <a:sym typeface="Courier New"/>
              </a:rPr>
              <a:t>216.329.32.10</a:t>
            </a:r>
            <a:r>
              <a:rPr lang="en" sz="1200"/>
              <a:t>”</a:t>
            </a:r>
            <a:endParaRPr sz="1200"/>
          </a:p>
        </p:txBody>
      </p:sp>
      <p:sp>
        <p:nvSpPr>
          <p:cNvPr id="1038" name="Google Shape;1038;p82"/>
          <p:cNvSpPr txBox="1"/>
          <p:nvPr/>
        </p:nvSpPr>
        <p:spPr>
          <a:xfrm>
            <a:off x="3867850" y="2672740"/>
            <a:ext cx="225000" cy="36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4</a:t>
            </a:r>
            <a:endParaRPr>
              <a:solidFill>
                <a:srgbClr val="9E9E9E"/>
              </a:solidFill>
              <a:latin typeface="Calibri"/>
              <a:ea typeface="Calibri"/>
              <a:cs typeface="Calibri"/>
              <a:sym typeface="Calibri"/>
            </a:endParaRPr>
          </a:p>
        </p:txBody>
      </p:sp>
      <p:sp>
        <p:nvSpPr>
          <p:cNvPr id="1039" name="Google Shape;1039;p82"/>
          <p:cNvSpPr txBox="1"/>
          <p:nvPr/>
        </p:nvSpPr>
        <p:spPr>
          <a:xfrm>
            <a:off x="7547875" y="1392148"/>
            <a:ext cx="1238100" cy="3648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 (root)</a:t>
            </a:r>
            <a:endParaRPr>
              <a:latin typeface="Courier New"/>
              <a:ea typeface="Courier New"/>
              <a:cs typeface="Courier New"/>
              <a:sym typeface="Courier New"/>
            </a:endParaRPr>
          </a:p>
        </p:txBody>
      </p:sp>
      <p:cxnSp>
        <p:nvCxnSpPr>
          <p:cNvPr id="1040" name="Google Shape;1040;p82"/>
          <p:cNvCxnSpPr/>
          <p:nvPr/>
        </p:nvCxnSpPr>
        <p:spPr>
          <a:xfrm flipH="1" rot="10462490">
            <a:off x="3290233" y="2728001"/>
            <a:ext cx="4544987" cy="112121"/>
          </a:xfrm>
          <a:prstGeom prst="straightConnector1">
            <a:avLst/>
          </a:prstGeom>
          <a:noFill/>
          <a:ln cap="flat" cmpd="sng" w="19050">
            <a:solidFill>
              <a:srgbClr val="9E9E9E"/>
            </a:solidFill>
            <a:prstDash val="solid"/>
            <a:round/>
            <a:headEnd len="med" w="med" type="none"/>
            <a:tailEnd len="med" w="med" type="triangle"/>
          </a:ln>
        </p:spPr>
      </p:cxnSp>
      <p:sp>
        <p:nvSpPr>
          <p:cNvPr id="1041" name="Google Shape;1041;p82"/>
          <p:cNvSpPr txBox="1"/>
          <p:nvPr/>
        </p:nvSpPr>
        <p:spPr>
          <a:xfrm>
            <a:off x="7832713" y="2411252"/>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.com</a:t>
            </a:r>
            <a:endParaRPr>
              <a:latin typeface="Calibri"/>
              <a:ea typeface="Calibri"/>
              <a:cs typeface="Calibri"/>
              <a:sym typeface="Calibri"/>
            </a:endParaRPr>
          </a:p>
        </p:txBody>
      </p:sp>
      <p:sp>
        <p:nvSpPr>
          <p:cNvPr id="1042" name="Google Shape;1042;p82"/>
          <p:cNvSpPr txBox="1"/>
          <p:nvPr/>
        </p:nvSpPr>
        <p:spPr>
          <a:xfrm>
            <a:off x="7518763" y="3357750"/>
            <a:ext cx="12963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google.com</a:t>
            </a:r>
            <a:endParaRPr sz="1200">
              <a:latin typeface="Calibri"/>
              <a:ea typeface="Calibri"/>
              <a:cs typeface="Calibri"/>
              <a:sym typeface="Calibri"/>
            </a:endParaRPr>
          </a:p>
        </p:txBody>
      </p:sp>
      <p:cxnSp>
        <p:nvCxnSpPr>
          <p:cNvPr id="1043" name="Google Shape;1043;p82"/>
          <p:cNvCxnSpPr>
            <a:stCxn id="1039" idx="2"/>
            <a:endCxn id="1041" idx="0"/>
          </p:cNvCxnSpPr>
          <p:nvPr/>
        </p:nvCxnSpPr>
        <p:spPr>
          <a:xfrm>
            <a:off x="8166925" y="1756948"/>
            <a:ext cx="0" cy="654300"/>
          </a:xfrm>
          <a:prstGeom prst="straightConnector1">
            <a:avLst/>
          </a:prstGeom>
          <a:noFill/>
          <a:ln cap="flat" cmpd="sng" w="9525">
            <a:solidFill>
              <a:srgbClr val="000000"/>
            </a:solidFill>
            <a:prstDash val="solid"/>
            <a:round/>
            <a:headEnd len="med" w="med" type="none"/>
            <a:tailEnd len="med" w="med" type="none"/>
          </a:ln>
        </p:spPr>
      </p:cxnSp>
      <p:cxnSp>
        <p:nvCxnSpPr>
          <p:cNvPr id="1044" name="Google Shape;1044;p82"/>
          <p:cNvCxnSpPr>
            <a:stCxn id="1041" idx="2"/>
            <a:endCxn id="1042" idx="0"/>
          </p:cNvCxnSpPr>
          <p:nvPr/>
        </p:nvCxnSpPr>
        <p:spPr>
          <a:xfrm>
            <a:off x="8166913" y="2804852"/>
            <a:ext cx="0" cy="552900"/>
          </a:xfrm>
          <a:prstGeom prst="straightConnector1">
            <a:avLst/>
          </a:prstGeom>
          <a:noFill/>
          <a:ln cap="flat" cmpd="sng" w="9525">
            <a:solidFill>
              <a:srgbClr val="000000"/>
            </a:solidFill>
            <a:prstDash val="solid"/>
            <a:round/>
            <a:headEnd len="med" w="med" type="none"/>
            <a:tailEnd len="med" w="med" type="none"/>
          </a:ln>
        </p:spPr>
      </p:cxnSp>
      <p:pic>
        <p:nvPicPr>
          <p:cNvPr id="1045" name="Google Shape;1045;p82"/>
          <p:cNvPicPr preferRelativeResize="0"/>
          <p:nvPr/>
        </p:nvPicPr>
        <p:blipFill rotWithShape="1">
          <a:blip r:embed="rId4">
            <a:alphaModFix/>
          </a:blip>
          <a:srcRect b="65159" l="10446" r="69908" t="13697"/>
          <a:stretch/>
        </p:blipFill>
        <p:spPr>
          <a:xfrm>
            <a:off x="7841463" y="4405638"/>
            <a:ext cx="650926" cy="700636"/>
          </a:xfrm>
          <a:prstGeom prst="rect">
            <a:avLst/>
          </a:prstGeom>
          <a:noFill/>
          <a:ln>
            <a:noFill/>
          </a:ln>
        </p:spPr>
      </p:pic>
      <p:sp>
        <p:nvSpPr>
          <p:cNvPr id="1046" name="Google Shape;1046;p8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Kaminsky Attack: Example</a:t>
            </a:r>
            <a:endParaRPr/>
          </a:p>
        </p:txBody>
      </p:sp>
      <p:sp>
        <p:nvSpPr>
          <p:cNvPr id="1047" name="Google Shape;1047;p82"/>
          <p:cNvSpPr txBox="1"/>
          <p:nvPr/>
        </p:nvSpPr>
        <p:spPr>
          <a:xfrm>
            <a:off x="3673950" y="4557800"/>
            <a:ext cx="3786600" cy="552900"/>
          </a:xfrm>
          <a:prstGeom prst="rect">
            <a:avLst/>
          </a:prstGeom>
          <a:solidFill>
            <a:srgbClr val="C9DAF8"/>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rPr>
              <a:t>The </a:t>
            </a:r>
            <a:r>
              <a:rPr b="1" lang="en" sz="1200">
                <a:solidFill>
                  <a:schemeClr val="dk1"/>
                </a:solidFill>
                <a:latin typeface="Courier New"/>
                <a:ea typeface="Courier New"/>
                <a:cs typeface="Courier New"/>
                <a:sym typeface="Courier New"/>
              </a:rPr>
              <a:t>google.com</a:t>
            </a:r>
            <a:r>
              <a:rPr lang="en" sz="1200">
                <a:solidFill>
                  <a:schemeClr val="dk1"/>
                </a:solidFill>
              </a:rPr>
              <a:t> name server </a:t>
            </a:r>
            <a:r>
              <a:rPr b="1" lang="en" sz="1200">
                <a:solidFill>
                  <a:schemeClr val="dk1"/>
                </a:solidFill>
                <a:latin typeface="Courier New"/>
                <a:ea typeface="Courier New"/>
                <a:cs typeface="Courier New"/>
                <a:sym typeface="Courier New"/>
              </a:rPr>
              <a:t>ns1.google.com.</a:t>
            </a:r>
            <a:r>
              <a:rPr lang="en" sz="1200">
                <a:solidFill>
                  <a:schemeClr val="dk1"/>
                </a:solidFill>
              </a:rPr>
              <a:t> is cached with IP </a:t>
            </a:r>
            <a:r>
              <a:rPr b="1" lang="en" sz="1200">
                <a:solidFill>
                  <a:schemeClr val="dk1"/>
                </a:solidFill>
                <a:latin typeface="Courier New"/>
                <a:ea typeface="Courier New"/>
                <a:cs typeface="Courier New"/>
                <a:sym typeface="Courier New"/>
              </a:rPr>
              <a:t>216.239.32.10.</a:t>
            </a:r>
            <a:endParaRPr sz="1200">
              <a:solidFill>
                <a:schemeClr val="dk1"/>
              </a:solidFill>
            </a:endParaRPr>
          </a:p>
          <a:p>
            <a:pPr indent="0" lvl="0" marL="0" rtl="0" algn="ctr">
              <a:spcBef>
                <a:spcPts val="0"/>
              </a:spcBef>
              <a:spcAft>
                <a:spcPts val="0"/>
              </a:spcAft>
              <a:buNone/>
            </a:pPr>
            <a:r>
              <a:t/>
            </a:r>
            <a:endParaRPr sz="1200"/>
          </a:p>
        </p:txBody>
      </p:sp>
      <p:cxnSp>
        <p:nvCxnSpPr>
          <p:cNvPr id="1048" name="Google Shape;1048;p82"/>
          <p:cNvCxnSpPr>
            <a:stCxn id="1047" idx="1"/>
          </p:cNvCxnSpPr>
          <p:nvPr/>
        </p:nvCxnSpPr>
        <p:spPr>
          <a:xfrm rot="10800000">
            <a:off x="2793150" y="3542450"/>
            <a:ext cx="880800" cy="1291800"/>
          </a:xfrm>
          <a:prstGeom prst="straightConnector1">
            <a:avLst/>
          </a:prstGeom>
          <a:noFill/>
          <a:ln cap="flat" cmpd="sng" w="9525">
            <a:solidFill>
              <a:srgbClr val="0000FF"/>
            </a:solidFill>
            <a:prstDash val="solid"/>
            <a:round/>
            <a:headEnd len="med" w="med" type="none"/>
            <a:tailEnd len="med" w="med" type="triangle"/>
          </a:ln>
        </p:spPr>
      </p:cxnSp>
      <p:grpSp>
        <p:nvGrpSpPr>
          <p:cNvPr id="1049" name="Google Shape;1049;p82"/>
          <p:cNvGrpSpPr/>
          <p:nvPr/>
        </p:nvGrpSpPr>
        <p:grpSpPr>
          <a:xfrm>
            <a:off x="769875" y="1617199"/>
            <a:ext cx="410100" cy="572709"/>
            <a:chOff x="258935" y="2049228"/>
            <a:chExt cx="410100" cy="762900"/>
          </a:xfrm>
        </p:grpSpPr>
        <p:sp>
          <p:nvSpPr>
            <p:cNvPr id="1050" name="Google Shape;1050;p82"/>
            <p:cNvSpPr txBox="1"/>
            <p:nvPr/>
          </p:nvSpPr>
          <p:spPr>
            <a:xfrm>
              <a:off x="258935" y="2174852"/>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1</a:t>
              </a:r>
              <a:endParaRPr>
                <a:solidFill>
                  <a:srgbClr val="9E9E9E"/>
                </a:solidFill>
                <a:latin typeface="Calibri"/>
                <a:ea typeface="Calibri"/>
                <a:cs typeface="Calibri"/>
                <a:sym typeface="Calibri"/>
              </a:endParaRPr>
            </a:p>
          </p:txBody>
        </p:sp>
        <p:cxnSp>
          <p:nvCxnSpPr>
            <p:cNvPr id="1051" name="Google Shape;1051;p82"/>
            <p:cNvCxnSpPr/>
            <p:nvPr/>
          </p:nvCxnSpPr>
          <p:spPr>
            <a:xfrm rot="10800000">
              <a:off x="530725" y="2049228"/>
              <a:ext cx="0" cy="762900"/>
            </a:xfrm>
            <a:prstGeom prst="straightConnector1">
              <a:avLst/>
            </a:prstGeom>
            <a:noFill/>
            <a:ln cap="flat" cmpd="sng" w="19050">
              <a:solidFill>
                <a:srgbClr val="9E9E9E"/>
              </a:solidFill>
              <a:prstDash val="solid"/>
              <a:round/>
              <a:headEnd len="med" w="med" type="triangle"/>
              <a:tailEnd len="med" w="med" type="none"/>
            </a:ln>
          </p:spPr>
        </p:cxnSp>
      </p:grpSp>
      <p:grpSp>
        <p:nvGrpSpPr>
          <p:cNvPr id="1052" name="Google Shape;1052;p82"/>
          <p:cNvGrpSpPr/>
          <p:nvPr/>
        </p:nvGrpSpPr>
        <p:grpSpPr>
          <a:xfrm rot="-746418">
            <a:off x="3247846" y="1651999"/>
            <a:ext cx="4332671" cy="599908"/>
            <a:chOff x="812025" y="676049"/>
            <a:chExt cx="5609100" cy="3517200"/>
          </a:xfrm>
        </p:grpSpPr>
        <p:cxnSp>
          <p:nvCxnSpPr>
            <p:cNvPr id="1053" name="Google Shape;1053;p82"/>
            <p:cNvCxnSpPr/>
            <p:nvPr/>
          </p:nvCxnSpPr>
          <p:spPr>
            <a:xfrm flipH="1" rot="10800000">
              <a:off x="812025" y="2279674"/>
              <a:ext cx="5609100" cy="656100"/>
            </a:xfrm>
            <a:prstGeom prst="straightConnector1">
              <a:avLst/>
            </a:prstGeom>
            <a:noFill/>
            <a:ln cap="flat" cmpd="sng" w="19050">
              <a:solidFill>
                <a:srgbClr val="9E9E9E"/>
              </a:solidFill>
              <a:prstDash val="solid"/>
              <a:round/>
              <a:headEnd len="med" w="med" type="none"/>
              <a:tailEnd len="med" w="med" type="triangle"/>
            </a:ln>
          </p:spPr>
        </p:cxnSp>
        <p:sp>
          <p:nvSpPr>
            <p:cNvPr id="1054" name="Google Shape;1054;p82"/>
            <p:cNvSpPr txBox="1"/>
            <p:nvPr/>
          </p:nvSpPr>
          <p:spPr>
            <a:xfrm>
              <a:off x="1983444" y="676049"/>
              <a:ext cx="410100" cy="351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2</a:t>
              </a:r>
              <a:endParaRPr>
                <a:solidFill>
                  <a:srgbClr val="9E9E9E"/>
                </a:solidFill>
                <a:latin typeface="Calibri"/>
                <a:ea typeface="Calibri"/>
                <a:cs typeface="Calibri"/>
                <a:sym typeface="Calibri"/>
              </a:endParaRPr>
            </a:p>
          </p:txBody>
        </p:sp>
      </p:grpSp>
      <p:grpSp>
        <p:nvGrpSpPr>
          <p:cNvPr id="1055" name="Google Shape;1055;p82"/>
          <p:cNvGrpSpPr/>
          <p:nvPr/>
        </p:nvGrpSpPr>
        <p:grpSpPr>
          <a:xfrm rot="-497457">
            <a:off x="3255496" y="1882108"/>
            <a:ext cx="4379928" cy="602045"/>
            <a:chOff x="812025" y="2400972"/>
            <a:chExt cx="5609100" cy="808872"/>
          </a:xfrm>
        </p:grpSpPr>
        <p:cxnSp>
          <p:nvCxnSpPr>
            <p:cNvPr id="1056" name="Google Shape;1056;p82"/>
            <p:cNvCxnSpPr/>
            <p:nvPr/>
          </p:nvCxnSpPr>
          <p:spPr>
            <a:xfrm flipH="1" rot="10800000">
              <a:off x="812025" y="2400972"/>
              <a:ext cx="5609100" cy="656100"/>
            </a:xfrm>
            <a:prstGeom prst="straightConnector1">
              <a:avLst/>
            </a:prstGeom>
            <a:noFill/>
            <a:ln cap="flat" cmpd="sng" w="19050">
              <a:solidFill>
                <a:srgbClr val="9E9E9E"/>
              </a:solidFill>
              <a:prstDash val="solid"/>
              <a:round/>
              <a:headEnd len="med" w="med" type="triangle"/>
              <a:tailEnd len="med" w="med" type="none"/>
            </a:ln>
          </p:spPr>
        </p:cxnSp>
        <p:sp>
          <p:nvSpPr>
            <p:cNvPr id="1057" name="Google Shape;1057;p82"/>
            <p:cNvSpPr txBox="1"/>
            <p:nvPr/>
          </p:nvSpPr>
          <p:spPr>
            <a:xfrm>
              <a:off x="2046705" y="2813245"/>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3</a:t>
              </a:r>
              <a:endParaRPr>
                <a:solidFill>
                  <a:srgbClr val="9E9E9E"/>
                </a:solidFill>
                <a:latin typeface="Calibri"/>
                <a:ea typeface="Calibri"/>
                <a:cs typeface="Calibri"/>
                <a:sym typeface="Calibri"/>
              </a:endParaRPr>
            </a:p>
          </p:txBody>
        </p:sp>
      </p:grpSp>
      <p:cxnSp>
        <p:nvCxnSpPr>
          <p:cNvPr id="1058" name="Google Shape;1058;p82"/>
          <p:cNvCxnSpPr>
            <a:stCxn id="1037" idx="1"/>
            <a:endCxn id="1037" idx="3"/>
          </p:cNvCxnSpPr>
          <p:nvPr/>
        </p:nvCxnSpPr>
        <p:spPr>
          <a:xfrm>
            <a:off x="3345050" y="3819450"/>
            <a:ext cx="4121700" cy="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2" name="Shape 1062"/>
        <p:cNvGrpSpPr/>
        <p:nvPr/>
      </p:nvGrpSpPr>
      <p:grpSpPr>
        <a:xfrm>
          <a:off x="0" y="0"/>
          <a:ext cx="0" cy="0"/>
          <a:chOff x="0" y="0"/>
          <a:chExt cx="0" cy="0"/>
        </a:xfrm>
      </p:grpSpPr>
      <p:sp>
        <p:nvSpPr>
          <p:cNvPr id="1063" name="Google Shape;1063;p83"/>
          <p:cNvSpPr/>
          <p:nvPr/>
        </p:nvSpPr>
        <p:spPr>
          <a:xfrm>
            <a:off x="142425" y="2190750"/>
            <a:ext cx="3150600" cy="2866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4" name="Google Shape;1064;p83"/>
          <p:cNvSpPr txBox="1"/>
          <p:nvPr/>
        </p:nvSpPr>
        <p:spPr>
          <a:xfrm>
            <a:off x="555325" y="1223675"/>
            <a:ext cx="1642800" cy="3936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Stub Resolver</a:t>
            </a:r>
            <a:endParaRPr>
              <a:latin typeface="Calibri"/>
              <a:ea typeface="Calibri"/>
              <a:cs typeface="Calibri"/>
              <a:sym typeface="Calibri"/>
            </a:endParaRPr>
          </a:p>
        </p:txBody>
      </p:sp>
      <p:sp>
        <p:nvSpPr>
          <p:cNvPr id="1065" name="Google Shape;1065;p83"/>
          <p:cNvSpPr txBox="1"/>
          <p:nvPr/>
        </p:nvSpPr>
        <p:spPr>
          <a:xfrm>
            <a:off x="226125" y="2279151"/>
            <a:ext cx="29832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Recursive Resolver</a:t>
            </a:r>
            <a:endParaRPr>
              <a:latin typeface="Calibri"/>
              <a:ea typeface="Calibri"/>
              <a:cs typeface="Calibri"/>
              <a:sym typeface="Calibri"/>
            </a:endParaRPr>
          </a:p>
        </p:txBody>
      </p:sp>
      <p:pic>
        <p:nvPicPr>
          <p:cNvPr id="1066" name="Google Shape;1066;p83"/>
          <p:cNvPicPr preferRelativeResize="0"/>
          <p:nvPr/>
        </p:nvPicPr>
        <p:blipFill rotWithShape="1">
          <a:blip r:embed="rId3">
            <a:alphaModFix/>
          </a:blip>
          <a:srcRect b="57590" l="5310" r="80092" t="16627"/>
          <a:stretch/>
        </p:blipFill>
        <p:spPr>
          <a:xfrm>
            <a:off x="0" y="1144185"/>
            <a:ext cx="495580" cy="552599"/>
          </a:xfrm>
          <a:prstGeom prst="rect">
            <a:avLst/>
          </a:prstGeom>
          <a:noFill/>
          <a:ln>
            <a:noFill/>
          </a:ln>
        </p:spPr>
      </p:pic>
      <p:graphicFrame>
        <p:nvGraphicFramePr>
          <p:cNvPr id="1067" name="Google Shape;1067;p83"/>
          <p:cNvGraphicFramePr/>
          <p:nvPr/>
        </p:nvGraphicFramePr>
        <p:xfrm>
          <a:off x="226125" y="2672750"/>
          <a:ext cx="3000000" cy="3000000"/>
        </p:xfrm>
        <a:graphic>
          <a:graphicData uri="http://schemas.openxmlformats.org/drawingml/2006/table">
            <a:tbl>
              <a:tblPr>
                <a:noFill/>
                <a:tableStyleId>{8746E7DE-0C9E-4540-9031-B6CDA728326B}</a:tableStyleId>
              </a:tblPr>
              <a:tblGrid>
                <a:gridCol w="1491575"/>
                <a:gridCol w="1491575"/>
              </a:tblGrid>
              <a:tr h="347850">
                <a:tc gridSpan="2">
                  <a:txBody>
                    <a:bodyPr/>
                    <a:lstStyle/>
                    <a:p>
                      <a:pPr indent="0" lvl="0" marL="0" rtl="0" algn="ctr">
                        <a:spcBef>
                          <a:spcPts val="0"/>
                        </a:spcBef>
                        <a:spcAft>
                          <a:spcPts val="0"/>
                        </a:spcAft>
                        <a:buNone/>
                      </a:pPr>
                      <a:r>
                        <a:rPr lang="en" sz="1100">
                          <a:latin typeface="Courier New"/>
                          <a:ea typeface="Courier New"/>
                          <a:cs typeface="Courier New"/>
                          <a:sym typeface="Courier New"/>
                        </a:rPr>
                        <a:t>Recursive Resolver Cache</a:t>
                      </a:r>
                      <a:endParaRPr sz="1100">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solidFill>
                      <a:schemeClr val="lt1"/>
                    </a:solidFill>
                  </a:tcPr>
                </a:tc>
                <a:tc hMerge="1"/>
              </a:tr>
              <a:tr h="317600">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a.gtld-servers.net.</a:t>
                      </a:r>
                      <a:endParaRPr sz="900">
                        <a:solidFill>
                          <a:schemeClr val="dk1"/>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192.5.6.30</a:t>
                      </a:r>
                      <a:endParaRPr sz="900">
                        <a:solidFill>
                          <a:schemeClr val="dk1"/>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17600">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ns1.google.com.</a:t>
                      </a:r>
                      <a:endParaRPr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216.239.32.10</a:t>
                      </a:r>
                      <a:endParaRPr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17600">
                <a:tc>
                  <a:txBody>
                    <a:bodyPr/>
                    <a:lstStyle/>
                    <a:p>
                      <a:pPr indent="0" lvl="0" marL="0" rtl="0" algn="l">
                        <a:lnSpc>
                          <a:spcPct val="115000"/>
                        </a:lnSpc>
                        <a:spcBef>
                          <a:spcPts val="0"/>
                        </a:spcBef>
                        <a:spcAft>
                          <a:spcPts val="0"/>
                        </a:spcAft>
                        <a:buNone/>
                      </a:pPr>
                      <a:r>
                        <a:t/>
                      </a:r>
                      <a:endParaRPr b="1"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t/>
                      </a:r>
                      <a:endParaRPr b="1"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bl>
          </a:graphicData>
        </a:graphic>
      </p:graphicFrame>
      <p:sp>
        <p:nvSpPr>
          <p:cNvPr id="1068" name="Google Shape;1068;p8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pSp>
        <p:nvGrpSpPr>
          <p:cNvPr id="1069" name="Google Shape;1069;p83"/>
          <p:cNvGrpSpPr/>
          <p:nvPr/>
        </p:nvGrpSpPr>
        <p:grpSpPr>
          <a:xfrm rot="-254198">
            <a:off x="3294674" y="2878978"/>
            <a:ext cx="4536139" cy="275727"/>
            <a:chOff x="854584" y="3514625"/>
            <a:chExt cx="5116200" cy="493113"/>
          </a:xfrm>
        </p:grpSpPr>
        <p:cxnSp>
          <p:nvCxnSpPr>
            <p:cNvPr id="1070" name="Google Shape;1070;p83"/>
            <p:cNvCxnSpPr/>
            <p:nvPr/>
          </p:nvCxnSpPr>
          <p:spPr>
            <a:xfrm flipH="1" rot="10800000">
              <a:off x="854584" y="3514625"/>
              <a:ext cx="5116200" cy="249300"/>
            </a:xfrm>
            <a:prstGeom prst="straightConnector1">
              <a:avLst/>
            </a:prstGeom>
            <a:noFill/>
            <a:ln cap="flat" cmpd="sng" w="19050">
              <a:solidFill>
                <a:srgbClr val="9E9E9E"/>
              </a:solidFill>
              <a:prstDash val="solid"/>
              <a:round/>
              <a:headEnd len="med" w="med" type="triangle"/>
              <a:tailEnd len="med" w="med" type="none"/>
            </a:ln>
          </p:spPr>
        </p:cxnSp>
        <p:sp>
          <p:nvSpPr>
            <p:cNvPr id="1071" name="Google Shape;1071;p83"/>
            <p:cNvSpPr txBox="1"/>
            <p:nvPr/>
          </p:nvSpPr>
          <p:spPr>
            <a:xfrm>
              <a:off x="2113676" y="3611138"/>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5</a:t>
              </a:r>
              <a:endParaRPr>
                <a:solidFill>
                  <a:srgbClr val="9E9E9E"/>
                </a:solidFill>
                <a:latin typeface="Calibri"/>
                <a:ea typeface="Calibri"/>
                <a:cs typeface="Calibri"/>
                <a:sym typeface="Calibri"/>
              </a:endParaRPr>
            </a:p>
          </p:txBody>
        </p:sp>
      </p:grpSp>
      <p:sp>
        <p:nvSpPr>
          <p:cNvPr id="1072" name="Google Shape;1072;p83"/>
          <p:cNvSpPr txBox="1"/>
          <p:nvPr/>
        </p:nvSpPr>
        <p:spPr>
          <a:xfrm>
            <a:off x="7547875" y="1392148"/>
            <a:ext cx="1238100" cy="3648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 (root)</a:t>
            </a:r>
            <a:endParaRPr>
              <a:latin typeface="Courier New"/>
              <a:ea typeface="Courier New"/>
              <a:cs typeface="Courier New"/>
              <a:sym typeface="Courier New"/>
            </a:endParaRPr>
          </a:p>
        </p:txBody>
      </p:sp>
      <p:sp>
        <p:nvSpPr>
          <p:cNvPr id="1073" name="Google Shape;1073;p83"/>
          <p:cNvSpPr txBox="1"/>
          <p:nvPr/>
        </p:nvSpPr>
        <p:spPr>
          <a:xfrm>
            <a:off x="7832713" y="2411252"/>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.com</a:t>
            </a:r>
            <a:endParaRPr>
              <a:latin typeface="Calibri"/>
              <a:ea typeface="Calibri"/>
              <a:cs typeface="Calibri"/>
              <a:sym typeface="Calibri"/>
            </a:endParaRPr>
          </a:p>
        </p:txBody>
      </p:sp>
      <p:sp>
        <p:nvSpPr>
          <p:cNvPr id="1074" name="Google Shape;1074;p83"/>
          <p:cNvSpPr txBox="1"/>
          <p:nvPr/>
        </p:nvSpPr>
        <p:spPr>
          <a:xfrm>
            <a:off x="7518763" y="3357750"/>
            <a:ext cx="12963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google.com</a:t>
            </a:r>
            <a:endParaRPr sz="1200">
              <a:latin typeface="Calibri"/>
              <a:ea typeface="Calibri"/>
              <a:cs typeface="Calibri"/>
              <a:sym typeface="Calibri"/>
            </a:endParaRPr>
          </a:p>
        </p:txBody>
      </p:sp>
      <p:cxnSp>
        <p:nvCxnSpPr>
          <p:cNvPr id="1075" name="Google Shape;1075;p83"/>
          <p:cNvCxnSpPr>
            <a:stCxn id="1072" idx="2"/>
            <a:endCxn id="1073" idx="0"/>
          </p:cNvCxnSpPr>
          <p:nvPr/>
        </p:nvCxnSpPr>
        <p:spPr>
          <a:xfrm>
            <a:off x="8166925" y="1756948"/>
            <a:ext cx="0" cy="654300"/>
          </a:xfrm>
          <a:prstGeom prst="straightConnector1">
            <a:avLst/>
          </a:prstGeom>
          <a:noFill/>
          <a:ln cap="flat" cmpd="sng" w="9525">
            <a:solidFill>
              <a:srgbClr val="000000"/>
            </a:solidFill>
            <a:prstDash val="solid"/>
            <a:round/>
            <a:headEnd len="med" w="med" type="none"/>
            <a:tailEnd len="med" w="med" type="none"/>
          </a:ln>
        </p:spPr>
      </p:cxnSp>
      <p:cxnSp>
        <p:nvCxnSpPr>
          <p:cNvPr id="1076" name="Google Shape;1076;p83"/>
          <p:cNvCxnSpPr>
            <a:stCxn id="1073" idx="2"/>
            <a:endCxn id="1074" idx="0"/>
          </p:cNvCxnSpPr>
          <p:nvPr/>
        </p:nvCxnSpPr>
        <p:spPr>
          <a:xfrm>
            <a:off x="8166913" y="2804852"/>
            <a:ext cx="0" cy="552900"/>
          </a:xfrm>
          <a:prstGeom prst="straightConnector1">
            <a:avLst/>
          </a:prstGeom>
          <a:noFill/>
          <a:ln cap="flat" cmpd="sng" w="9525">
            <a:solidFill>
              <a:srgbClr val="000000"/>
            </a:solidFill>
            <a:prstDash val="solid"/>
            <a:round/>
            <a:headEnd len="med" w="med" type="none"/>
            <a:tailEnd len="med" w="med" type="none"/>
          </a:ln>
        </p:spPr>
      </p:cxnSp>
      <p:sp>
        <p:nvSpPr>
          <p:cNvPr id="1077" name="Google Shape;1077;p83"/>
          <p:cNvSpPr txBox="1"/>
          <p:nvPr/>
        </p:nvSpPr>
        <p:spPr>
          <a:xfrm>
            <a:off x="3457000" y="3862025"/>
            <a:ext cx="3696300" cy="546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t>“What is the IP address of </a:t>
            </a:r>
            <a:r>
              <a:rPr b="1" lang="en" sz="1200">
                <a:latin typeface="Courier New"/>
                <a:ea typeface="Courier New"/>
                <a:cs typeface="Courier New"/>
                <a:sym typeface="Courier New"/>
              </a:rPr>
              <a:t>fake1.google.com</a:t>
            </a:r>
            <a:r>
              <a:rPr lang="en" sz="1200"/>
              <a:t>? </a:t>
            </a:r>
            <a:r>
              <a:rPr lang="en" sz="1200">
                <a:solidFill>
                  <a:schemeClr val="dk1"/>
                </a:solidFill>
              </a:rPr>
              <a:t>This request has ID </a:t>
            </a:r>
            <a:r>
              <a:rPr lang="en" sz="1200">
                <a:solidFill>
                  <a:schemeClr val="dk1"/>
                </a:solidFill>
              </a:rPr>
              <a:t>774</a:t>
            </a:r>
            <a:r>
              <a:rPr lang="en" sz="1200">
                <a:solidFill>
                  <a:schemeClr val="dk1"/>
                </a:solidFill>
              </a:rPr>
              <a:t>.”</a:t>
            </a:r>
            <a:endParaRPr sz="1200"/>
          </a:p>
        </p:txBody>
      </p:sp>
      <p:grpSp>
        <p:nvGrpSpPr>
          <p:cNvPr id="1078" name="Google Shape;1078;p83"/>
          <p:cNvGrpSpPr/>
          <p:nvPr/>
        </p:nvGrpSpPr>
        <p:grpSpPr>
          <a:xfrm rot="-287833">
            <a:off x="3307445" y="3170211"/>
            <a:ext cx="4212902" cy="516546"/>
            <a:chOff x="932127" y="3739221"/>
            <a:chExt cx="4073100" cy="591629"/>
          </a:xfrm>
        </p:grpSpPr>
        <p:cxnSp>
          <p:nvCxnSpPr>
            <p:cNvPr id="1079" name="Google Shape;1079;p83"/>
            <p:cNvCxnSpPr/>
            <p:nvPr/>
          </p:nvCxnSpPr>
          <p:spPr>
            <a:xfrm>
              <a:off x="932127" y="4059050"/>
              <a:ext cx="4073100" cy="271800"/>
            </a:xfrm>
            <a:prstGeom prst="straightConnector1">
              <a:avLst/>
            </a:prstGeom>
            <a:noFill/>
            <a:ln cap="flat" cmpd="sng" w="19050">
              <a:solidFill>
                <a:srgbClr val="000000"/>
              </a:solidFill>
              <a:prstDash val="solid"/>
              <a:round/>
              <a:headEnd len="med" w="med" type="none"/>
              <a:tailEnd len="med" w="med" type="triangle"/>
            </a:ln>
          </p:spPr>
        </p:cxnSp>
        <p:sp>
          <p:nvSpPr>
            <p:cNvPr id="1080" name="Google Shape;1080;p83"/>
            <p:cNvSpPr txBox="1"/>
            <p:nvPr/>
          </p:nvSpPr>
          <p:spPr>
            <a:xfrm>
              <a:off x="1758300" y="3739221"/>
              <a:ext cx="410100" cy="44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6</a:t>
              </a:r>
              <a:endParaRPr>
                <a:latin typeface="Calibri"/>
                <a:ea typeface="Calibri"/>
                <a:cs typeface="Calibri"/>
                <a:sym typeface="Calibri"/>
              </a:endParaRPr>
            </a:p>
          </p:txBody>
        </p:sp>
      </p:grpSp>
      <p:pic>
        <p:nvPicPr>
          <p:cNvPr id="1081" name="Google Shape;1081;p83"/>
          <p:cNvPicPr preferRelativeResize="0"/>
          <p:nvPr/>
        </p:nvPicPr>
        <p:blipFill rotWithShape="1">
          <a:blip r:embed="rId4">
            <a:alphaModFix/>
          </a:blip>
          <a:srcRect b="65159" l="10446" r="69908" t="13697"/>
          <a:stretch/>
        </p:blipFill>
        <p:spPr>
          <a:xfrm>
            <a:off x="7841463" y="4405638"/>
            <a:ext cx="650926" cy="700636"/>
          </a:xfrm>
          <a:prstGeom prst="rect">
            <a:avLst/>
          </a:prstGeom>
          <a:noFill/>
          <a:ln>
            <a:noFill/>
          </a:ln>
        </p:spPr>
      </p:pic>
      <p:sp>
        <p:nvSpPr>
          <p:cNvPr id="1082" name="Google Shape;1082;p8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Kaminsky Attack: Example</a:t>
            </a:r>
            <a:endParaRPr/>
          </a:p>
        </p:txBody>
      </p:sp>
      <p:grpSp>
        <p:nvGrpSpPr>
          <p:cNvPr id="1083" name="Google Shape;1083;p83"/>
          <p:cNvGrpSpPr/>
          <p:nvPr/>
        </p:nvGrpSpPr>
        <p:grpSpPr>
          <a:xfrm>
            <a:off x="769875" y="1617199"/>
            <a:ext cx="410100" cy="572709"/>
            <a:chOff x="258935" y="2049228"/>
            <a:chExt cx="410100" cy="762900"/>
          </a:xfrm>
        </p:grpSpPr>
        <p:sp>
          <p:nvSpPr>
            <p:cNvPr id="1084" name="Google Shape;1084;p83"/>
            <p:cNvSpPr txBox="1"/>
            <p:nvPr/>
          </p:nvSpPr>
          <p:spPr>
            <a:xfrm>
              <a:off x="258935" y="2174852"/>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1</a:t>
              </a:r>
              <a:endParaRPr>
                <a:solidFill>
                  <a:srgbClr val="9E9E9E"/>
                </a:solidFill>
                <a:latin typeface="Calibri"/>
                <a:ea typeface="Calibri"/>
                <a:cs typeface="Calibri"/>
                <a:sym typeface="Calibri"/>
              </a:endParaRPr>
            </a:p>
          </p:txBody>
        </p:sp>
        <p:cxnSp>
          <p:nvCxnSpPr>
            <p:cNvPr id="1085" name="Google Shape;1085;p83"/>
            <p:cNvCxnSpPr/>
            <p:nvPr/>
          </p:nvCxnSpPr>
          <p:spPr>
            <a:xfrm rot="10800000">
              <a:off x="530725" y="2049228"/>
              <a:ext cx="0" cy="762900"/>
            </a:xfrm>
            <a:prstGeom prst="straightConnector1">
              <a:avLst/>
            </a:prstGeom>
            <a:noFill/>
            <a:ln cap="flat" cmpd="sng" w="19050">
              <a:solidFill>
                <a:srgbClr val="9E9E9E"/>
              </a:solidFill>
              <a:prstDash val="solid"/>
              <a:round/>
              <a:headEnd len="med" w="med" type="triangle"/>
              <a:tailEnd len="med" w="med" type="none"/>
            </a:ln>
          </p:spPr>
        </p:cxnSp>
      </p:grpSp>
      <p:grpSp>
        <p:nvGrpSpPr>
          <p:cNvPr id="1086" name="Google Shape;1086;p83"/>
          <p:cNvGrpSpPr/>
          <p:nvPr/>
        </p:nvGrpSpPr>
        <p:grpSpPr>
          <a:xfrm rot="-746418">
            <a:off x="3247846" y="1651999"/>
            <a:ext cx="4332671" cy="599908"/>
            <a:chOff x="812025" y="676049"/>
            <a:chExt cx="5609100" cy="3517200"/>
          </a:xfrm>
        </p:grpSpPr>
        <p:cxnSp>
          <p:nvCxnSpPr>
            <p:cNvPr id="1087" name="Google Shape;1087;p83"/>
            <p:cNvCxnSpPr/>
            <p:nvPr/>
          </p:nvCxnSpPr>
          <p:spPr>
            <a:xfrm flipH="1" rot="10800000">
              <a:off x="812025" y="2279674"/>
              <a:ext cx="5609100" cy="656100"/>
            </a:xfrm>
            <a:prstGeom prst="straightConnector1">
              <a:avLst/>
            </a:prstGeom>
            <a:noFill/>
            <a:ln cap="flat" cmpd="sng" w="19050">
              <a:solidFill>
                <a:srgbClr val="9E9E9E"/>
              </a:solidFill>
              <a:prstDash val="solid"/>
              <a:round/>
              <a:headEnd len="med" w="med" type="none"/>
              <a:tailEnd len="med" w="med" type="triangle"/>
            </a:ln>
          </p:spPr>
        </p:cxnSp>
        <p:sp>
          <p:nvSpPr>
            <p:cNvPr id="1088" name="Google Shape;1088;p83"/>
            <p:cNvSpPr txBox="1"/>
            <p:nvPr/>
          </p:nvSpPr>
          <p:spPr>
            <a:xfrm>
              <a:off x="1983444" y="676049"/>
              <a:ext cx="410100" cy="351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2</a:t>
              </a:r>
              <a:endParaRPr>
                <a:solidFill>
                  <a:srgbClr val="9E9E9E"/>
                </a:solidFill>
                <a:latin typeface="Calibri"/>
                <a:ea typeface="Calibri"/>
                <a:cs typeface="Calibri"/>
                <a:sym typeface="Calibri"/>
              </a:endParaRPr>
            </a:p>
          </p:txBody>
        </p:sp>
      </p:grpSp>
      <p:grpSp>
        <p:nvGrpSpPr>
          <p:cNvPr id="1089" name="Google Shape;1089;p83"/>
          <p:cNvGrpSpPr/>
          <p:nvPr/>
        </p:nvGrpSpPr>
        <p:grpSpPr>
          <a:xfrm rot="-497457">
            <a:off x="3255496" y="1882108"/>
            <a:ext cx="4379928" cy="602045"/>
            <a:chOff x="812025" y="2400972"/>
            <a:chExt cx="5609100" cy="808872"/>
          </a:xfrm>
        </p:grpSpPr>
        <p:cxnSp>
          <p:nvCxnSpPr>
            <p:cNvPr id="1090" name="Google Shape;1090;p83"/>
            <p:cNvCxnSpPr/>
            <p:nvPr/>
          </p:nvCxnSpPr>
          <p:spPr>
            <a:xfrm flipH="1" rot="10800000">
              <a:off x="812025" y="2400972"/>
              <a:ext cx="5609100" cy="656100"/>
            </a:xfrm>
            <a:prstGeom prst="straightConnector1">
              <a:avLst/>
            </a:prstGeom>
            <a:noFill/>
            <a:ln cap="flat" cmpd="sng" w="19050">
              <a:solidFill>
                <a:srgbClr val="9E9E9E"/>
              </a:solidFill>
              <a:prstDash val="solid"/>
              <a:round/>
              <a:headEnd len="med" w="med" type="triangle"/>
              <a:tailEnd len="med" w="med" type="none"/>
            </a:ln>
          </p:spPr>
        </p:cxnSp>
        <p:sp>
          <p:nvSpPr>
            <p:cNvPr id="1091" name="Google Shape;1091;p83"/>
            <p:cNvSpPr txBox="1"/>
            <p:nvPr/>
          </p:nvSpPr>
          <p:spPr>
            <a:xfrm>
              <a:off x="2046705" y="2813245"/>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3</a:t>
              </a:r>
              <a:endParaRPr>
                <a:solidFill>
                  <a:srgbClr val="9E9E9E"/>
                </a:solidFill>
                <a:latin typeface="Calibri"/>
                <a:ea typeface="Calibri"/>
                <a:cs typeface="Calibri"/>
                <a:sym typeface="Calibri"/>
              </a:endParaRPr>
            </a:p>
          </p:txBody>
        </p:sp>
      </p:grpSp>
      <p:sp>
        <p:nvSpPr>
          <p:cNvPr id="1092" name="Google Shape;1092;p83"/>
          <p:cNvSpPr txBox="1"/>
          <p:nvPr/>
        </p:nvSpPr>
        <p:spPr>
          <a:xfrm>
            <a:off x="3867850" y="2672740"/>
            <a:ext cx="225000" cy="36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4</a:t>
            </a:r>
            <a:endParaRPr>
              <a:solidFill>
                <a:srgbClr val="9E9E9E"/>
              </a:solidFill>
              <a:latin typeface="Calibri"/>
              <a:ea typeface="Calibri"/>
              <a:cs typeface="Calibri"/>
              <a:sym typeface="Calibri"/>
            </a:endParaRPr>
          </a:p>
        </p:txBody>
      </p:sp>
      <p:cxnSp>
        <p:nvCxnSpPr>
          <p:cNvPr id="1093" name="Google Shape;1093;p83"/>
          <p:cNvCxnSpPr/>
          <p:nvPr/>
        </p:nvCxnSpPr>
        <p:spPr>
          <a:xfrm flipH="1" rot="10462490">
            <a:off x="3290233" y="2728001"/>
            <a:ext cx="4544987" cy="112121"/>
          </a:xfrm>
          <a:prstGeom prst="straightConnector1">
            <a:avLst/>
          </a:prstGeom>
          <a:noFill/>
          <a:ln cap="flat" cmpd="sng" w="19050">
            <a:solidFill>
              <a:srgbClr val="9E9E9E"/>
            </a:solidFill>
            <a:prstDash val="solid"/>
            <a:round/>
            <a:headEnd len="med" w="med" type="none"/>
            <a:tailEnd len="med" w="med" type="triangle"/>
          </a:ln>
        </p:spPr>
      </p:cxn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sp>
        <p:nvSpPr>
          <p:cNvPr id="1098" name="Google Shape;1098;p84"/>
          <p:cNvSpPr/>
          <p:nvPr/>
        </p:nvSpPr>
        <p:spPr>
          <a:xfrm>
            <a:off x="142425" y="2190750"/>
            <a:ext cx="3150600" cy="2866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84"/>
          <p:cNvSpPr txBox="1"/>
          <p:nvPr/>
        </p:nvSpPr>
        <p:spPr>
          <a:xfrm>
            <a:off x="555325" y="1223675"/>
            <a:ext cx="1642800" cy="3936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Stub Resolver</a:t>
            </a:r>
            <a:endParaRPr>
              <a:latin typeface="Calibri"/>
              <a:ea typeface="Calibri"/>
              <a:cs typeface="Calibri"/>
              <a:sym typeface="Calibri"/>
            </a:endParaRPr>
          </a:p>
        </p:txBody>
      </p:sp>
      <p:sp>
        <p:nvSpPr>
          <p:cNvPr id="1100" name="Google Shape;1100;p84"/>
          <p:cNvSpPr txBox="1"/>
          <p:nvPr/>
        </p:nvSpPr>
        <p:spPr>
          <a:xfrm>
            <a:off x="226125" y="2279151"/>
            <a:ext cx="29832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Recursive Resolver</a:t>
            </a:r>
            <a:endParaRPr>
              <a:latin typeface="Calibri"/>
              <a:ea typeface="Calibri"/>
              <a:cs typeface="Calibri"/>
              <a:sym typeface="Calibri"/>
            </a:endParaRPr>
          </a:p>
        </p:txBody>
      </p:sp>
      <p:pic>
        <p:nvPicPr>
          <p:cNvPr id="1101" name="Google Shape;1101;p84"/>
          <p:cNvPicPr preferRelativeResize="0"/>
          <p:nvPr/>
        </p:nvPicPr>
        <p:blipFill rotWithShape="1">
          <a:blip r:embed="rId3">
            <a:alphaModFix/>
          </a:blip>
          <a:srcRect b="57590" l="5310" r="80092" t="16627"/>
          <a:stretch/>
        </p:blipFill>
        <p:spPr>
          <a:xfrm>
            <a:off x="0" y="1144185"/>
            <a:ext cx="495580" cy="552599"/>
          </a:xfrm>
          <a:prstGeom prst="rect">
            <a:avLst/>
          </a:prstGeom>
          <a:noFill/>
          <a:ln>
            <a:noFill/>
          </a:ln>
        </p:spPr>
      </p:pic>
      <p:graphicFrame>
        <p:nvGraphicFramePr>
          <p:cNvPr id="1102" name="Google Shape;1102;p84"/>
          <p:cNvGraphicFramePr/>
          <p:nvPr/>
        </p:nvGraphicFramePr>
        <p:xfrm>
          <a:off x="226125" y="2672750"/>
          <a:ext cx="3000000" cy="3000000"/>
        </p:xfrm>
        <a:graphic>
          <a:graphicData uri="http://schemas.openxmlformats.org/drawingml/2006/table">
            <a:tbl>
              <a:tblPr>
                <a:noFill/>
                <a:tableStyleId>{8746E7DE-0C9E-4540-9031-B6CDA728326B}</a:tableStyleId>
              </a:tblPr>
              <a:tblGrid>
                <a:gridCol w="1491575"/>
                <a:gridCol w="1491575"/>
              </a:tblGrid>
              <a:tr h="347850">
                <a:tc gridSpan="2">
                  <a:txBody>
                    <a:bodyPr/>
                    <a:lstStyle/>
                    <a:p>
                      <a:pPr indent="0" lvl="0" marL="0" rtl="0" algn="ctr">
                        <a:spcBef>
                          <a:spcPts val="0"/>
                        </a:spcBef>
                        <a:spcAft>
                          <a:spcPts val="0"/>
                        </a:spcAft>
                        <a:buNone/>
                      </a:pPr>
                      <a:r>
                        <a:rPr lang="en" sz="1100">
                          <a:latin typeface="Courier New"/>
                          <a:ea typeface="Courier New"/>
                          <a:cs typeface="Courier New"/>
                          <a:sym typeface="Courier New"/>
                        </a:rPr>
                        <a:t>Recursive Resolver Cache</a:t>
                      </a:r>
                      <a:endParaRPr sz="1100">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solidFill>
                      <a:schemeClr val="lt1"/>
                    </a:solidFill>
                  </a:tcPr>
                </a:tc>
                <a:tc hMerge="1"/>
              </a:tr>
              <a:tr h="317600">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a.gtld-servers.net.</a:t>
                      </a:r>
                      <a:endParaRPr sz="900">
                        <a:solidFill>
                          <a:schemeClr val="dk1"/>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192.5.6.30</a:t>
                      </a:r>
                      <a:endParaRPr sz="900">
                        <a:solidFill>
                          <a:schemeClr val="dk1"/>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17600">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ns1.google.com.</a:t>
                      </a:r>
                      <a:endParaRPr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216.239.32.10</a:t>
                      </a:r>
                      <a:endParaRPr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17600">
                <a:tc>
                  <a:txBody>
                    <a:bodyPr/>
                    <a:lstStyle/>
                    <a:p>
                      <a:pPr indent="0" lvl="0" marL="0" rtl="0" algn="l">
                        <a:lnSpc>
                          <a:spcPct val="115000"/>
                        </a:lnSpc>
                        <a:spcBef>
                          <a:spcPts val="0"/>
                        </a:spcBef>
                        <a:spcAft>
                          <a:spcPts val="0"/>
                        </a:spcAft>
                        <a:buNone/>
                      </a:pPr>
                      <a:r>
                        <a:t/>
                      </a:r>
                      <a:endParaRPr b="1"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t/>
                      </a:r>
                      <a:endParaRPr b="1"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bl>
          </a:graphicData>
        </a:graphic>
      </p:graphicFrame>
      <p:sp>
        <p:nvSpPr>
          <p:cNvPr id="1103" name="Google Shape;1103;p8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104" name="Google Shape;1104;p84"/>
          <p:cNvSpPr txBox="1"/>
          <p:nvPr/>
        </p:nvSpPr>
        <p:spPr>
          <a:xfrm>
            <a:off x="7547875" y="1392148"/>
            <a:ext cx="1238100" cy="3648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 (root)</a:t>
            </a:r>
            <a:endParaRPr>
              <a:latin typeface="Courier New"/>
              <a:ea typeface="Courier New"/>
              <a:cs typeface="Courier New"/>
              <a:sym typeface="Courier New"/>
            </a:endParaRPr>
          </a:p>
        </p:txBody>
      </p:sp>
      <p:sp>
        <p:nvSpPr>
          <p:cNvPr id="1105" name="Google Shape;1105;p84"/>
          <p:cNvSpPr txBox="1"/>
          <p:nvPr/>
        </p:nvSpPr>
        <p:spPr>
          <a:xfrm>
            <a:off x="7832713" y="2411252"/>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.com</a:t>
            </a:r>
            <a:endParaRPr>
              <a:latin typeface="Calibri"/>
              <a:ea typeface="Calibri"/>
              <a:cs typeface="Calibri"/>
              <a:sym typeface="Calibri"/>
            </a:endParaRPr>
          </a:p>
        </p:txBody>
      </p:sp>
      <p:sp>
        <p:nvSpPr>
          <p:cNvPr id="1106" name="Google Shape;1106;p84"/>
          <p:cNvSpPr txBox="1"/>
          <p:nvPr/>
        </p:nvSpPr>
        <p:spPr>
          <a:xfrm>
            <a:off x="7518763" y="3357750"/>
            <a:ext cx="12963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google.com</a:t>
            </a:r>
            <a:endParaRPr sz="1200">
              <a:latin typeface="Calibri"/>
              <a:ea typeface="Calibri"/>
              <a:cs typeface="Calibri"/>
              <a:sym typeface="Calibri"/>
            </a:endParaRPr>
          </a:p>
        </p:txBody>
      </p:sp>
      <p:cxnSp>
        <p:nvCxnSpPr>
          <p:cNvPr id="1107" name="Google Shape;1107;p84"/>
          <p:cNvCxnSpPr>
            <a:stCxn id="1104" idx="2"/>
            <a:endCxn id="1105" idx="0"/>
          </p:cNvCxnSpPr>
          <p:nvPr/>
        </p:nvCxnSpPr>
        <p:spPr>
          <a:xfrm>
            <a:off x="8166925" y="1756948"/>
            <a:ext cx="0" cy="654300"/>
          </a:xfrm>
          <a:prstGeom prst="straightConnector1">
            <a:avLst/>
          </a:prstGeom>
          <a:noFill/>
          <a:ln cap="flat" cmpd="sng" w="9525">
            <a:solidFill>
              <a:srgbClr val="000000"/>
            </a:solidFill>
            <a:prstDash val="solid"/>
            <a:round/>
            <a:headEnd len="med" w="med" type="none"/>
            <a:tailEnd len="med" w="med" type="none"/>
          </a:ln>
        </p:spPr>
      </p:cxnSp>
      <p:cxnSp>
        <p:nvCxnSpPr>
          <p:cNvPr id="1108" name="Google Shape;1108;p84"/>
          <p:cNvCxnSpPr>
            <a:stCxn id="1105" idx="2"/>
            <a:endCxn id="1106" idx="0"/>
          </p:cNvCxnSpPr>
          <p:nvPr/>
        </p:nvCxnSpPr>
        <p:spPr>
          <a:xfrm>
            <a:off x="8166913" y="2804852"/>
            <a:ext cx="0" cy="552900"/>
          </a:xfrm>
          <a:prstGeom prst="straightConnector1">
            <a:avLst/>
          </a:prstGeom>
          <a:noFill/>
          <a:ln cap="flat" cmpd="sng" w="9525">
            <a:solidFill>
              <a:srgbClr val="000000"/>
            </a:solidFill>
            <a:prstDash val="solid"/>
            <a:round/>
            <a:headEnd len="med" w="med" type="none"/>
            <a:tailEnd len="med" w="med" type="none"/>
          </a:ln>
        </p:spPr>
      </p:cxnSp>
      <p:grpSp>
        <p:nvGrpSpPr>
          <p:cNvPr id="1109" name="Google Shape;1109;p84"/>
          <p:cNvGrpSpPr/>
          <p:nvPr/>
        </p:nvGrpSpPr>
        <p:grpSpPr>
          <a:xfrm rot="-287833">
            <a:off x="3307445" y="3170211"/>
            <a:ext cx="4212902" cy="516546"/>
            <a:chOff x="932127" y="3739221"/>
            <a:chExt cx="4073100" cy="591629"/>
          </a:xfrm>
        </p:grpSpPr>
        <p:cxnSp>
          <p:nvCxnSpPr>
            <p:cNvPr id="1110" name="Google Shape;1110;p84"/>
            <p:cNvCxnSpPr/>
            <p:nvPr/>
          </p:nvCxnSpPr>
          <p:spPr>
            <a:xfrm>
              <a:off x="932127" y="4059050"/>
              <a:ext cx="4073100" cy="271800"/>
            </a:xfrm>
            <a:prstGeom prst="straightConnector1">
              <a:avLst/>
            </a:prstGeom>
            <a:noFill/>
            <a:ln cap="flat" cmpd="sng" w="19050">
              <a:solidFill>
                <a:srgbClr val="9E9E9E"/>
              </a:solidFill>
              <a:prstDash val="solid"/>
              <a:round/>
              <a:headEnd len="med" w="med" type="none"/>
              <a:tailEnd len="med" w="med" type="triangle"/>
            </a:ln>
          </p:spPr>
        </p:cxnSp>
        <p:sp>
          <p:nvSpPr>
            <p:cNvPr id="1111" name="Google Shape;1111;p84"/>
            <p:cNvSpPr txBox="1"/>
            <p:nvPr/>
          </p:nvSpPr>
          <p:spPr>
            <a:xfrm>
              <a:off x="1758300" y="3739221"/>
              <a:ext cx="410100" cy="44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6</a:t>
              </a:r>
              <a:endParaRPr>
                <a:solidFill>
                  <a:srgbClr val="9E9E9E"/>
                </a:solidFill>
                <a:latin typeface="Calibri"/>
                <a:ea typeface="Calibri"/>
                <a:cs typeface="Calibri"/>
                <a:sym typeface="Calibri"/>
              </a:endParaRPr>
            </a:p>
          </p:txBody>
        </p:sp>
      </p:grpSp>
      <p:grpSp>
        <p:nvGrpSpPr>
          <p:cNvPr id="1112" name="Google Shape;1112;p84"/>
          <p:cNvGrpSpPr/>
          <p:nvPr/>
        </p:nvGrpSpPr>
        <p:grpSpPr>
          <a:xfrm rot="-437739">
            <a:off x="4423354" y="3334787"/>
            <a:ext cx="3067625" cy="465803"/>
            <a:chOff x="448278" y="3986883"/>
            <a:chExt cx="4436847" cy="465799"/>
          </a:xfrm>
        </p:grpSpPr>
        <p:cxnSp>
          <p:nvCxnSpPr>
            <p:cNvPr id="1113" name="Google Shape;1113;p84"/>
            <p:cNvCxnSpPr/>
            <p:nvPr/>
          </p:nvCxnSpPr>
          <p:spPr>
            <a:xfrm>
              <a:off x="812025" y="4180882"/>
              <a:ext cx="4073100" cy="271800"/>
            </a:xfrm>
            <a:prstGeom prst="straightConnector1">
              <a:avLst/>
            </a:prstGeom>
            <a:noFill/>
            <a:ln cap="flat" cmpd="sng" w="19050">
              <a:solidFill>
                <a:srgbClr val="000000"/>
              </a:solidFill>
              <a:prstDash val="solid"/>
              <a:round/>
              <a:headEnd len="med" w="med" type="triangle"/>
              <a:tailEnd len="med" w="med" type="none"/>
            </a:ln>
          </p:spPr>
        </p:cxnSp>
        <p:sp>
          <p:nvSpPr>
            <p:cNvPr id="1114" name="Google Shape;1114;p84"/>
            <p:cNvSpPr txBox="1"/>
            <p:nvPr/>
          </p:nvSpPr>
          <p:spPr>
            <a:xfrm>
              <a:off x="448278" y="3986883"/>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7</a:t>
              </a:r>
              <a:endParaRPr>
                <a:latin typeface="Calibri"/>
                <a:ea typeface="Calibri"/>
                <a:cs typeface="Calibri"/>
                <a:sym typeface="Calibri"/>
              </a:endParaRPr>
            </a:p>
          </p:txBody>
        </p:sp>
      </p:grpSp>
      <p:pic>
        <p:nvPicPr>
          <p:cNvPr id="1115" name="Google Shape;1115;p84"/>
          <p:cNvPicPr preferRelativeResize="0"/>
          <p:nvPr/>
        </p:nvPicPr>
        <p:blipFill rotWithShape="1">
          <a:blip r:embed="rId4">
            <a:alphaModFix/>
          </a:blip>
          <a:srcRect b="65159" l="10446" r="69908" t="13697"/>
          <a:stretch/>
        </p:blipFill>
        <p:spPr>
          <a:xfrm>
            <a:off x="7841463" y="4405638"/>
            <a:ext cx="650926" cy="700636"/>
          </a:xfrm>
          <a:prstGeom prst="rect">
            <a:avLst/>
          </a:prstGeom>
          <a:noFill/>
          <a:ln>
            <a:noFill/>
          </a:ln>
        </p:spPr>
      </p:pic>
      <p:grpSp>
        <p:nvGrpSpPr>
          <p:cNvPr id="1116" name="Google Shape;1116;p84"/>
          <p:cNvGrpSpPr/>
          <p:nvPr/>
        </p:nvGrpSpPr>
        <p:grpSpPr>
          <a:xfrm rot="-257537">
            <a:off x="4287925" y="4754920"/>
            <a:ext cx="3531916" cy="396604"/>
            <a:chOff x="812025" y="4154725"/>
            <a:chExt cx="4073100" cy="396600"/>
          </a:xfrm>
        </p:grpSpPr>
        <p:cxnSp>
          <p:nvCxnSpPr>
            <p:cNvPr id="1117" name="Google Shape;1117;p84"/>
            <p:cNvCxnSpPr/>
            <p:nvPr/>
          </p:nvCxnSpPr>
          <p:spPr>
            <a:xfrm>
              <a:off x="812025" y="4180882"/>
              <a:ext cx="4073100" cy="271800"/>
            </a:xfrm>
            <a:prstGeom prst="straightConnector1">
              <a:avLst/>
            </a:prstGeom>
            <a:noFill/>
            <a:ln cap="flat" cmpd="sng" w="19050">
              <a:solidFill>
                <a:srgbClr val="FF0000"/>
              </a:solidFill>
              <a:prstDash val="solid"/>
              <a:round/>
              <a:headEnd len="med" w="med" type="triangle"/>
              <a:tailEnd len="med" w="med" type="none"/>
            </a:ln>
          </p:spPr>
        </p:cxnSp>
        <p:sp>
          <p:nvSpPr>
            <p:cNvPr id="1118" name="Google Shape;1118;p84"/>
            <p:cNvSpPr txBox="1"/>
            <p:nvPr/>
          </p:nvSpPr>
          <p:spPr>
            <a:xfrm>
              <a:off x="1758306" y="4154725"/>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7</a:t>
              </a:r>
              <a:endParaRPr>
                <a:latin typeface="Calibri"/>
                <a:ea typeface="Calibri"/>
                <a:cs typeface="Calibri"/>
                <a:sym typeface="Calibri"/>
              </a:endParaRPr>
            </a:p>
          </p:txBody>
        </p:sp>
      </p:grpSp>
      <p:sp>
        <p:nvSpPr>
          <p:cNvPr id="1119" name="Google Shape;1119;p8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Kaminsky Attack: Example</a:t>
            </a:r>
            <a:endParaRPr/>
          </a:p>
        </p:txBody>
      </p:sp>
      <p:grpSp>
        <p:nvGrpSpPr>
          <p:cNvPr id="1120" name="Google Shape;1120;p84"/>
          <p:cNvGrpSpPr/>
          <p:nvPr/>
        </p:nvGrpSpPr>
        <p:grpSpPr>
          <a:xfrm>
            <a:off x="769875" y="1617199"/>
            <a:ext cx="410100" cy="572709"/>
            <a:chOff x="258935" y="2049228"/>
            <a:chExt cx="410100" cy="762900"/>
          </a:xfrm>
        </p:grpSpPr>
        <p:sp>
          <p:nvSpPr>
            <p:cNvPr id="1121" name="Google Shape;1121;p84"/>
            <p:cNvSpPr txBox="1"/>
            <p:nvPr/>
          </p:nvSpPr>
          <p:spPr>
            <a:xfrm>
              <a:off x="258935" y="2174852"/>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1</a:t>
              </a:r>
              <a:endParaRPr>
                <a:solidFill>
                  <a:srgbClr val="9E9E9E"/>
                </a:solidFill>
                <a:latin typeface="Calibri"/>
                <a:ea typeface="Calibri"/>
                <a:cs typeface="Calibri"/>
                <a:sym typeface="Calibri"/>
              </a:endParaRPr>
            </a:p>
          </p:txBody>
        </p:sp>
        <p:cxnSp>
          <p:nvCxnSpPr>
            <p:cNvPr id="1122" name="Google Shape;1122;p84"/>
            <p:cNvCxnSpPr/>
            <p:nvPr/>
          </p:nvCxnSpPr>
          <p:spPr>
            <a:xfrm rot="10800000">
              <a:off x="530725" y="2049228"/>
              <a:ext cx="0" cy="762900"/>
            </a:xfrm>
            <a:prstGeom prst="straightConnector1">
              <a:avLst/>
            </a:prstGeom>
            <a:noFill/>
            <a:ln cap="flat" cmpd="sng" w="19050">
              <a:solidFill>
                <a:srgbClr val="9E9E9E"/>
              </a:solidFill>
              <a:prstDash val="solid"/>
              <a:round/>
              <a:headEnd len="med" w="med" type="triangle"/>
              <a:tailEnd len="med" w="med" type="none"/>
            </a:ln>
          </p:spPr>
        </p:cxnSp>
      </p:grpSp>
      <p:grpSp>
        <p:nvGrpSpPr>
          <p:cNvPr id="1123" name="Google Shape;1123;p84"/>
          <p:cNvGrpSpPr/>
          <p:nvPr/>
        </p:nvGrpSpPr>
        <p:grpSpPr>
          <a:xfrm rot="-746418">
            <a:off x="3247846" y="1651999"/>
            <a:ext cx="4332671" cy="599908"/>
            <a:chOff x="812025" y="676049"/>
            <a:chExt cx="5609100" cy="3517200"/>
          </a:xfrm>
        </p:grpSpPr>
        <p:cxnSp>
          <p:nvCxnSpPr>
            <p:cNvPr id="1124" name="Google Shape;1124;p84"/>
            <p:cNvCxnSpPr/>
            <p:nvPr/>
          </p:nvCxnSpPr>
          <p:spPr>
            <a:xfrm flipH="1" rot="10800000">
              <a:off x="812025" y="2279674"/>
              <a:ext cx="5609100" cy="656100"/>
            </a:xfrm>
            <a:prstGeom prst="straightConnector1">
              <a:avLst/>
            </a:prstGeom>
            <a:noFill/>
            <a:ln cap="flat" cmpd="sng" w="19050">
              <a:solidFill>
                <a:srgbClr val="9E9E9E"/>
              </a:solidFill>
              <a:prstDash val="solid"/>
              <a:round/>
              <a:headEnd len="med" w="med" type="none"/>
              <a:tailEnd len="med" w="med" type="triangle"/>
            </a:ln>
          </p:spPr>
        </p:cxnSp>
        <p:sp>
          <p:nvSpPr>
            <p:cNvPr id="1125" name="Google Shape;1125;p84"/>
            <p:cNvSpPr txBox="1"/>
            <p:nvPr/>
          </p:nvSpPr>
          <p:spPr>
            <a:xfrm>
              <a:off x="1983444" y="676049"/>
              <a:ext cx="410100" cy="351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2</a:t>
              </a:r>
              <a:endParaRPr>
                <a:solidFill>
                  <a:srgbClr val="9E9E9E"/>
                </a:solidFill>
                <a:latin typeface="Calibri"/>
                <a:ea typeface="Calibri"/>
                <a:cs typeface="Calibri"/>
                <a:sym typeface="Calibri"/>
              </a:endParaRPr>
            </a:p>
          </p:txBody>
        </p:sp>
      </p:grpSp>
      <p:grpSp>
        <p:nvGrpSpPr>
          <p:cNvPr id="1126" name="Google Shape;1126;p84"/>
          <p:cNvGrpSpPr/>
          <p:nvPr/>
        </p:nvGrpSpPr>
        <p:grpSpPr>
          <a:xfrm rot="-497457">
            <a:off x="3255496" y="1882108"/>
            <a:ext cx="4379928" cy="602045"/>
            <a:chOff x="812025" y="2400972"/>
            <a:chExt cx="5609100" cy="808872"/>
          </a:xfrm>
        </p:grpSpPr>
        <p:cxnSp>
          <p:nvCxnSpPr>
            <p:cNvPr id="1127" name="Google Shape;1127;p84"/>
            <p:cNvCxnSpPr/>
            <p:nvPr/>
          </p:nvCxnSpPr>
          <p:spPr>
            <a:xfrm flipH="1" rot="10800000">
              <a:off x="812025" y="2400972"/>
              <a:ext cx="5609100" cy="656100"/>
            </a:xfrm>
            <a:prstGeom prst="straightConnector1">
              <a:avLst/>
            </a:prstGeom>
            <a:noFill/>
            <a:ln cap="flat" cmpd="sng" w="19050">
              <a:solidFill>
                <a:srgbClr val="9E9E9E"/>
              </a:solidFill>
              <a:prstDash val="solid"/>
              <a:round/>
              <a:headEnd len="med" w="med" type="triangle"/>
              <a:tailEnd len="med" w="med" type="none"/>
            </a:ln>
          </p:spPr>
        </p:cxnSp>
        <p:sp>
          <p:nvSpPr>
            <p:cNvPr id="1128" name="Google Shape;1128;p84"/>
            <p:cNvSpPr txBox="1"/>
            <p:nvPr/>
          </p:nvSpPr>
          <p:spPr>
            <a:xfrm>
              <a:off x="2046705" y="2813245"/>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3</a:t>
              </a:r>
              <a:endParaRPr>
                <a:solidFill>
                  <a:srgbClr val="9E9E9E"/>
                </a:solidFill>
                <a:latin typeface="Calibri"/>
                <a:ea typeface="Calibri"/>
                <a:cs typeface="Calibri"/>
                <a:sym typeface="Calibri"/>
              </a:endParaRPr>
            </a:p>
          </p:txBody>
        </p:sp>
      </p:grpSp>
      <p:sp>
        <p:nvSpPr>
          <p:cNvPr id="1129" name="Google Shape;1129;p84"/>
          <p:cNvSpPr txBox="1"/>
          <p:nvPr/>
        </p:nvSpPr>
        <p:spPr>
          <a:xfrm>
            <a:off x="2368775" y="1238075"/>
            <a:ext cx="4420500" cy="552600"/>
          </a:xfrm>
          <a:prstGeom prst="rect">
            <a:avLst/>
          </a:prstGeom>
          <a:solidFill>
            <a:srgbClr val="C9DAF8"/>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t>Let’s see what happens when Mallory correctly guesses the ID number and wins the race condition.</a:t>
            </a:r>
            <a:endParaRPr sz="1200"/>
          </a:p>
        </p:txBody>
      </p:sp>
      <p:sp>
        <p:nvSpPr>
          <p:cNvPr id="1130" name="Google Shape;1130;p84"/>
          <p:cNvSpPr txBox="1"/>
          <p:nvPr/>
        </p:nvSpPr>
        <p:spPr>
          <a:xfrm>
            <a:off x="3867850" y="2672740"/>
            <a:ext cx="225000" cy="36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4</a:t>
            </a:r>
            <a:endParaRPr>
              <a:solidFill>
                <a:srgbClr val="9E9E9E"/>
              </a:solidFill>
              <a:latin typeface="Calibri"/>
              <a:ea typeface="Calibri"/>
              <a:cs typeface="Calibri"/>
              <a:sym typeface="Calibri"/>
            </a:endParaRPr>
          </a:p>
        </p:txBody>
      </p:sp>
      <p:cxnSp>
        <p:nvCxnSpPr>
          <p:cNvPr id="1131" name="Google Shape;1131;p84"/>
          <p:cNvCxnSpPr/>
          <p:nvPr/>
        </p:nvCxnSpPr>
        <p:spPr>
          <a:xfrm flipH="1" rot="10462490">
            <a:off x="3290233" y="2728001"/>
            <a:ext cx="4544987" cy="112121"/>
          </a:xfrm>
          <a:prstGeom prst="straightConnector1">
            <a:avLst/>
          </a:prstGeom>
          <a:noFill/>
          <a:ln cap="flat" cmpd="sng" w="19050">
            <a:solidFill>
              <a:srgbClr val="9E9E9E"/>
            </a:solidFill>
            <a:prstDash val="solid"/>
            <a:round/>
            <a:headEnd len="med" w="med" type="none"/>
            <a:tailEnd len="med" w="med" type="triangle"/>
          </a:ln>
        </p:spPr>
      </p:cxnSp>
      <p:grpSp>
        <p:nvGrpSpPr>
          <p:cNvPr id="1132" name="Google Shape;1132;p84"/>
          <p:cNvGrpSpPr/>
          <p:nvPr/>
        </p:nvGrpSpPr>
        <p:grpSpPr>
          <a:xfrm rot="-254198">
            <a:off x="3294674" y="2878978"/>
            <a:ext cx="4536139" cy="275727"/>
            <a:chOff x="854584" y="3514625"/>
            <a:chExt cx="5116200" cy="493113"/>
          </a:xfrm>
        </p:grpSpPr>
        <p:cxnSp>
          <p:nvCxnSpPr>
            <p:cNvPr id="1133" name="Google Shape;1133;p84"/>
            <p:cNvCxnSpPr/>
            <p:nvPr/>
          </p:nvCxnSpPr>
          <p:spPr>
            <a:xfrm flipH="1" rot="10800000">
              <a:off x="854584" y="3514625"/>
              <a:ext cx="5116200" cy="249300"/>
            </a:xfrm>
            <a:prstGeom prst="straightConnector1">
              <a:avLst/>
            </a:prstGeom>
            <a:noFill/>
            <a:ln cap="flat" cmpd="sng" w="19050">
              <a:solidFill>
                <a:srgbClr val="9E9E9E"/>
              </a:solidFill>
              <a:prstDash val="solid"/>
              <a:round/>
              <a:headEnd len="med" w="med" type="triangle"/>
              <a:tailEnd len="med" w="med" type="none"/>
            </a:ln>
          </p:spPr>
        </p:cxnSp>
        <p:sp>
          <p:nvSpPr>
            <p:cNvPr id="1134" name="Google Shape;1134;p84"/>
            <p:cNvSpPr txBox="1"/>
            <p:nvPr/>
          </p:nvSpPr>
          <p:spPr>
            <a:xfrm>
              <a:off x="2113676" y="3611138"/>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5</a:t>
              </a:r>
              <a:endParaRPr>
                <a:solidFill>
                  <a:srgbClr val="9E9E9E"/>
                </a:solidFill>
                <a:latin typeface="Calibri"/>
                <a:ea typeface="Calibri"/>
                <a:cs typeface="Calibri"/>
                <a:sym typeface="Calibri"/>
              </a:endParaRPr>
            </a:p>
          </p:txBody>
        </p:sp>
      </p:grpSp>
      <p:sp>
        <p:nvSpPr>
          <p:cNvPr id="1135" name="Google Shape;1135;p84"/>
          <p:cNvSpPr txBox="1"/>
          <p:nvPr/>
        </p:nvSpPr>
        <p:spPr>
          <a:xfrm>
            <a:off x="2911875" y="3246075"/>
            <a:ext cx="4596300" cy="3648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t>“</a:t>
            </a:r>
            <a:r>
              <a:rPr b="1" lang="en" sz="1200">
                <a:latin typeface="Courier New"/>
                <a:ea typeface="Courier New"/>
                <a:cs typeface="Courier New"/>
                <a:sym typeface="Courier New"/>
              </a:rPr>
              <a:t>fake1.google.com </a:t>
            </a:r>
            <a:r>
              <a:rPr lang="en" sz="1200"/>
              <a:t>doesn’t exist! </a:t>
            </a:r>
            <a:r>
              <a:rPr lang="en" sz="1200">
                <a:solidFill>
                  <a:schemeClr val="dk1"/>
                </a:solidFill>
              </a:rPr>
              <a:t>This response has ID </a:t>
            </a:r>
            <a:r>
              <a:rPr b="1" lang="en" sz="1200">
                <a:solidFill>
                  <a:schemeClr val="dk1"/>
                </a:solidFill>
              </a:rPr>
              <a:t>774</a:t>
            </a:r>
            <a:r>
              <a:rPr lang="en" sz="1200">
                <a:solidFill>
                  <a:schemeClr val="dk1"/>
                </a:solidFill>
              </a:rPr>
              <a:t>.”</a:t>
            </a:r>
            <a:endParaRPr sz="1200"/>
          </a:p>
        </p:txBody>
      </p:sp>
      <p:sp>
        <p:nvSpPr>
          <p:cNvPr id="1136" name="Google Shape;1136;p84"/>
          <p:cNvSpPr txBox="1"/>
          <p:nvPr/>
        </p:nvSpPr>
        <p:spPr>
          <a:xfrm>
            <a:off x="3293788" y="3890425"/>
            <a:ext cx="4240800" cy="912000"/>
          </a:xfrm>
          <a:prstGeom prst="rect">
            <a:avLst/>
          </a:prstGeom>
          <a:solidFill>
            <a:srgbClr val="E06666"/>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rPr>
              <a:t>“I don’t know. But I have delegated authority to the </a:t>
            </a:r>
            <a:r>
              <a:rPr b="1" lang="en" sz="1200">
                <a:solidFill>
                  <a:schemeClr val="dk1"/>
                </a:solidFill>
                <a:latin typeface="Courier New"/>
                <a:ea typeface="Courier New"/>
                <a:cs typeface="Courier New"/>
                <a:sym typeface="Courier New"/>
              </a:rPr>
              <a:t>fake1.google.com.</a:t>
            </a:r>
            <a:r>
              <a:rPr lang="en" sz="1200">
                <a:solidFill>
                  <a:schemeClr val="dk1"/>
                </a:solidFill>
              </a:rPr>
              <a:t> NS. This response has ID </a:t>
            </a:r>
            <a:r>
              <a:rPr b="1" lang="en" sz="1200">
                <a:solidFill>
                  <a:schemeClr val="dk1"/>
                </a:solidFill>
              </a:rPr>
              <a:t>774</a:t>
            </a:r>
            <a:r>
              <a:rPr lang="en" sz="1200">
                <a:solidFill>
                  <a:schemeClr val="dk1"/>
                </a:solidFill>
              </a:rPr>
              <a:t>.</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Authority: </a:t>
            </a:r>
            <a:r>
              <a:rPr b="1" lang="en" sz="1200">
                <a:solidFill>
                  <a:schemeClr val="dk1"/>
                </a:solidFill>
                <a:latin typeface="Courier New"/>
                <a:ea typeface="Courier New"/>
                <a:cs typeface="Courier New"/>
                <a:sym typeface="Courier New"/>
              </a:rPr>
              <a:t>fake1.google.com.</a:t>
            </a:r>
            <a:r>
              <a:rPr lang="en" sz="1200">
                <a:solidFill>
                  <a:schemeClr val="dk1"/>
                </a:solidFill>
              </a:rPr>
              <a:t> NS  </a:t>
            </a:r>
            <a:r>
              <a:rPr b="1" lang="en" sz="1200">
                <a:solidFill>
                  <a:schemeClr val="dk1"/>
                </a:solidFill>
                <a:latin typeface="Courier New"/>
                <a:ea typeface="Courier New"/>
                <a:cs typeface="Courier New"/>
                <a:sym typeface="Courier New"/>
              </a:rPr>
              <a:t>www.google.com</a:t>
            </a:r>
            <a:endParaRPr sz="1200">
              <a:solidFill>
                <a:schemeClr val="dk1"/>
              </a:solidFill>
            </a:endParaRPr>
          </a:p>
          <a:p>
            <a:pPr indent="0" lvl="0" marL="0" rtl="0" algn="l">
              <a:lnSpc>
                <a:spcPct val="115000"/>
              </a:lnSpc>
              <a:spcBef>
                <a:spcPts val="0"/>
              </a:spcBef>
              <a:spcAft>
                <a:spcPts val="0"/>
              </a:spcAft>
              <a:buNone/>
            </a:pPr>
            <a:r>
              <a:rPr lang="en" sz="1200">
                <a:solidFill>
                  <a:schemeClr val="dk1"/>
                </a:solidFill>
              </a:rPr>
              <a:t>Additional:  </a:t>
            </a:r>
            <a:r>
              <a:rPr b="1" lang="en" sz="1200">
                <a:solidFill>
                  <a:schemeClr val="dk1"/>
                </a:solidFill>
                <a:latin typeface="Courier New"/>
                <a:ea typeface="Courier New"/>
                <a:cs typeface="Courier New"/>
                <a:sym typeface="Courier New"/>
              </a:rPr>
              <a:t>www.google.com.</a:t>
            </a:r>
            <a:r>
              <a:rPr lang="en" sz="1200">
                <a:solidFill>
                  <a:schemeClr val="dk1"/>
                </a:solidFill>
              </a:rPr>
              <a:t> A </a:t>
            </a:r>
            <a:r>
              <a:rPr b="1" lang="en" sz="1200">
                <a:solidFill>
                  <a:schemeClr val="dk1"/>
                </a:solidFill>
                <a:latin typeface="Courier New"/>
                <a:ea typeface="Courier New"/>
                <a:cs typeface="Courier New"/>
                <a:sym typeface="Courier New"/>
              </a:rPr>
              <a:t>6.6.6.6</a:t>
            </a:r>
            <a:r>
              <a:rPr lang="en" sz="1200">
                <a:solidFill>
                  <a:schemeClr val="dk1"/>
                </a:solidFill>
              </a:rPr>
              <a:t>”</a:t>
            </a:r>
            <a:endParaRPr sz="1200"/>
          </a:p>
        </p:txBody>
      </p:sp>
      <p:cxnSp>
        <p:nvCxnSpPr>
          <p:cNvPr id="1137" name="Google Shape;1137;p84"/>
          <p:cNvCxnSpPr>
            <a:stCxn id="1136" idx="1"/>
            <a:endCxn id="1136" idx="3"/>
          </p:cNvCxnSpPr>
          <p:nvPr/>
        </p:nvCxnSpPr>
        <p:spPr>
          <a:xfrm>
            <a:off x="3293788" y="4346425"/>
            <a:ext cx="4240800" cy="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1" name="Shape 1141"/>
        <p:cNvGrpSpPr/>
        <p:nvPr/>
      </p:nvGrpSpPr>
      <p:grpSpPr>
        <a:xfrm>
          <a:off x="0" y="0"/>
          <a:ext cx="0" cy="0"/>
          <a:chOff x="0" y="0"/>
          <a:chExt cx="0" cy="0"/>
        </a:xfrm>
      </p:grpSpPr>
      <p:sp>
        <p:nvSpPr>
          <p:cNvPr id="1142" name="Google Shape;1142;p85"/>
          <p:cNvSpPr/>
          <p:nvPr/>
        </p:nvSpPr>
        <p:spPr>
          <a:xfrm>
            <a:off x="142425" y="2190750"/>
            <a:ext cx="3150600" cy="2866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85"/>
          <p:cNvSpPr txBox="1"/>
          <p:nvPr/>
        </p:nvSpPr>
        <p:spPr>
          <a:xfrm>
            <a:off x="555325" y="1223675"/>
            <a:ext cx="1642800" cy="3936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Stub Resolver</a:t>
            </a:r>
            <a:endParaRPr>
              <a:latin typeface="Calibri"/>
              <a:ea typeface="Calibri"/>
              <a:cs typeface="Calibri"/>
              <a:sym typeface="Calibri"/>
            </a:endParaRPr>
          </a:p>
        </p:txBody>
      </p:sp>
      <p:sp>
        <p:nvSpPr>
          <p:cNvPr id="1144" name="Google Shape;1144;p85"/>
          <p:cNvSpPr txBox="1"/>
          <p:nvPr/>
        </p:nvSpPr>
        <p:spPr>
          <a:xfrm>
            <a:off x="226125" y="2279151"/>
            <a:ext cx="29832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Recursive Resolver</a:t>
            </a:r>
            <a:endParaRPr>
              <a:latin typeface="Calibri"/>
              <a:ea typeface="Calibri"/>
              <a:cs typeface="Calibri"/>
              <a:sym typeface="Calibri"/>
            </a:endParaRPr>
          </a:p>
        </p:txBody>
      </p:sp>
      <p:pic>
        <p:nvPicPr>
          <p:cNvPr id="1145" name="Google Shape;1145;p85"/>
          <p:cNvPicPr preferRelativeResize="0"/>
          <p:nvPr/>
        </p:nvPicPr>
        <p:blipFill rotWithShape="1">
          <a:blip r:embed="rId3">
            <a:alphaModFix/>
          </a:blip>
          <a:srcRect b="57590" l="5310" r="80092" t="16627"/>
          <a:stretch/>
        </p:blipFill>
        <p:spPr>
          <a:xfrm>
            <a:off x="0" y="1144185"/>
            <a:ext cx="495580" cy="552599"/>
          </a:xfrm>
          <a:prstGeom prst="rect">
            <a:avLst/>
          </a:prstGeom>
          <a:noFill/>
          <a:ln>
            <a:noFill/>
          </a:ln>
        </p:spPr>
      </p:pic>
      <p:graphicFrame>
        <p:nvGraphicFramePr>
          <p:cNvPr id="1146" name="Google Shape;1146;p85"/>
          <p:cNvGraphicFramePr/>
          <p:nvPr/>
        </p:nvGraphicFramePr>
        <p:xfrm>
          <a:off x="226150" y="2672750"/>
          <a:ext cx="3000000" cy="3000000"/>
        </p:xfrm>
        <a:graphic>
          <a:graphicData uri="http://schemas.openxmlformats.org/drawingml/2006/table">
            <a:tbl>
              <a:tblPr>
                <a:noFill/>
                <a:tableStyleId>{8746E7DE-0C9E-4540-9031-B6CDA728326B}</a:tableStyleId>
              </a:tblPr>
              <a:tblGrid>
                <a:gridCol w="1491575"/>
                <a:gridCol w="1491575"/>
              </a:tblGrid>
              <a:tr h="347850">
                <a:tc gridSpan="2">
                  <a:txBody>
                    <a:bodyPr/>
                    <a:lstStyle/>
                    <a:p>
                      <a:pPr indent="0" lvl="0" marL="0" rtl="0" algn="ctr">
                        <a:spcBef>
                          <a:spcPts val="0"/>
                        </a:spcBef>
                        <a:spcAft>
                          <a:spcPts val="0"/>
                        </a:spcAft>
                        <a:buNone/>
                      </a:pPr>
                      <a:r>
                        <a:rPr lang="en" sz="1100">
                          <a:latin typeface="Courier New"/>
                          <a:ea typeface="Courier New"/>
                          <a:cs typeface="Courier New"/>
                          <a:sym typeface="Courier New"/>
                        </a:rPr>
                        <a:t>Recursive Resolver Cache</a:t>
                      </a:r>
                      <a:endParaRPr sz="1100">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solidFill>
                      <a:schemeClr val="lt1"/>
                    </a:solidFill>
                  </a:tcPr>
                </a:tc>
                <a:tc hMerge="1"/>
              </a:tr>
              <a:tr h="317600">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a.gtld-servers.net.</a:t>
                      </a:r>
                      <a:endParaRPr sz="900">
                        <a:solidFill>
                          <a:schemeClr val="dk1"/>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192.5.6.30</a:t>
                      </a:r>
                      <a:endParaRPr sz="900">
                        <a:solidFill>
                          <a:schemeClr val="dk1"/>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17600">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ns1.google.com.</a:t>
                      </a:r>
                      <a:endParaRPr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216.239.32.10</a:t>
                      </a:r>
                      <a:endParaRPr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17600">
                <a:tc>
                  <a:txBody>
                    <a:bodyPr/>
                    <a:lstStyle/>
                    <a:p>
                      <a:pPr indent="0" lvl="0" marL="0" rtl="0" algn="l">
                        <a:spcBef>
                          <a:spcPts val="0"/>
                        </a:spcBef>
                        <a:spcAft>
                          <a:spcPts val="0"/>
                        </a:spcAft>
                        <a:buNone/>
                      </a:pPr>
                      <a:r>
                        <a:rPr b="1" lang="en" sz="900">
                          <a:latin typeface="Courier New"/>
                          <a:ea typeface="Courier New"/>
                          <a:cs typeface="Courier New"/>
                          <a:sym typeface="Courier New"/>
                        </a:rPr>
                        <a:t>www.google.com.</a:t>
                      </a:r>
                      <a:endParaRPr b="1"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 sz="900">
                          <a:solidFill>
                            <a:srgbClr val="FF0000"/>
                          </a:solidFill>
                          <a:latin typeface="Courier New"/>
                          <a:ea typeface="Courier New"/>
                          <a:cs typeface="Courier New"/>
                          <a:sym typeface="Courier New"/>
                        </a:rPr>
                        <a:t>6.6.6.6</a:t>
                      </a:r>
                      <a:endParaRPr b="1" sz="900">
                        <a:solidFill>
                          <a:srgbClr val="FF0000"/>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bl>
          </a:graphicData>
        </a:graphic>
      </p:graphicFrame>
      <p:sp>
        <p:nvSpPr>
          <p:cNvPr id="1147" name="Google Shape;1147;p8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148" name="Google Shape;1148;p85"/>
          <p:cNvSpPr txBox="1"/>
          <p:nvPr/>
        </p:nvSpPr>
        <p:spPr>
          <a:xfrm>
            <a:off x="7547875" y="1392148"/>
            <a:ext cx="1238100" cy="3648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 (root)</a:t>
            </a:r>
            <a:endParaRPr>
              <a:latin typeface="Courier New"/>
              <a:ea typeface="Courier New"/>
              <a:cs typeface="Courier New"/>
              <a:sym typeface="Courier New"/>
            </a:endParaRPr>
          </a:p>
        </p:txBody>
      </p:sp>
      <p:sp>
        <p:nvSpPr>
          <p:cNvPr id="1149" name="Google Shape;1149;p85"/>
          <p:cNvSpPr txBox="1"/>
          <p:nvPr/>
        </p:nvSpPr>
        <p:spPr>
          <a:xfrm>
            <a:off x="7832713" y="2411252"/>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.com</a:t>
            </a:r>
            <a:endParaRPr>
              <a:latin typeface="Calibri"/>
              <a:ea typeface="Calibri"/>
              <a:cs typeface="Calibri"/>
              <a:sym typeface="Calibri"/>
            </a:endParaRPr>
          </a:p>
        </p:txBody>
      </p:sp>
      <p:sp>
        <p:nvSpPr>
          <p:cNvPr id="1150" name="Google Shape;1150;p85"/>
          <p:cNvSpPr txBox="1"/>
          <p:nvPr/>
        </p:nvSpPr>
        <p:spPr>
          <a:xfrm>
            <a:off x="7518763" y="3357750"/>
            <a:ext cx="12963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google.com</a:t>
            </a:r>
            <a:endParaRPr sz="1200">
              <a:latin typeface="Calibri"/>
              <a:ea typeface="Calibri"/>
              <a:cs typeface="Calibri"/>
              <a:sym typeface="Calibri"/>
            </a:endParaRPr>
          </a:p>
        </p:txBody>
      </p:sp>
      <p:cxnSp>
        <p:nvCxnSpPr>
          <p:cNvPr id="1151" name="Google Shape;1151;p85"/>
          <p:cNvCxnSpPr>
            <a:stCxn id="1148" idx="2"/>
            <a:endCxn id="1149" idx="0"/>
          </p:cNvCxnSpPr>
          <p:nvPr/>
        </p:nvCxnSpPr>
        <p:spPr>
          <a:xfrm>
            <a:off x="8166925" y="1756948"/>
            <a:ext cx="0" cy="654300"/>
          </a:xfrm>
          <a:prstGeom prst="straightConnector1">
            <a:avLst/>
          </a:prstGeom>
          <a:noFill/>
          <a:ln cap="flat" cmpd="sng" w="9525">
            <a:solidFill>
              <a:srgbClr val="000000"/>
            </a:solidFill>
            <a:prstDash val="solid"/>
            <a:round/>
            <a:headEnd len="med" w="med" type="none"/>
            <a:tailEnd len="med" w="med" type="none"/>
          </a:ln>
        </p:spPr>
      </p:cxnSp>
      <p:cxnSp>
        <p:nvCxnSpPr>
          <p:cNvPr id="1152" name="Google Shape;1152;p85"/>
          <p:cNvCxnSpPr>
            <a:stCxn id="1149" idx="2"/>
            <a:endCxn id="1150" idx="0"/>
          </p:cNvCxnSpPr>
          <p:nvPr/>
        </p:nvCxnSpPr>
        <p:spPr>
          <a:xfrm>
            <a:off x="8166913" y="2804852"/>
            <a:ext cx="0" cy="552900"/>
          </a:xfrm>
          <a:prstGeom prst="straightConnector1">
            <a:avLst/>
          </a:prstGeom>
          <a:noFill/>
          <a:ln cap="flat" cmpd="sng" w="9525">
            <a:solidFill>
              <a:srgbClr val="000000"/>
            </a:solidFill>
            <a:prstDash val="solid"/>
            <a:round/>
            <a:headEnd len="med" w="med" type="none"/>
            <a:tailEnd len="med" w="med" type="none"/>
          </a:ln>
        </p:spPr>
      </p:cxnSp>
      <p:pic>
        <p:nvPicPr>
          <p:cNvPr id="1153" name="Google Shape;1153;p85"/>
          <p:cNvPicPr preferRelativeResize="0"/>
          <p:nvPr/>
        </p:nvPicPr>
        <p:blipFill rotWithShape="1">
          <a:blip r:embed="rId4">
            <a:alphaModFix/>
          </a:blip>
          <a:srcRect b="65159" l="10446" r="69908" t="13697"/>
          <a:stretch/>
        </p:blipFill>
        <p:spPr>
          <a:xfrm>
            <a:off x="7841463" y="4405638"/>
            <a:ext cx="650926" cy="700636"/>
          </a:xfrm>
          <a:prstGeom prst="rect">
            <a:avLst/>
          </a:prstGeom>
          <a:noFill/>
          <a:ln>
            <a:noFill/>
          </a:ln>
        </p:spPr>
      </p:pic>
      <p:grpSp>
        <p:nvGrpSpPr>
          <p:cNvPr id="1154" name="Google Shape;1154;p85"/>
          <p:cNvGrpSpPr/>
          <p:nvPr/>
        </p:nvGrpSpPr>
        <p:grpSpPr>
          <a:xfrm rot="-257560">
            <a:off x="3330741" y="4721977"/>
            <a:ext cx="4473000" cy="396604"/>
            <a:chOff x="812025" y="4154725"/>
            <a:chExt cx="4073100" cy="396600"/>
          </a:xfrm>
        </p:grpSpPr>
        <p:cxnSp>
          <p:nvCxnSpPr>
            <p:cNvPr id="1155" name="Google Shape;1155;p85"/>
            <p:cNvCxnSpPr/>
            <p:nvPr/>
          </p:nvCxnSpPr>
          <p:spPr>
            <a:xfrm>
              <a:off x="812025" y="4180882"/>
              <a:ext cx="4073100" cy="271800"/>
            </a:xfrm>
            <a:prstGeom prst="straightConnector1">
              <a:avLst/>
            </a:prstGeom>
            <a:noFill/>
            <a:ln cap="flat" cmpd="sng" w="19050">
              <a:solidFill>
                <a:srgbClr val="FF0000"/>
              </a:solidFill>
              <a:prstDash val="solid"/>
              <a:round/>
              <a:headEnd len="med" w="med" type="triangle"/>
              <a:tailEnd len="med" w="med" type="none"/>
            </a:ln>
          </p:spPr>
        </p:cxnSp>
        <p:sp>
          <p:nvSpPr>
            <p:cNvPr id="1156" name="Google Shape;1156;p85"/>
            <p:cNvSpPr txBox="1"/>
            <p:nvPr/>
          </p:nvSpPr>
          <p:spPr>
            <a:xfrm>
              <a:off x="1758306" y="4154725"/>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7</a:t>
              </a:r>
              <a:endParaRPr>
                <a:latin typeface="Calibri"/>
                <a:ea typeface="Calibri"/>
                <a:cs typeface="Calibri"/>
                <a:sym typeface="Calibri"/>
              </a:endParaRPr>
            </a:p>
          </p:txBody>
        </p:sp>
      </p:grpSp>
      <p:sp>
        <p:nvSpPr>
          <p:cNvPr id="1157" name="Google Shape;1157;p8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Kaminsky Attack: Example</a:t>
            </a:r>
            <a:endParaRPr/>
          </a:p>
        </p:txBody>
      </p:sp>
      <p:sp>
        <p:nvSpPr>
          <p:cNvPr id="1158" name="Google Shape;1158;p85"/>
          <p:cNvSpPr txBox="1"/>
          <p:nvPr/>
        </p:nvSpPr>
        <p:spPr>
          <a:xfrm>
            <a:off x="250875" y="4108325"/>
            <a:ext cx="2930400" cy="867000"/>
          </a:xfrm>
          <a:prstGeom prst="rect">
            <a:avLst/>
          </a:prstGeom>
          <a:solidFill>
            <a:srgbClr val="C9DAF8"/>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rPr>
              <a:t>Mallory correctly guessed the ID number and won the race condition, so </a:t>
            </a:r>
            <a:r>
              <a:rPr b="1" lang="en" sz="1200">
                <a:solidFill>
                  <a:schemeClr val="dk1"/>
                </a:solidFill>
                <a:latin typeface="Courier New"/>
                <a:ea typeface="Courier New"/>
                <a:cs typeface="Courier New"/>
                <a:sym typeface="Courier New"/>
              </a:rPr>
              <a:t>www.google.com.</a:t>
            </a:r>
            <a:r>
              <a:rPr lang="en" sz="1200">
                <a:solidFill>
                  <a:schemeClr val="dk1"/>
                </a:solidFill>
              </a:rPr>
              <a:t> is cached with Mallory’s malicious IP </a:t>
            </a:r>
            <a:r>
              <a:rPr b="1" lang="en" sz="1200">
                <a:solidFill>
                  <a:schemeClr val="dk1"/>
                </a:solidFill>
                <a:latin typeface="Courier New"/>
                <a:ea typeface="Courier New"/>
                <a:cs typeface="Courier New"/>
                <a:sym typeface="Courier New"/>
              </a:rPr>
              <a:t>6.6.6.6.</a:t>
            </a:r>
            <a:endParaRPr sz="1200">
              <a:solidFill>
                <a:schemeClr val="dk1"/>
              </a:solidFill>
            </a:endParaRPr>
          </a:p>
          <a:p>
            <a:pPr indent="0" lvl="0" marL="0" rtl="0" algn="ctr">
              <a:spcBef>
                <a:spcPts val="0"/>
              </a:spcBef>
              <a:spcAft>
                <a:spcPts val="0"/>
              </a:spcAft>
              <a:buNone/>
            </a:pPr>
            <a:r>
              <a:t/>
            </a:r>
            <a:endParaRPr sz="1200">
              <a:solidFill>
                <a:schemeClr val="dk1"/>
              </a:solidFill>
            </a:endParaRPr>
          </a:p>
          <a:p>
            <a:pPr indent="0" lvl="0" marL="0" rtl="0" algn="ctr">
              <a:spcBef>
                <a:spcPts val="0"/>
              </a:spcBef>
              <a:spcAft>
                <a:spcPts val="0"/>
              </a:spcAft>
              <a:buNone/>
            </a:pPr>
            <a:r>
              <a:t/>
            </a:r>
            <a:endParaRPr sz="1200"/>
          </a:p>
        </p:txBody>
      </p:sp>
      <p:cxnSp>
        <p:nvCxnSpPr>
          <p:cNvPr id="1159" name="Google Shape;1159;p85"/>
          <p:cNvCxnSpPr>
            <a:stCxn id="1158" idx="0"/>
          </p:cNvCxnSpPr>
          <p:nvPr/>
        </p:nvCxnSpPr>
        <p:spPr>
          <a:xfrm flipH="1" rot="10800000">
            <a:off x="1716075" y="3837725"/>
            <a:ext cx="9900" cy="270600"/>
          </a:xfrm>
          <a:prstGeom prst="straightConnector1">
            <a:avLst/>
          </a:prstGeom>
          <a:noFill/>
          <a:ln cap="flat" cmpd="sng" w="9525">
            <a:solidFill>
              <a:srgbClr val="0000FF"/>
            </a:solidFill>
            <a:prstDash val="solid"/>
            <a:round/>
            <a:headEnd len="med" w="med" type="none"/>
            <a:tailEnd len="med" w="med" type="triangle"/>
          </a:ln>
        </p:spPr>
      </p:cxnSp>
      <p:grpSp>
        <p:nvGrpSpPr>
          <p:cNvPr id="1160" name="Google Shape;1160;p85"/>
          <p:cNvGrpSpPr/>
          <p:nvPr/>
        </p:nvGrpSpPr>
        <p:grpSpPr>
          <a:xfrm>
            <a:off x="769875" y="1617199"/>
            <a:ext cx="410100" cy="572709"/>
            <a:chOff x="258935" y="2049228"/>
            <a:chExt cx="410100" cy="762900"/>
          </a:xfrm>
        </p:grpSpPr>
        <p:sp>
          <p:nvSpPr>
            <p:cNvPr id="1161" name="Google Shape;1161;p85"/>
            <p:cNvSpPr txBox="1"/>
            <p:nvPr/>
          </p:nvSpPr>
          <p:spPr>
            <a:xfrm>
              <a:off x="258935" y="2174852"/>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1</a:t>
              </a:r>
              <a:endParaRPr>
                <a:solidFill>
                  <a:srgbClr val="9E9E9E"/>
                </a:solidFill>
                <a:latin typeface="Calibri"/>
                <a:ea typeface="Calibri"/>
                <a:cs typeface="Calibri"/>
                <a:sym typeface="Calibri"/>
              </a:endParaRPr>
            </a:p>
          </p:txBody>
        </p:sp>
        <p:cxnSp>
          <p:nvCxnSpPr>
            <p:cNvPr id="1162" name="Google Shape;1162;p85"/>
            <p:cNvCxnSpPr/>
            <p:nvPr/>
          </p:nvCxnSpPr>
          <p:spPr>
            <a:xfrm rot="10800000">
              <a:off x="530725" y="2049228"/>
              <a:ext cx="0" cy="762900"/>
            </a:xfrm>
            <a:prstGeom prst="straightConnector1">
              <a:avLst/>
            </a:prstGeom>
            <a:noFill/>
            <a:ln cap="flat" cmpd="sng" w="19050">
              <a:solidFill>
                <a:srgbClr val="9E9E9E"/>
              </a:solidFill>
              <a:prstDash val="solid"/>
              <a:round/>
              <a:headEnd len="med" w="med" type="triangle"/>
              <a:tailEnd len="med" w="med" type="none"/>
            </a:ln>
          </p:spPr>
        </p:cxnSp>
      </p:grpSp>
      <p:grpSp>
        <p:nvGrpSpPr>
          <p:cNvPr id="1163" name="Google Shape;1163;p85"/>
          <p:cNvGrpSpPr/>
          <p:nvPr/>
        </p:nvGrpSpPr>
        <p:grpSpPr>
          <a:xfrm rot="-746418">
            <a:off x="3247846" y="1651999"/>
            <a:ext cx="4332671" cy="599908"/>
            <a:chOff x="812025" y="676049"/>
            <a:chExt cx="5609100" cy="3517200"/>
          </a:xfrm>
        </p:grpSpPr>
        <p:cxnSp>
          <p:nvCxnSpPr>
            <p:cNvPr id="1164" name="Google Shape;1164;p85"/>
            <p:cNvCxnSpPr/>
            <p:nvPr/>
          </p:nvCxnSpPr>
          <p:spPr>
            <a:xfrm flipH="1" rot="10800000">
              <a:off x="812025" y="2279674"/>
              <a:ext cx="5609100" cy="656100"/>
            </a:xfrm>
            <a:prstGeom prst="straightConnector1">
              <a:avLst/>
            </a:prstGeom>
            <a:noFill/>
            <a:ln cap="flat" cmpd="sng" w="19050">
              <a:solidFill>
                <a:srgbClr val="9E9E9E"/>
              </a:solidFill>
              <a:prstDash val="solid"/>
              <a:round/>
              <a:headEnd len="med" w="med" type="none"/>
              <a:tailEnd len="med" w="med" type="triangle"/>
            </a:ln>
          </p:spPr>
        </p:cxnSp>
        <p:sp>
          <p:nvSpPr>
            <p:cNvPr id="1165" name="Google Shape;1165;p85"/>
            <p:cNvSpPr txBox="1"/>
            <p:nvPr/>
          </p:nvSpPr>
          <p:spPr>
            <a:xfrm>
              <a:off x="1983444" y="676049"/>
              <a:ext cx="410100" cy="351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2</a:t>
              </a:r>
              <a:endParaRPr>
                <a:solidFill>
                  <a:srgbClr val="9E9E9E"/>
                </a:solidFill>
                <a:latin typeface="Calibri"/>
                <a:ea typeface="Calibri"/>
                <a:cs typeface="Calibri"/>
                <a:sym typeface="Calibri"/>
              </a:endParaRPr>
            </a:p>
          </p:txBody>
        </p:sp>
      </p:grpSp>
      <p:grpSp>
        <p:nvGrpSpPr>
          <p:cNvPr id="1166" name="Google Shape;1166;p85"/>
          <p:cNvGrpSpPr/>
          <p:nvPr/>
        </p:nvGrpSpPr>
        <p:grpSpPr>
          <a:xfrm rot="-497457">
            <a:off x="3255496" y="1882108"/>
            <a:ext cx="4379928" cy="602045"/>
            <a:chOff x="812025" y="2400972"/>
            <a:chExt cx="5609100" cy="808872"/>
          </a:xfrm>
        </p:grpSpPr>
        <p:cxnSp>
          <p:nvCxnSpPr>
            <p:cNvPr id="1167" name="Google Shape;1167;p85"/>
            <p:cNvCxnSpPr/>
            <p:nvPr/>
          </p:nvCxnSpPr>
          <p:spPr>
            <a:xfrm flipH="1" rot="10800000">
              <a:off x="812025" y="2400972"/>
              <a:ext cx="5609100" cy="656100"/>
            </a:xfrm>
            <a:prstGeom prst="straightConnector1">
              <a:avLst/>
            </a:prstGeom>
            <a:noFill/>
            <a:ln cap="flat" cmpd="sng" w="19050">
              <a:solidFill>
                <a:srgbClr val="9E9E9E"/>
              </a:solidFill>
              <a:prstDash val="solid"/>
              <a:round/>
              <a:headEnd len="med" w="med" type="triangle"/>
              <a:tailEnd len="med" w="med" type="none"/>
            </a:ln>
          </p:spPr>
        </p:cxnSp>
        <p:sp>
          <p:nvSpPr>
            <p:cNvPr id="1168" name="Google Shape;1168;p85"/>
            <p:cNvSpPr txBox="1"/>
            <p:nvPr/>
          </p:nvSpPr>
          <p:spPr>
            <a:xfrm>
              <a:off x="2046705" y="2813245"/>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3</a:t>
              </a:r>
              <a:endParaRPr>
                <a:solidFill>
                  <a:srgbClr val="9E9E9E"/>
                </a:solidFill>
                <a:latin typeface="Calibri"/>
                <a:ea typeface="Calibri"/>
                <a:cs typeface="Calibri"/>
                <a:sym typeface="Calibri"/>
              </a:endParaRPr>
            </a:p>
          </p:txBody>
        </p:sp>
      </p:grpSp>
      <p:sp>
        <p:nvSpPr>
          <p:cNvPr id="1169" name="Google Shape;1169;p85"/>
          <p:cNvSpPr txBox="1"/>
          <p:nvPr/>
        </p:nvSpPr>
        <p:spPr>
          <a:xfrm>
            <a:off x="3867850" y="2672740"/>
            <a:ext cx="225000" cy="36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4</a:t>
            </a:r>
            <a:endParaRPr>
              <a:solidFill>
                <a:srgbClr val="9E9E9E"/>
              </a:solidFill>
              <a:latin typeface="Calibri"/>
              <a:ea typeface="Calibri"/>
              <a:cs typeface="Calibri"/>
              <a:sym typeface="Calibri"/>
            </a:endParaRPr>
          </a:p>
        </p:txBody>
      </p:sp>
      <p:cxnSp>
        <p:nvCxnSpPr>
          <p:cNvPr id="1170" name="Google Shape;1170;p85"/>
          <p:cNvCxnSpPr/>
          <p:nvPr/>
        </p:nvCxnSpPr>
        <p:spPr>
          <a:xfrm flipH="1" rot="10462490">
            <a:off x="3290233" y="2728001"/>
            <a:ext cx="4544987" cy="112121"/>
          </a:xfrm>
          <a:prstGeom prst="straightConnector1">
            <a:avLst/>
          </a:prstGeom>
          <a:noFill/>
          <a:ln cap="flat" cmpd="sng" w="19050">
            <a:solidFill>
              <a:srgbClr val="9E9E9E"/>
            </a:solidFill>
            <a:prstDash val="solid"/>
            <a:round/>
            <a:headEnd len="med" w="med" type="none"/>
            <a:tailEnd len="med" w="med" type="triangle"/>
          </a:ln>
        </p:spPr>
      </p:cxnSp>
      <p:grpSp>
        <p:nvGrpSpPr>
          <p:cNvPr id="1171" name="Google Shape;1171;p85"/>
          <p:cNvGrpSpPr/>
          <p:nvPr/>
        </p:nvGrpSpPr>
        <p:grpSpPr>
          <a:xfrm rot="-254198">
            <a:off x="3294674" y="2878978"/>
            <a:ext cx="4536139" cy="275727"/>
            <a:chOff x="854584" y="3514625"/>
            <a:chExt cx="5116200" cy="493113"/>
          </a:xfrm>
        </p:grpSpPr>
        <p:cxnSp>
          <p:nvCxnSpPr>
            <p:cNvPr id="1172" name="Google Shape;1172;p85"/>
            <p:cNvCxnSpPr/>
            <p:nvPr/>
          </p:nvCxnSpPr>
          <p:spPr>
            <a:xfrm flipH="1" rot="10800000">
              <a:off x="854584" y="3514625"/>
              <a:ext cx="5116200" cy="249300"/>
            </a:xfrm>
            <a:prstGeom prst="straightConnector1">
              <a:avLst/>
            </a:prstGeom>
            <a:noFill/>
            <a:ln cap="flat" cmpd="sng" w="19050">
              <a:solidFill>
                <a:srgbClr val="9E9E9E"/>
              </a:solidFill>
              <a:prstDash val="solid"/>
              <a:round/>
              <a:headEnd len="med" w="med" type="triangle"/>
              <a:tailEnd len="med" w="med" type="none"/>
            </a:ln>
          </p:spPr>
        </p:cxnSp>
        <p:sp>
          <p:nvSpPr>
            <p:cNvPr id="1173" name="Google Shape;1173;p85"/>
            <p:cNvSpPr txBox="1"/>
            <p:nvPr/>
          </p:nvSpPr>
          <p:spPr>
            <a:xfrm>
              <a:off x="2113676" y="3611138"/>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5</a:t>
              </a:r>
              <a:endParaRPr>
                <a:solidFill>
                  <a:srgbClr val="9E9E9E"/>
                </a:solidFill>
                <a:latin typeface="Calibri"/>
                <a:ea typeface="Calibri"/>
                <a:cs typeface="Calibri"/>
                <a:sym typeface="Calibri"/>
              </a:endParaRPr>
            </a:p>
          </p:txBody>
        </p:sp>
      </p:grpSp>
      <p:grpSp>
        <p:nvGrpSpPr>
          <p:cNvPr id="1174" name="Google Shape;1174;p85"/>
          <p:cNvGrpSpPr/>
          <p:nvPr/>
        </p:nvGrpSpPr>
        <p:grpSpPr>
          <a:xfrm rot="-287833">
            <a:off x="3307445" y="3170211"/>
            <a:ext cx="4212902" cy="516546"/>
            <a:chOff x="932127" y="3739221"/>
            <a:chExt cx="4073100" cy="591629"/>
          </a:xfrm>
        </p:grpSpPr>
        <p:cxnSp>
          <p:nvCxnSpPr>
            <p:cNvPr id="1175" name="Google Shape;1175;p85"/>
            <p:cNvCxnSpPr/>
            <p:nvPr/>
          </p:nvCxnSpPr>
          <p:spPr>
            <a:xfrm>
              <a:off x="932127" y="4059050"/>
              <a:ext cx="4073100" cy="271800"/>
            </a:xfrm>
            <a:prstGeom prst="straightConnector1">
              <a:avLst/>
            </a:prstGeom>
            <a:noFill/>
            <a:ln cap="flat" cmpd="sng" w="19050">
              <a:solidFill>
                <a:srgbClr val="9E9E9E"/>
              </a:solidFill>
              <a:prstDash val="solid"/>
              <a:round/>
              <a:headEnd len="med" w="med" type="none"/>
              <a:tailEnd len="med" w="med" type="triangle"/>
            </a:ln>
          </p:spPr>
        </p:cxnSp>
        <p:sp>
          <p:nvSpPr>
            <p:cNvPr id="1176" name="Google Shape;1176;p85"/>
            <p:cNvSpPr txBox="1"/>
            <p:nvPr/>
          </p:nvSpPr>
          <p:spPr>
            <a:xfrm>
              <a:off x="1758300" y="3739221"/>
              <a:ext cx="410100" cy="44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6</a:t>
              </a:r>
              <a:endParaRPr>
                <a:solidFill>
                  <a:srgbClr val="9E9E9E"/>
                </a:solidFill>
                <a:latin typeface="Calibri"/>
                <a:ea typeface="Calibri"/>
                <a:cs typeface="Calibri"/>
                <a:sym typeface="Calibri"/>
              </a:endParaRPr>
            </a:p>
          </p:txBody>
        </p:sp>
      </p:grpSp>
      <p:sp>
        <p:nvSpPr>
          <p:cNvPr id="1177" name="Google Shape;1177;p85"/>
          <p:cNvSpPr txBox="1"/>
          <p:nvPr/>
        </p:nvSpPr>
        <p:spPr>
          <a:xfrm>
            <a:off x="3293788" y="3890425"/>
            <a:ext cx="4240800" cy="912000"/>
          </a:xfrm>
          <a:prstGeom prst="rect">
            <a:avLst/>
          </a:prstGeom>
          <a:solidFill>
            <a:srgbClr val="E06666"/>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rPr>
              <a:t>“I don’t know. But I have delegated authority to the </a:t>
            </a:r>
            <a:r>
              <a:rPr b="1" lang="en" sz="1200">
                <a:solidFill>
                  <a:schemeClr val="dk1"/>
                </a:solidFill>
                <a:latin typeface="Courier New"/>
                <a:ea typeface="Courier New"/>
                <a:cs typeface="Courier New"/>
                <a:sym typeface="Courier New"/>
              </a:rPr>
              <a:t>fake1.google.com.</a:t>
            </a:r>
            <a:r>
              <a:rPr lang="en" sz="1200">
                <a:solidFill>
                  <a:schemeClr val="dk1"/>
                </a:solidFill>
              </a:rPr>
              <a:t> NS. This response has ID </a:t>
            </a:r>
            <a:r>
              <a:rPr lang="en" sz="1200">
                <a:solidFill>
                  <a:schemeClr val="dk1"/>
                </a:solidFill>
              </a:rPr>
              <a:t>774</a:t>
            </a:r>
            <a:r>
              <a:rPr lang="en" sz="1200">
                <a:solidFill>
                  <a:schemeClr val="dk1"/>
                </a:solidFill>
              </a:rPr>
              <a:t>.</a:t>
            </a:r>
            <a:endParaRPr sz="1200">
              <a:solidFill>
                <a:schemeClr val="dk1"/>
              </a:solidFill>
            </a:endParaRPr>
          </a:p>
          <a:p>
            <a:pPr indent="0" lvl="0" marL="0" rtl="0" algn="l">
              <a:spcBef>
                <a:spcPts val="0"/>
              </a:spcBef>
              <a:spcAft>
                <a:spcPts val="0"/>
              </a:spcAft>
              <a:buNone/>
            </a:pPr>
            <a:r>
              <a:rPr lang="en" sz="1200">
                <a:solidFill>
                  <a:schemeClr val="dk1"/>
                </a:solidFill>
              </a:rPr>
              <a:t>Authority: </a:t>
            </a:r>
            <a:r>
              <a:rPr b="1" lang="en" sz="1200">
                <a:solidFill>
                  <a:schemeClr val="dk1"/>
                </a:solidFill>
                <a:latin typeface="Courier New"/>
                <a:ea typeface="Courier New"/>
                <a:cs typeface="Courier New"/>
                <a:sym typeface="Courier New"/>
              </a:rPr>
              <a:t>fake1.google.com.</a:t>
            </a:r>
            <a:r>
              <a:rPr lang="en" sz="1200">
                <a:solidFill>
                  <a:schemeClr val="dk1"/>
                </a:solidFill>
              </a:rPr>
              <a:t> NS  </a:t>
            </a:r>
            <a:r>
              <a:rPr b="1" lang="en" sz="1200">
                <a:solidFill>
                  <a:schemeClr val="dk1"/>
                </a:solidFill>
                <a:latin typeface="Courier New"/>
                <a:ea typeface="Courier New"/>
                <a:cs typeface="Courier New"/>
                <a:sym typeface="Courier New"/>
              </a:rPr>
              <a:t>www.google.com</a:t>
            </a:r>
            <a:endParaRPr sz="1200">
              <a:solidFill>
                <a:schemeClr val="dk1"/>
              </a:solidFill>
            </a:endParaRPr>
          </a:p>
          <a:p>
            <a:pPr indent="0" lvl="0" marL="0" rtl="0" algn="l">
              <a:lnSpc>
                <a:spcPct val="115000"/>
              </a:lnSpc>
              <a:spcBef>
                <a:spcPts val="0"/>
              </a:spcBef>
              <a:spcAft>
                <a:spcPts val="0"/>
              </a:spcAft>
              <a:buNone/>
            </a:pPr>
            <a:r>
              <a:rPr lang="en" sz="1200">
                <a:solidFill>
                  <a:schemeClr val="dk1"/>
                </a:solidFill>
              </a:rPr>
              <a:t>Additional:  </a:t>
            </a:r>
            <a:r>
              <a:rPr b="1" lang="en" sz="1200">
                <a:solidFill>
                  <a:schemeClr val="dk1"/>
                </a:solidFill>
                <a:latin typeface="Courier New"/>
                <a:ea typeface="Courier New"/>
                <a:cs typeface="Courier New"/>
                <a:sym typeface="Courier New"/>
              </a:rPr>
              <a:t>www.google.com.</a:t>
            </a:r>
            <a:r>
              <a:rPr lang="en" sz="1200">
                <a:solidFill>
                  <a:schemeClr val="dk1"/>
                </a:solidFill>
              </a:rPr>
              <a:t> A </a:t>
            </a:r>
            <a:r>
              <a:rPr b="1" lang="en" sz="1200">
                <a:solidFill>
                  <a:schemeClr val="dk1"/>
                </a:solidFill>
                <a:latin typeface="Courier New"/>
                <a:ea typeface="Courier New"/>
                <a:cs typeface="Courier New"/>
                <a:sym typeface="Courier New"/>
              </a:rPr>
              <a:t>6.6.6.6</a:t>
            </a:r>
            <a:r>
              <a:rPr lang="en" sz="1200">
                <a:solidFill>
                  <a:schemeClr val="dk1"/>
                </a:solidFill>
              </a:rPr>
              <a:t>”</a:t>
            </a:r>
            <a:endParaRPr sz="1200"/>
          </a:p>
        </p:txBody>
      </p:sp>
      <p:cxnSp>
        <p:nvCxnSpPr>
          <p:cNvPr id="1178" name="Google Shape;1178;p85"/>
          <p:cNvCxnSpPr>
            <a:stCxn id="1177" idx="1"/>
            <a:endCxn id="1177" idx="3"/>
          </p:cNvCxnSpPr>
          <p:nvPr/>
        </p:nvCxnSpPr>
        <p:spPr>
          <a:xfrm>
            <a:off x="3293788" y="4346425"/>
            <a:ext cx="4240800" cy="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2" name="Shape 1182"/>
        <p:cNvGrpSpPr/>
        <p:nvPr/>
      </p:nvGrpSpPr>
      <p:grpSpPr>
        <a:xfrm>
          <a:off x="0" y="0"/>
          <a:ext cx="0" cy="0"/>
          <a:chOff x="0" y="0"/>
          <a:chExt cx="0" cy="0"/>
        </a:xfrm>
      </p:grpSpPr>
      <p:sp>
        <p:nvSpPr>
          <p:cNvPr id="1183" name="Google Shape;1183;p86"/>
          <p:cNvSpPr/>
          <p:nvPr/>
        </p:nvSpPr>
        <p:spPr>
          <a:xfrm>
            <a:off x="142425" y="2190750"/>
            <a:ext cx="3150600" cy="2866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86"/>
          <p:cNvSpPr txBox="1"/>
          <p:nvPr/>
        </p:nvSpPr>
        <p:spPr>
          <a:xfrm>
            <a:off x="555325" y="1223675"/>
            <a:ext cx="1642800" cy="3936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Stub Resolver</a:t>
            </a:r>
            <a:endParaRPr>
              <a:latin typeface="Calibri"/>
              <a:ea typeface="Calibri"/>
              <a:cs typeface="Calibri"/>
              <a:sym typeface="Calibri"/>
            </a:endParaRPr>
          </a:p>
        </p:txBody>
      </p:sp>
      <p:sp>
        <p:nvSpPr>
          <p:cNvPr id="1185" name="Google Shape;1185;p86"/>
          <p:cNvSpPr txBox="1"/>
          <p:nvPr/>
        </p:nvSpPr>
        <p:spPr>
          <a:xfrm>
            <a:off x="226125" y="2279151"/>
            <a:ext cx="29832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Recursive Resolver</a:t>
            </a:r>
            <a:endParaRPr>
              <a:latin typeface="Calibri"/>
              <a:ea typeface="Calibri"/>
              <a:cs typeface="Calibri"/>
              <a:sym typeface="Calibri"/>
            </a:endParaRPr>
          </a:p>
        </p:txBody>
      </p:sp>
      <p:pic>
        <p:nvPicPr>
          <p:cNvPr id="1186" name="Google Shape;1186;p86"/>
          <p:cNvPicPr preferRelativeResize="0"/>
          <p:nvPr/>
        </p:nvPicPr>
        <p:blipFill rotWithShape="1">
          <a:blip r:embed="rId3">
            <a:alphaModFix/>
          </a:blip>
          <a:srcRect b="57590" l="5310" r="80092" t="16627"/>
          <a:stretch/>
        </p:blipFill>
        <p:spPr>
          <a:xfrm>
            <a:off x="0" y="1144185"/>
            <a:ext cx="495580" cy="552599"/>
          </a:xfrm>
          <a:prstGeom prst="rect">
            <a:avLst/>
          </a:prstGeom>
          <a:noFill/>
          <a:ln>
            <a:noFill/>
          </a:ln>
        </p:spPr>
      </p:pic>
      <p:graphicFrame>
        <p:nvGraphicFramePr>
          <p:cNvPr id="1187" name="Google Shape;1187;p86"/>
          <p:cNvGraphicFramePr/>
          <p:nvPr/>
        </p:nvGraphicFramePr>
        <p:xfrm>
          <a:off x="226150" y="2672750"/>
          <a:ext cx="3000000" cy="3000000"/>
        </p:xfrm>
        <a:graphic>
          <a:graphicData uri="http://schemas.openxmlformats.org/drawingml/2006/table">
            <a:tbl>
              <a:tblPr>
                <a:noFill/>
                <a:tableStyleId>{8746E7DE-0C9E-4540-9031-B6CDA728326B}</a:tableStyleId>
              </a:tblPr>
              <a:tblGrid>
                <a:gridCol w="1491575"/>
                <a:gridCol w="1491575"/>
              </a:tblGrid>
              <a:tr h="347850">
                <a:tc gridSpan="2">
                  <a:txBody>
                    <a:bodyPr/>
                    <a:lstStyle/>
                    <a:p>
                      <a:pPr indent="0" lvl="0" marL="0" rtl="0" algn="ctr">
                        <a:spcBef>
                          <a:spcPts val="0"/>
                        </a:spcBef>
                        <a:spcAft>
                          <a:spcPts val="0"/>
                        </a:spcAft>
                        <a:buNone/>
                      </a:pPr>
                      <a:r>
                        <a:rPr lang="en" sz="1100">
                          <a:latin typeface="Courier New"/>
                          <a:ea typeface="Courier New"/>
                          <a:cs typeface="Courier New"/>
                          <a:sym typeface="Courier New"/>
                        </a:rPr>
                        <a:t>Recursive Resolver Cache</a:t>
                      </a:r>
                      <a:endParaRPr sz="1100">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solidFill>
                      <a:schemeClr val="lt1"/>
                    </a:solidFill>
                  </a:tcPr>
                </a:tc>
                <a:tc hMerge="1"/>
              </a:tr>
              <a:tr h="317600">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a.gtld-servers.net.</a:t>
                      </a:r>
                      <a:endParaRPr sz="900">
                        <a:solidFill>
                          <a:schemeClr val="dk1"/>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192.5.6.30</a:t>
                      </a:r>
                      <a:endParaRPr sz="900">
                        <a:solidFill>
                          <a:schemeClr val="dk1"/>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17600">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ns1.google.com.</a:t>
                      </a:r>
                      <a:endParaRPr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216.239.32.10</a:t>
                      </a:r>
                      <a:endParaRPr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17600">
                <a:tc>
                  <a:txBody>
                    <a:bodyPr/>
                    <a:lstStyle/>
                    <a:p>
                      <a:pPr indent="0" lvl="0" marL="0" rtl="0" algn="l">
                        <a:spcBef>
                          <a:spcPts val="0"/>
                        </a:spcBef>
                        <a:spcAft>
                          <a:spcPts val="0"/>
                        </a:spcAft>
                        <a:buNone/>
                      </a:pPr>
                      <a:r>
                        <a:rPr lang="en" sz="900">
                          <a:solidFill>
                            <a:schemeClr val="dk1"/>
                          </a:solidFill>
                          <a:latin typeface="Courier New"/>
                          <a:ea typeface="Courier New"/>
                          <a:cs typeface="Courier New"/>
                          <a:sym typeface="Courier New"/>
                        </a:rPr>
                        <a:t>www.google.com.</a:t>
                      </a:r>
                      <a:endParaRPr sz="900">
                        <a:solidFill>
                          <a:schemeClr val="dk1"/>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900">
                          <a:solidFill>
                            <a:srgbClr val="FF0000"/>
                          </a:solidFill>
                          <a:latin typeface="Courier New"/>
                          <a:ea typeface="Courier New"/>
                          <a:cs typeface="Courier New"/>
                          <a:sym typeface="Courier New"/>
                        </a:rPr>
                        <a:t>6.6.6.6</a:t>
                      </a:r>
                      <a:endParaRPr sz="900">
                        <a:solidFill>
                          <a:srgbClr val="FF0000"/>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bl>
          </a:graphicData>
        </a:graphic>
      </p:graphicFrame>
      <p:sp>
        <p:nvSpPr>
          <p:cNvPr id="1188" name="Google Shape;1188;p8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189" name="Google Shape;1189;p86"/>
          <p:cNvSpPr txBox="1"/>
          <p:nvPr/>
        </p:nvSpPr>
        <p:spPr>
          <a:xfrm>
            <a:off x="7547875" y="1392148"/>
            <a:ext cx="1238100" cy="3648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 (root)</a:t>
            </a:r>
            <a:endParaRPr>
              <a:latin typeface="Courier New"/>
              <a:ea typeface="Courier New"/>
              <a:cs typeface="Courier New"/>
              <a:sym typeface="Courier New"/>
            </a:endParaRPr>
          </a:p>
        </p:txBody>
      </p:sp>
      <p:sp>
        <p:nvSpPr>
          <p:cNvPr id="1190" name="Google Shape;1190;p86"/>
          <p:cNvSpPr txBox="1"/>
          <p:nvPr/>
        </p:nvSpPr>
        <p:spPr>
          <a:xfrm>
            <a:off x="7832713" y="2411252"/>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.com</a:t>
            </a:r>
            <a:endParaRPr>
              <a:latin typeface="Calibri"/>
              <a:ea typeface="Calibri"/>
              <a:cs typeface="Calibri"/>
              <a:sym typeface="Calibri"/>
            </a:endParaRPr>
          </a:p>
        </p:txBody>
      </p:sp>
      <p:sp>
        <p:nvSpPr>
          <p:cNvPr id="1191" name="Google Shape;1191;p86"/>
          <p:cNvSpPr txBox="1"/>
          <p:nvPr/>
        </p:nvSpPr>
        <p:spPr>
          <a:xfrm>
            <a:off x="7518763" y="3357750"/>
            <a:ext cx="12963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google.com</a:t>
            </a:r>
            <a:endParaRPr sz="1200">
              <a:latin typeface="Calibri"/>
              <a:ea typeface="Calibri"/>
              <a:cs typeface="Calibri"/>
              <a:sym typeface="Calibri"/>
            </a:endParaRPr>
          </a:p>
        </p:txBody>
      </p:sp>
      <p:cxnSp>
        <p:nvCxnSpPr>
          <p:cNvPr id="1192" name="Google Shape;1192;p86"/>
          <p:cNvCxnSpPr>
            <a:stCxn id="1189" idx="2"/>
            <a:endCxn id="1190" idx="0"/>
          </p:cNvCxnSpPr>
          <p:nvPr/>
        </p:nvCxnSpPr>
        <p:spPr>
          <a:xfrm>
            <a:off x="8166925" y="1756948"/>
            <a:ext cx="0" cy="654300"/>
          </a:xfrm>
          <a:prstGeom prst="straightConnector1">
            <a:avLst/>
          </a:prstGeom>
          <a:noFill/>
          <a:ln cap="flat" cmpd="sng" w="9525">
            <a:solidFill>
              <a:srgbClr val="000000"/>
            </a:solidFill>
            <a:prstDash val="solid"/>
            <a:round/>
            <a:headEnd len="med" w="med" type="none"/>
            <a:tailEnd len="med" w="med" type="none"/>
          </a:ln>
        </p:spPr>
      </p:cxnSp>
      <p:cxnSp>
        <p:nvCxnSpPr>
          <p:cNvPr id="1193" name="Google Shape;1193;p86"/>
          <p:cNvCxnSpPr>
            <a:stCxn id="1190" idx="2"/>
            <a:endCxn id="1191" idx="0"/>
          </p:cNvCxnSpPr>
          <p:nvPr/>
        </p:nvCxnSpPr>
        <p:spPr>
          <a:xfrm>
            <a:off x="8166913" y="2804852"/>
            <a:ext cx="0" cy="552900"/>
          </a:xfrm>
          <a:prstGeom prst="straightConnector1">
            <a:avLst/>
          </a:prstGeom>
          <a:noFill/>
          <a:ln cap="flat" cmpd="sng" w="9525">
            <a:solidFill>
              <a:srgbClr val="000000"/>
            </a:solidFill>
            <a:prstDash val="solid"/>
            <a:round/>
            <a:headEnd len="med" w="med" type="none"/>
            <a:tailEnd len="med" w="med" type="none"/>
          </a:ln>
        </p:spPr>
      </p:cxnSp>
      <p:pic>
        <p:nvPicPr>
          <p:cNvPr id="1194" name="Google Shape;1194;p86"/>
          <p:cNvPicPr preferRelativeResize="0"/>
          <p:nvPr/>
        </p:nvPicPr>
        <p:blipFill rotWithShape="1">
          <a:blip r:embed="rId4">
            <a:alphaModFix/>
          </a:blip>
          <a:srcRect b="65159" l="10446" r="69908" t="13697"/>
          <a:stretch/>
        </p:blipFill>
        <p:spPr>
          <a:xfrm>
            <a:off x="7841463" y="4405638"/>
            <a:ext cx="650926" cy="700636"/>
          </a:xfrm>
          <a:prstGeom prst="rect">
            <a:avLst/>
          </a:prstGeom>
          <a:noFill/>
          <a:ln>
            <a:noFill/>
          </a:ln>
        </p:spPr>
      </p:pic>
      <p:grpSp>
        <p:nvGrpSpPr>
          <p:cNvPr id="1195" name="Google Shape;1195;p86"/>
          <p:cNvGrpSpPr/>
          <p:nvPr/>
        </p:nvGrpSpPr>
        <p:grpSpPr>
          <a:xfrm rot="-257560">
            <a:off x="3330741" y="4721977"/>
            <a:ext cx="4473000" cy="396604"/>
            <a:chOff x="812025" y="4154725"/>
            <a:chExt cx="4073100" cy="396600"/>
          </a:xfrm>
        </p:grpSpPr>
        <p:cxnSp>
          <p:nvCxnSpPr>
            <p:cNvPr id="1196" name="Google Shape;1196;p86"/>
            <p:cNvCxnSpPr/>
            <p:nvPr/>
          </p:nvCxnSpPr>
          <p:spPr>
            <a:xfrm>
              <a:off x="812025" y="4180882"/>
              <a:ext cx="4073100" cy="271800"/>
            </a:xfrm>
            <a:prstGeom prst="straightConnector1">
              <a:avLst/>
            </a:prstGeom>
            <a:noFill/>
            <a:ln cap="flat" cmpd="sng" w="19050">
              <a:solidFill>
                <a:srgbClr val="9E9E9E"/>
              </a:solidFill>
              <a:prstDash val="solid"/>
              <a:round/>
              <a:headEnd len="med" w="med" type="triangle"/>
              <a:tailEnd len="med" w="med" type="none"/>
            </a:ln>
          </p:spPr>
        </p:cxnSp>
        <p:sp>
          <p:nvSpPr>
            <p:cNvPr id="1197" name="Google Shape;1197;p86"/>
            <p:cNvSpPr txBox="1"/>
            <p:nvPr/>
          </p:nvSpPr>
          <p:spPr>
            <a:xfrm>
              <a:off x="1758306" y="4154725"/>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7</a:t>
              </a:r>
              <a:endParaRPr>
                <a:solidFill>
                  <a:srgbClr val="9E9E9E"/>
                </a:solidFill>
                <a:latin typeface="Calibri"/>
                <a:ea typeface="Calibri"/>
                <a:cs typeface="Calibri"/>
                <a:sym typeface="Calibri"/>
              </a:endParaRPr>
            </a:p>
          </p:txBody>
        </p:sp>
      </p:grpSp>
      <p:sp>
        <p:nvSpPr>
          <p:cNvPr id="1198" name="Google Shape;1198;p8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Kaminsky Attack: Example</a:t>
            </a:r>
            <a:endParaRPr/>
          </a:p>
        </p:txBody>
      </p:sp>
      <p:grpSp>
        <p:nvGrpSpPr>
          <p:cNvPr id="1199" name="Google Shape;1199;p86"/>
          <p:cNvGrpSpPr/>
          <p:nvPr/>
        </p:nvGrpSpPr>
        <p:grpSpPr>
          <a:xfrm>
            <a:off x="769875" y="1617199"/>
            <a:ext cx="410100" cy="572709"/>
            <a:chOff x="258935" y="2049228"/>
            <a:chExt cx="410100" cy="762900"/>
          </a:xfrm>
        </p:grpSpPr>
        <p:sp>
          <p:nvSpPr>
            <p:cNvPr id="1200" name="Google Shape;1200;p86"/>
            <p:cNvSpPr txBox="1"/>
            <p:nvPr/>
          </p:nvSpPr>
          <p:spPr>
            <a:xfrm>
              <a:off x="258935" y="2174852"/>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1</a:t>
              </a:r>
              <a:endParaRPr>
                <a:solidFill>
                  <a:srgbClr val="9E9E9E"/>
                </a:solidFill>
                <a:latin typeface="Calibri"/>
                <a:ea typeface="Calibri"/>
                <a:cs typeface="Calibri"/>
                <a:sym typeface="Calibri"/>
              </a:endParaRPr>
            </a:p>
          </p:txBody>
        </p:sp>
        <p:cxnSp>
          <p:nvCxnSpPr>
            <p:cNvPr id="1201" name="Google Shape;1201;p86"/>
            <p:cNvCxnSpPr/>
            <p:nvPr/>
          </p:nvCxnSpPr>
          <p:spPr>
            <a:xfrm rot="10800000">
              <a:off x="530725" y="2049228"/>
              <a:ext cx="0" cy="762900"/>
            </a:xfrm>
            <a:prstGeom prst="straightConnector1">
              <a:avLst/>
            </a:prstGeom>
            <a:noFill/>
            <a:ln cap="flat" cmpd="sng" w="19050">
              <a:solidFill>
                <a:srgbClr val="9E9E9E"/>
              </a:solidFill>
              <a:prstDash val="solid"/>
              <a:round/>
              <a:headEnd len="med" w="med" type="triangle"/>
              <a:tailEnd len="med" w="med" type="none"/>
            </a:ln>
          </p:spPr>
        </p:cxnSp>
      </p:grpSp>
      <p:grpSp>
        <p:nvGrpSpPr>
          <p:cNvPr id="1202" name="Google Shape;1202;p86"/>
          <p:cNvGrpSpPr/>
          <p:nvPr/>
        </p:nvGrpSpPr>
        <p:grpSpPr>
          <a:xfrm rot="-746418">
            <a:off x="3247846" y="1651999"/>
            <a:ext cx="4332671" cy="599908"/>
            <a:chOff x="812025" y="676049"/>
            <a:chExt cx="5609100" cy="3517200"/>
          </a:xfrm>
        </p:grpSpPr>
        <p:cxnSp>
          <p:nvCxnSpPr>
            <p:cNvPr id="1203" name="Google Shape;1203;p86"/>
            <p:cNvCxnSpPr/>
            <p:nvPr/>
          </p:nvCxnSpPr>
          <p:spPr>
            <a:xfrm flipH="1" rot="10800000">
              <a:off x="812025" y="2279674"/>
              <a:ext cx="5609100" cy="656100"/>
            </a:xfrm>
            <a:prstGeom prst="straightConnector1">
              <a:avLst/>
            </a:prstGeom>
            <a:noFill/>
            <a:ln cap="flat" cmpd="sng" w="19050">
              <a:solidFill>
                <a:srgbClr val="9E9E9E"/>
              </a:solidFill>
              <a:prstDash val="solid"/>
              <a:round/>
              <a:headEnd len="med" w="med" type="none"/>
              <a:tailEnd len="med" w="med" type="triangle"/>
            </a:ln>
          </p:spPr>
        </p:cxnSp>
        <p:sp>
          <p:nvSpPr>
            <p:cNvPr id="1204" name="Google Shape;1204;p86"/>
            <p:cNvSpPr txBox="1"/>
            <p:nvPr/>
          </p:nvSpPr>
          <p:spPr>
            <a:xfrm>
              <a:off x="1983444" y="676049"/>
              <a:ext cx="410100" cy="351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2</a:t>
              </a:r>
              <a:endParaRPr>
                <a:solidFill>
                  <a:srgbClr val="9E9E9E"/>
                </a:solidFill>
                <a:latin typeface="Calibri"/>
                <a:ea typeface="Calibri"/>
                <a:cs typeface="Calibri"/>
                <a:sym typeface="Calibri"/>
              </a:endParaRPr>
            </a:p>
          </p:txBody>
        </p:sp>
      </p:grpSp>
      <p:grpSp>
        <p:nvGrpSpPr>
          <p:cNvPr id="1205" name="Google Shape;1205;p86"/>
          <p:cNvGrpSpPr/>
          <p:nvPr/>
        </p:nvGrpSpPr>
        <p:grpSpPr>
          <a:xfrm rot="-497457">
            <a:off x="3255496" y="1882108"/>
            <a:ext cx="4379928" cy="602045"/>
            <a:chOff x="812025" y="2400972"/>
            <a:chExt cx="5609100" cy="808872"/>
          </a:xfrm>
        </p:grpSpPr>
        <p:cxnSp>
          <p:nvCxnSpPr>
            <p:cNvPr id="1206" name="Google Shape;1206;p86"/>
            <p:cNvCxnSpPr/>
            <p:nvPr/>
          </p:nvCxnSpPr>
          <p:spPr>
            <a:xfrm flipH="1" rot="10800000">
              <a:off x="812025" y="2400972"/>
              <a:ext cx="5609100" cy="656100"/>
            </a:xfrm>
            <a:prstGeom prst="straightConnector1">
              <a:avLst/>
            </a:prstGeom>
            <a:noFill/>
            <a:ln cap="flat" cmpd="sng" w="19050">
              <a:solidFill>
                <a:srgbClr val="9E9E9E"/>
              </a:solidFill>
              <a:prstDash val="solid"/>
              <a:round/>
              <a:headEnd len="med" w="med" type="triangle"/>
              <a:tailEnd len="med" w="med" type="none"/>
            </a:ln>
          </p:spPr>
        </p:cxnSp>
        <p:sp>
          <p:nvSpPr>
            <p:cNvPr id="1207" name="Google Shape;1207;p86"/>
            <p:cNvSpPr txBox="1"/>
            <p:nvPr/>
          </p:nvSpPr>
          <p:spPr>
            <a:xfrm>
              <a:off x="2046705" y="2813245"/>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3</a:t>
              </a:r>
              <a:endParaRPr>
                <a:solidFill>
                  <a:srgbClr val="9E9E9E"/>
                </a:solidFill>
                <a:latin typeface="Calibri"/>
                <a:ea typeface="Calibri"/>
                <a:cs typeface="Calibri"/>
                <a:sym typeface="Calibri"/>
              </a:endParaRPr>
            </a:p>
          </p:txBody>
        </p:sp>
      </p:grpSp>
      <p:sp>
        <p:nvSpPr>
          <p:cNvPr id="1208" name="Google Shape;1208;p86"/>
          <p:cNvSpPr txBox="1"/>
          <p:nvPr/>
        </p:nvSpPr>
        <p:spPr>
          <a:xfrm>
            <a:off x="2324125" y="1209350"/>
            <a:ext cx="4661700" cy="615600"/>
          </a:xfrm>
          <a:prstGeom prst="rect">
            <a:avLst/>
          </a:prstGeom>
          <a:solidFill>
            <a:srgbClr val="C9DAF8"/>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We don’t really care what next steps are involved in this request, as we have already poisoned the cache.</a:t>
            </a:r>
            <a:endParaRPr/>
          </a:p>
        </p:txBody>
      </p:sp>
      <p:sp>
        <p:nvSpPr>
          <p:cNvPr id="1209" name="Google Shape;1209;p86"/>
          <p:cNvSpPr txBox="1"/>
          <p:nvPr/>
        </p:nvSpPr>
        <p:spPr>
          <a:xfrm>
            <a:off x="3867850" y="2672740"/>
            <a:ext cx="225000" cy="36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4</a:t>
            </a:r>
            <a:endParaRPr>
              <a:solidFill>
                <a:srgbClr val="9E9E9E"/>
              </a:solidFill>
              <a:latin typeface="Calibri"/>
              <a:ea typeface="Calibri"/>
              <a:cs typeface="Calibri"/>
              <a:sym typeface="Calibri"/>
            </a:endParaRPr>
          </a:p>
        </p:txBody>
      </p:sp>
      <p:cxnSp>
        <p:nvCxnSpPr>
          <p:cNvPr id="1210" name="Google Shape;1210;p86"/>
          <p:cNvCxnSpPr/>
          <p:nvPr/>
        </p:nvCxnSpPr>
        <p:spPr>
          <a:xfrm flipH="1" rot="10462490">
            <a:off x="3290233" y="2728001"/>
            <a:ext cx="4544987" cy="112121"/>
          </a:xfrm>
          <a:prstGeom prst="straightConnector1">
            <a:avLst/>
          </a:prstGeom>
          <a:noFill/>
          <a:ln cap="flat" cmpd="sng" w="19050">
            <a:solidFill>
              <a:srgbClr val="9E9E9E"/>
            </a:solidFill>
            <a:prstDash val="solid"/>
            <a:round/>
            <a:headEnd len="med" w="med" type="none"/>
            <a:tailEnd len="med" w="med" type="triangle"/>
          </a:ln>
        </p:spPr>
      </p:cxnSp>
      <p:grpSp>
        <p:nvGrpSpPr>
          <p:cNvPr id="1211" name="Google Shape;1211;p86"/>
          <p:cNvGrpSpPr/>
          <p:nvPr/>
        </p:nvGrpSpPr>
        <p:grpSpPr>
          <a:xfrm rot="-254198">
            <a:off x="3294674" y="2878978"/>
            <a:ext cx="4536139" cy="275727"/>
            <a:chOff x="854584" y="3514625"/>
            <a:chExt cx="5116200" cy="493113"/>
          </a:xfrm>
        </p:grpSpPr>
        <p:cxnSp>
          <p:nvCxnSpPr>
            <p:cNvPr id="1212" name="Google Shape;1212;p86"/>
            <p:cNvCxnSpPr/>
            <p:nvPr/>
          </p:nvCxnSpPr>
          <p:spPr>
            <a:xfrm flipH="1" rot="10800000">
              <a:off x="854584" y="3514625"/>
              <a:ext cx="5116200" cy="249300"/>
            </a:xfrm>
            <a:prstGeom prst="straightConnector1">
              <a:avLst/>
            </a:prstGeom>
            <a:noFill/>
            <a:ln cap="flat" cmpd="sng" w="19050">
              <a:solidFill>
                <a:srgbClr val="9E9E9E"/>
              </a:solidFill>
              <a:prstDash val="solid"/>
              <a:round/>
              <a:headEnd len="med" w="med" type="triangle"/>
              <a:tailEnd len="med" w="med" type="none"/>
            </a:ln>
          </p:spPr>
        </p:cxnSp>
        <p:sp>
          <p:nvSpPr>
            <p:cNvPr id="1213" name="Google Shape;1213;p86"/>
            <p:cNvSpPr txBox="1"/>
            <p:nvPr/>
          </p:nvSpPr>
          <p:spPr>
            <a:xfrm>
              <a:off x="2113676" y="3611138"/>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5</a:t>
              </a:r>
              <a:endParaRPr>
                <a:solidFill>
                  <a:srgbClr val="9E9E9E"/>
                </a:solidFill>
                <a:latin typeface="Calibri"/>
                <a:ea typeface="Calibri"/>
                <a:cs typeface="Calibri"/>
                <a:sym typeface="Calibri"/>
              </a:endParaRPr>
            </a:p>
          </p:txBody>
        </p:sp>
      </p:grpSp>
      <p:grpSp>
        <p:nvGrpSpPr>
          <p:cNvPr id="1214" name="Google Shape;1214;p86"/>
          <p:cNvGrpSpPr/>
          <p:nvPr/>
        </p:nvGrpSpPr>
        <p:grpSpPr>
          <a:xfrm rot="-287833">
            <a:off x="3307445" y="3170211"/>
            <a:ext cx="4212902" cy="516546"/>
            <a:chOff x="932127" y="3739221"/>
            <a:chExt cx="4073100" cy="591629"/>
          </a:xfrm>
        </p:grpSpPr>
        <p:cxnSp>
          <p:nvCxnSpPr>
            <p:cNvPr id="1215" name="Google Shape;1215;p86"/>
            <p:cNvCxnSpPr/>
            <p:nvPr/>
          </p:nvCxnSpPr>
          <p:spPr>
            <a:xfrm>
              <a:off x="932127" y="4059050"/>
              <a:ext cx="4073100" cy="271800"/>
            </a:xfrm>
            <a:prstGeom prst="straightConnector1">
              <a:avLst/>
            </a:prstGeom>
            <a:noFill/>
            <a:ln cap="flat" cmpd="sng" w="19050">
              <a:solidFill>
                <a:srgbClr val="9E9E9E"/>
              </a:solidFill>
              <a:prstDash val="solid"/>
              <a:round/>
              <a:headEnd len="med" w="med" type="none"/>
              <a:tailEnd len="med" w="med" type="triangle"/>
            </a:ln>
          </p:spPr>
        </p:cxnSp>
        <p:sp>
          <p:nvSpPr>
            <p:cNvPr id="1216" name="Google Shape;1216;p86"/>
            <p:cNvSpPr txBox="1"/>
            <p:nvPr/>
          </p:nvSpPr>
          <p:spPr>
            <a:xfrm>
              <a:off x="1758300" y="3739221"/>
              <a:ext cx="410100" cy="44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6</a:t>
              </a:r>
              <a:endParaRPr>
                <a:solidFill>
                  <a:srgbClr val="9E9E9E"/>
                </a:solidFill>
                <a:latin typeface="Calibri"/>
                <a:ea typeface="Calibri"/>
                <a:cs typeface="Calibri"/>
                <a:sym typeface="Calibri"/>
              </a:endParaRPr>
            </a:p>
          </p:txBody>
        </p:sp>
      </p:gr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0" name="Shape 1220"/>
        <p:cNvGrpSpPr/>
        <p:nvPr/>
      </p:nvGrpSpPr>
      <p:grpSpPr>
        <a:xfrm>
          <a:off x="0" y="0"/>
          <a:ext cx="0" cy="0"/>
          <a:chOff x="0" y="0"/>
          <a:chExt cx="0" cy="0"/>
        </a:xfrm>
      </p:grpSpPr>
      <p:sp>
        <p:nvSpPr>
          <p:cNvPr id="1221" name="Google Shape;1221;p87"/>
          <p:cNvSpPr/>
          <p:nvPr/>
        </p:nvSpPr>
        <p:spPr>
          <a:xfrm>
            <a:off x="142425" y="2190750"/>
            <a:ext cx="3150600" cy="2866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87"/>
          <p:cNvSpPr txBox="1"/>
          <p:nvPr/>
        </p:nvSpPr>
        <p:spPr>
          <a:xfrm>
            <a:off x="555325" y="1223675"/>
            <a:ext cx="1642800" cy="3936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Stub Resolver</a:t>
            </a:r>
            <a:endParaRPr>
              <a:latin typeface="Calibri"/>
              <a:ea typeface="Calibri"/>
              <a:cs typeface="Calibri"/>
              <a:sym typeface="Calibri"/>
            </a:endParaRPr>
          </a:p>
        </p:txBody>
      </p:sp>
      <p:sp>
        <p:nvSpPr>
          <p:cNvPr id="1223" name="Google Shape;1223;p87"/>
          <p:cNvSpPr txBox="1"/>
          <p:nvPr/>
        </p:nvSpPr>
        <p:spPr>
          <a:xfrm>
            <a:off x="226125" y="2279151"/>
            <a:ext cx="29832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Recursive Resolver</a:t>
            </a:r>
            <a:endParaRPr>
              <a:latin typeface="Calibri"/>
              <a:ea typeface="Calibri"/>
              <a:cs typeface="Calibri"/>
              <a:sym typeface="Calibri"/>
            </a:endParaRPr>
          </a:p>
        </p:txBody>
      </p:sp>
      <p:pic>
        <p:nvPicPr>
          <p:cNvPr id="1224" name="Google Shape;1224;p87"/>
          <p:cNvPicPr preferRelativeResize="0"/>
          <p:nvPr/>
        </p:nvPicPr>
        <p:blipFill rotWithShape="1">
          <a:blip r:embed="rId3">
            <a:alphaModFix/>
          </a:blip>
          <a:srcRect b="57590" l="5310" r="80092" t="16627"/>
          <a:stretch/>
        </p:blipFill>
        <p:spPr>
          <a:xfrm>
            <a:off x="0" y="1144185"/>
            <a:ext cx="495580" cy="552599"/>
          </a:xfrm>
          <a:prstGeom prst="rect">
            <a:avLst/>
          </a:prstGeom>
          <a:noFill/>
          <a:ln>
            <a:noFill/>
          </a:ln>
        </p:spPr>
      </p:pic>
      <p:graphicFrame>
        <p:nvGraphicFramePr>
          <p:cNvPr id="1225" name="Google Shape;1225;p87"/>
          <p:cNvGraphicFramePr/>
          <p:nvPr/>
        </p:nvGraphicFramePr>
        <p:xfrm>
          <a:off x="226125" y="2672750"/>
          <a:ext cx="3000000" cy="3000000"/>
        </p:xfrm>
        <a:graphic>
          <a:graphicData uri="http://schemas.openxmlformats.org/drawingml/2006/table">
            <a:tbl>
              <a:tblPr>
                <a:noFill/>
                <a:tableStyleId>{8746E7DE-0C9E-4540-9031-B6CDA728326B}</a:tableStyleId>
              </a:tblPr>
              <a:tblGrid>
                <a:gridCol w="1491575"/>
                <a:gridCol w="1491575"/>
              </a:tblGrid>
              <a:tr h="347850">
                <a:tc gridSpan="2">
                  <a:txBody>
                    <a:bodyPr/>
                    <a:lstStyle/>
                    <a:p>
                      <a:pPr indent="0" lvl="0" marL="0" rtl="0" algn="ctr">
                        <a:spcBef>
                          <a:spcPts val="0"/>
                        </a:spcBef>
                        <a:spcAft>
                          <a:spcPts val="0"/>
                        </a:spcAft>
                        <a:buNone/>
                      </a:pPr>
                      <a:r>
                        <a:rPr lang="en" sz="1100">
                          <a:latin typeface="Courier New"/>
                          <a:ea typeface="Courier New"/>
                          <a:cs typeface="Courier New"/>
                          <a:sym typeface="Courier New"/>
                        </a:rPr>
                        <a:t>Recursive Resolver Cache</a:t>
                      </a:r>
                      <a:endParaRPr sz="1100">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solidFill>
                      <a:schemeClr val="lt1"/>
                    </a:solidFill>
                  </a:tcPr>
                </a:tc>
                <a:tc hMerge="1"/>
              </a:tr>
              <a:tr h="317600">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a.gtld-servers.net.</a:t>
                      </a:r>
                      <a:endParaRPr sz="900">
                        <a:solidFill>
                          <a:schemeClr val="dk1"/>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192.5.6.30</a:t>
                      </a:r>
                      <a:endParaRPr sz="900">
                        <a:solidFill>
                          <a:schemeClr val="dk1"/>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17600">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ns1.google.com.</a:t>
                      </a:r>
                      <a:endParaRPr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216.239.32.10</a:t>
                      </a:r>
                      <a:endParaRPr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17600">
                <a:tc>
                  <a:txBody>
                    <a:bodyPr/>
                    <a:lstStyle/>
                    <a:p>
                      <a:pPr indent="0" lvl="0" marL="0" rtl="0" algn="l">
                        <a:lnSpc>
                          <a:spcPct val="115000"/>
                        </a:lnSpc>
                        <a:spcBef>
                          <a:spcPts val="0"/>
                        </a:spcBef>
                        <a:spcAft>
                          <a:spcPts val="0"/>
                        </a:spcAft>
                        <a:buNone/>
                      </a:pPr>
                      <a:r>
                        <a:t/>
                      </a:r>
                      <a:endParaRPr b="1"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t/>
                      </a:r>
                      <a:endParaRPr b="1"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bl>
          </a:graphicData>
        </a:graphic>
      </p:graphicFrame>
      <p:sp>
        <p:nvSpPr>
          <p:cNvPr id="1226" name="Google Shape;1226;p8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227" name="Google Shape;1227;p87"/>
          <p:cNvSpPr txBox="1"/>
          <p:nvPr/>
        </p:nvSpPr>
        <p:spPr>
          <a:xfrm>
            <a:off x="7547875" y="1392148"/>
            <a:ext cx="1238100" cy="3648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 (root)</a:t>
            </a:r>
            <a:endParaRPr>
              <a:latin typeface="Courier New"/>
              <a:ea typeface="Courier New"/>
              <a:cs typeface="Courier New"/>
              <a:sym typeface="Courier New"/>
            </a:endParaRPr>
          </a:p>
        </p:txBody>
      </p:sp>
      <p:sp>
        <p:nvSpPr>
          <p:cNvPr id="1228" name="Google Shape;1228;p87"/>
          <p:cNvSpPr txBox="1"/>
          <p:nvPr/>
        </p:nvSpPr>
        <p:spPr>
          <a:xfrm>
            <a:off x="7832713" y="2411252"/>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.com</a:t>
            </a:r>
            <a:endParaRPr>
              <a:latin typeface="Calibri"/>
              <a:ea typeface="Calibri"/>
              <a:cs typeface="Calibri"/>
              <a:sym typeface="Calibri"/>
            </a:endParaRPr>
          </a:p>
        </p:txBody>
      </p:sp>
      <p:sp>
        <p:nvSpPr>
          <p:cNvPr id="1229" name="Google Shape;1229;p87"/>
          <p:cNvSpPr txBox="1"/>
          <p:nvPr/>
        </p:nvSpPr>
        <p:spPr>
          <a:xfrm>
            <a:off x="7518763" y="3357750"/>
            <a:ext cx="12963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google.com</a:t>
            </a:r>
            <a:endParaRPr sz="1200">
              <a:latin typeface="Calibri"/>
              <a:ea typeface="Calibri"/>
              <a:cs typeface="Calibri"/>
              <a:sym typeface="Calibri"/>
            </a:endParaRPr>
          </a:p>
        </p:txBody>
      </p:sp>
      <p:cxnSp>
        <p:nvCxnSpPr>
          <p:cNvPr id="1230" name="Google Shape;1230;p87"/>
          <p:cNvCxnSpPr>
            <a:stCxn id="1227" idx="2"/>
            <a:endCxn id="1228" idx="0"/>
          </p:cNvCxnSpPr>
          <p:nvPr/>
        </p:nvCxnSpPr>
        <p:spPr>
          <a:xfrm>
            <a:off x="8166925" y="1756948"/>
            <a:ext cx="0" cy="654300"/>
          </a:xfrm>
          <a:prstGeom prst="straightConnector1">
            <a:avLst/>
          </a:prstGeom>
          <a:noFill/>
          <a:ln cap="flat" cmpd="sng" w="9525">
            <a:solidFill>
              <a:srgbClr val="000000"/>
            </a:solidFill>
            <a:prstDash val="solid"/>
            <a:round/>
            <a:headEnd len="med" w="med" type="none"/>
            <a:tailEnd len="med" w="med" type="none"/>
          </a:ln>
        </p:spPr>
      </p:cxnSp>
      <p:cxnSp>
        <p:nvCxnSpPr>
          <p:cNvPr id="1231" name="Google Shape;1231;p87"/>
          <p:cNvCxnSpPr>
            <a:stCxn id="1228" idx="2"/>
            <a:endCxn id="1229" idx="0"/>
          </p:cNvCxnSpPr>
          <p:nvPr/>
        </p:nvCxnSpPr>
        <p:spPr>
          <a:xfrm>
            <a:off x="8166913" y="2804852"/>
            <a:ext cx="0" cy="552900"/>
          </a:xfrm>
          <a:prstGeom prst="straightConnector1">
            <a:avLst/>
          </a:prstGeom>
          <a:noFill/>
          <a:ln cap="flat" cmpd="sng" w="9525">
            <a:solidFill>
              <a:srgbClr val="000000"/>
            </a:solidFill>
            <a:prstDash val="solid"/>
            <a:round/>
            <a:headEnd len="med" w="med" type="none"/>
            <a:tailEnd len="med" w="med" type="none"/>
          </a:ln>
        </p:spPr>
      </p:cxnSp>
      <p:grpSp>
        <p:nvGrpSpPr>
          <p:cNvPr id="1232" name="Google Shape;1232;p87"/>
          <p:cNvGrpSpPr/>
          <p:nvPr/>
        </p:nvGrpSpPr>
        <p:grpSpPr>
          <a:xfrm rot="-437739">
            <a:off x="4423354" y="3334787"/>
            <a:ext cx="3067625" cy="465803"/>
            <a:chOff x="448278" y="3986883"/>
            <a:chExt cx="4436847" cy="465799"/>
          </a:xfrm>
        </p:grpSpPr>
        <p:cxnSp>
          <p:nvCxnSpPr>
            <p:cNvPr id="1233" name="Google Shape;1233;p87"/>
            <p:cNvCxnSpPr/>
            <p:nvPr/>
          </p:nvCxnSpPr>
          <p:spPr>
            <a:xfrm>
              <a:off x="812025" y="4180882"/>
              <a:ext cx="4073100" cy="271800"/>
            </a:xfrm>
            <a:prstGeom prst="straightConnector1">
              <a:avLst/>
            </a:prstGeom>
            <a:noFill/>
            <a:ln cap="flat" cmpd="sng" w="19050">
              <a:solidFill>
                <a:srgbClr val="000000"/>
              </a:solidFill>
              <a:prstDash val="solid"/>
              <a:round/>
              <a:headEnd len="med" w="med" type="triangle"/>
              <a:tailEnd len="med" w="med" type="none"/>
            </a:ln>
          </p:spPr>
        </p:cxnSp>
        <p:sp>
          <p:nvSpPr>
            <p:cNvPr id="1234" name="Google Shape;1234;p87"/>
            <p:cNvSpPr txBox="1"/>
            <p:nvPr/>
          </p:nvSpPr>
          <p:spPr>
            <a:xfrm>
              <a:off x="448278" y="3986883"/>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7</a:t>
              </a:r>
              <a:endParaRPr>
                <a:latin typeface="Calibri"/>
                <a:ea typeface="Calibri"/>
                <a:cs typeface="Calibri"/>
                <a:sym typeface="Calibri"/>
              </a:endParaRPr>
            </a:p>
          </p:txBody>
        </p:sp>
      </p:grpSp>
      <p:pic>
        <p:nvPicPr>
          <p:cNvPr id="1235" name="Google Shape;1235;p87"/>
          <p:cNvPicPr preferRelativeResize="0"/>
          <p:nvPr/>
        </p:nvPicPr>
        <p:blipFill rotWithShape="1">
          <a:blip r:embed="rId4">
            <a:alphaModFix/>
          </a:blip>
          <a:srcRect b="65159" l="10446" r="69908" t="13697"/>
          <a:stretch/>
        </p:blipFill>
        <p:spPr>
          <a:xfrm>
            <a:off x="7841463" y="4405638"/>
            <a:ext cx="650926" cy="700636"/>
          </a:xfrm>
          <a:prstGeom prst="rect">
            <a:avLst/>
          </a:prstGeom>
          <a:noFill/>
          <a:ln>
            <a:noFill/>
          </a:ln>
        </p:spPr>
      </p:pic>
      <p:grpSp>
        <p:nvGrpSpPr>
          <p:cNvPr id="1236" name="Google Shape;1236;p87"/>
          <p:cNvGrpSpPr/>
          <p:nvPr/>
        </p:nvGrpSpPr>
        <p:grpSpPr>
          <a:xfrm rot="-257537">
            <a:off x="4287925" y="4754920"/>
            <a:ext cx="3531916" cy="396604"/>
            <a:chOff x="812025" y="4154725"/>
            <a:chExt cx="4073100" cy="396600"/>
          </a:xfrm>
        </p:grpSpPr>
        <p:cxnSp>
          <p:nvCxnSpPr>
            <p:cNvPr id="1237" name="Google Shape;1237;p87"/>
            <p:cNvCxnSpPr/>
            <p:nvPr/>
          </p:nvCxnSpPr>
          <p:spPr>
            <a:xfrm>
              <a:off x="812025" y="4180882"/>
              <a:ext cx="4073100" cy="271800"/>
            </a:xfrm>
            <a:prstGeom prst="straightConnector1">
              <a:avLst/>
            </a:prstGeom>
            <a:noFill/>
            <a:ln cap="flat" cmpd="sng" w="19050">
              <a:solidFill>
                <a:srgbClr val="FF0000"/>
              </a:solidFill>
              <a:prstDash val="solid"/>
              <a:round/>
              <a:headEnd len="med" w="med" type="triangle"/>
              <a:tailEnd len="med" w="med" type="none"/>
            </a:ln>
          </p:spPr>
        </p:cxnSp>
        <p:sp>
          <p:nvSpPr>
            <p:cNvPr id="1238" name="Google Shape;1238;p87"/>
            <p:cNvSpPr txBox="1"/>
            <p:nvPr/>
          </p:nvSpPr>
          <p:spPr>
            <a:xfrm>
              <a:off x="1758306" y="4154725"/>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7</a:t>
              </a:r>
              <a:endParaRPr>
                <a:latin typeface="Calibri"/>
                <a:ea typeface="Calibri"/>
                <a:cs typeface="Calibri"/>
                <a:sym typeface="Calibri"/>
              </a:endParaRPr>
            </a:p>
          </p:txBody>
        </p:sp>
      </p:grpSp>
      <p:sp>
        <p:nvSpPr>
          <p:cNvPr id="1239" name="Google Shape;1239;p8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Kaminsky Attack: Example</a:t>
            </a:r>
            <a:endParaRPr/>
          </a:p>
        </p:txBody>
      </p:sp>
      <p:grpSp>
        <p:nvGrpSpPr>
          <p:cNvPr id="1240" name="Google Shape;1240;p87"/>
          <p:cNvGrpSpPr/>
          <p:nvPr/>
        </p:nvGrpSpPr>
        <p:grpSpPr>
          <a:xfrm>
            <a:off x="769875" y="1617199"/>
            <a:ext cx="410100" cy="572709"/>
            <a:chOff x="258935" y="2049228"/>
            <a:chExt cx="410100" cy="762900"/>
          </a:xfrm>
        </p:grpSpPr>
        <p:sp>
          <p:nvSpPr>
            <p:cNvPr id="1241" name="Google Shape;1241;p87"/>
            <p:cNvSpPr txBox="1"/>
            <p:nvPr/>
          </p:nvSpPr>
          <p:spPr>
            <a:xfrm>
              <a:off x="258935" y="2174852"/>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1</a:t>
              </a:r>
              <a:endParaRPr>
                <a:solidFill>
                  <a:srgbClr val="9E9E9E"/>
                </a:solidFill>
                <a:latin typeface="Calibri"/>
                <a:ea typeface="Calibri"/>
                <a:cs typeface="Calibri"/>
                <a:sym typeface="Calibri"/>
              </a:endParaRPr>
            </a:p>
          </p:txBody>
        </p:sp>
        <p:cxnSp>
          <p:nvCxnSpPr>
            <p:cNvPr id="1242" name="Google Shape;1242;p87"/>
            <p:cNvCxnSpPr/>
            <p:nvPr/>
          </p:nvCxnSpPr>
          <p:spPr>
            <a:xfrm rot="10800000">
              <a:off x="530725" y="2049228"/>
              <a:ext cx="0" cy="762900"/>
            </a:xfrm>
            <a:prstGeom prst="straightConnector1">
              <a:avLst/>
            </a:prstGeom>
            <a:noFill/>
            <a:ln cap="flat" cmpd="sng" w="19050">
              <a:solidFill>
                <a:srgbClr val="9E9E9E"/>
              </a:solidFill>
              <a:prstDash val="solid"/>
              <a:round/>
              <a:headEnd len="med" w="med" type="triangle"/>
              <a:tailEnd len="med" w="med" type="none"/>
            </a:ln>
          </p:spPr>
        </p:cxnSp>
      </p:grpSp>
      <p:grpSp>
        <p:nvGrpSpPr>
          <p:cNvPr id="1243" name="Google Shape;1243;p87"/>
          <p:cNvGrpSpPr/>
          <p:nvPr/>
        </p:nvGrpSpPr>
        <p:grpSpPr>
          <a:xfrm rot="-746418">
            <a:off x="3247846" y="1651999"/>
            <a:ext cx="4332671" cy="599908"/>
            <a:chOff x="812025" y="676049"/>
            <a:chExt cx="5609100" cy="3517200"/>
          </a:xfrm>
        </p:grpSpPr>
        <p:cxnSp>
          <p:nvCxnSpPr>
            <p:cNvPr id="1244" name="Google Shape;1244;p87"/>
            <p:cNvCxnSpPr/>
            <p:nvPr/>
          </p:nvCxnSpPr>
          <p:spPr>
            <a:xfrm flipH="1" rot="10800000">
              <a:off x="812025" y="2279674"/>
              <a:ext cx="5609100" cy="656100"/>
            </a:xfrm>
            <a:prstGeom prst="straightConnector1">
              <a:avLst/>
            </a:prstGeom>
            <a:noFill/>
            <a:ln cap="flat" cmpd="sng" w="19050">
              <a:solidFill>
                <a:srgbClr val="9E9E9E"/>
              </a:solidFill>
              <a:prstDash val="solid"/>
              <a:round/>
              <a:headEnd len="med" w="med" type="none"/>
              <a:tailEnd len="med" w="med" type="triangle"/>
            </a:ln>
          </p:spPr>
        </p:cxnSp>
        <p:sp>
          <p:nvSpPr>
            <p:cNvPr id="1245" name="Google Shape;1245;p87"/>
            <p:cNvSpPr txBox="1"/>
            <p:nvPr/>
          </p:nvSpPr>
          <p:spPr>
            <a:xfrm>
              <a:off x="1983444" y="676049"/>
              <a:ext cx="410100" cy="351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2</a:t>
              </a:r>
              <a:endParaRPr>
                <a:solidFill>
                  <a:srgbClr val="9E9E9E"/>
                </a:solidFill>
                <a:latin typeface="Calibri"/>
                <a:ea typeface="Calibri"/>
                <a:cs typeface="Calibri"/>
                <a:sym typeface="Calibri"/>
              </a:endParaRPr>
            </a:p>
          </p:txBody>
        </p:sp>
      </p:grpSp>
      <p:sp>
        <p:nvSpPr>
          <p:cNvPr id="1246" name="Google Shape;1246;p87"/>
          <p:cNvSpPr txBox="1"/>
          <p:nvPr/>
        </p:nvSpPr>
        <p:spPr>
          <a:xfrm>
            <a:off x="2368775" y="1238075"/>
            <a:ext cx="4596300" cy="393600"/>
          </a:xfrm>
          <a:prstGeom prst="rect">
            <a:avLst/>
          </a:prstGeom>
          <a:solidFill>
            <a:srgbClr val="C9DAF8"/>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What if Mallory didn’t guess the ID number correctly?</a:t>
            </a:r>
            <a:endParaRPr/>
          </a:p>
        </p:txBody>
      </p:sp>
      <p:grpSp>
        <p:nvGrpSpPr>
          <p:cNvPr id="1247" name="Google Shape;1247;p87"/>
          <p:cNvGrpSpPr/>
          <p:nvPr/>
        </p:nvGrpSpPr>
        <p:grpSpPr>
          <a:xfrm rot="-497457">
            <a:off x="3255496" y="1882108"/>
            <a:ext cx="4379928" cy="602045"/>
            <a:chOff x="812025" y="2400972"/>
            <a:chExt cx="5609100" cy="808872"/>
          </a:xfrm>
        </p:grpSpPr>
        <p:cxnSp>
          <p:nvCxnSpPr>
            <p:cNvPr id="1248" name="Google Shape;1248;p87"/>
            <p:cNvCxnSpPr/>
            <p:nvPr/>
          </p:nvCxnSpPr>
          <p:spPr>
            <a:xfrm flipH="1" rot="10800000">
              <a:off x="812025" y="2400972"/>
              <a:ext cx="5609100" cy="656100"/>
            </a:xfrm>
            <a:prstGeom prst="straightConnector1">
              <a:avLst/>
            </a:prstGeom>
            <a:noFill/>
            <a:ln cap="flat" cmpd="sng" w="19050">
              <a:solidFill>
                <a:srgbClr val="9E9E9E"/>
              </a:solidFill>
              <a:prstDash val="solid"/>
              <a:round/>
              <a:headEnd len="med" w="med" type="triangle"/>
              <a:tailEnd len="med" w="med" type="none"/>
            </a:ln>
          </p:spPr>
        </p:cxnSp>
        <p:sp>
          <p:nvSpPr>
            <p:cNvPr id="1249" name="Google Shape;1249;p87"/>
            <p:cNvSpPr txBox="1"/>
            <p:nvPr/>
          </p:nvSpPr>
          <p:spPr>
            <a:xfrm>
              <a:off x="2046705" y="2813245"/>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3</a:t>
              </a:r>
              <a:endParaRPr>
                <a:solidFill>
                  <a:srgbClr val="9E9E9E"/>
                </a:solidFill>
                <a:latin typeface="Calibri"/>
                <a:ea typeface="Calibri"/>
                <a:cs typeface="Calibri"/>
                <a:sym typeface="Calibri"/>
              </a:endParaRPr>
            </a:p>
          </p:txBody>
        </p:sp>
      </p:grpSp>
      <p:sp>
        <p:nvSpPr>
          <p:cNvPr id="1250" name="Google Shape;1250;p87"/>
          <p:cNvSpPr txBox="1"/>
          <p:nvPr/>
        </p:nvSpPr>
        <p:spPr>
          <a:xfrm>
            <a:off x="3867850" y="2672740"/>
            <a:ext cx="225000" cy="36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4</a:t>
            </a:r>
            <a:endParaRPr>
              <a:solidFill>
                <a:srgbClr val="9E9E9E"/>
              </a:solidFill>
              <a:latin typeface="Calibri"/>
              <a:ea typeface="Calibri"/>
              <a:cs typeface="Calibri"/>
              <a:sym typeface="Calibri"/>
            </a:endParaRPr>
          </a:p>
        </p:txBody>
      </p:sp>
      <p:cxnSp>
        <p:nvCxnSpPr>
          <p:cNvPr id="1251" name="Google Shape;1251;p87"/>
          <p:cNvCxnSpPr/>
          <p:nvPr/>
        </p:nvCxnSpPr>
        <p:spPr>
          <a:xfrm flipH="1" rot="10462490">
            <a:off x="3290233" y="2728001"/>
            <a:ext cx="4544987" cy="112121"/>
          </a:xfrm>
          <a:prstGeom prst="straightConnector1">
            <a:avLst/>
          </a:prstGeom>
          <a:noFill/>
          <a:ln cap="flat" cmpd="sng" w="19050">
            <a:solidFill>
              <a:srgbClr val="9E9E9E"/>
            </a:solidFill>
            <a:prstDash val="solid"/>
            <a:round/>
            <a:headEnd len="med" w="med" type="none"/>
            <a:tailEnd len="med" w="med" type="triangle"/>
          </a:ln>
        </p:spPr>
      </p:cxnSp>
      <p:grpSp>
        <p:nvGrpSpPr>
          <p:cNvPr id="1252" name="Google Shape;1252;p87"/>
          <p:cNvGrpSpPr/>
          <p:nvPr/>
        </p:nvGrpSpPr>
        <p:grpSpPr>
          <a:xfrm rot="-254198">
            <a:off x="3294674" y="2878978"/>
            <a:ext cx="4536139" cy="275727"/>
            <a:chOff x="854584" y="3514625"/>
            <a:chExt cx="5116200" cy="493113"/>
          </a:xfrm>
        </p:grpSpPr>
        <p:cxnSp>
          <p:nvCxnSpPr>
            <p:cNvPr id="1253" name="Google Shape;1253;p87"/>
            <p:cNvCxnSpPr/>
            <p:nvPr/>
          </p:nvCxnSpPr>
          <p:spPr>
            <a:xfrm flipH="1" rot="10800000">
              <a:off x="854584" y="3514625"/>
              <a:ext cx="5116200" cy="249300"/>
            </a:xfrm>
            <a:prstGeom prst="straightConnector1">
              <a:avLst/>
            </a:prstGeom>
            <a:noFill/>
            <a:ln cap="flat" cmpd="sng" w="19050">
              <a:solidFill>
                <a:srgbClr val="9E9E9E"/>
              </a:solidFill>
              <a:prstDash val="solid"/>
              <a:round/>
              <a:headEnd len="med" w="med" type="triangle"/>
              <a:tailEnd len="med" w="med" type="none"/>
            </a:ln>
          </p:spPr>
        </p:cxnSp>
        <p:sp>
          <p:nvSpPr>
            <p:cNvPr id="1254" name="Google Shape;1254;p87"/>
            <p:cNvSpPr txBox="1"/>
            <p:nvPr/>
          </p:nvSpPr>
          <p:spPr>
            <a:xfrm>
              <a:off x="2113676" y="3611138"/>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5</a:t>
              </a:r>
              <a:endParaRPr>
                <a:solidFill>
                  <a:srgbClr val="9E9E9E"/>
                </a:solidFill>
                <a:latin typeface="Calibri"/>
                <a:ea typeface="Calibri"/>
                <a:cs typeface="Calibri"/>
                <a:sym typeface="Calibri"/>
              </a:endParaRPr>
            </a:p>
          </p:txBody>
        </p:sp>
      </p:grpSp>
      <p:grpSp>
        <p:nvGrpSpPr>
          <p:cNvPr id="1255" name="Google Shape;1255;p87"/>
          <p:cNvGrpSpPr/>
          <p:nvPr/>
        </p:nvGrpSpPr>
        <p:grpSpPr>
          <a:xfrm rot="-287833">
            <a:off x="3307445" y="3170211"/>
            <a:ext cx="4212902" cy="516546"/>
            <a:chOff x="932127" y="3739221"/>
            <a:chExt cx="4073100" cy="591629"/>
          </a:xfrm>
        </p:grpSpPr>
        <p:cxnSp>
          <p:nvCxnSpPr>
            <p:cNvPr id="1256" name="Google Shape;1256;p87"/>
            <p:cNvCxnSpPr/>
            <p:nvPr/>
          </p:nvCxnSpPr>
          <p:spPr>
            <a:xfrm>
              <a:off x="932127" y="4059050"/>
              <a:ext cx="4073100" cy="271800"/>
            </a:xfrm>
            <a:prstGeom prst="straightConnector1">
              <a:avLst/>
            </a:prstGeom>
            <a:noFill/>
            <a:ln cap="flat" cmpd="sng" w="19050">
              <a:solidFill>
                <a:srgbClr val="9E9E9E"/>
              </a:solidFill>
              <a:prstDash val="solid"/>
              <a:round/>
              <a:headEnd len="med" w="med" type="none"/>
              <a:tailEnd len="med" w="med" type="triangle"/>
            </a:ln>
          </p:spPr>
        </p:cxnSp>
        <p:sp>
          <p:nvSpPr>
            <p:cNvPr id="1257" name="Google Shape;1257;p87"/>
            <p:cNvSpPr txBox="1"/>
            <p:nvPr/>
          </p:nvSpPr>
          <p:spPr>
            <a:xfrm>
              <a:off x="1758300" y="3739221"/>
              <a:ext cx="410100" cy="44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6</a:t>
              </a:r>
              <a:endParaRPr>
                <a:solidFill>
                  <a:srgbClr val="9E9E9E"/>
                </a:solidFill>
                <a:latin typeface="Calibri"/>
                <a:ea typeface="Calibri"/>
                <a:cs typeface="Calibri"/>
                <a:sym typeface="Calibri"/>
              </a:endParaRPr>
            </a:p>
          </p:txBody>
        </p:sp>
      </p:grpSp>
      <p:sp>
        <p:nvSpPr>
          <p:cNvPr id="1258" name="Google Shape;1258;p87"/>
          <p:cNvSpPr txBox="1"/>
          <p:nvPr/>
        </p:nvSpPr>
        <p:spPr>
          <a:xfrm>
            <a:off x="3293788" y="3890425"/>
            <a:ext cx="4240800" cy="912000"/>
          </a:xfrm>
          <a:prstGeom prst="rect">
            <a:avLst/>
          </a:prstGeom>
          <a:solidFill>
            <a:srgbClr val="E06666"/>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rPr>
              <a:t>“I don’t know. But I have delegated authority to the </a:t>
            </a:r>
            <a:r>
              <a:rPr b="1" lang="en" sz="1200">
                <a:solidFill>
                  <a:schemeClr val="dk1"/>
                </a:solidFill>
                <a:latin typeface="Courier New"/>
                <a:ea typeface="Courier New"/>
                <a:cs typeface="Courier New"/>
                <a:sym typeface="Courier New"/>
              </a:rPr>
              <a:t>fake1.google.com.</a:t>
            </a:r>
            <a:r>
              <a:rPr lang="en" sz="1200">
                <a:solidFill>
                  <a:schemeClr val="dk1"/>
                </a:solidFill>
              </a:rPr>
              <a:t> NS. This response has ID </a:t>
            </a:r>
            <a:r>
              <a:rPr b="1" lang="en" sz="1200">
                <a:solidFill>
                  <a:schemeClr val="dk1"/>
                </a:solidFill>
              </a:rPr>
              <a:t>129</a:t>
            </a:r>
            <a:r>
              <a:rPr lang="en" sz="1200">
                <a:solidFill>
                  <a:schemeClr val="dk1"/>
                </a:solidFill>
              </a:rPr>
              <a:t>.</a:t>
            </a:r>
            <a:endParaRPr sz="1200">
              <a:solidFill>
                <a:schemeClr val="dk1"/>
              </a:solidFill>
            </a:endParaRPr>
          </a:p>
          <a:p>
            <a:pPr indent="0" lvl="0" marL="0" rtl="0" algn="l">
              <a:spcBef>
                <a:spcPts val="0"/>
              </a:spcBef>
              <a:spcAft>
                <a:spcPts val="0"/>
              </a:spcAft>
              <a:buNone/>
            </a:pPr>
            <a:r>
              <a:rPr lang="en" sz="1200">
                <a:solidFill>
                  <a:schemeClr val="dk1"/>
                </a:solidFill>
              </a:rPr>
              <a:t>Authority: </a:t>
            </a:r>
            <a:r>
              <a:rPr b="1" lang="en" sz="1200">
                <a:solidFill>
                  <a:schemeClr val="dk1"/>
                </a:solidFill>
                <a:latin typeface="Courier New"/>
                <a:ea typeface="Courier New"/>
                <a:cs typeface="Courier New"/>
                <a:sym typeface="Courier New"/>
              </a:rPr>
              <a:t>fake1.google.com.</a:t>
            </a:r>
            <a:r>
              <a:rPr lang="en" sz="1200">
                <a:solidFill>
                  <a:schemeClr val="dk1"/>
                </a:solidFill>
              </a:rPr>
              <a:t> NS  </a:t>
            </a:r>
            <a:r>
              <a:rPr b="1" lang="en" sz="1200">
                <a:solidFill>
                  <a:schemeClr val="dk1"/>
                </a:solidFill>
                <a:latin typeface="Courier New"/>
                <a:ea typeface="Courier New"/>
                <a:cs typeface="Courier New"/>
                <a:sym typeface="Courier New"/>
              </a:rPr>
              <a:t>www.google.com</a:t>
            </a:r>
            <a:endParaRPr sz="1200">
              <a:solidFill>
                <a:schemeClr val="dk1"/>
              </a:solidFill>
            </a:endParaRPr>
          </a:p>
          <a:p>
            <a:pPr indent="0" lvl="0" marL="0" rtl="0" algn="l">
              <a:lnSpc>
                <a:spcPct val="115000"/>
              </a:lnSpc>
              <a:spcBef>
                <a:spcPts val="0"/>
              </a:spcBef>
              <a:spcAft>
                <a:spcPts val="0"/>
              </a:spcAft>
              <a:buNone/>
            </a:pPr>
            <a:r>
              <a:rPr lang="en" sz="1200">
                <a:solidFill>
                  <a:schemeClr val="dk1"/>
                </a:solidFill>
              </a:rPr>
              <a:t>Additional:  </a:t>
            </a:r>
            <a:r>
              <a:rPr b="1" lang="en" sz="1200">
                <a:solidFill>
                  <a:schemeClr val="dk1"/>
                </a:solidFill>
                <a:latin typeface="Courier New"/>
                <a:ea typeface="Courier New"/>
                <a:cs typeface="Courier New"/>
                <a:sym typeface="Courier New"/>
              </a:rPr>
              <a:t>www.google.com.</a:t>
            </a:r>
            <a:r>
              <a:rPr lang="en" sz="1200">
                <a:solidFill>
                  <a:schemeClr val="dk1"/>
                </a:solidFill>
              </a:rPr>
              <a:t> A </a:t>
            </a:r>
            <a:r>
              <a:rPr b="1" lang="en" sz="1200">
                <a:solidFill>
                  <a:schemeClr val="dk1"/>
                </a:solidFill>
                <a:latin typeface="Courier New"/>
                <a:ea typeface="Courier New"/>
                <a:cs typeface="Courier New"/>
                <a:sym typeface="Courier New"/>
              </a:rPr>
              <a:t>6.6.6.6</a:t>
            </a:r>
            <a:r>
              <a:rPr lang="en" sz="1200">
                <a:solidFill>
                  <a:schemeClr val="dk1"/>
                </a:solidFill>
              </a:rPr>
              <a:t>”</a:t>
            </a:r>
            <a:endParaRPr sz="1200"/>
          </a:p>
        </p:txBody>
      </p:sp>
      <p:cxnSp>
        <p:nvCxnSpPr>
          <p:cNvPr id="1259" name="Google Shape;1259;p87"/>
          <p:cNvCxnSpPr>
            <a:stCxn id="1258" idx="1"/>
            <a:endCxn id="1258" idx="3"/>
          </p:cNvCxnSpPr>
          <p:nvPr/>
        </p:nvCxnSpPr>
        <p:spPr>
          <a:xfrm>
            <a:off x="3293788" y="4346425"/>
            <a:ext cx="4240800" cy="0"/>
          </a:xfrm>
          <a:prstGeom prst="straightConnector1">
            <a:avLst/>
          </a:prstGeom>
          <a:noFill/>
          <a:ln cap="flat" cmpd="sng" w="9525">
            <a:solidFill>
              <a:schemeClr val="dk2"/>
            </a:solidFill>
            <a:prstDash val="solid"/>
            <a:round/>
            <a:headEnd len="med" w="med" type="none"/>
            <a:tailEnd len="med" w="med" type="none"/>
          </a:ln>
        </p:spPr>
      </p:cxnSp>
      <p:sp>
        <p:nvSpPr>
          <p:cNvPr id="1260" name="Google Shape;1260;p87"/>
          <p:cNvSpPr txBox="1"/>
          <p:nvPr/>
        </p:nvSpPr>
        <p:spPr>
          <a:xfrm>
            <a:off x="2911875" y="3246075"/>
            <a:ext cx="4596300" cy="3648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t>“</a:t>
            </a:r>
            <a:r>
              <a:rPr b="1" lang="en" sz="1200">
                <a:latin typeface="Courier New"/>
                <a:ea typeface="Courier New"/>
                <a:cs typeface="Courier New"/>
                <a:sym typeface="Courier New"/>
              </a:rPr>
              <a:t>fake1.google.com </a:t>
            </a:r>
            <a:r>
              <a:rPr lang="en" sz="1200"/>
              <a:t>doesn’t exist! </a:t>
            </a:r>
            <a:r>
              <a:rPr lang="en" sz="1200">
                <a:solidFill>
                  <a:schemeClr val="dk1"/>
                </a:solidFill>
              </a:rPr>
              <a:t>This response has ID </a:t>
            </a:r>
            <a:r>
              <a:rPr b="1" lang="en" sz="1200">
                <a:solidFill>
                  <a:schemeClr val="dk1"/>
                </a:solidFill>
              </a:rPr>
              <a:t>774</a:t>
            </a:r>
            <a:r>
              <a:rPr lang="en" sz="1200">
                <a:solidFill>
                  <a:schemeClr val="dk1"/>
                </a:solidFill>
              </a:rPr>
              <a:t>.”</a:t>
            </a:r>
            <a:endParaRPr sz="1200"/>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4" name="Shape 1264"/>
        <p:cNvGrpSpPr/>
        <p:nvPr/>
      </p:nvGrpSpPr>
      <p:grpSpPr>
        <a:xfrm>
          <a:off x="0" y="0"/>
          <a:ext cx="0" cy="0"/>
          <a:chOff x="0" y="0"/>
          <a:chExt cx="0" cy="0"/>
        </a:xfrm>
      </p:grpSpPr>
      <p:sp>
        <p:nvSpPr>
          <p:cNvPr id="1265" name="Google Shape;1265;p88"/>
          <p:cNvSpPr/>
          <p:nvPr/>
        </p:nvSpPr>
        <p:spPr>
          <a:xfrm>
            <a:off x="142425" y="2190750"/>
            <a:ext cx="3150600" cy="2866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88"/>
          <p:cNvSpPr txBox="1"/>
          <p:nvPr/>
        </p:nvSpPr>
        <p:spPr>
          <a:xfrm>
            <a:off x="555325" y="1223675"/>
            <a:ext cx="1642800" cy="3936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Stub Resolver</a:t>
            </a:r>
            <a:endParaRPr>
              <a:latin typeface="Calibri"/>
              <a:ea typeface="Calibri"/>
              <a:cs typeface="Calibri"/>
              <a:sym typeface="Calibri"/>
            </a:endParaRPr>
          </a:p>
        </p:txBody>
      </p:sp>
      <p:sp>
        <p:nvSpPr>
          <p:cNvPr id="1267" name="Google Shape;1267;p88"/>
          <p:cNvSpPr txBox="1"/>
          <p:nvPr/>
        </p:nvSpPr>
        <p:spPr>
          <a:xfrm>
            <a:off x="226125" y="2279151"/>
            <a:ext cx="29832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Recursive Resolver</a:t>
            </a:r>
            <a:endParaRPr>
              <a:latin typeface="Calibri"/>
              <a:ea typeface="Calibri"/>
              <a:cs typeface="Calibri"/>
              <a:sym typeface="Calibri"/>
            </a:endParaRPr>
          </a:p>
        </p:txBody>
      </p:sp>
      <p:pic>
        <p:nvPicPr>
          <p:cNvPr id="1268" name="Google Shape;1268;p88"/>
          <p:cNvPicPr preferRelativeResize="0"/>
          <p:nvPr/>
        </p:nvPicPr>
        <p:blipFill rotWithShape="1">
          <a:blip r:embed="rId3">
            <a:alphaModFix/>
          </a:blip>
          <a:srcRect b="57590" l="5310" r="80092" t="16627"/>
          <a:stretch/>
        </p:blipFill>
        <p:spPr>
          <a:xfrm>
            <a:off x="0" y="1144185"/>
            <a:ext cx="495580" cy="552599"/>
          </a:xfrm>
          <a:prstGeom prst="rect">
            <a:avLst/>
          </a:prstGeom>
          <a:noFill/>
          <a:ln>
            <a:noFill/>
          </a:ln>
        </p:spPr>
      </p:pic>
      <p:graphicFrame>
        <p:nvGraphicFramePr>
          <p:cNvPr id="1269" name="Google Shape;1269;p88"/>
          <p:cNvGraphicFramePr/>
          <p:nvPr/>
        </p:nvGraphicFramePr>
        <p:xfrm>
          <a:off x="226125" y="2672750"/>
          <a:ext cx="3000000" cy="3000000"/>
        </p:xfrm>
        <a:graphic>
          <a:graphicData uri="http://schemas.openxmlformats.org/drawingml/2006/table">
            <a:tbl>
              <a:tblPr>
                <a:noFill/>
                <a:tableStyleId>{8746E7DE-0C9E-4540-9031-B6CDA728326B}</a:tableStyleId>
              </a:tblPr>
              <a:tblGrid>
                <a:gridCol w="1491575"/>
                <a:gridCol w="1491575"/>
              </a:tblGrid>
              <a:tr h="347850">
                <a:tc gridSpan="2">
                  <a:txBody>
                    <a:bodyPr/>
                    <a:lstStyle/>
                    <a:p>
                      <a:pPr indent="0" lvl="0" marL="0" rtl="0" algn="ctr">
                        <a:spcBef>
                          <a:spcPts val="0"/>
                        </a:spcBef>
                        <a:spcAft>
                          <a:spcPts val="0"/>
                        </a:spcAft>
                        <a:buNone/>
                      </a:pPr>
                      <a:r>
                        <a:rPr lang="en" sz="1100">
                          <a:latin typeface="Courier New"/>
                          <a:ea typeface="Courier New"/>
                          <a:cs typeface="Courier New"/>
                          <a:sym typeface="Courier New"/>
                        </a:rPr>
                        <a:t>Recursive Resolver Cache</a:t>
                      </a:r>
                      <a:endParaRPr sz="1100">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solidFill>
                      <a:schemeClr val="lt1"/>
                    </a:solidFill>
                  </a:tcPr>
                </a:tc>
                <a:tc hMerge="1"/>
              </a:tr>
              <a:tr h="317600">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a.gtld-servers.net.</a:t>
                      </a:r>
                      <a:endParaRPr sz="900">
                        <a:solidFill>
                          <a:schemeClr val="dk1"/>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192.5.6.30</a:t>
                      </a:r>
                      <a:endParaRPr sz="900">
                        <a:solidFill>
                          <a:schemeClr val="dk1"/>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17600">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ns1.google.com.</a:t>
                      </a:r>
                      <a:endParaRPr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216.239.32.10</a:t>
                      </a:r>
                      <a:endParaRPr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17600">
                <a:tc>
                  <a:txBody>
                    <a:bodyPr/>
                    <a:lstStyle/>
                    <a:p>
                      <a:pPr indent="0" lvl="0" marL="0" rtl="0" algn="l">
                        <a:lnSpc>
                          <a:spcPct val="115000"/>
                        </a:lnSpc>
                        <a:spcBef>
                          <a:spcPts val="0"/>
                        </a:spcBef>
                        <a:spcAft>
                          <a:spcPts val="0"/>
                        </a:spcAft>
                        <a:buNone/>
                      </a:pPr>
                      <a:r>
                        <a:t/>
                      </a:r>
                      <a:endParaRPr b="1"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t/>
                      </a:r>
                      <a:endParaRPr b="1"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bl>
          </a:graphicData>
        </a:graphic>
      </p:graphicFrame>
      <p:sp>
        <p:nvSpPr>
          <p:cNvPr id="1270" name="Google Shape;1270;p8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271" name="Google Shape;1271;p88"/>
          <p:cNvSpPr txBox="1"/>
          <p:nvPr/>
        </p:nvSpPr>
        <p:spPr>
          <a:xfrm>
            <a:off x="7547875" y="1392148"/>
            <a:ext cx="1238100" cy="3648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 (root)</a:t>
            </a:r>
            <a:endParaRPr>
              <a:latin typeface="Courier New"/>
              <a:ea typeface="Courier New"/>
              <a:cs typeface="Courier New"/>
              <a:sym typeface="Courier New"/>
            </a:endParaRPr>
          </a:p>
        </p:txBody>
      </p:sp>
      <p:sp>
        <p:nvSpPr>
          <p:cNvPr id="1272" name="Google Shape;1272;p88"/>
          <p:cNvSpPr txBox="1"/>
          <p:nvPr/>
        </p:nvSpPr>
        <p:spPr>
          <a:xfrm>
            <a:off x="7832713" y="2411252"/>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.com</a:t>
            </a:r>
            <a:endParaRPr>
              <a:latin typeface="Calibri"/>
              <a:ea typeface="Calibri"/>
              <a:cs typeface="Calibri"/>
              <a:sym typeface="Calibri"/>
            </a:endParaRPr>
          </a:p>
        </p:txBody>
      </p:sp>
      <p:sp>
        <p:nvSpPr>
          <p:cNvPr id="1273" name="Google Shape;1273;p88"/>
          <p:cNvSpPr txBox="1"/>
          <p:nvPr/>
        </p:nvSpPr>
        <p:spPr>
          <a:xfrm>
            <a:off x="7518763" y="3357750"/>
            <a:ext cx="12963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google.com</a:t>
            </a:r>
            <a:endParaRPr sz="1200">
              <a:latin typeface="Calibri"/>
              <a:ea typeface="Calibri"/>
              <a:cs typeface="Calibri"/>
              <a:sym typeface="Calibri"/>
            </a:endParaRPr>
          </a:p>
        </p:txBody>
      </p:sp>
      <p:cxnSp>
        <p:nvCxnSpPr>
          <p:cNvPr id="1274" name="Google Shape;1274;p88"/>
          <p:cNvCxnSpPr>
            <a:stCxn id="1271" idx="2"/>
            <a:endCxn id="1272" idx="0"/>
          </p:cNvCxnSpPr>
          <p:nvPr/>
        </p:nvCxnSpPr>
        <p:spPr>
          <a:xfrm>
            <a:off x="8166925" y="1756948"/>
            <a:ext cx="0" cy="654300"/>
          </a:xfrm>
          <a:prstGeom prst="straightConnector1">
            <a:avLst/>
          </a:prstGeom>
          <a:noFill/>
          <a:ln cap="flat" cmpd="sng" w="9525">
            <a:solidFill>
              <a:srgbClr val="000000"/>
            </a:solidFill>
            <a:prstDash val="solid"/>
            <a:round/>
            <a:headEnd len="med" w="med" type="none"/>
            <a:tailEnd len="med" w="med" type="none"/>
          </a:ln>
        </p:spPr>
      </p:cxnSp>
      <p:cxnSp>
        <p:nvCxnSpPr>
          <p:cNvPr id="1275" name="Google Shape;1275;p88"/>
          <p:cNvCxnSpPr>
            <a:stCxn id="1272" idx="2"/>
            <a:endCxn id="1273" idx="0"/>
          </p:cNvCxnSpPr>
          <p:nvPr/>
        </p:nvCxnSpPr>
        <p:spPr>
          <a:xfrm>
            <a:off x="8166913" y="2804852"/>
            <a:ext cx="0" cy="552900"/>
          </a:xfrm>
          <a:prstGeom prst="straightConnector1">
            <a:avLst/>
          </a:prstGeom>
          <a:noFill/>
          <a:ln cap="flat" cmpd="sng" w="9525">
            <a:solidFill>
              <a:srgbClr val="000000"/>
            </a:solidFill>
            <a:prstDash val="solid"/>
            <a:round/>
            <a:headEnd len="med" w="med" type="none"/>
            <a:tailEnd len="med" w="med" type="none"/>
          </a:ln>
        </p:spPr>
      </p:cxnSp>
      <p:grpSp>
        <p:nvGrpSpPr>
          <p:cNvPr id="1276" name="Google Shape;1276;p88"/>
          <p:cNvGrpSpPr/>
          <p:nvPr/>
        </p:nvGrpSpPr>
        <p:grpSpPr>
          <a:xfrm rot="-437739">
            <a:off x="4423354" y="3334787"/>
            <a:ext cx="3067625" cy="465803"/>
            <a:chOff x="448278" y="3986883"/>
            <a:chExt cx="4436847" cy="465799"/>
          </a:xfrm>
        </p:grpSpPr>
        <p:cxnSp>
          <p:nvCxnSpPr>
            <p:cNvPr id="1277" name="Google Shape;1277;p88"/>
            <p:cNvCxnSpPr/>
            <p:nvPr/>
          </p:nvCxnSpPr>
          <p:spPr>
            <a:xfrm>
              <a:off x="812025" y="4180882"/>
              <a:ext cx="4073100" cy="271800"/>
            </a:xfrm>
            <a:prstGeom prst="straightConnector1">
              <a:avLst/>
            </a:prstGeom>
            <a:noFill/>
            <a:ln cap="flat" cmpd="sng" w="19050">
              <a:solidFill>
                <a:srgbClr val="000000"/>
              </a:solidFill>
              <a:prstDash val="solid"/>
              <a:round/>
              <a:headEnd len="med" w="med" type="triangle"/>
              <a:tailEnd len="med" w="med" type="none"/>
            </a:ln>
          </p:spPr>
        </p:cxnSp>
        <p:sp>
          <p:nvSpPr>
            <p:cNvPr id="1278" name="Google Shape;1278;p88"/>
            <p:cNvSpPr txBox="1"/>
            <p:nvPr/>
          </p:nvSpPr>
          <p:spPr>
            <a:xfrm>
              <a:off x="448278" y="3986883"/>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7</a:t>
              </a:r>
              <a:endParaRPr>
                <a:latin typeface="Calibri"/>
                <a:ea typeface="Calibri"/>
                <a:cs typeface="Calibri"/>
                <a:sym typeface="Calibri"/>
              </a:endParaRPr>
            </a:p>
          </p:txBody>
        </p:sp>
      </p:grpSp>
      <p:pic>
        <p:nvPicPr>
          <p:cNvPr id="1279" name="Google Shape;1279;p88"/>
          <p:cNvPicPr preferRelativeResize="0"/>
          <p:nvPr/>
        </p:nvPicPr>
        <p:blipFill rotWithShape="1">
          <a:blip r:embed="rId4">
            <a:alphaModFix/>
          </a:blip>
          <a:srcRect b="65159" l="10446" r="69908" t="13697"/>
          <a:stretch/>
        </p:blipFill>
        <p:spPr>
          <a:xfrm>
            <a:off x="7841463" y="4405638"/>
            <a:ext cx="650926" cy="700636"/>
          </a:xfrm>
          <a:prstGeom prst="rect">
            <a:avLst/>
          </a:prstGeom>
          <a:noFill/>
          <a:ln>
            <a:noFill/>
          </a:ln>
        </p:spPr>
      </p:pic>
      <p:grpSp>
        <p:nvGrpSpPr>
          <p:cNvPr id="1280" name="Google Shape;1280;p88"/>
          <p:cNvGrpSpPr/>
          <p:nvPr/>
        </p:nvGrpSpPr>
        <p:grpSpPr>
          <a:xfrm rot="-255695">
            <a:off x="3304497" y="4729829"/>
            <a:ext cx="4516521" cy="396630"/>
            <a:chOff x="812025" y="4154725"/>
            <a:chExt cx="4073100" cy="396600"/>
          </a:xfrm>
        </p:grpSpPr>
        <p:cxnSp>
          <p:nvCxnSpPr>
            <p:cNvPr id="1281" name="Google Shape;1281;p88"/>
            <p:cNvCxnSpPr/>
            <p:nvPr/>
          </p:nvCxnSpPr>
          <p:spPr>
            <a:xfrm>
              <a:off x="812025" y="4180882"/>
              <a:ext cx="4073100" cy="271800"/>
            </a:xfrm>
            <a:prstGeom prst="straightConnector1">
              <a:avLst/>
            </a:prstGeom>
            <a:noFill/>
            <a:ln cap="flat" cmpd="sng" w="19050">
              <a:solidFill>
                <a:srgbClr val="FF0000"/>
              </a:solidFill>
              <a:prstDash val="solid"/>
              <a:round/>
              <a:headEnd len="med" w="med" type="triangle"/>
              <a:tailEnd len="med" w="med" type="none"/>
            </a:ln>
          </p:spPr>
        </p:cxnSp>
        <p:sp>
          <p:nvSpPr>
            <p:cNvPr id="1282" name="Google Shape;1282;p88"/>
            <p:cNvSpPr txBox="1"/>
            <p:nvPr/>
          </p:nvSpPr>
          <p:spPr>
            <a:xfrm>
              <a:off x="1758306" y="4154725"/>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7</a:t>
              </a:r>
              <a:endParaRPr>
                <a:latin typeface="Calibri"/>
                <a:ea typeface="Calibri"/>
                <a:cs typeface="Calibri"/>
                <a:sym typeface="Calibri"/>
              </a:endParaRPr>
            </a:p>
          </p:txBody>
        </p:sp>
      </p:grpSp>
      <p:sp>
        <p:nvSpPr>
          <p:cNvPr id="1283" name="Google Shape;1283;p8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Kaminsky Attack: Example</a:t>
            </a:r>
            <a:endParaRPr/>
          </a:p>
        </p:txBody>
      </p:sp>
      <p:sp>
        <p:nvSpPr>
          <p:cNvPr id="1284" name="Google Shape;1284;p88"/>
          <p:cNvSpPr txBox="1"/>
          <p:nvPr/>
        </p:nvSpPr>
        <p:spPr>
          <a:xfrm>
            <a:off x="226125" y="4090550"/>
            <a:ext cx="2419500" cy="916800"/>
          </a:xfrm>
          <a:prstGeom prst="rect">
            <a:avLst/>
          </a:prstGeom>
          <a:solidFill>
            <a:srgbClr val="C9DAF8"/>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t>The recursive resolver discards the response packet from Mallory, because the ID does not match the ID from the request.</a:t>
            </a:r>
            <a:endParaRPr sz="1200"/>
          </a:p>
        </p:txBody>
      </p:sp>
      <p:grpSp>
        <p:nvGrpSpPr>
          <p:cNvPr id="1285" name="Google Shape;1285;p88"/>
          <p:cNvGrpSpPr/>
          <p:nvPr/>
        </p:nvGrpSpPr>
        <p:grpSpPr>
          <a:xfrm>
            <a:off x="769875" y="1617199"/>
            <a:ext cx="410100" cy="572709"/>
            <a:chOff x="258935" y="2049228"/>
            <a:chExt cx="410100" cy="762900"/>
          </a:xfrm>
        </p:grpSpPr>
        <p:sp>
          <p:nvSpPr>
            <p:cNvPr id="1286" name="Google Shape;1286;p88"/>
            <p:cNvSpPr txBox="1"/>
            <p:nvPr/>
          </p:nvSpPr>
          <p:spPr>
            <a:xfrm>
              <a:off x="258935" y="2174852"/>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1</a:t>
              </a:r>
              <a:endParaRPr>
                <a:solidFill>
                  <a:srgbClr val="9E9E9E"/>
                </a:solidFill>
                <a:latin typeface="Calibri"/>
                <a:ea typeface="Calibri"/>
                <a:cs typeface="Calibri"/>
                <a:sym typeface="Calibri"/>
              </a:endParaRPr>
            </a:p>
          </p:txBody>
        </p:sp>
        <p:cxnSp>
          <p:nvCxnSpPr>
            <p:cNvPr id="1287" name="Google Shape;1287;p88"/>
            <p:cNvCxnSpPr/>
            <p:nvPr/>
          </p:nvCxnSpPr>
          <p:spPr>
            <a:xfrm rot="10800000">
              <a:off x="530725" y="2049228"/>
              <a:ext cx="0" cy="762900"/>
            </a:xfrm>
            <a:prstGeom prst="straightConnector1">
              <a:avLst/>
            </a:prstGeom>
            <a:noFill/>
            <a:ln cap="flat" cmpd="sng" w="19050">
              <a:solidFill>
                <a:srgbClr val="9E9E9E"/>
              </a:solidFill>
              <a:prstDash val="solid"/>
              <a:round/>
              <a:headEnd len="med" w="med" type="triangle"/>
              <a:tailEnd len="med" w="med" type="none"/>
            </a:ln>
          </p:spPr>
        </p:cxnSp>
      </p:grpSp>
      <p:grpSp>
        <p:nvGrpSpPr>
          <p:cNvPr id="1288" name="Google Shape;1288;p88"/>
          <p:cNvGrpSpPr/>
          <p:nvPr/>
        </p:nvGrpSpPr>
        <p:grpSpPr>
          <a:xfrm rot="-746418">
            <a:off x="3247846" y="1651999"/>
            <a:ext cx="4332671" cy="599908"/>
            <a:chOff x="812025" y="676049"/>
            <a:chExt cx="5609100" cy="3517200"/>
          </a:xfrm>
        </p:grpSpPr>
        <p:cxnSp>
          <p:nvCxnSpPr>
            <p:cNvPr id="1289" name="Google Shape;1289;p88"/>
            <p:cNvCxnSpPr/>
            <p:nvPr/>
          </p:nvCxnSpPr>
          <p:spPr>
            <a:xfrm flipH="1" rot="10800000">
              <a:off x="812025" y="2279674"/>
              <a:ext cx="5609100" cy="656100"/>
            </a:xfrm>
            <a:prstGeom prst="straightConnector1">
              <a:avLst/>
            </a:prstGeom>
            <a:noFill/>
            <a:ln cap="flat" cmpd="sng" w="19050">
              <a:solidFill>
                <a:srgbClr val="9E9E9E"/>
              </a:solidFill>
              <a:prstDash val="solid"/>
              <a:round/>
              <a:headEnd len="med" w="med" type="none"/>
              <a:tailEnd len="med" w="med" type="triangle"/>
            </a:ln>
          </p:spPr>
        </p:cxnSp>
        <p:sp>
          <p:nvSpPr>
            <p:cNvPr id="1290" name="Google Shape;1290;p88"/>
            <p:cNvSpPr txBox="1"/>
            <p:nvPr/>
          </p:nvSpPr>
          <p:spPr>
            <a:xfrm>
              <a:off x="1983444" y="676049"/>
              <a:ext cx="410100" cy="351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2</a:t>
              </a:r>
              <a:endParaRPr>
                <a:solidFill>
                  <a:srgbClr val="9E9E9E"/>
                </a:solidFill>
                <a:latin typeface="Calibri"/>
                <a:ea typeface="Calibri"/>
                <a:cs typeface="Calibri"/>
                <a:sym typeface="Calibri"/>
              </a:endParaRPr>
            </a:p>
          </p:txBody>
        </p:sp>
      </p:grpSp>
      <p:sp>
        <p:nvSpPr>
          <p:cNvPr id="1291" name="Google Shape;1291;p88"/>
          <p:cNvSpPr txBox="1"/>
          <p:nvPr/>
        </p:nvSpPr>
        <p:spPr>
          <a:xfrm>
            <a:off x="2368775" y="1238075"/>
            <a:ext cx="4596300" cy="393600"/>
          </a:xfrm>
          <a:prstGeom prst="rect">
            <a:avLst/>
          </a:prstGeom>
          <a:solidFill>
            <a:srgbClr val="C9DAF8"/>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What if Mallory didn’t guess the ID number correctly?</a:t>
            </a:r>
            <a:endParaRPr/>
          </a:p>
        </p:txBody>
      </p:sp>
      <p:grpSp>
        <p:nvGrpSpPr>
          <p:cNvPr id="1292" name="Google Shape;1292;p88"/>
          <p:cNvGrpSpPr/>
          <p:nvPr/>
        </p:nvGrpSpPr>
        <p:grpSpPr>
          <a:xfrm rot="-497457">
            <a:off x="3255496" y="1882108"/>
            <a:ext cx="4379928" cy="602045"/>
            <a:chOff x="812025" y="2400972"/>
            <a:chExt cx="5609100" cy="808872"/>
          </a:xfrm>
        </p:grpSpPr>
        <p:cxnSp>
          <p:nvCxnSpPr>
            <p:cNvPr id="1293" name="Google Shape;1293;p88"/>
            <p:cNvCxnSpPr/>
            <p:nvPr/>
          </p:nvCxnSpPr>
          <p:spPr>
            <a:xfrm flipH="1" rot="10800000">
              <a:off x="812025" y="2400972"/>
              <a:ext cx="5609100" cy="656100"/>
            </a:xfrm>
            <a:prstGeom prst="straightConnector1">
              <a:avLst/>
            </a:prstGeom>
            <a:noFill/>
            <a:ln cap="flat" cmpd="sng" w="19050">
              <a:solidFill>
                <a:srgbClr val="9E9E9E"/>
              </a:solidFill>
              <a:prstDash val="solid"/>
              <a:round/>
              <a:headEnd len="med" w="med" type="triangle"/>
              <a:tailEnd len="med" w="med" type="none"/>
            </a:ln>
          </p:spPr>
        </p:cxnSp>
        <p:sp>
          <p:nvSpPr>
            <p:cNvPr id="1294" name="Google Shape;1294;p88"/>
            <p:cNvSpPr txBox="1"/>
            <p:nvPr/>
          </p:nvSpPr>
          <p:spPr>
            <a:xfrm>
              <a:off x="2046705" y="2813245"/>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3</a:t>
              </a:r>
              <a:endParaRPr>
                <a:solidFill>
                  <a:srgbClr val="9E9E9E"/>
                </a:solidFill>
                <a:latin typeface="Calibri"/>
                <a:ea typeface="Calibri"/>
                <a:cs typeface="Calibri"/>
                <a:sym typeface="Calibri"/>
              </a:endParaRPr>
            </a:p>
          </p:txBody>
        </p:sp>
      </p:grpSp>
      <p:sp>
        <p:nvSpPr>
          <p:cNvPr id="1295" name="Google Shape;1295;p88"/>
          <p:cNvSpPr txBox="1"/>
          <p:nvPr/>
        </p:nvSpPr>
        <p:spPr>
          <a:xfrm>
            <a:off x="3867850" y="2672740"/>
            <a:ext cx="225000" cy="36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4</a:t>
            </a:r>
            <a:endParaRPr>
              <a:solidFill>
                <a:srgbClr val="9E9E9E"/>
              </a:solidFill>
              <a:latin typeface="Calibri"/>
              <a:ea typeface="Calibri"/>
              <a:cs typeface="Calibri"/>
              <a:sym typeface="Calibri"/>
            </a:endParaRPr>
          </a:p>
        </p:txBody>
      </p:sp>
      <p:cxnSp>
        <p:nvCxnSpPr>
          <p:cNvPr id="1296" name="Google Shape;1296;p88"/>
          <p:cNvCxnSpPr/>
          <p:nvPr/>
        </p:nvCxnSpPr>
        <p:spPr>
          <a:xfrm flipH="1" rot="10462490">
            <a:off x="3290233" y="2728001"/>
            <a:ext cx="4544987" cy="112121"/>
          </a:xfrm>
          <a:prstGeom prst="straightConnector1">
            <a:avLst/>
          </a:prstGeom>
          <a:noFill/>
          <a:ln cap="flat" cmpd="sng" w="19050">
            <a:solidFill>
              <a:srgbClr val="9E9E9E"/>
            </a:solidFill>
            <a:prstDash val="solid"/>
            <a:round/>
            <a:headEnd len="med" w="med" type="none"/>
            <a:tailEnd len="med" w="med" type="triangle"/>
          </a:ln>
        </p:spPr>
      </p:cxnSp>
      <p:grpSp>
        <p:nvGrpSpPr>
          <p:cNvPr id="1297" name="Google Shape;1297;p88"/>
          <p:cNvGrpSpPr/>
          <p:nvPr/>
        </p:nvGrpSpPr>
        <p:grpSpPr>
          <a:xfrm rot="-254198">
            <a:off x="3294674" y="2878978"/>
            <a:ext cx="4536139" cy="275727"/>
            <a:chOff x="854584" y="3514625"/>
            <a:chExt cx="5116200" cy="493113"/>
          </a:xfrm>
        </p:grpSpPr>
        <p:cxnSp>
          <p:nvCxnSpPr>
            <p:cNvPr id="1298" name="Google Shape;1298;p88"/>
            <p:cNvCxnSpPr/>
            <p:nvPr/>
          </p:nvCxnSpPr>
          <p:spPr>
            <a:xfrm flipH="1" rot="10800000">
              <a:off x="854584" y="3514625"/>
              <a:ext cx="5116200" cy="249300"/>
            </a:xfrm>
            <a:prstGeom prst="straightConnector1">
              <a:avLst/>
            </a:prstGeom>
            <a:noFill/>
            <a:ln cap="flat" cmpd="sng" w="19050">
              <a:solidFill>
                <a:srgbClr val="9E9E9E"/>
              </a:solidFill>
              <a:prstDash val="solid"/>
              <a:round/>
              <a:headEnd len="med" w="med" type="triangle"/>
              <a:tailEnd len="med" w="med" type="none"/>
            </a:ln>
          </p:spPr>
        </p:cxnSp>
        <p:sp>
          <p:nvSpPr>
            <p:cNvPr id="1299" name="Google Shape;1299;p88"/>
            <p:cNvSpPr txBox="1"/>
            <p:nvPr/>
          </p:nvSpPr>
          <p:spPr>
            <a:xfrm>
              <a:off x="2113676" y="3611138"/>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5</a:t>
              </a:r>
              <a:endParaRPr>
                <a:solidFill>
                  <a:srgbClr val="9E9E9E"/>
                </a:solidFill>
                <a:latin typeface="Calibri"/>
                <a:ea typeface="Calibri"/>
                <a:cs typeface="Calibri"/>
                <a:sym typeface="Calibri"/>
              </a:endParaRPr>
            </a:p>
          </p:txBody>
        </p:sp>
      </p:grpSp>
      <p:grpSp>
        <p:nvGrpSpPr>
          <p:cNvPr id="1300" name="Google Shape;1300;p88"/>
          <p:cNvGrpSpPr/>
          <p:nvPr/>
        </p:nvGrpSpPr>
        <p:grpSpPr>
          <a:xfrm rot="-287833">
            <a:off x="3307445" y="3170211"/>
            <a:ext cx="4212902" cy="516546"/>
            <a:chOff x="932127" y="3739221"/>
            <a:chExt cx="4073100" cy="591629"/>
          </a:xfrm>
        </p:grpSpPr>
        <p:cxnSp>
          <p:nvCxnSpPr>
            <p:cNvPr id="1301" name="Google Shape;1301;p88"/>
            <p:cNvCxnSpPr/>
            <p:nvPr/>
          </p:nvCxnSpPr>
          <p:spPr>
            <a:xfrm>
              <a:off x="932127" y="4059050"/>
              <a:ext cx="4073100" cy="271800"/>
            </a:xfrm>
            <a:prstGeom prst="straightConnector1">
              <a:avLst/>
            </a:prstGeom>
            <a:noFill/>
            <a:ln cap="flat" cmpd="sng" w="19050">
              <a:solidFill>
                <a:srgbClr val="9E9E9E"/>
              </a:solidFill>
              <a:prstDash val="solid"/>
              <a:round/>
              <a:headEnd len="med" w="med" type="none"/>
              <a:tailEnd len="med" w="med" type="triangle"/>
            </a:ln>
          </p:spPr>
        </p:cxnSp>
        <p:sp>
          <p:nvSpPr>
            <p:cNvPr id="1302" name="Google Shape;1302;p88"/>
            <p:cNvSpPr txBox="1"/>
            <p:nvPr/>
          </p:nvSpPr>
          <p:spPr>
            <a:xfrm>
              <a:off x="1758300" y="3739221"/>
              <a:ext cx="410100" cy="44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6</a:t>
              </a:r>
              <a:endParaRPr>
                <a:solidFill>
                  <a:srgbClr val="9E9E9E"/>
                </a:solidFill>
                <a:latin typeface="Calibri"/>
                <a:ea typeface="Calibri"/>
                <a:cs typeface="Calibri"/>
                <a:sym typeface="Calibri"/>
              </a:endParaRPr>
            </a:p>
          </p:txBody>
        </p:sp>
      </p:grpSp>
      <p:sp>
        <p:nvSpPr>
          <p:cNvPr id="1303" name="Google Shape;1303;p88"/>
          <p:cNvSpPr txBox="1"/>
          <p:nvPr/>
        </p:nvSpPr>
        <p:spPr>
          <a:xfrm>
            <a:off x="3293788" y="3890425"/>
            <a:ext cx="4240800" cy="912000"/>
          </a:xfrm>
          <a:prstGeom prst="rect">
            <a:avLst/>
          </a:prstGeom>
          <a:solidFill>
            <a:srgbClr val="F4CCCC"/>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rPr>
              <a:t>“I don’t know. But I have delegated authority to the </a:t>
            </a:r>
            <a:r>
              <a:rPr b="1" lang="en" sz="1200">
                <a:solidFill>
                  <a:schemeClr val="dk1"/>
                </a:solidFill>
                <a:latin typeface="Courier New"/>
                <a:ea typeface="Courier New"/>
                <a:cs typeface="Courier New"/>
                <a:sym typeface="Courier New"/>
              </a:rPr>
              <a:t>fake1.google.com.</a:t>
            </a:r>
            <a:r>
              <a:rPr lang="en" sz="1200">
                <a:solidFill>
                  <a:schemeClr val="dk1"/>
                </a:solidFill>
              </a:rPr>
              <a:t> NS. This response has ID 129.</a:t>
            </a:r>
            <a:endParaRPr sz="1200">
              <a:solidFill>
                <a:schemeClr val="dk1"/>
              </a:solidFill>
            </a:endParaRPr>
          </a:p>
          <a:p>
            <a:pPr indent="0" lvl="0" marL="0" rtl="0" algn="l">
              <a:spcBef>
                <a:spcPts val="0"/>
              </a:spcBef>
              <a:spcAft>
                <a:spcPts val="0"/>
              </a:spcAft>
              <a:buNone/>
            </a:pPr>
            <a:r>
              <a:rPr lang="en" sz="1200">
                <a:solidFill>
                  <a:schemeClr val="dk1"/>
                </a:solidFill>
              </a:rPr>
              <a:t>Authority: </a:t>
            </a:r>
            <a:r>
              <a:rPr b="1" lang="en" sz="1200">
                <a:solidFill>
                  <a:schemeClr val="dk1"/>
                </a:solidFill>
                <a:latin typeface="Courier New"/>
                <a:ea typeface="Courier New"/>
                <a:cs typeface="Courier New"/>
                <a:sym typeface="Courier New"/>
              </a:rPr>
              <a:t>fake1.google.com.</a:t>
            </a:r>
            <a:r>
              <a:rPr lang="en" sz="1200">
                <a:solidFill>
                  <a:schemeClr val="dk1"/>
                </a:solidFill>
              </a:rPr>
              <a:t> NS  </a:t>
            </a:r>
            <a:r>
              <a:rPr b="1" lang="en" sz="1200">
                <a:solidFill>
                  <a:schemeClr val="dk1"/>
                </a:solidFill>
                <a:latin typeface="Courier New"/>
                <a:ea typeface="Courier New"/>
                <a:cs typeface="Courier New"/>
                <a:sym typeface="Courier New"/>
              </a:rPr>
              <a:t>www.google.com</a:t>
            </a:r>
            <a:endParaRPr sz="1200">
              <a:solidFill>
                <a:schemeClr val="dk1"/>
              </a:solidFill>
            </a:endParaRPr>
          </a:p>
          <a:p>
            <a:pPr indent="0" lvl="0" marL="0" rtl="0" algn="l">
              <a:lnSpc>
                <a:spcPct val="115000"/>
              </a:lnSpc>
              <a:spcBef>
                <a:spcPts val="0"/>
              </a:spcBef>
              <a:spcAft>
                <a:spcPts val="0"/>
              </a:spcAft>
              <a:buNone/>
            </a:pPr>
            <a:r>
              <a:rPr lang="en" sz="1200">
                <a:solidFill>
                  <a:schemeClr val="dk1"/>
                </a:solidFill>
              </a:rPr>
              <a:t>Additional:  </a:t>
            </a:r>
            <a:r>
              <a:rPr b="1" lang="en" sz="1200">
                <a:solidFill>
                  <a:schemeClr val="dk1"/>
                </a:solidFill>
                <a:latin typeface="Courier New"/>
                <a:ea typeface="Courier New"/>
                <a:cs typeface="Courier New"/>
                <a:sym typeface="Courier New"/>
              </a:rPr>
              <a:t>www.google.com.</a:t>
            </a:r>
            <a:r>
              <a:rPr lang="en" sz="1200">
                <a:solidFill>
                  <a:schemeClr val="dk1"/>
                </a:solidFill>
              </a:rPr>
              <a:t> A </a:t>
            </a:r>
            <a:r>
              <a:rPr b="1" lang="en" sz="1200">
                <a:solidFill>
                  <a:schemeClr val="dk1"/>
                </a:solidFill>
                <a:latin typeface="Courier New"/>
                <a:ea typeface="Courier New"/>
                <a:cs typeface="Courier New"/>
                <a:sym typeface="Courier New"/>
              </a:rPr>
              <a:t>6.6.6.6</a:t>
            </a:r>
            <a:r>
              <a:rPr lang="en" sz="1200">
                <a:solidFill>
                  <a:schemeClr val="dk1"/>
                </a:solidFill>
              </a:rPr>
              <a:t>”</a:t>
            </a:r>
            <a:endParaRPr sz="1200"/>
          </a:p>
        </p:txBody>
      </p:sp>
      <p:cxnSp>
        <p:nvCxnSpPr>
          <p:cNvPr id="1304" name="Google Shape;1304;p88"/>
          <p:cNvCxnSpPr>
            <a:stCxn id="1303" idx="1"/>
            <a:endCxn id="1303" idx="3"/>
          </p:cNvCxnSpPr>
          <p:nvPr/>
        </p:nvCxnSpPr>
        <p:spPr>
          <a:xfrm>
            <a:off x="3293788" y="4346425"/>
            <a:ext cx="4240800" cy="0"/>
          </a:xfrm>
          <a:prstGeom prst="straightConnector1">
            <a:avLst/>
          </a:prstGeom>
          <a:noFill/>
          <a:ln cap="flat" cmpd="sng" w="9525">
            <a:solidFill>
              <a:schemeClr val="dk2"/>
            </a:solidFill>
            <a:prstDash val="solid"/>
            <a:round/>
            <a:headEnd len="med" w="med" type="none"/>
            <a:tailEnd len="med" w="med" type="none"/>
          </a:ln>
        </p:spPr>
      </p:cxnSp>
      <p:sp>
        <p:nvSpPr>
          <p:cNvPr id="1305" name="Google Shape;1305;p88"/>
          <p:cNvSpPr/>
          <p:nvPr/>
        </p:nvSpPr>
        <p:spPr>
          <a:xfrm>
            <a:off x="2437200" y="3850950"/>
            <a:ext cx="1553400" cy="1310400"/>
          </a:xfrm>
          <a:prstGeom prst="mathMultiply">
            <a:avLst>
              <a:gd fmla="val 8524" name="adj1"/>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9" name="Shape 1309"/>
        <p:cNvGrpSpPr/>
        <p:nvPr/>
      </p:nvGrpSpPr>
      <p:grpSpPr>
        <a:xfrm>
          <a:off x="0" y="0"/>
          <a:ext cx="0" cy="0"/>
          <a:chOff x="0" y="0"/>
          <a:chExt cx="0" cy="0"/>
        </a:xfrm>
      </p:grpSpPr>
      <p:sp>
        <p:nvSpPr>
          <p:cNvPr id="1310" name="Google Shape;1310;p89"/>
          <p:cNvSpPr/>
          <p:nvPr/>
        </p:nvSpPr>
        <p:spPr>
          <a:xfrm>
            <a:off x="142425" y="2190750"/>
            <a:ext cx="3150600" cy="2866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89"/>
          <p:cNvSpPr txBox="1"/>
          <p:nvPr/>
        </p:nvSpPr>
        <p:spPr>
          <a:xfrm>
            <a:off x="555325" y="1223675"/>
            <a:ext cx="1642800" cy="3936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Stub Resolver</a:t>
            </a:r>
            <a:endParaRPr>
              <a:latin typeface="Calibri"/>
              <a:ea typeface="Calibri"/>
              <a:cs typeface="Calibri"/>
              <a:sym typeface="Calibri"/>
            </a:endParaRPr>
          </a:p>
        </p:txBody>
      </p:sp>
      <p:sp>
        <p:nvSpPr>
          <p:cNvPr id="1312" name="Google Shape;1312;p89"/>
          <p:cNvSpPr txBox="1"/>
          <p:nvPr/>
        </p:nvSpPr>
        <p:spPr>
          <a:xfrm>
            <a:off x="226125" y="2279151"/>
            <a:ext cx="29832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Recursive Resolver</a:t>
            </a:r>
            <a:endParaRPr>
              <a:latin typeface="Calibri"/>
              <a:ea typeface="Calibri"/>
              <a:cs typeface="Calibri"/>
              <a:sym typeface="Calibri"/>
            </a:endParaRPr>
          </a:p>
        </p:txBody>
      </p:sp>
      <p:pic>
        <p:nvPicPr>
          <p:cNvPr id="1313" name="Google Shape;1313;p89"/>
          <p:cNvPicPr preferRelativeResize="0"/>
          <p:nvPr/>
        </p:nvPicPr>
        <p:blipFill rotWithShape="1">
          <a:blip r:embed="rId3">
            <a:alphaModFix/>
          </a:blip>
          <a:srcRect b="57590" l="5310" r="80092" t="16627"/>
          <a:stretch/>
        </p:blipFill>
        <p:spPr>
          <a:xfrm>
            <a:off x="0" y="1144185"/>
            <a:ext cx="495580" cy="552599"/>
          </a:xfrm>
          <a:prstGeom prst="rect">
            <a:avLst/>
          </a:prstGeom>
          <a:noFill/>
          <a:ln>
            <a:noFill/>
          </a:ln>
        </p:spPr>
      </p:pic>
      <p:graphicFrame>
        <p:nvGraphicFramePr>
          <p:cNvPr id="1314" name="Google Shape;1314;p89"/>
          <p:cNvGraphicFramePr/>
          <p:nvPr/>
        </p:nvGraphicFramePr>
        <p:xfrm>
          <a:off x="226125" y="2672750"/>
          <a:ext cx="3000000" cy="3000000"/>
        </p:xfrm>
        <a:graphic>
          <a:graphicData uri="http://schemas.openxmlformats.org/drawingml/2006/table">
            <a:tbl>
              <a:tblPr>
                <a:noFill/>
                <a:tableStyleId>{8746E7DE-0C9E-4540-9031-B6CDA728326B}</a:tableStyleId>
              </a:tblPr>
              <a:tblGrid>
                <a:gridCol w="1491575"/>
                <a:gridCol w="1491575"/>
              </a:tblGrid>
              <a:tr h="347850">
                <a:tc gridSpan="2">
                  <a:txBody>
                    <a:bodyPr/>
                    <a:lstStyle/>
                    <a:p>
                      <a:pPr indent="0" lvl="0" marL="0" rtl="0" algn="ctr">
                        <a:spcBef>
                          <a:spcPts val="0"/>
                        </a:spcBef>
                        <a:spcAft>
                          <a:spcPts val="0"/>
                        </a:spcAft>
                        <a:buNone/>
                      </a:pPr>
                      <a:r>
                        <a:rPr lang="en" sz="1100">
                          <a:latin typeface="Courier New"/>
                          <a:ea typeface="Courier New"/>
                          <a:cs typeface="Courier New"/>
                          <a:sym typeface="Courier New"/>
                        </a:rPr>
                        <a:t>Recursive Resolver Cache</a:t>
                      </a:r>
                      <a:endParaRPr sz="1100">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solidFill>
                      <a:schemeClr val="lt1"/>
                    </a:solidFill>
                  </a:tcPr>
                </a:tc>
                <a:tc hMerge="1"/>
              </a:tr>
              <a:tr h="317600">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a.gtld-servers.net.</a:t>
                      </a:r>
                      <a:endParaRPr sz="900">
                        <a:solidFill>
                          <a:schemeClr val="dk1"/>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192.5.6.30</a:t>
                      </a:r>
                      <a:endParaRPr sz="900">
                        <a:solidFill>
                          <a:schemeClr val="dk1"/>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17600">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ns1.google.com.</a:t>
                      </a:r>
                      <a:endParaRPr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216.239.32.10</a:t>
                      </a:r>
                      <a:endParaRPr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17600">
                <a:tc>
                  <a:txBody>
                    <a:bodyPr/>
                    <a:lstStyle/>
                    <a:p>
                      <a:pPr indent="0" lvl="0" marL="0" rtl="0" algn="l">
                        <a:lnSpc>
                          <a:spcPct val="115000"/>
                        </a:lnSpc>
                        <a:spcBef>
                          <a:spcPts val="0"/>
                        </a:spcBef>
                        <a:spcAft>
                          <a:spcPts val="0"/>
                        </a:spcAft>
                        <a:buNone/>
                      </a:pPr>
                      <a:r>
                        <a:rPr b="1" lang="en" sz="900">
                          <a:latin typeface="Courier New"/>
                          <a:ea typeface="Courier New"/>
                          <a:cs typeface="Courier New"/>
                          <a:sym typeface="Courier New"/>
                        </a:rPr>
                        <a:t>fake1.google.com</a:t>
                      </a:r>
                      <a:endParaRPr b="1"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b="1" lang="en" sz="900">
                          <a:latin typeface="Courier New"/>
                          <a:ea typeface="Courier New"/>
                          <a:cs typeface="Courier New"/>
                          <a:sym typeface="Courier New"/>
                        </a:rPr>
                        <a:t>Doesn’t exist!</a:t>
                      </a:r>
                      <a:endParaRPr b="1"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bl>
          </a:graphicData>
        </a:graphic>
      </p:graphicFrame>
      <p:sp>
        <p:nvSpPr>
          <p:cNvPr id="1315" name="Google Shape;1315;p8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316" name="Google Shape;1316;p89"/>
          <p:cNvSpPr txBox="1"/>
          <p:nvPr/>
        </p:nvSpPr>
        <p:spPr>
          <a:xfrm>
            <a:off x="7547875" y="1392148"/>
            <a:ext cx="1238100" cy="3648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 (root)</a:t>
            </a:r>
            <a:endParaRPr>
              <a:latin typeface="Courier New"/>
              <a:ea typeface="Courier New"/>
              <a:cs typeface="Courier New"/>
              <a:sym typeface="Courier New"/>
            </a:endParaRPr>
          </a:p>
        </p:txBody>
      </p:sp>
      <p:sp>
        <p:nvSpPr>
          <p:cNvPr id="1317" name="Google Shape;1317;p89"/>
          <p:cNvSpPr txBox="1"/>
          <p:nvPr/>
        </p:nvSpPr>
        <p:spPr>
          <a:xfrm>
            <a:off x="7832713" y="2411252"/>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.com</a:t>
            </a:r>
            <a:endParaRPr>
              <a:latin typeface="Calibri"/>
              <a:ea typeface="Calibri"/>
              <a:cs typeface="Calibri"/>
              <a:sym typeface="Calibri"/>
            </a:endParaRPr>
          </a:p>
        </p:txBody>
      </p:sp>
      <p:sp>
        <p:nvSpPr>
          <p:cNvPr id="1318" name="Google Shape;1318;p89"/>
          <p:cNvSpPr txBox="1"/>
          <p:nvPr/>
        </p:nvSpPr>
        <p:spPr>
          <a:xfrm>
            <a:off x="7518763" y="3357750"/>
            <a:ext cx="12963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google.com</a:t>
            </a:r>
            <a:endParaRPr sz="1200">
              <a:latin typeface="Calibri"/>
              <a:ea typeface="Calibri"/>
              <a:cs typeface="Calibri"/>
              <a:sym typeface="Calibri"/>
            </a:endParaRPr>
          </a:p>
        </p:txBody>
      </p:sp>
      <p:cxnSp>
        <p:nvCxnSpPr>
          <p:cNvPr id="1319" name="Google Shape;1319;p89"/>
          <p:cNvCxnSpPr>
            <a:stCxn id="1316" idx="2"/>
            <a:endCxn id="1317" idx="0"/>
          </p:cNvCxnSpPr>
          <p:nvPr/>
        </p:nvCxnSpPr>
        <p:spPr>
          <a:xfrm>
            <a:off x="8166925" y="1756948"/>
            <a:ext cx="0" cy="654300"/>
          </a:xfrm>
          <a:prstGeom prst="straightConnector1">
            <a:avLst/>
          </a:prstGeom>
          <a:noFill/>
          <a:ln cap="flat" cmpd="sng" w="9525">
            <a:solidFill>
              <a:srgbClr val="000000"/>
            </a:solidFill>
            <a:prstDash val="solid"/>
            <a:round/>
            <a:headEnd len="med" w="med" type="none"/>
            <a:tailEnd len="med" w="med" type="none"/>
          </a:ln>
        </p:spPr>
      </p:cxnSp>
      <p:cxnSp>
        <p:nvCxnSpPr>
          <p:cNvPr id="1320" name="Google Shape;1320;p89"/>
          <p:cNvCxnSpPr>
            <a:stCxn id="1317" idx="2"/>
            <a:endCxn id="1318" idx="0"/>
          </p:cNvCxnSpPr>
          <p:nvPr/>
        </p:nvCxnSpPr>
        <p:spPr>
          <a:xfrm>
            <a:off x="8166913" y="2804852"/>
            <a:ext cx="0" cy="552900"/>
          </a:xfrm>
          <a:prstGeom prst="straightConnector1">
            <a:avLst/>
          </a:prstGeom>
          <a:noFill/>
          <a:ln cap="flat" cmpd="sng" w="9525">
            <a:solidFill>
              <a:srgbClr val="000000"/>
            </a:solidFill>
            <a:prstDash val="solid"/>
            <a:round/>
            <a:headEnd len="med" w="med" type="none"/>
            <a:tailEnd len="med" w="med" type="none"/>
          </a:ln>
        </p:spPr>
      </p:cxnSp>
      <p:grpSp>
        <p:nvGrpSpPr>
          <p:cNvPr id="1321" name="Google Shape;1321;p89"/>
          <p:cNvGrpSpPr/>
          <p:nvPr/>
        </p:nvGrpSpPr>
        <p:grpSpPr>
          <a:xfrm rot="-433959">
            <a:off x="3294793" y="3598743"/>
            <a:ext cx="4221962" cy="409148"/>
            <a:chOff x="812025" y="4180882"/>
            <a:chExt cx="4073100" cy="409055"/>
          </a:xfrm>
        </p:grpSpPr>
        <p:cxnSp>
          <p:nvCxnSpPr>
            <p:cNvPr id="1322" name="Google Shape;1322;p89"/>
            <p:cNvCxnSpPr/>
            <p:nvPr/>
          </p:nvCxnSpPr>
          <p:spPr>
            <a:xfrm>
              <a:off x="812025" y="4180882"/>
              <a:ext cx="4073100" cy="271800"/>
            </a:xfrm>
            <a:prstGeom prst="straightConnector1">
              <a:avLst/>
            </a:prstGeom>
            <a:noFill/>
            <a:ln cap="flat" cmpd="sng" w="19050">
              <a:solidFill>
                <a:srgbClr val="000000"/>
              </a:solidFill>
              <a:prstDash val="solid"/>
              <a:round/>
              <a:headEnd len="med" w="med" type="triangle"/>
              <a:tailEnd len="med" w="med" type="none"/>
            </a:ln>
          </p:spPr>
        </p:cxnSp>
        <p:sp>
          <p:nvSpPr>
            <p:cNvPr id="1323" name="Google Shape;1323;p89"/>
            <p:cNvSpPr txBox="1"/>
            <p:nvPr/>
          </p:nvSpPr>
          <p:spPr>
            <a:xfrm>
              <a:off x="1106950" y="4193337"/>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7</a:t>
              </a:r>
              <a:endParaRPr>
                <a:latin typeface="Calibri"/>
                <a:ea typeface="Calibri"/>
                <a:cs typeface="Calibri"/>
                <a:sym typeface="Calibri"/>
              </a:endParaRPr>
            </a:p>
          </p:txBody>
        </p:sp>
      </p:grpSp>
      <p:sp>
        <p:nvSpPr>
          <p:cNvPr id="1324" name="Google Shape;1324;p89"/>
          <p:cNvSpPr txBox="1"/>
          <p:nvPr/>
        </p:nvSpPr>
        <p:spPr>
          <a:xfrm>
            <a:off x="4189675" y="3951425"/>
            <a:ext cx="4596300" cy="3648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t>“</a:t>
            </a:r>
            <a:r>
              <a:rPr b="1" lang="en" sz="1200">
                <a:latin typeface="Courier New"/>
                <a:ea typeface="Courier New"/>
                <a:cs typeface="Courier New"/>
                <a:sym typeface="Courier New"/>
              </a:rPr>
              <a:t>fake1.google.com </a:t>
            </a:r>
            <a:r>
              <a:rPr lang="en" sz="1200"/>
              <a:t>doesn’t exist! </a:t>
            </a:r>
            <a:r>
              <a:rPr lang="en" sz="1200">
                <a:solidFill>
                  <a:schemeClr val="dk1"/>
                </a:solidFill>
              </a:rPr>
              <a:t>This response has ID </a:t>
            </a:r>
            <a:r>
              <a:rPr lang="en" sz="1200">
                <a:solidFill>
                  <a:schemeClr val="dk1"/>
                </a:solidFill>
              </a:rPr>
              <a:t>774</a:t>
            </a:r>
            <a:r>
              <a:rPr lang="en" sz="1200">
                <a:solidFill>
                  <a:schemeClr val="dk1"/>
                </a:solidFill>
              </a:rPr>
              <a:t>.”</a:t>
            </a:r>
            <a:endParaRPr sz="1200"/>
          </a:p>
        </p:txBody>
      </p:sp>
      <p:pic>
        <p:nvPicPr>
          <p:cNvPr id="1325" name="Google Shape;1325;p89"/>
          <p:cNvPicPr preferRelativeResize="0"/>
          <p:nvPr/>
        </p:nvPicPr>
        <p:blipFill rotWithShape="1">
          <a:blip r:embed="rId4">
            <a:alphaModFix/>
          </a:blip>
          <a:srcRect b="65159" l="10446" r="69908" t="13697"/>
          <a:stretch/>
        </p:blipFill>
        <p:spPr>
          <a:xfrm>
            <a:off x="7841463" y="4405638"/>
            <a:ext cx="650926" cy="700636"/>
          </a:xfrm>
          <a:prstGeom prst="rect">
            <a:avLst/>
          </a:prstGeom>
          <a:noFill/>
          <a:ln>
            <a:noFill/>
          </a:ln>
        </p:spPr>
      </p:pic>
      <p:sp>
        <p:nvSpPr>
          <p:cNvPr id="1326" name="Google Shape;1326;p8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Kaminsky Attack: Example</a:t>
            </a:r>
            <a:endParaRPr/>
          </a:p>
        </p:txBody>
      </p:sp>
      <p:sp>
        <p:nvSpPr>
          <p:cNvPr id="1327" name="Google Shape;1327;p89"/>
          <p:cNvSpPr txBox="1"/>
          <p:nvPr/>
        </p:nvSpPr>
        <p:spPr>
          <a:xfrm>
            <a:off x="2112425" y="4544025"/>
            <a:ext cx="4357800" cy="393600"/>
          </a:xfrm>
          <a:prstGeom prst="rect">
            <a:avLst/>
          </a:prstGeom>
          <a:solidFill>
            <a:srgbClr val="C9DAF8"/>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a:t>What can Mallory do to still poison the cache?</a:t>
            </a:r>
            <a:endParaRPr b="1"/>
          </a:p>
        </p:txBody>
      </p:sp>
      <p:grpSp>
        <p:nvGrpSpPr>
          <p:cNvPr id="1328" name="Google Shape;1328;p89"/>
          <p:cNvGrpSpPr/>
          <p:nvPr/>
        </p:nvGrpSpPr>
        <p:grpSpPr>
          <a:xfrm>
            <a:off x="769875" y="1617199"/>
            <a:ext cx="410100" cy="572709"/>
            <a:chOff x="258935" y="2049228"/>
            <a:chExt cx="410100" cy="762900"/>
          </a:xfrm>
        </p:grpSpPr>
        <p:sp>
          <p:nvSpPr>
            <p:cNvPr id="1329" name="Google Shape;1329;p89"/>
            <p:cNvSpPr txBox="1"/>
            <p:nvPr/>
          </p:nvSpPr>
          <p:spPr>
            <a:xfrm>
              <a:off x="258935" y="2174852"/>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1</a:t>
              </a:r>
              <a:endParaRPr>
                <a:solidFill>
                  <a:srgbClr val="9E9E9E"/>
                </a:solidFill>
                <a:latin typeface="Calibri"/>
                <a:ea typeface="Calibri"/>
                <a:cs typeface="Calibri"/>
                <a:sym typeface="Calibri"/>
              </a:endParaRPr>
            </a:p>
          </p:txBody>
        </p:sp>
        <p:cxnSp>
          <p:nvCxnSpPr>
            <p:cNvPr id="1330" name="Google Shape;1330;p89"/>
            <p:cNvCxnSpPr/>
            <p:nvPr/>
          </p:nvCxnSpPr>
          <p:spPr>
            <a:xfrm rot="10800000">
              <a:off x="530725" y="2049228"/>
              <a:ext cx="0" cy="762900"/>
            </a:xfrm>
            <a:prstGeom prst="straightConnector1">
              <a:avLst/>
            </a:prstGeom>
            <a:noFill/>
            <a:ln cap="flat" cmpd="sng" w="19050">
              <a:solidFill>
                <a:srgbClr val="9E9E9E"/>
              </a:solidFill>
              <a:prstDash val="solid"/>
              <a:round/>
              <a:headEnd len="med" w="med" type="triangle"/>
              <a:tailEnd len="med" w="med" type="none"/>
            </a:ln>
          </p:spPr>
        </p:cxnSp>
      </p:grpSp>
      <p:grpSp>
        <p:nvGrpSpPr>
          <p:cNvPr id="1331" name="Google Shape;1331;p89"/>
          <p:cNvGrpSpPr/>
          <p:nvPr/>
        </p:nvGrpSpPr>
        <p:grpSpPr>
          <a:xfrm rot="-746418">
            <a:off x="3247846" y="1651999"/>
            <a:ext cx="4332671" cy="599908"/>
            <a:chOff x="812025" y="676049"/>
            <a:chExt cx="5609100" cy="3517200"/>
          </a:xfrm>
        </p:grpSpPr>
        <p:cxnSp>
          <p:nvCxnSpPr>
            <p:cNvPr id="1332" name="Google Shape;1332;p89"/>
            <p:cNvCxnSpPr/>
            <p:nvPr/>
          </p:nvCxnSpPr>
          <p:spPr>
            <a:xfrm flipH="1" rot="10800000">
              <a:off x="812025" y="2279674"/>
              <a:ext cx="5609100" cy="656100"/>
            </a:xfrm>
            <a:prstGeom prst="straightConnector1">
              <a:avLst/>
            </a:prstGeom>
            <a:noFill/>
            <a:ln cap="flat" cmpd="sng" w="19050">
              <a:solidFill>
                <a:srgbClr val="9E9E9E"/>
              </a:solidFill>
              <a:prstDash val="solid"/>
              <a:round/>
              <a:headEnd len="med" w="med" type="none"/>
              <a:tailEnd len="med" w="med" type="triangle"/>
            </a:ln>
          </p:spPr>
        </p:cxnSp>
        <p:sp>
          <p:nvSpPr>
            <p:cNvPr id="1333" name="Google Shape;1333;p89"/>
            <p:cNvSpPr txBox="1"/>
            <p:nvPr/>
          </p:nvSpPr>
          <p:spPr>
            <a:xfrm>
              <a:off x="1983444" y="676049"/>
              <a:ext cx="410100" cy="3517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2</a:t>
              </a:r>
              <a:endParaRPr>
                <a:solidFill>
                  <a:srgbClr val="9E9E9E"/>
                </a:solidFill>
                <a:latin typeface="Calibri"/>
                <a:ea typeface="Calibri"/>
                <a:cs typeface="Calibri"/>
                <a:sym typeface="Calibri"/>
              </a:endParaRPr>
            </a:p>
          </p:txBody>
        </p:sp>
      </p:grpSp>
      <p:sp>
        <p:nvSpPr>
          <p:cNvPr id="1334" name="Google Shape;1334;p89"/>
          <p:cNvSpPr txBox="1"/>
          <p:nvPr/>
        </p:nvSpPr>
        <p:spPr>
          <a:xfrm>
            <a:off x="2368775" y="1238075"/>
            <a:ext cx="4596300" cy="393600"/>
          </a:xfrm>
          <a:prstGeom prst="rect">
            <a:avLst/>
          </a:prstGeom>
          <a:solidFill>
            <a:srgbClr val="C9DAF8"/>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What if Mallory didn’t guess the ID number correctly?</a:t>
            </a:r>
            <a:endParaRPr/>
          </a:p>
        </p:txBody>
      </p:sp>
      <p:grpSp>
        <p:nvGrpSpPr>
          <p:cNvPr id="1335" name="Google Shape;1335;p89"/>
          <p:cNvGrpSpPr/>
          <p:nvPr/>
        </p:nvGrpSpPr>
        <p:grpSpPr>
          <a:xfrm rot="-497457">
            <a:off x="3255496" y="1882108"/>
            <a:ext cx="4379928" cy="602045"/>
            <a:chOff x="812025" y="2400972"/>
            <a:chExt cx="5609100" cy="808872"/>
          </a:xfrm>
        </p:grpSpPr>
        <p:cxnSp>
          <p:nvCxnSpPr>
            <p:cNvPr id="1336" name="Google Shape;1336;p89"/>
            <p:cNvCxnSpPr/>
            <p:nvPr/>
          </p:nvCxnSpPr>
          <p:spPr>
            <a:xfrm flipH="1" rot="10800000">
              <a:off x="812025" y="2400972"/>
              <a:ext cx="5609100" cy="656100"/>
            </a:xfrm>
            <a:prstGeom prst="straightConnector1">
              <a:avLst/>
            </a:prstGeom>
            <a:noFill/>
            <a:ln cap="flat" cmpd="sng" w="19050">
              <a:solidFill>
                <a:srgbClr val="9E9E9E"/>
              </a:solidFill>
              <a:prstDash val="solid"/>
              <a:round/>
              <a:headEnd len="med" w="med" type="triangle"/>
              <a:tailEnd len="med" w="med" type="none"/>
            </a:ln>
          </p:spPr>
        </p:cxnSp>
        <p:sp>
          <p:nvSpPr>
            <p:cNvPr id="1337" name="Google Shape;1337;p89"/>
            <p:cNvSpPr txBox="1"/>
            <p:nvPr/>
          </p:nvSpPr>
          <p:spPr>
            <a:xfrm>
              <a:off x="2046705" y="2813245"/>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3</a:t>
              </a:r>
              <a:endParaRPr>
                <a:solidFill>
                  <a:srgbClr val="9E9E9E"/>
                </a:solidFill>
                <a:latin typeface="Calibri"/>
                <a:ea typeface="Calibri"/>
                <a:cs typeface="Calibri"/>
                <a:sym typeface="Calibri"/>
              </a:endParaRPr>
            </a:p>
          </p:txBody>
        </p:sp>
      </p:grpSp>
      <p:sp>
        <p:nvSpPr>
          <p:cNvPr id="1338" name="Google Shape;1338;p89"/>
          <p:cNvSpPr txBox="1"/>
          <p:nvPr/>
        </p:nvSpPr>
        <p:spPr>
          <a:xfrm>
            <a:off x="3867850" y="2672740"/>
            <a:ext cx="225000" cy="36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4</a:t>
            </a:r>
            <a:endParaRPr>
              <a:solidFill>
                <a:srgbClr val="9E9E9E"/>
              </a:solidFill>
              <a:latin typeface="Calibri"/>
              <a:ea typeface="Calibri"/>
              <a:cs typeface="Calibri"/>
              <a:sym typeface="Calibri"/>
            </a:endParaRPr>
          </a:p>
        </p:txBody>
      </p:sp>
      <p:cxnSp>
        <p:nvCxnSpPr>
          <p:cNvPr id="1339" name="Google Shape;1339;p89"/>
          <p:cNvCxnSpPr/>
          <p:nvPr/>
        </p:nvCxnSpPr>
        <p:spPr>
          <a:xfrm flipH="1" rot="10462490">
            <a:off x="3290233" y="2728001"/>
            <a:ext cx="4544987" cy="112121"/>
          </a:xfrm>
          <a:prstGeom prst="straightConnector1">
            <a:avLst/>
          </a:prstGeom>
          <a:noFill/>
          <a:ln cap="flat" cmpd="sng" w="19050">
            <a:solidFill>
              <a:srgbClr val="9E9E9E"/>
            </a:solidFill>
            <a:prstDash val="solid"/>
            <a:round/>
            <a:headEnd len="med" w="med" type="none"/>
            <a:tailEnd len="med" w="med" type="triangle"/>
          </a:ln>
        </p:spPr>
      </p:cxnSp>
      <p:grpSp>
        <p:nvGrpSpPr>
          <p:cNvPr id="1340" name="Google Shape;1340;p89"/>
          <p:cNvGrpSpPr/>
          <p:nvPr/>
        </p:nvGrpSpPr>
        <p:grpSpPr>
          <a:xfrm rot="-254198">
            <a:off x="3294674" y="2878978"/>
            <a:ext cx="4536139" cy="275727"/>
            <a:chOff x="854584" y="3514625"/>
            <a:chExt cx="5116200" cy="493113"/>
          </a:xfrm>
        </p:grpSpPr>
        <p:cxnSp>
          <p:nvCxnSpPr>
            <p:cNvPr id="1341" name="Google Shape;1341;p89"/>
            <p:cNvCxnSpPr/>
            <p:nvPr/>
          </p:nvCxnSpPr>
          <p:spPr>
            <a:xfrm flipH="1" rot="10800000">
              <a:off x="854584" y="3514625"/>
              <a:ext cx="5116200" cy="249300"/>
            </a:xfrm>
            <a:prstGeom prst="straightConnector1">
              <a:avLst/>
            </a:prstGeom>
            <a:noFill/>
            <a:ln cap="flat" cmpd="sng" w="19050">
              <a:solidFill>
                <a:srgbClr val="9E9E9E"/>
              </a:solidFill>
              <a:prstDash val="solid"/>
              <a:round/>
              <a:headEnd len="med" w="med" type="triangle"/>
              <a:tailEnd len="med" w="med" type="none"/>
            </a:ln>
          </p:spPr>
        </p:cxnSp>
        <p:sp>
          <p:nvSpPr>
            <p:cNvPr id="1342" name="Google Shape;1342;p89"/>
            <p:cNvSpPr txBox="1"/>
            <p:nvPr/>
          </p:nvSpPr>
          <p:spPr>
            <a:xfrm>
              <a:off x="2113676" y="3611138"/>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5</a:t>
              </a:r>
              <a:endParaRPr>
                <a:solidFill>
                  <a:srgbClr val="9E9E9E"/>
                </a:solidFill>
                <a:latin typeface="Calibri"/>
                <a:ea typeface="Calibri"/>
                <a:cs typeface="Calibri"/>
                <a:sym typeface="Calibri"/>
              </a:endParaRPr>
            </a:p>
          </p:txBody>
        </p:sp>
      </p:grpSp>
      <p:grpSp>
        <p:nvGrpSpPr>
          <p:cNvPr id="1343" name="Google Shape;1343;p89"/>
          <p:cNvGrpSpPr/>
          <p:nvPr/>
        </p:nvGrpSpPr>
        <p:grpSpPr>
          <a:xfrm rot="-287833">
            <a:off x="3307445" y="3170211"/>
            <a:ext cx="4212902" cy="516546"/>
            <a:chOff x="932127" y="3739221"/>
            <a:chExt cx="4073100" cy="591629"/>
          </a:xfrm>
        </p:grpSpPr>
        <p:cxnSp>
          <p:nvCxnSpPr>
            <p:cNvPr id="1344" name="Google Shape;1344;p89"/>
            <p:cNvCxnSpPr/>
            <p:nvPr/>
          </p:nvCxnSpPr>
          <p:spPr>
            <a:xfrm>
              <a:off x="932127" y="4059050"/>
              <a:ext cx="4073100" cy="271800"/>
            </a:xfrm>
            <a:prstGeom prst="straightConnector1">
              <a:avLst/>
            </a:prstGeom>
            <a:noFill/>
            <a:ln cap="flat" cmpd="sng" w="19050">
              <a:solidFill>
                <a:srgbClr val="9E9E9E"/>
              </a:solidFill>
              <a:prstDash val="solid"/>
              <a:round/>
              <a:headEnd len="med" w="med" type="none"/>
              <a:tailEnd len="med" w="med" type="triangle"/>
            </a:ln>
          </p:spPr>
        </p:cxnSp>
        <p:sp>
          <p:nvSpPr>
            <p:cNvPr id="1345" name="Google Shape;1345;p89"/>
            <p:cNvSpPr txBox="1"/>
            <p:nvPr/>
          </p:nvSpPr>
          <p:spPr>
            <a:xfrm>
              <a:off x="1758300" y="3739221"/>
              <a:ext cx="410100" cy="44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6</a:t>
              </a:r>
              <a:endParaRPr>
                <a:solidFill>
                  <a:srgbClr val="9E9E9E"/>
                </a:solidFill>
                <a:latin typeface="Calibri"/>
                <a:ea typeface="Calibri"/>
                <a:cs typeface="Calibri"/>
                <a:sym typeface="Calibri"/>
              </a:endParaRPr>
            </a:p>
          </p:txBody>
        </p:sp>
      </p:gr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9" name="Shape 1349"/>
        <p:cNvGrpSpPr/>
        <p:nvPr/>
      </p:nvGrpSpPr>
      <p:grpSpPr>
        <a:xfrm>
          <a:off x="0" y="0"/>
          <a:ext cx="0" cy="0"/>
          <a:chOff x="0" y="0"/>
          <a:chExt cx="0" cy="0"/>
        </a:xfrm>
      </p:grpSpPr>
      <p:sp>
        <p:nvSpPr>
          <p:cNvPr id="1350" name="Google Shape;1350;p90"/>
          <p:cNvSpPr/>
          <p:nvPr/>
        </p:nvSpPr>
        <p:spPr>
          <a:xfrm>
            <a:off x="142425" y="2190750"/>
            <a:ext cx="3150600" cy="2866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90"/>
          <p:cNvSpPr txBox="1"/>
          <p:nvPr/>
        </p:nvSpPr>
        <p:spPr>
          <a:xfrm>
            <a:off x="226125" y="2279151"/>
            <a:ext cx="29832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Recursive Resolver</a:t>
            </a:r>
            <a:endParaRPr>
              <a:latin typeface="Calibri"/>
              <a:ea typeface="Calibri"/>
              <a:cs typeface="Calibri"/>
              <a:sym typeface="Calibri"/>
            </a:endParaRPr>
          </a:p>
        </p:txBody>
      </p:sp>
      <p:graphicFrame>
        <p:nvGraphicFramePr>
          <p:cNvPr id="1352" name="Google Shape;1352;p90"/>
          <p:cNvGraphicFramePr/>
          <p:nvPr/>
        </p:nvGraphicFramePr>
        <p:xfrm>
          <a:off x="226125" y="2672750"/>
          <a:ext cx="3000000" cy="3000000"/>
        </p:xfrm>
        <a:graphic>
          <a:graphicData uri="http://schemas.openxmlformats.org/drawingml/2006/table">
            <a:tbl>
              <a:tblPr>
                <a:noFill/>
                <a:tableStyleId>{8746E7DE-0C9E-4540-9031-B6CDA728326B}</a:tableStyleId>
              </a:tblPr>
              <a:tblGrid>
                <a:gridCol w="1491575"/>
                <a:gridCol w="1491575"/>
              </a:tblGrid>
              <a:tr h="347850">
                <a:tc gridSpan="2">
                  <a:txBody>
                    <a:bodyPr/>
                    <a:lstStyle/>
                    <a:p>
                      <a:pPr indent="0" lvl="0" marL="0" rtl="0" algn="ctr">
                        <a:spcBef>
                          <a:spcPts val="0"/>
                        </a:spcBef>
                        <a:spcAft>
                          <a:spcPts val="0"/>
                        </a:spcAft>
                        <a:buNone/>
                      </a:pPr>
                      <a:r>
                        <a:rPr lang="en" sz="1100">
                          <a:latin typeface="Courier New"/>
                          <a:ea typeface="Courier New"/>
                          <a:cs typeface="Courier New"/>
                          <a:sym typeface="Courier New"/>
                        </a:rPr>
                        <a:t>Recursive Resolver Cache</a:t>
                      </a:r>
                      <a:endParaRPr sz="1100">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solidFill>
                      <a:schemeClr val="lt1"/>
                    </a:solidFill>
                  </a:tcPr>
                </a:tc>
                <a:tc hMerge="1"/>
              </a:tr>
              <a:tr h="317600">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a.gtld-servers.net.</a:t>
                      </a:r>
                      <a:endParaRPr sz="900">
                        <a:solidFill>
                          <a:schemeClr val="dk1"/>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192.5.6.30</a:t>
                      </a:r>
                      <a:endParaRPr sz="900">
                        <a:solidFill>
                          <a:schemeClr val="dk1"/>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17600">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ns1.google.com.</a:t>
                      </a:r>
                      <a:endParaRPr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216.239.32.10</a:t>
                      </a:r>
                      <a:endParaRPr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17600">
                <a:tc>
                  <a:txBody>
                    <a:bodyPr/>
                    <a:lstStyle/>
                    <a:p>
                      <a:pPr indent="0" lvl="0" marL="0" rtl="0" algn="l">
                        <a:lnSpc>
                          <a:spcPct val="115000"/>
                        </a:lnSpc>
                        <a:spcBef>
                          <a:spcPts val="0"/>
                        </a:spcBef>
                        <a:spcAft>
                          <a:spcPts val="0"/>
                        </a:spcAft>
                        <a:buNone/>
                      </a:pPr>
                      <a:r>
                        <a:rPr lang="en" sz="900">
                          <a:latin typeface="Courier New"/>
                          <a:ea typeface="Courier New"/>
                          <a:cs typeface="Courier New"/>
                          <a:sym typeface="Courier New"/>
                        </a:rPr>
                        <a:t>fake1.google.com</a:t>
                      </a:r>
                      <a:endParaRPr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900">
                          <a:latin typeface="Courier New"/>
                          <a:ea typeface="Courier New"/>
                          <a:cs typeface="Courier New"/>
                          <a:sym typeface="Courier New"/>
                        </a:rPr>
                        <a:t>Doesn’t exist!</a:t>
                      </a:r>
                      <a:endParaRPr sz="900">
                        <a:solidFill>
                          <a:srgbClr val="FF0000"/>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17600">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a:t>
                      </a:r>
                      <a:endParaRPr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Doesn’t exist!</a:t>
                      </a:r>
                      <a:endParaRPr sz="900">
                        <a:solidFill>
                          <a:srgbClr val="FF0000"/>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17600">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fake26.google.com</a:t>
                      </a:r>
                      <a:endParaRPr sz="900">
                        <a:solidFill>
                          <a:schemeClr val="dk1"/>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Doesn’t exist!</a:t>
                      </a:r>
                      <a:endParaRPr sz="900">
                        <a:solidFill>
                          <a:schemeClr val="dk1"/>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bl>
          </a:graphicData>
        </a:graphic>
      </p:graphicFrame>
      <p:sp>
        <p:nvSpPr>
          <p:cNvPr id="1353" name="Google Shape;1353;p9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354" name="Google Shape;1354;p90"/>
          <p:cNvPicPr preferRelativeResize="0"/>
          <p:nvPr/>
        </p:nvPicPr>
        <p:blipFill rotWithShape="1">
          <a:blip r:embed="rId3">
            <a:alphaModFix/>
          </a:blip>
          <a:srcRect b="65159" l="10446" r="69908" t="13697"/>
          <a:stretch/>
        </p:blipFill>
        <p:spPr>
          <a:xfrm>
            <a:off x="7841463" y="4405638"/>
            <a:ext cx="650926" cy="700636"/>
          </a:xfrm>
          <a:prstGeom prst="rect">
            <a:avLst/>
          </a:prstGeom>
          <a:noFill/>
          <a:ln>
            <a:noFill/>
          </a:ln>
        </p:spPr>
      </p:pic>
      <p:sp>
        <p:nvSpPr>
          <p:cNvPr id="1355" name="Google Shape;1355;p90"/>
          <p:cNvSpPr txBox="1"/>
          <p:nvPr>
            <p:ph type="title"/>
          </p:nvPr>
        </p:nvSpPr>
        <p:spPr>
          <a:xfrm>
            <a:off x="102700" y="270875"/>
            <a:ext cx="4180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Kaminsky Attack: Example</a:t>
            </a:r>
            <a:endParaRPr/>
          </a:p>
        </p:txBody>
      </p:sp>
      <p:sp>
        <p:nvSpPr>
          <p:cNvPr id="1356" name="Google Shape;1356;p90"/>
          <p:cNvSpPr txBox="1"/>
          <p:nvPr/>
        </p:nvSpPr>
        <p:spPr>
          <a:xfrm>
            <a:off x="849438" y="1669350"/>
            <a:ext cx="1296300" cy="393600"/>
          </a:xfrm>
          <a:prstGeom prst="rect">
            <a:avLst/>
          </a:prstGeom>
          <a:solidFill>
            <a:srgbClr val="FCE5CD"/>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google.com</a:t>
            </a:r>
            <a:endParaRPr sz="1200">
              <a:latin typeface="Calibri"/>
              <a:ea typeface="Calibri"/>
              <a:cs typeface="Calibri"/>
              <a:sym typeface="Calibri"/>
            </a:endParaRPr>
          </a:p>
        </p:txBody>
      </p:sp>
      <p:sp>
        <p:nvSpPr>
          <p:cNvPr id="1357" name="Google Shape;1357;p90"/>
          <p:cNvSpPr txBox="1"/>
          <p:nvPr/>
        </p:nvSpPr>
        <p:spPr>
          <a:xfrm>
            <a:off x="4176525" y="1609225"/>
            <a:ext cx="4773300" cy="364800"/>
          </a:xfrm>
          <a:prstGeom prst="rect">
            <a:avLst/>
          </a:prstGeom>
          <a:solidFill>
            <a:srgbClr val="FCE5CD"/>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t>“</a:t>
            </a:r>
            <a:r>
              <a:rPr b="1" lang="en" sz="1200">
                <a:latin typeface="Courier New"/>
                <a:ea typeface="Courier New"/>
                <a:cs typeface="Courier New"/>
                <a:sym typeface="Courier New"/>
              </a:rPr>
              <a:t>fake7.google.com </a:t>
            </a:r>
            <a:r>
              <a:rPr lang="en" sz="1200"/>
              <a:t>doesn’t exist! </a:t>
            </a:r>
            <a:r>
              <a:rPr lang="en" sz="1200">
                <a:solidFill>
                  <a:schemeClr val="dk1"/>
                </a:solidFill>
              </a:rPr>
              <a:t>This response has ID 432.”</a:t>
            </a:r>
            <a:endParaRPr sz="1200"/>
          </a:p>
        </p:txBody>
      </p:sp>
      <p:sp>
        <p:nvSpPr>
          <p:cNvPr id="1358" name="Google Shape;1358;p90"/>
          <p:cNvSpPr txBox="1"/>
          <p:nvPr/>
        </p:nvSpPr>
        <p:spPr>
          <a:xfrm>
            <a:off x="3161300" y="1609225"/>
            <a:ext cx="4773300" cy="364800"/>
          </a:xfrm>
          <a:prstGeom prst="rect">
            <a:avLst/>
          </a:prstGeom>
          <a:solidFill>
            <a:srgbClr val="FCE5CD"/>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t>“</a:t>
            </a:r>
            <a:r>
              <a:rPr b="1" lang="en" sz="1200">
                <a:latin typeface="Courier New"/>
                <a:ea typeface="Courier New"/>
                <a:cs typeface="Courier New"/>
                <a:sym typeface="Courier New"/>
              </a:rPr>
              <a:t>fake3.google.com </a:t>
            </a:r>
            <a:r>
              <a:rPr lang="en" sz="1200"/>
              <a:t>doesn’t exist! </a:t>
            </a:r>
            <a:r>
              <a:rPr lang="en" sz="1200">
                <a:solidFill>
                  <a:schemeClr val="dk1"/>
                </a:solidFill>
              </a:rPr>
              <a:t>This response has ID 324.”</a:t>
            </a:r>
            <a:endParaRPr sz="1200"/>
          </a:p>
        </p:txBody>
      </p:sp>
      <p:sp>
        <p:nvSpPr>
          <p:cNvPr id="1359" name="Google Shape;1359;p90"/>
          <p:cNvSpPr txBox="1"/>
          <p:nvPr/>
        </p:nvSpPr>
        <p:spPr>
          <a:xfrm>
            <a:off x="47800" y="1176750"/>
            <a:ext cx="7491300" cy="364800"/>
          </a:xfrm>
          <a:prstGeom prst="rect">
            <a:avLst/>
          </a:prstGeom>
          <a:solidFill>
            <a:srgbClr val="C9DAF8"/>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Mallory can use the DNS requests from her other image tags to try to guess the ID number.</a:t>
            </a:r>
            <a:endParaRPr/>
          </a:p>
        </p:txBody>
      </p:sp>
      <p:sp>
        <p:nvSpPr>
          <p:cNvPr id="1360" name="Google Shape;1360;p90"/>
          <p:cNvSpPr txBox="1"/>
          <p:nvPr/>
        </p:nvSpPr>
        <p:spPr>
          <a:xfrm>
            <a:off x="3876575" y="1829800"/>
            <a:ext cx="4773300" cy="364800"/>
          </a:xfrm>
          <a:prstGeom prst="rect">
            <a:avLst/>
          </a:prstGeom>
          <a:solidFill>
            <a:srgbClr val="FCE5CD"/>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t>“</a:t>
            </a:r>
            <a:r>
              <a:rPr b="1" lang="en" sz="1200">
                <a:latin typeface="Courier New"/>
                <a:ea typeface="Courier New"/>
                <a:cs typeface="Courier New"/>
                <a:sym typeface="Courier New"/>
              </a:rPr>
              <a:t>fake4.google.com </a:t>
            </a:r>
            <a:r>
              <a:rPr lang="en" sz="1200"/>
              <a:t>doesn’t exist! </a:t>
            </a:r>
            <a:r>
              <a:rPr lang="en" sz="1200">
                <a:solidFill>
                  <a:schemeClr val="dk1"/>
                </a:solidFill>
              </a:rPr>
              <a:t>This response has ID 691.”</a:t>
            </a:r>
            <a:endParaRPr sz="1200"/>
          </a:p>
        </p:txBody>
      </p:sp>
      <p:cxnSp>
        <p:nvCxnSpPr>
          <p:cNvPr id="1361" name="Google Shape;1361;p90"/>
          <p:cNvCxnSpPr/>
          <p:nvPr/>
        </p:nvCxnSpPr>
        <p:spPr>
          <a:xfrm flipH="1">
            <a:off x="402825" y="1720300"/>
            <a:ext cx="447600" cy="417000"/>
          </a:xfrm>
          <a:prstGeom prst="bentConnector3">
            <a:avLst>
              <a:gd fmla="val 98302" name="adj1"/>
            </a:avLst>
          </a:prstGeom>
          <a:noFill/>
          <a:ln cap="flat" cmpd="sng" w="19050">
            <a:solidFill>
              <a:srgbClr val="F1C232"/>
            </a:solidFill>
            <a:prstDash val="solid"/>
            <a:round/>
            <a:headEnd len="med" w="med" type="none"/>
            <a:tailEnd len="med" w="med" type="triangle"/>
          </a:ln>
        </p:spPr>
      </p:cxnSp>
      <p:grpSp>
        <p:nvGrpSpPr>
          <p:cNvPr id="1362" name="Google Shape;1362;p90"/>
          <p:cNvGrpSpPr/>
          <p:nvPr/>
        </p:nvGrpSpPr>
        <p:grpSpPr>
          <a:xfrm>
            <a:off x="3361138" y="2402638"/>
            <a:ext cx="4240800" cy="912000"/>
            <a:chOff x="3361138" y="2402638"/>
            <a:chExt cx="4240800" cy="912000"/>
          </a:xfrm>
        </p:grpSpPr>
        <p:sp>
          <p:nvSpPr>
            <p:cNvPr id="1363" name="Google Shape;1363;p90"/>
            <p:cNvSpPr txBox="1"/>
            <p:nvPr/>
          </p:nvSpPr>
          <p:spPr>
            <a:xfrm>
              <a:off x="3361138" y="2402638"/>
              <a:ext cx="4240800" cy="912000"/>
            </a:xfrm>
            <a:prstGeom prst="rect">
              <a:avLst/>
            </a:prstGeom>
            <a:solidFill>
              <a:srgbClr val="F4CCCC"/>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rPr>
                <a:t>“I don’t know. But I have delegated authority to the </a:t>
              </a:r>
              <a:r>
                <a:rPr b="1" lang="en" sz="1200">
                  <a:solidFill>
                    <a:schemeClr val="dk1"/>
                  </a:solidFill>
                  <a:latin typeface="Courier New"/>
                  <a:ea typeface="Courier New"/>
                  <a:cs typeface="Courier New"/>
                  <a:sym typeface="Courier New"/>
                </a:rPr>
                <a:t>fake7.google.com.</a:t>
              </a:r>
              <a:r>
                <a:rPr lang="en" sz="1200">
                  <a:solidFill>
                    <a:schemeClr val="dk1"/>
                  </a:solidFill>
                </a:rPr>
                <a:t> NS. This response has ID 774.</a:t>
              </a:r>
              <a:endParaRPr sz="1200">
                <a:solidFill>
                  <a:schemeClr val="dk1"/>
                </a:solidFill>
              </a:endParaRPr>
            </a:p>
            <a:p>
              <a:pPr indent="0" lvl="0" marL="0" rtl="0" algn="l">
                <a:spcBef>
                  <a:spcPts val="0"/>
                </a:spcBef>
                <a:spcAft>
                  <a:spcPts val="0"/>
                </a:spcAft>
                <a:buNone/>
              </a:pPr>
              <a:r>
                <a:rPr lang="en" sz="1200">
                  <a:solidFill>
                    <a:schemeClr val="dk1"/>
                  </a:solidFill>
                </a:rPr>
                <a:t>Authority: </a:t>
              </a:r>
              <a:r>
                <a:rPr b="1" lang="en" sz="1200">
                  <a:solidFill>
                    <a:schemeClr val="dk1"/>
                  </a:solidFill>
                  <a:latin typeface="Courier New"/>
                  <a:ea typeface="Courier New"/>
                  <a:cs typeface="Courier New"/>
                  <a:sym typeface="Courier New"/>
                </a:rPr>
                <a:t>fake7.google.com.</a:t>
              </a:r>
              <a:r>
                <a:rPr lang="en" sz="1200">
                  <a:solidFill>
                    <a:schemeClr val="dk1"/>
                  </a:solidFill>
                </a:rPr>
                <a:t> NS  </a:t>
              </a:r>
              <a:r>
                <a:rPr b="1" lang="en" sz="1200">
                  <a:solidFill>
                    <a:schemeClr val="dk1"/>
                  </a:solidFill>
                  <a:latin typeface="Courier New"/>
                  <a:ea typeface="Courier New"/>
                  <a:cs typeface="Courier New"/>
                  <a:sym typeface="Courier New"/>
                </a:rPr>
                <a:t>www.google.com</a:t>
              </a:r>
              <a:endParaRPr sz="1200">
                <a:solidFill>
                  <a:schemeClr val="dk1"/>
                </a:solidFill>
              </a:endParaRPr>
            </a:p>
            <a:p>
              <a:pPr indent="0" lvl="0" marL="0" rtl="0" algn="l">
                <a:lnSpc>
                  <a:spcPct val="115000"/>
                </a:lnSpc>
                <a:spcBef>
                  <a:spcPts val="0"/>
                </a:spcBef>
                <a:spcAft>
                  <a:spcPts val="0"/>
                </a:spcAft>
                <a:buNone/>
              </a:pPr>
              <a:r>
                <a:rPr lang="en" sz="1200">
                  <a:solidFill>
                    <a:schemeClr val="dk1"/>
                  </a:solidFill>
                </a:rPr>
                <a:t>Additional:  </a:t>
              </a:r>
              <a:r>
                <a:rPr b="1" lang="en" sz="1200">
                  <a:solidFill>
                    <a:schemeClr val="dk1"/>
                  </a:solidFill>
                  <a:latin typeface="Courier New"/>
                  <a:ea typeface="Courier New"/>
                  <a:cs typeface="Courier New"/>
                  <a:sym typeface="Courier New"/>
                </a:rPr>
                <a:t>www.google.com.</a:t>
              </a:r>
              <a:r>
                <a:rPr lang="en" sz="1200">
                  <a:solidFill>
                    <a:schemeClr val="dk1"/>
                  </a:solidFill>
                </a:rPr>
                <a:t> A </a:t>
              </a:r>
              <a:r>
                <a:rPr b="1" lang="en" sz="1200">
                  <a:solidFill>
                    <a:schemeClr val="dk1"/>
                  </a:solidFill>
                  <a:latin typeface="Courier New"/>
                  <a:ea typeface="Courier New"/>
                  <a:cs typeface="Courier New"/>
                  <a:sym typeface="Courier New"/>
                </a:rPr>
                <a:t>6.6.6.6</a:t>
              </a:r>
              <a:r>
                <a:rPr lang="en" sz="1200">
                  <a:solidFill>
                    <a:schemeClr val="dk1"/>
                  </a:solidFill>
                </a:rPr>
                <a:t>”</a:t>
              </a:r>
              <a:endParaRPr sz="1200"/>
            </a:p>
          </p:txBody>
        </p:sp>
        <p:cxnSp>
          <p:nvCxnSpPr>
            <p:cNvPr id="1364" name="Google Shape;1364;p90"/>
            <p:cNvCxnSpPr>
              <a:stCxn id="1363" idx="1"/>
              <a:endCxn id="1363" idx="3"/>
            </p:cNvCxnSpPr>
            <p:nvPr/>
          </p:nvCxnSpPr>
          <p:spPr>
            <a:xfrm>
              <a:off x="3361138" y="2858638"/>
              <a:ext cx="4240800" cy="0"/>
            </a:xfrm>
            <a:prstGeom prst="straightConnector1">
              <a:avLst/>
            </a:prstGeom>
            <a:noFill/>
            <a:ln cap="flat" cmpd="sng" w="9525">
              <a:solidFill>
                <a:schemeClr val="dk2"/>
              </a:solidFill>
              <a:prstDash val="solid"/>
              <a:round/>
              <a:headEnd len="med" w="med" type="none"/>
              <a:tailEnd len="med" w="med" type="none"/>
            </a:ln>
          </p:spPr>
        </p:cxnSp>
      </p:grpSp>
      <p:grpSp>
        <p:nvGrpSpPr>
          <p:cNvPr id="1365" name="Google Shape;1365;p90"/>
          <p:cNvGrpSpPr/>
          <p:nvPr/>
        </p:nvGrpSpPr>
        <p:grpSpPr>
          <a:xfrm>
            <a:off x="4369788" y="2554438"/>
            <a:ext cx="4240800" cy="912000"/>
            <a:chOff x="4903188" y="1792438"/>
            <a:chExt cx="4240800" cy="912000"/>
          </a:xfrm>
        </p:grpSpPr>
        <p:sp>
          <p:nvSpPr>
            <p:cNvPr id="1366" name="Google Shape;1366;p90"/>
            <p:cNvSpPr txBox="1"/>
            <p:nvPr/>
          </p:nvSpPr>
          <p:spPr>
            <a:xfrm>
              <a:off x="4903188" y="1792438"/>
              <a:ext cx="4240800" cy="912000"/>
            </a:xfrm>
            <a:prstGeom prst="rect">
              <a:avLst/>
            </a:prstGeom>
            <a:solidFill>
              <a:srgbClr val="F4CCCC"/>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rPr>
                <a:t>“I don’t know. But I have delegated authority to the </a:t>
              </a:r>
              <a:r>
                <a:rPr b="1" lang="en" sz="1200">
                  <a:solidFill>
                    <a:schemeClr val="dk1"/>
                  </a:solidFill>
                  <a:latin typeface="Courier New"/>
                  <a:ea typeface="Courier New"/>
                  <a:cs typeface="Courier New"/>
                  <a:sym typeface="Courier New"/>
                </a:rPr>
                <a:t>fake3.google.com.</a:t>
              </a:r>
              <a:r>
                <a:rPr lang="en" sz="1200">
                  <a:solidFill>
                    <a:schemeClr val="dk1"/>
                  </a:solidFill>
                </a:rPr>
                <a:t> NS. This response has ID 425.</a:t>
              </a:r>
              <a:endParaRPr sz="1200">
                <a:solidFill>
                  <a:schemeClr val="dk1"/>
                </a:solidFill>
              </a:endParaRPr>
            </a:p>
            <a:p>
              <a:pPr indent="0" lvl="0" marL="0" rtl="0" algn="l">
                <a:spcBef>
                  <a:spcPts val="0"/>
                </a:spcBef>
                <a:spcAft>
                  <a:spcPts val="0"/>
                </a:spcAft>
                <a:buNone/>
              </a:pPr>
              <a:r>
                <a:rPr lang="en" sz="1200">
                  <a:solidFill>
                    <a:schemeClr val="dk1"/>
                  </a:solidFill>
                </a:rPr>
                <a:t>Authority: </a:t>
              </a:r>
              <a:r>
                <a:rPr b="1" lang="en" sz="1200">
                  <a:solidFill>
                    <a:schemeClr val="dk1"/>
                  </a:solidFill>
                  <a:latin typeface="Courier New"/>
                  <a:ea typeface="Courier New"/>
                  <a:cs typeface="Courier New"/>
                  <a:sym typeface="Courier New"/>
                </a:rPr>
                <a:t>fake2.google.com.</a:t>
              </a:r>
              <a:r>
                <a:rPr lang="en" sz="1200">
                  <a:solidFill>
                    <a:schemeClr val="dk1"/>
                  </a:solidFill>
                </a:rPr>
                <a:t> NS  </a:t>
              </a:r>
              <a:r>
                <a:rPr b="1" lang="en" sz="1200">
                  <a:solidFill>
                    <a:schemeClr val="dk1"/>
                  </a:solidFill>
                  <a:latin typeface="Courier New"/>
                  <a:ea typeface="Courier New"/>
                  <a:cs typeface="Courier New"/>
                  <a:sym typeface="Courier New"/>
                </a:rPr>
                <a:t>www.google.com</a:t>
              </a:r>
              <a:endParaRPr sz="1200">
                <a:solidFill>
                  <a:schemeClr val="dk1"/>
                </a:solidFill>
              </a:endParaRPr>
            </a:p>
            <a:p>
              <a:pPr indent="0" lvl="0" marL="0" rtl="0" algn="l">
                <a:lnSpc>
                  <a:spcPct val="115000"/>
                </a:lnSpc>
                <a:spcBef>
                  <a:spcPts val="0"/>
                </a:spcBef>
                <a:spcAft>
                  <a:spcPts val="0"/>
                </a:spcAft>
                <a:buNone/>
              </a:pPr>
              <a:r>
                <a:rPr lang="en" sz="1200">
                  <a:solidFill>
                    <a:schemeClr val="dk1"/>
                  </a:solidFill>
                </a:rPr>
                <a:t>Additional:  </a:t>
              </a:r>
              <a:r>
                <a:rPr b="1" lang="en" sz="1200">
                  <a:solidFill>
                    <a:schemeClr val="dk1"/>
                  </a:solidFill>
                  <a:latin typeface="Courier New"/>
                  <a:ea typeface="Courier New"/>
                  <a:cs typeface="Courier New"/>
                  <a:sym typeface="Courier New"/>
                </a:rPr>
                <a:t>www.google.com.</a:t>
              </a:r>
              <a:r>
                <a:rPr lang="en" sz="1200">
                  <a:solidFill>
                    <a:schemeClr val="dk1"/>
                  </a:solidFill>
                </a:rPr>
                <a:t> A </a:t>
              </a:r>
              <a:r>
                <a:rPr b="1" lang="en" sz="1200">
                  <a:solidFill>
                    <a:schemeClr val="dk1"/>
                  </a:solidFill>
                  <a:latin typeface="Courier New"/>
                  <a:ea typeface="Courier New"/>
                  <a:cs typeface="Courier New"/>
                  <a:sym typeface="Courier New"/>
                </a:rPr>
                <a:t>6.6.6.6</a:t>
              </a:r>
              <a:r>
                <a:rPr lang="en" sz="1200">
                  <a:solidFill>
                    <a:schemeClr val="dk1"/>
                  </a:solidFill>
                </a:rPr>
                <a:t>”</a:t>
              </a:r>
              <a:endParaRPr sz="1200"/>
            </a:p>
          </p:txBody>
        </p:sp>
        <p:cxnSp>
          <p:nvCxnSpPr>
            <p:cNvPr id="1367" name="Google Shape;1367;p90"/>
            <p:cNvCxnSpPr>
              <a:stCxn id="1366" idx="1"/>
              <a:endCxn id="1366" idx="3"/>
            </p:cNvCxnSpPr>
            <p:nvPr/>
          </p:nvCxnSpPr>
          <p:spPr>
            <a:xfrm>
              <a:off x="4903188" y="2248438"/>
              <a:ext cx="4240800" cy="0"/>
            </a:xfrm>
            <a:prstGeom prst="straightConnector1">
              <a:avLst/>
            </a:prstGeom>
            <a:noFill/>
            <a:ln cap="flat" cmpd="sng" w="9525">
              <a:solidFill>
                <a:schemeClr val="dk2"/>
              </a:solidFill>
              <a:prstDash val="solid"/>
              <a:round/>
              <a:headEnd len="med" w="med" type="none"/>
              <a:tailEnd len="med" w="med" type="none"/>
            </a:ln>
          </p:spPr>
        </p:cxnSp>
      </p:grpSp>
      <p:grpSp>
        <p:nvGrpSpPr>
          <p:cNvPr id="1368" name="Google Shape;1368;p90"/>
          <p:cNvGrpSpPr/>
          <p:nvPr/>
        </p:nvGrpSpPr>
        <p:grpSpPr>
          <a:xfrm>
            <a:off x="3209313" y="3053125"/>
            <a:ext cx="4240800" cy="912000"/>
            <a:chOff x="3209313" y="3053125"/>
            <a:chExt cx="4240800" cy="912000"/>
          </a:xfrm>
        </p:grpSpPr>
        <p:sp>
          <p:nvSpPr>
            <p:cNvPr id="1369" name="Google Shape;1369;p90"/>
            <p:cNvSpPr txBox="1"/>
            <p:nvPr/>
          </p:nvSpPr>
          <p:spPr>
            <a:xfrm>
              <a:off x="3209313" y="3053125"/>
              <a:ext cx="4240800" cy="912000"/>
            </a:xfrm>
            <a:prstGeom prst="rect">
              <a:avLst/>
            </a:prstGeom>
            <a:solidFill>
              <a:srgbClr val="F4CCCC"/>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rPr>
                <a:t>“I don’t know. But I have delegated authority to the </a:t>
              </a:r>
              <a:r>
                <a:rPr b="1" lang="en" sz="1200">
                  <a:solidFill>
                    <a:schemeClr val="dk1"/>
                  </a:solidFill>
                  <a:latin typeface="Courier New"/>
                  <a:ea typeface="Courier New"/>
                  <a:cs typeface="Courier New"/>
                  <a:sym typeface="Courier New"/>
                </a:rPr>
                <a:t>fake4.google.com.</a:t>
              </a:r>
              <a:r>
                <a:rPr lang="en" sz="1200">
                  <a:solidFill>
                    <a:schemeClr val="dk1"/>
                  </a:solidFill>
                </a:rPr>
                <a:t> NS. This response has ID 712.</a:t>
              </a:r>
              <a:endParaRPr sz="1200">
                <a:solidFill>
                  <a:schemeClr val="dk1"/>
                </a:solidFill>
              </a:endParaRPr>
            </a:p>
            <a:p>
              <a:pPr indent="0" lvl="0" marL="0" rtl="0" algn="l">
                <a:spcBef>
                  <a:spcPts val="0"/>
                </a:spcBef>
                <a:spcAft>
                  <a:spcPts val="0"/>
                </a:spcAft>
                <a:buNone/>
              </a:pPr>
              <a:r>
                <a:rPr lang="en" sz="1200">
                  <a:solidFill>
                    <a:schemeClr val="dk1"/>
                  </a:solidFill>
                </a:rPr>
                <a:t>Authority: </a:t>
              </a:r>
              <a:r>
                <a:rPr b="1" lang="en" sz="1200">
                  <a:solidFill>
                    <a:schemeClr val="dk1"/>
                  </a:solidFill>
                  <a:latin typeface="Courier New"/>
                  <a:ea typeface="Courier New"/>
                  <a:cs typeface="Courier New"/>
                  <a:sym typeface="Courier New"/>
                </a:rPr>
                <a:t>fake4.google.com.</a:t>
              </a:r>
              <a:r>
                <a:rPr lang="en" sz="1200">
                  <a:solidFill>
                    <a:schemeClr val="dk1"/>
                  </a:solidFill>
                </a:rPr>
                <a:t> NS  </a:t>
              </a:r>
              <a:r>
                <a:rPr b="1" lang="en" sz="1200">
                  <a:solidFill>
                    <a:schemeClr val="dk1"/>
                  </a:solidFill>
                  <a:latin typeface="Courier New"/>
                  <a:ea typeface="Courier New"/>
                  <a:cs typeface="Courier New"/>
                  <a:sym typeface="Courier New"/>
                </a:rPr>
                <a:t>www.google.com</a:t>
              </a:r>
              <a:endParaRPr sz="1200">
                <a:solidFill>
                  <a:schemeClr val="dk1"/>
                </a:solidFill>
              </a:endParaRPr>
            </a:p>
            <a:p>
              <a:pPr indent="0" lvl="0" marL="0" rtl="0" algn="l">
                <a:lnSpc>
                  <a:spcPct val="115000"/>
                </a:lnSpc>
                <a:spcBef>
                  <a:spcPts val="0"/>
                </a:spcBef>
                <a:spcAft>
                  <a:spcPts val="0"/>
                </a:spcAft>
                <a:buNone/>
              </a:pPr>
              <a:r>
                <a:rPr lang="en" sz="1200">
                  <a:solidFill>
                    <a:schemeClr val="dk1"/>
                  </a:solidFill>
                </a:rPr>
                <a:t>Additional:  </a:t>
              </a:r>
              <a:r>
                <a:rPr b="1" lang="en" sz="1200">
                  <a:solidFill>
                    <a:schemeClr val="dk1"/>
                  </a:solidFill>
                  <a:latin typeface="Courier New"/>
                  <a:ea typeface="Courier New"/>
                  <a:cs typeface="Courier New"/>
                  <a:sym typeface="Courier New"/>
                </a:rPr>
                <a:t>www.google.com.</a:t>
              </a:r>
              <a:r>
                <a:rPr lang="en" sz="1200">
                  <a:solidFill>
                    <a:schemeClr val="dk1"/>
                  </a:solidFill>
                </a:rPr>
                <a:t> A </a:t>
              </a:r>
              <a:r>
                <a:rPr b="1" lang="en" sz="1200">
                  <a:solidFill>
                    <a:schemeClr val="dk1"/>
                  </a:solidFill>
                  <a:latin typeface="Courier New"/>
                  <a:ea typeface="Courier New"/>
                  <a:cs typeface="Courier New"/>
                  <a:sym typeface="Courier New"/>
                </a:rPr>
                <a:t>6.6.6.6</a:t>
              </a:r>
              <a:r>
                <a:rPr lang="en" sz="1200">
                  <a:solidFill>
                    <a:schemeClr val="dk1"/>
                  </a:solidFill>
                </a:rPr>
                <a:t>”</a:t>
              </a:r>
              <a:endParaRPr sz="1200"/>
            </a:p>
          </p:txBody>
        </p:sp>
        <p:cxnSp>
          <p:nvCxnSpPr>
            <p:cNvPr id="1370" name="Google Shape;1370;p90"/>
            <p:cNvCxnSpPr>
              <a:stCxn id="1369" idx="1"/>
              <a:endCxn id="1369" idx="3"/>
            </p:cNvCxnSpPr>
            <p:nvPr/>
          </p:nvCxnSpPr>
          <p:spPr>
            <a:xfrm>
              <a:off x="3209313" y="3509125"/>
              <a:ext cx="4240800" cy="0"/>
            </a:xfrm>
            <a:prstGeom prst="straightConnector1">
              <a:avLst/>
            </a:prstGeom>
            <a:noFill/>
            <a:ln cap="flat" cmpd="sng" w="9525">
              <a:solidFill>
                <a:schemeClr val="dk2"/>
              </a:solidFill>
              <a:prstDash val="solid"/>
              <a:round/>
              <a:headEnd len="med" w="med" type="none"/>
              <a:tailEnd len="med" w="med" type="none"/>
            </a:ln>
          </p:spPr>
        </p:cxnSp>
      </p:grpSp>
      <p:grpSp>
        <p:nvGrpSpPr>
          <p:cNvPr id="1371" name="Google Shape;1371;p90"/>
          <p:cNvGrpSpPr/>
          <p:nvPr/>
        </p:nvGrpSpPr>
        <p:grpSpPr>
          <a:xfrm>
            <a:off x="4674588" y="3370263"/>
            <a:ext cx="4240800" cy="912000"/>
            <a:chOff x="4674588" y="3370263"/>
            <a:chExt cx="4240800" cy="912000"/>
          </a:xfrm>
        </p:grpSpPr>
        <p:sp>
          <p:nvSpPr>
            <p:cNvPr id="1372" name="Google Shape;1372;p90"/>
            <p:cNvSpPr txBox="1"/>
            <p:nvPr/>
          </p:nvSpPr>
          <p:spPr>
            <a:xfrm>
              <a:off x="4674588" y="3370263"/>
              <a:ext cx="4240800" cy="912000"/>
            </a:xfrm>
            <a:prstGeom prst="rect">
              <a:avLst/>
            </a:prstGeom>
            <a:solidFill>
              <a:srgbClr val="F4CCCC"/>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rPr>
                <a:t>“I don’t know. But I have delegated authority to the </a:t>
              </a:r>
              <a:r>
                <a:rPr b="1" lang="en" sz="1200">
                  <a:solidFill>
                    <a:schemeClr val="dk1"/>
                  </a:solidFill>
                  <a:latin typeface="Courier New"/>
                  <a:ea typeface="Courier New"/>
                  <a:cs typeface="Courier New"/>
                  <a:sym typeface="Courier New"/>
                </a:rPr>
                <a:t>fake5.google.com.</a:t>
              </a:r>
              <a:r>
                <a:rPr lang="en" sz="1200">
                  <a:solidFill>
                    <a:schemeClr val="dk1"/>
                  </a:solidFill>
                </a:rPr>
                <a:t> NS. This response has ID 821.</a:t>
              </a:r>
              <a:endParaRPr sz="1200">
                <a:solidFill>
                  <a:schemeClr val="dk1"/>
                </a:solidFill>
              </a:endParaRPr>
            </a:p>
            <a:p>
              <a:pPr indent="0" lvl="0" marL="0" rtl="0" algn="l">
                <a:spcBef>
                  <a:spcPts val="0"/>
                </a:spcBef>
                <a:spcAft>
                  <a:spcPts val="0"/>
                </a:spcAft>
                <a:buNone/>
              </a:pPr>
              <a:r>
                <a:rPr lang="en" sz="1200">
                  <a:solidFill>
                    <a:schemeClr val="dk1"/>
                  </a:solidFill>
                </a:rPr>
                <a:t>Authority: </a:t>
              </a:r>
              <a:r>
                <a:rPr b="1" lang="en" sz="1200">
                  <a:solidFill>
                    <a:schemeClr val="dk1"/>
                  </a:solidFill>
                  <a:latin typeface="Courier New"/>
                  <a:ea typeface="Courier New"/>
                  <a:cs typeface="Courier New"/>
                  <a:sym typeface="Courier New"/>
                </a:rPr>
                <a:t>fake5.google.com.</a:t>
              </a:r>
              <a:r>
                <a:rPr lang="en" sz="1200">
                  <a:solidFill>
                    <a:schemeClr val="dk1"/>
                  </a:solidFill>
                </a:rPr>
                <a:t> NS  </a:t>
              </a:r>
              <a:r>
                <a:rPr b="1" lang="en" sz="1200">
                  <a:solidFill>
                    <a:schemeClr val="dk1"/>
                  </a:solidFill>
                  <a:latin typeface="Courier New"/>
                  <a:ea typeface="Courier New"/>
                  <a:cs typeface="Courier New"/>
                  <a:sym typeface="Courier New"/>
                </a:rPr>
                <a:t>www.google.com</a:t>
              </a:r>
              <a:endParaRPr sz="1200">
                <a:solidFill>
                  <a:schemeClr val="dk1"/>
                </a:solidFill>
              </a:endParaRPr>
            </a:p>
            <a:p>
              <a:pPr indent="0" lvl="0" marL="0" rtl="0" algn="l">
                <a:lnSpc>
                  <a:spcPct val="115000"/>
                </a:lnSpc>
                <a:spcBef>
                  <a:spcPts val="0"/>
                </a:spcBef>
                <a:spcAft>
                  <a:spcPts val="0"/>
                </a:spcAft>
                <a:buNone/>
              </a:pPr>
              <a:r>
                <a:rPr lang="en" sz="1200">
                  <a:solidFill>
                    <a:schemeClr val="dk1"/>
                  </a:solidFill>
                </a:rPr>
                <a:t>Additional:  </a:t>
              </a:r>
              <a:r>
                <a:rPr b="1" lang="en" sz="1200">
                  <a:solidFill>
                    <a:schemeClr val="dk1"/>
                  </a:solidFill>
                  <a:latin typeface="Courier New"/>
                  <a:ea typeface="Courier New"/>
                  <a:cs typeface="Courier New"/>
                  <a:sym typeface="Courier New"/>
                </a:rPr>
                <a:t>www.google.com.</a:t>
              </a:r>
              <a:r>
                <a:rPr lang="en" sz="1200">
                  <a:solidFill>
                    <a:schemeClr val="dk1"/>
                  </a:solidFill>
                </a:rPr>
                <a:t> A </a:t>
              </a:r>
              <a:r>
                <a:rPr b="1" lang="en" sz="1200">
                  <a:solidFill>
                    <a:schemeClr val="dk1"/>
                  </a:solidFill>
                  <a:latin typeface="Courier New"/>
                  <a:ea typeface="Courier New"/>
                  <a:cs typeface="Courier New"/>
                  <a:sym typeface="Courier New"/>
                </a:rPr>
                <a:t>6.6.6.6</a:t>
              </a:r>
              <a:r>
                <a:rPr lang="en" sz="1200">
                  <a:solidFill>
                    <a:schemeClr val="dk1"/>
                  </a:solidFill>
                </a:rPr>
                <a:t>”</a:t>
              </a:r>
              <a:endParaRPr sz="1200"/>
            </a:p>
          </p:txBody>
        </p:sp>
        <p:cxnSp>
          <p:nvCxnSpPr>
            <p:cNvPr id="1373" name="Google Shape;1373;p90"/>
            <p:cNvCxnSpPr>
              <a:stCxn id="1372" idx="1"/>
              <a:endCxn id="1372" idx="3"/>
            </p:cNvCxnSpPr>
            <p:nvPr/>
          </p:nvCxnSpPr>
          <p:spPr>
            <a:xfrm>
              <a:off x="4674588" y="3826263"/>
              <a:ext cx="4240800" cy="0"/>
            </a:xfrm>
            <a:prstGeom prst="straightConnector1">
              <a:avLst/>
            </a:prstGeom>
            <a:noFill/>
            <a:ln cap="flat" cmpd="sng" w="9525">
              <a:solidFill>
                <a:schemeClr val="dk2"/>
              </a:solidFill>
              <a:prstDash val="solid"/>
              <a:round/>
              <a:headEnd len="med" w="med" type="none"/>
              <a:tailEnd len="med" w="med" type="none"/>
            </a:ln>
          </p:spPr>
        </p:cxnSp>
      </p:grpSp>
      <p:grpSp>
        <p:nvGrpSpPr>
          <p:cNvPr id="1374" name="Google Shape;1374;p90"/>
          <p:cNvGrpSpPr/>
          <p:nvPr/>
        </p:nvGrpSpPr>
        <p:grpSpPr>
          <a:xfrm>
            <a:off x="2977763" y="3652288"/>
            <a:ext cx="4240800" cy="912000"/>
            <a:chOff x="2977763" y="3652288"/>
            <a:chExt cx="4240800" cy="912000"/>
          </a:xfrm>
        </p:grpSpPr>
        <p:sp>
          <p:nvSpPr>
            <p:cNvPr id="1375" name="Google Shape;1375;p90"/>
            <p:cNvSpPr txBox="1"/>
            <p:nvPr/>
          </p:nvSpPr>
          <p:spPr>
            <a:xfrm>
              <a:off x="2977763" y="3652288"/>
              <a:ext cx="4240800" cy="912000"/>
            </a:xfrm>
            <a:prstGeom prst="rect">
              <a:avLst/>
            </a:prstGeom>
            <a:solidFill>
              <a:srgbClr val="F4CCCC"/>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rPr>
                <a:t>“I don’t know. But I have delegated authority to the </a:t>
              </a:r>
              <a:r>
                <a:rPr b="1" lang="en" sz="1200">
                  <a:solidFill>
                    <a:schemeClr val="dk1"/>
                  </a:solidFill>
                  <a:latin typeface="Courier New"/>
                  <a:ea typeface="Courier New"/>
                  <a:cs typeface="Courier New"/>
                  <a:sym typeface="Courier New"/>
                </a:rPr>
                <a:t>fake6.google.com.</a:t>
              </a:r>
              <a:r>
                <a:rPr lang="en" sz="1200">
                  <a:solidFill>
                    <a:schemeClr val="dk1"/>
                  </a:solidFill>
                </a:rPr>
                <a:t> NS. This response has ID 234.</a:t>
              </a:r>
              <a:endParaRPr sz="1200">
                <a:solidFill>
                  <a:schemeClr val="dk1"/>
                </a:solidFill>
              </a:endParaRPr>
            </a:p>
            <a:p>
              <a:pPr indent="0" lvl="0" marL="0" rtl="0" algn="l">
                <a:spcBef>
                  <a:spcPts val="0"/>
                </a:spcBef>
                <a:spcAft>
                  <a:spcPts val="0"/>
                </a:spcAft>
                <a:buNone/>
              </a:pPr>
              <a:r>
                <a:rPr lang="en" sz="1200">
                  <a:solidFill>
                    <a:schemeClr val="dk1"/>
                  </a:solidFill>
                </a:rPr>
                <a:t>Authority: </a:t>
              </a:r>
              <a:r>
                <a:rPr b="1" lang="en" sz="1200">
                  <a:solidFill>
                    <a:schemeClr val="dk1"/>
                  </a:solidFill>
                  <a:latin typeface="Courier New"/>
                  <a:ea typeface="Courier New"/>
                  <a:cs typeface="Courier New"/>
                  <a:sym typeface="Courier New"/>
                </a:rPr>
                <a:t>fake6.google.com.</a:t>
              </a:r>
              <a:r>
                <a:rPr lang="en" sz="1200">
                  <a:solidFill>
                    <a:schemeClr val="dk1"/>
                  </a:solidFill>
                </a:rPr>
                <a:t> NS  </a:t>
              </a:r>
              <a:r>
                <a:rPr b="1" lang="en" sz="1200">
                  <a:solidFill>
                    <a:schemeClr val="dk1"/>
                  </a:solidFill>
                  <a:latin typeface="Courier New"/>
                  <a:ea typeface="Courier New"/>
                  <a:cs typeface="Courier New"/>
                  <a:sym typeface="Courier New"/>
                </a:rPr>
                <a:t>www.google.com</a:t>
              </a:r>
              <a:endParaRPr sz="1200">
                <a:solidFill>
                  <a:schemeClr val="dk1"/>
                </a:solidFill>
              </a:endParaRPr>
            </a:p>
            <a:p>
              <a:pPr indent="0" lvl="0" marL="0" rtl="0" algn="l">
                <a:lnSpc>
                  <a:spcPct val="115000"/>
                </a:lnSpc>
                <a:spcBef>
                  <a:spcPts val="0"/>
                </a:spcBef>
                <a:spcAft>
                  <a:spcPts val="0"/>
                </a:spcAft>
                <a:buNone/>
              </a:pPr>
              <a:r>
                <a:rPr lang="en" sz="1200">
                  <a:solidFill>
                    <a:schemeClr val="dk1"/>
                  </a:solidFill>
                </a:rPr>
                <a:t>Additional:  </a:t>
              </a:r>
              <a:r>
                <a:rPr b="1" lang="en" sz="1200">
                  <a:solidFill>
                    <a:schemeClr val="dk1"/>
                  </a:solidFill>
                  <a:latin typeface="Courier New"/>
                  <a:ea typeface="Courier New"/>
                  <a:cs typeface="Courier New"/>
                  <a:sym typeface="Courier New"/>
                </a:rPr>
                <a:t>www.google.com.</a:t>
              </a:r>
              <a:r>
                <a:rPr lang="en" sz="1200">
                  <a:solidFill>
                    <a:schemeClr val="dk1"/>
                  </a:solidFill>
                </a:rPr>
                <a:t> A </a:t>
              </a:r>
              <a:r>
                <a:rPr b="1" lang="en" sz="1200">
                  <a:solidFill>
                    <a:schemeClr val="dk1"/>
                  </a:solidFill>
                  <a:latin typeface="Courier New"/>
                  <a:ea typeface="Courier New"/>
                  <a:cs typeface="Courier New"/>
                  <a:sym typeface="Courier New"/>
                </a:rPr>
                <a:t>6.6.6.6</a:t>
              </a:r>
              <a:r>
                <a:rPr lang="en" sz="1200">
                  <a:solidFill>
                    <a:schemeClr val="dk1"/>
                  </a:solidFill>
                </a:rPr>
                <a:t>”</a:t>
              </a:r>
              <a:endParaRPr sz="1200"/>
            </a:p>
          </p:txBody>
        </p:sp>
        <p:cxnSp>
          <p:nvCxnSpPr>
            <p:cNvPr id="1376" name="Google Shape;1376;p90"/>
            <p:cNvCxnSpPr>
              <a:stCxn id="1375" idx="1"/>
              <a:endCxn id="1375" idx="3"/>
            </p:cNvCxnSpPr>
            <p:nvPr/>
          </p:nvCxnSpPr>
          <p:spPr>
            <a:xfrm>
              <a:off x="2977763" y="4108288"/>
              <a:ext cx="4240800" cy="0"/>
            </a:xfrm>
            <a:prstGeom prst="straightConnector1">
              <a:avLst/>
            </a:prstGeom>
            <a:noFill/>
            <a:ln cap="flat" cmpd="sng" w="9525">
              <a:solidFill>
                <a:schemeClr val="dk2"/>
              </a:solidFill>
              <a:prstDash val="solid"/>
              <a:round/>
              <a:headEnd len="med" w="med" type="none"/>
              <a:tailEnd len="med" w="med" type="none"/>
            </a:ln>
          </p:spPr>
        </p:cxnSp>
      </p:grpSp>
      <p:sp>
        <p:nvSpPr>
          <p:cNvPr id="1377" name="Google Shape;1377;p90"/>
          <p:cNvSpPr txBox="1"/>
          <p:nvPr/>
        </p:nvSpPr>
        <p:spPr>
          <a:xfrm>
            <a:off x="3408850" y="1751600"/>
            <a:ext cx="4773300" cy="364800"/>
          </a:xfrm>
          <a:prstGeom prst="rect">
            <a:avLst/>
          </a:prstGeom>
          <a:solidFill>
            <a:srgbClr val="FCE5CD"/>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t>“</a:t>
            </a:r>
            <a:r>
              <a:rPr b="1" lang="en" sz="1200">
                <a:latin typeface="Courier New"/>
                <a:ea typeface="Courier New"/>
                <a:cs typeface="Courier New"/>
                <a:sym typeface="Courier New"/>
              </a:rPr>
              <a:t>fake6.google.com </a:t>
            </a:r>
            <a:r>
              <a:rPr lang="en" sz="1200"/>
              <a:t>doesn’t exist! </a:t>
            </a:r>
            <a:r>
              <a:rPr lang="en" sz="1200">
                <a:solidFill>
                  <a:schemeClr val="dk1"/>
                </a:solidFill>
              </a:rPr>
              <a:t>This response has ID 629.”</a:t>
            </a:r>
            <a:endParaRPr sz="1200"/>
          </a:p>
        </p:txBody>
      </p:sp>
      <p:sp>
        <p:nvSpPr>
          <p:cNvPr id="1378" name="Google Shape;1378;p90"/>
          <p:cNvSpPr txBox="1"/>
          <p:nvPr/>
        </p:nvSpPr>
        <p:spPr>
          <a:xfrm>
            <a:off x="3209325" y="1941800"/>
            <a:ext cx="4773300" cy="364800"/>
          </a:xfrm>
          <a:prstGeom prst="rect">
            <a:avLst/>
          </a:prstGeom>
          <a:solidFill>
            <a:srgbClr val="FCE5CD"/>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t>“</a:t>
            </a:r>
            <a:r>
              <a:rPr b="1" lang="en" sz="1200">
                <a:latin typeface="Courier New"/>
                <a:ea typeface="Courier New"/>
                <a:cs typeface="Courier New"/>
                <a:sym typeface="Courier New"/>
              </a:rPr>
              <a:t>fake6.google.com </a:t>
            </a:r>
            <a:r>
              <a:rPr lang="en" sz="1200"/>
              <a:t>doesn’t exist! </a:t>
            </a:r>
            <a:r>
              <a:rPr lang="en" sz="1200">
                <a:solidFill>
                  <a:schemeClr val="dk1"/>
                </a:solidFill>
              </a:rPr>
              <a:t>This response has ID 427.”</a:t>
            </a:r>
            <a:endParaRPr sz="1200"/>
          </a:p>
        </p:txBody>
      </p:sp>
      <p:sp>
        <p:nvSpPr>
          <p:cNvPr id="1379" name="Google Shape;1379;p90"/>
          <p:cNvSpPr txBox="1"/>
          <p:nvPr/>
        </p:nvSpPr>
        <p:spPr>
          <a:xfrm>
            <a:off x="2247950" y="1683750"/>
            <a:ext cx="4773300" cy="3648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t>“</a:t>
            </a:r>
            <a:r>
              <a:rPr b="1" lang="en" sz="1200">
                <a:latin typeface="Courier New"/>
                <a:ea typeface="Courier New"/>
                <a:cs typeface="Courier New"/>
                <a:sym typeface="Courier New"/>
              </a:rPr>
              <a:t>fake27.google.com </a:t>
            </a:r>
            <a:r>
              <a:rPr lang="en" sz="1200"/>
              <a:t>doesn’t exist! </a:t>
            </a:r>
            <a:r>
              <a:rPr lang="en" sz="1200">
                <a:solidFill>
                  <a:schemeClr val="dk1"/>
                </a:solidFill>
              </a:rPr>
              <a:t>This response has ID </a:t>
            </a:r>
            <a:r>
              <a:rPr b="1" lang="en" sz="1200">
                <a:solidFill>
                  <a:schemeClr val="dk1"/>
                </a:solidFill>
              </a:rPr>
              <a:t>161</a:t>
            </a:r>
            <a:r>
              <a:rPr lang="en" sz="1200">
                <a:solidFill>
                  <a:schemeClr val="dk1"/>
                </a:solidFill>
              </a:rPr>
              <a:t>.”</a:t>
            </a:r>
            <a:endParaRPr sz="1200"/>
          </a:p>
        </p:txBody>
      </p:sp>
      <p:cxnSp>
        <p:nvCxnSpPr>
          <p:cNvPr id="1380" name="Google Shape;1380;p90"/>
          <p:cNvCxnSpPr/>
          <p:nvPr/>
        </p:nvCxnSpPr>
        <p:spPr>
          <a:xfrm flipH="1" rot="10800000">
            <a:off x="3326800" y="4969550"/>
            <a:ext cx="4499100" cy="15000"/>
          </a:xfrm>
          <a:prstGeom prst="straightConnector1">
            <a:avLst/>
          </a:prstGeom>
          <a:noFill/>
          <a:ln cap="flat" cmpd="sng" w="19050">
            <a:solidFill>
              <a:srgbClr val="FF0000"/>
            </a:solidFill>
            <a:prstDash val="solid"/>
            <a:round/>
            <a:headEnd len="med" w="med" type="triangle"/>
            <a:tailEnd len="med" w="med" type="none"/>
          </a:ln>
        </p:spPr>
      </p:cxnSp>
      <p:grpSp>
        <p:nvGrpSpPr>
          <p:cNvPr id="1381" name="Google Shape;1381;p90"/>
          <p:cNvGrpSpPr/>
          <p:nvPr/>
        </p:nvGrpSpPr>
        <p:grpSpPr>
          <a:xfrm>
            <a:off x="3404963" y="3983263"/>
            <a:ext cx="4240800" cy="912000"/>
            <a:chOff x="3404963" y="3983263"/>
            <a:chExt cx="4240800" cy="912000"/>
          </a:xfrm>
        </p:grpSpPr>
        <p:sp>
          <p:nvSpPr>
            <p:cNvPr id="1382" name="Google Shape;1382;p90"/>
            <p:cNvSpPr txBox="1"/>
            <p:nvPr/>
          </p:nvSpPr>
          <p:spPr>
            <a:xfrm>
              <a:off x="3404963" y="3983263"/>
              <a:ext cx="4240800" cy="912000"/>
            </a:xfrm>
            <a:prstGeom prst="rect">
              <a:avLst/>
            </a:prstGeom>
            <a:solidFill>
              <a:srgbClr val="E06666"/>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rPr>
                <a:t>“I don’t know. But I have delegated authority to the </a:t>
              </a:r>
              <a:r>
                <a:rPr b="1" lang="en" sz="1200">
                  <a:solidFill>
                    <a:schemeClr val="dk1"/>
                  </a:solidFill>
                  <a:latin typeface="Courier New"/>
                  <a:ea typeface="Courier New"/>
                  <a:cs typeface="Courier New"/>
                  <a:sym typeface="Courier New"/>
                </a:rPr>
                <a:t>fake27.google.com.</a:t>
              </a:r>
              <a:r>
                <a:rPr lang="en" sz="1200">
                  <a:solidFill>
                    <a:schemeClr val="dk1"/>
                  </a:solidFill>
                </a:rPr>
                <a:t> NS. This response has ID 161.</a:t>
              </a:r>
              <a:endParaRPr sz="1200">
                <a:solidFill>
                  <a:schemeClr val="dk1"/>
                </a:solidFill>
              </a:endParaRPr>
            </a:p>
            <a:p>
              <a:pPr indent="0" lvl="0" marL="0" rtl="0" algn="l">
                <a:spcBef>
                  <a:spcPts val="0"/>
                </a:spcBef>
                <a:spcAft>
                  <a:spcPts val="0"/>
                </a:spcAft>
                <a:buNone/>
              </a:pPr>
              <a:r>
                <a:rPr lang="en" sz="1200">
                  <a:solidFill>
                    <a:schemeClr val="dk1"/>
                  </a:solidFill>
                </a:rPr>
                <a:t>Authority: </a:t>
              </a:r>
              <a:r>
                <a:rPr b="1" lang="en" sz="1200">
                  <a:solidFill>
                    <a:schemeClr val="dk1"/>
                  </a:solidFill>
                  <a:latin typeface="Courier New"/>
                  <a:ea typeface="Courier New"/>
                  <a:cs typeface="Courier New"/>
                  <a:sym typeface="Courier New"/>
                </a:rPr>
                <a:t>fake27.google.com.</a:t>
              </a:r>
              <a:r>
                <a:rPr lang="en" sz="1200">
                  <a:solidFill>
                    <a:schemeClr val="dk1"/>
                  </a:solidFill>
                </a:rPr>
                <a:t> NS  </a:t>
              </a:r>
              <a:r>
                <a:rPr b="1" lang="en" sz="1200">
                  <a:solidFill>
                    <a:schemeClr val="dk1"/>
                  </a:solidFill>
                  <a:latin typeface="Courier New"/>
                  <a:ea typeface="Courier New"/>
                  <a:cs typeface="Courier New"/>
                  <a:sym typeface="Courier New"/>
                </a:rPr>
                <a:t>www.google.com</a:t>
              </a:r>
              <a:endParaRPr sz="1200">
                <a:solidFill>
                  <a:schemeClr val="dk1"/>
                </a:solidFill>
              </a:endParaRPr>
            </a:p>
            <a:p>
              <a:pPr indent="0" lvl="0" marL="0" rtl="0" algn="l">
                <a:lnSpc>
                  <a:spcPct val="115000"/>
                </a:lnSpc>
                <a:spcBef>
                  <a:spcPts val="0"/>
                </a:spcBef>
                <a:spcAft>
                  <a:spcPts val="0"/>
                </a:spcAft>
                <a:buNone/>
              </a:pPr>
              <a:r>
                <a:rPr lang="en" sz="1200">
                  <a:solidFill>
                    <a:schemeClr val="dk1"/>
                  </a:solidFill>
                </a:rPr>
                <a:t>Additional:  </a:t>
              </a:r>
              <a:r>
                <a:rPr b="1" lang="en" sz="1200">
                  <a:solidFill>
                    <a:schemeClr val="dk1"/>
                  </a:solidFill>
                  <a:latin typeface="Courier New"/>
                  <a:ea typeface="Courier New"/>
                  <a:cs typeface="Courier New"/>
                  <a:sym typeface="Courier New"/>
                </a:rPr>
                <a:t>www.google.com.</a:t>
              </a:r>
              <a:r>
                <a:rPr lang="en" sz="1200">
                  <a:solidFill>
                    <a:schemeClr val="dk1"/>
                  </a:solidFill>
                </a:rPr>
                <a:t> A </a:t>
              </a:r>
              <a:r>
                <a:rPr b="1" lang="en" sz="1200">
                  <a:solidFill>
                    <a:schemeClr val="dk1"/>
                  </a:solidFill>
                  <a:latin typeface="Courier New"/>
                  <a:ea typeface="Courier New"/>
                  <a:cs typeface="Courier New"/>
                  <a:sym typeface="Courier New"/>
                </a:rPr>
                <a:t>6.6.6.6</a:t>
              </a:r>
              <a:r>
                <a:rPr lang="en" sz="1200">
                  <a:solidFill>
                    <a:schemeClr val="dk1"/>
                  </a:solidFill>
                </a:rPr>
                <a:t>”</a:t>
              </a:r>
              <a:endParaRPr sz="1200"/>
            </a:p>
          </p:txBody>
        </p:sp>
        <p:cxnSp>
          <p:nvCxnSpPr>
            <p:cNvPr id="1383" name="Google Shape;1383;p90"/>
            <p:cNvCxnSpPr>
              <a:stCxn id="1382" idx="1"/>
              <a:endCxn id="1382" idx="3"/>
            </p:cNvCxnSpPr>
            <p:nvPr/>
          </p:nvCxnSpPr>
          <p:spPr>
            <a:xfrm>
              <a:off x="3404963" y="4439263"/>
              <a:ext cx="4240800" cy="0"/>
            </a:xfrm>
            <a:prstGeom prst="straightConnector1">
              <a:avLst/>
            </a:prstGeom>
            <a:noFill/>
            <a:ln cap="flat" cmpd="sng" w="9525">
              <a:solidFill>
                <a:schemeClr val="dk2"/>
              </a:solidFill>
              <a:prstDash val="solid"/>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7" name="Shape 1387"/>
        <p:cNvGrpSpPr/>
        <p:nvPr/>
      </p:nvGrpSpPr>
      <p:grpSpPr>
        <a:xfrm>
          <a:off x="0" y="0"/>
          <a:ext cx="0" cy="0"/>
          <a:chOff x="0" y="0"/>
          <a:chExt cx="0" cy="0"/>
        </a:xfrm>
      </p:grpSpPr>
      <p:sp>
        <p:nvSpPr>
          <p:cNvPr id="1388" name="Google Shape;1388;p91"/>
          <p:cNvSpPr/>
          <p:nvPr/>
        </p:nvSpPr>
        <p:spPr>
          <a:xfrm>
            <a:off x="142425" y="2190750"/>
            <a:ext cx="3150600" cy="2866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91"/>
          <p:cNvSpPr txBox="1"/>
          <p:nvPr/>
        </p:nvSpPr>
        <p:spPr>
          <a:xfrm>
            <a:off x="226125" y="2279151"/>
            <a:ext cx="29832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Recursive Resolver</a:t>
            </a:r>
            <a:endParaRPr>
              <a:latin typeface="Calibri"/>
              <a:ea typeface="Calibri"/>
              <a:cs typeface="Calibri"/>
              <a:sym typeface="Calibri"/>
            </a:endParaRPr>
          </a:p>
        </p:txBody>
      </p:sp>
      <p:graphicFrame>
        <p:nvGraphicFramePr>
          <p:cNvPr id="1390" name="Google Shape;1390;p91"/>
          <p:cNvGraphicFramePr/>
          <p:nvPr/>
        </p:nvGraphicFramePr>
        <p:xfrm>
          <a:off x="226125" y="2672750"/>
          <a:ext cx="3000000" cy="3000000"/>
        </p:xfrm>
        <a:graphic>
          <a:graphicData uri="http://schemas.openxmlformats.org/drawingml/2006/table">
            <a:tbl>
              <a:tblPr>
                <a:noFill/>
                <a:tableStyleId>{8746E7DE-0C9E-4540-9031-B6CDA728326B}</a:tableStyleId>
              </a:tblPr>
              <a:tblGrid>
                <a:gridCol w="1491575"/>
                <a:gridCol w="1491575"/>
              </a:tblGrid>
              <a:tr h="347850">
                <a:tc gridSpan="2">
                  <a:txBody>
                    <a:bodyPr/>
                    <a:lstStyle/>
                    <a:p>
                      <a:pPr indent="0" lvl="0" marL="0" rtl="0" algn="ctr">
                        <a:spcBef>
                          <a:spcPts val="0"/>
                        </a:spcBef>
                        <a:spcAft>
                          <a:spcPts val="0"/>
                        </a:spcAft>
                        <a:buNone/>
                      </a:pPr>
                      <a:r>
                        <a:rPr lang="en" sz="1100">
                          <a:latin typeface="Courier New"/>
                          <a:ea typeface="Courier New"/>
                          <a:cs typeface="Courier New"/>
                          <a:sym typeface="Courier New"/>
                        </a:rPr>
                        <a:t>Recursive Resolver Cache</a:t>
                      </a:r>
                      <a:endParaRPr sz="1100">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solidFill>
                      <a:schemeClr val="lt1"/>
                    </a:solidFill>
                  </a:tcPr>
                </a:tc>
                <a:tc hMerge="1"/>
              </a:tr>
              <a:tr h="317600">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a.gtld-servers.net.</a:t>
                      </a:r>
                      <a:endParaRPr sz="900">
                        <a:solidFill>
                          <a:schemeClr val="dk1"/>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192.5.6.30</a:t>
                      </a:r>
                      <a:endParaRPr sz="900">
                        <a:solidFill>
                          <a:schemeClr val="dk1"/>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17600">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ns1.google.com.</a:t>
                      </a:r>
                      <a:endParaRPr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216.239.32.10</a:t>
                      </a:r>
                      <a:endParaRPr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17600">
                <a:tc>
                  <a:txBody>
                    <a:bodyPr/>
                    <a:lstStyle/>
                    <a:p>
                      <a:pPr indent="0" lvl="0" marL="0" rtl="0" algn="l">
                        <a:lnSpc>
                          <a:spcPct val="115000"/>
                        </a:lnSpc>
                        <a:spcBef>
                          <a:spcPts val="0"/>
                        </a:spcBef>
                        <a:spcAft>
                          <a:spcPts val="0"/>
                        </a:spcAft>
                        <a:buNone/>
                      </a:pPr>
                      <a:r>
                        <a:rPr lang="en" sz="900">
                          <a:latin typeface="Courier New"/>
                          <a:ea typeface="Courier New"/>
                          <a:cs typeface="Courier New"/>
                          <a:sym typeface="Courier New"/>
                        </a:rPr>
                        <a:t>fake1.google.com</a:t>
                      </a:r>
                      <a:endParaRPr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900">
                          <a:latin typeface="Courier New"/>
                          <a:ea typeface="Courier New"/>
                          <a:cs typeface="Courier New"/>
                          <a:sym typeface="Courier New"/>
                        </a:rPr>
                        <a:t>Doesn’t exist!</a:t>
                      </a:r>
                      <a:endParaRPr sz="900">
                        <a:solidFill>
                          <a:srgbClr val="FF0000"/>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17600">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a:t>
                      </a:r>
                      <a:endParaRPr b="1"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Doesn’t exist!</a:t>
                      </a:r>
                      <a:endParaRPr b="1" sz="900">
                        <a:solidFill>
                          <a:srgbClr val="FF0000"/>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17600">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fake26.google.com</a:t>
                      </a:r>
                      <a:endParaRPr sz="900">
                        <a:solidFill>
                          <a:schemeClr val="dk1"/>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Doesn’t exist!</a:t>
                      </a:r>
                      <a:endParaRPr sz="900">
                        <a:solidFill>
                          <a:schemeClr val="dk1"/>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17600">
                <a:tc>
                  <a:txBody>
                    <a:bodyPr/>
                    <a:lstStyle/>
                    <a:p>
                      <a:pPr indent="0" lvl="0" marL="0" rtl="0" algn="l">
                        <a:spcBef>
                          <a:spcPts val="0"/>
                        </a:spcBef>
                        <a:spcAft>
                          <a:spcPts val="0"/>
                        </a:spcAft>
                        <a:buNone/>
                      </a:pPr>
                      <a:r>
                        <a:rPr b="1" lang="en" sz="900">
                          <a:latin typeface="Courier New"/>
                          <a:ea typeface="Courier New"/>
                          <a:cs typeface="Courier New"/>
                          <a:sym typeface="Courier New"/>
                        </a:rPr>
                        <a:t>www.google.com.</a:t>
                      </a:r>
                      <a:endParaRPr b="1"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 sz="900">
                          <a:solidFill>
                            <a:srgbClr val="FF0000"/>
                          </a:solidFill>
                          <a:latin typeface="Courier New"/>
                          <a:ea typeface="Courier New"/>
                          <a:cs typeface="Courier New"/>
                          <a:sym typeface="Courier New"/>
                        </a:rPr>
                        <a:t>6.6.6.6</a:t>
                      </a:r>
                      <a:endParaRPr b="1" sz="900">
                        <a:solidFill>
                          <a:srgbClr val="FF0000"/>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bl>
          </a:graphicData>
        </a:graphic>
      </p:graphicFrame>
      <p:sp>
        <p:nvSpPr>
          <p:cNvPr id="1391" name="Google Shape;1391;p9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1392" name="Google Shape;1392;p91"/>
          <p:cNvPicPr preferRelativeResize="0"/>
          <p:nvPr/>
        </p:nvPicPr>
        <p:blipFill rotWithShape="1">
          <a:blip r:embed="rId3">
            <a:alphaModFix/>
          </a:blip>
          <a:srcRect b="65159" l="10446" r="69908" t="13697"/>
          <a:stretch/>
        </p:blipFill>
        <p:spPr>
          <a:xfrm>
            <a:off x="7841463" y="4405638"/>
            <a:ext cx="650926" cy="700636"/>
          </a:xfrm>
          <a:prstGeom prst="rect">
            <a:avLst/>
          </a:prstGeom>
          <a:noFill/>
          <a:ln>
            <a:noFill/>
          </a:ln>
        </p:spPr>
      </p:pic>
      <p:sp>
        <p:nvSpPr>
          <p:cNvPr id="1393" name="Google Shape;1393;p91"/>
          <p:cNvSpPr txBox="1"/>
          <p:nvPr>
            <p:ph type="title"/>
          </p:nvPr>
        </p:nvSpPr>
        <p:spPr>
          <a:xfrm>
            <a:off x="102700" y="270875"/>
            <a:ext cx="41802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Kaminsky Attack: Example</a:t>
            </a:r>
            <a:endParaRPr/>
          </a:p>
        </p:txBody>
      </p:sp>
      <p:cxnSp>
        <p:nvCxnSpPr>
          <p:cNvPr id="1394" name="Google Shape;1394;p91"/>
          <p:cNvCxnSpPr/>
          <p:nvPr/>
        </p:nvCxnSpPr>
        <p:spPr>
          <a:xfrm flipH="1" rot="10800000">
            <a:off x="3326800" y="4969550"/>
            <a:ext cx="4499100" cy="15000"/>
          </a:xfrm>
          <a:prstGeom prst="straightConnector1">
            <a:avLst/>
          </a:prstGeom>
          <a:noFill/>
          <a:ln cap="flat" cmpd="sng" w="19050">
            <a:solidFill>
              <a:srgbClr val="FF0000"/>
            </a:solidFill>
            <a:prstDash val="solid"/>
            <a:round/>
            <a:headEnd len="med" w="med" type="triangle"/>
            <a:tailEnd len="med" w="med" type="none"/>
          </a:ln>
        </p:spPr>
      </p:cxnSp>
      <p:sp>
        <p:nvSpPr>
          <p:cNvPr id="1395" name="Google Shape;1395;p91"/>
          <p:cNvSpPr txBox="1"/>
          <p:nvPr/>
        </p:nvSpPr>
        <p:spPr>
          <a:xfrm>
            <a:off x="525450" y="1199450"/>
            <a:ext cx="8093100" cy="643500"/>
          </a:xfrm>
          <a:prstGeom prst="rect">
            <a:avLst/>
          </a:prstGeom>
          <a:solidFill>
            <a:srgbClr val="C9DAF8"/>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chemeClr val="dk1"/>
                </a:solidFill>
              </a:rPr>
              <a:t>If</a:t>
            </a:r>
            <a:r>
              <a:rPr lang="en"/>
              <a:t> Mallory wins the race condition </a:t>
            </a:r>
            <a:r>
              <a:rPr b="1" lang="en"/>
              <a:t>and</a:t>
            </a:r>
            <a:r>
              <a:rPr lang="en"/>
              <a:t> guesses the correct ID during any one of these DNS queries, Mallory’s IP will be cached.</a:t>
            </a:r>
            <a:endParaRPr/>
          </a:p>
        </p:txBody>
      </p:sp>
      <p:grpSp>
        <p:nvGrpSpPr>
          <p:cNvPr id="1396" name="Google Shape;1396;p91"/>
          <p:cNvGrpSpPr/>
          <p:nvPr/>
        </p:nvGrpSpPr>
        <p:grpSpPr>
          <a:xfrm>
            <a:off x="3404963" y="3983263"/>
            <a:ext cx="4240800" cy="912000"/>
            <a:chOff x="3404963" y="3983263"/>
            <a:chExt cx="4240800" cy="912000"/>
          </a:xfrm>
        </p:grpSpPr>
        <p:sp>
          <p:nvSpPr>
            <p:cNvPr id="1397" name="Google Shape;1397;p91"/>
            <p:cNvSpPr txBox="1"/>
            <p:nvPr/>
          </p:nvSpPr>
          <p:spPr>
            <a:xfrm>
              <a:off x="3404963" y="3983263"/>
              <a:ext cx="4240800" cy="912000"/>
            </a:xfrm>
            <a:prstGeom prst="rect">
              <a:avLst/>
            </a:prstGeom>
            <a:solidFill>
              <a:srgbClr val="E06666"/>
            </a:solidFill>
            <a:ln cap="flat" cmpd="sng" w="19050">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200">
                  <a:solidFill>
                    <a:schemeClr val="dk1"/>
                  </a:solidFill>
                </a:rPr>
                <a:t>“I don’t know. But I have delegated authority to the </a:t>
              </a:r>
              <a:r>
                <a:rPr b="1" lang="en" sz="1200">
                  <a:solidFill>
                    <a:schemeClr val="dk1"/>
                  </a:solidFill>
                  <a:latin typeface="Courier New"/>
                  <a:ea typeface="Courier New"/>
                  <a:cs typeface="Courier New"/>
                  <a:sym typeface="Courier New"/>
                </a:rPr>
                <a:t>fake27.google.com.</a:t>
              </a:r>
              <a:r>
                <a:rPr lang="en" sz="1200">
                  <a:solidFill>
                    <a:schemeClr val="dk1"/>
                  </a:solidFill>
                </a:rPr>
                <a:t> NS. This response has ID 161.</a:t>
              </a:r>
              <a:endParaRPr sz="1200">
                <a:solidFill>
                  <a:schemeClr val="dk1"/>
                </a:solidFill>
              </a:endParaRPr>
            </a:p>
            <a:p>
              <a:pPr indent="0" lvl="0" marL="0" rtl="0" algn="l">
                <a:spcBef>
                  <a:spcPts val="0"/>
                </a:spcBef>
                <a:spcAft>
                  <a:spcPts val="0"/>
                </a:spcAft>
                <a:buClr>
                  <a:schemeClr val="dk1"/>
                </a:buClr>
                <a:buSzPts val="1100"/>
                <a:buFont typeface="Arial"/>
                <a:buNone/>
              </a:pPr>
              <a:r>
                <a:rPr lang="en" sz="1200">
                  <a:solidFill>
                    <a:schemeClr val="dk1"/>
                  </a:solidFill>
                </a:rPr>
                <a:t>Authority: </a:t>
              </a:r>
              <a:r>
                <a:rPr b="1" lang="en" sz="1200">
                  <a:solidFill>
                    <a:schemeClr val="dk1"/>
                  </a:solidFill>
                  <a:latin typeface="Courier New"/>
                  <a:ea typeface="Courier New"/>
                  <a:cs typeface="Courier New"/>
                  <a:sym typeface="Courier New"/>
                </a:rPr>
                <a:t>fake27.google.com.</a:t>
              </a:r>
              <a:r>
                <a:rPr lang="en" sz="1200">
                  <a:solidFill>
                    <a:schemeClr val="dk1"/>
                  </a:solidFill>
                </a:rPr>
                <a:t> NS  </a:t>
              </a:r>
              <a:r>
                <a:rPr b="1" lang="en" sz="1200">
                  <a:solidFill>
                    <a:schemeClr val="dk1"/>
                  </a:solidFill>
                  <a:latin typeface="Courier New"/>
                  <a:ea typeface="Courier New"/>
                  <a:cs typeface="Courier New"/>
                  <a:sym typeface="Courier New"/>
                </a:rPr>
                <a:t>www.google.com</a:t>
              </a:r>
              <a:endParaRPr sz="12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 sz="1200">
                  <a:solidFill>
                    <a:schemeClr val="dk1"/>
                  </a:solidFill>
                </a:rPr>
                <a:t>Additional:  </a:t>
              </a:r>
              <a:r>
                <a:rPr b="1" lang="en" sz="1200">
                  <a:solidFill>
                    <a:schemeClr val="dk1"/>
                  </a:solidFill>
                  <a:latin typeface="Courier New"/>
                  <a:ea typeface="Courier New"/>
                  <a:cs typeface="Courier New"/>
                  <a:sym typeface="Courier New"/>
                </a:rPr>
                <a:t>www.google.com.</a:t>
              </a:r>
              <a:r>
                <a:rPr lang="en" sz="1200">
                  <a:solidFill>
                    <a:schemeClr val="dk1"/>
                  </a:solidFill>
                </a:rPr>
                <a:t> A </a:t>
              </a:r>
              <a:r>
                <a:rPr b="1" lang="en" sz="1200">
                  <a:solidFill>
                    <a:schemeClr val="dk1"/>
                  </a:solidFill>
                  <a:latin typeface="Courier New"/>
                  <a:ea typeface="Courier New"/>
                  <a:cs typeface="Courier New"/>
                  <a:sym typeface="Courier New"/>
                </a:rPr>
                <a:t>6.6.6.6</a:t>
              </a:r>
              <a:r>
                <a:rPr lang="en" sz="1200">
                  <a:solidFill>
                    <a:schemeClr val="dk1"/>
                  </a:solidFill>
                </a:rPr>
                <a:t>”</a:t>
              </a:r>
              <a:endParaRPr sz="1200">
                <a:solidFill>
                  <a:schemeClr val="dk1"/>
                </a:solidFill>
              </a:endParaRPr>
            </a:p>
            <a:p>
              <a:pPr indent="0" lvl="0" marL="0" rtl="0" algn="l">
                <a:lnSpc>
                  <a:spcPct val="115000"/>
                </a:lnSpc>
                <a:spcBef>
                  <a:spcPts val="0"/>
                </a:spcBef>
                <a:spcAft>
                  <a:spcPts val="0"/>
                </a:spcAft>
                <a:buNone/>
              </a:pPr>
              <a:r>
                <a:t/>
              </a:r>
              <a:endParaRPr sz="1200">
                <a:solidFill>
                  <a:schemeClr val="dk1"/>
                </a:solidFill>
              </a:endParaRPr>
            </a:p>
          </p:txBody>
        </p:sp>
        <p:cxnSp>
          <p:nvCxnSpPr>
            <p:cNvPr id="1398" name="Google Shape;1398;p91"/>
            <p:cNvCxnSpPr>
              <a:stCxn id="1397" idx="1"/>
              <a:endCxn id="1397" idx="3"/>
            </p:cNvCxnSpPr>
            <p:nvPr/>
          </p:nvCxnSpPr>
          <p:spPr>
            <a:xfrm>
              <a:off x="3404963" y="4439263"/>
              <a:ext cx="4240800" cy="0"/>
            </a:xfrm>
            <a:prstGeom prst="straightConnector1">
              <a:avLst/>
            </a:prstGeom>
            <a:noFill/>
            <a:ln cap="flat" cmpd="sng" w="9525">
              <a:solidFill>
                <a:schemeClr val="dk2"/>
              </a:solidFill>
              <a:prstDash val="solid"/>
              <a:round/>
              <a:headEnd len="med" w="med" type="none"/>
              <a:tailEnd len="med" w="med" type="none"/>
            </a:ln>
          </p:spPr>
        </p:cxnSp>
      </p:gr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2" name="Shape 1402"/>
        <p:cNvGrpSpPr/>
        <p:nvPr/>
      </p:nvGrpSpPr>
      <p:grpSpPr>
        <a:xfrm>
          <a:off x="0" y="0"/>
          <a:ext cx="0" cy="0"/>
          <a:chOff x="0" y="0"/>
          <a:chExt cx="0" cy="0"/>
        </a:xfrm>
      </p:grpSpPr>
      <p:sp>
        <p:nvSpPr>
          <p:cNvPr id="1403" name="Google Shape;1403;p92"/>
          <p:cNvSpPr/>
          <p:nvPr/>
        </p:nvSpPr>
        <p:spPr>
          <a:xfrm>
            <a:off x="142425" y="2190750"/>
            <a:ext cx="3150600" cy="2866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92"/>
          <p:cNvSpPr txBox="1"/>
          <p:nvPr/>
        </p:nvSpPr>
        <p:spPr>
          <a:xfrm>
            <a:off x="555325" y="1223675"/>
            <a:ext cx="1642800" cy="3936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Stub Resolver</a:t>
            </a:r>
            <a:endParaRPr>
              <a:latin typeface="Calibri"/>
              <a:ea typeface="Calibri"/>
              <a:cs typeface="Calibri"/>
              <a:sym typeface="Calibri"/>
            </a:endParaRPr>
          </a:p>
        </p:txBody>
      </p:sp>
      <p:sp>
        <p:nvSpPr>
          <p:cNvPr id="1405" name="Google Shape;1405;p92"/>
          <p:cNvSpPr txBox="1"/>
          <p:nvPr/>
        </p:nvSpPr>
        <p:spPr>
          <a:xfrm>
            <a:off x="226125" y="2279151"/>
            <a:ext cx="29832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Recursive Resolver</a:t>
            </a:r>
            <a:endParaRPr>
              <a:latin typeface="Calibri"/>
              <a:ea typeface="Calibri"/>
              <a:cs typeface="Calibri"/>
              <a:sym typeface="Calibri"/>
            </a:endParaRPr>
          </a:p>
        </p:txBody>
      </p:sp>
      <p:pic>
        <p:nvPicPr>
          <p:cNvPr id="1406" name="Google Shape;1406;p92"/>
          <p:cNvPicPr preferRelativeResize="0"/>
          <p:nvPr/>
        </p:nvPicPr>
        <p:blipFill rotWithShape="1">
          <a:blip r:embed="rId3">
            <a:alphaModFix/>
          </a:blip>
          <a:srcRect b="57590" l="5310" r="80092" t="16627"/>
          <a:stretch/>
        </p:blipFill>
        <p:spPr>
          <a:xfrm>
            <a:off x="0" y="1144185"/>
            <a:ext cx="495580" cy="552599"/>
          </a:xfrm>
          <a:prstGeom prst="rect">
            <a:avLst/>
          </a:prstGeom>
          <a:noFill/>
          <a:ln>
            <a:noFill/>
          </a:ln>
        </p:spPr>
      </p:pic>
      <p:sp>
        <p:nvSpPr>
          <p:cNvPr id="1407" name="Google Shape;1407;p9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408" name="Google Shape;1408;p92"/>
          <p:cNvSpPr txBox="1"/>
          <p:nvPr/>
        </p:nvSpPr>
        <p:spPr>
          <a:xfrm>
            <a:off x="7547875" y="1392148"/>
            <a:ext cx="1238100" cy="3648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 (root)</a:t>
            </a:r>
            <a:endParaRPr>
              <a:latin typeface="Courier New"/>
              <a:ea typeface="Courier New"/>
              <a:cs typeface="Courier New"/>
              <a:sym typeface="Courier New"/>
            </a:endParaRPr>
          </a:p>
        </p:txBody>
      </p:sp>
      <p:sp>
        <p:nvSpPr>
          <p:cNvPr id="1409" name="Google Shape;1409;p92"/>
          <p:cNvSpPr txBox="1"/>
          <p:nvPr/>
        </p:nvSpPr>
        <p:spPr>
          <a:xfrm>
            <a:off x="7832713" y="2411252"/>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.com</a:t>
            </a:r>
            <a:endParaRPr>
              <a:latin typeface="Calibri"/>
              <a:ea typeface="Calibri"/>
              <a:cs typeface="Calibri"/>
              <a:sym typeface="Calibri"/>
            </a:endParaRPr>
          </a:p>
        </p:txBody>
      </p:sp>
      <p:sp>
        <p:nvSpPr>
          <p:cNvPr id="1410" name="Google Shape;1410;p92"/>
          <p:cNvSpPr txBox="1"/>
          <p:nvPr/>
        </p:nvSpPr>
        <p:spPr>
          <a:xfrm>
            <a:off x="7518763" y="3357750"/>
            <a:ext cx="12963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google.com</a:t>
            </a:r>
            <a:endParaRPr sz="1200">
              <a:latin typeface="Calibri"/>
              <a:ea typeface="Calibri"/>
              <a:cs typeface="Calibri"/>
              <a:sym typeface="Calibri"/>
            </a:endParaRPr>
          </a:p>
        </p:txBody>
      </p:sp>
      <p:cxnSp>
        <p:nvCxnSpPr>
          <p:cNvPr id="1411" name="Google Shape;1411;p92"/>
          <p:cNvCxnSpPr>
            <a:stCxn id="1408" idx="2"/>
            <a:endCxn id="1409" idx="0"/>
          </p:cNvCxnSpPr>
          <p:nvPr/>
        </p:nvCxnSpPr>
        <p:spPr>
          <a:xfrm>
            <a:off x="8166925" y="1756948"/>
            <a:ext cx="0" cy="654300"/>
          </a:xfrm>
          <a:prstGeom prst="straightConnector1">
            <a:avLst/>
          </a:prstGeom>
          <a:noFill/>
          <a:ln cap="flat" cmpd="sng" w="9525">
            <a:solidFill>
              <a:srgbClr val="000000"/>
            </a:solidFill>
            <a:prstDash val="solid"/>
            <a:round/>
            <a:headEnd len="med" w="med" type="none"/>
            <a:tailEnd len="med" w="med" type="none"/>
          </a:ln>
        </p:spPr>
      </p:cxnSp>
      <p:cxnSp>
        <p:nvCxnSpPr>
          <p:cNvPr id="1412" name="Google Shape;1412;p92"/>
          <p:cNvCxnSpPr>
            <a:stCxn id="1409" idx="2"/>
            <a:endCxn id="1410" idx="0"/>
          </p:cNvCxnSpPr>
          <p:nvPr/>
        </p:nvCxnSpPr>
        <p:spPr>
          <a:xfrm>
            <a:off x="8166913" y="2804852"/>
            <a:ext cx="0" cy="552900"/>
          </a:xfrm>
          <a:prstGeom prst="straightConnector1">
            <a:avLst/>
          </a:prstGeom>
          <a:noFill/>
          <a:ln cap="flat" cmpd="sng" w="9525">
            <a:solidFill>
              <a:srgbClr val="000000"/>
            </a:solidFill>
            <a:prstDash val="solid"/>
            <a:round/>
            <a:headEnd len="med" w="med" type="none"/>
            <a:tailEnd len="med" w="med" type="none"/>
          </a:ln>
        </p:spPr>
      </p:cxnSp>
      <p:pic>
        <p:nvPicPr>
          <p:cNvPr id="1413" name="Google Shape;1413;p92"/>
          <p:cNvPicPr preferRelativeResize="0"/>
          <p:nvPr/>
        </p:nvPicPr>
        <p:blipFill rotWithShape="1">
          <a:blip r:embed="rId4">
            <a:alphaModFix/>
          </a:blip>
          <a:srcRect b="65159" l="10446" r="69908" t="13697"/>
          <a:stretch/>
        </p:blipFill>
        <p:spPr>
          <a:xfrm>
            <a:off x="7841463" y="4405638"/>
            <a:ext cx="650926" cy="700636"/>
          </a:xfrm>
          <a:prstGeom prst="rect">
            <a:avLst/>
          </a:prstGeom>
          <a:noFill/>
          <a:ln>
            <a:noFill/>
          </a:ln>
        </p:spPr>
      </p:pic>
      <p:sp>
        <p:nvSpPr>
          <p:cNvPr id="1414" name="Google Shape;1414;p9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Kaminsky Attack: Example</a:t>
            </a:r>
            <a:endParaRPr/>
          </a:p>
        </p:txBody>
      </p:sp>
      <p:sp>
        <p:nvSpPr>
          <p:cNvPr id="1415" name="Google Shape;1415;p92"/>
          <p:cNvSpPr txBox="1"/>
          <p:nvPr/>
        </p:nvSpPr>
        <p:spPr>
          <a:xfrm>
            <a:off x="2324113" y="1209350"/>
            <a:ext cx="4316400" cy="831300"/>
          </a:xfrm>
          <a:prstGeom prst="rect">
            <a:avLst/>
          </a:prstGeom>
          <a:solidFill>
            <a:srgbClr val="C9DAF8"/>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Now that the cache is poisoned, what happens when Alice wants to know the ip address of </a:t>
            </a:r>
            <a:r>
              <a:rPr b="1" lang="en">
                <a:latin typeface="Courier New"/>
                <a:ea typeface="Courier New"/>
                <a:cs typeface="Courier New"/>
                <a:sym typeface="Courier New"/>
              </a:rPr>
              <a:t>www.google.com</a:t>
            </a:r>
            <a:r>
              <a:rPr lang="en"/>
              <a:t>?</a:t>
            </a:r>
            <a:endParaRPr/>
          </a:p>
        </p:txBody>
      </p:sp>
      <p:graphicFrame>
        <p:nvGraphicFramePr>
          <p:cNvPr id="1416" name="Google Shape;1416;p92"/>
          <p:cNvGraphicFramePr/>
          <p:nvPr/>
        </p:nvGraphicFramePr>
        <p:xfrm>
          <a:off x="226150" y="2672750"/>
          <a:ext cx="3000000" cy="3000000"/>
        </p:xfrm>
        <a:graphic>
          <a:graphicData uri="http://schemas.openxmlformats.org/drawingml/2006/table">
            <a:tbl>
              <a:tblPr>
                <a:noFill/>
                <a:tableStyleId>{8746E7DE-0C9E-4540-9031-B6CDA728326B}</a:tableStyleId>
              </a:tblPr>
              <a:tblGrid>
                <a:gridCol w="1491575"/>
                <a:gridCol w="1491575"/>
              </a:tblGrid>
              <a:tr h="347850">
                <a:tc gridSpan="2">
                  <a:txBody>
                    <a:bodyPr/>
                    <a:lstStyle/>
                    <a:p>
                      <a:pPr indent="0" lvl="0" marL="0" rtl="0" algn="ctr">
                        <a:spcBef>
                          <a:spcPts val="0"/>
                        </a:spcBef>
                        <a:spcAft>
                          <a:spcPts val="0"/>
                        </a:spcAft>
                        <a:buNone/>
                      </a:pPr>
                      <a:r>
                        <a:rPr lang="en" sz="1100">
                          <a:latin typeface="Courier New"/>
                          <a:ea typeface="Courier New"/>
                          <a:cs typeface="Courier New"/>
                          <a:sym typeface="Courier New"/>
                        </a:rPr>
                        <a:t>Recursive Resolver Cache</a:t>
                      </a:r>
                      <a:endParaRPr sz="1100">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solidFill>
                      <a:schemeClr val="lt1"/>
                    </a:solidFill>
                  </a:tcPr>
                </a:tc>
                <a:tc hMerge="1"/>
              </a:tr>
              <a:tr h="317600">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a.gtld-servers.net.</a:t>
                      </a:r>
                      <a:endParaRPr sz="900">
                        <a:solidFill>
                          <a:schemeClr val="dk1"/>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192.5.6.30</a:t>
                      </a:r>
                      <a:endParaRPr sz="900">
                        <a:solidFill>
                          <a:schemeClr val="dk1"/>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17600">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ns1.google.com.</a:t>
                      </a:r>
                      <a:endParaRPr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216.239.32.10</a:t>
                      </a:r>
                      <a:endParaRPr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17600">
                <a:tc>
                  <a:txBody>
                    <a:bodyPr/>
                    <a:lstStyle/>
                    <a:p>
                      <a:pPr indent="0" lvl="0" marL="0" rtl="0" algn="l">
                        <a:spcBef>
                          <a:spcPts val="0"/>
                        </a:spcBef>
                        <a:spcAft>
                          <a:spcPts val="0"/>
                        </a:spcAft>
                        <a:buNone/>
                      </a:pPr>
                      <a:r>
                        <a:rPr lang="en" sz="900">
                          <a:solidFill>
                            <a:schemeClr val="dk1"/>
                          </a:solidFill>
                          <a:latin typeface="Courier New"/>
                          <a:ea typeface="Courier New"/>
                          <a:cs typeface="Courier New"/>
                          <a:sym typeface="Courier New"/>
                        </a:rPr>
                        <a:t>www.google.com.</a:t>
                      </a:r>
                      <a:endParaRPr sz="900">
                        <a:solidFill>
                          <a:schemeClr val="dk1"/>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900">
                          <a:solidFill>
                            <a:srgbClr val="FF0000"/>
                          </a:solidFill>
                          <a:latin typeface="Courier New"/>
                          <a:ea typeface="Courier New"/>
                          <a:cs typeface="Courier New"/>
                          <a:sym typeface="Courier New"/>
                        </a:rPr>
                        <a:t>6.6.6.6</a:t>
                      </a:r>
                      <a:endParaRPr sz="900">
                        <a:solidFill>
                          <a:srgbClr val="FF0000"/>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0" name="Shape 1420"/>
        <p:cNvGrpSpPr/>
        <p:nvPr/>
      </p:nvGrpSpPr>
      <p:grpSpPr>
        <a:xfrm>
          <a:off x="0" y="0"/>
          <a:ext cx="0" cy="0"/>
          <a:chOff x="0" y="0"/>
          <a:chExt cx="0" cy="0"/>
        </a:xfrm>
      </p:grpSpPr>
      <p:sp>
        <p:nvSpPr>
          <p:cNvPr id="1421" name="Google Shape;1421;p93"/>
          <p:cNvSpPr/>
          <p:nvPr/>
        </p:nvSpPr>
        <p:spPr>
          <a:xfrm>
            <a:off x="142425" y="2190750"/>
            <a:ext cx="3150600" cy="2866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93"/>
          <p:cNvSpPr txBox="1"/>
          <p:nvPr/>
        </p:nvSpPr>
        <p:spPr>
          <a:xfrm>
            <a:off x="555325" y="1223675"/>
            <a:ext cx="1642800" cy="3936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Stub Resolver</a:t>
            </a:r>
            <a:endParaRPr>
              <a:latin typeface="Calibri"/>
              <a:ea typeface="Calibri"/>
              <a:cs typeface="Calibri"/>
              <a:sym typeface="Calibri"/>
            </a:endParaRPr>
          </a:p>
        </p:txBody>
      </p:sp>
      <p:sp>
        <p:nvSpPr>
          <p:cNvPr id="1423" name="Google Shape;1423;p93"/>
          <p:cNvSpPr txBox="1"/>
          <p:nvPr/>
        </p:nvSpPr>
        <p:spPr>
          <a:xfrm>
            <a:off x="226125" y="2279151"/>
            <a:ext cx="29832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Recursive Resolver</a:t>
            </a:r>
            <a:endParaRPr>
              <a:latin typeface="Calibri"/>
              <a:ea typeface="Calibri"/>
              <a:cs typeface="Calibri"/>
              <a:sym typeface="Calibri"/>
            </a:endParaRPr>
          </a:p>
        </p:txBody>
      </p:sp>
      <p:pic>
        <p:nvPicPr>
          <p:cNvPr id="1424" name="Google Shape;1424;p93"/>
          <p:cNvPicPr preferRelativeResize="0"/>
          <p:nvPr/>
        </p:nvPicPr>
        <p:blipFill rotWithShape="1">
          <a:blip r:embed="rId3">
            <a:alphaModFix/>
          </a:blip>
          <a:srcRect b="57590" l="5310" r="80092" t="16627"/>
          <a:stretch/>
        </p:blipFill>
        <p:spPr>
          <a:xfrm>
            <a:off x="0" y="1144185"/>
            <a:ext cx="495580" cy="552599"/>
          </a:xfrm>
          <a:prstGeom prst="rect">
            <a:avLst/>
          </a:prstGeom>
          <a:noFill/>
          <a:ln>
            <a:noFill/>
          </a:ln>
        </p:spPr>
      </p:pic>
      <p:grpSp>
        <p:nvGrpSpPr>
          <p:cNvPr id="1425" name="Google Shape;1425;p93"/>
          <p:cNvGrpSpPr/>
          <p:nvPr/>
        </p:nvGrpSpPr>
        <p:grpSpPr>
          <a:xfrm>
            <a:off x="769875" y="1617199"/>
            <a:ext cx="410100" cy="572709"/>
            <a:chOff x="258935" y="2049228"/>
            <a:chExt cx="410100" cy="762900"/>
          </a:xfrm>
        </p:grpSpPr>
        <p:sp>
          <p:nvSpPr>
            <p:cNvPr id="1426" name="Google Shape;1426;p93"/>
            <p:cNvSpPr txBox="1"/>
            <p:nvPr/>
          </p:nvSpPr>
          <p:spPr>
            <a:xfrm>
              <a:off x="258935" y="2174852"/>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1</a:t>
              </a:r>
              <a:endParaRPr>
                <a:latin typeface="Calibri"/>
                <a:ea typeface="Calibri"/>
                <a:cs typeface="Calibri"/>
                <a:sym typeface="Calibri"/>
              </a:endParaRPr>
            </a:p>
          </p:txBody>
        </p:sp>
        <p:cxnSp>
          <p:nvCxnSpPr>
            <p:cNvPr id="1427" name="Google Shape;1427;p93"/>
            <p:cNvCxnSpPr/>
            <p:nvPr/>
          </p:nvCxnSpPr>
          <p:spPr>
            <a:xfrm rot="10800000">
              <a:off x="530725" y="2049228"/>
              <a:ext cx="0" cy="762900"/>
            </a:xfrm>
            <a:prstGeom prst="straightConnector1">
              <a:avLst/>
            </a:prstGeom>
            <a:noFill/>
            <a:ln cap="flat" cmpd="sng" w="19050">
              <a:solidFill>
                <a:srgbClr val="000000"/>
              </a:solidFill>
              <a:prstDash val="solid"/>
              <a:round/>
              <a:headEnd len="med" w="med" type="triangle"/>
              <a:tailEnd len="med" w="med" type="none"/>
            </a:ln>
          </p:spPr>
        </p:cxnSp>
      </p:grpSp>
      <p:sp>
        <p:nvSpPr>
          <p:cNvPr id="1428" name="Google Shape;1428;p9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429" name="Google Shape;1429;p93"/>
          <p:cNvSpPr txBox="1"/>
          <p:nvPr/>
        </p:nvSpPr>
        <p:spPr>
          <a:xfrm>
            <a:off x="7547875" y="1392148"/>
            <a:ext cx="1238100" cy="3648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 (root)</a:t>
            </a:r>
            <a:endParaRPr>
              <a:latin typeface="Courier New"/>
              <a:ea typeface="Courier New"/>
              <a:cs typeface="Courier New"/>
              <a:sym typeface="Courier New"/>
            </a:endParaRPr>
          </a:p>
        </p:txBody>
      </p:sp>
      <p:sp>
        <p:nvSpPr>
          <p:cNvPr id="1430" name="Google Shape;1430;p93"/>
          <p:cNvSpPr txBox="1"/>
          <p:nvPr/>
        </p:nvSpPr>
        <p:spPr>
          <a:xfrm>
            <a:off x="7832713" y="2411252"/>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.com</a:t>
            </a:r>
            <a:endParaRPr>
              <a:latin typeface="Calibri"/>
              <a:ea typeface="Calibri"/>
              <a:cs typeface="Calibri"/>
              <a:sym typeface="Calibri"/>
            </a:endParaRPr>
          </a:p>
        </p:txBody>
      </p:sp>
      <p:sp>
        <p:nvSpPr>
          <p:cNvPr id="1431" name="Google Shape;1431;p93"/>
          <p:cNvSpPr txBox="1"/>
          <p:nvPr/>
        </p:nvSpPr>
        <p:spPr>
          <a:xfrm>
            <a:off x="7518763" y="3357750"/>
            <a:ext cx="12963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google.com</a:t>
            </a:r>
            <a:endParaRPr sz="1200">
              <a:latin typeface="Calibri"/>
              <a:ea typeface="Calibri"/>
              <a:cs typeface="Calibri"/>
              <a:sym typeface="Calibri"/>
            </a:endParaRPr>
          </a:p>
        </p:txBody>
      </p:sp>
      <p:cxnSp>
        <p:nvCxnSpPr>
          <p:cNvPr id="1432" name="Google Shape;1432;p93"/>
          <p:cNvCxnSpPr>
            <a:stCxn id="1429" idx="2"/>
            <a:endCxn id="1430" idx="0"/>
          </p:cNvCxnSpPr>
          <p:nvPr/>
        </p:nvCxnSpPr>
        <p:spPr>
          <a:xfrm>
            <a:off x="8166925" y="1756948"/>
            <a:ext cx="0" cy="654300"/>
          </a:xfrm>
          <a:prstGeom prst="straightConnector1">
            <a:avLst/>
          </a:prstGeom>
          <a:noFill/>
          <a:ln cap="flat" cmpd="sng" w="9525">
            <a:solidFill>
              <a:srgbClr val="000000"/>
            </a:solidFill>
            <a:prstDash val="solid"/>
            <a:round/>
            <a:headEnd len="med" w="med" type="none"/>
            <a:tailEnd len="med" w="med" type="none"/>
          </a:ln>
        </p:spPr>
      </p:cxnSp>
      <p:cxnSp>
        <p:nvCxnSpPr>
          <p:cNvPr id="1433" name="Google Shape;1433;p93"/>
          <p:cNvCxnSpPr>
            <a:stCxn id="1430" idx="2"/>
            <a:endCxn id="1431" idx="0"/>
          </p:cNvCxnSpPr>
          <p:nvPr/>
        </p:nvCxnSpPr>
        <p:spPr>
          <a:xfrm>
            <a:off x="8166913" y="2804852"/>
            <a:ext cx="0" cy="552900"/>
          </a:xfrm>
          <a:prstGeom prst="straightConnector1">
            <a:avLst/>
          </a:prstGeom>
          <a:noFill/>
          <a:ln cap="flat" cmpd="sng" w="9525">
            <a:solidFill>
              <a:srgbClr val="000000"/>
            </a:solidFill>
            <a:prstDash val="solid"/>
            <a:round/>
            <a:headEnd len="med" w="med" type="none"/>
            <a:tailEnd len="med" w="med" type="none"/>
          </a:ln>
        </p:spPr>
      </p:cxnSp>
      <p:pic>
        <p:nvPicPr>
          <p:cNvPr id="1434" name="Google Shape;1434;p93"/>
          <p:cNvPicPr preferRelativeResize="0"/>
          <p:nvPr/>
        </p:nvPicPr>
        <p:blipFill rotWithShape="1">
          <a:blip r:embed="rId4">
            <a:alphaModFix/>
          </a:blip>
          <a:srcRect b="65159" l="10446" r="69908" t="13697"/>
          <a:stretch/>
        </p:blipFill>
        <p:spPr>
          <a:xfrm>
            <a:off x="7841463" y="4405638"/>
            <a:ext cx="650926" cy="700636"/>
          </a:xfrm>
          <a:prstGeom prst="rect">
            <a:avLst/>
          </a:prstGeom>
          <a:noFill/>
          <a:ln>
            <a:noFill/>
          </a:ln>
        </p:spPr>
      </p:pic>
      <p:sp>
        <p:nvSpPr>
          <p:cNvPr id="1435" name="Google Shape;1435;p9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Kaminsky Attack: Example</a:t>
            </a:r>
            <a:endParaRPr/>
          </a:p>
        </p:txBody>
      </p:sp>
      <p:sp>
        <p:nvSpPr>
          <p:cNvPr id="1436" name="Google Shape;1436;p93"/>
          <p:cNvSpPr/>
          <p:nvPr/>
        </p:nvSpPr>
        <p:spPr>
          <a:xfrm>
            <a:off x="1067425" y="1561375"/>
            <a:ext cx="2983233" cy="393575"/>
          </a:xfrm>
          <a:custGeom>
            <a:rect b="b" l="l" r="r" t="t"/>
            <a:pathLst>
              <a:path extrusionOk="0" h="35172" w="75635">
                <a:moveTo>
                  <a:pt x="75635" y="0"/>
                </a:moveTo>
                <a:lnTo>
                  <a:pt x="75635" y="35172"/>
                </a:lnTo>
                <a:lnTo>
                  <a:pt x="0" y="35172"/>
                </a:lnTo>
              </a:path>
            </a:pathLst>
          </a:custGeom>
          <a:noFill/>
          <a:ln cap="flat" cmpd="sng" w="19050">
            <a:solidFill>
              <a:srgbClr val="E69138"/>
            </a:solidFill>
            <a:prstDash val="solid"/>
            <a:round/>
            <a:headEnd len="med" w="med" type="none"/>
            <a:tailEnd len="med" w="med" type="triangle"/>
          </a:ln>
        </p:spPr>
      </p:sp>
      <p:sp>
        <p:nvSpPr>
          <p:cNvPr id="1437" name="Google Shape;1437;p93"/>
          <p:cNvSpPr txBox="1"/>
          <p:nvPr/>
        </p:nvSpPr>
        <p:spPr>
          <a:xfrm>
            <a:off x="2622850" y="1209350"/>
            <a:ext cx="34611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“Can you figure out what the ip address of </a:t>
            </a:r>
            <a:r>
              <a:rPr b="1" lang="en">
                <a:solidFill>
                  <a:schemeClr val="dk1"/>
                </a:solidFill>
                <a:latin typeface="Courier New"/>
                <a:ea typeface="Courier New"/>
                <a:cs typeface="Courier New"/>
                <a:sym typeface="Courier New"/>
              </a:rPr>
              <a:t>www.google.com</a:t>
            </a:r>
            <a:r>
              <a:rPr lang="en">
                <a:solidFill>
                  <a:schemeClr val="dk1"/>
                </a:solidFill>
              </a:rPr>
              <a:t> is?”</a:t>
            </a:r>
            <a:endParaRPr/>
          </a:p>
        </p:txBody>
      </p:sp>
      <p:graphicFrame>
        <p:nvGraphicFramePr>
          <p:cNvPr id="1438" name="Google Shape;1438;p93"/>
          <p:cNvGraphicFramePr/>
          <p:nvPr/>
        </p:nvGraphicFramePr>
        <p:xfrm>
          <a:off x="226150" y="2672750"/>
          <a:ext cx="3000000" cy="3000000"/>
        </p:xfrm>
        <a:graphic>
          <a:graphicData uri="http://schemas.openxmlformats.org/drawingml/2006/table">
            <a:tbl>
              <a:tblPr>
                <a:noFill/>
                <a:tableStyleId>{8746E7DE-0C9E-4540-9031-B6CDA728326B}</a:tableStyleId>
              </a:tblPr>
              <a:tblGrid>
                <a:gridCol w="1491575"/>
                <a:gridCol w="1491575"/>
              </a:tblGrid>
              <a:tr h="347850">
                <a:tc gridSpan="2">
                  <a:txBody>
                    <a:bodyPr/>
                    <a:lstStyle/>
                    <a:p>
                      <a:pPr indent="0" lvl="0" marL="0" rtl="0" algn="ctr">
                        <a:spcBef>
                          <a:spcPts val="0"/>
                        </a:spcBef>
                        <a:spcAft>
                          <a:spcPts val="0"/>
                        </a:spcAft>
                        <a:buNone/>
                      </a:pPr>
                      <a:r>
                        <a:rPr lang="en" sz="1100">
                          <a:latin typeface="Courier New"/>
                          <a:ea typeface="Courier New"/>
                          <a:cs typeface="Courier New"/>
                          <a:sym typeface="Courier New"/>
                        </a:rPr>
                        <a:t>Recursive Resolver Cache</a:t>
                      </a:r>
                      <a:endParaRPr sz="1100">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solidFill>
                      <a:schemeClr val="lt1"/>
                    </a:solidFill>
                  </a:tcPr>
                </a:tc>
                <a:tc hMerge="1"/>
              </a:tr>
              <a:tr h="317600">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a.gtld-servers.net.</a:t>
                      </a:r>
                      <a:endParaRPr sz="900">
                        <a:solidFill>
                          <a:schemeClr val="dk1"/>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192.5.6.30</a:t>
                      </a:r>
                      <a:endParaRPr sz="900">
                        <a:solidFill>
                          <a:schemeClr val="dk1"/>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17600">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ns1.google.com.</a:t>
                      </a:r>
                      <a:endParaRPr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216.239.32.10</a:t>
                      </a:r>
                      <a:endParaRPr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17600">
                <a:tc>
                  <a:txBody>
                    <a:bodyPr/>
                    <a:lstStyle/>
                    <a:p>
                      <a:pPr indent="0" lvl="0" marL="0" rtl="0" algn="l">
                        <a:spcBef>
                          <a:spcPts val="0"/>
                        </a:spcBef>
                        <a:spcAft>
                          <a:spcPts val="0"/>
                        </a:spcAft>
                        <a:buNone/>
                      </a:pPr>
                      <a:r>
                        <a:rPr lang="en" sz="900">
                          <a:solidFill>
                            <a:schemeClr val="dk1"/>
                          </a:solidFill>
                          <a:latin typeface="Courier New"/>
                          <a:ea typeface="Courier New"/>
                          <a:cs typeface="Courier New"/>
                          <a:sym typeface="Courier New"/>
                        </a:rPr>
                        <a:t>www.google.com.</a:t>
                      </a:r>
                      <a:endParaRPr sz="900">
                        <a:solidFill>
                          <a:schemeClr val="dk1"/>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900">
                          <a:solidFill>
                            <a:srgbClr val="FF0000"/>
                          </a:solidFill>
                          <a:latin typeface="Courier New"/>
                          <a:ea typeface="Courier New"/>
                          <a:cs typeface="Courier New"/>
                          <a:sym typeface="Courier New"/>
                        </a:rPr>
                        <a:t>6.6.6.6</a:t>
                      </a:r>
                      <a:endParaRPr sz="900">
                        <a:solidFill>
                          <a:srgbClr val="FF0000"/>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2" name="Shape 1442"/>
        <p:cNvGrpSpPr/>
        <p:nvPr/>
      </p:nvGrpSpPr>
      <p:grpSpPr>
        <a:xfrm>
          <a:off x="0" y="0"/>
          <a:ext cx="0" cy="0"/>
          <a:chOff x="0" y="0"/>
          <a:chExt cx="0" cy="0"/>
        </a:xfrm>
      </p:grpSpPr>
      <p:sp>
        <p:nvSpPr>
          <p:cNvPr id="1443" name="Google Shape;1443;p94"/>
          <p:cNvSpPr/>
          <p:nvPr/>
        </p:nvSpPr>
        <p:spPr>
          <a:xfrm>
            <a:off x="142425" y="2190750"/>
            <a:ext cx="3150600" cy="2866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4" name="Google Shape;1444;p94"/>
          <p:cNvSpPr txBox="1"/>
          <p:nvPr/>
        </p:nvSpPr>
        <p:spPr>
          <a:xfrm>
            <a:off x="555325" y="1223675"/>
            <a:ext cx="1642800" cy="3936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Stub Resolver</a:t>
            </a:r>
            <a:endParaRPr>
              <a:latin typeface="Calibri"/>
              <a:ea typeface="Calibri"/>
              <a:cs typeface="Calibri"/>
              <a:sym typeface="Calibri"/>
            </a:endParaRPr>
          </a:p>
        </p:txBody>
      </p:sp>
      <p:sp>
        <p:nvSpPr>
          <p:cNvPr id="1445" name="Google Shape;1445;p94"/>
          <p:cNvSpPr txBox="1"/>
          <p:nvPr/>
        </p:nvSpPr>
        <p:spPr>
          <a:xfrm>
            <a:off x="226125" y="2279151"/>
            <a:ext cx="2983200" cy="3936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Recursive Resolver</a:t>
            </a:r>
            <a:endParaRPr>
              <a:latin typeface="Calibri"/>
              <a:ea typeface="Calibri"/>
              <a:cs typeface="Calibri"/>
              <a:sym typeface="Calibri"/>
            </a:endParaRPr>
          </a:p>
        </p:txBody>
      </p:sp>
      <p:pic>
        <p:nvPicPr>
          <p:cNvPr id="1446" name="Google Shape;1446;p94"/>
          <p:cNvPicPr preferRelativeResize="0"/>
          <p:nvPr/>
        </p:nvPicPr>
        <p:blipFill rotWithShape="1">
          <a:blip r:embed="rId3">
            <a:alphaModFix/>
          </a:blip>
          <a:srcRect b="57590" l="5310" r="80092" t="16627"/>
          <a:stretch/>
        </p:blipFill>
        <p:spPr>
          <a:xfrm>
            <a:off x="0" y="1144185"/>
            <a:ext cx="495580" cy="552599"/>
          </a:xfrm>
          <a:prstGeom prst="rect">
            <a:avLst/>
          </a:prstGeom>
          <a:noFill/>
          <a:ln>
            <a:noFill/>
          </a:ln>
        </p:spPr>
      </p:pic>
      <p:sp>
        <p:nvSpPr>
          <p:cNvPr id="1447" name="Google Shape;1447;p9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448" name="Google Shape;1448;p94"/>
          <p:cNvSpPr txBox="1"/>
          <p:nvPr/>
        </p:nvSpPr>
        <p:spPr>
          <a:xfrm>
            <a:off x="7547875" y="1392148"/>
            <a:ext cx="1238100" cy="3648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 (root)</a:t>
            </a:r>
            <a:endParaRPr>
              <a:latin typeface="Courier New"/>
              <a:ea typeface="Courier New"/>
              <a:cs typeface="Courier New"/>
              <a:sym typeface="Courier New"/>
            </a:endParaRPr>
          </a:p>
        </p:txBody>
      </p:sp>
      <p:sp>
        <p:nvSpPr>
          <p:cNvPr id="1449" name="Google Shape;1449;p94"/>
          <p:cNvSpPr txBox="1"/>
          <p:nvPr/>
        </p:nvSpPr>
        <p:spPr>
          <a:xfrm>
            <a:off x="7832713" y="2411252"/>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.com</a:t>
            </a:r>
            <a:endParaRPr>
              <a:latin typeface="Calibri"/>
              <a:ea typeface="Calibri"/>
              <a:cs typeface="Calibri"/>
              <a:sym typeface="Calibri"/>
            </a:endParaRPr>
          </a:p>
        </p:txBody>
      </p:sp>
      <p:sp>
        <p:nvSpPr>
          <p:cNvPr id="1450" name="Google Shape;1450;p94"/>
          <p:cNvSpPr txBox="1"/>
          <p:nvPr/>
        </p:nvSpPr>
        <p:spPr>
          <a:xfrm>
            <a:off x="7518763" y="3357750"/>
            <a:ext cx="12963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google.com</a:t>
            </a:r>
            <a:endParaRPr sz="1200">
              <a:latin typeface="Calibri"/>
              <a:ea typeface="Calibri"/>
              <a:cs typeface="Calibri"/>
              <a:sym typeface="Calibri"/>
            </a:endParaRPr>
          </a:p>
        </p:txBody>
      </p:sp>
      <p:cxnSp>
        <p:nvCxnSpPr>
          <p:cNvPr id="1451" name="Google Shape;1451;p94"/>
          <p:cNvCxnSpPr>
            <a:stCxn id="1448" idx="2"/>
            <a:endCxn id="1449" idx="0"/>
          </p:cNvCxnSpPr>
          <p:nvPr/>
        </p:nvCxnSpPr>
        <p:spPr>
          <a:xfrm>
            <a:off x="8166925" y="1756948"/>
            <a:ext cx="0" cy="654300"/>
          </a:xfrm>
          <a:prstGeom prst="straightConnector1">
            <a:avLst/>
          </a:prstGeom>
          <a:noFill/>
          <a:ln cap="flat" cmpd="sng" w="9525">
            <a:solidFill>
              <a:srgbClr val="000000"/>
            </a:solidFill>
            <a:prstDash val="solid"/>
            <a:round/>
            <a:headEnd len="med" w="med" type="none"/>
            <a:tailEnd len="med" w="med" type="none"/>
          </a:ln>
        </p:spPr>
      </p:cxnSp>
      <p:cxnSp>
        <p:nvCxnSpPr>
          <p:cNvPr id="1452" name="Google Shape;1452;p94"/>
          <p:cNvCxnSpPr>
            <a:stCxn id="1449" idx="2"/>
            <a:endCxn id="1450" idx="0"/>
          </p:cNvCxnSpPr>
          <p:nvPr/>
        </p:nvCxnSpPr>
        <p:spPr>
          <a:xfrm>
            <a:off x="8166913" y="2804852"/>
            <a:ext cx="0" cy="552900"/>
          </a:xfrm>
          <a:prstGeom prst="straightConnector1">
            <a:avLst/>
          </a:prstGeom>
          <a:noFill/>
          <a:ln cap="flat" cmpd="sng" w="9525">
            <a:solidFill>
              <a:srgbClr val="000000"/>
            </a:solidFill>
            <a:prstDash val="solid"/>
            <a:round/>
            <a:headEnd len="med" w="med" type="none"/>
            <a:tailEnd len="med" w="med" type="none"/>
          </a:ln>
        </p:spPr>
      </p:cxnSp>
      <p:pic>
        <p:nvPicPr>
          <p:cNvPr id="1453" name="Google Shape;1453;p94"/>
          <p:cNvPicPr preferRelativeResize="0"/>
          <p:nvPr/>
        </p:nvPicPr>
        <p:blipFill rotWithShape="1">
          <a:blip r:embed="rId4">
            <a:alphaModFix/>
          </a:blip>
          <a:srcRect b="65159" l="10446" r="69908" t="13697"/>
          <a:stretch/>
        </p:blipFill>
        <p:spPr>
          <a:xfrm>
            <a:off x="7841463" y="4405638"/>
            <a:ext cx="650926" cy="700636"/>
          </a:xfrm>
          <a:prstGeom prst="rect">
            <a:avLst/>
          </a:prstGeom>
          <a:noFill/>
          <a:ln>
            <a:noFill/>
          </a:ln>
        </p:spPr>
      </p:pic>
      <p:grpSp>
        <p:nvGrpSpPr>
          <p:cNvPr id="1454" name="Google Shape;1454;p94"/>
          <p:cNvGrpSpPr/>
          <p:nvPr/>
        </p:nvGrpSpPr>
        <p:grpSpPr>
          <a:xfrm>
            <a:off x="1251976" y="1627263"/>
            <a:ext cx="410110" cy="552568"/>
            <a:chOff x="1047525" y="2049228"/>
            <a:chExt cx="410110" cy="762900"/>
          </a:xfrm>
        </p:grpSpPr>
        <p:cxnSp>
          <p:nvCxnSpPr>
            <p:cNvPr id="1455" name="Google Shape;1455;p94"/>
            <p:cNvCxnSpPr/>
            <p:nvPr/>
          </p:nvCxnSpPr>
          <p:spPr>
            <a:xfrm rot="10800000">
              <a:off x="1047525" y="2049228"/>
              <a:ext cx="0" cy="762900"/>
            </a:xfrm>
            <a:prstGeom prst="straightConnector1">
              <a:avLst/>
            </a:prstGeom>
            <a:noFill/>
            <a:ln cap="flat" cmpd="sng" w="19050">
              <a:solidFill>
                <a:srgbClr val="000000"/>
              </a:solidFill>
              <a:prstDash val="solid"/>
              <a:round/>
              <a:headEnd len="med" w="med" type="none"/>
              <a:tailEnd len="med" w="med" type="triangle"/>
            </a:ln>
          </p:spPr>
        </p:cxnSp>
        <p:sp>
          <p:nvSpPr>
            <p:cNvPr id="1456" name="Google Shape;1456;p94"/>
            <p:cNvSpPr txBox="1"/>
            <p:nvPr/>
          </p:nvSpPr>
          <p:spPr>
            <a:xfrm>
              <a:off x="1047535" y="2174852"/>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Calibri"/>
                  <a:ea typeface="Calibri"/>
                  <a:cs typeface="Calibri"/>
                  <a:sym typeface="Calibri"/>
                </a:rPr>
                <a:t>2</a:t>
              </a:r>
              <a:endParaRPr>
                <a:latin typeface="Calibri"/>
                <a:ea typeface="Calibri"/>
                <a:cs typeface="Calibri"/>
                <a:sym typeface="Calibri"/>
              </a:endParaRPr>
            </a:p>
          </p:txBody>
        </p:sp>
      </p:grpSp>
      <p:sp>
        <p:nvSpPr>
          <p:cNvPr id="1457" name="Google Shape;1457;p94"/>
          <p:cNvSpPr/>
          <p:nvPr/>
        </p:nvSpPr>
        <p:spPr>
          <a:xfrm>
            <a:off x="1251975" y="1707225"/>
            <a:ext cx="2790175" cy="393575"/>
          </a:xfrm>
          <a:custGeom>
            <a:rect b="b" l="l" r="r" t="t"/>
            <a:pathLst>
              <a:path extrusionOk="0" h="35172" w="75635">
                <a:moveTo>
                  <a:pt x="75635" y="0"/>
                </a:moveTo>
                <a:lnTo>
                  <a:pt x="75635" y="35172"/>
                </a:lnTo>
                <a:lnTo>
                  <a:pt x="0" y="35172"/>
                </a:lnTo>
              </a:path>
            </a:pathLst>
          </a:custGeom>
          <a:noFill/>
          <a:ln cap="flat" cmpd="sng" w="19050">
            <a:solidFill>
              <a:srgbClr val="E69138"/>
            </a:solidFill>
            <a:prstDash val="solid"/>
            <a:round/>
            <a:headEnd len="med" w="med" type="none"/>
            <a:tailEnd len="med" w="med" type="triangle"/>
          </a:ln>
        </p:spPr>
      </p:sp>
      <p:sp>
        <p:nvSpPr>
          <p:cNvPr id="1458" name="Google Shape;1458;p94"/>
          <p:cNvSpPr txBox="1"/>
          <p:nvPr/>
        </p:nvSpPr>
        <p:spPr>
          <a:xfrm>
            <a:off x="2872200" y="1209350"/>
            <a:ext cx="29181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“My cache says the ip address of </a:t>
            </a:r>
            <a:r>
              <a:rPr b="1" lang="en" sz="1200">
                <a:solidFill>
                  <a:schemeClr val="dk1"/>
                </a:solidFill>
                <a:latin typeface="Courier New"/>
                <a:ea typeface="Courier New"/>
                <a:cs typeface="Courier New"/>
                <a:sym typeface="Courier New"/>
              </a:rPr>
              <a:t>www.google.com</a:t>
            </a:r>
            <a:r>
              <a:rPr lang="en">
                <a:solidFill>
                  <a:schemeClr val="dk1"/>
                </a:solidFill>
              </a:rPr>
              <a:t> is </a:t>
            </a:r>
            <a:r>
              <a:rPr b="1" lang="en" sz="1200">
                <a:solidFill>
                  <a:schemeClr val="dk1"/>
                </a:solidFill>
                <a:latin typeface="Courier New"/>
                <a:ea typeface="Courier New"/>
                <a:cs typeface="Courier New"/>
                <a:sym typeface="Courier New"/>
              </a:rPr>
              <a:t>6.6.6.6</a:t>
            </a:r>
            <a:r>
              <a:rPr lang="en">
                <a:solidFill>
                  <a:schemeClr val="dk1"/>
                </a:solidFill>
              </a:rPr>
              <a:t>.”</a:t>
            </a:r>
            <a:endParaRPr>
              <a:solidFill>
                <a:schemeClr val="dk1"/>
              </a:solidFill>
            </a:endParaRPr>
          </a:p>
        </p:txBody>
      </p:sp>
      <p:sp>
        <p:nvSpPr>
          <p:cNvPr id="1459" name="Google Shape;1459;p9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Kaminsky Attack: Example</a:t>
            </a:r>
            <a:endParaRPr/>
          </a:p>
        </p:txBody>
      </p:sp>
      <p:graphicFrame>
        <p:nvGraphicFramePr>
          <p:cNvPr id="1460" name="Google Shape;1460;p94"/>
          <p:cNvGraphicFramePr/>
          <p:nvPr/>
        </p:nvGraphicFramePr>
        <p:xfrm>
          <a:off x="226150" y="2672750"/>
          <a:ext cx="3000000" cy="3000000"/>
        </p:xfrm>
        <a:graphic>
          <a:graphicData uri="http://schemas.openxmlformats.org/drawingml/2006/table">
            <a:tbl>
              <a:tblPr>
                <a:noFill/>
                <a:tableStyleId>{8746E7DE-0C9E-4540-9031-B6CDA728326B}</a:tableStyleId>
              </a:tblPr>
              <a:tblGrid>
                <a:gridCol w="1491575"/>
                <a:gridCol w="1491575"/>
              </a:tblGrid>
              <a:tr h="347850">
                <a:tc gridSpan="2">
                  <a:txBody>
                    <a:bodyPr/>
                    <a:lstStyle/>
                    <a:p>
                      <a:pPr indent="0" lvl="0" marL="0" rtl="0" algn="ctr">
                        <a:spcBef>
                          <a:spcPts val="0"/>
                        </a:spcBef>
                        <a:spcAft>
                          <a:spcPts val="0"/>
                        </a:spcAft>
                        <a:buNone/>
                      </a:pPr>
                      <a:r>
                        <a:rPr lang="en" sz="1100">
                          <a:latin typeface="Courier New"/>
                          <a:ea typeface="Courier New"/>
                          <a:cs typeface="Courier New"/>
                          <a:sym typeface="Courier New"/>
                        </a:rPr>
                        <a:t>Recursive Resolver Cache</a:t>
                      </a:r>
                      <a:endParaRPr sz="1100">
                        <a:latin typeface="Courier New"/>
                        <a:ea typeface="Courier New"/>
                        <a:cs typeface="Courier New"/>
                        <a:sym typeface="Courier New"/>
                      </a:endParaRPr>
                    </a:p>
                  </a:txBody>
                  <a:tcPr marT="91425" marB="91425" marR="91425" marL="91425">
                    <a:lnB cap="flat" cmpd="sng" w="9525">
                      <a:solidFill>
                        <a:srgbClr val="9E9E9E"/>
                      </a:solidFill>
                      <a:prstDash val="solid"/>
                      <a:round/>
                      <a:headEnd len="sm" w="sm" type="none"/>
                      <a:tailEnd len="sm" w="sm" type="none"/>
                    </a:lnB>
                    <a:solidFill>
                      <a:schemeClr val="lt1"/>
                    </a:solidFill>
                  </a:tcPr>
                </a:tc>
                <a:tc hMerge="1"/>
              </a:tr>
              <a:tr h="317600">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a.gtld-servers.net.</a:t>
                      </a:r>
                      <a:endParaRPr sz="900">
                        <a:solidFill>
                          <a:schemeClr val="dk1"/>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192.5.6.30</a:t>
                      </a:r>
                      <a:endParaRPr sz="900">
                        <a:solidFill>
                          <a:schemeClr val="dk1"/>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17600">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ns1.google.com.</a:t>
                      </a:r>
                      <a:endParaRPr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900">
                          <a:solidFill>
                            <a:schemeClr val="dk1"/>
                          </a:solidFill>
                          <a:latin typeface="Courier New"/>
                          <a:ea typeface="Courier New"/>
                          <a:cs typeface="Courier New"/>
                          <a:sym typeface="Courier New"/>
                        </a:rPr>
                        <a:t>216.239.32.10</a:t>
                      </a:r>
                      <a:endParaRPr sz="900">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17600">
                <a:tc>
                  <a:txBody>
                    <a:bodyPr/>
                    <a:lstStyle/>
                    <a:p>
                      <a:pPr indent="0" lvl="0" marL="0" rtl="0" algn="l">
                        <a:spcBef>
                          <a:spcPts val="0"/>
                        </a:spcBef>
                        <a:spcAft>
                          <a:spcPts val="0"/>
                        </a:spcAft>
                        <a:buNone/>
                      </a:pPr>
                      <a:r>
                        <a:rPr lang="en" sz="900">
                          <a:solidFill>
                            <a:schemeClr val="dk1"/>
                          </a:solidFill>
                          <a:latin typeface="Courier New"/>
                          <a:ea typeface="Courier New"/>
                          <a:cs typeface="Courier New"/>
                          <a:sym typeface="Courier New"/>
                        </a:rPr>
                        <a:t>www.google.com.</a:t>
                      </a:r>
                      <a:endParaRPr sz="900">
                        <a:solidFill>
                          <a:schemeClr val="dk1"/>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900">
                          <a:solidFill>
                            <a:srgbClr val="FF0000"/>
                          </a:solidFill>
                          <a:latin typeface="Courier New"/>
                          <a:ea typeface="Courier New"/>
                          <a:cs typeface="Courier New"/>
                          <a:sym typeface="Courier New"/>
                        </a:rPr>
                        <a:t>6.6.6.6</a:t>
                      </a:r>
                      <a:endParaRPr sz="900">
                        <a:solidFill>
                          <a:srgbClr val="FF0000"/>
                        </a:solidFill>
                        <a:latin typeface="Courier New"/>
                        <a:ea typeface="Courier New"/>
                        <a:cs typeface="Courier New"/>
                        <a:sym typeface="Courier New"/>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bl>
          </a:graphicData>
        </a:graphic>
      </p:graphicFrame>
      <p:sp>
        <p:nvSpPr>
          <p:cNvPr id="1461" name="Google Shape;1461;p94"/>
          <p:cNvSpPr txBox="1"/>
          <p:nvPr/>
        </p:nvSpPr>
        <p:spPr>
          <a:xfrm>
            <a:off x="3747347" y="2804850"/>
            <a:ext cx="3317100" cy="615600"/>
          </a:xfrm>
          <a:prstGeom prst="rect">
            <a:avLst/>
          </a:prstGeom>
          <a:solidFill>
            <a:srgbClr val="C9DAF8"/>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Mallory will receive all traffic Alice meant to send to </a:t>
            </a:r>
            <a:r>
              <a:rPr b="1" lang="en">
                <a:latin typeface="Courier New"/>
                <a:ea typeface="Courier New"/>
                <a:cs typeface="Courier New"/>
                <a:sym typeface="Courier New"/>
              </a:rPr>
              <a:t>www.google.com</a:t>
            </a:r>
            <a:r>
              <a:rPr lang="en"/>
              <a:t>!</a:t>
            </a:r>
            <a:endParaRPr/>
          </a:p>
        </p:txBody>
      </p:sp>
      <p:grpSp>
        <p:nvGrpSpPr>
          <p:cNvPr id="1462" name="Google Shape;1462;p94"/>
          <p:cNvGrpSpPr/>
          <p:nvPr/>
        </p:nvGrpSpPr>
        <p:grpSpPr>
          <a:xfrm>
            <a:off x="769875" y="1617199"/>
            <a:ext cx="410100" cy="572709"/>
            <a:chOff x="258935" y="2049228"/>
            <a:chExt cx="410100" cy="762900"/>
          </a:xfrm>
        </p:grpSpPr>
        <p:sp>
          <p:nvSpPr>
            <p:cNvPr id="1463" name="Google Shape;1463;p94"/>
            <p:cNvSpPr txBox="1"/>
            <p:nvPr/>
          </p:nvSpPr>
          <p:spPr>
            <a:xfrm>
              <a:off x="258935" y="2174852"/>
              <a:ext cx="410100" cy="39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9E9E9E"/>
                  </a:solidFill>
                  <a:latin typeface="Calibri"/>
                  <a:ea typeface="Calibri"/>
                  <a:cs typeface="Calibri"/>
                  <a:sym typeface="Calibri"/>
                </a:rPr>
                <a:t>1</a:t>
              </a:r>
              <a:endParaRPr>
                <a:solidFill>
                  <a:srgbClr val="9E9E9E"/>
                </a:solidFill>
                <a:latin typeface="Calibri"/>
                <a:ea typeface="Calibri"/>
                <a:cs typeface="Calibri"/>
                <a:sym typeface="Calibri"/>
              </a:endParaRPr>
            </a:p>
          </p:txBody>
        </p:sp>
        <p:cxnSp>
          <p:nvCxnSpPr>
            <p:cNvPr id="1464" name="Google Shape;1464;p94"/>
            <p:cNvCxnSpPr/>
            <p:nvPr/>
          </p:nvCxnSpPr>
          <p:spPr>
            <a:xfrm rot="10800000">
              <a:off x="530725" y="2049228"/>
              <a:ext cx="0" cy="762900"/>
            </a:xfrm>
            <a:prstGeom prst="straightConnector1">
              <a:avLst/>
            </a:prstGeom>
            <a:noFill/>
            <a:ln cap="flat" cmpd="sng" w="19050">
              <a:solidFill>
                <a:srgbClr val="9E9E9E"/>
              </a:solidFill>
              <a:prstDash val="solid"/>
              <a:round/>
              <a:headEnd len="med" w="med" type="triangle"/>
              <a:tailEnd len="med" w="med" type="none"/>
            </a:ln>
          </p:spPr>
        </p:cxnSp>
      </p:gr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8" name="Shape 1468"/>
        <p:cNvGrpSpPr/>
        <p:nvPr/>
      </p:nvGrpSpPr>
      <p:grpSpPr>
        <a:xfrm>
          <a:off x="0" y="0"/>
          <a:ext cx="0" cy="0"/>
          <a:chOff x="0" y="0"/>
          <a:chExt cx="0" cy="0"/>
        </a:xfrm>
      </p:grpSpPr>
      <p:sp>
        <p:nvSpPr>
          <p:cNvPr id="1469" name="Google Shape;1469;p9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Pre-</a:t>
            </a:r>
            <a:r>
              <a:rPr lang="en"/>
              <a:t>Kaminsky Attack: Response Possibilities</a:t>
            </a:r>
            <a:endParaRPr/>
          </a:p>
        </p:txBody>
      </p:sp>
      <p:sp>
        <p:nvSpPr>
          <p:cNvPr id="1470" name="Google Shape;1470;p9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1471" name="Google Shape;1471;p95"/>
          <p:cNvGraphicFramePr/>
          <p:nvPr/>
        </p:nvGraphicFramePr>
        <p:xfrm>
          <a:off x="512350" y="1312605"/>
          <a:ext cx="3000000" cy="3000000"/>
        </p:xfrm>
        <a:graphic>
          <a:graphicData uri="http://schemas.openxmlformats.org/drawingml/2006/table">
            <a:tbl>
              <a:tblPr>
                <a:noFill/>
                <a:tableStyleId>{8746E7DE-0C9E-4540-9031-B6CDA728326B}</a:tableStyleId>
              </a:tblPr>
              <a:tblGrid>
                <a:gridCol w="2706425"/>
                <a:gridCol w="2706425"/>
                <a:gridCol w="2706425"/>
              </a:tblGrid>
              <a:tr h="770675">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Attacker </a:t>
                      </a:r>
                      <a:r>
                        <a:rPr b="1" lang="en"/>
                        <a:t>correctly</a:t>
                      </a:r>
                      <a:r>
                        <a:rPr lang="en"/>
                        <a:t> guesses the ID number</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Attacker does </a:t>
                      </a:r>
                      <a:r>
                        <a:rPr b="1" lang="en"/>
                        <a:t>not</a:t>
                      </a:r>
                      <a:r>
                        <a:rPr lang="en"/>
                        <a:t> correctly guess the ID number</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040425">
                <a:tc>
                  <a:txBody>
                    <a:bodyPr/>
                    <a:lstStyle/>
                    <a:p>
                      <a:pPr indent="0" lvl="0" marL="0" rtl="0" algn="l">
                        <a:spcBef>
                          <a:spcPts val="0"/>
                        </a:spcBef>
                        <a:spcAft>
                          <a:spcPts val="0"/>
                        </a:spcAft>
                        <a:buNone/>
                      </a:pPr>
                      <a:r>
                        <a:rPr lang="en"/>
                        <a:t>Attacker </a:t>
                      </a:r>
                      <a:r>
                        <a:rPr b="1" lang="en"/>
                        <a:t>beats </a:t>
                      </a:r>
                      <a:r>
                        <a:rPr lang="en"/>
                        <a:t>the race condition against the legitimate NS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200"/>
                        <a:t>The recursive resolver caches a mapping from a legitimate domain name to the attacker’s IP address.</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 sz="1200">
                          <a:solidFill>
                            <a:schemeClr val="dk1"/>
                          </a:solidFill>
                        </a:rPr>
                        <a:t>Failure. The recursive resolver caches the actual responses and we have to wait until the record expires to try again.</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t/>
                      </a:r>
                      <a:endParaRPr sz="12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r>
              <a:tr h="1040425">
                <a:tc>
                  <a:txBody>
                    <a:bodyPr/>
                    <a:lstStyle/>
                    <a:p>
                      <a:pPr indent="0" lvl="0" marL="0" rtl="0" algn="l">
                        <a:spcBef>
                          <a:spcPts val="0"/>
                        </a:spcBef>
                        <a:spcAft>
                          <a:spcPts val="0"/>
                        </a:spcAft>
                        <a:buNone/>
                      </a:pPr>
                      <a:r>
                        <a:rPr lang="en"/>
                        <a:t>Attacker does </a:t>
                      </a:r>
                      <a:r>
                        <a:rPr b="1" lang="en"/>
                        <a:t>not</a:t>
                      </a:r>
                      <a:r>
                        <a:rPr lang="en"/>
                        <a:t> beat the race condition against the legitimate NS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200"/>
                        <a:t>Failure. </a:t>
                      </a:r>
                      <a:r>
                        <a:rPr lang="en" sz="1200"/>
                        <a:t>The recursive resolver caches the actual responses and we have to wait until the record expires to try again.</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c>
                  <a:txBody>
                    <a:bodyPr/>
                    <a:lstStyle/>
                    <a:p>
                      <a:pPr indent="0" lvl="0" marL="0" rtl="0" algn="l">
                        <a:spcBef>
                          <a:spcPts val="0"/>
                        </a:spcBef>
                        <a:spcAft>
                          <a:spcPts val="0"/>
                        </a:spcAft>
                        <a:buClr>
                          <a:schemeClr val="dk1"/>
                        </a:buClr>
                        <a:buSzPts val="1100"/>
                        <a:buFont typeface="Arial"/>
                        <a:buNone/>
                      </a:pPr>
                      <a:r>
                        <a:rPr lang="en" sz="1200">
                          <a:solidFill>
                            <a:schemeClr val="dk1"/>
                          </a:solidFill>
                        </a:rPr>
                        <a:t>Failure. The recursive resolver caches the actual responses and we have to wait until the record expires to try again.</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4CCCC"/>
                    </a:solidFill>
                  </a:tcPr>
                </a:tc>
              </a:tr>
            </a:tbl>
          </a:graphicData>
        </a:graphic>
      </p:graphicFrame>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5" name="Shape 1475"/>
        <p:cNvGrpSpPr/>
        <p:nvPr/>
      </p:nvGrpSpPr>
      <p:grpSpPr>
        <a:xfrm>
          <a:off x="0" y="0"/>
          <a:ext cx="0" cy="0"/>
          <a:chOff x="0" y="0"/>
          <a:chExt cx="0" cy="0"/>
        </a:xfrm>
      </p:grpSpPr>
      <p:sp>
        <p:nvSpPr>
          <p:cNvPr id="1476" name="Google Shape;1476;p9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Kaminsky Attack: Response Possibilities</a:t>
            </a:r>
            <a:endParaRPr/>
          </a:p>
        </p:txBody>
      </p:sp>
      <p:sp>
        <p:nvSpPr>
          <p:cNvPr id="1477" name="Google Shape;1477;p9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1478" name="Google Shape;1478;p96"/>
          <p:cNvGraphicFramePr/>
          <p:nvPr/>
        </p:nvGraphicFramePr>
        <p:xfrm>
          <a:off x="512350" y="1312605"/>
          <a:ext cx="3000000" cy="3000000"/>
        </p:xfrm>
        <a:graphic>
          <a:graphicData uri="http://schemas.openxmlformats.org/drawingml/2006/table">
            <a:tbl>
              <a:tblPr>
                <a:noFill/>
                <a:tableStyleId>{8746E7DE-0C9E-4540-9031-B6CDA728326B}</a:tableStyleId>
              </a:tblPr>
              <a:tblGrid>
                <a:gridCol w="2706425"/>
                <a:gridCol w="2706425"/>
                <a:gridCol w="2706425"/>
              </a:tblGrid>
              <a:tr h="770675">
                <a:tc>
                  <a:txBody>
                    <a:bodyPr/>
                    <a:lstStyle/>
                    <a:p>
                      <a:pPr indent="0" lvl="0" marL="0" rtl="0" algn="l">
                        <a:spcBef>
                          <a:spcPts val="0"/>
                        </a:spcBef>
                        <a:spcAft>
                          <a:spcPts val="0"/>
                        </a:spcAft>
                        <a:buNone/>
                      </a:pPr>
                      <a:r>
                        <a:t/>
                      </a:r>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Attacker </a:t>
                      </a:r>
                      <a:r>
                        <a:rPr b="1" lang="en"/>
                        <a:t>correctly</a:t>
                      </a:r>
                      <a:r>
                        <a:rPr lang="en"/>
                        <a:t> guesses the ID number</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a:t>Attacker does </a:t>
                      </a:r>
                      <a:r>
                        <a:rPr b="1" lang="en"/>
                        <a:t>not</a:t>
                      </a:r>
                      <a:r>
                        <a:rPr lang="en"/>
                        <a:t> correctly guess the ID number</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1040425">
                <a:tc>
                  <a:txBody>
                    <a:bodyPr/>
                    <a:lstStyle/>
                    <a:p>
                      <a:pPr indent="0" lvl="0" marL="0" rtl="0" algn="l">
                        <a:spcBef>
                          <a:spcPts val="0"/>
                        </a:spcBef>
                        <a:spcAft>
                          <a:spcPts val="0"/>
                        </a:spcAft>
                        <a:buNone/>
                      </a:pPr>
                      <a:r>
                        <a:rPr lang="en"/>
                        <a:t>Attacker </a:t>
                      </a:r>
                      <a:r>
                        <a:rPr b="1" lang="en"/>
                        <a:t>beats </a:t>
                      </a:r>
                      <a:r>
                        <a:rPr lang="en"/>
                        <a:t>the race condition against the legitimate NS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200"/>
                        <a:t>The r</a:t>
                      </a:r>
                      <a:r>
                        <a:rPr lang="en" sz="1200"/>
                        <a:t>ecursive resolver caches a mapping from legitimate domain names to the attacker’s desired IP addresses.</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D9EAD3"/>
                    </a:solidFill>
                  </a:tcPr>
                </a:tc>
                <a:tc>
                  <a:txBody>
                    <a:bodyPr/>
                    <a:lstStyle/>
                    <a:p>
                      <a:pPr indent="0" lvl="0" marL="0" rtl="0" algn="l">
                        <a:spcBef>
                          <a:spcPts val="0"/>
                        </a:spcBef>
                        <a:spcAft>
                          <a:spcPts val="0"/>
                        </a:spcAft>
                        <a:buNone/>
                      </a:pPr>
                      <a:r>
                        <a:rPr lang="en" sz="1200"/>
                        <a:t>The r</a:t>
                      </a:r>
                      <a:r>
                        <a:rPr lang="en" sz="1200"/>
                        <a:t>ecursive resolver ignores the response because the ID does not match the request</a:t>
                      </a:r>
                      <a:r>
                        <a:rPr lang="en" sz="1200"/>
                        <a:t> sent earlier</a:t>
                      </a:r>
                      <a:r>
                        <a:rPr lang="en" sz="1200"/>
                        <a:t>.</a:t>
                      </a:r>
                      <a:endParaRPr sz="1200">
                        <a:solidFill>
                          <a:schemeClr val="dk1"/>
                        </a:solidFill>
                      </a:endParaRPr>
                    </a:p>
                    <a:p>
                      <a:pPr indent="0" lvl="0" marL="0" rtl="0" algn="l">
                        <a:spcBef>
                          <a:spcPts val="0"/>
                        </a:spcBef>
                        <a:spcAft>
                          <a:spcPts val="0"/>
                        </a:spcAft>
                        <a:buNone/>
                      </a:pPr>
                      <a:r>
                        <a:rPr lang="en" sz="1200">
                          <a:solidFill>
                            <a:schemeClr val="dk1"/>
                          </a:solidFill>
                        </a:rPr>
                        <a:t>The recursive resolver caches something saying “This domain does not exist”.</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rPr>
                        <a:t>Try again with another fake domain!</a:t>
                      </a:r>
                      <a:endParaRPr sz="12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r h="1040425">
                <a:tc>
                  <a:txBody>
                    <a:bodyPr/>
                    <a:lstStyle/>
                    <a:p>
                      <a:pPr indent="0" lvl="0" marL="0" rtl="0" algn="l">
                        <a:spcBef>
                          <a:spcPts val="0"/>
                        </a:spcBef>
                        <a:spcAft>
                          <a:spcPts val="0"/>
                        </a:spcAft>
                        <a:buNone/>
                      </a:pPr>
                      <a:r>
                        <a:rPr lang="en"/>
                        <a:t>Attacker does </a:t>
                      </a:r>
                      <a:r>
                        <a:rPr b="1" lang="en"/>
                        <a:t>not</a:t>
                      </a:r>
                      <a:r>
                        <a:rPr lang="en"/>
                        <a:t> beat the race condition against the legitimate NS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rtl="0" algn="l">
                        <a:spcBef>
                          <a:spcPts val="0"/>
                        </a:spcBef>
                        <a:spcAft>
                          <a:spcPts val="0"/>
                        </a:spcAft>
                        <a:buNone/>
                      </a:pPr>
                      <a:r>
                        <a:rPr lang="en" sz="1200"/>
                        <a:t>The recursive resolver caches something saying “This domain does not exist”.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Try again with another fake domain!</a:t>
                      </a:r>
                      <a:endParaRPr sz="1200"/>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rPr lang="en" sz="1200">
                          <a:solidFill>
                            <a:schemeClr val="dk1"/>
                          </a:solidFill>
                        </a:rPr>
                        <a:t>The recursive resolver caches something saying “This domain does not exist”.</a:t>
                      </a:r>
                      <a:endParaRPr sz="12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lang="en" sz="1200">
                          <a:solidFill>
                            <a:schemeClr val="dk1"/>
                          </a:solidFill>
                        </a:rPr>
                        <a:t>Try again with another fake domain!</a:t>
                      </a:r>
                      <a:endParaRPr sz="1200">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FFF2CC"/>
                    </a:solidFill>
                  </a:tcPr>
                </a:tc>
              </a:tr>
            </a:tbl>
          </a:graphicData>
        </a:graphic>
      </p:graphicFrame>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2" name="Shape 1482"/>
        <p:cNvGrpSpPr/>
        <p:nvPr/>
      </p:nvGrpSpPr>
      <p:grpSpPr>
        <a:xfrm>
          <a:off x="0" y="0"/>
          <a:ext cx="0" cy="0"/>
          <a:chOff x="0" y="0"/>
          <a:chExt cx="0" cy="0"/>
        </a:xfrm>
      </p:grpSpPr>
      <p:sp>
        <p:nvSpPr>
          <p:cNvPr id="1483" name="Google Shape;1483;p9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Defense: </a:t>
            </a:r>
            <a:r>
              <a:rPr lang="en"/>
              <a:t>Source Port Randomization</a:t>
            </a:r>
            <a:endParaRPr/>
          </a:p>
        </p:txBody>
      </p:sp>
      <p:sp>
        <p:nvSpPr>
          <p:cNvPr id="1484" name="Google Shape;1484;p97"/>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Randomize the source port of the DNS query</a:t>
            </a:r>
            <a:endParaRPr/>
          </a:p>
          <a:p>
            <a:pPr indent="-317500" lvl="1" marL="914400" rtl="0" algn="l">
              <a:spcBef>
                <a:spcPts val="0"/>
              </a:spcBef>
              <a:spcAft>
                <a:spcPts val="0"/>
              </a:spcAft>
              <a:buSzPts val="1400"/>
              <a:buChar char="○"/>
            </a:pPr>
            <a:r>
              <a:rPr lang="en"/>
              <a:t>The attacker must guess the destination port of the response in addition to the query ID</a:t>
            </a:r>
            <a:endParaRPr/>
          </a:p>
          <a:p>
            <a:pPr indent="-317500" lvl="1" marL="914400" rtl="0" algn="l">
              <a:spcBef>
                <a:spcPts val="0"/>
              </a:spcBef>
              <a:spcAft>
                <a:spcPts val="0"/>
              </a:spcAft>
              <a:buSzPts val="1400"/>
              <a:buChar char="○"/>
            </a:pPr>
            <a:r>
              <a:rPr lang="en"/>
              <a:t>This adds 16 bits to guess, to total 2</a:t>
            </a:r>
            <a:r>
              <a:rPr baseline="30000" lang="en"/>
              <a:t>32</a:t>
            </a:r>
            <a:r>
              <a:rPr lang="en"/>
              <a:t> possibilities</a:t>
            </a:r>
            <a:endParaRPr/>
          </a:p>
          <a:p>
            <a:pPr indent="-342900" lvl="0" marL="457200" rtl="0" algn="l">
              <a:spcBef>
                <a:spcPts val="0"/>
              </a:spcBef>
              <a:spcAft>
                <a:spcPts val="0"/>
              </a:spcAft>
              <a:buSzPts val="1800"/>
              <a:buChar char="●"/>
            </a:pPr>
            <a:r>
              <a:rPr lang="en"/>
              <a:t>Other ways to increase entropy:</a:t>
            </a:r>
            <a:endParaRPr/>
          </a:p>
          <a:p>
            <a:pPr indent="-317500" lvl="1" marL="914400" rtl="0" algn="l">
              <a:spcBef>
                <a:spcPts val="0"/>
              </a:spcBef>
              <a:spcAft>
                <a:spcPts val="0"/>
              </a:spcAft>
              <a:buSzPts val="1400"/>
              <a:buChar char="○"/>
            </a:pPr>
            <a:r>
              <a:rPr lang="en"/>
              <a:t>Randomly capitalize the domain, since the question is copied in the response</a:t>
            </a:r>
            <a:endParaRPr/>
          </a:p>
        </p:txBody>
      </p:sp>
      <p:sp>
        <p:nvSpPr>
          <p:cNvPr id="1485" name="Google Shape;1485;p9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486" name="Google Shape;1486;p9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graphicFrame>
        <p:nvGraphicFramePr>
          <p:cNvPr id="1487" name="Google Shape;1487;p97"/>
          <p:cNvGraphicFramePr/>
          <p:nvPr/>
        </p:nvGraphicFramePr>
        <p:xfrm>
          <a:off x="5417350" y="1377075"/>
          <a:ext cx="3000000" cy="3000000"/>
        </p:xfrm>
        <a:graphic>
          <a:graphicData uri="http://schemas.openxmlformats.org/drawingml/2006/table">
            <a:tbl>
              <a:tblPr>
                <a:noFill/>
                <a:tableStyleId>{8746E7DE-0C9E-4540-9031-B6CDA728326B}</a:tableStyleId>
              </a:tblPr>
              <a:tblGrid>
                <a:gridCol w="1451350"/>
                <a:gridCol w="1451350"/>
              </a:tblGrid>
              <a:tr h="396200">
                <a:tc>
                  <a:txBody>
                    <a:bodyPr/>
                    <a:lstStyle/>
                    <a:p>
                      <a:pPr indent="0" lvl="0" marL="0" rtl="0" algn="ctr">
                        <a:spcBef>
                          <a:spcPts val="0"/>
                        </a:spcBef>
                        <a:spcAft>
                          <a:spcPts val="0"/>
                        </a:spcAft>
                        <a:buNone/>
                      </a:pPr>
                      <a:r>
                        <a:rPr b="1" lang="en">
                          <a:solidFill>
                            <a:schemeClr val="dk1"/>
                          </a:solidFill>
                        </a:rPr>
                        <a:t>Source Port</a:t>
                      </a:r>
                      <a:endParaRPr b="1">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Destination Port</a:t>
                      </a:r>
                      <a:endParaRPr>
                        <a:solidFill>
                          <a:schemeClr val="dk1"/>
                        </a:solidFill>
                      </a:endParaRPr>
                    </a:p>
                  </a:txBody>
                  <a:tcPr marT="91425" marB="91425" marR="91425" marL="91425"/>
                </a:tc>
              </a:tr>
              <a:tr h="396200">
                <a:tc>
                  <a:txBody>
                    <a:bodyPr/>
                    <a:lstStyle/>
                    <a:p>
                      <a:pPr indent="0" lvl="0" marL="0" rtl="0" algn="ctr">
                        <a:spcBef>
                          <a:spcPts val="0"/>
                        </a:spcBef>
                        <a:spcAft>
                          <a:spcPts val="0"/>
                        </a:spcAft>
                        <a:buNone/>
                      </a:pPr>
                      <a:r>
                        <a:rPr lang="en">
                          <a:solidFill>
                            <a:schemeClr val="dk1"/>
                          </a:solidFill>
                        </a:rPr>
                        <a:t>Checksum</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Length</a:t>
                      </a:r>
                      <a:endParaRPr>
                        <a:solidFill>
                          <a:schemeClr val="dk1"/>
                        </a:solidFill>
                      </a:endParaRPr>
                    </a:p>
                  </a:txBody>
                  <a:tcPr marT="91425" marB="91425" marR="91425" marL="91425"/>
                </a:tc>
              </a:tr>
              <a:tr h="396200">
                <a:tc>
                  <a:txBody>
                    <a:bodyPr/>
                    <a:lstStyle/>
                    <a:p>
                      <a:pPr indent="0" lvl="0" marL="0" rtl="0" algn="ctr">
                        <a:spcBef>
                          <a:spcPts val="0"/>
                        </a:spcBef>
                        <a:spcAft>
                          <a:spcPts val="0"/>
                        </a:spcAft>
                        <a:buNone/>
                      </a:pPr>
                      <a:r>
                        <a:rPr lang="en">
                          <a:solidFill>
                            <a:schemeClr val="dk1"/>
                          </a:solidFill>
                        </a:rPr>
                        <a:t>ID number</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Flags</a:t>
                      </a:r>
                      <a:endParaRPr>
                        <a:solidFill>
                          <a:schemeClr val="dk1"/>
                        </a:solidFill>
                      </a:endParaRPr>
                    </a:p>
                  </a:txBody>
                  <a:tcPr marT="91425" marB="91425" marR="91425" marL="91425"/>
                </a:tc>
              </a:tr>
              <a:tr h="396200">
                <a:tc>
                  <a:txBody>
                    <a:bodyPr/>
                    <a:lstStyle/>
                    <a:p>
                      <a:pPr indent="0" lvl="0" marL="0" rtl="0" algn="ctr">
                        <a:spcBef>
                          <a:spcPts val="0"/>
                        </a:spcBef>
                        <a:spcAft>
                          <a:spcPts val="0"/>
                        </a:spcAft>
                        <a:buNone/>
                      </a:pPr>
                      <a:r>
                        <a:rPr lang="en">
                          <a:solidFill>
                            <a:schemeClr val="dk1"/>
                          </a:solidFill>
                        </a:rPr>
                        <a:t>Question count</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Answer count</a:t>
                      </a:r>
                      <a:endParaRPr>
                        <a:solidFill>
                          <a:schemeClr val="dk1"/>
                        </a:solidFill>
                      </a:endParaRPr>
                    </a:p>
                  </a:txBody>
                  <a:tcPr marT="91425" marB="91425" marR="91425" marL="91425"/>
                </a:tc>
              </a:tr>
              <a:tr h="396200">
                <a:tc>
                  <a:txBody>
                    <a:bodyPr/>
                    <a:lstStyle/>
                    <a:p>
                      <a:pPr indent="0" lvl="0" marL="0" rtl="0" algn="ctr">
                        <a:spcBef>
                          <a:spcPts val="0"/>
                        </a:spcBef>
                        <a:spcAft>
                          <a:spcPts val="0"/>
                        </a:spcAft>
                        <a:buNone/>
                      </a:pPr>
                      <a:r>
                        <a:rPr lang="en">
                          <a:solidFill>
                            <a:schemeClr val="dk1"/>
                          </a:solidFill>
                        </a:rPr>
                        <a:t>Authority count</a:t>
                      </a:r>
                      <a:endParaRPr>
                        <a:solidFill>
                          <a:schemeClr val="dk1"/>
                        </a:solidFill>
                      </a:endParaRPr>
                    </a:p>
                  </a:txBody>
                  <a:tcPr marT="91425" marB="91425" marR="91425" marL="91425"/>
                </a:tc>
                <a:tc>
                  <a:txBody>
                    <a:bodyPr/>
                    <a:lstStyle/>
                    <a:p>
                      <a:pPr indent="0" lvl="0" marL="0" rtl="0" algn="ctr">
                        <a:spcBef>
                          <a:spcPts val="0"/>
                        </a:spcBef>
                        <a:spcAft>
                          <a:spcPts val="0"/>
                        </a:spcAft>
                        <a:buNone/>
                      </a:pPr>
                      <a:r>
                        <a:rPr lang="en">
                          <a:solidFill>
                            <a:schemeClr val="dk1"/>
                          </a:solidFill>
                        </a:rPr>
                        <a:t>Additional count</a:t>
                      </a:r>
                      <a:endParaRPr>
                        <a:solidFill>
                          <a:schemeClr val="dk1"/>
                        </a:solidFill>
                      </a:endParaRPr>
                    </a:p>
                  </a:txBody>
                  <a:tcPr marT="91425" marB="91425" marR="91425" marL="91425"/>
                </a:tc>
              </a:tr>
              <a:tr h="396200">
                <a:tc gridSpan="2">
                  <a:txBody>
                    <a:bodyPr/>
                    <a:lstStyle/>
                    <a:p>
                      <a:pPr indent="0" lvl="0" marL="0" rtl="0" algn="ctr">
                        <a:spcBef>
                          <a:spcPts val="0"/>
                        </a:spcBef>
                        <a:spcAft>
                          <a:spcPts val="0"/>
                        </a:spcAft>
                        <a:buNone/>
                      </a:pPr>
                      <a:r>
                        <a:rPr lang="en">
                          <a:solidFill>
                            <a:schemeClr val="dk1"/>
                          </a:solidFill>
                        </a:rPr>
                        <a:t>Question Records</a:t>
                      </a:r>
                      <a:endParaRPr>
                        <a:solidFill>
                          <a:schemeClr val="dk1"/>
                        </a:solidFill>
                      </a:endParaRPr>
                    </a:p>
                  </a:txBody>
                  <a:tcPr marT="91425" marB="91425" marR="91425" marL="91425"/>
                </a:tc>
                <a:tc hMerge="1"/>
              </a:tr>
              <a:tr h="396200">
                <a:tc gridSpan="2">
                  <a:txBody>
                    <a:bodyPr/>
                    <a:lstStyle/>
                    <a:p>
                      <a:pPr indent="0" lvl="0" marL="0" rtl="0" algn="ctr">
                        <a:spcBef>
                          <a:spcPts val="0"/>
                        </a:spcBef>
                        <a:spcAft>
                          <a:spcPts val="0"/>
                        </a:spcAft>
                        <a:buNone/>
                      </a:pPr>
                      <a:r>
                        <a:rPr lang="en">
                          <a:solidFill>
                            <a:schemeClr val="dk1"/>
                          </a:solidFill>
                        </a:rPr>
                        <a:t>Answer Records</a:t>
                      </a:r>
                      <a:endParaRPr>
                        <a:solidFill>
                          <a:schemeClr val="dk1"/>
                        </a:solidFill>
                      </a:endParaRPr>
                    </a:p>
                  </a:txBody>
                  <a:tcPr marT="91425" marB="91425" marR="91425" marL="91425"/>
                </a:tc>
                <a:tc hMerge="1"/>
              </a:tr>
              <a:tr h="396200">
                <a:tc gridSpan="2">
                  <a:txBody>
                    <a:bodyPr/>
                    <a:lstStyle/>
                    <a:p>
                      <a:pPr indent="0" lvl="0" marL="0" rtl="0" algn="ctr">
                        <a:spcBef>
                          <a:spcPts val="0"/>
                        </a:spcBef>
                        <a:spcAft>
                          <a:spcPts val="0"/>
                        </a:spcAft>
                        <a:buNone/>
                      </a:pPr>
                      <a:r>
                        <a:rPr lang="en">
                          <a:solidFill>
                            <a:schemeClr val="dk1"/>
                          </a:solidFill>
                        </a:rPr>
                        <a:t>Authority Records</a:t>
                      </a:r>
                      <a:endParaRPr>
                        <a:solidFill>
                          <a:schemeClr val="dk1"/>
                        </a:solidFill>
                      </a:endParaRPr>
                    </a:p>
                  </a:txBody>
                  <a:tcPr marT="91425" marB="91425" marR="91425" marL="91425"/>
                </a:tc>
                <a:tc hMerge="1"/>
              </a:tr>
              <a:tr h="396200">
                <a:tc gridSpan="2">
                  <a:txBody>
                    <a:bodyPr/>
                    <a:lstStyle/>
                    <a:p>
                      <a:pPr indent="0" lvl="0" marL="0" rtl="0" algn="ctr">
                        <a:spcBef>
                          <a:spcPts val="0"/>
                        </a:spcBef>
                        <a:spcAft>
                          <a:spcPts val="0"/>
                        </a:spcAft>
                        <a:buNone/>
                      </a:pPr>
                      <a:r>
                        <a:rPr lang="en">
                          <a:solidFill>
                            <a:schemeClr val="dk1"/>
                          </a:solidFill>
                        </a:rPr>
                        <a:t>Additional Records</a:t>
                      </a:r>
                      <a:endParaRPr>
                        <a:solidFill>
                          <a:schemeClr val="dk1"/>
                        </a:solidFill>
                      </a:endParaRPr>
                    </a:p>
                  </a:txBody>
                  <a:tcPr marT="91425" marB="91425" marR="91425" marL="91425"/>
                </a:tc>
                <a:tc hMerge="1"/>
              </a:tr>
            </a:tbl>
          </a:graphicData>
        </a:graphic>
      </p:graphicFrame>
      <p:sp>
        <p:nvSpPr>
          <p:cNvPr id="1488" name="Google Shape;1488;p97"/>
          <p:cNvSpPr txBox="1"/>
          <p:nvPr/>
        </p:nvSpPr>
        <p:spPr>
          <a:xfrm rot="5400000">
            <a:off x="7731600" y="3957800"/>
            <a:ext cx="1577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DNS Payload</a:t>
            </a:r>
            <a:endParaRPr/>
          </a:p>
        </p:txBody>
      </p:sp>
      <p:sp>
        <p:nvSpPr>
          <p:cNvPr id="1489" name="Google Shape;1489;p97"/>
          <p:cNvSpPr txBox="1"/>
          <p:nvPr/>
        </p:nvSpPr>
        <p:spPr>
          <a:xfrm rot="5400000">
            <a:off x="8230950" y="1466175"/>
            <a:ext cx="7938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UDP Header</a:t>
            </a:r>
            <a:endParaRPr/>
          </a:p>
        </p:txBody>
      </p:sp>
      <p:sp>
        <p:nvSpPr>
          <p:cNvPr id="1490" name="Google Shape;1490;p97"/>
          <p:cNvSpPr txBox="1"/>
          <p:nvPr/>
        </p:nvSpPr>
        <p:spPr>
          <a:xfrm rot="5400000">
            <a:off x="7920900" y="2553300"/>
            <a:ext cx="11985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DNS Header</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4" name="Shape 1494"/>
        <p:cNvGrpSpPr/>
        <p:nvPr/>
      </p:nvGrpSpPr>
      <p:grpSpPr>
        <a:xfrm>
          <a:off x="0" y="0"/>
          <a:ext cx="0" cy="0"/>
          <a:chOff x="0" y="0"/>
          <a:chExt cx="0" cy="0"/>
        </a:xfrm>
      </p:grpSpPr>
      <p:sp>
        <p:nvSpPr>
          <p:cNvPr id="1495" name="Google Shape;1495;p9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Defense: Glue Validation</a:t>
            </a:r>
            <a:endParaRPr/>
          </a:p>
        </p:txBody>
      </p:sp>
      <p:sp>
        <p:nvSpPr>
          <p:cNvPr id="1496" name="Google Shape;1496;p98"/>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Don’t cache glue records as part of DNS lookups</a:t>
            </a:r>
            <a:endParaRPr/>
          </a:p>
          <a:p>
            <a:pPr indent="-317500" lvl="1" marL="914400" rtl="0" algn="l">
              <a:spcBef>
                <a:spcPts val="0"/>
              </a:spcBef>
              <a:spcAft>
                <a:spcPts val="0"/>
              </a:spcAft>
              <a:buSzPts val="1400"/>
              <a:buChar char="○"/>
            </a:pPr>
            <a:r>
              <a:rPr lang="en"/>
              <a:t>They are necessary, since NS records are given in terms of domain names, not IP addresses</a:t>
            </a:r>
            <a:endParaRPr/>
          </a:p>
          <a:p>
            <a:pPr indent="-317500" lvl="1" marL="914400" rtl="0" algn="l">
              <a:spcBef>
                <a:spcPts val="0"/>
              </a:spcBef>
              <a:spcAft>
                <a:spcPts val="0"/>
              </a:spcAft>
              <a:buSzPts val="1400"/>
              <a:buChar char="○"/>
            </a:pPr>
            <a:r>
              <a:rPr lang="en"/>
              <a:t>If you want to cache, you can perform a separate recursive DNS lookup to validate the glue record authoritatively</a:t>
            </a:r>
            <a:endParaRPr/>
          </a:p>
          <a:p>
            <a:pPr indent="-342900" lvl="0" marL="457200" rtl="0" algn="l">
              <a:spcBef>
                <a:spcPts val="0"/>
              </a:spcBef>
              <a:spcAft>
                <a:spcPts val="0"/>
              </a:spcAft>
              <a:buSzPts val="1800"/>
              <a:buChar char="●"/>
            </a:pPr>
            <a:r>
              <a:rPr lang="en"/>
              <a:t>Issue: This was not implemented by all DNS software</a:t>
            </a:r>
            <a:endParaRPr/>
          </a:p>
          <a:p>
            <a:pPr indent="-317500" lvl="1" marL="914400" rtl="0" algn="l">
              <a:spcBef>
                <a:spcPts val="0"/>
              </a:spcBef>
              <a:spcAft>
                <a:spcPts val="0"/>
              </a:spcAft>
              <a:buSzPts val="1400"/>
              <a:buChar char="○"/>
            </a:pPr>
            <a:r>
              <a:rPr lang="en"/>
              <a:t>Unbound, a major DNS implementation, implemented validation</a:t>
            </a:r>
            <a:endParaRPr/>
          </a:p>
          <a:p>
            <a:pPr indent="-317500" lvl="1" marL="914400" rtl="0" algn="l">
              <a:spcBef>
                <a:spcPts val="0"/>
              </a:spcBef>
              <a:spcAft>
                <a:spcPts val="0"/>
              </a:spcAft>
              <a:buSzPts val="1400"/>
              <a:buChar char="○"/>
            </a:pPr>
            <a:r>
              <a:rPr lang="en"/>
              <a:t>BIND, the oldest and most common implementation, did not</a:t>
            </a:r>
            <a:endParaRPr/>
          </a:p>
          <a:p>
            <a:pPr indent="-317500" lvl="2" marL="1371600" rtl="0" algn="l">
              <a:spcBef>
                <a:spcPts val="0"/>
              </a:spcBef>
              <a:spcAft>
                <a:spcPts val="0"/>
              </a:spcAft>
              <a:buSzPts val="1400"/>
              <a:buChar char="■"/>
            </a:pPr>
            <a:r>
              <a:rPr lang="en"/>
              <a:t>Mainly for political reasons: They supported DNSSEC, which uses cryptography to validate DNS records (we’ll look at this next time)</a:t>
            </a:r>
            <a:endParaRPr/>
          </a:p>
        </p:txBody>
      </p:sp>
      <p:sp>
        <p:nvSpPr>
          <p:cNvPr id="1497" name="Google Shape;1497;p9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1" name="Shape 1501"/>
        <p:cNvGrpSpPr/>
        <p:nvPr/>
      </p:nvGrpSpPr>
      <p:grpSpPr>
        <a:xfrm>
          <a:off x="0" y="0"/>
          <a:ext cx="0" cy="0"/>
          <a:chOff x="0" y="0"/>
          <a:chExt cx="0" cy="0"/>
        </a:xfrm>
      </p:grpSpPr>
      <p:sp>
        <p:nvSpPr>
          <p:cNvPr id="1502" name="Google Shape;1502;p9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Profiting from DNS Attacks</a:t>
            </a:r>
            <a:endParaRPr/>
          </a:p>
        </p:txBody>
      </p:sp>
      <p:sp>
        <p:nvSpPr>
          <p:cNvPr id="1503" name="Google Shape;1503;p99"/>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Suppose you take over a lot of home routers… How do you make money from your attack?</a:t>
            </a:r>
            <a:endParaRPr/>
          </a:p>
          <a:p>
            <a:pPr indent="-342900" lvl="0" marL="457200" rtl="0" algn="l">
              <a:spcBef>
                <a:spcPts val="0"/>
              </a:spcBef>
              <a:spcAft>
                <a:spcPts val="0"/>
              </a:spcAft>
              <a:buSzPts val="1800"/>
              <a:buChar char="●"/>
            </a:pPr>
            <a:r>
              <a:rPr lang="en"/>
              <a:t>Change the DNS server settings</a:t>
            </a:r>
            <a:endParaRPr/>
          </a:p>
          <a:p>
            <a:pPr indent="-317500" lvl="1" marL="914400" rtl="0" algn="l">
              <a:spcBef>
                <a:spcPts val="0"/>
              </a:spcBef>
              <a:spcAft>
                <a:spcPts val="0"/>
              </a:spcAft>
              <a:buSzPts val="1400"/>
              <a:buChar char="○"/>
            </a:pPr>
            <a:r>
              <a:rPr lang="en"/>
              <a:t>Each router is programmed with the IP address of the recursive resolver</a:t>
            </a:r>
            <a:endParaRPr/>
          </a:p>
          <a:p>
            <a:pPr indent="-317500" lvl="1" marL="914400" rtl="0" algn="l">
              <a:spcBef>
                <a:spcPts val="0"/>
              </a:spcBef>
              <a:spcAft>
                <a:spcPts val="0"/>
              </a:spcAft>
              <a:buSzPts val="1400"/>
              <a:buChar char="○"/>
            </a:pPr>
            <a:r>
              <a:rPr lang="en"/>
              <a:t>Replace the IP address of the recursive resolver with the attacker’s IP address</a:t>
            </a:r>
            <a:endParaRPr/>
          </a:p>
          <a:p>
            <a:pPr indent="-317500" lvl="1" marL="914400" rtl="0" algn="l">
              <a:spcBef>
                <a:spcPts val="0"/>
              </a:spcBef>
              <a:spcAft>
                <a:spcPts val="0"/>
              </a:spcAft>
              <a:buSzPts val="1400"/>
              <a:buChar char="○"/>
            </a:pPr>
            <a:r>
              <a:rPr lang="en"/>
              <a:t>Cache poisoning attacks are now possible!</a:t>
            </a:r>
            <a:endParaRPr/>
          </a:p>
          <a:p>
            <a:pPr indent="-342900" lvl="0" marL="457200" rtl="0" algn="l">
              <a:spcBef>
                <a:spcPts val="0"/>
              </a:spcBef>
              <a:spcAft>
                <a:spcPts val="0"/>
              </a:spcAft>
              <a:buSzPts val="1800"/>
              <a:buChar char="●"/>
            </a:pPr>
            <a:r>
              <a:rPr lang="en"/>
              <a:t>Redirect all DNS requests for ads to an attacker-controlled domain and serve attacker-chosen ads to the victim</a:t>
            </a:r>
            <a:endParaRPr/>
          </a:p>
          <a:p>
            <a:pPr indent="-317500" lvl="1" marL="914400" rtl="0" algn="l">
              <a:spcBef>
                <a:spcPts val="0"/>
              </a:spcBef>
              <a:spcAft>
                <a:spcPts val="0"/>
              </a:spcAft>
              <a:buSzPts val="1400"/>
              <a:buChar char="○"/>
            </a:pPr>
            <a:r>
              <a:rPr lang="en"/>
              <a:t>The attacker can now sell this advertising space!</a:t>
            </a:r>
            <a:endParaRPr/>
          </a:p>
          <a:p>
            <a:pPr indent="-342900" lvl="0" marL="457200" rtl="0" algn="l">
              <a:spcBef>
                <a:spcPts val="0"/>
              </a:spcBef>
              <a:spcAft>
                <a:spcPts val="0"/>
              </a:spcAft>
              <a:buSzPts val="1800"/>
              <a:buChar char="●"/>
            </a:pPr>
            <a:r>
              <a:rPr lang="en"/>
              <a:t>TLS can defend against this, as it provides end-to-end security</a:t>
            </a:r>
            <a:endParaRPr/>
          </a:p>
        </p:txBody>
      </p:sp>
      <p:sp>
        <p:nvSpPr>
          <p:cNvPr id="1504" name="Google Shape;1504;p9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03">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8" name="Shape 1508"/>
        <p:cNvGrpSpPr/>
        <p:nvPr/>
      </p:nvGrpSpPr>
      <p:grpSpPr>
        <a:xfrm>
          <a:off x="0" y="0"/>
          <a:ext cx="0" cy="0"/>
          <a:chOff x="0" y="0"/>
          <a:chExt cx="0" cy="0"/>
        </a:xfrm>
      </p:grpSpPr>
      <p:sp>
        <p:nvSpPr>
          <p:cNvPr id="1509" name="Google Shape;1509;p10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 Summary</a:t>
            </a:r>
            <a:endParaRPr/>
          </a:p>
        </p:txBody>
      </p:sp>
      <p:sp>
        <p:nvSpPr>
          <p:cNvPr id="1510" name="Google Shape;1510;p100"/>
          <p:cNvSpPr txBox="1"/>
          <p:nvPr>
            <p:ph idx="1" type="body"/>
          </p:nvPr>
        </p:nvSpPr>
        <p:spPr>
          <a:xfrm>
            <a:off x="198500" y="1246825"/>
            <a:ext cx="8520600" cy="2028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DNS (Domain Name System): An Internet protocol for translating human-readable domain names to IP addresses</a:t>
            </a:r>
            <a:endParaRPr/>
          </a:p>
          <a:p>
            <a:pPr indent="-317500" lvl="1" marL="914400" rtl="0" algn="l">
              <a:spcBef>
                <a:spcPts val="0"/>
              </a:spcBef>
              <a:spcAft>
                <a:spcPts val="0"/>
              </a:spcAft>
              <a:buSzPts val="1400"/>
              <a:buChar char="○"/>
            </a:pPr>
            <a:r>
              <a:rPr lang="en"/>
              <a:t>DNS name servers on the Internet provide answers to DNS queries</a:t>
            </a:r>
            <a:endParaRPr/>
          </a:p>
          <a:p>
            <a:pPr indent="-317500" lvl="1" marL="914400" rtl="0" algn="l">
              <a:spcBef>
                <a:spcPts val="0"/>
              </a:spcBef>
              <a:spcAft>
                <a:spcPts val="0"/>
              </a:spcAft>
              <a:buSzPts val="1400"/>
              <a:buChar char="○"/>
            </a:pPr>
            <a:r>
              <a:rPr lang="en"/>
              <a:t>Name servers are arranged in a domain hierarchy tree</a:t>
            </a:r>
            <a:endParaRPr/>
          </a:p>
          <a:p>
            <a:pPr indent="-317500" lvl="1" marL="914400" rtl="0" algn="l">
              <a:spcBef>
                <a:spcPts val="0"/>
              </a:spcBef>
              <a:spcAft>
                <a:spcPts val="0"/>
              </a:spcAft>
              <a:buSzPts val="1400"/>
              <a:buChar char="○"/>
            </a:pPr>
            <a:r>
              <a:rPr lang="en"/>
              <a:t>Lookups proceed down the domain tree: name servers will direct you down the tree until you receive an answer</a:t>
            </a:r>
            <a:endParaRPr/>
          </a:p>
          <a:p>
            <a:pPr indent="-317500" lvl="1" marL="914400" rtl="0" algn="l">
              <a:spcBef>
                <a:spcPts val="0"/>
              </a:spcBef>
              <a:spcAft>
                <a:spcPts val="0"/>
              </a:spcAft>
              <a:buSzPts val="1400"/>
              <a:buChar char="○"/>
            </a:pPr>
            <a:r>
              <a:rPr lang="en"/>
              <a:t>The stub resolver tells the recursive resolver to perform the lookup</a:t>
            </a:r>
            <a:endParaRPr/>
          </a:p>
        </p:txBody>
      </p:sp>
      <p:sp>
        <p:nvSpPr>
          <p:cNvPr id="1511" name="Google Shape;1511;p10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512" name="Google Shape;1512;p100"/>
          <p:cNvSpPr txBox="1"/>
          <p:nvPr/>
        </p:nvSpPr>
        <p:spPr>
          <a:xfrm>
            <a:off x="3922400" y="3275425"/>
            <a:ext cx="1238100" cy="3936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 (root)</a:t>
            </a:r>
            <a:endParaRPr>
              <a:latin typeface="Courier New"/>
              <a:ea typeface="Courier New"/>
              <a:cs typeface="Courier New"/>
              <a:sym typeface="Courier New"/>
            </a:endParaRPr>
          </a:p>
        </p:txBody>
      </p:sp>
      <p:sp>
        <p:nvSpPr>
          <p:cNvPr id="1513" name="Google Shape;1513;p100"/>
          <p:cNvSpPr txBox="1"/>
          <p:nvPr/>
        </p:nvSpPr>
        <p:spPr>
          <a:xfrm>
            <a:off x="2576875" y="3922852"/>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.edu</a:t>
            </a:r>
            <a:endParaRPr>
              <a:latin typeface="Calibri"/>
              <a:ea typeface="Calibri"/>
              <a:cs typeface="Calibri"/>
              <a:sym typeface="Calibri"/>
            </a:endParaRPr>
          </a:p>
        </p:txBody>
      </p:sp>
      <p:sp>
        <p:nvSpPr>
          <p:cNvPr id="1514" name="Google Shape;1514;p100"/>
          <p:cNvSpPr txBox="1"/>
          <p:nvPr/>
        </p:nvSpPr>
        <p:spPr>
          <a:xfrm>
            <a:off x="4207250" y="3922852"/>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.org</a:t>
            </a:r>
            <a:endParaRPr>
              <a:latin typeface="Calibri"/>
              <a:ea typeface="Calibri"/>
              <a:cs typeface="Calibri"/>
              <a:sym typeface="Calibri"/>
            </a:endParaRPr>
          </a:p>
        </p:txBody>
      </p:sp>
      <p:sp>
        <p:nvSpPr>
          <p:cNvPr id="1515" name="Google Shape;1515;p100"/>
          <p:cNvSpPr txBox="1"/>
          <p:nvPr/>
        </p:nvSpPr>
        <p:spPr>
          <a:xfrm>
            <a:off x="5837625" y="3922852"/>
            <a:ext cx="668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urier New"/>
                <a:ea typeface="Courier New"/>
                <a:cs typeface="Courier New"/>
                <a:sym typeface="Courier New"/>
              </a:rPr>
              <a:t>.com</a:t>
            </a:r>
            <a:endParaRPr>
              <a:latin typeface="Calibri"/>
              <a:ea typeface="Calibri"/>
              <a:cs typeface="Calibri"/>
              <a:sym typeface="Calibri"/>
            </a:endParaRPr>
          </a:p>
        </p:txBody>
      </p:sp>
      <p:sp>
        <p:nvSpPr>
          <p:cNvPr id="1516" name="Google Shape;1516;p100"/>
          <p:cNvSpPr txBox="1"/>
          <p:nvPr/>
        </p:nvSpPr>
        <p:spPr>
          <a:xfrm>
            <a:off x="6506025" y="4570275"/>
            <a:ext cx="11577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google.com</a:t>
            </a:r>
            <a:endParaRPr sz="1200">
              <a:latin typeface="Calibri"/>
              <a:ea typeface="Calibri"/>
              <a:cs typeface="Calibri"/>
              <a:sym typeface="Calibri"/>
            </a:endParaRPr>
          </a:p>
        </p:txBody>
      </p:sp>
      <p:sp>
        <p:nvSpPr>
          <p:cNvPr id="1517" name="Google Shape;1517;p100"/>
          <p:cNvSpPr txBox="1"/>
          <p:nvPr/>
        </p:nvSpPr>
        <p:spPr>
          <a:xfrm>
            <a:off x="5208400" y="4570275"/>
            <a:ext cx="11577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piazza.com</a:t>
            </a:r>
            <a:endParaRPr sz="1200">
              <a:latin typeface="Calibri"/>
              <a:ea typeface="Calibri"/>
              <a:cs typeface="Calibri"/>
              <a:sym typeface="Calibri"/>
            </a:endParaRPr>
          </a:p>
        </p:txBody>
      </p:sp>
      <p:sp>
        <p:nvSpPr>
          <p:cNvPr id="1518" name="Google Shape;1518;p100"/>
          <p:cNvSpPr txBox="1"/>
          <p:nvPr/>
        </p:nvSpPr>
        <p:spPr>
          <a:xfrm>
            <a:off x="4024975" y="4570275"/>
            <a:ext cx="10434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cs161.org</a:t>
            </a:r>
            <a:endParaRPr sz="1200">
              <a:latin typeface="Calibri"/>
              <a:ea typeface="Calibri"/>
              <a:cs typeface="Calibri"/>
              <a:sym typeface="Calibri"/>
            </a:endParaRPr>
          </a:p>
        </p:txBody>
      </p:sp>
      <p:sp>
        <p:nvSpPr>
          <p:cNvPr id="1519" name="Google Shape;1519;p100"/>
          <p:cNvSpPr txBox="1"/>
          <p:nvPr/>
        </p:nvSpPr>
        <p:spPr>
          <a:xfrm>
            <a:off x="3026350" y="4570275"/>
            <a:ext cx="8586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mit.edu</a:t>
            </a:r>
            <a:endParaRPr sz="1200">
              <a:latin typeface="Calibri"/>
              <a:ea typeface="Calibri"/>
              <a:cs typeface="Calibri"/>
              <a:sym typeface="Calibri"/>
            </a:endParaRPr>
          </a:p>
        </p:txBody>
      </p:sp>
      <p:sp>
        <p:nvSpPr>
          <p:cNvPr id="1520" name="Google Shape;1520;p100"/>
          <p:cNvSpPr txBox="1"/>
          <p:nvPr/>
        </p:nvSpPr>
        <p:spPr>
          <a:xfrm>
            <a:off x="1590000" y="4570275"/>
            <a:ext cx="1296300" cy="39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1200">
                <a:latin typeface="Courier New"/>
                <a:ea typeface="Courier New"/>
                <a:cs typeface="Courier New"/>
                <a:sym typeface="Courier New"/>
              </a:rPr>
              <a:t>berkeley.edu</a:t>
            </a:r>
            <a:endParaRPr sz="1200">
              <a:latin typeface="Calibri"/>
              <a:ea typeface="Calibri"/>
              <a:cs typeface="Calibri"/>
              <a:sym typeface="Calibri"/>
            </a:endParaRPr>
          </a:p>
        </p:txBody>
      </p:sp>
      <p:cxnSp>
        <p:nvCxnSpPr>
          <p:cNvPr id="1521" name="Google Shape;1521;p100"/>
          <p:cNvCxnSpPr>
            <a:stCxn id="1512" idx="2"/>
            <a:endCxn id="1513" idx="0"/>
          </p:cNvCxnSpPr>
          <p:nvPr/>
        </p:nvCxnSpPr>
        <p:spPr>
          <a:xfrm flipH="1">
            <a:off x="2910950" y="3669025"/>
            <a:ext cx="1630500" cy="253800"/>
          </a:xfrm>
          <a:prstGeom prst="straightConnector1">
            <a:avLst/>
          </a:prstGeom>
          <a:noFill/>
          <a:ln cap="flat" cmpd="sng" w="9525">
            <a:solidFill>
              <a:srgbClr val="000000"/>
            </a:solidFill>
            <a:prstDash val="solid"/>
            <a:round/>
            <a:headEnd len="med" w="med" type="none"/>
            <a:tailEnd len="med" w="med" type="none"/>
          </a:ln>
        </p:spPr>
      </p:cxnSp>
      <p:cxnSp>
        <p:nvCxnSpPr>
          <p:cNvPr id="1522" name="Google Shape;1522;p100"/>
          <p:cNvCxnSpPr>
            <a:stCxn id="1512" idx="2"/>
            <a:endCxn id="1514" idx="0"/>
          </p:cNvCxnSpPr>
          <p:nvPr/>
        </p:nvCxnSpPr>
        <p:spPr>
          <a:xfrm>
            <a:off x="4541450" y="3669025"/>
            <a:ext cx="0" cy="253800"/>
          </a:xfrm>
          <a:prstGeom prst="straightConnector1">
            <a:avLst/>
          </a:prstGeom>
          <a:noFill/>
          <a:ln cap="flat" cmpd="sng" w="9525">
            <a:solidFill>
              <a:srgbClr val="000000"/>
            </a:solidFill>
            <a:prstDash val="solid"/>
            <a:round/>
            <a:headEnd len="med" w="med" type="none"/>
            <a:tailEnd len="med" w="med" type="none"/>
          </a:ln>
        </p:spPr>
      </p:cxnSp>
      <p:cxnSp>
        <p:nvCxnSpPr>
          <p:cNvPr id="1523" name="Google Shape;1523;p100"/>
          <p:cNvCxnSpPr>
            <a:stCxn id="1512" idx="2"/>
            <a:endCxn id="1515" idx="0"/>
          </p:cNvCxnSpPr>
          <p:nvPr/>
        </p:nvCxnSpPr>
        <p:spPr>
          <a:xfrm>
            <a:off x="4541450" y="3669025"/>
            <a:ext cx="1630500" cy="253800"/>
          </a:xfrm>
          <a:prstGeom prst="straightConnector1">
            <a:avLst/>
          </a:prstGeom>
          <a:noFill/>
          <a:ln cap="flat" cmpd="sng" w="9525">
            <a:solidFill>
              <a:srgbClr val="000000"/>
            </a:solidFill>
            <a:prstDash val="solid"/>
            <a:round/>
            <a:headEnd len="med" w="med" type="none"/>
            <a:tailEnd len="med" w="med" type="none"/>
          </a:ln>
        </p:spPr>
      </p:cxnSp>
      <p:cxnSp>
        <p:nvCxnSpPr>
          <p:cNvPr id="1524" name="Google Shape;1524;p100"/>
          <p:cNvCxnSpPr>
            <a:stCxn id="1513" idx="2"/>
            <a:endCxn id="1520" idx="0"/>
          </p:cNvCxnSpPr>
          <p:nvPr/>
        </p:nvCxnSpPr>
        <p:spPr>
          <a:xfrm flipH="1">
            <a:off x="2238175" y="4316452"/>
            <a:ext cx="672900" cy="253800"/>
          </a:xfrm>
          <a:prstGeom prst="straightConnector1">
            <a:avLst/>
          </a:prstGeom>
          <a:noFill/>
          <a:ln cap="flat" cmpd="sng" w="9525">
            <a:solidFill>
              <a:srgbClr val="000000"/>
            </a:solidFill>
            <a:prstDash val="solid"/>
            <a:round/>
            <a:headEnd len="med" w="med" type="none"/>
            <a:tailEnd len="med" w="med" type="none"/>
          </a:ln>
        </p:spPr>
      </p:cxnSp>
      <p:cxnSp>
        <p:nvCxnSpPr>
          <p:cNvPr id="1525" name="Google Shape;1525;p100"/>
          <p:cNvCxnSpPr>
            <a:stCxn id="1513" idx="2"/>
            <a:endCxn id="1519" idx="0"/>
          </p:cNvCxnSpPr>
          <p:nvPr/>
        </p:nvCxnSpPr>
        <p:spPr>
          <a:xfrm>
            <a:off x="2911075" y="4316452"/>
            <a:ext cx="544500" cy="253800"/>
          </a:xfrm>
          <a:prstGeom prst="straightConnector1">
            <a:avLst/>
          </a:prstGeom>
          <a:noFill/>
          <a:ln cap="flat" cmpd="sng" w="9525">
            <a:solidFill>
              <a:srgbClr val="000000"/>
            </a:solidFill>
            <a:prstDash val="solid"/>
            <a:round/>
            <a:headEnd len="med" w="med" type="none"/>
            <a:tailEnd len="med" w="med" type="none"/>
          </a:ln>
        </p:spPr>
      </p:cxnSp>
      <p:cxnSp>
        <p:nvCxnSpPr>
          <p:cNvPr id="1526" name="Google Shape;1526;p100"/>
          <p:cNvCxnSpPr>
            <a:stCxn id="1514" idx="2"/>
            <a:endCxn id="1518" idx="0"/>
          </p:cNvCxnSpPr>
          <p:nvPr/>
        </p:nvCxnSpPr>
        <p:spPr>
          <a:xfrm>
            <a:off x="4541450" y="4316452"/>
            <a:ext cx="5100" cy="253800"/>
          </a:xfrm>
          <a:prstGeom prst="straightConnector1">
            <a:avLst/>
          </a:prstGeom>
          <a:noFill/>
          <a:ln cap="flat" cmpd="sng" w="9525">
            <a:solidFill>
              <a:srgbClr val="000000"/>
            </a:solidFill>
            <a:prstDash val="solid"/>
            <a:round/>
            <a:headEnd len="med" w="med" type="none"/>
            <a:tailEnd len="med" w="med" type="none"/>
          </a:ln>
        </p:spPr>
      </p:cxnSp>
      <p:cxnSp>
        <p:nvCxnSpPr>
          <p:cNvPr id="1527" name="Google Shape;1527;p100"/>
          <p:cNvCxnSpPr>
            <a:stCxn id="1515" idx="2"/>
            <a:endCxn id="1517" idx="0"/>
          </p:cNvCxnSpPr>
          <p:nvPr/>
        </p:nvCxnSpPr>
        <p:spPr>
          <a:xfrm flipH="1">
            <a:off x="5787225" y="4316452"/>
            <a:ext cx="384600" cy="253800"/>
          </a:xfrm>
          <a:prstGeom prst="straightConnector1">
            <a:avLst/>
          </a:prstGeom>
          <a:noFill/>
          <a:ln cap="flat" cmpd="sng" w="9525">
            <a:solidFill>
              <a:srgbClr val="000000"/>
            </a:solidFill>
            <a:prstDash val="solid"/>
            <a:round/>
            <a:headEnd len="med" w="med" type="none"/>
            <a:tailEnd len="med" w="med" type="none"/>
          </a:ln>
        </p:spPr>
      </p:cxnSp>
      <p:cxnSp>
        <p:nvCxnSpPr>
          <p:cNvPr id="1528" name="Google Shape;1528;p100"/>
          <p:cNvCxnSpPr>
            <a:stCxn id="1515" idx="2"/>
            <a:endCxn id="1516" idx="0"/>
          </p:cNvCxnSpPr>
          <p:nvPr/>
        </p:nvCxnSpPr>
        <p:spPr>
          <a:xfrm>
            <a:off x="6171825" y="4316452"/>
            <a:ext cx="913200" cy="253800"/>
          </a:xfrm>
          <a:prstGeom prst="straightConnector1">
            <a:avLst/>
          </a:prstGeom>
          <a:noFill/>
          <a:ln cap="flat" cmpd="sng" w="9525">
            <a:solidFill>
              <a:srgbClr val="000000"/>
            </a:solidFill>
            <a:prstDash val="solid"/>
            <a:round/>
            <a:headEnd len="med" w="med" type="none"/>
            <a:tailEnd len="med" w="med" type="none"/>
          </a:ln>
        </p:spPr>
      </p:cxn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2" name="Shape 1532"/>
        <p:cNvGrpSpPr/>
        <p:nvPr/>
      </p:nvGrpSpPr>
      <p:grpSpPr>
        <a:xfrm>
          <a:off x="0" y="0"/>
          <a:ext cx="0" cy="0"/>
          <a:chOff x="0" y="0"/>
          <a:chExt cx="0" cy="0"/>
        </a:xfrm>
      </p:grpSpPr>
      <p:sp>
        <p:nvSpPr>
          <p:cNvPr id="1533" name="Google Shape;1533;p10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 Summary</a:t>
            </a:r>
            <a:endParaRPr/>
          </a:p>
        </p:txBody>
      </p:sp>
      <p:sp>
        <p:nvSpPr>
          <p:cNvPr id="1534" name="Google Shape;1534;p101"/>
          <p:cNvSpPr txBox="1"/>
          <p:nvPr>
            <p:ph idx="1" type="body"/>
          </p:nvPr>
        </p:nvSpPr>
        <p:spPr>
          <a:xfrm>
            <a:off x="198500" y="1246825"/>
            <a:ext cx="8520600" cy="3528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DNS </a:t>
            </a:r>
            <a:r>
              <a:rPr lang="en"/>
              <a:t>message </a:t>
            </a:r>
            <a:r>
              <a:rPr lang="en"/>
              <a:t>structure</a:t>
            </a:r>
            <a:endParaRPr/>
          </a:p>
          <a:p>
            <a:pPr indent="-317500" lvl="1" marL="914400" rtl="0" algn="l">
              <a:spcBef>
                <a:spcPts val="0"/>
              </a:spcBef>
              <a:spcAft>
                <a:spcPts val="0"/>
              </a:spcAft>
              <a:buSzPts val="1400"/>
              <a:buChar char="○"/>
            </a:pPr>
            <a:r>
              <a:rPr lang="en"/>
              <a:t>DNS uses UDP for efficiency</a:t>
            </a:r>
            <a:endParaRPr/>
          </a:p>
          <a:p>
            <a:pPr indent="-317500" lvl="1" marL="914400" rtl="0" algn="l">
              <a:spcBef>
                <a:spcPts val="0"/>
              </a:spcBef>
              <a:spcAft>
                <a:spcPts val="0"/>
              </a:spcAft>
              <a:buSzPts val="1400"/>
              <a:buChar char="○"/>
            </a:pPr>
            <a:r>
              <a:rPr lang="en"/>
              <a:t>DNS packets </a:t>
            </a:r>
            <a:r>
              <a:rPr lang="en"/>
              <a:t>include a random 16-bit ID field to match requests to responses</a:t>
            </a:r>
            <a:endParaRPr/>
          </a:p>
          <a:p>
            <a:pPr indent="-317500" lvl="1" marL="914400" rtl="0" algn="l">
              <a:spcBef>
                <a:spcPts val="0"/>
              </a:spcBef>
              <a:spcAft>
                <a:spcPts val="0"/>
              </a:spcAft>
              <a:buSzPts val="1400"/>
              <a:buChar char="○"/>
            </a:pPr>
            <a:r>
              <a:rPr lang="en"/>
              <a:t>Data is encoded in records, which are name-value pairs with a type</a:t>
            </a:r>
            <a:endParaRPr/>
          </a:p>
          <a:p>
            <a:pPr indent="-317500" lvl="2" marL="1371600" rtl="0" algn="l">
              <a:spcBef>
                <a:spcPts val="0"/>
              </a:spcBef>
              <a:spcAft>
                <a:spcPts val="0"/>
              </a:spcAft>
              <a:buSzPts val="1400"/>
              <a:buChar char="■"/>
            </a:pPr>
            <a:r>
              <a:rPr b="1" lang="en"/>
              <a:t>A (answer) type records</a:t>
            </a:r>
            <a:r>
              <a:rPr lang="en"/>
              <a:t>: Maps a domain name to an IPv4 address</a:t>
            </a:r>
            <a:endParaRPr/>
          </a:p>
          <a:p>
            <a:pPr indent="-317500" lvl="2" marL="1371600" rtl="0" algn="l">
              <a:spcBef>
                <a:spcPts val="0"/>
              </a:spcBef>
              <a:spcAft>
                <a:spcPts val="0"/>
              </a:spcAft>
              <a:buSzPts val="1400"/>
              <a:buChar char="■"/>
            </a:pPr>
            <a:r>
              <a:rPr b="1" lang="en"/>
              <a:t>NS (name server) type records</a:t>
            </a:r>
            <a:r>
              <a:rPr lang="en"/>
              <a:t>: Designates another DNS server to handle a domain</a:t>
            </a:r>
            <a:endParaRPr/>
          </a:p>
          <a:p>
            <a:pPr indent="-317500" lvl="1" marL="914400" rtl="0" algn="l">
              <a:spcBef>
                <a:spcPts val="0"/>
              </a:spcBef>
              <a:spcAft>
                <a:spcPts val="0"/>
              </a:spcAft>
              <a:buSzPts val="1400"/>
              <a:buChar char="○"/>
            </a:pPr>
            <a:r>
              <a:rPr lang="en"/>
              <a:t>Records are separated into four sections</a:t>
            </a:r>
            <a:endParaRPr/>
          </a:p>
          <a:p>
            <a:pPr indent="-317500" lvl="2" marL="1371600" rtl="0" algn="l">
              <a:spcBef>
                <a:spcPts val="0"/>
              </a:spcBef>
              <a:spcAft>
                <a:spcPts val="0"/>
              </a:spcAft>
              <a:buSzPts val="1400"/>
              <a:buChar char="■"/>
            </a:pPr>
            <a:r>
              <a:rPr lang="en"/>
              <a:t>Question: Contains query</a:t>
            </a:r>
            <a:endParaRPr/>
          </a:p>
          <a:p>
            <a:pPr indent="-317500" lvl="2" marL="1371600" rtl="0" algn="l">
              <a:spcBef>
                <a:spcPts val="0"/>
              </a:spcBef>
              <a:spcAft>
                <a:spcPts val="0"/>
              </a:spcAft>
              <a:buSzPts val="1400"/>
              <a:buChar char="■"/>
            </a:pPr>
            <a:r>
              <a:rPr lang="en"/>
              <a:t>Answer: Contains direct answer to query</a:t>
            </a:r>
            <a:endParaRPr/>
          </a:p>
          <a:p>
            <a:pPr indent="-317500" lvl="2" marL="1371600" rtl="0" algn="l">
              <a:spcBef>
                <a:spcPts val="0"/>
              </a:spcBef>
              <a:spcAft>
                <a:spcPts val="0"/>
              </a:spcAft>
              <a:buSzPts val="1400"/>
              <a:buChar char="■"/>
            </a:pPr>
            <a:r>
              <a:rPr lang="en"/>
              <a:t>Authority: Directs the resolver to the next name server</a:t>
            </a:r>
            <a:endParaRPr/>
          </a:p>
          <a:p>
            <a:pPr indent="-317500" lvl="2" marL="1371600" rtl="0" algn="l">
              <a:spcBef>
                <a:spcPts val="0"/>
              </a:spcBef>
              <a:spcAft>
                <a:spcPts val="0"/>
              </a:spcAft>
              <a:buSzPts val="1400"/>
              <a:buChar char="■"/>
            </a:pPr>
            <a:r>
              <a:rPr lang="en"/>
              <a:t>Additional: Provides extra information (e.g. the location of the next name server)</a:t>
            </a:r>
            <a:endParaRPr/>
          </a:p>
          <a:p>
            <a:pPr indent="-317500" lvl="1" marL="914400" rtl="0" algn="l">
              <a:spcBef>
                <a:spcPts val="0"/>
              </a:spcBef>
              <a:spcAft>
                <a:spcPts val="0"/>
              </a:spcAft>
              <a:buSzPts val="1400"/>
              <a:buChar char="○"/>
            </a:pPr>
            <a:r>
              <a:rPr lang="en"/>
              <a:t>Resolvers cache as many records as possible (until their time-to-live expires)</a:t>
            </a:r>
            <a:endParaRPr/>
          </a:p>
        </p:txBody>
      </p:sp>
      <p:sp>
        <p:nvSpPr>
          <p:cNvPr id="1535" name="Google Shape;1535;p10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9" name="Shape 1539"/>
        <p:cNvGrpSpPr/>
        <p:nvPr/>
      </p:nvGrpSpPr>
      <p:grpSpPr>
        <a:xfrm>
          <a:off x="0" y="0"/>
          <a:ext cx="0" cy="0"/>
          <a:chOff x="0" y="0"/>
          <a:chExt cx="0" cy="0"/>
        </a:xfrm>
      </p:grpSpPr>
      <p:sp>
        <p:nvSpPr>
          <p:cNvPr id="1540" name="Google Shape;1540;p10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DNS Security: Summary</a:t>
            </a:r>
            <a:endParaRPr/>
          </a:p>
        </p:txBody>
      </p:sp>
      <p:sp>
        <p:nvSpPr>
          <p:cNvPr id="1541" name="Google Shape;1541;p102"/>
          <p:cNvSpPr txBox="1"/>
          <p:nvPr>
            <p:ph idx="1" type="body"/>
          </p:nvPr>
        </p:nvSpPr>
        <p:spPr>
          <a:xfrm>
            <a:off x="198500" y="1246825"/>
            <a:ext cx="8520600" cy="3896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Cache poisoning attack: Send a malicious record to the resolver, which caches the record</a:t>
            </a:r>
            <a:endParaRPr/>
          </a:p>
          <a:p>
            <a:pPr indent="-317500" lvl="1" marL="914400" rtl="0" algn="l">
              <a:spcBef>
                <a:spcPts val="0"/>
              </a:spcBef>
              <a:spcAft>
                <a:spcPts val="0"/>
              </a:spcAft>
              <a:buSzPts val="1400"/>
              <a:buChar char="○"/>
            </a:pPr>
            <a:r>
              <a:rPr lang="en"/>
              <a:t>Causes packets to be sent to the wrong place (e.g., to the attacker, who becomes a MITM)</a:t>
            </a:r>
            <a:endParaRPr/>
          </a:p>
          <a:p>
            <a:pPr indent="-342900" lvl="0" marL="457200" rtl="0" algn="l">
              <a:spcBef>
                <a:spcPts val="0"/>
              </a:spcBef>
              <a:spcAft>
                <a:spcPts val="0"/>
              </a:spcAft>
              <a:buSzPts val="1800"/>
              <a:buChar char="●"/>
            </a:pPr>
            <a:r>
              <a:rPr lang="en"/>
              <a:t>Risk: Malicious name servers</a:t>
            </a:r>
            <a:endParaRPr/>
          </a:p>
          <a:p>
            <a:pPr indent="-317500" lvl="1" marL="914400" rtl="0" algn="l">
              <a:spcBef>
                <a:spcPts val="0"/>
              </a:spcBef>
              <a:spcAft>
                <a:spcPts val="0"/>
              </a:spcAft>
              <a:buSzPts val="1400"/>
              <a:buChar char="○"/>
            </a:pPr>
            <a:r>
              <a:rPr lang="en"/>
              <a:t>Defense: Bailiwick checking: Resolver only accepts records in the name server’s zone</a:t>
            </a:r>
            <a:endParaRPr/>
          </a:p>
          <a:p>
            <a:pPr indent="-342900" lvl="0" marL="457200" rtl="0" algn="l">
              <a:spcBef>
                <a:spcPts val="0"/>
              </a:spcBef>
              <a:spcAft>
                <a:spcPts val="0"/>
              </a:spcAft>
              <a:buSzPts val="1800"/>
              <a:buChar char="●"/>
            </a:pPr>
            <a:r>
              <a:rPr lang="en"/>
              <a:t>Risk: Network attackers</a:t>
            </a:r>
            <a:endParaRPr/>
          </a:p>
          <a:p>
            <a:pPr indent="-317500" lvl="1" marL="914400" rtl="0" algn="l">
              <a:spcBef>
                <a:spcPts val="0"/>
              </a:spcBef>
              <a:spcAft>
                <a:spcPts val="0"/>
              </a:spcAft>
              <a:buSzPts val="1400"/>
              <a:buChar char="○"/>
            </a:pPr>
            <a:r>
              <a:rPr lang="en"/>
              <a:t>MITM attackers can poison the cache without detection</a:t>
            </a:r>
            <a:endParaRPr/>
          </a:p>
          <a:p>
            <a:pPr indent="-317500" lvl="1" marL="914400" rtl="0" algn="l">
              <a:spcBef>
                <a:spcPts val="0"/>
              </a:spcBef>
              <a:spcAft>
                <a:spcPts val="0"/>
              </a:spcAft>
              <a:buSzPts val="1400"/>
              <a:buChar char="○"/>
            </a:pPr>
            <a:r>
              <a:rPr lang="en"/>
              <a:t>On-path attackers can race the legitimate response to poison the cache</a:t>
            </a:r>
            <a:endParaRPr/>
          </a:p>
          <a:p>
            <a:pPr indent="-317500" lvl="1" marL="914400" rtl="0" algn="l">
              <a:spcBef>
                <a:spcPts val="0"/>
              </a:spcBef>
              <a:spcAft>
                <a:spcPts val="0"/>
              </a:spcAft>
              <a:buSzPts val="1400"/>
              <a:buChar char="○"/>
            </a:pPr>
            <a:r>
              <a:rPr lang="en"/>
              <a:t>Off-path attackers must guess the ID field (Defense: Make the ID field random)</a:t>
            </a:r>
            <a:endParaRPr/>
          </a:p>
          <a:p>
            <a:pPr indent="-317500" lvl="2" marL="1371600" rtl="0" algn="l">
              <a:spcBef>
                <a:spcPts val="0"/>
              </a:spcBef>
              <a:spcAft>
                <a:spcPts val="0"/>
              </a:spcAft>
              <a:buSzPts val="1400"/>
              <a:buChar char="■"/>
            </a:pPr>
            <a:r>
              <a:rPr lang="en"/>
              <a:t>Kaminsky attack: Query non-existent domains and put the poisoned record in the additional section (which will still be cached). Lets the off-path attacker try repeatedly until succeeding</a:t>
            </a:r>
            <a:endParaRPr/>
          </a:p>
          <a:p>
            <a:pPr indent="-317500" lvl="2" marL="1371600" rtl="0" algn="l">
              <a:spcBef>
                <a:spcPts val="0"/>
              </a:spcBef>
              <a:spcAft>
                <a:spcPts val="0"/>
              </a:spcAft>
              <a:buSzPts val="1400"/>
              <a:buChar char="■"/>
            </a:pPr>
            <a:r>
              <a:rPr lang="en"/>
              <a:t>Defense: Source port randomization (more bits for the off-path attacker to guess)</a:t>
            </a:r>
            <a:endParaRPr/>
          </a:p>
        </p:txBody>
      </p:sp>
      <p:sp>
        <p:nvSpPr>
          <p:cNvPr id="1542" name="Google Shape;1542;p10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CSE 405">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