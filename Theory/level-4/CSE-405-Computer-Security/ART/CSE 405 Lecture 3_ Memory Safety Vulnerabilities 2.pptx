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C4224E-2C12-493B-A528-770CF28DDED8}">
  <a:tblStyle styleId="{9EC4224E-2C12-493B-A528-770CF28DDED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E244B81-E480-4EB7-8E21-22D71753B142}"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028d3c3286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028d3c3286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FA23, we </a:t>
            </a:r>
            <a:r>
              <a:rPr lang="en"/>
              <a:t>caught some mistakes during live lecture and they're now fixed in this version of the slides. See the speaker notes for the mistakes we caught.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Context, used to be two different lectures, but then we needed to squish for the midterm in SP24, and we need to again in SU24, so hopefully it’s okay. These are really important and helpful for the back half of project 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91d97a4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91d97a4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core problem of memory safety is that C doesn’t check bounds! This one’s kind of convoluted though, so I might be going a little quick but I really highly encourage you to go through these slides again.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028d3c328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028d3c3286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Printf, one of my favorite functions (maybe some of yours too, if you love print debugging–there’s no shame in that, I am a believer as well).</a:t>
            </a:r>
            <a:endParaRPr/>
          </a:p>
          <a:p>
            <a:pPr indent="0" lvl="0" marL="0" rtl="0" algn="l">
              <a:spcBef>
                <a:spcPts val="0"/>
              </a:spcBef>
              <a:spcAft>
                <a:spcPts val="0"/>
              </a:spcAft>
              <a:buNone/>
            </a:pPr>
            <a:r>
              <a:rPr lang="en"/>
              <a:t>Well if you’re like me, most of the time your printf statements might not be this in depth (normally it’s just one string), but printf functions very differently than the print function in python would because it takes in many arguments (beyond just string concatenation)!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Plugs in from the placeholders.</a:t>
            </a:r>
            <a:endParaRPr/>
          </a:p>
          <a:p>
            <a:pPr indent="0" lvl="0" marL="0" rtl="0" algn="l">
              <a:spcBef>
                <a:spcPts val="0"/>
              </a:spcBef>
              <a:spcAft>
                <a:spcPts val="0"/>
              </a:spcAft>
              <a:buNone/>
            </a:pPr>
            <a:r>
              <a:rPr lang="en"/>
              <a:t>%s - string, %d - signed decimal, %x - hex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doesn’t actually perform any checks on the number of arguments… are we seeing a trend?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028d3c3286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028d3c328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create a stack frame for printf… think back to calling </a:t>
            </a:r>
            <a:r>
              <a:rPr lang="en"/>
              <a:t>convention</a:t>
            </a:r>
            <a:endParaRPr/>
          </a:p>
          <a:p>
            <a:pPr indent="-298450" lvl="0" marL="457200" rtl="0" algn="l">
              <a:spcBef>
                <a:spcPts val="0"/>
              </a:spcBef>
              <a:spcAft>
                <a:spcPts val="0"/>
              </a:spcAft>
              <a:buSzPts val="1100"/>
              <a:buChar char="-"/>
            </a:pPr>
            <a:r>
              <a:rPr lang="en"/>
              <a:t>Push </a:t>
            </a:r>
            <a:r>
              <a:rPr lang="en"/>
              <a:t>args</a:t>
            </a:r>
            <a:endParaRPr/>
          </a:p>
          <a:p>
            <a:pPr indent="-298450" lvl="0" marL="457200" rtl="0" algn="l">
              <a:spcBef>
                <a:spcPts val="0"/>
              </a:spcBef>
              <a:spcAft>
                <a:spcPts val="0"/>
              </a:spcAft>
              <a:buSzPts val="1100"/>
              <a:buChar char="-"/>
            </a:pPr>
            <a:r>
              <a:rPr lang="en"/>
              <a:t>Push pointer to string “%d\n”</a:t>
            </a:r>
            <a:endParaRPr/>
          </a:p>
          <a:p>
            <a:pPr indent="-298450" lvl="0" marL="457200" rtl="0" algn="l">
              <a:spcBef>
                <a:spcPts val="0"/>
              </a:spcBef>
              <a:spcAft>
                <a:spcPts val="0"/>
              </a:spcAft>
              <a:buSzPts val="1100"/>
              <a:buChar char="-"/>
            </a:pPr>
            <a:r>
              <a:rPr lang="en"/>
              <a:t>rip/sfp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here’s a nice printf (because C is too trusting and assumes that the number of args is correct)</a:t>
            </a:r>
            <a:endParaRPr/>
          </a:p>
          <a:p>
            <a:pPr indent="0" lvl="0" marL="0" rtl="0" algn="l">
              <a:spcBef>
                <a:spcPts val="0"/>
              </a:spcBef>
              <a:spcAft>
                <a:spcPts val="0"/>
              </a:spcAft>
              <a:buNone/>
            </a:pPr>
            <a:r>
              <a:rPr lang="en"/>
              <a:t>Okay, well this is really important for Project 1</a:t>
            </a:r>
            <a:endParaRPr/>
          </a:p>
          <a:p>
            <a:pPr indent="-298450" lvl="0" marL="457200" rtl="0" algn="l">
              <a:spcBef>
                <a:spcPts val="0"/>
              </a:spcBef>
              <a:spcAft>
                <a:spcPts val="0"/>
              </a:spcAft>
              <a:buSzPts val="1100"/>
              <a:buChar char="-"/>
            </a:pPr>
            <a:r>
              <a:rPr lang="en"/>
              <a:t>Printf takes in arg0 and whenever it sees a modifier (so something that starts with a %), it traverses up the stack to read as arguments starting from the SECOND one (since the first one was the format string itself)</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028d3c3286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028d3c3286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what if the C code didn’t actually include the argument. We’re expecting one but uh oh… there’s no extra argument so we’re just going to leak the secret. Yikes…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Arguments were mismatched!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Compiler may throw a warning, but this is still </a:t>
            </a:r>
            <a:r>
              <a:rPr lang="en"/>
              <a:t>valid</a:t>
            </a:r>
            <a:r>
              <a:rPr lang="en"/>
              <a:t> syntax. So now we’d be printing out the number 42…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Okay so this might not happen as much in the wild because you’re probably going to </a:t>
            </a:r>
            <a:r>
              <a:rPr lang="en"/>
              <a:t>include</a:t>
            </a:r>
            <a:r>
              <a:rPr lang="en"/>
              <a:t> the arguments if you’re writing them out like this but…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028d3c328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028d3c328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45 min - 1:05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first glance this one looks alright because there isn’t some weird modifier in the first argument of the printf. Hold on though… This buf is under the control of the attacker. So if we were malicious, we could add our own modifiers, and suddenly, we have mismatched arguments again!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028d3c3286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028d3c3286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Compilers are weird, so the spacing actually does work–it will print some random stuff out (even if some warnings are generated)!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028d3c3286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028d3c3286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Arguments are 4 bytes–we use pointers!</a:t>
            </a:r>
            <a:endParaRPr/>
          </a:p>
          <a:p>
            <a:pPr indent="0" lvl="0" marL="0" rtl="0" algn="l">
              <a:spcBef>
                <a:spcPts val="0"/>
              </a:spcBef>
              <a:spcAft>
                <a:spcPts val="0"/>
              </a:spcAft>
              <a:buNone/>
            </a:pPr>
            <a:r>
              <a:rPr lang="en"/>
              <a:t>Walkthrough building the stack diagram -&gt; reading the code</a:t>
            </a:r>
            <a:endParaRPr/>
          </a:p>
          <a:p>
            <a:pPr indent="-298450" lvl="0" marL="457200" rtl="0" algn="l">
              <a:spcBef>
                <a:spcPts val="0"/>
              </a:spcBef>
              <a:spcAft>
                <a:spcPts val="0"/>
              </a:spcAft>
              <a:buSzPts val="1100"/>
              <a:buChar char="-"/>
            </a:pPr>
            <a:r>
              <a:rPr lang="en"/>
              <a:t>Pancake doesn’t show up on the stack (it’s a string literal so it’s in the static data section of memory), but it would if we used a character array because *=pointer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Okay, so what could the attacker input?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028d3c3286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028d3c3286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Okay well there are no further arguments… but C doesn’t check that! </a:t>
            </a:r>
            <a:r>
              <a:rPr lang="en">
                <a:solidFill>
                  <a:schemeClr val="dk1"/>
                </a:solidFill>
              </a:rPr>
              <a:t>So what we do is we go from the 0th argument and we scan until we find a % and then aha! Match each with arg1, arg2, etc. Remember that the modifiers will not be matched with the 0th argument because that argument is the format string itself!</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Printf will go on the stack and match arguments on the stack. (%d discussed on the next slide)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028d3c3286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028d3c3286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028d3c3286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028d3c3286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028d3c3286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028d3c3286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Okay but somehow it gets worse. Did you know printf can write stuff into memory instead of just reading? Yeah… guess we can use it for more than just print debugging lol.</a:t>
            </a:r>
            <a:endParaRPr/>
          </a:p>
          <a:p>
            <a:pPr indent="0" lvl="0" marL="0" rtl="0" algn="l">
              <a:spcBef>
                <a:spcPts val="0"/>
              </a:spcBef>
              <a:spcAft>
                <a:spcPts val="0"/>
              </a:spcAft>
              <a:buNone/>
            </a:pPr>
            <a:r>
              <a:rPr lang="en"/>
              <a:t>Okay, I’m going to go through this multiple times because it’s kind of confusing.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Honestly, the best guess we have as to why people </a:t>
            </a:r>
            <a:r>
              <a:rPr lang="en"/>
              <a:t>would</a:t>
            </a:r>
            <a:r>
              <a:rPr lang="en"/>
              <a:t> use this is to make pretty aligned printf statements? But this is like a playground for attackers because now in printf calls, we can write into the stack.</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028d3c3286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028d3c3286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hour</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028d3c3286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028d3c3286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028d3c3286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028d3c3286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Fixed during live lecture, FA23: The input on this slide mistakenly said %s, not %n.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Overwrite</a:t>
            </a:r>
            <a:r>
              <a:rPr lang="en"/>
              <a:t> the panc into the integer 2 in little-endian.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028d3c3286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028d3c3286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Skip if &lt;30 min left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Fixed during live lecture, FA23: In this entire demo, the integer argument mistakenly said 28, not 16.</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We’re limited to a printf vulnerability because fgets stops us from writing more than 16 bytes into buf.</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028d3c3286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028d3c3286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is there no fgets stack frame?</a:t>
            </a:r>
            <a:endParaRPr/>
          </a:p>
          <a:p>
            <a:pPr indent="-298450" lvl="0" marL="457200" rtl="0" algn="l">
              <a:spcBef>
                <a:spcPts val="0"/>
              </a:spcBef>
              <a:spcAft>
                <a:spcPts val="0"/>
              </a:spcAft>
              <a:buSzPts val="1100"/>
              <a:buChar char="-"/>
            </a:pPr>
            <a:r>
              <a:rPr lang="en"/>
              <a:t>It completed execution and returned!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why is it &amp;buf? Well, we’re not going to pass the entire 16 byte buffer, but rather just the address of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think like printf. What are the arguments that printf thinks are on the stack? Okay, well I know my format string is arg 0 and then everything after that is used as arguments to match with format string modifiers (next slide)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028d3c3286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028d3c3286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There’s a printf pointer (we don’t know exactly how though because we don’t have the source code for printf).</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028d3c3286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028d3c3286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028d3c3286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028d3c3286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things to juggle:</a:t>
            </a:r>
            <a:endParaRPr/>
          </a:p>
          <a:p>
            <a:pPr indent="-298450" lvl="0" marL="457200" rtl="0" algn="l">
              <a:spcBef>
                <a:spcPts val="0"/>
              </a:spcBef>
              <a:spcAft>
                <a:spcPts val="0"/>
              </a:spcAft>
              <a:buSzPts val="1100"/>
              <a:buChar char="-"/>
            </a:pPr>
            <a:r>
              <a:rPr lang="en"/>
              <a:t>Where we’re writing–we need a %n to align with 0xdeadbeef</a:t>
            </a:r>
            <a:endParaRPr/>
          </a:p>
          <a:p>
            <a:pPr indent="-298450" lvl="0" marL="457200" rtl="0" algn="l">
              <a:spcBef>
                <a:spcPts val="0"/>
              </a:spcBef>
              <a:spcAft>
                <a:spcPts val="0"/>
              </a:spcAft>
              <a:buSzPts val="1100"/>
              <a:buChar char="-"/>
            </a:pPr>
            <a:r>
              <a:rPr lang="en"/>
              <a:t>What we’re writing–we need to </a:t>
            </a:r>
            <a:r>
              <a:rPr lang="en"/>
              <a:t>ensure</a:t>
            </a:r>
            <a:r>
              <a:rPr lang="en"/>
              <a:t> that by the time we hit that %n, we’ve written 3 characters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028d3c3286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028d3c3286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Maybe this works?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028d3c3286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028d3c3286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Okay this might be very confusing, but what does this mean?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in buf, we’re writing</a:t>
            </a:r>
            <a:endParaRPr/>
          </a:p>
          <a:p>
            <a:pPr indent="-298450" lvl="0" marL="457200" rtl="0" algn="l">
              <a:spcBef>
                <a:spcPts val="0"/>
              </a:spcBef>
              <a:spcAft>
                <a:spcPts val="0"/>
              </a:spcAft>
              <a:buSzPts val="1100"/>
              <a:buChar char="-"/>
            </a:pPr>
            <a:r>
              <a:rPr lang="en"/>
              <a:t>The address 0xdeadbeef (remember in little endian this is 0xef, 0xbe, 0xad, 0xde)</a:t>
            </a:r>
            <a:endParaRPr/>
          </a:p>
          <a:p>
            <a:pPr indent="-298450" lvl="0" marL="457200" rtl="0" algn="l">
              <a:spcBef>
                <a:spcPts val="0"/>
              </a:spcBef>
              <a:spcAft>
                <a:spcPts val="0"/>
              </a:spcAft>
              <a:buSzPts val="1100"/>
              <a:buChar char="-"/>
            </a:pPr>
            <a:r>
              <a:rPr lang="en"/>
              <a:t>Then we’re writing the characters %94c%c%c%n</a:t>
            </a:r>
            <a:endParaRPr/>
          </a:p>
          <a:p>
            <a:pPr indent="-298450" lvl="1" marL="914400" rtl="0" algn="l">
              <a:spcBef>
                <a:spcPts val="0"/>
              </a:spcBef>
              <a:spcAft>
                <a:spcPts val="0"/>
              </a:spcAft>
              <a:buSzPts val="1100"/>
              <a:buChar char="-"/>
            </a:pPr>
            <a:r>
              <a:rPr lang="en"/>
              <a:t>Each character is one byte (one byte for the %, for the 9, for the 4,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Okay, well why do we care about how many characters we’re using? Because fgets only takes 16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we’ve parsed this data as we are fgets and we’re pasting in 16 bytes into memory at buf. Someone reads it differently though, who? Printf!</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028d3c3286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028d3c3286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Printf goes character by character, it sees okay… I need to print out 0xdeadbeef, and oh! I see a %, okay let’s consume an argument, which one? Arg1!</a:t>
            </a:r>
            <a:endParaRPr/>
          </a:p>
          <a:p>
            <a:pPr indent="0" lvl="0" marL="0" rtl="0" algn="l">
              <a:spcBef>
                <a:spcPts val="0"/>
              </a:spcBef>
              <a:spcAft>
                <a:spcPts val="0"/>
              </a:spcAft>
              <a:buNone/>
            </a:pPr>
            <a:r>
              <a:rPr lang="en"/>
              <a:t>It’s like a matchmaker and it’ll see okay %94c, you’re paired </a:t>
            </a:r>
            <a:r>
              <a:rPr lang="en"/>
              <a:t>with</a:t>
            </a:r>
            <a:r>
              <a:rPr lang="en"/>
              <a:t> arg1!</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028d3c3286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028d3c3286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 has to match with 0xdeadbeef.</a:t>
            </a:r>
            <a:endParaRPr/>
          </a:p>
          <a:p>
            <a:pPr indent="0" lvl="0" marL="0" rtl="0" algn="l">
              <a:spcBef>
                <a:spcPts val="0"/>
              </a:spcBef>
              <a:spcAft>
                <a:spcPts val="0"/>
              </a:spcAft>
              <a:buNone/>
            </a:pPr>
            <a:r>
              <a:rPr lang="en"/>
              <a:t>The way I recommend working through this question is first aligning the %n and then going backwards thinking through questions like</a:t>
            </a:r>
            <a:endParaRPr/>
          </a:p>
          <a:p>
            <a:pPr indent="-298450" lvl="0" marL="457200" rtl="0" algn="l">
              <a:spcBef>
                <a:spcPts val="0"/>
              </a:spcBef>
              <a:spcAft>
                <a:spcPts val="0"/>
              </a:spcAft>
              <a:buSzPts val="1100"/>
              <a:buChar char="-"/>
            </a:pPr>
            <a:r>
              <a:rPr lang="en"/>
              <a:t>Okay, well how many arguments are between the %n and the format string on the stack (how many arguments do we need to skip) -&gt; this is the number of modifiers we’ll need in our string</a:t>
            </a:r>
            <a:endParaRPr/>
          </a:p>
          <a:p>
            <a:pPr indent="-298450" lvl="0" marL="457200" rtl="0" algn="l">
              <a:spcBef>
                <a:spcPts val="0"/>
              </a:spcBef>
              <a:spcAft>
                <a:spcPts val="0"/>
              </a:spcAft>
              <a:buSzPts val="1100"/>
              <a:buChar char="-"/>
            </a:pPr>
            <a:r>
              <a:rPr lang="en"/>
              <a:t>What else does the printf print beyond just the format string modifiers? 0xdeadbeef–okay that’s four bytes right there.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you’ll just need to do the math.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interesting thought:  instead of %94c, could we do %50c and a %44c -&gt; well, not really because even though you’ll still print out 100 characters, your string in buffer will now have 2 extra characters -&gt; it won’t fit in 16 bytes anymore!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need to juggle these three things!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028d3c3286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028d3c3286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028d3c3286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028d3c3286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Don’t give the attacker the ability to write into the 0th argument! Even if the attacker uses modifiers and % symbols into buf, it will never be treated as as modifier!</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891d97a41d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891d97a41d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73e66108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73e66108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Skip if less than &gt;18 min</a:t>
            </a:r>
            <a:endParaRPr/>
          </a:p>
          <a:p>
            <a:pPr indent="0" lvl="0" marL="0" rtl="0" algn="l">
              <a:spcBef>
                <a:spcPts val="0"/>
              </a:spcBef>
              <a:spcAft>
                <a:spcPts val="0"/>
              </a:spcAft>
              <a:buNone/>
            </a:pPr>
            <a:r>
              <a:rPr lang="en"/>
              <a:t>Stuff that actually isn’t new -&gt; just now we can do overflows on the heap now!</a:t>
            </a:r>
            <a:endParaRPr/>
          </a:p>
          <a:p>
            <a:pPr indent="0" lvl="0" marL="0" rtl="0" algn="l">
              <a:spcBef>
                <a:spcPts val="0"/>
              </a:spcBef>
              <a:spcAft>
                <a:spcPts val="0"/>
              </a:spcAft>
              <a:buNone/>
            </a:pPr>
            <a:r>
              <a:rPr lang="en"/>
              <a:t>FA23 update: Marked this section of slides as optional, as we didn't get to them in time.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73e661089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73e661089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73e661089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73e661089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73e661089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73e661089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73e661089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73e661089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73e661089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73e661089a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73e661089a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73e661089a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73e661089a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273e661089a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273e661089a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273e661089a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891d97a41d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891d97a41d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https://cwe.mitre.org/top25/archive/2023/2023_top25_list.html#top25list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028d3c3286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028d3c3286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pretty important for the project!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2028d3c3286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2028d3c3286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Uh oh! We’re using fread… the attacker can only overwrite 21 bytes, which is name plus just a single byte of the SFP.</a:t>
            </a:r>
            <a:endParaRPr/>
          </a:p>
          <a:p>
            <a:pPr indent="0" lvl="0" marL="0" rtl="0" algn="l">
              <a:spcBef>
                <a:spcPts val="0"/>
              </a:spcBef>
              <a:spcAft>
                <a:spcPts val="0"/>
              </a:spcAft>
              <a:buNone/>
            </a:pPr>
            <a:r>
              <a:rPr lang="en"/>
              <a:t>You can’t possibly allow an attacker to execute shellcode just by overwriting one single byte, the least significant byte of the SFP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We’re using a simplified version for today’s lecture because shellcode is at 0xdeadbeef. In the project, you’re going to need to write in shellcode yourself (remember the few strategies from about an hour ago).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we might feel a little confused at first because we can’t change the RIP right? So we can’t have anything directly point to shellcode?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028d3c3286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028d3c3286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the only thing that we can change is the least significant byte of the SFP. </a:t>
            </a:r>
            <a:r>
              <a:rPr lang="en">
                <a:solidFill>
                  <a:schemeClr val="dk1"/>
                </a:solidFill>
              </a:rPr>
              <a:t>The SFP is currently pointing to something higher on the stack (the top of the previous funciton’s stack frame), but there’s nothing actually stopping us from changing it to point somewhere lower.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Fixed during live lecture, FA23: In this entire demo, the address on the stack diagram mistakenly said \xff, not \xcd.</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028d3c3286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2028d3c3286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now we can make it point here! How does this actually help us though?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think back a little to calling convention from last lecture. Remember that SFPs are effectively linked lists pointing to previous SFPs right? Well, the current SFP points back to the top of the previous stack frame, which is the SFP of the previous stack frame right?</a:t>
            </a:r>
            <a:endParaRPr/>
          </a:p>
          <a:p>
            <a:pPr indent="0" lvl="0" marL="0" rtl="0" algn="l">
              <a:spcBef>
                <a:spcPts val="0"/>
              </a:spcBef>
              <a:spcAft>
                <a:spcPts val="0"/>
              </a:spcAft>
              <a:buNone/>
            </a:pPr>
            <a:r>
              <a:rPr lang="en"/>
              <a:t>Well, what’s right above that? The RIP of the previous stack frame… (flip)</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028d3c3286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028d3c3286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key in this attack (which is called an off-by-one attack) is that the program blindly believes that the RIP is ALWAYS 4 bytes above the SFP. It does not check that that is what the SFP used to be (surely it must be the same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calling convention, there’s no checks like “Oh is the RIP = the actual one?” because then we’d have to store the “actual one” somewhere as well. It just never stops believing (maybe calling convention is a journey fan, who knows)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we’ve tricked the program into thinking that the 2nd word of main is an RIP. Is it </a:t>
            </a:r>
            <a:r>
              <a:rPr lang="en"/>
              <a:t>supposed</a:t>
            </a:r>
            <a:r>
              <a:rPr lang="en"/>
              <a:t> to be? No. But by changing the least significant byte of the SFP of vulnerable, we’re able to trick the program into thinking that that is the fake RIP of main.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funky thing about this is that it takes two returns for the program to actually execute shellcode (as opposed to everything else we’ve seen today where we’ve overwritten an RIP directly to execute shellcode).</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2028d3c3286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2028d3c3286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start by running our first function epilogue (in vulnerable). Let’s do calling convention again! I know it seems like I’m beating a dead horse, but really understanding calling convention in all its glory is what will make a lot of these memory safety vulnerabilities click a little better and save you so much time on project 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Okay so we’re first going to execute adding 16 to esp (to get rid of the arguments from fread)</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2028d3c3286_0_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2028d3c3286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Move ebp up to esp</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2028d3c3286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2028d3c3286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2028d3c3286_0_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2028d3c3286_0_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Popping the ebp. Now, if we didn't’ touch the sfp, the ebp would be going up to where the sfp of main is right?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Okay, so our ebp is in the wrong place.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2028d3c3286_0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2028d3c3286_0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But look what happens when we execute ret = pop eip. The actual instructions that are going to be run are in main (like expected). So the core concept of an off-by-one is that the location of the current stack frame (defined by ebp and esp) is wrong, but the code we’re returning to in the first return is correct.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Also, notice here that the esp (the bottom of the stack frame) is above the ebp (the top of the current stack frame). Again, there are no checks in C to prevent this from happening!</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2028d3c3286_0_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2028d3c3286_0_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Okay, so now that we’ve returned to main, let’s see what happens on our second return, when main returns.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2028d3c3286_0_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2028d3c3286_0_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2028d3c3286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2028d3c3286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2028d3c3286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2028d3c3286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will be super helpful for Project 1!</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2028d3c3286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2028d3c3286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sometimes, you don’t actually know exactly what the address of your shellcode is. Previously, we’ve always known the exact address to write into our RIPs and such.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NOP is the literal definition of doing nothing. This gives you more flexibility. In the past, if you were even off by one byte when calculating your address, you’d be struggling. Now, if you have a bunch of NOPs lined up, you have a lot more freedom so you don’t have to land in the exact right spot.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land in the first nop, or the second nop, or the tenth nop, you will still run SHELLCODE. It’s okay–you’re just executing a bunch of nothing and then slide into SHELLCODE. This is commonly called a no-op sled.</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2028d3c3286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2028d3c3286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now complete a majority of project 1!</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5" name="Google Shape;25;p5"/>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37" name="Shape 37"/>
        <p:cNvGrpSpPr/>
        <p:nvPr/>
      </p:nvGrpSpPr>
      <p:grpSpPr>
        <a:xfrm>
          <a:off x="0" y="0"/>
          <a:ext cx="0" cy="0"/>
          <a:chOff x="0" y="0"/>
          <a:chExt cx="0" cy="0"/>
        </a:xfrm>
      </p:grpSpPr>
      <p:sp>
        <p:nvSpPr>
          <p:cNvPr id="38" name="Google Shape;38;p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40" name="Shape 40"/>
        <p:cNvGrpSpPr/>
        <p:nvPr/>
      </p:nvGrpSpPr>
      <p:grpSpPr>
        <a:xfrm>
          <a:off x="0" y="0"/>
          <a:ext cx="0" cy="0"/>
          <a:chOff x="0" y="0"/>
          <a:chExt cx="0" cy="0"/>
        </a:xfrm>
      </p:grpSpPr>
      <p:sp>
        <p:nvSpPr>
          <p:cNvPr id="41" name="Google Shape;41;p1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1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4" name="Shape 44"/>
        <p:cNvGrpSpPr/>
        <p:nvPr/>
      </p:nvGrpSpPr>
      <p:grpSpPr>
        <a:xfrm>
          <a:off x="0" y="0"/>
          <a:ext cx="0" cy="0"/>
          <a:chOff x="0" y="0"/>
          <a:chExt cx="0" cy="0"/>
        </a:xfrm>
      </p:grpSpPr>
      <p:sp>
        <p:nvSpPr>
          <p:cNvPr id="45" name="Google Shape;45;p1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11"/>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8" name="Google Shape;48;p11"/>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49" name="Shape 49"/>
        <p:cNvGrpSpPr/>
        <p:nvPr/>
      </p:nvGrpSpPr>
      <p:grpSpPr>
        <a:xfrm>
          <a:off x="0" y="0"/>
          <a:ext cx="0" cy="0"/>
          <a:chOff x="0" y="0"/>
          <a:chExt cx="0" cy="0"/>
        </a:xfrm>
      </p:grpSpPr>
      <p:sp>
        <p:nvSpPr>
          <p:cNvPr id="50" name="Google Shape;50;p1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2" name="Shape 52"/>
        <p:cNvGrpSpPr/>
        <p:nvPr/>
      </p:nvGrpSpPr>
      <p:grpSpPr>
        <a:xfrm>
          <a:off x="0" y="0"/>
          <a:ext cx="0" cy="0"/>
          <a:chOff x="0" y="0"/>
          <a:chExt cx="0" cy="0"/>
        </a:xfrm>
      </p:grpSpPr>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 name="Google Shape;55;p1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1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lt1"/>
                </a:solidFill>
              </a:rPr>
              <a:t>CSE 405 - Computer Security - ART</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1" Type="http://schemas.openxmlformats.org/officeDocument/2006/relationships/hyperlink" Target="https://cwe.mitre.org/data/definitions/352.html" TargetMode="External"/><Relationship Id="rId10" Type="http://schemas.openxmlformats.org/officeDocument/2006/relationships/hyperlink" Target="https://cwe.mitre.org/data/definitions/22.html" TargetMode="External"/><Relationship Id="rId13" Type="http://schemas.openxmlformats.org/officeDocument/2006/relationships/image" Target="../media/image1.png"/><Relationship Id="rId12" Type="http://schemas.openxmlformats.org/officeDocument/2006/relationships/hyperlink" Target="https://cwe.mitre.org/data/definitions/434.html" TargetMode="External"/><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hyperlink" Target="https://cwe.mitre.org/data/definitions/787.html" TargetMode="External"/><Relationship Id="rId4" Type="http://schemas.openxmlformats.org/officeDocument/2006/relationships/hyperlink" Target="https://cwe.mitre.org/data/definitions/79.html" TargetMode="External"/><Relationship Id="rId9" Type="http://schemas.openxmlformats.org/officeDocument/2006/relationships/hyperlink" Target="https://cwe.mitre.org/data/definitions/125.html" TargetMode="External"/><Relationship Id="rId5" Type="http://schemas.openxmlformats.org/officeDocument/2006/relationships/hyperlink" Target="https://cwe.mitre.org/data/definitions/89.html" TargetMode="External"/><Relationship Id="rId6" Type="http://schemas.openxmlformats.org/officeDocument/2006/relationships/hyperlink" Target="https://cwe.mitre.org/data/definitions/416.html" TargetMode="External"/><Relationship Id="rId7" Type="http://schemas.openxmlformats.org/officeDocument/2006/relationships/hyperlink" Target="https://cwe.mitre.org/data/definitions/78.html" TargetMode="External"/><Relationship Id="rId8" Type="http://schemas.openxmlformats.org/officeDocument/2006/relationships/hyperlink" Target="https://cwe.mitre.org/data/definitions/20.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Memory Safety Vulnerabilities 2</a:t>
            </a:r>
            <a:endParaRPr/>
          </a:p>
        </p:txBody>
      </p:sp>
      <p:sp>
        <p:nvSpPr>
          <p:cNvPr id="65" name="Google Shape;65;p15"/>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lang="en" sz="6094"/>
              <a:t>CSE 405 January 2025 - Lecture 3</a:t>
            </a:r>
            <a:endParaRPr sz="6094"/>
          </a:p>
          <a:p>
            <a:pPr indent="0" lvl="0" marL="0" rtl="0" algn="ctr">
              <a:spcBef>
                <a:spcPts val="0"/>
              </a:spcBef>
              <a:spcAft>
                <a:spcPts val="0"/>
              </a:spcAft>
              <a:buNone/>
            </a:pPr>
            <a:r>
              <a:t/>
            </a:r>
            <a:endParaRPr sz="6094"/>
          </a:p>
          <a:p>
            <a:pPr indent="0" lvl="0" marL="0" rtl="0" algn="ctr">
              <a:spcBef>
                <a:spcPts val="0"/>
              </a:spcBef>
              <a:spcAft>
                <a:spcPts val="0"/>
              </a:spcAft>
              <a:buNone/>
            </a:pPr>
            <a:r>
              <a:rPr lang="en" sz="6094"/>
              <a:t>Special Thanks to Peyrin Kao (UC </a:t>
            </a:r>
            <a:r>
              <a:rPr lang="en" sz="6094"/>
              <a:t>Berkeley</a:t>
            </a:r>
            <a:r>
              <a:rPr lang="en" sz="6094"/>
              <a:t>)</a:t>
            </a:r>
            <a:endParaRPr sz="6094"/>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Format String Vulnerabilities</a:t>
            </a:r>
            <a:endParaRPr/>
          </a:p>
        </p:txBody>
      </p:sp>
      <p:sp>
        <p:nvSpPr>
          <p:cNvPr id="71" name="Google Shape;71;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a:solidFill>
                  <a:srgbClr val="000000"/>
                </a:solidFill>
              </a:rPr>
              <a:t>Textbook Chapter </a:t>
            </a:r>
            <a:r>
              <a:rPr lang="en"/>
              <a:t>3.3</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urier New"/>
                <a:ea typeface="Courier New"/>
                <a:cs typeface="Courier New"/>
                <a:sym typeface="Courier New"/>
              </a:rPr>
              <a:t>printf</a:t>
            </a:r>
            <a:r>
              <a:rPr lang="en"/>
              <a:t> behavior</a:t>
            </a:r>
            <a:endParaRPr/>
          </a:p>
        </p:txBody>
      </p:sp>
      <p:sp>
        <p:nvSpPr>
          <p:cNvPr id="78" name="Google Shape;7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 name="Google Shape;79;p1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latin typeface="Courier New"/>
                <a:ea typeface="Courier New"/>
                <a:cs typeface="Courier New"/>
                <a:sym typeface="Courier New"/>
              </a:rPr>
              <a:t>printf</a:t>
            </a:r>
            <a:r>
              <a:rPr lang="en"/>
              <a:t> accepts a variable number of arguments</a:t>
            </a:r>
            <a:endParaRPr/>
          </a:p>
          <a:p>
            <a:pPr indent="-317500" lvl="1" marL="914400" rtl="0" algn="l">
              <a:spcBef>
                <a:spcPts val="0"/>
              </a:spcBef>
              <a:spcAft>
                <a:spcPts val="0"/>
              </a:spcAft>
              <a:buSzPts val="1400"/>
              <a:buChar char="○"/>
            </a:pPr>
            <a:r>
              <a:rPr lang="en"/>
              <a:t>How does it know how many arguments that it received?</a:t>
            </a:r>
            <a:endParaRPr/>
          </a:p>
          <a:p>
            <a:pPr indent="-317500" lvl="1" marL="914400" rtl="0" algn="l">
              <a:spcBef>
                <a:spcPts val="0"/>
              </a:spcBef>
              <a:spcAft>
                <a:spcPts val="0"/>
              </a:spcAft>
              <a:buSzPts val="1400"/>
              <a:buChar char="○"/>
            </a:pPr>
            <a:r>
              <a:rPr lang="en"/>
              <a:t>It infers it from the first argument: the format string!</a:t>
            </a:r>
            <a:endParaRPr/>
          </a:p>
          <a:p>
            <a:pPr indent="-317500" lvl="1" marL="914400" rtl="0" algn="l">
              <a:spcBef>
                <a:spcPts val="0"/>
              </a:spcBef>
              <a:spcAft>
                <a:spcPts val="0"/>
              </a:spcAft>
              <a:buSzPts val="1400"/>
              <a:buChar char="○"/>
            </a:pPr>
            <a:r>
              <a:rPr lang="en"/>
              <a:t>Example: </a:t>
            </a:r>
            <a:r>
              <a:rPr b="1" lang="en">
                <a:latin typeface="Courier New"/>
                <a:ea typeface="Courier New"/>
                <a:cs typeface="Courier New"/>
                <a:sym typeface="Courier New"/>
              </a:rPr>
              <a:t>printf("One </a:t>
            </a:r>
            <a:r>
              <a:rPr b="1" lang="en">
                <a:solidFill>
                  <a:srgbClr val="FF0000"/>
                </a:solidFill>
                <a:latin typeface="Courier New"/>
                <a:ea typeface="Courier New"/>
                <a:cs typeface="Courier New"/>
                <a:sym typeface="Courier New"/>
              </a:rPr>
              <a:t>%s</a:t>
            </a:r>
            <a:r>
              <a:rPr b="1" lang="en">
                <a:latin typeface="Courier New"/>
                <a:ea typeface="Courier New"/>
                <a:cs typeface="Courier New"/>
                <a:sym typeface="Courier New"/>
              </a:rPr>
              <a:t> costs </a:t>
            </a:r>
            <a:r>
              <a:rPr b="1" lang="en">
                <a:solidFill>
                  <a:srgbClr val="0000FF"/>
                </a:solidFill>
                <a:latin typeface="Courier New"/>
                <a:ea typeface="Courier New"/>
                <a:cs typeface="Courier New"/>
                <a:sym typeface="Courier New"/>
              </a:rPr>
              <a:t>%d</a:t>
            </a:r>
            <a:r>
              <a:rPr b="1" lang="en">
                <a:latin typeface="Courier New"/>
                <a:ea typeface="Courier New"/>
                <a:cs typeface="Courier New"/>
                <a:sym typeface="Courier New"/>
              </a:rPr>
              <a:t>", </a:t>
            </a:r>
            <a:r>
              <a:rPr b="1" lang="en">
                <a:solidFill>
                  <a:srgbClr val="FF0000"/>
                </a:solidFill>
                <a:latin typeface="Courier New"/>
                <a:ea typeface="Courier New"/>
                <a:cs typeface="Courier New"/>
                <a:sym typeface="Courier New"/>
              </a:rPr>
              <a:t>fruit</a:t>
            </a:r>
            <a:r>
              <a:rPr b="1" lang="en">
                <a:latin typeface="Courier New"/>
                <a:ea typeface="Courier New"/>
                <a:cs typeface="Courier New"/>
                <a:sym typeface="Courier New"/>
              </a:rPr>
              <a:t>, </a:t>
            </a:r>
            <a:r>
              <a:rPr b="1" lang="en">
                <a:solidFill>
                  <a:srgbClr val="0000FF"/>
                </a:solidFill>
                <a:latin typeface="Courier New"/>
                <a:ea typeface="Courier New"/>
                <a:cs typeface="Courier New"/>
                <a:sym typeface="Courier New"/>
              </a:rPr>
              <a:t>price</a:t>
            </a:r>
            <a:r>
              <a:rPr b="1" lang="en">
                <a:latin typeface="Courier New"/>
                <a:ea typeface="Courier New"/>
                <a:cs typeface="Courier New"/>
                <a:sym typeface="Courier New"/>
              </a:rPr>
              <a:t>)</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What happens if the arguments are mismatched?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5" name="Google Shape;85;p1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urier New"/>
                <a:ea typeface="Courier New"/>
                <a:cs typeface="Courier New"/>
                <a:sym typeface="Courier New"/>
              </a:rPr>
              <a:t>printf</a:t>
            </a:r>
            <a:r>
              <a:rPr lang="en"/>
              <a:t> behavior</a:t>
            </a:r>
            <a:endParaRPr/>
          </a:p>
        </p:txBody>
      </p:sp>
      <p:sp>
        <p:nvSpPr>
          <p:cNvPr id="86" name="Google Shape;86;p18"/>
          <p:cNvSpPr txBox="1"/>
          <p:nvPr/>
        </p:nvSpPr>
        <p:spPr>
          <a:xfrm>
            <a:off x="817850" y="2091425"/>
            <a:ext cx="3471000" cy="116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void func(void)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int secret = 42;</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printf("%d\n", 123);</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87" name="Google Shape;87;p18"/>
          <p:cNvSpPr txBox="1"/>
          <p:nvPr/>
        </p:nvSpPr>
        <p:spPr>
          <a:xfrm>
            <a:off x="781600" y="3338200"/>
            <a:ext cx="4079400" cy="8313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latin typeface="Courier New"/>
                <a:ea typeface="Courier New"/>
                <a:cs typeface="Courier New"/>
                <a:sym typeface="Courier New"/>
              </a:rPr>
              <a:t>printf</a:t>
            </a:r>
            <a:r>
              <a:rPr lang="en">
                <a:solidFill>
                  <a:schemeClr val="dk1"/>
                </a:solidFill>
              </a:rPr>
              <a:t> </a:t>
            </a:r>
            <a:r>
              <a:rPr b="1" lang="en">
                <a:solidFill>
                  <a:schemeClr val="dk1"/>
                </a:solidFill>
              </a:rPr>
              <a:t>assumes</a:t>
            </a:r>
            <a:r>
              <a:rPr lang="en">
                <a:solidFill>
                  <a:schemeClr val="dk1"/>
                </a:solidFill>
              </a:rPr>
              <a:t> that there is 1 more argument because there is one format specifier (%d), so it will look 4 bytes up the stack for the argument</a:t>
            </a:r>
            <a:endParaRPr>
              <a:solidFill>
                <a:schemeClr val="dk1"/>
              </a:solidFill>
            </a:endParaRPr>
          </a:p>
        </p:txBody>
      </p:sp>
      <p:sp>
        <p:nvSpPr>
          <p:cNvPr id="88" name="Google Shape;88;p18"/>
          <p:cNvSpPr txBox="1"/>
          <p:nvPr/>
        </p:nvSpPr>
        <p:spPr>
          <a:xfrm>
            <a:off x="2453000" y="4105925"/>
            <a:ext cx="28341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What if there is no argument?</a:t>
            </a:r>
            <a:endParaRPr/>
          </a:p>
        </p:txBody>
      </p:sp>
      <p:graphicFrame>
        <p:nvGraphicFramePr>
          <p:cNvPr id="89" name="Google Shape;89;p18"/>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func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func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 = 42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123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 &amp;"%d\n"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bl>
          </a:graphicData>
        </a:graphic>
      </p:graphicFrame>
      <p:sp>
        <p:nvSpPr>
          <p:cNvPr id="90" name="Google Shape;90;p18"/>
          <p:cNvSpPr/>
          <p:nvPr/>
        </p:nvSpPr>
        <p:spPr>
          <a:xfrm>
            <a:off x="5973000" y="3371525"/>
            <a:ext cx="313372" cy="148469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91" name="Google Shape;91;p18"/>
          <p:cNvGraphicFramePr/>
          <p:nvPr/>
        </p:nvGraphicFramePr>
        <p:xfrm>
          <a:off x="6286375" y="4709825"/>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'd'</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bl>
          </a:graphicData>
        </a:graphic>
      </p:graphicFrame>
      <p:sp>
        <p:nvSpPr>
          <p:cNvPr id="92" name="Google Shape;92;p18"/>
          <p:cNvSpPr txBox="1"/>
          <p:nvPr/>
        </p:nvSpPr>
        <p:spPr>
          <a:xfrm>
            <a:off x="8490750" y="32165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93" name="Google Shape;93;p18"/>
          <p:cNvSpPr txBox="1"/>
          <p:nvPr/>
        </p:nvSpPr>
        <p:spPr>
          <a:xfrm>
            <a:off x="8490750" y="29667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9" name="Google Shape;99;p1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urier New"/>
                <a:ea typeface="Courier New"/>
                <a:cs typeface="Courier New"/>
                <a:sym typeface="Courier New"/>
              </a:rPr>
              <a:t>printf</a:t>
            </a:r>
            <a:r>
              <a:rPr lang="en"/>
              <a:t> behavior</a:t>
            </a:r>
            <a:endParaRPr/>
          </a:p>
        </p:txBody>
      </p:sp>
      <p:sp>
        <p:nvSpPr>
          <p:cNvPr id="100" name="Google Shape;100;p19"/>
          <p:cNvSpPr txBox="1"/>
          <p:nvPr/>
        </p:nvSpPr>
        <p:spPr>
          <a:xfrm>
            <a:off x="817850" y="2091425"/>
            <a:ext cx="3471000" cy="116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func(void)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int secret = 42;</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printf("%d\n");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101" name="Google Shape;101;p19"/>
          <p:cNvSpPr txBox="1"/>
          <p:nvPr/>
        </p:nvSpPr>
        <p:spPr>
          <a:xfrm>
            <a:off x="973350" y="3982850"/>
            <a:ext cx="45675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Because the format string contains the </a:t>
            </a:r>
            <a:r>
              <a:rPr b="1" lang="en">
                <a:latin typeface="Courier New"/>
                <a:ea typeface="Courier New"/>
                <a:cs typeface="Courier New"/>
                <a:sym typeface="Courier New"/>
              </a:rPr>
              <a:t>%d</a:t>
            </a:r>
            <a:r>
              <a:rPr lang="en"/>
              <a:t>, it will still look 4 bytes up -- and print the value of </a:t>
            </a:r>
            <a:r>
              <a:rPr b="1" lang="en">
                <a:latin typeface="Courier New"/>
                <a:ea typeface="Courier New"/>
                <a:cs typeface="Courier New"/>
                <a:sym typeface="Courier New"/>
              </a:rPr>
              <a:t>secret</a:t>
            </a:r>
            <a:r>
              <a:rPr lang="en"/>
              <a:t>!</a:t>
            </a:r>
            <a:endParaRPr/>
          </a:p>
        </p:txBody>
      </p:sp>
      <p:graphicFrame>
        <p:nvGraphicFramePr>
          <p:cNvPr id="102" name="Google Shape;102;p19"/>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func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func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 = 42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 &amp;"%d\n"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bl>
          </a:graphicData>
        </a:graphic>
      </p:graphicFrame>
      <p:sp>
        <p:nvSpPr>
          <p:cNvPr id="103" name="Google Shape;103;p19"/>
          <p:cNvSpPr/>
          <p:nvPr/>
        </p:nvSpPr>
        <p:spPr>
          <a:xfrm>
            <a:off x="5973000" y="3122502"/>
            <a:ext cx="313372" cy="1733632"/>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104" name="Google Shape;104;p19"/>
          <p:cNvGraphicFramePr/>
          <p:nvPr/>
        </p:nvGraphicFramePr>
        <p:xfrm>
          <a:off x="6286375" y="4709825"/>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'd'</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bl>
          </a:graphicData>
        </a:graphic>
      </p:graphicFrame>
      <p:sp>
        <p:nvSpPr>
          <p:cNvPr id="105" name="Google Shape;105;p19"/>
          <p:cNvSpPr txBox="1"/>
          <p:nvPr/>
        </p:nvSpPr>
        <p:spPr>
          <a:xfrm>
            <a:off x="8490750" y="29527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106" name="Google Shape;106;p19"/>
          <p:cNvSpPr txBox="1"/>
          <p:nvPr/>
        </p:nvSpPr>
        <p:spPr>
          <a:xfrm>
            <a:off x="8490750" y="27029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Vulnerabilities</a:t>
            </a:r>
            <a:endParaRPr/>
          </a:p>
        </p:txBody>
      </p:sp>
      <p:sp>
        <p:nvSpPr>
          <p:cNvPr id="112" name="Google Shape;112;p20"/>
          <p:cNvSpPr txBox="1"/>
          <p:nvPr/>
        </p:nvSpPr>
        <p:spPr>
          <a:xfrm>
            <a:off x="2109750" y="2091425"/>
            <a:ext cx="4924500" cy="19086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char buf[64];</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vulnerable(void)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if (fgets(buf, 64, stdin) == NULL)</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return;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printf(buf);</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113" name="Google Shape;11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4" name="Google Shape;114;p20"/>
          <p:cNvSpPr txBox="1"/>
          <p:nvPr/>
        </p:nvSpPr>
        <p:spPr>
          <a:xfrm>
            <a:off x="6083550" y="1296450"/>
            <a:ext cx="2158200" cy="400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What is the issue here?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Vulnerabilities</a:t>
            </a:r>
            <a:endParaRPr/>
          </a:p>
        </p:txBody>
      </p:sp>
      <p:sp>
        <p:nvSpPr>
          <p:cNvPr id="120" name="Google Shape;12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1"/>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With this code, </a:t>
            </a:r>
            <a:r>
              <a:rPr lang="en"/>
              <a:t>the attacker can specify any format string they want:</a:t>
            </a:r>
            <a:endParaRPr/>
          </a:p>
          <a:p>
            <a:pPr indent="-317500" lvl="1" marL="914400" rtl="0" algn="l">
              <a:spcBef>
                <a:spcPts val="0"/>
              </a:spcBef>
              <a:spcAft>
                <a:spcPts val="0"/>
              </a:spcAft>
              <a:buSzPts val="1400"/>
              <a:buFont typeface="Courier New"/>
              <a:buChar char="○"/>
            </a:pPr>
            <a:r>
              <a:rPr b="1" lang="en">
                <a:latin typeface="Courier New"/>
                <a:ea typeface="Courier New"/>
                <a:cs typeface="Courier New"/>
                <a:sym typeface="Courier New"/>
              </a:rPr>
              <a:t>printf("100</a:t>
            </a:r>
            <a:r>
              <a:rPr b="1" lang="en">
                <a:solidFill>
                  <a:srgbClr val="FF0000"/>
                </a:solidFill>
                <a:latin typeface="Courier New"/>
                <a:ea typeface="Courier New"/>
                <a:cs typeface="Courier New"/>
                <a:sym typeface="Courier New"/>
              </a:rPr>
              <a:t>% d</a:t>
            </a:r>
            <a:r>
              <a:rPr b="1" lang="en">
                <a:latin typeface="Courier New"/>
                <a:ea typeface="Courier New"/>
                <a:cs typeface="Courier New"/>
                <a:sym typeface="Courier New"/>
              </a:rPr>
              <a:t>one!")</a:t>
            </a:r>
            <a:endParaRPr b="1">
              <a:latin typeface="Courier New"/>
              <a:ea typeface="Courier New"/>
              <a:cs typeface="Courier New"/>
              <a:sym typeface="Courier New"/>
            </a:endParaRPr>
          </a:p>
          <a:p>
            <a:pPr indent="-317500" lvl="2" marL="1371600" rtl="0" algn="l">
              <a:spcBef>
                <a:spcPts val="0"/>
              </a:spcBef>
              <a:spcAft>
                <a:spcPts val="0"/>
              </a:spcAft>
              <a:buSzPts val="1400"/>
              <a:buChar char="■"/>
            </a:pPr>
            <a:r>
              <a:rPr lang="en"/>
              <a:t>Prints 4 bytes on the stack, 8 bytes above the RIP of </a:t>
            </a:r>
            <a:r>
              <a:rPr b="1" lang="en">
                <a:latin typeface="Courier New"/>
                <a:ea typeface="Courier New"/>
                <a:cs typeface="Courier New"/>
                <a:sym typeface="Courier New"/>
              </a:rPr>
              <a:t>printf</a:t>
            </a:r>
            <a:endParaRPr b="1">
              <a:latin typeface="Courier New"/>
              <a:ea typeface="Courier New"/>
              <a:cs typeface="Courier New"/>
              <a:sym typeface="Courier New"/>
            </a:endParaRPr>
          </a:p>
          <a:p>
            <a:pPr indent="-317500" lvl="1" marL="914400" rtl="0" algn="l">
              <a:spcBef>
                <a:spcPts val="0"/>
              </a:spcBef>
              <a:spcAft>
                <a:spcPts val="0"/>
              </a:spcAft>
              <a:buSzPts val="1400"/>
              <a:buFont typeface="Courier New"/>
              <a:buChar char="○"/>
            </a:pPr>
            <a:r>
              <a:rPr b="1" lang="en">
                <a:latin typeface="Courier New"/>
                <a:ea typeface="Courier New"/>
                <a:cs typeface="Courier New"/>
                <a:sym typeface="Courier New"/>
              </a:rPr>
              <a:t>printf("100</a:t>
            </a:r>
            <a:r>
              <a:rPr b="1" lang="en">
                <a:solidFill>
                  <a:srgbClr val="FF0000"/>
                </a:solidFill>
                <a:latin typeface="Courier New"/>
                <a:ea typeface="Courier New"/>
                <a:cs typeface="Courier New"/>
                <a:sym typeface="Courier New"/>
              </a:rPr>
              <a:t>% s</a:t>
            </a:r>
            <a:r>
              <a:rPr b="1" lang="en">
                <a:latin typeface="Courier New"/>
                <a:ea typeface="Courier New"/>
                <a:cs typeface="Courier New"/>
                <a:sym typeface="Courier New"/>
              </a:rPr>
              <a:t>topped.")</a:t>
            </a:r>
            <a:endParaRPr b="1">
              <a:latin typeface="Courier New"/>
              <a:ea typeface="Courier New"/>
              <a:cs typeface="Courier New"/>
              <a:sym typeface="Courier New"/>
            </a:endParaRPr>
          </a:p>
          <a:p>
            <a:pPr indent="-317500" lvl="2" marL="1371600" rtl="0" algn="l">
              <a:spcBef>
                <a:spcPts val="0"/>
              </a:spcBef>
              <a:spcAft>
                <a:spcPts val="0"/>
              </a:spcAft>
              <a:buSzPts val="1400"/>
              <a:buChar char="■"/>
            </a:pPr>
            <a:r>
              <a:rPr lang="en"/>
              <a:t>Print the bytes </a:t>
            </a:r>
            <a:r>
              <a:rPr b="1" lang="en"/>
              <a:t>pointed to</a:t>
            </a:r>
            <a:r>
              <a:rPr lang="en"/>
              <a:t> by the address located 8 bytes above the RIP of </a:t>
            </a:r>
            <a:r>
              <a:rPr b="1" lang="en">
                <a:latin typeface="Courier New"/>
                <a:ea typeface="Courier New"/>
                <a:cs typeface="Courier New"/>
                <a:sym typeface="Courier New"/>
              </a:rPr>
              <a:t>printf</a:t>
            </a:r>
            <a:r>
              <a:rPr lang="en"/>
              <a:t>, until the first '\0' byte</a:t>
            </a:r>
            <a:endParaRPr/>
          </a:p>
          <a:p>
            <a:pPr indent="-317500" lvl="1" marL="914400" rtl="0" algn="l">
              <a:spcBef>
                <a:spcPts val="0"/>
              </a:spcBef>
              <a:spcAft>
                <a:spcPts val="0"/>
              </a:spcAft>
              <a:buSzPts val="1400"/>
              <a:buFont typeface="Courier New"/>
              <a:buChar char="○"/>
            </a:pPr>
            <a:r>
              <a:rPr b="1" lang="en">
                <a:latin typeface="Courier New"/>
                <a:ea typeface="Courier New"/>
                <a:cs typeface="Courier New"/>
                <a:sym typeface="Courier New"/>
              </a:rPr>
              <a:t>printf("</a:t>
            </a:r>
            <a:r>
              <a:rPr b="1" lang="en">
                <a:solidFill>
                  <a:srgbClr val="FF0000"/>
                </a:solidFill>
                <a:latin typeface="Courier New"/>
                <a:ea typeface="Courier New"/>
                <a:cs typeface="Courier New"/>
                <a:sym typeface="Courier New"/>
              </a:rPr>
              <a:t>%x</a:t>
            </a:r>
            <a:r>
              <a:rPr b="1" lang="en">
                <a:latin typeface="Courier New"/>
                <a:ea typeface="Courier New"/>
                <a:cs typeface="Courier New"/>
                <a:sym typeface="Courier New"/>
              </a:rPr>
              <a:t> </a:t>
            </a:r>
            <a:r>
              <a:rPr b="1" lang="en">
                <a:solidFill>
                  <a:srgbClr val="FF0000"/>
                </a:solidFill>
                <a:latin typeface="Courier New"/>
                <a:ea typeface="Courier New"/>
                <a:cs typeface="Courier New"/>
                <a:sym typeface="Courier New"/>
              </a:rPr>
              <a:t>%x</a:t>
            </a:r>
            <a:r>
              <a:rPr b="1" lang="en">
                <a:latin typeface="Courier New"/>
                <a:ea typeface="Courier New"/>
                <a:cs typeface="Courier New"/>
                <a:sym typeface="Courier New"/>
              </a:rPr>
              <a:t> </a:t>
            </a:r>
            <a:r>
              <a:rPr b="1" lang="en">
                <a:solidFill>
                  <a:srgbClr val="FF0000"/>
                </a:solidFill>
                <a:latin typeface="Courier New"/>
                <a:ea typeface="Courier New"/>
                <a:cs typeface="Courier New"/>
                <a:sym typeface="Courier New"/>
              </a:rPr>
              <a:t>%x</a:t>
            </a:r>
            <a:r>
              <a:rPr b="1" lang="en">
                <a:latin typeface="Courier New"/>
                <a:ea typeface="Courier New"/>
                <a:cs typeface="Courier New"/>
                <a:sym typeface="Courier New"/>
              </a:rPr>
              <a:t> </a:t>
            </a:r>
            <a:r>
              <a:rPr b="1" lang="en">
                <a:solidFill>
                  <a:srgbClr val="FF0000"/>
                </a:solidFill>
                <a:latin typeface="Courier New"/>
                <a:ea typeface="Courier New"/>
                <a:cs typeface="Courier New"/>
                <a:sym typeface="Courier New"/>
              </a:rPr>
              <a:t>%x</a:t>
            </a:r>
            <a:r>
              <a:rPr b="1" lang="en">
                <a:latin typeface="Courier New"/>
                <a:ea typeface="Courier New"/>
                <a:cs typeface="Courier New"/>
                <a:sym typeface="Courier New"/>
              </a:rPr>
              <a:t> ...")</a:t>
            </a:r>
            <a:endParaRPr b="1">
              <a:latin typeface="Courier New"/>
              <a:ea typeface="Courier New"/>
              <a:cs typeface="Courier New"/>
              <a:sym typeface="Courier New"/>
            </a:endParaRPr>
          </a:p>
          <a:p>
            <a:pPr indent="-317500" lvl="2" marL="1371600" rtl="0" algn="l">
              <a:spcBef>
                <a:spcPts val="0"/>
              </a:spcBef>
              <a:spcAft>
                <a:spcPts val="0"/>
              </a:spcAft>
              <a:buSzPts val="1400"/>
              <a:buChar char="■"/>
            </a:pPr>
            <a:r>
              <a:rPr lang="en"/>
              <a:t>Print a series of values on the stack in hex</a:t>
            </a:r>
            <a:endParaRPr/>
          </a:p>
        </p:txBody>
      </p:sp>
      <p:sp>
        <p:nvSpPr>
          <p:cNvPr id="122" name="Google Shape;122;p21"/>
          <p:cNvSpPr txBox="1"/>
          <p:nvPr/>
        </p:nvSpPr>
        <p:spPr>
          <a:xfrm>
            <a:off x="5547425" y="2428225"/>
            <a:ext cx="3342300" cy="1262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char buf[64];</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if (fgets(buf, 64, stdin) == NULL)</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return;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8" name="Google Shape;128;p2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Vulnerability Walkthrough</a:t>
            </a:r>
            <a:endParaRPr/>
          </a:p>
        </p:txBody>
      </p:sp>
      <p:sp>
        <p:nvSpPr>
          <p:cNvPr id="129" name="Google Shape;129;p22"/>
          <p:cNvSpPr txBox="1"/>
          <p:nvPr/>
        </p:nvSpPr>
        <p:spPr>
          <a:xfrm>
            <a:off x="384600" y="4047625"/>
            <a:ext cx="4187400" cy="8313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Note that strings are passed by reference in C, so the argument to </a:t>
            </a:r>
            <a:r>
              <a:rPr b="1" lang="en">
                <a:latin typeface="Courier New"/>
                <a:ea typeface="Courier New"/>
                <a:cs typeface="Courier New"/>
                <a:sym typeface="Courier New"/>
              </a:rPr>
              <a:t>printf</a:t>
            </a:r>
            <a:r>
              <a:rPr lang="en"/>
              <a:t> is actually a pointer to </a:t>
            </a:r>
            <a:r>
              <a:rPr b="1" lang="en">
                <a:latin typeface="Courier New"/>
                <a:ea typeface="Courier New"/>
                <a:cs typeface="Courier New"/>
                <a:sym typeface="Courier New"/>
              </a:rPr>
              <a:t>buf</a:t>
            </a:r>
            <a:r>
              <a:rPr lang="en"/>
              <a:t>, which is in static memory.</a:t>
            </a:r>
            <a:endParaRPr/>
          </a:p>
        </p:txBody>
      </p:sp>
      <p:sp>
        <p:nvSpPr>
          <p:cNvPr id="130" name="Google Shape;130;p22"/>
          <p:cNvSpPr txBox="1"/>
          <p:nvPr/>
        </p:nvSpPr>
        <p:spPr>
          <a:xfrm>
            <a:off x="351925" y="1544850"/>
            <a:ext cx="4924500" cy="21240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Courier New"/>
                <a:ea typeface="Courier New"/>
                <a:cs typeface="Courier New"/>
                <a:sym typeface="Courier New"/>
              </a:rPr>
              <a:t>char buf[64];</a:t>
            </a:r>
            <a:endParaRPr b="1">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a:solidFill>
                  <a:schemeClr val="dk1"/>
                </a:solidFill>
                <a:latin typeface="Courier New"/>
                <a:ea typeface="Courier New"/>
                <a:cs typeface="Courier New"/>
                <a:sym typeface="Courier New"/>
              </a:rPr>
              <a:t>void vulnerable(void) {</a:t>
            </a:r>
            <a:endParaRPr b="1">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a:solidFill>
                  <a:schemeClr val="dk1"/>
                </a:solidFill>
                <a:latin typeface="Courier New"/>
                <a:ea typeface="Courier New"/>
                <a:cs typeface="Courier New"/>
                <a:sym typeface="Courier New"/>
              </a:rPr>
              <a:t>    char *secret_string = "pancake";</a:t>
            </a:r>
            <a:endParaRPr b="1">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a:solidFill>
                  <a:schemeClr val="dk1"/>
                </a:solidFill>
                <a:latin typeface="Courier New"/>
                <a:ea typeface="Courier New"/>
                <a:cs typeface="Courier New"/>
                <a:sym typeface="Courier New"/>
              </a:rPr>
              <a:t>    int secret_number = 42;</a:t>
            </a:r>
            <a:endParaRPr b="1">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a:solidFill>
                  <a:schemeClr val="dk1"/>
                </a:solidFill>
                <a:latin typeface="Courier New"/>
                <a:ea typeface="Courier New"/>
                <a:cs typeface="Courier New"/>
                <a:sym typeface="Courier New"/>
              </a:rPr>
              <a:t>    if (fgets(buf, 64, stdin) == NULL)</a:t>
            </a:r>
            <a:endParaRPr b="1">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a:solidFill>
                  <a:schemeClr val="dk1"/>
                </a:solidFill>
                <a:latin typeface="Courier New"/>
                <a:ea typeface="Courier New"/>
                <a:cs typeface="Courier New"/>
                <a:sym typeface="Courier New"/>
              </a:rPr>
              <a:t>        return;</a:t>
            </a:r>
            <a:endParaRPr b="1">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a:solidFill>
                  <a:schemeClr val="dk1"/>
                </a:solidFill>
                <a:latin typeface="Courier New"/>
                <a:ea typeface="Courier New"/>
                <a:cs typeface="Courier New"/>
                <a:sym typeface="Courier New"/>
              </a:rPr>
              <a:t>    printf(buf);</a:t>
            </a:r>
            <a:endParaRPr b="1">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a:solidFill>
                  <a:schemeClr val="dk1"/>
                </a:solidFill>
                <a:latin typeface="Courier New"/>
                <a:ea typeface="Courier New"/>
                <a:cs typeface="Courier New"/>
                <a:sym typeface="Courier New"/>
              </a:rPr>
              <a:t>}</a:t>
            </a:r>
            <a:endParaRPr b="1">
              <a:solidFill>
                <a:schemeClr val="dk1"/>
              </a:solidFill>
              <a:latin typeface="Courier New"/>
              <a:ea typeface="Courier New"/>
              <a:cs typeface="Courier New"/>
              <a:sym typeface="Courier New"/>
            </a:endParaRPr>
          </a:p>
        </p:txBody>
      </p:sp>
      <p:sp>
        <p:nvSpPr>
          <p:cNvPr id="131" name="Google Shape;131;p22"/>
          <p:cNvSpPr/>
          <p:nvPr/>
        </p:nvSpPr>
        <p:spPr>
          <a:xfrm>
            <a:off x="5820625" y="2147675"/>
            <a:ext cx="465763" cy="268796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132" name="Google Shape;132;p22"/>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secret_string</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secret_number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bl>
          </a:graphicData>
        </a:graphic>
      </p:graphicFrame>
      <p:graphicFrame>
        <p:nvGraphicFramePr>
          <p:cNvPr id="133" name="Google Shape;133;p22"/>
          <p:cNvGraphicFramePr/>
          <p:nvPr/>
        </p:nvGraphicFramePr>
        <p:xfrm>
          <a:off x="6286375" y="3977875"/>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48320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'k'</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solidFill>
                      <a:srgbClr val="EEEEEE"/>
                    </a:solidFill>
                  </a:tcPr>
                </a:tc>
              </a:tr>
            </a:tbl>
          </a:graphicData>
        </a:graphic>
      </p:graphicFrame>
      <p:sp>
        <p:nvSpPr>
          <p:cNvPr id="134" name="Google Shape;134;p22"/>
          <p:cNvSpPr/>
          <p:nvPr/>
        </p:nvSpPr>
        <p:spPr>
          <a:xfrm>
            <a:off x="5973025" y="2645275"/>
            <a:ext cx="313372" cy="1711680"/>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0" name="Google Shape;140;p2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Vulnerability Walkthrough</a:t>
            </a:r>
            <a:endParaRPr/>
          </a:p>
        </p:txBody>
      </p:sp>
      <p:sp>
        <p:nvSpPr>
          <p:cNvPr id="141" name="Google Shape;141;p23"/>
          <p:cNvSpPr txBox="1"/>
          <p:nvPr/>
        </p:nvSpPr>
        <p:spPr>
          <a:xfrm>
            <a:off x="179400" y="1216525"/>
            <a:ext cx="13389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Input: </a:t>
            </a:r>
            <a:r>
              <a:rPr b="1" lang="en">
                <a:solidFill>
                  <a:srgbClr val="CC0000"/>
                </a:solidFill>
                <a:latin typeface="Courier New"/>
                <a:ea typeface="Courier New"/>
                <a:cs typeface="Courier New"/>
                <a:sym typeface="Courier New"/>
              </a:rPr>
              <a:t>%d%s</a:t>
            </a:r>
            <a:endParaRPr b="1">
              <a:solidFill>
                <a:srgbClr val="CC0000"/>
              </a:solidFill>
              <a:latin typeface="Courier New"/>
              <a:ea typeface="Courier New"/>
              <a:cs typeface="Courier New"/>
              <a:sym typeface="Courier New"/>
            </a:endParaRPr>
          </a:p>
        </p:txBody>
      </p:sp>
      <p:sp>
        <p:nvSpPr>
          <p:cNvPr id="142" name="Google Shape;142;p23"/>
          <p:cNvSpPr txBox="1"/>
          <p:nvPr/>
        </p:nvSpPr>
        <p:spPr>
          <a:xfrm>
            <a:off x="1959275" y="1216525"/>
            <a:ext cx="3758700" cy="1847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char buf[64];</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*secret_string = "pancake";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int secret_number = 42;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if (fgets(buf, 64, stdin) == NULL)</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return;</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143" name="Google Shape;143;p23"/>
          <p:cNvSpPr txBox="1"/>
          <p:nvPr/>
        </p:nvSpPr>
        <p:spPr>
          <a:xfrm>
            <a:off x="179400" y="1747475"/>
            <a:ext cx="13389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Output:</a:t>
            </a:r>
            <a:endParaRPr/>
          </a:p>
          <a:p>
            <a:pPr indent="0" lvl="0" marL="0" rtl="0" algn="l">
              <a:spcBef>
                <a:spcPts val="0"/>
              </a:spcBef>
              <a:spcAft>
                <a:spcPts val="0"/>
              </a:spcAft>
              <a:buNone/>
            </a:pPr>
            <a:r>
              <a:t/>
            </a:r>
            <a:endParaRPr/>
          </a:p>
        </p:txBody>
      </p:sp>
      <p:sp>
        <p:nvSpPr>
          <p:cNvPr id="144" name="Google Shape;144;p23"/>
          <p:cNvSpPr txBox="1"/>
          <p:nvPr/>
        </p:nvSpPr>
        <p:spPr>
          <a:xfrm>
            <a:off x="384600" y="3663125"/>
            <a:ext cx="3801300" cy="10467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We’re calling </a:t>
            </a:r>
            <a:r>
              <a:rPr b="1" lang="en">
                <a:latin typeface="Courier New"/>
                <a:ea typeface="Courier New"/>
                <a:cs typeface="Courier New"/>
                <a:sym typeface="Courier New"/>
              </a:rPr>
              <a:t>printf("%d%s")</a:t>
            </a:r>
            <a:r>
              <a:rPr lang="en"/>
              <a:t>. </a:t>
            </a:r>
            <a:r>
              <a:rPr b="1" lang="en">
                <a:latin typeface="Courier New"/>
                <a:ea typeface="Courier New"/>
                <a:cs typeface="Courier New"/>
                <a:sym typeface="Courier New"/>
              </a:rPr>
              <a:t>printf</a:t>
            </a:r>
            <a:r>
              <a:rPr lang="en"/>
              <a:t> reads its first argument (arg0), sees two format specifiers, and expects two more arguments (arg1 and arg2).</a:t>
            </a:r>
            <a:endParaRPr/>
          </a:p>
        </p:txBody>
      </p:sp>
      <p:sp>
        <p:nvSpPr>
          <p:cNvPr id="145" name="Google Shape;145;p23"/>
          <p:cNvSpPr/>
          <p:nvPr/>
        </p:nvSpPr>
        <p:spPr>
          <a:xfrm>
            <a:off x="5820625" y="2147675"/>
            <a:ext cx="465763" cy="268796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146" name="Google Shape;146;p23"/>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secret_string</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secret_number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bl>
          </a:graphicData>
        </a:graphic>
      </p:graphicFrame>
      <p:sp>
        <p:nvSpPr>
          <p:cNvPr id="147" name="Google Shape;147;p23"/>
          <p:cNvSpPr/>
          <p:nvPr/>
        </p:nvSpPr>
        <p:spPr>
          <a:xfrm>
            <a:off x="5973025" y="2645275"/>
            <a:ext cx="313372" cy="1711680"/>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148" name="Google Shape;148;p23"/>
          <p:cNvSpPr txBox="1"/>
          <p:nvPr/>
        </p:nvSpPr>
        <p:spPr>
          <a:xfrm>
            <a:off x="8472450" y="24828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149" name="Google Shape;149;p23"/>
          <p:cNvSpPr txBox="1"/>
          <p:nvPr/>
        </p:nvSpPr>
        <p:spPr>
          <a:xfrm>
            <a:off x="8472450" y="22330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
        <p:nvSpPr>
          <p:cNvPr id="150" name="Google Shape;150;p23"/>
          <p:cNvSpPr txBox="1"/>
          <p:nvPr/>
        </p:nvSpPr>
        <p:spPr>
          <a:xfrm>
            <a:off x="8472450" y="19707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arg2</a:t>
            </a:r>
            <a:endParaRPr sz="1000"/>
          </a:p>
        </p:txBody>
      </p:sp>
      <p:graphicFrame>
        <p:nvGraphicFramePr>
          <p:cNvPr id="151" name="Google Shape;151;p23"/>
          <p:cNvGraphicFramePr/>
          <p:nvPr/>
        </p:nvGraphicFramePr>
        <p:xfrm>
          <a:off x="6286375" y="3978425"/>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'd'</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'k'</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solidFill>
                      <a:srgbClr val="EEEEEE"/>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2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Vulnerability Walkthrough</a:t>
            </a:r>
            <a:endParaRPr/>
          </a:p>
        </p:txBody>
      </p:sp>
      <p:sp>
        <p:nvSpPr>
          <p:cNvPr id="158" name="Google Shape;158;p24"/>
          <p:cNvSpPr txBox="1"/>
          <p:nvPr/>
        </p:nvSpPr>
        <p:spPr>
          <a:xfrm>
            <a:off x="179400" y="1216525"/>
            <a:ext cx="13389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Input: </a:t>
            </a:r>
            <a:r>
              <a:rPr b="1" lang="en">
                <a:solidFill>
                  <a:srgbClr val="CC0000"/>
                </a:solidFill>
                <a:latin typeface="Courier New"/>
                <a:ea typeface="Courier New"/>
                <a:cs typeface="Courier New"/>
                <a:sym typeface="Courier New"/>
              </a:rPr>
              <a:t>%d%s</a:t>
            </a:r>
            <a:endParaRPr b="1">
              <a:solidFill>
                <a:srgbClr val="CC0000"/>
              </a:solidFill>
              <a:latin typeface="Courier New"/>
              <a:ea typeface="Courier New"/>
              <a:cs typeface="Courier New"/>
              <a:sym typeface="Courier New"/>
            </a:endParaRPr>
          </a:p>
        </p:txBody>
      </p:sp>
      <p:sp>
        <p:nvSpPr>
          <p:cNvPr id="159" name="Google Shape;159;p24"/>
          <p:cNvSpPr txBox="1"/>
          <p:nvPr/>
        </p:nvSpPr>
        <p:spPr>
          <a:xfrm>
            <a:off x="1959275" y="1216525"/>
            <a:ext cx="3758700" cy="1847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char buf[64];</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*secret_string = "pancake";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int secret_number = 42;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if (fgets(buf, 64, stdin) == NULL)</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return;</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160" name="Google Shape;160;p24"/>
          <p:cNvSpPr txBox="1"/>
          <p:nvPr/>
        </p:nvSpPr>
        <p:spPr>
          <a:xfrm>
            <a:off x="179400" y="1747475"/>
            <a:ext cx="13389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Output:</a:t>
            </a:r>
            <a:endParaRPr/>
          </a:p>
          <a:p>
            <a:pPr indent="0" lvl="0" marL="0" rtl="0" algn="l">
              <a:spcBef>
                <a:spcPts val="0"/>
              </a:spcBef>
              <a:spcAft>
                <a:spcPts val="0"/>
              </a:spcAft>
              <a:buNone/>
            </a:pPr>
            <a:r>
              <a:rPr b="1" lang="en">
                <a:latin typeface="Courier New"/>
                <a:ea typeface="Courier New"/>
                <a:cs typeface="Courier New"/>
                <a:sym typeface="Courier New"/>
              </a:rPr>
              <a:t>42</a:t>
            </a:r>
            <a:endParaRPr/>
          </a:p>
        </p:txBody>
      </p:sp>
      <p:sp>
        <p:nvSpPr>
          <p:cNvPr id="161" name="Google Shape;161;p24"/>
          <p:cNvSpPr txBox="1"/>
          <p:nvPr/>
        </p:nvSpPr>
        <p:spPr>
          <a:xfrm>
            <a:off x="384600" y="3663125"/>
            <a:ext cx="41874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first format specifier </a:t>
            </a:r>
            <a:r>
              <a:rPr b="1" lang="en">
                <a:latin typeface="Courier New"/>
                <a:ea typeface="Courier New"/>
                <a:cs typeface="Courier New"/>
                <a:sym typeface="Courier New"/>
              </a:rPr>
              <a:t>%d</a:t>
            </a:r>
            <a:r>
              <a:rPr lang="en"/>
              <a:t> says to treat the next argument (arg1) as an integer and print it out.</a:t>
            </a:r>
            <a:endParaRPr/>
          </a:p>
        </p:txBody>
      </p:sp>
      <p:sp>
        <p:nvSpPr>
          <p:cNvPr id="162" name="Google Shape;162;p24"/>
          <p:cNvSpPr/>
          <p:nvPr/>
        </p:nvSpPr>
        <p:spPr>
          <a:xfrm>
            <a:off x="5820625" y="2147675"/>
            <a:ext cx="465763" cy="268796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163" name="Google Shape;163;p24"/>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secret_string</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secret_number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bl>
          </a:graphicData>
        </a:graphic>
      </p:graphicFrame>
      <p:sp>
        <p:nvSpPr>
          <p:cNvPr id="164" name="Google Shape;164;p24"/>
          <p:cNvSpPr/>
          <p:nvPr/>
        </p:nvSpPr>
        <p:spPr>
          <a:xfrm>
            <a:off x="5973025" y="2645275"/>
            <a:ext cx="313372" cy="1711680"/>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165" name="Google Shape;165;p24"/>
          <p:cNvSpPr txBox="1"/>
          <p:nvPr/>
        </p:nvSpPr>
        <p:spPr>
          <a:xfrm>
            <a:off x="8472450" y="24828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166" name="Google Shape;166;p24"/>
          <p:cNvSpPr txBox="1"/>
          <p:nvPr/>
        </p:nvSpPr>
        <p:spPr>
          <a:xfrm>
            <a:off x="8472450" y="22330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
        <p:nvSpPr>
          <p:cNvPr id="167" name="Google Shape;167;p24"/>
          <p:cNvSpPr txBox="1"/>
          <p:nvPr/>
        </p:nvSpPr>
        <p:spPr>
          <a:xfrm>
            <a:off x="8472450" y="19707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arg2</a:t>
            </a:r>
            <a:endParaRPr sz="1000"/>
          </a:p>
        </p:txBody>
      </p:sp>
      <p:graphicFrame>
        <p:nvGraphicFramePr>
          <p:cNvPr id="168" name="Google Shape;168;p24"/>
          <p:cNvGraphicFramePr/>
          <p:nvPr/>
        </p:nvGraphicFramePr>
        <p:xfrm>
          <a:off x="6286375" y="3978425"/>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'd'</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'k'</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solidFill>
                      <a:srgbClr val="EEEEEE"/>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4" name="Google Shape;174;p2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Vulnerability Walkthrough</a:t>
            </a:r>
            <a:endParaRPr/>
          </a:p>
        </p:txBody>
      </p:sp>
      <p:sp>
        <p:nvSpPr>
          <p:cNvPr id="175" name="Google Shape;175;p25"/>
          <p:cNvSpPr txBox="1"/>
          <p:nvPr/>
        </p:nvSpPr>
        <p:spPr>
          <a:xfrm>
            <a:off x="179400" y="1216525"/>
            <a:ext cx="13389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Input: </a:t>
            </a:r>
            <a:r>
              <a:rPr b="1" lang="en">
                <a:solidFill>
                  <a:srgbClr val="CC0000"/>
                </a:solidFill>
                <a:latin typeface="Courier New"/>
                <a:ea typeface="Courier New"/>
                <a:cs typeface="Courier New"/>
                <a:sym typeface="Courier New"/>
              </a:rPr>
              <a:t>%d%s</a:t>
            </a:r>
            <a:endParaRPr b="1">
              <a:solidFill>
                <a:srgbClr val="CC0000"/>
              </a:solidFill>
              <a:latin typeface="Courier New"/>
              <a:ea typeface="Courier New"/>
              <a:cs typeface="Courier New"/>
              <a:sym typeface="Courier New"/>
            </a:endParaRPr>
          </a:p>
        </p:txBody>
      </p:sp>
      <p:sp>
        <p:nvSpPr>
          <p:cNvPr id="176" name="Google Shape;176;p25"/>
          <p:cNvSpPr txBox="1"/>
          <p:nvPr/>
        </p:nvSpPr>
        <p:spPr>
          <a:xfrm>
            <a:off x="1959275" y="1216525"/>
            <a:ext cx="3758700" cy="1847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char buf[64];</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*secret_string = "pancake";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int secret_number = 42;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if (fgets(buf, 64, stdin) == NULL)</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return;</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177" name="Google Shape;177;p25"/>
          <p:cNvSpPr txBox="1"/>
          <p:nvPr/>
        </p:nvSpPr>
        <p:spPr>
          <a:xfrm>
            <a:off x="179400" y="1747475"/>
            <a:ext cx="13389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Output:</a:t>
            </a:r>
            <a:endParaRPr/>
          </a:p>
          <a:p>
            <a:pPr indent="0" lvl="0" marL="0" rtl="0" algn="l">
              <a:spcBef>
                <a:spcPts val="0"/>
              </a:spcBef>
              <a:spcAft>
                <a:spcPts val="0"/>
              </a:spcAft>
              <a:buNone/>
            </a:pPr>
            <a:r>
              <a:rPr b="1" lang="en">
                <a:latin typeface="Courier New"/>
                <a:ea typeface="Courier New"/>
                <a:cs typeface="Courier New"/>
                <a:sym typeface="Courier New"/>
              </a:rPr>
              <a:t>42pancake</a:t>
            </a:r>
            <a:endParaRPr/>
          </a:p>
        </p:txBody>
      </p:sp>
      <p:sp>
        <p:nvSpPr>
          <p:cNvPr id="178" name="Google Shape;178;p25"/>
          <p:cNvSpPr txBox="1"/>
          <p:nvPr/>
        </p:nvSpPr>
        <p:spPr>
          <a:xfrm>
            <a:off x="483250" y="3419375"/>
            <a:ext cx="4187400" cy="8313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second format specifier </a:t>
            </a:r>
            <a:r>
              <a:rPr b="1" lang="en">
                <a:latin typeface="Courier New"/>
                <a:ea typeface="Courier New"/>
                <a:cs typeface="Courier New"/>
                <a:sym typeface="Courier New"/>
              </a:rPr>
              <a:t>%s</a:t>
            </a:r>
            <a:r>
              <a:rPr lang="en"/>
              <a:t> says to treat the next argument (arg2) as a (pointer to a) string and print it out.</a:t>
            </a:r>
            <a:endParaRPr/>
          </a:p>
        </p:txBody>
      </p:sp>
      <p:sp>
        <p:nvSpPr>
          <p:cNvPr id="179" name="Google Shape;179;p25"/>
          <p:cNvSpPr txBox="1"/>
          <p:nvPr/>
        </p:nvSpPr>
        <p:spPr>
          <a:xfrm>
            <a:off x="808000" y="3978425"/>
            <a:ext cx="41874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%s</a:t>
            </a:r>
            <a:r>
              <a:rPr lang="en"/>
              <a:t> will dereference the pointer at arg2 and print until it sees a null byte (</a:t>
            </a:r>
            <a:r>
              <a:rPr b="1" lang="en">
                <a:latin typeface="Courier New"/>
                <a:ea typeface="Courier New"/>
                <a:cs typeface="Courier New"/>
                <a:sym typeface="Courier New"/>
              </a:rPr>
              <a:t>'\0'</a:t>
            </a:r>
            <a:r>
              <a:rPr lang="en"/>
              <a:t>)</a:t>
            </a:r>
            <a:endParaRPr/>
          </a:p>
        </p:txBody>
      </p:sp>
      <p:sp>
        <p:nvSpPr>
          <p:cNvPr id="180" name="Google Shape;180;p25"/>
          <p:cNvSpPr/>
          <p:nvPr/>
        </p:nvSpPr>
        <p:spPr>
          <a:xfrm>
            <a:off x="5820625" y="2147675"/>
            <a:ext cx="465763" cy="268796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181" name="Google Shape;181;p25"/>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secret_string</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secret_number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bl>
          </a:graphicData>
        </a:graphic>
      </p:graphicFrame>
      <p:sp>
        <p:nvSpPr>
          <p:cNvPr id="182" name="Google Shape;182;p25"/>
          <p:cNvSpPr/>
          <p:nvPr/>
        </p:nvSpPr>
        <p:spPr>
          <a:xfrm>
            <a:off x="5973025" y="2645275"/>
            <a:ext cx="313372" cy="1711680"/>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183" name="Google Shape;183;p25"/>
          <p:cNvSpPr txBox="1"/>
          <p:nvPr/>
        </p:nvSpPr>
        <p:spPr>
          <a:xfrm>
            <a:off x="8472450" y="24828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184" name="Google Shape;184;p25"/>
          <p:cNvSpPr txBox="1"/>
          <p:nvPr/>
        </p:nvSpPr>
        <p:spPr>
          <a:xfrm>
            <a:off x="8472450" y="22330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
        <p:nvSpPr>
          <p:cNvPr id="185" name="Google Shape;185;p25"/>
          <p:cNvSpPr txBox="1"/>
          <p:nvPr/>
        </p:nvSpPr>
        <p:spPr>
          <a:xfrm>
            <a:off x="8472450" y="19707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arg2</a:t>
            </a:r>
            <a:endParaRPr sz="1000"/>
          </a:p>
        </p:txBody>
      </p:sp>
      <p:graphicFrame>
        <p:nvGraphicFramePr>
          <p:cNvPr id="186" name="Google Shape;186;p25"/>
          <p:cNvGraphicFramePr/>
          <p:nvPr/>
        </p:nvGraphicFramePr>
        <p:xfrm>
          <a:off x="6286375" y="3978425"/>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'd'</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'k'</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solidFill>
                      <a:srgbClr val="EEEEEE"/>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Vulnerabilities</a:t>
            </a:r>
            <a:endParaRPr/>
          </a:p>
        </p:txBody>
      </p:sp>
      <p:sp>
        <p:nvSpPr>
          <p:cNvPr id="192" name="Google Shape;19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93" name="Google Shape;193;p26"/>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printf</a:t>
            </a:r>
            <a:r>
              <a:rPr lang="en"/>
              <a:t> can also write values using the </a:t>
            </a:r>
            <a:r>
              <a:rPr b="1" lang="en">
                <a:latin typeface="Courier New"/>
                <a:ea typeface="Courier New"/>
                <a:cs typeface="Courier New"/>
                <a:sym typeface="Courier New"/>
              </a:rPr>
              <a:t>%n</a:t>
            </a:r>
            <a:r>
              <a:rPr lang="en"/>
              <a:t> specifier</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%n</a:t>
            </a:r>
            <a:r>
              <a:rPr lang="en"/>
              <a:t> treats the next argument as a </a:t>
            </a:r>
            <a:r>
              <a:rPr b="1" lang="en"/>
              <a:t>pointer</a:t>
            </a:r>
            <a:r>
              <a:rPr lang="en"/>
              <a:t> and writes the number of bytes printed so far to that address (usually used to calculate output spacing)</a:t>
            </a:r>
            <a:endParaRPr/>
          </a:p>
          <a:p>
            <a:pPr indent="-317500" lvl="2" marL="1371600" rtl="0" algn="l">
              <a:spcBef>
                <a:spcPts val="0"/>
              </a:spcBef>
              <a:spcAft>
                <a:spcPts val="0"/>
              </a:spcAft>
              <a:buSzPts val="1400"/>
              <a:buChar char="■"/>
            </a:pPr>
            <a:r>
              <a:rPr b="1" lang="en">
                <a:latin typeface="Courier New"/>
                <a:ea typeface="Courier New"/>
                <a:cs typeface="Courier New"/>
                <a:sym typeface="Courier New"/>
              </a:rPr>
              <a:t>printf("item %d:%n", 3, &amp;val)</a:t>
            </a:r>
            <a:r>
              <a:rPr lang="en"/>
              <a:t> stores 7 in </a:t>
            </a:r>
            <a:r>
              <a:rPr b="1" lang="en">
                <a:latin typeface="Courier New"/>
                <a:ea typeface="Courier New"/>
                <a:cs typeface="Courier New"/>
                <a:sym typeface="Courier New"/>
              </a:rPr>
              <a:t>val</a:t>
            </a:r>
            <a:endParaRPr/>
          </a:p>
          <a:p>
            <a:pPr indent="-317500" lvl="2" marL="1371600" rtl="0" algn="l">
              <a:spcBef>
                <a:spcPts val="0"/>
              </a:spcBef>
              <a:spcAft>
                <a:spcPts val="0"/>
              </a:spcAft>
              <a:buSzPts val="1400"/>
              <a:buChar char="■"/>
            </a:pPr>
            <a:r>
              <a:rPr b="1" lang="en">
                <a:latin typeface="Courier New"/>
                <a:ea typeface="Courier New"/>
                <a:cs typeface="Courier New"/>
                <a:sym typeface="Courier New"/>
              </a:rPr>
              <a:t>printf("item %d:%n", 987, &amp;val)</a:t>
            </a:r>
            <a:r>
              <a:rPr lang="en"/>
              <a:t> stores 9 in </a:t>
            </a:r>
            <a:r>
              <a:rPr b="1" lang="en">
                <a:latin typeface="Courier New"/>
                <a:ea typeface="Courier New"/>
                <a:cs typeface="Courier New"/>
                <a:sym typeface="Courier New"/>
              </a:rPr>
              <a:t>val</a:t>
            </a:r>
            <a:endParaRPr/>
          </a:p>
          <a:p>
            <a:pPr indent="-317500" lvl="1" marL="914400" rtl="0" algn="l">
              <a:spcBef>
                <a:spcPts val="0"/>
              </a:spcBef>
              <a:spcAft>
                <a:spcPts val="0"/>
              </a:spcAft>
              <a:buSzPts val="1400"/>
              <a:buFont typeface="Courier New"/>
              <a:buChar char="○"/>
            </a:pPr>
            <a:r>
              <a:rPr b="1" lang="en">
                <a:latin typeface="Courier New"/>
                <a:ea typeface="Courier New"/>
                <a:cs typeface="Courier New"/>
                <a:sym typeface="Courier New"/>
              </a:rPr>
              <a:t>printf("000</a:t>
            </a:r>
            <a:r>
              <a:rPr b="1" lang="en">
                <a:solidFill>
                  <a:srgbClr val="FF0000"/>
                </a:solidFill>
                <a:latin typeface="Courier New"/>
                <a:ea typeface="Courier New"/>
                <a:cs typeface="Courier New"/>
                <a:sym typeface="Courier New"/>
              </a:rPr>
              <a:t>%n</a:t>
            </a:r>
            <a:r>
              <a:rPr b="1" lang="en">
                <a:latin typeface="Courier New"/>
                <a:ea typeface="Courier New"/>
                <a:cs typeface="Courier New"/>
                <a:sym typeface="Courier New"/>
              </a:rPr>
              <a:t>")</a:t>
            </a:r>
            <a:endParaRPr b="1">
              <a:latin typeface="Courier New"/>
              <a:ea typeface="Courier New"/>
              <a:cs typeface="Courier New"/>
              <a:sym typeface="Courier New"/>
            </a:endParaRPr>
          </a:p>
          <a:p>
            <a:pPr indent="-317500" lvl="2" marL="1371600" rtl="0" algn="l">
              <a:spcBef>
                <a:spcPts val="0"/>
              </a:spcBef>
              <a:spcAft>
                <a:spcPts val="0"/>
              </a:spcAft>
              <a:buSzPts val="1400"/>
              <a:buChar char="■"/>
            </a:pPr>
            <a:r>
              <a:rPr b="1" lang="en"/>
              <a:t>Writes</a:t>
            </a:r>
            <a:r>
              <a:rPr lang="en"/>
              <a:t> the value 3 to the memory location </a:t>
            </a:r>
            <a:r>
              <a:rPr b="1" lang="en"/>
              <a:t>pointed to</a:t>
            </a:r>
            <a:r>
              <a:rPr lang="en"/>
              <a:t> by address located 8 bytes above the RIP of </a:t>
            </a:r>
            <a:r>
              <a:rPr b="1" lang="en">
                <a:latin typeface="Courier New"/>
                <a:ea typeface="Courier New"/>
                <a:cs typeface="Courier New"/>
                <a:sym typeface="Courier New"/>
              </a:rPr>
              <a:t>printf</a:t>
            </a:r>
            <a:endParaRPr b="1">
              <a:latin typeface="Courier New"/>
              <a:ea typeface="Courier New"/>
              <a:cs typeface="Courier New"/>
              <a:sym typeface="Courier New"/>
            </a:endParaRPr>
          </a:p>
        </p:txBody>
      </p:sp>
      <p:sp>
        <p:nvSpPr>
          <p:cNvPr id="194" name="Google Shape;194;p26"/>
          <p:cNvSpPr txBox="1"/>
          <p:nvPr/>
        </p:nvSpPr>
        <p:spPr>
          <a:xfrm>
            <a:off x="5547425" y="2428225"/>
            <a:ext cx="33423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buf[64];</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if (fgets(buf, 64, stdin) == NULL)</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return;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0" name="Google Shape;200;p2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Vulnerability Walkthrough</a:t>
            </a:r>
            <a:endParaRPr/>
          </a:p>
        </p:txBody>
      </p:sp>
      <p:sp>
        <p:nvSpPr>
          <p:cNvPr id="201" name="Google Shape;201;p27"/>
          <p:cNvSpPr txBox="1"/>
          <p:nvPr/>
        </p:nvSpPr>
        <p:spPr>
          <a:xfrm>
            <a:off x="179400" y="1216525"/>
            <a:ext cx="13389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Input: </a:t>
            </a:r>
            <a:r>
              <a:rPr b="1" lang="en">
                <a:solidFill>
                  <a:srgbClr val="CC0000"/>
                </a:solidFill>
                <a:latin typeface="Courier New"/>
                <a:ea typeface="Courier New"/>
                <a:cs typeface="Courier New"/>
                <a:sym typeface="Courier New"/>
              </a:rPr>
              <a:t>%d%n</a:t>
            </a:r>
            <a:endParaRPr b="1">
              <a:solidFill>
                <a:srgbClr val="CC0000"/>
              </a:solidFill>
              <a:latin typeface="Courier New"/>
              <a:ea typeface="Courier New"/>
              <a:cs typeface="Courier New"/>
              <a:sym typeface="Courier New"/>
            </a:endParaRPr>
          </a:p>
        </p:txBody>
      </p:sp>
      <p:sp>
        <p:nvSpPr>
          <p:cNvPr id="202" name="Google Shape;202;p27"/>
          <p:cNvSpPr txBox="1"/>
          <p:nvPr/>
        </p:nvSpPr>
        <p:spPr>
          <a:xfrm>
            <a:off x="1959275" y="1216525"/>
            <a:ext cx="3758700" cy="1847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char buf[64];</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*secret_string = "pancake";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int secret_number = 42;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if (fgets(buf, 64, stdin) == NULL)</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return;</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203" name="Google Shape;203;p27"/>
          <p:cNvSpPr txBox="1"/>
          <p:nvPr/>
        </p:nvSpPr>
        <p:spPr>
          <a:xfrm>
            <a:off x="179400" y="1747475"/>
            <a:ext cx="13389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Output:</a:t>
            </a:r>
            <a:endParaRPr/>
          </a:p>
          <a:p>
            <a:pPr indent="0" lvl="0" marL="0" rtl="0" algn="l">
              <a:spcBef>
                <a:spcPts val="0"/>
              </a:spcBef>
              <a:spcAft>
                <a:spcPts val="0"/>
              </a:spcAft>
              <a:buNone/>
            </a:pPr>
            <a:r>
              <a:t/>
            </a:r>
            <a:endParaRPr/>
          </a:p>
        </p:txBody>
      </p:sp>
      <p:sp>
        <p:nvSpPr>
          <p:cNvPr id="204" name="Google Shape;204;p27"/>
          <p:cNvSpPr txBox="1"/>
          <p:nvPr/>
        </p:nvSpPr>
        <p:spPr>
          <a:xfrm>
            <a:off x="384600" y="3663125"/>
            <a:ext cx="3801300" cy="10467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We’re calling </a:t>
            </a:r>
            <a:r>
              <a:rPr b="1" lang="en">
                <a:latin typeface="Courier New"/>
                <a:ea typeface="Courier New"/>
                <a:cs typeface="Courier New"/>
                <a:sym typeface="Courier New"/>
              </a:rPr>
              <a:t>printf("%d%n")</a:t>
            </a:r>
            <a:r>
              <a:rPr lang="en"/>
              <a:t>. </a:t>
            </a:r>
            <a:r>
              <a:rPr b="1" lang="en">
                <a:latin typeface="Courier New"/>
                <a:ea typeface="Courier New"/>
                <a:cs typeface="Courier New"/>
                <a:sym typeface="Courier New"/>
              </a:rPr>
              <a:t>printf</a:t>
            </a:r>
            <a:r>
              <a:rPr lang="en"/>
              <a:t> reads its first argument (arg0), sees two format specifiers, and expects two more arguments (arg1 and arg2).</a:t>
            </a:r>
            <a:endParaRPr/>
          </a:p>
        </p:txBody>
      </p:sp>
      <p:sp>
        <p:nvSpPr>
          <p:cNvPr id="205" name="Google Shape;205;p27"/>
          <p:cNvSpPr/>
          <p:nvPr/>
        </p:nvSpPr>
        <p:spPr>
          <a:xfrm>
            <a:off x="5820625" y="2147675"/>
            <a:ext cx="465763" cy="268796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206" name="Google Shape;206;p27"/>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secret_string</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secret_number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bl>
          </a:graphicData>
        </a:graphic>
      </p:graphicFrame>
      <p:sp>
        <p:nvSpPr>
          <p:cNvPr id="207" name="Google Shape;207;p27"/>
          <p:cNvSpPr/>
          <p:nvPr/>
        </p:nvSpPr>
        <p:spPr>
          <a:xfrm>
            <a:off x="5973025" y="2645275"/>
            <a:ext cx="313372" cy="1711680"/>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208" name="Google Shape;208;p27"/>
          <p:cNvSpPr txBox="1"/>
          <p:nvPr/>
        </p:nvSpPr>
        <p:spPr>
          <a:xfrm>
            <a:off x="8472450" y="24828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209" name="Google Shape;209;p27"/>
          <p:cNvSpPr txBox="1"/>
          <p:nvPr/>
        </p:nvSpPr>
        <p:spPr>
          <a:xfrm>
            <a:off x="8472450" y="22330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
        <p:nvSpPr>
          <p:cNvPr id="210" name="Google Shape;210;p27"/>
          <p:cNvSpPr txBox="1"/>
          <p:nvPr/>
        </p:nvSpPr>
        <p:spPr>
          <a:xfrm>
            <a:off x="8472450" y="19707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arg2</a:t>
            </a:r>
            <a:endParaRPr sz="1000"/>
          </a:p>
        </p:txBody>
      </p:sp>
      <p:graphicFrame>
        <p:nvGraphicFramePr>
          <p:cNvPr id="211" name="Google Shape;211;p27"/>
          <p:cNvGraphicFramePr/>
          <p:nvPr/>
        </p:nvGraphicFramePr>
        <p:xfrm>
          <a:off x="6286375" y="3978425"/>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'd'</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'n'</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'k'</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solidFill>
                      <a:srgbClr val="EEEEEE"/>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2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Vulnerability Walkthrough</a:t>
            </a:r>
            <a:endParaRPr/>
          </a:p>
        </p:txBody>
      </p:sp>
      <p:sp>
        <p:nvSpPr>
          <p:cNvPr id="218" name="Google Shape;218;p28"/>
          <p:cNvSpPr txBox="1"/>
          <p:nvPr/>
        </p:nvSpPr>
        <p:spPr>
          <a:xfrm>
            <a:off x="179400" y="1216525"/>
            <a:ext cx="13389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Input: </a:t>
            </a:r>
            <a:r>
              <a:rPr b="1" lang="en">
                <a:solidFill>
                  <a:srgbClr val="CC0000"/>
                </a:solidFill>
                <a:latin typeface="Courier New"/>
                <a:ea typeface="Courier New"/>
                <a:cs typeface="Courier New"/>
                <a:sym typeface="Courier New"/>
              </a:rPr>
              <a:t>%d%n</a:t>
            </a:r>
            <a:endParaRPr b="1">
              <a:solidFill>
                <a:srgbClr val="CC0000"/>
              </a:solidFill>
              <a:latin typeface="Courier New"/>
              <a:ea typeface="Courier New"/>
              <a:cs typeface="Courier New"/>
              <a:sym typeface="Courier New"/>
            </a:endParaRPr>
          </a:p>
        </p:txBody>
      </p:sp>
      <p:sp>
        <p:nvSpPr>
          <p:cNvPr id="219" name="Google Shape;219;p28"/>
          <p:cNvSpPr txBox="1"/>
          <p:nvPr/>
        </p:nvSpPr>
        <p:spPr>
          <a:xfrm>
            <a:off x="1959275" y="1216525"/>
            <a:ext cx="3758700" cy="1847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char buf[64];</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*secret_string = "pancake";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int secret_number = 42;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if (fgets(buf, 64, stdin) == NULL)</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return;</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220" name="Google Shape;220;p28"/>
          <p:cNvSpPr txBox="1"/>
          <p:nvPr/>
        </p:nvSpPr>
        <p:spPr>
          <a:xfrm>
            <a:off x="179400" y="1747475"/>
            <a:ext cx="13389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Output:</a:t>
            </a:r>
            <a:endParaRPr/>
          </a:p>
          <a:p>
            <a:pPr indent="0" lvl="0" marL="0" rtl="0" algn="l">
              <a:spcBef>
                <a:spcPts val="0"/>
              </a:spcBef>
              <a:spcAft>
                <a:spcPts val="0"/>
              </a:spcAft>
              <a:buNone/>
            </a:pPr>
            <a:r>
              <a:rPr b="1" lang="en">
                <a:latin typeface="Courier New"/>
                <a:ea typeface="Courier New"/>
                <a:cs typeface="Courier New"/>
                <a:sym typeface="Courier New"/>
              </a:rPr>
              <a:t>42</a:t>
            </a:r>
            <a:endParaRPr/>
          </a:p>
        </p:txBody>
      </p:sp>
      <p:sp>
        <p:nvSpPr>
          <p:cNvPr id="221" name="Google Shape;221;p28"/>
          <p:cNvSpPr txBox="1"/>
          <p:nvPr/>
        </p:nvSpPr>
        <p:spPr>
          <a:xfrm>
            <a:off x="384600" y="3663125"/>
            <a:ext cx="41874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first format specifier </a:t>
            </a:r>
            <a:r>
              <a:rPr b="1" lang="en">
                <a:latin typeface="Courier New"/>
                <a:ea typeface="Courier New"/>
                <a:cs typeface="Courier New"/>
                <a:sym typeface="Courier New"/>
              </a:rPr>
              <a:t>%d</a:t>
            </a:r>
            <a:r>
              <a:rPr lang="en"/>
              <a:t> says to treat the next argument (arg1) as an integer and print it out.</a:t>
            </a:r>
            <a:endParaRPr/>
          </a:p>
        </p:txBody>
      </p:sp>
      <p:sp>
        <p:nvSpPr>
          <p:cNvPr id="222" name="Google Shape;222;p28"/>
          <p:cNvSpPr/>
          <p:nvPr/>
        </p:nvSpPr>
        <p:spPr>
          <a:xfrm>
            <a:off x="5820625" y="2147675"/>
            <a:ext cx="465763" cy="268796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223" name="Google Shape;223;p28"/>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secret_string</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secret_number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bl>
          </a:graphicData>
        </a:graphic>
      </p:graphicFrame>
      <p:sp>
        <p:nvSpPr>
          <p:cNvPr id="224" name="Google Shape;224;p28"/>
          <p:cNvSpPr/>
          <p:nvPr/>
        </p:nvSpPr>
        <p:spPr>
          <a:xfrm>
            <a:off x="5973025" y="2645275"/>
            <a:ext cx="313372" cy="1711680"/>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225" name="Google Shape;225;p28"/>
          <p:cNvSpPr txBox="1"/>
          <p:nvPr/>
        </p:nvSpPr>
        <p:spPr>
          <a:xfrm>
            <a:off x="8472450" y="24828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226" name="Google Shape;226;p28"/>
          <p:cNvSpPr txBox="1"/>
          <p:nvPr/>
        </p:nvSpPr>
        <p:spPr>
          <a:xfrm>
            <a:off x="8472450" y="22330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
        <p:nvSpPr>
          <p:cNvPr id="227" name="Google Shape;227;p28"/>
          <p:cNvSpPr txBox="1"/>
          <p:nvPr/>
        </p:nvSpPr>
        <p:spPr>
          <a:xfrm>
            <a:off x="8472450" y="19707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arg2</a:t>
            </a:r>
            <a:endParaRPr sz="1000"/>
          </a:p>
        </p:txBody>
      </p:sp>
      <p:graphicFrame>
        <p:nvGraphicFramePr>
          <p:cNvPr id="228" name="Google Shape;228;p28"/>
          <p:cNvGraphicFramePr/>
          <p:nvPr/>
        </p:nvGraphicFramePr>
        <p:xfrm>
          <a:off x="6286375" y="3978425"/>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'd'</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'n'</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'k'</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solidFill>
                      <a:srgbClr val="EEEEEE"/>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4" name="Google Shape;234;p2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Vulnerability Walkthrough</a:t>
            </a:r>
            <a:endParaRPr/>
          </a:p>
        </p:txBody>
      </p:sp>
      <p:sp>
        <p:nvSpPr>
          <p:cNvPr id="235" name="Google Shape;235;p29"/>
          <p:cNvSpPr txBox="1"/>
          <p:nvPr/>
        </p:nvSpPr>
        <p:spPr>
          <a:xfrm>
            <a:off x="179400" y="1216525"/>
            <a:ext cx="13389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Input: </a:t>
            </a:r>
            <a:r>
              <a:rPr b="1" lang="en">
                <a:solidFill>
                  <a:srgbClr val="CC0000"/>
                </a:solidFill>
                <a:latin typeface="Courier New"/>
                <a:ea typeface="Courier New"/>
                <a:cs typeface="Courier New"/>
                <a:sym typeface="Courier New"/>
              </a:rPr>
              <a:t>%d%n</a:t>
            </a:r>
            <a:endParaRPr b="1">
              <a:solidFill>
                <a:srgbClr val="CC0000"/>
              </a:solidFill>
              <a:latin typeface="Courier New"/>
              <a:ea typeface="Courier New"/>
              <a:cs typeface="Courier New"/>
              <a:sym typeface="Courier New"/>
            </a:endParaRPr>
          </a:p>
        </p:txBody>
      </p:sp>
      <p:sp>
        <p:nvSpPr>
          <p:cNvPr id="236" name="Google Shape;236;p29"/>
          <p:cNvSpPr txBox="1"/>
          <p:nvPr/>
        </p:nvSpPr>
        <p:spPr>
          <a:xfrm>
            <a:off x="1959275" y="1216525"/>
            <a:ext cx="3758700" cy="1847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char buf[64];</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*secret_string = "pancake";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int secret_number = 42;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if (fgets(buf, 64, stdin) == NULL)</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return;</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237" name="Google Shape;237;p29"/>
          <p:cNvSpPr txBox="1"/>
          <p:nvPr/>
        </p:nvSpPr>
        <p:spPr>
          <a:xfrm>
            <a:off x="179400" y="1747475"/>
            <a:ext cx="13389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Output:</a:t>
            </a:r>
            <a:endParaRPr/>
          </a:p>
          <a:p>
            <a:pPr indent="0" lvl="0" marL="0" rtl="0" algn="l">
              <a:spcBef>
                <a:spcPts val="0"/>
              </a:spcBef>
              <a:spcAft>
                <a:spcPts val="0"/>
              </a:spcAft>
              <a:buNone/>
            </a:pPr>
            <a:r>
              <a:rPr b="1" lang="en">
                <a:latin typeface="Courier New"/>
                <a:ea typeface="Courier New"/>
                <a:cs typeface="Courier New"/>
                <a:sym typeface="Courier New"/>
              </a:rPr>
              <a:t>42</a:t>
            </a:r>
            <a:endParaRPr/>
          </a:p>
        </p:txBody>
      </p:sp>
      <p:sp>
        <p:nvSpPr>
          <p:cNvPr id="238" name="Google Shape;238;p29"/>
          <p:cNvSpPr txBox="1"/>
          <p:nvPr/>
        </p:nvSpPr>
        <p:spPr>
          <a:xfrm>
            <a:off x="240975" y="3210350"/>
            <a:ext cx="4368900" cy="8313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second format specifier </a:t>
            </a:r>
            <a:r>
              <a:rPr b="1" lang="en">
                <a:latin typeface="Courier New"/>
                <a:ea typeface="Courier New"/>
                <a:cs typeface="Courier New"/>
                <a:sym typeface="Courier New"/>
              </a:rPr>
              <a:t>%n</a:t>
            </a:r>
            <a:r>
              <a:rPr lang="en"/>
              <a:t> says to treat the next argument (arg2) as a pointer, and write the number of bytes printed so far to the address at arg2.</a:t>
            </a:r>
            <a:endParaRPr/>
          </a:p>
        </p:txBody>
      </p:sp>
      <p:sp>
        <p:nvSpPr>
          <p:cNvPr id="239" name="Google Shape;239;p29"/>
          <p:cNvSpPr txBox="1"/>
          <p:nvPr/>
        </p:nvSpPr>
        <p:spPr>
          <a:xfrm>
            <a:off x="523325" y="3978425"/>
            <a:ext cx="43689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We've printed 2 bytes so far, so the number 2 gets written to </a:t>
            </a:r>
            <a:r>
              <a:rPr b="1" lang="en">
                <a:latin typeface="Courier New"/>
                <a:ea typeface="Courier New"/>
                <a:cs typeface="Courier New"/>
                <a:sym typeface="Courier New"/>
              </a:rPr>
              <a:t>secret_string</a:t>
            </a:r>
            <a:r>
              <a:rPr lang="en"/>
              <a:t>.</a:t>
            </a:r>
            <a:endParaRPr/>
          </a:p>
        </p:txBody>
      </p:sp>
      <p:sp>
        <p:nvSpPr>
          <p:cNvPr id="240" name="Google Shape;240;p29"/>
          <p:cNvSpPr/>
          <p:nvPr/>
        </p:nvSpPr>
        <p:spPr>
          <a:xfrm>
            <a:off x="5820625" y="2147675"/>
            <a:ext cx="465763" cy="268796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241" name="Google Shape;241;p29"/>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secret_string</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secret_number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bl>
          </a:graphicData>
        </a:graphic>
      </p:graphicFrame>
      <p:sp>
        <p:nvSpPr>
          <p:cNvPr id="242" name="Google Shape;242;p29"/>
          <p:cNvSpPr/>
          <p:nvPr/>
        </p:nvSpPr>
        <p:spPr>
          <a:xfrm>
            <a:off x="5973025" y="2645275"/>
            <a:ext cx="313372" cy="1711680"/>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243" name="Google Shape;243;p29"/>
          <p:cNvSpPr txBox="1"/>
          <p:nvPr/>
        </p:nvSpPr>
        <p:spPr>
          <a:xfrm>
            <a:off x="8472450" y="24828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244" name="Google Shape;244;p29"/>
          <p:cNvSpPr txBox="1"/>
          <p:nvPr/>
        </p:nvSpPr>
        <p:spPr>
          <a:xfrm>
            <a:off x="8472450" y="22330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
        <p:nvSpPr>
          <p:cNvPr id="245" name="Google Shape;245;p29"/>
          <p:cNvSpPr txBox="1"/>
          <p:nvPr/>
        </p:nvSpPr>
        <p:spPr>
          <a:xfrm>
            <a:off x="8472450" y="19707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arg2</a:t>
            </a:r>
            <a:endParaRPr sz="1000"/>
          </a:p>
        </p:txBody>
      </p:sp>
      <p:graphicFrame>
        <p:nvGraphicFramePr>
          <p:cNvPr id="246" name="Google Shape;246;p29"/>
          <p:cNvGraphicFramePr/>
          <p:nvPr/>
        </p:nvGraphicFramePr>
        <p:xfrm>
          <a:off x="6286375" y="3978425"/>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'd'</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'n'</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'k'</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0x02</a:t>
                      </a:r>
                      <a:endParaRPr b="1" sz="1000">
                        <a:solidFill>
                          <a:srgbClr val="CC0000"/>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0x00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0x00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0x00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solidFill>
                      <a:srgbClr val="EEEEEE"/>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2" name="Google Shape;252;p3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Strings: Stack Diagram</a:t>
            </a:r>
            <a:endParaRPr/>
          </a:p>
        </p:txBody>
      </p:sp>
      <p:sp>
        <p:nvSpPr>
          <p:cNvPr id="253" name="Google Shape;253;p30"/>
          <p:cNvSpPr txBox="1"/>
          <p:nvPr/>
        </p:nvSpPr>
        <p:spPr>
          <a:xfrm>
            <a:off x="179400" y="1214094"/>
            <a:ext cx="3758700" cy="12930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char buf[16];</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char str[12];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a:t>
            </a:r>
            <a:r>
              <a:rPr b="1" lang="en" sz="1200">
                <a:solidFill>
                  <a:schemeClr val="dk1"/>
                </a:solidFill>
                <a:latin typeface="Courier New"/>
                <a:ea typeface="Courier New"/>
                <a:cs typeface="Courier New"/>
                <a:sym typeface="Courier New"/>
              </a:rPr>
              <a:t>fgets(buf, 16, stdin)</a:t>
            </a: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254" name="Google Shape;254;p30"/>
          <p:cNvSpPr txBox="1"/>
          <p:nvPr/>
        </p:nvSpPr>
        <p:spPr>
          <a:xfrm>
            <a:off x="179400" y="3418975"/>
            <a:ext cx="3801300" cy="14775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Now, let’s try some format string vulnerabilities where the user-controlled buffer is on the stack instead of in static memory.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does the stack diagram look like?</a:t>
            </a:r>
            <a:endParaRPr/>
          </a:p>
        </p:txBody>
      </p:sp>
      <p:graphicFrame>
        <p:nvGraphicFramePr>
          <p:cNvPr id="255" name="Google Shape;255;p30"/>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1" name="Google Shape;261;p3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Strings: Stack Diagram</a:t>
            </a:r>
            <a:endParaRPr/>
          </a:p>
        </p:txBody>
      </p:sp>
      <p:sp>
        <p:nvSpPr>
          <p:cNvPr id="262" name="Google Shape;262;p31"/>
          <p:cNvSpPr txBox="1"/>
          <p:nvPr/>
        </p:nvSpPr>
        <p:spPr>
          <a:xfrm>
            <a:off x="179400" y="3418975"/>
            <a:ext cx="3801300" cy="10467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This is the stack diagram while </a:t>
            </a:r>
            <a:r>
              <a:rPr b="1" lang="en">
                <a:latin typeface="Courier New"/>
                <a:ea typeface="Courier New"/>
                <a:cs typeface="Courier New"/>
                <a:sym typeface="Courier New"/>
              </a:rPr>
              <a:t>printf</a:t>
            </a:r>
            <a:r>
              <a:rPr lang="en"/>
              <a:t> is being called.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does </a:t>
            </a:r>
            <a:r>
              <a:rPr b="1" lang="en">
                <a:latin typeface="Courier New"/>
                <a:ea typeface="Courier New"/>
                <a:cs typeface="Courier New"/>
                <a:sym typeface="Courier New"/>
              </a:rPr>
              <a:t>printf</a:t>
            </a:r>
            <a:r>
              <a:rPr lang="en"/>
              <a:t> look for arguments?</a:t>
            </a:r>
            <a:endParaRPr/>
          </a:p>
        </p:txBody>
      </p:sp>
      <p:graphicFrame>
        <p:nvGraphicFramePr>
          <p:cNvPr id="263" name="Google Shape;263;p31"/>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264" name="Google Shape;264;p31"/>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265" name="Google Shape;265;p31"/>
          <p:cNvSpPr txBox="1"/>
          <p:nvPr/>
        </p:nvSpPr>
        <p:spPr>
          <a:xfrm>
            <a:off x="179400" y="1214094"/>
            <a:ext cx="3758700" cy="12930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char buf[16];</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char str[12];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a:t>
            </a:r>
            <a:r>
              <a:rPr b="1" lang="en" sz="1200">
                <a:solidFill>
                  <a:schemeClr val="dk1"/>
                </a:solidFill>
                <a:latin typeface="Courier New"/>
                <a:ea typeface="Courier New"/>
                <a:cs typeface="Courier New"/>
                <a:sym typeface="Courier New"/>
              </a:rPr>
              <a:t>fgets(buf, 16, stdin)</a:t>
            </a: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graphicFrame>
        <p:nvGraphicFramePr>
          <p:cNvPr id="270" name="Google Shape;270;p32"/>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arg7</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arg6</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arg5</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arg4</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arg3</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arg2</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arg1</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arg0</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271" name="Google Shape;27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2" name="Google Shape;272;p3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Strings: Stack Diagram</a:t>
            </a:r>
            <a:endParaRPr/>
          </a:p>
        </p:txBody>
      </p:sp>
      <p:sp>
        <p:nvSpPr>
          <p:cNvPr id="273" name="Google Shape;273;p32"/>
          <p:cNvSpPr txBox="1"/>
          <p:nvPr/>
        </p:nvSpPr>
        <p:spPr>
          <a:xfrm>
            <a:off x="179400" y="3418975"/>
            <a:ext cx="3801300" cy="14775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We’ve labeled which values in memory </a:t>
            </a:r>
            <a:r>
              <a:rPr b="1" lang="en">
                <a:latin typeface="Courier New"/>
                <a:ea typeface="Courier New"/>
                <a:cs typeface="Courier New"/>
                <a:sym typeface="Courier New"/>
              </a:rPr>
              <a:t>printf</a:t>
            </a:r>
            <a:r>
              <a:rPr lang="en"/>
              <a:t> will interpret as arguments.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if </a:t>
            </a:r>
            <a:r>
              <a:rPr b="1" lang="en">
                <a:latin typeface="Courier New"/>
                <a:ea typeface="Courier New"/>
                <a:cs typeface="Courier New"/>
                <a:sym typeface="Courier New"/>
              </a:rPr>
              <a:t>buf</a:t>
            </a:r>
            <a:r>
              <a:rPr lang="en"/>
              <a:t> has 4 percent formatters, </a:t>
            </a:r>
            <a:r>
              <a:rPr b="1" lang="en">
                <a:latin typeface="Courier New"/>
                <a:ea typeface="Courier New"/>
                <a:cs typeface="Courier New"/>
                <a:sym typeface="Courier New"/>
              </a:rPr>
              <a:t>printf</a:t>
            </a:r>
            <a:r>
              <a:rPr lang="en"/>
              <a:t> will match the last percent formatter with arg4.</a:t>
            </a:r>
            <a:endParaRPr/>
          </a:p>
        </p:txBody>
      </p:sp>
      <p:sp>
        <p:nvSpPr>
          <p:cNvPr id="274" name="Google Shape;274;p32"/>
          <p:cNvSpPr txBox="1"/>
          <p:nvPr/>
        </p:nvSpPr>
        <p:spPr>
          <a:xfrm>
            <a:off x="179400" y="1214094"/>
            <a:ext cx="3758700" cy="12930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buf[16];</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str[12];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a:t>
            </a:r>
            <a:r>
              <a:rPr b="1" lang="en" sz="1200">
                <a:solidFill>
                  <a:schemeClr val="dk1"/>
                </a:solidFill>
                <a:latin typeface="Courier New"/>
                <a:ea typeface="Courier New"/>
                <a:cs typeface="Courier New"/>
                <a:sym typeface="Courier New"/>
              </a:rPr>
              <a:t>fgets(buf, 16, stdin)</a:t>
            </a: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275" name="Google Shape;275;p32"/>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1" name="Google Shape;281;p3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282" name="Google Shape;282;p33"/>
          <p:cNvSpPr txBox="1"/>
          <p:nvPr/>
        </p:nvSpPr>
        <p:spPr>
          <a:xfrm>
            <a:off x="179400" y="1216525"/>
            <a:ext cx="3801300" cy="10467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1"/>
                </a:solidFill>
              </a:rPr>
              <a:t>Attack scenario: Write the number 100 to memory address </a:t>
            </a:r>
            <a:r>
              <a:rPr b="1" lang="en">
                <a:solidFill>
                  <a:schemeClr val="dk1"/>
                </a:solidFill>
                <a:latin typeface="Courier New"/>
                <a:ea typeface="Courier New"/>
                <a:cs typeface="Courier New"/>
                <a:sym typeface="Courier New"/>
              </a:rPr>
              <a:t>0xdeadbeef</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What input should the attacker supply?</a:t>
            </a:r>
            <a:endParaRPr/>
          </a:p>
        </p:txBody>
      </p:sp>
      <p:graphicFrame>
        <p:nvGraphicFramePr>
          <p:cNvPr id="283" name="Google Shape;283;p33"/>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284" name="Google Shape;284;p33"/>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fgets(buf, 16, stdin)</a:t>
            </a: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
        <p:nvSpPr>
          <p:cNvPr id="285" name="Google Shape;285;p33"/>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3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292" name="Google Shape;292;p34"/>
          <p:cNvSpPr txBox="1"/>
          <p:nvPr/>
        </p:nvSpPr>
        <p:spPr>
          <a:xfrm>
            <a:off x="179400" y="1216525"/>
            <a:ext cx="5355900" cy="20163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Recall: When </a:t>
            </a:r>
            <a:r>
              <a:rPr b="1" lang="en">
                <a:solidFill>
                  <a:schemeClr val="dk1"/>
                </a:solidFill>
                <a:latin typeface="Courier New"/>
                <a:ea typeface="Courier New"/>
                <a:cs typeface="Courier New"/>
                <a:sym typeface="Courier New"/>
              </a:rPr>
              <a:t>printf</a:t>
            </a:r>
            <a:r>
              <a:rPr lang="en">
                <a:solidFill>
                  <a:schemeClr val="dk1"/>
                </a:solidFill>
              </a:rPr>
              <a:t> sees a </a:t>
            </a:r>
            <a:r>
              <a:rPr b="1" lang="en">
                <a:solidFill>
                  <a:schemeClr val="dk1"/>
                </a:solidFill>
                <a:latin typeface="Courier New"/>
                <a:ea typeface="Courier New"/>
                <a:cs typeface="Courier New"/>
                <a:sym typeface="Courier New"/>
              </a:rPr>
              <a:t>%n</a:t>
            </a:r>
            <a:r>
              <a:rPr lang="en">
                <a:solidFill>
                  <a:schemeClr val="dk1"/>
                </a:solidFill>
              </a:rPr>
              <a:t>, it takes the next unused argument, treats it like an address, and writes </a:t>
            </a:r>
            <a:r>
              <a:rPr i="1" lang="en">
                <a:solidFill>
                  <a:schemeClr val="dk1"/>
                </a:solidFill>
              </a:rPr>
              <a:t>the number of bytes printed so far</a:t>
            </a:r>
            <a:r>
              <a:rPr lang="en">
                <a:solidFill>
                  <a:schemeClr val="dk1"/>
                </a:solidFill>
              </a:rPr>
              <a:t> to that address.</a:t>
            </a:r>
            <a:endParaRPr>
              <a:solidFill>
                <a:schemeClr val="dk1"/>
              </a:solidFill>
            </a:endParaRPr>
          </a:p>
          <a:p>
            <a:pPr indent="0" lvl="0" marL="0" rtl="0" algn="l">
              <a:spcBef>
                <a:spcPts val="0"/>
              </a:spcBef>
              <a:spcAft>
                <a:spcPts val="0"/>
              </a:spcAft>
              <a:buNone/>
            </a:pPr>
            <a:r>
              <a:t/>
            </a:r>
            <a:endParaRPr sz="700">
              <a:solidFill>
                <a:schemeClr val="dk1"/>
              </a:solidFill>
            </a:endParaRPr>
          </a:p>
          <a:p>
            <a:pPr indent="0" lvl="0" marL="0" rtl="0" algn="l">
              <a:spcBef>
                <a:spcPts val="0"/>
              </a:spcBef>
              <a:spcAft>
                <a:spcPts val="0"/>
              </a:spcAft>
              <a:buNone/>
            </a:pPr>
            <a:r>
              <a:rPr lang="en">
                <a:solidFill>
                  <a:schemeClr val="dk1"/>
                </a:solidFill>
              </a:rPr>
              <a:t>When </a:t>
            </a:r>
            <a:r>
              <a:rPr b="1" lang="en">
                <a:solidFill>
                  <a:schemeClr val="dk1"/>
                </a:solidFill>
                <a:latin typeface="Courier New"/>
                <a:ea typeface="Courier New"/>
                <a:cs typeface="Courier New"/>
                <a:sym typeface="Courier New"/>
              </a:rPr>
              <a:t>printf</a:t>
            </a:r>
            <a:r>
              <a:rPr lang="en">
                <a:solidFill>
                  <a:schemeClr val="dk1"/>
                </a:solidFill>
              </a:rPr>
              <a:t> sees the </a:t>
            </a:r>
            <a:r>
              <a:rPr b="1" lang="en">
                <a:solidFill>
                  <a:schemeClr val="dk1"/>
                </a:solidFill>
                <a:latin typeface="Courier New"/>
                <a:ea typeface="Courier New"/>
                <a:cs typeface="Courier New"/>
                <a:sym typeface="Courier New"/>
              </a:rPr>
              <a:t>%n</a:t>
            </a:r>
            <a:r>
              <a:rPr lang="en">
                <a:solidFill>
                  <a:schemeClr val="dk1"/>
                </a:solidFill>
              </a:rPr>
              <a:t>, two things need to be true:</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Control </a:t>
            </a:r>
            <a:r>
              <a:rPr i="1" lang="en">
                <a:solidFill>
                  <a:schemeClr val="dk1"/>
                </a:solidFill>
              </a:rPr>
              <a:t>where</a:t>
            </a:r>
            <a:r>
              <a:rPr lang="en">
                <a:solidFill>
                  <a:schemeClr val="dk1"/>
                </a:solidFill>
              </a:rPr>
              <a:t> we write: The next unused argument on the stack should be </a:t>
            </a:r>
            <a:r>
              <a:rPr b="1" lang="en">
                <a:solidFill>
                  <a:schemeClr val="dk1"/>
                </a:solidFill>
                <a:latin typeface="Courier New"/>
                <a:ea typeface="Courier New"/>
                <a:cs typeface="Courier New"/>
                <a:sym typeface="Courier New"/>
              </a:rPr>
              <a:t>0xdeadbeef</a:t>
            </a:r>
            <a:r>
              <a:rPr lang="en">
                <a:solidFill>
                  <a:schemeClr val="dk1"/>
                </a:solidFill>
              </a:rPr>
              <a:t>.</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Control </a:t>
            </a:r>
            <a:r>
              <a:rPr i="1" lang="en">
                <a:solidFill>
                  <a:schemeClr val="dk1"/>
                </a:solidFill>
              </a:rPr>
              <a:t>what</a:t>
            </a:r>
            <a:r>
              <a:rPr lang="en">
                <a:solidFill>
                  <a:schemeClr val="dk1"/>
                </a:solidFill>
              </a:rPr>
              <a:t> we write: </a:t>
            </a:r>
            <a:r>
              <a:rPr i="1" lang="en">
                <a:solidFill>
                  <a:schemeClr val="dk1"/>
                </a:solidFill>
              </a:rPr>
              <a:t>The number of bytes printed so far</a:t>
            </a:r>
            <a:r>
              <a:rPr lang="en">
                <a:solidFill>
                  <a:schemeClr val="dk1"/>
                </a:solidFill>
              </a:rPr>
              <a:t> should be 100.</a:t>
            </a:r>
            <a:endParaRPr>
              <a:solidFill>
                <a:schemeClr val="dk1"/>
              </a:solidFill>
            </a:endParaRPr>
          </a:p>
        </p:txBody>
      </p:sp>
      <p:graphicFrame>
        <p:nvGraphicFramePr>
          <p:cNvPr id="293" name="Google Shape;293;p34"/>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294" name="Google Shape;294;p34"/>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fgets(buf, 16, stdin)</a:t>
            </a: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
        <p:nvSpPr>
          <p:cNvPr id="295" name="Google Shape;295;p34"/>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3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302" name="Google Shape;302;p35"/>
          <p:cNvSpPr txBox="1"/>
          <p:nvPr/>
        </p:nvSpPr>
        <p:spPr>
          <a:xfrm>
            <a:off x="179400" y="1216525"/>
            <a:ext cx="5355900" cy="1693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When </a:t>
            </a:r>
            <a:r>
              <a:rPr b="1" lang="en">
                <a:solidFill>
                  <a:schemeClr val="dk1"/>
                </a:solidFill>
                <a:latin typeface="Courier New"/>
                <a:ea typeface="Courier New"/>
                <a:cs typeface="Courier New"/>
                <a:sym typeface="Courier New"/>
              </a:rPr>
              <a:t>printf</a:t>
            </a:r>
            <a:r>
              <a:rPr lang="en">
                <a:solidFill>
                  <a:schemeClr val="dk1"/>
                </a:solidFill>
              </a:rPr>
              <a:t> sees the </a:t>
            </a:r>
            <a:r>
              <a:rPr b="1" lang="en">
                <a:solidFill>
                  <a:schemeClr val="dk1"/>
                </a:solidFill>
                <a:latin typeface="Courier New"/>
                <a:ea typeface="Courier New"/>
                <a:cs typeface="Courier New"/>
                <a:sym typeface="Courier New"/>
              </a:rPr>
              <a:t>%n</a:t>
            </a:r>
            <a:r>
              <a:rPr lang="en">
                <a:solidFill>
                  <a:schemeClr val="dk1"/>
                </a:solidFill>
              </a:rPr>
              <a:t>, two things need to be true:</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Control </a:t>
            </a:r>
            <a:r>
              <a:rPr i="1" lang="en">
                <a:solidFill>
                  <a:schemeClr val="dk1"/>
                </a:solidFill>
              </a:rPr>
              <a:t>where</a:t>
            </a:r>
            <a:r>
              <a:rPr lang="en">
                <a:solidFill>
                  <a:schemeClr val="dk1"/>
                </a:solidFill>
              </a:rPr>
              <a:t> we write: The next unused argument on the stack should be </a:t>
            </a:r>
            <a:r>
              <a:rPr b="1" lang="en">
                <a:solidFill>
                  <a:schemeClr val="dk1"/>
                </a:solidFill>
                <a:latin typeface="Courier New"/>
                <a:ea typeface="Courier New"/>
                <a:cs typeface="Courier New"/>
                <a:sym typeface="Courier New"/>
              </a:rPr>
              <a:t>0xdeadbeef</a:t>
            </a:r>
            <a:r>
              <a:rPr lang="en">
                <a:solidFill>
                  <a:schemeClr val="dk1"/>
                </a:solidFill>
              </a:rPr>
              <a:t>.</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Control </a:t>
            </a:r>
            <a:r>
              <a:rPr i="1" lang="en">
                <a:solidFill>
                  <a:schemeClr val="dk1"/>
                </a:solidFill>
              </a:rPr>
              <a:t>what</a:t>
            </a:r>
            <a:r>
              <a:rPr lang="en">
                <a:solidFill>
                  <a:schemeClr val="dk1"/>
                </a:solidFill>
              </a:rPr>
              <a:t> we write: </a:t>
            </a:r>
            <a:r>
              <a:rPr i="1" lang="en">
                <a:solidFill>
                  <a:schemeClr val="dk1"/>
                </a:solidFill>
              </a:rPr>
              <a:t>The number of bytes printed so far</a:t>
            </a:r>
            <a:r>
              <a:rPr lang="en">
                <a:solidFill>
                  <a:schemeClr val="dk1"/>
                </a:solidFill>
              </a:rPr>
              <a:t> should be 100.</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Consider this exploit. What does it look like in memory?</a:t>
            </a:r>
            <a:endParaRPr>
              <a:solidFill>
                <a:schemeClr val="dk1"/>
              </a:solidFill>
            </a:endParaRPr>
          </a:p>
        </p:txBody>
      </p:sp>
      <p:graphicFrame>
        <p:nvGraphicFramePr>
          <p:cNvPr id="303" name="Google Shape;303;p35"/>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304" name="Google Shape;304;p35"/>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305" name="Google Shape;305;p35"/>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fgets(buf, 16, stdin)</a:t>
            </a: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graphicFrame>
        <p:nvGraphicFramePr>
          <p:cNvPr id="306" name="Google Shape;306;p35"/>
          <p:cNvGraphicFramePr/>
          <p:nvPr/>
        </p:nvGraphicFramePr>
        <p:xfrm>
          <a:off x="179400" y="3282675"/>
          <a:ext cx="3000000" cy="3000000"/>
        </p:xfrm>
        <a:graphic>
          <a:graphicData uri="http://schemas.openxmlformats.org/drawingml/2006/table">
            <a:tbl>
              <a:tblPr>
                <a:noFill/>
                <a:tableStyleId>{9EC4224E-2C12-493B-A528-770CF28DDED8}</a:tableStyleId>
              </a:tblPr>
              <a:tblGrid>
                <a:gridCol w="1653550"/>
                <a:gridCol w="1265175"/>
                <a:gridCol w="713425"/>
                <a:gridCol w="588825"/>
                <a:gridCol w="559375"/>
                <a:gridCol w="575525"/>
              </a:tblGrid>
              <a:tr h="423300">
                <a:tc>
                  <a:txBody>
                    <a:bodyPr/>
                    <a:lstStyle/>
                    <a:p>
                      <a:pPr indent="0" lvl="0" marL="0" rtl="0" algn="l">
                        <a:spcBef>
                          <a:spcPts val="0"/>
                        </a:spcBef>
                        <a:spcAft>
                          <a:spcPts val="0"/>
                        </a:spcAft>
                        <a:buNone/>
                      </a:pPr>
                      <a:r>
                        <a:rPr lang="en"/>
                        <a:t>Input: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0xdeadbeef</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%94c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%n</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2" name="Google Shape;312;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313" name="Google Shape;313;p36"/>
          <p:cNvSpPr txBox="1"/>
          <p:nvPr/>
        </p:nvSpPr>
        <p:spPr>
          <a:xfrm>
            <a:off x="179400" y="1216525"/>
            <a:ext cx="5355900" cy="12621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When writing to memory, the percent formatters take up multiple bytes of memory.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For example, </a:t>
            </a:r>
            <a:r>
              <a:rPr b="1" lang="en">
                <a:solidFill>
                  <a:schemeClr val="dk1"/>
                </a:solidFill>
                <a:latin typeface="Courier New"/>
                <a:ea typeface="Courier New"/>
                <a:cs typeface="Courier New"/>
                <a:sym typeface="Courier New"/>
              </a:rPr>
              <a:t>%94c</a:t>
            </a:r>
            <a:r>
              <a:rPr lang="en">
                <a:solidFill>
                  <a:schemeClr val="dk1"/>
                </a:solidFill>
              </a:rPr>
              <a:t> is 4 characters and takes up 4 bytes of memory.</a:t>
            </a:r>
            <a:endParaRPr>
              <a:solidFill>
                <a:schemeClr val="dk1"/>
              </a:solidFill>
            </a:endParaRPr>
          </a:p>
        </p:txBody>
      </p:sp>
      <p:sp>
        <p:nvSpPr>
          <p:cNvPr id="314" name="Google Shape;314;p36"/>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fgets(buf, 16, stdin)</a:t>
            </a: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graphicFrame>
        <p:nvGraphicFramePr>
          <p:cNvPr id="315" name="Google Shape;315;p36"/>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%c%c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%94c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0xdeadbeef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316" name="Google Shape;316;p36"/>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317" name="Google Shape;317;p36"/>
          <p:cNvGraphicFramePr/>
          <p:nvPr/>
        </p:nvGraphicFramePr>
        <p:xfrm>
          <a:off x="179400" y="3282675"/>
          <a:ext cx="3000000" cy="3000000"/>
        </p:xfrm>
        <a:graphic>
          <a:graphicData uri="http://schemas.openxmlformats.org/drawingml/2006/table">
            <a:tbl>
              <a:tblPr>
                <a:noFill/>
                <a:tableStyleId>{9EC4224E-2C12-493B-A528-770CF28DDED8}</a:tableStyleId>
              </a:tblPr>
              <a:tblGrid>
                <a:gridCol w="1653550"/>
                <a:gridCol w="1265175"/>
                <a:gridCol w="713425"/>
                <a:gridCol w="588825"/>
                <a:gridCol w="559375"/>
                <a:gridCol w="575525"/>
              </a:tblGrid>
              <a:tr h="423300">
                <a:tc>
                  <a:txBody>
                    <a:bodyPr/>
                    <a:lstStyle/>
                    <a:p>
                      <a:pPr indent="0" lvl="0" marL="0" rtl="0" algn="l">
                        <a:spcBef>
                          <a:spcPts val="0"/>
                        </a:spcBef>
                        <a:spcAft>
                          <a:spcPts val="0"/>
                        </a:spcAft>
                        <a:buNone/>
                      </a:pPr>
                      <a:r>
                        <a:rPr lang="en"/>
                        <a:t>Input: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0xdeadbeef</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%94c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%n</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 chars used: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3" name="Google Shape;323;p3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324" name="Google Shape;324;p37"/>
          <p:cNvSpPr txBox="1"/>
          <p:nvPr/>
        </p:nvSpPr>
        <p:spPr>
          <a:xfrm>
            <a:off x="179400" y="1216525"/>
            <a:ext cx="5355900" cy="1693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Control </a:t>
            </a:r>
            <a:r>
              <a:rPr i="1" lang="en">
                <a:solidFill>
                  <a:schemeClr val="dk1"/>
                </a:solidFill>
              </a:rPr>
              <a:t>where</a:t>
            </a:r>
            <a:r>
              <a:rPr lang="en">
                <a:solidFill>
                  <a:schemeClr val="dk1"/>
                </a:solidFill>
              </a:rPr>
              <a:t> we write: The next unused argument on the stack should be </a:t>
            </a:r>
            <a:r>
              <a:rPr b="1" lang="en">
                <a:solidFill>
                  <a:schemeClr val="dk1"/>
                </a:solidFill>
                <a:latin typeface="Courier New"/>
                <a:ea typeface="Courier New"/>
                <a:cs typeface="Courier New"/>
                <a:sym typeface="Courier New"/>
              </a:rPr>
              <a:t>0xdeadbeef</a:t>
            </a:r>
            <a:r>
              <a:rPr lang="en">
                <a:solidFill>
                  <a:schemeClr val="dk1"/>
                </a:solidFill>
              </a:rPr>
              <a:t>.</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Each percent formatter “uses up” or “consumes” one argument on the stack.</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We added </a:t>
            </a:r>
            <a:r>
              <a:rPr b="1" lang="en">
                <a:solidFill>
                  <a:schemeClr val="dk1"/>
                </a:solidFill>
                <a:latin typeface="Courier New"/>
                <a:ea typeface="Courier New"/>
                <a:cs typeface="Courier New"/>
                <a:sym typeface="Courier New"/>
              </a:rPr>
              <a:t>%c</a:t>
            </a:r>
            <a:r>
              <a:rPr lang="en">
                <a:solidFill>
                  <a:schemeClr val="dk1"/>
                </a:solidFill>
              </a:rPr>
              <a:t> arguments to “consume” or “skip past” </a:t>
            </a:r>
            <a:r>
              <a:rPr b="1" lang="en">
                <a:solidFill>
                  <a:schemeClr val="dk1"/>
                </a:solidFill>
                <a:latin typeface="Courier New"/>
                <a:ea typeface="Courier New"/>
                <a:cs typeface="Courier New"/>
                <a:sym typeface="Courier New"/>
              </a:rPr>
              <a:t>str</a:t>
            </a:r>
            <a:r>
              <a:rPr lang="en">
                <a:solidFill>
                  <a:schemeClr val="dk1"/>
                </a:solidFill>
              </a:rPr>
              <a:t>, so that the </a:t>
            </a:r>
            <a:r>
              <a:rPr b="1" lang="en">
                <a:solidFill>
                  <a:schemeClr val="dk1"/>
                </a:solidFill>
                <a:latin typeface="Courier New"/>
                <a:ea typeface="Courier New"/>
                <a:cs typeface="Courier New"/>
                <a:sym typeface="Courier New"/>
              </a:rPr>
              <a:t>%n</a:t>
            </a:r>
            <a:r>
              <a:rPr lang="en">
                <a:solidFill>
                  <a:schemeClr val="dk1"/>
                </a:solidFill>
              </a:rPr>
              <a:t> argument aligns with arg4, where we put </a:t>
            </a:r>
            <a:r>
              <a:rPr b="1" lang="en">
                <a:solidFill>
                  <a:schemeClr val="dk1"/>
                </a:solidFill>
                <a:latin typeface="Courier New"/>
                <a:ea typeface="Courier New"/>
                <a:cs typeface="Courier New"/>
                <a:sym typeface="Courier New"/>
              </a:rPr>
              <a:t>0xdeadbeef</a:t>
            </a:r>
            <a:r>
              <a:rPr lang="en">
                <a:solidFill>
                  <a:schemeClr val="dk1"/>
                </a:solidFill>
              </a:rPr>
              <a:t>.</a:t>
            </a:r>
            <a:endParaRPr>
              <a:solidFill>
                <a:schemeClr val="dk1"/>
              </a:solidFill>
            </a:endParaRPr>
          </a:p>
        </p:txBody>
      </p:sp>
      <p:sp>
        <p:nvSpPr>
          <p:cNvPr id="325" name="Google Shape;325;p37"/>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fgets(buf, 16, stdin)</a:t>
            </a: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graphicFrame>
        <p:nvGraphicFramePr>
          <p:cNvPr id="326" name="Google Shape;326;p37"/>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%n\0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%c%c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%94c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0xdeadbeef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327" name="Google Shape;327;p37"/>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328" name="Google Shape;328;p37"/>
          <p:cNvGraphicFramePr/>
          <p:nvPr/>
        </p:nvGraphicFramePr>
        <p:xfrm>
          <a:off x="179400" y="3282675"/>
          <a:ext cx="3000000" cy="3000000"/>
        </p:xfrm>
        <a:graphic>
          <a:graphicData uri="http://schemas.openxmlformats.org/drawingml/2006/table">
            <a:tbl>
              <a:tblPr>
                <a:noFill/>
                <a:tableStyleId>{9EC4224E-2C12-493B-A528-770CF28DDED8}</a:tableStyleId>
              </a:tblPr>
              <a:tblGrid>
                <a:gridCol w="1653550"/>
                <a:gridCol w="1265175"/>
                <a:gridCol w="713425"/>
                <a:gridCol w="588825"/>
                <a:gridCol w="559375"/>
                <a:gridCol w="575525"/>
              </a:tblGrid>
              <a:tr h="423300">
                <a:tc>
                  <a:txBody>
                    <a:bodyPr/>
                    <a:lstStyle/>
                    <a:p>
                      <a:pPr indent="0" lvl="0" marL="0" rtl="0" algn="l">
                        <a:spcBef>
                          <a:spcPts val="0"/>
                        </a:spcBef>
                        <a:spcAft>
                          <a:spcPts val="0"/>
                        </a:spcAft>
                        <a:buNone/>
                      </a:pPr>
                      <a:r>
                        <a:rPr lang="en"/>
                        <a:t>Input: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0xdeadbeef</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%94c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%n</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 chars used: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Consumes: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3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335" name="Google Shape;335;p38"/>
          <p:cNvSpPr txBox="1"/>
          <p:nvPr/>
        </p:nvSpPr>
        <p:spPr>
          <a:xfrm>
            <a:off x="179400" y="1216525"/>
            <a:ext cx="5355900" cy="1908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Control </a:t>
            </a:r>
            <a:r>
              <a:rPr i="1" lang="en">
                <a:solidFill>
                  <a:schemeClr val="dk1"/>
                </a:solidFill>
              </a:rPr>
              <a:t>what</a:t>
            </a:r>
            <a:r>
              <a:rPr lang="en">
                <a:solidFill>
                  <a:schemeClr val="dk1"/>
                </a:solidFill>
              </a:rPr>
              <a:t> we write: </a:t>
            </a:r>
            <a:r>
              <a:rPr i="1" lang="en">
                <a:solidFill>
                  <a:schemeClr val="dk1"/>
                </a:solidFill>
              </a:rPr>
              <a:t>The number of bytes printed so far</a:t>
            </a:r>
            <a:r>
              <a:rPr lang="en">
                <a:solidFill>
                  <a:schemeClr val="dk1"/>
                </a:solidFill>
              </a:rPr>
              <a:t> should be 100.</a:t>
            </a:r>
            <a:endParaRPr>
              <a:solidFill>
                <a:schemeClr val="dk1"/>
              </a:solidFill>
            </a:endParaRPr>
          </a:p>
          <a:p>
            <a:pPr indent="-317500" lvl="0" marL="457200" rtl="0" algn="l">
              <a:spcBef>
                <a:spcPts val="0"/>
              </a:spcBef>
              <a:spcAft>
                <a:spcPts val="0"/>
              </a:spcAft>
              <a:buClr>
                <a:schemeClr val="dk1"/>
              </a:buClr>
              <a:buSzPts val="1400"/>
              <a:buChar char="●"/>
            </a:pPr>
            <a:r>
              <a:rPr b="1" lang="en">
                <a:solidFill>
                  <a:schemeClr val="dk1"/>
                </a:solidFill>
                <a:latin typeface="Courier New"/>
                <a:ea typeface="Courier New"/>
                <a:cs typeface="Courier New"/>
                <a:sym typeface="Courier New"/>
              </a:rPr>
              <a:t>%94c</a:t>
            </a:r>
            <a:r>
              <a:rPr lang="en">
                <a:solidFill>
                  <a:schemeClr val="dk1"/>
                </a:solidFill>
              </a:rPr>
              <a:t> prints the next argument on the stack as a character, padded to 94 bytes. (Also works if you switch 94 with other numbers.)</a:t>
            </a:r>
            <a:endParaRPr>
              <a:solidFill>
                <a:schemeClr val="dk1"/>
              </a:solidFill>
            </a:endParaRPr>
          </a:p>
          <a:p>
            <a:pPr indent="-317500" lvl="0" marL="457200" rtl="0" algn="l">
              <a:spcBef>
                <a:spcPts val="0"/>
              </a:spcBef>
              <a:spcAft>
                <a:spcPts val="0"/>
              </a:spcAft>
              <a:buClr>
                <a:schemeClr val="dk1"/>
              </a:buClr>
              <a:buSzPts val="1400"/>
              <a:buChar char="●"/>
            </a:pPr>
            <a:r>
              <a:rPr b="1" lang="en">
                <a:solidFill>
                  <a:schemeClr val="dk1"/>
                </a:solidFill>
                <a:latin typeface="Courier New"/>
                <a:ea typeface="Courier New"/>
                <a:cs typeface="Courier New"/>
                <a:sym typeface="Courier New"/>
              </a:rPr>
              <a:t>0xdeadbeef</a:t>
            </a:r>
            <a:r>
              <a:rPr lang="en">
                <a:solidFill>
                  <a:schemeClr val="dk1"/>
                </a:solidFill>
              </a:rPr>
              <a:t> and the </a:t>
            </a:r>
            <a:r>
              <a:rPr b="1" lang="en">
                <a:solidFill>
                  <a:schemeClr val="dk1"/>
                </a:solidFill>
                <a:latin typeface="Courier New"/>
                <a:ea typeface="Courier New"/>
                <a:cs typeface="Courier New"/>
                <a:sym typeface="Courier New"/>
              </a:rPr>
              <a:t>%c</a:t>
            </a:r>
            <a:r>
              <a:rPr lang="en">
                <a:solidFill>
                  <a:schemeClr val="dk1"/>
                </a:solidFill>
              </a:rPr>
              <a:t> formatters also caused characters to be printed, so we needed 100–4–1–1 = 94 padding bytes.</a:t>
            </a:r>
            <a:endParaRPr>
              <a:solidFill>
                <a:schemeClr val="dk1"/>
              </a:solidFill>
            </a:endParaRPr>
          </a:p>
        </p:txBody>
      </p:sp>
      <p:graphicFrame>
        <p:nvGraphicFramePr>
          <p:cNvPr id="336" name="Google Shape;336;p38"/>
          <p:cNvGraphicFramePr/>
          <p:nvPr/>
        </p:nvGraphicFramePr>
        <p:xfrm>
          <a:off x="179400" y="3282675"/>
          <a:ext cx="3000000" cy="3000000"/>
        </p:xfrm>
        <a:graphic>
          <a:graphicData uri="http://schemas.openxmlformats.org/drawingml/2006/table">
            <a:tbl>
              <a:tblPr>
                <a:noFill/>
                <a:tableStyleId>{9EC4224E-2C12-493B-A528-770CF28DDED8}</a:tableStyleId>
              </a:tblPr>
              <a:tblGrid>
                <a:gridCol w="1653550"/>
                <a:gridCol w="1265175"/>
                <a:gridCol w="713425"/>
                <a:gridCol w="588825"/>
                <a:gridCol w="559375"/>
                <a:gridCol w="575525"/>
              </a:tblGrid>
              <a:tr h="423300">
                <a:tc>
                  <a:txBody>
                    <a:bodyPr/>
                    <a:lstStyle/>
                    <a:p>
                      <a:pPr indent="0" lvl="0" marL="0" rtl="0" algn="l">
                        <a:spcBef>
                          <a:spcPts val="0"/>
                        </a:spcBef>
                        <a:spcAft>
                          <a:spcPts val="0"/>
                        </a:spcAft>
                        <a:buNone/>
                      </a:pPr>
                      <a:r>
                        <a:rPr lang="en"/>
                        <a:t>Input: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0xdeadbeef</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%94c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%n</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 chars used: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Consumes: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 bytes printed: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94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37" name="Google Shape;337;p38"/>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fgets(buf, 16, stdin)</a:t>
            </a: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graphicFrame>
        <p:nvGraphicFramePr>
          <p:cNvPr id="338" name="Google Shape;338;p38"/>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%n</a:t>
                      </a: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%c%c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%94c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0xdeadbeef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339" name="Google Shape;339;p38"/>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5" name="Google Shape;345;p3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346" name="Google Shape;346;p39"/>
          <p:cNvSpPr txBox="1"/>
          <p:nvPr/>
        </p:nvSpPr>
        <p:spPr>
          <a:xfrm>
            <a:off x="179400" y="1216525"/>
            <a:ext cx="5355900" cy="12621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How would you modify this exploit to write to address </a:t>
            </a:r>
            <a:r>
              <a:rPr b="1" lang="en">
                <a:solidFill>
                  <a:schemeClr val="dk1"/>
                </a:solidFill>
                <a:latin typeface="Courier New"/>
                <a:ea typeface="Courier New"/>
                <a:cs typeface="Courier New"/>
                <a:sym typeface="Courier New"/>
              </a:rPr>
              <a:t>0xbfff1234</a:t>
            </a:r>
            <a:r>
              <a:rPr lang="en">
                <a:solidFill>
                  <a:schemeClr val="dk1"/>
                </a:solidFill>
              </a:rPr>
              <a:t> instead of </a:t>
            </a:r>
            <a:r>
              <a:rPr b="1" lang="en">
                <a:solidFill>
                  <a:schemeClr val="dk1"/>
                </a:solidFill>
                <a:latin typeface="Courier New"/>
                <a:ea typeface="Courier New"/>
                <a:cs typeface="Courier New"/>
                <a:sym typeface="Courier New"/>
              </a:rPr>
              <a:t>0xdeadbeef</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How would you modify this exploit to write 89 to </a:t>
            </a:r>
            <a:r>
              <a:rPr b="1" lang="en">
                <a:solidFill>
                  <a:schemeClr val="dk1"/>
                </a:solidFill>
                <a:latin typeface="Courier New"/>
                <a:ea typeface="Courier New"/>
                <a:cs typeface="Courier New"/>
                <a:sym typeface="Courier New"/>
              </a:rPr>
              <a:t>0xbfff1234 </a:t>
            </a:r>
            <a:r>
              <a:rPr lang="en">
                <a:solidFill>
                  <a:schemeClr val="dk1"/>
                </a:solidFill>
              </a:rPr>
              <a:t>instead of writing 100?</a:t>
            </a:r>
            <a:endParaRPr>
              <a:solidFill>
                <a:schemeClr val="dk1"/>
              </a:solidFill>
            </a:endParaRPr>
          </a:p>
        </p:txBody>
      </p:sp>
      <p:graphicFrame>
        <p:nvGraphicFramePr>
          <p:cNvPr id="347" name="Google Shape;347;p39"/>
          <p:cNvGraphicFramePr/>
          <p:nvPr/>
        </p:nvGraphicFramePr>
        <p:xfrm>
          <a:off x="179400" y="3282675"/>
          <a:ext cx="3000000" cy="3000000"/>
        </p:xfrm>
        <a:graphic>
          <a:graphicData uri="http://schemas.openxmlformats.org/drawingml/2006/table">
            <a:tbl>
              <a:tblPr>
                <a:noFill/>
                <a:tableStyleId>{9EC4224E-2C12-493B-A528-770CF28DDED8}</a:tableStyleId>
              </a:tblPr>
              <a:tblGrid>
                <a:gridCol w="1653550"/>
                <a:gridCol w="1265175"/>
                <a:gridCol w="713425"/>
                <a:gridCol w="588825"/>
                <a:gridCol w="559375"/>
                <a:gridCol w="575525"/>
              </a:tblGrid>
              <a:tr h="423300">
                <a:tc>
                  <a:txBody>
                    <a:bodyPr/>
                    <a:lstStyle/>
                    <a:p>
                      <a:pPr indent="0" lvl="0" marL="0" rtl="0" algn="l">
                        <a:spcBef>
                          <a:spcPts val="0"/>
                        </a:spcBef>
                        <a:spcAft>
                          <a:spcPts val="0"/>
                        </a:spcAft>
                        <a:buNone/>
                      </a:pPr>
                      <a:r>
                        <a:rPr lang="en"/>
                        <a:t>Input: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0xdeadbeef</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%94c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%n</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 chars used: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Consumes: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 bytes printed: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94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48" name="Google Shape;348;p39"/>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fgets(buf, 16, stdin)</a:t>
            </a: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graphicFrame>
        <p:nvGraphicFramePr>
          <p:cNvPr id="349" name="Google Shape;349;p39"/>
          <p:cNvGraphicFramePr/>
          <p:nvPr/>
        </p:nvGraphicFramePr>
        <p:xfrm>
          <a:off x="6286375" y="1301050"/>
          <a:ext cx="3000000" cy="3000000"/>
        </p:xfrm>
        <a:graphic>
          <a:graphicData uri="http://schemas.openxmlformats.org/drawingml/2006/table">
            <a:tbl>
              <a:tblPr>
                <a:noFill/>
                <a:tableStyleId>{9EC4224E-2C12-493B-A528-770CF28DDED8}</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%n</a:t>
                      </a: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%c%c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%94c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0xdeadbeef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350" name="Google Shape;350;p39"/>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Vulnerabilities: Defense</a:t>
            </a:r>
            <a:endParaRPr/>
          </a:p>
        </p:txBody>
      </p:sp>
      <p:sp>
        <p:nvSpPr>
          <p:cNvPr id="356" name="Google Shape;356;p40"/>
          <p:cNvSpPr txBox="1"/>
          <p:nvPr/>
        </p:nvSpPr>
        <p:spPr>
          <a:xfrm>
            <a:off x="2109750" y="1481825"/>
            <a:ext cx="4924500" cy="16623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vulnerable(void)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char buf[64];</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if (fgets(buf, 64, stdin) == NULL)</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return;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printf("%s", buf);</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357" name="Google Shape;357;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358" name="Google Shape;358;p40"/>
          <p:cNvGrpSpPr/>
          <p:nvPr/>
        </p:nvGrpSpPr>
        <p:grpSpPr>
          <a:xfrm>
            <a:off x="3469800" y="2842950"/>
            <a:ext cx="3063000" cy="1261025"/>
            <a:chOff x="3469800" y="2842950"/>
            <a:chExt cx="3063000" cy="1261025"/>
          </a:xfrm>
        </p:grpSpPr>
        <p:cxnSp>
          <p:nvCxnSpPr>
            <p:cNvPr id="359" name="Google Shape;359;p40"/>
            <p:cNvCxnSpPr/>
            <p:nvPr/>
          </p:nvCxnSpPr>
          <p:spPr>
            <a:xfrm rot="10800000">
              <a:off x="3764225" y="2842950"/>
              <a:ext cx="0" cy="803700"/>
            </a:xfrm>
            <a:prstGeom prst="straightConnector1">
              <a:avLst/>
            </a:prstGeom>
            <a:noFill/>
            <a:ln cap="flat" cmpd="sng" w="19050">
              <a:solidFill>
                <a:srgbClr val="E69138"/>
              </a:solidFill>
              <a:prstDash val="solid"/>
              <a:round/>
              <a:headEnd len="med" w="med" type="none"/>
              <a:tailEnd len="med" w="med" type="triangle"/>
            </a:ln>
          </p:spPr>
        </p:cxnSp>
        <p:sp>
          <p:nvSpPr>
            <p:cNvPr id="360" name="Google Shape;360;p40"/>
            <p:cNvSpPr txBox="1"/>
            <p:nvPr/>
          </p:nvSpPr>
          <p:spPr>
            <a:xfrm>
              <a:off x="3469800" y="3488375"/>
              <a:ext cx="30630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Never use untrusted input in the first argument to </a:t>
              </a:r>
              <a:r>
                <a:rPr b="1" lang="en">
                  <a:latin typeface="Courier New"/>
                  <a:ea typeface="Courier New"/>
                  <a:cs typeface="Courier New"/>
                  <a:sym typeface="Courier New"/>
                </a:rPr>
                <a:t>printf</a:t>
              </a:r>
              <a:r>
                <a:rPr lang="en"/>
                <a:t>.</a:t>
              </a:r>
              <a:endParaRPr/>
            </a:p>
          </p:txBody>
        </p:sp>
      </p:grpSp>
      <p:sp>
        <p:nvSpPr>
          <p:cNvPr id="361" name="Google Shape;361;p40"/>
          <p:cNvSpPr txBox="1"/>
          <p:nvPr/>
        </p:nvSpPr>
        <p:spPr>
          <a:xfrm>
            <a:off x="3971250" y="4047625"/>
            <a:ext cx="30630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Now the attacker can't make the number of arguments mismatched!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Implications</a:t>
            </a:r>
            <a:endParaRPr/>
          </a:p>
        </p:txBody>
      </p:sp>
      <p:sp>
        <p:nvSpPr>
          <p:cNvPr id="367" name="Google Shape;367;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8" name="Google Shape;368;p4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If the code has a format string vulnerability, attacker can write any byte value they want, to any address in memory they want</a:t>
            </a:r>
            <a:endParaRPr/>
          </a:p>
          <a:p>
            <a:pPr indent="-317500" lvl="1" marL="914400" rtl="0" algn="l">
              <a:spcBef>
                <a:spcPts val="0"/>
              </a:spcBef>
              <a:spcAft>
                <a:spcPts val="0"/>
              </a:spcAft>
              <a:buSzPts val="1400"/>
              <a:buChar char="○"/>
            </a:pPr>
            <a:r>
              <a:rPr lang="en"/>
              <a:t>Can also repeat multiple times</a:t>
            </a:r>
            <a:endParaRPr/>
          </a:p>
          <a:p>
            <a:pPr indent="-342900" lvl="0" marL="457200" rtl="0" algn="l">
              <a:spcBef>
                <a:spcPts val="0"/>
              </a:spcBef>
              <a:spcAft>
                <a:spcPts val="0"/>
              </a:spcAft>
              <a:buSzPts val="1800"/>
              <a:buChar char="●"/>
            </a:pPr>
            <a:r>
              <a:rPr lang="en"/>
              <a:t>This is enough to overwrite a RIP, </a:t>
            </a:r>
            <a:r>
              <a:rPr lang="en"/>
              <a:t>overwrite</a:t>
            </a:r>
            <a:r>
              <a:rPr lang="en"/>
              <a:t> a function pointer, etc.</a:t>
            </a:r>
            <a:endParaRPr/>
          </a:p>
          <a:p>
            <a:pPr indent="-342900" lvl="0" marL="457200" rtl="0" algn="l">
              <a:spcBef>
                <a:spcPts val="0"/>
              </a:spcBef>
              <a:spcAft>
                <a:spcPts val="0"/>
              </a:spcAft>
              <a:buSzPts val="1800"/>
              <a:buChar char="●"/>
            </a:pPr>
            <a:r>
              <a:rPr lang="en"/>
              <a:t>=&gt; Enables attacker to trigger execution of arbitrary malicious shellcode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Heap Vulnerabilities</a:t>
            </a:r>
            <a:endParaRPr/>
          </a:p>
        </p:txBody>
      </p:sp>
      <p:sp>
        <p:nvSpPr>
          <p:cNvPr id="374" name="Google Shape;37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42"/>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a:solidFill>
                  <a:srgbClr val="000000"/>
                </a:solidFill>
              </a:rPr>
              <a:t>Textbook Chapter </a:t>
            </a:r>
            <a:r>
              <a:rPr lang="en"/>
              <a:t>3.6</a:t>
            </a:r>
            <a:endParaRPr>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Targeting Instruction Pointers</a:t>
            </a:r>
            <a:endParaRPr/>
          </a:p>
        </p:txBody>
      </p:sp>
      <p:sp>
        <p:nvSpPr>
          <p:cNvPr id="381" name="Google Shape;381;p4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Remember: You need to overwrite a pointer that will eventually be jumped to</a:t>
            </a:r>
            <a:endParaRPr/>
          </a:p>
          <a:p>
            <a:pPr indent="-342900" lvl="0" marL="457200" rtl="0" algn="l">
              <a:spcBef>
                <a:spcPts val="0"/>
              </a:spcBef>
              <a:spcAft>
                <a:spcPts val="0"/>
              </a:spcAft>
              <a:buSzPts val="1800"/>
              <a:buChar char="●"/>
            </a:pPr>
            <a:r>
              <a:rPr lang="en"/>
              <a:t>Stack smashing involves the RIP, but there are other targets too (literal function pointers, etc.)</a:t>
            </a:r>
            <a:endParaRPr/>
          </a:p>
        </p:txBody>
      </p:sp>
      <p:sp>
        <p:nvSpPr>
          <p:cNvPr id="382" name="Google Shape;382;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 vtables</a:t>
            </a:r>
            <a:endParaRPr/>
          </a:p>
        </p:txBody>
      </p:sp>
      <p:sp>
        <p:nvSpPr>
          <p:cNvPr id="388" name="Google Shape;388;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9" name="Google Shape;389;p4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 is an object-oriented language</a:t>
            </a:r>
            <a:endParaRPr/>
          </a:p>
          <a:p>
            <a:pPr indent="-317500" lvl="1" marL="914400" rtl="0" algn="l">
              <a:spcBef>
                <a:spcPts val="0"/>
              </a:spcBef>
              <a:spcAft>
                <a:spcPts val="0"/>
              </a:spcAft>
              <a:buSzPts val="1400"/>
              <a:buChar char="○"/>
            </a:pPr>
            <a:r>
              <a:rPr lang="en"/>
              <a:t>C++ objects can have instance variables and methods</a:t>
            </a:r>
            <a:endParaRPr/>
          </a:p>
          <a:p>
            <a:pPr indent="-317500" lvl="1" marL="914400" rtl="0" algn="l">
              <a:spcBef>
                <a:spcPts val="0"/>
              </a:spcBef>
              <a:spcAft>
                <a:spcPts val="0"/>
              </a:spcAft>
              <a:buSzPts val="1400"/>
              <a:buChar char="○"/>
            </a:pPr>
            <a:r>
              <a:rPr lang="en"/>
              <a:t>C++ has </a:t>
            </a:r>
            <a:r>
              <a:rPr i="1" lang="en"/>
              <a:t>polymorphism</a:t>
            </a:r>
            <a:r>
              <a:rPr lang="en"/>
              <a:t>: implementations of an interface can implement functions differently, similar to Java</a:t>
            </a:r>
            <a:endParaRPr/>
          </a:p>
          <a:p>
            <a:pPr indent="-342900" lvl="0" marL="457200" rtl="0" algn="l">
              <a:spcBef>
                <a:spcPts val="0"/>
              </a:spcBef>
              <a:spcAft>
                <a:spcPts val="0"/>
              </a:spcAft>
              <a:buSzPts val="1800"/>
              <a:buChar char="●"/>
            </a:pPr>
            <a:r>
              <a:rPr lang="en"/>
              <a:t>To achieve this, each class has a vtable (table of function pointers), and each object points to its class’s vtable</a:t>
            </a:r>
            <a:endParaRPr/>
          </a:p>
          <a:p>
            <a:pPr indent="-317500" lvl="1" marL="914400" rtl="0" algn="l">
              <a:spcBef>
                <a:spcPts val="0"/>
              </a:spcBef>
              <a:spcAft>
                <a:spcPts val="0"/>
              </a:spcAft>
              <a:buSzPts val="1400"/>
              <a:buChar char="○"/>
            </a:pPr>
            <a:r>
              <a:rPr lang="en"/>
              <a:t>The vtable pointer is usually at the beginning of the object</a:t>
            </a:r>
            <a:endParaRPr/>
          </a:p>
          <a:p>
            <a:pPr indent="-317500" lvl="1" marL="914400" rtl="0" algn="l">
              <a:spcBef>
                <a:spcPts val="0"/>
              </a:spcBef>
              <a:spcAft>
                <a:spcPts val="0"/>
              </a:spcAft>
              <a:buSzPts val="1400"/>
              <a:buChar char="○"/>
            </a:pPr>
            <a:r>
              <a:rPr lang="en"/>
              <a:t>To execute a function: Dereference the vtable pointer with an offset to find the function address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4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 vtables</a:t>
            </a:r>
            <a:endParaRPr/>
          </a:p>
        </p:txBody>
      </p:sp>
      <p:sp>
        <p:nvSpPr>
          <p:cNvPr id="396" name="Google Shape;396;p45"/>
          <p:cNvSpPr txBox="1"/>
          <p:nvPr/>
        </p:nvSpPr>
        <p:spPr>
          <a:xfrm>
            <a:off x="385375" y="4284600"/>
            <a:ext cx="33513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x</a:t>
            </a:r>
            <a:r>
              <a:rPr lang="en"/>
              <a:t> is an object of type </a:t>
            </a:r>
            <a:r>
              <a:rPr b="1" lang="en">
                <a:latin typeface="Courier New"/>
                <a:ea typeface="Courier New"/>
                <a:cs typeface="Courier New"/>
                <a:sym typeface="Courier New"/>
              </a:rPr>
              <a:t>ClassX</a:t>
            </a:r>
            <a:r>
              <a:rPr lang="en"/>
              <a:t>.</a:t>
            </a:r>
            <a:endParaRPr/>
          </a:p>
          <a:p>
            <a:pPr indent="0" lvl="0" marL="0" rtl="0" algn="ctr">
              <a:spcBef>
                <a:spcPts val="0"/>
              </a:spcBef>
              <a:spcAft>
                <a:spcPts val="0"/>
              </a:spcAft>
              <a:buNone/>
            </a:pPr>
            <a:r>
              <a:rPr b="1" lang="en"/>
              <a:t>y</a:t>
            </a:r>
            <a:r>
              <a:rPr lang="en"/>
              <a:t> is an object of type </a:t>
            </a:r>
            <a:r>
              <a:rPr b="1" lang="en">
                <a:latin typeface="Courier New"/>
                <a:ea typeface="Courier New"/>
                <a:cs typeface="Courier New"/>
                <a:sym typeface="Courier New"/>
              </a:rPr>
              <a:t>ClassY</a:t>
            </a:r>
            <a:r>
              <a:rPr lang="en"/>
              <a:t>.</a:t>
            </a:r>
            <a:endParaRPr/>
          </a:p>
        </p:txBody>
      </p:sp>
      <p:graphicFrame>
        <p:nvGraphicFramePr>
          <p:cNvPr id="397" name="Google Shape;397;p45"/>
          <p:cNvGraphicFramePr/>
          <p:nvPr/>
        </p:nvGraphicFramePr>
        <p:xfrm>
          <a:off x="385375" y="1532775"/>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vtable of </a:t>
                      </a:r>
                      <a:r>
                        <a:rPr b="1" lang="en" sz="1200">
                          <a:solidFill>
                            <a:schemeClr val="dk1"/>
                          </a:solidFill>
                          <a:latin typeface="Courier New"/>
                          <a:ea typeface="Courier New"/>
                          <a:cs typeface="Courier New"/>
                          <a:sym typeface="Courier New"/>
                        </a:rPr>
                        <a:t>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solidFill>
                      <a:srgbClr val="EEEEEE"/>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vtable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bl>
          </a:graphicData>
        </a:graphic>
      </p:graphicFrame>
      <p:sp>
        <p:nvSpPr>
          <p:cNvPr id="398" name="Google Shape;398;p45"/>
          <p:cNvSpPr txBox="1"/>
          <p:nvPr/>
        </p:nvSpPr>
        <p:spPr>
          <a:xfrm>
            <a:off x="385452" y="3727025"/>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lang="en" sz="1200"/>
              <a:t>Heap</a:t>
            </a:r>
            <a:endParaRPr sz="1200"/>
          </a:p>
        </p:txBody>
      </p:sp>
      <p:graphicFrame>
        <p:nvGraphicFramePr>
          <p:cNvPr id="399" name="Google Shape;399;p45"/>
          <p:cNvGraphicFramePr/>
          <p:nvPr/>
        </p:nvGraphicFramePr>
        <p:xfrm>
          <a:off x="3465750" y="2904175"/>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bar</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foo</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bl>
          </a:graphicData>
        </a:graphic>
      </p:graphicFrame>
      <p:cxnSp>
        <p:nvCxnSpPr>
          <p:cNvPr id="400" name="Google Shape;400;p45"/>
          <p:cNvCxnSpPr/>
          <p:nvPr/>
        </p:nvCxnSpPr>
        <p:spPr>
          <a:xfrm>
            <a:off x="2488450" y="3587550"/>
            <a:ext cx="9717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401" name="Google Shape;401;p45"/>
          <p:cNvGraphicFramePr/>
          <p:nvPr/>
        </p:nvGraphicFramePr>
        <p:xfrm>
          <a:off x="3465750" y="1532763"/>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bar</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foo</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bl>
          </a:graphicData>
        </a:graphic>
      </p:graphicFrame>
      <p:cxnSp>
        <p:nvCxnSpPr>
          <p:cNvPr id="402" name="Google Shape;402;p45"/>
          <p:cNvCxnSpPr/>
          <p:nvPr/>
        </p:nvCxnSpPr>
        <p:spPr>
          <a:xfrm>
            <a:off x="2488450" y="2227150"/>
            <a:ext cx="9717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403" name="Google Shape;403;p45"/>
          <p:cNvGraphicFramePr/>
          <p:nvPr/>
        </p:nvGraphicFramePr>
        <p:xfrm>
          <a:off x="6546125" y="1245988"/>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bar</a:t>
                      </a:r>
                      <a:r>
                        <a:rPr lang="en" sz="1200">
                          <a:solidFill>
                            <a:schemeClr val="dk1"/>
                          </a:solidFill>
                        </a:rPr>
                        <a:t> of </a:t>
                      </a:r>
                      <a:r>
                        <a:rPr b="1" lang="en" sz="1200">
                          <a:solidFill>
                            <a:schemeClr val="dk1"/>
                          </a:solidFill>
                          <a:latin typeface="Courier New"/>
                          <a:ea typeface="Courier New"/>
                          <a:cs typeface="Courier New"/>
                          <a:sym typeface="Courier New"/>
                        </a:rPr>
                        <a:t>ClassY</a:t>
                      </a:r>
                      <a:endParaRPr b="1" sz="1200">
                        <a:solidFill>
                          <a:schemeClr val="dk1"/>
                        </a:solidFill>
                        <a:latin typeface="Courier New"/>
                        <a:ea typeface="Courier New"/>
                        <a:cs typeface="Courier New"/>
                        <a:sym typeface="Courier New"/>
                      </a:endParaRPr>
                    </a:p>
                  </a:txBody>
                  <a:tcPr marT="45700" marB="45700" marR="45700" marL="45700">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foo</a:t>
                      </a:r>
                      <a:r>
                        <a:rPr lang="en" sz="1200">
                          <a:solidFill>
                            <a:schemeClr val="dk1"/>
                          </a:solidFill>
                        </a:rPr>
                        <a:t> of </a:t>
                      </a:r>
                      <a:r>
                        <a:rPr b="1" lang="en" sz="1200">
                          <a:solidFill>
                            <a:schemeClr val="dk1"/>
                          </a:solidFill>
                          <a:latin typeface="Courier New"/>
                          <a:ea typeface="Courier New"/>
                          <a:cs typeface="Courier New"/>
                          <a:sym typeface="Courier New"/>
                        </a:rPr>
                        <a:t>ClassY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lnT cap="flat" cmpd="sng" w="9525">
                      <a:solidFill>
                        <a:srgbClr val="9E9E9E"/>
                      </a:solidFill>
                      <a:prstDash val="solid"/>
                      <a:round/>
                      <a:headEnd len="sm" w="sm" type="none"/>
                      <a:tailEnd len="sm" w="sm" type="none"/>
                    </a:lnT>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bar</a:t>
                      </a:r>
                      <a:r>
                        <a:rPr lang="en" sz="1200">
                          <a:solidFill>
                            <a:schemeClr val="dk1"/>
                          </a:solidFill>
                        </a:rPr>
                        <a:t> of </a:t>
                      </a:r>
                      <a:r>
                        <a:rPr b="1" lang="en" sz="1200">
                          <a:solidFill>
                            <a:schemeClr val="dk1"/>
                          </a:solidFill>
                          <a:latin typeface="Courier New"/>
                          <a:ea typeface="Courier New"/>
                          <a:cs typeface="Courier New"/>
                          <a:sym typeface="Courier New"/>
                        </a:rPr>
                        <a:t>ClassX</a:t>
                      </a:r>
                      <a:endParaRPr sz="1200">
                        <a:solidFill>
                          <a:schemeClr val="dk1"/>
                        </a:solidFill>
                      </a:endParaRPr>
                    </a:p>
                  </a:txBody>
                  <a:tcPr marT="45700" marB="45700" marR="45700" marL="45700">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foo</a:t>
                      </a:r>
                      <a:r>
                        <a:rPr lang="en" sz="1200">
                          <a:solidFill>
                            <a:schemeClr val="dk1"/>
                          </a:solidFill>
                        </a:rPr>
                        <a:t> of </a:t>
                      </a:r>
                      <a:r>
                        <a:rPr b="1" lang="en" sz="1200">
                          <a:solidFill>
                            <a:schemeClr val="dk1"/>
                          </a:solidFill>
                          <a:latin typeface="Courier New"/>
                          <a:ea typeface="Courier New"/>
                          <a:cs typeface="Courier New"/>
                          <a:sym typeface="Courier New"/>
                        </a:rPr>
                        <a:t>ClassX</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lnT cap="flat" cmpd="sng" w="9525">
                      <a:solidFill>
                        <a:srgbClr val="9E9E9E"/>
                      </a:solidFill>
                      <a:prstDash val="solid"/>
                      <a:round/>
                      <a:headEnd len="sm" w="sm" type="none"/>
                      <a:tailEnd len="sm" w="sm" type="none"/>
                    </a:lnT>
                    <a:solidFill>
                      <a:srgbClr val="EEEEEE"/>
                    </a:solidFill>
                  </a:tcPr>
                </a:tc>
              </a:tr>
            </a:tbl>
          </a:graphicData>
        </a:graphic>
      </p:graphicFrame>
      <p:cxnSp>
        <p:nvCxnSpPr>
          <p:cNvPr id="404" name="Google Shape;404;p45"/>
          <p:cNvCxnSpPr/>
          <p:nvPr/>
        </p:nvCxnSpPr>
        <p:spPr>
          <a:xfrm>
            <a:off x="5568825" y="2212775"/>
            <a:ext cx="971700" cy="0"/>
          </a:xfrm>
          <a:prstGeom prst="straightConnector1">
            <a:avLst/>
          </a:prstGeom>
          <a:noFill/>
          <a:ln cap="flat" cmpd="sng" w="9525">
            <a:solidFill>
              <a:schemeClr val="dk2"/>
            </a:solidFill>
            <a:prstDash val="solid"/>
            <a:round/>
            <a:headEnd len="med" w="med" type="none"/>
            <a:tailEnd len="med" w="med" type="triangle"/>
          </a:ln>
        </p:spPr>
      </p:cxnSp>
      <p:cxnSp>
        <p:nvCxnSpPr>
          <p:cNvPr id="405" name="Google Shape;405;p45"/>
          <p:cNvCxnSpPr/>
          <p:nvPr/>
        </p:nvCxnSpPr>
        <p:spPr>
          <a:xfrm>
            <a:off x="5568825" y="3556350"/>
            <a:ext cx="971700" cy="0"/>
          </a:xfrm>
          <a:prstGeom prst="straightConnector1">
            <a:avLst/>
          </a:prstGeom>
          <a:noFill/>
          <a:ln cap="flat" cmpd="sng" w="9525">
            <a:solidFill>
              <a:schemeClr val="dk2"/>
            </a:solidFill>
            <a:prstDash val="solid"/>
            <a:round/>
            <a:headEnd len="med" w="med" type="none"/>
            <a:tailEnd len="med" w="med" type="triangle"/>
          </a:ln>
        </p:spPr>
      </p:cxnSp>
      <p:sp>
        <p:nvSpPr>
          <p:cNvPr id="406" name="Google Shape;406;p45"/>
          <p:cNvSpPr txBox="1"/>
          <p:nvPr/>
        </p:nvSpPr>
        <p:spPr>
          <a:xfrm>
            <a:off x="6546202" y="3988800"/>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lang="en" sz="1200"/>
              <a:t>Code</a:t>
            </a:r>
            <a:endParaRPr sz="1200"/>
          </a:p>
        </p:txBody>
      </p:sp>
      <p:sp>
        <p:nvSpPr>
          <p:cNvPr id="407" name="Google Shape;407;p45"/>
          <p:cNvSpPr txBox="1"/>
          <p:nvPr/>
        </p:nvSpPr>
        <p:spPr>
          <a:xfrm>
            <a:off x="3465827" y="3727025"/>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b="1" lang="en" sz="1200">
                <a:latin typeface="Courier New"/>
                <a:ea typeface="Courier New"/>
                <a:cs typeface="Courier New"/>
                <a:sym typeface="Courier New"/>
              </a:rPr>
              <a:t>ClassX</a:t>
            </a:r>
            <a:r>
              <a:rPr lang="en" sz="1200"/>
              <a:t> vtable</a:t>
            </a:r>
            <a:endParaRPr b="1" sz="1200">
              <a:latin typeface="Courier New"/>
              <a:ea typeface="Courier New"/>
              <a:cs typeface="Courier New"/>
              <a:sym typeface="Courier New"/>
            </a:endParaRPr>
          </a:p>
        </p:txBody>
      </p:sp>
      <p:sp>
        <p:nvSpPr>
          <p:cNvPr id="408" name="Google Shape;408;p45"/>
          <p:cNvSpPr txBox="1"/>
          <p:nvPr/>
        </p:nvSpPr>
        <p:spPr>
          <a:xfrm>
            <a:off x="3465827" y="2343138"/>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b="1" lang="en" sz="1200">
                <a:latin typeface="Courier New"/>
                <a:ea typeface="Courier New"/>
                <a:cs typeface="Courier New"/>
                <a:sym typeface="Courier New"/>
              </a:rPr>
              <a:t>ClassY</a:t>
            </a:r>
            <a:r>
              <a:rPr lang="en" sz="1200"/>
              <a:t> vtable</a:t>
            </a:r>
            <a:endParaRPr sz="1200"/>
          </a:p>
        </p:txBody>
      </p:sp>
      <p:cxnSp>
        <p:nvCxnSpPr>
          <p:cNvPr id="409" name="Google Shape;409;p45"/>
          <p:cNvCxnSpPr/>
          <p:nvPr/>
        </p:nvCxnSpPr>
        <p:spPr>
          <a:xfrm flipH="1" rot="10800000">
            <a:off x="5574525" y="1661800"/>
            <a:ext cx="971700" cy="2730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410" name="Google Shape;410;p45"/>
          <p:cNvCxnSpPr/>
          <p:nvPr/>
        </p:nvCxnSpPr>
        <p:spPr>
          <a:xfrm flipH="1" rot="10800000">
            <a:off x="5574525" y="3044800"/>
            <a:ext cx="971700" cy="273000"/>
          </a:xfrm>
          <a:prstGeom prst="bentConnector3">
            <a:avLst>
              <a:gd fmla="val 50000"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 vtables</a:t>
            </a:r>
            <a:endParaRPr/>
          </a:p>
        </p:txBody>
      </p:sp>
      <p:graphicFrame>
        <p:nvGraphicFramePr>
          <p:cNvPr id="417" name="Google Shape;417;p46"/>
          <p:cNvGraphicFramePr/>
          <p:nvPr/>
        </p:nvGraphicFramePr>
        <p:xfrm>
          <a:off x="385375" y="1532775"/>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vtable of </a:t>
                      </a:r>
                      <a:r>
                        <a:rPr b="1" lang="en" sz="1200">
                          <a:solidFill>
                            <a:schemeClr val="dk1"/>
                          </a:solidFill>
                          <a:latin typeface="Courier New"/>
                          <a:ea typeface="Courier New"/>
                          <a:cs typeface="Courier New"/>
                          <a:sym typeface="Courier New"/>
                        </a:rPr>
                        <a:t>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solidFill>
                      <a:srgbClr val="EEEEEE"/>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vtable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bl>
          </a:graphicData>
        </a:graphic>
      </p:graphicFrame>
      <p:sp>
        <p:nvSpPr>
          <p:cNvPr id="418" name="Google Shape;418;p46"/>
          <p:cNvSpPr txBox="1"/>
          <p:nvPr/>
        </p:nvSpPr>
        <p:spPr>
          <a:xfrm>
            <a:off x="385452" y="3727025"/>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lang="en" sz="1200"/>
              <a:t>Heap</a:t>
            </a:r>
            <a:endParaRPr sz="1200"/>
          </a:p>
        </p:txBody>
      </p:sp>
      <p:graphicFrame>
        <p:nvGraphicFramePr>
          <p:cNvPr id="419" name="Google Shape;419;p46"/>
          <p:cNvGraphicFramePr/>
          <p:nvPr/>
        </p:nvGraphicFramePr>
        <p:xfrm>
          <a:off x="3465750" y="2904175"/>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bar</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foo</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bl>
          </a:graphicData>
        </a:graphic>
      </p:graphicFrame>
      <p:cxnSp>
        <p:nvCxnSpPr>
          <p:cNvPr id="420" name="Google Shape;420;p46"/>
          <p:cNvCxnSpPr/>
          <p:nvPr/>
        </p:nvCxnSpPr>
        <p:spPr>
          <a:xfrm>
            <a:off x="2488450" y="3587550"/>
            <a:ext cx="9717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421" name="Google Shape;421;p46"/>
          <p:cNvGraphicFramePr/>
          <p:nvPr/>
        </p:nvGraphicFramePr>
        <p:xfrm>
          <a:off x="3465750" y="1532763"/>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bar</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foo</a:t>
                      </a:r>
                      <a:endParaRPr b="1" sz="1200">
                        <a:solidFill>
                          <a:schemeClr val="dk1"/>
                        </a:solidFill>
                        <a:latin typeface="Courier New"/>
                        <a:ea typeface="Courier New"/>
                        <a:cs typeface="Courier New"/>
                        <a:sym typeface="Courier New"/>
                      </a:endParaRPr>
                    </a:p>
                  </a:txBody>
                  <a:tcPr marT="45700" marB="45700" marR="45700" marL="45700">
                    <a:solidFill>
                      <a:srgbClr val="F9CB9C"/>
                    </a:solidFill>
                  </a:tcPr>
                </a:tc>
              </a:tr>
            </a:tbl>
          </a:graphicData>
        </a:graphic>
      </p:graphicFrame>
      <p:cxnSp>
        <p:nvCxnSpPr>
          <p:cNvPr id="422" name="Google Shape;422;p46"/>
          <p:cNvCxnSpPr/>
          <p:nvPr/>
        </p:nvCxnSpPr>
        <p:spPr>
          <a:xfrm>
            <a:off x="2488450" y="2227150"/>
            <a:ext cx="971700" cy="0"/>
          </a:xfrm>
          <a:prstGeom prst="straightConnector1">
            <a:avLst/>
          </a:prstGeom>
          <a:noFill/>
          <a:ln cap="flat" cmpd="sng" w="9525">
            <a:solidFill>
              <a:srgbClr val="B45F06"/>
            </a:solidFill>
            <a:prstDash val="solid"/>
            <a:round/>
            <a:headEnd len="med" w="med" type="none"/>
            <a:tailEnd len="med" w="med" type="triangle"/>
          </a:ln>
        </p:spPr>
      </p:cxnSp>
      <p:graphicFrame>
        <p:nvGraphicFramePr>
          <p:cNvPr id="423" name="Google Shape;423;p46"/>
          <p:cNvGraphicFramePr/>
          <p:nvPr/>
        </p:nvGraphicFramePr>
        <p:xfrm>
          <a:off x="6546125" y="1245988"/>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bar</a:t>
                      </a:r>
                      <a:r>
                        <a:rPr lang="en" sz="1200">
                          <a:solidFill>
                            <a:schemeClr val="dk1"/>
                          </a:solidFill>
                        </a:rPr>
                        <a:t> of </a:t>
                      </a:r>
                      <a:r>
                        <a:rPr b="1" lang="en" sz="1200">
                          <a:solidFill>
                            <a:schemeClr val="dk1"/>
                          </a:solidFill>
                          <a:latin typeface="Courier New"/>
                          <a:ea typeface="Courier New"/>
                          <a:cs typeface="Courier New"/>
                          <a:sym typeface="Courier New"/>
                        </a:rPr>
                        <a:t>ClassY</a:t>
                      </a:r>
                      <a:endParaRPr b="1" sz="1200">
                        <a:solidFill>
                          <a:schemeClr val="dk1"/>
                        </a:solidFill>
                        <a:latin typeface="Courier New"/>
                        <a:ea typeface="Courier New"/>
                        <a:cs typeface="Courier New"/>
                        <a:sym typeface="Courier New"/>
                      </a:endParaRPr>
                    </a:p>
                  </a:txBody>
                  <a:tcPr marT="45700" marB="45700" marR="45700" marL="45700">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foo</a:t>
                      </a:r>
                      <a:r>
                        <a:rPr lang="en" sz="1200">
                          <a:solidFill>
                            <a:schemeClr val="dk1"/>
                          </a:solidFill>
                        </a:rPr>
                        <a:t> of </a:t>
                      </a:r>
                      <a:r>
                        <a:rPr b="1" lang="en" sz="1200">
                          <a:solidFill>
                            <a:schemeClr val="dk1"/>
                          </a:solidFill>
                          <a:latin typeface="Courier New"/>
                          <a:ea typeface="Courier New"/>
                          <a:cs typeface="Courier New"/>
                          <a:sym typeface="Courier New"/>
                        </a:rPr>
                        <a:t>ClassY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lnT cap="flat" cmpd="sng" w="9525">
                      <a:solidFill>
                        <a:srgbClr val="9E9E9E"/>
                      </a:solidFill>
                      <a:prstDash val="solid"/>
                      <a:round/>
                      <a:headEnd len="sm" w="sm" type="none"/>
                      <a:tailEnd len="sm" w="sm" type="none"/>
                    </a:lnT>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solidFill>
                      <a:srgbClr val="EEEEEE"/>
                    </a:solidFill>
                  </a:tcPr>
                </a:tc>
              </a:tr>
              <a:tr h="274275">
                <a:tc>
                  <a:txBody>
                    <a:bodyPr/>
                    <a:lstStyle/>
                    <a:p>
                      <a:pPr indent="0" lvl="0" marL="0" rtl="0" algn="ctr">
                        <a:spcBef>
                          <a:spcPts val="0"/>
                        </a:spcBef>
                        <a:spcAft>
                          <a:spcPts val="0"/>
                        </a:spcAft>
                        <a:buClr>
                          <a:schemeClr val="dk1"/>
                        </a:buClr>
                        <a:buSzPts val="1100"/>
                        <a:buFont typeface="Arial"/>
                        <a:buNone/>
                      </a:pPr>
                      <a:r>
                        <a:rPr lang="en" sz="1200">
                          <a:solidFill>
                            <a:schemeClr val="dk1"/>
                          </a:solidFill>
                        </a:rPr>
                        <a:t>method </a:t>
                      </a:r>
                      <a:r>
                        <a:rPr b="1" lang="en" sz="1200">
                          <a:solidFill>
                            <a:schemeClr val="dk1"/>
                          </a:solidFill>
                          <a:latin typeface="Courier New"/>
                          <a:ea typeface="Courier New"/>
                          <a:cs typeface="Courier New"/>
                          <a:sym typeface="Courier New"/>
                        </a:rPr>
                        <a:t>bar</a:t>
                      </a:r>
                      <a:r>
                        <a:rPr lang="en" sz="1200">
                          <a:solidFill>
                            <a:schemeClr val="dk1"/>
                          </a:solidFill>
                        </a:rPr>
                        <a:t> of </a:t>
                      </a:r>
                      <a:r>
                        <a:rPr b="1" lang="en" sz="1200">
                          <a:solidFill>
                            <a:schemeClr val="dk1"/>
                          </a:solidFill>
                          <a:latin typeface="Courier New"/>
                          <a:ea typeface="Courier New"/>
                          <a:cs typeface="Courier New"/>
                          <a:sym typeface="Courier New"/>
                        </a:rPr>
                        <a:t>ClassX</a:t>
                      </a:r>
                      <a:endParaRPr sz="1200">
                        <a:solidFill>
                          <a:schemeClr val="dk1"/>
                        </a:solidFill>
                      </a:endParaRPr>
                    </a:p>
                  </a:txBody>
                  <a:tcPr marT="45700" marB="45700" marR="45700" marL="45700">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foo</a:t>
                      </a:r>
                      <a:r>
                        <a:rPr lang="en" sz="1200">
                          <a:solidFill>
                            <a:schemeClr val="dk1"/>
                          </a:solidFill>
                        </a:rPr>
                        <a:t> of </a:t>
                      </a:r>
                      <a:r>
                        <a:rPr b="1" lang="en" sz="1200">
                          <a:solidFill>
                            <a:schemeClr val="dk1"/>
                          </a:solidFill>
                          <a:latin typeface="Courier New"/>
                          <a:ea typeface="Courier New"/>
                          <a:cs typeface="Courier New"/>
                          <a:sym typeface="Courier New"/>
                        </a:rPr>
                        <a:t>ClassX</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lnT cap="flat" cmpd="sng" w="9525">
                      <a:solidFill>
                        <a:srgbClr val="9E9E9E"/>
                      </a:solidFill>
                      <a:prstDash val="solid"/>
                      <a:round/>
                      <a:headEnd len="sm" w="sm" type="none"/>
                      <a:tailEnd len="sm" w="sm" type="none"/>
                    </a:lnT>
                    <a:solidFill>
                      <a:srgbClr val="EEEEEE"/>
                    </a:solidFill>
                  </a:tcPr>
                </a:tc>
              </a:tr>
            </a:tbl>
          </a:graphicData>
        </a:graphic>
      </p:graphicFrame>
      <p:cxnSp>
        <p:nvCxnSpPr>
          <p:cNvPr id="424" name="Google Shape;424;p46"/>
          <p:cNvCxnSpPr/>
          <p:nvPr/>
        </p:nvCxnSpPr>
        <p:spPr>
          <a:xfrm>
            <a:off x="5568825" y="2212775"/>
            <a:ext cx="971700" cy="0"/>
          </a:xfrm>
          <a:prstGeom prst="straightConnector1">
            <a:avLst/>
          </a:prstGeom>
          <a:noFill/>
          <a:ln cap="flat" cmpd="sng" w="9525">
            <a:solidFill>
              <a:srgbClr val="B45F06"/>
            </a:solidFill>
            <a:prstDash val="solid"/>
            <a:round/>
            <a:headEnd len="med" w="med" type="none"/>
            <a:tailEnd len="med" w="med" type="triangle"/>
          </a:ln>
        </p:spPr>
      </p:cxnSp>
      <p:cxnSp>
        <p:nvCxnSpPr>
          <p:cNvPr id="425" name="Google Shape;425;p46"/>
          <p:cNvCxnSpPr/>
          <p:nvPr/>
        </p:nvCxnSpPr>
        <p:spPr>
          <a:xfrm>
            <a:off x="5568825" y="3556350"/>
            <a:ext cx="971700" cy="0"/>
          </a:xfrm>
          <a:prstGeom prst="straightConnector1">
            <a:avLst/>
          </a:prstGeom>
          <a:noFill/>
          <a:ln cap="flat" cmpd="sng" w="9525">
            <a:solidFill>
              <a:schemeClr val="dk2"/>
            </a:solidFill>
            <a:prstDash val="solid"/>
            <a:round/>
            <a:headEnd len="med" w="med" type="none"/>
            <a:tailEnd len="med" w="med" type="triangle"/>
          </a:ln>
        </p:spPr>
      </p:cxnSp>
      <p:sp>
        <p:nvSpPr>
          <p:cNvPr id="426" name="Google Shape;426;p46"/>
          <p:cNvSpPr txBox="1"/>
          <p:nvPr/>
        </p:nvSpPr>
        <p:spPr>
          <a:xfrm>
            <a:off x="6546202" y="3988800"/>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lang="en" sz="1200"/>
              <a:t>Code</a:t>
            </a:r>
            <a:endParaRPr sz="1200"/>
          </a:p>
        </p:txBody>
      </p:sp>
      <p:sp>
        <p:nvSpPr>
          <p:cNvPr id="427" name="Google Shape;427;p46"/>
          <p:cNvSpPr txBox="1"/>
          <p:nvPr/>
        </p:nvSpPr>
        <p:spPr>
          <a:xfrm>
            <a:off x="385375" y="4284600"/>
            <a:ext cx="32535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To call a method of </a:t>
            </a:r>
            <a:r>
              <a:rPr b="1" lang="en" sz="1200">
                <a:solidFill>
                  <a:schemeClr val="dk1"/>
                </a:solidFill>
                <a:latin typeface="Courier New"/>
                <a:ea typeface="Courier New"/>
                <a:cs typeface="Courier New"/>
                <a:sym typeface="Courier New"/>
              </a:rPr>
              <a:t>y</a:t>
            </a:r>
            <a:r>
              <a:rPr lang="en"/>
              <a:t>, first follow a pointer on the heap to find the vtable…</a:t>
            </a:r>
            <a:endParaRPr b="1">
              <a:latin typeface="Courier New"/>
              <a:ea typeface="Courier New"/>
              <a:cs typeface="Courier New"/>
              <a:sym typeface="Courier New"/>
            </a:endParaRPr>
          </a:p>
        </p:txBody>
      </p:sp>
      <p:sp>
        <p:nvSpPr>
          <p:cNvPr id="428" name="Google Shape;428;p46"/>
          <p:cNvSpPr txBox="1"/>
          <p:nvPr/>
        </p:nvSpPr>
        <p:spPr>
          <a:xfrm>
            <a:off x="3465827" y="3727025"/>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b="1" lang="en" sz="1200">
                <a:latin typeface="Courier New"/>
                <a:ea typeface="Courier New"/>
                <a:cs typeface="Courier New"/>
                <a:sym typeface="Courier New"/>
              </a:rPr>
              <a:t>ClassX</a:t>
            </a:r>
            <a:r>
              <a:rPr lang="en" sz="1200"/>
              <a:t> vtable</a:t>
            </a:r>
            <a:endParaRPr b="1" sz="1200">
              <a:latin typeface="Courier New"/>
              <a:ea typeface="Courier New"/>
              <a:cs typeface="Courier New"/>
              <a:sym typeface="Courier New"/>
            </a:endParaRPr>
          </a:p>
        </p:txBody>
      </p:sp>
      <p:sp>
        <p:nvSpPr>
          <p:cNvPr id="429" name="Google Shape;429;p46"/>
          <p:cNvSpPr txBox="1"/>
          <p:nvPr/>
        </p:nvSpPr>
        <p:spPr>
          <a:xfrm>
            <a:off x="3465827" y="2343138"/>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b="1" lang="en" sz="1200">
                <a:latin typeface="Courier New"/>
                <a:ea typeface="Courier New"/>
                <a:cs typeface="Courier New"/>
                <a:sym typeface="Courier New"/>
              </a:rPr>
              <a:t>ClassY</a:t>
            </a:r>
            <a:r>
              <a:rPr lang="en" sz="1200"/>
              <a:t> vtable</a:t>
            </a:r>
            <a:endParaRPr sz="1200"/>
          </a:p>
        </p:txBody>
      </p:sp>
      <p:cxnSp>
        <p:nvCxnSpPr>
          <p:cNvPr id="430" name="Google Shape;430;p46"/>
          <p:cNvCxnSpPr/>
          <p:nvPr/>
        </p:nvCxnSpPr>
        <p:spPr>
          <a:xfrm flipH="1" rot="10800000">
            <a:off x="5574525" y="1661800"/>
            <a:ext cx="971700" cy="2730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431" name="Google Shape;431;p46"/>
          <p:cNvCxnSpPr/>
          <p:nvPr/>
        </p:nvCxnSpPr>
        <p:spPr>
          <a:xfrm flipH="1" rot="10800000">
            <a:off x="5574525" y="3044800"/>
            <a:ext cx="971700" cy="2730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432" name="Google Shape;432;p46"/>
          <p:cNvSpPr txBox="1"/>
          <p:nvPr/>
        </p:nvSpPr>
        <p:spPr>
          <a:xfrm>
            <a:off x="3752475" y="4267000"/>
            <a:ext cx="32535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 then follow a pointer in the vtable to find the instructions of the method.</a:t>
            </a:r>
            <a:endParaRPr b="1">
              <a:latin typeface="Courier New"/>
              <a:ea typeface="Courier New"/>
              <a:cs typeface="Courier New"/>
              <a:sym typeface="Courier New"/>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8" name="Google Shape;438;p4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 vtables</a:t>
            </a:r>
            <a:endParaRPr/>
          </a:p>
        </p:txBody>
      </p:sp>
      <p:sp>
        <p:nvSpPr>
          <p:cNvPr id="439" name="Google Shape;439;p47"/>
          <p:cNvSpPr txBox="1"/>
          <p:nvPr/>
        </p:nvSpPr>
        <p:spPr>
          <a:xfrm>
            <a:off x="385375" y="4284600"/>
            <a:ext cx="33513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Suppose one of the instance variables of </a:t>
            </a:r>
            <a:r>
              <a:rPr b="1" lang="en">
                <a:latin typeface="Courier New"/>
                <a:ea typeface="Courier New"/>
                <a:cs typeface="Courier New"/>
                <a:sym typeface="Courier New"/>
              </a:rPr>
              <a:t>x</a:t>
            </a:r>
            <a:r>
              <a:rPr lang="en"/>
              <a:t> is a buffer we can overflow.</a:t>
            </a:r>
            <a:endParaRPr b="1">
              <a:latin typeface="Courier New"/>
              <a:ea typeface="Courier New"/>
              <a:cs typeface="Courier New"/>
              <a:sym typeface="Courier New"/>
            </a:endParaRPr>
          </a:p>
        </p:txBody>
      </p:sp>
      <p:graphicFrame>
        <p:nvGraphicFramePr>
          <p:cNvPr id="440" name="Google Shape;440;p47"/>
          <p:cNvGraphicFramePr/>
          <p:nvPr/>
        </p:nvGraphicFramePr>
        <p:xfrm>
          <a:off x="385375" y="1532775"/>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vtable of </a:t>
                      </a:r>
                      <a:r>
                        <a:rPr b="1" lang="en" sz="1200">
                          <a:solidFill>
                            <a:schemeClr val="dk1"/>
                          </a:solidFill>
                          <a:latin typeface="Courier New"/>
                          <a:ea typeface="Courier New"/>
                          <a:cs typeface="Courier New"/>
                          <a:sym typeface="Courier New"/>
                        </a:rPr>
                        <a:t>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solidFill>
                      <a:srgbClr val="F9CB9C"/>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vtable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bl>
          </a:graphicData>
        </a:graphic>
      </p:graphicFrame>
      <p:sp>
        <p:nvSpPr>
          <p:cNvPr id="441" name="Google Shape;441;p47"/>
          <p:cNvSpPr txBox="1"/>
          <p:nvPr/>
        </p:nvSpPr>
        <p:spPr>
          <a:xfrm>
            <a:off x="385452" y="3727025"/>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lang="en" sz="1200"/>
              <a:t>Heap</a:t>
            </a:r>
            <a:endParaRPr sz="1200"/>
          </a:p>
        </p:txBody>
      </p:sp>
      <p:graphicFrame>
        <p:nvGraphicFramePr>
          <p:cNvPr id="442" name="Google Shape;442;p47"/>
          <p:cNvGraphicFramePr/>
          <p:nvPr/>
        </p:nvGraphicFramePr>
        <p:xfrm>
          <a:off x="3465750" y="2904175"/>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bar</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foo</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bl>
          </a:graphicData>
        </a:graphic>
      </p:graphicFrame>
      <p:cxnSp>
        <p:nvCxnSpPr>
          <p:cNvPr id="443" name="Google Shape;443;p47"/>
          <p:cNvCxnSpPr/>
          <p:nvPr/>
        </p:nvCxnSpPr>
        <p:spPr>
          <a:xfrm>
            <a:off x="2488450" y="3587550"/>
            <a:ext cx="9717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444" name="Google Shape;444;p47"/>
          <p:cNvGraphicFramePr/>
          <p:nvPr/>
        </p:nvGraphicFramePr>
        <p:xfrm>
          <a:off x="3465750" y="1532763"/>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bar</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foo</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bl>
          </a:graphicData>
        </a:graphic>
      </p:graphicFrame>
      <p:cxnSp>
        <p:nvCxnSpPr>
          <p:cNvPr id="445" name="Google Shape;445;p47"/>
          <p:cNvCxnSpPr/>
          <p:nvPr/>
        </p:nvCxnSpPr>
        <p:spPr>
          <a:xfrm>
            <a:off x="2488450" y="2227150"/>
            <a:ext cx="9717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446" name="Google Shape;446;p47"/>
          <p:cNvGraphicFramePr/>
          <p:nvPr/>
        </p:nvGraphicFramePr>
        <p:xfrm>
          <a:off x="6546125" y="1245988"/>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bar</a:t>
                      </a:r>
                      <a:r>
                        <a:rPr lang="en" sz="1200">
                          <a:solidFill>
                            <a:schemeClr val="dk1"/>
                          </a:solidFill>
                        </a:rPr>
                        <a:t> of </a:t>
                      </a:r>
                      <a:r>
                        <a:rPr b="1" lang="en" sz="1200">
                          <a:solidFill>
                            <a:schemeClr val="dk1"/>
                          </a:solidFill>
                          <a:latin typeface="Courier New"/>
                          <a:ea typeface="Courier New"/>
                          <a:cs typeface="Courier New"/>
                          <a:sym typeface="Courier New"/>
                        </a:rPr>
                        <a:t>ClassY</a:t>
                      </a:r>
                      <a:endParaRPr b="1" sz="1200">
                        <a:solidFill>
                          <a:schemeClr val="dk1"/>
                        </a:solidFill>
                        <a:latin typeface="Courier New"/>
                        <a:ea typeface="Courier New"/>
                        <a:cs typeface="Courier New"/>
                        <a:sym typeface="Courier New"/>
                      </a:endParaRPr>
                    </a:p>
                  </a:txBody>
                  <a:tcPr marT="45700" marB="45700" marR="45700" marL="45700">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foo</a:t>
                      </a:r>
                      <a:r>
                        <a:rPr lang="en" sz="1200">
                          <a:solidFill>
                            <a:schemeClr val="dk1"/>
                          </a:solidFill>
                        </a:rPr>
                        <a:t> of </a:t>
                      </a:r>
                      <a:r>
                        <a:rPr b="1" lang="en" sz="1200">
                          <a:solidFill>
                            <a:schemeClr val="dk1"/>
                          </a:solidFill>
                          <a:latin typeface="Courier New"/>
                          <a:ea typeface="Courier New"/>
                          <a:cs typeface="Courier New"/>
                          <a:sym typeface="Courier New"/>
                        </a:rPr>
                        <a:t>ClassY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lnT cap="flat" cmpd="sng" w="9525">
                      <a:solidFill>
                        <a:srgbClr val="9E9E9E"/>
                      </a:solidFill>
                      <a:prstDash val="solid"/>
                      <a:round/>
                      <a:headEnd len="sm" w="sm" type="none"/>
                      <a:tailEnd len="sm" w="sm" type="none"/>
                    </a:lnT>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bar</a:t>
                      </a:r>
                      <a:r>
                        <a:rPr lang="en" sz="1200">
                          <a:solidFill>
                            <a:schemeClr val="dk1"/>
                          </a:solidFill>
                        </a:rPr>
                        <a:t> of </a:t>
                      </a:r>
                      <a:r>
                        <a:rPr b="1" lang="en" sz="1200">
                          <a:solidFill>
                            <a:schemeClr val="dk1"/>
                          </a:solidFill>
                          <a:latin typeface="Courier New"/>
                          <a:ea typeface="Courier New"/>
                          <a:cs typeface="Courier New"/>
                          <a:sym typeface="Courier New"/>
                        </a:rPr>
                        <a:t>ClassX</a:t>
                      </a:r>
                      <a:endParaRPr sz="1200">
                        <a:solidFill>
                          <a:schemeClr val="dk1"/>
                        </a:solidFill>
                      </a:endParaRPr>
                    </a:p>
                  </a:txBody>
                  <a:tcPr marT="45700" marB="45700" marR="45700" marL="45700">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foo</a:t>
                      </a:r>
                      <a:r>
                        <a:rPr lang="en" sz="1200">
                          <a:solidFill>
                            <a:schemeClr val="dk1"/>
                          </a:solidFill>
                        </a:rPr>
                        <a:t> of </a:t>
                      </a:r>
                      <a:r>
                        <a:rPr b="1" lang="en" sz="1200">
                          <a:solidFill>
                            <a:schemeClr val="dk1"/>
                          </a:solidFill>
                          <a:latin typeface="Courier New"/>
                          <a:ea typeface="Courier New"/>
                          <a:cs typeface="Courier New"/>
                          <a:sym typeface="Courier New"/>
                        </a:rPr>
                        <a:t>ClassX</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lnT cap="flat" cmpd="sng" w="9525">
                      <a:solidFill>
                        <a:srgbClr val="9E9E9E"/>
                      </a:solidFill>
                      <a:prstDash val="solid"/>
                      <a:round/>
                      <a:headEnd len="sm" w="sm" type="none"/>
                      <a:tailEnd len="sm" w="sm" type="none"/>
                    </a:lnT>
                    <a:solidFill>
                      <a:srgbClr val="EEEEEE"/>
                    </a:solidFill>
                  </a:tcPr>
                </a:tc>
              </a:tr>
            </a:tbl>
          </a:graphicData>
        </a:graphic>
      </p:graphicFrame>
      <p:cxnSp>
        <p:nvCxnSpPr>
          <p:cNvPr id="447" name="Google Shape;447;p47"/>
          <p:cNvCxnSpPr/>
          <p:nvPr/>
        </p:nvCxnSpPr>
        <p:spPr>
          <a:xfrm>
            <a:off x="5568825" y="2212775"/>
            <a:ext cx="971700" cy="0"/>
          </a:xfrm>
          <a:prstGeom prst="straightConnector1">
            <a:avLst/>
          </a:prstGeom>
          <a:noFill/>
          <a:ln cap="flat" cmpd="sng" w="9525">
            <a:solidFill>
              <a:schemeClr val="dk2"/>
            </a:solidFill>
            <a:prstDash val="solid"/>
            <a:round/>
            <a:headEnd len="med" w="med" type="none"/>
            <a:tailEnd len="med" w="med" type="triangle"/>
          </a:ln>
        </p:spPr>
      </p:cxnSp>
      <p:cxnSp>
        <p:nvCxnSpPr>
          <p:cNvPr id="448" name="Google Shape;448;p47"/>
          <p:cNvCxnSpPr/>
          <p:nvPr/>
        </p:nvCxnSpPr>
        <p:spPr>
          <a:xfrm>
            <a:off x="5568825" y="3556350"/>
            <a:ext cx="971700" cy="0"/>
          </a:xfrm>
          <a:prstGeom prst="straightConnector1">
            <a:avLst/>
          </a:prstGeom>
          <a:noFill/>
          <a:ln cap="flat" cmpd="sng" w="9525">
            <a:solidFill>
              <a:schemeClr val="dk2"/>
            </a:solidFill>
            <a:prstDash val="solid"/>
            <a:round/>
            <a:headEnd len="med" w="med" type="none"/>
            <a:tailEnd len="med" w="med" type="triangle"/>
          </a:ln>
        </p:spPr>
      </p:cxnSp>
      <p:sp>
        <p:nvSpPr>
          <p:cNvPr id="449" name="Google Shape;449;p47"/>
          <p:cNvSpPr txBox="1"/>
          <p:nvPr/>
        </p:nvSpPr>
        <p:spPr>
          <a:xfrm>
            <a:off x="6546202" y="3988800"/>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lang="en" sz="1200"/>
              <a:t>Code</a:t>
            </a:r>
            <a:endParaRPr sz="1200"/>
          </a:p>
        </p:txBody>
      </p:sp>
      <p:sp>
        <p:nvSpPr>
          <p:cNvPr id="450" name="Google Shape;450;p47"/>
          <p:cNvSpPr txBox="1"/>
          <p:nvPr/>
        </p:nvSpPr>
        <p:spPr>
          <a:xfrm>
            <a:off x="3465827" y="3727025"/>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b="1" lang="en" sz="1200">
                <a:latin typeface="Courier New"/>
                <a:ea typeface="Courier New"/>
                <a:cs typeface="Courier New"/>
                <a:sym typeface="Courier New"/>
              </a:rPr>
              <a:t>ClassX</a:t>
            </a:r>
            <a:r>
              <a:rPr lang="en" sz="1200"/>
              <a:t> vtable</a:t>
            </a:r>
            <a:endParaRPr b="1" sz="1200">
              <a:latin typeface="Courier New"/>
              <a:ea typeface="Courier New"/>
              <a:cs typeface="Courier New"/>
              <a:sym typeface="Courier New"/>
            </a:endParaRPr>
          </a:p>
        </p:txBody>
      </p:sp>
      <p:sp>
        <p:nvSpPr>
          <p:cNvPr id="451" name="Google Shape;451;p47"/>
          <p:cNvSpPr txBox="1"/>
          <p:nvPr/>
        </p:nvSpPr>
        <p:spPr>
          <a:xfrm>
            <a:off x="3465827" y="2343138"/>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b="1" lang="en" sz="1200">
                <a:latin typeface="Courier New"/>
                <a:ea typeface="Courier New"/>
                <a:cs typeface="Courier New"/>
                <a:sym typeface="Courier New"/>
              </a:rPr>
              <a:t>ClassY</a:t>
            </a:r>
            <a:r>
              <a:rPr lang="en" sz="1200"/>
              <a:t> vtable</a:t>
            </a:r>
            <a:endParaRPr sz="1200"/>
          </a:p>
        </p:txBody>
      </p:sp>
      <p:cxnSp>
        <p:nvCxnSpPr>
          <p:cNvPr id="452" name="Google Shape;452;p47"/>
          <p:cNvCxnSpPr/>
          <p:nvPr/>
        </p:nvCxnSpPr>
        <p:spPr>
          <a:xfrm flipH="1" rot="10800000">
            <a:off x="5574525" y="1661800"/>
            <a:ext cx="971700" cy="2730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453" name="Google Shape;453;p47"/>
          <p:cNvCxnSpPr/>
          <p:nvPr/>
        </p:nvCxnSpPr>
        <p:spPr>
          <a:xfrm flipH="1" rot="10800000">
            <a:off x="5574525" y="3044800"/>
            <a:ext cx="971700" cy="273000"/>
          </a:xfrm>
          <a:prstGeom prst="bentConnector3">
            <a:avLst>
              <a:gd fmla="val 50000"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9" name="Google Shape;459;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 vtables</a:t>
            </a:r>
            <a:endParaRPr/>
          </a:p>
        </p:txBody>
      </p:sp>
      <p:sp>
        <p:nvSpPr>
          <p:cNvPr id="460" name="Google Shape;460;p48"/>
          <p:cNvSpPr txBox="1"/>
          <p:nvPr/>
        </p:nvSpPr>
        <p:spPr>
          <a:xfrm>
            <a:off x="385375" y="4157725"/>
            <a:ext cx="3351300" cy="8313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attacker controls everything above the instance variable of </a:t>
            </a:r>
            <a:r>
              <a:rPr b="1" lang="en">
                <a:latin typeface="Courier New"/>
                <a:ea typeface="Courier New"/>
                <a:cs typeface="Courier New"/>
                <a:sym typeface="Courier New"/>
              </a:rPr>
              <a:t>x</a:t>
            </a:r>
            <a:r>
              <a:rPr lang="en"/>
              <a:t> on the heap, including the vtable pointer for </a:t>
            </a:r>
            <a:r>
              <a:rPr b="1" lang="en">
                <a:latin typeface="Courier New"/>
                <a:ea typeface="Courier New"/>
                <a:cs typeface="Courier New"/>
                <a:sym typeface="Courier New"/>
              </a:rPr>
              <a:t>y</a:t>
            </a:r>
            <a:r>
              <a:rPr lang="en"/>
              <a:t>.</a:t>
            </a:r>
            <a:endParaRPr b="1">
              <a:latin typeface="Courier New"/>
              <a:ea typeface="Courier New"/>
              <a:cs typeface="Courier New"/>
              <a:sym typeface="Courier New"/>
            </a:endParaRPr>
          </a:p>
        </p:txBody>
      </p:sp>
      <p:graphicFrame>
        <p:nvGraphicFramePr>
          <p:cNvPr id="461" name="Google Shape;461;p48"/>
          <p:cNvGraphicFramePr/>
          <p:nvPr/>
        </p:nvGraphicFramePr>
        <p:xfrm>
          <a:off x="385375" y="1532775"/>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4275">
                <a:tc>
                  <a:txBody>
                    <a:bodyPr/>
                    <a:lstStyle/>
                    <a:p>
                      <a:pPr indent="0" lvl="0" marL="0" rtl="0" algn="ctr">
                        <a:spcBef>
                          <a:spcPts val="0"/>
                        </a:spcBef>
                        <a:spcAft>
                          <a:spcPts val="0"/>
                        </a:spcAft>
                        <a:buNone/>
                      </a:pPr>
                      <a:r>
                        <a:rPr lang="en" sz="1200">
                          <a:solidFill>
                            <a:schemeClr val="dk1"/>
                          </a:solidFill>
                        </a:rPr>
                        <a:t>address of vtable of </a:t>
                      </a:r>
                      <a:r>
                        <a:rPr b="1" lang="en" sz="1200">
                          <a:solidFill>
                            <a:schemeClr val="dk1"/>
                          </a:solidFill>
                          <a:latin typeface="Courier New"/>
                          <a:ea typeface="Courier New"/>
                          <a:cs typeface="Courier New"/>
                          <a:sym typeface="Courier New"/>
                        </a:rPr>
                        <a:t>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solidFill>
                      <a:srgbClr val="F9CB9C"/>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vtable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bl>
          </a:graphicData>
        </a:graphic>
      </p:graphicFrame>
      <p:sp>
        <p:nvSpPr>
          <p:cNvPr id="462" name="Google Shape;462;p48"/>
          <p:cNvSpPr txBox="1"/>
          <p:nvPr/>
        </p:nvSpPr>
        <p:spPr>
          <a:xfrm>
            <a:off x="385452" y="3727025"/>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lang="en" sz="1200"/>
              <a:t>Heap</a:t>
            </a:r>
            <a:endParaRPr sz="1200"/>
          </a:p>
        </p:txBody>
      </p:sp>
      <p:graphicFrame>
        <p:nvGraphicFramePr>
          <p:cNvPr id="463" name="Google Shape;463;p48"/>
          <p:cNvGraphicFramePr/>
          <p:nvPr/>
        </p:nvGraphicFramePr>
        <p:xfrm>
          <a:off x="3465750" y="2904175"/>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bar</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foo</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bl>
          </a:graphicData>
        </a:graphic>
      </p:graphicFrame>
      <p:cxnSp>
        <p:nvCxnSpPr>
          <p:cNvPr id="464" name="Google Shape;464;p48"/>
          <p:cNvCxnSpPr/>
          <p:nvPr/>
        </p:nvCxnSpPr>
        <p:spPr>
          <a:xfrm>
            <a:off x="2488450" y="3587550"/>
            <a:ext cx="9717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465" name="Google Shape;465;p48"/>
          <p:cNvGraphicFramePr/>
          <p:nvPr/>
        </p:nvGraphicFramePr>
        <p:xfrm>
          <a:off x="3465750" y="1532763"/>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bar</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foo</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bl>
          </a:graphicData>
        </a:graphic>
      </p:graphicFrame>
      <p:cxnSp>
        <p:nvCxnSpPr>
          <p:cNvPr id="466" name="Google Shape;466;p48"/>
          <p:cNvCxnSpPr/>
          <p:nvPr/>
        </p:nvCxnSpPr>
        <p:spPr>
          <a:xfrm>
            <a:off x="2488450" y="2227150"/>
            <a:ext cx="9717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467" name="Google Shape;467;p48"/>
          <p:cNvGraphicFramePr/>
          <p:nvPr/>
        </p:nvGraphicFramePr>
        <p:xfrm>
          <a:off x="6546125" y="1245988"/>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bar</a:t>
                      </a:r>
                      <a:r>
                        <a:rPr lang="en" sz="1200">
                          <a:solidFill>
                            <a:schemeClr val="dk1"/>
                          </a:solidFill>
                        </a:rPr>
                        <a:t> of </a:t>
                      </a:r>
                      <a:r>
                        <a:rPr b="1" lang="en" sz="1200">
                          <a:solidFill>
                            <a:schemeClr val="dk1"/>
                          </a:solidFill>
                          <a:latin typeface="Courier New"/>
                          <a:ea typeface="Courier New"/>
                          <a:cs typeface="Courier New"/>
                          <a:sym typeface="Courier New"/>
                        </a:rPr>
                        <a:t>ClassY</a:t>
                      </a:r>
                      <a:endParaRPr b="1" sz="1200">
                        <a:solidFill>
                          <a:schemeClr val="dk1"/>
                        </a:solidFill>
                        <a:latin typeface="Courier New"/>
                        <a:ea typeface="Courier New"/>
                        <a:cs typeface="Courier New"/>
                        <a:sym typeface="Courier New"/>
                      </a:endParaRPr>
                    </a:p>
                  </a:txBody>
                  <a:tcPr marT="45700" marB="45700" marR="45700" marL="45700">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foo</a:t>
                      </a:r>
                      <a:r>
                        <a:rPr lang="en" sz="1200">
                          <a:solidFill>
                            <a:schemeClr val="dk1"/>
                          </a:solidFill>
                        </a:rPr>
                        <a:t> of </a:t>
                      </a:r>
                      <a:r>
                        <a:rPr b="1" lang="en" sz="1200">
                          <a:solidFill>
                            <a:schemeClr val="dk1"/>
                          </a:solidFill>
                          <a:latin typeface="Courier New"/>
                          <a:ea typeface="Courier New"/>
                          <a:cs typeface="Courier New"/>
                          <a:sym typeface="Courier New"/>
                        </a:rPr>
                        <a:t>ClassY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lnT cap="flat" cmpd="sng" w="9525">
                      <a:solidFill>
                        <a:srgbClr val="9E9E9E"/>
                      </a:solidFill>
                      <a:prstDash val="solid"/>
                      <a:round/>
                      <a:headEnd len="sm" w="sm" type="none"/>
                      <a:tailEnd len="sm" w="sm" type="none"/>
                    </a:lnT>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bar</a:t>
                      </a:r>
                      <a:r>
                        <a:rPr lang="en" sz="1200">
                          <a:solidFill>
                            <a:schemeClr val="dk1"/>
                          </a:solidFill>
                        </a:rPr>
                        <a:t> of </a:t>
                      </a:r>
                      <a:r>
                        <a:rPr b="1" lang="en" sz="1200">
                          <a:solidFill>
                            <a:schemeClr val="dk1"/>
                          </a:solidFill>
                          <a:latin typeface="Courier New"/>
                          <a:ea typeface="Courier New"/>
                          <a:cs typeface="Courier New"/>
                          <a:sym typeface="Courier New"/>
                        </a:rPr>
                        <a:t>ClassX</a:t>
                      </a:r>
                      <a:endParaRPr sz="1200">
                        <a:solidFill>
                          <a:schemeClr val="dk1"/>
                        </a:solidFill>
                      </a:endParaRPr>
                    </a:p>
                  </a:txBody>
                  <a:tcPr marT="45700" marB="45700" marR="45700" marL="45700">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foo</a:t>
                      </a:r>
                      <a:r>
                        <a:rPr lang="en" sz="1200">
                          <a:solidFill>
                            <a:schemeClr val="dk1"/>
                          </a:solidFill>
                        </a:rPr>
                        <a:t> of </a:t>
                      </a:r>
                      <a:r>
                        <a:rPr b="1" lang="en" sz="1200">
                          <a:solidFill>
                            <a:schemeClr val="dk1"/>
                          </a:solidFill>
                          <a:latin typeface="Courier New"/>
                          <a:ea typeface="Courier New"/>
                          <a:cs typeface="Courier New"/>
                          <a:sym typeface="Courier New"/>
                        </a:rPr>
                        <a:t>ClassX</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lnT cap="flat" cmpd="sng" w="9525">
                      <a:solidFill>
                        <a:srgbClr val="9E9E9E"/>
                      </a:solidFill>
                      <a:prstDash val="solid"/>
                      <a:round/>
                      <a:headEnd len="sm" w="sm" type="none"/>
                      <a:tailEnd len="sm" w="sm" type="none"/>
                    </a:lnT>
                    <a:solidFill>
                      <a:srgbClr val="EEEEEE"/>
                    </a:solidFill>
                  </a:tcPr>
                </a:tc>
              </a:tr>
            </a:tbl>
          </a:graphicData>
        </a:graphic>
      </p:graphicFrame>
      <p:cxnSp>
        <p:nvCxnSpPr>
          <p:cNvPr id="468" name="Google Shape;468;p48"/>
          <p:cNvCxnSpPr/>
          <p:nvPr/>
        </p:nvCxnSpPr>
        <p:spPr>
          <a:xfrm>
            <a:off x="5568825" y="2212775"/>
            <a:ext cx="971700" cy="0"/>
          </a:xfrm>
          <a:prstGeom prst="straightConnector1">
            <a:avLst/>
          </a:prstGeom>
          <a:noFill/>
          <a:ln cap="flat" cmpd="sng" w="9525">
            <a:solidFill>
              <a:schemeClr val="dk2"/>
            </a:solidFill>
            <a:prstDash val="solid"/>
            <a:round/>
            <a:headEnd len="med" w="med" type="none"/>
            <a:tailEnd len="med" w="med" type="triangle"/>
          </a:ln>
        </p:spPr>
      </p:cxnSp>
      <p:cxnSp>
        <p:nvCxnSpPr>
          <p:cNvPr id="469" name="Google Shape;469;p48"/>
          <p:cNvCxnSpPr/>
          <p:nvPr/>
        </p:nvCxnSpPr>
        <p:spPr>
          <a:xfrm>
            <a:off x="5568825" y="3556350"/>
            <a:ext cx="971700" cy="0"/>
          </a:xfrm>
          <a:prstGeom prst="straightConnector1">
            <a:avLst/>
          </a:prstGeom>
          <a:noFill/>
          <a:ln cap="flat" cmpd="sng" w="9525">
            <a:solidFill>
              <a:schemeClr val="dk2"/>
            </a:solidFill>
            <a:prstDash val="solid"/>
            <a:round/>
            <a:headEnd len="med" w="med" type="none"/>
            <a:tailEnd len="med" w="med" type="triangle"/>
          </a:ln>
        </p:spPr>
      </p:cxnSp>
      <p:sp>
        <p:nvSpPr>
          <p:cNvPr id="470" name="Google Shape;470;p48"/>
          <p:cNvSpPr txBox="1"/>
          <p:nvPr/>
        </p:nvSpPr>
        <p:spPr>
          <a:xfrm>
            <a:off x="6546202" y="3988800"/>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lang="en" sz="1200"/>
              <a:t>Code</a:t>
            </a:r>
            <a:endParaRPr sz="1200"/>
          </a:p>
        </p:txBody>
      </p:sp>
      <p:sp>
        <p:nvSpPr>
          <p:cNvPr id="471" name="Google Shape;471;p48"/>
          <p:cNvSpPr txBox="1"/>
          <p:nvPr/>
        </p:nvSpPr>
        <p:spPr>
          <a:xfrm>
            <a:off x="3465827" y="3727025"/>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b="1" lang="en" sz="1200">
                <a:latin typeface="Courier New"/>
                <a:ea typeface="Courier New"/>
                <a:cs typeface="Courier New"/>
                <a:sym typeface="Courier New"/>
              </a:rPr>
              <a:t>ClassX</a:t>
            </a:r>
            <a:r>
              <a:rPr lang="en" sz="1200"/>
              <a:t> vtable</a:t>
            </a:r>
            <a:endParaRPr b="1" sz="1200">
              <a:latin typeface="Courier New"/>
              <a:ea typeface="Courier New"/>
              <a:cs typeface="Courier New"/>
              <a:sym typeface="Courier New"/>
            </a:endParaRPr>
          </a:p>
        </p:txBody>
      </p:sp>
      <p:sp>
        <p:nvSpPr>
          <p:cNvPr id="472" name="Google Shape;472;p48"/>
          <p:cNvSpPr txBox="1"/>
          <p:nvPr/>
        </p:nvSpPr>
        <p:spPr>
          <a:xfrm>
            <a:off x="3465827" y="2343138"/>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b="1" lang="en" sz="1200">
                <a:latin typeface="Courier New"/>
                <a:ea typeface="Courier New"/>
                <a:cs typeface="Courier New"/>
                <a:sym typeface="Courier New"/>
              </a:rPr>
              <a:t>ClassY</a:t>
            </a:r>
            <a:r>
              <a:rPr lang="en" sz="1200"/>
              <a:t> vtable</a:t>
            </a:r>
            <a:endParaRPr sz="1200"/>
          </a:p>
        </p:txBody>
      </p:sp>
      <p:cxnSp>
        <p:nvCxnSpPr>
          <p:cNvPr id="473" name="Google Shape;473;p48"/>
          <p:cNvCxnSpPr/>
          <p:nvPr/>
        </p:nvCxnSpPr>
        <p:spPr>
          <a:xfrm flipH="1" rot="10800000">
            <a:off x="5574525" y="1661800"/>
            <a:ext cx="971700" cy="2730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474" name="Google Shape;474;p48"/>
          <p:cNvCxnSpPr/>
          <p:nvPr/>
        </p:nvCxnSpPr>
        <p:spPr>
          <a:xfrm flipH="1" rot="10800000">
            <a:off x="5574525" y="3044800"/>
            <a:ext cx="971700" cy="273000"/>
          </a:xfrm>
          <a:prstGeom prst="bentConnector3">
            <a:avLst>
              <a:gd fmla="val 50000"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 vtables</a:t>
            </a:r>
            <a:endParaRPr/>
          </a:p>
        </p:txBody>
      </p:sp>
      <p:graphicFrame>
        <p:nvGraphicFramePr>
          <p:cNvPr id="481" name="Google Shape;481;p49"/>
          <p:cNvGraphicFramePr/>
          <p:nvPr/>
        </p:nvGraphicFramePr>
        <p:xfrm>
          <a:off x="385375" y="1532775"/>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a:t>
                      </a:r>
                      <a:endParaRPr b="1" sz="1200">
                        <a:solidFill>
                          <a:srgbClr val="FF0000"/>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4275">
                <a:tc>
                  <a:txBody>
                    <a:bodyPr/>
                    <a:lstStyle/>
                    <a:p>
                      <a:pPr indent="0" lvl="0" marL="0" rtl="0" algn="ctr">
                        <a:spcBef>
                          <a:spcPts val="0"/>
                        </a:spcBef>
                        <a:spcAft>
                          <a:spcPts val="0"/>
                        </a:spcAft>
                        <a:buNone/>
                      </a:pPr>
                      <a:r>
                        <a:rPr b="1" lang="en" sz="1200">
                          <a:solidFill>
                            <a:srgbClr val="FF0000"/>
                          </a:solidFill>
                        </a:rPr>
                        <a:t>address of vtable of </a:t>
                      </a:r>
                      <a:r>
                        <a:rPr b="1" lang="en" sz="1200">
                          <a:solidFill>
                            <a:srgbClr val="FF0000"/>
                          </a:solidFill>
                          <a:latin typeface="Courier New"/>
                          <a:ea typeface="Courier New"/>
                          <a:cs typeface="Courier New"/>
                          <a:sym typeface="Courier New"/>
                        </a:rPr>
                        <a:t>y</a:t>
                      </a:r>
                      <a:endParaRPr b="1" sz="12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4275">
                <a:tc>
                  <a:txBody>
                    <a:bodyPr/>
                    <a:lstStyle/>
                    <a:p>
                      <a:pPr indent="0" lvl="0" marL="0" rtl="0" algn="ctr">
                        <a:spcBef>
                          <a:spcPts val="0"/>
                        </a:spcBef>
                        <a:spcAft>
                          <a:spcPts val="0"/>
                        </a:spcAft>
                        <a:buNone/>
                      </a:pPr>
                      <a:r>
                        <a:rPr b="1" lang="en" sz="1200">
                          <a:solidFill>
                            <a:srgbClr val="FF0000"/>
                          </a:solidFill>
                        </a:rPr>
                        <a:t>address of </a:t>
                      </a:r>
                      <a:r>
                        <a:rPr b="1" lang="en" sz="1200">
                          <a:solidFill>
                            <a:srgbClr val="FF0000"/>
                          </a:solidFill>
                          <a:latin typeface="Courier New"/>
                          <a:ea typeface="Courier New"/>
                          <a:cs typeface="Courier New"/>
                          <a:sym typeface="Courier New"/>
                        </a:rPr>
                        <a:t>SHELLCODE</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4275">
                <a:tc>
                  <a:txBody>
                    <a:bodyPr/>
                    <a:lstStyle/>
                    <a:p>
                      <a:pPr indent="0" lvl="0" marL="0" rtl="0" algn="ctr">
                        <a:spcBef>
                          <a:spcPts val="0"/>
                        </a:spcBef>
                        <a:spcAft>
                          <a:spcPts val="0"/>
                        </a:spcAft>
                        <a:buNone/>
                      </a:pPr>
                      <a:r>
                        <a:rPr b="1" lang="en" sz="1200">
                          <a:solidFill>
                            <a:srgbClr val="FF0000"/>
                          </a:solidFill>
                          <a:latin typeface="Courier New"/>
                          <a:ea typeface="Courier New"/>
                          <a:cs typeface="Courier New"/>
                          <a:sym typeface="Courier New"/>
                        </a:rPr>
                        <a:t>SHELLCODE</a:t>
                      </a:r>
                      <a:endParaRPr b="1" sz="1200">
                        <a:solidFill>
                          <a:srgbClr val="FF0000"/>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lnT cap="flat" cmpd="sng" w="9525">
                      <a:solidFill>
                        <a:srgbClr val="9E9E9E"/>
                      </a:solidFill>
                      <a:prstDash val="solid"/>
                      <a:round/>
                      <a:headEnd len="sm" w="sm" type="none"/>
                      <a:tailEnd len="sm" w="sm" type="none"/>
                    </a:lnT>
                    <a:solidFill>
                      <a:srgbClr val="F9CB9C"/>
                    </a:solidFill>
                  </a:tcPr>
                </a:tc>
              </a:tr>
              <a:tr h="274275">
                <a:tc>
                  <a:txBody>
                    <a:bodyPr/>
                    <a:lstStyle/>
                    <a:p>
                      <a:pPr indent="0" lvl="0" marL="0" rtl="0" algn="ctr">
                        <a:spcBef>
                          <a:spcPts val="0"/>
                        </a:spcBef>
                        <a:spcAft>
                          <a:spcPts val="0"/>
                        </a:spcAft>
                        <a:buNone/>
                      </a:pPr>
                      <a:r>
                        <a:rPr lang="en" sz="1200">
                          <a:solidFill>
                            <a:schemeClr val="dk1"/>
                          </a:solidFill>
                        </a:rPr>
                        <a:t>instance variable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vtable of </a:t>
                      </a:r>
                      <a:r>
                        <a:rPr b="1" lang="en" sz="1200">
                          <a:solidFill>
                            <a:schemeClr val="dk1"/>
                          </a:solidFill>
                          <a:latin typeface="Courier New"/>
                          <a:ea typeface="Courier New"/>
                          <a:cs typeface="Courier New"/>
                          <a:sym typeface="Courier New"/>
                        </a:rPr>
                        <a:t>x</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bl>
          </a:graphicData>
        </a:graphic>
      </p:graphicFrame>
      <p:sp>
        <p:nvSpPr>
          <p:cNvPr id="482" name="Google Shape;482;p49"/>
          <p:cNvSpPr txBox="1"/>
          <p:nvPr/>
        </p:nvSpPr>
        <p:spPr>
          <a:xfrm>
            <a:off x="385452" y="3727025"/>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lang="en" sz="1200"/>
              <a:t>Heap</a:t>
            </a:r>
            <a:endParaRPr sz="1200"/>
          </a:p>
        </p:txBody>
      </p:sp>
      <p:sp>
        <p:nvSpPr>
          <p:cNvPr id="483" name="Google Shape;483;p49"/>
          <p:cNvSpPr txBox="1"/>
          <p:nvPr/>
        </p:nvSpPr>
        <p:spPr>
          <a:xfrm>
            <a:off x="385375" y="4157725"/>
            <a:ext cx="3351300" cy="8313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vtable for </a:t>
            </a:r>
            <a:r>
              <a:rPr b="1" lang="en">
                <a:latin typeface="Courier New"/>
                <a:ea typeface="Courier New"/>
                <a:cs typeface="Courier New"/>
                <a:sym typeface="Courier New"/>
              </a:rPr>
              <a:t>y</a:t>
            </a:r>
            <a:r>
              <a:rPr lang="en"/>
              <a:t> is now a pointer to shellcode. If method </a:t>
            </a:r>
            <a:r>
              <a:rPr b="1" lang="en">
                <a:latin typeface="Courier New"/>
                <a:ea typeface="Courier New"/>
                <a:cs typeface="Courier New"/>
                <a:sym typeface="Courier New"/>
              </a:rPr>
              <a:t>foo</a:t>
            </a:r>
            <a:r>
              <a:rPr lang="en"/>
              <a:t> for </a:t>
            </a:r>
            <a:r>
              <a:rPr b="1" lang="en">
                <a:latin typeface="Courier New"/>
                <a:ea typeface="Courier New"/>
                <a:cs typeface="Courier New"/>
                <a:sym typeface="Courier New"/>
              </a:rPr>
              <a:t>y</a:t>
            </a:r>
            <a:r>
              <a:rPr lang="en"/>
              <a:t> is called, it will execute shellcode!</a:t>
            </a:r>
            <a:endParaRPr b="1">
              <a:latin typeface="Courier New"/>
              <a:ea typeface="Courier New"/>
              <a:cs typeface="Courier New"/>
              <a:sym typeface="Courier New"/>
            </a:endParaRPr>
          </a:p>
        </p:txBody>
      </p:sp>
      <p:sp>
        <p:nvSpPr>
          <p:cNvPr id="484" name="Google Shape;484;p49"/>
          <p:cNvSpPr/>
          <p:nvPr/>
        </p:nvSpPr>
        <p:spPr>
          <a:xfrm>
            <a:off x="136650" y="2205750"/>
            <a:ext cx="253750" cy="318098"/>
          </a:xfrm>
          <a:custGeom>
            <a:rect b="b" l="l" r="r" t="t"/>
            <a:pathLst>
              <a:path extrusionOk="0" h="23424" w="10150">
                <a:moveTo>
                  <a:pt x="10150" y="0"/>
                </a:moveTo>
                <a:lnTo>
                  <a:pt x="0" y="0"/>
                </a:lnTo>
                <a:lnTo>
                  <a:pt x="0" y="23424"/>
                </a:lnTo>
                <a:lnTo>
                  <a:pt x="9369" y="23424"/>
                </a:lnTo>
              </a:path>
            </a:pathLst>
          </a:custGeom>
          <a:noFill/>
          <a:ln cap="flat" cmpd="sng" w="9525">
            <a:solidFill>
              <a:srgbClr val="FF0000"/>
            </a:solidFill>
            <a:prstDash val="solid"/>
            <a:round/>
            <a:headEnd len="med" w="med" type="none"/>
            <a:tailEnd len="med" w="med" type="triangle"/>
          </a:ln>
        </p:spPr>
      </p:sp>
      <p:sp>
        <p:nvSpPr>
          <p:cNvPr id="485" name="Google Shape;485;p49"/>
          <p:cNvSpPr txBox="1"/>
          <p:nvPr/>
        </p:nvSpPr>
        <p:spPr>
          <a:xfrm>
            <a:off x="385452" y="3727025"/>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lang="en" sz="1200"/>
              <a:t>Heap</a:t>
            </a:r>
            <a:endParaRPr sz="1200"/>
          </a:p>
        </p:txBody>
      </p:sp>
      <p:graphicFrame>
        <p:nvGraphicFramePr>
          <p:cNvPr id="486" name="Google Shape;486;p49"/>
          <p:cNvGraphicFramePr/>
          <p:nvPr/>
        </p:nvGraphicFramePr>
        <p:xfrm>
          <a:off x="3465750" y="2904175"/>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bar</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foo</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bl>
          </a:graphicData>
        </a:graphic>
      </p:graphicFrame>
      <p:cxnSp>
        <p:nvCxnSpPr>
          <p:cNvPr id="487" name="Google Shape;487;p49"/>
          <p:cNvCxnSpPr/>
          <p:nvPr/>
        </p:nvCxnSpPr>
        <p:spPr>
          <a:xfrm>
            <a:off x="2488450" y="3587550"/>
            <a:ext cx="9717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488" name="Google Shape;488;p49"/>
          <p:cNvGraphicFramePr/>
          <p:nvPr/>
        </p:nvGraphicFramePr>
        <p:xfrm>
          <a:off x="3465750" y="1532763"/>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bar</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address of method </a:t>
                      </a:r>
                      <a:r>
                        <a:rPr b="1" lang="en" sz="1200">
                          <a:solidFill>
                            <a:schemeClr val="dk1"/>
                          </a:solidFill>
                          <a:latin typeface="Courier New"/>
                          <a:ea typeface="Courier New"/>
                          <a:cs typeface="Courier New"/>
                          <a:sym typeface="Courier New"/>
                        </a:rPr>
                        <a:t>foo</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bl>
          </a:graphicData>
        </a:graphic>
      </p:graphicFrame>
      <p:graphicFrame>
        <p:nvGraphicFramePr>
          <p:cNvPr id="489" name="Google Shape;489;p49"/>
          <p:cNvGraphicFramePr/>
          <p:nvPr/>
        </p:nvGraphicFramePr>
        <p:xfrm>
          <a:off x="6546125" y="1245988"/>
          <a:ext cx="3000000" cy="3000000"/>
        </p:xfrm>
        <a:graphic>
          <a:graphicData uri="http://schemas.openxmlformats.org/drawingml/2006/table">
            <a:tbl>
              <a:tblPr>
                <a:noFill/>
                <a:tableStyleId>{9EC4224E-2C12-493B-A528-770CF28DDED8}</a:tableStyleId>
              </a:tblPr>
              <a:tblGrid>
                <a:gridCol w="2103150"/>
              </a:tblGrid>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bar</a:t>
                      </a:r>
                      <a:r>
                        <a:rPr lang="en" sz="1200">
                          <a:solidFill>
                            <a:schemeClr val="dk1"/>
                          </a:solidFill>
                        </a:rPr>
                        <a:t> of </a:t>
                      </a:r>
                      <a:r>
                        <a:rPr b="1" lang="en" sz="1200">
                          <a:solidFill>
                            <a:schemeClr val="dk1"/>
                          </a:solidFill>
                          <a:latin typeface="Courier New"/>
                          <a:ea typeface="Courier New"/>
                          <a:cs typeface="Courier New"/>
                          <a:sym typeface="Courier New"/>
                        </a:rPr>
                        <a:t>ClassY</a:t>
                      </a:r>
                      <a:endParaRPr b="1" sz="1200">
                        <a:solidFill>
                          <a:schemeClr val="dk1"/>
                        </a:solidFill>
                        <a:latin typeface="Courier New"/>
                        <a:ea typeface="Courier New"/>
                        <a:cs typeface="Courier New"/>
                        <a:sym typeface="Courier New"/>
                      </a:endParaRPr>
                    </a:p>
                  </a:txBody>
                  <a:tcPr marT="45700" marB="45700" marR="45700" marL="45700">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foo</a:t>
                      </a:r>
                      <a:r>
                        <a:rPr lang="en" sz="1200">
                          <a:solidFill>
                            <a:schemeClr val="dk1"/>
                          </a:solidFill>
                        </a:rPr>
                        <a:t> of </a:t>
                      </a:r>
                      <a:r>
                        <a:rPr b="1" lang="en" sz="1200">
                          <a:solidFill>
                            <a:schemeClr val="dk1"/>
                          </a:solidFill>
                          <a:latin typeface="Courier New"/>
                          <a:ea typeface="Courier New"/>
                          <a:cs typeface="Courier New"/>
                          <a:sym typeface="Courier New"/>
                        </a:rPr>
                        <a:t>ClassY</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lnT cap="flat" cmpd="sng" w="9525">
                      <a:solidFill>
                        <a:srgbClr val="9E9E9E"/>
                      </a:solidFill>
                      <a:prstDash val="solid"/>
                      <a:round/>
                      <a:headEnd len="sm" w="sm" type="none"/>
                      <a:tailEnd len="sm" w="sm" type="none"/>
                    </a:lnT>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bar</a:t>
                      </a:r>
                      <a:r>
                        <a:rPr lang="en" sz="1200">
                          <a:solidFill>
                            <a:schemeClr val="dk1"/>
                          </a:solidFill>
                        </a:rPr>
                        <a:t> of </a:t>
                      </a:r>
                      <a:r>
                        <a:rPr b="1" lang="en" sz="1200">
                          <a:solidFill>
                            <a:schemeClr val="dk1"/>
                          </a:solidFill>
                          <a:latin typeface="Courier New"/>
                          <a:ea typeface="Courier New"/>
                          <a:cs typeface="Courier New"/>
                          <a:sym typeface="Courier New"/>
                        </a:rPr>
                        <a:t>ClassX</a:t>
                      </a:r>
                      <a:endParaRPr sz="1200">
                        <a:solidFill>
                          <a:schemeClr val="dk1"/>
                        </a:solidFill>
                      </a:endParaRPr>
                    </a:p>
                  </a:txBody>
                  <a:tcPr marT="45700" marB="45700" marR="45700" marL="45700">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lang="en" sz="1200">
                          <a:solidFill>
                            <a:schemeClr val="dk1"/>
                          </a:solidFill>
                        </a:rPr>
                        <a:t>method </a:t>
                      </a:r>
                      <a:r>
                        <a:rPr b="1" lang="en" sz="1200">
                          <a:solidFill>
                            <a:schemeClr val="dk1"/>
                          </a:solidFill>
                          <a:latin typeface="Courier New"/>
                          <a:ea typeface="Courier New"/>
                          <a:cs typeface="Courier New"/>
                          <a:sym typeface="Courier New"/>
                        </a:rPr>
                        <a:t>foo</a:t>
                      </a:r>
                      <a:r>
                        <a:rPr lang="en" sz="1200">
                          <a:solidFill>
                            <a:schemeClr val="dk1"/>
                          </a:solidFill>
                        </a:rPr>
                        <a:t> of </a:t>
                      </a:r>
                      <a:r>
                        <a:rPr b="1" lang="en" sz="1200">
                          <a:solidFill>
                            <a:schemeClr val="dk1"/>
                          </a:solidFill>
                          <a:latin typeface="Courier New"/>
                          <a:ea typeface="Courier New"/>
                          <a:cs typeface="Courier New"/>
                          <a:sym typeface="Courier New"/>
                        </a:rPr>
                        <a:t>ClassX</a:t>
                      </a:r>
                      <a:endParaRPr b="1" sz="12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274275">
                <a:tc>
                  <a:txBody>
                    <a:bodyPr/>
                    <a:lstStyle/>
                    <a:p>
                      <a:pPr indent="0" lvl="0" marL="0" rtl="0" algn="ctr">
                        <a:spcBef>
                          <a:spcPts val="0"/>
                        </a:spcBef>
                        <a:spcAft>
                          <a:spcPts val="0"/>
                        </a:spcAft>
                        <a:buNone/>
                      </a:pPr>
                      <a:r>
                        <a:rPr b="1" lang="en" sz="1200">
                          <a:solidFill>
                            <a:schemeClr val="dk1"/>
                          </a:solidFill>
                          <a:latin typeface="Courier New"/>
                          <a:ea typeface="Courier New"/>
                          <a:cs typeface="Courier New"/>
                          <a:sym typeface="Courier New"/>
                        </a:rPr>
                        <a:t>...</a:t>
                      </a:r>
                      <a:endParaRPr sz="1200">
                        <a:solidFill>
                          <a:schemeClr val="dk1"/>
                        </a:solidFill>
                      </a:endParaRPr>
                    </a:p>
                  </a:txBody>
                  <a:tcPr marT="45700" marB="45700" marR="45700" marL="45700">
                    <a:lnT cap="flat" cmpd="sng" w="9525">
                      <a:solidFill>
                        <a:srgbClr val="9E9E9E"/>
                      </a:solidFill>
                      <a:prstDash val="solid"/>
                      <a:round/>
                      <a:headEnd len="sm" w="sm" type="none"/>
                      <a:tailEnd len="sm" w="sm" type="none"/>
                    </a:lnT>
                    <a:solidFill>
                      <a:srgbClr val="EEEEEE"/>
                    </a:solidFill>
                  </a:tcPr>
                </a:tc>
              </a:tr>
            </a:tbl>
          </a:graphicData>
        </a:graphic>
      </p:graphicFrame>
      <p:cxnSp>
        <p:nvCxnSpPr>
          <p:cNvPr id="490" name="Google Shape;490;p49"/>
          <p:cNvCxnSpPr/>
          <p:nvPr/>
        </p:nvCxnSpPr>
        <p:spPr>
          <a:xfrm>
            <a:off x="5568825" y="2212775"/>
            <a:ext cx="971700" cy="0"/>
          </a:xfrm>
          <a:prstGeom prst="straightConnector1">
            <a:avLst/>
          </a:prstGeom>
          <a:noFill/>
          <a:ln cap="flat" cmpd="sng" w="9525">
            <a:solidFill>
              <a:schemeClr val="dk2"/>
            </a:solidFill>
            <a:prstDash val="solid"/>
            <a:round/>
            <a:headEnd len="med" w="med" type="none"/>
            <a:tailEnd len="med" w="med" type="triangle"/>
          </a:ln>
        </p:spPr>
      </p:cxnSp>
      <p:cxnSp>
        <p:nvCxnSpPr>
          <p:cNvPr id="491" name="Google Shape;491;p49"/>
          <p:cNvCxnSpPr/>
          <p:nvPr/>
        </p:nvCxnSpPr>
        <p:spPr>
          <a:xfrm>
            <a:off x="5568825" y="3556350"/>
            <a:ext cx="971700" cy="0"/>
          </a:xfrm>
          <a:prstGeom prst="straightConnector1">
            <a:avLst/>
          </a:prstGeom>
          <a:noFill/>
          <a:ln cap="flat" cmpd="sng" w="9525">
            <a:solidFill>
              <a:schemeClr val="dk2"/>
            </a:solidFill>
            <a:prstDash val="solid"/>
            <a:round/>
            <a:headEnd len="med" w="med" type="none"/>
            <a:tailEnd len="med" w="med" type="triangle"/>
          </a:ln>
        </p:spPr>
      </p:cxnSp>
      <p:sp>
        <p:nvSpPr>
          <p:cNvPr id="492" name="Google Shape;492;p49"/>
          <p:cNvSpPr txBox="1"/>
          <p:nvPr/>
        </p:nvSpPr>
        <p:spPr>
          <a:xfrm>
            <a:off x="6546202" y="3988800"/>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lang="en" sz="1200"/>
              <a:t>Code</a:t>
            </a:r>
            <a:endParaRPr sz="1200"/>
          </a:p>
        </p:txBody>
      </p:sp>
      <p:sp>
        <p:nvSpPr>
          <p:cNvPr id="493" name="Google Shape;493;p49"/>
          <p:cNvSpPr txBox="1"/>
          <p:nvPr/>
        </p:nvSpPr>
        <p:spPr>
          <a:xfrm>
            <a:off x="3465827" y="3727025"/>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b="1" lang="en" sz="1200">
                <a:latin typeface="Courier New"/>
                <a:ea typeface="Courier New"/>
                <a:cs typeface="Courier New"/>
                <a:sym typeface="Courier New"/>
              </a:rPr>
              <a:t>ClassX</a:t>
            </a:r>
            <a:r>
              <a:rPr lang="en" sz="1200"/>
              <a:t> vtable</a:t>
            </a:r>
            <a:endParaRPr b="1" sz="1200">
              <a:latin typeface="Courier New"/>
              <a:ea typeface="Courier New"/>
              <a:cs typeface="Courier New"/>
              <a:sym typeface="Courier New"/>
            </a:endParaRPr>
          </a:p>
        </p:txBody>
      </p:sp>
      <p:sp>
        <p:nvSpPr>
          <p:cNvPr id="494" name="Google Shape;494;p49"/>
          <p:cNvSpPr txBox="1"/>
          <p:nvPr/>
        </p:nvSpPr>
        <p:spPr>
          <a:xfrm>
            <a:off x="3465827" y="2343138"/>
            <a:ext cx="2103000" cy="369300"/>
          </a:xfrm>
          <a:prstGeom prst="rect">
            <a:avLst/>
          </a:prstGeom>
          <a:noFill/>
          <a:ln>
            <a:noFill/>
          </a:ln>
        </p:spPr>
        <p:txBody>
          <a:bodyPr anchorCtr="0" anchor="t" bIns="91425" lIns="114300" spcFirstLastPara="1" rIns="91425" wrap="square" tIns="91425">
            <a:spAutoFit/>
          </a:bodyPr>
          <a:lstStyle/>
          <a:p>
            <a:pPr indent="0" lvl="0" marL="0" rtl="0" algn="ctr">
              <a:spcBef>
                <a:spcPts val="0"/>
              </a:spcBef>
              <a:spcAft>
                <a:spcPts val="0"/>
              </a:spcAft>
              <a:buNone/>
            </a:pPr>
            <a:r>
              <a:rPr b="1" lang="en" sz="1200">
                <a:latin typeface="Courier New"/>
                <a:ea typeface="Courier New"/>
                <a:cs typeface="Courier New"/>
                <a:sym typeface="Courier New"/>
              </a:rPr>
              <a:t>ClassY</a:t>
            </a:r>
            <a:r>
              <a:rPr lang="en" sz="1200"/>
              <a:t> vtable</a:t>
            </a:r>
            <a:endParaRPr sz="1200"/>
          </a:p>
        </p:txBody>
      </p:sp>
      <p:cxnSp>
        <p:nvCxnSpPr>
          <p:cNvPr id="495" name="Google Shape;495;p49"/>
          <p:cNvCxnSpPr/>
          <p:nvPr/>
        </p:nvCxnSpPr>
        <p:spPr>
          <a:xfrm flipH="1" rot="10800000">
            <a:off x="5574525" y="1661800"/>
            <a:ext cx="971700" cy="2730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496" name="Google Shape;496;p49"/>
          <p:cNvCxnSpPr/>
          <p:nvPr/>
        </p:nvCxnSpPr>
        <p:spPr>
          <a:xfrm flipH="1" rot="10800000">
            <a:off x="5574525" y="3044800"/>
            <a:ext cx="971700" cy="2730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497" name="Google Shape;497;p49"/>
          <p:cNvSpPr/>
          <p:nvPr/>
        </p:nvSpPr>
        <p:spPr>
          <a:xfrm flipH="1">
            <a:off x="2488450" y="2470850"/>
            <a:ext cx="253750" cy="318098"/>
          </a:xfrm>
          <a:custGeom>
            <a:rect b="b" l="l" r="r" t="t"/>
            <a:pathLst>
              <a:path extrusionOk="0" h="23424" w="10150">
                <a:moveTo>
                  <a:pt x="10150" y="0"/>
                </a:moveTo>
                <a:lnTo>
                  <a:pt x="0" y="0"/>
                </a:lnTo>
                <a:lnTo>
                  <a:pt x="0" y="23424"/>
                </a:lnTo>
                <a:lnTo>
                  <a:pt x="9369" y="23424"/>
                </a:lnTo>
              </a:path>
            </a:pathLst>
          </a:custGeom>
          <a:noFill/>
          <a:ln cap="flat" cmpd="sng" w="9525">
            <a:solidFill>
              <a:srgbClr val="FF0000"/>
            </a:solidFill>
            <a:prstDash val="solid"/>
            <a:round/>
            <a:headEnd len="med" w="med" type="none"/>
            <a:tailEnd len="med" w="med" type="triangle"/>
          </a:ln>
        </p:spPr>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Heap Vulnerabilities</a:t>
            </a:r>
            <a:endParaRPr/>
          </a:p>
        </p:txBody>
      </p:sp>
      <p:sp>
        <p:nvSpPr>
          <p:cNvPr id="503" name="Google Shape;503;p5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Heap overflow</a:t>
            </a:r>
            <a:endParaRPr/>
          </a:p>
          <a:p>
            <a:pPr indent="-317500" lvl="1" marL="914400" rtl="0" algn="l">
              <a:spcBef>
                <a:spcPts val="0"/>
              </a:spcBef>
              <a:spcAft>
                <a:spcPts val="0"/>
              </a:spcAft>
              <a:buSzPts val="1400"/>
              <a:buChar char="○"/>
            </a:pPr>
            <a:r>
              <a:rPr lang="en"/>
              <a:t>Objects are allocated in the heap (using </a:t>
            </a:r>
            <a:r>
              <a:rPr b="1" lang="en">
                <a:latin typeface="Courier New"/>
                <a:ea typeface="Courier New"/>
                <a:cs typeface="Courier New"/>
                <a:sym typeface="Courier New"/>
              </a:rPr>
              <a:t>malloc</a:t>
            </a:r>
            <a:r>
              <a:rPr lang="en"/>
              <a:t> in C or </a:t>
            </a:r>
            <a:r>
              <a:rPr b="1" lang="en">
                <a:latin typeface="Courier New"/>
                <a:ea typeface="Courier New"/>
                <a:cs typeface="Courier New"/>
                <a:sym typeface="Courier New"/>
              </a:rPr>
              <a:t>new</a:t>
            </a:r>
            <a:r>
              <a:rPr lang="en"/>
              <a:t> in C++)</a:t>
            </a:r>
            <a:endParaRPr/>
          </a:p>
          <a:p>
            <a:pPr indent="-317500" lvl="1" marL="914400" rtl="0" algn="l">
              <a:spcBef>
                <a:spcPts val="0"/>
              </a:spcBef>
              <a:spcAft>
                <a:spcPts val="0"/>
              </a:spcAft>
              <a:buSzPts val="1400"/>
              <a:buChar char="○"/>
            </a:pPr>
            <a:r>
              <a:rPr lang="en"/>
              <a:t>A write to a buffer in the heap is not checked</a:t>
            </a:r>
            <a:endParaRPr/>
          </a:p>
          <a:p>
            <a:pPr indent="-317500" lvl="1" marL="914400" rtl="0" algn="l">
              <a:spcBef>
                <a:spcPts val="0"/>
              </a:spcBef>
              <a:spcAft>
                <a:spcPts val="0"/>
              </a:spcAft>
              <a:buSzPts val="1400"/>
              <a:buChar char="○"/>
            </a:pPr>
            <a:r>
              <a:rPr lang="en"/>
              <a:t>The attacker overflows the buffer and overwrites the vtable pointer of the next object to point to a malicious vtable, with pointers to malicious code</a:t>
            </a:r>
            <a:endParaRPr/>
          </a:p>
          <a:p>
            <a:pPr indent="-317500" lvl="1" marL="914400" rtl="0" algn="l">
              <a:spcBef>
                <a:spcPts val="0"/>
              </a:spcBef>
              <a:spcAft>
                <a:spcPts val="0"/>
              </a:spcAft>
              <a:buSzPts val="1400"/>
              <a:buChar char="○"/>
            </a:pPr>
            <a:r>
              <a:rPr lang="en"/>
              <a:t>The next object’s function is called, accessing the vtable pointer</a:t>
            </a:r>
            <a:endParaRPr/>
          </a:p>
          <a:p>
            <a:pPr indent="-342900" lvl="0" marL="457200" rtl="0" algn="l">
              <a:spcBef>
                <a:spcPts val="0"/>
              </a:spcBef>
              <a:spcAft>
                <a:spcPts val="0"/>
              </a:spcAft>
              <a:buSzPts val="1800"/>
              <a:buChar char="●"/>
            </a:pPr>
            <a:r>
              <a:rPr lang="en"/>
              <a:t>Use-after-free</a:t>
            </a:r>
            <a:endParaRPr/>
          </a:p>
          <a:p>
            <a:pPr indent="-317500" lvl="1" marL="914400" rtl="0" algn="l">
              <a:spcBef>
                <a:spcPts val="0"/>
              </a:spcBef>
              <a:spcAft>
                <a:spcPts val="0"/>
              </a:spcAft>
              <a:buSzPts val="1400"/>
              <a:buChar char="○"/>
            </a:pPr>
            <a:r>
              <a:rPr lang="en"/>
              <a:t>An object is deallocated too early (using </a:t>
            </a:r>
            <a:r>
              <a:rPr b="1" lang="en">
                <a:latin typeface="Courier New"/>
                <a:ea typeface="Courier New"/>
                <a:cs typeface="Courier New"/>
                <a:sym typeface="Courier New"/>
              </a:rPr>
              <a:t>free</a:t>
            </a:r>
            <a:r>
              <a:rPr lang="en"/>
              <a:t> in C or </a:t>
            </a:r>
            <a:r>
              <a:rPr b="1" lang="en">
                <a:latin typeface="Courier New"/>
                <a:ea typeface="Courier New"/>
                <a:cs typeface="Courier New"/>
                <a:sym typeface="Courier New"/>
              </a:rPr>
              <a:t>delete</a:t>
            </a:r>
            <a:r>
              <a:rPr lang="en"/>
              <a:t> in C++)</a:t>
            </a:r>
            <a:endParaRPr/>
          </a:p>
          <a:p>
            <a:pPr indent="-317500" lvl="1" marL="914400" rtl="0" algn="l">
              <a:spcBef>
                <a:spcPts val="0"/>
              </a:spcBef>
              <a:spcAft>
                <a:spcPts val="0"/>
              </a:spcAft>
              <a:buSzPts val="1400"/>
              <a:buChar char="○"/>
            </a:pPr>
            <a:r>
              <a:rPr lang="en"/>
              <a:t>The attacker allocates memory, which returns the memory freed by the object</a:t>
            </a:r>
            <a:endParaRPr/>
          </a:p>
          <a:p>
            <a:pPr indent="-317500" lvl="1" marL="914400" rtl="0" algn="l">
              <a:spcBef>
                <a:spcPts val="0"/>
              </a:spcBef>
              <a:spcAft>
                <a:spcPts val="0"/>
              </a:spcAft>
              <a:buSzPts val="1400"/>
              <a:buChar char="○"/>
            </a:pPr>
            <a:r>
              <a:rPr lang="en"/>
              <a:t>The attacker overwrites a vtable pointer under the attacker’s control to point to a malicious vtable, with pointers to malicious code</a:t>
            </a:r>
            <a:endParaRPr/>
          </a:p>
          <a:p>
            <a:pPr indent="-317500" lvl="1" marL="914400" rtl="0" algn="l">
              <a:spcBef>
                <a:spcPts val="0"/>
              </a:spcBef>
              <a:spcAft>
                <a:spcPts val="0"/>
              </a:spcAft>
              <a:buSzPts val="1400"/>
              <a:buChar char="○"/>
            </a:pPr>
            <a:r>
              <a:rPr lang="en"/>
              <a:t>The deallocated object’s function is called, accessing the vtable pointer</a:t>
            </a:r>
            <a:endParaRPr/>
          </a:p>
        </p:txBody>
      </p:sp>
      <p:sp>
        <p:nvSpPr>
          <p:cNvPr id="504" name="Google Shape;50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10 Most Dangerous Software Weaknesses (2023)</a:t>
            </a:r>
            <a:endParaRPr/>
          </a:p>
        </p:txBody>
      </p:sp>
      <p:sp>
        <p:nvSpPr>
          <p:cNvPr id="510" name="Google Shape;510;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511" name="Google Shape;511;p51"/>
          <p:cNvGraphicFramePr/>
          <p:nvPr/>
        </p:nvGraphicFramePr>
        <p:xfrm>
          <a:off x="714750" y="1239875"/>
          <a:ext cx="3000000" cy="3000000"/>
        </p:xfrm>
        <a:graphic>
          <a:graphicData uri="http://schemas.openxmlformats.org/drawingml/2006/table">
            <a:tbl>
              <a:tblPr>
                <a:noFill/>
                <a:tableStyleId>{7E244B81-E480-4EB7-8E21-22D71753B142}</a:tableStyleId>
              </a:tblPr>
              <a:tblGrid>
                <a:gridCol w="535825"/>
                <a:gridCol w="779400"/>
                <a:gridCol w="5653200"/>
                <a:gridCol w="746075"/>
              </a:tblGrid>
              <a:tr h="213425">
                <a:tc>
                  <a:txBody>
                    <a:bodyPr/>
                    <a:lstStyle/>
                    <a:p>
                      <a:pPr indent="0" lvl="0" marL="0" rtl="0" algn="ctr">
                        <a:lnSpc>
                          <a:spcPct val="100000"/>
                        </a:lnSpc>
                        <a:spcBef>
                          <a:spcPts val="0"/>
                        </a:spcBef>
                        <a:spcAft>
                          <a:spcPts val="0"/>
                        </a:spcAft>
                        <a:buNone/>
                      </a:pPr>
                      <a:r>
                        <a:rPr b="1" lang="en" sz="1000"/>
                        <a:t>Rank</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b="1" lang="en" sz="1000"/>
                        <a:t>ID</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b="1" lang="en" sz="1000"/>
                        <a:t>Name</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b="1" lang="en" sz="1000"/>
                        <a:t>Score</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120675">
                <a:tc>
                  <a:txBody>
                    <a:bodyPr/>
                    <a:lstStyle/>
                    <a:p>
                      <a:pPr indent="0" lvl="0" marL="0" rtl="0" algn="ctr">
                        <a:lnSpc>
                          <a:spcPct val="100000"/>
                        </a:lnSpc>
                        <a:spcBef>
                          <a:spcPts val="0"/>
                        </a:spcBef>
                        <a:spcAft>
                          <a:spcPts val="0"/>
                        </a:spcAft>
                        <a:buNone/>
                      </a:pPr>
                      <a:r>
                        <a:rPr b="1" lang="en" sz="1000"/>
                        <a:t>[1]</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3"/>
                        </a:rPr>
                        <a:t>CWE-787</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00000"/>
                        </a:lnSpc>
                        <a:spcBef>
                          <a:spcPts val="0"/>
                        </a:spcBef>
                        <a:spcAft>
                          <a:spcPts val="0"/>
                        </a:spcAft>
                        <a:buNone/>
                      </a:pPr>
                      <a:r>
                        <a:rPr lang="en" sz="1000"/>
                        <a:t>Out-of-bounds Write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00000"/>
                        </a:lnSpc>
                        <a:spcBef>
                          <a:spcPts val="0"/>
                        </a:spcBef>
                        <a:spcAft>
                          <a:spcPts val="0"/>
                        </a:spcAft>
                        <a:buNone/>
                      </a:pPr>
                      <a:r>
                        <a:rPr lang="en" sz="1000"/>
                        <a:t>63.72</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110825">
                <a:tc>
                  <a:txBody>
                    <a:bodyPr/>
                    <a:lstStyle/>
                    <a:p>
                      <a:pPr indent="0" lvl="0" marL="0" rtl="0" algn="ctr">
                        <a:lnSpc>
                          <a:spcPct val="100000"/>
                        </a:lnSpc>
                        <a:spcBef>
                          <a:spcPts val="0"/>
                        </a:spcBef>
                        <a:spcAft>
                          <a:spcPts val="0"/>
                        </a:spcAft>
                        <a:buNone/>
                      </a:pPr>
                      <a:r>
                        <a:rPr b="1" lang="en" sz="1000"/>
                        <a:t>[2]</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4"/>
                        </a:rPr>
                        <a:t>CWE-79</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Neutralization of Input During Web Page Generation ('Cross-site Scripting')</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45.54</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[3]</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5"/>
                        </a:rPr>
                        <a:t>CWE-89</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Neutralization of Special Elements used in an SQL Command ('SQL Injection')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34.27</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[4]</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6"/>
                        </a:rPr>
                        <a:t>CWE-416</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00000"/>
                        </a:lnSpc>
                        <a:spcBef>
                          <a:spcPts val="0"/>
                        </a:spcBef>
                        <a:spcAft>
                          <a:spcPts val="0"/>
                        </a:spcAft>
                        <a:buNone/>
                      </a:pPr>
                      <a:r>
                        <a:rPr lang="en" sz="1000"/>
                        <a:t>Use After Free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00000"/>
                        </a:lnSpc>
                        <a:spcBef>
                          <a:spcPts val="0"/>
                        </a:spcBef>
                        <a:spcAft>
                          <a:spcPts val="0"/>
                        </a:spcAft>
                        <a:buNone/>
                      </a:pPr>
                      <a:r>
                        <a:rPr lang="en" sz="1000"/>
                        <a:t>16.71</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13425">
                <a:tc>
                  <a:txBody>
                    <a:bodyPr/>
                    <a:lstStyle/>
                    <a:p>
                      <a:pPr indent="0" lvl="0" marL="0" rtl="0" algn="ctr">
                        <a:lnSpc>
                          <a:spcPct val="100000"/>
                        </a:lnSpc>
                        <a:spcBef>
                          <a:spcPts val="0"/>
                        </a:spcBef>
                        <a:spcAft>
                          <a:spcPts val="0"/>
                        </a:spcAft>
                        <a:buNone/>
                      </a:pPr>
                      <a:r>
                        <a:rPr b="1" lang="en" sz="1000"/>
                        <a:t>[5]</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7"/>
                        </a:rPr>
                        <a:t>CWE-78</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Neutralization of Special Elements used in an OS Command ('OS Command Injection')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15.65</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[6]</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8"/>
                        </a:rPr>
                        <a:t>CWE-20</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Input Validation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15.50</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[7]</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9"/>
                        </a:rPr>
                        <a:t>CWE-125</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00000"/>
                        </a:lnSpc>
                        <a:spcBef>
                          <a:spcPts val="0"/>
                        </a:spcBef>
                        <a:spcAft>
                          <a:spcPts val="0"/>
                        </a:spcAft>
                        <a:buNone/>
                      </a:pPr>
                      <a:r>
                        <a:rPr lang="en" sz="1000"/>
                        <a:t>Out-of-bounds Read</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00000"/>
                        </a:lnSpc>
                        <a:spcBef>
                          <a:spcPts val="0"/>
                        </a:spcBef>
                        <a:spcAft>
                          <a:spcPts val="0"/>
                        </a:spcAft>
                        <a:buNone/>
                      </a:pPr>
                      <a:r>
                        <a:rPr lang="en" sz="1000"/>
                        <a:t>14.60</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213425">
                <a:tc>
                  <a:txBody>
                    <a:bodyPr/>
                    <a:lstStyle/>
                    <a:p>
                      <a:pPr indent="0" lvl="0" marL="0" rtl="0" algn="ctr">
                        <a:lnSpc>
                          <a:spcPct val="100000"/>
                        </a:lnSpc>
                        <a:spcBef>
                          <a:spcPts val="0"/>
                        </a:spcBef>
                        <a:spcAft>
                          <a:spcPts val="0"/>
                        </a:spcAft>
                        <a:buNone/>
                      </a:pPr>
                      <a:r>
                        <a:rPr b="1" lang="en" sz="1000"/>
                        <a:t>[8]</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0"/>
                        </a:rPr>
                        <a:t>CWE-22</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Limitation of a Pathname to a Restricted Directory ('Path Traversal')</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14.11</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[9]</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1"/>
                        </a:rPr>
                        <a:t>CWE-352</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Cross-Site Request Forgery (CSRF)</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11.73</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[10]</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2"/>
                        </a:rPr>
                        <a:t>CWE-434</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Unrestricted Upload of File with Dangerous Type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10.41</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bl>
          </a:graphicData>
        </a:graphic>
      </p:graphicFrame>
      <p:pic>
        <p:nvPicPr>
          <p:cNvPr id="512" name="Google Shape;512;p51"/>
          <p:cNvPicPr preferRelativeResize="0"/>
          <p:nvPr/>
        </p:nvPicPr>
        <p:blipFill rotWithShape="1">
          <a:blip r:embed="rId13">
            <a:alphaModFix/>
          </a:blip>
          <a:srcRect b="0" l="46771" r="0" t="0"/>
          <a:stretch/>
        </p:blipFill>
        <p:spPr>
          <a:xfrm>
            <a:off x="2075" y="4439225"/>
            <a:ext cx="374875" cy="7042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Off-by-One Exploit</a:t>
            </a:r>
            <a:endParaRPr/>
          </a:p>
        </p:txBody>
      </p:sp>
      <p:sp>
        <p:nvSpPr>
          <p:cNvPr id="518" name="Google Shape;518;p52"/>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a:solidFill>
                  <a:srgbClr val="000000"/>
                </a:solidFill>
              </a:rPr>
              <a:t>Textbook Chapter </a:t>
            </a:r>
            <a:r>
              <a:rPr lang="en"/>
              <a:t>3.5</a:t>
            </a:r>
            <a:endParaRPr>
              <a:solidFill>
                <a:srgbClr val="0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graphicFrame>
        <p:nvGraphicFramePr>
          <p:cNvPr id="523" name="Google Shape;523;p53"/>
          <p:cNvGraphicFramePr/>
          <p:nvPr/>
        </p:nvGraphicFramePr>
        <p:xfrm>
          <a:off x="7212679" y="2518285"/>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524" name="Google Shape;524;p53"/>
          <p:cNvSpPr txBox="1"/>
          <p:nvPr/>
        </p:nvSpPr>
        <p:spPr>
          <a:xfrm rot="-5400000">
            <a:off x="7753350" y="39247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9E9E9E"/>
                </a:solidFill>
                <a:latin typeface="Courier New"/>
                <a:ea typeface="Courier New"/>
                <a:cs typeface="Courier New"/>
                <a:sym typeface="Courier New"/>
              </a:rPr>
              <a:t>name</a:t>
            </a:r>
            <a:endParaRPr b="1" sz="1200">
              <a:solidFill>
                <a:srgbClr val="9E9E9E"/>
              </a:solidFill>
              <a:latin typeface="Courier New"/>
              <a:ea typeface="Courier New"/>
              <a:cs typeface="Courier New"/>
              <a:sym typeface="Courier New"/>
            </a:endParaRPr>
          </a:p>
        </p:txBody>
      </p:sp>
      <p:cxnSp>
        <p:nvCxnSpPr>
          <p:cNvPr id="525" name="Google Shape;525;p53"/>
          <p:cNvCxnSpPr/>
          <p:nvPr/>
        </p:nvCxnSpPr>
        <p:spPr>
          <a:xfrm>
            <a:off x="8367750" y="35104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526" name="Google Shape;526;p53"/>
          <p:cNvCxnSpPr/>
          <p:nvPr/>
        </p:nvCxnSpPr>
        <p:spPr>
          <a:xfrm>
            <a:off x="8367750" y="4398425"/>
            <a:ext cx="0" cy="340800"/>
          </a:xfrm>
          <a:prstGeom prst="straightConnector1">
            <a:avLst/>
          </a:prstGeom>
          <a:noFill/>
          <a:ln cap="flat" cmpd="sng" w="9525">
            <a:solidFill>
              <a:schemeClr val="dk2"/>
            </a:solidFill>
            <a:prstDash val="solid"/>
            <a:round/>
            <a:headEnd len="med" w="med" type="none"/>
            <a:tailEnd len="med" w="med" type="none"/>
          </a:ln>
        </p:spPr>
      </p:cxnSp>
      <p:graphicFrame>
        <p:nvGraphicFramePr>
          <p:cNvPr id="527" name="Google Shape;527;p53"/>
          <p:cNvGraphicFramePr/>
          <p:nvPr/>
        </p:nvGraphicFramePr>
        <p:xfrm>
          <a:off x="4837550" y="2510624"/>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528" name="Google Shape;528;p5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Off-by-one</a:t>
            </a:r>
            <a:endParaRPr/>
          </a:p>
        </p:txBody>
      </p:sp>
      <p:sp>
        <p:nvSpPr>
          <p:cNvPr id="529" name="Google Shape;529;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30" name="Google Shape;530;p53"/>
          <p:cNvSpPr txBox="1"/>
          <p:nvPr/>
        </p:nvSpPr>
        <p:spPr>
          <a:xfrm>
            <a:off x="197418" y="3206000"/>
            <a:ext cx="2265000" cy="1569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name[20];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fread(name,21,1,stdin);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int main(void)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return 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
        <p:nvSpPr>
          <p:cNvPr id="531" name="Google Shape;531;p53"/>
          <p:cNvSpPr txBox="1"/>
          <p:nvPr/>
        </p:nvSpPr>
        <p:spPr>
          <a:xfrm>
            <a:off x="2807925" y="2445675"/>
            <a:ext cx="1821000" cy="233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gets</a:t>
            </a:r>
            <a:br>
              <a:rPr b="1" lang="en" sz="1000">
                <a:solidFill>
                  <a:schemeClr val="dk1"/>
                </a:solidFill>
                <a:latin typeface="Courier New"/>
                <a:ea typeface="Courier New"/>
                <a:cs typeface="Courier New"/>
                <a:sym typeface="Courier New"/>
              </a:rPr>
            </a:br>
            <a:r>
              <a:rPr b="1" lang="en" sz="1000">
                <a:solidFill>
                  <a:schemeClr val="dk1"/>
                </a:solidFill>
                <a:latin typeface="Courier New"/>
                <a:ea typeface="Courier New"/>
                <a:cs typeface="Courier New"/>
                <a:sym typeface="Courier New"/>
              </a:rPr>
              <a:t>    add $4,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main: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p:txBody>
      </p:sp>
      <p:sp>
        <p:nvSpPr>
          <p:cNvPr id="532" name="Google Shape;532;p53"/>
          <p:cNvSpPr txBox="1"/>
          <p:nvPr/>
        </p:nvSpPr>
        <p:spPr>
          <a:xfrm>
            <a:off x="2429959" y="2822300"/>
            <a:ext cx="315000" cy="2463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solidFill>
                  <a:schemeClr val="dk1"/>
                </a:solidFill>
              </a:rPr>
              <a:t>EIP</a:t>
            </a:r>
            <a:endParaRPr b="1" sz="1000">
              <a:solidFill>
                <a:schemeClr val="dk1"/>
              </a:solidFill>
            </a:endParaRPr>
          </a:p>
        </p:txBody>
      </p:sp>
      <p:cxnSp>
        <p:nvCxnSpPr>
          <p:cNvPr id="533" name="Google Shape;533;p53"/>
          <p:cNvCxnSpPr>
            <a:stCxn id="532" idx="3"/>
          </p:cNvCxnSpPr>
          <p:nvPr/>
        </p:nvCxnSpPr>
        <p:spPr>
          <a:xfrm>
            <a:off x="2744959" y="2945450"/>
            <a:ext cx="329100" cy="0"/>
          </a:xfrm>
          <a:prstGeom prst="straightConnector1">
            <a:avLst/>
          </a:prstGeom>
          <a:noFill/>
          <a:ln cap="flat" cmpd="sng" w="9525">
            <a:solidFill>
              <a:srgbClr val="595959"/>
            </a:solidFill>
            <a:prstDash val="solid"/>
            <a:round/>
            <a:headEnd len="med" w="med" type="none"/>
            <a:tailEnd len="med" w="med" type="triangle"/>
          </a:ln>
        </p:spPr>
      </p:cxnSp>
      <p:sp>
        <p:nvSpPr>
          <p:cNvPr id="534" name="Google Shape;534;p53"/>
          <p:cNvSpPr txBox="1"/>
          <p:nvPr/>
        </p:nvSpPr>
        <p:spPr>
          <a:xfrm>
            <a:off x="4695775" y="3206008"/>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EBP</a:t>
            </a:r>
            <a:endParaRPr b="1" sz="1000">
              <a:solidFill>
                <a:schemeClr val="dk1"/>
              </a:solidFill>
            </a:endParaRPr>
          </a:p>
        </p:txBody>
      </p:sp>
      <p:cxnSp>
        <p:nvCxnSpPr>
          <p:cNvPr id="535" name="Google Shape;535;p53"/>
          <p:cNvCxnSpPr/>
          <p:nvPr/>
        </p:nvCxnSpPr>
        <p:spPr>
          <a:xfrm>
            <a:off x="5176675" y="3375350"/>
            <a:ext cx="604800" cy="0"/>
          </a:xfrm>
          <a:prstGeom prst="straightConnector1">
            <a:avLst/>
          </a:prstGeom>
          <a:noFill/>
          <a:ln cap="flat" cmpd="sng" w="9525">
            <a:solidFill>
              <a:srgbClr val="595959"/>
            </a:solidFill>
            <a:prstDash val="solid"/>
            <a:round/>
            <a:headEnd len="med" w="med" type="none"/>
            <a:tailEnd len="med" w="med" type="triangle"/>
          </a:ln>
        </p:spPr>
      </p:cxnSp>
      <p:sp>
        <p:nvSpPr>
          <p:cNvPr id="536" name="Google Shape;536;p53"/>
          <p:cNvSpPr txBox="1"/>
          <p:nvPr/>
        </p:nvSpPr>
        <p:spPr>
          <a:xfrm>
            <a:off x="4695775" y="4663225"/>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ESP</a:t>
            </a:r>
            <a:endParaRPr b="1" sz="1000">
              <a:solidFill>
                <a:schemeClr val="dk1"/>
              </a:solidFill>
            </a:endParaRPr>
          </a:p>
        </p:txBody>
      </p:sp>
      <p:cxnSp>
        <p:nvCxnSpPr>
          <p:cNvPr id="537" name="Google Shape;537;p53"/>
          <p:cNvCxnSpPr/>
          <p:nvPr/>
        </p:nvCxnSpPr>
        <p:spPr>
          <a:xfrm>
            <a:off x="5176675" y="4832575"/>
            <a:ext cx="604800" cy="0"/>
          </a:xfrm>
          <a:prstGeom prst="straightConnector1">
            <a:avLst/>
          </a:prstGeom>
          <a:noFill/>
          <a:ln cap="flat" cmpd="sng" w="9525">
            <a:solidFill>
              <a:srgbClr val="595959"/>
            </a:solidFill>
            <a:prstDash val="solid"/>
            <a:round/>
            <a:headEnd len="med" w="med" type="none"/>
            <a:tailEnd len="med" w="med" type="triangle"/>
          </a:ln>
        </p:spPr>
      </p:cxnSp>
      <p:graphicFrame>
        <p:nvGraphicFramePr>
          <p:cNvPr id="538" name="Google Shape;538;p53"/>
          <p:cNvGraphicFramePr/>
          <p:nvPr/>
        </p:nvGraphicFramePr>
        <p:xfrm>
          <a:off x="59815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vulnerable</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vulnerable</a:t>
                      </a:r>
                      <a:endParaRPr b="1" sz="1000">
                        <a:solidFill>
                          <a:schemeClr val="dk1"/>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539" name="Google Shape;539;p53"/>
          <p:cNvSpPr txBox="1"/>
          <p:nvPr/>
        </p:nvSpPr>
        <p:spPr>
          <a:xfrm>
            <a:off x="102700" y="1200500"/>
            <a:ext cx="4394400" cy="9234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Goal: Execute shellcode located at </a:t>
            </a:r>
            <a:r>
              <a:rPr b="1" lang="en" sz="1200">
                <a:solidFill>
                  <a:schemeClr val="dk1"/>
                </a:solidFill>
                <a:latin typeface="Courier New"/>
                <a:ea typeface="Courier New"/>
                <a:cs typeface="Courier New"/>
                <a:sym typeface="Courier New"/>
              </a:rPr>
              <a:t>0xdeadbeef</a:t>
            </a:r>
            <a:r>
              <a:rPr lang="en" sz="1200">
                <a:solidFill>
                  <a:schemeClr val="dk1"/>
                </a:solidFill>
              </a:rPr>
              <a: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What parts of memory is an attacker able to overwrite in this piece of code?</a:t>
            </a:r>
            <a:endParaRPr sz="1200">
              <a:solidFill>
                <a:schemeClr val="dk1"/>
              </a:solidFill>
            </a:endParaRPr>
          </a:p>
        </p:txBody>
      </p:sp>
      <p:sp>
        <p:nvSpPr>
          <p:cNvPr id="540" name="Google Shape;540;p53"/>
          <p:cNvSpPr/>
          <p:nvPr/>
        </p:nvSpPr>
        <p:spPr>
          <a:xfrm>
            <a:off x="8652625" y="2890588"/>
            <a:ext cx="387625" cy="477925"/>
          </a:xfrm>
          <a:custGeom>
            <a:rect b="b" l="l" r="r" t="t"/>
            <a:pathLst>
              <a:path extrusionOk="0" h="19117" w="18160">
                <a:moveTo>
                  <a:pt x="0" y="19117"/>
                </a:moveTo>
                <a:lnTo>
                  <a:pt x="18160" y="19117"/>
                </a:lnTo>
                <a:lnTo>
                  <a:pt x="18160" y="0"/>
                </a:lnTo>
                <a:lnTo>
                  <a:pt x="318" y="0"/>
                </a:ln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graphicFrame>
        <p:nvGraphicFramePr>
          <p:cNvPr id="545" name="Google Shape;545;p54"/>
          <p:cNvGraphicFramePr/>
          <p:nvPr/>
        </p:nvGraphicFramePr>
        <p:xfrm>
          <a:off x="7212679" y="2518285"/>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546" name="Google Shape;546;p54"/>
          <p:cNvSpPr txBox="1"/>
          <p:nvPr/>
        </p:nvSpPr>
        <p:spPr>
          <a:xfrm rot="-5400000">
            <a:off x="7753350" y="39247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9E9E9E"/>
                </a:solidFill>
                <a:latin typeface="Courier New"/>
                <a:ea typeface="Courier New"/>
                <a:cs typeface="Courier New"/>
                <a:sym typeface="Courier New"/>
              </a:rPr>
              <a:t>name</a:t>
            </a:r>
            <a:endParaRPr b="1" sz="1200">
              <a:solidFill>
                <a:srgbClr val="9E9E9E"/>
              </a:solidFill>
              <a:latin typeface="Courier New"/>
              <a:ea typeface="Courier New"/>
              <a:cs typeface="Courier New"/>
              <a:sym typeface="Courier New"/>
            </a:endParaRPr>
          </a:p>
        </p:txBody>
      </p:sp>
      <p:cxnSp>
        <p:nvCxnSpPr>
          <p:cNvPr id="547" name="Google Shape;547;p54"/>
          <p:cNvCxnSpPr/>
          <p:nvPr/>
        </p:nvCxnSpPr>
        <p:spPr>
          <a:xfrm>
            <a:off x="8367750" y="35104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548" name="Google Shape;548;p54"/>
          <p:cNvCxnSpPr/>
          <p:nvPr/>
        </p:nvCxnSpPr>
        <p:spPr>
          <a:xfrm>
            <a:off x="8367750" y="4398425"/>
            <a:ext cx="0" cy="340800"/>
          </a:xfrm>
          <a:prstGeom prst="straightConnector1">
            <a:avLst/>
          </a:prstGeom>
          <a:noFill/>
          <a:ln cap="flat" cmpd="sng" w="9525">
            <a:solidFill>
              <a:schemeClr val="dk2"/>
            </a:solidFill>
            <a:prstDash val="solid"/>
            <a:round/>
            <a:headEnd len="med" w="med" type="none"/>
            <a:tailEnd len="med" w="med" type="none"/>
          </a:ln>
        </p:spPr>
      </p:cxnSp>
      <p:graphicFrame>
        <p:nvGraphicFramePr>
          <p:cNvPr id="549" name="Google Shape;549;p54"/>
          <p:cNvGraphicFramePr/>
          <p:nvPr/>
        </p:nvGraphicFramePr>
        <p:xfrm>
          <a:off x="4837550" y="2510624"/>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550" name="Google Shape;550;p5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Off-by-one</a:t>
            </a:r>
            <a:endParaRPr/>
          </a:p>
        </p:txBody>
      </p:sp>
      <p:sp>
        <p:nvSpPr>
          <p:cNvPr id="551" name="Google Shape;551;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52" name="Google Shape;552;p54"/>
          <p:cNvSpPr txBox="1"/>
          <p:nvPr/>
        </p:nvSpPr>
        <p:spPr>
          <a:xfrm>
            <a:off x="2807925" y="2445675"/>
            <a:ext cx="1821000" cy="233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gets</a:t>
            </a:r>
            <a:br>
              <a:rPr b="1" lang="en" sz="1000">
                <a:solidFill>
                  <a:schemeClr val="dk1"/>
                </a:solidFill>
                <a:latin typeface="Courier New"/>
                <a:ea typeface="Courier New"/>
                <a:cs typeface="Courier New"/>
                <a:sym typeface="Courier New"/>
              </a:rPr>
            </a:br>
            <a:r>
              <a:rPr b="1" lang="en" sz="1000">
                <a:solidFill>
                  <a:schemeClr val="dk1"/>
                </a:solidFill>
                <a:latin typeface="Courier New"/>
                <a:ea typeface="Courier New"/>
                <a:cs typeface="Courier New"/>
                <a:sym typeface="Courier New"/>
              </a:rPr>
              <a:t>    add $4,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main: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p:txBody>
      </p:sp>
      <p:sp>
        <p:nvSpPr>
          <p:cNvPr id="553" name="Google Shape;553;p54"/>
          <p:cNvSpPr txBox="1"/>
          <p:nvPr/>
        </p:nvSpPr>
        <p:spPr>
          <a:xfrm>
            <a:off x="2429959" y="2822300"/>
            <a:ext cx="315000" cy="2463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solidFill>
                  <a:schemeClr val="dk1"/>
                </a:solidFill>
              </a:rPr>
              <a:t>EIP</a:t>
            </a:r>
            <a:endParaRPr b="1" sz="1000">
              <a:solidFill>
                <a:schemeClr val="dk1"/>
              </a:solidFill>
            </a:endParaRPr>
          </a:p>
        </p:txBody>
      </p:sp>
      <p:cxnSp>
        <p:nvCxnSpPr>
          <p:cNvPr id="554" name="Google Shape;554;p54"/>
          <p:cNvCxnSpPr>
            <a:stCxn id="553" idx="3"/>
          </p:cNvCxnSpPr>
          <p:nvPr/>
        </p:nvCxnSpPr>
        <p:spPr>
          <a:xfrm>
            <a:off x="2744959" y="2945450"/>
            <a:ext cx="329100" cy="0"/>
          </a:xfrm>
          <a:prstGeom prst="straightConnector1">
            <a:avLst/>
          </a:prstGeom>
          <a:noFill/>
          <a:ln cap="flat" cmpd="sng" w="9525">
            <a:solidFill>
              <a:srgbClr val="595959"/>
            </a:solidFill>
            <a:prstDash val="solid"/>
            <a:round/>
            <a:headEnd len="med" w="med" type="none"/>
            <a:tailEnd len="med" w="med" type="triangle"/>
          </a:ln>
        </p:spPr>
      </p:cxnSp>
      <p:sp>
        <p:nvSpPr>
          <p:cNvPr id="555" name="Google Shape;555;p54"/>
          <p:cNvSpPr txBox="1"/>
          <p:nvPr/>
        </p:nvSpPr>
        <p:spPr>
          <a:xfrm>
            <a:off x="4695775" y="3206008"/>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EBP</a:t>
            </a:r>
            <a:endParaRPr b="1" sz="1000">
              <a:solidFill>
                <a:schemeClr val="dk1"/>
              </a:solidFill>
            </a:endParaRPr>
          </a:p>
        </p:txBody>
      </p:sp>
      <p:cxnSp>
        <p:nvCxnSpPr>
          <p:cNvPr id="556" name="Google Shape;556;p54"/>
          <p:cNvCxnSpPr/>
          <p:nvPr/>
        </p:nvCxnSpPr>
        <p:spPr>
          <a:xfrm>
            <a:off x="5176675" y="3375350"/>
            <a:ext cx="604800" cy="0"/>
          </a:xfrm>
          <a:prstGeom prst="straightConnector1">
            <a:avLst/>
          </a:prstGeom>
          <a:noFill/>
          <a:ln cap="flat" cmpd="sng" w="9525">
            <a:solidFill>
              <a:srgbClr val="595959"/>
            </a:solidFill>
            <a:prstDash val="solid"/>
            <a:round/>
            <a:headEnd len="med" w="med" type="none"/>
            <a:tailEnd len="med" w="med" type="triangle"/>
          </a:ln>
        </p:spPr>
      </p:cxnSp>
      <p:sp>
        <p:nvSpPr>
          <p:cNvPr id="557" name="Google Shape;557;p54"/>
          <p:cNvSpPr txBox="1"/>
          <p:nvPr/>
        </p:nvSpPr>
        <p:spPr>
          <a:xfrm>
            <a:off x="4695775" y="4663225"/>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ESP</a:t>
            </a:r>
            <a:endParaRPr b="1" sz="1000">
              <a:solidFill>
                <a:schemeClr val="dk1"/>
              </a:solidFill>
            </a:endParaRPr>
          </a:p>
        </p:txBody>
      </p:sp>
      <p:cxnSp>
        <p:nvCxnSpPr>
          <p:cNvPr id="558" name="Google Shape;558;p54"/>
          <p:cNvCxnSpPr/>
          <p:nvPr/>
        </p:nvCxnSpPr>
        <p:spPr>
          <a:xfrm>
            <a:off x="5176675" y="4832575"/>
            <a:ext cx="604800" cy="0"/>
          </a:xfrm>
          <a:prstGeom prst="straightConnector1">
            <a:avLst/>
          </a:prstGeom>
          <a:noFill/>
          <a:ln cap="flat" cmpd="sng" w="9525">
            <a:solidFill>
              <a:srgbClr val="595959"/>
            </a:solidFill>
            <a:prstDash val="solid"/>
            <a:round/>
            <a:headEnd len="med" w="med" type="none"/>
            <a:tailEnd len="med" w="med" type="triangle"/>
          </a:ln>
        </p:spPr>
      </p:cxnSp>
      <p:graphicFrame>
        <p:nvGraphicFramePr>
          <p:cNvPr id="559" name="Google Shape;559;p54"/>
          <p:cNvGraphicFramePr/>
          <p:nvPr/>
        </p:nvGraphicFramePr>
        <p:xfrm>
          <a:off x="59815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vulnerable</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\x60</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\xcd</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\xff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\xbf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560" name="Google Shape;560;p54"/>
          <p:cNvSpPr txBox="1"/>
          <p:nvPr/>
        </p:nvSpPr>
        <p:spPr>
          <a:xfrm>
            <a:off x="102700" y="1200500"/>
            <a:ext cx="4394400" cy="1108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The attacker is able to overwrite all of </a:t>
            </a:r>
            <a:r>
              <a:rPr b="1" lang="en" sz="1200">
                <a:solidFill>
                  <a:schemeClr val="dk1"/>
                </a:solidFill>
                <a:latin typeface="Courier New"/>
                <a:ea typeface="Courier New"/>
                <a:cs typeface="Courier New"/>
                <a:sym typeface="Courier New"/>
              </a:rPr>
              <a:t>name</a:t>
            </a:r>
            <a:r>
              <a:rPr lang="en" sz="1200">
                <a:solidFill>
                  <a:schemeClr val="dk1"/>
                </a:solidFill>
              </a:rPr>
              <a:t> and the least-significant byte of the SFP of </a:t>
            </a:r>
            <a:r>
              <a:rPr b="1" lang="en" sz="1200">
                <a:solidFill>
                  <a:schemeClr val="dk1"/>
                </a:solidFill>
                <a:latin typeface="Courier New"/>
                <a:ea typeface="Courier New"/>
                <a:cs typeface="Courier New"/>
                <a:sym typeface="Courier New"/>
              </a:rPr>
              <a:t>vulnerable</a:t>
            </a:r>
            <a:r>
              <a:rPr lang="en" sz="1200">
                <a:solidFill>
                  <a:schemeClr val="dk1"/>
                </a:solidFill>
              </a:rPr>
              <a: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If the attacker can change where the SFP of </a:t>
            </a:r>
            <a:r>
              <a:rPr b="1" lang="en" sz="1200">
                <a:solidFill>
                  <a:schemeClr val="dk1"/>
                </a:solidFill>
                <a:latin typeface="Courier New"/>
                <a:ea typeface="Courier New"/>
                <a:cs typeface="Courier New"/>
                <a:sym typeface="Courier New"/>
              </a:rPr>
              <a:t>vulnerable</a:t>
            </a:r>
            <a:r>
              <a:rPr lang="en" sz="1200">
                <a:solidFill>
                  <a:schemeClr val="dk1"/>
                </a:solidFill>
              </a:rPr>
              <a:t> points to, how can they use this to execute shellcode?</a:t>
            </a:r>
            <a:endParaRPr sz="1200">
              <a:solidFill>
                <a:schemeClr val="dk1"/>
              </a:solidFill>
            </a:endParaRPr>
          </a:p>
        </p:txBody>
      </p:sp>
      <p:sp>
        <p:nvSpPr>
          <p:cNvPr id="561" name="Google Shape;561;p54"/>
          <p:cNvSpPr/>
          <p:nvPr/>
        </p:nvSpPr>
        <p:spPr>
          <a:xfrm>
            <a:off x="8652625" y="2890588"/>
            <a:ext cx="387625" cy="477925"/>
          </a:xfrm>
          <a:custGeom>
            <a:rect b="b" l="l" r="r" t="t"/>
            <a:pathLst>
              <a:path extrusionOk="0" h="19117" w="18160">
                <a:moveTo>
                  <a:pt x="0" y="19117"/>
                </a:moveTo>
                <a:lnTo>
                  <a:pt x="18160" y="19117"/>
                </a:lnTo>
                <a:lnTo>
                  <a:pt x="18160" y="0"/>
                </a:lnTo>
                <a:lnTo>
                  <a:pt x="318" y="0"/>
                </a:lnTo>
              </a:path>
            </a:pathLst>
          </a:custGeom>
          <a:noFill/>
          <a:ln cap="flat" cmpd="sng" w="9525">
            <a:solidFill>
              <a:schemeClr val="dk2"/>
            </a:solidFill>
            <a:prstDash val="solid"/>
            <a:round/>
            <a:headEnd len="med" w="med" type="none"/>
            <a:tailEnd len="med" w="med" type="triangle"/>
          </a:ln>
        </p:spPr>
      </p:sp>
      <p:sp>
        <p:nvSpPr>
          <p:cNvPr id="562" name="Google Shape;562;p54"/>
          <p:cNvSpPr txBox="1"/>
          <p:nvPr/>
        </p:nvSpPr>
        <p:spPr>
          <a:xfrm>
            <a:off x="197418" y="3206000"/>
            <a:ext cx="2265000" cy="1569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name[20];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fread(name,21,1,stdin);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int main(void)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return 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graphicFrame>
        <p:nvGraphicFramePr>
          <p:cNvPr id="567" name="Google Shape;567;p55"/>
          <p:cNvGraphicFramePr/>
          <p:nvPr/>
        </p:nvGraphicFramePr>
        <p:xfrm>
          <a:off x="7212679" y="2518285"/>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568" name="Google Shape;568;p55"/>
          <p:cNvSpPr txBox="1"/>
          <p:nvPr/>
        </p:nvSpPr>
        <p:spPr>
          <a:xfrm rot="-5400000">
            <a:off x="7753350" y="39247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9E9E9E"/>
                </a:solidFill>
                <a:latin typeface="Courier New"/>
                <a:ea typeface="Courier New"/>
                <a:cs typeface="Courier New"/>
                <a:sym typeface="Courier New"/>
              </a:rPr>
              <a:t>name</a:t>
            </a:r>
            <a:endParaRPr b="1" sz="1200">
              <a:solidFill>
                <a:srgbClr val="9E9E9E"/>
              </a:solidFill>
              <a:latin typeface="Courier New"/>
              <a:ea typeface="Courier New"/>
              <a:cs typeface="Courier New"/>
              <a:sym typeface="Courier New"/>
            </a:endParaRPr>
          </a:p>
        </p:txBody>
      </p:sp>
      <p:cxnSp>
        <p:nvCxnSpPr>
          <p:cNvPr id="569" name="Google Shape;569;p55"/>
          <p:cNvCxnSpPr/>
          <p:nvPr/>
        </p:nvCxnSpPr>
        <p:spPr>
          <a:xfrm>
            <a:off x="8367750" y="35104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570" name="Google Shape;570;p55"/>
          <p:cNvCxnSpPr/>
          <p:nvPr/>
        </p:nvCxnSpPr>
        <p:spPr>
          <a:xfrm>
            <a:off x="8367750" y="4398425"/>
            <a:ext cx="0" cy="340800"/>
          </a:xfrm>
          <a:prstGeom prst="straightConnector1">
            <a:avLst/>
          </a:prstGeom>
          <a:noFill/>
          <a:ln cap="flat" cmpd="sng" w="9525">
            <a:solidFill>
              <a:schemeClr val="dk2"/>
            </a:solidFill>
            <a:prstDash val="solid"/>
            <a:round/>
            <a:headEnd len="med" w="med" type="none"/>
            <a:tailEnd len="med" w="med" type="none"/>
          </a:ln>
        </p:spPr>
      </p:cxnSp>
      <p:graphicFrame>
        <p:nvGraphicFramePr>
          <p:cNvPr id="571" name="Google Shape;571;p55"/>
          <p:cNvGraphicFramePr/>
          <p:nvPr/>
        </p:nvGraphicFramePr>
        <p:xfrm>
          <a:off x="4837550" y="2510624"/>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572" name="Google Shape;572;p5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Off-by-one</a:t>
            </a:r>
            <a:endParaRPr/>
          </a:p>
        </p:txBody>
      </p:sp>
      <p:sp>
        <p:nvSpPr>
          <p:cNvPr id="573" name="Google Shape;573;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74" name="Google Shape;574;p55"/>
          <p:cNvSpPr txBox="1"/>
          <p:nvPr/>
        </p:nvSpPr>
        <p:spPr>
          <a:xfrm>
            <a:off x="2807925" y="2445675"/>
            <a:ext cx="1821000" cy="233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gets</a:t>
            </a:r>
            <a:br>
              <a:rPr b="1" lang="en" sz="1000">
                <a:solidFill>
                  <a:schemeClr val="dk1"/>
                </a:solidFill>
                <a:latin typeface="Courier New"/>
                <a:ea typeface="Courier New"/>
                <a:cs typeface="Courier New"/>
                <a:sym typeface="Courier New"/>
              </a:rPr>
            </a:br>
            <a:r>
              <a:rPr b="1" lang="en" sz="1000">
                <a:solidFill>
                  <a:schemeClr val="dk1"/>
                </a:solidFill>
                <a:latin typeface="Courier New"/>
                <a:ea typeface="Courier New"/>
                <a:cs typeface="Courier New"/>
                <a:sym typeface="Courier New"/>
              </a:rPr>
              <a:t>    add $4,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main: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p:txBody>
      </p:sp>
      <p:sp>
        <p:nvSpPr>
          <p:cNvPr id="575" name="Google Shape;575;p55"/>
          <p:cNvSpPr txBox="1"/>
          <p:nvPr/>
        </p:nvSpPr>
        <p:spPr>
          <a:xfrm>
            <a:off x="2429959" y="2822300"/>
            <a:ext cx="315000" cy="2463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solidFill>
                  <a:schemeClr val="dk1"/>
                </a:solidFill>
              </a:rPr>
              <a:t>EIP</a:t>
            </a:r>
            <a:endParaRPr b="1" sz="1000">
              <a:solidFill>
                <a:schemeClr val="dk1"/>
              </a:solidFill>
            </a:endParaRPr>
          </a:p>
        </p:txBody>
      </p:sp>
      <p:cxnSp>
        <p:nvCxnSpPr>
          <p:cNvPr id="576" name="Google Shape;576;p55"/>
          <p:cNvCxnSpPr>
            <a:stCxn id="575" idx="3"/>
          </p:cNvCxnSpPr>
          <p:nvPr/>
        </p:nvCxnSpPr>
        <p:spPr>
          <a:xfrm>
            <a:off x="2744959" y="2945450"/>
            <a:ext cx="329100" cy="0"/>
          </a:xfrm>
          <a:prstGeom prst="straightConnector1">
            <a:avLst/>
          </a:prstGeom>
          <a:noFill/>
          <a:ln cap="flat" cmpd="sng" w="9525">
            <a:solidFill>
              <a:srgbClr val="595959"/>
            </a:solidFill>
            <a:prstDash val="solid"/>
            <a:round/>
            <a:headEnd len="med" w="med" type="none"/>
            <a:tailEnd len="med" w="med" type="triangle"/>
          </a:ln>
        </p:spPr>
      </p:cxnSp>
      <p:sp>
        <p:nvSpPr>
          <p:cNvPr id="577" name="Google Shape;577;p55"/>
          <p:cNvSpPr txBox="1"/>
          <p:nvPr/>
        </p:nvSpPr>
        <p:spPr>
          <a:xfrm>
            <a:off x="4695775" y="3206008"/>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EBP</a:t>
            </a:r>
            <a:endParaRPr b="1" sz="1000">
              <a:solidFill>
                <a:schemeClr val="dk1"/>
              </a:solidFill>
            </a:endParaRPr>
          </a:p>
        </p:txBody>
      </p:sp>
      <p:cxnSp>
        <p:nvCxnSpPr>
          <p:cNvPr id="578" name="Google Shape;578;p55"/>
          <p:cNvCxnSpPr/>
          <p:nvPr/>
        </p:nvCxnSpPr>
        <p:spPr>
          <a:xfrm>
            <a:off x="5176675" y="3375350"/>
            <a:ext cx="604800" cy="0"/>
          </a:xfrm>
          <a:prstGeom prst="straightConnector1">
            <a:avLst/>
          </a:prstGeom>
          <a:noFill/>
          <a:ln cap="flat" cmpd="sng" w="9525">
            <a:solidFill>
              <a:srgbClr val="595959"/>
            </a:solidFill>
            <a:prstDash val="solid"/>
            <a:round/>
            <a:headEnd len="med" w="med" type="none"/>
            <a:tailEnd len="med" w="med" type="triangle"/>
          </a:ln>
        </p:spPr>
      </p:cxnSp>
      <p:sp>
        <p:nvSpPr>
          <p:cNvPr id="579" name="Google Shape;579;p55"/>
          <p:cNvSpPr txBox="1"/>
          <p:nvPr/>
        </p:nvSpPr>
        <p:spPr>
          <a:xfrm>
            <a:off x="4695775" y="4663225"/>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ESP</a:t>
            </a:r>
            <a:endParaRPr b="1" sz="1000">
              <a:solidFill>
                <a:schemeClr val="dk1"/>
              </a:solidFill>
            </a:endParaRPr>
          </a:p>
        </p:txBody>
      </p:sp>
      <p:cxnSp>
        <p:nvCxnSpPr>
          <p:cNvPr id="580" name="Google Shape;580;p55"/>
          <p:cNvCxnSpPr/>
          <p:nvPr/>
        </p:nvCxnSpPr>
        <p:spPr>
          <a:xfrm>
            <a:off x="5176675" y="4832575"/>
            <a:ext cx="604800" cy="0"/>
          </a:xfrm>
          <a:prstGeom prst="straightConnector1">
            <a:avLst/>
          </a:prstGeom>
          <a:noFill/>
          <a:ln cap="flat" cmpd="sng" w="9525">
            <a:solidFill>
              <a:srgbClr val="595959"/>
            </a:solidFill>
            <a:prstDash val="solid"/>
            <a:round/>
            <a:headEnd len="med" w="med" type="none"/>
            <a:tailEnd len="med" w="med" type="triangle"/>
          </a:ln>
        </p:spPr>
      </p:cxnSp>
      <p:graphicFrame>
        <p:nvGraphicFramePr>
          <p:cNvPr id="581" name="Google Shape;581;p55"/>
          <p:cNvGraphicFramePr/>
          <p:nvPr/>
        </p:nvGraphicFramePr>
        <p:xfrm>
          <a:off x="59815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vulnerable</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rgbClr val="FF0000"/>
                          </a:solidFill>
                          <a:latin typeface="Courier New"/>
                          <a:ea typeface="Courier New"/>
                          <a:cs typeface="Courier New"/>
                          <a:sym typeface="Courier New"/>
                        </a:rPr>
                        <a:t>\x44</a:t>
                      </a:r>
                      <a:endParaRPr b="1" sz="1000">
                        <a:solidFill>
                          <a:srgbClr val="FF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\xcd</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\xff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\xbf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582" name="Google Shape;582;p55"/>
          <p:cNvSpPr txBox="1"/>
          <p:nvPr/>
        </p:nvSpPr>
        <p:spPr>
          <a:xfrm>
            <a:off x="102700" y="1200500"/>
            <a:ext cx="4394400" cy="1108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The SFP of </a:t>
            </a:r>
            <a:r>
              <a:rPr b="1" lang="en" sz="1200">
                <a:solidFill>
                  <a:schemeClr val="dk1"/>
                </a:solidFill>
                <a:latin typeface="Courier New"/>
                <a:ea typeface="Courier New"/>
                <a:cs typeface="Courier New"/>
                <a:sym typeface="Courier New"/>
              </a:rPr>
              <a:t>vulnerable</a:t>
            </a:r>
            <a:r>
              <a:rPr lang="en" sz="1200">
                <a:solidFill>
                  <a:schemeClr val="dk1"/>
                </a:solidFill>
              </a:rPr>
              <a:t> now points inside </a:t>
            </a:r>
            <a:r>
              <a:rPr b="1" lang="en" sz="1200">
                <a:solidFill>
                  <a:schemeClr val="dk1"/>
                </a:solidFill>
                <a:latin typeface="Courier New"/>
                <a:ea typeface="Courier New"/>
                <a:cs typeface="Courier New"/>
                <a:sym typeface="Courier New"/>
              </a:rPr>
              <a:t>name</a:t>
            </a:r>
            <a:r>
              <a:rPr lang="en" sz="1200">
                <a:solidFill>
                  <a:schemeClr val="dk1"/>
                </a:solidFill>
              </a:rPr>
              <a:t>, which the attacker controls.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What does the SFP usually point to? What will the C program interpret the first bytes of </a:t>
            </a:r>
            <a:r>
              <a:rPr b="1" lang="en" sz="1200">
                <a:solidFill>
                  <a:schemeClr val="dk1"/>
                </a:solidFill>
                <a:latin typeface="Courier New"/>
                <a:ea typeface="Courier New"/>
                <a:cs typeface="Courier New"/>
                <a:sym typeface="Courier New"/>
              </a:rPr>
              <a:t>name</a:t>
            </a:r>
            <a:r>
              <a:rPr lang="en" sz="1200">
                <a:solidFill>
                  <a:schemeClr val="dk1"/>
                </a:solidFill>
              </a:rPr>
              <a:t> as?</a:t>
            </a:r>
            <a:endParaRPr sz="1200">
              <a:solidFill>
                <a:schemeClr val="dk1"/>
              </a:solidFill>
            </a:endParaRPr>
          </a:p>
        </p:txBody>
      </p:sp>
      <p:sp>
        <p:nvSpPr>
          <p:cNvPr id="583" name="Google Shape;583;p55"/>
          <p:cNvSpPr/>
          <p:nvPr/>
        </p:nvSpPr>
        <p:spPr>
          <a:xfrm>
            <a:off x="8435100" y="3393150"/>
            <a:ext cx="485875" cy="1250525"/>
          </a:xfrm>
          <a:custGeom>
            <a:rect b="b" l="l" r="r" t="t"/>
            <a:pathLst>
              <a:path extrusionOk="0" h="50021" w="19435">
                <a:moveTo>
                  <a:pt x="8284" y="0"/>
                </a:moveTo>
                <a:lnTo>
                  <a:pt x="19435" y="0"/>
                </a:lnTo>
                <a:lnTo>
                  <a:pt x="19435" y="50021"/>
                </a:lnTo>
                <a:lnTo>
                  <a:pt x="0" y="50021"/>
                </a:lnTo>
              </a:path>
            </a:pathLst>
          </a:custGeom>
          <a:noFill/>
          <a:ln cap="flat" cmpd="sng" w="9525">
            <a:solidFill>
              <a:schemeClr val="dk2"/>
            </a:solidFill>
            <a:prstDash val="solid"/>
            <a:round/>
            <a:headEnd len="med" w="med" type="none"/>
            <a:tailEnd len="med" w="med" type="triangle"/>
          </a:ln>
        </p:spPr>
      </p:sp>
      <p:sp>
        <p:nvSpPr>
          <p:cNvPr id="584" name="Google Shape;584;p55"/>
          <p:cNvSpPr txBox="1"/>
          <p:nvPr/>
        </p:nvSpPr>
        <p:spPr>
          <a:xfrm>
            <a:off x="197418" y="3206000"/>
            <a:ext cx="2265000" cy="1569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name[20];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fread(name,21,1,stdin);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int main(void)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return 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graphicFrame>
        <p:nvGraphicFramePr>
          <p:cNvPr id="589" name="Google Shape;589;p56"/>
          <p:cNvGraphicFramePr/>
          <p:nvPr/>
        </p:nvGraphicFramePr>
        <p:xfrm>
          <a:off x="7212679" y="2518285"/>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590" name="Google Shape;590;p56"/>
          <p:cNvSpPr txBox="1"/>
          <p:nvPr/>
        </p:nvSpPr>
        <p:spPr>
          <a:xfrm rot="-5400000">
            <a:off x="7753350" y="39247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9E9E9E"/>
                </a:solidFill>
                <a:latin typeface="Courier New"/>
                <a:ea typeface="Courier New"/>
                <a:cs typeface="Courier New"/>
                <a:sym typeface="Courier New"/>
              </a:rPr>
              <a:t>name</a:t>
            </a:r>
            <a:endParaRPr b="1" sz="1200">
              <a:solidFill>
                <a:srgbClr val="9E9E9E"/>
              </a:solidFill>
              <a:latin typeface="Courier New"/>
              <a:ea typeface="Courier New"/>
              <a:cs typeface="Courier New"/>
              <a:sym typeface="Courier New"/>
            </a:endParaRPr>
          </a:p>
        </p:txBody>
      </p:sp>
      <p:cxnSp>
        <p:nvCxnSpPr>
          <p:cNvPr id="591" name="Google Shape;591;p56"/>
          <p:cNvCxnSpPr/>
          <p:nvPr/>
        </p:nvCxnSpPr>
        <p:spPr>
          <a:xfrm>
            <a:off x="8367750" y="35104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592" name="Google Shape;592;p56"/>
          <p:cNvCxnSpPr/>
          <p:nvPr/>
        </p:nvCxnSpPr>
        <p:spPr>
          <a:xfrm>
            <a:off x="8367750" y="4398425"/>
            <a:ext cx="0" cy="340800"/>
          </a:xfrm>
          <a:prstGeom prst="straightConnector1">
            <a:avLst/>
          </a:prstGeom>
          <a:noFill/>
          <a:ln cap="flat" cmpd="sng" w="9525">
            <a:solidFill>
              <a:schemeClr val="dk2"/>
            </a:solidFill>
            <a:prstDash val="solid"/>
            <a:round/>
            <a:headEnd len="med" w="med" type="none"/>
            <a:tailEnd len="med" w="med" type="none"/>
          </a:ln>
        </p:spPr>
      </p:cxnSp>
      <p:graphicFrame>
        <p:nvGraphicFramePr>
          <p:cNvPr id="593" name="Google Shape;593;p56"/>
          <p:cNvGraphicFramePr/>
          <p:nvPr/>
        </p:nvGraphicFramePr>
        <p:xfrm>
          <a:off x="4837550" y="2510624"/>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594" name="Google Shape;594;p5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Off-by-one</a:t>
            </a:r>
            <a:endParaRPr/>
          </a:p>
        </p:txBody>
      </p:sp>
      <p:sp>
        <p:nvSpPr>
          <p:cNvPr id="595" name="Google Shape;595;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96" name="Google Shape;596;p56"/>
          <p:cNvSpPr txBox="1"/>
          <p:nvPr/>
        </p:nvSpPr>
        <p:spPr>
          <a:xfrm>
            <a:off x="2807925" y="2445675"/>
            <a:ext cx="1821000" cy="233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gets</a:t>
            </a:r>
            <a:br>
              <a:rPr b="1" lang="en" sz="1000">
                <a:solidFill>
                  <a:schemeClr val="dk1"/>
                </a:solidFill>
                <a:latin typeface="Courier New"/>
                <a:ea typeface="Courier New"/>
                <a:cs typeface="Courier New"/>
                <a:sym typeface="Courier New"/>
              </a:rPr>
            </a:br>
            <a:r>
              <a:rPr b="1" lang="en" sz="1000">
                <a:solidFill>
                  <a:schemeClr val="dk1"/>
                </a:solidFill>
                <a:latin typeface="Courier New"/>
                <a:ea typeface="Courier New"/>
                <a:cs typeface="Courier New"/>
                <a:sym typeface="Courier New"/>
              </a:rPr>
              <a:t>    add $4,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main: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p:txBody>
      </p:sp>
      <p:sp>
        <p:nvSpPr>
          <p:cNvPr id="597" name="Google Shape;597;p56"/>
          <p:cNvSpPr txBox="1"/>
          <p:nvPr/>
        </p:nvSpPr>
        <p:spPr>
          <a:xfrm>
            <a:off x="2429959" y="2822300"/>
            <a:ext cx="315000" cy="2463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solidFill>
                  <a:schemeClr val="dk1"/>
                </a:solidFill>
              </a:rPr>
              <a:t>EIP</a:t>
            </a:r>
            <a:endParaRPr b="1" sz="1000">
              <a:solidFill>
                <a:schemeClr val="dk1"/>
              </a:solidFill>
            </a:endParaRPr>
          </a:p>
        </p:txBody>
      </p:sp>
      <p:cxnSp>
        <p:nvCxnSpPr>
          <p:cNvPr id="598" name="Google Shape;598;p56"/>
          <p:cNvCxnSpPr>
            <a:stCxn id="597" idx="3"/>
          </p:cNvCxnSpPr>
          <p:nvPr/>
        </p:nvCxnSpPr>
        <p:spPr>
          <a:xfrm>
            <a:off x="2744959" y="2945450"/>
            <a:ext cx="329100" cy="0"/>
          </a:xfrm>
          <a:prstGeom prst="straightConnector1">
            <a:avLst/>
          </a:prstGeom>
          <a:noFill/>
          <a:ln cap="flat" cmpd="sng" w="9525">
            <a:solidFill>
              <a:srgbClr val="595959"/>
            </a:solidFill>
            <a:prstDash val="solid"/>
            <a:round/>
            <a:headEnd len="med" w="med" type="none"/>
            <a:tailEnd len="med" w="med" type="triangle"/>
          </a:ln>
        </p:spPr>
      </p:cxnSp>
      <p:sp>
        <p:nvSpPr>
          <p:cNvPr id="599" name="Google Shape;599;p56"/>
          <p:cNvSpPr txBox="1"/>
          <p:nvPr/>
        </p:nvSpPr>
        <p:spPr>
          <a:xfrm>
            <a:off x="4695775" y="3206008"/>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EBP</a:t>
            </a:r>
            <a:endParaRPr b="1" sz="1000">
              <a:solidFill>
                <a:schemeClr val="dk1"/>
              </a:solidFill>
            </a:endParaRPr>
          </a:p>
        </p:txBody>
      </p:sp>
      <p:cxnSp>
        <p:nvCxnSpPr>
          <p:cNvPr id="600" name="Google Shape;600;p56"/>
          <p:cNvCxnSpPr/>
          <p:nvPr/>
        </p:nvCxnSpPr>
        <p:spPr>
          <a:xfrm>
            <a:off x="5176675" y="3375350"/>
            <a:ext cx="604800" cy="0"/>
          </a:xfrm>
          <a:prstGeom prst="straightConnector1">
            <a:avLst/>
          </a:prstGeom>
          <a:noFill/>
          <a:ln cap="flat" cmpd="sng" w="9525">
            <a:solidFill>
              <a:srgbClr val="595959"/>
            </a:solidFill>
            <a:prstDash val="solid"/>
            <a:round/>
            <a:headEnd len="med" w="med" type="none"/>
            <a:tailEnd len="med" w="med" type="triangle"/>
          </a:ln>
        </p:spPr>
      </p:cxnSp>
      <p:sp>
        <p:nvSpPr>
          <p:cNvPr id="601" name="Google Shape;601;p56"/>
          <p:cNvSpPr txBox="1"/>
          <p:nvPr/>
        </p:nvSpPr>
        <p:spPr>
          <a:xfrm>
            <a:off x="4695775" y="4663225"/>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ESP</a:t>
            </a:r>
            <a:endParaRPr b="1" sz="1000">
              <a:solidFill>
                <a:schemeClr val="dk1"/>
              </a:solidFill>
            </a:endParaRPr>
          </a:p>
        </p:txBody>
      </p:sp>
      <p:cxnSp>
        <p:nvCxnSpPr>
          <p:cNvPr id="602" name="Google Shape;602;p56"/>
          <p:cNvCxnSpPr/>
          <p:nvPr/>
        </p:nvCxnSpPr>
        <p:spPr>
          <a:xfrm>
            <a:off x="5176675" y="4832575"/>
            <a:ext cx="604800" cy="0"/>
          </a:xfrm>
          <a:prstGeom prst="straightConnector1">
            <a:avLst/>
          </a:prstGeom>
          <a:noFill/>
          <a:ln cap="flat" cmpd="sng" w="9525">
            <a:solidFill>
              <a:srgbClr val="595959"/>
            </a:solidFill>
            <a:prstDash val="solid"/>
            <a:round/>
            <a:headEnd len="med" w="med" type="none"/>
            <a:tailEnd len="med" w="med" type="triangle"/>
          </a:ln>
        </p:spPr>
      </p:cxnSp>
      <p:graphicFrame>
        <p:nvGraphicFramePr>
          <p:cNvPr id="603" name="Google Shape;603;p56"/>
          <p:cNvGraphicFramePr/>
          <p:nvPr/>
        </p:nvGraphicFramePr>
        <p:xfrm>
          <a:off x="59815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vulnerable</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rgbClr val="FF0000"/>
                          </a:solidFill>
                          <a:latin typeface="Courier New"/>
                          <a:ea typeface="Courier New"/>
                          <a:cs typeface="Courier New"/>
                          <a:sym typeface="Courier New"/>
                        </a:rPr>
                        <a:t>\x44</a:t>
                      </a:r>
                      <a:endParaRPr b="1" sz="1000">
                        <a:solidFill>
                          <a:srgbClr val="FF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\xcd</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\xff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\xbf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 </a:t>
                      </a:r>
                      <a:r>
                        <a:rPr b="1" lang="en" sz="1000">
                          <a:solidFill>
                            <a:srgbClr val="FF0000"/>
                          </a:solidFill>
                          <a:latin typeface="Courier New"/>
                          <a:ea typeface="Courier New"/>
                          <a:cs typeface="Courier New"/>
                          <a:sym typeface="Courier New"/>
                        </a:rPr>
                        <a:t>[Fake RIP of main]</a:t>
                      </a:r>
                      <a:endParaRPr b="1" sz="1000">
                        <a:solidFill>
                          <a:srgbClr val="FF0000"/>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name </a:t>
                      </a:r>
                      <a:r>
                        <a:rPr b="1" lang="en" sz="1000">
                          <a:solidFill>
                            <a:srgbClr val="FF0000"/>
                          </a:solidFill>
                          <a:latin typeface="Courier New"/>
                          <a:ea typeface="Courier New"/>
                          <a:cs typeface="Courier New"/>
                          <a:sym typeface="Courier New"/>
                        </a:rPr>
                        <a:t>[Fake SFP of main]</a:t>
                      </a:r>
                      <a:endParaRPr b="1" sz="1000">
                        <a:solidFill>
                          <a:srgbClr val="FF0000"/>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604" name="Google Shape;604;p56"/>
          <p:cNvSpPr txBox="1"/>
          <p:nvPr/>
        </p:nvSpPr>
        <p:spPr>
          <a:xfrm>
            <a:off x="102700" y="1200500"/>
            <a:ext cx="4394400" cy="1108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The C program now thinks that the SFP of </a:t>
            </a:r>
            <a:r>
              <a:rPr b="1" lang="en" sz="1200">
                <a:solidFill>
                  <a:schemeClr val="dk1"/>
                </a:solidFill>
                <a:latin typeface="Courier New"/>
                <a:ea typeface="Courier New"/>
                <a:cs typeface="Courier New"/>
                <a:sym typeface="Courier New"/>
              </a:rPr>
              <a:t>main</a:t>
            </a:r>
            <a:r>
              <a:rPr lang="en" sz="1200">
                <a:solidFill>
                  <a:schemeClr val="dk1"/>
                </a:solidFill>
              </a:rPr>
              <a:t> and the RIP of </a:t>
            </a:r>
            <a:r>
              <a:rPr b="1" lang="en" sz="1200">
                <a:solidFill>
                  <a:schemeClr val="dk1"/>
                </a:solidFill>
                <a:latin typeface="Courier New"/>
                <a:ea typeface="Courier New"/>
                <a:cs typeface="Courier New"/>
                <a:sym typeface="Courier New"/>
              </a:rPr>
              <a:t>main</a:t>
            </a:r>
            <a:r>
              <a:rPr lang="en" sz="1200">
                <a:solidFill>
                  <a:schemeClr val="dk1"/>
                </a:solidFill>
              </a:rPr>
              <a:t> are inside </a:t>
            </a:r>
            <a:r>
              <a:rPr b="1" lang="en" sz="1200">
                <a:solidFill>
                  <a:schemeClr val="dk1"/>
                </a:solidFill>
                <a:latin typeface="Courier New"/>
                <a:ea typeface="Courier New"/>
                <a:cs typeface="Courier New"/>
                <a:sym typeface="Courier New"/>
              </a:rPr>
              <a:t>name</a:t>
            </a:r>
            <a:r>
              <a:rPr lang="en" sz="1200">
                <a:solidFill>
                  <a:schemeClr val="dk1"/>
                </a:solidFill>
              </a:rPr>
              <a: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The attacker controls these values, so the attacker can now overwrite where the program thinks the RIP of </a:t>
            </a:r>
            <a:r>
              <a:rPr b="1" lang="en" sz="1200">
                <a:solidFill>
                  <a:schemeClr val="dk1"/>
                </a:solidFill>
                <a:latin typeface="Courier New"/>
                <a:ea typeface="Courier New"/>
                <a:cs typeface="Courier New"/>
                <a:sym typeface="Courier New"/>
              </a:rPr>
              <a:t>main</a:t>
            </a:r>
            <a:r>
              <a:rPr lang="en" sz="1200">
                <a:solidFill>
                  <a:schemeClr val="dk1"/>
                </a:solidFill>
              </a:rPr>
              <a:t> is.</a:t>
            </a:r>
            <a:endParaRPr sz="1200">
              <a:solidFill>
                <a:schemeClr val="dk1"/>
              </a:solidFill>
            </a:endParaRPr>
          </a:p>
        </p:txBody>
      </p:sp>
      <p:sp>
        <p:nvSpPr>
          <p:cNvPr id="605" name="Google Shape;605;p56"/>
          <p:cNvSpPr/>
          <p:nvPr/>
        </p:nvSpPr>
        <p:spPr>
          <a:xfrm>
            <a:off x="8435100" y="3393150"/>
            <a:ext cx="485875" cy="1250525"/>
          </a:xfrm>
          <a:custGeom>
            <a:rect b="b" l="l" r="r" t="t"/>
            <a:pathLst>
              <a:path extrusionOk="0" h="50021" w="19435">
                <a:moveTo>
                  <a:pt x="8284" y="0"/>
                </a:moveTo>
                <a:lnTo>
                  <a:pt x="19435" y="0"/>
                </a:lnTo>
                <a:lnTo>
                  <a:pt x="19435" y="50021"/>
                </a:lnTo>
                <a:lnTo>
                  <a:pt x="0" y="50021"/>
                </a:lnTo>
              </a:path>
            </a:pathLst>
          </a:custGeom>
          <a:noFill/>
          <a:ln cap="flat" cmpd="sng" w="9525">
            <a:solidFill>
              <a:schemeClr val="dk2"/>
            </a:solidFill>
            <a:prstDash val="solid"/>
            <a:round/>
            <a:headEnd len="med" w="med" type="none"/>
            <a:tailEnd len="med" w="med" type="triangle"/>
          </a:ln>
        </p:spPr>
      </p:sp>
      <p:sp>
        <p:nvSpPr>
          <p:cNvPr id="606" name="Google Shape;606;p56"/>
          <p:cNvSpPr txBox="1"/>
          <p:nvPr/>
        </p:nvSpPr>
        <p:spPr>
          <a:xfrm>
            <a:off x="197418" y="3206000"/>
            <a:ext cx="2265000" cy="1569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name[20];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fread(name,21,1,stdin);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int main(void)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return 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graphicFrame>
        <p:nvGraphicFramePr>
          <p:cNvPr id="611" name="Google Shape;611;p57"/>
          <p:cNvGraphicFramePr/>
          <p:nvPr/>
        </p:nvGraphicFramePr>
        <p:xfrm>
          <a:off x="7212679" y="2518285"/>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612" name="Google Shape;612;p57"/>
          <p:cNvSpPr txBox="1"/>
          <p:nvPr/>
        </p:nvSpPr>
        <p:spPr>
          <a:xfrm rot="-5400000">
            <a:off x="7753350" y="39247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9E9E9E"/>
                </a:solidFill>
                <a:latin typeface="Courier New"/>
                <a:ea typeface="Courier New"/>
                <a:cs typeface="Courier New"/>
                <a:sym typeface="Courier New"/>
              </a:rPr>
              <a:t>name</a:t>
            </a:r>
            <a:endParaRPr b="1" sz="1200">
              <a:solidFill>
                <a:srgbClr val="9E9E9E"/>
              </a:solidFill>
              <a:latin typeface="Courier New"/>
              <a:ea typeface="Courier New"/>
              <a:cs typeface="Courier New"/>
              <a:sym typeface="Courier New"/>
            </a:endParaRPr>
          </a:p>
        </p:txBody>
      </p:sp>
      <p:cxnSp>
        <p:nvCxnSpPr>
          <p:cNvPr id="613" name="Google Shape;613;p57"/>
          <p:cNvCxnSpPr/>
          <p:nvPr/>
        </p:nvCxnSpPr>
        <p:spPr>
          <a:xfrm>
            <a:off x="8367750" y="35104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614" name="Google Shape;614;p57"/>
          <p:cNvCxnSpPr/>
          <p:nvPr/>
        </p:nvCxnSpPr>
        <p:spPr>
          <a:xfrm>
            <a:off x="8367750" y="4398425"/>
            <a:ext cx="0" cy="340800"/>
          </a:xfrm>
          <a:prstGeom prst="straightConnector1">
            <a:avLst/>
          </a:prstGeom>
          <a:noFill/>
          <a:ln cap="flat" cmpd="sng" w="9525">
            <a:solidFill>
              <a:schemeClr val="dk2"/>
            </a:solidFill>
            <a:prstDash val="solid"/>
            <a:round/>
            <a:headEnd len="med" w="med" type="none"/>
            <a:tailEnd len="med" w="med" type="none"/>
          </a:ln>
        </p:spPr>
      </p:cxnSp>
      <p:graphicFrame>
        <p:nvGraphicFramePr>
          <p:cNvPr id="615" name="Google Shape;615;p57"/>
          <p:cNvGraphicFramePr/>
          <p:nvPr/>
        </p:nvGraphicFramePr>
        <p:xfrm>
          <a:off x="4837550" y="2510624"/>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616" name="Google Shape;616;p5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Off-by-one</a:t>
            </a:r>
            <a:endParaRPr/>
          </a:p>
        </p:txBody>
      </p:sp>
      <p:sp>
        <p:nvSpPr>
          <p:cNvPr id="617" name="Google Shape;617;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18" name="Google Shape;618;p57"/>
          <p:cNvSpPr txBox="1"/>
          <p:nvPr/>
        </p:nvSpPr>
        <p:spPr>
          <a:xfrm>
            <a:off x="2807925" y="2445675"/>
            <a:ext cx="1821000" cy="233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rgbClr val="FF0000"/>
                </a:solidFill>
                <a:latin typeface="Courier New"/>
                <a:ea typeface="Courier New"/>
                <a:cs typeface="Courier New"/>
                <a:sym typeface="Courier New"/>
              </a:rPr>
              <a:t>call fread</a:t>
            </a:r>
            <a:br>
              <a:rPr b="1" lang="en" sz="1000">
                <a:solidFill>
                  <a:schemeClr val="dk1"/>
                </a:solidFill>
                <a:latin typeface="Courier New"/>
                <a:ea typeface="Courier New"/>
                <a:cs typeface="Courier New"/>
                <a:sym typeface="Courier New"/>
              </a:rPr>
            </a:br>
            <a:r>
              <a:rPr b="1" lang="en" sz="1000">
                <a:solidFill>
                  <a:schemeClr val="dk1"/>
                </a:solidFill>
                <a:latin typeface="Courier New"/>
                <a:ea typeface="Courier New"/>
                <a:cs typeface="Courier New"/>
                <a:sym typeface="Courier New"/>
              </a:rPr>
              <a:t>    add $16,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main: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p:txBody>
      </p:sp>
      <p:sp>
        <p:nvSpPr>
          <p:cNvPr id="619" name="Google Shape;619;p57"/>
          <p:cNvSpPr txBox="1"/>
          <p:nvPr/>
        </p:nvSpPr>
        <p:spPr>
          <a:xfrm>
            <a:off x="4695775" y="3206008"/>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EBP</a:t>
            </a:r>
            <a:endParaRPr b="1" sz="1000">
              <a:solidFill>
                <a:schemeClr val="dk1"/>
              </a:solidFill>
            </a:endParaRPr>
          </a:p>
        </p:txBody>
      </p:sp>
      <p:cxnSp>
        <p:nvCxnSpPr>
          <p:cNvPr id="620" name="Google Shape;620;p57"/>
          <p:cNvCxnSpPr/>
          <p:nvPr/>
        </p:nvCxnSpPr>
        <p:spPr>
          <a:xfrm>
            <a:off x="5176675" y="3375350"/>
            <a:ext cx="604800" cy="0"/>
          </a:xfrm>
          <a:prstGeom prst="straightConnector1">
            <a:avLst/>
          </a:prstGeom>
          <a:noFill/>
          <a:ln cap="flat" cmpd="sng" w="9525">
            <a:solidFill>
              <a:srgbClr val="595959"/>
            </a:solidFill>
            <a:prstDash val="solid"/>
            <a:round/>
            <a:headEnd len="med" w="med" type="none"/>
            <a:tailEnd len="med" w="med" type="triangle"/>
          </a:ln>
        </p:spPr>
      </p:cxnSp>
      <p:sp>
        <p:nvSpPr>
          <p:cNvPr id="621" name="Google Shape;621;p57"/>
          <p:cNvSpPr txBox="1"/>
          <p:nvPr/>
        </p:nvSpPr>
        <p:spPr>
          <a:xfrm>
            <a:off x="4695775" y="4663225"/>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ESP</a:t>
            </a:r>
            <a:endParaRPr b="1" sz="1000">
              <a:solidFill>
                <a:schemeClr val="dk1"/>
              </a:solidFill>
            </a:endParaRPr>
          </a:p>
        </p:txBody>
      </p:sp>
      <p:cxnSp>
        <p:nvCxnSpPr>
          <p:cNvPr id="622" name="Google Shape;622;p57"/>
          <p:cNvCxnSpPr/>
          <p:nvPr/>
        </p:nvCxnSpPr>
        <p:spPr>
          <a:xfrm>
            <a:off x="5176675" y="4832575"/>
            <a:ext cx="604800" cy="0"/>
          </a:xfrm>
          <a:prstGeom prst="straightConnector1">
            <a:avLst/>
          </a:prstGeom>
          <a:noFill/>
          <a:ln cap="flat" cmpd="sng" w="9525">
            <a:solidFill>
              <a:srgbClr val="595959"/>
            </a:solidFill>
            <a:prstDash val="solid"/>
            <a:round/>
            <a:headEnd len="med" w="med" type="none"/>
            <a:tailEnd len="med" w="med" type="triangle"/>
          </a:ln>
        </p:spPr>
      </p:cxnSp>
      <p:graphicFrame>
        <p:nvGraphicFramePr>
          <p:cNvPr id="623" name="Google Shape;623;p57"/>
          <p:cNvGraphicFramePr/>
          <p:nvPr/>
        </p:nvGraphicFramePr>
        <p:xfrm>
          <a:off x="59815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vulnerable</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rgbClr val="FF0000"/>
                          </a:solidFill>
                          <a:latin typeface="Courier New"/>
                          <a:ea typeface="Courier New"/>
                          <a:cs typeface="Courier New"/>
                          <a:sym typeface="Courier New"/>
                        </a:rPr>
                        <a:t>\x44</a:t>
                      </a:r>
                      <a:endParaRPr b="1" sz="1000">
                        <a:solidFill>
                          <a:srgbClr val="FF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\xcd</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\xff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\xbf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gridSpan="4">
                  <a:txBody>
                    <a:bodyPr/>
                    <a:lstStyle/>
                    <a:p>
                      <a:pPr indent="0" lvl="0" marL="0" rtl="0" algn="ctr">
                        <a:spcBef>
                          <a:spcPts val="0"/>
                        </a:spcBef>
                        <a:spcAft>
                          <a:spcPts val="0"/>
                        </a:spcAft>
                        <a:buClr>
                          <a:schemeClr val="dk1"/>
                        </a:buClr>
                        <a:buSzPts val="1100"/>
                        <a:buFont typeface="Arial"/>
                        <a:buNone/>
                      </a:pPr>
                      <a:r>
                        <a:rPr b="1" lang="en" sz="1000">
                          <a:solidFill>
                            <a:srgbClr val="FF0000"/>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FFE599"/>
                    </a:solidFill>
                  </a:tcPr>
                </a:tc>
                <a:tc hMerge="1"/>
                <a:tc hMerge="1"/>
                <a:tc hMerge="1"/>
              </a:tr>
              <a:tr h="152550">
                <a:tc gridSpan="4">
                  <a:txBody>
                    <a:bodyPr/>
                    <a:lstStyle/>
                    <a:p>
                      <a:pPr indent="0" lvl="0" marL="0" rtl="0" algn="ctr">
                        <a:spcBef>
                          <a:spcPts val="0"/>
                        </a:spcBef>
                        <a:spcAft>
                          <a:spcPts val="0"/>
                        </a:spcAft>
                        <a:buClr>
                          <a:schemeClr val="dk1"/>
                        </a:buClr>
                        <a:buSzPts val="1100"/>
                        <a:buFont typeface="Arial"/>
                        <a:buNone/>
                      </a:pPr>
                      <a:r>
                        <a:rPr b="1" lang="en" sz="1000">
                          <a:solidFill>
                            <a:srgbClr val="FF0000"/>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rgbClr val="FF0000"/>
                          </a:solidFill>
                          <a:latin typeface="Courier New"/>
                          <a:ea typeface="Courier New"/>
                          <a:cs typeface="Courier New"/>
                          <a:sym typeface="Courier New"/>
                        </a:rPr>
                        <a:t>AAAA</a:t>
                      </a:r>
                      <a:endParaRPr b="1" sz="1000">
                        <a:solidFill>
                          <a:srgbClr val="FF0000"/>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rgbClr val="FF0000"/>
                          </a:solidFill>
                          <a:latin typeface="Courier New"/>
                          <a:ea typeface="Courier New"/>
                          <a:cs typeface="Courier New"/>
                          <a:sym typeface="Courier New"/>
                        </a:rPr>
                        <a:t>0xdeadbeef [Fake RIP m]</a:t>
                      </a:r>
                      <a:endParaRPr b="1" sz="1000">
                        <a:solidFill>
                          <a:srgbClr val="FF0000"/>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rgbClr val="FF0000"/>
                          </a:solidFill>
                          <a:latin typeface="Courier New"/>
                          <a:ea typeface="Courier New"/>
                          <a:cs typeface="Courier New"/>
                          <a:sym typeface="Courier New"/>
                        </a:rPr>
                        <a:t>AAAA</a:t>
                      </a:r>
                      <a:r>
                        <a:rPr b="1" lang="en" sz="1000">
                          <a:solidFill>
                            <a:schemeClr val="dk1"/>
                          </a:solidFill>
                          <a:latin typeface="Courier New"/>
                          <a:ea typeface="Courier New"/>
                          <a:cs typeface="Courier New"/>
                          <a:sym typeface="Courier New"/>
                        </a:rPr>
                        <a:t> </a:t>
                      </a:r>
                      <a:r>
                        <a:rPr b="1" lang="en" sz="1000">
                          <a:solidFill>
                            <a:srgbClr val="FF0000"/>
                          </a:solidFill>
                          <a:latin typeface="Courier New"/>
                          <a:ea typeface="Courier New"/>
                          <a:cs typeface="Courier New"/>
                          <a:sym typeface="Courier New"/>
                        </a:rPr>
                        <a:t>[Fake SFP m]</a:t>
                      </a:r>
                      <a:endParaRPr b="1" sz="1000">
                        <a:solidFill>
                          <a:srgbClr val="FF0000"/>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624" name="Google Shape;624;p57"/>
          <p:cNvSpPr txBox="1"/>
          <p:nvPr/>
        </p:nvSpPr>
        <p:spPr>
          <a:xfrm>
            <a:off x="102700" y="1200500"/>
            <a:ext cx="4394400" cy="5541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Let’s see what happens when the </a:t>
            </a:r>
            <a:r>
              <a:rPr b="1" lang="en" sz="1200">
                <a:solidFill>
                  <a:schemeClr val="dk1"/>
                </a:solidFill>
                <a:latin typeface="Courier New"/>
                <a:ea typeface="Courier New"/>
                <a:cs typeface="Courier New"/>
                <a:sym typeface="Courier New"/>
              </a:rPr>
              <a:t>vulnerable</a:t>
            </a:r>
            <a:r>
              <a:rPr lang="en" sz="1200">
                <a:solidFill>
                  <a:schemeClr val="dk1"/>
                </a:solidFill>
              </a:rPr>
              <a:t> function returns.</a:t>
            </a:r>
            <a:endParaRPr sz="1200">
              <a:solidFill>
                <a:schemeClr val="dk1"/>
              </a:solidFill>
            </a:endParaRPr>
          </a:p>
        </p:txBody>
      </p:sp>
      <p:sp>
        <p:nvSpPr>
          <p:cNvPr id="625" name="Google Shape;625;p57"/>
          <p:cNvSpPr/>
          <p:nvPr/>
        </p:nvSpPr>
        <p:spPr>
          <a:xfrm>
            <a:off x="8435100" y="3393150"/>
            <a:ext cx="485875" cy="1250525"/>
          </a:xfrm>
          <a:custGeom>
            <a:rect b="b" l="l" r="r" t="t"/>
            <a:pathLst>
              <a:path extrusionOk="0" h="50021" w="19435">
                <a:moveTo>
                  <a:pt x="8284" y="0"/>
                </a:moveTo>
                <a:lnTo>
                  <a:pt x="19435" y="0"/>
                </a:lnTo>
                <a:lnTo>
                  <a:pt x="19435" y="50021"/>
                </a:lnTo>
                <a:lnTo>
                  <a:pt x="0" y="50021"/>
                </a:lnTo>
              </a:path>
            </a:pathLst>
          </a:custGeom>
          <a:noFill/>
          <a:ln cap="flat" cmpd="sng" w="9525">
            <a:solidFill>
              <a:schemeClr val="dk2"/>
            </a:solidFill>
            <a:prstDash val="solid"/>
            <a:round/>
            <a:headEnd len="med" w="med" type="none"/>
            <a:tailEnd len="med" w="med" type="triangle"/>
          </a:ln>
        </p:spPr>
      </p:sp>
      <p:sp>
        <p:nvSpPr>
          <p:cNvPr id="626" name="Google Shape;626;p57"/>
          <p:cNvSpPr txBox="1"/>
          <p:nvPr/>
        </p:nvSpPr>
        <p:spPr>
          <a:xfrm>
            <a:off x="2429959" y="2958770"/>
            <a:ext cx="315000" cy="2463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solidFill>
                  <a:schemeClr val="dk1"/>
                </a:solidFill>
              </a:rPr>
              <a:t>EIP</a:t>
            </a:r>
            <a:endParaRPr b="1" sz="1000">
              <a:solidFill>
                <a:schemeClr val="dk1"/>
              </a:solidFill>
            </a:endParaRPr>
          </a:p>
        </p:txBody>
      </p:sp>
      <p:cxnSp>
        <p:nvCxnSpPr>
          <p:cNvPr id="627" name="Google Shape;627;p57"/>
          <p:cNvCxnSpPr>
            <a:stCxn id="626" idx="3"/>
          </p:cNvCxnSpPr>
          <p:nvPr/>
        </p:nvCxnSpPr>
        <p:spPr>
          <a:xfrm>
            <a:off x="2744959" y="3081920"/>
            <a:ext cx="329100" cy="0"/>
          </a:xfrm>
          <a:prstGeom prst="straightConnector1">
            <a:avLst/>
          </a:prstGeom>
          <a:noFill/>
          <a:ln cap="flat" cmpd="sng" w="9525">
            <a:solidFill>
              <a:srgbClr val="595959"/>
            </a:solidFill>
            <a:prstDash val="solid"/>
            <a:round/>
            <a:headEnd len="med" w="med" type="none"/>
            <a:tailEnd len="med" w="med" type="triangle"/>
          </a:ln>
        </p:spPr>
      </p:cxnSp>
      <p:sp>
        <p:nvSpPr>
          <p:cNvPr id="628" name="Google Shape;628;p57"/>
          <p:cNvSpPr txBox="1"/>
          <p:nvPr/>
        </p:nvSpPr>
        <p:spPr>
          <a:xfrm>
            <a:off x="197418" y="3206000"/>
            <a:ext cx="2265000" cy="1569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name[20];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fread(name,21,1,stdin);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int main(void)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return 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graphicFrame>
        <p:nvGraphicFramePr>
          <p:cNvPr id="633" name="Google Shape;633;p58"/>
          <p:cNvGraphicFramePr/>
          <p:nvPr/>
        </p:nvGraphicFramePr>
        <p:xfrm>
          <a:off x="7212679" y="2518285"/>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634" name="Google Shape;634;p58"/>
          <p:cNvSpPr txBox="1"/>
          <p:nvPr/>
        </p:nvSpPr>
        <p:spPr>
          <a:xfrm rot="-5400000">
            <a:off x="7753350" y="39247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9E9E9E"/>
                </a:solidFill>
                <a:latin typeface="Courier New"/>
                <a:ea typeface="Courier New"/>
                <a:cs typeface="Courier New"/>
                <a:sym typeface="Courier New"/>
              </a:rPr>
              <a:t>name</a:t>
            </a:r>
            <a:endParaRPr b="1" sz="1200">
              <a:solidFill>
                <a:srgbClr val="9E9E9E"/>
              </a:solidFill>
              <a:latin typeface="Courier New"/>
              <a:ea typeface="Courier New"/>
              <a:cs typeface="Courier New"/>
              <a:sym typeface="Courier New"/>
            </a:endParaRPr>
          </a:p>
        </p:txBody>
      </p:sp>
      <p:cxnSp>
        <p:nvCxnSpPr>
          <p:cNvPr id="635" name="Google Shape;635;p58"/>
          <p:cNvCxnSpPr/>
          <p:nvPr/>
        </p:nvCxnSpPr>
        <p:spPr>
          <a:xfrm>
            <a:off x="8367750" y="35104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636" name="Google Shape;636;p58"/>
          <p:cNvCxnSpPr/>
          <p:nvPr/>
        </p:nvCxnSpPr>
        <p:spPr>
          <a:xfrm>
            <a:off x="8367750" y="4398425"/>
            <a:ext cx="0" cy="340800"/>
          </a:xfrm>
          <a:prstGeom prst="straightConnector1">
            <a:avLst/>
          </a:prstGeom>
          <a:noFill/>
          <a:ln cap="flat" cmpd="sng" w="9525">
            <a:solidFill>
              <a:schemeClr val="dk2"/>
            </a:solidFill>
            <a:prstDash val="solid"/>
            <a:round/>
            <a:headEnd len="med" w="med" type="none"/>
            <a:tailEnd len="med" w="med" type="none"/>
          </a:ln>
        </p:spPr>
      </p:cxnSp>
      <p:graphicFrame>
        <p:nvGraphicFramePr>
          <p:cNvPr id="637" name="Google Shape;637;p58"/>
          <p:cNvGraphicFramePr/>
          <p:nvPr/>
        </p:nvGraphicFramePr>
        <p:xfrm>
          <a:off x="4837550" y="2510624"/>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638" name="Google Shape;638;p5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Off-by-one</a:t>
            </a:r>
            <a:endParaRPr/>
          </a:p>
        </p:txBody>
      </p:sp>
      <p:sp>
        <p:nvSpPr>
          <p:cNvPr id="639" name="Google Shape;639;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40" name="Google Shape;640;p58"/>
          <p:cNvSpPr txBox="1"/>
          <p:nvPr/>
        </p:nvSpPr>
        <p:spPr>
          <a:xfrm>
            <a:off x="2807925" y="2445675"/>
            <a:ext cx="1821000" cy="233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call fread</a:t>
            </a:r>
            <a:br>
              <a:rPr b="1" lang="en" sz="1000">
                <a:solidFill>
                  <a:schemeClr val="dk1"/>
                </a:solidFill>
                <a:latin typeface="Courier New"/>
                <a:ea typeface="Courier New"/>
                <a:cs typeface="Courier New"/>
                <a:sym typeface="Courier New"/>
              </a:rPr>
            </a:br>
            <a:r>
              <a:rPr b="1" lang="en" sz="1000">
                <a:solidFill>
                  <a:schemeClr val="dk1"/>
                </a:solidFill>
                <a:latin typeface="Courier New"/>
                <a:ea typeface="Courier New"/>
                <a:cs typeface="Courier New"/>
                <a:sym typeface="Courier New"/>
              </a:rPr>
              <a:t>    </a:t>
            </a:r>
            <a:r>
              <a:rPr b="1" lang="en" sz="1000">
                <a:solidFill>
                  <a:srgbClr val="FF0000"/>
                </a:solidFill>
                <a:latin typeface="Courier New"/>
                <a:ea typeface="Courier New"/>
                <a:cs typeface="Courier New"/>
                <a:sym typeface="Courier New"/>
              </a:rPr>
              <a:t>add $16, %esp</a:t>
            </a:r>
            <a:endParaRPr b="1" sz="1000">
              <a:solidFill>
                <a:srgbClr val="FF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main: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call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p:txBody>
      </p:sp>
      <p:sp>
        <p:nvSpPr>
          <p:cNvPr id="641" name="Google Shape;641;p58"/>
          <p:cNvSpPr txBox="1"/>
          <p:nvPr/>
        </p:nvSpPr>
        <p:spPr>
          <a:xfrm>
            <a:off x="2493680" y="3111170"/>
            <a:ext cx="315000" cy="2463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solidFill>
                  <a:schemeClr val="dk1"/>
                </a:solidFill>
              </a:rPr>
              <a:t>EIP</a:t>
            </a:r>
            <a:endParaRPr b="1" sz="1000">
              <a:solidFill>
                <a:schemeClr val="dk1"/>
              </a:solidFill>
            </a:endParaRPr>
          </a:p>
        </p:txBody>
      </p:sp>
      <p:cxnSp>
        <p:nvCxnSpPr>
          <p:cNvPr id="642" name="Google Shape;642;p58"/>
          <p:cNvCxnSpPr>
            <a:stCxn id="641" idx="3"/>
          </p:cNvCxnSpPr>
          <p:nvPr/>
        </p:nvCxnSpPr>
        <p:spPr>
          <a:xfrm>
            <a:off x="2808680" y="3234320"/>
            <a:ext cx="329100" cy="0"/>
          </a:xfrm>
          <a:prstGeom prst="straightConnector1">
            <a:avLst/>
          </a:prstGeom>
          <a:noFill/>
          <a:ln cap="flat" cmpd="sng" w="9525">
            <a:solidFill>
              <a:srgbClr val="595959"/>
            </a:solidFill>
            <a:prstDash val="solid"/>
            <a:round/>
            <a:headEnd len="med" w="med" type="none"/>
            <a:tailEnd len="med" w="med" type="triangle"/>
          </a:ln>
        </p:spPr>
      </p:cxnSp>
      <p:sp>
        <p:nvSpPr>
          <p:cNvPr id="643" name="Google Shape;643;p58"/>
          <p:cNvSpPr txBox="1"/>
          <p:nvPr/>
        </p:nvSpPr>
        <p:spPr>
          <a:xfrm>
            <a:off x="4695775" y="3206008"/>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EBP</a:t>
            </a:r>
            <a:endParaRPr b="1" sz="1000">
              <a:solidFill>
                <a:schemeClr val="dk1"/>
              </a:solidFill>
            </a:endParaRPr>
          </a:p>
        </p:txBody>
      </p:sp>
      <p:cxnSp>
        <p:nvCxnSpPr>
          <p:cNvPr id="644" name="Google Shape;644;p58"/>
          <p:cNvCxnSpPr/>
          <p:nvPr/>
        </p:nvCxnSpPr>
        <p:spPr>
          <a:xfrm>
            <a:off x="5176675" y="3375350"/>
            <a:ext cx="604800" cy="0"/>
          </a:xfrm>
          <a:prstGeom prst="straightConnector1">
            <a:avLst/>
          </a:prstGeom>
          <a:noFill/>
          <a:ln cap="flat" cmpd="sng" w="9525">
            <a:solidFill>
              <a:srgbClr val="595959"/>
            </a:solidFill>
            <a:prstDash val="solid"/>
            <a:round/>
            <a:headEnd len="med" w="med" type="none"/>
            <a:tailEnd len="med" w="med" type="triangle"/>
          </a:ln>
        </p:spPr>
      </p:cxnSp>
      <p:sp>
        <p:nvSpPr>
          <p:cNvPr id="645" name="Google Shape;645;p58"/>
          <p:cNvSpPr txBox="1"/>
          <p:nvPr/>
        </p:nvSpPr>
        <p:spPr>
          <a:xfrm>
            <a:off x="4695775" y="4410730"/>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ESP</a:t>
            </a:r>
            <a:endParaRPr b="1" sz="1000">
              <a:solidFill>
                <a:srgbClr val="FF0000"/>
              </a:solidFill>
            </a:endParaRPr>
          </a:p>
        </p:txBody>
      </p:sp>
      <p:cxnSp>
        <p:nvCxnSpPr>
          <p:cNvPr id="646" name="Google Shape;646;p58"/>
          <p:cNvCxnSpPr/>
          <p:nvPr/>
        </p:nvCxnSpPr>
        <p:spPr>
          <a:xfrm>
            <a:off x="5176675" y="4580080"/>
            <a:ext cx="604800" cy="0"/>
          </a:xfrm>
          <a:prstGeom prst="straightConnector1">
            <a:avLst/>
          </a:prstGeom>
          <a:noFill/>
          <a:ln cap="flat" cmpd="sng" w="9525">
            <a:solidFill>
              <a:srgbClr val="FF0000"/>
            </a:solidFill>
            <a:prstDash val="solid"/>
            <a:round/>
            <a:headEnd len="med" w="med" type="none"/>
            <a:tailEnd len="med" w="med" type="triangle"/>
          </a:ln>
        </p:spPr>
      </p:cxnSp>
      <p:graphicFrame>
        <p:nvGraphicFramePr>
          <p:cNvPr id="647" name="Google Shape;647;p58"/>
          <p:cNvGraphicFramePr/>
          <p:nvPr/>
        </p:nvGraphicFramePr>
        <p:xfrm>
          <a:off x="59815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vulnerable</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\x44</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\xcd</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\xff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\xbf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0xdeadbeef [Fake RIP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 [Fake SFP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648" name="Google Shape;648;p58"/>
          <p:cNvSpPr txBox="1"/>
          <p:nvPr/>
        </p:nvSpPr>
        <p:spPr>
          <a:xfrm>
            <a:off x="102700" y="1200500"/>
            <a:ext cx="4394400" cy="9234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Let’s see what happens when the </a:t>
            </a:r>
            <a:r>
              <a:rPr b="1" lang="en" sz="1200">
                <a:solidFill>
                  <a:schemeClr val="dk1"/>
                </a:solidFill>
                <a:latin typeface="Courier New"/>
                <a:ea typeface="Courier New"/>
                <a:cs typeface="Courier New"/>
                <a:sym typeface="Courier New"/>
              </a:rPr>
              <a:t>vulnerable</a:t>
            </a:r>
            <a:r>
              <a:rPr lang="en" sz="1200">
                <a:solidFill>
                  <a:schemeClr val="dk1"/>
                </a:solidFill>
              </a:rPr>
              <a:t> function returns.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Returned from </a:t>
            </a:r>
            <a:r>
              <a:rPr b="1" lang="en" sz="1200">
                <a:solidFill>
                  <a:schemeClr val="dk1"/>
                </a:solidFill>
                <a:latin typeface="Courier New"/>
                <a:ea typeface="Courier New"/>
                <a:cs typeface="Courier New"/>
                <a:sym typeface="Courier New"/>
              </a:rPr>
              <a:t>fread</a:t>
            </a:r>
            <a:r>
              <a:rPr lang="en" sz="1200">
                <a:solidFill>
                  <a:schemeClr val="dk1"/>
                </a:solidFill>
              </a:rPr>
              <a:t>, preparing to return from </a:t>
            </a:r>
            <a:r>
              <a:rPr b="1" lang="en" sz="1200">
                <a:solidFill>
                  <a:schemeClr val="dk1"/>
                </a:solidFill>
                <a:latin typeface="Courier New"/>
                <a:ea typeface="Courier New"/>
                <a:cs typeface="Courier New"/>
                <a:sym typeface="Courier New"/>
              </a:rPr>
              <a:t>vulnerable</a:t>
            </a:r>
            <a:r>
              <a:rPr lang="en" sz="1200">
                <a:solidFill>
                  <a:schemeClr val="dk1"/>
                </a:solidFill>
              </a:rPr>
              <a:t>.</a:t>
            </a:r>
            <a:endParaRPr sz="1200">
              <a:solidFill>
                <a:schemeClr val="dk1"/>
              </a:solidFill>
            </a:endParaRPr>
          </a:p>
        </p:txBody>
      </p:sp>
      <p:sp>
        <p:nvSpPr>
          <p:cNvPr id="649" name="Google Shape;649;p58"/>
          <p:cNvSpPr/>
          <p:nvPr/>
        </p:nvSpPr>
        <p:spPr>
          <a:xfrm>
            <a:off x="8435100" y="3393150"/>
            <a:ext cx="485875" cy="1250525"/>
          </a:xfrm>
          <a:custGeom>
            <a:rect b="b" l="l" r="r" t="t"/>
            <a:pathLst>
              <a:path extrusionOk="0" h="50021" w="19435">
                <a:moveTo>
                  <a:pt x="8284" y="0"/>
                </a:moveTo>
                <a:lnTo>
                  <a:pt x="19435" y="0"/>
                </a:lnTo>
                <a:lnTo>
                  <a:pt x="19435" y="50021"/>
                </a:lnTo>
                <a:lnTo>
                  <a:pt x="0" y="50021"/>
                </a:lnTo>
              </a:path>
            </a:pathLst>
          </a:custGeom>
          <a:noFill/>
          <a:ln cap="flat" cmpd="sng" w="9525">
            <a:solidFill>
              <a:schemeClr val="dk2"/>
            </a:solidFill>
            <a:prstDash val="solid"/>
            <a:round/>
            <a:headEnd len="med" w="med" type="none"/>
            <a:tailEnd len="med" w="med" type="triangle"/>
          </a:ln>
        </p:spPr>
      </p:sp>
      <p:sp>
        <p:nvSpPr>
          <p:cNvPr id="650" name="Google Shape;650;p58"/>
          <p:cNvSpPr txBox="1"/>
          <p:nvPr/>
        </p:nvSpPr>
        <p:spPr>
          <a:xfrm>
            <a:off x="197418" y="3206000"/>
            <a:ext cx="2265000" cy="1569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name[20];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fread(name,21,1,stdin);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int main(void)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return 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graphicFrame>
        <p:nvGraphicFramePr>
          <p:cNvPr id="655" name="Google Shape;655;p59"/>
          <p:cNvGraphicFramePr/>
          <p:nvPr/>
        </p:nvGraphicFramePr>
        <p:xfrm>
          <a:off x="7212679" y="2518285"/>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656" name="Google Shape;656;p59"/>
          <p:cNvSpPr txBox="1"/>
          <p:nvPr/>
        </p:nvSpPr>
        <p:spPr>
          <a:xfrm rot="-5400000">
            <a:off x="7753350" y="39247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9E9E9E"/>
                </a:solidFill>
                <a:latin typeface="Courier New"/>
                <a:ea typeface="Courier New"/>
                <a:cs typeface="Courier New"/>
                <a:sym typeface="Courier New"/>
              </a:rPr>
              <a:t>name</a:t>
            </a:r>
            <a:endParaRPr b="1" sz="1200">
              <a:solidFill>
                <a:srgbClr val="9E9E9E"/>
              </a:solidFill>
              <a:latin typeface="Courier New"/>
              <a:ea typeface="Courier New"/>
              <a:cs typeface="Courier New"/>
              <a:sym typeface="Courier New"/>
            </a:endParaRPr>
          </a:p>
        </p:txBody>
      </p:sp>
      <p:cxnSp>
        <p:nvCxnSpPr>
          <p:cNvPr id="657" name="Google Shape;657;p59"/>
          <p:cNvCxnSpPr/>
          <p:nvPr/>
        </p:nvCxnSpPr>
        <p:spPr>
          <a:xfrm>
            <a:off x="8367750" y="35104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658" name="Google Shape;658;p59"/>
          <p:cNvCxnSpPr/>
          <p:nvPr/>
        </p:nvCxnSpPr>
        <p:spPr>
          <a:xfrm>
            <a:off x="8367750" y="4398425"/>
            <a:ext cx="0" cy="340800"/>
          </a:xfrm>
          <a:prstGeom prst="straightConnector1">
            <a:avLst/>
          </a:prstGeom>
          <a:noFill/>
          <a:ln cap="flat" cmpd="sng" w="9525">
            <a:solidFill>
              <a:schemeClr val="dk2"/>
            </a:solidFill>
            <a:prstDash val="solid"/>
            <a:round/>
            <a:headEnd len="med" w="med" type="none"/>
            <a:tailEnd len="med" w="med" type="none"/>
          </a:ln>
        </p:spPr>
      </p:cxnSp>
      <p:graphicFrame>
        <p:nvGraphicFramePr>
          <p:cNvPr id="659" name="Google Shape;659;p59"/>
          <p:cNvGraphicFramePr/>
          <p:nvPr/>
        </p:nvGraphicFramePr>
        <p:xfrm>
          <a:off x="4837550" y="2510624"/>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660" name="Google Shape;660;p5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Off-by-one</a:t>
            </a:r>
            <a:endParaRPr/>
          </a:p>
        </p:txBody>
      </p:sp>
      <p:sp>
        <p:nvSpPr>
          <p:cNvPr id="661" name="Google Shape;661;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62" name="Google Shape;662;p59"/>
          <p:cNvSpPr txBox="1"/>
          <p:nvPr/>
        </p:nvSpPr>
        <p:spPr>
          <a:xfrm>
            <a:off x="2807925" y="2445675"/>
            <a:ext cx="1821000" cy="233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call fread</a:t>
            </a:r>
            <a:br>
              <a:rPr b="1" lang="en" sz="1000">
                <a:solidFill>
                  <a:schemeClr val="dk1"/>
                </a:solidFill>
                <a:latin typeface="Courier New"/>
                <a:ea typeface="Courier New"/>
                <a:cs typeface="Courier New"/>
                <a:sym typeface="Courier New"/>
              </a:rPr>
            </a:b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add $16,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rgbClr val="FF0000"/>
                </a:solidFill>
                <a:latin typeface="Courier New"/>
                <a:ea typeface="Courier New"/>
                <a:cs typeface="Courier New"/>
                <a:sym typeface="Courier New"/>
              </a:rPr>
              <a:t>mov %ebp, %esp</a:t>
            </a:r>
            <a:endParaRPr b="1" sz="1000">
              <a:solidFill>
                <a:srgbClr val="FF0000"/>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main: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p:txBody>
      </p:sp>
      <p:sp>
        <p:nvSpPr>
          <p:cNvPr id="663" name="Google Shape;663;p59"/>
          <p:cNvSpPr txBox="1"/>
          <p:nvPr/>
        </p:nvSpPr>
        <p:spPr>
          <a:xfrm>
            <a:off x="2493680" y="3263570"/>
            <a:ext cx="315000" cy="2463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solidFill>
                  <a:schemeClr val="dk1"/>
                </a:solidFill>
              </a:rPr>
              <a:t>EIP</a:t>
            </a:r>
            <a:endParaRPr b="1" sz="1000">
              <a:solidFill>
                <a:schemeClr val="dk1"/>
              </a:solidFill>
            </a:endParaRPr>
          </a:p>
        </p:txBody>
      </p:sp>
      <p:cxnSp>
        <p:nvCxnSpPr>
          <p:cNvPr id="664" name="Google Shape;664;p59"/>
          <p:cNvCxnSpPr>
            <a:stCxn id="663" idx="3"/>
          </p:cNvCxnSpPr>
          <p:nvPr/>
        </p:nvCxnSpPr>
        <p:spPr>
          <a:xfrm>
            <a:off x="2808680" y="3386720"/>
            <a:ext cx="329100" cy="0"/>
          </a:xfrm>
          <a:prstGeom prst="straightConnector1">
            <a:avLst/>
          </a:prstGeom>
          <a:noFill/>
          <a:ln cap="flat" cmpd="sng" w="9525">
            <a:solidFill>
              <a:srgbClr val="595959"/>
            </a:solidFill>
            <a:prstDash val="solid"/>
            <a:round/>
            <a:headEnd len="med" w="med" type="none"/>
            <a:tailEnd len="med" w="med" type="triangle"/>
          </a:ln>
        </p:spPr>
      </p:cxnSp>
      <p:sp>
        <p:nvSpPr>
          <p:cNvPr id="665" name="Google Shape;665;p59"/>
          <p:cNvSpPr txBox="1"/>
          <p:nvPr/>
        </p:nvSpPr>
        <p:spPr>
          <a:xfrm>
            <a:off x="4695775" y="3134321"/>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EBP</a:t>
            </a:r>
            <a:endParaRPr b="1" sz="1000">
              <a:solidFill>
                <a:schemeClr val="dk1"/>
              </a:solidFill>
            </a:endParaRPr>
          </a:p>
        </p:txBody>
      </p:sp>
      <p:cxnSp>
        <p:nvCxnSpPr>
          <p:cNvPr id="666" name="Google Shape;666;p59"/>
          <p:cNvCxnSpPr/>
          <p:nvPr/>
        </p:nvCxnSpPr>
        <p:spPr>
          <a:xfrm>
            <a:off x="5176675" y="3375350"/>
            <a:ext cx="604800" cy="0"/>
          </a:xfrm>
          <a:prstGeom prst="straightConnector1">
            <a:avLst/>
          </a:prstGeom>
          <a:noFill/>
          <a:ln cap="flat" cmpd="sng" w="9525">
            <a:solidFill>
              <a:srgbClr val="FF0000"/>
            </a:solidFill>
            <a:prstDash val="solid"/>
            <a:round/>
            <a:headEnd len="med" w="med" type="none"/>
            <a:tailEnd len="med" w="med" type="triangle"/>
          </a:ln>
        </p:spPr>
      </p:cxnSp>
      <p:sp>
        <p:nvSpPr>
          <p:cNvPr id="667" name="Google Shape;667;p59"/>
          <p:cNvSpPr txBox="1"/>
          <p:nvPr/>
        </p:nvSpPr>
        <p:spPr>
          <a:xfrm>
            <a:off x="4695775" y="3272243"/>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ESP</a:t>
            </a:r>
            <a:endParaRPr b="1" sz="1000">
              <a:solidFill>
                <a:srgbClr val="FF0000"/>
              </a:solidFill>
            </a:endParaRPr>
          </a:p>
        </p:txBody>
      </p:sp>
      <p:graphicFrame>
        <p:nvGraphicFramePr>
          <p:cNvPr id="668" name="Google Shape;668;p59"/>
          <p:cNvGraphicFramePr/>
          <p:nvPr/>
        </p:nvGraphicFramePr>
        <p:xfrm>
          <a:off x="59815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vulnerable</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\x44</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\xcd</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\xff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\xbf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0xdeadbeef [Fake RIP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 [Fake SFP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669" name="Google Shape;669;p59"/>
          <p:cNvSpPr txBox="1"/>
          <p:nvPr/>
        </p:nvSpPr>
        <p:spPr>
          <a:xfrm>
            <a:off x="102700" y="1200500"/>
            <a:ext cx="4394400" cy="9234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Let’s see what happens when the </a:t>
            </a:r>
            <a:r>
              <a:rPr b="1" lang="en" sz="1200">
                <a:solidFill>
                  <a:schemeClr val="dk1"/>
                </a:solidFill>
                <a:latin typeface="Courier New"/>
                <a:ea typeface="Courier New"/>
                <a:cs typeface="Courier New"/>
                <a:sym typeface="Courier New"/>
              </a:rPr>
              <a:t>vulnerable</a:t>
            </a:r>
            <a:r>
              <a:rPr lang="en" sz="1200">
                <a:solidFill>
                  <a:schemeClr val="dk1"/>
                </a:solidFill>
              </a:rPr>
              <a:t> function returns.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Epilogue step 1: Move ESP back up.</a:t>
            </a:r>
            <a:endParaRPr sz="1200">
              <a:solidFill>
                <a:schemeClr val="dk1"/>
              </a:solidFill>
            </a:endParaRPr>
          </a:p>
        </p:txBody>
      </p:sp>
      <p:sp>
        <p:nvSpPr>
          <p:cNvPr id="670" name="Google Shape;670;p59"/>
          <p:cNvSpPr/>
          <p:nvPr/>
        </p:nvSpPr>
        <p:spPr>
          <a:xfrm>
            <a:off x="8435100" y="3393150"/>
            <a:ext cx="485875" cy="1250525"/>
          </a:xfrm>
          <a:custGeom>
            <a:rect b="b" l="l" r="r" t="t"/>
            <a:pathLst>
              <a:path extrusionOk="0" h="50021" w="19435">
                <a:moveTo>
                  <a:pt x="8284" y="0"/>
                </a:moveTo>
                <a:lnTo>
                  <a:pt x="19435" y="0"/>
                </a:lnTo>
                <a:lnTo>
                  <a:pt x="19435" y="50021"/>
                </a:lnTo>
                <a:lnTo>
                  <a:pt x="0" y="50021"/>
                </a:lnTo>
              </a:path>
            </a:pathLst>
          </a:custGeom>
          <a:noFill/>
          <a:ln cap="flat" cmpd="sng" w="9525">
            <a:solidFill>
              <a:schemeClr val="dk2"/>
            </a:solidFill>
            <a:prstDash val="solid"/>
            <a:round/>
            <a:headEnd len="med" w="med" type="none"/>
            <a:tailEnd len="med" w="med" type="triangle"/>
          </a:ln>
        </p:spPr>
      </p:sp>
      <p:sp>
        <p:nvSpPr>
          <p:cNvPr id="671" name="Google Shape;671;p59"/>
          <p:cNvSpPr txBox="1"/>
          <p:nvPr/>
        </p:nvSpPr>
        <p:spPr>
          <a:xfrm>
            <a:off x="197418" y="3206000"/>
            <a:ext cx="2265000" cy="1569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name[20];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fread(name,21,1,stdin);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int main(void)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return 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graphicFrame>
        <p:nvGraphicFramePr>
          <p:cNvPr id="676" name="Google Shape;676;p60"/>
          <p:cNvGraphicFramePr/>
          <p:nvPr/>
        </p:nvGraphicFramePr>
        <p:xfrm>
          <a:off x="7212679" y="2518285"/>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677" name="Google Shape;677;p60"/>
          <p:cNvSpPr txBox="1"/>
          <p:nvPr/>
        </p:nvSpPr>
        <p:spPr>
          <a:xfrm rot="-5400000">
            <a:off x="7753350" y="39247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9E9E9E"/>
                </a:solidFill>
                <a:latin typeface="Courier New"/>
                <a:ea typeface="Courier New"/>
                <a:cs typeface="Courier New"/>
                <a:sym typeface="Courier New"/>
              </a:rPr>
              <a:t>name</a:t>
            </a:r>
            <a:endParaRPr b="1" sz="1200">
              <a:solidFill>
                <a:srgbClr val="9E9E9E"/>
              </a:solidFill>
              <a:latin typeface="Courier New"/>
              <a:ea typeface="Courier New"/>
              <a:cs typeface="Courier New"/>
              <a:sym typeface="Courier New"/>
            </a:endParaRPr>
          </a:p>
        </p:txBody>
      </p:sp>
      <p:cxnSp>
        <p:nvCxnSpPr>
          <p:cNvPr id="678" name="Google Shape;678;p60"/>
          <p:cNvCxnSpPr/>
          <p:nvPr/>
        </p:nvCxnSpPr>
        <p:spPr>
          <a:xfrm>
            <a:off x="8367750" y="35104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679" name="Google Shape;679;p60"/>
          <p:cNvCxnSpPr/>
          <p:nvPr/>
        </p:nvCxnSpPr>
        <p:spPr>
          <a:xfrm>
            <a:off x="8367750" y="4398425"/>
            <a:ext cx="0" cy="340800"/>
          </a:xfrm>
          <a:prstGeom prst="straightConnector1">
            <a:avLst/>
          </a:prstGeom>
          <a:noFill/>
          <a:ln cap="flat" cmpd="sng" w="9525">
            <a:solidFill>
              <a:schemeClr val="dk2"/>
            </a:solidFill>
            <a:prstDash val="solid"/>
            <a:round/>
            <a:headEnd len="med" w="med" type="none"/>
            <a:tailEnd len="med" w="med" type="none"/>
          </a:ln>
        </p:spPr>
      </p:cxnSp>
      <p:graphicFrame>
        <p:nvGraphicFramePr>
          <p:cNvPr id="680" name="Google Shape;680;p60"/>
          <p:cNvGraphicFramePr/>
          <p:nvPr/>
        </p:nvGraphicFramePr>
        <p:xfrm>
          <a:off x="4837550" y="2510624"/>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681" name="Google Shape;681;p6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Off-by-one</a:t>
            </a:r>
            <a:endParaRPr/>
          </a:p>
        </p:txBody>
      </p:sp>
      <p:sp>
        <p:nvSpPr>
          <p:cNvPr id="682" name="Google Shape;682;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83" name="Google Shape;683;p60"/>
          <p:cNvSpPr txBox="1"/>
          <p:nvPr/>
        </p:nvSpPr>
        <p:spPr>
          <a:xfrm>
            <a:off x="2807925" y="2445675"/>
            <a:ext cx="1821000" cy="233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call fread</a:t>
            </a:r>
            <a:br>
              <a:rPr b="1" lang="en" sz="1000">
                <a:solidFill>
                  <a:schemeClr val="dk1"/>
                </a:solidFill>
                <a:latin typeface="Courier New"/>
                <a:ea typeface="Courier New"/>
                <a:cs typeface="Courier New"/>
                <a:sym typeface="Courier New"/>
              </a:rPr>
            </a:br>
            <a:r>
              <a:rPr b="1" lang="en" sz="1000">
                <a:solidFill>
                  <a:schemeClr val="dk1"/>
                </a:solidFill>
                <a:latin typeface="Courier New"/>
                <a:ea typeface="Courier New"/>
                <a:cs typeface="Courier New"/>
                <a:sym typeface="Courier New"/>
              </a:rPr>
              <a:t>    add $16,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rgbClr val="FF0000"/>
                </a:solidFill>
                <a:latin typeface="Courier New"/>
                <a:ea typeface="Courier New"/>
                <a:cs typeface="Courier New"/>
                <a:sym typeface="Courier New"/>
              </a:rPr>
              <a:t> pop %ebp</a:t>
            </a:r>
            <a:endParaRPr b="1" sz="1000">
              <a:solidFill>
                <a:srgbClr val="FF0000"/>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main: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p:txBody>
      </p:sp>
      <p:sp>
        <p:nvSpPr>
          <p:cNvPr id="684" name="Google Shape;684;p60"/>
          <p:cNvSpPr txBox="1"/>
          <p:nvPr/>
        </p:nvSpPr>
        <p:spPr>
          <a:xfrm>
            <a:off x="2493680" y="3415970"/>
            <a:ext cx="315000" cy="2463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solidFill>
                  <a:schemeClr val="dk1"/>
                </a:solidFill>
              </a:rPr>
              <a:t>EIP</a:t>
            </a:r>
            <a:endParaRPr b="1" sz="1000">
              <a:solidFill>
                <a:schemeClr val="dk1"/>
              </a:solidFill>
            </a:endParaRPr>
          </a:p>
        </p:txBody>
      </p:sp>
      <p:cxnSp>
        <p:nvCxnSpPr>
          <p:cNvPr id="685" name="Google Shape;685;p60"/>
          <p:cNvCxnSpPr>
            <a:stCxn id="684" idx="3"/>
          </p:cNvCxnSpPr>
          <p:nvPr/>
        </p:nvCxnSpPr>
        <p:spPr>
          <a:xfrm>
            <a:off x="2808680" y="3539120"/>
            <a:ext cx="329100" cy="0"/>
          </a:xfrm>
          <a:prstGeom prst="straightConnector1">
            <a:avLst/>
          </a:prstGeom>
          <a:noFill/>
          <a:ln cap="flat" cmpd="sng" w="9525">
            <a:solidFill>
              <a:srgbClr val="595959"/>
            </a:solidFill>
            <a:prstDash val="solid"/>
            <a:round/>
            <a:headEnd len="med" w="med" type="none"/>
            <a:tailEnd len="med" w="med" type="triangle"/>
          </a:ln>
        </p:spPr>
      </p:cxnSp>
      <p:graphicFrame>
        <p:nvGraphicFramePr>
          <p:cNvPr id="686" name="Google Shape;686;p60"/>
          <p:cNvGraphicFramePr/>
          <p:nvPr/>
        </p:nvGraphicFramePr>
        <p:xfrm>
          <a:off x="59815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vulnerable</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\x44</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\xcd</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\xff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\xbf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0xdeadbeef [Fake RIP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 [Fake SFP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687" name="Google Shape;687;p60"/>
          <p:cNvSpPr txBox="1"/>
          <p:nvPr/>
        </p:nvSpPr>
        <p:spPr>
          <a:xfrm>
            <a:off x="102700" y="1200500"/>
            <a:ext cx="4394400" cy="1108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Let’s see what happens when the </a:t>
            </a:r>
            <a:r>
              <a:rPr b="1" lang="en" sz="1200">
                <a:solidFill>
                  <a:schemeClr val="dk1"/>
                </a:solidFill>
                <a:latin typeface="Courier New"/>
                <a:ea typeface="Courier New"/>
                <a:cs typeface="Courier New"/>
                <a:sym typeface="Courier New"/>
              </a:rPr>
              <a:t>vulnerable</a:t>
            </a:r>
            <a:r>
              <a:rPr lang="en" sz="1200">
                <a:solidFill>
                  <a:schemeClr val="dk1"/>
                </a:solidFill>
              </a:rPr>
              <a:t> function returns.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Epilogue step 2: Restore EBP. Note that EBP now points inside </a:t>
            </a:r>
            <a:r>
              <a:rPr b="1" lang="en" sz="1200">
                <a:solidFill>
                  <a:schemeClr val="dk1"/>
                </a:solidFill>
                <a:latin typeface="Courier New"/>
                <a:ea typeface="Courier New"/>
                <a:cs typeface="Courier New"/>
                <a:sym typeface="Courier New"/>
              </a:rPr>
              <a:t>name</a:t>
            </a:r>
            <a:r>
              <a:rPr lang="en" sz="1200">
                <a:solidFill>
                  <a:schemeClr val="dk1"/>
                </a:solidFill>
              </a:rPr>
              <a:t>, instead of at the SFP of </a:t>
            </a:r>
            <a:r>
              <a:rPr b="1" lang="en" sz="1200">
                <a:solidFill>
                  <a:schemeClr val="dk1"/>
                </a:solidFill>
                <a:latin typeface="Courier New"/>
                <a:ea typeface="Courier New"/>
                <a:cs typeface="Courier New"/>
                <a:sym typeface="Courier New"/>
              </a:rPr>
              <a:t>main</a:t>
            </a:r>
            <a:r>
              <a:rPr lang="en" sz="1200">
                <a:solidFill>
                  <a:schemeClr val="dk1"/>
                </a:solidFill>
              </a:rPr>
              <a:t>.</a:t>
            </a:r>
            <a:endParaRPr sz="1200">
              <a:solidFill>
                <a:schemeClr val="dk1"/>
              </a:solidFill>
            </a:endParaRPr>
          </a:p>
        </p:txBody>
      </p:sp>
      <p:sp>
        <p:nvSpPr>
          <p:cNvPr id="688" name="Google Shape;688;p60"/>
          <p:cNvSpPr/>
          <p:nvPr/>
        </p:nvSpPr>
        <p:spPr>
          <a:xfrm>
            <a:off x="8435100" y="3393150"/>
            <a:ext cx="485875" cy="1250525"/>
          </a:xfrm>
          <a:custGeom>
            <a:rect b="b" l="l" r="r" t="t"/>
            <a:pathLst>
              <a:path extrusionOk="0" h="50021" w="19435">
                <a:moveTo>
                  <a:pt x="8284" y="0"/>
                </a:moveTo>
                <a:lnTo>
                  <a:pt x="19435" y="0"/>
                </a:lnTo>
                <a:lnTo>
                  <a:pt x="19435" y="50021"/>
                </a:lnTo>
                <a:lnTo>
                  <a:pt x="0" y="50021"/>
                </a:lnTo>
              </a:path>
            </a:pathLst>
          </a:custGeom>
          <a:noFill/>
          <a:ln cap="flat" cmpd="sng" w="9525">
            <a:solidFill>
              <a:schemeClr val="dk2"/>
            </a:solidFill>
            <a:prstDash val="solid"/>
            <a:round/>
            <a:headEnd len="med" w="med" type="none"/>
            <a:tailEnd len="med" w="med" type="triangle"/>
          </a:ln>
        </p:spPr>
      </p:sp>
      <p:sp>
        <p:nvSpPr>
          <p:cNvPr id="689" name="Google Shape;689;p60"/>
          <p:cNvSpPr txBox="1"/>
          <p:nvPr/>
        </p:nvSpPr>
        <p:spPr>
          <a:xfrm>
            <a:off x="4695775" y="2961477"/>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ESP</a:t>
            </a:r>
            <a:endParaRPr b="1" sz="1000">
              <a:solidFill>
                <a:srgbClr val="FF0000"/>
              </a:solidFill>
            </a:endParaRPr>
          </a:p>
        </p:txBody>
      </p:sp>
      <p:cxnSp>
        <p:nvCxnSpPr>
          <p:cNvPr id="690" name="Google Shape;690;p60"/>
          <p:cNvCxnSpPr/>
          <p:nvPr/>
        </p:nvCxnSpPr>
        <p:spPr>
          <a:xfrm>
            <a:off x="5176675" y="3130820"/>
            <a:ext cx="604800" cy="0"/>
          </a:xfrm>
          <a:prstGeom prst="straightConnector1">
            <a:avLst/>
          </a:prstGeom>
          <a:noFill/>
          <a:ln cap="flat" cmpd="sng" w="9525">
            <a:solidFill>
              <a:srgbClr val="FF0000"/>
            </a:solidFill>
            <a:prstDash val="solid"/>
            <a:round/>
            <a:headEnd len="med" w="med" type="none"/>
            <a:tailEnd len="med" w="med" type="triangle"/>
          </a:ln>
        </p:spPr>
      </p:cxnSp>
      <p:sp>
        <p:nvSpPr>
          <p:cNvPr id="691" name="Google Shape;691;p60"/>
          <p:cNvSpPr txBox="1"/>
          <p:nvPr/>
        </p:nvSpPr>
        <p:spPr>
          <a:xfrm>
            <a:off x="4695775" y="4425208"/>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EBP</a:t>
            </a:r>
            <a:endParaRPr b="1" sz="1000">
              <a:solidFill>
                <a:srgbClr val="FF0000"/>
              </a:solidFill>
            </a:endParaRPr>
          </a:p>
        </p:txBody>
      </p:sp>
      <p:cxnSp>
        <p:nvCxnSpPr>
          <p:cNvPr id="692" name="Google Shape;692;p60"/>
          <p:cNvCxnSpPr/>
          <p:nvPr/>
        </p:nvCxnSpPr>
        <p:spPr>
          <a:xfrm>
            <a:off x="5176675" y="4594550"/>
            <a:ext cx="604800" cy="0"/>
          </a:xfrm>
          <a:prstGeom prst="straightConnector1">
            <a:avLst/>
          </a:prstGeom>
          <a:noFill/>
          <a:ln cap="flat" cmpd="sng" w="9525">
            <a:solidFill>
              <a:srgbClr val="FF0000"/>
            </a:solidFill>
            <a:prstDash val="solid"/>
            <a:round/>
            <a:headEnd len="med" w="med" type="none"/>
            <a:tailEnd len="med" w="med" type="triangle"/>
          </a:ln>
        </p:spPr>
      </p:cxnSp>
      <p:sp>
        <p:nvSpPr>
          <p:cNvPr id="693" name="Google Shape;693;p60"/>
          <p:cNvSpPr txBox="1"/>
          <p:nvPr/>
        </p:nvSpPr>
        <p:spPr>
          <a:xfrm>
            <a:off x="197418" y="3206000"/>
            <a:ext cx="2265000" cy="1569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name[20];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fread(name,21,1,stdin);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int main(void)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return 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graphicFrame>
        <p:nvGraphicFramePr>
          <p:cNvPr id="698" name="Google Shape;698;p61"/>
          <p:cNvGraphicFramePr/>
          <p:nvPr/>
        </p:nvGraphicFramePr>
        <p:xfrm>
          <a:off x="7212679" y="2518285"/>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699" name="Google Shape;699;p61"/>
          <p:cNvSpPr txBox="1"/>
          <p:nvPr/>
        </p:nvSpPr>
        <p:spPr>
          <a:xfrm rot="-5400000">
            <a:off x="7753350" y="39247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9E9E9E"/>
                </a:solidFill>
                <a:latin typeface="Courier New"/>
                <a:ea typeface="Courier New"/>
                <a:cs typeface="Courier New"/>
                <a:sym typeface="Courier New"/>
              </a:rPr>
              <a:t>name</a:t>
            </a:r>
            <a:endParaRPr b="1" sz="1200">
              <a:solidFill>
                <a:srgbClr val="9E9E9E"/>
              </a:solidFill>
              <a:latin typeface="Courier New"/>
              <a:ea typeface="Courier New"/>
              <a:cs typeface="Courier New"/>
              <a:sym typeface="Courier New"/>
            </a:endParaRPr>
          </a:p>
        </p:txBody>
      </p:sp>
      <p:cxnSp>
        <p:nvCxnSpPr>
          <p:cNvPr id="700" name="Google Shape;700;p61"/>
          <p:cNvCxnSpPr/>
          <p:nvPr/>
        </p:nvCxnSpPr>
        <p:spPr>
          <a:xfrm>
            <a:off x="8367750" y="35104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701" name="Google Shape;701;p61"/>
          <p:cNvCxnSpPr/>
          <p:nvPr/>
        </p:nvCxnSpPr>
        <p:spPr>
          <a:xfrm>
            <a:off x="8367750" y="4398425"/>
            <a:ext cx="0" cy="340800"/>
          </a:xfrm>
          <a:prstGeom prst="straightConnector1">
            <a:avLst/>
          </a:prstGeom>
          <a:noFill/>
          <a:ln cap="flat" cmpd="sng" w="9525">
            <a:solidFill>
              <a:schemeClr val="dk2"/>
            </a:solidFill>
            <a:prstDash val="solid"/>
            <a:round/>
            <a:headEnd len="med" w="med" type="none"/>
            <a:tailEnd len="med" w="med" type="none"/>
          </a:ln>
        </p:spPr>
      </p:cxnSp>
      <p:graphicFrame>
        <p:nvGraphicFramePr>
          <p:cNvPr id="702" name="Google Shape;702;p61"/>
          <p:cNvGraphicFramePr/>
          <p:nvPr/>
        </p:nvGraphicFramePr>
        <p:xfrm>
          <a:off x="4837550" y="2510624"/>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703" name="Google Shape;703;p6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Off-by-one</a:t>
            </a:r>
            <a:endParaRPr/>
          </a:p>
        </p:txBody>
      </p:sp>
      <p:sp>
        <p:nvSpPr>
          <p:cNvPr id="704" name="Google Shape;704;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05" name="Google Shape;705;p61"/>
          <p:cNvSpPr txBox="1"/>
          <p:nvPr/>
        </p:nvSpPr>
        <p:spPr>
          <a:xfrm>
            <a:off x="2807925" y="2445675"/>
            <a:ext cx="1821000" cy="233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call fread</a:t>
            </a:r>
            <a:br>
              <a:rPr b="1" lang="en" sz="1000">
                <a:solidFill>
                  <a:schemeClr val="dk1"/>
                </a:solidFill>
                <a:latin typeface="Courier New"/>
                <a:ea typeface="Courier New"/>
                <a:cs typeface="Courier New"/>
                <a:sym typeface="Courier New"/>
              </a:rPr>
            </a:br>
            <a:r>
              <a:rPr b="1" lang="en" sz="1000">
                <a:solidFill>
                  <a:schemeClr val="dk1"/>
                </a:solidFill>
                <a:latin typeface="Courier New"/>
                <a:ea typeface="Courier New"/>
                <a:cs typeface="Courier New"/>
                <a:sym typeface="Courier New"/>
              </a:rPr>
              <a:t>    add $16,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rgbClr val="FF0000"/>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rgbClr val="FF0000"/>
                </a:solidFill>
                <a:latin typeface="Courier New"/>
                <a:ea typeface="Courier New"/>
                <a:cs typeface="Courier New"/>
                <a:sym typeface="Courier New"/>
              </a:rPr>
              <a:t>ret</a:t>
            </a:r>
            <a:endParaRPr b="1" sz="1000">
              <a:solidFill>
                <a:srgbClr val="FF0000"/>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main: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p:txBody>
      </p:sp>
      <p:sp>
        <p:nvSpPr>
          <p:cNvPr id="706" name="Google Shape;706;p61"/>
          <p:cNvSpPr txBox="1"/>
          <p:nvPr/>
        </p:nvSpPr>
        <p:spPr>
          <a:xfrm>
            <a:off x="2493680" y="4177970"/>
            <a:ext cx="315000" cy="2463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solidFill>
                  <a:schemeClr val="dk1"/>
                </a:solidFill>
              </a:rPr>
              <a:t>EIP</a:t>
            </a:r>
            <a:endParaRPr b="1" sz="1000">
              <a:solidFill>
                <a:schemeClr val="dk1"/>
              </a:solidFill>
            </a:endParaRPr>
          </a:p>
        </p:txBody>
      </p:sp>
      <p:cxnSp>
        <p:nvCxnSpPr>
          <p:cNvPr id="707" name="Google Shape;707;p61"/>
          <p:cNvCxnSpPr>
            <a:stCxn id="706" idx="3"/>
          </p:cNvCxnSpPr>
          <p:nvPr/>
        </p:nvCxnSpPr>
        <p:spPr>
          <a:xfrm>
            <a:off x="2808680" y="4301120"/>
            <a:ext cx="329100" cy="0"/>
          </a:xfrm>
          <a:prstGeom prst="straightConnector1">
            <a:avLst/>
          </a:prstGeom>
          <a:noFill/>
          <a:ln cap="flat" cmpd="sng" w="9525">
            <a:solidFill>
              <a:srgbClr val="595959"/>
            </a:solidFill>
            <a:prstDash val="solid"/>
            <a:round/>
            <a:headEnd len="med" w="med" type="none"/>
            <a:tailEnd len="med" w="med" type="triangle"/>
          </a:ln>
        </p:spPr>
      </p:cxnSp>
      <p:graphicFrame>
        <p:nvGraphicFramePr>
          <p:cNvPr id="708" name="Google Shape;708;p61"/>
          <p:cNvGraphicFramePr/>
          <p:nvPr/>
        </p:nvGraphicFramePr>
        <p:xfrm>
          <a:off x="59815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vulnerable</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\x44</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\xcd</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\xff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\xbf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0xdeadbeef [Fake RIP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 [Fake SFP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709" name="Google Shape;709;p61"/>
          <p:cNvSpPr txBox="1"/>
          <p:nvPr/>
        </p:nvSpPr>
        <p:spPr>
          <a:xfrm>
            <a:off x="102700" y="1200500"/>
            <a:ext cx="4394400" cy="1108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Let’s see what happens when the </a:t>
            </a:r>
            <a:r>
              <a:rPr b="1" lang="en" sz="1200">
                <a:solidFill>
                  <a:schemeClr val="dk1"/>
                </a:solidFill>
                <a:latin typeface="Courier New"/>
                <a:ea typeface="Courier New"/>
                <a:cs typeface="Courier New"/>
                <a:sym typeface="Courier New"/>
              </a:rPr>
              <a:t>vulnerable</a:t>
            </a:r>
            <a:r>
              <a:rPr lang="en" sz="1200">
                <a:solidFill>
                  <a:schemeClr val="dk1"/>
                </a:solidFill>
              </a:rPr>
              <a:t> function returns.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Epilogue step 3: Restore EIP. We never changed the RIP of </a:t>
            </a:r>
            <a:r>
              <a:rPr b="1" lang="en" sz="1200">
                <a:solidFill>
                  <a:schemeClr val="dk1"/>
                </a:solidFill>
                <a:latin typeface="Courier New"/>
                <a:ea typeface="Courier New"/>
                <a:cs typeface="Courier New"/>
                <a:sym typeface="Courier New"/>
              </a:rPr>
              <a:t>vulnerable</a:t>
            </a:r>
            <a:r>
              <a:rPr lang="en" sz="1200">
                <a:solidFill>
                  <a:schemeClr val="dk1"/>
                </a:solidFill>
              </a:rPr>
              <a:t>, so execution returns to </a:t>
            </a:r>
            <a:r>
              <a:rPr b="1" lang="en" sz="1200">
                <a:solidFill>
                  <a:schemeClr val="dk1"/>
                </a:solidFill>
                <a:latin typeface="Courier New"/>
                <a:ea typeface="Courier New"/>
                <a:cs typeface="Courier New"/>
                <a:sym typeface="Courier New"/>
              </a:rPr>
              <a:t>main</a:t>
            </a:r>
            <a:r>
              <a:rPr lang="en" sz="1200">
                <a:solidFill>
                  <a:schemeClr val="dk1"/>
                </a:solidFill>
              </a:rPr>
              <a:t> as normal.</a:t>
            </a:r>
            <a:endParaRPr sz="1200">
              <a:solidFill>
                <a:schemeClr val="dk1"/>
              </a:solidFill>
            </a:endParaRPr>
          </a:p>
        </p:txBody>
      </p:sp>
      <p:sp>
        <p:nvSpPr>
          <p:cNvPr id="710" name="Google Shape;710;p61"/>
          <p:cNvSpPr/>
          <p:nvPr/>
        </p:nvSpPr>
        <p:spPr>
          <a:xfrm>
            <a:off x="8435100" y="3393150"/>
            <a:ext cx="485875" cy="1250525"/>
          </a:xfrm>
          <a:custGeom>
            <a:rect b="b" l="l" r="r" t="t"/>
            <a:pathLst>
              <a:path extrusionOk="0" h="50021" w="19435">
                <a:moveTo>
                  <a:pt x="8284" y="0"/>
                </a:moveTo>
                <a:lnTo>
                  <a:pt x="19435" y="0"/>
                </a:lnTo>
                <a:lnTo>
                  <a:pt x="19435" y="50021"/>
                </a:lnTo>
                <a:lnTo>
                  <a:pt x="0" y="50021"/>
                </a:lnTo>
              </a:path>
            </a:pathLst>
          </a:custGeom>
          <a:noFill/>
          <a:ln cap="flat" cmpd="sng" w="9525">
            <a:solidFill>
              <a:schemeClr val="dk2"/>
            </a:solidFill>
            <a:prstDash val="solid"/>
            <a:round/>
            <a:headEnd len="med" w="med" type="none"/>
            <a:tailEnd len="med" w="med" type="triangle"/>
          </a:ln>
        </p:spPr>
      </p:sp>
      <p:sp>
        <p:nvSpPr>
          <p:cNvPr id="711" name="Google Shape;711;p61"/>
          <p:cNvSpPr txBox="1"/>
          <p:nvPr/>
        </p:nvSpPr>
        <p:spPr>
          <a:xfrm>
            <a:off x="4695775" y="2708982"/>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ESP</a:t>
            </a:r>
            <a:endParaRPr b="1" sz="1000">
              <a:solidFill>
                <a:srgbClr val="FF0000"/>
              </a:solidFill>
            </a:endParaRPr>
          </a:p>
        </p:txBody>
      </p:sp>
      <p:cxnSp>
        <p:nvCxnSpPr>
          <p:cNvPr id="712" name="Google Shape;712;p61"/>
          <p:cNvCxnSpPr/>
          <p:nvPr/>
        </p:nvCxnSpPr>
        <p:spPr>
          <a:xfrm>
            <a:off x="5176675" y="2878324"/>
            <a:ext cx="604800" cy="0"/>
          </a:xfrm>
          <a:prstGeom prst="straightConnector1">
            <a:avLst/>
          </a:prstGeom>
          <a:noFill/>
          <a:ln cap="flat" cmpd="sng" w="9525">
            <a:solidFill>
              <a:srgbClr val="FF0000"/>
            </a:solidFill>
            <a:prstDash val="solid"/>
            <a:round/>
            <a:headEnd len="med" w="med" type="none"/>
            <a:tailEnd len="med" w="med" type="triangle"/>
          </a:ln>
        </p:spPr>
      </p:cxnSp>
      <p:sp>
        <p:nvSpPr>
          <p:cNvPr id="713" name="Google Shape;713;p61"/>
          <p:cNvSpPr txBox="1"/>
          <p:nvPr/>
        </p:nvSpPr>
        <p:spPr>
          <a:xfrm>
            <a:off x="4695775" y="4425208"/>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t>EBP</a:t>
            </a:r>
            <a:endParaRPr b="1" sz="1000"/>
          </a:p>
        </p:txBody>
      </p:sp>
      <p:cxnSp>
        <p:nvCxnSpPr>
          <p:cNvPr id="714" name="Google Shape;714;p61"/>
          <p:cNvCxnSpPr/>
          <p:nvPr/>
        </p:nvCxnSpPr>
        <p:spPr>
          <a:xfrm>
            <a:off x="5176675" y="4594550"/>
            <a:ext cx="604800" cy="0"/>
          </a:xfrm>
          <a:prstGeom prst="straightConnector1">
            <a:avLst/>
          </a:prstGeom>
          <a:noFill/>
          <a:ln cap="flat" cmpd="sng" w="9525">
            <a:solidFill>
              <a:schemeClr val="dk1"/>
            </a:solidFill>
            <a:prstDash val="solid"/>
            <a:round/>
            <a:headEnd len="med" w="med" type="none"/>
            <a:tailEnd len="med" w="med" type="triangle"/>
          </a:ln>
        </p:spPr>
      </p:cxnSp>
      <p:sp>
        <p:nvSpPr>
          <p:cNvPr id="715" name="Google Shape;715;p61"/>
          <p:cNvSpPr txBox="1"/>
          <p:nvPr/>
        </p:nvSpPr>
        <p:spPr>
          <a:xfrm>
            <a:off x="197418" y="3206000"/>
            <a:ext cx="2265000" cy="1569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name[20];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fread(name,21,1,stdin);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int main(void)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return 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graphicFrame>
        <p:nvGraphicFramePr>
          <p:cNvPr id="720" name="Google Shape;720;p62"/>
          <p:cNvGraphicFramePr/>
          <p:nvPr/>
        </p:nvGraphicFramePr>
        <p:xfrm>
          <a:off x="7212679" y="2518285"/>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721" name="Google Shape;721;p62"/>
          <p:cNvSpPr txBox="1"/>
          <p:nvPr/>
        </p:nvSpPr>
        <p:spPr>
          <a:xfrm rot="-5400000">
            <a:off x="7753350" y="39247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9E9E9E"/>
                </a:solidFill>
                <a:latin typeface="Courier New"/>
                <a:ea typeface="Courier New"/>
                <a:cs typeface="Courier New"/>
                <a:sym typeface="Courier New"/>
              </a:rPr>
              <a:t>name</a:t>
            </a:r>
            <a:endParaRPr b="1" sz="1200">
              <a:solidFill>
                <a:srgbClr val="9E9E9E"/>
              </a:solidFill>
              <a:latin typeface="Courier New"/>
              <a:ea typeface="Courier New"/>
              <a:cs typeface="Courier New"/>
              <a:sym typeface="Courier New"/>
            </a:endParaRPr>
          </a:p>
        </p:txBody>
      </p:sp>
      <p:cxnSp>
        <p:nvCxnSpPr>
          <p:cNvPr id="722" name="Google Shape;722;p62"/>
          <p:cNvCxnSpPr/>
          <p:nvPr/>
        </p:nvCxnSpPr>
        <p:spPr>
          <a:xfrm>
            <a:off x="8367750" y="35104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723" name="Google Shape;723;p62"/>
          <p:cNvCxnSpPr/>
          <p:nvPr/>
        </p:nvCxnSpPr>
        <p:spPr>
          <a:xfrm>
            <a:off x="8367750" y="4398425"/>
            <a:ext cx="0" cy="340800"/>
          </a:xfrm>
          <a:prstGeom prst="straightConnector1">
            <a:avLst/>
          </a:prstGeom>
          <a:noFill/>
          <a:ln cap="flat" cmpd="sng" w="9525">
            <a:solidFill>
              <a:schemeClr val="dk2"/>
            </a:solidFill>
            <a:prstDash val="solid"/>
            <a:round/>
            <a:headEnd len="med" w="med" type="none"/>
            <a:tailEnd len="med" w="med" type="none"/>
          </a:ln>
        </p:spPr>
      </p:cxnSp>
      <p:graphicFrame>
        <p:nvGraphicFramePr>
          <p:cNvPr id="724" name="Google Shape;724;p62"/>
          <p:cNvGraphicFramePr/>
          <p:nvPr/>
        </p:nvGraphicFramePr>
        <p:xfrm>
          <a:off x="4837550" y="2510624"/>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725" name="Google Shape;725;p6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Off-by-one</a:t>
            </a:r>
            <a:endParaRPr/>
          </a:p>
        </p:txBody>
      </p:sp>
      <p:sp>
        <p:nvSpPr>
          <p:cNvPr id="726" name="Google Shape;726;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27" name="Google Shape;727;p62"/>
          <p:cNvSpPr txBox="1"/>
          <p:nvPr/>
        </p:nvSpPr>
        <p:spPr>
          <a:xfrm>
            <a:off x="2807925" y="2445675"/>
            <a:ext cx="1821000" cy="233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call fread</a:t>
            </a:r>
            <a:br>
              <a:rPr b="1" lang="en" sz="1000">
                <a:solidFill>
                  <a:schemeClr val="dk1"/>
                </a:solidFill>
                <a:latin typeface="Courier New"/>
                <a:ea typeface="Courier New"/>
                <a:cs typeface="Courier New"/>
                <a:sym typeface="Courier New"/>
              </a:rPr>
            </a:br>
            <a:r>
              <a:rPr b="1" lang="en" sz="1000">
                <a:solidFill>
                  <a:schemeClr val="dk1"/>
                </a:solidFill>
                <a:latin typeface="Courier New"/>
                <a:ea typeface="Courier New"/>
                <a:cs typeface="Courier New"/>
                <a:sym typeface="Courier New"/>
              </a:rPr>
              <a:t>    add $16,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rgbClr val="FF0000"/>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main: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a:t>
            </a:r>
            <a:r>
              <a:rPr b="1" lang="en" sz="1000">
                <a:solidFill>
                  <a:srgbClr val="FF0000"/>
                </a:solidFill>
                <a:latin typeface="Courier New"/>
                <a:ea typeface="Courier New"/>
                <a:cs typeface="Courier New"/>
                <a:sym typeface="Courier New"/>
              </a:rPr>
              <a:t>mov %ebp, %esp</a:t>
            </a:r>
            <a:endParaRPr b="1" sz="1000">
              <a:solidFill>
                <a:srgbClr val="FF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p:txBody>
      </p:sp>
      <p:sp>
        <p:nvSpPr>
          <p:cNvPr id="728" name="Google Shape;728;p62"/>
          <p:cNvSpPr txBox="1"/>
          <p:nvPr/>
        </p:nvSpPr>
        <p:spPr>
          <a:xfrm>
            <a:off x="2493680" y="4330370"/>
            <a:ext cx="315000" cy="2463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solidFill>
                  <a:schemeClr val="dk1"/>
                </a:solidFill>
              </a:rPr>
              <a:t>EIP</a:t>
            </a:r>
            <a:endParaRPr b="1" sz="1000">
              <a:solidFill>
                <a:schemeClr val="dk1"/>
              </a:solidFill>
            </a:endParaRPr>
          </a:p>
        </p:txBody>
      </p:sp>
      <p:cxnSp>
        <p:nvCxnSpPr>
          <p:cNvPr id="729" name="Google Shape;729;p62"/>
          <p:cNvCxnSpPr>
            <a:stCxn id="728" idx="3"/>
          </p:cNvCxnSpPr>
          <p:nvPr/>
        </p:nvCxnSpPr>
        <p:spPr>
          <a:xfrm>
            <a:off x="2808680" y="4453520"/>
            <a:ext cx="329100" cy="0"/>
          </a:xfrm>
          <a:prstGeom prst="straightConnector1">
            <a:avLst/>
          </a:prstGeom>
          <a:noFill/>
          <a:ln cap="flat" cmpd="sng" w="9525">
            <a:solidFill>
              <a:srgbClr val="595959"/>
            </a:solidFill>
            <a:prstDash val="solid"/>
            <a:round/>
            <a:headEnd len="med" w="med" type="none"/>
            <a:tailEnd len="med" w="med" type="triangle"/>
          </a:ln>
        </p:spPr>
      </p:cxnSp>
      <p:graphicFrame>
        <p:nvGraphicFramePr>
          <p:cNvPr id="730" name="Google Shape;730;p62"/>
          <p:cNvGraphicFramePr/>
          <p:nvPr/>
        </p:nvGraphicFramePr>
        <p:xfrm>
          <a:off x="59815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vulnerable</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\x44</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\xcd</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\xff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\xbf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0xdeadbeef [Fake RIP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 [Fake SFP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731" name="Google Shape;731;p62"/>
          <p:cNvSpPr txBox="1"/>
          <p:nvPr/>
        </p:nvSpPr>
        <p:spPr>
          <a:xfrm>
            <a:off x="102700" y="1200500"/>
            <a:ext cx="4394400" cy="9234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Let’s see what happens when the </a:t>
            </a:r>
            <a:r>
              <a:rPr b="1" lang="en" sz="1200">
                <a:solidFill>
                  <a:schemeClr val="dk1"/>
                </a:solidFill>
                <a:latin typeface="Courier New"/>
                <a:ea typeface="Courier New"/>
                <a:cs typeface="Courier New"/>
                <a:sym typeface="Courier New"/>
              </a:rPr>
              <a:t>main</a:t>
            </a:r>
            <a:r>
              <a:rPr lang="en" sz="1200">
                <a:solidFill>
                  <a:schemeClr val="dk1"/>
                </a:solidFill>
              </a:rPr>
              <a:t> function returns, now with the EBP in the wrong place.</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Epilogue step 1: Move ESP back up.</a:t>
            </a:r>
            <a:endParaRPr sz="1200">
              <a:solidFill>
                <a:schemeClr val="dk1"/>
              </a:solidFill>
            </a:endParaRPr>
          </a:p>
        </p:txBody>
      </p:sp>
      <p:sp>
        <p:nvSpPr>
          <p:cNvPr id="732" name="Google Shape;732;p62"/>
          <p:cNvSpPr/>
          <p:nvPr/>
        </p:nvSpPr>
        <p:spPr>
          <a:xfrm>
            <a:off x="8435100" y="3393150"/>
            <a:ext cx="485875" cy="1250525"/>
          </a:xfrm>
          <a:custGeom>
            <a:rect b="b" l="l" r="r" t="t"/>
            <a:pathLst>
              <a:path extrusionOk="0" h="50021" w="19435">
                <a:moveTo>
                  <a:pt x="8284" y="0"/>
                </a:moveTo>
                <a:lnTo>
                  <a:pt x="19435" y="0"/>
                </a:lnTo>
                <a:lnTo>
                  <a:pt x="19435" y="50021"/>
                </a:lnTo>
                <a:lnTo>
                  <a:pt x="0" y="50021"/>
                </a:lnTo>
              </a:path>
            </a:pathLst>
          </a:custGeom>
          <a:noFill/>
          <a:ln cap="flat" cmpd="sng" w="9525">
            <a:solidFill>
              <a:schemeClr val="dk2"/>
            </a:solidFill>
            <a:prstDash val="solid"/>
            <a:round/>
            <a:headEnd len="med" w="med" type="none"/>
            <a:tailEnd len="med" w="med" type="triangle"/>
          </a:ln>
        </p:spPr>
      </p:sp>
      <p:sp>
        <p:nvSpPr>
          <p:cNvPr id="733" name="Google Shape;733;p62"/>
          <p:cNvSpPr txBox="1"/>
          <p:nvPr/>
        </p:nvSpPr>
        <p:spPr>
          <a:xfrm>
            <a:off x="4695775" y="4377417"/>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ESP</a:t>
            </a:r>
            <a:endParaRPr b="1" sz="1000">
              <a:solidFill>
                <a:srgbClr val="FF0000"/>
              </a:solidFill>
            </a:endParaRPr>
          </a:p>
        </p:txBody>
      </p:sp>
      <p:sp>
        <p:nvSpPr>
          <p:cNvPr id="734" name="Google Shape;734;p62"/>
          <p:cNvSpPr txBox="1"/>
          <p:nvPr/>
        </p:nvSpPr>
        <p:spPr>
          <a:xfrm>
            <a:off x="4695775" y="4501408"/>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t>EBP</a:t>
            </a:r>
            <a:endParaRPr b="1" sz="1000"/>
          </a:p>
        </p:txBody>
      </p:sp>
      <p:cxnSp>
        <p:nvCxnSpPr>
          <p:cNvPr id="735" name="Google Shape;735;p62"/>
          <p:cNvCxnSpPr/>
          <p:nvPr/>
        </p:nvCxnSpPr>
        <p:spPr>
          <a:xfrm>
            <a:off x="5176675" y="4594550"/>
            <a:ext cx="604800" cy="0"/>
          </a:xfrm>
          <a:prstGeom prst="straightConnector1">
            <a:avLst/>
          </a:prstGeom>
          <a:noFill/>
          <a:ln cap="flat" cmpd="sng" w="9525">
            <a:solidFill>
              <a:srgbClr val="FF0000"/>
            </a:solidFill>
            <a:prstDash val="solid"/>
            <a:round/>
            <a:headEnd len="med" w="med" type="none"/>
            <a:tailEnd len="med" w="med" type="triangle"/>
          </a:ln>
        </p:spPr>
      </p:cxnSp>
      <p:sp>
        <p:nvSpPr>
          <p:cNvPr id="736" name="Google Shape;736;p62"/>
          <p:cNvSpPr txBox="1"/>
          <p:nvPr/>
        </p:nvSpPr>
        <p:spPr>
          <a:xfrm>
            <a:off x="197418" y="3206000"/>
            <a:ext cx="2265000" cy="1569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name[20];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fread(name,21,1,stdin);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int main(void)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return 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graphicFrame>
        <p:nvGraphicFramePr>
          <p:cNvPr id="741" name="Google Shape;741;p63"/>
          <p:cNvGraphicFramePr/>
          <p:nvPr/>
        </p:nvGraphicFramePr>
        <p:xfrm>
          <a:off x="7212679" y="2518285"/>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742" name="Google Shape;742;p63"/>
          <p:cNvSpPr txBox="1"/>
          <p:nvPr/>
        </p:nvSpPr>
        <p:spPr>
          <a:xfrm rot="-5400000">
            <a:off x="7753350" y="39247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9E9E9E"/>
                </a:solidFill>
                <a:latin typeface="Courier New"/>
                <a:ea typeface="Courier New"/>
                <a:cs typeface="Courier New"/>
                <a:sym typeface="Courier New"/>
              </a:rPr>
              <a:t>name</a:t>
            </a:r>
            <a:endParaRPr b="1" sz="1200">
              <a:solidFill>
                <a:srgbClr val="9E9E9E"/>
              </a:solidFill>
              <a:latin typeface="Courier New"/>
              <a:ea typeface="Courier New"/>
              <a:cs typeface="Courier New"/>
              <a:sym typeface="Courier New"/>
            </a:endParaRPr>
          </a:p>
        </p:txBody>
      </p:sp>
      <p:cxnSp>
        <p:nvCxnSpPr>
          <p:cNvPr id="743" name="Google Shape;743;p63"/>
          <p:cNvCxnSpPr/>
          <p:nvPr/>
        </p:nvCxnSpPr>
        <p:spPr>
          <a:xfrm>
            <a:off x="8367750" y="35104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744" name="Google Shape;744;p63"/>
          <p:cNvCxnSpPr/>
          <p:nvPr/>
        </p:nvCxnSpPr>
        <p:spPr>
          <a:xfrm>
            <a:off x="8367750" y="4398425"/>
            <a:ext cx="0" cy="340800"/>
          </a:xfrm>
          <a:prstGeom prst="straightConnector1">
            <a:avLst/>
          </a:prstGeom>
          <a:noFill/>
          <a:ln cap="flat" cmpd="sng" w="9525">
            <a:solidFill>
              <a:schemeClr val="dk2"/>
            </a:solidFill>
            <a:prstDash val="solid"/>
            <a:round/>
            <a:headEnd len="med" w="med" type="none"/>
            <a:tailEnd len="med" w="med" type="none"/>
          </a:ln>
        </p:spPr>
      </p:cxnSp>
      <p:graphicFrame>
        <p:nvGraphicFramePr>
          <p:cNvPr id="745" name="Google Shape;745;p63"/>
          <p:cNvGraphicFramePr/>
          <p:nvPr/>
        </p:nvGraphicFramePr>
        <p:xfrm>
          <a:off x="4837550" y="2510624"/>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746" name="Google Shape;746;p6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Off-by-one</a:t>
            </a:r>
            <a:endParaRPr/>
          </a:p>
        </p:txBody>
      </p:sp>
      <p:sp>
        <p:nvSpPr>
          <p:cNvPr id="747" name="Google Shape;747;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48" name="Google Shape;748;p63"/>
          <p:cNvSpPr txBox="1"/>
          <p:nvPr/>
        </p:nvSpPr>
        <p:spPr>
          <a:xfrm>
            <a:off x="2807925" y="2445675"/>
            <a:ext cx="1821000" cy="233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call fread</a:t>
            </a:r>
            <a:br>
              <a:rPr b="1" lang="en" sz="1000">
                <a:solidFill>
                  <a:schemeClr val="dk1"/>
                </a:solidFill>
                <a:latin typeface="Courier New"/>
                <a:ea typeface="Courier New"/>
                <a:cs typeface="Courier New"/>
                <a:sym typeface="Courier New"/>
              </a:rPr>
            </a:br>
            <a:r>
              <a:rPr b="1" lang="en" sz="1000">
                <a:solidFill>
                  <a:schemeClr val="dk1"/>
                </a:solidFill>
                <a:latin typeface="Courier New"/>
                <a:ea typeface="Courier New"/>
                <a:cs typeface="Courier New"/>
                <a:sym typeface="Courier New"/>
              </a:rPr>
              <a:t>    add $16,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rgbClr val="FF0000"/>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main: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a:t>
            </a:r>
            <a:r>
              <a:rPr b="1" lang="en" sz="1000">
                <a:latin typeface="Courier New"/>
                <a:ea typeface="Courier New"/>
                <a:cs typeface="Courier New"/>
                <a:sym typeface="Courier New"/>
              </a:rPr>
              <a:t> mov %ebp, %esp</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rgbClr val="FF0000"/>
                </a:solidFill>
                <a:latin typeface="Courier New"/>
                <a:ea typeface="Courier New"/>
                <a:cs typeface="Courier New"/>
                <a:sym typeface="Courier New"/>
              </a:rPr>
              <a:t>    pop %ebp</a:t>
            </a:r>
            <a:endParaRPr b="1" sz="1000">
              <a:solidFill>
                <a:srgbClr val="FF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p:txBody>
      </p:sp>
      <p:sp>
        <p:nvSpPr>
          <p:cNvPr id="749" name="Google Shape;749;p63"/>
          <p:cNvSpPr txBox="1"/>
          <p:nvPr/>
        </p:nvSpPr>
        <p:spPr>
          <a:xfrm>
            <a:off x="2493680" y="4482770"/>
            <a:ext cx="315000" cy="2463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solidFill>
                  <a:schemeClr val="dk1"/>
                </a:solidFill>
              </a:rPr>
              <a:t>EIP</a:t>
            </a:r>
            <a:endParaRPr b="1" sz="1000">
              <a:solidFill>
                <a:schemeClr val="dk1"/>
              </a:solidFill>
            </a:endParaRPr>
          </a:p>
        </p:txBody>
      </p:sp>
      <p:cxnSp>
        <p:nvCxnSpPr>
          <p:cNvPr id="750" name="Google Shape;750;p63"/>
          <p:cNvCxnSpPr>
            <a:stCxn id="749" idx="3"/>
          </p:cNvCxnSpPr>
          <p:nvPr/>
        </p:nvCxnSpPr>
        <p:spPr>
          <a:xfrm>
            <a:off x="2808680" y="4605920"/>
            <a:ext cx="329100" cy="0"/>
          </a:xfrm>
          <a:prstGeom prst="straightConnector1">
            <a:avLst/>
          </a:prstGeom>
          <a:noFill/>
          <a:ln cap="flat" cmpd="sng" w="9525">
            <a:solidFill>
              <a:srgbClr val="595959"/>
            </a:solidFill>
            <a:prstDash val="solid"/>
            <a:round/>
            <a:headEnd len="med" w="med" type="none"/>
            <a:tailEnd len="med" w="med" type="triangle"/>
          </a:ln>
        </p:spPr>
      </p:cxnSp>
      <p:graphicFrame>
        <p:nvGraphicFramePr>
          <p:cNvPr id="751" name="Google Shape;751;p63"/>
          <p:cNvGraphicFramePr/>
          <p:nvPr/>
        </p:nvGraphicFramePr>
        <p:xfrm>
          <a:off x="59815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vulnerable</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\x44</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\xcd</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\xff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\xbf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0xdeadbeef [Fake RIP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 [Fake SFP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752" name="Google Shape;752;p63"/>
          <p:cNvSpPr txBox="1"/>
          <p:nvPr/>
        </p:nvSpPr>
        <p:spPr>
          <a:xfrm>
            <a:off x="102700" y="1200500"/>
            <a:ext cx="4394400" cy="1108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200">
                <a:solidFill>
                  <a:schemeClr val="dk1"/>
                </a:solidFill>
              </a:rPr>
              <a:t>Let’s see what happens when the </a:t>
            </a:r>
            <a:r>
              <a:rPr b="1" lang="en" sz="1200">
                <a:solidFill>
                  <a:schemeClr val="dk1"/>
                </a:solidFill>
                <a:latin typeface="Courier New"/>
                <a:ea typeface="Courier New"/>
                <a:cs typeface="Courier New"/>
                <a:sym typeface="Courier New"/>
              </a:rPr>
              <a:t>main</a:t>
            </a:r>
            <a:r>
              <a:rPr lang="en" sz="1200">
                <a:solidFill>
                  <a:schemeClr val="dk1"/>
                </a:solidFill>
              </a:rPr>
              <a:t> function returns, now with the EBP in the wrong place.</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Epilogue step 2: Restore EBP. The program looks at our fake SFP to restore EBP, and points EBP to garbage AAAA.</a:t>
            </a:r>
            <a:endParaRPr sz="1200">
              <a:solidFill>
                <a:schemeClr val="dk1"/>
              </a:solidFill>
            </a:endParaRPr>
          </a:p>
        </p:txBody>
      </p:sp>
      <p:sp>
        <p:nvSpPr>
          <p:cNvPr id="753" name="Google Shape;753;p63"/>
          <p:cNvSpPr/>
          <p:nvPr/>
        </p:nvSpPr>
        <p:spPr>
          <a:xfrm>
            <a:off x="8435100" y="3393150"/>
            <a:ext cx="485875" cy="1250525"/>
          </a:xfrm>
          <a:custGeom>
            <a:rect b="b" l="l" r="r" t="t"/>
            <a:pathLst>
              <a:path extrusionOk="0" h="50021" w="19435">
                <a:moveTo>
                  <a:pt x="8284" y="0"/>
                </a:moveTo>
                <a:lnTo>
                  <a:pt x="19435" y="0"/>
                </a:lnTo>
                <a:lnTo>
                  <a:pt x="19435" y="50021"/>
                </a:lnTo>
                <a:lnTo>
                  <a:pt x="0" y="50021"/>
                </a:lnTo>
              </a:path>
            </a:pathLst>
          </a:custGeom>
          <a:noFill/>
          <a:ln cap="flat" cmpd="sng" w="9525">
            <a:solidFill>
              <a:schemeClr val="dk2"/>
            </a:solidFill>
            <a:prstDash val="solid"/>
            <a:round/>
            <a:headEnd len="med" w="med" type="none"/>
            <a:tailEnd len="med" w="med" type="triangle"/>
          </a:ln>
        </p:spPr>
      </p:sp>
      <p:sp>
        <p:nvSpPr>
          <p:cNvPr id="754" name="Google Shape;754;p63"/>
          <p:cNvSpPr txBox="1"/>
          <p:nvPr/>
        </p:nvSpPr>
        <p:spPr>
          <a:xfrm>
            <a:off x="6440050" y="565975"/>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EBP</a:t>
            </a:r>
            <a:endParaRPr b="1" sz="1000">
              <a:solidFill>
                <a:srgbClr val="FF0000"/>
              </a:solidFill>
            </a:endParaRPr>
          </a:p>
        </p:txBody>
      </p:sp>
      <p:cxnSp>
        <p:nvCxnSpPr>
          <p:cNvPr id="755" name="Google Shape;755;p63"/>
          <p:cNvCxnSpPr>
            <a:stCxn id="754" idx="3"/>
          </p:cNvCxnSpPr>
          <p:nvPr/>
        </p:nvCxnSpPr>
        <p:spPr>
          <a:xfrm>
            <a:off x="6920950" y="735325"/>
            <a:ext cx="500100" cy="0"/>
          </a:xfrm>
          <a:prstGeom prst="straightConnector1">
            <a:avLst/>
          </a:prstGeom>
          <a:noFill/>
          <a:ln cap="flat" cmpd="sng" w="9525">
            <a:solidFill>
              <a:srgbClr val="FF0000"/>
            </a:solidFill>
            <a:prstDash val="solid"/>
            <a:round/>
            <a:headEnd len="med" w="med" type="none"/>
            <a:tailEnd len="med" w="med" type="triangle"/>
          </a:ln>
        </p:spPr>
      </p:cxnSp>
      <p:pic>
        <p:nvPicPr>
          <p:cNvPr id="756" name="Google Shape;756;p63"/>
          <p:cNvPicPr preferRelativeResize="0"/>
          <p:nvPr/>
        </p:nvPicPr>
        <p:blipFill>
          <a:blip r:embed="rId3">
            <a:alphaModFix/>
          </a:blip>
          <a:stretch>
            <a:fillRect/>
          </a:stretch>
        </p:blipFill>
        <p:spPr>
          <a:xfrm>
            <a:off x="7489250" y="24375"/>
            <a:ext cx="1065699" cy="1065699"/>
          </a:xfrm>
          <a:prstGeom prst="rect">
            <a:avLst/>
          </a:prstGeom>
          <a:noFill/>
          <a:ln>
            <a:noFill/>
          </a:ln>
        </p:spPr>
      </p:pic>
      <p:sp>
        <p:nvSpPr>
          <p:cNvPr id="757" name="Google Shape;757;p63"/>
          <p:cNvSpPr txBox="1"/>
          <p:nvPr/>
        </p:nvSpPr>
        <p:spPr>
          <a:xfrm>
            <a:off x="4695775" y="4156782"/>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ESP</a:t>
            </a:r>
            <a:endParaRPr b="1" sz="1000">
              <a:solidFill>
                <a:srgbClr val="FF0000"/>
              </a:solidFill>
            </a:endParaRPr>
          </a:p>
        </p:txBody>
      </p:sp>
      <p:cxnSp>
        <p:nvCxnSpPr>
          <p:cNvPr id="758" name="Google Shape;758;p63"/>
          <p:cNvCxnSpPr/>
          <p:nvPr/>
        </p:nvCxnSpPr>
        <p:spPr>
          <a:xfrm>
            <a:off x="5176675" y="4326124"/>
            <a:ext cx="604800" cy="0"/>
          </a:xfrm>
          <a:prstGeom prst="straightConnector1">
            <a:avLst/>
          </a:prstGeom>
          <a:noFill/>
          <a:ln cap="flat" cmpd="sng" w="9525">
            <a:solidFill>
              <a:srgbClr val="FF0000"/>
            </a:solidFill>
            <a:prstDash val="solid"/>
            <a:round/>
            <a:headEnd len="med" w="med" type="none"/>
            <a:tailEnd len="med" w="med" type="triangle"/>
          </a:ln>
        </p:spPr>
      </p:cxnSp>
      <p:sp>
        <p:nvSpPr>
          <p:cNvPr id="759" name="Google Shape;759;p63"/>
          <p:cNvSpPr txBox="1"/>
          <p:nvPr/>
        </p:nvSpPr>
        <p:spPr>
          <a:xfrm>
            <a:off x="197418" y="3206000"/>
            <a:ext cx="2265000" cy="1569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name[20];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fread(name,21,1,stdin);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int main(void)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return 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graphicFrame>
        <p:nvGraphicFramePr>
          <p:cNvPr id="764" name="Google Shape;764;p64"/>
          <p:cNvGraphicFramePr/>
          <p:nvPr/>
        </p:nvGraphicFramePr>
        <p:xfrm>
          <a:off x="7212679" y="2518285"/>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m</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RIP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67125">
                <a:tc gridSpan="4">
                  <a:txBody>
                    <a:bodyPr/>
                    <a:lstStyle/>
                    <a:p>
                      <a:pPr indent="0" lvl="0" marL="0" rtl="0" algn="r">
                        <a:spcBef>
                          <a:spcPts val="0"/>
                        </a:spcBef>
                        <a:spcAft>
                          <a:spcPts val="0"/>
                        </a:spcAft>
                        <a:buNone/>
                      </a:pPr>
                      <a:r>
                        <a:rPr b="1" lang="en" sz="1000">
                          <a:solidFill>
                            <a:srgbClr val="9E9E9E"/>
                          </a:solidFill>
                          <a:latin typeface="Courier New"/>
                          <a:ea typeface="Courier New"/>
                          <a:cs typeface="Courier New"/>
                          <a:sym typeface="Courier New"/>
                        </a:rPr>
                        <a:t>SFP v</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765" name="Google Shape;765;p64"/>
          <p:cNvSpPr txBox="1"/>
          <p:nvPr/>
        </p:nvSpPr>
        <p:spPr>
          <a:xfrm rot="-5400000">
            <a:off x="7753350" y="39247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9E9E9E"/>
                </a:solidFill>
                <a:latin typeface="Courier New"/>
                <a:ea typeface="Courier New"/>
                <a:cs typeface="Courier New"/>
                <a:sym typeface="Courier New"/>
              </a:rPr>
              <a:t>name</a:t>
            </a:r>
            <a:endParaRPr b="1" sz="1200">
              <a:solidFill>
                <a:srgbClr val="9E9E9E"/>
              </a:solidFill>
              <a:latin typeface="Courier New"/>
              <a:ea typeface="Courier New"/>
              <a:cs typeface="Courier New"/>
              <a:sym typeface="Courier New"/>
            </a:endParaRPr>
          </a:p>
        </p:txBody>
      </p:sp>
      <p:cxnSp>
        <p:nvCxnSpPr>
          <p:cNvPr id="766" name="Google Shape;766;p64"/>
          <p:cNvCxnSpPr/>
          <p:nvPr/>
        </p:nvCxnSpPr>
        <p:spPr>
          <a:xfrm>
            <a:off x="8367750" y="35104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767" name="Google Shape;767;p64"/>
          <p:cNvCxnSpPr/>
          <p:nvPr/>
        </p:nvCxnSpPr>
        <p:spPr>
          <a:xfrm>
            <a:off x="8367750" y="4398425"/>
            <a:ext cx="0" cy="340800"/>
          </a:xfrm>
          <a:prstGeom prst="straightConnector1">
            <a:avLst/>
          </a:prstGeom>
          <a:noFill/>
          <a:ln cap="flat" cmpd="sng" w="9525">
            <a:solidFill>
              <a:schemeClr val="dk2"/>
            </a:solidFill>
            <a:prstDash val="solid"/>
            <a:round/>
            <a:headEnd len="med" w="med" type="none"/>
            <a:tailEnd len="med" w="med" type="none"/>
          </a:ln>
        </p:spPr>
      </p:cxnSp>
      <p:graphicFrame>
        <p:nvGraphicFramePr>
          <p:cNvPr id="768" name="Google Shape;768;p64"/>
          <p:cNvGraphicFramePr/>
          <p:nvPr/>
        </p:nvGraphicFramePr>
        <p:xfrm>
          <a:off x="4837550" y="2510624"/>
          <a:ext cx="3000000" cy="3000000"/>
        </p:xfrm>
        <a:graphic>
          <a:graphicData uri="http://schemas.openxmlformats.org/drawingml/2006/table">
            <a:tbl>
              <a:tblPr>
                <a:noFill/>
                <a:tableStyleId>{9EC4224E-2C12-493B-A528-770CF28DDED8}</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0xbfffcd60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0xbfffcd50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0xbfffcd4c</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0xbfffcd48</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0xbfffcd44</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E9E9E"/>
                          </a:solidFill>
                          <a:latin typeface="Courier New"/>
                          <a:ea typeface="Courier New"/>
                          <a:cs typeface="Courier New"/>
                          <a:sym typeface="Courier New"/>
                        </a:rPr>
                        <a:t>0xbfffcd40</a:t>
                      </a:r>
                      <a:endParaRPr b="1" sz="1000">
                        <a:solidFill>
                          <a:srgbClr val="9E9E9E"/>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769" name="Google Shape;769;p6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Off-by-one</a:t>
            </a:r>
            <a:endParaRPr/>
          </a:p>
        </p:txBody>
      </p:sp>
      <p:sp>
        <p:nvSpPr>
          <p:cNvPr id="770" name="Google Shape;770;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71" name="Google Shape;771;p64"/>
          <p:cNvSpPr txBox="1"/>
          <p:nvPr/>
        </p:nvSpPr>
        <p:spPr>
          <a:xfrm>
            <a:off x="2807925" y="2445675"/>
            <a:ext cx="1821000" cy="233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call fread</a:t>
            </a:r>
            <a:br>
              <a:rPr b="1" lang="en" sz="1000">
                <a:solidFill>
                  <a:schemeClr val="dk1"/>
                </a:solidFill>
                <a:latin typeface="Courier New"/>
                <a:ea typeface="Courier New"/>
                <a:cs typeface="Courier New"/>
                <a:sym typeface="Courier New"/>
              </a:rPr>
            </a:br>
            <a:r>
              <a:rPr b="1" lang="en" sz="1000">
                <a:solidFill>
                  <a:schemeClr val="dk1"/>
                </a:solidFill>
                <a:latin typeface="Courier New"/>
                <a:ea typeface="Courier New"/>
                <a:cs typeface="Courier New"/>
                <a:sym typeface="Courier New"/>
              </a:rPr>
              <a:t>    add $16,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mov %ebp, %esp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r>
              <a:rPr b="1" lang="en" sz="1000">
                <a:solidFill>
                  <a:srgbClr val="FF0000"/>
                </a:solidFill>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pop %ebp</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main: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call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a:t>
            </a:r>
            <a:r>
              <a:rPr b="1" lang="en" sz="1000">
                <a:latin typeface="Courier New"/>
                <a:ea typeface="Courier New"/>
                <a:cs typeface="Courier New"/>
                <a:sym typeface="Courier New"/>
              </a:rPr>
              <a:t> mov %ebp, %esp</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rgbClr val="FF0000"/>
                </a:solidFill>
                <a:latin typeface="Courier New"/>
                <a:ea typeface="Courier New"/>
                <a:cs typeface="Courier New"/>
                <a:sym typeface="Courier New"/>
              </a:rPr>
              <a:t>    pop %ebp</a:t>
            </a:r>
            <a:endParaRPr b="1" sz="1000">
              <a:solidFill>
                <a:srgbClr val="FF0000"/>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a:t>
            </a:r>
            <a:endParaRPr b="1" sz="1000">
              <a:solidFill>
                <a:schemeClr val="dk1"/>
              </a:solidFill>
              <a:latin typeface="Courier New"/>
              <a:ea typeface="Courier New"/>
              <a:cs typeface="Courier New"/>
              <a:sym typeface="Courier New"/>
            </a:endParaRPr>
          </a:p>
        </p:txBody>
      </p:sp>
      <p:sp>
        <p:nvSpPr>
          <p:cNvPr id="772" name="Google Shape;772;p64"/>
          <p:cNvSpPr txBox="1"/>
          <p:nvPr/>
        </p:nvSpPr>
        <p:spPr>
          <a:xfrm>
            <a:off x="4193455" y="632420"/>
            <a:ext cx="315000" cy="2463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1000">
                <a:solidFill>
                  <a:srgbClr val="FF0000"/>
                </a:solidFill>
              </a:rPr>
              <a:t>EIP</a:t>
            </a:r>
            <a:endParaRPr b="1" sz="1000">
              <a:solidFill>
                <a:srgbClr val="FF0000"/>
              </a:solidFill>
            </a:endParaRPr>
          </a:p>
        </p:txBody>
      </p:sp>
      <p:cxnSp>
        <p:nvCxnSpPr>
          <p:cNvPr id="773" name="Google Shape;773;p64"/>
          <p:cNvCxnSpPr>
            <a:stCxn id="772" idx="3"/>
          </p:cNvCxnSpPr>
          <p:nvPr/>
        </p:nvCxnSpPr>
        <p:spPr>
          <a:xfrm>
            <a:off x="4508455" y="755570"/>
            <a:ext cx="329100" cy="0"/>
          </a:xfrm>
          <a:prstGeom prst="straightConnector1">
            <a:avLst/>
          </a:prstGeom>
          <a:noFill/>
          <a:ln cap="flat" cmpd="sng" w="9525">
            <a:solidFill>
              <a:srgbClr val="FF0000"/>
            </a:solidFill>
            <a:prstDash val="solid"/>
            <a:round/>
            <a:headEnd len="med" w="med" type="none"/>
            <a:tailEnd len="med" w="med" type="triangle"/>
          </a:ln>
        </p:spPr>
      </p:cxnSp>
      <p:graphicFrame>
        <p:nvGraphicFramePr>
          <p:cNvPr id="774" name="Google Shape;774;p64"/>
          <p:cNvGraphicFramePr/>
          <p:nvPr/>
        </p:nvGraphicFramePr>
        <p:xfrm>
          <a:off x="5981575" y="1301050"/>
          <a:ext cx="3000000" cy="3000000"/>
        </p:xfrm>
        <a:graphic>
          <a:graphicData uri="http://schemas.openxmlformats.org/drawingml/2006/table">
            <a:tbl>
              <a:tblPr>
                <a:noFill/>
                <a:tableStyleId>{9EC4224E-2C12-493B-A528-770CF28DDED8}</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of main</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of vulnerable</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\x44</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\xcd</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\xff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\xbf</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0xdeadbeef [Fake RIP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AAAA [Fake SFP m]</a:t>
                      </a:r>
                      <a:endParaRPr b="1" sz="1000">
                        <a:solidFill>
                          <a:schemeClr val="dk1"/>
                        </a:solidFill>
                        <a:latin typeface="Courier New"/>
                        <a:ea typeface="Courier New"/>
                        <a:cs typeface="Courier New"/>
                        <a:sym typeface="Courier New"/>
                      </a:endParaRPr>
                    </a:p>
                  </a:txBody>
                  <a:tcPr marT="45700" marB="45700" marR="18275" marL="18275">
                    <a:solidFill>
                      <a:srgbClr val="FFE599"/>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775" name="Google Shape;775;p64"/>
          <p:cNvSpPr txBox="1"/>
          <p:nvPr/>
        </p:nvSpPr>
        <p:spPr>
          <a:xfrm>
            <a:off x="102700" y="1200500"/>
            <a:ext cx="4394400" cy="1108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200">
                <a:solidFill>
                  <a:schemeClr val="dk1"/>
                </a:solidFill>
              </a:rPr>
              <a:t>Let’s see what happens when the </a:t>
            </a:r>
            <a:r>
              <a:rPr b="1" lang="en" sz="1200">
                <a:solidFill>
                  <a:schemeClr val="dk1"/>
                </a:solidFill>
                <a:latin typeface="Courier New"/>
                <a:ea typeface="Courier New"/>
                <a:cs typeface="Courier New"/>
                <a:sym typeface="Courier New"/>
              </a:rPr>
              <a:t>main</a:t>
            </a:r>
            <a:r>
              <a:rPr lang="en" sz="1200">
                <a:solidFill>
                  <a:schemeClr val="dk1"/>
                </a:solidFill>
              </a:rPr>
              <a:t> function returns, now with the EBP in the wrong place.</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Epilogue step 3: Restore EIP. The program looks at our fake RIP to restore EIP, and redirects execution to </a:t>
            </a:r>
            <a:r>
              <a:rPr b="1" lang="en" sz="1200">
                <a:solidFill>
                  <a:schemeClr val="dk1"/>
                </a:solidFill>
                <a:latin typeface="Courier New"/>
                <a:ea typeface="Courier New"/>
                <a:cs typeface="Courier New"/>
                <a:sym typeface="Courier New"/>
              </a:rPr>
              <a:t>0xdeadbeef</a:t>
            </a:r>
            <a:r>
              <a:rPr lang="en" sz="1200">
                <a:solidFill>
                  <a:schemeClr val="dk1"/>
                </a:solidFill>
              </a:rPr>
              <a:t>.</a:t>
            </a:r>
            <a:endParaRPr sz="1200">
              <a:solidFill>
                <a:schemeClr val="dk1"/>
              </a:solidFill>
            </a:endParaRPr>
          </a:p>
        </p:txBody>
      </p:sp>
      <p:sp>
        <p:nvSpPr>
          <p:cNvPr id="776" name="Google Shape;776;p64"/>
          <p:cNvSpPr/>
          <p:nvPr/>
        </p:nvSpPr>
        <p:spPr>
          <a:xfrm>
            <a:off x="8435100" y="3393150"/>
            <a:ext cx="485875" cy="1250525"/>
          </a:xfrm>
          <a:custGeom>
            <a:rect b="b" l="l" r="r" t="t"/>
            <a:pathLst>
              <a:path extrusionOk="0" h="50021" w="19435">
                <a:moveTo>
                  <a:pt x="8284" y="0"/>
                </a:moveTo>
                <a:lnTo>
                  <a:pt x="19435" y="0"/>
                </a:lnTo>
                <a:lnTo>
                  <a:pt x="19435" y="50021"/>
                </a:lnTo>
                <a:lnTo>
                  <a:pt x="0" y="50021"/>
                </a:lnTo>
              </a:path>
            </a:pathLst>
          </a:custGeom>
          <a:noFill/>
          <a:ln cap="flat" cmpd="sng" w="9525">
            <a:solidFill>
              <a:schemeClr val="dk2"/>
            </a:solidFill>
            <a:prstDash val="solid"/>
            <a:round/>
            <a:headEnd len="med" w="med" type="none"/>
            <a:tailEnd len="med" w="med" type="triangle"/>
          </a:ln>
        </p:spPr>
      </p:sp>
      <p:sp>
        <p:nvSpPr>
          <p:cNvPr id="777" name="Google Shape;777;p64"/>
          <p:cNvSpPr txBox="1"/>
          <p:nvPr/>
        </p:nvSpPr>
        <p:spPr>
          <a:xfrm>
            <a:off x="6440050" y="565975"/>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dk1"/>
                </a:solidFill>
              </a:rPr>
              <a:t>EBP</a:t>
            </a:r>
            <a:endParaRPr b="1" sz="1000">
              <a:solidFill>
                <a:schemeClr val="dk1"/>
              </a:solidFill>
            </a:endParaRPr>
          </a:p>
        </p:txBody>
      </p:sp>
      <p:cxnSp>
        <p:nvCxnSpPr>
          <p:cNvPr id="778" name="Google Shape;778;p64"/>
          <p:cNvCxnSpPr>
            <a:stCxn id="777" idx="3"/>
          </p:cNvCxnSpPr>
          <p:nvPr/>
        </p:nvCxnSpPr>
        <p:spPr>
          <a:xfrm>
            <a:off x="6920950" y="735325"/>
            <a:ext cx="500100" cy="0"/>
          </a:xfrm>
          <a:prstGeom prst="straightConnector1">
            <a:avLst/>
          </a:prstGeom>
          <a:noFill/>
          <a:ln cap="flat" cmpd="sng" w="9525">
            <a:solidFill>
              <a:schemeClr val="dk1"/>
            </a:solidFill>
            <a:prstDash val="solid"/>
            <a:round/>
            <a:headEnd len="med" w="med" type="none"/>
            <a:tailEnd len="med" w="med" type="triangle"/>
          </a:ln>
        </p:spPr>
      </p:cxnSp>
      <p:pic>
        <p:nvPicPr>
          <p:cNvPr id="779" name="Google Shape;779;p64"/>
          <p:cNvPicPr preferRelativeResize="0"/>
          <p:nvPr/>
        </p:nvPicPr>
        <p:blipFill>
          <a:blip r:embed="rId3">
            <a:alphaModFix/>
          </a:blip>
          <a:stretch>
            <a:fillRect/>
          </a:stretch>
        </p:blipFill>
        <p:spPr>
          <a:xfrm>
            <a:off x="7489250" y="24375"/>
            <a:ext cx="1065699" cy="1065699"/>
          </a:xfrm>
          <a:prstGeom prst="rect">
            <a:avLst/>
          </a:prstGeom>
          <a:noFill/>
          <a:ln>
            <a:noFill/>
          </a:ln>
        </p:spPr>
      </p:pic>
      <p:sp>
        <p:nvSpPr>
          <p:cNvPr id="780" name="Google Shape;780;p64"/>
          <p:cNvSpPr txBox="1"/>
          <p:nvPr/>
        </p:nvSpPr>
        <p:spPr>
          <a:xfrm>
            <a:off x="4695775" y="3928182"/>
            <a:ext cx="4809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rgbClr val="FF0000"/>
                </a:solidFill>
              </a:rPr>
              <a:t>ESP</a:t>
            </a:r>
            <a:endParaRPr b="1" sz="1000">
              <a:solidFill>
                <a:srgbClr val="FF0000"/>
              </a:solidFill>
            </a:endParaRPr>
          </a:p>
        </p:txBody>
      </p:sp>
      <p:cxnSp>
        <p:nvCxnSpPr>
          <p:cNvPr id="781" name="Google Shape;781;p64"/>
          <p:cNvCxnSpPr/>
          <p:nvPr/>
        </p:nvCxnSpPr>
        <p:spPr>
          <a:xfrm>
            <a:off x="5176675" y="4097524"/>
            <a:ext cx="604800" cy="0"/>
          </a:xfrm>
          <a:prstGeom prst="straightConnector1">
            <a:avLst/>
          </a:prstGeom>
          <a:noFill/>
          <a:ln cap="flat" cmpd="sng" w="9525">
            <a:solidFill>
              <a:srgbClr val="FF0000"/>
            </a:solidFill>
            <a:prstDash val="solid"/>
            <a:round/>
            <a:headEnd len="med" w="med" type="none"/>
            <a:tailEnd len="med" w="med" type="triangle"/>
          </a:ln>
        </p:spPr>
      </p:cxnSp>
      <p:sp>
        <p:nvSpPr>
          <p:cNvPr id="782" name="Google Shape;782;p64"/>
          <p:cNvSpPr txBox="1"/>
          <p:nvPr/>
        </p:nvSpPr>
        <p:spPr>
          <a:xfrm>
            <a:off x="4870650" y="209675"/>
            <a:ext cx="1207200" cy="695100"/>
          </a:xfrm>
          <a:prstGeom prst="rect">
            <a:avLst/>
          </a:prstGeom>
          <a:solidFill>
            <a:srgbClr val="434343"/>
          </a:solidFill>
          <a:ln>
            <a:noFill/>
          </a:ln>
        </p:spPr>
        <p:txBody>
          <a:bodyPr anchorCtr="0" anchor="t" bIns="91425" lIns="182875" spcFirstLastPara="1" rIns="182875" wrap="square" tIns="91425">
            <a:noAutofit/>
          </a:bodyPr>
          <a:lstStyle/>
          <a:p>
            <a:pPr indent="0" lvl="0" marL="0" rtl="0" algn="l">
              <a:spcBef>
                <a:spcPts val="0"/>
              </a:spcBef>
              <a:spcAft>
                <a:spcPts val="0"/>
              </a:spcAft>
              <a:buNone/>
            </a:pPr>
            <a:r>
              <a:rPr b="1" lang="en" sz="1200">
                <a:solidFill>
                  <a:srgbClr val="00FF00"/>
                </a:solidFill>
                <a:latin typeface="Courier New"/>
                <a:ea typeface="Courier New"/>
                <a:cs typeface="Courier New"/>
                <a:sym typeface="Courier New"/>
              </a:rPr>
              <a:t>sh # </a:t>
            </a:r>
            <a:r>
              <a:rPr b="1" lang="en" sz="1200">
                <a:solidFill>
                  <a:srgbClr val="FFFFFF"/>
                </a:solidFill>
                <a:latin typeface="Courier New"/>
                <a:ea typeface="Courier New"/>
                <a:cs typeface="Courier New"/>
                <a:sym typeface="Courier New"/>
              </a:rPr>
              <a:t>_</a:t>
            </a:r>
            <a:endParaRPr b="1" sz="1200">
              <a:solidFill>
                <a:srgbClr val="FFFFFF"/>
              </a:solidFill>
              <a:latin typeface="Courier New"/>
              <a:ea typeface="Courier New"/>
              <a:cs typeface="Courier New"/>
              <a:sym typeface="Courier New"/>
            </a:endParaRPr>
          </a:p>
        </p:txBody>
      </p:sp>
      <p:sp>
        <p:nvSpPr>
          <p:cNvPr id="783" name="Google Shape;783;p64"/>
          <p:cNvSpPr txBox="1"/>
          <p:nvPr/>
        </p:nvSpPr>
        <p:spPr>
          <a:xfrm>
            <a:off x="197418" y="3206000"/>
            <a:ext cx="2265000" cy="1569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name[20];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fread(name,21,1,stdin);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int main(void)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vulnerable();</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return 0;</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6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Writing Robust Exploits</a:t>
            </a:r>
            <a:endParaRPr/>
          </a:p>
        </p:txBody>
      </p:sp>
      <p:sp>
        <p:nvSpPr>
          <p:cNvPr id="789" name="Google Shape;789;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6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NOP Sleds</a:t>
            </a:r>
            <a:endParaRPr/>
          </a:p>
        </p:txBody>
      </p:sp>
      <p:sp>
        <p:nvSpPr>
          <p:cNvPr id="795" name="Google Shape;795;p66"/>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Instead of having to jump to an exact address, make it “close enough” so that small shifts don’t break your exploit</a:t>
            </a:r>
            <a:endParaRPr/>
          </a:p>
          <a:p>
            <a:pPr indent="-342900" lvl="0" marL="457200" rtl="0" algn="l">
              <a:spcBef>
                <a:spcPts val="0"/>
              </a:spcBef>
              <a:spcAft>
                <a:spcPts val="0"/>
              </a:spcAft>
              <a:buSzPts val="1800"/>
              <a:buChar char="●"/>
            </a:pPr>
            <a:r>
              <a:rPr b="1" lang="en"/>
              <a:t>NOP</a:t>
            </a:r>
            <a:r>
              <a:rPr lang="en"/>
              <a:t>: Short for no-operation or no-op, an instruction that does nothing (except advance the EIP)</a:t>
            </a:r>
            <a:endParaRPr/>
          </a:p>
          <a:p>
            <a:pPr indent="-317500" lvl="1" marL="914400" rtl="0" algn="l">
              <a:spcBef>
                <a:spcPts val="0"/>
              </a:spcBef>
              <a:spcAft>
                <a:spcPts val="0"/>
              </a:spcAft>
              <a:buSzPts val="1400"/>
              <a:buChar char="○"/>
            </a:pPr>
            <a:r>
              <a:rPr lang="en"/>
              <a:t>A real instruction in x86, unlike RISC-V</a:t>
            </a:r>
            <a:endParaRPr/>
          </a:p>
          <a:p>
            <a:pPr indent="-342900" lvl="0" marL="457200" rtl="0" algn="l">
              <a:spcBef>
                <a:spcPts val="0"/>
              </a:spcBef>
              <a:spcAft>
                <a:spcPts val="0"/>
              </a:spcAft>
              <a:buSzPts val="1800"/>
              <a:buChar char="●"/>
            </a:pPr>
            <a:r>
              <a:rPr lang="en"/>
              <a:t>Chaining a long sequence of NOPs means that landing anywhere in the sled will bring you to your shellcode</a:t>
            </a:r>
            <a:endParaRPr/>
          </a:p>
        </p:txBody>
      </p:sp>
      <p:sp>
        <p:nvSpPr>
          <p:cNvPr id="796" name="Google Shape;796;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7" name="Google Shape;797;p66"/>
          <p:cNvSpPr txBox="1"/>
          <p:nvPr/>
        </p:nvSpPr>
        <p:spPr>
          <a:xfrm>
            <a:off x="7094250" y="1215625"/>
            <a:ext cx="1378200" cy="3828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solidFill>
                  <a:schemeClr val="dk1"/>
                </a:solidFill>
                <a:latin typeface="Courier New"/>
                <a:ea typeface="Courier New"/>
                <a:cs typeface="Courier New"/>
                <a:sym typeface="Courier New"/>
              </a:rPr>
            </a:br>
            <a:r>
              <a:rPr b="1" lang="en" sz="900">
                <a:solidFill>
                  <a:schemeClr val="dk1"/>
                </a:solidFill>
                <a:latin typeface="Courier New"/>
                <a:ea typeface="Courier New"/>
                <a:cs typeface="Courier New"/>
                <a:sym typeface="Courier New"/>
              </a:rPr>
              <a:t>nop</a:t>
            </a:r>
            <a:br>
              <a:rPr b="1" lang="en" sz="900">
                <a:latin typeface="Courier New"/>
                <a:ea typeface="Courier New"/>
                <a:cs typeface="Courier New"/>
                <a:sym typeface="Courier New"/>
              </a:rPr>
            </a:br>
            <a:r>
              <a:rPr b="1" lang="en" sz="900">
                <a:latin typeface="Courier New"/>
                <a:ea typeface="Courier New"/>
                <a:cs typeface="Courier New"/>
                <a:sym typeface="Courier New"/>
              </a:rPr>
              <a:t>xor %eax, %eax</a:t>
            </a:r>
            <a:br>
              <a:rPr b="1" lang="en" sz="900">
                <a:latin typeface="Courier New"/>
                <a:ea typeface="Courier New"/>
                <a:cs typeface="Courier New"/>
                <a:sym typeface="Courier New"/>
              </a:rPr>
            </a:br>
            <a:r>
              <a:rPr b="1" lang="en" sz="900">
                <a:latin typeface="Courier New"/>
                <a:ea typeface="Courier New"/>
                <a:cs typeface="Courier New"/>
                <a:sym typeface="Courier New"/>
              </a:rPr>
              <a:t>push %eax</a:t>
            </a:r>
            <a:br>
              <a:rPr b="1" lang="en" sz="900">
                <a:latin typeface="Courier New"/>
                <a:ea typeface="Courier New"/>
                <a:cs typeface="Courier New"/>
                <a:sym typeface="Courier New"/>
              </a:rPr>
            </a:br>
            <a:r>
              <a:rPr b="1" lang="en" sz="900">
                <a:latin typeface="Courier New"/>
                <a:ea typeface="Courier New"/>
                <a:cs typeface="Courier New"/>
                <a:sym typeface="Courier New"/>
              </a:rPr>
              <a:t>push $0x68732f2f</a:t>
            </a:r>
            <a:br>
              <a:rPr b="1" lang="en" sz="900">
                <a:latin typeface="Courier New"/>
                <a:ea typeface="Courier New"/>
                <a:cs typeface="Courier New"/>
                <a:sym typeface="Courier New"/>
              </a:rPr>
            </a:br>
            <a:r>
              <a:rPr b="1" lang="en" sz="900">
                <a:latin typeface="Courier New"/>
                <a:ea typeface="Courier New"/>
                <a:cs typeface="Courier New"/>
                <a:sym typeface="Courier New"/>
              </a:rPr>
              <a:t>push $0x6e69622f</a:t>
            </a:r>
            <a:br>
              <a:rPr b="1" lang="en" sz="900">
                <a:latin typeface="Courier New"/>
                <a:ea typeface="Courier New"/>
                <a:cs typeface="Courier New"/>
                <a:sym typeface="Courier New"/>
              </a:rPr>
            </a:br>
            <a:r>
              <a:rPr b="1" lang="en" sz="900">
                <a:latin typeface="Courier New"/>
                <a:ea typeface="Courier New"/>
                <a:cs typeface="Courier New"/>
                <a:sym typeface="Courier New"/>
              </a:rPr>
              <a:t>mov %esp, %ebx</a:t>
            </a:r>
            <a:br>
              <a:rPr b="1" lang="en" sz="900">
                <a:latin typeface="Courier New"/>
                <a:ea typeface="Courier New"/>
                <a:cs typeface="Courier New"/>
                <a:sym typeface="Courier New"/>
              </a:rPr>
            </a:br>
            <a:r>
              <a:rPr b="1" lang="en" sz="900">
                <a:latin typeface="Courier New"/>
                <a:ea typeface="Courier New"/>
                <a:cs typeface="Courier New"/>
                <a:sym typeface="Courier New"/>
              </a:rPr>
              <a:t>mov %eax, %ecx</a:t>
            </a:r>
            <a:br>
              <a:rPr b="1" lang="en" sz="900">
                <a:latin typeface="Courier New"/>
                <a:ea typeface="Courier New"/>
                <a:cs typeface="Courier New"/>
                <a:sym typeface="Courier New"/>
              </a:rPr>
            </a:br>
            <a:r>
              <a:rPr b="1" lang="en" sz="900">
                <a:latin typeface="Courier New"/>
                <a:ea typeface="Courier New"/>
                <a:cs typeface="Courier New"/>
                <a:sym typeface="Courier New"/>
              </a:rPr>
              <a:t>mov %eax, %edx</a:t>
            </a:r>
            <a:br>
              <a:rPr b="1" lang="en" sz="900">
                <a:latin typeface="Courier New"/>
                <a:ea typeface="Courier New"/>
                <a:cs typeface="Courier New"/>
                <a:sym typeface="Courier New"/>
              </a:rPr>
            </a:br>
            <a:r>
              <a:rPr b="1" lang="en" sz="900">
                <a:latin typeface="Courier New"/>
                <a:ea typeface="Courier New"/>
                <a:cs typeface="Courier New"/>
                <a:sym typeface="Courier New"/>
              </a:rPr>
              <a:t>mov $0xb, %al</a:t>
            </a:r>
            <a:br>
              <a:rPr b="1" lang="en" sz="900">
                <a:latin typeface="Courier New"/>
                <a:ea typeface="Courier New"/>
                <a:cs typeface="Courier New"/>
                <a:sym typeface="Courier New"/>
              </a:rPr>
            </a:br>
            <a:r>
              <a:rPr b="1" lang="en" sz="900">
                <a:latin typeface="Courier New"/>
                <a:ea typeface="Courier New"/>
                <a:cs typeface="Courier New"/>
                <a:sym typeface="Courier New"/>
              </a:rPr>
              <a:t>int $0x80</a:t>
            </a:r>
            <a:endParaRPr b="1" sz="900">
              <a:latin typeface="Courier New"/>
              <a:ea typeface="Courier New"/>
              <a:cs typeface="Courier New"/>
              <a:sym typeface="Courier New"/>
            </a:endParaRPr>
          </a:p>
        </p:txBody>
      </p:sp>
      <p:cxnSp>
        <p:nvCxnSpPr>
          <p:cNvPr id="798" name="Google Shape;798;p66"/>
          <p:cNvCxnSpPr/>
          <p:nvPr/>
        </p:nvCxnSpPr>
        <p:spPr>
          <a:xfrm>
            <a:off x="7936950" y="1293275"/>
            <a:ext cx="0" cy="2173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6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Memory Safety Vulnerabilities</a:t>
            </a:r>
            <a:endParaRPr/>
          </a:p>
        </p:txBody>
      </p:sp>
      <p:sp>
        <p:nvSpPr>
          <p:cNvPr id="804" name="Google Shape;804;p6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Format string vulnerabilities</a:t>
            </a:r>
            <a:r>
              <a:rPr lang="en"/>
              <a:t>: An attacker exploits the arguments to printf</a:t>
            </a:r>
            <a:endParaRPr/>
          </a:p>
          <a:p>
            <a:pPr indent="-342900" lvl="0" marL="457200" rtl="0" algn="l">
              <a:spcBef>
                <a:spcPts val="0"/>
              </a:spcBef>
              <a:spcAft>
                <a:spcPts val="0"/>
              </a:spcAft>
              <a:buSzPts val="1800"/>
              <a:buChar char="●"/>
            </a:pPr>
            <a:r>
              <a:rPr b="1" lang="en"/>
              <a:t>Heap vulnerabilities</a:t>
            </a:r>
            <a:r>
              <a:rPr lang="en"/>
              <a:t>: An attacker exploits the heap layout</a:t>
            </a:r>
            <a:endParaRPr/>
          </a:p>
          <a:p>
            <a:pPr indent="-342900" lvl="0" marL="457200" rtl="0" algn="l">
              <a:spcBef>
                <a:spcPts val="0"/>
              </a:spcBef>
              <a:spcAft>
                <a:spcPts val="0"/>
              </a:spcAft>
              <a:buSzPts val="1800"/>
              <a:buChar char="●"/>
            </a:pPr>
            <a:r>
              <a:rPr b="1" lang="en"/>
              <a:t>Writing robust exploits</a:t>
            </a:r>
            <a:r>
              <a:rPr lang="en"/>
              <a:t>: Making exploits work in different environments</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Memory safety vulnerabilities have a high impact: If your code has a memory safety vulnerability, the attacker can take complete control of your program</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Next</a:t>
            </a:r>
            <a:r>
              <a:rPr lang="en"/>
              <a:t>: Defending against memory safety vulnerabilities</a:t>
            </a:r>
            <a:endParaRPr/>
          </a:p>
        </p:txBody>
      </p:sp>
      <p:sp>
        <p:nvSpPr>
          <p:cNvPr id="805" name="Google Shape;805;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SE 405">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