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D92224F-6157-4D58-9E34-8E17004F33E6}">
  <a:tblStyle styleId="{5D92224F-6157-4D58-9E34-8E17004F33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e5f962436a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e5f962436a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No attacks,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High level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Next </a:t>
            </a:r>
            <a:r>
              <a:rPr lang="en"/>
              <a:t>couple</a:t>
            </a:r>
            <a:r>
              <a:rPr lang="en"/>
              <a:t> lectures digging into specific parts of the networking protocols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e00072d6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e00072d6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e00072d6c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e00072d6c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1 slide info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Already seen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Browser and server send info, how does that happen?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Thats the internet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How do they talk to each other?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Web is Data thats being sent between browsers and servers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Internet is how that data is actually sent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Connections, protocols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Network of networks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dac1d3688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dac1d3688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dc5f722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3dc5f722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dc5f7222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3dc5f7222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3dc5f7222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3dc5f7222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3dc5f7222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3dc5f7222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Instead of pigeons, </a:t>
            </a:r>
            <a:r>
              <a:rPr lang="en"/>
              <a:t>electrical</a:t>
            </a:r>
            <a:r>
              <a:rPr lang="en"/>
              <a:t> way to connect computers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Wires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Wireless tech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Radiowaves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Building block that moves data from point a to b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Not talk in detail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Pick one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3dc5f72226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3dc5f7222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Waht do we do with building block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Hook up 2 computers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Take every computer and connect with wires like building block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But messy wires get lost,e tc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Instead im going to use my building blocks and build them up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Chose wires, could have chosen wireless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Instead of one really long wire, take everyone within one local scope and connect all of those up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for example all comps in berkeley network and connect them all up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If do that you get a Local area network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In mail – carrier pigeon cant fly to everywher ein the world, but it can connect to everyone within the apartment complex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Gonna use that to extend to the rest of the world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3dc5f7222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3dc5f7222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 Our goal is to connect the entire world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Connect 2 apartment complexes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Could draw all crosswires between them, </a:t>
            </a:r>
            <a:r>
              <a:rPr lang="en"/>
              <a:t>but thats a mess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Connect witha  single wire through a post office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Wide area network, 2 diff local area networks witha router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3dc5f72226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3dc5f72226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Goal: with enough post offices and enough of little local networks, can build up a huge network of networks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Network of networks: red square, and then green square connected by post offices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783eb1784f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783eb1784f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How to get letter from me in top left to friend in bottom right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Hop through multiple post offices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Not direct line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3dc5f72226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3dc5f72226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Havent told you how these layers are implemented yet, but layers of abstraction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Dont need to understand how they work to use them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Building blocks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Dont need to worry about layers below or above it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If someone changes layer 1 it doesnt matter because were on a diff layer dont affect layers of abstraction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Pigeons? Radio waves?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df6cbf0b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df6cbf0b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dac1d36881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dac1d36881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Analogy of computer layer of abstraction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Walk through layers on the right hand side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6cbf0b18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6cbf0b18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1970s model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Some things are obsolete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In real life the boundaries blur, but a good starting point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In web not every website is build the same way, same here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dac1d36881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dac1d36881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Start at bottom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Each layer, what does this layer provide as a service to higher layers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What does this layer rely on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Apartment complex: already trained the pigeons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Just have to provide an interface that </a:t>
            </a:r>
            <a:r>
              <a:rPr lang="en"/>
              <a:t>someone</a:t>
            </a:r>
            <a:r>
              <a:rPr lang="en"/>
              <a:t> else can use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Physical layer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Engineering stuff for data to go from point a to point b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Anyone above us can assume that this is done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df6cbf0b18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df6cbf0b18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df6cbf0b18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df6cbf0b18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Service for everyone above me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Connect up all devices in a local network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Anybody above can assume taht local network exists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6cbf0b18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6cbf0b18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Now start sending messages and start thinking of protocols that start sending messages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Sometimes these are called frames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df6cbf0b18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df6cbf0b18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Even tho that was the picture that we will take with use and we can assume that computers ar </a:t>
            </a:r>
            <a:r>
              <a:rPr lang="en"/>
              <a:t>connected</a:t>
            </a:r>
            <a:r>
              <a:rPr lang="en"/>
              <a:t>, that doesnt necessarily have to be true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Can have computers connected in a graph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All done in layer 2, so anyone in anothe rlayer can assume it looks like prev slide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df6cbf0b18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df6cbf0b18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Irl prob not labeled nicely abcd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Instead what are protocols in layer 2 and how do they identify computers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so a really common protocol at layer 2 is ethernet, wired connection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MACs are not the same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MAC address have </a:t>
            </a:r>
            <a:r>
              <a:rPr lang="en"/>
              <a:t>nothing</a:t>
            </a:r>
            <a:r>
              <a:rPr lang="en"/>
              <a:t> to do with cryptographic macs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Hardware address baked in, unique address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df6cbf0b18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df6cbf0b18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df6cbf0b18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df6cbf0b18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Global network is network layer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Doesnt worry about how data is sent or how local networks are hooked up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Connect local networks together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df6cbf0b18_0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df6cbf0b18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Dont need to crosswire very pair together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Layers of abstraction, how abcd are connected i dont care about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df6cbf0b18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df6cbf0b18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Send to multiple routers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Packet, layer 3 term for message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df903e14b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df903e14b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dac1d36881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dac1d36881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Smaller packets: Will talk about later, in TCP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trike="sngStrike"/>
              <a:t>Ask: Why take different routes? What might happen?</a:t>
            </a:r>
            <a:endParaRPr strike="sngStrike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df903e14b8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df903e14b8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At layer 2 we used MAC address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Ran out of ipv4 so started ipv6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Globally unique: network address translation that allows multiple computers to have a single ip address from the perspective of the outside world, not something well talk about in detail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For now, ip addresses are globally unique – good enough for us, but not technically true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Why are there 2 addressing systems? Because the the ip address has useful info about where this computer is like in berkeley, china, antarctica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Maybe the mac address, the hardware address, doesnt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Has the manufacturer that th eip address doesnt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Need both addresses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dac1d36881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dac1d36881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Problem, not fix today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If im sending a letter: letter is correct and there are  no random errors and the letter in 2 parts is in order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df903e14b8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df903e14b8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dac1d36881_0_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dac1d36881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TCP a couple lectures from now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Provide reliability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If fails, resend,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If out of order will add time stamps or something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Stay tuned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e5f962436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e5f962436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Who cares how internet was implemented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Layers of abstraction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e5f962436a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e5f962436a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So far weve been talking </a:t>
            </a:r>
            <a:r>
              <a:rPr lang="en"/>
              <a:t>about</a:t>
            </a:r>
            <a:r>
              <a:rPr lang="en"/>
              <a:t> arbitrary data - 1s and 0s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But at layer 7 can build rich application like social media websites, etc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Simplification model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13dc5f72226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13dc5f72226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22ec387ace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22ec387ac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22ec387ace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22ec387ace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22ec387ace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22ec387ace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22ec387ace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22ec387ace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Because its already made its way to bobs address this top header/address/letter doesnt matter anymore so i can just take that envelope and throw it away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2ec387acea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22ec387ace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22ec387ace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22ec387ace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 back through again, Emphasize abstraction and wrapping and unwrapping of headers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22ec387acea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22ec387acea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13dc5f72226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13dc5f72226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dac1d36881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dac1d36881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df6cbf0b18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df6cbf0b18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df6cbf0b18_0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df6cbf0b18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Notice: Source address, destination address, header checksum, fragment offset, and data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df903e14b8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df903e14b8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df903e14b8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df903e14b8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df903e14b8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df903e14b8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df903e14b8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df903e14b8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df903e14b8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df903e14b8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df903e14b8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df903e14b8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df903e14b8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df903e14b8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df903e14b8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df903e14b8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df903e14b8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df903e14b8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e5f962436a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e5f962436a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df903e14b8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df903e14b8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dac1d36881_0_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dac1d36881_0_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1429000"/>
            <a:ext cx="8520600" cy="141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9179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198500" y="1246825"/>
            <a:ext cx="41310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588175" y="1246825"/>
            <a:ext cx="41310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7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198500" y="1246825"/>
            <a:ext cx="5142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512100" y="4520775"/>
            <a:ext cx="811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Optional">
  <p:cSld name="SECTION_HEADER_1">
    <p:bg>
      <p:bgPr>
        <a:solidFill>
          <a:srgbClr val="A4C2F4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Optional">
  <p:cSld name="TITLE_AND_BODY_1">
    <p:bg>
      <p:bgPr>
        <a:solidFill>
          <a:srgbClr val="A4C2F4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Optional">
  <p:cSld name="TITLE_AND_TWO_COLUMNS_1">
    <p:bg>
      <p:bgPr>
        <a:solidFill>
          <a:srgbClr val="A4C2F4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198500" y="1246825"/>
            <a:ext cx="41310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4588175" y="1246825"/>
            <a:ext cx="41310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Optional">
  <p:cSld name="TITLE_ONLY_1">
    <p:bg>
      <p:bgPr>
        <a:solidFill>
          <a:srgbClr val="A4C2F4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- Optional">
  <p:cSld name="ONE_COLUMN_TEXT_1">
    <p:bg>
      <p:bgPr>
        <a:solidFill>
          <a:srgbClr val="A4C2F4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198500" y="1246825"/>
            <a:ext cx="5142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- Optional">
  <p:cSld name="CUSTOM_1">
    <p:bg>
      <p:bgPr>
        <a:solidFill>
          <a:srgbClr val="A4C2F4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512100" y="4520775"/>
            <a:ext cx="811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98500" y="12468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1017725"/>
            <a:ext cx="9144000" cy="1116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rgbClr val="E85C5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lt1"/>
                </a:solidFill>
              </a:rPr>
              <a:t>CSE 405 - Computer Security</a:t>
            </a:r>
            <a:endParaRPr b="1" sz="600">
              <a:solidFill>
                <a:schemeClr val="lt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0.jp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0.jpg"/><Relationship Id="rId4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0.jpg"/><Relationship Id="rId4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0.jpg"/><Relationship Id="rId4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0.jpg"/><Relationship Id="rId4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0.jpg"/><Relationship Id="rId4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311700" y="1429000"/>
            <a:ext cx="8520600" cy="141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</a:endParaRPr>
          </a:p>
        </p:txBody>
      </p:sp>
      <p:sp>
        <p:nvSpPr>
          <p:cNvPr id="65" name="Google Shape;65;p15"/>
          <p:cNvSpPr txBox="1"/>
          <p:nvPr>
            <p:ph type="ctrTitle"/>
          </p:nvPr>
        </p:nvSpPr>
        <p:spPr>
          <a:xfrm>
            <a:off x="311700" y="1429000"/>
            <a:ext cx="8520600" cy="141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Networkin</a:t>
            </a:r>
            <a:r>
              <a:rPr lang="en"/>
              <a:t>g</a:t>
            </a:r>
            <a:endParaRPr/>
          </a:p>
        </p:txBody>
      </p:sp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311700" y="29179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540"/>
              <a:t>CSE 405 January 2025 - Lecture 4</a:t>
            </a:r>
            <a:endParaRPr sz="154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54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540"/>
              <a:t>Special Thanks to Peyrin Kao (UC Berkeley)</a:t>
            </a:r>
            <a:endParaRPr sz="154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14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Today: Intro to Networking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Internet: A global network of computers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OSI model: A layered model of protocols</a:t>
            </a:r>
            <a:endParaRPr/>
          </a:p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the Internet?</a:t>
            </a:r>
            <a:endParaRPr/>
          </a:p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17"/>
          <p:cNvSpPr txBox="1"/>
          <p:nvPr/>
        </p:nvSpPr>
        <p:spPr>
          <a:xfrm>
            <a:off x="512100" y="4520775"/>
            <a:ext cx="811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Textbook Chapter</a:t>
            </a:r>
            <a:r>
              <a:rPr lang="en"/>
              <a:t> 25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the Internet?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Network</a:t>
            </a:r>
            <a:r>
              <a:rPr lang="en"/>
              <a:t>: A set of connected machines that can communicate with each 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Machines on the network agree on a </a:t>
            </a:r>
            <a:r>
              <a:rPr b="1" lang="en"/>
              <a:t>protocol</a:t>
            </a:r>
            <a:r>
              <a:rPr lang="en"/>
              <a:t>, a set of rules for communication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Internet</a:t>
            </a:r>
            <a:r>
              <a:rPr lang="en"/>
              <a:t>: </a:t>
            </a:r>
            <a:r>
              <a:rPr lang="en"/>
              <a:t>A global network of computers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web sends data between browsers and servers using the Internet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Internet can be used for more than the web (e.g., SSH)</a:t>
            </a:r>
            <a:endParaRPr/>
          </a:p>
        </p:txBody>
      </p:sp>
      <p:sp>
        <p:nvSpPr>
          <p:cNvPr id="87" name="Google Shape;8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Protocols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protocol</a:t>
            </a:r>
            <a:r>
              <a:rPr lang="en"/>
              <a:t> is an agreement on how to communicate that specifies syntax and semantics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Syntax: </a:t>
            </a:r>
            <a:r>
              <a:rPr lang="en"/>
              <a:t>How a communication is specified and structured (format, order of messages)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Semantics</a:t>
            </a:r>
            <a:r>
              <a:rPr lang="en"/>
              <a:t>: What a communication means (actions taken when sending/receiving messages)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Protocol for asking a question in lecture?</a:t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The student should raise their hand</a:t>
            </a:r>
            <a:endParaRPr sz="14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The student should wait to be called on by the speaker or wait for the speaker to pause</a:t>
            </a:r>
            <a:endParaRPr sz="14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The student should speak the question after being called on or after waiting</a:t>
            </a:r>
            <a:endParaRPr sz="14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If the student has been unrecognized after some time: Vocalize with “Excuse me!”</a:t>
            </a:r>
            <a:endParaRPr sz="1400"/>
          </a:p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Internet Analogy: Mail</a:t>
            </a:r>
            <a:endParaRPr/>
          </a:p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the goal of the Internet?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Move data from one location to another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Analogy: I write a message on a piece of paper. How do I send this message to you?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Solution: Postal system</a:t>
            </a:r>
            <a:endParaRPr/>
          </a:p>
        </p:txBody>
      </p:sp>
      <p:sp>
        <p:nvSpPr>
          <p:cNvPr id="107" name="Google Shape;10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block 1: Something That Moves Data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Mailman, Pony Express, carrier pigeon, etc.</a:t>
            </a:r>
            <a:endParaRPr/>
          </a:p>
        </p:txBody>
      </p:sp>
      <p:sp>
        <p:nvSpPr>
          <p:cNvPr id="114" name="Google Shape;11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5089" y="1828475"/>
            <a:ext cx="7247426" cy="303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2"/>
          <p:cNvSpPr/>
          <p:nvPr/>
        </p:nvSpPr>
        <p:spPr>
          <a:xfrm>
            <a:off x="795725" y="4254900"/>
            <a:ext cx="5473546" cy="527561"/>
          </a:xfrm>
          <a:custGeom>
            <a:rect b="b" l="l" r="r" t="t"/>
            <a:pathLst>
              <a:path extrusionOk="0" h="1087754" w="11964035">
                <a:moveTo>
                  <a:pt x="0" y="0"/>
                </a:moveTo>
                <a:lnTo>
                  <a:pt x="11963692" y="0"/>
                </a:lnTo>
                <a:lnTo>
                  <a:pt x="11963692" y="1087360"/>
                </a:lnTo>
                <a:lnTo>
                  <a:pt x="0" y="108736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31400">
            <a:solidFill>
              <a:srgbClr val="C825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7" name="Google Shape;117;p22"/>
          <p:cNvSpPr txBox="1"/>
          <p:nvPr/>
        </p:nvSpPr>
        <p:spPr>
          <a:xfrm>
            <a:off x="941159" y="4786303"/>
            <a:ext cx="47727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Are pigeons faster than the Internet?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block 1: Something That Moves Data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Internet is built on technology that moves bits across space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Voltages on wires, wireless technology, radio waves, etc.</a:t>
            </a:r>
            <a:endParaRPr/>
          </a:p>
        </p:txBody>
      </p:sp>
      <p:sp>
        <p:nvSpPr>
          <p:cNvPr id="124" name="Google Shape;12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5" name="Google Shape;1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2720" y="2153500"/>
            <a:ext cx="5460579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8900" y="2898274"/>
            <a:ext cx="1098324" cy="197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3"/>
          <p:cNvSpPr txBox="1"/>
          <p:nvPr/>
        </p:nvSpPr>
        <p:spPr>
          <a:xfrm>
            <a:off x="3736030" y="3788925"/>
            <a:ext cx="19719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An example of packet loss.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block 2: Talking to the Apartment Complex</a:t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Using building block 1, we can link up people within a local apartment complex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Forms a local area network (LAN)</a:t>
            </a:r>
            <a:endParaRPr/>
          </a:p>
        </p:txBody>
      </p:sp>
      <p:sp>
        <p:nvSpPr>
          <p:cNvPr id="134" name="Google Shape;13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5" name="Google Shape;135;p24"/>
          <p:cNvGrpSpPr/>
          <p:nvPr/>
        </p:nvGrpSpPr>
        <p:grpSpPr>
          <a:xfrm>
            <a:off x="2276606" y="2571762"/>
            <a:ext cx="4172798" cy="1551303"/>
            <a:chOff x="1914208" y="5929793"/>
            <a:chExt cx="10062210" cy="3740784"/>
          </a:xfrm>
        </p:grpSpPr>
        <p:sp>
          <p:nvSpPr>
            <p:cNvPr id="136" name="Google Shape;136;p24"/>
            <p:cNvSpPr/>
            <p:nvPr/>
          </p:nvSpPr>
          <p:spPr>
            <a:xfrm>
              <a:off x="1914208" y="5929793"/>
              <a:ext cx="10062210" cy="3740784"/>
            </a:xfrm>
            <a:custGeom>
              <a:rect b="b" l="l" r="r" t="t"/>
              <a:pathLst>
                <a:path extrusionOk="0" h="3740784" w="10062210">
                  <a:moveTo>
                    <a:pt x="0" y="1870361"/>
                  </a:moveTo>
                  <a:lnTo>
                    <a:pt x="2617" y="1774160"/>
                  </a:lnTo>
                  <a:lnTo>
                    <a:pt x="9816" y="1679268"/>
                  </a:lnTo>
                  <a:lnTo>
                    <a:pt x="21596" y="1585684"/>
                  </a:lnTo>
                  <a:lnTo>
                    <a:pt x="37956" y="1493410"/>
                  </a:lnTo>
                  <a:lnTo>
                    <a:pt x="58898" y="1403098"/>
                  </a:lnTo>
                  <a:lnTo>
                    <a:pt x="83767" y="1314096"/>
                  </a:lnTo>
                  <a:lnTo>
                    <a:pt x="113216" y="1227056"/>
                  </a:lnTo>
                  <a:lnTo>
                    <a:pt x="147246" y="1142635"/>
                  </a:lnTo>
                  <a:lnTo>
                    <a:pt x="184549" y="1059522"/>
                  </a:lnTo>
                  <a:lnTo>
                    <a:pt x="225778" y="979027"/>
                  </a:lnTo>
                  <a:lnTo>
                    <a:pt x="319362" y="824582"/>
                  </a:lnTo>
                  <a:lnTo>
                    <a:pt x="426688" y="680607"/>
                  </a:lnTo>
                  <a:lnTo>
                    <a:pt x="547758" y="547758"/>
                  </a:lnTo>
                  <a:lnTo>
                    <a:pt x="680607" y="427343"/>
                  </a:lnTo>
                  <a:lnTo>
                    <a:pt x="824582" y="319362"/>
                  </a:lnTo>
                  <a:lnTo>
                    <a:pt x="978373" y="225778"/>
                  </a:lnTo>
                  <a:lnTo>
                    <a:pt x="1059522" y="184549"/>
                  </a:lnTo>
                  <a:lnTo>
                    <a:pt x="1141980" y="147246"/>
                  </a:lnTo>
                  <a:lnTo>
                    <a:pt x="1227056" y="113216"/>
                  </a:lnTo>
                  <a:lnTo>
                    <a:pt x="1314096" y="84421"/>
                  </a:lnTo>
                  <a:lnTo>
                    <a:pt x="1402444" y="58898"/>
                  </a:lnTo>
                  <a:lnTo>
                    <a:pt x="1493410" y="37956"/>
                  </a:lnTo>
                  <a:lnTo>
                    <a:pt x="1585030" y="21596"/>
                  </a:lnTo>
                  <a:lnTo>
                    <a:pt x="1678613" y="9816"/>
                  </a:lnTo>
                  <a:lnTo>
                    <a:pt x="1774160" y="2617"/>
                  </a:lnTo>
                  <a:lnTo>
                    <a:pt x="1870361" y="0"/>
                  </a:lnTo>
                  <a:lnTo>
                    <a:pt x="8191504" y="0"/>
                  </a:lnTo>
                  <a:lnTo>
                    <a:pt x="8287705" y="2617"/>
                  </a:lnTo>
                  <a:lnTo>
                    <a:pt x="8382598" y="9816"/>
                  </a:lnTo>
                  <a:lnTo>
                    <a:pt x="8476181" y="21596"/>
                  </a:lnTo>
                  <a:lnTo>
                    <a:pt x="8568456" y="37956"/>
                  </a:lnTo>
                  <a:lnTo>
                    <a:pt x="8658767" y="58898"/>
                  </a:lnTo>
                  <a:lnTo>
                    <a:pt x="8747770" y="84421"/>
                  </a:lnTo>
                  <a:lnTo>
                    <a:pt x="8834809" y="113216"/>
                  </a:lnTo>
                  <a:lnTo>
                    <a:pt x="8919231" y="147246"/>
                  </a:lnTo>
                  <a:lnTo>
                    <a:pt x="9002343" y="184549"/>
                  </a:lnTo>
                  <a:lnTo>
                    <a:pt x="9082838" y="225778"/>
                  </a:lnTo>
                  <a:lnTo>
                    <a:pt x="9237284" y="319362"/>
                  </a:lnTo>
                  <a:lnTo>
                    <a:pt x="9381258" y="427343"/>
                  </a:lnTo>
                  <a:lnTo>
                    <a:pt x="9514108" y="547758"/>
                  </a:lnTo>
                  <a:lnTo>
                    <a:pt x="9634523" y="680607"/>
                  </a:lnTo>
                  <a:lnTo>
                    <a:pt x="9742504" y="824582"/>
                  </a:lnTo>
                  <a:lnTo>
                    <a:pt x="9836087" y="979027"/>
                  </a:lnTo>
                  <a:lnTo>
                    <a:pt x="9877317" y="1059522"/>
                  </a:lnTo>
                  <a:lnTo>
                    <a:pt x="9914619" y="1142635"/>
                  </a:lnTo>
                  <a:lnTo>
                    <a:pt x="9948649" y="1227056"/>
                  </a:lnTo>
                  <a:lnTo>
                    <a:pt x="9977444" y="1314096"/>
                  </a:lnTo>
                  <a:lnTo>
                    <a:pt x="10002967" y="1403098"/>
                  </a:lnTo>
                  <a:lnTo>
                    <a:pt x="10023909" y="1493410"/>
                  </a:lnTo>
                  <a:lnTo>
                    <a:pt x="10040270" y="1585684"/>
                  </a:lnTo>
                  <a:lnTo>
                    <a:pt x="10052049" y="1679268"/>
                  </a:lnTo>
                  <a:lnTo>
                    <a:pt x="10059248" y="1774160"/>
                  </a:lnTo>
                  <a:lnTo>
                    <a:pt x="10061866" y="1870361"/>
                  </a:lnTo>
                  <a:lnTo>
                    <a:pt x="10059248" y="1966563"/>
                  </a:lnTo>
                  <a:lnTo>
                    <a:pt x="10052049" y="2061455"/>
                  </a:lnTo>
                  <a:lnTo>
                    <a:pt x="10040270" y="2155039"/>
                  </a:lnTo>
                  <a:lnTo>
                    <a:pt x="10023909" y="2247313"/>
                  </a:lnTo>
                  <a:lnTo>
                    <a:pt x="10002967" y="2337625"/>
                  </a:lnTo>
                  <a:lnTo>
                    <a:pt x="9977444" y="2426627"/>
                  </a:lnTo>
                  <a:lnTo>
                    <a:pt x="9948649" y="2513666"/>
                  </a:lnTo>
                  <a:lnTo>
                    <a:pt x="9914619" y="2598742"/>
                  </a:lnTo>
                  <a:lnTo>
                    <a:pt x="9877317" y="2681201"/>
                  </a:lnTo>
                  <a:lnTo>
                    <a:pt x="9836087" y="2762350"/>
                  </a:lnTo>
                  <a:lnTo>
                    <a:pt x="9742504" y="2916141"/>
                  </a:lnTo>
                  <a:lnTo>
                    <a:pt x="9634523" y="3060116"/>
                  </a:lnTo>
                  <a:lnTo>
                    <a:pt x="9514108" y="3192965"/>
                  </a:lnTo>
                  <a:lnTo>
                    <a:pt x="9381258" y="3313380"/>
                  </a:lnTo>
                  <a:lnTo>
                    <a:pt x="9237284" y="3421361"/>
                  </a:lnTo>
                  <a:lnTo>
                    <a:pt x="9082838" y="3514945"/>
                  </a:lnTo>
                  <a:lnTo>
                    <a:pt x="9002343" y="3556174"/>
                  </a:lnTo>
                  <a:lnTo>
                    <a:pt x="8919231" y="3593476"/>
                  </a:lnTo>
                  <a:lnTo>
                    <a:pt x="8834155" y="3626852"/>
                  </a:lnTo>
                  <a:lnTo>
                    <a:pt x="8747770" y="3656302"/>
                  </a:lnTo>
                  <a:lnTo>
                    <a:pt x="8658767" y="3681825"/>
                  </a:lnTo>
                  <a:lnTo>
                    <a:pt x="8568456" y="3702766"/>
                  </a:lnTo>
                  <a:lnTo>
                    <a:pt x="8476181" y="3719127"/>
                  </a:lnTo>
                  <a:lnTo>
                    <a:pt x="8382598" y="3730907"/>
                  </a:lnTo>
                  <a:lnTo>
                    <a:pt x="8287705" y="3738106"/>
                  </a:lnTo>
                  <a:lnTo>
                    <a:pt x="8191504" y="3740723"/>
                  </a:lnTo>
                  <a:lnTo>
                    <a:pt x="1870361" y="3740723"/>
                  </a:lnTo>
                  <a:lnTo>
                    <a:pt x="1774160" y="3738106"/>
                  </a:lnTo>
                  <a:lnTo>
                    <a:pt x="1679268" y="3730907"/>
                  </a:lnTo>
                  <a:lnTo>
                    <a:pt x="1585684" y="3719127"/>
                  </a:lnTo>
                  <a:lnTo>
                    <a:pt x="1493410" y="3702766"/>
                  </a:lnTo>
                  <a:lnTo>
                    <a:pt x="1403098" y="3681825"/>
                  </a:lnTo>
                  <a:lnTo>
                    <a:pt x="1314096" y="3656956"/>
                  </a:lnTo>
                  <a:lnTo>
                    <a:pt x="1227056" y="3627507"/>
                  </a:lnTo>
                  <a:lnTo>
                    <a:pt x="1141980" y="3593476"/>
                  </a:lnTo>
                  <a:lnTo>
                    <a:pt x="1059522" y="3556174"/>
                  </a:lnTo>
                  <a:lnTo>
                    <a:pt x="978373" y="3514945"/>
                  </a:lnTo>
                  <a:lnTo>
                    <a:pt x="824582" y="3421361"/>
                  </a:lnTo>
                  <a:lnTo>
                    <a:pt x="680607" y="3314035"/>
                  </a:lnTo>
                  <a:lnTo>
                    <a:pt x="547758" y="3192965"/>
                  </a:lnTo>
                  <a:lnTo>
                    <a:pt x="426688" y="3060116"/>
                  </a:lnTo>
                  <a:lnTo>
                    <a:pt x="319362" y="2916141"/>
                  </a:lnTo>
                  <a:lnTo>
                    <a:pt x="225778" y="2761696"/>
                  </a:lnTo>
                  <a:lnTo>
                    <a:pt x="184549" y="2681201"/>
                  </a:lnTo>
                  <a:lnTo>
                    <a:pt x="146592" y="2598742"/>
                  </a:lnTo>
                  <a:lnTo>
                    <a:pt x="113216" y="2513666"/>
                  </a:lnTo>
                  <a:lnTo>
                    <a:pt x="83767" y="2426627"/>
                  </a:lnTo>
                  <a:lnTo>
                    <a:pt x="58898" y="2337625"/>
                  </a:lnTo>
                  <a:lnTo>
                    <a:pt x="37956" y="2247313"/>
                  </a:lnTo>
                  <a:lnTo>
                    <a:pt x="21596" y="2155039"/>
                  </a:lnTo>
                  <a:lnTo>
                    <a:pt x="9162" y="2061455"/>
                  </a:lnTo>
                  <a:lnTo>
                    <a:pt x="1963" y="1966563"/>
                  </a:lnTo>
                  <a:lnTo>
                    <a:pt x="0" y="1870361"/>
                  </a:lnTo>
                  <a:close/>
                </a:path>
              </a:pathLst>
            </a:custGeom>
            <a:noFill/>
            <a:ln cap="flat" cmpd="sng" w="23550">
              <a:solidFill>
                <a:srgbClr val="C825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37" name="Google Shape;137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536541" y="6730161"/>
              <a:ext cx="1052323" cy="112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79417" y="6730161"/>
              <a:ext cx="1052324" cy="112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232764" y="6730161"/>
              <a:ext cx="1052323" cy="112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075640" y="6730161"/>
              <a:ext cx="1052323" cy="11230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24"/>
            <p:cNvSpPr/>
            <p:nvPr/>
          </p:nvSpPr>
          <p:spPr>
            <a:xfrm>
              <a:off x="4051596" y="7848331"/>
              <a:ext cx="5559425" cy="911225"/>
            </a:xfrm>
            <a:custGeom>
              <a:rect b="b" l="l" r="r" t="t"/>
              <a:pathLst>
                <a:path extrusionOk="0" h="911225" w="5559425">
                  <a:moveTo>
                    <a:pt x="12719" y="0"/>
                  </a:moveTo>
                  <a:lnTo>
                    <a:pt x="12719" y="910817"/>
                  </a:lnTo>
                </a:path>
                <a:path extrusionOk="0" h="911225" w="5559425">
                  <a:moveTo>
                    <a:pt x="1853293" y="0"/>
                  </a:moveTo>
                  <a:lnTo>
                    <a:pt x="1853293" y="910817"/>
                  </a:lnTo>
                </a:path>
                <a:path extrusionOk="0" h="911225" w="5559425">
                  <a:moveTo>
                    <a:pt x="3727016" y="0"/>
                  </a:moveTo>
                  <a:lnTo>
                    <a:pt x="3727016" y="910817"/>
                  </a:lnTo>
                </a:path>
                <a:path extrusionOk="0" h="911225" w="5559425">
                  <a:moveTo>
                    <a:pt x="5559297" y="0"/>
                  </a:moveTo>
                  <a:lnTo>
                    <a:pt x="5559297" y="910817"/>
                  </a:lnTo>
                </a:path>
                <a:path extrusionOk="0" h="911225" w="5559425">
                  <a:moveTo>
                    <a:pt x="0" y="910817"/>
                  </a:moveTo>
                  <a:lnTo>
                    <a:pt x="5559297" y="910817"/>
                  </a:lnTo>
                </a:path>
              </a:pathLst>
            </a:custGeom>
            <a:noFill/>
            <a:ln cap="flat" cmpd="sng" w="31400">
              <a:solidFill>
                <a:srgbClr val="0063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2" name="Google Shape;142;p24"/>
          <p:cNvSpPr txBox="1"/>
          <p:nvPr/>
        </p:nvSpPr>
        <p:spPr>
          <a:xfrm>
            <a:off x="2868753" y="3753744"/>
            <a:ext cx="2100900" cy="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25082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65C0"/>
                </a:solidFill>
                <a:latin typeface="Arial"/>
                <a:ea typeface="Arial"/>
                <a:cs typeface="Arial"/>
                <a:sym typeface="Arial"/>
              </a:rPr>
              <a:t>Building block 1: wires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">
                <a:solidFill>
                  <a:srgbClr val="C8253C"/>
                </a:solidFill>
                <a:latin typeface="Arial"/>
                <a:ea typeface="Arial"/>
                <a:cs typeface="Arial"/>
                <a:sym typeface="Arial"/>
              </a:rPr>
              <a:t>Building block 2: local network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block 3: Post offices</a:t>
            </a:r>
            <a:endParaRPr/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post office connects two or more apartment complexes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Forms a wide area network</a:t>
            </a:r>
            <a:endParaRPr/>
          </a:p>
        </p:txBody>
      </p:sp>
      <p:sp>
        <p:nvSpPr>
          <p:cNvPr id="149" name="Google Shape;14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50" name="Google Shape;150;p25"/>
          <p:cNvGrpSpPr/>
          <p:nvPr/>
        </p:nvGrpSpPr>
        <p:grpSpPr>
          <a:xfrm>
            <a:off x="1878077" y="2084046"/>
            <a:ext cx="4969855" cy="2605796"/>
            <a:chOff x="2433172" y="4706662"/>
            <a:chExt cx="9412605" cy="4935220"/>
          </a:xfrm>
        </p:grpSpPr>
        <p:sp>
          <p:nvSpPr>
            <p:cNvPr id="151" name="Google Shape;151;p25"/>
            <p:cNvSpPr/>
            <p:nvPr/>
          </p:nvSpPr>
          <p:spPr>
            <a:xfrm>
              <a:off x="3897240" y="6762651"/>
              <a:ext cx="803275" cy="0"/>
            </a:xfrm>
            <a:custGeom>
              <a:rect b="b" l="l" r="r" t="t"/>
              <a:pathLst>
                <a:path extrusionOk="0" h="120000" w="803275">
                  <a:moveTo>
                    <a:pt x="0" y="0"/>
                  </a:moveTo>
                  <a:lnTo>
                    <a:pt x="803124" y="0"/>
                  </a:lnTo>
                </a:path>
              </a:pathLst>
            </a:custGeom>
            <a:noFill/>
            <a:ln cap="flat" cmpd="sng" w="31400">
              <a:solidFill>
                <a:srgbClr val="0063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" name="Google Shape;152;p25"/>
            <p:cNvSpPr/>
            <p:nvPr/>
          </p:nvSpPr>
          <p:spPr>
            <a:xfrm>
              <a:off x="3045064" y="5080342"/>
              <a:ext cx="1986279" cy="3160395"/>
            </a:xfrm>
            <a:custGeom>
              <a:rect b="b" l="l" r="r" t="t"/>
              <a:pathLst>
                <a:path extrusionOk="0" h="3160395" w="1986279">
                  <a:moveTo>
                    <a:pt x="0" y="419489"/>
                  </a:moveTo>
                  <a:lnTo>
                    <a:pt x="1963" y="376297"/>
                  </a:lnTo>
                  <a:lnTo>
                    <a:pt x="8507" y="335068"/>
                  </a:lnTo>
                  <a:lnTo>
                    <a:pt x="18978" y="294493"/>
                  </a:lnTo>
                  <a:lnTo>
                    <a:pt x="32721" y="256536"/>
                  </a:lnTo>
                  <a:lnTo>
                    <a:pt x="71332" y="185203"/>
                  </a:lnTo>
                  <a:lnTo>
                    <a:pt x="123032" y="123032"/>
                  </a:lnTo>
                  <a:lnTo>
                    <a:pt x="185203" y="71332"/>
                  </a:lnTo>
                  <a:lnTo>
                    <a:pt x="256536" y="32721"/>
                  </a:lnTo>
                  <a:lnTo>
                    <a:pt x="294493" y="18978"/>
                  </a:lnTo>
                  <a:lnTo>
                    <a:pt x="335068" y="8507"/>
                  </a:lnTo>
                  <a:lnTo>
                    <a:pt x="376297" y="1963"/>
                  </a:lnTo>
                  <a:lnTo>
                    <a:pt x="419489" y="0"/>
                  </a:lnTo>
                  <a:lnTo>
                    <a:pt x="1566051" y="0"/>
                  </a:lnTo>
                  <a:lnTo>
                    <a:pt x="1609244" y="1963"/>
                  </a:lnTo>
                  <a:lnTo>
                    <a:pt x="1651127" y="8507"/>
                  </a:lnTo>
                  <a:lnTo>
                    <a:pt x="1691047" y="18978"/>
                  </a:lnTo>
                  <a:lnTo>
                    <a:pt x="1729659" y="32721"/>
                  </a:lnTo>
                  <a:lnTo>
                    <a:pt x="1800992" y="71332"/>
                  </a:lnTo>
                  <a:lnTo>
                    <a:pt x="1863163" y="123032"/>
                  </a:lnTo>
                  <a:lnTo>
                    <a:pt x="1914208" y="185203"/>
                  </a:lnTo>
                  <a:lnTo>
                    <a:pt x="1953474" y="256536"/>
                  </a:lnTo>
                  <a:lnTo>
                    <a:pt x="1967217" y="294493"/>
                  </a:lnTo>
                  <a:lnTo>
                    <a:pt x="1977688" y="335068"/>
                  </a:lnTo>
                  <a:lnTo>
                    <a:pt x="1984232" y="376297"/>
                  </a:lnTo>
                  <a:lnTo>
                    <a:pt x="1986196" y="419489"/>
                  </a:lnTo>
                  <a:lnTo>
                    <a:pt x="1986196" y="2740754"/>
                  </a:lnTo>
                  <a:lnTo>
                    <a:pt x="1984232" y="2783946"/>
                  </a:lnTo>
                  <a:lnTo>
                    <a:pt x="1977688" y="2825175"/>
                  </a:lnTo>
                  <a:lnTo>
                    <a:pt x="1967217" y="2865750"/>
                  </a:lnTo>
                  <a:lnTo>
                    <a:pt x="1953474" y="2904361"/>
                  </a:lnTo>
                  <a:lnTo>
                    <a:pt x="1914208" y="2975040"/>
                  </a:lnTo>
                  <a:lnTo>
                    <a:pt x="1863163" y="3037211"/>
                  </a:lnTo>
                  <a:lnTo>
                    <a:pt x="1800992" y="3088911"/>
                  </a:lnTo>
                  <a:lnTo>
                    <a:pt x="1729659" y="3127522"/>
                  </a:lnTo>
                  <a:lnTo>
                    <a:pt x="1691047" y="3141265"/>
                  </a:lnTo>
                  <a:lnTo>
                    <a:pt x="1651127" y="3151736"/>
                  </a:lnTo>
                  <a:lnTo>
                    <a:pt x="1609244" y="3158280"/>
                  </a:lnTo>
                  <a:lnTo>
                    <a:pt x="1566051" y="3160244"/>
                  </a:lnTo>
                  <a:lnTo>
                    <a:pt x="419489" y="3160244"/>
                  </a:lnTo>
                  <a:lnTo>
                    <a:pt x="376297" y="3158280"/>
                  </a:lnTo>
                  <a:lnTo>
                    <a:pt x="335068" y="3151736"/>
                  </a:lnTo>
                  <a:lnTo>
                    <a:pt x="294493" y="3141265"/>
                  </a:lnTo>
                  <a:lnTo>
                    <a:pt x="256536" y="3127522"/>
                  </a:lnTo>
                  <a:lnTo>
                    <a:pt x="185203" y="3088911"/>
                  </a:lnTo>
                  <a:lnTo>
                    <a:pt x="123032" y="3037211"/>
                  </a:lnTo>
                  <a:lnTo>
                    <a:pt x="71332" y="2975040"/>
                  </a:lnTo>
                  <a:lnTo>
                    <a:pt x="32721" y="2904361"/>
                  </a:lnTo>
                  <a:lnTo>
                    <a:pt x="18978" y="2865750"/>
                  </a:lnTo>
                  <a:lnTo>
                    <a:pt x="8507" y="2825175"/>
                  </a:lnTo>
                  <a:lnTo>
                    <a:pt x="1963" y="2783946"/>
                  </a:lnTo>
                  <a:lnTo>
                    <a:pt x="0" y="2740754"/>
                  </a:lnTo>
                  <a:lnTo>
                    <a:pt x="0" y="419489"/>
                  </a:lnTo>
                  <a:close/>
                </a:path>
              </a:pathLst>
            </a:custGeom>
            <a:noFill/>
            <a:ln cap="flat" cmpd="sng" w="23550">
              <a:solidFill>
                <a:srgbClr val="C825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" name="Google Shape;153;p25"/>
            <p:cNvSpPr/>
            <p:nvPr/>
          </p:nvSpPr>
          <p:spPr>
            <a:xfrm>
              <a:off x="3906909" y="5723157"/>
              <a:ext cx="805179" cy="2107565"/>
            </a:xfrm>
            <a:custGeom>
              <a:rect b="b" l="l" r="r" t="t"/>
              <a:pathLst>
                <a:path extrusionOk="0" h="2107565" w="805179">
                  <a:moveTo>
                    <a:pt x="790489" y="0"/>
                  </a:moveTo>
                  <a:lnTo>
                    <a:pt x="790489" y="2107064"/>
                  </a:lnTo>
                </a:path>
                <a:path extrusionOk="0" h="2107565" w="805179">
                  <a:moveTo>
                    <a:pt x="0" y="14498"/>
                  </a:moveTo>
                  <a:lnTo>
                    <a:pt x="804987" y="14498"/>
                  </a:lnTo>
                </a:path>
              </a:pathLst>
            </a:custGeom>
            <a:noFill/>
            <a:ln cap="flat" cmpd="sng" w="31400">
              <a:solidFill>
                <a:srgbClr val="0063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54" name="Google Shape;1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66916" y="5193558"/>
              <a:ext cx="825340" cy="8253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66916" y="6146409"/>
              <a:ext cx="825340" cy="8253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18459" y="7297429"/>
              <a:ext cx="696751" cy="742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25"/>
            <p:cNvSpPr/>
            <p:nvPr/>
          </p:nvSpPr>
          <p:spPr>
            <a:xfrm>
              <a:off x="3953370" y="6375574"/>
              <a:ext cx="6172834" cy="1454784"/>
            </a:xfrm>
            <a:custGeom>
              <a:rect b="b" l="l" r="r" t="t"/>
              <a:pathLst>
                <a:path extrusionOk="0" h="1454784" w="6172834">
                  <a:moveTo>
                    <a:pt x="0" y="1454647"/>
                  </a:moveTo>
                  <a:lnTo>
                    <a:pt x="744028" y="1454647"/>
                  </a:lnTo>
                </a:path>
                <a:path extrusionOk="0" h="1454784" w="6172834">
                  <a:moveTo>
                    <a:pt x="744028" y="0"/>
                  </a:moveTo>
                  <a:lnTo>
                    <a:pt x="5379350" y="0"/>
                  </a:lnTo>
                </a:path>
                <a:path extrusionOk="0" h="1454784" w="6172834">
                  <a:moveTo>
                    <a:pt x="5396814" y="412603"/>
                  </a:moveTo>
                  <a:lnTo>
                    <a:pt x="6172804" y="412603"/>
                  </a:lnTo>
                </a:path>
              </a:pathLst>
            </a:custGeom>
            <a:noFill/>
            <a:ln cap="flat" cmpd="sng" w="31400">
              <a:solidFill>
                <a:srgbClr val="0063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" name="Google Shape;158;p25"/>
            <p:cNvSpPr/>
            <p:nvPr/>
          </p:nvSpPr>
          <p:spPr>
            <a:xfrm>
              <a:off x="9122104" y="5196831"/>
              <a:ext cx="1986279" cy="3160395"/>
            </a:xfrm>
            <a:custGeom>
              <a:rect b="b" l="l" r="r" t="t"/>
              <a:pathLst>
                <a:path extrusionOk="0" h="3160395" w="1986279">
                  <a:moveTo>
                    <a:pt x="0" y="419489"/>
                  </a:moveTo>
                  <a:lnTo>
                    <a:pt x="1963" y="376297"/>
                  </a:lnTo>
                  <a:lnTo>
                    <a:pt x="8507" y="335068"/>
                  </a:lnTo>
                  <a:lnTo>
                    <a:pt x="18978" y="294493"/>
                  </a:lnTo>
                  <a:lnTo>
                    <a:pt x="32721" y="256536"/>
                  </a:lnTo>
                  <a:lnTo>
                    <a:pt x="71332" y="185203"/>
                  </a:lnTo>
                  <a:lnTo>
                    <a:pt x="123032" y="123032"/>
                  </a:lnTo>
                  <a:lnTo>
                    <a:pt x="185203" y="71332"/>
                  </a:lnTo>
                  <a:lnTo>
                    <a:pt x="256536" y="32721"/>
                  </a:lnTo>
                  <a:lnTo>
                    <a:pt x="294493" y="18978"/>
                  </a:lnTo>
                  <a:lnTo>
                    <a:pt x="335068" y="8507"/>
                  </a:lnTo>
                  <a:lnTo>
                    <a:pt x="376297" y="1963"/>
                  </a:lnTo>
                  <a:lnTo>
                    <a:pt x="419489" y="0"/>
                  </a:lnTo>
                  <a:lnTo>
                    <a:pt x="1566706" y="0"/>
                  </a:lnTo>
                  <a:lnTo>
                    <a:pt x="1609898" y="1963"/>
                  </a:lnTo>
                  <a:lnTo>
                    <a:pt x="1651127" y="8507"/>
                  </a:lnTo>
                  <a:lnTo>
                    <a:pt x="1691702" y="18978"/>
                  </a:lnTo>
                  <a:lnTo>
                    <a:pt x="1730313" y="32721"/>
                  </a:lnTo>
                  <a:lnTo>
                    <a:pt x="1800992" y="71332"/>
                  </a:lnTo>
                  <a:lnTo>
                    <a:pt x="1863163" y="123032"/>
                  </a:lnTo>
                  <a:lnTo>
                    <a:pt x="1914863" y="185203"/>
                  </a:lnTo>
                  <a:lnTo>
                    <a:pt x="1953474" y="256536"/>
                  </a:lnTo>
                  <a:lnTo>
                    <a:pt x="1967217" y="294493"/>
                  </a:lnTo>
                  <a:lnTo>
                    <a:pt x="1977688" y="335068"/>
                  </a:lnTo>
                  <a:lnTo>
                    <a:pt x="1984232" y="376297"/>
                  </a:lnTo>
                  <a:lnTo>
                    <a:pt x="1986196" y="419489"/>
                  </a:lnTo>
                  <a:lnTo>
                    <a:pt x="1986196" y="2740754"/>
                  </a:lnTo>
                  <a:lnTo>
                    <a:pt x="1984232" y="2783946"/>
                  </a:lnTo>
                  <a:lnTo>
                    <a:pt x="1977688" y="2825175"/>
                  </a:lnTo>
                  <a:lnTo>
                    <a:pt x="1967217" y="2865750"/>
                  </a:lnTo>
                  <a:lnTo>
                    <a:pt x="1953474" y="2904361"/>
                  </a:lnTo>
                  <a:lnTo>
                    <a:pt x="1914863" y="2975040"/>
                  </a:lnTo>
                  <a:lnTo>
                    <a:pt x="1863163" y="3037211"/>
                  </a:lnTo>
                  <a:lnTo>
                    <a:pt x="1800992" y="3088911"/>
                  </a:lnTo>
                  <a:lnTo>
                    <a:pt x="1730313" y="3127522"/>
                  </a:lnTo>
                  <a:lnTo>
                    <a:pt x="1691702" y="3141265"/>
                  </a:lnTo>
                  <a:lnTo>
                    <a:pt x="1651127" y="3151736"/>
                  </a:lnTo>
                  <a:lnTo>
                    <a:pt x="1609898" y="3158280"/>
                  </a:lnTo>
                  <a:lnTo>
                    <a:pt x="1566706" y="3160244"/>
                  </a:lnTo>
                  <a:lnTo>
                    <a:pt x="419489" y="3160244"/>
                  </a:lnTo>
                  <a:lnTo>
                    <a:pt x="376297" y="3158280"/>
                  </a:lnTo>
                  <a:lnTo>
                    <a:pt x="335068" y="3151736"/>
                  </a:lnTo>
                  <a:lnTo>
                    <a:pt x="294493" y="3141265"/>
                  </a:lnTo>
                  <a:lnTo>
                    <a:pt x="256536" y="3127522"/>
                  </a:lnTo>
                  <a:lnTo>
                    <a:pt x="185203" y="3088911"/>
                  </a:lnTo>
                  <a:lnTo>
                    <a:pt x="123032" y="3037211"/>
                  </a:lnTo>
                  <a:lnTo>
                    <a:pt x="71332" y="2975040"/>
                  </a:lnTo>
                  <a:lnTo>
                    <a:pt x="32721" y="2904361"/>
                  </a:lnTo>
                  <a:lnTo>
                    <a:pt x="18978" y="2865750"/>
                  </a:lnTo>
                  <a:lnTo>
                    <a:pt x="8507" y="2825175"/>
                  </a:lnTo>
                  <a:lnTo>
                    <a:pt x="1963" y="2783946"/>
                  </a:lnTo>
                  <a:lnTo>
                    <a:pt x="0" y="2740754"/>
                  </a:lnTo>
                  <a:lnTo>
                    <a:pt x="0" y="419489"/>
                  </a:lnTo>
                  <a:close/>
                </a:path>
              </a:pathLst>
            </a:custGeom>
            <a:noFill/>
            <a:ln cap="flat" cmpd="sng" w="23550">
              <a:solidFill>
                <a:srgbClr val="C825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" name="Google Shape;159;p25"/>
            <p:cNvSpPr/>
            <p:nvPr/>
          </p:nvSpPr>
          <p:spPr>
            <a:xfrm>
              <a:off x="9332720" y="5750196"/>
              <a:ext cx="805179" cy="2105659"/>
            </a:xfrm>
            <a:custGeom>
              <a:rect b="b" l="l" r="r" t="t"/>
              <a:pathLst>
                <a:path extrusionOk="0" h="2105659" w="805179">
                  <a:moveTo>
                    <a:pt x="17463" y="0"/>
                  </a:moveTo>
                  <a:lnTo>
                    <a:pt x="17463" y="2105551"/>
                  </a:lnTo>
                </a:path>
                <a:path extrusionOk="0" h="2105659" w="805179">
                  <a:moveTo>
                    <a:pt x="0" y="12985"/>
                  </a:moveTo>
                  <a:lnTo>
                    <a:pt x="804987" y="12985"/>
                  </a:lnTo>
                </a:path>
              </a:pathLst>
            </a:custGeom>
            <a:noFill/>
            <a:ln cap="flat" cmpd="sng" w="31400">
              <a:solidFill>
                <a:srgbClr val="0063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60" name="Google Shape;160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989224" y="5308739"/>
              <a:ext cx="825340" cy="8253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989224" y="6272060"/>
              <a:ext cx="825340" cy="8253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040768" y="7423080"/>
              <a:ext cx="696751" cy="742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25"/>
            <p:cNvSpPr/>
            <p:nvPr/>
          </p:nvSpPr>
          <p:spPr>
            <a:xfrm>
              <a:off x="9350184" y="7855748"/>
              <a:ext cx="773429" cy="0"/>
            </a:xfrm>
            <a:custGeom>
              <a:rect b="b" l="l" r="r" t="t"/>
              <a:pathLst>
                <a:path extrusionOk="0" h="120000" w="773429">
                  <a:moveTo>
                    <a:pt x="0" y="0"/>
                  </a:moveTo>
                  <a:lnTo>
                    <a:pt x="773025" y="0"/>
                  </a:lnTo>
                </a:path>
              </a:pathLst>
            </a:custGeom>
            <a:noFill/>
            <a:ln cap="flat" cmpd="sng" w="31400">
              <a:solidFill>
                <a:srgbClr val="0063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" name="Google Shape;164;p25"/>
            <p:cNvSpPr/>
            <p:nvPr/>
          </p:nvSpPr>
          <p:spPr>
            <a:xfrm>
              <a:off x="2433172" y="4706662"/>
              <a:ext cx="9412605" cy="4935220"/>
            </a:xfrm>
            <a:custGeom>
              <a:rect b="b" l="l" r="r" t="t"/>
              <a:pathLst>
                <a:path extrusionOk="0" h="4935220" w="9412605">
                  <a:moveTo>
                    <a:pt x="0" y="1043161"/>
                  </a:moveTo>
                  <a:lnTo>
                    <a:pt x="5235" y="936489"/>
                  </a:lnTo>
                  <a:lnTo>
                    <a:pt x="20941" y="833089"/>
                  </a:lnTo>
                  <a:lnTo>
                    <a:pt x="47118" y="732961"/>
                  </a:lnTo>
                  <a:lnTo>
                    <a:pt x="81803" y="637415"/>
                  </a:lnTo>
                  <a:lnTo>
                    <a:pt x="125650" y="545794"/>
                  </a:lnTo>
                  <a:lnTo>
                    <a:pt x="178005" y="460064"/>
                  </a:lnTo>
                  <a:lnTo>
                    <a:pt x="238212" y="379569"/>
                  </a:lnTo>
                  <a:lnTo>
                    <a:pt x="304964" y="305618"/>
                  </a:lnTo>
                  <a:lnTo>
                    <a:pt x="379569" y="238212"/>
                  </a:lnTo>
                  <a:lnTo>
                    <a:pt x="459410" y="178005"/>
                  </a:lnTo>
                  <a:lnTo>
                    <a:pt x="545794" y="125650"/>
                  </a:lnTo>
                  <a:lnTo>
                    <a:pt x="636760" y="81803"/>
                  </a:lnTo>
                  <a:lnTo>
                    <a:pt x="732307" y="47118"/>
                  </a:lnTo>
                  <a:lnTo>
                    <a:pt x="832435" y="20941"/>
                  </a:lnTo>
                  <a:lnTo>
                    <a:pt x="935835" y="5235"/>
                  </a:lnTo>
                  <a:lnTo>
                    <a:pt x="1042507" y="0"/>
                  </a:lnTo>
                  <a:lnTo>
                    <a:pt x="8369509" y="0"/>
                  </a:lnTo>
                  <a:lnTo>
                    <a:pt x="8476181" y="5235"/>
                  </a:lnTo>
                  <a:lnTo>
                    <a:pt x="8579581" y="20941"/>
                  </a:lnTo>
                  <a:lnTo>
                    <a:pt x="8679709" y="47118"/>
                  </a:lnTo>
                  <a:lnTo>
                    <a:pt x="8775256" y="81803"/>
                  </a:lnTo>
                  <a:lnTo>
                    <a:pt x="8866222" y="125650"/>
                  </a:lnTo>
                  <a:lnTo>
                    <a:pt x="8952606" y="178005"/>
                  </a:lnTo>
                  <a:lnTo>
                    <a:pt x="9032447" y="238212"/>
                  </a:lnTo>
                  <a:lnTo>
                    <a:pt x="9106398" y="305618"/>
                  </a:lnTo>
                  <a:lnTo>
                    <a:pt x="9173804" y="379569"/>
                  </a:lnTo>
                  <a:lnTo>
                    <a:pt x="9234012" y="460064"/>
                  </a:lnTo>
                  <a:lnTo>
                    <a:pt x="9286366" y="545794"/>
                  </a:lnTo>
                  <a:lnTo>
                    <a:pt x="9330213" y="637415"/>
                  </a:lnTo>
                  <a:lnTo>
                    <a:pt x="9364898" y="732961"/>
                  </a:lnTo>
                  <a:lnTo>
                    <a:pt x="9391075" y="833089"/>
                  </a:lnTo>
                  <a:lnTo>
                    <a:pt x="9406781" y="936489"/>
                  </a:lnTo>
                  <a:lnTo>
                    <a:pt x="9412017" y="1043161"/>
                  </a:lnTo>
                  <a:lnTo>
                    <a:pt x="9412017" y="3891897"/>
                  </a:lnTo>
                  <a:lnTo>
                    <a:pt x="9406781" y="3998569"/>
                  </a:lnTo>
                  <a:lnTo>
                    <a:pt x="9391075" y="4101969"/>
                  </a:lnTo>
                  <a:lnTo>
                    <a:pt x="9364898" y="4202097"/>
                  </a:lnTo>
                  <a:lnTo>
                    <a:pt x="9330213" y="4297644"/>
                  </a:lnTo>
                  <a:lnTo>
                    <a:pt x="9286366" y="4389264"/>
                  </a:lnTo>
                  <a:lnTo>
                    <a:pt x="9234012" y="4474994"/>
                  </a:lnTo>
                  <a:lnTo>
                    <a:pt x="9173804" y="4555489"/>
                  </a:lnTo>
                  <a:lnTo>
                    <a:pt x="9106398" y="4629440"/>
                  </a:lnTo>
                  <a:lnTo>
                    <a:pt x="9032447" y="4696846"/>
                  </a:lnTo>
                  <a:lnTo>
                    <a:pt x="8952606" y="4757054"/>
                  </a:lnTo>
                  <a:lnTo>
                    <a:pt x="8866222" y="4809408"/>
                  </a:lnTo>
                  <a:lnTo>
                    <a:pt x="8775256" y="4853255"/>
                  </a:lnTo>
                  <a:lnTo>
                    <a:pt x="8679709" y="4887940"/>
                  </a:lnTo>
                  <a:lnTo>
                    <a:pt x="8579581" y="4914117"/>
                  </a:lnTo>
                  <a:lnTo>
                    <a:pt x="8476181" y="4929823"/>
                  </a:lnTo>
                  <a:lnTo>
                    <a:pt x="8369509" y="4935059"/>
                  </a:lnTo>
                  <a:lnTo>
                    <a:pt x="1042507" y="4935059"/>
                  </a:lnTo>
                  <a:lnTo>
                    <a:pt x="935835" y="4929823"/>
                  </a:lnTo>
                  <a:lnTo>
                    <a:pt x="832435" y="4914117"/>
                  </a:lnTo>
                  <a:lnTo>
                    <a:pt x="732307" y="4887940"/>
                  </a:lnTo>
                  <a:lnTo>
                    <a:pt x="636760" y="4853255"/>
                  </a:lnTo>
                  <a:lnTo>
                    <a:pt x="545794" y="4809408"/>
                  </a:lnTo>
                  <a:lnTo>
                    <a:pt x="459410" y="4757054"/>
                  </a:lnTo>
                  <a:lnTo>
                    <a:pt x="379569" y="4696846"/>
                  </a:lnTo>
                  <a:lnTo>
                    <a:pt x="304964" y="4629440"/>
                  </a:lnTo>
                  <a:lnTo>
                    <a:pt x="238212" y="4555489"/>
                  </a:lnTo>
                  <a:lnTo>
                    <a:pt x="178005" y="4474994"/>
                  </a:lnTo>
                  <a:lnTo>
                    <a:pt x="125650" y="4389264"/>
                  </a:lnTo>
                  <a:lnTo>
                    <a:pt x="81803" y="4297644"/>
                  </a:lnTo>
                  <a:lnTo>
                    <a:pt x="47118" y="4202097"/>
                  </a:lnTo>
                  <a:lnTo>
                    <a:pt x="20941" y="4101969"/>
                  </a:lnTo>
                  <a:lnTo>
                    <a:pt x="5235" y="3998569"/>
                  </a:lnTo>
                  <a:lnTo>
                    <a:pt x="0" y="3891897"/>
                  </a:lnTo>
                  <a:lnTo>
                    <a:pt x="0" y="1043161"/>
                  </a:lnTo>
                  <a:close/>
                </a:path>
              </a:pathLst>
            </a:custGeom>
            <a:noFill/>
            <a:ln cap="flat" cmpd="sng" w="23550">
              <a:solidFill>
                <a:srgbClr val="0088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5" name="Google Shape;165;p25"/>
          <p:cNvSpPr txBox="1"/>
          <p:nvPr/>
        </p:nvSpPr>
        <p:spPr>
          <a:xfrm>
            <a:off x="2308125" y="3896275"/>
            <a:ext cx="34371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08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E65C0"/>
                </a:solidFill>
                <a:latin typeface="Arial"/>
                <a:ea typeface="Arial"/>
                <a:cs typeface="Arial"/>
                <a:sym typeface="Arial"/>
              </a:rPr>
              <a:t>Building block 1: wires</a:t>
            </a:r>
            <a:br>
              <a:rPr lang="en" sz="1200"/>
            </a:br>
            <a:r>
              <a:rPr lang="en" sz="1300">
                <a:solidFill>
                  <a:srgbClr val="C8253C"/>
                </a:solidFill>
                <a:latin typeface="Arial"/>
                <a:ea typeface="Arial"/>
                <a:cs typeface="Arial"/>
                <a:sym typeface="Arial"/>
              </a:rPr>
              <a:t>Building block 2: local network</a:t>
            </a:r>
            <a:br>
              <a:rPr lang="en" sz="1300"/>
            </a:br>
            <a:br>
              <a:rPr lang="en" sz="1300"/>
            </a:b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00882B"/>
                </a:solidFill>
                <a:latin typeface="Arial"/>
                <a:ea typeface="Arial"/>
                <a:cs typeface="Arial"/>
                <a:sym typeface="Arial"/>
              </a:rPr>
              <a:t>Building block 3: wide area network</a:t>
            </a:r>
            <a:endParaRPr sz="16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38093" y="2708231"/>
            <a:ext cx="413451" cy="413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Connect the entire world using post offices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Messages may pass through multiple post offices before reaching destination</a:t>
            </a:r>
            <a:endParaRPr/>
          </a:p>
        </p:txBody>
      </p:sp>
      <p:sp>
        <p:nvSpPr>
          <p:cNvPr id="172" name="Google Shape;172;p26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block 3: The Internet</a:t>
            </a:r>
            <a:endParaRPr/>
          </a:p>
        </p:txBody>
      </p:sp>
      <p:sp>
        <p:nvSpPr>
          <p:cNvPr id="173" name="Google Shape;17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74" name="Google Shape;174;p26"/>
          <p:cNvGrpSpPr/>
          <p:nvPr/>
        </p:nvGrpSpPr>
        <p:grpSpPr>
          <a:xfrm>
            <a:off x="993858" y="2383532"/>
            <a:ext cx="7156280" cy="2571918"/>
            <a:chOff x="993858" y="2383532"/>
            <a:chExt cx="7156280" cy="2571918"/>
          </a:xfrm>
        </p:grpSpPr>
        <p:sp>
          <p:nvSpPr>
            <p:cNvPr id="175" name="Google Shape;175;p26"/>
            <p:cNvSpPr/>
            <p:nvPr/>
          </p:nvSpPr>
          <p:spPr>
            <a:xfrm>
              <a:off x="993858" y="2383532"/>
              <a:ext cx="7156280" cy="2271796"/>
            </a:xfrm>
            <a:custGeom>
              <a:rect b="b" l="l" r="r" t="t"/>
              <a:pathLst>
                <a:path extrusionOk="0" h="5306695" w="16716375">
                  <a:moveTo>
                    <a:pt x="0" y="1121693"/>
                  </a:moveTo>
                  <a:lnTo>
                    <a:pt x="5889" y="1007168"/>
                  </a:lnTo>
                  <a:lnTo>
                    <a:pt x="22905" y="895260"/>
                  </a:lnTo>
                  <a:lnTo>
                    <a:pt x="50391" y="787934"/>
                  </a:lnTo>
                  <a:lnTo>
                    <a:pt x="88348" y="685188"/>
                  </a:lnTo>
                  <a:lnTo>
                    <a:pt x="135467" y="587024"/>
                  </a:lnTo>
                  <a:lnTo>
                    <a:pt x="191748" y="494749"/>
                  </a:lnTo>
                  <a:lnTo>
                    <a:pt x="255882" y="408364"/>
                  </a:lnTo>
                  <a:lnTo>
                    <a:pt x="328524" y="328524"/>
                  </a:lnTo>
                  <a:lnTo>
                    <a:pt x="408364" y="255882"/>
                  </a:lnTo>
                  <a:lnTo>
                    <a:pt x="494749" y="191748"/>
                  </a:lnTo>
                  <a:lnTo>
                    <a:pt x="587024" y="135467"/>
                  </a:lnTo>
                  <a:lnTo>
                    <a:pt x="685188" y="88348"/>
                  </a:lnTo>
                  <a:lnTo>
                    <a:pt x="787934" y="50391"/>
                  </a:lnTo>
                  <a:lnTo>
                    <a:pt x="895260" y="22905"/>
                  </a:lnTo>
                  <a:lnTo>
                    <a:pt x="1007168" y="5889"/>
                  </a:lnTo>
                  <a:lnTo>
                    <a:pt x="1121693" y="0"/>
                  </a:lnTo>
                  <a:lnTo>
                    <a:pt x="15594420" y="0"/>
                  </a:lnTo>
                  <a:lnTo>
                    <a:pt x="15708945" y="5889"/>
                  </a:lnTo>
                  <a:lnTo>
                    <a:pt x="15820198" y="22905"/>
                  </a:lnTo>
                  <a:lnTo>
                    <a:pt x="15927525" y="50391"/>
                  </a:lnTo>
                  <a:lnTo>
                    <a:pt x="16030925" y="88348"/>
                  </a:lnTo>
                  <a:lnTo>
                    <a:pt x="16129090" y="135467"/>
                  </a:lnTo>
                  <a:lnTo>
                    <a:pt x="16221364" y="191748"/>
                  </a:lnTo>
                  <a:lnTo>
                    <a:pt x="16307749" y="255882"/>
                  </a:lnTo>
                  <a:lnTo>
                    <a:pt x="16387590" y="328524"/>
                  </a:lnTo>
                  <a:lnTo>
                    <a:pt x="16459577" y="408364"/>
                  </a:lnTo>
                  <a:lnTo>
                    <a:pt x="16524365" y="494749"/>
                  </a:lnTo>
                  <a:lnTo>
                    <a:pt x="16580646" y="587024"/>
                  </a:lnTo>
                  <a:lnTo>
                    <a:pt x="16627765" y="685188"/>
                  </a:lnTo>
                  <a:lnTo>
                    <a:pt x="16665722" y="787934"/>
                  </a:lnTo>
                  <a:lnTo>
                    <a:pt x="16693208" y="895260"/>
                  </a:lnTo>
                  <a:lnTo>
                    <a:pt x="16710224" y="1007168"/>
                  </a:lnTo>
                  <a:lnTo>
                    <a:pt x="16716114" y="1121693"/>
                  </a:lnTo>
                  <a:lnTo>
                    <a:pt x="16716114" y="4185081"/>
                  </a:lnTo>
                  <a:lnTo>
                    <a:pt x="16710224" y="4299607"/>
                  </a:lnTo>
                  <a:lnTo>
                    <a:pt x="16693208" y="4410860"/>
                  </a:lnTo>
                  <a:lnTo>
                    <a:pt x="16665722" y="4518187"/>
                  </a:lnTo>
                  <a:lnTo>
                    <a:pt x="16627765" y="4621587"/>
                  </a:lnTo>
                  <a:lnTo>
                    <a:pt x="16580646" y="4719097"/>
                  </a:lnTo>
                  <a:lnTo>
                    <a:pt x="16524365" y="4812026"/>
                  </a:lnTo>
                  <a:lnTo>
                    <a:pt x="16459577" y="4898411"/>
                  </a:lnTo>
                  <a:lnTo>
                    <a:pt x="16387590" y="4977597"/>
                  </a:lnTo>
                  <a:lnTo>
                    <a:pt x="16307749" y="5050238"/>
                  </a:lnTo>
                  <a:lnTo>
                    <a:pt x="16221364" y="5114373"/>
                  </a:lnTo>
                  <a:lnTo>
                    <a:pt x="16129090" y="5170654"/>
                  </a:lnTo>
                  <a:lnTo>
                    <a:pt x="16030925" y="5217773"/>
                  </a:lnTo>
                  <a:lnTo>
                    <a:pt x="15927525" y="5255730"/>
                  </a:lnTo>
                  <a:lnTo>
                    <a:pt x="15820198" y="5283216"/>
                  </a:lnTo>
                  <a:lnTo>
                    <a:pt x="15708945" y="5300231"/>
                  </a:lnTo>
                  <a:lnTo>
                    <a:pt x="15594420" y="5306121"/>
                  </a:lnTo>
                  <a:lnTo>
                    <a:pt x="1121693" y="5306121"/>
                  </a:lnTo>
                  <a:lnTo>
                    <a:pt x="1007168" y="5300231"/>
                  </a:lnTo>
                  <a:lnTo>
                    <a:pt x="895260" y="5283216"/>
                  </a:lnTo>
                  <a:lnTo>
                    <a:pt x="787934" y="5255730"/>
                  </a:lnTo>
                  <a:lnTo>
                    <a:pt x="685188" y="5217773"/>
                  </a:lnTo>
                  <a:lnTo>
                    <a:pt x="587024" y="5170654"/>
                  </a:lnTo>
                  <a:lnTo>
                    <a:pt x="494749" y="5114373"/>
                  </a:lnTo>
                  <a:lnTo>
                    <a:pt x="408364" y="5050238"/>
                  </a:lnTo>
                  <a:lnTo>
                    <a:pt x="328524" y="4977597"/>
                  </a:lnTo>
                  <a:lnTo>
                    <a:pt x="255882" y="4898411"/>
                  </a:lnTo>
                  <a:lnTo>
                    <a:pt x="191748" y="4812026"/>
                  </a:lnTo>
                  <a:lnTo>
                    <a:pt x="135467" y="4719097"/>
                  </a:lnTo>
                  <a:lnTo>
                    <a:pt x="88348" y="4621587"/>
                  </a:lnTo>
                  <a:lnTo>
                    <a:pt x="50391" y="4518187"/>
                  </a:lnTo>
                  <a:lnTo>
                    <a:pt x="22905" y="4410860"/>
                  </a:lnTo>
                  <a:lnTo>
                    <a:pt x="5889" y="4299607"/>
                  </a:lnTo>
                  <a:lnTo>
                    <a:pt x="0" y="4185081"/>
                  </a:lnTo>
                  <a:lnTo>
                    <a:pt x="0" y="1121693"/>
                  </a:lnTo>
                  <a:close/>
                </a:path>
              </a:pathLst>
            </a:custGeom>
            <a:noFill/>
            <a:ln cap="flat" cmpd="sng" w="23550">
              <a:solidFill>
                <a:srgbClr val="0088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" name="Google Shape;176;p26"/>
            <p:cNvSpPr/>
            <p:nvPr/>
          </p:nvSpPr>
          <p:spPr>
            <a:xfrm>
              <a:off x="1324698" y="2428543"/>
              <a:ext cx="757923" cy="754122"/>
            </a:xfrm>
            <a:custGeom>
              <a:rect b="b" l="l" r="r" t="t"/>
              <a:pathLst>
                <a:path extrusionOk="0" h="1764029" w="1772920">
                  <a:moveTo>
                    <a:pt x="0" y="372370"/>
                  </a:moveTo>
                  <a:lnTo>
                    <a:pt x="7853" y="297111"/>
                  </a:lnTo>
                  <a:lnTo>
                    <a:pt x="29449" y="227741"/>
                  </a:lnTo>
                  <a:lnTo>
                    <a:pt x="63479" y="164262"/>
                  </a:lnTo>
                  <a:lnTo>
                    <a:pt x="109289" y="109289"/>
                  </a:lnTo>
                  <a:lnTo>
                    <a:pt x="164262" y="63479"/>
                  </a:lnTo>
                  <a:lnTo>
                    <a:pt x="227741" y="29449"/>
                  </a:lnTo>
                  <a:lnTo>
                    <a:pt x="297765" y="7853"/>
                  </a:lnTo>
                  <a:lnTo>
                    <a:pt x="373025" y="0"/>
                  </a:lnTo>
                  <a:lnTo>
                    <a:pt x="1399826" y="0"/>
                  </a:lnTo>
                  <a:lnTo>
                    <a:pt x="1475085" y="7853"/>
                  </a:lnTo>
                  <a:lnTo>
                    <a:pt x="1545110" y="29449"/>
                  </a:lnTo>
                  <a:lnTo>
                    <a:pt x="1608589" y="63479"/>
                  </a:lnTo>
                  <a:lnTo>
                    <a:pt x="1663561" y="109289"/>
                  </a:lnTo>
                  <a:lnTo>
                    <a:pt x="1709372" y="164262"/>
                  </a:lnTo>
                  <a:lnTo>
                    <a:pt x="1743402" y="227741"/>
                  </a:lnTo>
                  <a:lnTo>
                    <a:pt x="1764998" y="297111"/>
                  </a:lnTo>
                  <a:lnTo>
                    <a:pt x="1772851" y="372370"/>
                  </a:lnTo>
                  <a:lnTo>
                    <a:pt x="1772851" y="1391318"/>
                  </a:lnTo>
                  <a:lnTo>
                    <a:pt x="1764998" y="1466578"/>
                  </a:lnTo>
                  <a:lnTo>
                    <a:pt x="1743402" y="1535947"/>
                  </a:lnTo>
                  <a:lnTo>
                    <a:pt x="1709372" y="1599427"/>
                  </a:lnTo>
                  <a:lnTo>
                    <a:pt x="1663561" y="1654399"/>
                  </a:lnTo>
                  <a:lnTo>
                    <a:pt x="1608589" y="1700210"/>
                  </a:lnTo>
                  <a:lnTo>
                    <a:pt x="1545110" y="1734240"/>
                  </a:lnTo>
                  <a:lnTo>
                    <a:pt x="1475085" y="1755836"/>
                  </a:lnTo>
                  <a:lnTo>
                    <a:pt x="1399826" y="1763689"/>
                  </a:lnTo>
                  <a:lnTo>
                    <a:pt x="373025" y="1763689"/>
                  </a:lnTo>
                  <a:lnTo>
                    <a:pt x="297765" y="1755836"/>
                  </a:lnTo>
                  <a:lnTo>
                    <a:pt x="227741" y="1734240"/>
                  </a:lnTo>
                  <a:lnTo>
                    <a:pt x="164262" y="1700210"/>
                  </a:lnTo>
                  <a:lnTo>
                    <a:pt x="109289" y="1654399"/>
                  </a:lnTo>
                  <a:lnTo>
                    <a:pt x="63479" y="1599427"/>
                  </a:lnTo>
                  <a:lnTo>
                    <a:pt x="29449" y="1535947"/>
                  </a:lnTo>
                  <a:lnTo>
                    <a:pt x="7853" y="1466578"/>
                  </a:lnTo>
                  <a:lnTo>
                    <a:pt x="0" y="1391318"/>
                  </a:lnTo>
                  <a:lnTo>
                    <a:pt x="0" y="372370"/>
                  </a:lnTo>
                  <a:close/>
                </a:path>
              </a:pathLst>
            </a:custGeom>
            <a:noFill/>
            <a:ln cap="flat" cmpd="sng" w="23550">
              <a:solidFill>
                <a:srgbClr val="C825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" name="Google Shape;177;p26"/>
            <p:cNvSpPr txBox="1"/>
            <p:nvPr/>
          </p:nvSpPr>
          <p:spPr>
            <a:xfrm>
              <a:off x="2138978" y="2823090"/>
              <a:ext cx="1578000" cy="19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3325">
              <a:spAutoFit/>
            </a:bodyPr>
            <a:lstStyle/>
            <a:p>
              <a:pPr indent="0" lvl="0" marL="127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1E65C0"/>
                  </a:solidFill>
                  <a:latin typeface="Arial"/>
                  <a:ea typeface="Arial"/>
                  <a:cs typeface="Arial"/>
                  <a:sym typeface="Arial"/>
                </a:rPr>
                <a:t>Building block 1: wires</a:t>
              </a:r>
              <a:endParaRPr sz="120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6"/>
            <p:cNvSpPr txBox="1"/>
            <p:nvPr/>
          </p:nvSpPr>
          <p:spPr>
            <a:xfrm>
              <a:off x="1291826" y="4663550"/>
              <a:ext cx="3007800" cy="29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4600">
              <a:spAutoFit/>
            </a:bodyPr>
            <a:lstStyle/>
            <a:p>
              <a:pPr indent="0" lvl="0" marL="127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00882B"/>
                  </a:solidFill>
                  <a:latin typeface="Arial"/>
                  <a:ea typeface="Arial"/>
                  <a:cs typeface="Arial"/>
                  <a:sym typeface="Arial"/>
                </a:rPr>
                <a:t>Building block 3: the Internet</a:t>
              </a:r>
              <a:endParaRPr sz="1800"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9" name="Google Shape;179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38690" y="2503926"/>
              <a:ext cx="241636" cy="257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" name="Google Shape;180;p26"/>
            <p:cNvSpPr/>
            <p:nvPr/>
          </p:nvSpPr>
          <p:spPr>
            <a:xfrm>
              <a:off x="2083477" y="2816910"/>
              <a:ext cx="2824182" cy="0"/>
            </a:xfrm>
            <a:custGeom>
              <a:rect b="b" l="l" r="r" t="t"/>
              <a:pathLst>
                <a:path extrusionOk="0" h="120000" w="6597015">
                  <a:moveTo>
                    <a:pt x="0" y="0"/>
                  </a:moveTo>
                  <a:lnTo>
                    <a:pt x="6596657" y="0"/>
                  </a:lnTo>
                </a:path>
              </a:pathLst>
            </a:custGeom>
            <a:noFill/>
            <a:ln cap="flat" cmpd="sng" w="31400">
              <a:solidFill>
                <a:srgbClr val="0063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" name="Google Shape;181;p26"/>
            <p:cNvSpPr txBox="1"/>
            <p:nvPr/>
          </p:nvSpPr>
          <p:spPr>
            <a:xfrm>
              <a:off x="1323075" y="3206575"/>
              <a:ext cx="1425300" cy="44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1425">
              <a:spAutoFit/>
            </a:bodyPr>
            <a:lstStyle/>
            <a:p>
              <a:pPr indent="0" lvl="0" marL="12700" marR="5080" rtl="0" algn="l">
                <a:lnSpc>
                  <a:spcPct val="1014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C8253C"/>
                  </a:solidFill>
                  <a:latin typeface="Arial"/>
                  <a:ea typeface="Arial"/>
                  <a:cs typeface="Arial"/>
                  <a:sym typeface="Arial"/>
                </a:rPr>
                <a:t>Building block 2:  local network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2" name="Google Shape;182;p26"/>
            <p:cNvGrpSpPr/>
            <p:nvPr/>
          </p:nvGrpSpPr>
          <p:grpSpPr>
            <a:xfrm>
              <a:off x="1328932" y="2444888"/>
              <a:ext cx="6386313" cy="2150098"/>
              <a:chOff x="2160274" y="5175235"/>
              <a:chExt cx="14917806" cy="5022419"/>
            </a:xfrm>
          </p:grpSpPr>
          <p:pic>
            <p:nvPicPr>
              <p:cNvPr id="183" name="Google Shape;183;p2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832222" y="5434389"/>
                <a:ext cx="965781" cy="96578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4" name="Google Shape;184;p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107736" y="5313143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5" name="Google Shape;185;p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406187" y="6014693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6" name="Google Shape;186;p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118207" y="6004222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7" name="Google Shape;187;p26"/>
              <p:cNvSpPr/>
              <p:nvPr/>
            </p:nvSpPr>
            <p:spPr>
              <a:xfrm>
                <a:off x="10519967" y="5175235"/>
                <a:ext cx="1772284" cy="1764665"/>
              </a:xfrm>
              <a:custGeom>
                <a:rect b="b" l="l" r="r" t="t"/>
                <a:pathLst>
                  <a:path extrusionOk="0" h="1764665" w="1772284">
                    <a:moveTo>
                      <a:pt x="0" y="373025"/>
                    </a:moveTo>
                    <a:lnTo>
                      <a:pt x="7853" y="297765"/>
                    </a:lnTo>
                    <a:lnTo>
                      <a:pt x="29449" y="227741"/>
                    </a:lnTo>
                    <a:lnTo>
                      <a:pt x="63479" y="164262"/>
                    </a:lnTo>
                    <a:lnTo>
                      <a:pt x="109289" y="109289"/>
                    </a:lnTo>
                    <a:lnTo>
                      <a:pt x="164262" y="63479"/>
                    </a:lnTo>
                    <a:lnTo>
                      <a:pt x="227741" y="29449"/>
                    </a:lnTo>
                    <a:lnTo>
                      <a:pt x="297111" y="7853"/>
                    </a:lnTo>
                    <a:lnTo>
                      <a:pt x="372370" y="0"/>
                    </a:lnTo>
                    <a:lnTo>
                      <a:pt x="1399172" y="0"/>
                    </a:lnTo>
                    <a:lnTo>
                      <a:pt x="1474431" y="7853"/>
                    </a:lnTo>
                    <a:lnTo>
                      <a:pt x="1544455" y="29449"/>
                    </a:lnTo>
                    <a:lnTo>
                      <a:pt x="1607935" y="63479"/>
                    </a:lnTo>
                    <a:lnTo>
                      <a:pt x="1662907" y="109289"/>
                    </a:lnTo>
                    <a:lnTo>
                      <a:pt x="1708717" y="164262"/>
                    </a:lnTo>
                    <a:lnTo>
                      <a:pt x="1742747" y="227741"/>
                    </a:lnTo>
                    <a:lnTo>
                      <a:pt x="1764344" y="297765"/>
                    </a:lnTo>
                    <a:lnTo>
                      <a:pt x="1772197" y="373025"/>
                    </a:lnTo>
                    <a:lnTo>
                      <a:pt x="1772197" y="1391318"/>
                    </a:lnTo>
                    <a:lnTo>
                      <a:pt x="1764344" y="1466578"/>
                    </a:lnTo>
                    <a:lnTo>
                      <a:pt x="1742747" y="1536602"/>
                    </a:lnTo>
                    <a:lnTo>
                      <a:pt x="1708717" y="1600082"/>
                    </a:lnTo>
                    <a:lnTo>
                      <a:pt x="1662907" y="1655054"/>
                    </a:lnTo>
                    <a:lnTo>
                      <a:pt x="1607935" y="1700864"/>
                    </a:lnTo>
                    <a:lnTo>
                      <a:pt x="1544455" y="1734894"/>
                    </a:lnTo>
                    <a:lnTo>
                      <a:pt x="1474431" y="1756491"/>
                    </a:lnTo>
                    <a:lnTo>
                      <a:pt x="1399172" y="1764344"/>
                    </a:lnTo>
                    <a:lnTo>
                      <a:pt x="372370" y="1764344"/>
                    </a:lnTo>
                    <a:lnTo>
                      <a:pt x="297111" y="1756491"/>
                    </a:lnTo>
                    <a:lnTo>
                      <a:pt x="227741" y="1734894"/>
                    </a:lnTo>
                    <a:lnTo>
                      <a:pt x="164262" y="1700864"/>
                    </a:lnTo>
                    <a:lnTo>
                      <a:pt x="109289" y="1655054"/>
                    </a:lnTo>
                    <a:lnTo>
                      <a:pt x="63479" y="1600082"/>
                    </a:lnTo>
                    <a:lnTo>
                      <a:pt x="29449" y="1536602"/>
                    </a:lnTo>
                    <a:lnTo>
                      <a:pt x="7853" y="1466578"/>
                    </a:lnTo>
                    <a:lnTo>
                      <a:pt x="0" y="1391318"/>
                    </a:lnTo>
                    <a:lnTo>
                      <a:pt x="0" y="373025"/>
                    </a:lnTo>
                    <a:close/>
                  </a:path>
                </a:pathLst>
              </a:custGeom>
              <a:noFill/>
              <a:ln cap="flat" cmpd="sng" w="23550">
                <a:solidFill>
                  <a:srgbClr val="C8253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pic>
            <p:nvPicPr>
              <p:cNvPr id="188" name="Google Shape;188;p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782895" y="5355027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9" name="Google Shape;189;p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1473973" y="5355027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0" name="Google Shape;190;p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772425" y="6056576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1" name="Google Shape;191;p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1484445" y="6046105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2" name="Google Shape;192;p26"/>
              <p:cNvSpPr/>
              <p:nvPr/>
            </p:nvSpPr>
            <p:spPr>
              <a:xfrm>
                <a:off x="10541563" y="8432989"/>
                <a:ext cx="1772920" cy="1764665"/>
              </a:xfrm>
              <a:custGeom>
                <a:rect b="b" l="l" r="r" t="t"/>
                <a:pathLst>
                  <a:path extrusionOk="0" h="1764665" w="1772920">
                    <a:moveTo>
                      <a:pt x="0" y="373025"/>
                    </a:moveTo>
                    <a:lnTo>
                      <a:pt x="7853" y="297765"/>
                    </a:lnTo>
                    <a:lnTo>
                      <a:pt x="29449" y="227741"/>
                    </a:lnTo>
                    <a:lnTo>
                      <a:pt x="63479" y="164262"/>
                    </a:lnTo>
                    <a:lnTo>
                      <a:pt x="109289" y="109289"/>
                    </a:lnTo>
                    <a:lnTo>
                      <a:pt x="164262" y="63479"/>
                    </a:lnTo>
                    <a:lnTo>
                      <a:pt x="227741" y="29449"/>
                    </a:lnTo>
                    <a:lnTo>
                      <a:pt x="297765" y="7853"/>
                    </a:lnTo>
                    <a:lnTo>
                      <a:pt x="373025" y="0"/>
                    </a:lnTo>
                    <a:lnTo>
                      <a:pt x="1399826" y="0"/>
                    </a:lnTo>
                    <a:lnTo>
                      <a:pt x="1475085" y="7853"/>
                    </a:lnTo>
                    <a:lnTo>
                      <a:pt x="1545110" y="29449"/>
                    </a:lnTo>
                    <a:lnTo>
                      <a:pt x="1608589" y="63479"/>
                    </a:lnTo>
                    <a:lnTo>
                      <a:pt x="1663561" y="109289"/>
                    </a:lnTo>
                    <a:lnTo>
                      <a:pt x="1709372" y="164262"/>
                    </a:lnTo>
                    <a:lnTo>
                      <a:pt x="1743402" y="227741"/>
                    </a:lnTo>
                    <a:lnTo>
                      <a:pt x="1764998" y="297765"/>
                    </a:lnTo>
                    <a:lnTo>
                      <a:pt x="1772851" y="373025"/>
                    </a:lnTo>
                    <a:lnTo>
                      <a:pt x="1772851" y="1391318"/>
                    </a:lnTo>
                    <a:lnTo>
                      <a:pt x="1764998" y="1466578"/>
                    </a:lnTo>
                    <a:lnTo>
                      <a:pt x="1743402" y="1536602"/>
                    </a:lnTo>
                    <a:lnTo>
                      <a:pt x="1709372" y="1600082"/>
                    </a:lnTo>
                    <a:lnTo>
                      <a:pt x="1663561" y="1655054"/>
                    </a:lnTo>
                    <a:lnTo>
                      <a:pt x="1608589" y="1700864"/>
                    </a:lnTo>
                    <a:lnTo>
                      <a:pt x="1545110" y="1734894"/>
                    </a:lnTo>
                    <a:lnTo>
                      <a:pt x="1475085" y="1756491"/>
                    </a:lnTo>
                    <a:lnTo>
                      <a:pt x="1399826" y="1764344"/>
                    </a:lnTo>
                    <a:lnTo>
                      <a:pt x="373025" y="1764344"/>
                    </a:lnTo>
                    <a:lnTo>
                      <a:pt x="297765" y="1756491"/>
                    </a:lnTo>
                    <a:lnTo>
                      <a:pt x="227741" y="1734894"/>
                    </a:lnTo>
                    <a:lnTo>
                      <a:pt x="164262" y="1700864"/>
                    </a:lnTo>
                    <a:lnTo>
                      <a:pt x="109289" y="1655054"/>
                    </a:lnTo>
                    <a:lnTo>
                      <a:pt x="63479" y="1600082"/>
                    </a:lnTo>
                    <a:lnTo>
                      <a:pt x="29449" y="1536602"/>
                    </a:lnTo>
                    <a:lnTo>
                      <a:pt x="7853" y="1466578"/>
                    </a:lnTo>
                    <a:lnTo>
                      <a:pt x="0" y="1391318"/>
                    </a:lnTo>
                    <a:lnTo>
                      <a:pt x="0" y="373025"/>
                    </a:lnTo>
                    <a:close/>
                  </a:path>
                </a:pathLst>
              </a:custGeom>
              <a:noFill/>
              <a:ln cap="flat" cmpd="sng" w="23550">
                <a:solidFill>
                  <a:srgbClr val="C8253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pic>
            <p:nvPicPr>
              <p:cNvPr id="193" name="Google Shape;193;p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803837" y="8611472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4" name="Google Shape;194;p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1494915" y="8611472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5" name="Google Shape;195;p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793366" y="9313022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6" name="Google Shape;196;p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1505386" y="9302551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7" name="Google Shape;197;p26"/>
              <p:cNvSpPr/>
              <p:nvPr/>
            </p:nvSpPr>
            <p:spPr>
              <a:xfrm>
                <a:off x="11397654" y="6939008"/>
                <a:ext cx="0" cy="1494154"/>
              </a:xfrm>
              <a:custGeom>
                <a:rect b="b" l="l" r="r" t="t"/>
                <a:pathLst>
                  <a:path extrusionOk="0" h="1494154" w="120000">
                    <a:moveTo>
                      <a:pt x="0" y="0"/>
                    </a:moveTo>
                    <a:lnTo>
                      <a:pt x="0" y="1493953"/>
                    </a:lnTo>
                  </a:path>
                </a:pathLst>
              </a:custGeom>
              <a:noFill/>
              <a:ln cap="flat" cmpd="sng" w="31400">
                <a:solidFill>
                  <a:srgbClr val="0063C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pic>
            <p:nvPicPr>
              <p:cNvPr id="198" name="Google Shape;198;p2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900191" y="7151614"/>
                <a:ext cx="965781" cy="9657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9" name="Google Shape;199;p26"/>
              <p:cNvSpPr/>
              <p:nvPr/>
            </p:nvSpPr>
            <p:spPr>
              <a:xfrm>
                <a:off x="15305161" y="8432989"/>
                <a:ext cx="1772919" cy="1764029"/>
              </a:xfrm>
              <a:custGeom>
                <a:rect b="b" l="l" r="r" t="t"/>
                <a:pathLst>
                  <a:path extrusionOk="0" h="1764029" w="1772919">
                    <a:moveTo>
                      <a:pt x="0" y="372370"/>
                    </a:moveTo>
                    <a:lnTo>
                      <a:pt x="7853" y="297111"/>
                    </a:lnTo>
                    <a:lnTo>
                      <a:pt x="29449" y="227741"/>
                    </a:lnTo>
                    <a:lnTo>
                      <a:pt x="64134" y="164262"/>
                    </a:lnTo>
                    <a:lnTo>
                      <a:pt x="109289" y="109289"/>
                    </a:lnTo>
                    <a:lnTo>
                      <a:pt x="164916" y="63479"/>
                    </a:lnTo>
                    <a:lnTo>
                      <a:pt x="227741" y="29449"/>
                    </a:lnTo>
                    <a:lnTo>
                      <a:pt x="297765" y="7853"/>
                    </a:lnTo>
                    <a:lnTo>
                      <a:pt x="373025" y="0"/>
                    </a:lnTo>
                    <a:lnTo>
                      <a:pt x="1399826" y="0"/>
                    </a:lnTo>
                    <a:lnTo>
                      <a:pt x="1475085" y="7853"/>
                    </a:lnTo>
                    <a:lnTo>
                      <a:pt x="1545110" y="29449"/>
                    </a:lnTo>
                    <a:lnTo>
                      <a:pt x="1608589" y="63479"/>
                    </a:lnTo>
                    <a:lnTo>
                      <a:pt x="1663561" y="109289"/>
                    </a:lnTo>
                    <a:lnTo>
                      <a:pt x="1709372" y="164262"/>
                    </a:lnTo>
                    <a:lnTo>
                      <a:pt x="1743402" y="227741"/>
                    </a:lnTo>
                    <a:lnTo>
                      <a:pt x="1764998" y="297111"/>
                    </a:lnTo>
                    <a:lnTo>
                      <a:pt x="1772851" y="372370"/>
                    </a:lnTo>
                    <a:lnTo>
                      <a:pt x="1772851" y="1391318"/>
                    </a:lnTo>
                    <a:lnTo>
                      <a:pt x="1764998" y="1466578"/>
                    </a:lnTo>
                    <a:lnTo>
                      <a:pt x="1743402" y="1535947"/>
                    </a:lnTo>
                    <a:lnTo>
                      <a:pt x="1709372" y="1599427"/>
                    </a:lnTo>
                    <a:lnTo>
                      <a:pt x="1663561" y="1654399"/>
                    </a:lnTo>
                    <a:lnTo>
                      <a:pt x="1608589" y="1700210"/>
                    </a:lnTo>
                    <a:lnTo>
                      <a:pt x="1545110" y="1734240"/>
                    </a:lnTo>
                    <a:lnTo>
                      <a:pt x="1475085" y="1755836"/>
                    </a:lnTo>
                    <a:lnTo>
                      <a:pt x="1399826" y="1763689"/>
                    </a:lnTo>
                    <a:lnTo>
                      <a:pt x="373025" y="1763689"/>
                    </a:lnTo>
                    <a:lnTo>
                      <a:pt x="297765" y="1755836"/>
                    </a:lnTo>
                    <a:lnTo>
                      <a:pt x="227741" y="1734240"/>
                    </a:lnTo>
                    <a:lnTo>
                      <a:pt x="164916" y="1700210"/>
                    </a:lnTo>
                    <a:lnTo>
                      <a:pt x="109289" y="1654399"/>
                    </a:lnTo>
                    <a:lnTo>
                      <a:pt x="64134" y="1599427"/>
                    </a:lnTo>
                    <a:lnTo>
                      <a:pt x="29449" y="1535947"/>
                    </a:lnTo>
                    <a:lnTo>
                      <a:pt x="7853" y="1466578"/>
                    </a:lnTo>
                    <a:lnTo>
                      <a:pt x="0" y="1391318"/>
                    </a:lnTo>
                    <a:lnTo>
                      <a:pt x="0" y="372370"/>
                    </a:lnTo>
                    <a:close/>
                  </a:path>
                </a:pathLst>
              </a:custGeom>
              <a:noFill/>
              <a:ln cap="flat" cmpd="sng" w="23550">
                <a:solidFill>
                  <a:srgbClr val="C8253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pic>
            <p:nvPicPr>
              <p:cNvPr id="200" name="Google Shape;200;p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5568089" y="8611472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1" name="Google Shape;201;p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6259168" y="8611472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2" name="Google Shape;202;p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5557618" y="9313021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3" name="Google Shape;203;p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6269639" y="9302551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4" name="Google Shape;204;p26"/>
              <p:cNvSpPr/>
              <p:nvPr/>
            </p:nvSpPr>
            <p:spPr>
              <a:xfrm>
                <a:off x="2160274" y="8403539"/>
                <a:ext cx="1772920" cy="1764665"/>
              </a:xfrm>
              <a:custGeom>
                <a:rect b="b" l="l" r="r" t="t"/>
                <a:pathLst>
                  <a:path extrusionOk="0" h="1764665" w="1772920">
                    <a:moveTo>
                      <a:pt x="0" y="373025"/>
                    </a:moveTo>
                    <a:lnTo>
                      <a:pt x="7853" y="297765"/>
                    </a:lnTo>
                    <a:lnTo>
                      <a:pt x="29449" y="227741"/>
                    </a:lnTo>
                    <a:lnTo>
                      <a:pt x="63479" y="164916"/>
                    </a:lnTo>
                    <a:lnTo>
                      <a:pt x="109289" y="109289"/>
                    </a:lnTo>
                    <a:lnTo>
                      <a:pt x="164262" y="64134"/>
                    </a:lnTo>
                    <a:lnTo>
                      <a:pt x="227741" y="29449"/>
                    </a:lnTo>
                    <a:lnTo>
                      <a:pt x="297765" y="7853"/>
                    </a:lnTo>
                    <a:lnTo>
                      <a:pt x="373025" y="0"/>
                    </a:lnTo>
                    <a:lnTo>
                      <a:pt x="1399826" y="0"/>
                    </a:lnTo>
                    <a:lnTo>
                      <a:pt x="1475085" y="7853"/>
                    </a:lnTo>
                    <a:lnTo>
                      <a:pt x="1545110" y="29449"/>
                    </a:lnTo>
                    <a:lnTo>
                      <a:pt x="1608589" y="64134"/>
                    </a:lnTo>
                    <a:lnTo>
                      <a:pt x="1663561" y="109289"/>
                    </a:lnTo>
                    <a:lnTo>
                      <a:pt x="1709372" y="164916"/>
                    </a:lnTo>
                    <a:lnTo>
                      <a:pt x="1743402" y="227741"/>
                    </a:lnTo>
                    <a:lnTo>
                      <a:pt x="1764998" y="297765"/>
                    </a:lnTo>
                    <a:lnTo>
                      <a:pt x="1772851" y="373025"/>
                    </a:lnTo>
                    <a:lnTo>
                      <a:pt x="1772851" y="1391318"/>
                    </a:lnTo>
                    <a:lnTo>
                      <a:pt x="1764998" y="1466578"/>
                    </a:lnTo>
                    <a:lnTo>
                      <a:pt x="1743402" y="1536602"/>
                    </a:lnTo>
                    <a:lnTo>
                      <a:pt x="1709372" y="1600082"/>
                    </a:lnTo>
                    <a:lnTo>
                      <a:pt x="1663561" y="1655054"/>
                    </a:lnTo>
                    <a:lnTo>
                      <a:pt x="1608589" y="1700864"/>
                    </a:lnTo>
                    <a:lnTo>
                      <a:pt x="1545110" y="1734894"/>
                    </a:lnTo>
                    <a:lnTo>
                      <a:pt x="1475085" y="1756491"/>
                    </a:lnTo>
                    <a:lnTo>
                      <a:pt x="1399826" y="1764344"/>
                    </a:lnTo>
                    <a:lnTo>
                      <a:pt x="373025" y="1764344"/>
                    </a:lnTo>
                    <a:lnTo>
                      <a:pt x="297765" y="1756491"/>
                    </a:lnTo>
                    <a:lnTo>
                      <a:pt x="227741" y="1734894"/>
                    </a:lnTo>
                    <a:lnTo>
                      <a:pt x="164262" y="1700864"/>
                    </a:lnTo>
                    <a:lnTo>
                      <a:pt x="109289" y="1655054"/>
                    </a:lnTo>
                    <a:lnTo>
                      <a:pt x="63479" y="1600082"/>
                    </a:lnTo>
                    <a:lnTo>
                      <a:pt x="29449" y="1536602"/>
                    </a:lnTo>
                    <a:lnTo>
                      <a:pt x="7853" y="1466578"/>
                    </a:lnTo>
                    <a:lnTo>
                      <a:pt x="0" y="1391318"/>
                    </a:lnTo>
                    <a:lnTo>
                      <a:pt x="0" y="373025"/>
                    </a:lnTo>
                    <a:close/>
                  </a:path>
                </a:pathLst>
              </a:custGeom>
              <a:noFill/>
              <a:ln cap="flat" cmpd="sng" w="23550">
                <a:solidFill>
                  <a:srgbClr val="C8253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pic>
            <p:nvPicPr>
              <p:cNvPr id="205" name="Google Shape;205;p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427129" y="8580060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6" name="Google Shape;206;p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118207" y="8580060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7" name="Google Shape;207;p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416658" y="9281609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8" name="Google Shape;208;p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128678" y="9271138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9" name="Google Shape;209;p26"/>
              <p:cNvSpPr/>
              <p:nvPr/>
            </p:nvSpPr>
            <p:spPr>
              <a:xfrm>
                <a:off x="3937040" y="9339951"/>
                <a:ext cx="6597015" cy="0"/>
              </a:xfrm>
              <a:custGeom>
                <a:rect b="b" l="l" r="r" t="t"/>
                <a:pathLst>
                  <a:path extrusionOk="0" h="120000" w="6597015">
                    <a:moveTo>
                      <a:pt x="0" y="0"/>
                    </a:moveTo>
                    <a:lnTo>
                      <a:pt x="6596657" y="0"/>
                    </a:lnTo>
                  </a:path>
                </a:pathLst>
              </a:custGeom>
              <a:noFill/>
              <a:ln cap="flat" cmpd="sng" w="31400">
                <a:solidFill>
                  <a:srgbClr val="0063C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pic>
            <p:nvPicPr>
              <p:cNvPr id="210" name="Google Shape;210;p2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842693" y="8732718"/>
                <a:ext cx="965781" cy="9657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1" name="Google Shape;211;p26"/>
              <p:cNvSpPr/>
              <p:nvPr/>
            </p:nvSpPr>
            <p:spPr>
              <a:xfrm>
                <a:off x="12326655" y="9349997"/>
                <a:ext cx="2978784" cy="0"/>
              </a:xfrm>
              <a:custGeom>
                <a:rect b="b" l="l" r="r" t="t"/>
                <a:pathLst>
                  <a:path extrusionOk="0" h="120000" w="2978784">
                    <a:moveTo>
                      <a:pt x="0" y="0"/>
                    </a:moveTo>
                    <a:lnTo>
                      <a:pt x="2978495" y="0"/>
                    </a:lnTo>
                  </a:path>
                </a:pathLst>
              </a:custGeom>
              <a:noFill/>
              <a:ln cap="flat" cmpd="sng" w="31400">
                <a:solidFill>
                  <a:srgbClr val="0063C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pic>
            <p:nvPicPr>
              <p:cNvPr id="212" name="Google Shape;212;p2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3329437" y="8701305"/>
                <a:ext cx="965781" cy="9657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3" name="Google Shape;213;p26"/>
              <p:cNvSpPr/>
              <p:nvPr/>
            </p:nvSpPr>
            <p:spPr>
              <a:xfrm>
                <a:off x="15282257" y="5175889"/>
                <a:ext cx="1772284" cy="1764665"/>
              </a:xfrm>
              <a:custGeom>
                <a:rect b="b" l="l" r="r" t="t"/>
                <a:pathLst>
                  <a:path extrusionOk="0" h="1764665" w="1772284">
                    <a:moveTo>
                      <a:pt x="0" y="373025"/>
                    </a:moveTo>
                    <a:lnTo>
                      <a:pt x="7853" y="297765"/>
                    </a:lnTo>
                    <a:lnTo>
                      <a:pt x="29449" y="227741"/>
                    </a:lnTo>
                    <a:lnTo>
                      <a:pt x="63479" y="164916"/>
                    </a:lnTo>
                    <a:lnTo>
                      <a:pt x="109289" y="109289"/>
                    </a:lnTo>
                    <a:lnTo>
                      <a:pt x="164262" y="64134"/>
                    </a:lnTo>
                    <a:lnTo>
                      <a:pt x="227741" y="29449"/>
                    </a:lnTo>
                    <a:lnTo>
                      <a:pt x="297765" y="7853"/>
                    </a:lnTo>
                    <a:lnTo>
                      <a:pt x="373025" y="0"/>
                    </a:lnTo>
                    <a:lnTo>
                      <a:pt x="1399826" y="0"/>
                    </a:lnTo>
                    <a:lnTo>
                      <a:pt x="1475085" y="7853"/>
                    </a:lnTo>
                    <a:lnTo>
                      <a:pt x="1544455" y="29449"/>
                    </a:lnTo>
                    <a:lnTo>
                      <a:pt x="1607935" y="64134"/>
                    </a:lnTo>
                    <a:lnTo>
                      <a:pt x="1662907" y="109289"/>
                    </a:lnTo>
                    <a:lnTo>
                      <a:pt x="1708717" y="164916"/>
                    </a:lnTo>
                    <a:lnTo>
                      <a:pt x="1742747" y="227741"/>
                    </a:lnTo>
                    <a:lnTo>
                      <a:pt x="1764344" y="297765"/>
                    </a:lnTo>
                    <a:lnTo>
                      <a:pt x="1772197" y="373025"/>
                    </a:lnTo>
                    <a:lnTo>
                      <a:pt x="1772197" y="1391318"/>
                    </a:lnTo>
                    <a:lnTo>
                      <a:pt x="1764344" y="1466578"/>
                    </a:lnTo>
                    <a:lnTo>
                      <a:pt x="1742747" y="1536602"/>
                    </a:lnTo>
                    <a:lnTo>
                      <a:pt x="1708717" y="1600082"/>
                    </a:lnTo>
                    <a:lnTo>
                      <a:pt x="1662907" y="1655054"/>
                    </a:lnTo>
                    <a:lnTo>
                      <a:pt x="1607935" y="1700864"/>
                    </a:lnTo>
                    <a:lnTo>
                      <a:pt x="1544455" y="1734894"/>
                    </a:lnTo>
                    <a:lnTo>
                      <a:pt x="1475085" y="1756491"/>
                    </a:lnTo>
                    <a:lnTo>
                      <a:pt x="1399826" y="1764344"/>
                    </a:lnTo>
                    <a:lnTo>
                      <a:pt x="373025" y="1764344"/>
                    </a:lnTo>
                    <a:lnTo>
                      <a:pt x="297765" y="1756491"/>
                    </a:lnTo>
                    <a:lnTo>
                      <a:pt x="227741" y="1734894"/>
                    </a:lnTo>
                    <a:lnTo>
                      <a:pt x="164262" y="1700864"/>
                    </a:lnTo>
                    <a:lnTo>
                      <a:pt x="109289" y="1655054"/>
                    </a:lnTo>
                    <a:lnTo>
                      <a:pt x="63479" y="1600082"/>
                    </a:lnTo>
                    <a:lnTo>
                      <a:pt x="29449" y="1536602"/>
                    </a:lnTo>
                    <a:lnTo>
                      <a:pt x="7853" y="1466578"/>
                    </a:lnTo>
                    <a:lnTo>
                      <a:pt x="0" y="1391318"/>
                    </a:lnTo>
                    <a:lnTo>
                      <a:pt x="0" y="373025"/>
                    </a:lnTo>
                    <a:close/>
                  </a:path>
                </a:pathLst>
              </a:custGeom>
              <a:noFill/>
              <a:ln cap="flat" cmpd="sng" w="23550">
                <a:solidFill>
                  <a:srgbClr val="C8253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pic>
            <p:nvPicPr>
              <p:cNvPr id="214" name="Google Shape;214;p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5547148" y="5355027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5" name="Google Shape;215;p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6238227" y="5355027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6" name="Google Shape;216;p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5536677" y="6056576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7" name="Google Shape;217;p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6248697" y="6046105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8" name="Google Shape;218;p26"/>
              <p:cNvSpPr/>
              <p:nvPr/>
            </p:nvSpPr>
            <p:spPr>
              <a:xfrm>
                <a:off x="16168129" y="6939937"/>
                <a:ext cx="3175" cy="1490345"/>
              </a:xfrm>
              <a:custGeom>
                <a:rect b="b" l="l" r="r" t="t"/>
                <a:pathLst>
                  <a:path extrusionOk="0" h="1490345" w="3175">
                    <a:moveTo>
                      <a:pt x="0" y="0"/>
                    </a:moveTo>
                    <a:lnTo>
                      <a:pt x="3149" y="1490240"/>
                    </a:lnTo>
                  </a:path>
                </a:pathLst>
              </a:custGeom>
              <a:noFill/>
              <a:ln cap="flat" cmpd="sng" w="31400">
                <a:solidFill>
                  <a:srgbClr val="0063C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pic>
            <p:nvPicPr>
              <p:cNvPr id="219" name="Google Shape;219;p2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5706327" y="7151614"/>
                <a:ext cx="965783" cy="9657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0" name="Google Shape;220;p26"/>
              <p:cNvSpPr/>
              <p:nvPr/>
            </p:nvSpPr>
            <p:spPr>
              <a:xfrm>
                <a:off x="12305805" y="5987869"/>
                <a:ext cx="2978784" cy="0"/>
              </a:xfrm>
              <a:custGeom>
                <a:rect b="b" l="l" r="r" t="t"/>
                <a:pathLst>
                  <a:path extrusionOk="0" h="120000" w="2978784">
                    <a:moveTo>
                      <a:pt x="0" y="0"/>
                    </a:moveTo>
                    <a:lnTo>
                      <a:pt x="2978495" y="0"/>
                    </a:lnTo>
                  </a:path>
                </a:pathLst>
              </a:custGeom>
              <a:noFill/>
              <a:ln cap="flat" cmpd="sng" w="31400">
                <a:solidFill>
                  <a:srgbClr val="0063C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pic>
            <p:nvPicPr>
              <p:cNvPr id="221" name="Google Shape;221;p2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3308495" y="5340151"/>
                <a:ext cx="965781" cy="96578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Connect the entire world using post offices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Messages may pass through multiple post offices before reaching destination</a:t>
            </a:r>
            <a:endParaRPr/>
          </a:p>
        </p:txBody>
      </p:sp>
      <p:sp>
        <p:nvSpPr>
          <p:cNvPr id="227" name="Google Shape;227;p27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block 3: The Internet</a:t>
            </a:r>
            <a:endParaRPr/>
          </a:p>
        </p:txBody>
      </p:sp>
      <p:sp>
        <p:nvSpPr>
          <p:cNvPr id="228" name="Google Shape;22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29" name="Google Shape;229;p27"/>
          <p:cNvGrpSpPr/>
          <p:nvPr/>
        </p:nvGrpSpPr>
        <p:grpSpPr>
          <a:xfrm>
            <a:off x="993858" y="2383532"/>
            <a:ext cx="7146250" cy="2571918"/>
            <a:chOff x="993858" y="2383532"/>
            <a:chExt cx="7146250" cy="2571918"/>
          </a:xfrm>
        </p:grpSpPr>
        <p:sp>
          <p:nvSpPr>
            <p:cNvPr id="230" name="Google Shape;230;p27"/>
            <p:cNvSpPr/>
            <p:nvPr/>
          </p:nvSpPr>
          <p:spPr>
            <a:xfrm>
              <a:off x="993858" y="2383532"/>
              <a:ext cx="7146250" cy="2268612"/>
            </a:xfrm>
            <a:custGeom>
              <a:rect b="b" l="l" r="r" t="t"/>
              <a:pathLst>
                <a:path extrusionOk="0" h="5306695" w="16716375">
                  <a:moveTo>
                    <a:pt x="0" y="1121693"/>
                  </a:moveTo>
                  <a:lnTo>
                    <a:pt x="5889" y="1007168"/>
                  </a:lnTo>
                  <a:lnTo>
                    <a:pt x="22905" y="895260"/>
                  </a:lnTo>
                  <a:lnTo>
                    <a:pt x="50391" y="787934"/>
                  </a:lnTo>
                  <a:lnTo>
                    <a:pt x="88348" y="685188"/>
                  </a:lnTo>
                  <a:lnTo>
                    <a:pt x="135467" y="587024"/>
                  </a:lnTo>
                  <a:lnTo>
                    <a:pt x="191748" y="494749"/>
                  </a:lnTo>
                  <a:lnTo>
                    <a:pt x="255882" y="408364"/>
                  </a:lnTo>
                  <a:lnTo>
                    <a:pt x="328524" y="328524"/>
                  </a:lnTo>
                  <a:lnTo>
                    <a:pt x="408364" y="255882"/>
                  </a:lnTo>
                  <a:lnTo>
                    <a:pt x="494749" y="191748"/>
                  </a:lnTo>
                  <a:lnTo>
                    <a:pt x="587024" y="135467"/>
                  </a:lnTo>
                  <a:lnTo>
                    <a:pt x="685188" y="88348"/>
                  </a:lnTo>
                  <a:lnTo>
                    <a:pt x="787934" y="50391"/>
                  </a:lnTo>
                  <a:lnTo>
                    <a:pt x="895260" y="22905"/>
                  </a:lnTo>
                  <a:lnTo>
                    <a:pt x="1007168" y="5889"/>
                  </a:lnTo>
                  <a:lnTo>
                    <a:pt x="1121693" y="0"/>
                  </a:lnTo>
                  <a:lnTo>
                    <a:pt x="15594420" y="0"/>
                  </a:lnTo>
                  <a:lnTo>
                    <a:pt x="15708945" y="5889"/>
                  </a:lnTo>
                  <a:lnTo>
                    <a:pt x="15820198" y="22905"/>
                  </a:lnTo>
                  <a:lnTo>
                    <a:pt x="15927525" y="50391"/>
                  </a:lnTo>
                  <a:lnTo>
                    <a:pt x="16030925" y="88348"/>
                  </a:lnTo>
                  <a:lnTo>
                    <a:pt x="16129090" y="135467"/>
                  </a:lnTo>
                  <a:lnTo>
                    <a:pt x="16221364" y="191748"/>
                  </a:lnTo>
                  <a:lnTo>
                    <a:pt x="16307749" y="255882"/>
                  </a:lnTo>
                  <a:lnTo>
                    <a:pt x="16387590" y="328524"/>
                  </a:lnTo>
                  <a:lnTo>
                    <a:pt x="16459577" y="408364"/>
                  </a:lnTo>
                  <a:lnTo>
                    <a:pt x="16524365" y="494749"/>
                  </a:lnTo>
                  <a:lnTo>
                    <a:pt x="16580646" y="587024"/>
                  </a:lnTo>
                  <a:lnTo>
                    <a:pt x="16627765" y="685188"/>
                  </a:lnTo>
                  <a:lnTo>
                    <a:pt x="16665722" y="787934"/>
                  </a:lnTo>
                  <a:lnTo>
                    <a:pt x="16693208" y="895260"/>
                  </a:lnTo>
                  <a:lnTo>
                    <a:pt x="16710224" y="1007168"/>
                  </a:lnTo>
                  <a:lnTo>
                    <a:pt x="16716114" y="1121693"/>
                  </a:lnTo>
                  <a:lnTo>
                    <a:pt x="16716114" y="4185081"/>
                  </a:lnTo>
                  <a:lnTo>
                    <a:pt x="16710224" y="4299607"/>
                  </a:lnTo>
                  <a:lnTo>
                    <a:pt x="16693208" y="4410860"/>
                  </a:lnTo>
                  <a:lnTo>
                    <a:pt x="16665722" y="4518187"/>
                  </a:lnTo>
                  <a:lnTo>
                    <a:pt x="16627765" y="4621587"/>
                  </a:lnTo>
                  <a:lnTo>
                    <a:pt x="16580646" y="4719097"/>
                  </a:lnTo>
                  <a:lnTo>
                    <a:pt x="16524365" y="4812026"/>
                  </a:lnTo>
                  <a:lnTo>
                    <a:pt x="16459577" y="4898411"/>
                  </a:lnTo>
                  <a:lnTo>
                    <a:pt x="16387590" y="4977597"/>
                  </a:lnTo>
                  <a:lnTo>
                    <a:pt x="16307749" y="5050238"/>
                  </a:lnTo>
                  <a:lnTo>
                    <a:pt x="16221364" y="5114373"/>
                  </a:lnTo>
                  <a:lnTo>
                    <a:pt x="16129090" y="5170654"/>
                  </a:lnTo>
                  <a:lnTo>
                    <a:pt x="16030925" y="5217773"/>
                  </a:lnTo>
                  <a:lnTo>
                    <a:pt x="15927525" y="5255730"/>
                  </a:lnTo>
                  <a:lnTo>
                    <a:pt x="15820198" y="5283216"/>
                  </a:lnTo>
                  <a:lnTo>
                    <a:pt x="15708945" y="5300231"/>
                  </a:lnTo>
                  <a:lnTo>
                    <a:pt x="15594420" y="5306121"/>
                  </a:lnTo>
                  <a:lnTo>
                    <a:pt x="1121693" y="5306121"/>
                  </a:lnTo>
                  <a:lnTo>
                    <a:pt x="1007168" y="5300231"/>
                  </a:lnTo>
                  <a:lnTo>
                    <a:pt x="895260" y="5283216"/>
                  </a:lnTo>
                  <a:lnTo>
                    <a:pt x="787934" y="5255730"/>
                  </a:lnTo>
                  <a:lnTo>
                    <a:pt x="685188" y="5217773"/>
                  </a:lnTo>
                  <a:lnTo>
                    <a:pt x="587024" y="5170654"/>
                  </a:lnTo>
                  <a:lnTo>
                    <a:pt x="494749" y="5114373"/>
                  </a:lnTo>
                  <a:lnTo>
                    <a:pt x="408364" y="5050238"/>
                  </a:lnTo>
                  <a:lnTo>
                    <a:pt x="328524" y="4977597"/>
                  </a:lnTo>
                  <a:lnTo>
                    <a:pt x="255882" y="4898411"/>
                  </a:lnTo>
                  <a:lnTo>
                    <a:pt x="191748" y="4812026"/>
                  </a:lnTo>
                  <a:lnTo>
                    <a:pt x="135467" y="4719097"/>
                  </a:lnTo>
                  <a:lnTo>
                    <a:pt x="88348" y="4621587"/>
                  </a:lnTo>
                  <a:lnTo>
                    <a:pt x="50391" y="4518187"/>
                  </a:lnTo>
                  <a:lnTo>
                    <a:pt x="22905" y="4410860"/>
                  </a:lnTo>
                  <a:lnTo>
                    <a:pt x="5889" y="4299607"/>
                  </a:lnTo>
                  <a:lnTo>
                    <a:pt x="0" y="4185081"/>
                  </a:lnTo>
                  <a:lnTo>
                    <a:pt x="0" y="1121693"/>
                  </a:lnTo>
                  <a:close/>
                </a:path>
              </a:pathLst>
            </a:custGeom>
            <a:noFill/>
            <a:ln cap="flat" cmpd="sng" w="23550">
              <a:solidFill>
                <a:srgbClr val="0088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1" name="Google Shape;231;p27"/>
            <p:cNvSpPr/>
            <p:nvPr/>
          </p:nvSpPr>
          <p:spPr>
            <a:xfrm>
              <a:off x="1324698" y="2428543"/>
              <a:ext cx="757923" cy="754122"/>
            </a:xfrm>
            <a:custGeom>
              <a:rect b="b" l="l" r="r" t="t"/>
              <a:pathLst>
                <a:path extrusionOk="0" h="1764029" w="1772920">
                  <a:moveTo>
                    <a:pt x="0" y="372370"/>
                  </a:moveTo>
                  <a:lnTo>
                    <a:pt x="7853" y="297111"/>
                  </a:lnTo>
                  <a:lnTo>
                    <a:pt x="29449" y="227741"/>
                  </a:lnTo>
                  <a:lnTo>
                    <a:pt x="63479" y="164262"/>
                  </a:lnTo>
                  <a:lnTo>
                    <a:pt x="109289" y="109289"/>
                  </a:lnTo>
                  <a:lnTo>
                    <a:pt x="164262" y="63479"/>
                  </a:lnTo>
                  <a:lnTo>
                    <a:pt x="227741" y="29449"/>
                  </a:lnTo>
                  <a:lnTo>
                    <a:pt x="297765" y="7853"/>
                  </a:lnTo>
                  <a:lnTo>
                    <a:pt x="373025" y="0"/>
                  </a:lnTo>
                  <a:lnTo>
                    <a:pt x="1399826" y="0"/>
                  </a:lnTo>
                  <a:lnTo>
                    <a:pt x="1475085" y="7853"/>
                  </a:lnTo>
                  <a:lnTo>
                    <a:pt x="1545110" y="29449"/>
                  </a:lnTo>
                  <a:lnTo>
                    <a:pt x="1608589" y="63479"/>
                  </a:lnTo>
                  <a:lnTo>
                    <a:pt x="1663561" y="109289"/>
                  </a:lnTo>
                  <a:lnTo>
                    <a:pt x="1709372" y="164262"/>
                  </a:lnTo>
                  <a:lnTo>
                    <a:pt x="1743402" y="227741"/>
                  </a:lnTo>
                  <a:lnTo>
                    <a:pt x="1764998" y="297111"/>
                  </a:lnTo>
                  <a:lnTo>
                    <a:pt x="1772851" y="372370"/>
                  </a:lnTo>
                  <a:lnTo>
                    <a:pt x="1772851" y="1391318"/>
                  </a:lnTo>
                  <a:lnTo>
                    <a:pt x="1764998" y="1466578"/>
                  </a:lnTo>
                  <a:lnTo>
                    <a:pt x="1743402" y="1535947"/>
                  </a:lnTo>
                  <a:lnTo>
                    <a:pt x="1709372" y="1599427"/>
                  </a:lnTo>
                  <a:lnTo>
                    <a:pt x="1663561" y="1654399"/>
                  </a:lnTo>
                  <a:lnTo>
                    <a:pt x="1608589" y="1700210"/>
                  </a:lnTo>
                  <a:lnTo>
                    <a:pt x="1545110" y="1734240"/>
                  </a:lnTo>
                  <a:lnTo>
                    <a:pt x="1475085" y="1755836"/>
                  </a:lnTo>
                  <a:lnTo>
                    <a:pt x="1399826" y="1763689"/>
                  </a:lnTo>
                  <a:lnTo>
                    <a:pt x="373025" y="1763689"/>
                  </a:lnTo>
                  <a:lnTo>
                    <a:pt x="297765" y="1755836"/>
                  </a:lnTo>
                  <a:lnTo>
                    <a:pt x="227741" y="1734240"/>
                  </a:lnTo>
                  <a:lnTo>
                    <a:pt x="164262" y="1700210"/>
                  </a:lnTo>
                  <a:lnTo>
                    <a:pt x="109289" y="1654399"/>
                  </a:lnTo>
                  <a:lnTo>
                    <a:pt x="63479" y="1599427"/>
                  </a:lnTo>
                  <a:lnTo>
                    <a:pt x="29449" y="1535947"/>
                  </a:lnTo>
                  <a:lnTo>
                    <a:pt x="7853" y="1466578"/>
                  </a:lnTo>
                  <a:lnTo>
                    <a:pt x="0" y="1391318"/>
                  </a:lnTo>
                  <a:lnTo>
                    <a:pt x="0" y="372370"/>
                  </a:lnTo>
                  <a:close/>
                </a:path>
              </a:pathLst>
            </a:custGeom>
            <a:noFill/>
            <a:ln cap="flat" cmpd="sng" w="23550">
              <a:solidFill>
                <a:srgbClr val="C825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2" name="Google Shape;232;p27"/>
            <p:cNvSpPr txBox="1"/>
            <p:nvPr/>
          </p:nvSpPr>
          <p:spPr>
            <a:xfrm>
              <a:off x="2138978" y="2823090"/>
              <a:ext cx="1578000" cy="19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3325">
              <a:spAutoFit/>
            </a:bodyPr>
            <a:lstStyle/>
            <a:p>
              <a:pPr indent="0" lvl="0" marL="127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1E65C0"/>
                  </a:solidFill>
                  <a:latin typeface="Arial"/>
                  <a:ea typeface="Arial"/>
                  <a:cs typeface="Arial"/>
                  <a:sym typeface="Arial"/>
                </a:rPr>
                <a:t>Building block 1: wires</a:t>
              </a:r>
              <a:endParaRPr sz="120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7"/>
            <p:cNvSpPr txBox="1"/>
            <p:nvPr/>
          </p:nvSpPr>
          <p:spPr>
            <a:xfrm>
              <a:off x="1291826" y="4663550"/>
              <a:ext cx="3007800" cy="29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4600">
              <a:spAutoFit/>
            </a:bodyPr>
            <a:lstStyle/>
            <a:p>
              <a:pPr indent="0" lvl="0" marL="127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00882B"/>
                  </a:solidFill>
                  <a:latin typeface="Arial"/>
                  <a:ea typeface="Arial"/>
                  <a:cs typeface="Arial"/>
                  <a:sym typeface="Arial"/>
                </a:rPr>
                <a:t>Building block 3: the Internet</a:t>
              </a:r>
              <a:endParaRPr sz="1800"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4" name="Google Shape;234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38690" y="2503926"/>
              <a:ext cx="241636" cy="257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" name="Google Shape;235;p27"/>
            <p:cNvSpPr/>
            <p:nvPr/>
          </p:nvSpPr>
          <p:spPr>
            <a:xfrm>
              <a:off x="2083477" y="2816910"/>
              <a:ext cx="2820224" cy="0"/>
            </a:xfrm>
            <a:custGeom>
              <a:rect b="b" l="l" r="r" t="t"/>
              <a:pathLst>
                <a:path extrusionOk="0" h="120000" w="6597015">
                  <a:moveTo>
                    <a:pt x="0" y="0"/>
                  </a:moveTo>
                  <a:lnTo>
                    <a:pt x="6596657" y="0"/>
                  </a:lnTo>
                </a:path>
              </a:pathLst>
            </a:custGeom>
            <a:noFill/>
            <a:ln cap="flat" cmpd="sng" w="31400">
              <a:solidFill>
                <a:srgbClr val="0063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6" name="Google Shape;236;p27"/>
            <p:cNvSpPr txBox="1"/>
            <p:nvPr/>
          </p:nvSpPr>
          <p:spPr>
            <a:xfrm>
              <a:off x="1323075" y="3206575"/>
              <a:ext cx="1425300" cy="44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1425">
              <a:spAutoFit/>
            </a:bodyPr>
            <a:lstStyle/>
            <a:p>
              <a:pPr indent="0" lvl="0" marL="12700" marR="5080" rtl="0" algn="l">
                <a:lnSpc>
                  <a:spcPct val="1014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C8253C"/>
                  </a:solidFill>
                  <a:latin typeface="Arial"/>
                  <a:ea typeface="Arial"/>
                  <a:cs typeface="Arial"/>
                  <a:sym typeface="Arial"/>
                </a:rPr>
                <a:t>Building block 2:  local network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7" name="Google Shape;237;p27"/>
            <p:cNvGrpSpPr/>
            <p:nvPr/>
          </p:nvGrpSpPr>
          <p:grpSpPr>
            <a:xfrm>
              <a:off x="1328932" y="2444888"/>
              <a:ext cx="6386313" cy="2150098"/>
              <a:chOff x="2160274" y="5175235"/>
              <a:chExt cx="14917806" cy="5022419"/>
            </a:xfrm>
          </p:grpSpPr>
          <p:pic>
            <p:nvPicPr>
              <p:cNvPr id="238" name="Google Shape;238;p2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832222" y="5434389"/>
                <a:ext cx="965781" cy="96578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9" name="Google Shape;239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107736" y="5313143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0" name="Google Shape;240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406187" y="6014693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1" name="Google Shape;241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118207" y="6004222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2" name="Google Shape;242;p27"/>
              <p:cNvSpPr/>
              <p:nvPr/>
            </p:nvSpPr>
            <p:spPr>
              <a:xfrm>
                <a:off x="10519967" y="5175235"/>
                <a:ext cx="1772284" cy="1764665"/>
              </a:xfrm>
              <a:custGeom>
                <a:rect b="b" l="l" r="r" t="t"/>
                <a:pathLst>
                  <a:path extrusionOk="0" h="1764665" w="1772284">
                    <a:moveTo>
                      <a:pt x="0" y="373025"/>
                    </a:moveTo>
                    <a:lnTo>
                      <a:pt x="7853" y="297765"/>
                    </a:lnTo>
                    <a:lnTo>
                      <a:pt x="29449" y="227741"/>
                    </a:lnTo>
                    <a:lnTo>
                      <a:pt x="63479" y="164262"/>
                    </a:lnTo>
                    <a:lnTo>
                      <a:pt x="109289" y="109289"/>
                    </a:lnTo>
                    <a:lnTo>
                      <a:pt x="164262" y="63479"/>
                    </a:lnTo>
                    <a:lnTo>
                      <a:pt x="227741" y="29449"/>
                    </a:lnTo>
                    <a:lnTo>
                      <a:pt x="297111" y="7853"/>
                    </a:lnTo>
                    <a:lnTo>
                      <a:pt x="372370" y="0"/>
                    </a:lnTo>
                    <a:lnTo>
                      <a:pt x="1399172" y="0"/>
                    </a:lnTo>
                    <a:lnTo>
                      <a:pt x="1474431" y="7853"/>
                    </a:lnTo>
                    <a:lnTo>
                      <a:pt x="1544455" y="29449"/>
                    </a:lnTo>
                    <a:lnTo>
                      <a:pt x="1607935" y="63479"/>
                    </a:lnTo>
                    <a:lnTo>
                      <a:pt x="1662907" y="109289"/>
                    </a:lnTo>
                    <a:lnTo>
                      <a:pt x="1708717" y="164262"/>
                    </a:lnTo>
                    <a:lnTo>
                      <a:pt x="1742747" y="227741"/>
                    </a:lnTo>
                    <a:lnTo>
                      <a:pt x="1764344" y="297765"/>
                    </a:lnTo>
                    <a:lnTo>
                      <a:pt x="1772197" y="373025"/>
                    </a:lnTo>
                    <a:lnTo>
                      <a:pt x="1772197" y="1391318"/>
                    </a:lnTo>
                    <a:lnTo>
                      <a:pt x="1764344" y="1466578"/>
                    </a:lnTo>
                    <a:lnTo>
                      <a:pt x="1742747" y="1536602"/>
                    </a:lnTo>
                    <a:lnTo>
                      <a:pt x="1708717" y="1600082"/>
                    </a:lnTo>
                    <a:lnTo>
                      <a:pt x="1662907" y="1655054"/>
                    </a:lnTo>
                    <a:lnTo>
                      <a:pt x="1607935" y="1700864"/>
                    </a:lnTo>
                    <a:lnTo>
                      <a:pt x="1544455" y="1734894"/>
                    </a:lnTo>
                    <a:lnTo>
                      <a:pt x="1474431" y="1756491"/>
                    </a:lnTo>
                    <a:lnTo>
                      <a:pt x="1399172" y="1764344"/>
                    </a:lnTo>
                    <a:lnTo>
                      <a:pt x="372370" y="1764344"/>
                    </a:lnTo>
                    <a:lnTo>
                      <a:pt x="297111" y="1756491"/>
                    </a:lnTo>
                    <a:lnTo>
                      <a:pt x="227741" y="1734894"/>
                    </a:lnTo>
                    <a:lnTo>
                      <a:pt x="164262" y="1700864"/>
                    </a:lnTo>
                    <a:lnTo>
                      <a:pt x="109289" y="1655054"/>
                    </a:lnTo>
                    <a:lnTo>
                      <a:pt x="63479" y="1600082"/>
                    </a:lnTo>
                    <a:lnTo>
                      <a:pt x="29449" y="1536602"/>
                    </a:lnTo>
                    <a:lnTo>
                      <a:pt x="7853" y="1466578"/>
                    </a:lnTo>
                    <a:lnTo>
                      <a:pt x="0" y="1391318"/>
                    </a:lnTo>
                    <a:lnTo>
                      <a:pt x="0" y="373025"/>
                    </a:lnTo>
                    <a:close/>
                  </a:path>
                </a:pathLst>
              </a:custGeom>
              <a:noFill/>
              <a:ln cap="flat" cmpd="sng" w="23550">
                <a:solidFill>
                  <a:srgbClr val="C8253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pic>
            <p:nvPicPr>
              <p:cNvPr id="243" name="Google Shape;243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782895" y="5355027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4" name="Google Shape;244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1473973" y="5355027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5" name="Google Shape;245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772425" y="6056576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6" name="Google Shape;246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1484445" y="6046105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7" name="Google Shape;247;p27"/>
              <p:cNvSpPr/>
              <p:nvPr/>
            </p:nvSpPr>
            <p:spPr>
              <a:xfrm>
                <a:off x="10541563" y="8432989"/>
                <a:ext cx="1772920" cy="1764665"/>
              </a:xfrm>
              <a:custGeom>
                <a:rect b="b" l="l" r="r" t="t"/>
                <a:pathLst>
                  <a:path extrusionOk="0" h="1764665" w="1772920">
                    <a:moveTo>
                      <a:pt x="0" y="373025"/>
                    </a:moveTo>
                    <a:lnTo>
                      <a:pt x="7853" y="297765"/>
                    </a:lnTo>
                    <a:lnTo>
                      <a:pt x="29449" y="227741"/>
                    </a:lnTo>
                    <a:lnTo>
                      <a:pt x="63479" y="164262"/>
                    </a:lnTo>
                    <a:lnTo>
                      <a:pt x="109289" y="109289"/>
                    </a:lnTo>
                    <a:lnTo>
                      <a:pt x="164262" y="63479"/>
                    </a:lnTo>
                    <a:lnTo>
                      <a:pt x="227741" y="29449"/>
                    </a:lnTo>
                    <a:lnTo>
                      <a:pt x="297765" y="7853"/>
                    </a:lnTo>
                    <a:lnTo>
                      <a:pt x="373025" y="0"/>
                    </a:lnTo>
                    <a:lnTo>
                      <a:pt x="1399826" y="0"/>
                    </a:lnTo>
                    <a:lnTo>
                      <a:pt x="1475085" y="7853"/>
                    </a:lnTo>
                    <a:lnTo>
                      <a:pt x="1545110" y="29449"/>
                    </a:lnTo>
                    <a:lnTo>
                      <a:pt x="1608589" y="63479"/>
                    </a:lnTo>
                    <a:lnTo>
                      <a:pt x="1663561" y="109289"/>
                    </a:lnTo>
                    <a:lnTo>
                      <a:pt x="1709372" y="164262"/>
                    </a:lnTo>
                    <a:lnTo>
                      <a:pt x="1743402" y="227741"/>
                    </a:lnTo>
                    <a:lnTo>
                      <a:pt x="1764998" y="297765"/>
                    </a:lnTo>
                    <a:lnTo>
                      <a:pt x="1772851" y="373025"/>
                    </a:lnTo>
                    <a:lnTo>
                      <a:pt x="1772851" y="1391318"/>
                    </a:lnTo>
                    <a:lnTo>
                      <a:pt x="1764998" y="1466578"/>
                    </a:lnTo>
                    <a:lnTo>
                      <a:pt x="1743402" y="1536602"/>
                    </a:lnTo>
                    <a:lnTo>
                      <a:pt x="1709372" y="1600082"/>
                    </a:lnTo>
                    <a:lnTo>
                      <a:pt x="1663561" y="1655054"/>
                    </a:lnTo>
                    <a:lnTo>
                      <a:pt x="1608589" y="1700864"/>
                    </a:lnTo>
                    <a:lnTo>
                      <a:pt x="1545110" y="1734894"/>
                    </a:lnTo>
                    <a:lnTo>
                      <a:pt x="1475085" y="1756491"/>
                    </a:lnTo>
                    <a:lnTo>
                      <a:pt x="1399826" y="1764344"/>
                    </a:lnTo>
                    <a:lnTo>
                      <a:pt x="373025" y="1764344"/>
                    </a:lnTo>
                    <a:lnTo>
                      <a:pt x="297765" y="1756491"/>
                    </a:lnTo>
                    <a:lnTo>
                      <a:pt x="227741" y="1734894"/>
                    </a:lnTo>
                    <a:lnTo>
                      <a:pt x="164262" y="1700864"/>
                    </a:lnTo>
                    <a:lnTo>
                      <a:pt x="109289" y="1655054"/>
                    </a:lnTo>
                    <a:lnTo>
                      <a:pt x="63479" y="1600082"/>
                    </a:lnTo>
                    <a:lnTo>
                      <a:pt x="29449" y="1536602"/>
                    </a:lnTo>
                    <a:lnTo>
                      <a:pt x="7853" y="1466578"/>
                    </a:lnTo>
                    <a:lnTo>
                      <a:pt x="0" y="1391318"/>
                    </a:lnTo>
                    <a:lnTo>
                      <a:pt x="0" y="373025"/>
                    </a:lnTo>
                    <a:close/>
                  </a:path>
                </a:pathLst>
              </a:custGeom>
              <a:noFill/>
              <a:ln cap="flat" cmpd="sng" w="23550">
                <a:solidFill>
                  <a:srgbClr val="C8253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pic>
            <p:nvPicPr>
              <p:cNvPr id="248" name="Google Shape;248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803837" y="8611472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9" name="Google Shape;249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1494915" y="8611472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0" name="Google Shape;250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793366" y="9313022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1" name="Google Shape;251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1505386" y="9302551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2" name="Google Shape;252;p27"/>
              <p:cNvSpPr/>
              <p:nvPr/>
            </p:nvSpPr>
            <p:spPr>
              <a:xfrm>
                <a:off x="11397654" y="6939008"/>
                <a:ext cx="0" cy="1494154"/>
              </a:xfrm>
              <a:custGeom>
                <a:rect b="b" l="l" r="r" t="t"/>
                <a:pathLst>
                  <a:path extrusionOk="0" h="1494154" w="120000">
                    <a:moveTo>
                      <a:pt x="0" y="0"/>
                    </a:moveTo>
                    <a:lnTo>
                      <a:pt x="0" y="1493953"/>
                    </a:lnTo>
                  </a:path>
                </a:pathLst>
              </a:custGeom>
              <a:noFill/>
              <a:ln cap="flat" cmpd="sng" w="31400">
                <a:solidFill>
                  <a:srgbClr val="0063C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pic>
            <p:nvPicPr>
              <p:cNvPr id="253" name="Google Shape;253;p2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900191" y="7151614"/>
                <a:ext cx="965781" cy="9657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4" name="Google Shape;254;p27"/>
              <p:cNvSpPr/>
              <p:nvPr/>
            </p:nvSpPr>
            <p:spPr>
              <a:xfrm>
                <a:off x="15305161" y="8432989"/>
                <a:ext cx="1772919" cy="1764029"/>
              </a:xfrm>
              <a:custGeom>
                <a:rect b="b" l="l" r="r" t="t"/>
                <a:pathLst>
                  <a:path extrusionOk="0" h="1764029" w="1772919">
                    <a:moveTo>
                      <a:pt x="0" y="372370"/>
                    </a:moveTo>
                    <a:lnTo>
                      <a:pt x="7853" y="297111"/>
                    </a:lnTo>
                    <a:lnTo>
                      <a:pt x="29449" y="227741"/>
                    </a:lnTo>
                    <a:lnTo>
                      <a:pt x="64134" y="164262"/>
                    </a:lnTo>
                    <a:lnTo>
                      <a:pt x="109289" y="109289"/>
                    </a:lnTo>
                    <a:lnTo>
                      <a:pt x="164916" y="63479"/>
                    </a:lnTo>
                    <a:lnTo>
                      <a:pt x="227741" y="29449"/>
                    </a:lnTo>
                    <a:lnTo>
                      <a:pt x="297765" y="7853"/>
                    </a:lnTo>
                    <a:lnTo>
                      <a:pt x="373025" y="0"/>
                    </a:lnTo>
                    <a:lnTo>
                      <a:pt x="1399826" y="0"/>
                    </a:lnTo>
                    <a:lnTo>
                      <a:pt x="1475085" y="7853"/>
                    </a:lnTo>
                    <a:lnTo>
                      <a:pt x="1545110" y="29449"/>
                    </a:lnTo>
                    <a:lnTo>
                      <a:pt x="1608589" y="63479"/>
                    </a:lnTo>
                    <a:lnTo>
                      <a:pt x="1663561" y="109289"/>
                    </a:lnTo>
                    <a:lnTo>
                      <a:pt x="1709372" y="164262"/>
                    </a:lnTo>
                    <a:lnTo>
                      <a:pt x="1743402" y="227741"/>
                    </a:lnTo>
                    <a:lnTo>
                      <a:pt x="1764998" y="297111"/>
                    </a:lnTo>
                    <a:lnTo>
                      <a:pt x="1772851" y="372370"/>
                    </a:lnTo>
                    <a:lnTo>
                      <a:pt x="1772851" y="1391318"/>
                    </a:lnTo>
                    <a:lnTo>
                      <a:pt x="1764998" y="1466578"/>
                    </a:lnTo>
                    <a:lnTo>
                      <a:pt x="1743402" y="1535947"/>
                    </a:lnTo>
                    <a:lnTo>
                      <a:pt x="1709372" y="1599427"/>
                    </a:lnTo>
                    <a:lnTo>
                      <a:pt x="1663561" y="1654399"/>
                    </a:lnTo>
                    <a:lnTo>
                      <a:pt x="1608589" y="1700210"/>
                    </a:lnTo>
                    <a:lnTo>
                      <a:pt x="1545110" y="1734240"/>
                    </a:lnTo>
                    <a:lnTo>
                      <a:pt x="1475085" y="1755836"/>
                    </a:lnTo>
                    <a:lnTo>
                      <a:pt x="1399826" y="1763689"/>
                    </a:lnTo>
                    <a:lnTo>
                      <a:pt x="373025" y="1763689"/>
                    </a:lnTo>
                    <a:lnTo>
                      <a:pt x="297765" y="1755836"/>
                    </a:lnTo>
                    <a:lnTo>
                      <a:pt x="227741" y="1734240"/>
                    </a:lnTo>
                    <a:lnTo>
                      <a:pt x="164916" y="1700210"/>
                    </a:lnTo>
                    <a:lnTo>
                      <a:pt x="109289" y="1654399"/>
                    </a:lnTo>
                    <a:lnTo>
                      <a:pt x="64134" y="1599427"/>
                    </a:lnTo>
                    <a:lnTo>
                      <a:pt x="29449" y="1535947"/>
                    </a:lnTo>
                    <a:lnTo>
                      <a:pt x="7853" y="1466578"/>
                    </a:lnTo>
                    <a:lnTo>
                      <a:pt x="0" y="1391318"/>
                    </a:lnTo>
                    <a:lnTo>
                      <a:pt x="0" y="372370"/>
                    </a:lnTo>
                    <a:close/>
                  </a:path>
                </a:pathLst>
              </a:custGeom>
              <a:noFill/>
              <a:ln cap="flat" cmpd="sng" w="23550">
                <a:solidFill>
                  <a:srgbClr val="C8253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pic>
            <p:nvPicPr>
              <p:cNvPr id="255" name="Google Shape;255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5568089" y="8611472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6" name="Google Shape;256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6259168" y="8611472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7" name="Google Shape;257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5557618" y="9313021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8" name="Google Shape;258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6269639" y="9302551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9" name="Google Shape;259;p27"/>
              <p:cNvSpPr/>
              <p:nvPr/>
            </p:nvSpPr>
            <p:spPr>
              <a:xfrm>
                <a:off x="2160274" y="8403539"/>
                <a:ext cx="1772920" cy="1764665"/>
              </a:xfrm>
              <a:custGeom>
                <a:rect b="b" l="l" r="r" t="t"/>
                <a:pathLst>
                  <a:path extrusionOk="0" h="1764665" w="1772920">
                    <a:moveTo>
                      <a:pt x="0" y="373025"/>
                    </a:moveTo>
                    <a:lnTo>
                      <a:pt x="7853" y="297765"/>
                    </a:lnTo>
                    <a:lnTo>
                      <a:pt x="29449" y="227741"/>
                    </a:lnTo>
                    <a:lnTo>
                      <a:pt x="63479" y="164916"/>
                    </a:lnTo>
                    <a:lnTo>
                      <a:pt x="109289" y="109289"/>
                    </a:lnTo>
                    <a:lnTo>
                      <a:pt x="164262" y="64134"/>
                    </a:lnTo>
                    <a:lnTo>
                      <a:pt x="227741" y="29449"/>
                    </a:lnTo>
                    <a:lnTo>
                      <a:pt x="297765" y="7853"/>
                    </a:lnTo>
                    <a:lnTo>
                      <a:pt x="373025" y="0"/>
                    </a:lnTo>
                    <a:lnTo>
                      <a:pt x="1399826" y="0"/>
                    </a:lnTo>
                    <a:lnTo>
                      <a:pt x="1475085" y="7853"/>
                    </a:lnTo>
                    <a:lnTo>
                      <a:pt x="1545110" y="29449"/>
                    </a:lnTo>
                    <a:lnTo>
                      <a:pt x="1608589" y="64134"/>
                    </a:lnTo>
                    <a:lnTo>
                      <a:pt x="1663561" y="109289"/>
                    </a:lnTo>
                    <a:lnTo>
                      <a:pt x="1709372" y="164916"/>
                    </a:lnTo>
                    <a:lnTo>
                      <a:pt x="1743402" y="227741"/>
                    </a:lnTo>
                    <a:lnTo>
                      <a:pt x="1764998" y="297765"/>
                    </a:lnTo>
                    <a:lnTo>
                      <a:pt x="1772851" y="373025"/>
                    </a:lnTo>
                    <a:lnTo>
                      <a:pt x="1772851" y="1391318"/>
                    </a:lnTo>
                    <a:lnTo>
                      <a:pt x="1764998" y="1466578"/>
                    </a:lnTo>
                    <a:lnTo>
                      <a:pt x="1743402" y="1536602"/>
                    </a:lnTo>
                    <a:lnTo>
                      <a:pt x="1709372" y="1600082"/>
                    </a:lnTo>
                    <a:lnTo>
                      <a:pt x="1663561" y="1655054"/>
                    </a:lnTo>
                    <a:lnTo>
                      <a:pt x="1608589" y="1700864"/>
                    </a:lnTo>
                    <a:lnTo>
                      <a:pt x="1545110" y="1734894"/>
                    </a:lnTo>
                    <a:lnTo>
                      <a:pt x="1475085" y="1756491"/>
                    </a:lnTo>
                    <a:lnTo>
                      <a:pt x="1399826" y="1764344"/>
                    </a:lnTo>
                    <a:lnTo>
                      <a:pt x="373025" y="1764344"/>
                    </a:lnTo>
                    <a:lnTo>
                      <a:pt x="297765" y="1756491"/>
                    </a:lnTo>
                    <a:lnTo>
                      <a:pt x="227741" y="1734894"/>
                    </a:lnTo>
                    <a:lnTo>
                      <a:pt x="164262" y="1700864"/>
                    </a:lnTo>
                    <a:lnTo>
                      <a:pt x="109289" y="1655054"/>
                    </a:lnTo>
                    <a:lnTo>
                      <a:pt x="63479" y="1600082"/>
                    </a:lnTo>
                    <a:lnTo>
                      <a:pt x="29449" y="1536602"/>
                    </a:lnTo>
                    <a:lnTo>
                      <a:pt x="7853" y="1466578"/>
                    </a:lnTo>
                    <a:lnTo>
                      <a:pt x="0" y="1391318"/>
                    </a:lnTo>
                    <a:lnTo>
                      <a:pt x="0" y="373025"/>
                    </a:lnTo>
                    <a:close/>
                  </a:path>
                </a:pathLst>
              </a:custGeom>
              <a:noFill/>
              <a:ln cap="flat" cmpd="sng" w="23550">
                <a:solidFill>
                  <a:srgbClr val="C8253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pic>
            <p:nvPicPr>
              <p:cNvPr id="260" name="Google Shape;260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427129" y="8580060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1" name="Google Shape;261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118207" y="8580060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2" name="Google Shape;262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416658" y="9281609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3" name="Google Shape;263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128678" y="9271138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4" name="Google Shape;264;p27"/>
              <p:cNvSpPr/>
              <p:nvPr/>
            </p:nvSpPr>
            <p:spPr>
              <a:xfrm>
                <a:off x="3937040" y="9339951"/>
                <a:ext cx="6597015" cy="0"/>
              </a:xfrm>
              <a:custGeom>
                <a:rect b="b" l="l" r="r" t="t"/>
                <a:pathLst>
                  <a:path extrusionOk="0" h="120000" w="6597015">
                    <a:moveTo>
                      <a:pt x="0" y="0"/>
                    </a:moveTo>
                    <a:lnTo>
                      <a:pt x="6596657" y="0"/>
                    </a:lnTo>
                  </a:path>
                </a:pathLst>
              </a:custGeom>
              <a:noFill/>
              <a:ln cap="flat" cmpd="sng" w="31400">
                <a:solidFill>
                  <a:srgbClr val="0063C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pic>
            <p:nvPicPr>
              <p:cNvPr id="265" name="Google Shape;265;p2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842693" y="8732718"/>
                <a:ext cx="965781" cy="9657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6" name="Google Shape;266;p27"/>
              <p:cNvSpPr/>
              <p:nvPr/>
            </p:nvSpPr>
            <p:spPr>
              <a:xfrm>
                <a:off x="12326655" y="9349997"/>
                <a:ext cx="2978784" cy="0"/>
              </a:xfrm>
              <a:custGeom>
                <a:rect b="b" l="l" r="r" t="t"/>
                <a:pathLst>
                  <a:path extrusionOk="0" h="120000" w="2978784">
                    <a:moveTo>
                      <a:pt x="0" y="0"/>
                    </a:moveTo>
                    <a:lnTo>
                      <a:pt x="2978495" y="0"/>
                    </a:lnTo>
                  </a:path>
                </a:pathLst>
              </a:custGeom>
              <a:noFill/>
              <a:ln cap="flat" cmpd="sng" w="31400">
                <a:solidFill>
                  <a:srgbClr val="0063C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pic>
            <p:nvPicPr>
              <p:cNvPr id="267" name="Google Shape;267;p2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3329437" y="8701305"/>
                <a:ext cx="965781" cy="9657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8" name="Google Shape;268;p27"/>
              <p:cNvSpPr/>
              <p:nvPr/>
            </p:nvSpPr>
            <p:spPr>
              <a:xfrm>
                <a:off x="15282257" y="5175889"/>
                <a:ext cx="1772284" cy="1764665"/>
              </a:xfrm>
              <a:custGeom>
                <a:rect b="b" l="l" r="r" t="t"/>
                <a:pathLst>
                  <a:path extrusionOk="0" h="1764665" w="1772284">
                    <a:moveTo>
                      <a:pt x="0" y="373025"/>
                    </a:moveTo>
                    <a:lnTo>
                      <a:pt x="7853" y="297765"/>
                    </a:lnTo>
                    <a:lnTo>
                      <a:pt x="29449" y="227741"/>
                    </a:lnTo>
                    <a:lnTo>
                      <a:pt x="63479" y="164916"/>
                    </a:lnTo>
                    <a:lnTo>
                      <a:pt x="109289" y="109289"/>
                    </a:lnTo>
                    <a:lnTo>
                      <a:pt x="164262" y="64134"/>
                    </a:lnTo>
                    <a:lnTo>
                      <a:pt x="227741" y="29449"/>
                    </a:lnTo>
                    <a:lnTo>
                      <a:pt x="297765" y="7853"/>
                    </a:lnTo>
                    <a:lnTo>
                      <a:pt x="373025" y="0"/>
                    </a:lnTo>
                    <a:lnTo>
                      <a:pt x="1399826" y="0"/>
                    </a:lnTo>
                    <a:lnTo>
                      <a:pt x="1475085" y="7853"/>
                    </a:lnTo>
                    <a:lnTo>
                      <a:pt x="1544455" y="29449"/>
                    </a:lnTo>
                    <a:lnTo>
                      <a:pt x="1607935" y="64134"/>
                    </a:lnTo>
                    <a:lnTo>
                      <a:pt x="1662907" y="109289"/>
                    </a:lnTo>
                    <a:lnTo>
                      <a:pt x="1708717" y="164916"/>
                    </a:lnTo>
                    <a:lnTo>
                      <a:pt x="1742747" y="227741"/>
                    </a:lnTo>
                    <a:lnTo>
                      <a:pt x="1764344" y="297765"/>
                    </a:lnTo>
                    <a:lnTo>
                      <a:pt x="1772197" y="373025"/>
                    </a:lnTo>
                    <a:lnTo>
                      <a:pt x="1772197" y="1391318"/>
                    </a:lnTo>
                    <a:lnTo>
                      <a:pt x="1764344" y="1466578"/>
                    </a:lnTo>
                    <a:lnTo>
                      <a:pt x="1742747" y="1536602"/>
                    </a:lnTo>
                    <a:lnTo>
                      <a:pt x="1708717" y="1600082"/>
                    </a:lnTo>
                    <a:lnTo>
                      <a:pt x="1662907" y="1655054"/>
                    </a:lnTo>
                    <a:lnTo>
                      <a:pt x="1607935" y="1700864"/>
                    </a:lnTo>
                    <a:lnTo>
                      <a:pt x="1544455" y="1734894"/>
                    </a:lnTo>
                    <a:lnTo>
                      <a:pt x="1475085" y="1756491"/>
                    </a:lnTo>
                    <a:lnTo>
                      <a:pt x="1399826" y="1764344"/>
                    </a:lnTo>
                    <a:lnTo>
                      <a:pt x="373025" y="1764344"/>
                    </a:lnTo>
                    <a:lnTo>
                      <a:pt x="297765" y="1756491"/>
                    </a:lnTo>
                    <a:lnTo>
                      <a:pt x="227741" y="1734894"/>
                    </a:lnTo>
                    <a:lnTo>
                      <a:pt x="164262" y="1700864"/>
                    </a:lnTo>
                    <a:lnTo>
                      <a:pt x="109289" y="1655054"/>
                    </a:lnTo>
                    <a:lnTo>
                      <a:pt x="63479" y="1600082"/>
                    </a:lnTo>
                    <a:lnTo>
                      <a:pt x="29449" y="1536602"/>
                    </a:lnTo>
                    <a:lnTo>
                      <a:pt x="7853" y="1466578"/>
                    </a:lnTo>
                    <a:lnTo>
                      <a:pt x="0" y="1391318"/>
                    </a:lnTo>
                    <a:lnTo>
                      <a:pt x="0" y="373025"/>
                    </a:lnTo>
                    <a:close/>
                  </a:path>
                </a:pathLst>
              </a:custGeom>
              <a:noFill/>
              <a:ln cap="flat" cmpd="sng" w="23550">
                <a:solidFill>
                  <a:srgbClr val="C8253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pic>
            <p:nvPicPr>
              <p:cNvPr id="269" name="Google Shape;269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5547148" y="5355027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0" name="Google Shape;270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6238227" y="5355027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1" name="Google Shape;271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5536677" y="6056576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2" name="Google Shape;272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6248697" y="6046105"/>
                <a:ext cx="564437" cy="60137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3" name="Google Shape;273;p27"/>
              <p:cNvSpPr/>
              <p:nvPr/>
            </p:nvSpPr>
            <p:spPr>
              <a:xfrm>
                <a:off x="16168129" y="6939937"/>
                <a:ext cx="3175" cy="1490345"/>
              </a:xfrm>
              <a:custGeom>
                <a:rect b="b" l="l" r="r" t="t"/>
                <a:pathLst>
                  <a:path extrusionOk="0" h="1490345" w="3175">
                    <a:moveTo>
                      <a:pt x="0" y="0"/>
                    </a:moveTo>
                    <a:lnTo>
                      <a:pt x="3149" y="1490240"/>
                    </a:lnTo>
                  </a:path>
                </a:pathLst>
              </a:custGeom>
              <a:noFill/>
              <a:ln cap="flat" cmpd="sng" w="31400">
                <a:solidFill>
                  <a:srgbClr val="0063C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pic>
            <p:nvPicPr>
              <p:cNvPr id="274" name="Google Shape;274;p2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5706327" y="7151614"/>
                <a:ext cx="965783" cy="9657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5" name="Google Shape;275;p27"/>
              <p:cNvSpPr/>
              <p:nvPr/>
            </p:nvSpPr>
            <p:spPr>
              <a:xfrm>
                <a:off x="12305805" y="5987869"/>
                <a:ext cx="2978784" cy="0"/>
              </a:xfrm>
              <a:custGeom>
                <a:rect b="b" l="l" r="r" t="t"/>
                <a:pathLst>
                  <a:path extrusionOk="0" h="120000" w="2978784">
                    <a:moveTo>
                      <a:pt x="0" y="0"/>
                    </a:moveTo>
                    <a:lnTo>
                      <a:pt x="2978495" y="0"/>
                    </a:lnTo>
                  </a:path>
                </a:pathLst>
              </a:custGeom>
              <a:noFill/>
              <a:ln cap="flat" cmpd="sng" w="31400">
                <a:solidFill>
                  <a:srgbClr val="0063C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pic>
            <p:nvPicPr>
              <p:cNvPr id="276" name="Google Shape;276;p2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3308495" y="5340151"/>
                <a:ext cx="965781" cy="96578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77" name="Google Shape;277;p27"/>
          <p:cNvSpPr/>
          <p:nvPr/>
        </p:nvSpPr>
        <p:spPr>
          <a:xfrm>
            <a:off x="1332175" y="2459725"/>
            <a:ext cx="420300" cy="393600"/>
          </a:xfrm>
          <a:prstGeom prst="ellipse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7"/>
          <p:cNvSpPr/>
          <p:nvPr/>
        </p:nvSpPr>
        <p:spPr>
          <a:xfrm>
            <a:off x="7286275" y="4167650"/>
            <a:ext cx="420300" cy="393600"/>
          </a:xfrm>
          <a:prstGeom prst="ellipse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Layers of abstraction</a:t>
            </a:r>
            <a:endParaRPr/>
          </a:p>
        </p:txBody>
      </p:sp>
      <p:sp>
        <p:nvSpPr>
          <p:cNvPr id="284" name="Google Shape;284;p28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882B"/>
                </a:solidFill>
              </a:rPr>
              <a:t>Layer 3: Connect many local networks to form a global network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C8253C"/>
                </a:solidFill>
              </a:rPr>
              <a:t>Layer 2: Create links in a local area</a:t>
            </a:r>
            <a:endParaRPr>
              <a:solidFill>
                <a:srgbClr val="C8253C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E65C0"/>
                </a:solidFill>
              </a:rPr>
              <a:t>Layer 1: Move bits across space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change in layer 1 implementation (wireless instead of wires) doesn’t affect the other layers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change in layer 2 protocols doesn’t affect the other layers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Layering: The OSI Model</a:t>
            </a:r>
            <a:endParaRPr/>
          </a:p>
        </p:txBody>
      </p:sp>
      <p:sp>
        <p:nvSpPr>
          <p:cNvPr id="291" name="Google Shape;29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0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Layering	</a:t>
            </a:r>
            <a:endParaRPr/>
          </a:p>
        </p:txBody>
      </p:sp>
      <p:sp>
        <p:nvSpPr>
          <p:cNvPr id="297" name="Google Shape;297;p30"/>
          <p:cNvSpPr txBox="1"/>
          <p:nvPr>
            <p:ph idx="1" type="body"/>
          </p:nvPr>
        </p:nvSpPr>
        <p:spPr>
          <a:xfrm>
            <a:off x="198500" y="1246825"/>
            <a:ext cx="5142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Internet design is partitioned into various layers. Each layer…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Has a protocol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Relies on services provided by the layer below 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Provides services to the layer above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Analogous to the structure of an application and the “services” that each layer relies on and provides</a:t>
            </a:r>
            <a:endParaRPr/>
          </a:p>
        </p:txBody>
      </p:sp>
      <p:sp>
        <p:nvSpPr>
          <p:cNvPr id="298" name="Google Shape;298;p30"/>
          <p:cNvSpPr/>
          <p:nvPr/>
        </p:nvSpPr>
        <p:spPr>
          <a:xfrm>
            <a:off x="5486400" y="1772089"/>
            <a:ext cx="2311200" cy="378300"/>
          </a:xfrm>
          <a:prstGeom prst="rect">
            <a:avLst/>
          </a:prstGeom>
          <a:solidFill>
            <a:srgbClr val="F1C23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Code You Write</a:t>
            </a:r>
            <a:endParaRPr b="1"/>
          </a:p>
        </p:txBody>
      </p:sp>
      <p:sp>
        <p:nvSpPr>
          <p:cNvPr id="299" name="Google Shape;299;p30"/>
          <p:cNvSpPr/>
          <p:nvPr/>
        </p:nvSpPr>
        <p:spPr>
          <a:xfrm>
            <a:off x="5486400" y="2226589"/>
            <a:ext cx="2311200" cy="378300"/>
          </a:xfrm>
          <a:prstGeom prst="rect">
            <a:avLst/>
          </a:prstGeom>
          <a:solidFill>
            <a:srgbClr val="F1C23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Run-Time Library</a:t>
            </a:r>
            <a:endParaRPr b="1"/>
          </a:p>
        </p:txBody>
      </p:sp>
      <p:sp>
        <p:nvSpPr>
          <p:cNvPr id="300" name="Google Shape;300;p30"/>
          <p:cNvSpPr/>
          <p:nvPr/>
        </p:nvSpPr>
        <p:spPr>
          <a:xfrm>
            <a:off x="5486400" y="2681089"/>
            <a:ext cx="2311200" cy="378300"/>
          </a:xfrm>
          <a:prstGeom prst="rect">
            <a:avLst/>
          </a:prstGeom>
          <a:solidFill>
            <a:srgbClr val="F1C23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System Calls</a:t>
            </a:r>
            <a:endParaRPr b="1"/>
          </a:p>
        </p:txBody>
      </p:sp>
      <p:sp>
        <p:nvSpPr>
          <p:cNvPr id="301" name="Google Shape;301;p30"/>
          <p:cNvSpPr/>
          <p:nvPr/>
        </p:nvSpPr>
        <p:spPr>
          <a:xfrm>
            <a:off x="5486400" y="3135589"/>
            <a:ext cx="2311200" cy="378300"/>
          </a:xfrm>
          <a:prstGeom prst="rect">
            <a:avLst/>
          </a:prstGeom>
          <a:solidFill>
            <a:srgbClr val="8E7CC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Device Drivers</a:t>
            </a:r>
            <a:endParaRPr b="1"/>
          </a:p>
        </p:txBody>
      </p:sp>
      <p:sp>
        <p:nvSpPr>
          <p:cNvPr id="302" name="Google Shape;302;p30"/>
          <p:cNvSpPr/>
          <p:nvPr/>
        </p:nvSpPr>
        <p:spPr>
          <a:xfrm>
            <a:off x="5486400" y="3590089"/>
            <a:ext cx="2311200" cy="572700"/>
          </a:xfrm>
          <a:prstGeom prst="rect">
            <a:avLst/>
          </a:prstGeom>
          <a:solidFill>
            <a:srgbClr val="8E7CC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Voltage Levels/Magnetic Domains</a:t>
            </a:r>
            <a:endParaRPr b="1"/>
          </a:p>
        </p:txBody>
      </p:sp>
      <p:pic>
        <p:nvPicPr>
          <p:cNvPr id="303" name="Google Shape;30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3800" y="3135589"/>
            <a:ext cx="217600" cy="102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0"/>
          <p:cNvSpPr txBox="1"/>
          <p:nvPr/>
        </p:nvSpPr>
        <p:spPr>
          <a:xfrm>
            <a:off x="8167600" y="3249000"/>
            <a:ext cx="812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Fully isolated from user programs</a:t>
            </a:r>
            <a:endParaRPr sz="1000"/>
          </a:p>
        </p:txBody>
      </p:sp>
      <p:sp>
        <p:nvSpPr>
          <p:cNvPr id="305" name="Google Shape;30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1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OSI Model</a:t>
            </a:r>
            <a:endParaRPr/>
          </a:p>
        </p:txBody>
      </p:sp>
      <p:sp>
        <p:nvSpPr>
          <p:cNvPr id="311" name="Google Shape;311;p31"/>
          <p:cNvSpPr/>
          <p:nvPr/>
        </p:nvSpPr>
        <p:spPr>
          <a:xfrm>
            <a:off x="6684025" y="1838663"/>
            <a:ext cx="1512900" cy="378300"/>
          </a:xfrm>
          <a:prstGeom prst="rect">
            <a:avLst/>
          </a:prstGeom>
          <a:solidFill>
            <a:srgbClr val="F1C23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Application</a:t>
            </a:r>
            <a:endParaRPr b="1"/>
          </a:p>
        </p:txBody>
      </p:sp>
      <p:sp>
        <p:nvSpPr>
          <p:cNvPr id="312" name="Google Shape;312;p31"/>
          <p:cNvSpPr/>
          <p:nvPr/>
        </p:nvSpPr>
        <p:spPr>
          <a:xfrm>
            <a:off x="6684025" y="2293163"/>
            <a:ext cx="1512900" cy="378300"/>
          </a:xfrm>
          <a:prstGeom prst="rect">
            <a:avLst/>
          </a:prstGeom>
          <a:solidFill>
            <a:srgbClr val="F1C23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Transport</a:t>
            </a:r>
            <a:endParaRPr b="1"/>
          </a:p>
        </p:txBody>
      </p:sp>
      <p:sp>
        <p:nvSpPr>
          <p:cNvPr id="313" name="Google Shape;313;p31"/>
          <p:cNvSpPr/>
          <p:nvPr/>
        </p:nvSpPr>
        <p:spPr>
          <a:xfrm>
            <a:off x="6684025" y="2747663"/>
            <a:ext cx="1512900" cy="378300"/>
          </a:xfrm>
          <a:prstGeom prst="rect">
            <a:avLst/>
          </a:prstGeom>
          <a:solidFill>
            <a:srgbClr val="F1C23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(Inter) Network</a:t>
            </a:r>
            <a:endParaRPr b="1"/>
          </a:p>
        </p:txBody>
      </p:sp>
      <p:sp>
        <p:nvSpPr>
          <p:cNvPr id="314" name="Google Shape;314;p31"/>
          <p:cNvSpPr/>
          <p:nvPr/>
        </p:nvSpPr>
        <p:spPr>
          <a:xfrm>
            <a:off x="6684025" y="3202163"/>
            <a:ext cx="1512900" cy="3783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Link</a:t>
            </a:r>
            <a:endParaRPr b="1"/>
          </a:p>
        </p:txBody>
      </p:sp>
      <p:sp>
        <p:nvSpPr>
          <p:cNvPr id="315" name="Google Shape;315;p31"/>
          <p:cNvSpPr/>
          <p:nvPr/>
        </p:nvSpPr>
        <p:spPr>
          <a:xfrm>
            <a:off x="6684025" y="3656663"/>
            <a:ext cx="1512900" cy="3783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Physical</a:t>
            </a:r>
            <a:endParaRPr b="1"/>
          </a:p>
        </p:txBody>
      </p:sp>
      <p:sp>
        <p:nvSpPr>
          <p:cNvPr id="316" name="Google Shape;316;p31"/>
          <p:cNvSpPr txBox="1"/>
          <p:nvPr/>
        </p:nvSpPr>
        <p:spPr>
          <a:xfrm>
            <a:off x="6345475" y="3677588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1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317" name="Google Shape;317;p31"/>
          <p:cNvSpPr txBox="1"/>
          <p:nvPr/>
        </p:nvSpPr>
        <p:spPr>
          <a:xfrm>
            <a:off x="6345475" y="3215100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2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318" name="Google Shape;318;p31"/>
          <p:cNvSpPr txBox="1"/>
          <p:nvPr/>
        </p:nvSpPr>
        <p:spPr>
          <a:xfrm>
            <a:off x="6345475" y="2752638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3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319" name="Google Shape;319;p31"/>
          <p:cNvSpPr txBox="1"/>
          <p:nvPr/>
        </p:nvSpPr>
        <p:spPr>
          <a:xfrm>
            <a:off x="6345475" y="2280138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4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320" name="Google Shape;320;p31"/>
          <p:cNvSpPr txBox="1"/>
          <p:nvPr/>
        </p:nvSpPr>
        <p:spPr>
          <a:xfrm>
            <a:off x="6345475" y="1827713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7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321" name="Google Shape;321;p31"/>
          <p:cNvSpPr txBox="1"/>
          <p:nvPr>
            <p:ph idx="1" type="body"/>
          </p:nvPr>
        </p:nvSpPr>
        <p:spPr>
          <a:xfrm>
            <a:off x="198500" y="1246825"/>
            <a:ext cx="5142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OSI mode</a:t>
            </a:r>
            <a:r>
              <a:rPr b="1" lang="en"/>
              <a:t>l: </a:t>
            </a:r>
            <a:r>
              <a:rPr lang="en"/>
              <a:t>Open Systems Interconnection model, a layered model of Internet communication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Originally divided into 7 layers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But layers 5 and 6 aren’t used in the real world, so we ignore them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Same reliance upon abstraction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layer can be implemented in different ways without affecting other layers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layer’s protocol can be substituted with another protocol without affecting other layers</a:t>
            </a:r>
            <a:endParaRPr/>
          </a:p>
        </p:txBody>
      </p:sp>
      <p:sp>
        <p:nvSpPr>
          <p:cNvPr id="322" name="Google Shape;32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3" name="Google Shape;32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7500" y="4140100"/>
            <a:ext cx="4449150" cy="83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/>
          <p:nvPr>
            <p:ph idx="1" type="body"/>
          </p:nvPr>
        </p:nvSpPr>
        <p:spPr>
          <a:xfrm>
            <a:off x="198500" y="1246825"/>
            <a:ext cx="5142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Provides</a:t>
            </a:r>
            <a:r>
              <a:rPr lang="en"/>
              <a:t>: Sending bits from one device to another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Encodes bits to send them over a physical link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Patterns of voltage levels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Photon intensities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RF modulation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Wi-Fi radios (IEEE 802.11)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Ethernet voltages (IEEE 802.3)</a:t>
            </a:r>
            <a:endParaRPr/>
          </a:p>
        </p:txBody>
      </p:sp>
      <p:sp>
        <p:nvSpPr>
          <p:cNvPr id="329" name="Google Shape;329;p32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1: Physical Layer</a:t>
            </a:r>
            <a:endParaRPr/>
          </a:p>
        </p:txBody>
      </p:sp>
      <p:sp>
        <p:nvSpPr>
          <p:cNvPr id="330" name="Google Shape;330;p32"/>
          <p:cNvSpPr/>
          <p:nvPr/>
        </p:nvSpPr>
        <p:spPr>
          <a:xfrm>
            <a:off x="6684025" y="3656663"/>
            <a:ext cx="1512900" cy="3783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Physical</a:t>
            </a:r>
            <a:endParaRPr b="1"/>
          </a:p>
        </p:txBody>
      </p:sp>
      <p:sp>
        <p:nvSpPr>
          <p:cNvPr id="331" name="Google Shape;331;p32"/>
          <p:cNvSpPr txBox="1"/>
          <p:nvPr/>
        </p:nvSpPr>
        <p:spPr>
          <a:xfrm>
            <a:off x="6345475" y="3677588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1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332" name="Google Shape;332;p32"/>
          <p:cNvSpPr/>
          <p:nvPr/>
        </p:nvSpPr>
        <p:spPr>
          <a:xfrm>
            <a:off x="6684025" y="1838663"/>
            <a:ext cx="1512900" cy="378300"/>
          </a:xfrm>
          <a:prstGeom prst="rect">
            <a:avLst/>
          </a:prstGeom>
          <a:solidFill>
            <a:srgbClr val="F1C232">
              <a:alpha val="50559"/>
            </a:srgbClr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7B7B7"/>
                </a:solidFill>
              </a:rPr>
              <a:t>Application</a:t>
            </a:r>
            <a:endParaRPr b="1">
              <a:solidFill>
                <a:srgbClr val="B7B7B7"/>
              </a:solidFill>
            </a:endParaRPr>
          </a:p>
        </p:txBody>
      </p:sp>
      <p:sp>
        <p:nvSpPr>
          <p:cNvPr id="333" name="Google Shape;333;p32"/>
          <p:cNvSpPr/>
          <p:nvPr/>
        </p:nvSpPr>
        <p:spPr>
          <a:xfrm>
            <a:off x="6684025" y="2293163"/>
            <a:ext cx="1512900" cy="378300"/>
          </a:xfrm>
          <a:prstGeom prst="rect">
            <a:avLst/>
          </a:prstGeom>
          <a:solidFill>
            <a:srgbClr val="F1C232">
              <a:alpha val="50559"/>
            </a:srgbClr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7B7B7"/>
                </a:solidFill>
              </a:rPr>
              <a:t>Transport</a:t>
            </a:r>
            <a:endParaRPr b="1">
              <a:solidFill>
                <a:srgbClr val="B7B7B7"/>
              </a:solidFill>
            </a:endParaRPr>
          </a:p>
        </p:txBody>
      </p:sp>
      <p:sp>
        <p:nvSpPr>
          <p:cNvPr id="334" name="Google Shape;334;p32"/>
          <p:cNvSpPr/>
          <p:nvPr/>
        </p:nvSpPr>
        <p:spPr>
          <a:xfrm>
            <a:off x="6684025" y="2747663"/>
            <a:ext cx="1512900" cy="378300"/>
          </a:xfrm>
          <a:prstGeom prst="rect">
            <a:avLst/>
          </a:prstGeom>
          <a:solidFill>
            <a:srgbClr val="F1C232">
              <a:alpha val="50559"/>
            </a:srgbClr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7B7B7"/>
                </a:solidFill>
              </a:rPr>
              <a:t>(Inter) Network</a:t>
            </a:r>
            <a:endParaRPr b="1">
              <a:solidFill>
                <a:srgbClr val="B7B7B7"/>
              </a:solidFill>
            </a:endParaRPr>
          </a:p>
        </p:txBody>
      </p:sp>
      <p:sp>
        <p:nvSpPr>
          <p:cNvPr id="335" name="Google Shape;335;p32"/>
          <p:cNvSpPr/>
          <p:nvPr/>
        </p:nvSpPr>
        <p:spPr>
          <a:xfrm>
            <a:off x="6684025" y="3202163"/>
            <a:ext cx="1512900" cy="378300"/>
          </a:xfrm>
          <a:prstGeom prst="rect">
            <a:avLst/>
          </a:prstGeom>
          <a:solidFill>
            <a:srgbClr val="B4A7D6">
              <a:alpha val="50559"/>
            </a:srgbClr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7B7B7"/>
                </a:solidFill>
              </a:rPr>
              <a:t>Link</a:t>
            </a:r>
            <a:endParaRPr b="1">
              <a:solidFill>
                <a:srgbClr val="B7B7B7"/>
              </a:solidFill>
            </a:endParaRPr>
          </a:p>
        </p:txBody>
      </p:sp>
      <p:sp>
        <p:nvSpPr>
          <p:cNvPr id="336" name="Google Shape;336;p32"/>
          <p:cNvSpPr txBox="1"/>
          <p:nvPr/>
        </p:nvSpPr>
        <p:spPr>
          <a:xfrm>
            <a:off x="6345475" y="3215100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</a:rPr>
              <a:t>2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337" name="Google Shape;337;p32"/>
          <p:cNvSpPr txBox="1"/>
          <p:nvPr/>
        </p:nvSpPr>
        <p:spPr>
          <a:xfrm>
            <a:off x="6345475" y="2752638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</a:rPr>
              <a:t>3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6345475" y="2280138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</a:rPr>
              <a:t>4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6345475" y="1827713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</a:rPr>
              <a:t>7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340" name="Google Shape;34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3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1: Physical Layer</a:t>
            </a:r>
            <a:endParaRPr/>
          </a:p>
        </p:txBody>
      </p:sp>
      <p:sp>
        <p:nvSpPr>
          <p:cNvPr id="346" name="Google Shape;346;p33"/>
          <p:cNvSpPr/>
          <p:nvPr/>
        </p:nvSpPr>
        <p:spPr>
          <a:xfrm>
            <a:off x="6684025" y="3656663"/>
            <a:ext cx="1512900" cy="3783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Physical</a:t>
            </a:r>
            <a:endParaRPr b="1"/>
          </a:p>
        </p:txBody>
      </p:sp>
      <p:sp>
        <p:nvSpPr>
          <p:cNvPr id="347" name="Google Shape;347;p33"/>
          <p:cNvSpPr txBox="1"/>
          <p:nvPr/>
        </p:nvSpPr>
        <p:spPr>
          <a:xfrm>
            <a:off x="6345475" y="3677588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1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348" name="Google Shape;348;p33"/>
          <p:cNvSpPr/>
          <p:nvPr/>
        </p:nvSpPr>
        <p:spPr>
          <a:xfrm>
            <a:off x="6684025" y="1838663"/>
            <a:ext cx="1512900" cy="378300"/>
          </a:xfrm>
          <a:prstGeom prst="rect">
            <a:avLst/>
          </a:prstGeom>
          <a:solidFill>
            <a:srgbClr val="F1C232">
              <a:alpha val="50559"/>
            </a:srgbClr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7B7B7"/>
                </a:solidFill>
              </a:rPr>
              <a:t>Application</a:t>
            </a:r>
            <a:endParaRPr b="1">
              <a:solidFill>
                <a:srgbClr val="B7B7B7"/>
              </a:solidFill>
            </a:endParaRPr>
          </a:p>
        </p:txBody>
      </p:sp>
      <p:sp>
        <p:nvSpPr>
          <p:cNvPr id="349" name="Google Shape;349;p33"/>
          <p:cNvSpPr/>
          <p:nvPr/>
        </p:nvSpPr>
        <p:spPr>
          <a:xfrm>
            <a:off x="6684025" y="2293163"/>
            <a:ext cx="1512900" cy="378300"/>
          </a:xfrm>
          <a:prstGeom prst="rect">
            <a:avLst/>
          </a:prstGeom>
          <a:solidFill>
            <a:srgbClr val="F1C232">
              <a:alpha val="50559"/>
            </a:srgbClr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7B7B7"/>
                </a:solidFill>
              </a:rPr>
              <a:t>Transport</a:t>
            </a:r>
            <a:endParaRPr b="1">
              <a:solidFill>
                <a:srgbClr val="B7B7B7"/>
              </a:solidFill>
            </a:endParaRPr>
          </a:p>
        </p:txBody>
      </p:sp>
      <p:sp>
        <p:nvSpPr>
          <p:cNvPr id="350" name="Google Shape;350;p33"/>
          <p:cNvSpPr/>
          <p:nvPr/>
        </p:nvSpPr>
        <p:spPr>
          <a:xfrm>
            <a:off x="6684025" y="2747663"/>
            <a:ext cx="1512900" cy="378300"/>
          </a:xfrm>
          <a:prstGeom prst="rect">
            <a:avLst/>
          </a:prstGeom>
          <a:solidFill>
            <a:srgbClr val="F1C232">
              <a:alpha val="50559"/>
            </a:srgbClr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7B7B7"/>
                </a:solidFill>
              </a:rPr>
              <a:t>(Inter) Network</a:t>
            </a:r>
            <a:endParaRPr b="1">
              <a:solidFill>
                <a:srgbClr val="B7B7B7"/>
              </a:solidFill>
            </a:endParaRPr>
          </a:p>
        </p:txBody>
      </p:sp>
      <p:sp>
        <p:nvSpPr>
          <p:cNvPr id="351" name="Google Shape;351;p33"/>
          <p:cNvSpPr/>
          <p:nvPr/>
        </p:nvSpPr>
        <p:spPr>
          <a:xfrm>
            <a:off x="6684025" y="3202163"/>
            <a:ext cx="1512900" cy="378300"/>
          </a:xfrm>
          <a:prstGeom prst="rect">
            <a:avLst/>
          </a:prstGeom>
          <a:solidFill>
            <a:srgbClr val="B4A7D6">
              <a:alpha val="50559"/>
            </a:srgbClr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7B7B7"/>
                </a:solidFill>
              </a:rPr>
              <a:t>Link</a:t>
            </a:r>
            <a:endParaRPr b="1">
              <a:solidFill>
                <a:srgbClr val="B7B7B7"/>
              </a:solidFill>
            </a:endParaRPr>
          </a:p>
        </p:txBody>
      </p:sp>
      <p:sp>
        <p:nvSpPr>
          <p:cNvPr id="352" name="Google Shape;352;p33"/>
          <p:cNvSpPr txBox="1"/>
          <p:nvPr/>
        </p:nvSpPr>
        <p:spPr>
          <a:xfrm>
            <a:off x="6345475" y="3215100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</a:rPr>
              <a:t>2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353" name="Google Shape;353;p33"/>
          <p:cNvSpPr txBox="1"/>
          <p:nvPr/>
        </p:nvSpPr>
        <p:spPr>
          <a:xfrm>
            <a:off x="6345475" y="2752638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</a:rPr>
              <a:t>3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354" name="Google Shape;354;p33"/>
          <p:cNvSpPr txBox="1"/>
          <p:nvPr/>
        </p:nvSpPr>
        <p:spPr>
          <a:xfrm>
            <a:off x="6345475" y="2280138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</a:rPr>
              <a:t>4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355" name="Google Shape;355;p33"/>
          <p:cNvSpPr txBox="1"/>
          <p:nvPr/>
        </p:nvSpPr>
        <p:spPr>
          <a:xfrm>
            <a:off x="6345475" y="1827713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</a:rPr>
              <a:t>7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356" name="Google Shape;356;p33"/>
          <p:cNvSpPr/>
          <p:nvPr/>
        </p:nvSpPr>
        <p:spPr>
          <a:xfrm>
            <a:off x="905150" y="2819275"/>
            <a:ext cx="506400" cy="506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357" name="Google Shape;357;p33"/>
          <p:cNvSpPr/>
          <p:nvPr/>
        </p:nvSpPr>
        <p:spPr>
          <a:xfrm>
            <a:off x="4454450" y="2819275"/>
            <a:ext cx="506400" cy="506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358" name="Google Shape;358;p33"/>
          <p:cNvCxnSpPr>
            <a:stCxn id="356" idx="6"/>
            <a:endCxn id="357" idx="2"/>
          </p:cNvCxnSpPr>
          <p:nvPr/>
        </p:nvCxnSpPr>
        <p:spPr>
          <a:xfrm>
            <a:off x="1411550" y="3072475"/>
            <a:ext cx="304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59" name="Google Shape;359;p33"/>
          <p:cNvSpPr txBox="1"/>
          <p:nvPr/>
        </p:nvSpPr>
        <p:spPr>
          <a:xfrm>
            <a:off x="2233850" y="2733775"/>
            <a:ext cx="1398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01110111…01</a:t>
            </a:r>
            <a:endParaRPr sz="1000"/>
          </a:p>
        </p:txBody>
      </p:sp>
      <p:sp>
        <p:nvSpPr>
          <p:cNvPr id="360" name="Google Shape;360;p33"/>
          <p:cNvSpPr txBox="1"/>
          <p:nvPr/>
        </p:nvSpPr>
        <p:spPr>
          <a:xfrm>
            <a:off x="1654125" y="1577350"/>
            <a:ext cx="2986500" cy="83130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Physical layer: “How do I transmit this sequence of 0’s and 1’s from A to B?”</a:t>
            </a:r>
            <a:endParaRPr/>
          </a:p>
        </p:txBody>
      </p:sp>
      <p:sp>
        <p:nvSpPr>
          <p:cNvPr id="361" name="Google Shape;361;p33"/>
          <p:cNvSpPr txBox="1"/>
          <p:nvPr/>
        </p:nvSpPr>
        <p:spPr>
          <a:xfrm>
            <a:off x="660000" y="3777000"/>
            <a:ext cx="4428600" cy="40020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Next: How do we talk to more than one device?</a:t>
            </a:r>
            <a:endParaRPr/>
          </a:p>
        </p:txBody>
      </p:sp>
      <p:sp>
        <p:nvSpPr>
          <p:cNvPr id="362" name="Google Shape;36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4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2: Link Layer</a:t>
            </a:r>
            <a:endParaRPr/>
          </a:p>
        </p:txBody>
      </p:sp>
      <p:sp>
        <p:nvSpPr>
          <p:cNvPr id="368" name="Google Shape;368;p34"/>
          <p:cNvSpPr txBox="1"/>
          <p:nvPr>
            <p:ph idx="1" type="body"/>
          </p:nvPr>
        </p:nvSpPr>
        <p:spPr>
          <a:xfrm>
            <a:off x="198500" y="1246825"/>
            <a:ext cx="5142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Provides</a:t>
            </a:r>
            <a:r>
              <a:rPr lang="en"/>
              <a:t>: Sending frames directly from one device to another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Relies upon</a:t>
            </a:r>
            <a:r>
              <a:rPr lang="en"/>
              <a:t>: Sending bits from one device to another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Encodes messages into groups of bits called “frames”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Ethernet frames (IEEE 802.3)</a:t>
            </a:r>
            <a:endParaRPr/>
          </a:p>
        </p:txBody>
      </p:sp>
      <p:sp>
        <p:nvSpPr>
          <p:cNvPr id="369" name="Google Shape;369;p34"/>
          <p:cNvSpPr/>
          <p:nvPr/>
        </p:nvSpPr>
        <p:spPr>
          <a:xfrm>
            <a:off x="6684025" y="3656663"/>
            <a:ext cx="1512900" cy="378300"/>
          </a:xfrm>
          <a:prstGeom prst="rect">
            <a:avLst/>
          </a:prstGeom>
          <a:solidFill>
            <a:srgbClr val="B4A7D6">
              <a:alpha val="50559"/>
            </a:srgbClr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7B7B7"/>
                </a:solidFill>
              </a:rPr>
              <a:t>Physical</a:t>
            </a:r>
            <a:endParaRPr b="1">
              <a:solidFill>
                <a:srgbClr val="B7B7B7"/>
              </a:solidFill>
            </a:endParaRPr>
          </a:p>
        </p:txBody>
      </p:sp>
      <p:sp>
        <p:nvSpPr>
          <p:cNvPr id="370" name="Google Shape;370;p34"/>
          <p:cNvSpPr txBox="1"/>
          <p:nvPr/>
        </p:nvSpPr>
        <p:spPr>
          <a:xfrm>
            <a:off x="6345475" y="3677588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</a:rPr>
              <a:t>1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371" name="Google Shape;371;p34"/>
          <p:cNvSpPr/>
          <p:nvPr/>
        </p:nvSpPr>
        <p:spPr>
          <a:xfrm>
            <a:off x="6684025" y="1838663"/>
            <a:ext cx="1512900" cy="378300"/>
          </a:xfrm>
          <a:prstGeom prst="rect">
            <a:avLst/>
          </a:prstGeom>
          <a:solidFill>
            <a:srgbClr val="F1C232">
              <a:alpha val="50559"/>
            </a:srgbClr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7B7B7"/>
                </a:solidFill>
              </a:rPr>
              <a:t>Application</a:t>
            </a:r>
            <a:endParaRPr b="1">
              <a:solidFill>
                <a:srgbClr val="B7B7B7"/>
              </a:solidFill>
            </a:endParaRPr>
          </a:p>
        </p:txBody>
      </p:sp>
      <p:sp>
        <p:nvSpPr>
          <p:cNvPr id="372" name="Google Shape;372;p34"/>
          <p:cNvSpPr/>
          <p:nvPr/>
        </p:nvSpPr>
        <p:spPr>
          <a:xfrm>
            <a:off x="6684025" y="2293163"/>
            <a:ext cx="1512900" cy="378300"/>
          </a:xfrm>
          <a:prstGeom prst="rect">
            <a:avLst/>
          </a:prstGeom>
          <a:solidFill>
            <a:srgbClr val="F1C232">
              <a:alpha val="50559"/>
            </a:srgbClr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7B7B7"/>
                </a:solidFill>
              </a:rPr>
              <a:t>Transport</a:t>
            </a:r>
            <a:endParaRPr b="1">
              <a:solidFill>
                <a:srgbClr val="B7B7B7"/>
              </a:solidFill>
            </a:endParaRPr>
          </a:p>
        </p:txBody>
      </p:sp>
      <p:sp>
        <p:nvSpPr>
          <p:cNvPr id="373" name="Google Shape;373;p34"/>
          <p:cNvSpPr/>
          <p:nvPr/>
        </p:nvSpPr>
        <p:spPr>
          <a:xfrm>
            <a:off x="6684025" y="2747663"/>
            <a:ext cx="1512900" cy="378300"/>
          </a:xfrm>
          <a:prstGeom prst="rect">
            <a:avLst/>
          </a:prstGeom>
          <a:solidFill>
            <a:srgbClr val="F1C232">
              <a:alpha val="50559"/>
            </a:srgbClr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7B7B7"/>
                </a:solidFill>
              </a:rPr>
              <a:t>(Inter) Network</a:t>
            </a:r>
            <a:endParaRPr b="1">
              <a:solidFill>
                <a:srgbClr val="B7B7B7"/>
              </a:solidFill>
            </a:endParaRPr>
          </a:p>
        </p:txBody>
      </p:sp>
      <p:sp>
        <p:nvSpPr>
          <p:cNvPr id="374" name="Google Shape;374;p34"/>
          <p:cNvSpPr txBox="1"/>
          <p:nvPr/>
        </p:nvSpPr>
        <p:spPr>
          <a:xfrm>
            <a:off x="6345475" y="2752638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</a:rPr>
              <a:t>3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375" name="Google Shape;375;p34"/>
          <p:cNvSpPr txBox="1"/>
          <p:nvPr/>
        </p:nvSpPr>
        <p:spPr>
          <a:xfrm>
            <a:off x="6345475" y="2280138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</a:rPr>
              <a:t>4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376" name="Google Shape;376;p34"/>
          <p:cNvSpPr txBox="1"/>
          <p:nvPr/>
        </p:nvSpPr>
        <p:spPr>
          <a:xfrm>
            <a:off x="6345475" y="1827713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</a:rPr>
              <a:t>7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377" name="Google Shape;377;p34"/>
          <p:cNvSpPr/>
          <p:nvPr/>
        </p:nvSpPr>
        <p:spPr>
          <a:xfrm>
            <a:off x="6684025" y="3202163"/>
            <a:ext cx="1512900" cy="3783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Link</a:t>
            </a:r>
            <a:endParaRPr b="1"/>
          </a:p>
        </p:txBody>
      </p:sp>
      <p:sp>
        <p:nvSpPr>
          <p:cNvPr id="378" name="Google Shape;378;p34"/>
          <p:cNvSpPr txBox="1"/>
          <p:nvPr/>
        </p:nvSpPr>
        <p:spPr>
          <a:xfrm>
            <a:off x="6345475" y="3215100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2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379" name="Google Shape;37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5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2: Link Layer</a:t>
            </a:r>
            <a:endParaRPr/>
          </a:p>
        </p:txBody>
      </p:sp>
      <p:sp>
        <p:nvSpPr>
          <p:cNvPr id="385" name="Google Shape;385;p35"/>
          <p:cNvSpPr txBox="1"/>
          <p:nvPr>
            <p:ph idx="1" type="body"/>
          </p:nvPr>
        </p:nvSpPr>
        <p:spPr>
          <a:xfrm>
            <a:off x="198500" y="1246825"/>
            <a:ext cx="5142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Local area network (LAN)</a:t>
            </a:r>
            <a:r>
              <a:rPr lang="en"/>
              <a:t>: A set of computers on a shared network that can directly address one another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Consists of multiple physical links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Frames must consist of at least 3 things: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Source</a:t>
            </a:r>
            <a:r>
              <a:rPr lang="en"/>
              <a:t> (</a:t>
            </a:r>
            <a:r>
              <a:rPr lang="en"/>
              <a:t>“Who is this message coming from?”)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Destination (“Who is this message going to?”)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Data (“What does this message say?”)</a:t>
            </a:r>
            <a:endParaRPr/>
          </a:p>
        </p:txBody>
      </p:sp>
      <p:pic>
        <p:nvPicPr>
          <p:cNvPr id="386" name="Google Shape;386;p35"/>
          <p:cNvPicPr preferRelativeResize="0"/>
          <p:nvPr/>
        </p:nvPicPr>
        <p:blipFill rotWithShape="1">
          <a:blip r:embed="rId3">
            <a:alphaModFix/>
          </a:blip>
          <a:srcRect b="46006" l="6239" r="80041" t="7148"/>
          <a:stretch/>
        </p:blipFill>
        <p:spPr>
          <a:xfrm>
            <a:off x="5611975" y="2325372"/>
            <a:ext cx="570140" cy="57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7" name="Google Shape;387;p35"/>
          <p:cNvCxnSpPr>
            <a:stCxn id="386" idx="2"/>
          </p:cNvCxnSpPr>
          <p:nvPr/>
        </p:nvCxnSpPr>
        <p:spPr>
          <a:xfrm>
            <a:off x="5897045" y="2898072"/>
            <a:ext cx="0" cy="447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88" name="Google Shape;388;p35"/>
          <p:cNvPicPr preferRelativeResize="0"/>
          <p:nvPr/>
        </p:nvPicPr>
        <p:blipFill rotWithShape="1">
          <a:blip r:embed="rId3">
            <a:alphaModFix/>
          </a:blip>
          <a:srcRect b="46006" l="6239" r="80041" t="7148"/>
          <a:stretch/>
        </p:blipFill>
        <p:spPr>
          <a:xfrm>
            <a:off x="6506800" y="2325372"/>
            <a:ext cx="570140" cy="57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9" name="Google Shape;389;p35"/>
          <p:cNvCxnSpPr>
            <a:stCxn id="388" idx="2"/>
          </p:cNvCxnSpPr>
          <p:nvPr/>
        </p:nvCxnSpPr>
        <p:spPr>
          <a:xfrm>
            <a:off x="6791870" y="2898072"/>
            <a:ext cx="0" cy="447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0" name="Google Shape;390;p35"/>
          <p:cNvPicPr preferRelativeResize="0"/>
          <p:nvPr/>
        </p:nvPicPr>
        <p:blipFill rotWithShape="1">
          <a:blip r:embed="rId3">
            <a:alphaModFix/>
          </a:blip>
          <a:srcRect b="46006" l="6239" r="80041" t="7148"/>
          <a:stretch/>
        </p:blipFill>
        <p:spPr>
          <a:xfrm>
            <a:off x="7401625" y="2325372"/>
            <a:ext cx="570140" cy="57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1" name="Google Shape;391;p35"/>
          <p:cNvCxnSpPr>
            <a:stCxn id="390" idx="2"/>
          </p:cNvCxnSpPr>
          <p:nvPr/>
        </p:nvCxnSpPr>
        <p:spPr>
          <a:xfrm>
            <a:off x="7686695" y="2898072"/>
            <a:ext cx="0" cy="447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2" name="Google Shape;392;p35"/>
          <p:cNvPicPr preferRelativeResize="0"/>
          <p:nvPr/>
        </p:nvPicPr>
        <p:blipFill rotWithShape="1">
          <a:blip r:embed="rId3">
            <a:alphaModFix/>
          </a:blip>
          <a:srcRect b="46006" l="6239" r="80041" t="7148"/>
          <a:stretch/>
        </p:blipFill>
        <p:spPr>
          <a:xfrm>
            <a:off x="8296450" y="2325372"/>
            <a:ext cx="570140" cy="57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3" name="Google Shape;393;p35"/>
          <p:cNvCxnSpPr>
            <a:stCxn id="392" idx="2"/>
          </p:cNvCxnSpPr>
          <p:nvPr/>
        </p:nvCxnSpPr>
        <p:spPr>
          <a:xfrm>
            <a:off x="8581520" y="2898072"/>
            <a:ext cx="0" cy="447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" name="Google Shape;394;p35"/>
          <p:cNvCxnSpPr/>
          <p:nvPr/>
        </p:nvCxnSpPr>
        <p:spPr>
          <a:xfrm>
            <a:off x="5904738" y="3326800"/>
            <a:ext cx="2669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5" name="Google Shape;395;p35"/>
          <p:cNvSpPr txBox="1"/>
          <p:nvPr/>
        </p:nvSpPr>
        <p:spPr>
          <a:xfrm>
            <a:off x="5447100" y="1593775"/>
            <a:ext cx="11013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Source</a:t>
            </a:r>
            <a:r>
              <a:rPr lang="en" sz="800"/>
              <a:t>: A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Destination</a:t>
            </a:r>
            <a:r>
              <a:rPr lang="en" sz="800"/>
              <a:t>: C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“Hello, this is A…”</a:t>
            </a:r>
            <a:endParaRPr sz="800"/>
          </a:p>
        </p:txBody>
      </p:sp>
      <p:sp>
        <p:nvSpPr>
          <p:cNvPr id="396" name="Google Shape;396;p35"/>
          <p:cNvSpPr txBox="1"/>
          <p:nvPr/>
        </p:nvSpPr>
        <p:spPr>
          <a:xfrm>
            <a:off x="5767900" y="2391726"/>
            <a:ext cx="25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</a:t>
            </a:r>
            <a:endParaRPr sz="800"/>
          </a:p>
        </p:txBody>
      </p:sp>
      <p:sp>
        <p:nvSpPr>
          <p:cNvPr id="397" name="Google Shape;397;p35"/>
          <p:cNvSpPr txBox="1"/>
          <p:nvPr/>
        </p:nvSpPr>
        <p:spPr>
          <a:xfrm>
            <a:off x="6662725" y="2391726"/>
            <a:ext cx="25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B</a:t>
            </a:r>
            <a:endParaRPr sz="800"/>
          </a:p>
        </p:txBody>
      </p:sp>
      <p:sp>
        <p:nvSpPr>
          <p:cNvPr id="398" name="Google Shape;398;p35"/>
          <p:cNvSpPr txBox="1"/>
          <p:nvPr/>
        </p:nvSpPr>
        <p:spPr>
          <a:xfrm>
            <a:off x="8452375" y="2391726"/>
            <a:ext cx="25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D</a:t>
            </a:r>
            <a:endParaRPr sz="800"/>
          </a:p>
        </p:txBody>
      </p:sp>
      <p:sp>
        <p:nvSpPr>
          <p:cNvPr id="399" name="Google Shape;399;p35"/>
          <p:cNvSpPr txBox="1"/>
          <p:nvPr/>
        </p:nvSpPr>
        <p:spPr>
          <a:xfrm>
            <a:off x="7557550" y="2391726"/>
            <a:ext cx="25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C</a:t>
            </a:r>
            <a:endParaRPr sz="800"/>
          </a:p>
        </p:txBody>
      </p:sp>
      <p:sp>
        <p:nvSpPr>
          <p:cNvPr id="400" name="Google Shape;40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6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2: Link Layer</a:t>
            </a:r>
            <a:endParaRPr/>
          </a:p>
        </p:txBody>
      </p:sp>
      <p:sp>
        <p:nvSpPr>
          <p:cNvPr id="406" name="Google Shape;406;p36"/>
          <p:cNvSpPr txBox="1"/>
          <p:nvPr>
            <p:ph idx="1" type="body"/>
          </p:nvPr>
        </p:nvSpPr>
        <p:spPr>
          <a:xfrm>
            <a:off x="198500" y="1246825"/>
            <a:ext cx="5142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reality, computers </a:t>
            </a:r>
            <a:r>
              <a:rPr lang="en"/>
              <a:t>aren’t all connected to the same wire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Instead, local networks are a set of point-to-point links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However, Layer 2 still allows direct addressing between any two devices on the local-area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Enabled by transmitting a frame across multiple physical links until it reaches its destination</a:t>
            </a:r>
            <a:endParaRPr/>
          </a:p>
        </p:txBody>
      </p:sp>
      <p:sp>
        <p:nvSpPr>
          <p:cNvPr id="407" name="Google Shape;407;p36"/>
          <p:cNvSpPr txBox="1"/>
          <p:nvPr/>
        </p:nvSpPr>
        <p:spPr>
          <a:xfrm>
            <a:off x="5504475" y="2171725"/>
            <a:ext cx="11013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Source</a:t>
            </a:r>
            <a:r>
              <a:rPr lang="en" sz="800"/>
              <a:t>: A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Dest</a:t>
            </a:r>
            <a:r>
              <a:rPr lang="en" sz="800"/>
              <a:t>: C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“Hello, this is A…”</a:t>
            </a:r>
            <a:endParaRPr sz="800"/>
          </a:p>
        </p:txBody>
      </p:sp>
      <p:sp>
        <p:nvSpPr>
          <p:cNvPr id="408" name="Google Shape;408;p36"/>
          <p:cNvSpPr/>
          <p:nvPr/>
        </p:nvSpPr>
        <p:spPr>
          <a:xfrm>
            <a:off x="5448225" y="2806375"/>
            <a:ext cx="506400" cy="506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409" name="Google Shape;409;p36"/>
          <p:cNvSpPr/>
          <p:nvPr/>
        </p:nvSpPr>
        <p:spPr>
          <a:xfrm>
            <a:off x="7055825" y="2383625"/>
            <a:ext cx="506400" cy="506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410" name="Google Shape;410;p36"/>
          <p:cNvSpPr/>
          <p:nvPr/>
        </p:nvSpPr>
        <p:spPr>
          <a:xfrm>
            <a:off x="6052700" y="3907875"/>
            <a:ext cx="506400" cy="506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411" name="Google Shape;411;p36"/>
          <p:cNvSpPr/>
          <p:nvPr/>
        </p:nvSpPr>
        <p:spPr>
          <a:xfrm>
            <a:off x="7598075" y="3572375"/>
            <a:ext cx="506400" cy="506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sp>
        <p:nvSpPr>
          <p:cNvPr id="412" name="Google Shape;412;p36"/>
          <p:cNvSpPr/>
          <p:nvPr/>
        </p:nvSpPr>
        <p:spPr>
          <a:xfrm>
            <a:off x="8431125" y="2859450"/>
            <a:ext cx="506400" cy="506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413" name="Google Shape;413;p36"/>
          <p:cNvCxnSpPr>
            <a:stCxn id="408" idx="6"/>
            <a:endCxn id="409" idx="2"/>
          </p:cNvCxnSpPr>
          <p:nvPr/>
        </p:nvCxnSpPr>
        <p:spPr>
          <a:xfrm flipH="1" rot="10800000">
            <a:off x="5954625" y="2636875"/>
            <a:ext cx="1101300" cy="4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14" name="Google Shape;414;p36"/>
          <p:cNvCxnSpPr>
            <a:stCxn id="408" idx="5"/>
            <a:endCxn id="410" idx="1"/>
          </p:cNvCxnSpPr>
          <p:nvPr/>
        </p:nvCxnSpPr>
        <p:spPr>
          <a:xfrm>
            <a:off x="5880464" y="3238614"/>
            <a:ext cx="2463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15" name="Google Shape;415;p36"/>
          <p:cNvCxnSpPr>
            <a:stCxn id="410" idx="6"/>
            <a:endCxn id="411" idx="2"/>
          </p:cNvCxnSpPr>
          <p:nvPr/>
        </p:nvCxnSpPr>
        <p:spPr>
          <a:xfrm flipH="1" rot="10800000">
            <a:off x="6559100" y="3825675"/>
            <a:ext cx="1038900" cy="33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16" name="Google Shape;416;p36"/>
          <p:cNvCxnSpPr>
            <a:stCxn id="409" idx="4"/>
            <a:endCxn id="410" idx="7"/>
          </p:cNvCxnSpPr>
          <p:nvPr/>
        </p:nvCxnSpPr>
        <p:spPr>
          <a:xfrm flipH="1">
            <a:off x="6484925" y="2890025"/>
            <a:ext cx="824100" cy="109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17" name="Google Shape;417;p36"/>
          <p:cNvCxnSpPr>
            <a:stCxn id="409" idx="5"/>
            <a:endCxn id="411" idx="0"/>
          </p:cNvCxnSpPr>
          <p:nvPr/>
        </p:nvCxnSpPr>
        <p:spPr>
          <a:xfrm>
            <a:off x="7488064" y="2815864"/>
            <a:ext cx="363300" cy="75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18" name="Google Shape;418;p36"/>
          <p:cNvCxnSpPr>
            <a:endCxn id="412" idx="2"/>
          </p:cNvCxnSpPr>
          <p:nvPr/>
        </p:nvCxnSpPr>
        <p:spPr>
          <a:xfrm>
            <a:off x="7562325" y="2636850"/>
            <a:ext cx="868800" cy="47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19" name="Google Shape;419;p36"/>
          <p:cNvCxnSpPr>
            <a:stCxn id="411" idx="7"/>
            <a:endCxn id="412" idx="3"/>
          </p:cNvCxnSpPr>
          <p:nvPr/>
        </p:nvCxnSpPr>
        <p:spPr>
          <a:xfrm flipH="1" rot="10800000">
            <a:off x="8030314" y="3291636"/>
            <a:ext cx="474900" cy="35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20" name="Google Shape;42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7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Ethernet and MAC Addresses</a:t>
            </a:r>
            <a:endParaRPr/>
          </a:p>
        </p:txBody>
      </p:sp>
      <p:sp>
        <p:nvSpPr>
          <p:cNvPr id="426" name="Google Shape;426;p37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Ethernet</a:t>
            </a:r>
            <a:r>
              <a:rPr lang="en"/>
              <a:t>: A common layer 2 protocol that most endpoint devices use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MAC address</a:t>
            </a:r>
            <a:r>
              <a:rPr lang="en"/>
              <a:t>: A 6-byte address that identifies a piece of network </a:t>
            </a:r>
            <a:r>
              <a:rPr lang="en"/>
              <a:t>equipment</a:t>
            </a:r>
            <a:r>
              <a:rPr lang="en"/>
              <a:t> (e.g., your phone’s Wi-Fi antenna)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Typically represented as 6 hex bytes: </a:t>
            </a:r>
            <a:r>
              <a:rPr b="1" lang="en"/>
              <a:t>13:37:ca:fe:f0:0d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first 3 bytes are assigned to manufacturers (i.e. who made the equipment)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is useful in identifying a device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last 3 bytes are device-specific</a:t>
            </a:r>
            <a:endParaRPr/>
          </a:p>
        </p:txBody>
      </p:sp>
      <p:sp>
        <p:nvSpPr>
          <p:cNvPr id="427" name="Google Shape;427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8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2: Link Layer</a:t>
            </a:r>
            <a:endParaRPr/>
          </a:p>
        </p:txBody>
      </p:sp>
      <p:sp>
        <p:nvSpPr>
          <p:cNvPr id="433" name="Google Shape;433;p38"/>
          <p:cNvSpPr/>
          <p:nvPr/>
        </p:nvSpPr>
        <p:spPr>
          <a:xfrm>
            <a:off x="6684025" y="3656663"/>
            <a:ext cx="1512900" cy="378300"/>
          </a:xfrm>
          <a:prstGeom prst="rect">
            <a:avLst/>
          </a:prstGeom>
          <a:solidFill>
            <a:srgbClr val="B4A7D6">
              <a:alpha val="50559"/>
            </a:srgbClr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7B7B7"/>
                </a:solidFill>
              </a:rPr>
              <a:t>Physical</a:t>
            </a:r>
            <a:endParaRPr b="1">
              <a:solidFill>
                <a:srgbClr val="B7B7B7"/>
              </a:solidFill>
            </a:endParaRPr>
          </a:p>
        </p:txBody>
      </p:sp>
      <p:sp>
        <p:nvSpPr>
          <p:cNvPr id="434" name="Google Shape;434;p38"/>
          <p:cNvSpPr txBox="1"/>
          <p:nvPr/>
        </p:nvSpPr>
        <p:spPr>
          <a:xfrm>
            <a:off x="6345475" y="3677588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</a:rPr>
              <a:t>1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35" name="Google Shape;435;p38"/>
          <p:cNvSpPr/>
          <p:nvPr/>
        </p:nvSpPr>
        <p:spPr>
          <a:xfrm>
            <a:off x="6684025" y="1838663"/>
            <a:ext cx="1512900" cy="378300"/>
          </a:xfrm>
          <a:prstGeom prst="rect">
            <a:avLst/>
          </a:prstGeom>
          <a:solidFill>
            <a:srgbClr val="F1C232">
              <a:alpha val="50559"/>
            </a:srgbClr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7B7B7"/>
                </a:solidFill>
              </a:rPr>
              <a:t>Application</a:t>
            </a:r>
            <a:endParaRPr b="1">
              <a:solidFill>
                <a:srgbClr val="B7B7B7"/>
              </a:solidFill>
            </a:endParaRPr>
          </a:p>
        </p:txBody>
      </p:sp>
      <p:sp>
        <p:nvSpPr>
          <p:cNvPr id="436" name="Google Shape;436;p38"/>
          <p:cNvSpPr/>
          <p:nvPr/>
        </p:nvSpPr>
        <p:spPr>
          <a:xfrm>
            <a:off x="6684025" y="2293163"/>
            <a:ext cx="1512900" cy="378300"/>
          </a:xfrm>
          <a:prstGeom prst="rect">
            <a:avLst/>
          </a:prstGeom>
          <a:solidFill>
            <a:srgbClr val="F1C232">
              <a:alpha val="50559"/>
            </a:srgbClr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7B7B7"/>
                </a:solidFill>
              </a:rPr>
              <a:t>Transport</a:t>
            </a:r>
            <a:endParaRPr b="1">
              <a:solidFill>
                <a:srgbClr val="B7B7B7"/>
              </a:solidFill>
            </a:endParaRPr>
          </a:p>
        </p:txBody>
      </p:sp>
      <p:sp>
        <p:nvSpPr>
          <p:cNvPr id="437" name="Google Shape;437;p38"/>
          <p:cNvSpPr/>
          <p:nvPr/>
        </p:nvSpPr>
        <p:spPr>
          <a:xfrm>
            <a:off x="6684025" y="2747663"/>
            <a:ext cx="1512900" cy="378300"/>
          </a:xfrm>
          <a:prstGeom prst="rect">
            <a:avLst/>
          </a:prstGeom>
          <a:solidFill>
            <a:srgbClr val="F1C232">
              <a:alpha val="50559"/>
            </a:srgbClr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7B7B7"/>
                </a:solidFill>
              </a:rPr>
              <a:t>(Inter) Network</a:t>
            </a:r>
            <a:endParaRPr b="1">
              <a:solidFill>
                <a:srgbClr val="B7B7B7"/>
              </a:solidFill>
            </a:endParaRPr>
          </a:p>
        </p:txBody>
      </p:sp>
      <p:sp>
        <p:nvSpPr>
          <p:cNvPr id="438" name="Google Shape;438;p38"/>
          <p:cNvSpPr txBox="1"/>
          <p:nvPr/>
        </p:nvSpPr>
        <p:spPr>
          <a:xfrm>
            <a:off x="6345475" y="2752638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</a:rPr>
              <a:t>3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39" name="Google Shape;439;p38"/>
          <p:cNvSpPr txBox="1"/>
          <p:nvPr/>
        </p:nvSpPr>
        <p:spPr>
          <a:xfrm>
            <a:off x="6345475" y="2280138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</a:rPr>
              <a:t>4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40" name="Google Shape;440;p38"/>
          <p:cNvSpPr txBox="1"/>
          <p:nvPr/>
        </p:nvSpPr>
        <p:spPr>
          <a:xfrm>
            <a:off x="6345475" y="1827713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</a:rPr>
              <a:t>7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41" name="Google Shape;441;p38"/>
          <p:cNvSpPr/>
          <p:nvPr/>
        </p:nvSpPr>
        <p:spPr>
          <a:xfrm>
            <a:off x="6684025" y="3202163"/>
            <a:ext cx="1512900" cy="3783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Link</a:t>
            </a:r>
            <a:endParaRPr b="1"/>
          </a:p>
        </p:txBody>
      </p:sp>
      <p:sp>
        <p:nvSpPr>
          <p:cNvPr id="442" name="Google Shape;442;p38"/>
          <p:cNvSpPr txBox="1"/>
          <p:nvPr/>
        </p:nvSpPr>
        <p:spPr>
          <a:xfrm>
            <a:off x="6345475" y="3215100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2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443" name="Google Shape;443;p38"/>
          <p:cNvSpPr txBox="1"/>
          <p:nvPr/>
        </p:nvSpPr>
        <p:spPr>
          <a:xfrm>
            <a:off x="920625" y="2163288"/>
            <a:ext cx="11013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Source</a:t>
            </a:r>
            <a:r>
              <a:rPr lang="en" sz="800"/>
              <a:t>: A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Dest</a:t>
            </a:r>
            <a:r>
              <a:rPr lang="en" sz="800"/>
              <a:t>: C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“Hello, this is A…”</a:t>
            </a:r>
            <a:endParaRPr sz="800"/>
          </a:p>
        </p:txBody>
      </p:sp>
      <p:sp>
        <p:nvSpPr>
          <p:cNvPr id="444" name="Google Shape;444;p38"/>
          <p:cNvSpPr txBox="1"/>
          <p:nvPr/>
        </p:nvSpPr>
        <p:spPr>
          <a:xfrm>
            <a:off x="2018975" y="1160600"/>
            <a:ext cx="3915600" cy="83130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 layer: “How do I transmit this frame from A to C, making sure that no one else thinks the message is for them?”</a:t>
            </a:r>
            <a:endParaRPr/>
          </a:p>
        </p:txBody>
      </p:sp>
      <p:sp>
        <p:nvSpPr>
          <p:cNvPr id="445" name="Google Shape;445;p38"/>
          <p:cNvSpPr txBox="1"/>
          <p:nvPr/>
        </p:nvSpPr>
        <p:spPr>
          <a:xfrm>
            <a:off x="2255425" y="4566350"/>
            <a:ext cx="4428600" cy="40020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Next: How do we address every device in existence?</a:t>
            </a:r>
            <a:endParaRPr/>
          </a:p>
        </p:txBody>
      </p:sp>
      <p:pic>
        <p:nvPicPr>
          <p:cNvPr id="446" name="Google Shape;446;p38"/>
          <p:cNvPicPr preferRelativeResize="0"/>
          <p:nvPr/>
        </p:nvPicPr>
        <p:blipFill rotWithShape="1">
          <a:blip r:embed="rId3">
            <a:alphaModFix/>
          </a:blip>
          <a:srcRect b="46006" l="6239" r="80041" t="7148"/>
          <a:stretch/>
        </p:blipFill>
        <p:spPr>
          <a:xfrm>
            <a:off x="1237750" y="2883272"/>
            <a:ext cx="570140" cy="57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7" name="Google Shape;447;p38"/>
          <p:cNvCxnSpPr>
            <a:stCxn id="446" idx="2"/>
          </p:cNvCxnSpPr>
          <p:nvPr/>
        </p:nvCxnSpPr>
        <p:spPr>
          <a:xfrm>
            <a:off x="1522820" y="3455972"/>
            <a:ext cx="0" cy="447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8" name="Google Shape;448;p38"/>
          <p:cNvPicPr preferRelativeResize="0"/>
          <p:nvPr/>
        </p:nvPicPr>
        <p:blipFill rotWithShape="1">
          <a:blip r:embed="rId3">
            <a:alphaModFix/>
          </a:blip>
          <a:srcRect b="46006" l="6239" r="80041" t="7148"/>
          <a:stretch/>
        </p:blipFill>
        <p:spPr>
          <a:xfrm>
            <a:off x="2132575" y="2883272"/>
            <a:ext cx="570140" cy="57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9" name="Google Shape;449;p38"/>
          <p:cNvCxnSpPr>
            <a:stCxn id="448" idx="2"/>
          </p:cNvCxnSpPr>
          <p:nvPr/>
        </p:nvCxnSpPr>
        <p:spPr>
          <a:xfrm>
            <a:off x="2417645" y="3455972"/>
            <a:ext cx="0" cy="447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0" name="Google Shape;450;p38"/>
          <p:cNvPicPr preferRelativeResize="0"/>
          <p:nvPr/>
        </p:nvPicPr>
        <p:blipFill rotWithShape="1">
          <a:blip r:embed="rId3">
            <a:alphaModFix/>
          </a:blip>
          <a:srcRect b="46006" l="6239" r="80041" t="7148"/>
          <a:stretch/>
        </p:blipFill>
        <p:spPr>
          <a:xfrm>
            <a:off x="3027400" y="2883272"/>
            <a:ext cx="570140" cy="57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1" name="Google Shape;451;p38"/>
          <p:cNvCxnSpPr>
            <a:stCxn id="450" idx="2"/>
          </p:cNvCxnSpPr>
          <p:nvPr/>
        </p:nvCxnSpPr>
        <p:spPr>
          <a:xfrm>
            <a:off x="3312470" y="3455972"/>
            <a:ext cx="0" cy="447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2" name="Google Shape;452;p38"/>
          <p:cNvPicPr preferRelativeResize="0"/>
          <p:nvPr/>
        </p:nvPicPr>
        <p:blipFill rotWithShape="1">
          <a:blip r:embed="rId3">
            <a:alphaModFix/>
          </a:blip>
          <a:srcRect b="46006" l="6239" r="80041" t="7148"/>
          <a:stretch/>
        </p:blipFill>
        <p:spPr>
          <a:xfrm>
            <a:off x="3922225" y="2883272"/>
            <a:ext cx="570140" cy="57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3" name="Google Shape;453;p38"/>
          <p:cNvCxnSpPr>
            <a:stCxn id="452" idx="2"/>
          </p:cNvCxnSpPr>
          <p:nvPr/>
        </p:nvCxnSpPr>
        <p:spPr>
          <a:xfrm>
            <a:off x="4207295" y="3455972"/>
            <a:ext cx="0" cy="447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38"/>
          <p:cNvCxnSpPr/>
          <p:nvPr/>
        </p:nvCxnSpPr>
        <p:spPr>
          <a:xfrm>
            <a:off x="1530513" y="3884700"/>
            <a:ext cx="2669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5" name="Google Shape;455;p38"/>
          <p:cNvSpPr txBox="1"/>
          <p:nvPr/>
        </p:nvSpPr>
        <p:spPr>
          <a:xfrm>
            <a:off x="1393675" y="2949626"/>
            <a:ext cx="25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</a:t>
            </a:r>
            <a:endParaRPr sz="800"/>
          </a:p>
        </p:txBody>
      </p:sp>
      <p:sp>
        <p:nvSpPr>
          <p:cNvPr id="456" name="Google Shape;456;p38"/>
          <p:cNvSpPr txBox="1"/>
          <p:nvPr/>
        </p:nvSpPr>
        <p:spPr>
          <a:xfrm>
            <a:off x="2288500" y="2949626"/>
            <a:ext cx="25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B</a:t>
            </a:r>
            <a:endParaRPr sz="800"/>
          </a:p>
        </p:txBody>
      </p:sp>
      <p:sp>
        <p:nvSpPr>
          <p:cNvPr id="457" name="Google Shape;457;p38"/>
          <p:cNvSpPr txBox="1"/>
          <p:nvPr/>
        </p:nvSpPr>
        <p:spPr>
          <a:xfrm>
            <a:off x="4078150" y="2949626"/>
            <a:ext cx="25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D</a:t>
            </a:r>
            <a:endParaRPr sz="800"/>
          </a:p>
        </p:txBody>
      </p:sp>
      <p:sp>
        <p:nvSpPr>
          <p:cNvPr id="458" name="Google Shape;458;p38"/>
          <p:cNvSpPr txBox="1"/>
          <p:nvPr/>
        </p:nvSpPr>
        <p:spPr>
          <a:xfrm>
            <a:off x="3183325" y="2949626"/>
            <a:ext cx="25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C</a:t>
            </a:r>
            <a:endParaRPr sz="800"/>
          </a:p>
        </p:txBody>
      </p:sp>
      <p:sp>
        <p:nvSpPr>
          <p:cNvPr id="459" name="Google Shape;459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9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3: Network Layer</a:t>
            </a:r>
            <a:endParaRPr/>
          </a:p>
        </p:txBody>
      </p:sp>
      <p:sp>
        <p:nvSpPr>
          <p:cNvPr id="465" name="Google Shape;465;p39"/>
          <p:cNvSpPr/>
          <p:nvPr/>
        </p:nvSpPr>
        <p:spPr>
          <a:xfrm>
            <a:off x="6684025" y="3656663"/>
            <a:ext cx="1512900" cy="378300"/>
          </a:xfrm>
          <a:prstGeom prst="rect">
            <a:avLst/>
          </a:prstGeom>
          <a:solidFill>
            <a:srgbClr val="B4A7D6">
              <a:alpha val="50559"/>
            </a:srgbClr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7B7B7"/>
                </a:solidFill>
              </a:rPr>
              <a:t>Physical</a:t>
            </a:r>
            <a:endParaRPr b="1">
              <a:solidFill>
                <a:srgbClr val="B7B7B7"/>
              </a:solidFill>
            </a:endParaRPr>
          </a:p>
        </p:txBody>
      </p:sp>
      <p:sp>
        <p:nvSpPr>
          <p:cNvPr id="466" name="Google Shape;466;p39"/>
          <p:cNvSpPr txBox="1"/>
          <p:nvPr>
            <p:ph idx="1" type="body"/>
          </p:nvPr>
        </p:nvSpPr>
        <p:spPr>
          <a:xfrm>
            <a:off x="198500" y="1246825"/>
            <a:ext cx="5142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Provides</a:t>
            </a:r>
            <a:r>
              <a:rPr lang="en"/>
              <a:t>: Sending packets from any device to any other device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Relies upon</a:t>
            </a:r>
            <a:r>
              <a:rPr lang="en"/>
              <a:t>: </a:t>
            </a:r>
            <a:r>
              <a:rPr lang="en"/>
              <a:t>Sending frames directly from one device to another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Encodes messages into groups of bits called “packets”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Bridges multiple LANs to provide global addressing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Internet Protocol (IP)</a:t>
            </a:r>
            <a:endParaRPr/>
          </a:p>
        </p:txBody>
      </p:sp>
      <p:sp>
        <p:nvSpPr>
          <p:cNvPr id="467" name="Google Shape;467;p39"/>
          <p:cNvSpPr txBox="1"/>
          <p:nvPr/>
        </p:nvSpPr>
        <p:spPr>
          <a:xfrm>
            <a:off x="6345475" y="3677588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</a:rPr>
              <a:t>1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68" name="Google Shape;468;p39"/>
          <p:cNvSpPr/>
          <p:nvPr/>
        </p:nvSpPr>
        <p:spPr>
          <a:xfrm>
            <a:off x="6684025" y="1838663"/>
            <a:ext cx="1512900" cy="378300"/>
          </a:xfrm>
          <a:prstGeom prst="rect">
            <a:avLst/>
          </a:prstGeom>
          <a:solidFill>
            <a:srgbClr val="F1C232">
              <a:alpha val="50559"/>
            </a:srgbClr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7B7B7"/>
                </a:solidFill>
              </a:rPr>
              <a:t>Application</a:t>
            </a:r>
            <a:endParaRPr b="1">
              <a:solidFill>
                <a:srgbClr val="B7B7B7"/>
              </a:solidFill>
            </a:endParaRPr>
          </a:p>
        </p:txBody>
      </p:sp>
      <p:sp>
        <p:nvSpPr>
          <p:cNvPr id="469" name="Google Shape;469;p39"/>
          <p:cNvSpPr/>
          <p:nvPr/>
        </p:nvSpPr>
        <p:spPr>
          <a:xfrm>
            <a:off x="6684025" y="2293163"/>
            <a:ext cx="1512900" cy="378300"/>
          </a:xfrm>
          <a:prstGeom prst="rect">
            <a:avLst/>
          </a:prstGeom>
          <a:solidFill>
            <a:srgbClr val="F1C232">
              <a:alpha val="50559"/>
            </a:srgbClr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7B7B7"/>
                </a:solidFill>
              </a:rPr>
              <a:t>Transport</a:t>
            </a:r>
            <a:endParaRPr b="1">
              <a:solidFill>
                <a:srgbClr val="B7B7B7"/>
              </a:solidFill>
            </a:endParaRPr>
          </a:p>
        </p:txBody>
      </p:sp>
      <p:sp>
        <p:nvSpPr>
          <p:cNvPr id="470" name="Google Shape;470;p39"/>
          <p:cNvSpPr txBox="1"/>
          <p:nvPr/>
        </p:nvSpPr>
        <p:spPr>
          <a:xfrm>
            <a:off x="6345475" y="2280138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</a:rPr>
              <a:t>4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71" name="Google Shape;471;p39"/>
          <p:cNvSpPr txBox="1"/>
          <p:nvPr/>
        </p:nvSpPr>
        <p:spPr>
          <a:xfrm>
            <a:off x="6345475" y="1827713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</a:rPr>
              <a:t>7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72" name="Google Shape;472;p39"/>
          <p:cNvSpPr/>
          <p:nvPr/>
        </p:nvSpPr>
        <p:spPr>
          <a:xfrm>
            <a:off x="6684025" y="2747663"/>
            <a:ext cx="1512900" cy="378300"/>
          </a:xfrm>
          <a:prstGeom prst="rect">
            <a:avLst/>
          </a:prstGeom>
          <a:solidFill>
            <a:srgbClr val="F1C23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(Inter) Network</a:t>
            </a:r>
            <a:endParaRPr b="1"/>
          </a:p>
        </p:txBody>
      </p:sp>
      <p:sp>
        <p:nvSpPr>
          <p:cNvPr id="473" name="Google Shape;473;p39"/>
          <p:cNvSpPr txBox="1"/>
          <p:nvPr/>
        </p:nvSpPr>
        <p:spPr>
          <a:xfrm>
            <a:off x="6345475" y="2752638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3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474" name="Google Shape;474;p39"/>
          <p:cNvSpPr/>
          <p:nvPr/>
        </p:nvSpPr>
        <p:spPr>
          <a:xfrm>
            <a:off x="6684025" y="3202163"/>
            <a:ext cx="1512900" cy="378300"/>
          </a:xfrm>
          <a:prstGeom prst="rect">
            <a:avLst/>
          </a:prstGeom>
          <a:solidFill>
            <a:srgbClr val="B4A7D6">
              <a:alpha val="50559"/>
            </a:srgbClr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7B7B7"/>
                </a:solidFill>
              </a:rPr>
              <a:t>Link</a:t>
            </a:r>
            <a:endParaRPr b="1">
              <a:solidFill>
                <a:srgbClr val="B7B7B7"/>
              </a:solidFill>
            </a:endParaRPr>
          </a:p>
        </p:txBody>
      </p:sp>
      <p:sp>
        <p:nvSpPr>
          <p:cNvPr id="475" name="Google Shape;475;p39"/>
          <p:cNvSpPr txBox="1"/>
          <p:nvPr/>
        </p:nvSpPr>
        <p:spPr>
          <a:xfrm>
            <a:off x="6345475" y="3215100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</a:rPr>
              <a:t>2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76" name="Google Shape;476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0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3: Network Layer</a:t>
            </a:r>
            <a:endParaRPr/>
          </a:p>
        </p:txBody>
      </p:sp>
      <p:sp>
        <p:nvSpPr>
          <p:cNvPr id="482" name="Google Shape;482;p40"/>
          <p:cNvSpPr txBox="1"/>
          <p:nvPr>
            <p:ph idx="1" type="body"/>
          </p:nvPr>
        </p:nvSpPr>
        <p:spPr>
          <a:xfrm>
            <a:off x="198500" y="1246825"/>
            <a:ext cx="5142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Recall the ideal layer 2 model: All devices can directly address all other devices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would not scale to the size of the Internet!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Instead, allow packets to be </a:t>
            </a:r>
            <a:r>
              <a:rPr b="1" lang="en"/>
              <a:t>routed</a:t>
            </a:r>
            <a:r>
              <a:rPr lang="en"/>
              <a:t> across different devices to reach the destination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hop is allowed to use its own physical and link layers!</a:t>
            </a:r>
            <a:endParaRPr/>
          </a:p>
        </p:txBody>
      </p:sp>
      <p:pic>
        <p:nvPicPr>
          <p:cNvPr id="483" name="Google Shape;483;p40"/>
          <p:cNvPicPr preferRelativeResize="0"/>
          <p:nvPr/>
        </p:nvPicPr>
        <p:blipFill rotWithShape="1">
          <a:blip r:embed="rId3">
            <a:alphaModFix/>
          </a:blip>
          <a:srcRect b="46006" l="6239" r="80041" t="7148"/>
          <a:stretch/>
        </p:blipFill>
        <p:spPr>
          <a:xfrm>
            <a:off x="5611975" y="1334772"/>
            <a:ext cx="570140" cy="57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4" name="Google Shape;484;p40"/>
          <p:cNvCxnSpPr>
            <a:stCxn id="483" idx="2"/>
          </p:cNvCxnSpPr>
          <p:nvPr/>
        </p:nvCxnSpPr>
        <p:spPr>
          <a:xfrm>
            <a:off x="5897045" y="1907472"/>
            <a:ext cx="0" cy="447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85" name="Google Shape;485;p40"/>
          <p:cNvPicPr preferRelativeResize="0"/>
          <p:nvPr/>
        </p:nvPicPr>
        <p:blipFill rotWithShape="1">
          <a:blip r:embed="rId3">
            <a:alphaModFix/>
          </a:blip>
          <a:srcRect b="46006" l="6239" r="80041" t="7148"/>
          <a:stretch/>
        </p:blipFill>
        <p:spPr>
          <a:xfrm>
            <a:off x="6506800" y="1334772"/>
            <a:ext cx="570140" cy="57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6" name="Google Shape;486;p40"/>
          <p:cNvCxnSpPr>
            <a:stCxn id="485" idx="2"/>
          </p:cNvCxnSpPr>
          <p:nvPr/>
        </p:nvCxnSpPr>
        <p:spPr>
          <a:xfrm>
            <a:off x="6791870" y="1907472"/>
            <a:ext cx="0" cy="447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87" name="Google Shape;487;p40"/>
          <p:cNvPicPr preferRelativeResize="0"/>
          <p:nvPr/>
        </p:nvPicPr>
        <p:blipFill rotWithShape="1">
          <a:blip r:embed="rId3">
            <a:alphaModFix/>
          </a:blip>
          <a:srcRect b="46006" l="6239" r="80041" t="7148"/>
          <a:stretch/>
        </p:blipFill>
        <p:spPr>
          <a:xfrm>
            <a:off x="7401625" y="1334772"/>
            <a:ext cx="570140" cy="57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8" name="Google Shape;488;p40"/>
          <p:cNvCxnSpPr>
            <a:stCxn id="487" idx="2"/>
          </p:cNvCxnSpPr>
          <p:nvPr/>
        </p:nvCxnSpPr>
        <p:spPr>
          <a:xfrm>
            <a:off x="7686695" y="1907472"/>
            <a:ext cx="0" cy="447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89" name="Google Shape;489;p40"/>
          <p:cNvPicPr preferRelativeResize="0"/>
          <p:nvPr/>
        </p:nvPicPr>
        <p:blipFill rotWithShape="1">
          <a:blip r:embed="rId3">
            <a:alphaModFix/>
          </a:blip>
          <a:srcRect b="46006" l="6239" r="80041" t="7148"/>
          <a:stretch/>
        </p:blipFill>
        <p:spPr>
          <a:xfrm>
            <a:off x="8296450" y="1334772"/>
            <a:ext cx="570140" cy="57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0" name="Google Shape;490;p40"/>
          <p:cNvCxnSpPr>
            <a:stCxn id="489" idx="2"/>
          </p:cNvCxnSpPr>
          <p:nvPr/>
        </p:nvCxnSpPr>
        <p:spPr>
          <a:xfrm>
            <a:off x="8581520" y="1907472"/>
            <a:ext cx="0" cy="447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" name="Google Shape;491;p40"/>
          <p:cNvCxnSpPr/>
          <p:nvPr/>
        </p:nvCxnSpPr>
        <p:spPr>
          <a:xfrm>
            <a:off x="5904738" y="2336200"/>
            <a:ext cx="2669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2" name="Google Shape;492;p40"/>
          <p:cNvSpPr txBox="1"/>
          <p:nvPr/>
        </p:nvSpPr>
        <p:spPr>
          <a:xfrm>
            <a:off x="5767900" y="1401126"/>
            <a:ext cx="25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</a:t>
            </a:r>
            <a:endParaRPr sz="800"/>
          </a:p>
        </p:txBody>
      </p:sp>
      <p:sp>
        <p:nvSpPr>
          <p:cNvPr id="493" name="Google Shape;493;p40"/>
          <p:cNvSpPr txBox="1"/>
          <p:nvPr/>
        </p:nvSpPr>
        <p:spPr>
          <a:xfrm>
            <a:off x="6662725" y="1401126"/>
            <a:ext cx="25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B</a:t>
            </a:r>
            <a:endParaRPr sz="800"/>
          </a:p>
        </p:txBody>
      </p:sp>
      <p:sp>
        <p:nvSpPr>
          <p:cNvPr id="494" name="Google Shape;494;p40"/>
          <p:cNvSpPr txBox="1"/>
          <p:nvPr/>
        </p:nvSpPr>
        <p:spPr>
          <a:xfrm>
            <a:off x="8452375" y="1401126"/>
            <a:ext cx="25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D</a:t>
            </a:r>
            <a:endParaRPr sz="800"/>
          </a:p>
        </p:txBody>
      </p:sp>
      <p:sp>
        <p:nvSpPr>
          <p:cNvPr id="495" name="Google Shape;495;p40"/>
          <p:cNvSpPr txBox="1"/>
          <p:nvPr/>
        </p:nvSpPr>
        <p:spPr>
          <a:xfrm>
            <a:off x="7557550" y="1401126"/>
            <a:ext cx="25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C</a:t>
            </a:r>
            <a:endParaRPr sz="800"/>
          </a:p>
        </p:txBody>
      </p:sp>
      <p:pic>
        <p:nvPicPr>
          <p:cNvPr id="496" name="Google Shape;496;p40"/>
          <p:cNvPicPr preferRelativeResize="0"/>
          <p:nvPr/>
        </p:nvPicPr>
        <p:blipFill rotWithShape="1">
          <a:blip r:embed="rId3">
            <a:alphaModFix/>
          </a:blip>
          <a:srcRect b="46006" l="6239" r="80041" t="7148"/>
          <a:stretch/>
        </p:blipFill>
        <p:spPr>
          <a:xfrm>
            <a:off x="5611988" y="4210072"/>
            <a:ext cx="570140" cy="57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7" name="Google Shape;497;p40"/>
          <p:cNvCxnSpPr>
            <a:endCxn id="496" idx="0"/>
          </p:cNvCxnSpPr>
          <p:nvPr/>
        </p:nvCxnSpPr>
        <p:spPr>
          <a:xfrm>
            <a:off x="5897057" y="3762472"/>
            <a:ext cx="0" cy="447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8" name="Google Shape;498;p40"/>
          <p:cNvSpPr txBox="1"/>
          <p:nvPr/>
        </p:nvSpPr>
        <p:spPr>
          <a:xfrm>
            <a:off x="5767913" y="4276426"/>
            <a:ext cx="25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E</a:t>
            </a:r>
            <a:endParaRPr sz="800"/>
          </a:p>
        </p:txBody>
      </p:sp>
      <p:pic>
        <p:nvPicPr>
          <p:cNvPr id="499" name="Google Shape;499;p40"/>
          <p:cNvPicPr preferRelativeResize="0"/>
          <p:nvPr/>
        </p:nvPicPr>
        <p:blipFill rotWithShape="1">
          <a:blip r:embed="rId3">
            <a:alphaModFix/>
          </a:blip>
          <a:srcRect b="46006" l="6239" r="80041" t="7148"/>
          <a:stretch/>
        </p:blipFill>
        <p:spPr>
          <a:xfrm>
            <a:off x="6506800" y="4210085"/>
            <a:ext cx="570140" cy="57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0" name="Google Shape;500;p40"/>
          <p:cNvCxnSpPr>
            <a:endCxn id="499" idx="0"/>
          </p:cNvCxnSpPr>
          <p:nvPr/>
        </p:nvCxnSpPr>
        <p:spPr>
          <a:xfrm>
            <a:off x="6791870" y="3762485"/>
            <a:ext cx="0" cy="447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1" name="Google Shape;501;p40"/>
          <p:cNvSpPr txBox="1"/>
          <p:nvPr/>
        </p:nvSpPr>
        <p:spPr>
          <a:xfrm>
            <a:off x="6662725" y="4276439"/>
            <a:ext cx="25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F</a:t>
            </a:r>
            <a:endParaRPr sz="800"/>
          </a:p>
        </p:txBody>
      </p:sp>
      <p:pic>
        <p:nvPicPr>
          <p:cNvPr id="502" name="Google Shape;502;p40"/>
          <p:cNvPicPr preferRelativeResize="0"/>
          <p:nvPr/>
        </p:nvPicPr>
        <p:blipFill rotWithShape="1">
          <a:blip r:embed="rId3">
            <a:alphaModFix/>
          </a:blip>
          <a:srcRect b="46006" l="6239" r="80041" t="7148"/>
          <a:stretch/>
        </p:blipFill>
        <p:spPr>
          <a:xfrm>
            <a:off x="7401625" y="4210085"/>
            <a:ext cx="570140" cy="57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3" name="Google Shape;503;p40"/>
          <p:cNvCxnSpPr>
            <a:endCxn id="502" idx="0"/>
          </p:cNvCxnSpPr>
          <p:nvPr/>
        </p:nvCxnSpPr>
        <p:spPr>
          <a:xfrm>
            <a:off x="7686695" y="3762485"/>
            <a:ext cx="0" cy="447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4" name="Google Shape;504;p40"/>
          <p:cNvSpPr txBox="1"/>
          <p:nvPr/>
        </p:nvSpPr>
        <p:spPr>
          <a:xfrm>
            <a:off x="7557550" y="4276439"/>
            <a:ext cx="25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G</a:t>
            </a:r>
            <a:endParaRPr sz="800"/>
          </a:p>
        </p:txBody>
      </p:sp>
      <p:pic>
        <p:nvPicPr>
          <p:cNvPr id="505" name="Google Shape;505;p40"/>
          <p:cNvPicPr preferRelativeResize="0"/>
          <p:nvPr/>
        </p:nvPicPr>
        <p:blipFill rotWithShape="1">
          <a:blip r:embed="rId3">
            <a:alphaModFix/>
          </a:blip>
          <a:srcRect b="46006" l="6239" r="80041" t="7148"/>
          <a:stretch/>
        </p:blipFill>
        <p:spPr>
          <a:xfrm>
            <a:off x="8296450" y="4210085"/>
            <a:ext cx="570140" cy="57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6" name="Google Shape;506;p40"/>
          <p:cNvCxnSpPr>
            <a:endCxn id="505" idx="0"/>
          </p:cNvCxnSpPr>
          <p:nvPr/>
        </p:nvCxnSpPr>
        <p:spPr>
          <a:xfrm>
            <a:off x="8581520" y="3762485"/>
            <a:ext cx="0" cy="447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" name="Google Shape;507;p40"/>
          <p:cNvSpPr txBox="1"/>
          <p:nvPr/>
        </p:nvSpPr>
        <p:spPr>
          <a:xfrm>
            <a:off x="8452375" y="4276439"/>
            <a:ext cx="25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H</a:t>
            </a:r>
            <a:endParaRPr sz="800"/>
          </a:p>
        </p:txBody>
      </p:sp>
      <p:cxnSp>
        <p:nvCxnSpPr>
          <p:cNvPr id="508" name="Google Shape;508;p40"/>
          <p:cNvCxnSpPr/>
          <p:nvPr/>
        </p:nvCxnSpPr>
        <p:spPr>
          <a:xfrm>
            <a:off x="5904750" y="3780666"/>
            <a:ext cx="2669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9" name="Google Shape;509;p40"/>
          <p:cNvSpPr/>
          <p:nvPr/>
        </p:nvSpPr>
        <p:spPr>
          <a:xfrm>
            <a:off x="6897750" y="2716888"/>
            <a:ext cx="683100" cy="68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Router</a:t>
            </a:r>
            <a:endParaRPr sz="1000"/>
          </a:p>
        </p:txBody>
      </p:sp>
      <p:cxnSp>
        <p:nvCxnSpPr>
          <p:cNvPr id="510" name="Google Shape;510;p40"/>
          <p:cNvCxnSpPr>
            <a:stCxn id="509" idx="0"/>
          </p:cNvCxnSpPr>
          <p:nvPr/>
        </p:nvCxnSpPr>
        <p:spPr>
          <a:xfrm rot="10800000">
            <a:off x="7235100" y="2347588"/>
            <a:ext cx="4200" cy="369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" name="Google Shape;511;p40"/>
          <p:cNvCxnSpPr>
            <a:endCxn id="509" idx="2"/>
          </p:cNvCxnSpPr>
          <p:nvPr/>
        </p:nvCxnSpPr>
        <p:spPr>
          <a:xfrm rot="10800000">
            <a:off x="7239300" y="3399988"/>
            <a:ext cx="2100" cy="369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2" name="Google Shape;512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1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3: Network Layer</a:t>
            </a:r>
            <a:endParaRPr/>
          </a:p>
        </p:txBody>
      </p:sp>
      <p:pic>
        <p:nvPicPr>
          <p:cNvPr id="518" name="Google Shape;518;p41"/>
          <p:cNvPicPr preferRelativeResize="0"/>
          <p:nvPr/>
        </p:nvPicPr>
        <p:blipFill rotWithShape="1">
          <a:blip r:embed="rId3">
            <a:alphaModFix/>
          </a:blip>
          <a:srcRect b="46006" l="6239" r="80041" t="7148"/>
          <a:stretch/>
        </p:blipFill>
        <p:spPr>
          <a:xfrm>
            <a:off x="980675" y="1915597"/>
            <a:ext cx="57014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41"/>
          <p:cNvSpPr txBox="1"/>
          <p:nvPr/>
        </p:nvSpPr>
        <p:spPr>
          <a:xfrm>
            <a:off x="1136600" y="1981951"/>
            <a:ext cx="25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</a:t>
            </a:r>
            <a:endParaRPr sz="800"/>
          </a:p>
        </p:txBody>
      </p:sp>
      <p:sp>
        <p:nvSpPr>
          <p:cNvPr id="520" name="Google Shape;520;p41"/>
          <p:cNvSpPr/>
          <p:nvPr/>
        </p:nvSpPr>
        <p:spPr>
          <a:xfrm>
            <a:off x="2237125" y="2445596"/>
            <a:ext cx="570000" cy="44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Router</a:t>
            </a:r>
            <a:endParaRPr sz="1000"/>
          </a:p>
        </p:txBody>
      </p:sp>
      <p:pic>
        <p:nvPicPr>
          <p:cNvPr id="521" name="Google Shape;521;p41"/>
          <p:cNvPicPr preferRelativeResize="0"/>
          <p:nvPr/>
        </p:nvPicPr>
        <p:blipFill rotWithShape="1">
          <a:blip r:embed="rId3">
            <a:alphaModFix/>
          </a:blip>
          <a:srcRect b="46006" l="6239" r="80041" t="7148"/>
          <a:stretch/>
        </p:blipFill>
        <p:spPr>
          <a:xfrm>
            <a:off x="4035650" y="1409247"/>
            <a:ext cx="57014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41"/>
          <p:cNvSpPr txBox="1"/>
          <p:nvPr/>
        </p:nvSpPr>
        <p:spPr>
          <a:xfrm>
            <a:off x="4191575" y="1475601"/>
            <a:ext cx="25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C</a:t>
            </a:r>
            <a:endParaRPr sz="800"/>
          </a:p>
        </p:txBody>
      </p:sp>
      <p:pic>
        <p:nvPicPr>
          <p:cNvPr id="523" name="Google Shape;523;p41"/>
          <p:cNvPicPr preferRelativeResize="0"/>
          <p:nvPr/>
        </p:nvPicPr>
        <p:blipFill rotWithShape="1">
          <a:blip r:embed="rId3">
            <a:alphaModFix/>
          </a:blip>
          <a:srcRect b="46006" l="6239" r="80041" t="7148"/>
          <a:stretch/>
        </p:blipFill>
        <p:spPr>
          <a:xfrm>
            <a:off x="8047925" y="2121897"/>
            <a:ext cx="57014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41"/>
          <p:cNvSpPr txBox="1"/>
          <p:nvPr/>
        </p:nvSpPr>
        <p:spPr>
          <a:xfrm>
            <a:off x="8203850" y="2188251"/>
            <a:ext cx="25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D</a:t>
            </a:r>
            <a:endParaRPr sz="800"/>
          </a:p>
        </p:txBody>
      </p:sp>
      <p:pic>
        <p:nvPicPr>
          <p:cNvPr id="525" name="Google Shape;525;p41"/>
          <p:cNvPicPr preferRelativeResize="0"/>
          <p:nvPr/>
        </p:nvPicPr>
        <p:blipFill rotWithShape="1">
          <a:blip r:embed="rId3">
            <a:alphaModFix/>
          </a:blip>
          <a:srcRect b="46006" l="6239" r="80041" t="7148"/>
          <a:stretch/>
        </p:blipFill>
        <p:spPr>
          <a:xfrm>
            <a:off x="7477775" y="4005722"/>
            <a:ext cx="57014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41"/>
          <p:cNvSpPr txBox="1"/>
          <p:nvPr/>
        </p:nvSpPr>
        <p:spPr>
          <a:xfrm>
            <a:off x="7633700" y="4072076"/>
            <a:ext cx="25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E</a:t>
            </a:r>
            <a:endParaRPr sz="800"/>
          </a:p>
        </p:txBody>
      </p:sp>
      <p:pic>
        <p:nvPicPr>
          <p:cNvPr id="527" name="Google Shape;527;p41"/>
          <p:cNvPicPr preferRelativeResize="0"/>
          <p:nvPr/>
        </p:nvPicPr>
        <p:blipFill rotWithShape="1">
          <a:blip r:embed="rId3">
            <a:alphaModFix/>
          </a:blip>
          <a:srcRect b="46006" l="6239" r="80041" t="7148"/>
          <a:stretch/>
        </p:blipFill>
        <p:spPr>
          <a:xfrm>
            <a:off x="1248825" y="4136797"/>
            <a:ext cx="57014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41"/>
          <p:cNvSpPr txBox="1"/>
          <p:nvPr/>
        </p:nvSpPr>
        <p:spPr>
          <a:xfrm>
            <a:off x="1404750" y="4203151"/>
            <a:ext cx="25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B</a:t>
            </a:r>
            <a:endParaRPr sz="800"/>
          </a:p>
        </p:txBody>
      </p:sp>
      <p:sp>
        <p:nvSpPr>
          <p:cNvPr id="529" name="Google Shape;529;p41"/>
          <p:cNvSpPr/>
          <p:nvPr/>
        </p:nvSpPr>
        <p:spPr>
          <a:xfrm>
            <a:off x="4118250" y="2398796"/>
            <a:ext cx="570000" cy="44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Router</a:t>
            </a:r>
            <a:endParaRPr sz="1000"/>
          </a:p>
        </p:txBody>
      </p:sp>
      <p:sp>
        <p:nvSpPr>
          <p:cNvPr id="530" name="Google Shape;530;p41"/>
          <p:cNvSpPr/>
          <p:nvPr/>
        </p:nvSpPr>
        <p:spPr>
          <a:xfrm>
            <a:off x="6867300" y="2579646"/>
            <a:ext cx="570000" cy="44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Router</a:t>
            </a:r>
            <a:endParaRPr sz="1000"/>
          </a:p>
        </p:txBody>
      </p:sp>
      <p:sp>
        <p:nvSpPr>
          <p:cNvPr id="531" name="Google Shape;531;p41"/>
          <p:cNvSpPr/>
          <p:nvPr/>
        </p:nvSpPr>
        <p:spPr>
          <a:xfrm>
            <a:off x="4191575" y="3263246"/>
            <a:ext cx="570000" cy="44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Router</a:t>
            </a:r>
            <a:endParaRPr sz="1000"/>
          </a:p>
        </p:txBody>
      </p:sp>
      <p:sp>
        <p:nvSpPr>
          <p:cNvPr id="532" name="Google Shape;532;p41"/>
          <p:cNvSpPr/>
          <p:nvPr/>
        </p:nvSpPr>
        <p:spPr>
          <a:xfrm>
            <a:off x="2284700" y="4087046"/>
            <a:ext cx="570000" cy="44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Router</a:t>
            </a:r>
            <a:endParaRPr sz="1000"/>
          </a:p>
        </p:txBody>
      </p:sp>
      <p:sp>
        <p:nvSpPr>
          <p:cNvPr id="533" name="Google Shape;533;p41"/>
          <p:cNvSpPr/>
          <p:nvPr/>
        </p:nvSpPr>
        <p:spPr>
          <a:xfrm>
            <a:off x="4078000" y="4488846"/>
            <a:ext cx="570000" cy="44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Router</a:t>
            </a:r>
            <a:endParaRPr sz="1000"/>
          </a:p>
        </p:txBody>
      </p:sp>
      <p:sp>
        <p:nvSpPr>
          <p:cNvPr id="534" name="Google Shape;534;p41"/>
          <p:cNvSpPr/>
          <p:nvPr/>
        </p:nvSpPr>
        <p:spPr>
          <a:xfrm>
            <a:off x="6297300" y="4287471"/>
            <a:ext cx="570000" cy="44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Router</a:t>
            </a:r>
            <a:endParaRPr sz="1000"/>
          </a:p>
        </p:txBody>
      </p:sp>
      <p:cxnSp>
        <p:nvCxnSpPr>
          <p:cNvPr id="535" name="Google Shape;535;p41"/>
          <p:cNvCxnSpPr>
            <a:stCxn id="518" idx="3"/>
            <a:endCxn id="520" idx="1"/>
          </p:cNvCxnSpPr>
          <p:nvPr/>
        </p:nvCxnSpPr>
        <p:spPr>
          <a:xfrm>
            <a:off x="1550815" y="2201947"/>
            <a:ext cx="686400" cy="467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41"/>
          <p:cNvCxnSpPr>
            <a:stCxn id="520" idx="2"/>
            <a:endCxn id="532" idx="0"/>
          </p:cNvCxnSpPr>
          <p:nvPr/>
        </p:nvCxnSpPr>
        <p:spPr>
          <a:xfrm>
            <a:off x="2522125" y="2893196"/>
            <a:ext cx="47700" cy="1194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" name="Google Shape;537;p41"/>
          <p:cNvCxnSpPr>
            <a:stCxn id="527" idx="3"/>
            <a:endCxn id="532" idx="1"/>
          </p:cNvCxnSpPr>
          <p:nvPr/>
        </p:nvCxnSpPr>
        <p:spPr>
          <a:xfrm flipH="1" rot="10800000">
            <a:off x="1818965" y="4310947"/>
            <a:ext cx="465600" cy="112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8" name="Google Shape;538;p41"/>
          <p:cNvCxnSpPr>
            <a:stCxn id="520" idx="3"/>
            <a:endCxn id="529" idx="1"/>
          </p:cNvCxnSpPr>
          <p:nvPr/>
        </p:nvCxnSpPr>
        <p:spPr>
          <a:xfrm flipH="1" rot="10800000">
            <a:off x="2807125" y="2622596"/>
            <a:ext cx="1311000" cy="46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" name="Google Shape;539;p41"/>
          <p:cNvCxnSpPr>
            <a:stCxn id="520" idx="3"/>
            <a:endCxn id="531" idx="1"/>
          </p:cNvCxnSpPr>
          <p:nvPr/>
        </p:nvCxnSpPr>
        <p:spPr>
          <a:xfrm>
            <a:off x="2807125" y="2669396"/>
            <a:ext cx="1384500" cy="81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" name="Google Shape;540;p41"/>
          <p:cNvCxnSpPr>
            <a:stCxn id="532" idx="3"/>
            <a:endCxn id="531" idx="1"/>
          </p:cNvCxnSpPr>
          <p:nvPr/>
        </p:nvCxnSpPr>
        <p:spPr>
          <a:xfrm flipH="1" rot="10800000">
            <a:off x="2854700" y="3487046"/>
            <a:ext cx="1336800" cy="823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" name="Google Shape;541;p41"/>
          <p:cNvCxnSpPr>
            <a:stCxn id="532" idx="3"/>
            <a:endCxn id="533" idx="1"/>
          </p:cNvCxnSpPr>
          <p:nvPr/>
        </p:nvCxnSpPr>
        <p:spPr>
          <a:xfrm>
            <a:off x="2854700" y="4310846"/>
            <a:ext cx="1223400" cy="401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2" name="Google Shape;542;p41"/>
          <p:cNvCxnSpPr>
            <a:stCxn id="533" idx="3"/>
            <a:endCxn id="534" idx="1"/>
          </p:cNvCxnSpPr>
          <p:nvPr/>
        </p:nvCxnSpPr>
        <p:spPr>
          <a:xfrm flipH="1" rot="10800000">
            <a:off x="4648000" y="4511346"/>
            <a:ext cx="1649400" cy="20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3" name="Google Shape;543;p41"/>
          <p:cNvCxnSpPr>
            <a:endCxn id="530" idx="1"/>
          </p:cNvCxnSpPr>
          <p:nvPr/>
        </p:nvCxnSpPr>
        <p:spPr>
          <a:xfrm flipH="1" rot="10800000">
            <a:off x="4761600" y="2803446"/>
            <a:ext cx="2105700" cy="683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" name="Google Shape;544;p41"/>
          <p:cNvCxnSpPr>
            <a:stCxn id="529" idx="3"/>
            <a:endCxn id="530" idx="1"/>
          </p:cNvCxnSpPr>
          <p:nvPr/>
        </p:nvCxnSpPr>
        <p:spPr>
          <a:xfrm>
            <a:off x="4688250" y="2622596"/>
            <a:ext cx="2179200" cy="180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" name="Google Shape;545;p41"/>
          <p:cNvCxnSpPr>
            <a:endCxn id="530" idx="2"/>
          </p:cNvCxnSpPr>
          <p:nvPr/>
        </p:nvCxnSpPr>
        <p:spPr>
          <a:xfrm flipH="1" rot="10800000">
            <a:off x="6582300" y="3027246"/>
            <a:ext cx="570000" cy="1260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41"/>
          <p:cNvCxnSpPr>
            <a:stCxn id="529" idx="0"/>
            <a:endCxn id="521" idx="2"/>
          </p:cNvCxnSpPr>
          <p:nvPr/>
        </p:nvCxnSpPr>
        <p:spPr>
          <a:xfrm rot="10800000">
            <a:off x="4320750" y="1982096"/>
            <a:ext cx="82500" cy="416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41"/>
          <p:cNvCxnSpPr>
            <a:stCxn id="530" idx="3"/>
            <a:endCxn id="523" idx="1"/>
          </p:cNvCxnSpPr>
          <p:nvPr/>
        </p:nvCxnSpPr>
        <p:spPr>
          <a:xfrm flipH="1" rot="10800000">
            <a:off x="7437300" y="2408346"/>
            <a:ext cx="610500" cy="395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" name="Google Shape;548;p41"/>
          <p:cNvCxnSpPr>
            <a:stCxn id="534" idx="3"/>
            <a:endCxn id="525" idx="1"/>
          </p:cNvCxnSpPr>
          <p:nvPr/>
        </p:nvCxnSpPr>
        <p:spPr>
          <a:xfrm flipH="1" rot="10800000">
            <a:off x="6867300" y="4291971"/>
            <a:ext cx="610500" cy="219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9" name="Google Shape;549;p41"/>
          <p:cNvSpPr txBox="1"/>
          <p:nvPr/>
        </p:nvSpPr>
        <p:spPr>
          <a:xfrm>
            <a:off x="7437300" y="1418550"/>
            <a:ext cx="11013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Source</a:t>
            </a:r>
            <a:r>
              <a:rPr lang="en" sz="800"/>
              <a:t>: A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Destination</a:t>
            </a:r>
            <a:r>
              <a:rPr lang="en" sz="800"/>
              <a:t>: D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“Hello, this is A…”</a:t>
            </a:r>
            <a:endParaRPr sz="800"/>
          </a:p>
        </p:txBody>
      </p:sp>
      <p:sp>
        <p:nvSpPr>
          <p:cNvPr id="550" name="Google Shape;550;p41"/>
          <p:cNvSpPr/>
          <p:nvPr/>
        </p:nvSpPr>
        <p:spPr>
          <a:xfrm>
            <a:off x="1584950" y="2476500"/>
            <a:ext cx="6431300" cy="1220100"/>
          </a:xfrm>
          <a:custGeom>
            <a:rect b="b" l="l" r="r" t="t"/>
            <a:pathLst>
              <a:path extrusionOk="0" h="48804" w="257252">
                <a:moveTo>
                  <a:pt x="0" y="610"/>
                </a:moveTo>
                <a:cubicBezTo>
                  <a:pt x="6198" y="3404"/>
                  <a:pt x="17831" y="9348"/>
                  <a:pt x="37186" y="17374"/>
                </a:cubicBezTo>
                <a:cubicBezTo>
                  <a:pt x="56541" y="25400"/>
                  <a:pt x="85192" y="47803"/>
                  <a:pt x="116129" y="48768"/>
                </a:cubicBezTo>
                <a:cubicBezTo>
                  <a:pt x="147066" y="49733"/>
                  <a:pt x="199289" y="31293"/>
                  <a:pt x="222809" y="23165"/>
                </a:cubicBezTo>
                <a:cubicBezTo>
                  <a:pt x="246330" y="15037"/>
                  <a:pt x="251512" y="3861"/>
                  <a:pt x="257252" y="0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51" name="Google Shape;551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2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3: Network Layer</a:t>
            </a:r>
            <a:endParaRPr/>
          </a:p>
        </p:txBody>
      </p:sp>
      <p:pic>
        <p:nvPicPr>
          <p:cNvPr id="557" name="Google Shape;557;p42"/>
          <p:cNvPicPr preferRelativeResize="0"/>
          <p:nvPr/>
        </p:nvPicPr>
        <p:blipFill rotWithShape="1">
          <a:blip r:embed="rId3">
            <a:alphaModFix/>
          </a:blip>
          <a:srcRect b="46006" l="6239" r="80041" t="7148"/>
          <a:stretch/>
        </p:blipFill>
        <p:spPr>
          <a:xfrm>
            <a:off x="980675" y="1915597"/>
            <a:ext cx="57014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42"/>
          <p:cNvSpPr txBox="1"/>
          <p:nvPr/>
        </p:nvSpPr>
        <p:spPr>
          <a:xfrm>
            <a:off x="1136600" y="1981951"/>
            <a:ext cx="25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</a:t>
            </a:r>
            <a:endParaRPr sz="800"/>
          </a:p>
        </p:txBody>
      </p:sp>
      <p:sp>
        <p:nvSpPr>
          <p:cNvPr id="559" name="Google Shape;559;p42"/>
          <p:cNvSpPr/>
          <p:nvPr/>
        </p:nvSpPr>
        <p:spPr>
          <a:xfrm>
            <a:off x="2237125" y="2445596"/>
            <a:ext cx="570000" cy="44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Router</a:t>
            </a:r>
            <a:endParaRPr sz="1000"/>
          </a:p>
        </p:txBody>
      </p:sp>
      <p:pic>
        <p:nvPicPr>
          <p:cNvPr id="560" name="Google Shape;560;p42"/>
          <p:cNvPicPr preferRelativeResize="0"/>
          <p:nvPr/>
        </p:nvPicPr>
        <p:blipFill rotWithShape="1">
          <a:blip r:embed="rId3">
            <a:alphaModFix/>
          </a:blip>
          <a:srcRect b="46006" l="6239" r="80041" t="7148"/>
          <a:stretch/>
        </p:blipFill>
        <p:spPr>
          <a:xfrm>
            <a:off x="4035650" y="1409247"/>
            <a:ext cx="57014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42"/>
          <p:cNvSpPr txBox="1"/>
          <p:nvPr/>
        </p:nvSpPr>
        <p:spPr>
          <a:xfrm>
            <a:off x="4191575" y="1475601"/>
            <a:ext cx="25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C</a:t>
            </a:r>
            <a:endParaRPr sz="800"/>
          </a:p>
        </p:txBody>
      </p:sp>
      <p:pic>
        <p:nvPicPr>
          <p:cNvPr id="562" name="Google Shape;562;p42"/>
          <p:cNvPicPr preferRelativeResize="0"/>
          <p:nvPr/>
        </p:nvPicPr>
        <p:blipFill rotWithShape="1">
          <a:blip r:embed="rId3">
            <a:alphaModFix/>
          </a:blip>
          <a:srcRect b="46006" l="6239" r="80041" t="7148"/>
          <a:stretch/>
        </p:blipFill>
        <p:spPr>
          <a:xfrm>
            <a:off x="8047925" y="2121897"/>
            <a:ext cx="57014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42"/>
          <p:cNvSpPr txBox="1"/>
          <p:nvPr/>
        </p:nvSpPr>
        <p:spPr>
          <a:xfrm>
            <a:off x="8203850" y="2188251"/>
            <a:ext cx="25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D</a:t>
            </a:r>
            <a:endParaRPr sz="800"/>
          </a:p>
        </p:txBody>
      </p:sp>
      <p:pic>
        <p:nvPicPr>
          <p:cNvPr id="564" name="Google Shape;564;p42"/>
          <p:cNvPicPr preferRelativeResize="0"/>
          <p:nvPr/>
        </p:nvPicPr>
        <p:blipFill rotWithShape="1">
          <a:blip r:embed="rId3">
            <a:alphaModFix/>
          </a:blip>
          <a:srcRect b="46006" l="6239" r="80041" t="7148"/>
          <a:stretch/>
        </p:blipFill>
        <p:spPr>
          <a:xfrm>
            <a:off x="7477775" y="4005722"/>
            <a:ext cx="57014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2"/>
          <p:cNvSpPr txBox="1"/>
          <p:nvPr/>
        </p:nvSpPr>
        <p:spPr>
          <a:xfrm>
            <a:off x="7633700" y="4072076"/>
            <a:ext cx="25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E</a:t>
            </a:r>
            <a:endParaRPr sz="800"/>
          </a:p>
        </p:txBody>
      </p:sp>
      <p:pic>
        <p:nvPicPr>
          <p:cNvPr id="566" name="Google Shape;566;p42"/>
          <p:cNvPicPr preferRelativeResize="0"/>
          <p:nvPr/>
        </p:nvPicPr>
        <p:blipFill rotWithShape="1">
          <a:blip r:embed="rId3">
            <a:alphaModFix/>
          </a:blip>
          <a:srcRect b="46006" l="6239" r="80041" t="7148"/>
          <a:stretch/>
        </p:blipFill>
        <p:spPr>
          <a:xfrm>
            <a:off x="1248825" y="4136797"/>
            <a:ext cx="57014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42"/>
          <p:cNvSpPr txBox="1"/>
          <p:nvPr/>
        </p:nvSpPr>
        <p:spPr>
          <a:xfrm>
            <a:off x="1404750" y="4203151"/>
            <a:ext cx="25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B</a:t>
            </a:r>
            <a:endParaRPr sz="800"/>
          </a:p>
        </p:txBody>
      </p:sp>
      <p:sp>
        <p:nvSpPr>
          <p:cNvPr id="568" name="Google Shape;568;p42"/>
          <p:cNvSpPr/>
          <p:nvPr/>
        </p:nvSpPr>
        <p:spPr>
          <a:xfrm>
            <a:off x="4118250" y="2398796"/>
            <a:ext cx="570000" cy="44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Router</a:t>
            </a:r>
            <a:endParaRPr sz="1000"/>
          </a:p>
        </p:txBody>
      </p:sp>
      <p:sp>
        <p:nvSpPr>
          <p:cNvPr id="569" name="Google Shape;569;p42"/>
          <p:cNvSpPr/>
          <p:nvPr/>
        </p:nvSpPr>
        <p:spPr>
          <a:xfrm>
            <a:off x="6867300" y="2579646"/>
            <a:ext cx="570000" cy="44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Router</a:t>
            </a:r>
            <a:endParaRPr sz="1000"/>
          </a:p>
        </p:txBody>
      </p:sp>
      <p:sp>
        <p:nvSpPr>
          <p:cNvPr id="570" name="Google Shape;570;p42"/>
          <p:cNvSpPr/>
          <p:nvPr/>
        </p:nvSpPr>
        <p:spPr>
          <a:xfrm>
            <a:off x="4191575" y="3263246"/>
            <a:ext cx="570000" cy="44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Router</a:t>
            </a:r>
            <a:endParaRPr sz="1000"/>
          </a:p>
        </p:txBody>
      </p:sp>
      <p:sp>
        <p:nvSpPr>
          <p:cNvPr id="571" name="Google Shape;571;p42"/>
          <p:cNvSpPr/>
          <p:nvPr/>
        </p:nvSpPr>
        <p:spPr>
          <a:xfrm>
            <a:off x="2284700" y="4087046"/>
            <a:ext cx="570000" cy="44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Router</a:t>
            </a:r>
            <a:endParaRPr sz="1000"/>
          </a:p>
        </p:txBody>
      </p:sp>
      <p:sp>
        <p:nvSpPr>
          <p:cNvPr id="572" name="Google Shape;572;p42"/>
          <p:cNvSpPr/>
          <p:nvPr/>
        </p:nvSpPr>
        <p:spPr>
          <a:xfrm>
            <a:off x="4078000" y="4488846"/>
            <a:ext cx="570000" cy="44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Router</a:t>
            </a:r>
            <a:endParaRPr sz="1000"/>
          </a:p>
        </p:txBody>
      </p:sp>
      <p:sp>
        <p:nvSpPr>
          <p:cNvPr id="573" name="Google Shape;573;p42"/>
          <p:cNvSpPr/>
          <p:nvPr/>
        </p:nvSpPr>
        <p:spPr>
          <a:xfrm>
            <a:off x="6297300" y="4287471"/>
            <a:ext cx="570000" cy="44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Router</a:t>
            </a:r>
            <a:endParaRPr sz="1000"/>
          </a:p>
        </p:txBody>
      </p:sp>
      <p:cxnSp>
        <p:nvCxnSpPr>
          <p:cNvPr id="574" name="Google Shape;574;p42"/>
          <p:cNvCxnSpPr>
            <a:stCxn id="557" idx="3"/>
            <a:endCxn id="559" idx="1"/>
          </p:cNvCxnSpPr>
          <p:nvPr/>
        </p:nvCxnSpPr>
        <p:spPr>
          <a:xfrm>
            <a:off x="1550815" y="2201947"/>
            <a:ext cx="686400" cy="4674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75" name="Google Shape;575;p42"/>
          <p:cNvCxnSpPr>
            <a:stCxn id="559" idx="2"/>
            <a:endCxn id="571" idx="0"/>
          </p:cNvCxnSpPr>
          <p:nvPr/>
        </p:nvCxnSpPr>
        <p:spPr>
          <a:xfrm>
            <a:off x="2522125" y="2893196"/>
            <a:ext cx="47700" cy="1194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6" name="Google Shape;576;p42"/>
          <p:cNvCxnSpPr>
            <a:stCxn id="566" idx="3"/>
            <a:endCxn id="571" idx="1"/>
          </p:cNvCxnSpPr>
          <p:nvPr/>
        </p:nvCxnSpPr>
        <p:spPr>
          <a:xfrm flipH="1" rot="10800000">
            <a:off x="1818965" y="4310947"/>
            <a:ext cx="465600" cy="112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" name="Google Shape;577;p42"/>
          <p:cNvCxnSpPr>
            <a:stCxn id="559" idx="3"/>
            <a:endCxn id="568" idx="1"/>
          </p:cNvCxnSpPr>
          <p:nvPr/>
        </p:nvCxnSpPr>
        <p:spPr>
          <a:xfrm flipH="1" rot="10800000">
            <a:off x="2807125" y="2622596"/>
            <a:ext cx="1311000" cy="46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" name="Google Shape;578;p42"/>
          <p:cNvCxnSpPr>
            <a:stCxn id="559" idx="3"/>
            <a:endCxn id="570" idx="1"/>
          </p:cNvCxnSpPr>
          <p:nvPr/>
        </p:nvCxnSpPr>
        <p:spPr>
          <a:xfrm>
            <a:off x="2807125" y="2669396"/>
            <a:ext cx="1384500" cy="8178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42"/>
          <p:cNvCxnSpPr>
            <a:stCxn id="571" idx="3"/>
            <a:endCxn id="570" idx="1"/>
          </p:cNvCxnSpPr>
          <p:nvPr/>
        </p:nvCxnSpPr>
        <p:spPr>
          <a:xfrm flipH="1" rot="10800000">
            <a:off x="2854700" y="3487046"/>
            <a:ext cx="1336800" cy="823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" name="Google Shape;580;p42"/>
          <p:cNvCxnSpPr>
            <a:stCxn id="571" idx="3"/>
            <a:endCxn id="572" idx="1"/>
          </p:cNvCxnSpPr>
          <p:nvPr/>
        </p:nvCxnSpPr>
        <p:spPr>
          <a:xfrm>
            <a:off x="2854700" y="4310846"/>
            <a:ext cx="1223400" cy="401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" name="Google Shape;581;p42"/>
          <p:cNvCxnSpPr>
            <a:stCxn id="572" idx="3"/>
            <a:endCxn id="573" idx="1"/>
          </p:cNvCxnSpPr>
          <p:nvPr/>
        </p:nvCxnSpPr>
        <p:spPr>
          <a:xfrm flipH="1" rot="10800000">
            <a:off x="4648000" y="4511346"/>
            <a:ext cx="1649400" cy="20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2" name="Google Shape;582;p42"/>
          <p:cNvCxnSpPr>
            <a:endCxn id="569" idx="1"/>
          </p:cNvCxnSpPr>
          <p:nvPr/>
        </p:nvCxnSpPr>
        <p:spPr>
          <a:xfrm flipH="1" rot="10800000">
            <a:off x="4761600" y="2803446"/>
            <a:ext cx="2105700" cy="683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" name="Google Shape;583;p42"/>
          <p:cNvCxnSpPr>
            <a:stCxn id="568" idx="3"/>
            <a:endCxn id="569" idx="1"/>
          </p:cNvCxnSpPr>
          <p:nvPr/>
        </p:nvCxnSpPr>
        <p:spPr>
          <a:xfrm>
            <a:off x="4688250" y="2622596"/>
            <a:ext cx="2179200" cy="180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42"/>
          <p:cNvCxnSpPr>
            <a:endCxn id="569" idx="2"/>
          </p:cNvCxnSpPr>
          <p:nvPr/>
        </p:nvCxnSpPr>
        <p:spPr>
          <a:xfrm flipH="1" rot="10800000">
            <a:off x="6582300" y="3027246"/>
            <a:ext cx="570000" cy="1260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42"/>
          <p:cNvCxnSpPr>
            <a:stCxn id="568" idx="0"/>
            <a:endCxn id="560" idx="2"/>
          </p:cNvCxnSpPr>
          <p:nvPr/>
        </p:nvCxnSpPr>
        <p:spPr>
          <a:xfrm rot="10800000">
            <a:off x="4320750" y="1982096"/>
            <a:ext cx="82500" cy="416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" name="Google Shape;586;p42"/>
          <p:cNvCxnSpPr>
            <a:stCxn id="569" idx="3"/>
            <a:endCxn id="562" idx="1"/>
          </p:cNvCxnSpPr>
          <p:nvPr/>
        </p:nvCxnSpPr>
        <p:spPr>
          <a:xfrm flipH="1" rot="10800000">
            <a:off x="7437300" y="2408346"/>
            <a:ext cx="610500" cy="395100"/>
          </a:xfrm>
          <a:prstGeom prst="straightConnector1">
            <a:avLst/>
          </a:prstGeom>
          <a:noFill/>
          <a:ln cap="flat" cmpd="sng" w="38100">
            <a:solidFill>
              <a:srgbClr val="674EA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7" name="Google Shape;587;p42"/>
          <p:cNvCxnSpPr>
            <a:stCxn id="573" idx="3"/>
            <a:endCxn id="564" idx="1"/>
          </p:cNvCxnSpPr>
          <p:nvPr/>
        </p:nvCxnSpPr>
        <p:spPr>
          <a:xfrm flipH="1" rot="10800000">
            <a:off x="6867300" y="4291971"/>
            <a:ext cx="610500" cy="219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8" name="Google Shape;588;p42"/>
          <p:cNvSpPr txBox="1"/>
          <p:nvPr/>
        </p:nvSpPr>
        <p:spPr>
          <a:xfrm>
            <a:off x="7437300" y="1418550"/>
            <a:ext cx="11013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Source</a:t>
            </a:r>
            <a:r>
              <a:rPr lang="en" sz="800"/>
              <a:t>: A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Destination</a:t>
            </a:r>
            <a:r>
              <a:rPr lang="en" sz="800"/>
              <a:t>: D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“Hello, this is A…”</a:t>
            </a:r>
            <a:endParaRPr sz="800"/>
          </a:p>
        </p:txBody>
      </p:sp>
      <p:sp>
        <p:nvSpPr>
          <p:cNvPr id="589" name="Google Shape;589;p42"/>
          <p:cNvSpPr/>
          <p:nvPr/>
        </p:nvSpPr>
        <p:spPr>
          <a:xfrm>
            <a:off x="1584950" y="2476500"/>
            <a:ext cx="6431300" cy="1220100"/>
          </a:xfrm>
          <a:custGeom>
            <a:rect b="b" l="l" r="r" t="t"/>
            <a:pathLst>
              <a:path extrusionOk="0" h="48804" w="257252">
                <a:moveTo>
                  <a:pt x="0" y="610"/>
                </a:moveTo>
                <a:cubicBezTo>
                  <a:pt x="6198" y="3404"/>
                  <a:pt x="17831" y="9348"/>
                  <a:pt x="37186" y="17374"/>
                </a:cubicBezTo>
                <a:cubicBezTo>
                  <a:pt x="56541" y="25400"/>
                  <a:pt x="85192" y="47803"/>
                  <a:pt x="116129" y="48768"/>
                </a:cubicBezTo>
                <a:cubicBezTo>
                  <a:pt x="147066" y="49733"/>
                  <a:pt x="199289" y="31293"/>
                  <a:pt x="222809" y="23165"/>
                </a:cubicBezTo>
                <a:cubicBezTo>
                  <a:pt x="246330" y="15037"/>
                  <a:pt x="251512" y="3861"/>
                  <a:pt x="257252" y="0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590" name="Google Shape;590;p42"/>
          <p:cNvGrpSpPr/>
          <p:nvPr/>
        </p:nvGrpSpPr>
        <p:grpSpPr>
          <a:xfrm>
            <a:off x="1914675" y="1379225"/>
            <a:ext cx="2040300" cy="998100"/>
            <a:chOff x="1914675" y="1379225"/>
            <a:chExt cx="2040300" cy="998100"/>
          </a:xfrm>
        </p:grpSpPr>
        <p:sp>
          <p:nvSpPr>
            <p:cNvPr id="591" name="Google Shape;591;p42"/>
            <p:cNvSpPr txBox="1"/>
            <p:nvPr/>
          </p:nvSpPr>
          <p:spPr>
            <a:xfrm>
              <a:off x="1914675" y="1379225"/>
              <a:ext cx="2040300" cy="400200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This link could be Wi-Fi</a:t>
              </a:r>
              <a:endParaRPr/>
            </a:p>
          </p:txBody>
        </p:sp>
        <p:cxnSp>
          <p:nvCxnSpPr>
            <p:cNvPr id="592" name="Google Shape;592;p42"/>
            <p:cNvCxnSpPr>
              <a:stCxn id="591" idx="2"/>
            </p:cNvCxnSpPr>
            <p:nvPr/>
          </p:nvCxnSpPr>
          <p:spPr>
            <a:xfrm flipH="1">
              <a:off x="1943025" y="1779425"/>
              <a:ext cx="991800" cy="597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93" name="Google Shape;593;p42"/>
          <p:cNvGrpSpPr/>
          <p:nvPr/>
        </p:nvGrpSpPr>
        <p:grpSpPr>
          <a:xfrm>
            <a:off x="5001400" y="1582913"/>
            <a:ext cx="2040300" cy="1543200"/>
            <a:chOff x="5001400" y="1582913"/>
            <a:chExt cx="2040300" cy="1543200"/>
          </a:xfrm>
        </p:grpSpPr>
        <p:sp>
          <p:nvSpPr>
            <p:cNvPr id="594" name="Google Shape;594;p42"/>
            <p:cNvSpPr txBox="1"/>
            <p:nvPr/>
          </p:nvSpPr>
          <p:spPr>
            <a:xfrm>
              <a:off x="5001400" y="1582913"/>
              <a:ext cx="2040300" cy="615600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And this link could be Ethernet</a:t>
              </a:r>
              <a:endParaRPr/>
            </a:p>
          </p:txBody>
        </p:sp>
        <p:cxnSp>
          <p:nvCxnSpPr>
            <p:cNvPr id="595" name="Google Shape;595;p42"/>
            <p:cNvCxnSpPr>
              <a:stCxn id="594" idx="2"/>
            </p:cNvCxnSpPr>
            <p:nvPr/>
          </p:nvCxnSpPr>
          <p:spPr>
            <a:xfrm flipH="1">
              <a:off x="5760850" y="2198513"/>
              <a:ext cx="260700" cy="92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96" name="Google Shape;596;p42"/>
          <p:cNvGrpSpPr/>
          <p:nvPr/>
        </p:nvGrpSpPr>
        <p:grpSpPr>
          <a:xfrm>
            <a:off x="48400" y="3128450"/>
            <a:ext cx="3210300" cy="615600"/>
            <a:chOff x="48400" y="3128450"/>
            <a:chExt cx="3210300" cy="615600"/>
          </a:xfrm>
        </p:grpSpPr>
        <p:sp>
          <p:nvSpPr>
            <p:cNvPr id="597" name="Google Shape;597;p42"/>
            <p:cNvSpPr txBox="1"/>
            <p:nvPr/>
          </p:nvSpPr>
          <p:spPr>
            <a:xfrm>
              <a:off x="48400" y="3128450"/>
              <a:ext cx="2367000" cy="615600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But the Internet protocol stays the same, end to end</a:t>
              </a:r>
              <a:endParaRPr/>
            </a:p>
          </p:txBody>
        </p:sp>
        <p:cxnSp>
          <p:nvCxnSpPr>
            <p:cNvPr id="598" name="Google Shape;598;p42"/>
            <p:cNvCxnSpPr>
              <a:stCxn id="597" idx="3"/>
            </p:cNvCxnSpPr>
            <p:nvPr/>
          </p:nvCxnSpPr>
          <p:spPr>
            <a:xfrm flipH="1" rot="10800000">
              <a:off x="2415400" y="3337550"/>
              <a:ext cx="843300" cy="9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599" name="Google Shape;599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3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3: Network Layer</a:t>
            </a:r>
            <a:endParaRPr/>
          </a:p>
        </p:txBody>
      </p:sp>
      <p:sp>
        <p:nvSpPr>
          <p:cNvPr id="605" name="Google Shape;605;p43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Packets </a:t>
            </a:r>
            <a:r>
              <a:rPr lang="en"/>
              <a:t>must consist of at least 3 things: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Source (“Who is this message coming from?”)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Destination (“Who is this message going to?”)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Data (“What does this message say?”)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Similar to frames (layer 2)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Packets may be fragmented into smaller packets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Different links might support different maximum packet sizes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Up to the recipient to reassemble fragments into the original packet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router forwards a given packet to the next hop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will cover how a router knows how to forward—and attacks on it—in the future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Packets are not guaranteed to take a given route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packets with the same source and destination may take different routes</a:t>
            </a:r>
            <a:endParaRPr/>
          </a:p>
        </p:txBody>
      </p:sp>
      <p:sp>
        <p:nvSpPr>
          <p:cNvPr id="606" name="Google Shape;606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4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Internet Protocol (IP)</a:t>
            </a:r>
            <a:endParaRPr/>
          </a:p>
        </p:txBody>
      </p:sp>
      <p:sp>
        <p:nvSpPr>
          <p:cNvPr id="612" name="Google Shape;612;p44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Internet Protocol (IP)</a:t>
            </a:r>
            <a:r>
              <a:rPr lang="en"/>
              <a:t>: The universal layer-3 protocol that all devices use to </a:t>
            </a:r>
            <a:r>
              <a:rPr lang="en"/>
              <a:t>transmit</a:t>
            </a:r>
            <a:r>
              <a:rPr lang="en"/>
              <a:t> data over the Internet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IP address</a:t>
            </a:r>
            <a:r>
              <a:rPr lang="en"/>
              <a:t>: An address that identifies a device on the Internet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IPv4 is 32 bits, typically written as 4 decimal octets, e.g. </a:t>
            </a:r>
            <a:r>
              <a:rPr b="1" lang="en"/>
              <a:t>35.163.72.93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IPv6 is 128 bits, typically written as 8 groups of 2 hex bytes: </a:t>
            </a:r>
            <a:r>
              <a:rPr b="1" lang="en"/>
              <a:t>2607:f140:8801::1:23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digits or </a:t>
            </a:r>
            <a:r>
              <a:rPr lang="en"/>
              <a:t>groups are missing, fill with 0’s, so </a:t>
            </a:r>
            <a:r>
              <a:rPr b="1" lang="en"/>
              <a:t>2607:f140:8801:0000:0000:0000:0001:0023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Globally unique from any single perspective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For now, you can think of them as just being </a:t>
            </a:r>
            <a:r>
              <a:rPr lang="en"/>
              <a:t>globally</a:t>
            </a:r>
            <a:r>
              <a:rPr lang="en"/>
              <a:t> unique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IP addresses help nodes make decisions on where to forward the packet</a:t>
            </a:r>
            <a:endParaRPr/>
          </a:p>
        </p:txBody>
      </p:sp>
      <p:sp>
        <p:nvSpPr>
          <p:cNvPr id="613" name="Google Shape;613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5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Reliability</a:t>
            </a:r>
            <a:endParaRPr/>
          </a:p>
        </p:txBody>
      </p:sp>
      <p:sp>
        <p:nvSpPr>
          <p:cNvPr id="619" name="Google Shape;619;p45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Reliability</a:t>
            </a:r>
            <a:r>
              <a:rPr lang="en"/>
              <a:t> ensures that packets are </a:t>
            </a:r>
            <a:r>
              <a:rPr lang="en"/>
              <a:t>received</a:t>
            </a:r>
            <a:r>
              <a:rPr lang="en"/>
              <a:t> correctly or, if random errors occur, not at all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implemented with a checksum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However, there is no cryptographic MAC, so there are no guarantees if an attacker modifies packets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IP is </a:t>
            </a:r>
            <a:r>
              <a:rPr i="1" lang="en"/>
              <a:t>unreliable</a:t>
            </a:r>
            <a:r>
              <a:rPr lang="en"/>
              <a:t> and only provides a </a:t>
            </a:r>
            <a:r>
              <a:rPr b="1" lang="en"/>
              <a:t>best effort</a:t>
            </a:r>
            <a:r>
              <a:rPr lang="en"/>
              <a:t> delivery service, which means: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Packets may be lost (“dropped”)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Packets may be corrupted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Packets may be delivered out of order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up to higher level protocols to ensure that the connection is reliable</a:t>
            </a:r>
            <a:endParaRPr/>
          </a:p>
        </p:txBody>
      </p:sp>
      <p:sp>
        <p:nvSpPr>
          <p:cNvPr id="620" name="Google Shape;620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6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3: Network Layer</a:t>
            </a:r>
            <a:endParaRPr/>
          </a:p>
        </p:txBody>
      </p:sp>
      <p:pic>
        <p:nvPicPr>
          <p:cNvPr id="626" name="Google Shape;626;p46"/>
          <p:cNvPicPr preferRelativeResize="0"/>
          <p:nvPr/>
        </p:nvPicPr>
        <p:blipFill rotWithShape="1">
          <a:blip r:embed="rId3">
            <a:alphaModFix/>
          </a:blip>
          <a:srcRect b="46006" l="6239" r="80041" t="7148"/>
          <a:stretch/>
        </p:blipFill>
        <p:spPr>
          <a:xfrm>
            <a:off x="980675" y="1915597"/>
            <a:ext cx="57014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46"/>
          <p:cNvSpPr txBox="1"/>
          <p:nvPr/>
        </p:nvSpPr>
        <p:spPr>
          <a:xfrm>
            <a:off x="1136600" y="1981951"/>
            <a:ext cx="25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</a:t>
            </a:r>
            <a:endParaRPr sz="800"/>
          </a:p>
        </p:txBody>
      </p:sp>
      <p:sp>
        <p:nvSpPr>
          <p:cNvPr id="628" name="Google Shape;628;p46"/>
          <p:cNvSpPr/>
          <p:nvPr/>
        </p:nvSpPr>
        <p:spPr>
          <a:xfrm>
            <a:off x="2237125" y="2445596"/>
            <a:ext cx="570000" cy="44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Router</a:t>
            </a:r>
            <a:endParaRPr sz="1000"/>
          </a:p>
        </p:txBody>
      </p:sp>
      <p:pic>
        <p:nvPicPr>
          <p:cNvPr id="629" name="Google Shape;629;p46"/>
          <p:cNvPicPr preferRelativeResize="0"/>
          <p:nvPr/>
        </p:nvPicPr>
        <p:blipFill rotWithShape="1">
          <a:blip r:embed="rId3">
            <a:alphaModFix/>
          </a:blip>
          <a:srcRect b="46006" l="6239" r="80041" t="7148"/>
          <a:stretch/>
        </p:blipFill>
        <p:spPr>
          <a:xfrm>
            <a:off x="4035650" y="1409247"/>
            <a:ext cx="57014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6"/>
          <p:cNvSpPr txBox="1"/>
          <p:nvPr/>
        </p:nvSpPr>
        <p:spPr>
          <a:xfrm>
            <a:off x="4191575" y="1475601"/>
            <a:ext cx="25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C</a:t>
            </a:r>
            <a:endParaRPr sz="800"/>
          </a:p>
        </p:txBody>
      </p:sp>
      <p:pic>
        <p:nvPicPr>
          <p:cNvPr id="631" name="Google Shape;631;p46"/>
          <p:cNvPicPr preferRelativeResize="0"/>
          <p:nvPr/>
        </p:nvPicPr>
        <p:blipFill rotWithShape="1">
          <a:blip r:embed="rId3">
            <a:alphaModFix/>
          </a:blip>
          <a:srcRect b="46006" l="6239" r="80041" t="7148"/>
          <a:stretch/>
        </p:blipFill>
        <p:spPr>
          <a:xfrm>
            <a:off x="8047925" y="2121897"/>
            <a:ext cx="57014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6"/>
          <p:cNvSpPr txBox="1"/>
          <p:nvPr/>
        </p:nvSpPr>
        <p:spPr>
          <a:xfrm>
            <a:off x="8203850" y="2188251"/>
            <a:ext cx="25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D</a:t>
            </a:r>
            <a:endParaRPr sz="800"/>
          </a:p>
        </p:txBody>
      </p:sp>
      <p:pic>
        <p:nvPicPr>
          <p:cNvPr id="633" name="Google Shape;633;p46"/>
          <p:cNvPicPr preferRelativeResize="0"/>
          <p:nvPr/>
        </p:nvPicPr>
        <p:blipFill rotWithShape="1">
          <a:blip r:embed="rId3">
            <a:alphaModFix/>
          </a:blip>
          <a:srcRect b="46006" l="6239" r="80041" t="7148"/>
          <a:stretch/>
        </p:blipFill>
        <p:spPr>
          <a:xfrm>
            <a:off x="7477775" y="4005722"/>
            <a:ext cx="57014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46"/>
          <p:cNvSpPr txBox="1"/>
          <p:nvPr/>
        </p:nvSpPr>
        <p:spPr>
          <a:xfrm>
            <a:off x="7633700" y="4072076"/>
            <a:ext cx="25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E</a:t>
            </a:r>
            <a:endParaRPr sz="800"/>
          </a:p>
        </p:txBody>
      </p:sp>
      <p:pic>
        <p:nvPicPr>
          <p:cNvPr id="635" name="Google Shape;635;p46"/>
          <p:cNvPicPr preferRelativeResize="0"/>
          <p:nvPr/>
        </p:nvPicPr>
        <p:blipFill rotWithShape="1">
          <a:blip r:embed="rId3">
            <a:alphaModFix/>
          </a:blip>
          <a:srcRect b="46006" l="6239" r="80041" t="7148"/>
          <a:stretch/>
        </p:blipFill>
        <p:spPr>
          <a:xfrm>
            <a:off x="1248825" y="4136797"/>
            <a:ext cx="57014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 txBox="1"/>
          <p:nvPr/>
        </p:nvSpPr>
        <p:spPr>
          <a:xfrm>
            <a:off x="1404750" y="4203151"/>
            <a:ext cx="25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B</a:t>
            </a:r>
            <a:endParaRPr sz="800"/>
          </a:p>
        </p:txBody>
      </p:sp>
      <p:sp>
        <p:nvSpPr>
          <p:cNvPr id="637" name="Google Shape;637;p46"/>
          <p:cNvSpPr/>
          <p:nvPr/>
        </p:nvSpPr>
        <p:spPr>
          <a:xfrm>
            <a:off x="4118250" y="2398796"/>
            <a:ext cx="570000" cy="44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Router</a:t>
            </a:r>
            <a:endParaRPr sz="1000"/>
          </a:p>
        </p:txBody>
      </p:sp>
      <p:sp>
        <p:nvSpPr>
          <p:cNvPr id="638" name="Google Shape;638;p46"/>
          <p:cNvSpPr/>
          <p:nvPr/>
        </p:nvSpPr>
        <p:spPr>
          <a:xfrm>
            <a:off x="6867300" y="2579646"/>
            <a:ext cx="570000" cy="44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Router</a:t>
            </a:r>
            <a:endParaRPr sz="1000"/>
          </a:p>
        </p:txBody>
      </p:sp>
      <p:sp>
        <p:nvSpPr>
          <p:cNvPr id="639" name="Google Shape;639;p46"/>
          <p:cNvSpPr/>
          <p:nvPr/>
        </p:nvSpPr>
        <p:spPr>
          <a:xfrm>
            <a:off x="4191575" y="3263246"/>
            <a:ext cx="570000" cy="44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Router</a:t>
            </a:r>
            <a:endParaRPr sz="1000"/>
          </a:p>
        </p:txBody>
      </p:sp>
      <p:sp>
        <p:nvSpPr>
          <p:cNvPr id="640" name="Google Shape;640;p46"/>
          <p:cNvSpPr/>
          <p:nvPr/>
        </p:nvSpPr>
        <p:spPr>
          <a:xfrm>
            <a:off x="2284700" y="4087046"/>
            <a:ext cx="570000" cy="44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Router</a:t>
            </a:r>
            <a:endParaRPr sz="1000"/>
          </a:p>
        </p:txBody>
      </p:sp>
      <p:sp>
        <p:nvSpPr>
          <p:cNvPr id="641" name="Google Shape;641;p46"/>
          <p:cNvSpPr/>
          <p:nvPr/>
        </p:nvSpPr>
        <p:spPr>
          <a:xfrm>
            <a:off x="4078000" y="4488846"/>
            <a:ext cx="570000" cy="44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Router</a:t>
            </a:r>
            <a:endParaRPr sz="1000"/>
          </a:p>
        </p:txBody>
      </p:sp>
      <p:sp>
        <p:nvSpPr>
          <p:cNvPr id="642" name="Google Shape;642;p46"/>
          <p:cNvSpPr/>
          <p:nvPr/>
        </p:nvSpPr>
        <p:spPr>
          <a:xfrm>
            <a:off x="6297300" y="4287471"/>
            <a:ext cx="570000" cy="44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Router</a:t>
            </a:r>
            <a:endParaRPr sz="1000"/>
          </a:p>
        </p:txBody>
      </p:sp>
      <p:cxnSp>
        <p:nvCxnSpPr>
          <p:cNvPr id="643" name="Google Shape;643;p46"/>
          <p:cNvCxnSpPr>
            <a:stCxn id="626" idx="3"/>
            <a:endCxn id="628" idx="1"/>
          </p:cNvCxnSpPr>
          <p:nvPr/>
        </p:nvCxnSpPr>
        <p:spPr>
          <a:xfrm>
            <a:off x="1550815" y="2201947"/>
            <a:ext cx="686400" cy="467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" name="Google Shape;644;p46"/>
          <p:cNvCxnSpPr>
            <a:stCxn id="628" idx="2"/>
            <a:endCxn id="640" idx="0"/>
          </p:cNvCxnSpPr>
          <p:nvPr/>
        </p:nvCxnSpPr>
        <p:spPr>
          <a:xfrm>
            <a:off x="2522125" y="2893196"/>
            <a:ext cx="47700" cy="1194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46"/>
          <p:cNvCxnSpPr>
            <a:stCxn id="635" idx="3"/>
            <a:endCxn id="640" idx="1"/>
          </p:cNvCxnSpPr>
          <p:nvPr/>
        </p:nvCxnSpPr>
        <p:spPr>
          <a:xfrm flipH="1" rot="10800000">
            <a:off x="1818965" y="4310947"/>
            <a:ext cx="465600" cy="112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6" name="Google Shape;646;p46"/>
          <p:cNvCxnSpPr>
            <a:stCxn id="628" idx="3"/>
            <a:endCxn id="637" idx="1"/>
          </p:cNvCxnSpPr>
          <p:nvPr/>
        </p:nvCxnSpPr>
        <p:spPr>
          <a:xfrm flipH="1" rot="10800000">
            <a:off x="2807125" y="2622596"/>
            <a:ext cx="1311000" cy="46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7" name="Google Shape;647;p46"/>
          <p:cNvCxnSpPr>
            <a:stCxn id="628" idx="3"/>
            <a:endCxn id="639" idx="1"/>
          </p:cNvCxnSpPr>
          <p:nvPr/>
        </p:nvCxnSpPr>
        <p:spPr>
          <a:xfrm>
            <a:off x="2807125" y="2669396"/>
            <a:ext cx="1384500" cy="81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8" name="Google Shape;648;p46"/>
          <p:cNvCxnSpPr>
            <a:stCxn id="640" idx="3"/>
            <a:endCxn id="639" idx="1"/>
          </p:cNvCxnSpPr>
          <p:nvPr/>
        </p:nvCxnSpPr>
        <p:spPr>
          <a:xfrm flipH="1" rot="10800000">
            <a:off x="2854700" y="3487046"/>
            <a:ext cx="1336800" cy="823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9" name="Google Shape;649;p46"/>
          <p:cNvCxnSpPr>
            <a:stCxn id="640" idx="3"/>
            <a:endCxn id="641" idx="1"/>
          </p:cNvCxnSpPr>
          <p:nvPr/>
        </p:nvCxnSpPr>
        <p:spPr>
          <a:xfrm>
            <a:off x="2854700" y="4310846"/>
            <a:ext cx="1223400" cy="401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0" name="Google Shape;650;p46"/>
          <p:cNvCxnSpPr>
            <a:stCxn id="641" idx="3"/>
            <a:endCxn id="642" idx="1"/>
          </p:cNvCxnSpPr>
          <p:nvPr/>
        </p:nvCxnSpPr>
        <p:spPr>
          <a:xfrm flipH="1" rot="10800000">
            <a:off x="4648000" y="4511346"/>
            <a:ext cx="1649400" cy="20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" name="Google Shape;651;p46"/>
          <p:cNvCxnSpPr>
            <a:endCxn id="638" idx="1"/>
          </p:cNvCxnSpPr>
          <p:nvPr/>
        </p:nvCxnSpPr>
        <p:spPr>
          <a:xfrm flipH="1" rot="10800000">
            <a:off x="4761600" y="2803446"/>
            <a:ext cx="2105700" cy="683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2" name="Google Shape;652;p46"/>
          <p:cNvCxnSpPr>
            <a:stCxn id="637" idx="3"/>
            <a:endCxn id="638" idx="1"/>
          </p:cNvCxnSpPr>
          <p:nvPr/>
        </p:nvCxnSpPr>
        <p:spPr>
          <a:xfrm>
            <a:off x="4688250" y="2622596"/>
            <a:ext cx="2179200" cy="180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3" name="Google Shape;653;p46"/>
          <p:cNvCxnSpPr>
            <a:endCxn id="638" idx="2"/>
          </p:cNvCxnSpPr>
          <p:nvPr/>
        </p:nvCxnSpPr>
        <p:spPr>
          <a:xfrm flipH="1" rot="10800000">
            <a:off x="6582300" y="3027246"/>
            <a:ext cx="570000" cy="1260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4" name="Google Shape;654;p46"/>
          <p:cNvCxnSpPr>
            <a:stCxn id="637" idx="0"/>
            <a:endCxn id="629" idx="2"/>
          </p:cNvCxnSpPr>
          <p:nvPr/>
        </p:nvCxnSpPr>
        <p:spPr>
          <a:xfrm rot="10800000">
            <a:off x="4320750" y="1982096"/>
            <a:ext cx="82500" cy="416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5" name="Google Shape;655;p46"/>
          <p:cNvCxnSpPr>
            <a:stCxn id="638" idx="3"/>
            <a:endCxn id="631" idx="1"/>
          </p:cNvCxnSpPr>
          <p:nvPr/>
        </p:nvCxnSpPr>
        <p:spPr>
          <a:xfrm flipH="1" rot="10800000">
            <a:off x="7437300" y="2408346"/>
            <a:ext cx="610500" cy="395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6" name="Google Shape;656;p46"/>
          <p:cNvCxnSpPr>
            <a:stCxn id="642" idx="3"/>
            <a:endCxn id="633" idx="1"/>
          </p:cNvCxnSpPr>
          <p:nvPr/>
        </p:nvCxnSpPr>
        <p:spPr>
          <a:xfrm flipH="1" rot="10800000">
            <a:off x="6867300" y="4291971"/>
            <a:ext cx="610500" cy="219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7" name="Google Shape;657;p46"/>
          <p:cNvSpPr txBox="1"/>
          <p:nvPr/>
        </p:nvSpPr>
        <p:spPr>
          <a:xfrm>
            <a:off x="7437300" y="1418550"/>
            <a:ext cx="11013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Source</a:t>
            </a:r>
            <a:r>
              <a:rPr lang="en" sz="800"/>
              <a:t>: A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Destination</a:t>
            </a:r>
            <a:r>
              <a:rPr lang="en" sz="800"/>
              <a:t>: D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“Hello, this is A…”</a:t>
            </a:r>
            <a:endParaRPr sz="800"/>
          </a:p>
        </p:txBody>
      </p:sp>
      <p:sp>
        <p:nvSpPr>
          <p:cNvPr id="658" name="Google Shape;658;p46"/>
          <p:cNvSpPr/>
          <p:nvPr/>
        </p:nvSpPr>
        <p:spPr>
          <a:xfrm>
            <a:off x="1584950" y="2476500"/>
            <a:ext cx="6431300" cy="1220100"/>
          </a:xfrm>
          <a:custGeom>
            <a:rect b="b" l="l" r="r" t="t"/>
            <a:pathLst>
              <a:path extrusionOk="0" h="48804" w="257252">
                <a:moveTo>
                  <a:pt x="0" y="610"/>
                </a:moveTo>
                <a:cubicBezTo>
                  <a:pt x="6198" y="3404"/>
                  <a:pt x="17831" y="9348"/>
                  <a:pt x="37186" y="17374"/>
                </a:cubicBezTo>
                <a:cubicBezTo>
                  <a:pt x="56541" y="25400"/>
                  <a:pt x="85192" y="47803"/>
                  <a:pt x="116129" y="48768"/>
                </a:cubicBezTo>
                <a:cubicBezTo>
                  <a:pt x="147066" y="49733"/>
                  <a:pt x="199289" y="31293"/>
                  <a:pt x="222809" y="23165"/>
                </a:cubicBezTo>
                <a:cubicBezTo>
                  <a:pt x="246330" y="15037"/>
                  <a:pt x="251512" y="3861"/>
                  <a:pt x="257252" y="0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59" name="Google Shape;659;p46"/>
          <p:cNvSpPr txBox="1"/>
          <p:nvPr/>
        </p:nvSpPr>
        <p:spPr>
          <a:xfrm>
            <a:off x="4761575" y="1163650"/>
            <a:ext cx="2488500" cy="61560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3: “How do I get this packet from A to D?”</a:t>
            </a:r>
            <a:endParaRPr/>
          </a:p>
        </p:txBody>
      </p:sp>
      <p:sp>
        <p:nvSpPr>
          <p:cNvPr id="660" name="Google Shape;660;p46"/>
          <p:cNvSpPr txBox="1"/>
          <p:nvPr/>
        </p:nvSpPr>
        <p:spPr>
          <a:xfrm>
            <a:off x="4403250" y="1820075"/>
            <a:ext cx="3134400" cy="61560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Next: How do we reliably send any length of data, not just packets?</a:t>
            </a:r>
            <a:endParaRPr/>
          </a:p>
        </p:txBody>
      </p:sp>
      <p:sp>
        <p:nvSpPr>
          <p:cNvPr id="661" name="Google Shape;661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47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4: Transport Layer</a:t>
            </a:r>
            <a:endParaRPr/>
          </a:p>
        </p:txBody>
      </p:sp>
      <p:sp>
        <p:nvSpPr>
          <p:cNvPr id="667" name="Google Shape;667;p47"/>
          <p:cNvSpPr txBox="1"/>
          <p:nvPr>
            <p:ph idx="1" type="body"/>
          </p:nvPr>
        </p:nvSpPr>
        <p:spPr>
          <a:xfrm>
            <a:off x="198500" y="1246825"/>
            <a:ext cx="5142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Provides</a:t>
            </a:r>
            <a:r>
              <a:rPr lang="en"/>
              <a:t>: Transportation of variable-length data from any point to any other point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Relies upon</a:t>
            </a:r>
            <a:r>
              <a:rPr lang="en"/>
              <a:t>: Sending packets from any device to any other device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</a:t>
            </a:r>
            <a:r>
              <a:rPr lang="en"/>
              <a:t>uilds abstractions that are useful to applications on top of layer 3 packets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Useful abstractions</a:t>
            </a:r>
            <a:endParaRPr sz="18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Reliability</a:t>
            </a:r>
            <a:r>
              <a:rPr lang="en"/>
              <a:t>: Transmit data reliably, in order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Ports</a:t>
            </a:r>
            <a:r>
              <a:rPr lang="en"/>
              <a:t>: Provide multiple “addresses” per real IP address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TCP</a:t>
            </a:r>
            <a:r>
              <a:rPr lang="en"/>
              <a:t>:</a:t>
            </a:r>
            <a:r>
              <a:rPr b="1" lang="en"/>
              <a:t> </a:t>
            </a:r>
            <a:r>
              <a:rPr lang="en"/>
              <a:t>Provides reliability and ports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UDP</a:t>
            </a:r>
            <a:r>
              <a:rPr lang="en"/>
              <a:t>: Provides ports, but no reliability</a:t>
            </a:r>
            <a:endParaRPr/>
          </a:p>
        </p:txBody>
      </p:sp>
      <p:sp>
        <p:nvSpPr>
          <p:cNvPr id="668" name="Google Shape;668;p47"/>
          <p:cNvSpPr/>
          <p:nvPr/>
        </p:nvSpPr>
        <p:spPr>
          <a:xfrm>
            <a:off x="6684025" y="3656663"/>
            <a:ext cx="1512900" cy="378300"/>
          </a:xfrm>
          <a:prstGeom prst="rect">
            <a:avLst/>
          </a:prstGeom>
          <a:solidFill>
            <a:srgbClr val="B4A7D6">
              <a:alpha val="50559"/>
            </a:srgbClr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7B7B7"/>
                </a:solidFill>
              </a:rPr>
              <a:t>Physical</a:t>
            </a:r>
            <a:endParaRPr b="1">
              <a:solidFill>
                <a:srgbClr val="B7B7B7"/>
              </a:solidFill>
            </a:endParaRPr>
          </a:p>
        </p:txBody>
      </p:sp>
      <p:sp>
        <p:nvSpPr>
          <p:cNvPr id="669" name="Google Shape;669;p47"/>
          <p:cNvSpPr txBox="1"/>
          <p:nvPr/>
        </p:nvSpPr>
        <p:spPr>
          <a:xfrm>
            <a:off x="6345475" y="3677588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</a:rPr>
              <a:t>1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670" name="Google Shape;670;p47"/>
          <p:cNvSpPr/>
          <p:nvPr/>
        </p:nvSpPr>
        <p:spPr>
          <a:xfrm>
            <a:off x="6684025" y="1838663"/>
            <a:ext cx="1512900" cy="378300"/>
          </a:xfrm>
          <a:prstGeom prst="rect">
            <a:avLst/>
          </a:prstGeom>
          <a:solidFill>
            <a:srgbClr val="F1C232">
              <a:alpha val="50559"/>
            </a:srgbClr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7B7B7"/>
                </a:solidFill>
              </a:rPr>
              <a:t>Application</a:t>
            </a:r>
            <a:endParaRPr b="1">
              <a:solidFill>
                <a:srgbClr val="B7B7B7"/>
              </a:solidFill>
            </a:endParaRPr>
          </a:p>
        </p:txBody>
      </p:sp>
      <p:sp>
        <p:nvSpPr>
          <p:cNvPr id="671" name="Google Shape;671;p47"/>
          <p:cNvSpPr txBox="1"/>
          <p:nvPr/>
        </p:nvSpPr>
        <p:spPr>
          <a:xfrm>
            <a:off x="6345475" y="1827713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</a:rPr>
              <a:t>7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672" name="Google Shape;672;p47"/>
          <p:cNvSpPr/>
          <p:nvPr/>
        </p:nvSpPr>
        <p:spPr>
          <a:xfrm>
            <a:off x="6684025" y="3202163"/>
            <a:ext cx="1512900" cy="378300"/>
          </a:xfrm>
          <a:prstGeom prst="rect">
            <a:avLst/>
          </a:prstGeom>
          <a:solidFill>
            <a:srgbClr val="B4A7D6">
              <a:alpha val="50559"/>
            </a:srgbClr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7B7B7"/>
                </a:solidFill>
              </a:rPr>
              <a:t>Link</a:t>
            </a:r>
            <a:endParaRPr b="1">
              <a:solidFill>
                <a:srgbClr val="B7B7B7"/>
              </a:solidFill>
            </a:endParaRPr>
          </a:p>
        </p:txBody>
      </p:sp>
      <p:sp>
        <p:nvSpPr>
          <p:cNvPr id="673" name="Google Shape;673;p47"/>
          <p:cNvSpPr txBox="1"/>
          <p:nvPr/>
        </p:nvSpPr>
        <p:spPr>
          <a:xfrm>
            <a:off x="6345475" y="3215100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</a:rPr>
              <a:t>2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674" name="Google Shape;674;p47"/>
          <p:cNvSpPr/>
          <p:nvPr/>
        </p:nvSpPr>
        <p:spPr>
          <a:xfrm>
            <a:off x="6684025" y="2747663"/>
            <a:ext cx="1512900" cy="378300"/>
          </a:xfrm>
          <a:prstGeom prst="rect">
            <a:avLst/>
          </a:prstGeom>
          <a:solidFill>
            <a:srgbClr val="F1C232">
              <a:alpha val="50559"/>
            </a:srgbClr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7B7B7"/>
                </a:solidFill>
              </a:rPr>
              <a:t>(Inter) Network</a:t>
            </a:r>
            <a:endParaRPr b="1">
              <a:solidFill>
                <a:srgbClr val="B7B7B7"/>
              </a:solidFill>
            </a:endParaRPr>
          </a:p>
        </p:txBody>
      </p:sp>
      <p:sp>
        <p:nvSpPr>
          <p:cNvPr id="675" name="Google Shape;675;p47"/>
          <p:cNvSpPr txBox="1"/>
          <p:nvPr/>
        </p:nvSpPr>
        <p:spPr>
          <a:xfrm>
            <a:off x="6345475" y="2752638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</a:rPr>
              <a:t>3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676" name="Google Shape;676;p47"/>
          <p:cNvSpPr/>
          <p:nvPr/>
        </p:nvSpPr>
        <p:spPr>
          <a:xfrm>
            <a:off x="6684025" y="2293163"/>
            <a:ext cx="1512900" cy="378300"/>
          </a:xfrm>
          <a:prstGeom prst="rect">
            <a:avLst/>
          </a:prstGeom>
          <a:solidFill>
            <a:srgbClr val="F1C23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Transport</a:t>
            </a:r>
            <a:endParaRPr b="1"/>
          </a:p>
        </p:txBody>
      </p:sp>
      <p:sp>
        <p:nvSpPr>
          <p:cNvPr id="677" name="Google Shape;677;p47"/>
          <p:cNvSpPr txBox="1"/>
          <p:nvPr/>
        </p:nvSpPr>
        <p:spPr>
          <a:xfrm>
            <a:off x="6345475" y="2280138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4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678" name="Google Shape;678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48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4: Transport Layer</a:t>
            </a:r>
            <a:endParaRPr/>
          </a:p>
        </p:txBody>
      </p:sp>
      <p:pic>
        <p:nvPicPr>
          <p:cNvPr id="684" name="Google Shape;684;p48"/>
          <p:cNvPicPr preferRelativeResize="0"/>
          <p:nvPr/>
        </p:nvPicPr>
        <p:blipFill rotWithShape="1">
          <a:blip r:embed="rId3">
            <a:alphaModFix/>
          </a:blip>
          <a:srcRect b="46006" l="6239" r="80041" t="7148"/>
          <a:stretch/>
        </p:blipFill>
        <p:spPr>
          <a:xfrm>
            <a:off x="941550" y="2857697"/>
            <a:ext cx="57014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48"/>
          <p:cNvSpPr txBox="1"/>
          <p:nvPr/>
        </p:nvSpPr>
        <p:spPr>
          <a:xfrm>
            <a:off x="1097475" y="2924051"/>
            <a:ext cx="25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</a:t>
            </a:r>
            <a:endParaRPr sz="800"/>
          </a:p>
        </p:txBody>
      </p:sp>
      <p:pic>
        <p:nvPicPr>
          <p:cNvPr id="686" name="Google Shape;686;p48"/>
          <p:cNvPicPr preferRelativeResize="0"/>
          <p:nvPr/>
        </p:nvPicPr>
        <p:blipFill rotWithShape="1">
          <a:blip r:embed="rId3">
            <a:alphaModFix/>
          </a:blip>
          <a:srcRect b="46006" l="6239" r="80041" t="7148"/>
          <a:stretch/>
        </p:blipFill>
        <p:spPr>
          <a:xfrm>
            <a:off x="7632300" y="2857697"/>
            <a:ext cx="57014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48"/>
          <p:cNvSpPr txBox="1"/>
          <p:nvPr/>
        </p:nvSpPr>
        <p:spPr>
          <a:xfrm>
            <a:off x="7788225" y="2924051"/>
            <a:ext cx="25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D</a:t>
            </a:r>
            <a:endParaRPr sz="800"/>
          </a:p>
        </p:txBody>
      </p:sp>
      <p:sp>
        <p:nvSpPr>
          <p:cNvPr id="688" name="Google Shape;688;p48"/>
          <p:cNvSpPr txBox="1"/>
          <p:nvPr/>
        </p:nvSpPr>
        <p:spPr>
          <a:xfrm>
            <a:off x="2266813" y="1839900"/>
            <a:ext cx="4610400" cy="30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I am now sending an arbitrary length message that will probably be broken into several packets…</a:t>
            </a:r>
            <a:endParaRPr sz="800"/>
          </a:p>
        </p:txBody>
      </p:sp>
      <p:sp>
        <p:nvSpPr>
          <p:cNvPr id="689" name="Google Shape;689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90" name="Google Shape;690;p48"/>
          <p:cNvCxnSpPr>
            <a:stCxn id="684" idx="3"/>
            <a:endCxn id="686" idx="1"/>
          </p:cNvCxnSpPr>
          <p:nvPr/>
        </p:nvCxnSpPr>
        <p:spPr>
          <a:xfrm>
            <a:off x="1511690" y="3144047"/>
            <a:ext cx="6120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91" name="Google Shape;691;p48"/>
          <p:cNvSpPr/>
          <p:nvPr/>
        </p:nvSpPr>
        <p:spPr>
          <a:xfrm>
            <a:off x="2852913" y="2357600"/>
            <a:ext cx="3438180" cy="1572912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Unreliable Internet</a:t>
            </a:r>
            <a:endParaRPr/>
          </a:p>
        </p:txBody>
      </p:sp>
      <p:sp>
        <p:nvSpPr>
          <p:cNvPr id="692" name="Google Shape;692;p48"/>
          <p:cNvSpPr txBox="1"/>
          <p:nvPr/>
        </p:nvSpPr>
        <p:spPr>
          <a:xfrm>
            <a:off x="4374000" y="4070375"/>
            <a:ext cx="3559800" cy="61560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4: “How do I transport this arbitrary data over an unreliable medium?”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49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7: Application Layer</a:t>
            </a:r>
            <a:endParaRPr/>
          </a:p>
        </p:txBody>
      </p:sp>
      <p:sp>
        <p:nvSpPr>
          <p:cNvPr id="698" name="Google Shape;698;p49"/>
          <p:cNvSpPr txBox="1"/>
          <p:nvPr>
            <p:ph idx="1" type="body"/>
          </p:nvPr>
        </p:nvSpPr>
        <p:spPr>
          <a:xfrm>
            <a:off x="198500" y="1246825"/>
            <a:ext cx="5142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Provides</a:t>
            </a:r>
            <a:r>
              <a:rPr lang="en"/>
              <a:t>: Applications and services to users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Relies upon</a:t>
            </a:r>
            <a:r>
              <a:rPr lang="en"/>
              <a:t>: Transportation of variable-length data from any point to any other point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 online application is Layer 7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Web browsing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Online video games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Messaging services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Video calls (Zoom)</a:t>
            </a:r>
            <a:endParaRPr/>
          </a:p>
        </p:txBody>
      </p:sp>
      <p:sp>
        <p:nvSpPr>
          <p:cNvPr id="699" name="Google Shape;699;p49"/>
          <p:cNvSpPr/>
          <p:nvPr/>
        </p:nvSpPr>
        <p:spPr>
          <a:xfrm>
            <a:off x="6684025" y="3656663"/>
            <a:ext cx="1512900" cy="378300"/>
          </a:xfrm>
          <a:prstGeom prst="rect">
            <a:avLst/>
          </a:prstGeom>
          <a:solidFill>
            <a:srgbClr val="B4A7D6">
              <a:alpha val="50559"/>
            </a:srgbClr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7B7B7"/>
                </a:solidFill>
              </a:rPr>
              <a:t>Physical</a:t>
            </a:r>
            <a:endParaRPr b="1">
              <a:solidFill>
                <a:srgbClr val="B7B7B7"/>
              </a:solidFill>
            </a:endParaRPr>
          </a:p>
        </p:txBody>
      </p:sp>
      <p:sp>
        <p:nvSpPr>
          <p:cNvPr id="700" name="Google Shape;700;p49"/>
          <p:cNvSpPr txBox="1"/>
          <p:nvPr/>
        </p:nvSpPr>
        <p:spPr>
          <a:xfrm>
            <a:off x="6345475" y="3677588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</a:rPr>
              <a:t>1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701" name="Google Shape;701;p49"/>
          <p:cNvSpPr/>
          <p:nvPr/>
        </p:nvSpPr>
        <p:spPr>
          <a:xfrm>
            <a:off x="6684025" y="3202163"/>
            <a:ext cx="1512900" cy="378300"/>
          </a:xfrm>
          <a:prstGeom prst="rect">
            <a:avLst/>
          </a:prstGeom>
          <a:solidFill>
            <a:srgbClr val="B4A7D6">
              <a:alpha val="50559"/>
            </a:srgbClr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7B7B7"/>
                </a:solidFill>
              </a:rPr>
              <a:t>Link</a:t>
            </a:r>
            <a:endParaRPr b="1">
              <a:solidFill>
                <a:srgbClr val="B7B7B7"/>
              </a:solidFill>
            </a:endParaRPr>
          </a:p>
        </p:txBody>
      </p:sp>
      <p:sp>
        <p:nvSpPr>
          <p:cNvPr id="702" name="Google Shape;702;p49"/>
          <p:cNvSpPr txBox="1"/>
          <p:nvPr/>
        </p:nvSpPr>
        <p:spPr>
          <a:xfrm>
            <a:off x="6345475" y="3215100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</a:rPr>
              <a:t>2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703" name="Google Shape;703;p49"/>
          <p:cNvSpPr/>
          <p:nvPr/>
        </p:nvSpPr>
        <p:spPr>
          <a:xfrm>
            <a:off x="6684025" y="2747663"/>
            <a:ext cx="1512900" cy="378300"/>
          </a:xfrm>
          <a:prstGeom prst="rect">
            <a:avLst/>
          </a:prstGeom>
          <a:solidFill>
            <a:srgbClr val="F1C232">
              <a:alpha val="50559"/>
            </a:srgbClr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7B7B7"/>
                </a:solidFill>
              </a:rPr>
              <a:t>(Inter) Network</a:t>
            </a:r>
            <a:endParaRPr b="1">
              <a:solidFill>
                <a:srgbClr val="B7B7B7"/>
              </a:solidFill>
            </a:endParaRPr>
          </a:p>
        </p:txBody>
      </p:sp>
      <p:sp>
        <p:nvSpPr>
          <p:cNvPr id="704" name="Google Shape;704;p49"/>
          <p:cNvSpPr txBox="1"/>
          <p:nvPr/>
        </p:nvSpPr>
        <p:spPr>
          <a:xfrm>
            <a:off x="6345475" y="2752638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</a:rPr>
              <a:t>3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705" name="Google Shape;705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6" name="Google Shape;706;p49"/>
          <p:cNvSpPr/>
          <p:nvPr/>
        </p:nvSpPr>
        <p:spPr>
          <a:xfrm>
            <a:off x="6684025" y="2293163"/>
            <a:ext cx="1512900" cy="378300"/>
          </a:xfrm>
          <a:prstGeom prst="rect">
            <a:avLst/>
          </a:prstGeom>
          <a:solidFill>
            <a:srgbClr val="F1C232">
              <a:alpha val="50559"/>
            </a:srgbClr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7B7B7"/>
                </a:solidFill>
              </a:rPr>
              <a:t>Transport</a:t>
            </a:r>
            <a:endParaRPr b="1">
              <a:solidFill>
                <a:srgbClr val="B7B7B7"/>
              </a:solidFill>
            </a:endParaRPr>
          </a:p>
        </p:txBody>
      </p:sp>
      <p:sp>
        <p:nvSpPr>
          <p:cNvPr id="707" name="Google Shape;707;p49"/>
          <p:cNvSpPr txBox="1"/>
          <p:nvPr/>
        </p:nvSpPr>
        <p:spPr>
          <a:xfrm>
            <a:off x="6345475" y="2280138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</a:rPr>
              <a:t>4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708" name="Google Shape;708;p49"/>
          <p:cNvSpPr/>
          <p:nvPr/>
        </p:nvSpPr>
        <p:spPr>
          <a:xfrm>
            <a:off x="6684025" y="1838663"/>
            <a:ext cx="1512900" cy="378300"/>
          </a:xfrm>
          <a:prstGeom prst="rect">
            <a:avLst/>
          </a:prstGeom>
          <a:solidFill>
            <a:srgbClr val="F1C23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Application</a:t>
            </a:r>
            <a:endParaRPr b="1"/>
          </a:p>
        </p:txBody>
      </p:sp>
      <p:sp>
        <p:nvSpPr>
          <p:cNvPr id="709" name="Google Shape;709;p49"/>
          <p:cNvSpPr txBox="1"/>
          <p:nvPr/>
        </p:nvSpPr>
        <p:spPr>
          <a:xfrm>
            <a:off x="6345475" y="1827713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7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0"/>
          <p:cNvSpPr txBox="1"/>
          <p:nvPr>
            <p:ph type="title"/>
          </p:nvPr>
        </p:nvSpPr>
        <p:spPr>
          <a:xfrm>
            <a:off x="311700" y="1388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Headers</a:t>
            </a:r>
            <a:endParaRPr/>
          </a:p>
        </p:txBody>
      </p:sp>
      <p:sp>
        <p:nvSpPr>
          <p:cNvPr id="715" name="Google Shape;715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6" name="Google Shape;71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4100" y="2507675"/>
            <a:ext cx="3855800" cy="182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51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Sending Mail</a:t>
            </a:r>
            <a:endParaRPr/>
          </a:p>
        </p:txBody>
      </p:sp>
      <p:sp>
        <p:nvSpPr>
          <p:cNvPr id="722" name="Google Shape;722;p51"/>
          <p:cNvSpPr txBox="1"/>
          <p:nvPr/>
        </p:nvSpPr>
        <p:spPr>
          <a:xfrm>
            <a:off x="1543750" y="1189450"/>
            <a:ext cx="73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Alice</a:t>
            </a:r>
            <a:endParaRPr/>
          </a:p>
        </p:txBody>
      </p:sp>
      <p:sp>
        <p:nvSpPr>
          <p:cNvPr id="723" name="Google Shape;723;p51"/>
          <p:cNvSpPr txBox="1"/>
          <p:nvPr/>
        </p:nvSpPr>
        <p:spPr>
          <a:xfrm>
            <a:off x="6895900" y="1189450"/>
            <a:ext cx="73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Bob</a:t>
            </a:r>
            <a:endParaRPr/>
          </a:p>
        </p:txBody>
      </p:sp>
      <p:sp>
        <p:nvSpPr>
          <p:cNvPr id="724" name="Google Shape;724;p51"/>
          <p:cNvSpPr txBox="1"/>
          <p:nvPr/>
        </p:nvSpPr>
        <p:spPr>
          <a:xfrm>
            <a:off x="2562500" y="1933150"/>
            <a:ext cx="1172400" cy="400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am hungry.</a:t>
            </a:r>
            <a:endParaRPr/>
          </a:p>
        </p:txBody>
      </p:sp>
      <p:sp>
        <p:nvSpPr>
          <p:cNvPr id="725" name="Google Shape;725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6" name="Google Shape;72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9600" y="1622475"/>
            <a:ext cx="1120011" cy="102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7" name="Google Shape;727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9375" y="1639550"/>
            <a:ext cx="1064725" cy="98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52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Sending Mail</a:t>
            </a:r>
            <a:endParaRPr/>
          </a:p>
        </p:txBody>
      </p:sp>
      <p:sp>
        <p:nvSpPr>
          <p:cNvPr id="733" name="Google Shape;733;p52"/>
          <p:cNvSpPr txBox="1"/>
          <p:nvPr/>
        </p:nvSpPr>
        <p:spPr>
          <a:xfrm>
            <a:off x="1543750" y="1189450"/>
            <a:ext cx="73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Alice</a:t>
            </a:r>
            <a:endParaRPr/>
          </a:p>
        </p:txBody>
      </p:sp>
      <p:pic>
        <p:nvPicPr>
          <p:cNvPr id="734" name="Google Shape;73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3399" y="2794738"/>
            <a:ext cx="1172401" cy="83227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35" name="Google Shape;735;p52"/>
          <p:cNvSpPr txBox="1"/>
          <p:nvPr/>
        </p:nvSpPr>
        <p:spPr>
          <a:xfrm>
            <a:off x="6895900" y="1189450"/>
            <a:ext cx="73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Bob</a:t>
            </a:r>
            <a:endParaRPr/>
          </a:p>
        </p:txBody>
      </p:sp>
      <p:pic>
        <p:nvPicPr>
          <p:cNvPr id="736" name="Google Shape;73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5549" y="2794738"/>
            <a:ext cx="1172401" cy="83227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37" name="Google Shape;737;p52"/>
          <p:cNvSpPr/>
          <p:nvPr/>
        </p:nvSpPr>
        <p:spPr>
          <a:xfrm>
            <a:off x="2729750" y="2711550"/>
            <a:ext cx="1487700" cy="832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Send to: Bob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52"/>
          <p:cNvSpPr txBox="1"/>
          <p:nvPr/>
        </p:nvSpPr>
        <p:spPr>
          <a:xfrm>
            <a:off x="2867300" y="3076150"/>
            <a:ext cx="1172400" cy="400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am hungry.</a:t>
            </a:r>
            <a:endParaRPr/>
          </a:p>
        </p:txBody>
      </p:sp>
      <p:sp>
        <p:nvSpPr>
          <p:cNvPr id="739" name="Google Shape;739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40" name="Google Shape;740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9600" y="1622475"/>
            <a:ext cx="1120011" cy="102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p52"/>
          <p:cNvPicPr preferRelativeResize="0"/>
          <p:nvPr/>
        </p:nvPicPr>
        <p:blipFill rotWithShape="1">
          <a:blip r:embed="rId4">
            <a:alphaModFix/>
          </a:blip>
          <a:srcRect b="0" l="8367" r="14939" t="0"/>
          <a:stretch/>
        </p:blipFill>
        <p:spPr>
          <a:xfrm>
            <a:off x="1739011" y="2794748"/>
            <a:ext cx="300843" cy="35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29375" y="1639550"/>
            <a:ext cx="1064725" cy="98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p52"/>
          <p:cNvPicPr preferRelativeResize="0"/>
          <p:nvPr/>
        </p:nvPicPr>
        <p:blipFill rotWithShape="1">
          <a:blip r:embed="rId5">
            <a:alphaModFix/>
          </a:blip>
          <a:srcRect b="3437" l="0" r="24505" t="0"/>
          <a:stretch/>
        </p:blipFill>
        <p:spPr>
          <a:xfrm>
            <a:off x="7070851" y="2816877"/>
            <a:ext cx="300850" cy="356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53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Sending Mail</a:t>
            </a:r>
            <a:endParaRPr/>
          </a:p>
        </p:txBody>
      </p:sp>
      <p:sp>
        <p:nvSpPr>
          <p:cNvPr id="749" name="Google Shape;749;p53"/>
          <p:cNvSpPr txBox="1"/>
          <p:nvPr/>
        </p:nvSpPr>
        <p:spPr>
          <a:xfrm>
            <a:off x="1543750" y="1189450"/>
            <a:ext cx="73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Alice</a:t>
            </a:r>
            <a:endParaRPr/>
          </a:p>
        </p:txBody>
      </p:sp>
      <p:pic>
        <p:nvPicPr>
          <p:cNvPr id="750" name="Google Shape;75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3399" y="2794738"/>
            <a:ext cx="1172401" cy="83227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51" name="Google Shape;751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6050" y="3999876"/>
            <a:ext cx="1227096" cy="8322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52" name="Google Shape;752;p53"/>
          <p:cNvSpPr txBox="1"/>
          <p:nvPr/>
        </p:nvSpPr>
        <p:spPr>
          <a:xfrm>
            <a:off x="6895900" y="1189450"/>
            <a:ext cx="73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Bob</a:t>
            </a:r>
            <a:endParaRPr/>
          </a:p>
        </p:txBody>
      </p:sp>
      <p:pic>
        <p:nvPicPr>
          <p:cNvPr id="753" name="Google Shape;75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5549" y="2794738"/>
            <a:ext cx="1172401" cy="83227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54" name="Google Shape;754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8200" y="3999876"/>
            <a:ext cx="1227096" cy="8322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55" name="Google Shape;755;p53"/>
          <p:cNvSpPr/>
          <p:nvPr/>
        </p:nvSpPr>
        <p:spPr>
          <a:xfrm>
            <a:off x="2741225" y="3619225"/>
            <a:ext cx="1689300" cy="1298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Mail to: 123 Bob St</a:t>
            </a:r>
            <a:endParaRPr/>
          </a:p>
        </p:txBody>
      </p:sp>
      <p:sp>
        <p:nvSpPr>
          <p:cNvPr id="756" name="Google Shape;756;p53"/>
          <p:cNvSpPr/>
          <p:nvPr/>
        </p:nvSpPr>
        <p:spPr>
          <a:xfrm>
            <a:off x="2832650" y="4012500"/>
            <a:ext cx="1487700" cy="832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Send to: Bob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53"/>
          <p:cNvSpPr txBox="1"/>
          <p:nvPr/>
        </p:nvSpPr>
        <p:spPr>
          <a:xfrm>
            <a:off x="2970200" y="4377100"/>
            <a:ext cx="1172400" cy="400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am hungry.</a:t>
            </a:r>
            <a:endParaRPr/>
          </a:p>
        </p:txBody>
      </p:sp>
      <p:sp>
        <p:nvSpPr>
          <p:cNvPr id="758" name="Google Shape;758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59" name="Google Shape;759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9600" y="1622475"/>
            <a:ext cx="1120011" cy="102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53"/>
          <p:cNvPicPr preferRelativeResize="0"/>
          <p:nvPr/>
        </p:nvPicPr>
        <p:blipFill rotWithShape="1">
          <a:blip r:embed="rId5">
            <a:alphaModFix/>
          </a:blip>
          <a:srcRect b="0" l="8367" r="14939" t="0"/>
          <a:stretch/>
        </p:blipFill>
        <p:spPr>
          <a:xfrm>
            <a:off x="1739011" y="2794748"/>
            <a:ext cx="300843" cy="35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1" name="Google Shape;761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29375" y="1639550"/>
            <a:ext cx="1064725" cy="98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2" name="Google Shape;762;p53"/>
          <p:cNvPicPr preferRelativeResize="0"/>
          <p:nvPr/>
        </p:nvPicPr>
        <p:blipFill rotWithShape="1">
          <a:blip r:embed="rId6">
            <a:alphaModFix/>
          </a:blip>
          <a:srcRect b="3437" l="0" r="24505" t="0"/>
          <a:stretch/>
        </p:blipFill>
        <p:spPr>
          <a:xfrm>
            <a:off x="7070851" y="2816877"/>
            <a:ext cx="300850" cy="356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54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Sending Mail</a:t>
            </a:r>
            <a:endParaRPr/>
          </a:p>
        </p:txBody>
      </p:sp>
      <p:sp>
        <p:nvSpPr>
          <p:cNvPr id="768" name="Google Shape;768;p54"/>
          <p:cNvSpPr txBox="1"/>
          <p:nvPr/>
        </p:nvSpPr>
        <p:spPr>
          <a:xfrm>
            <a:off x="1543750" y="1189450"/>
            <a:ext cx="73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Alice</a:t>
            </a:r>
            <a:endParaRPr/>
          </a:p>
        </p:txBody>
      </p:sp>
      <p:pic>
        <p:nvPicPr>
          <p:cNvPr id="769" name="Google Shape;76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3399" y="2794738"/>
            <a:ext cx="1172401" cy="83227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70" name="Google Shape;770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6050" y="3999876"/>
            <a:ext cx="1227096" cy="8322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71" name="Google Shape;771;p54"/>
          <p:cNvSpPr txBox="1"/>
          <p:nvPr/>
        </p:nvSpPr>
        <p:spPr>
          <a:xfrm>
            <a:off x="6895900" y="1189450"/>
            <a:ext cx="73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Bob</a:t>
            </a:r>
            <a:endParaRPr/>
          </a:p>
        </p:txBody>
      </p:sp>
      <p:pic>
        <p:nvPicPr>
          <p:cNvPr id="772" name="Google Shape;77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5549" y="2794738"/>
            <a:ext cx="1172401" cy="83227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73" name="Google Shape;773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8200" y="3999876"/>
            <a:ext cx="1227096" cy="8322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74" name="Google Shape;774;p54"/>
          <p:cNvSpPr/>
          <p:nvPr/>
        </p:nvSpPr>
        <p:spPr>
          <a:xfrm>
            <a:off x="4834800" y="3707475"/>
            <a:ext cx="1689300" cy="1298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Mail to: 123 Bob St</a:t>
            </a:r>
            <a:endParaRPr/>
          </a:p>
        </p:txBody>
      </p:sp>
      <p:sp>
        <p:nvSpPr>
          <p:cNvPr id="775" name="Google Shape;775;p54"/>
          <p:cNvSpPr/>
          <p:nvPr/>
        </p:nvSpPr>
        <p:spPr>
          <a:xfrm>
            <a:off x="4926225" y="4100750"/>
            <a:ext cx="1487700" cy="832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Send to: Bob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54"/>
          <p:cNvSpPr txBox="1"/>
          <p:nvPr/>
        </p:nvSpPr>
        <p:spPr>
          <a:xfrm>
            <a:off x="5063775" y="4465350"/>
            <a:ext cx="1172400" cy="400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am hungry.</a:t>
            </a:r>
            <a:endParaRPr/>
          </a:p>
        </p:txBody>
      </p:sp>
      <p:sp>
        <p:nvSpPr>
          <p:cNvPr id="777" name="Google Shape;777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78" name="Google Shape;778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9600" y="1622475"/>
            <a:ext cx="1120011" cy="102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Google Shape;779;p54"/>
          <p:cNvPicPr preferRelativeResize="0"/>
          <p:nvPr/>
        </p:nvPicPr>
        <p:blipFill rotWithShape="1">
          <a:blip r:embed="rId5">
            <a:alphaModFix/>
          </a:blip>
          <a:srcRect b="0" l="8367" r="14939" t="0"/>
          <a:stretch/>
        </p:blipFill>
        <p:spPr>
          <a:xfrm>
            <a:off x="1739011" y="2794748"/>
            <a:ext cx="300843" cy="35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29375" y="1639550"/>
            <a:ext cx="1064725" cy="98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1" name="Google Shape;781;p54"/>
          <p:cNvPicPr preferRelativeResize="0"/>
          <p:nvPr/>
        </p:nvPicPr>
        <p:blipFill rotWithShape="1">
          <a:blip r:embed="rId6">
            <a:alphaModFix/>
          </a:blip>
          <a:srcRect b="3437" l="0" r="24505" t="0"/>
          <a:stretch/>
        </p:blipFill>
        <p:spPr>
          <a:xfrm>
            <a:off x="7070851" y="2816877"/>
            <a:ext cx="300850" cy="356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55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Sending Mail</a:t>
            </a:r>
            <a:endParaRPr/>
          </a:p>
        </p:txBody>
      </p:sp>
      <p:sp>
        <p:nvSpPr>
          <p:cNvPr id="787" name="Google Shape;787;p55"/>
          <p:cNvSpPr txBox="1"/>
          <p:nvPr/>
        </p:nvSpPr>
        <p:spPr>
          <a:xfrm>
            <a:off x="1543750" y="1189450"/>
            <a:ext cx="73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Alice</a:t>
            </a:r>
            <a:endParaRPr/>
          </a:p>
        </p:txBody>
      </p:sp>
      <p:pic>
        <p:nvPicPr>
          <p:cNvPr id="788" name="Google Shape;78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3399" y="2794738"/>
            <a:ext cx="1172401" cy="83227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89" name="Google Shape;789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6050" y="3999876"/>
            <a:ext cx="1227096" cy="8322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90" name="Google Shape;790;p55"/>
          <p:cNvSpPr txBox="1"/>
          <p:nvPr/>
        </p:nvSpPr>
        <p:spPr>
          <a:xfrm>
            <a:off x="6895900" y="1189450"/>
            <a:ext cx="73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Bob</a:t>
            </a:r>
            <a:endParaRPr/>
          </a:p>
        </p:txBody>
      </p:sp>
      <p:pic>
        <p:nvPicPr>
          <p:cNvPr id="791" name="Google Shape;79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5549" y="2794738"/>
            <a:ext cx="1172401" cy="83227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92" name="Google Shape;792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8200" y="3999876"/>
            <a:ext cx="1227096" cy="8322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93" name="Google Shape;793;p55"/>
          <p:cNvSpPr/>
          <p:nvPr/>
        </p:nvSpPr>
        <p:spPr>
          <a:xfrm>
            <a:off x="5078625" y="2805350"/>
            <a:ext cx="1487700" cy="832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Send to: Bob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55"/>
          <p:cNvSpPr txBox="1"/>
          <p:nvPr/>
        </p:nvSpPr>
        <p:spPr>
          <a:xfrm>
            <a:off x="5216175" y="3169950"/>
            <a:ext cx="1172400" cy="400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am hungry.</a:t>
            </a:r>
            <a:endParaRPr/>
          </a:p>
        </p:txBody>
      </p:sp>
      <p:sp>
        <p:nvSpPr>
          <p:cNvPr id="795" name="Google Shape;795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96" name="Google Shape;796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9600" y="1622475"/>
            <a:ext cx="1120011" cy="102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55"/>
          <p:cNvPicPr preferRelativeResize="0"/>
          <p:nvPr/>
        </p:nvPicPr>
        <p:blipFill rotWithShape="1">
          <a:blip r:embed="rId5">
            <a:alphaModFix/>
          </a:blip>
          <a:srcRect b="0" l="8367" r="14939" t="0"/>
          <a:stretch/>
        </p:blipFill>
        <p:spPr>
          <a:xfrm>
            <a:off x="1739011" y="2794748"/>
            <a:ext cx="300843" cy="35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29375" y="1639550"/>
            <a:ext cx="1064725" cy="98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55"/>
          <p:cNvPicPr preferRelativeResize="0"/>
          <p:nvPr/>
        </p:nvPicPr>
        <p:blipFill rotWithShape="1">
          <a:blip r:embed="rId6">
            <a:alphaModFix/>
          </a:blip>
          <a:srcRect b="3437" l="0" r="24505" t="0"/>
          <a:stretch/>
        </p:blipFill>
        <p:spPr>
          <a:xfrm>
            <a:off x="7070851" y="2816877"/>
            <a:ext cx="300850" cy="356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56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Sending Mail</a:t>
            </a:r>
            <a:endParaRPr/>
          </a:p>
        </p:txBody>
      </p:sp>
      <p:sp>
        <p:nvSpPr>
          <p:cNvPr id="805" name="Google Shape;805;p56"/>
          <p:cNvSpPr txBox="1"/>
          <p:nvPr/>
        </p:nvSpPr>
        <p:spPr>
          <a:xfrm>
            <a:off x="1543750" y="1189450"/>
            <a:ext cx="73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Alice</a:t>
            </a:r>
            <a:endParaRPr/>
          </a:p>
        </p:txBody>
      </p:sp>
      <p:pic>
        <p:nvPicPr>
          <p:cNvPr id="806" name="Google Shape;806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3399" y="2794738"/>
            <a:ext cx="1172401" cy="83227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07" name="Google Shape;807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6050" y="3999876"/>
            <a:ext cx="1227096" cy="8322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08" name="Google Shape;808;p56"/>
          <p:cNvSpPr txBox="1"/>
          <p:nvPr/>
        </p:nvSpPr>
        <p:spPr>
          <a:xfrm>
            <a:off x="6895900" y="1189450"/>
            <a:ext cx="73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Bob</a:t>
            </a:r>
            <a:endParaRPr/>
          </a:p>
        </p:txBody>
      </p:sp>
      <p:pic>
        <p:nvPicPr>
          <p:cNvPr id="809" name="Google Shape;80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5549" y="2794738"/>
            <a:ext cx="1172401" cy="83227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10" name="Google Shape;810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8200" y="3999876"/>
            <a:ext cx="1227096" cy="8322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11" name="Google Shape;811;p56"/>
          <p:cNvSpPr txBox="1"/>
          <p:nvPr/>
        </p:nvSpPr>
        <p:spPr>
          <a:xfrm>
            <a:off x="5493100" y="1761375"/>
            <a:ext cx="1172400" cy="400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am hungry.</a:t>
            </a:r>
            <a:endParaRPr/>
          </a:p>
        </p:txBody>
      </p:sp>
      <p:sp>
        <p:nvSpPr>
          <p:cNvPr id="812" name="Google Shape;812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13" name="Google Shape;813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9600" y="1622475"/>
            <a:ext cx="1120011" cy="102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56"/>
          <p:cNvPicPr preferRelativeResize="0"/>
          <p:nvPr/>
        </p:nvPicPr>
        <p:blipFill rotWithShape="1">
          <a:blip r:embed="rId5">
            <a:alphaModFix/>
          </a:blip>
          <a:srcRect b="0" l="8367" r="14939" t="0"/>
          <a:stretch/>
        </p:blipFill>
        <p:spPr>
          <a:xfrm>
            <a:off x="1739011" y="2794748"/>
            <a:ext cx="300843" cy="35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29375" y="1639550"/>
            <a:ext cx="1064725" cy="98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56"/>
          <p:cNvPicPr preferRelativeResize="0"/>
          <p:nvPr/>
        </p:nvPicPr>
        <p:blipFill rotWithShape="1">
          <a:blip r:embed="rId6">
            <a:alphaModFix/>
          </a:blip>
          <a:srcRect b="3437" l="0" r="24505" t="0"/>
          <a:stretch/>
        </p:blipFill>
        <p:spPr>
          <a:xfrm>
            <a:off x="7070851" y="2816877"/>
            <a:ext cx="300850" cy="356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57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Sending Mail</a:t>
            </a:r>
            <a:endParaRPr/>
          </a:p>
        </p:txBody>
      </p:sp>
      <p:sp>
        <p:nvSpPr>
          <p:cNvPr id="822" name="Google Shape;822;p57"/>
          <p:cNvSpPr txBox="1"/>
          <p:nvPr/>
        </p:nvSpPr>
        <p:spPr>
          <a:xfrm>
            <a:off x="1543750" y="1189450"/>
            <a:ext cx="73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Alice</a:t>
            </a:r>
            <a:endParaRPr/>
          </a:p>
        </p:txBody>
      </p:sp>
      <p:pic>
        <p:nvPicPr>
          <p:cNvPr id="823" name="Google Shape;82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3399" y="2794738"/>
            <a:ext cx="1172401" cy="83227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24" name="Google Shape;824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6050" y="3999876"/>
            <a:ext cx="1227096" cy="8322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825" name="Google Shape;825;p57"/>
          <p:cNvCxnSpPr>
            <a:stCxn id="826" idx="2"/>
            <a:endCxn id="823" idx="0"/>
          </p:cNvCxnSpPr>
          <p:nvPr/>
        </p:nvCxnSpPr>
        <p:spPr>
          <a:xfrm>
            <a:off x="1909599" y="2421838"/>
            <a:ext cx="0" cy="3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7" name="Google Shape;827;p57"/>
          <p:cNvCxnSpPr>
            <a:stCxn id="823" idx="2"/>
            <a:endCxn id="824" idx="0"/>
          </p:cNvCxnSpPr>
          <p:nvPr/>
        </p:nvCxnSpPr>
        <p:spPr>
          <a:xfrm>
            <a:off x="1909599" y="3627010"/>
            <a:ext cx="0" cy="3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8" name="Google Shape;828;p57"/>
          <p:cNvCxnSpPr/>
          <p:nvPr/>
        </p:nvCxnSpPr>
        <p:spPr>
          <a:xfrm>
            <a:off x="2772763" y="1961475"/>
            <a:ext cx="359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29" name="Google Shape;829;p57"/>
          <p:cNvCxnSpPr/>
          <p:nvPr/>
        </p:nvCxnSpPr>
        <p:spPr>
          <a:xfrm>
            <a:off x="2772750" y="3166613"/>
            <a:ext cx="359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30" name="Google Shape;830;p57"/>
          <p:cNvCxnSpPr/>
          <p:nvPr/>
        </p:nvCxnSpPr>
        <p:spPr>
          <a:xfrm>
            <a:off x="2772738" y="4405650"/>
            <a:ext cx="359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31" name="Google Shape;831;p57"/>
          <p:cNvSpPr txBox="1"/>
          <p:nvPr/>
        </p:nvSpPr>
        <p:spPr>
          <a:xfrm>
            <a:off x="6895900" y="1189450"/>
            <a:ext cx="73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Bob</a:t>
            </a:r>
            <a:endParaRPr/>
          </a:p>
        </p:txBody>
      </p:sp>
      <p:pic>
        <p:nvPicPr>
          <p:cNvPr id="832" name="Google Shape;83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5549" y="2794738"/>
            <a:ext cx="1172401" cy="83227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33" name="Google Shape;833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8200" y="3999876"/>
            <a:ext cx="1227096" cy="8322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834" name="Google Shape;834;p57"/>
          <p:cNvCxnSpPr>
            <a:stCxn id="835" idx="2"/>
            <a:endCxn id="832" idx="0"/>
          </p:cNvCxnSpPr>
          <p:nvPr/>
        </p:nvCxnSpPr>
        <p:spPr>
          <a:xfrm>
            <a:off x="7261749" y="2421838"/>
            <a:ext cx="0" cy="3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6" name="Google Shape;836;p57"/>
          <p:cNvSpPr txBox="1"/>
          <p:nvPr/>
        </p:nvSpPr>
        <p:spPr>
          <a:xfrm>
            <a:off x="3469175" y="1018075"/>
            <a:ext cx="2986500" cy="83130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layer communicates with each other, relying on abstractions below them!</a:t>
            </a:r>
            <a:endParaRPr/>
          </a:p>
        </p:txBody>
      </p:sp>
      <p:cxnSp>
        <p:nvCxnSpPr>
          <p:cNvPr id="837" name="Google Shape;837;p57"/>
          <p:cNvCxnSpPr>
            <a:stCxn id="832" idx="2"/>
            <a:endCxn id="833" idx="0"/>
          </p:cNvCxnSpPr>
          <p:nvPr/>
        </p:nvCxnSpPr>
        <p:spPr>
          <a:xfrm>
            <a:off x="7261749" y="3627010"/>
            <a:ext cx="0" cy="3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8" name="Google Shape;838;p57"/>
          <p:cNvSpPr txBox="1"/>
          <p:nvPr/>
        </p:nvSpPr>
        <p:spPr>
          <a:xfrm>
            <a:off x="35300" y="1684425"/>
            <a:ext cx="113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Relies upon</a:t>
            </a:r>
            <a:r>
              <a:rPr lang="en" sz="800"/>
              <a:t>: Sending messages to people</a:t>
            </a:r>
            <a:endParaRPr sz="800"/>
          </a:p>
        </p:txBody>
      </p:sp>
      <p:sp>
        <p:nvSpPr>
          <p:cNvPr id="839" name="Google Shape;839;p57"/>
          <p:cNvSpPr txBox="1"/>
          <p:nvPr/>
        </p:nvSpPr>
        <p:spPr>
          <a:xfrm>
            <a:off x="35300" y="2810675"/>
            <a:ext cx="1137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Provides</a:t>
            </a:r>
            <a:r>
              <a:rPr lang="en" sz="800"/>
              <a:t>: Sending messages to people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Relies upon</a:t>
            </a:r>
            <a:r>
              <a:rPr lang="en" sz="800"/>
              <a:t>: Sending messages to addresses</a:t>
            </a:r>
            <a:endParaRPr sz="800"/>
          </a:p>
        </p:txBody>
      </p:sp>
      <p:sp>
        <p:nvSpPr>
          <p:cNvPr id="840" name="Google Shape;840;p57"/>
          <p:cNvSpPr txBox="1"/>
          <p:nvPr/>
        </p:nvSpPr>
        <p:spPr>
          <a:xfrm>
            <a:off x="35300" y="4128588"/>
            <a:ext cx="113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Provides</a:t>
            </a:r>
            <a:r>
              <a:rPr lang="en" sz="800"/>
              <a:t>: Sending messages to addresses</a:t>
            </a:r>
            <a:endParaRPr sz="800"/>
          </a:p>
        </p:txBody>
      </p:sp>
      <p:sp>
        <p:nvSpPr>
          <p:cNvPr id="841" name="Google Shape;841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42" name="Google Shape;842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9600" y="1622475"/>
            <a:ext cx="1120011" cy="102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57"/>
          <p:cNvPicPr preferRelativeResize="0"/>
          <p:nvPr/>
        </p:nvPicPr>
        <p:blipFill rotWithShape="1">
          <a:blip r:embed="rId5">
            <a:alphaModFix/>
          </a:blip>
          <a:srcRect b="0" l="8367" r="14939" t="0"/>
          <a:stretch/>
        </p:blipFill>
        <p:spPr>
          <a:xfrm>
            <a:off x="1739011" y="2794748"/>
            <a:ext cx="300843" cy="35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29375" y="1639550"/>
            <a:ext cx="1064725" cy="98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57"/>
          <p:cNvPicPr preferRelativeResize="0"/>
          <p:nvPr/>
        </p:nvPicPr>
        <p:blipFill rotWithShape="1">
          <a:blip r:embed="rId6">
            <a:alphaModFix/>
          </a:blip>
          <a:srcRect b="3437" l="0" r="24505" t="0"/>
          <a:stretch/>
        </p:blipFill>
        <p:spPr>
          <a:xfrm>
            <a:off x="7070851" y="2816877"/>
            <a:ext cx="300850" cy="356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58"/>
          <p:cNvSpPr txBox="1"/>
          <p:nvPr/>
        </p:nvSpPr>
        <p:spPr>
          <a:xfrm>
            <a:off x="6619075" y="2483131"/>
            <a:ext cx="1715700" cy="1105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5400">
            <a:noAutofit/>
          </a:bodyPr>
          <a:lstStyle/>
          <a:p>
            <a:pPr indent="0" lvl="0" marL="749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Mail to: 123 Bob St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58"/>
          <p:cNvSpPr txBox="1"/>
          <p:nvPr>
            <p:ph idx="1" type="body"/>
          </p:nvPr>
        </p:nvSpPr>
        <p:spPr>
          <a:xfrm>
            <a:off x="198500" y="1246825"/>
            <a:ext cx="85206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you move to lower layers, we wrap additional headers around the message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you move to higher layers, you peel off headers around the message</a:t>
            </a:r>
            <a:endParaRPr/>
          </a:p>
        </p:txBody>
      </p:sp>
      <p:sp>
        <p:nvSpPr>
          <p:cNvPr id="852" name="Google Shape;852;p58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Layers of Abstraction and Headers</a:t>
            </a:r>
            <a:endParaRPr/>
          </a:p>
        </p:txBody>
      </p:sp>
      <p:sp>
        <p:nvSpPr>
          <p:cNvPr id="853" name="Google Shape;853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4" name="Google Shape;854;p58"/>
          <p:cNvSpPr txBox="1"/>
          <p:nvPr/>
        </p:nvSpPr>
        <p:spPr>
          <a:xfrm>
            <a:off x="6712169" y="3203359"/>
            <a:ext cx="1098300" cy="241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2254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I’m hungry.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58"/>
          <p:cNvSpPr txBox="1"/>
          <p:nvPr/>
        </p:nvSpPr>
        <p:spPr>
          <a:xfrm>
            <a:off x="6659000" y="2851405"/>
            <a:ext cx="1327800" cy="699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4925">
            <a:noAutofit/>
          </a:bodyPr>
          <a:lstStyle/>
          <a:p>
            <a:pPr indent="0" lvl="0" marL="749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Send to: Bob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58"/>
          <p:cNvSpPr txBox="1"/>
          <p:nvPr/>
        </p:nvSpPr>
        <p:spPr>
          <a:xfrm>
            <a:off x="3640608" y="3203359"/>
            <a:ext cx="1096800" cy="241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22288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I’m hungry.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58"/>
          <p:cNvSpPr txBox="1"/>
          <p:nvPr/>
        </p:nvSpPr>
        <p:spPr>
          <a:xfrm>
            <a:off x="3586250" y="2851390"/>
            <a:ext cx="1327800" cy="699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4925">
            <a:noAutofit/>
          </a:bodyPr>
          <a:lstStyle/>
          <a:p>
            <a:pPr indent="0" lvl="0" marL="749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Send to: Bob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58"/>
          <p:cNvSpPr txBox="1"/>
          <p:nvPr/>
        </p:nvSpPr>
        <p:spPr>
          <a:xfrm>
            <a:off x="809239" y="3203359"/>
            <a:ext cx="1098300" cy="241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2254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I’m hungry.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9" name="Google Shape;859;p58"/>
          <p:cNvGrpSpPr/>
          <p:nvPr/>
        </p:nvGrpSpPr>
        <p:grpSpPr>
          <a:xfrm>
            <a:off x="2145352" y="3268385"/>
            <a:ext cx="1187421" cy="62348"/>
            <a:chOff x="4711890" y="7968125"/>
            <a:chExt cx="2696845" cy="141604"/>
          </a:xfrm>
        </p:grpSpPr>
        <p:sp>
          <p:nvSpPr>
            <p:cNvPr id="860" name="Google Shape;860;p58"/>
            <p:cNvSpPr/>
            <p:nvPr/>
          </p:nvSpPr>
          <p:spPr>
            <a:xfrm>
              <a:off x="4759016" y="8038799"/>
              <a:ext cx="2606040" cy="0"/>
            </a:xfrm>
            <a:custGeom>
              <a:rect b="b" l="l" r="r" t="t"/>
              <a:pathLst>
                <a:path extrusionOk="0" h="120000" w="2606040">
                  <a:moveTo>
                    <a:pt x="0" y="0"/>
                  </a:moveTo>
                  <a:lnTo>
                    <a:pt x="2606042" y="0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58"/>
            <p:cNvSpPr/>
            <p:nvPr/>
          </p:nvSpPr>
          <p:spPr>
            <a:xfrm>
              <a:off x="4711890" y="7968125"/>
              <a:ext cx="2696845" cy="141604"/>
            </a:xfrm>
            <a:custGeom>
              <a:rect b="b" l="l" r="r" t="t"/>
              <a:pathLst>
                <a:path extrusionOk="0" h="141604" w="2696845">
                  <a:moveTo>
                    <a:pt x="141363" y="0"/>
                  </a:moveTo>
                  <a:lnTo>
                    <a:pt x="0" y="70675"/>
                  </a:lnTo>
                  <a:lnTo>
                    <a:pt x="141363" y="141363"/>
                  </a:lnTo>
                  <a:lnTo>
                    <a:pt x="141363" y="0"/>
                  </a:lnTo>
                  <a:close/>
                </a:path>
                <a:path extrusionOk="0" h="141604" w="2696845">
                  <a:moveTo>
                    <a:pt x="2696654" y="70675"/>
                  </a:moveTo>
                  <a:lnTo>
                    <a:pt x="2558923" y="0"/>
                  </a:lnTo>
                  <a:lnTo>
                    <a:pt x="2558923" y="141363"/>
                  </a:lnTo>
                  <a:lnTo>
                    <a:pt x="2696654" y="70675"/>
                  </a:lnTo>
                  <a:close/>
                </a:path>
              </a:pathLst>
            </a:custGeom>
            <a:solidFill>
              <a:srgbClr val="000000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2" name="Google Shape;862;p58"/>
          <p:cNvGrpSpPr/>
          <p:nvPr/>
        </p:nvGrpSpPr>
        <p:grpSpPr>
          <a:xfrm>
            <a:off x="5207322" y="3253488"/>
            <a:ext cx="1187420" cy="62348"/>
            <a:chOff x="11666170" y="7934293"/>
            <a:chExt cx="2696844" cy="141604"/>
          </a:xfrm>
        </p:grpSpPr>
        <p:sp>
          <p:nvSpPr>
            <p:cNvPr id="863" name="Google Shape;863;p58"/>
            <p:cNvSpPr/>
            <p:nvPr/>
          </p:nvSpPr>
          <p:spPr>
            <a:xfrm>
              <a:off x="11713296" y="8004971"/>
              <a:ext cx="2602865" cy="0"/>
            </a:xfrm>
            <a:custGeom>
              <a:rect b="b" l="l" r="r" t="t"/>
              <a:pathLst>
                <a:path extrusionOk="0" h="120000" w="2602865">
                  <a:moveTo>
                    <a:pt x="0" y="0"/>
                  </a:moveTo>
                  <a:lnTo>
                    <a:pt x="2602417" y="0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58"/>
            <p:cNvSpPr/>
            <p:nvPr/>
          </p:nvSpPr>
          <p:spPr>
            <a:xfrm>
              <a:off x="11666170" y="7934293"/>
              <a:ext cx="2696844" cy="141604"/>
            </a:xfrm>
            <a:custGeom>
              <a:rect b="b" l="l" r="r" t="t"/>
              <a:pathLst>
                <a:path extrusionOk="0" h="141604" w="2696844">
                  <a:moveTo>
                    <a:pt x="141363" y="141363"/>
                  </a:moveTo>
                  <a:lnTo>
                    <a:pt x="141351" y="0"/>
                  </a:lnTo>
                  <a:lnTo>
                    <a:pt x="0" y="70688"/>
                  </a:lnTo>
                  <a:lnTo>
                    <a:pt x="141363" y="141363"/>
                  </a:lnTo>
                  <a:close/>
                </a:path>
                <a:path extrusionOk="0" h="141604" w="2696844">
                  <a:moveTo>
                    <a:pt x="2696654" y="70688"/>
                  </a:moveTo>
                  <a:lnTo>
                    <a:pt x="2555303" y="0"/>
                  </a:lnTo>
                  <a:lnTo>
                    <a:pt x="2555303" y="141363"/>
                  </a:lnTo>
                  <a:lnTo>
                    <a:pt x="2696654" y="70688"/>
                  </a:lnTo>
                  <a:close/>
                </a:path>
              </a:pathLst>
            </a:custGeom>
            <a:solidFill>
              <a:srgbClr val="000000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5" name="Google Shape;865;p58"/>
          <p:cNvSpPr txBox="1"/>
          <p:nvPr/>
        </p:nvSpPr>
        <p:spPr>
          <a:xfrm>
            <a:off x="6839652" y="3929505"/>
            <a:ext cx="1148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Lower layer,  more headers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58"/>
          <p:cNvSpPr txBox="1"/>
          <p:nvPr/>
        </p:nvSpPr>
        <p:spPr>
          <a:xfrm>
            <a:off x="836842" y="3850061"/>
            <a:ext cx="11781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Higher layer,  fewer headers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9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Layers of Abstraction and Headers</a:t>
            </a:r>
            <a:endParaRPr/>
          </a:p>
        </p:txBody>
      </p:sp>
      <p:sp>
        <p:nvSpPr>
          <p:cNvPr id="872" name="Google Shape;872;p59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you move to lower layers, you wrap additional headers around the message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you move to higher layers, you peel off headers around the message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sending a message we go from the highest to the lowest layer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</a:t>
            </a:r>
            <a:r>
              <a:rPr lang="en"/>
              <a:t>receiving</a:t>
            </a:r>
            <a:r>
              <a:rPr lang="en"/>
              <a:t> a message we go from the lowest to highest layer</a:t>
            </a:r>
            <a:endParaRPr/>
          </a:p>
        </p:txBody>
      </p:sp>
      <p:sp>
        <p:nvSpPr>
          <p:cNvPr id="873" name="Google Shape;873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60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2 Header</a:t>
            </a:r>
            <a:endParaRPr/>
          </a:p>
        </p:txBody>
      </p:sp>
      <p:graphicFrame>
        <p:nvGraphicFramePr>
          <p:cNvPr id="879" name="Google Shape;879;p60"/>
          <p:cNvGraphicFramePr/>
          <p:nvPr/>
        </p:nvGraphicFramePr>
        <p:xfrm>
          <a:off x="1857375" y="167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{5D92224F-6157-4D58-9E34-8E17004F33E6}</a:tableStyleId>
              </a:tblPr>
              <a:tblGrid>
                <a:gridCol w="904875"/>
                <a:gridCol w="904875"/>
                <a:gridCol w="904875"/>
                <a:gridCol w="904875"/>
                <a:gridCol w="904875"/>
                <a:gridCol w="904875"/>
              </a:tblGrid>
              <a:tr h="381000">
                <a:tc gridSpan="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Source MAC Address (6 bytes)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381000">
                <a:tc gridSpan="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Destination</a:t>
                      </a:r>
                      <a:r>
                        <a:rPr b="1" lang="en">
                          <a:solidFill>
                            <a:schemeClr val="dk1"/>
                          </a:solidFill>
                        </a:rPr>
                        <a:t> MAC Address (6 bytes)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3810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VLAN Tag (4 bytes)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Type (2 bytes)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 hMerge="1"/>
              </a:tr>
              <a:tr h="1509525">
                <a:tc gridSpan="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Data (variable-length)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880" name="Google Shape;880;p60"/>
          <p:cNvSpPr txBox="1"/>
          <p:nvPr>
            <p:ph idx="1" type="body"/>
          </p:nvPr>
        </p:nvSpPr>
        <p:spPr>
          <a:xfrm>
            <a:off x="512100" y="4520775"/>
            <a:ext cx="811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Ethernet and MAC address headers</a:t>
            </a:r>
            <a:endParaRPr/>
          </a:p>
        </p:txBody>
      </p:sp>
      <p:sp>
        <p:nvSpPr>
          <p:cNvPr id="881" name="Google Shape;881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61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3 Header</a:t>
            </a:r>
            <a:endParaRPr/>
          </a:p>
        </p:txBody>
      </p:sp>
      <p:graphicFrame>
        <p:nvGraphicFramePr>
          <p:cNvPr id="887" name="Google Shape;887;p61"/>
          <p:cNvGraphicFramePr/>
          <p:nvPr/>
        </p:nvGraphicFramePr>
        <p:xfrm>
          <a:off x="197688" y="12811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{5D92224F-6157-4D58-9E34-8E17004F33E6}</a:tableStyleId>
              </a:tblPr>
              <a:tblGrid>
                <a:gridCol w="422500"/>
                <a:gridCol w="555075"/>
                <a:gridCol w="555075"/>
                <a:gridCol w="555075"/>
                <a:gridCol w="555075"/>
                <a:gridCol w="555075"/>
                <a:gridCol w="555075"/>
                <a:gridCol w="555075"/>
                <a:gridCol w="555075"/>
                <a:gridCol w="555075"/>
                <a:gridCol w="555075"/>
                <a:gridCol w="555075"/>
                <a:gridCol w="555075"/>
                <a:gridCol w="555075"/>
                <a:gridCol w="555075"/>
                <a:gridCol w="555075"/>
              </a:tblGrid>
              <a:tr h="48765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Version (4 bits)</a:t>
                      </a:r>
                      <a:endParaRPr b="1" sz="1000"/>
                    </a:p>
                  </a:txBody>
                  <a:tcPr marT="91425" marB="91425" marR="45700" marL="457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Header Length (4 bits)</a:t>
                      </a:r>
                      <a:endParaRPr b="1" sz="1000"/>
                    </a:p>
                  </a:txBody>
                  <a:tcPr marT="91425" marB="91425" marR="45700" marL="457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Type of Service (6 bits)</a:t>
                      </a:r>
                      <a:endParaRPr b="1" sz="1000"/>
                    </a:p>
                  </a:txBody>
                  <a:tcPr marT="91425" marB="91425" marR="45700" marL="457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ECN (2 bits)</a:t>
                      </a:r>
                      <a:endParaRPr b="1" sz="1000"/>
                    </a:p>
                  </a:txBody>
                  <a:tcPr marT="91425" marB="91425" marR="45700" marL="457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 Length (16 bits)</a:t>
                      </a:r>
                      <a:endParaRPr b="1" sz="1000"/>
                    </a:p>
                  </a:txBody>
                  <a:tcPr marT="91425" marB="91425" marR="45700" marL="457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137150"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Identification (16 bits)</a:t>
                      </a:r>
                      <a:endParaRPr b="1" sz="1000"/>
                    </a:p>
                  </a:txBody>
                  <a:tcPr marT="91425" marB="91425" marR="45700" marL="457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Flags (3 bits)</a:t>
                      </a:r>
                      <a:endParaRPr b="1" sz="1000"/>
                    </a:p>
                  </a:txBody>
                  <a:tcPr marT="91425" marB="91425" marR="45700" marL="457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 hMerge="1"/>
                <a:tc gridSpan="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Fragment Offset (13 bits)</a:t>
                      </a:r>
                      <a:endParaRPr b="1" sz="1000"/>
                    </a:p>
                  </a:txBody>
                  <a:tcPr marT="91425" marB="91425" marR="45700" marL="457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1000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Time to Live (8 bits)</a:t>
                      </a:r>
                      <a:endParaRPr b="1" sz="1000"/>
                    </a:p>
                  </a:txBody>
                  <a:tcPr marT="91425" marB="91425" marR="45700" marL="457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Protocol (8 bits)</a:t>
                      </a:r>
                      <a:endParaRPr b="1" sz="1000"/>
                    </a:p>
                  </a:txBody>
                  <a:tcPr marT="91425" marB="91425" marR="45700" marL="457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 hMerge="1"/>
                <a:tc hMerge="1"/>
                <a:tc hMerge="1"/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Header Checksum (16 bits)</a:t>
                      </a:r>
                      <a:endParaRPr b="1" sz="1000"/>
                    </a:p>
                  </a:txBody>
                  <a:tcPr marT="91425" marB="91425" marR="45700" marL="457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100000">
                <a:tc gridSpan="1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Source Address (32 bits)</a:t>
                      </a:r>
                      <a:endParaRPr b="1" sz="1000"/>
                    </a:p>
                  </a:txBody>
                  <a:tcPr marT="91425" marB="91425" marR="45700" marL="457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100000">
                <a:tc gridSpan="1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Destination Address (32 bits)</a:t>
                      </a:r>
                      <a:endParaRPr b="1" sz="1000"/>
                    </a:p>
                  </a:txBody>
                  <a:tcPr marT="91425" marB="91425" marR="45700" marL="457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487650">
                <a:tc gridSpan="1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Options (variable length)</a:t>
                      </a:r>
                      <a:endParaRPr b="1" sz="1000"/>
                    </a:p>
                  </a:txBody>
                  <a:tcPr marT="91425" marB="91425" marR="45700" marL="457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845800">
                <a:tc gridSpan="1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Data (variable length)</a:t>
                      </a:r>
                      <a:endParaRPr b="1" sz="1000"/>
                    </a:p>
                  </a:txBody>
                  <a:tcPr marT="91425" marB="91425" marR="45700" marL="457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888" name="Google Shape;888;p61"/>
          <p:cNvSpPr txBox="1"/>
          <p:nvPr>
            <p:ph idx="1" type="body"/>
          </p:nvPr>
        </p:nvSpPr>
        <p:spPr>
          <a:xfrm>
            <a:off x="512100" y="4520775"/>
            <a:ext cx="811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IPv4 header</a:t>
            </a:r>
            <a:endParaRPr/>
          </a:p>
        </p:txBody>
      </p:sp>
      <p:sp>
        <p:nvSpPr>
          <p:cNvPr id="889" name="Google Shape;889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62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HTTP Request</a:t>
            </a:r>
            <a:endParaRPr/>
          </a:p>
        </p:txBody>
      </p:sp>
      <p:sp>
        <p:nvSpPr>
          <p:cNvPr id="895" name="Google Shape;895;p62"/>
          <p:cNvSpPr/>
          <p:nvPr/>
        </p:nvSpPr>
        <p:spPr>
          <a:xfrm>
            <a:off x="1140063" y="1274900"/>
            <a:ext cx="1436100" cy="572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</a:t>
            </a:r>
            <a:endParaRPr/>
          </a:p>
        </p:txBody>
      </p:sp>
      <p:sp>
        <p:nvSpPr>
          <p:cNvPr id="896" name="Google Shape;896;p62"/>
          <p:cNvSpPr/>
          <p:nvPr/>
        </p:nvSpPr>
        <p:spPr>
          <a:xfrm>
            <a:off x="1140063" y="2064975"/>
            <a:ext cx="1436100" cy="572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</a:t>
            </a:r>
            <a:endParaRPr/>
          </a:p>
        </p:txBody>
      </p:sp>
      <p:sp>
        <p:nvSpPr>
          <p:cNvPr id="897" name="Google Shape;897;p62"/>
          <p:cNvSpPr/>
          <p:nvPr/>
        </p:nvSpPr>
        <p:spPr>
          <a:xfrm>
            <a:off x="1140063" y="2855050"/>
            <a:ext cx="1436100" cy="572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</a:t>
            </a:r>
            <a:endParaRPr/>
          </a:p>
        </p:txBody>
      </p:sp>
      <p:sp>
        <p:nvSpPr>
          <p:cNvPr id="898" name="Google Shape;898;p62"/>
          <p:cNvSpPr/>
          <p:nvPr/>
        </p:nvSpPr>
        <p:spPr>
          <a:xfrm>
            <a:off x="1140063" y="3645125"/>
            <a:ext cx="1436100" cy="5727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Ethernet</a:t>
            </a:r>
            <a:endParaRPr/>
          </a:p>
        </p:txBody>
      </p:sp>
      <p:sp>
        <p:nvSpPr>
          <p:cNvPr id="899" name="Google Shape;899;p62"/>
          <p:cNvSpPr/>
          <p:nvPr/>
        </p:nvSpPr>
        <p:spPr>
          <a:xfrm>
            <a:off x="1140063" y="4435200"/>
            <a:ext cx="1436100" cy="5727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Wires</a:t>
            </a:r>
            <a:endParaRPr/>
          </a:p>
        </p:txBody>
      </p:sp>
      <p:sp>
        <p:nvSpPr>
          <p:cNvPr id="900" name="Google Shape;900;p62"/>
          <p:cNvSpPr/>
          <p:nvPr/>
        </p:nvSpPr>
        <p:spPr>
          <a:xfrm>
            <a:off x="6567838" y="1274900"/>
            <a:ext cx="1436100" cy="572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</a:t>
            </a:r>
            <a:endParaRPr/>
          </a:p>
        </p:txBody>
      </p:sp>
      <p:sp>
        <p:nvSpPr>
          <p:cNvPr id="901" name="Google Shape;901;p62"/>
          <p:cNvSpPr/>
          <p:nvPr/>
        </p:nvSpPr>
        <p:spPr>
          <a:xfrm>
            <a:off x="6567838" y="2064975"/>
            <a:ext cx="1436100" cy="572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</a:t>
            </a:r>
            <a:endParaRPr/>
          </a:p>
        </p:txBody>
      </p:sp>
      <p:sp>
        <p:nvSpPr>
          <p:cNvPr id="902" name="Google Shape;902;p62"/>
          <p:cNvSpPr/>
          <p:nvPr/>
        </p:nvSpPr>
        <p:spPr>
          <a:xfrm>
            <a:off x="6567838" y="2855050"/>
            <a:ext cx="1436100" cy="572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</a:t>
            </a:r>
            <a:endParaRPr/>
          </a:p>
        </p:txBody>
      </p:sp>
      <p:sp>
        <p:nvSpPr>
          <p:cNvPr id="903" name="Google Shape;903;p62"/>
          <p:cNvSpPr/>
          <p:nvPr/>
        </p:nvSpPr>
        <p:spPr>
          <a:xfrm>
            <a:off x="6567838" y="3645125"/>
            <a:ext cx="1436100" cy="5727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Ethernet</a:t>
            </a:r>
            <a:endParaRPr/>
          </a:p>
        </p:txBody>
      </p:sp>
      <p:sp>
        <p:nvSpPr>
          <p:cNvPr id="904" name="Google Shape;904;p62"/>
          <p:cNvSpPr/>
          <p:nvPr/>
        </p:nvSpPr>
        <p:spPr>
          <a:xfrm>
            <a:off x="6567838" y="4435200"/>
            <a:ext cx="1436100" cy="5727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Wires</a:t>
            </a:r>
            <a:endParaRPr/>
          </a:p>
        </p:txBody>
      </p:sp>
      <p:sp>
        <p:nvSpPr>
          <p:cNvPr id="905" name="Google Shape;905;p62"/>
          <p:cNvSpPr/>
          <p:nvPr/>
        </p:nvSpPr>
        <p:spPr>
          <a:xfrm>
            <a:off x="2857525" y="1301150"/>
            <a:ext cx="1164900" cy="5202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GET / HTTP/1.1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...</a:t>
            </a:r>
            <a:endParaRPr sz="1000"/>
          </a:p>
        </p:txBody>
      </p:sp>
      <p:sp>
        <p:nvSpPr>
          <p:cNvPr id="906" name="Google Shape;906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63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HTTP Request</a:t>
            </a:r>
            <a:endParaRPr/>
          </a:p>
        </p:txBody>
      </p:sp>
      <p:sp>
        <p:nvSpPr>
          <p:cNvPr id="912" name="Google Shape;912;p63"/>
          <p:cNvSpPr/>
          <p:nvPr/>
        </p:nvSpPr>
        <p:spPr>
          <a:xfrm>
            <a:off x="1140063" y="1274900"/>
            <a:ext cx="1436100" cy="572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</a:t>
            </a:r>
            <a:endParaRPr/>
          </a:p>
        </p:txBody>
      </p:sp>
      <p:sp>
        <p:nvSpPr>
          <p:cNvPr id="913" name="Google Shape;913;p63"/>
          <p:cNvSpPr/>
          <p:nvPr/>
        </p:nvSpPr>
        <p:spPr>
          <a:xfrm>
            <a:off x="1140063" y="2064975"/>
            <a:ext cx="1436100" cy="572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</a:t>
            </a:r>
            <a:endParaRPr/>
          </a:p>
        </p:txBody>
      </p:sp>
      <p:sp>
        <p:nvSpPr>
          <p:cNvPr id="914" name="Google Shape;914;p63"/>
          <p:cNvSpPr/>
          <p:nvPr/>
        </p:nvSpPr>
        <p:spPr>
          <a:xfrm>
            <a:off x="1140063" y="2855050"/>
            <a:ext cx="1436100" cy="572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</a:t>
            </a:r>
            <a:endParaRPr/>
          </a:p>
        </p:txBody>
      </p:sp>
      <p:sp>
        <p:nvSpPr>
          <p:cNvPr id="915" name="Google Shape;915;p63"/>
          <p:cNvSpPr/>
          <p:nvPr/>
        </p:nvSpPr>
        <p:spPr>
          <a:xfrm>
            <a:off x="1140063" y="3645125"/>
            <a:ext cx="1436100" cy="5727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Ethernet</a:t>
            </a:r>
            <a:endParaRPr/>
          </a:p>
        </p:txBody>
      </p:sp>
      <p:sp>
        <p:nvSpPr>
          <p:cNvPr id="916" name="Google Shape;916;p63"/>
          <p:cNvSpPr/>
          <p:nvPr/>
        </p:nvSpPr>
        <p:spPr>
          <a:xfrm>
            <a:off x="1140063" y="4435200"/>
            <a:ext cx="1436100" cy="5727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Wires</a:t>
            </a:r>
            <a:endParaRPr/>
          </a:p>
        </p:txBody>
      </p:sp>
      <p:sp>
        <p:nvSpPr>
          <p:cNvPr id="917" name="Google Shape;917;p63"/>
          <p:cNvSpPr/>
          <p:nvPr/>
        </p:nvSpPr>
        <p:spPr>
          <a:xfrm>
            <a:off x="6567838" y="1274900"/>
            <a:ext cx="1436100" cy="572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</a:t>
            </a:r>
            <a:endParaRPr/>
          </a:p>
        </p:txBody>
      </p:sp>
      <p:sp>
        <p:nvSpPr>
          <p:cNvPr id="918" name="Google Shape;918;p63"/>
          <p:cNvSpPr/>
          <p:nvPr/>
        </p:nvSpPr>
        <p:spPr>
          <a:xfrm>
            <a:off x="6567838" y="2064975"/>
            <a:ext cx="1436100" cy="572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</a:t>
            </a:r>
            <a:endParaRPr/>
          </a:p>
        </p:txBody>
      </p:sp>
      <p:sp>
        <p:nvSpPr>
          <p:cNvPr id="919" name="Google Shape;919;p63"/>
          <p:cNvSpPr/>
          <p:nvPr/>
        </p:nvSpPr>
        <p:spPr>
          <a:xfrm>
            <a:off x="6567838" y="2855050"/>
            <a:ext cx="1436100" cy="572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</a:t>
            </a:r>
            <a:endParaRPr/>
          </a:p>
        </p:txBody>
      </p:sp>
      <p:sp>
        <p:nvSpPr>
          <p:cNvPr id="920" name="Google Shape;920;p63"/>
          <p:cNvSpPr/>
          <p:nvPr/>
        </p:nvSpPr>
        <p:spPr>
          <a:xfrm>
            <a:off x="6567838" y="3645125"/>
            <a:ext cx="1436100" cy="5727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Ethernet</a:t>
            </a:r>
            <a:endParaRPr/>
          </a:p>
        </p:txBody>
      </p:sp>
      <p:sp>
        <p:nvSpPr>
          <p:cNvPr id="921" name="Google Shape;921;p63"/>
          <p:cNvSpPr/>
          <p:nvPr/>
        </p:nvSpPr>
        <p:spPr>
          <a:xfrm>
            <a:off x="6567838" y="4435200"/>
            <a:ext cx="1436100" cy="5727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Wires</a:t>
            </a:r>
            <a:endParaRPr/>
          </a:p>
        </p:txBody>
      </p:sp>
      <p:sp>
        <p:nvSpPr>
          <p:cNvPr id="922" name="Google Shape;922;p63"/>
          <p:cNvSpPr/>
          <p:nvPr/>
        </p:nvSpPr>
        <p:spPr>
          <a:xfrm>
            <a:off x="2819425" y="1597275"/>
            <a:ext cx="1436100" cy="106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From: Port 1234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To: Port 80</a:t>
            </a:r>
            <a:endParaRPr sz="1000"/>
          </a:p>
        </p:txBody>
      </p:sp>
      <p:sp>
        <p:nvSpPr>
          <p:cNvPr id="923" name="Google Shape;923;p63"/>
          <p:cNvSpPr/>
          <p:nvPr/>
        </p:nvSpPr>
        <p:spPr>
          <a:xfrm>
            <a:off x="2955025" y="2091225"/>
            <a:ext cx="1164900" cy="5202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GET / HTTP/1.1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...</a:t>
            </a:r>
            <a:endParaRPr sz="1000"/>
          </a:p>
        </p:txBody>
      </p:sp>
      <p:sp>
        <p:nvSpPr>
          <p:cNvPr id="924" name="Google Shape;924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64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HTTP Request</a:t>
            </a:r>
            <a:endParaRPr/>
          </a:p>
        </p:txBody>
      </p:sp>
      <p:sp>
        <p:nvSpPr>
          <p:cNvPr id="930" name="Google Shape;930;p64"/>
          <p:cNvSpPr/>
          <p:nvPr/>
        </p:nvSpPr>
        <p:spPr>
          <a:xfrm>
            <a:off x="1140063" y="1274900"/>
            <a:ext cx="1436100" cy="572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</a:t>
            </a:r>
            <a:endParaRPr/>
          </a:p>
        </p:txBody>
      </p:sp>
      <p:sp>
        <p:nvSpPr>
          <p:cNvPr id="931" name="Google Shape;931;p64"/>
          <p:cNvSpPr/>
          <p:nvPr/>
        </p:nvSpPr>
        <p:spPr>
          <a:xfrm>
            <a:off x="1140063" y="2064975"/>
            <a:ext cx="1436100" cy="572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</a:t>
            </a:r>
            <a:endParaRPr/>
          </a:p>
        </p:txBody>
      </p:sp>
      <p:sp>
        <p:nvSpPr>
          <p:cNvPr id="932" name="Google Shape;932;p64"/>
          <p:cNvSpPr/>
          <p:nvPr/>
        </p:nvSpPr>
        <p:spPr>
          <a:xfrm>
            <a:off x="1140063" y="2855050"/>
            <a:ext cx="1436100" cy="572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</a:t>
            </a:r>
            <a:endParaRPr/>
          </a:p>
        </p:txBody>
      </p:sp>
      <p:sp>
        <p:nvSpPr>
          <p:cNvPr id="933" name="Google Shape;933;p64"/>
          <p:cNvSpPr/>
          <p:nvPr/>
        </p:nvSpPr>
        <p:spPr>
          <a:xfrm>
            <a:off x="1140063" y="3645125"/>
            <a:ext cx="1436100" cy="5727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Ethernet</a:t>
            </a:r>
            <a:endParaRPr/>
          </a:p>
        </p:txBody>
      </p:sp>
      <p:sp>
        <p:nvSpPr>
          <p:cNvPr id="934" name="Google Shape;934;p64"/>
          <p:cNvSpPr/>
          <p:nvPr/>
        </p:nvSpPr>
        <p:spPr>
          <a:xfrm>
            <a:off x="1140063" y="4435200"/>
            <a:ext cx="1436100" cy="5727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Wires</a:t>
            </a:r>
            <a:endParaRPr/>
          </a:p>
        </p:txBody>
      </p:sp>
      <p:sp>
        <p:nvSpPr>
          <p:cNvPr id="935" name="Google Shape;935;p64"/>
          <p:cNvSpPr/>
          <p:nvPr/>
        </p:nvSpPr>
        <p:spPr>
          <a:xfrm>
            <a:off x="6567838" y="1274900"/>
            <a:ext cx="1436100" cy="572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</a:t>
            </a:r>
            <a:endParaRPr/>
          </a:p>
        </p:txBody>
      </p:sp>
      <p:sp>
        <p:nvSpPr>
          <p:cNvPr id="936" name="Google Shape;936;p64"/>
          <p:cNvSpPr/>
          <p:nvPr/>
        </p:nvSpPr>
        <p:spPr>
          <a:xfrm>
            <a:off x="6567838" y="2064975"/>
            <a:ext cx="1436100" cy="572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</a:t>
            </a:r>
            <a:endParaRPr/>
          </a:p>
        </p:txBody>
      </p:sp>
      <p:sp>
        <p:nvSpPr>
          <p:cNvPr id="937" name="Google Shape;937;p64"/>
          <p:cNvSpPr/>
          <p:nvPr/>
        </p:nvSpPr>
        <p:spPr>
          <a:xfrm>
            <a:off x="6567838" y="2855050"/>
            <a:ext cx="1436100" cy="572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</a:t>
            </a:r>
            <a:endParaRPr/>
          </a:p>
        </p:txBody>
      </p:sp>
      <p:sp>
        <p:nvSpPr>
          <p:cNvPr id="938" name="Google Shape;938;p64"/>
          <p:cNvSpPr/>
          <p:nvPr/>
        </p:nvSpPr>
        <p:spPr>
          <a:xfrm>
            <a:off x="6567838" y="3645125"/>
            <a:ext cx="1436100" cy="5727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Ethernet</a:t>
            </a:r>
            <a:endParaRPr/>
          </a:p>
        </p:txBody>
      </p:sp>
      <p:sp>
        <p:nvSpPr>
          <p:cNvPr id="939" name="Google Shape;939;p64"/>
          <p:cNvSpPr/>
          <p:nvPr/>
        </p:nvSpPr>
        <p:spPr>
          <a:xfrm>
            <a:off x="6567838" y="4435200"/>
            <a:ext cx="1436100" cy="5727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Wires</a:t>
            </a:r>
            <a:endParaRPr/>
          </a:p>
        </p:txBody>
      </p:sp>
      <p:sp>
        <p:nvSpPr>
          <p:cNvPr id="940" name="Google Shape;940;p64"/>
          <p:cNvSpPr/>
          <p:nvPr/>
        </p:nvSpPr>
        <p:spPr>
          <a:xfrm>
            <a:off x="2912425" y="1941625"/>
            <a:ext cx="1725600" cy="1619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From: 1.2.3.4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To: 5.6.7.8</a:t>
            </a:r>
            <a:endParaRPr sz="1000"/>
          </a:p>
        </p:txBody>
      </p:sp>
      <p:sp>
        <p:nvSpPr>
          <p:cNvPr id="941" name="Google Shape;941;p64"/>
          <p:cNvSpPr/>
          <p:nvPr/>
        </p:nvSpPr>
        <p:spPr>
          <a:xfrm>
            <a:off x="3048025" y="2435475"/>
            <a:ext cx="1436100" cy="106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From: Port 1234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To: Port 80</a:t>
            </a:r>
            <a:endParaRPr sz="1000"/>
          </a:p>
        </p:txBody>
      </p:sp>
      <p:sp>
        <p:nvSpPr>
          <p:cNvPr id="942" name="Google Shape;942;p64"/>
          <p:cNvSpPr/>
          <p:nvPr/>
        </p:nvSpPr>
        <p:spPr>
          <a:xfrm>
            <a:off x="3183625" y="2929425"/>
            <a:ext cx="1164900" cy="5202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GET / HTTP/1.1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...</a:t>
            </a:r>
            <a:endParaRPr sz="1000"/>
          </a:p>
        </p:txBody>
      </p:sp>
      <p:sp>
        <p:nvSpPr>
          <p:cNvPr id="943" name="Google Shape;943;p64"/>
          <p:cNvSpPr txBox="1"/>
          <p:nvPr/>
        </p:nvSpPr>
        <p:spPr>
          <a:xfrm>
            <a:off x="3582875" y="1384800"/>
            <a:ext cx="2088300" cy="40020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destination</a:t>
            </a:r>
            <a:endParaRPr/>
          </a:p>
        </p:txBody>
      </p:sp>
      <p:cxnSp>
        <p:nvCxnSpPr>
          <p:cNvPr id="944" name="Google Shape;944;p64"/>
          <p:cNvCxnSpPr>
            <a:stCxn id="943" idx="2"/>
          </p:cNvCxnSpPr>
          <p:nvPr/>
        </p:nvCxnSpPr>
        <p:spPr>
          <a:xfrm flipH="1">
            <a:off x="3670925" y="1785000"/>
            <a:ext cx="956100" cy="48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5" name="Google Shape;945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65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HTTP Request</a:t>
            </a:r>
            <a:endParaRPr/>
          </a:p>
        </p:txBody>
      </p:sp>
      <p:sp>
        <p:nvSpPr>
          <p:cNvPr id="951" name="Google Shape;951;p65"/>
          <p:cNvSpPr/>
          <p:nvPr/>
        </p:nvSpPr>
        <p:spPr>
          <a:xfrm>
            <a:off x="1140063" y="1274900"/>
            <a:ext cx="1436100" cy="572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</a:t>
            </a:r>
            <a:endParaRPr/>
          </a:p>
        </p:txBody>
      </p:sp>
      <p:sp>
        <p:nvSpPr>
          <p:cNvPr id="952" name="Google Shape;952;p65"/>
          <p:cNvSpPr/>
          <p:nvPr/>
        </p:nvSpPr>
        <p:spPr>
          <a:xfrm>
            <a:off x="1140063" y="2064975"/>
            <a:ext cx="1436100" cy="572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</a:t>
            </a:r>
            <a:endParaRPr/>
          </a:p>
        </p:txBody>
      </p:sp>
      <p:sp>
        <p:nvSpPr>
          <p:cNvPr id="953" name="Google Shape;953;p65"/>
          <p:cNvSpPr/>
          <p:nvPr/>
        </p:nvSpPr>
        <p:spPr>
          <a:xfrm>
            <a:off x="1140063" y="2855050"/>
            <a:ext cx="1436100" cy="572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</a:t>
            </a:r>
            <a:endParaRPr/>
          </a:p>
        </p:txBody>
      </p:sp>
      <p:sp>
        <p:nvSpPr>
          <p:cNvPr id="954" name="Google Shape;954;p65"/>
          <p:cNvSpPr/>
          <p:nvPr/>
        </p:nvSpPr>
        <p:spPr>
          <a:xfrm>
            <a:off x="1140063" y="3645125"/>
            <a:ext cx="1436100" cy="5727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Ethernet</a:t>
            </a:r>
            <a:endParaRPr/>
          </a:p>
        </p:txBody>
      </p:sp>
      <p:sp>
        <p:nvSpPr>
          <p:cNvPr id="955" name="Google Shape;955;p65"/>
          <p:cNvSpPr/>
          <p:nvPr/>
        </p:nvSpPr>
        <p:spPr>
          <a:xfrm>
            <a:off x="1140063" y="4435200"/>
            <a:ext cx="1436100" cy="5727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Wires</a:t>
            </a:r>
            <a:endParaRPr/>
          </a:p>
        </p:txBody>
      </p:sp>
      <p:sp>
        <p:nvSpPr>
          <p:cNvPr id="956" name="Google Shape;956;p65"/>
          <p:cNvSpPr/>
          <p:nvPr/>
        </p:nvSpPr>
        <p:spPr>
          <a:xfrm>
            <a:off x="6567838" y="1274900"/>
            <a:ext cx="1436100" cy="572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</a:t>
            </a:r>
            <a:endParaRPr/>
          </a:p>
        </p:txBody>
      </p:sp>
      <p:sp>
        <p:nvSpPr>
          <p:cNvPr id="957" name="Google Shape;957;p65"/>
          <p:cNvSpPr/>
          <p:nvPr/>
        </p:nvSpPr>
        <p:spPr>
          <a:xfrm>
            <a:off x="6567838" y="2064975"/>
            <a:ext cx="1436100" cy="572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</a:t>
            </a:r>
            <a:endParaRPr/>
          </a:p>
        </p:txBody>
      </p:sp>
      <p:sp>
        <p:nvSpPr>
          <p:cNvPr id="958" name="Google Shape;958;p65"/>
          <p:cNvSpPr/>
          <p:nvPr/>
        </p:nvSpPr>
        <p:spPr>
          <a:xfrm>
            <a:off x="6567838" y="2855050"/>
            <a:ext cx="1436100" cy="572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</a:t>
            </a:r>
            <a:endParaRPr/>
          </a:p>
        </p:txBody>
      </p:sp>
      <p:sp>
        <p:nvSpPr>
          <p:cNvPr id="959" name="Google Shape;959;p65"/>
          <p:cNvSpPr/>
          <p:nvPr/>
        </p:nvSpPr>
        <p:spPr>
          <a:xfrm>
            <a:off x="6567838" y="3645125"/>
            <a:ext cx="1436100" cy="5727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Ethernet</a:t>
            </a:r>
            <a:endParaRPr/>
          </a:p>
        </p:txBody>
      </p:sp>
      <p:sp>
        <p:nvSpPr>
          <p:cNvPr id="960" name="Google Shape;960;p65"/>
          <p:cNvSpPr/>
          <p:nvPr/>
        </p:nvSpPr>
        <p:spPr>
          <a:xfrm>
            <a:off x="6567838" y="4435200"/>
            <a:ext cx="1436100" cy="5727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Wires</a:t>
            </a:r>
            <a:endParaRPr/>
          </a:p>
        </p:txBody>
      </p:sp>
      <p:sp>
        <p:nvSpPr>
          <p:cNvPr id="961" name="Google Shape;961;p65"/>
          <p:cNvSpPr/>
          <p:nvPr/>
        </p:nvSpPr>
        <p:spPr>
          <a:xfrm>
            <a:off x="2897425" y="2139450"/>
            <a:ext cx="2042100" cy="21762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From: 20:61:84:3a:a9:52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To: 6d:36:ff:4a:32:92</a:t>
            </a:r>
            <a:endParaRPr sz="1000"/>
          </a:p>
        </p:txBody>
      </p:sp>
      <p:sp>
        <p:nvSpPr>
          <p:cNvPr id="962" name="Google Shape;962;p65"/>
          <p:cNvSpPr/>
          <p:nvPr/>
        </p:nvSpPr>
        <p:spPr>
          <a:xfrm>
            <a:off x="3064825" y="2627425"/>
            <a:ext cx="1725600" cy="1619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From: 1.2.3.4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To: 5.6.7.8</a:t>
            </a:r>
            <a:endParaRPr sz="1000"/>
          </a:p>
        </p:txBody>
      </p:sp>
      <p:sp>
        <p:nvSpPr>
          <p:cNvPr id="963" name="Google Shape;963;p65"/>
          <p:cNvSpPr/>
          <p:nvPr/>
        </p:nvSpPr>
        <p:spPr>
          <a:xfrm>
            <a:off x="3200425" y="3121275"/>
            <a:ext cx="1436100" cy="106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From: Port 1234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To: Port 80</a:t>
            </a:r>
            <a:endParaRPr sz="1000"/>
          </a:p>
        </p:txBody>
      </p:sp>
      <p:sp>
        <p:nvSpPr>
          <p:cNvPr id="964" name="Google Shape;964;p65"/>
          <p:cNvSpPr/>
          <p:nvPr/>
        </p:nvSpPr>
        <p:spPr>
          <a:xfrm>
            <a:off x="3336025" y="3615225"/>
            <a:ext cx="1164900" cy="5202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GET / HTTP/1.1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...</a:t>
            </a:r>
            <a:endParaRPr sz="1000"/>
          </a:p>
        </p:txBody>
      </p:sp>
      <p:sp>
        <p:nvSpPr>
          <p:cNvPr id="965" name="Google Shape;965;p65"/>
          <p:cNvSpPr txBox="1"/>
          <p:nvPr/>
        </p:nvSpPr>
        <p:spPr>
          <a:xfrm>
            <a:off x="4227625" y="1509375"/>
            <a:ext cx="2088300" cy="40020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Address of next hop</a:t>
            </a:r>
            <a:endParaRPr/>
          </a:p>
        </p:txBody>
      </p:sp>
      <p:cxnSp>
        <p:nvCxnSpPr>
          <p:cNvPr id="966" name="Google Shape;966;p65"/>
          <p:cNvCxnSpPr>
            <a:stCxn id="965" idx="2"/>
          </p:cNvCxnSpPr>
          <p:nvPr/>
        </p:nvCxnSpPr>
        <p:spPr>
          <a:xfrm flipH="1">
            <a:off x="4227475" y="1909575"/>
            <a:ext cx="1044300" cy="55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7" name="Google Shape;967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66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HTTP Request</a:t>
            </a:r>
            <a:endParaRPr/>
          </a:p>
        </p:txBody>
      </p:sp>
      <p:sp>
        <p:nvSpPr>
          <p:cNvPr id="973" name="Google Shape;973;p66"/>
          <p:cNvSpPr/>
          <p:nvPr/>
        </p:nvSpPr>
        <p:spPr>
          <a:xfrm>
            <a:off x="1140063" y="1274900"/>
            <a:ext cx="1436100" cy="572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</a:t>
            </a:r>
            <a:endParaRPr/>
          </a:p>
        </p:txBody>
      </p:sp>
      <p:sp>
        <p:nvSpPr>
          <p:cNvPr id="974" name="Google Shape;974;p66"/>
          <p:cNvSpPr/>
          <p:nvPr/>
        </p:nvSpPr>
        <p:spPr>
          <a:xfrm>
            <a:off x="1140063" y="2064975"/>
            <a:ext cx="1436100" cy="572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</a:t>
            </a:r>
            <a:endParaRPr/>
          </a:p>
        </p:txBody>
      </p:sp>
      <p:sp>
        <p:nvSpPr>
          <p:cNvPr id="975" name="Google Shape;975;p66"/>
          <p:cNvSpPr/>
          <p:nvPr/>
        </p:nvSpPr>
        <p:spPr>
          <a:xfrm>
            <a:off x="1140063" y="2855050"/>
            <a:ext cx="1436100" cy="572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</a:t>
            </a:r>
            <a:endParaRPr/>
          </a:p>
        </p:txBody>
      </p:sp>
      <p:sp>
        <p:nvSpPr>
          <p:cNvPr id="976" name="Google Shape;976;p66"/>
          <p:cNvSpPr/>
          <p:nvPr/>
        </p:nvSpPr>
        <p:spPr>
          <a:xfrm>
            <a:off x="1140063" y="3645125"/>
            <a:ext cx="1436100" cy="5727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Ethernet</a:t>
            </a:r>
            <a:endParaRPr/>
          </a:p>
        </p:txBody>
      </p:sp>
      <p:sp>
        <p:nvSpPr>
          <p:cNvPr id="977" name="Google Shape;977;p66"/>
          <p:cNvSpPr/>
          <p:nvPr/>
        </p:nvSpPr>
        <p:spPr>
          <a:xfrm>
            <a:off x="1140063" y="4435200"/>
            <a:ext cx="1436100" cy="5727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Wires</a:t>
            </a:r>
            <a:endParaRPr/>
          </a:p>
        </p:txBody>
      </p:sp>
      <p:sp>
        <p:nvSpPr>
          <p:cNvPr id="978" name="Google Shape;978;p66"/>
          <p:cNvSpPr/>
          <p:nvPr/>
        </p:nvSpPr>
        <p:spPr>
          <a:xfrm>
            <a:off x="6567838" y="1274900"/>
            <a:ext cx="1436100" cy="572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</a:t>
            </a:r>
            <a:endParaRPr/>
          </a:p>
        </p:txBody>
      </p:sp>
      <p:sp>
        <p:nvSpPr>
          <p:cNvPr id="979" name="Google Shape;979;p66"/>
          <p:cNvSpPr/>
          <p:nvPr/>
        </p:nvSpPr>
        <p:spPr>
          <a:xfrm>
            <a:off x="6567838" y="2064975"/>
            <a:ext cx="1436100" cy="572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</a:t>
            </a:r>
            <a:endParaRPr/>
          </a:p>
        </p:txBody>
      </p:sp>
      <p:sp>
        <p:nvSpPr>
          <p:cNvPr id="980" name="Google Shape;980;p66"/>
          <p:cNvSpPr/>
          <p:nvPr/>
        </p:nvSpPr>
        <p:spPr>
          <a:xfrm>
            <a:off x="6567838" y="2855050"/>
            <a:ext cx="1436100" cy="572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</a:t>
            </a:r>
            <a:endParaRPr/>
          </a:p>
        </p:txBody>
      </p:sp>
      <p:sp>
        <p:nvSpPr>
          <p:cNvPr id="981" name="Google Shape;981;p66"/>
          <p:cNvSpPr/>
          <p:nvPr/>
        </p:nvSpPr>
        <p:spPr>
          <a:xfrm>
            <a:off x="6567838" y="3645125"/>
            <a:ext cx="1436100" cy="5727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Ethernet</a:t>
            </a:r>
            <a:endParaRPr/>
          </a:p>
        </p:txBody>
      </p:sp>
      <p:sp>
        <p:nvSpPr>
          <p:cNvPr id="982" name="Google Shape;982;p66"/>
          <p:cNvSpPr/>
          <p:nvPr/>
        </p:nvSpPr>
        <p:spPr>
          <a:xfrm>
            <a:off x="6567838" y="4435200"/>
            <a:ext cx="1436100" cy="5727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Wires</a:t>
            </a:r>
            <a:endParaRPr/>
          </a:p>
        </p:txBody>
      </p:sp>
      <p:sp>
        <p:nvSpPr>
          <p:cNvPr id="983" name="Google Shape;983;p66"/>
          <p:cNvSpPr/>
          <p:nvPr/>
        </p:nvSpPr>
        <p:spPr>
          <a:xfrm>
            <a:off x="2897425" y="2825250"/>
            <a:ext cx="2042100" cy="21762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From: 20:61:84:3a:a9:52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To: 6d:36:ff:4a:32:92</a:t>
            </a:r>
            <a:endParaRPr sz="1000"/>
          </a:p>
        </p:txBody>
      </p:sp>
      <p:sp>
        <p:nvSpPr>
          <p:cNvPr id="984" name="Google Shape;984;p66"/>
          <p:cNvSpPr/>
          <p:nvPr/>
        </p:nvSpPr>
        <p:spPr>
          <a:xfrm>
            <a:off x="3064825" y="3313225"/>
            <a:ext cx="1725600" cy="1619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From: 1.2.3.4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To: 5.6.7.8</a:t>
            </a:r>
            <a:endParaRPr sz="1000"/>
          </a:p>
        </p:txBody>
      </p:sp>
      <p:sp>
        <p:nvSpPr>
          <p:cNvPr id="985" name="Google Shape;985;p66"/>
          <p:cNvSpPr/>
          <p:nvPr/>
        </p:nvSpPr>
        <p:spPr>
          <a:xfrm>
            <a:off x="3200425" y="3807075"/>
            <a:ext cx="1436100" cy="106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From: Port 1234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To: Port 80</a:t>
            </a:r>
            <a:endParaRPr sz="1000"/>
          </a:p>
        </p:txBody>
      </p:sp>
      <p:sp>
        <p:nvSpPr>
          <p:cNvPr id="986" name="Google Shape;986;p66"/>
          <p:cNvSpPr/>
          <p:nvPr/>
        </p:nvSpPr>
        <p:spPr>
          <a:xfrm>
            <a:off x="3336025" y="4301025"/>
            <a:ext cx="1164900" cy="5202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GET / HTTP/1.1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...</a:t>
            </a:r>
            <a:endParaRPr sz="1000"/>
          </a:p>
        </p:txBody>
      </p:sp>
      <p:sp>
        <p:nvSpPr>
          <p:cNvPr id="987" name="Google Shape;987;p66"/>
          <p:cNvSpPr/>
          <p:nvPr/>
        </p:nvSpPr>
        <p:spPr>
          <a:xfrm>
            <a:off x="2751324" y="2285950"/>
            <a:ext cx="2334300" cy="5727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Converted into bits and transmitted</a:t>
            </a:r>
            <a:endParaRPr/>
          </a:p>
        </p:txBody>
      </p:sp>
      <p:sp>
        <p:nvSpPr>
          <p:cNvPr id="988" name="Google Shape;988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67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HTTP Request</a:t>
            </a:r>
            <a:endParaRPr/>
          </a:p>
        </p:txBody>
      </p:sp>
      <p:sp>
        <p:nvSpPr>
          <p:cNvPr id="994" name="Google Shape;994;p67"/>
          <p:cNvSpPr/>
          <p:nvPr/>
        </p:nvSpPr>
        <p:spPr>
          <a:xfrm>
            <a:off x="1140063" y="1274900"/>
            <a:ext cx="1436100" cy="572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</a:t>
            </a:r>
            <a:endParaRPr/>
          </a:p>
        </p:txBody>
      </p:sp>
      <p:sp>
        <p:nvSpPr>
          <p:cNvPr id="995" name="Google Shape;995;p67"/>
          <p:cNvSpPr/>
          <p:nvPr/>
        </p:nvSpPr>
        <p:spPr>
          <a:xfrm>
            <a:off x="1140063" y="2064975"/>
            <a:ext cx="1436100" cy="572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</a:t>
            </a:r>
            <a:endParaRPr/>
          </a:p>
        </p:txBody>
      </p:sp>
      <p:sp>
        <p:nvSpPr>
          <p:cNvPr id="996" name="Google Shape;996;p67"/>
          <p:cNvSpPr/>
          <p:nvPr/>
        </p:nvSpPr>
        <p:spPr>
          <a:xfrm>
            <a:off x="1140063" y="2855050"/>
            <a:ext cx="1436100" cy="572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</a:t>
            </a:r>
            <a:endParaRPr/>
          </a:p>
        </p:txBody>
      </p:sp>
      <p:sp>
        <p:nvSpPr>
          <p:cNvPr id="997" name="Google Shape;997;p67"/>
          <p:cNvSpPr/>
          <p:nvPr/>
        </p:nvSpPr>
        <p:spPr>
          <a:xfrm>
            <a:off x="1140063" y="3645125"/>
            <a:ext cx="1436100" cy="5727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Ethernet</a:t>
            </a:r>
            <a:endParaRPr/>
          </a:p>
        </p:txBody>
      </p:sp>
      <p:sp>
        <p:nvSpPr>
          <p:cNvPr id="998" name="Google Shape;998;p67"/>
          <p:cNvSpPr/>
          <p:nvPr/>
        </p:nvSpPr>
        <p:spPr>
          <a:xfrm>
            <a:off x="1140063" y="4435200"/>
            <a:ext cx="1436100" cy="5727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Wires</a:t>
            </a:r>
            <a:endParaRPr/>
          </a:p>
        </p:txBody>
      </p:sp>
      <p:sp>
        <p:nvSpPr>
          <p:cNvPr id="999" name="Google Shape;999;p67"/>
          <p:cNvSpPr/>
          <p:nvPr/>
        </p:nvSpPr>
        <p:spPr>
          <a:xfrm>
            <a:off x="6567838" y="1274900"/>
            <a:ext cx="1436100" cy="572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</a:t>
            </a:r>
            <a:endParaRPr/>
          </a:p>
        </p:txBody>
      </p:sp>
      <p:sp>
        <p:nvSpPr>
          <p:cNvPr id="1000" name="Google Shape;1000;p67"/>
          <p:cNvSpPr/>
          <p:nvPr/>
        </p:nvSpPr>
        <p:spPr>
          <a:xfrm>
            <a:off x="6567838" y="2064975"/>
            <a:ext cx="1436100" cy="572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</a:t>
            </a:r>
            <a:endParaRPr/>
          </a:p>
        </p:txBody>
      </p:sp>
      <p:sp>
        <p:nvSpPr>
          <p:cNvPr id="1001" name="Google Shape;1001;p67"/>
          <p:cNvSpPr/>
          <p:nvPr/>
        </p:nvSpPr>
        <p:spPr>
          <a:xfrm>
            <a:off x="6567838" y="2855050"/>
            <a:ext cx="1436100" cy="572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</a:t>
            </a:r>
            <a:endParaRPr/>
          </a:p>
        </p:txBody>
      </p:sp>
      <p:sp>
        <p:nvSpPr>
          <p:cNvPr id="1002" name="Google Shape;1002;p67"/>
          <p:cNvSpPr/>
          <p:nvPr/>
        </p:nvSpPr>
        <p:spPr>
          <a:xfrm>
            <a:off x="6567838" y="3645125"/>
            <a:ext cx="1436100" cy="5727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Ethernet</a:t>
            </a:r>
            <a:endParaRPr/>
          </a:p>
        </p:txBody>
      </p:sp>
      <p:sp>
        <p:nvSpPr>
          <p:cNvPr id="1003" name="Google Shape;1003;p67"/>
          <p:cNvSpPr/>
          <p:nvPr/>
        </p:nvSpPr>
        <p:spPr>
          <a:xfrm>
            <a:off x="6567838" y="4435200"/>
            <a:ext cx="1436100" cy="5727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Wires</a:t>
            </a:r>
            <a:endParaRPr/>
          </a:p>
        </p:txBody>
      </p:sp>
      <p:sp>
        <p:nvSpPr>
          <p:cNvPr id="1004" name="Google Shape;1004;p67"/>
          <p:cNvSpPr/>
          <p:nvPr/>
        </p:nvSpPr>
        <p:spPr>
          <a:xfrm>
            <a:off x="4269025" y="2825250"/>
            <a:ext cx="2042100" cy="21762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From: </a:t>
            </a:r>
            <a:r>
              <a:rPr lang="en" sz="1000"/>
              <a:t>89:8d:33:25:47:24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To: </a:t>
            </a:r>
            <a:r>
              <a:rPr lang="en" sz="1000"/>
              <a:t>d5:a9:20:68:e0:80</a:t>
            </a:r>
            <a:endParaRPr sz="1000"/>
          </a:p>
        </p:txBody>
      </p:sp>
      <p:sp>
        <p:nvSpPr>
          <p:cNvPr id="1005" name="Google Shape;1005;p67"/>
          <p:cNvSpPr/>
          <p:nvPr/>
        </p:nvSpPr>
        <p:spPr>
          <a:xfrm>
            <a:off x="4436425" y="3313225"/>
            <a:ext cx="1725600" cy="1619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From: 1.2.3.4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To: 5.6.7.8</a:t>
            </a:r>
            <a:endParaRPr sz="1000"/>
          </a:p>
        </p:txBody>
      </p:sp>
      <p:sp>
        <p:nvSpPr>
          <p:cNvPr id="1006" name="Google Shape;1006;p67"/>
          <p:cNvSpPr/>
          <p:nvPr/>
        </p:nvSpPr>
        <p:spPr>
          <a:xfrm>
            <a:off x="4572025" y="3807075"/>
            <a:ext cx="1436100" cy="106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From: Port 1234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To: Port 80</a:t>
            </a:r>
            <a:endParaRPr sz="1000"/>
          </a:p>
        </p:txBody>
      </p:sp>
      <p:sp>
        <p:nvSpPr>
          <p:cNvPr id="1007" name="Google Shape;1007;p67"/>
          <p:cNvSpPr/>
          <p:nvPr/>
        </p:nvSpPr>
        <p:spPr>
          <a:xfrm>
            <a:off x="4707625" y="4301025"/>
            <a:ext cx="1164900" cy="5202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GET / HTTP/1.1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...</a:t>
            </a:r>
            <a:endParaRPr sz="1000"/>
          </a:p>
        </p:txBody>
      </p:sp>
      <p:sp>
        <p:nvSpPr>
          <p:cNvPr id="1008" name="Google Shape;1008;p67"/>
          <p:cNvSpPr/>
          <p:nvPr/>
        </p:nvSpPr>
        <p:spPr>
          <a:xfrm>
            <a:off x="4122924" y="2285950"/>
            <a:ext cx="2334300" cy="5727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Received over the physical medium</a:t>
            </a:r>
            <a:endParaRPr/>
          </a:p>
        </p:txBody>
      </p:sp>
      <p:grpSp>
        <p:nvGrpSpPr>
          <p:cNvPr id="1009" name="Google Shape;1009;p67"/>
          <p:cNvGrpSpPr/>
          <p:nvPr/>
        </p:nvGrpSpPr>
        <p:grpSpPr>
          <a:xfrm>
            <a:off x="65925" y="3106375"/>
            <a:ext cx="4249500" cy="961950"/>
            <a:chOff x="65925" y="3106375"/>
            <a:chExt cx="4249500" cy="961950"/>
          </a:xfrm>
        </p:grpSpPr>
        <p:sp>
          <p:nvSpPr>
            <p:cNvPr id="1010" name="Google Shape;1010;p67"/>
            <p:cNvSpPr txBox="1"/>
            <p:nvPr/>
          </p:nvSpPr>
          <p:spPr>
            <a:xfrm>
              <a:off x="65925" y="3237025"/>
              <a:ext cx="3617700" cy="831300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Notice: The MAC addresses changed because the recipient is on a different network</a:t>
              </a:r>
              <a:endParaRPr/>
            </a:p>
          </p:txBody>
        </p:sp>
        <p:cxnSp>
          <p:nvCxnSpPr>
            <p:cNvPr id="1011" name="Google Shape;1011;p67"/>
            <p:cNvCxnSpPr>
              <a:stCxn id="1010" idx="3"/>
            </p:cNvCxnSpPr>
            <p:nvPr/>
          </p:nvCxnSpPr>
          <p:spPr>
            <a:xfrm flipH="1" rot="10800000">
              <a:off x="3683625" y="3106375"/>
              <a:ext cx="631800" cy="546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012" name="Google Shape;1012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68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HTTP Request</a:t>
            </a:r>
            <a:endParaRPr/>
          </a:p>
        </p:txBody>
      </p:sp>
      <p:sp>
        <p:nvSpPr>
          <p:cNvPr id="1018" name="Google Shape;1018;p68"/>
          <p:cNvSpPr/>
          <p:nvPr/>
        </p:nvSpPr>
        <p:spPr>
          <a:xfrm>
            <a:off x="1140063" y="1274900"/>
            <a:ext cx="1436100" cy="572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</a:t>
            </a:r>
            <a:endParaRPr/>
          </a:p>
        </p:txBody>
      </p:sp>
      <p:sp>
        <p:nvSpPr>
          <p:cNvPr id="1019" name="Google Shape;1019;p68"/>
          <p:cNvSpPr/>
          <p:nvPr/>
        </p:nvSpPr>
        <p:spPr>
          <a:xfrm>
            <a:off x="1140063" y="2064975"/>
            <a:ext cx="1436100" cy="572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</a:t>
            </a:r>
            <a:endParaRPr/>
          </a:p>
        </p:txBody>
      </p:sp>
      <p:sp>
        <p:nvSpPr>
          <p:cNvPr id="1020" name="Google Shape;1020;p68"/>
          <p:cNvSpPr/>
          <p:nvPr/>
        </p:nvSpPr>
        <p:spPr>
          <a:xfrm>
            <a:off x="1140063" y="2855050"/>
            <a:ext cx="1436100" cy="572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</a:t>
            </a:r>
            <a:endParaRPr/>
          </a:p>
        </p:txBody>
      </p:sp>
      <p:sp>
        <p:nvSpPr>
          <p:cNvPr id="1021" name="Google Shape;1021;p68"/>
          <p:cNvSpPr/>
          <p:nvPr/>
        </p:nvSpPr>
        <p:spPr>
          <a:xfrm>
            <a:off x="1140063" y="3645125"/>
            <a:ext cx="1436100" cy="5727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Ethernet</a:t>
            </a:r>
            <a:endParaRPr/>
          </a:p>
        </p:txBody>
      </p:sp>
      <p:sp>
        <p:nvSpPr>
          <p:cNvPr id="1022" name="Google Shape;1022;p68"/>
          <p:cNvSpPr/>
          <p:nvPr/>
        </p:nvSpPr>
        <p:spPr>
          <a:xfrm>
            <a:off x="1140063" y="4435200"/>
            <a:ext cx="1436100" cy="5727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Wires</a:t>
            </a:r>
            <a:endParaRPr/>
          </a:p>
        </p:txBody>
      </p:sp>
      <p:sp>
        <p:nvSpPr>
          <p:cNvPr id="1023" name="Google Shape;1023;p68"/>
          <p:cNvSpPr/>
          <p:nvPr/>
        </p:nvSpPr>
        <p:spPr>
          <a:xfrm>
            <a:off x="6567838" y="1274900"/>
            <a:ext cx="1436100" cy="572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</a:t>
            </a:r>
            <a:endParaRPr/>
          </a:p>
        </p:txBody>
      </p:sp>
      <p:sp>
        <p:nvSpPr>
          <p:cNvPr id="1024" name="Google Shape;1024;p68"/>
          <p:cNvSpPr/>
          <p:nvPr/>
        </p:nvSpPr>
        <p:spPr>
          <a:xfrm>
            <a:off x="6567838" y="2064975"/>
            <a:ext cx="1436100" cy="572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</a:t>
            </a:r>
            <a:endParaRPr/>
          </a:p>
        </p:txBody>
      </p:sp>
      <p:sp>
        <p:nvSpPr>
          <p:cNvPr id="1025" name="Google Shape;1025;p68"/>
          <p:cNvSpPr/>
          <p:nvPr/>
        </p:nvSpPr>
        <p:spPr>
          <a:xfrm>
            <a:off x="6567838" y="2855050"/>
            <a:ext cx="1436100" cy="572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</a:t>
            </a:r>
            <a:endParaRPr/>
          </a:p>
        </p:txBody>
      </p:sp>
      <p:sp>
        <p:nvSpPr>
          <p:cNvPr id="1026" name="Google Shape;1026;p68"/>
          <p:cNvSpPr/>
          <p:nvPr/>
        </p:nvSpPr>
        <p:spPr>
          <a:xfrm>
            <a:off x="6567838" y="3645125"/>
            <a:ext cx="1436100" cy="5727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Ethernet</a:t>
            </a:r>
            <a:endParaRPr/>
          </a:p>
        </p:txBody>
      </p:sp>
      <p:sp>
        <p:nvSpPr>
          <p:cNvPr id="1027" name="Google Shape;1027;p68"/>
          <p:cNvSpPr/>
          <p:nvPr/>
        </p:nvSpPr>
        <p:spPr>
          <a:xfrm>
            <a:off x="6567838" y="4435200"/>
            <a:ext cx="1436100" cy="5727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Wires</a:t>
            </a:r>
            <a:endParaRPr/>
          </a:p>
        </p:txBody>
      </p:sp>
      <p:sp>
        <p:nvSpPr>
          <p:cNvPr id="1028" name="Google Shape;1028;p68"/>
          <p:cNvSpPr/>
          <p:nvPr/>
        </p:nvSpPr>
        <p:spPr>
          <a:xfrm>
            <a:off x="4269025" y="2215650"/>
            <a:ext cx="2042100" cy="21762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From: 89:8d:33:25:47:24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To: d5:a9:20:68:e0:80</a:t>
            </a:r>
            <a:endParaRPr sz="1000"/>
          </a:p>
        </p:txBody>
      </p:sp>
      <p:sp>
        <p:nvSpPr>
          <p:cNvPr id="1029" name="Google Shape;1029;p68"/>
          <p:cNvSpPr/>
          <p:nvPr/>
        </p:nvSpPr>
        <p:spPr>
          <a:xfrm>
            <a:off x="4436425" y="2703625"/>
            <a:ext cx="1725600" cy="1619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From: 1.2.3.4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To: 5.6.7.8</a:t>
            </a:r>
            <a:endParaRPr sz="1000"/>
          </a:p>
        </p:txBody>
      </p:sp>
      <p:sp>
        <p:nvSpPr>
          <p:cNvPr id="1030" name="Google Shape;1030;p68"/>
          <p:cNvSpPr/>
          <p:nvPr/>
        </p:nvSpPr>
        <p:spPr>
          <a:xfrm>
            <a:off x="4572025" y="3197475"/>
            <a:ext cx="1436100" cy="106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From: Port 1234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To: Port 80</a:t>
            </a:r>
            <a:endParaRPr sz="1000"/>
          </a:p>
        </p:txBody>
      </p:sp>
      <p:sp>
        <p:nvSpPr>
          <p:cNvPr id="1031" name="Google Shape;1031;p68"/>
          <p:cNvSpPr/>
          <p:nvPr/>
        </p:nvSpPr>
        <p:spPr>
          <a:xfrm>
            <a:off x="4707625" y="3691425"/>
            <a:ext cx="1164900" cy="5202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GET / HTTP/1.1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...</a:t>
            </a:r>
            <a:endParaRPr sz="1000"/>
          </a:p>
        </p:txBody>
      </p:sp>
      <p:sp>
        <p:nvSpPr>
          <p:cNvPr id="1032" name="Google Shape;1032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69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HTTP Request</a:t>
            </a:r>
            <a:endParaRPr/>
          </a:p>
        </p:txBody>
      </p:sp>
      <p:sp>
        <p:nvSpPr>
          <p:cNvPr id="1038" name="Google Shape;1038;p69"/>
          <p:cNvSpPr/>
          <p:nvPr/>
        </p:nvSpPr>
        <p:spPr>
          <a:xfrm>
            <a:off x="1140063" y="1274900"/>
            <a:ext cx="1436100" cy="572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</a:t>
            </a:r>
            <a:endParaRPr/>
          </a:p>
        </p:txBody>
      </p:sp>
      <p:sp>
        <p:nvSpPr>
          <p:cNvPr id="1039" name="Google Shape;1039;p69"/>
          <p:cNvSpPr/>
          <p:nvPr/>
        </p:nvSpPr>
        <p:spPr>
          <a:xfrm>
            <a:off x="1140063" y="2064975"/>
            <a:ext cx="1436100" cy="572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</a:t>
            </a:r>
            <a:endParaRPr/>
          </a:p>
        </p:txBody>
      </p:sp>
      <p:sp>
        <p:nvSpPr>
          <p:cNvPr id="1040" name="Google Shape;1040;p69"/>
          <p:cNvSpPr/>
          <p:nvPr/>
        </p:nvSpPr>
        <p:spPr>
          <a:xfrm>
            <a:off x="1140063" y="2855050"/>
            <a:ext cx="1436100" cy="572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</a:t>
            </a:r>
            <a:endParaRPr/>
          </a:p>
        </p:txBody>
      </p:sp>
      <p:sp>
        <p:nvSpPr>
          <p:cNvPr id="1041" name="Google Shape;1041;p69"/>
          <p:cNvSpPr/>
          <p:nvPr/>
        </p:nvSpPr>
        <p:spPr>
          <a:xfrm>
            <a:off x="1140063" y="3645125"/>
            <a:ext cx="1436100" cy="5727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Ethernet</a:t>
            </a:r>
            <a:endParaRPr/>
          </a:p>
        </p:txBody>
      </p:sp>
      <p:sp>
        <p:nvSpPr>
          <p:cNvPr id="1042" name="Google Shape;1042;p69"/>
          <p:cNvSpPr/>
          <p:nvPr/>
        </p:nvSpPr>
        <p:spPr>
          <a:xfrm>
            <a:off x="1140063" y="4435200"/>
            <a:ext cx="1436100" cy="5727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Wires</a:t>
            </a:r>
            <a:endParaRPr/>
          </a:p>
        </p:txBody>
      </p:sp>
      <p:sp>
        <p:nvSpPr>
          <p:cNvPr id="1043" name="Google Shape;1043;p69"/>
          <p:cNvSpPr/>
          <p:nvPr/>
        </p:nvSpPr>
        <p:spPr>
          <a:xfrm>
            <a:off x="6567838" y="1274900"/>
            <a:ext cx="1436100" cy="572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</a:t>
            </a:r>
            <a:endParaRPr/>
          </a:p>
        </p:txBody>
      </p:sp>
      <p:sp>
        <p:nvSpPr>
          <p:cNvPr id="1044" name="Google Shape;1044;p69"/>
          <p:cNvSpPr/>
          <p:nvPr/>
        </p:nvSpPr>
        <p:spPr>
          <a:xfrm>
            <a:off x="6567838" y="2064975"/>
            <a:ext cx="1436100" cy="572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</a:t>
            </a:r>
            <a:endParaRPr/>
          </a:p>
        </p:txBody>
      </p:sp>
      <p:sp>
        <p:nvSpPr>
          <p:cNvPr id="1045" name="Google Shape;1045;p69"/>
          <p:cNvSpPr/>
          <p:nvPr/>
        </p:nvSpPr>
        <p:spPr>
          <a:xfrm>
            <a:off x="6567838" y="2855050"/>
            <a:ext cx="1436100" cy="572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</a:t>
            </a:r>
            <a:endParaRPr/>
          </a:p>
        </p:txBody>
      </p:sp>
      <p:sp>
        <p:nvSpPr>
          <p:cNvPr id="1046" name="Google Shape;1046;p69"/>
          <p:cNvSpPr/>
          <p:nvPr/>
        </p:nvSpPr>
        <p:spPr>
          <a:xfrm>
            <a:off x="6567838" y="3645125"/>
            <a:ext cx="1436100" cy="5727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Ethernet</a:t>
            </a:r>
            <a:endParaRPr/>
          </a:p>
        </p:txBody>
      </p:sp>
      <p:sp>
        <p:nvSpPr>
          <p:cNvPr id="1047" name="Google Shape;1047;p69"/>
          <p:cNvSpPr/>
          <p:nvPr/>
        </p:nvSpPr>
        <p:spPr>
          <a:xfrm>
            <a:off x="6567838" y="4435200"/>
            <a:ext cx="1436100" cy="5727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Wires</a:t>
            </a:r>
            <a:endParaRPr/>
          </a:p>
        </p:txBody>
      </p:sp>
      <p:sp>
        <p:nvSpPr>
          <p:cNvPr id="1048" name="Google Shape;1048;p69"/>
          <p:cNvSpPr/>
          <p:nvPr/>
        </p:nvSpPr>
        <p:spPr>
          <a:xfrm>
            <a:off x="4588825" y="1865425"/>
            <a:ext cx="1725600" cy="1619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From: 1.2.3.4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To: 5.6.7.8</a:t>
            </a:r>
            <a:endParaRPr sz="1000"/>
          </a:p>
        </p:txBody>
      </p:sp>
      <p:sp>
        <p:nvSpPr>
          <p:cNvPr id="1049" name="Google Shape;1049;p69"/>
          <p:cNvSpPr/>
          <p:nvPr/>
        </p:nvSpPr>
        <p:spPr>
          <a:xfrm>
            <a:off x="4724425" y="2359275"/>
            <a:ext cx="1436100" cy="106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From: Port 1234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To: Port 80</a:t>
            </a:r>
            <a:endParaRPr sz="1000"/>
          </a:p>
        </p:txBody>
      </p:sp>
      <p:sp>
        <p:nvSpPr>
          <p:cNvPr id="1050" name="Google Shape;1050;p69"/>
          <p:cNvSpPr/>
          <p:nvPr/>
        </p:nvSpPr>
        <p:spPr>
          <a:xfrm>
            <a:off x="4860025" y="2853225"/>
            <a:ext cx="1164900" cy="5202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GET / HTTP/1.1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...</a:t>
            </a:r>
            <a:endParaRPr sz="1000"/>
          </a:p>
        </p:txBody>
      </p:sp>
      <p:sp>
        <p:nvSpPr>
          <p:cNvPr id="1051" name="Google Shape;1051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70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HTTP Request</a:t>
            </a:r>
            <a:endParaRPr/>
          </a:p>
        </p:txBody>
      </p:sp>
      <p:sp>
        <p:nvSpPr>
          <p:cNvPr id="1057" name="Google Shape;1057;p70"/>
          <p:cNvSpPr/>
          <p:nvPr/>
        </p:nvSpPr>
        <p:spPr>
          <a:xfrm>
            <a:off x="1140063" y="1274900"/>
            <a:ext cx="1436100" cy="572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</a:t>
            </a:r>
            <a:endParaRPr/>
          </a:p>
        </p:txBody>
      </p:sp>
      <p:sp>
        <p:nvSpPr>
          <p:cNvPr id="1058" name="Google Shape;1058;p70"/>
          <p:cNvSpPr/>
          <p:nvPr/>
        </p:nvSpPr>
        <p:spPr>
          <a:xfrm>
            <a:off x="1140063" y="2064975"/>
            <a:ext cx="1436100" cy="572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</a:t>
            </a:r>
            <a:endParaRPr/>
          </a:p>
        </p:txBody>
      </p:sp>
      <p:sp>
        <p:nvSpPr>
          <p:cNvPr id="1059" name="Google Shape;1059;p70"/>
          <p:cNvSpPr/>
          <p:nvPr/>
        </p:nvSpPr>
        <p:spPr>
          <a:xfrm>
            <a:off x="1140063" y="2855050"/>
            <a:ext cx="1436100" cy="572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</a:t>
            </a:r>
            <a:endParaRPr/>
          </a:p>
        </p:txBody>
      </p:sp>
      <p:sp>
        <p:nvSpPr>
          <p:cNvPr id="1060" name="Google Shape;1060;p70"/>
          <p:cNvSpPr/>
          <p:nvPr/>
        </p:nvSpPr>
        <p:spPr>
          <a:xfrm>
            <a:off x="1140063" y="3645125"/>
            <a:ext cx="1436100" cy="5727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Ethernet</a:t>
            </a:r>
            <a:endParaRPr/>
          </a:p>
        </p:txBody>
      </p:sp>
      <p:sp>
        <p:nvSpPr>
          <p:cNvPr id="1061" name="Google Shape;1061;p70"/>
          <p:cNvSpPr/>
          <p:nvPr/>
        </p:nvSpPr>
        <p:spPr>
          <a:xfrm>
            <a:off x="1140063" y="4435200"/>
            <a:ext cx="1436100" cy="5727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Wires</a:t>
            </a:r>
            <a:endParaRPr/>
          </a:p>
        </p:txBody>
      </p:sp>
      <p:sp>
        <p:nvSpPr>
          <p:cNvPr id="1062" name="Google Shape;1062;p70"/>
          <p:cNvSpPr/>
          <p:nvPr/>
        </p:nvSpPr>
        <p:spPr>
          <a:xfrm>
            <a:off x="6567838" y="1274900"/>
            <a:ext cx="1436100" cy="572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</a:t>
            </a:r>
            <a:endParaRPr/>
          </a:p>
        </p:txBody>
      </p:sp>
      <p:sp>
        <p:nvSpPr>
          <p:cNvPr id="1063" name="Google Shape;1063;p70"/>
          <p:cNvSpPr/>
          <p:nvPr/>
        </p:nvSpPr>
        <p:spPr>
          <a:xfrm>
            <a:off x="6567838" y="2064975"/>
            <a:ext cx="1436100" cy="572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</a:t>
            </a:r>
            <a:endParaRPr/>
          </a:p>
        </p:txBody>
      </p:sp>
      <p:sp>
        <p:nvSpPr>
          <p:cNvPr id="1064" name="Google Shape;1064;p70"/>
          <p:cNvSpPr/>
          <p:nvPr/>
        </p:nvSpPr>
        <p:spPr>
          <a:xfrm>
            <a:off x="6567838" y="2855050"/>
            <a:ext cx="1436100" cy="572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</a:t>
            </a:r>
            <a:endParaRPr/>
          </a:p>
        </p:txBody>
      </p:sp>
      <p:sp>
        <p:nvSpPr>
          <p:cNvPr id="1065" name="Google Shape;1065;p70"/>
          <p:cNvSpPr/>
          <p:nvPr/>
        </p:nvSpPr>
        <p:spPr>
          <a:xfrm>
            <a:off x="6567838" y="3645125"/>
            <a:ext cx="1436100" cy="5727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Ethernet</a:t>
            </a:r>
            <a:endParaRPr/>
          </a:p>
        </p:txBody>
      </p:sp>
      <p:sp>
        <p:nvSpPr>
          <p:cNvPr id="1066" name="Google Shape;1066;p70"/>
          <p:cNvSpPr/>
          <p:nvPr/>
        </p:nvSpPr>
        <p:spPr>
          <a:xfrm>
            <a:off x="6567838" y="4435200"/>
            <a:ext cx="1436100" cy="5727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Wires</a:t>
            </a:r>
            <a:endParaRPr/>
          </a:p>
        </p:txBody>
      </p:sp>
      <p:sp>
        <p:nvSpPr>
          <p:cNvPr id="1067" name="Google Shape;1067;p70"/>
          <p:cNvSpPr/>
          <p:nvPr/>
        </p:nvSpPr>
        <p:spPr>
          <a:xfrm>
            <a:off x="4953025" y="1597275"/>
            <a:ext cx="1436100" cy="106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From: Port 1234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To: Port 80</a:t>
            </a:r>
            <a:endParaRPr sz="1000"/>
          </a:p>
        </p:txBody>
      </p:sp>
      <p:sp>
        <p:nvSpPr>
          <p:cNvPr id="1068" name="Google Shape;1068;p70"/>
          <p:cNvSpPr/>
          <p:nvPr/>
        </p:nvSpPr>
        <p:spPr>
          <a:xfrm>
            <a:off x="5088625" y="2091225"/>
            <a:ext cx="1164900" cy="5202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GET / HTTP/1.1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...</a:t>
            </a:r>
            <a:endParaRPr sz="1000"/>
          </a:p>
        </p:txBody>
      </p:sp>
      <p:sp>
        <p:nvSpPr>
          <p:cNvPr id="1069" name="Google Shape;1069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71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HTTP Request</a:t>
            </a:r>
            <a:endParaRPr/>
          </a:p>
        </p:txBody>
      </p:sp>
      <p:sp>
        <p:nvSpPr>
          <p:cNvPr id="1075" name="Google Shape;1075;p71"/>
          <p:cNvSpPr/>
          <p:nvPr/>
        </p:nvSpPr>
        <p:spPr>
          <a:xfrm>
            <a:off x="1140063" y="1274900"/>
            <a:ext cx="1436100" cy="572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</a:t>
            </a:r>
            <a:endParaRPr/>
          </a:p>
        </p:txBody>
      </p:sp>
      <p:sp>
        <p:nvSpPr>
          <p:cNvPr id="1076" name="Google Shape;1076;p71"/>
          <p:cNvSpPr/>
          <p:nvPr/>
        </p:nvSpPr>
        <p:spPr>
          <a:xfrm>
            <a:off x="1140063" y="2064975"/>
            <a:ext cx="1436100" cy="572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</a:t>
            </a:r>
            <a:endParaRPr/>
          </a:p>
        </p:txBody>
      </p:sp>
      <p:sp>
        <p:nvSpPr>
          <p:cNvPr id="1077" name="Google Shape;1077;p71"/>
          <p:cNvSpPr/>
          <p:nvPr/>
        </p:nvSpPr>
        <p:spPr>
          <a:xfrm>
            <a:off x="1140063" y="2855050"/>
            <a:ext cx="1436100" cy="572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</a:t>
            </a:r>
            <a:endParaRPr/>
          </a:p>
        </p:txBody>
      </p:sp>
      <p:sp>
        <p:nvSpPr>
          <p:cNvPr id="1078" name="Google Shape;1078;p71"/>
          <p:cNvSpPr/>
          <p:nvPr/>
        </p:nvSpPr>
        <p:spPr>
          <a:xfrm>
            <a:off x="1140063" y="3645125"/>
            <a:ext cx="1436100" cy="5727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Ethernet</a:t>
            </a:r>
            <a:endParaRPr/>
          </a:p>
        </p:txBody>
      </p:sp>
      <p:sp>
        <p:nvSpPr>
          <p:cNvPr id="1079" name="Google Shape;1079;p71"/>
          <p:cNvSpPr/>
          <p:nvPr/>
        </p:nvSpPr>
        <p:spPr>
          <a:xfrm>
            <a:off x="1140063" y="4435200"/>
            <a:ext cx="1436100" cy="5727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Wires</a:t>
            </a:r>
            <a:endParaRPr/>
          </a:p>
        </p:txBody>
      </p:sp>
      <p:sp>
        <p:nvSpPr>
          <p:cNvPr id="1080" name="Google Shape;1080;p71"/>
          <p:cNvSpPr/>
          <p:nvPr/>
        </p:nvSpPr>
        <p:spPr>
          <a:xfrm>
            <a:off x="6567838" y="1274900"/>
            <a:ext cx="1436100" cy="572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</a:t>
            </a:r>
            <a:endParaRPr/>
          </a:p>
        </p:txBody>
      </p:sp>
      <p:sp>
        <p:nvSpPr>
          <p:cNvPr id="1081" name="Google Shape;1081;p71"/>
          <p:cNvSpPr/>
          <p:nvPr/>
        </p:nvSpPr>
        <p:spPr>
          <a:xfrm>
            <a:off x="6567838" y="2064975"/>
            <a:ext cx="1436100" cy="572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</a:t>
            </a:r>
            <a:endParaRPr/>
          </a:p>
        </p:txBody>
      </p:sp>
      <p:sp>
        <p:nvSpPr>
          <p:cNvPr id="1082" name="Google Shape;1082;p71"/>
          <p:cNvSpPr/>
          <p:nvPr/>
        </p:nvSpPr>
        <p:spPr>
          <a:xfrm>
            <a:off x="6567838" y="2855050"/>
            <a:ext cx="1436100" cy="572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</a:t>
            </a:r>
            <a:endParaRPr/>
          </a:p>
        </p:txBody>
      </p:sp>
      <p:sp>
        <p:nvSpPr>
          <p:cNvPr id="1083" name="Google Shape;1083;p71"/>
          <p:cNvSpPr/>
          <p:nvPr/>
        </p:nvSpPr>
        <p:spPr>
          <a:xfrm>
            <a:off x="6567838" y="3645125"/>
            <a:ext cx="1436100" cy="5727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Ethernet</a:t>
            </a:r>
            <a:endParaRPr/>
          </a:p>
        </p:txBody>
      </p:sp>
      <p:sp>
        <p:nvSpPr>
          <p:cNvPr id="1084" name="Google Shape;1084;p71"/>
          <p:cNvSpPr/>
          <p:nvPr/>
        </p:nvSpPr>
        <p:spPr>
          <a:xfrm>
            <a:off x="6567838" y="4435200"/>
            <a:ext cx="1436100" cy="5727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Wires</a:t>
            </a:r>
            <a:endParaRPr/>
          </a:p>
        </p:txBody>
      </p:sp>
      <p:sp>
        <p:nvSpPr>
          <p:cNvPr id="1085" name="Google Shape;1085;p71"/>
          <p:cNvSpPr/>
          <p:nvPr/>
        </p:nvSpPr>
        <p:spPr>
          <a:xfrm>
            <a:off x="5101650" y="1301150"/>
            <a:ext cx="1164900" cy="5202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GET / HTTP/1.1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...</a:t>
            </a:r>
            <a:endParaRPr sz="1000"/>
          </a:p>
        </p:txBody>
      </p:sp>
      <p:sp>
        <p:nvSpPr>
          <p:cNvPr id="1086" name="Google Shape;1086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72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HTTP Request</a:t>
            </a:r>
            <a:endParaRPr/>
          </a:p>
        </p:txBody>
      </p:sp>
      <p:sp>
        <p:nvSpPr>
          <p:cNvPr id="1092" name="Google Shape;1092;p72"/>
          <p:cNvSpPr/>
          <p:nvPr/>
        </p:nvSpPr>
        <p:spPr>
          <a:xfrm>
            <a:off x="1140063" y="1274900"/>
            <a:ext cx="1436100" cy="572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</a:t>
            </a:r>
            <a:endParaRPr/>
          </a:p>
        </p:txBody>
      </p:sp>
      <p:sp>
        <p:nvSpPr>
          <p:cNvPr id="1093" name="Google Shape;1093;p72"/>
          <p:cNvSpPr/>
          <p:nvPr/>
        </p:nvSpPr>
        <p:spPr>
          <a:xfrm>
            <a:off x="1140063" y="2064975"/>
            <a:ext cx="1436100" cy="572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</a:t>
            </a:r>
            <a:endParaRPr/>
          </a:p>
        </p:txBody>
      </p:sp>
      <p:sp>
        <p:nvSpPr>
          <p:cNvPr id="1094" name="Google Shape;1094;p72"/>
          <p:cNvSpPr/>
          <p:nvPr/>
        </p:nvSpPr>
        <p:spPr>
          <a:xfrm>
            <a:off x="1140063" y="2855050"/>
            <a:ext cx="1436100" cy="572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</a:t>
            </a:r>
            <a:endParaRPr/>
          </a:p>
        </p:txBody>
      </p:sp>
      <p:sp>
        <p:nvSpPr>
          <p:cNvPr id="1095" name="Google Shape;1095;p72"/>
          <p:cNvSpPr/>
          <p:nvPr/>
        </p:nvSpPr>
        <p:spPr>
          <a:xfrm>
            <a:off x="1140063" y="3645125"/>
            <a:ext cx="1436100" cy="5727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Ethernet</a:t>
            </a:r>
            <a:endParaRPr/>
          </a:p>
        </p:txBody>
      </p:sp>
      <p:sp>
        <p:nvSpPr>
          <p:cNvPr id="1096" name="Google Shape;1096;p72"/>
          <p:cNvSpPr/>
          <p:nvPr/>
        </p:nvSpPr>
        <p:spPr>
          <a:xfrm>
            <a:off x="1140063" y="4435200"/>
            <a:ext cx="1436100" cy="5727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Wires</a:t>
            </a:r>
            <a:endParaRPr/>
          </a:p>
        </p:txBody>
      </p:sp>
      <p:cxnSp>
        <p:nvCxnSpPr>
          <p:cNvPr id="1097" name="Google Shape;1097;p72"/>
          <p:cNvCxnSpPr>
            <a:stCxn id="1092" idx="2"/>
            <a:endCxn id="1093" idx="0"/>
          </p:cNvCxnSpPr>
          <p:nvPr/>
        </p:nvCxnSpPr>
        <p:spPr>
          <a:xfrm>
            <a:off x="1858113" y="1847600"/>
            <a:ext cx="0" cy="21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8" name="Google Shape;1098;p72"/>
          <p:cNvCxnSpPr>
            <a:stCxn id="1093" idx="2"/>
            <a:endCxn id="1094" idx="0"/>
          </p:cNvCxnSpPr>
          <p:nvPr/>
        </p:nvCxnSpPr>
        <p:spPr>
          <a:xfrm>
            <a:off x="1858113" y="2637675"/>
            <a:ext cx="0" cy="21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9" name="Google Shape;1099;p72"/>
          <p:cNvCxnSpPr>
            <a:stCxn id="1094" idx="2"/>
            <a:endCxn id="1095" idx="0"/>
          </p:cNvCxnSpPr>
          <p:nvPr/>
        </p:nvCxnSpPr>
        <p:spPr>
          <a:xfrm>
            <a:off x="1858113" y="3427750"/>
            <a:ext cx="0" cy="21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0" name="Google Shape;1100;p72"/>
          <p:cNvCxnSpPr>
            <a:stCxn id="1095" idx="2"/>
            <a:endCxn id="1096" idx="0"/>
          </p:cNvCxnSpPr>
          <p:nvPr/>
        </p:nvCxnSpPr>
        <p:spPr>
          <a:xfrm>
            <a:off x="1858113" y="4217825"/>
            <a:ext cx="0" cy="21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1" name="Google Shape;1101;p72"/>
          <p:cNvSpPr/>
          <p:nvPr/>
        </p:nvSpPr>
        <p:spPr>
          <a:xfrm>
            <a:off x="6567838" y="1274900"/>
            <a:ext cx="1436100" cy="572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</a:t>
            </a:r>
            <a:endParaRPr/>
          </a:p>
        </p:txBody>
      </p:sp>
      <p:sp>
        <p:nvSpPr>
          <p:cNvPr id="1102" name="Google Shape;1102;p72"/>
          <p:cNvSpPr/>
          <p:nvPr/>
        </p:nvSpPr>
        <p:spPr>
          <a:xfrm>
            <a:off x="6567838" y="2064975"/>
            <a:ext cx="1436100" cy="572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</a:t>
            </a:r>
            <a:endParaRPr/>
          </a:p>
        </p:txBody>
      </p:sp>
      <p:sp>
        <p:nvSpPr>
          <p:cNvPr id="1103" name="Google Shape;1103;p72"/>
          <p:cNvSpPr/>
          <p:nvPr/>
        </p:nvSpPr>
        <p:spPr>
          <a:xfrm>
            <a:off x="6567838" y="2855050"/>
            <a:ext cx="1436100" cy="572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</a:t>
            </a:r>
            <a:endParaRPr/>
          </a:p>
        </p:txBody>
      </p:sp>
      <p:sp>
        <p:nvSpPr>
          <p:cNvPr id="1104" name="Google Shape;1104;p72"/>
          <p:cNvSpPr/>
          <p:nvPr/>
        </p:nvSpPr>
        <p:spPr>
          <a:xfrm>
            <a:off x="6567838" y="3645125"/>
            <a:ext cx="1436100" cy="5727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Ethernet</a:t>
            </a:r>
            <a:endParaRPr/>
          </a:p>
        </p:txBody>
      </p:sp>
      <p:sp>
        <p:nvSpPr>
          <p:cNvPr id="1105" name="Google Shape;1105;p72"/>
          <p:cNvSpPr/>
          <p:nvPr/>
        </p:nvSpPr>
        <p:spPr>
          <a:xfrm>
            <a:off x="6567838" y="4435200"/>
            <a:ext cx="1436100" cy="5727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Wires</a:t>
            </a:r>
            <a:endParaRPr/>
          </a:p>
        </p:txBody>
      </p:sp>
      <p:cxnSp>
        <p:nvCxnSpPr>
          <p:cNvPr id="1106" name="Google Shape;1106;p72"/>
          <p:cNvCxnSpPr>
            <a:stCxn id="1101" idx="2"/>
            <a:endCxn id="1102" idx="0"/>
          </p:cNvCxnSpPr>
          <p:nvPr/>
        </p:nvCxnSpPr>
        <p:spPr>
          <a:xfrm>
            <a:off x="7285888" y="1847600"/>
            <a:ext cx="0" cy="21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7" name="Google Shape;1107;p72"/>
          <p:cNvCxnSpPr>
            <a:stCxn id="1102" idx="2"/>
            <a:endCxn id="1103" idx="0"/>
          </p:cNvCxnSpPr>
          <p:nvPr/>
        </p:nvCxnSpPr>
        <p:spPr>
          <a:xfrm>
            <a:off x="7285888" y="2637675"/>
            <a:ext cx="0" cy="21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8" name="Google Shape;1108;p72"/>
          <p:cNvCxnSpPr>
            <a:stCxn id="1103" idx="2"/>
            <a:endCxn id="1104" idx="0"/>
          </p:cNvCxnSpPr>
          <p:nvPr/>
        </p:nvCxnSpPr>
        <p:spPr>
          <a:xfrm>
            <a:off x="7285888" y="3427750"/>
            <a:ext cx="0" cy="21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9" name="Google Shape;1109;p72"/>
          <p:cNvCxnSpPr>
            <a:stCxn id="1104" idx="2"/>
            <a:endCxn id="1105" idx="0"/>
          </p:cNvCxnSpPr>
          <p:nvPr/>
        </p:nvCxnSpPr>
        <p:spPr>
          <a:xfrm>
            <a:off x="7285888" y="4217825"/>
            <a:ext cx="0" cy="21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0" name="Google Shape;1110;p72"/>
          <p:cNvCxnSpPr/>
          <p:nvPr/>
        </p:nvCxnSpPr>
        <p:spPr>
          <a:xfrm>
            <a:off x="2908813" y="1561250"/>
            <a:ext cx="332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11" name="Google Shape;1111;p72"/>
          <p:cNvCxnSpPr/>
          <p:nvPr/>
        </p:nvCxnSpPr>
        <p:spPr>
          <a:xfrm>
            <a:off x="2908800" y="2351325"/>
            <a:ext cx="332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12" name="Google Shape;1112;p72"/>
          <p:cNvCxnSpPr/>
          <p:nvPr/>
        </p:nvCxnSpPr>
        <p:spPr>
          <a:xfrm>
            <a:off x="2908813" y="3141400"/>
            <a:ext cx="332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13" name="Google Shape;1113;p72"/>
          <p:cNvCxnSpPr/>
          <p:nvPr/>
        </p:nvCxnSpPr>
        <p:spPr>
          <a:xfrm>
            <a:off x="2908813" y="3931475"/>
            <a:ext cx="332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14" name="Google Shape;1114;p72"/>
          <p:cNvCxnSpPr/>
          <p:nvPr/>
        </p:nvCxnSpPr>
        <p:spPr>
          <a:xfrm>
            <a:off x="2908813" y="4721550"/>
            <a:ext cx="332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15" name="Google Shape;1115;p72"/>
          <p:cNvSpPr txBox="1"/>
          <p:nvPr/>
        </p:nvSpPr>
        <p:spPr>
          <a:xfrm>
            <a:off x="44075" y="1345700"/>
            <a:ext cx="1037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Relies upon</a:t>
            </a:r>
            <a:r>
              <a:rPr lang="en" sz="800"/>
              <a:t>: Transport of data</a:t>
            </a:r>
            <a:endParaRPr sz="800"/>
          </a:p>
        </p:txBody>
      </p:sp>
      <p:sp>
        <p:nvSpPr>
          <p:cNvPr id="1116" name="Google Shape;1116;p72"/>
          <p:cNvSpPr txBox="1"/>
          <p:nvPr/>
        </p:nvSpPr>
        <p:spPr>
          <a:xfrm>
            <a:off x="44075" y="1951125"/>
            <a:ext cx="1037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Provides</a:t>
            </a:r>
            <a:r>
              <a:rPr lang="en" sz="800"/>
              <a:t>: Transport of data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Relies upon</a:t>
            </a:r>
            <a:r>
              <a:rPr lang="en" sz="800"/>
              <a:t>: Global packet delivery</a:t>
            </a:r>
            <a:endParaRPr sz="800"/>
          </a:p>
        </p:txBody>
      </p:sp>
      <p:sp>
        <p:nvSpPr>
          <p:cNvPr id="1117" name="Google Shape;1117;p72"/>
          <p:cNvSpPr txBox="1"/>
          <p:nvPr/>
        </p:nvSpPr>
        <p:spPr>
          <a:xfrm>
            <a:off x="44075" y="2741200"/>
            <a:ext cx="1037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Provides</a:t>
            </a:r>
            <a:r>
              <a:rPr lang="en" sz="800"/>
              <a:t>: Global packet delivery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Relies upon</a:t>
            </a:r>
            <a:r>
              <a:rPr lang="en" sz="800"/>
              <a:t>: Local frame delivery</a:t>
            </a:r>
            <a:endParaRPr sz="800"/>
          </a:p>
        </p:txBody>
      </p:sp>
      <p:sp>
        <p:nvSpPr>
          <p:cNvPr id="1118" name="Google Shape;1118;p72"/>
          <p:cNvSpPr txBox="1"/>
          <p:nvPr/>
        </p:nvSpPr>
        <p:spPr>
          <a:xfrm>
            <a:off x="44075" y="3531275"/>
            <a:ext cx="1037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Provides</a:t>
            </a:r>
            <a:r>
              <a:rPr lang="en" sz="800"/>
              <a:t>: </a:t>
            </a:r>
            <a:r>
              <a:rPr lang="en" sz="800"/>
              <a:t>L</a:t>
            </a:r>
            <a:r>
              <a:rPr lang="en" sz="800"/>
              <a:t>ocal frame delivery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Relies upon</a:t>
            </a:r>
            <a:r>
              <a:rPr lang="en" sz="800"/>
              <a:t>: Communication of bits</a:t>
            </a:r>
            <a:endParaRPr sz="800"/>
          </a:p>
        </p:txBody>
      </p:sp>
      <p:sp>
        <p:nvSpPr>
          <p:cNvPr id="1119" name="Google Shape;1119;p72"/>
          <p:cNvSpPr txBox="1"/>
          <p:nvPr/>
        </p:nvSpPr>
        <p:spPr>
          <a:xfrm>
            <a:off x="44075" y="4444500"/>
            <a:ext cx="103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Provides</a:t>
            </a:r>
            <a:r>
              <a:rPr lang="en" sz="800"/>
              <a:t>: Communication of bits</a:t>
            </a:r>
            <a:endParaRPr sz="800"/>
          </a:p>
        </p:txBody>
      </p:sp>
      <p:sp>
        <p:nvSpPr>
          <p:cNvPr id="1120" name="Google Shape;1120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73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Networking: Summary</a:t>
            </a:r>
            <a:endParaRPr/>
          </a:p>
        </p:txBody>
      </p:sp>
      <p:sp>
        <p:nvSpPr>
          <p:cNvPr id="1126" name="Google Shape;1126;p73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Internet: A global network of computers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Protocols: Agreed-upon systems of communication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OSI model: A layered model of protocols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Layer 1: Communication of bits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Layer 2: Local frame delivery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Ethernet: The most common Layer 2 protocol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MAC addresses: 6-byte addressing system used by Ethernet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Layer 3: Global packet delivery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IP: The universal Layer 3 protocol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IP addresses: 4-byte (or 16-byte) addressing system used by IP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Layer 4: Transport of data (more on this next time)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Layer 7: Applications and services (the web)</a:t>
            </a:r>
            <a:endParaRPr/>
          </a:p>
        </p:txBody>
      </p:sp>
      <p:sp>
        <p:nvSpPr>
          <p:cNvPr id="1127" name="Google Shape;1127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8" name="Google Shape;1128;p73"/>
          <p:cNvSpPr/>
          <p:nvPr/>
        </p:nvSpPr>
        <p:spPr>
          <a:xfrm>
            <a:off x="7369825" y="1838663"/>
            <a:ext cx="1512900" cy="378300"/>
          </a:xfrm>
          <a:prstGeom prst="rect">
            <a:avLst/>
          </a:prstGeom>
          <a:solidFill>
            <a:srgbClr val="F1C23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Application</a:t>
            </a:r>
            <a:endParaRPr b="1"/>
          </a:p>
        </p:txBody>
      </p:sp>
      <p:sp>
        <p:nvSpPr>
          <p:cNvPr id="1129" name="Google Shape;1129;p73"/>
          <p:cNvSpPr/>
          <p:nvPr/>
        </p:nvSpPr>
        <p:spPr>
          <a:xfrm>
            <a:off x="7369825" y="2293163"/>
            <a:ext cx="1512900" cy="378300"/>
          </a:xfrm>
          <a:prstGeom prst="rect">
            <a:avLst/>
          </a:prstGeom>
          <a:solidFill>
            <a:srgbClr val="F1C23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Transport</a:t>
            </a:r>
            <a:endParaRPr b="1"/>
          </a:p>
        </p:txBody>
      </p:sp>
      <p:sp>
        <p:nvSpPr>
          <p:cNvPr id="1130" name="Google Shape;1130;p73"/>
          <p:cNvSpPr/>
          <p:nvPr/>
        </p:nvSpPr>
        <p:spPr>
          <a:xfrm>
            <a:off x="7369825" y="2747663"/>
            <a:ext cx="1512900" cy="378300"/>
          </a:xfrm>
          <a:prstGeom prst="rect">
            <a:avLst/>
          </a:prstGeom>
          <a:solidFill>
            <a:srgbClr val="F1C23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(Inter) Network</a:t>
            </a:r>
            <a:endParaRPr b="1"/>
          </a:p>
        </p:txBody>
      </p:sp>
      <p:sp>
        <p:nvSpPr>
          <p:cNvPr id="1131" name="Google Shape;1131;p73"/>
          <p:cNvSpPr/>
          <p:nvPr/>
        </p:nvSpPr>
        <p:spPr>
          <a:xfrm>
            <a:off x="7369825" y="3202163"/>
            <a:ext cx="1512900" cy="3783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Link</a:t>
            </a:r>
            <a:endParaRPr b="1"/>
          </a:p>
        </p:txBody>
      </p:sp>
      <p:sp>
        <p:nvSpPr>
          <p:cNvPr id="1132" name="Google Shape;1132;p73"/>
          <p:cNvSpPr/>
          <p:nvPr/>
        </p:nvSpPr>
        <p:spPr>
          <a:xfrm>
            <a:off x="7369825" y="3656663"/>
            <a:ext cx="1512900" cy="3783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Physical</a:t>
            </a:r>
            <a:endParaRPr b="1"/>
          </a:p>
        </p:txBody>
      </p:sp>
      <p:sp>
        <p:nvSpPr>
          <p:cNvPr id="1133" name="Google Shape;1133;p73"/>
          <p:cNvSpPr txBox="1"/>
          <p:nvPr/>
        </p:nvSpPr>
        <p:spPr>
          <a:xfrm>
            <a:off x="7031275" y="3677588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1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134" name="Google Shape;1134;p73"/>
          <p:cNvSpPr txBox="1"/>
          <p:nvPr/>
        </p:nvSpPr>
        <p:spPr>
          <a:xfrm>
            <a:off x="7031275" y="3215100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2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135" name="Google Shape;1135;p73"/>
          <p:cNvSpPr txBox="1"/>
          <p:nvPr/>
        </p:nvSpPr>
        <p:spPr>
          <a:xfrm>
            <a:off x="7031275" y="2752638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3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136" name="Google Shape;1136;p73"/>
          <p:cNvSpPr txBox="1"/>
          <p:nvPr/>
        </p:nvSpPr>
        <p:spPr>
          <a:xfrm>
            <a:off x="7031275" y="2280138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4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137" name="Google Shape;1137;p73"/>
          <p:cNvSpPr txBox="1"/>
          <p:nvPr/>
        </p:nvSpPr>
        <p:spPr>
          <a:xfrm>
            <a:off x="7031275" y="1827713"/>
            <a:ext cx="25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7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SE 405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